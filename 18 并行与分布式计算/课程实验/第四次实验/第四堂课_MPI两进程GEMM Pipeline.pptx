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3" d="100"/>
          <a:sy n="143" d="100"/>
        </p:scale>
        <p:origin x="12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658368"/>
            <a:ext cx="59436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008780"/>
                </a:solidFill>
                <a:latin typeface="Microsoft YaHei"/>
              </a:rPr>
              <a:t>并行与分布式计算实验课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61872"/>
            <a:ext cx="10241280" cy="9601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100" b="1">
                <a:solidFill>
                  <a:srgbClr val="182C43"/>
                </a:solidFill>
                <a:latin typeface="Microsoft YaHei"/>
              </a:rPr>
              <a:t>第四堂课：两进程 GEMM Pipeline
与通信-计算重叠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2743200"/>
            <a:ext cx="996696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0">
                <a:solidFill>
                  <a:srgbClr val="222B36"/>
                </a:solidFill>
                <a:latin typeface="Microsoft YaHei"/>
              </a:rPr>
              <a:t>rank 0 计算 1024x1024 GEMM，按行切片发送给 rank 1，观察 overlap。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3977639"/>
            <a:ext cx="2880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3977639"/>
            <a:ext cx="73152" cy="960120"/>
          </a:xfrm>
          <a:prstGeom prst="rect">
            <a:avLst/>
          </a:prstGeom>
          <a:solidFill>
            <a:srgbClr val="2B6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4105655"/>
            <a:ext cx="255117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C43"/>
                </a:solidFill>
                <a:latin typeface="Microsoft YaHei"/>
              </a:rPr>
              <a:t>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4471416"/>
            <a:ext cx="2551176" cy="3931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B36"/>
                </a:solidFill>
                <a:latin typeface="Microsoft YaHei"/>
              </a:rPr>
              <a:t>MPI 异步 API
request / buffer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41648" y="3977639"/>
            <a:ext cx="2880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41648" y="3977639"/>
            <a:ext cx="73152" cy="960120"/>
          </a:xfrm>
          <a:prstGeom prst="rect">
            <a:avLst/>
          </a:prstGeom>
          <a:solidFill>
            <a:srgbClr val="00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42816" y="4105655"/>
            <a:ext cx="255117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C43"/>
                </a:solidFill>
                <a:latin typeface="Microsoft YaHei"/>
              </a:rPr>
              <a:t>主作业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2816" y="4471416"/>
            <a:ext cx="2551176" cy="3931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B36"/>
                </a:solidFill>
                <a:latin typeface="Microsoft YaHei"/>
              </a:rPr>
              <a:t>rank 0 compute
rank 1 receive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33488" y="3977639"/>
            <a:ext cx="2880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33488" y="3977639"/>
            <a:ext cx="73152" cy="960120"/>
          </a:xfrm>
          <a:prstGeom prst="rect">
            <a:avLst/>
          </a:prstGeom>
          <a:solidFill>
            <a:srgbClr val="36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34656" y="4105655"/>
            <a:ext cx="255117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C43"/>
                </a:solidFill>
                <a:latin typeface="Microsoft YaHei"/>
              </a:rPr>
              <a:t>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4656" y="4471416"/>
            <a:ext cx="2551176" cy="3931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B36"/>
                </a:solidFill>
                <a:latin typeface="Microsoft YaHei"/>
              </a:rPr>
              <a:t>tile_rows
不是越细越好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Microsoft YaHei"/>
              </a:rPr>
              <a:t>第四堂课 | MPI 两进程 GEMM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82C43"/>
                </a:solidFill>
                <a:latin typeface="Microsoft YaHei"/>
              </a:rPr>
              <a:t>异步通信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78992"/>
            <a:ext cx="1143000" cy="54864"/>
          </a:xfrm>
          <a:prstGeom prst="rect">
            <a:avLst/>
          </a:prstGeom>
          <a:solidFill>
            <a:srgbClr val="00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Microsoft YaHei"/>
              </a:rPr>
              <a:t>第四堂课 | MPI 两进程 GEMM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Microsoft YaHei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325880"/>
          <a:ext cx="1069848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API</a:t>
                      </a:r>
                    </a:p>
                  </a:txBody>
                  <a:tcPr marL="36576" marR="36576" marT="27432" marB="27432">
                    <a:solidFill>
                      <a:srgbClr val="182C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 marL="36576" marR="36576" marT="27432" marB="27432">
                    <a:solidFill>
                      <a:srgbClr val="182C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关键提醒</a:t>
                      </a:r>
                    </a:p>
                  </a:txBody>
                  <a:tcPr marL="36576" marR="36576" marT="27432" marB="27432">
                    <a:solidFill>
                      <a:srgbClr val="18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6"/>
                          </a:solidFill>
                          <a:latin typeface="Microsoft YaHei"/>
                        </a:rPr>
                        <a:t>MPI_Isend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6"/>
                          </a:solidFill>
                          <a:latin typeface="Microsoft YaHei"/>
                        </a:rPr>
                        <a:t>发起非阻塞发送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6"/>
                          </a:solidFill>
                          <a:latin typeface="Microsoft YaHei"/>
                        </a:rPr>
                        <a:t>Wait 前不要复用发送 buffer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6"/>
                          </a:solidFill>
                          <a:latin typeface="Microsoft YaHei"/>
                        </a:rPr>
                        <a:t>MPI_Irecv</a:t>
                      </a:r>
                    </a:p>
                  </a:txBody>
                  <a:tcPr marL="36576" marR="36576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6"/>
                          </a:solidFill>
                          <a:latin typeface="Microsoft YaHei"/>
                        </a:rPr>
                        <a:t>提前挂非阻塞接收</a:t>
                      </a:r>
                    </a:p>
                  </a:txBody>
                  <a:tcPr marL="36576" marR="36576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6"/>
                          </a:solidFill>
                          <a:latin typeface="Microsoft YaHei"/>
                        </a:rPr>
                        <a:t>接收 buffer 必须保持有效</a:t>
                      </a:r>
                    </a:p>
                  </a:txBody>
                  <a:tcPr marL="36576" marR="36576" marT="27432" marB="27432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6"/>
                          </a:solidFill>
                          <a:latin typeface="Microsoft YaHei"/>
                        </a:rPr>
                        <a:t>MPI_Wait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6"/>
                          </a:solidFill>
                          <a:latin typeface="Microsoft YaHei"/>
                        </a:rPr>
                        <a:t>等待 request 完成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6"/>
                          </a:solidFill>
                          <a:latin typeface="Microsoft YaHei"/>
                        </a:rPr>
                        <a:t>完成后 buffer 才安全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6"/>
                          </a:solidFill>
                          <a:latin typeface="Microsoft YaHei"/>
                        </a:rPr>
                        <a:t>MPI_Test</a:t>
                      </a:r>
                    </a:p>
                  </a:txBody>
                  <a:tcPr marL="36576" marR="36576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6"/>
                          </a:solidFill>
                          <a:latin typeface="Microsoft YaHei"/>
                        </a:rPr>
                        <a:t>检查 request 是否完成</a:t>
                      </a:r>
                    </a:p>
                  </a:txBody>
                  <a:tcPr marL="36576" marR="36576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6"/>
                          </a:solidFill>
                          <a:latin typeface="Microsoft YaHei"/>
                        </a:rPr>
                        <a:t>适合演示和轮询</a:t>
                      </a:r>
                    </a:p>
                  </a:txBody>
                  <a:tcPr marL="36576" marR="36576" marT="27432" marB="27432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82C43"/>
                </a:solidFill>
                <a:latin typeface="Microsoft YaHei"/>
              </a:rPr>
              <a:t>Demo：Irecv / Test / Isend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22960"/>
            <a:ext cx="10332720" cy="22159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 dirty="0" err="1">
                <a:solidFill>
                  <a:srgbClr val="5C6978"/>
                </a:solidFill>
                <a:latin typeface="Microsoft YaHei"/>
              </a:rPr>
              <a:t>最小异步通信例子</a:t>
            </a:r>
            <a:endParaRPr sz="1200" b="0" dirty="0">
              <a:solidFill>
                <a:srgbClr val="5C6978"/>
              </a:solidFill>
              <a:latin typeface="Microsoft Ya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6656" y="1078992"/>
            <a:ext cx="1143000" cy="54864"/>
          </a:xfrm>
          <a:prstGeom prst="rect">
            <a:avLst/>
          </a:prstGeom>
          <a:solidFill>
            <a:srgbClr val="00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Microsoft YaHei"/>
              </a:rPr>
              <a:t>第四堂课 | MPI 两进程 GEMM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Microsoft YaHe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234440"/>
            <a:ext cx="5349240" cy="2926080"/>
          </a:xfrm>
          <a:prstGeom prst="rect">
            <a:avLst/>
          </a:prstGeom>
          <a:solidFill>
            <a:srgbClr val="1C232C"/>
          </a:solidFill>
          <a:ln>
            <a:solidFill>
              <a:srgbClr val="3C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" y="1344168"/>
            <a:ext cx="5093207" cy="2743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E8EDF2"/>
                </a:solidFill>
                <a:latin typeface="Consolas"/>
              </a:rPr>
              <a:t>// rank 0
MPI_Irecv(buffer.data(), count,
          MPI_DOUBLE, 1, tag,
          MPI_COMM_WORLD, &amp;request);
MPI_Test(&amp;request, &amp;flag,
         MPI_STATUS_IGNORE);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234440"/>
            <a:ext cx="4983480" cy="2926080"/>
          </a:xfrm>
          <a:prstGeom prst="rect">
            <a:avLst/>
          </a:prstGeom>
          <a:solidFill>
            <a:srgbClr val="1C232C"/>
          </a:solidFill>
          <a:ln>
            <a:solidFill>
              <a:srgbClr val="3C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28816" y="1344168"/>
            <a:ext cx="4727448" cy="2743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E8EDF2"/>
                </a:solidFill>
                <a:latin typeface="Consolas"/>
              </a:rPr>
              <a:t>// rank 1
MPI_Isend(buffer.data(), count,
          MPI_DOUBLE, 0, tag,
          MPI_COMM_WORLD, &amp;request);
MPI_Wait(&amp;request,
         MPI_STATUS_IGNORE);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892040"/>
            <a:ext cx="100584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900" b="1">
                <a:solidFill>
                  <a:srgbClr val="008780"/>
                </a:solidFill>
                <a:latin typeface="Microsoft YaHei"/>
              </a:rPr>
              <a:t>request 是通信状态；buffer 是真实数据。通信完成前不要覆盖 buffer。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82C43"/>
                </a:solidFill>
                <a:latin typeface="Microsoft YaHei"/>
              </a:rPr>
              <a:t>主作业 Dataflow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22960"/>
            <a:ext cx="10332720" cy="3017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Microsoft YaHei"/>
              </a:rPr>
              <a:t>blocking 完整 C；pipeline 使用 C_tile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78992"/>
            <a:ext cx="1143000" cy="54864"/>
          </a:xfrm>
          <a:prstGeom prst="rect">
            <a:avLst/>
          </a:prstGeom>
          <a:solidFill>
            <a:srgbClr val="00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Microsoft YaHei"/>
              </a:rPr>
              <a:t>第四堂课 | MPI 两进程 GEMM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Microsoft YaHe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2011680" cy="822960"/>
          </a:xfrm>
          <a:prstGeom prst="roundRect">
            <a:avLst/>
          </a:prstGeom>
          <a:solidFill>
            <a:srgbClr val="E7F2FF"/>
          </a:solidFill>
          <a:ln>
            <a:solidFill>
              <a:srgbClr val="2B6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" y="1490472"/>
            <a:ext cx="1901952" cy="7132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00" b="1">
                <a:solidFill>
                  <a:srgbClr val="222B36"/>
                </a:solidFill>
                <a:latin typeface="Microsoft YaHei"/>
              </a:rPr>
              <a:t>rank 0
compute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051560"/>
            <a:ext cx="21488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00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21024" y="1124712"/>
            <a:ext cx="2039112" cy="5760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22B36"/>
                </a:solidFill>
                <a:latin typeface="Microsoft YaHei"/>
              </a:rPr>
              <a:t>A_tile
(tile_rows x 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148840"/>
            <a:ext cx="21488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00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1024" y="2221992"/>
            <a:ext cx="2039112" cy="5760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22B36"/>
                </a:solidFill>
                <a:latin typeface="Microsoft YaHei"/>
              </a:rPr>
              <a:t>B
(N x 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645920"/>
            <a:ext cx="2148840" cy="822960"/>
          </a:xfrm>
          <a:prstGeom prst="roundRect">
            <a:avLst/>
          </a:prstGeom>
          <a:solidFill>
            <a:srgbClr val="EAF8EF"/>
          </a:solidFill>
          <a:ln>
            <a:solidFill>
              <a:srgbClr val="368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1383" y="1719072"/>
            <a:ext cx="2039112" cy="7132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22B36"/>
                </a:solidFill>
                <a:latin typeface="Microsoft YaHei"/>
              </a:rPr>
              <a:t>C_tile
=A_tile*B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645920"/>
            <a:ext cx="2057400" cy="822960"/>
          </a:xfrm>
          <a:prstGeom prst="roundRect">
            <a:avLst/>
          </a:prstGeom>
          <a:solidFill>
            <a:srgbClr val="FFF6E0"/>
          </a:solidFill>
          <a:ln>
            <a:solidFill>
              <a:srgbClr val="DE9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90304" y="1719072"/>
            <a:ext cx="1947672" cy="7132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22B36"/>
                </a:solidFill>
                <a:latin typeface="Microsoft YaHei"/>
              </a:rPr>
              <a:t>rank 1
receive C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926080" y="1417320"/>
            <a:ext cx="594360" cy="457199"/>
          </a:xfrm>
          <a:prstGeom prst="line">
            <a:avLst/>
          </a:prstGeom>
          <a:ln w="25400">
            <a:solidFill>
              <a:srgbClr val="2B6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926080" y="1874519"/>
            <a:ext cx="594360" cy="640081"/>
          </a:xfrm>
          <a:prstGeom prst="line">
            <a:avLst/>
          </a:prstGeom>
          <a:ln w="25400">
            <a:solidFill>
              <a:srgbClr val="2B6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cxnSpLocks/>
          </p:cNvCxnSpPr>
          <p:nvPr/>
        </p:nvCxnSpPr>
        <p:spPr>
          <a:xfrm>
            <a:off x="5806440" y="2057400"/>
            <a:ext cx="594360" cy="0"/>
          </a:xfrm>
          <a:prstGeom prst="line">
            <a:avLst/>
          </a:prstGeom>
          <a:ln w="25400">
            <a:solidFill>
              <a:srgbClr val="3684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41080" y="2057400"/>
            <a:ext cx="548640" cy="0"/>
          </a:xfrm>
          <a:prstGeom prst="line">
            <a:avLst/>
          </a:prstGeom>
          <a:ln w="25400">
            <a:solidFill>
              <a:srgbClr val="DE9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234440" y="3977638"/>
            <a:ext cx="9784080" cy="1325879"/>
          </a:xfrm>
          <a:prstGeom prst="rect">
            <a:avLst/>
          </a:prstGeom>
          <a:solidFill>
            <a:srgbClr val="1C232C"/>
          </a:solidFill>
          <a:ln>
            <a:solidFill>
              <a:srgbClr val="3C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62456" y="4087368"/>
            <a:ext cx="9528048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0">
                <a:solidFill>
                  <a:srgbClr val="E8EDF2"/>
                </a:solidFill>
                <a:latin typeface="Consolas"/>
              </a:rPr>
              <a:t>pipeline message:
    [ start_row, rows, C_tile... ]
blocking message:
    [ 0, N, full C...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486400"/>
            <a:ext cx="996696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182C43"/>
                </a:solidFill>
                <a:latin typeface="Microsoft YaHei"/>
              </a:rPr>
              <a:t>start_row 只在 pipeline 中用于定位 C_tile。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82C43"/>
                </a:solidFill>
                <a:latin typeface="Microsoft YaHei"/>
              </a:rPr>
              <a:t>Blocking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22960"/>
            <a:ext cx="10332720" cy="3017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Microsoft YaHei"/>
              </a:rPr>
              <a:t>先算完整 C，再一次性发送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78992"/>
            <a:ext cx="1143000" cy="54864"/>
          </a:xfrm>
          <a:prstGeom prst="rect">
            <a:avLst/>
          </a:prstGeom>
          <a:solidFill>
            <a:srgbClr val="00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Microsoft YaHei"/>
              </a:rPr>
              <a:t>第四堂课 | MPI 两进程 GEMM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Microsoft YaHe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058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5C6978"/>
                </a:solidFill>
                <a:latin typeface="Microsoft YaHei"/>
              </a:rPr>
              <a:t>时间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1554480"/>
            <a:ext cx="9052560" cy="0"/>
          </a:xfrm>
          <a:prstGeom prst="line">
            <a:avLst/>
          </a:prstGeom>
          <a:ln w="2540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005840" y="2057400"/>
            <a:ext cx="2057400" cy="548640"/>
          </a:xfrm>
          <a:prstGeom prst="roundRect">
            <a:avLst/>
          </a:prstGeom>
          <a:solidFill>
            <a:srgbClr val="EAF8EF"/>
          </a:solidFill>
          <a:ln>
            <a:solidFill>
              <a:srgbClr val="368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0704" y="2130552"/>
            <a:ext cx="1947672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22B36"/>
                </a:solidFill>
                <a:latin typeface="Microsoft YaHei"/>
              </a:rPr>
              <a:t>compute full 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2057400"/>
            <a:ext cx="2057400" cy="548640"/>
          </a:xfrm>
          <a:prstGeom prst="roundRect">
            <a:avLst/>
          </a:prstGeom>
          <a:solidFill>
            <a:srgbClr val="E7F2FF"/>
          </a:solidFill>
          <a:ln>
            <a:solidFill>
              <a:srgbClr val="2B6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00984" y="2130552"/>
            <a:ext cx="1947672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22B36"/>
                </a:solidFill>
                <a:latin typeface="Microsoft YaHei"/>
              </a:rPr>
              <a:t>Send full 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057400"/>
            <a:ext cx="2057400" cy="548640"/>
          </a:xfrm>
          <a:prstGeom prst="roundRect">
            <a:avLst/>
          </a:prstGeom>
          <a:solidFill>
            <a:srgbClr val="EAF8EF"/>
          </a:solidFill>
          <a:ln>
            <a:solidFill>
              <a:srgbClr val="368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41264" y="2130552"/>
            <a:ext cx="1947672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22B36"/>
                </a:solidFill>
                <a:latin typeface="Microsoft YaHei"/>
              </a:rPr>
              <a:t>rank 1 recv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2057400"/>
            <a:ext cx="2057400" cy="548640"/>
          </a:xfrm>
          <a:prstGeom prst="roundRect">
            <a:avLst/>
          </a:prstGeom>
          <a:solidFill>
            <a:srgbClr val="E7F2FF"/>
          </a:solidFill>
          <a:ln>
            <a:solidFill>
              <a:srgbClr val="2B6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81544" y="2130552"/>
            <a:ext cx="1947672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22B36"/>
                </a:solidFill>
                <a:latin typeface="Microsoft YaHei"/>
              </a:rPr>
              <a:t>check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03320"/>
            <a:ext cx="9875520" cy="1174681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22B36"/>
                </a:solidFill>
                <a:latin typeface="Microsoft YaHei"/>
              </a:defRPr>
            </a:pPr>
            <a:r>
              <a:rPr dirty="0"/>
              <a:t>blocking </a:t>
            </a:r>
            <a:r>
              <a:rPr dirty="0" err="1"/>
              <a:t>版本已经给出，作为正确性和性能基线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1900">
                <a:solidFill>
                  <a:srgbClr val="222B36"/>
                </a:solidFill>
                <a:latin typeface="Microsoft YaHei"/>
              </a:defRPr>
            </a:pPr>
            <a:r>
              <a:rPr dirty="0" err="1"/>
              <a:t>直接，但计算和通信完全分开，没有</a:t>
            </a:r>
            <a:r>
              <a:rPr dirty="0"/>
              <a:t> overlap。</a:t>
            </a:r>
          </a:p>
          <a:p>
            <a:pPr>
              <a:spcAft>
                <a:spcPts val="800"/>
              </a:spcAft>
              <a:defRPr sz="1900">
                <a:solidFill>
                  <a:srgbClr val="222B36"/>
                </a:solidFill>
                <a:latin typeface="Microsoft YaHei"/>
              </a:defRPr>
            </a:pPr>
            <a:r>
              <a:rPr dirty="0" err="1"/>
              <a:t>先跑</a:t>
            </a:r>
            <a:r>
              <a:rPr dirty="0"/>
              <a:t> </a:t>
            </a:r>
            <a:r>
              <a:rPr dirty="0" err="1"/>
              <a:t>blocking，确认环境和校验逻辑没有问题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82C43"/>
                </a:solidFill>
                <a:latin typeface="Microsoft YaHei"/>
              </a:rPr>
              <a:t>Pipeline 时间线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22960"/>
            <a:ext cx="10332720" cy="3017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Microsoft YaHei"/>
              </a:rPr>
              <a:t>上一块通信与下一块计算重叠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78992"/>
            <a:ext cx="1143000" cy="54864"/>
          </a:xfrm>
          <a:prstGeom prst="rect">
            <a:avLst/>
          </a:prstGeom>
          <a:solidFill>
            <a:srgbClr val="00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Microsoft YaHei"/>
              </a:rPr>
              <a:t>第四堂课 | MPI 两进程 GEMM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Microsoft YaHe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058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5C6978"/>
                </a:solidFill>
                <a:latin typeface="Microsoft YaHei"/>
              </a:rPr>
              <a:t>时间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1508760"/>
            <a:ext cx="9052560" cy="0"/>
          </a:xfrm>
          <a:prstGeom prst="line">
            <a:avLst/>
          </a:prstGeom>
          <a:ln w="2540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005840" y="1920240"/>
            <a:ext cx="2148840" cy="502920"/>
          </a:xfrm>
          <a:prstGeom prst="roundRect">
            <a:avLst/>
          </a:prstGeom>
          <a:solidFill>
            <a:srgbClr val="EAF8EF"/>
          </a:solidFill>
          <a:ln>
            <a:solidFill>
              <a:srgbClr val="368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0704" y="1993392"/>
            <a:ext cx="2039112" cy="3931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222B36"/>
                </a:solidFill>
                <a:latin typeface="Microsoft YaHei"/>
              </a:rPr>
              <a:t>tile 0 compute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920240"/>
            <a:ext cx="21488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00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92424" y="1993392"/>
            <a:ext cx="2039112" cy="3931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222B36"/>
                </a:solidFill>
                <a:latin typeface="Microsoft YaHei"/>
              </a:rPr>
              <a:t>tile 0 Isend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2606040"/>
            <a:ext cx="2148840" cy="502920"/>
          </a:xfrm>
          <a:prstGeom prst="roundRect">
            <a:avLst/>
          </a:prstGeom>
          <a:solidFill>
            <a:srgbClr val="EAF8EF"/>
          </a:solidFill>
          <a:ln>
            <a:solidFill>
              <a:srgbClr val="368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9663" y="2679192"/>
            <a:ext cx="2039112" cy="3931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222B36"/>
                </a:solidFill>
                <a:latin typeface="Microsoft YaHei"/>
              </a:rPr>
              <a:t>tile 1 compute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606040"/>
            <a:ext cx="21488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00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5664" y="2679192"/>
            <a:ext cx="2039112" cy="3931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222B36"/>
                </a:solidFill>
                <a:latin typeface="Microsoft YaHei"/>
              </a:rPr>
              <a:t>tile 1 Isend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3291840"/>
            <a:ext cx="2148840" cy="502920"/>
          </a:xfrm>
          <a:prstGeom prst="roundRect">
            <a:avLst/>
          </a:prstGeom>
          <a:solidFill>
            <a:srgbClr val="EAF8EF"/>
          </a:solidFill>
          <a:ln>
            <a:solidFill>
              <a:srgbClr val="368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32903" y="3364992"/>
            <a:ext cx="2039112" cy="3931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222B36"/>
                </a:solidFill>
                <a:latin typeface="Microsoft YaHei"/>
              </a:rPr>
              <a:t>tile 2 compute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17720"/>
            <a:ext cx="9875520" cy="86868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B36"/>
                </a:solidFill>
                <a:latin typeface="Microsoft YaHei"/>
              </a:defRPr>
            </a:pPr>
            <a:r>
              <a:t>rank 0 发起 Isend 后，尽量继续计算下一块。</a:t>
            </a:r>
          </a:p>
          <a:p>
            <a:pPr>
              <a:spcAft>
                <a:spcPts val="800"/>
              </a:spcAft>
              <a:defRPr sz="1800">
                <a:solidFill>
                  <a:srgbClr val="222B36"/>
                </a:solidFill>
                <a:latin typeface="Microsoft YaHei"/>
              </a:defRPr>
            </a:pPr>
            <a:r>
              <a:t>复用发送 buffer 前必须 Wait，避免覆盖 MPI 还在读取的数据。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10789920" cy="4524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lang="zh-CN" altLang="en-US" sz="2700" b="1" dirty="0">
                <a:solidFill>
                  <a:srgbClr val="182C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任务内容</a:t>
            </a:r>
            <a:endParaRPr sz="2700" b="1" dirty="0">
              <a:solidFill>
                <a:srgbClr val="182C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6656" y="822960"/>
            <a:ext cx="10332720" cy="3017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Microsoft YaHei"/>
              </a:rPr>
              <a:t>pipeline 初始 FAIL，补全后 PASS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78992"/>
            <a:ext cx="1143000" cy="54864"/>
          </a:xfrm>
          <a:prstGeom prst="rect">
            <a:avLst/>
          </a:prstGeom>
          <a:solidFill>
            <a:srgbClr val="00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Microsoft YaHei"/>
              </a:rPr>
              <a:t>第四堂课 | MPI 两进程 GEMM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Microsoft YaHe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234440"/>
            <a:ext cx="10972800" cy="3749039"/>
          </a:xfrm>
          <a:prstGeom prst="rect">
            <a:avLst/>
          </a:prstGeom>
          <a:solidFill>
            <a:srgbClr val="1C232C"/>
          </a:solidFill>
          <a:ln>
            <a:solidFill>
              <a:srgbClr val="3C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" y="1344168"/>
            <a:ext cx="10716768" cy="356615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E8EDF2"/>
                </a:solidFill>
                <a:latin typeface="Consolas"/>
              </a:rPr>
              <a:t>void Rank0Pipeline(const Problem&amp; problem,
                   const vector&lt;double&gt;&amp; b);  // TODO
void Rank1Pipeline(const Problem&amp; problem,
                   vector&lt;double&gt;&amp; c);        // TODO
status PASS means:
    rank 1 received the complete correct C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440680"/>
            <a:ext cx="100584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008780"/>
                </a:solidFill>
                <a:latin typeface="Microsoft YaHei"/>
              </a:rPr>
              <a:t>本实验的核心 overlap 在 rank 0：上一块 Isend 与下一块 GEMM 计算重叠。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82C43"/>
                </a:solidFill>
                <a:latin typeface="Microsoft YaHei"/>
              </a:rPr>
              <a:t>Rank0Pipeline 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22960"/>
            <a:ext cx="10332720" cy="3017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Microsoft YaHei"/>
              </a:rPr>
              <a:t>重点是发送 buffer 生命周期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78992"/>
            <a:ext cx="1143000" cy="54864"/>
          </a:xfrm>
          <a:prstGeom prst="rect">
            <a:avLst/>
          </a:prstGeom>
          <a:solidFill>
            <a:srgbClr val="00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Microsoft YaHei"/>
              </a:rPr>
              <a:t>第四堂课 | MPI 两进程 GEMM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Microsoft YaHe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241280" cy="18288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22B36"/>
                </a:solidFill>
                <a:latin typeface="Microsoft YaHei"/>
              </a:defRPr>
            </a:pPr>
            <a:r>
              <a:t>计算当前 C_tile。</a:t>
            </a:r>
          </a:p>
          <a:p>
            <a:pPr>
              <a:spcAft>
                <a:spcPts val="800"/>
              </a:spcAft>
              <a:defRPr sz="2000">
                <a:solidFill>
                  <a:srgbClr val="222B36"/>
                </a:solidFill>
                <a:latin typeface="Microsoft YaHei"/>
              </a:defRPr>
            </a:pPr>
            <a:r>
              <a:t>PackResult 得到发送 payload。</a:t>
            </a:r>
          </a:p>
          <a:p>
            <a:pPr>
              <a:spcAft>
                <a:spcPts val="800"/>
              </a:spcAft>
              <a:defRPr sz="2000">
                <a:solidFill>
                  <a:srgbClr val="222B36"/>
                </a:solidFill>
                <a:latin typeface="Microsoft YaHei"/>
              </a:defRPr>
            </a:pPr>
            <a:r>
              <a:t>用 MPI_Isend 发给 rank 1。</a:t>
            </a:r>
          </a:p>
          <a:p>
            <a:pPr>
              <a:spcAft>
                <a:spcPts val="800"/>
              </a:spcAft>
              <a:defRPr sz="2000">
                <a:solidFill>
                  <a:srgbClr val="222B36"/>
                </a:solidFill>
                <a:latin typeface="Microsoft YaHei"/>
              </a:defRPr>
            </a:pPr>
            <a:r>
              <a:t>计算下一块 C_tile。</a:t>
            </a:r>
          </a:p>
          <a:p>
            <a:pPr>
              <a:spcAft>
                <a:spcPts val="800"/>
              </a:spcAft>
              <a:defRPr sz="2000">
                <a:solidFill>
                  <a:srgbClr val="222B36"/>
                </a:solidFill>
                <a:latin typeface="Microsoft YaHei"/>
              </a:defRPr>
            </a:pPr>
            <a:r>
              <a:t>复用上一次发送 buffer 前，调用 MPI_Wait。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069080"/>
            <a:ext cx="9875520" cy="1530786"/>
          </a:xfrm>
          <a:prstGeom prst="rect">
            <a:avLst/>
          </a:prstGeom>
          <a:solidFill>
            <a:srgbClr val="1C232C"/>
          </a:solidFill>
          <a:ln>
            <a:solidFill>
              <a:srgbClr val="3C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25295" y="4178808"/>
            <a:ext cx="9619488" cy="10515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E8EDF2"/>
                </a:solidFill>
                <a:latin typeface="Consolas"/>
              </a:rPr>
              <a:t>if (has_previous_send) {
    MPI_Wait(&amp;previous_send, MPI_STATUS_IGNORE);
}
MPI_Isend(payload.data(), ResultElements(problem),
          MPI_DOUBLE, 1, TAG_RESULT,
          MPI_COMM_WORLD, &amp;previous_send);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82C43"/>
                </a:solidFill>
                <a:latin typeface="Microsoft YaHei"/>
              </a:rPr>
              <a:t>为什么不是越细越好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22960"/>
            <a:ext cx="10332720" cy="3017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Microsoft YaHei"/>
              </a:rPr>
              <a:t>tile_rows 是计算量与通信管理开销的折中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78992"/>
            <a:ext cx="1143000" cy="54864"/>
          </a:xfrm>
          <a:prstGeom prst="rect">
            <a:avLst/>
          </a:prstGeom>
          <a:solidFill>
            <a:srgbClr val="00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Microsoft YaHei"/>
              </a:rPr>
              <a:t>第四堂课 | MPI 两进程 GEMM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Microsoft YaHe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298448"/>
          <a:ext cx="1056132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867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tile_rows</a:t>
                      </a:r>
                    </a:p>
                  </a:txBody>
                  <a:tcPr marL="36576" marR="36576" marT="27432" marB="27432">
                    <a:solidFill>
                      <a:srgbClr val="182C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优点</a:t>
                      </a:r>
                    </a:p>
                  </a:txBody>
                  <a:tcPr marL="36576" marR="36576" marT="27432" marB="27432">
                    <a:solidFill>
                      <a:srgbClr val="182C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风险</a:t>
                      </a:r>
                    </a:p>
                  </a:txBody>
                  <a:tcPr marL="36576" marR="36576" marT="27432" marB="27432">
                    <a:solidFill>
                      <a:srgbClr val="18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6"/>
                          </a:solidFill>
                          <a:latin typeface="Microsoft YaHei"/>
                        </a:rPr>
                        <a:t>较大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6"/>
                          </a:solidFill>
                          <a:latin typeface="Microsoft YaHei"/>
                        </a:rPr>
                        <a:t>单块计算多，消息少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6"/>
                          </a:solidFill>
                          <a:latin typeface="Microsoft YaHei"/>
                        </a:rPr>
                        <a:t>块数少，overlap 机会不足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6"/>
                          </a:solidFill>
                          <a:latin typeface="Microsoft YaHei"/>
                        </a:rPr>
                        <a:t>中等</a:t>
                      </a:r>
                    </a:p>
                  </a:txBody>
                  <a:tcPr marL="36576" marR="36576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6"/>
                          </a:solidFill>
                          <a:latin typeface="Microsoft YaHei"/>
                        </a:rPr>
                        <a:t>计算和通信较均衡</a:t>
                      </a:r>
                    </a:p>
                  </a:txBody>
                  <a:tcPr marL="36576" marR="36576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6"/>
                          </a:solidFill>
                          <a:latin typeface="Microsoft YaHei"/>
                        </a:rPr>
                        <a:t>通常是课堂观察重点</a:t>
                      </a:r>
                    </a:p>
                  </a:txBody>
                  <a:tcPr marL="36576" marR="36576" marT="27432" marB="27432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6"/>
                          </a:solidFill>
                          <a:latin typeface="Microsoft YaHei"/>
                        </a:rPr>
                        <a:t>较小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6"/>
                          </a:solidFill>
                          <a:latin typeface="Microsoft YaHei"/>
                        </a:rPr>
                        <a:t>块数多，pipeline 机会多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6"/>
                          </a:solidFill>
                          <a:latin typeface="Microsoft YaHei"/>
                        </a:rPr>
                        <a:t>打包、发送、Wait 管理开销占比升高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051560" y="4800600"/>
            <a:ext cx="5212080" cy="713232"/>
          </a:xfrm>
          <a:prstGeom prst="rect">
            <a:avLst/>
          </a:prstGeom>
          <a:solidFill>
            <a:srgbClr val="1C232C"/>
          </a:solidFill>
          <a:ln>
            <a:solidFill>
              <a:srgbClr val="3C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9576" y="4910328"/>
            <a:ext cx="4956048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E8EDF2"/>
                </a:solidFill>
                <a:latin typeface="Consolas"/>
              </a:rPr>
              <a:t>mpiexec -n 2 mpi_matrix_pipeline.exe pipeline 16
mpiexec -n 2 mpi_matrix_pipeline.exe pipeline 64
mpiexec -n 2 mpi_matrix_pipeline.exe pipeline 256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892040"/>
            <a:ext cx="4389120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008780"/>
                </a:solidFill>
                <a:latin typeface="Microsoft YaHei"/>
              </a:rPr>
              <a:t>同一个 1024x1024 GEMM，改变切片粒度，观察时间和加速比。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82C43"/>
                </a:solidFill>
                <a:latin typeface="Microsoft YaHei"/>
              </a:rPr>
              <a:t>矩阵规模也会影响性能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22960"/>
            <a:ext cx="10332720" cy="3017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Microsoft YaHei"/>
              </a:rPr>
              <a:t>完成正确性后，再探索更大的 GEMM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78992"/>
            <a:ext cx="1143000" cy="54864"/>
          </a:xfrm>
          <a:prstGeom prst="rect">
            <a:avLst/>
          </a:prstGeom>
          <a:solidFill>
            <a:srgbClr val="00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Microsoft YaHei"/>
              </a:rPr>
              <a:t>第四堂课 | MPI 两进程 GEMM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Microsoft YaHe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234440"/>
          <a:ext cx="10744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matrix_size</a:t>
                      </a:r>
                    </a:p>
                  </a:txBody>
                  <a:tcPr marL="36576" marR="36576" marT="27432" marB="27432">
                    <a:solidFill>
                      <a:srgbClr val="182C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建议用途</a:t>
                      </a:r>
                    </a:p>
                  </a:txBody>
                  <a:tcPr marL="36576" marR="36576" marT="27432" marB="27432">
                    <a:solidFill>
                      <a:srgbClr val="182C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观察重点</a:t>
                      </a:r>
                    </a:p>
                  </a:txBody>
                  <a:tcPr marL="36576" marR="36576" marT="27432" marB="27432">
                    <a:solidFill>
                      <a:srgbClr val="18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512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快速检查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实现是否稳定，结果是否 PASS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1024</a:t>
                      </a:r>
                    </a:p>
                  </a:txBody>
                  <a:tcPr marL="36576" marR="36576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默认实验规模</a:t>
                      </a:r>
                    </a:p>
                  </a:txBody>
                  <a:tcPr marL="36576" marR="36576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blocking 与 pipeline 的基础对比</a:t>
                      </a:r>
                    </a:p>
                  </a:txBody>
                  <a:tcPr marL="36576" marR="36576" marT="27432" marB="27432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2048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性能探索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计算时间变长后，overlap 是否更明显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4096</a:t>
                      </a:r>
                    </a:p>
                  </a:txBody>
                  <a:tcPr marL="36576" marR="36576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选做挑战</a:t>
                      </a:r>
                    </a:p>
                  </a:txBody>
                  <a:tcPr marL="36576" marR="36576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耗时和内存明显增加，只适合性能较好的机器</a:t>
                      </a:r>
                    </a:p>
                  </a:txBody>
                  <a:tcPr marL="36576" marR="36576" marT="27432" marB="27432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68680" y="4069080"/>
            <a:ext cx="5440680" cy="1143000"/>
          </a:xfrm>
          <a:prstGeom prst="rect">
            <a:avLst/>
          </a:prstGeom>
          <a:solidFill>
            <a:srgbClr val="1C232C"/>
          </a:solidFill>
          <a:ln>
            <a:solidFill>
              <a:srgbClr val="3C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6695" y="4178808"/>
            <a:ext cx="5184648" cy="9601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E8EDF2"/>
                </a:solidFill>
                <a:latin typeface="Consolas"/>
              </a:rPr>
              <a:t>mpiexec -n 2 mpi_matrix_pipeline.exe pipeline 64 512
mpiexec -n 2 mpi_matrix_pipeline.exe pipeline 64 1024
mpiexec -n 2 mpi_matrix_pipeline.exe pipeline 64 2048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977639"/>
            <a:ext cx="4617720" cy="14173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B36"/>
                </a:solidFill>
                <a:latin typeface="Microsoft YaHei"/>
              </a:defRPr>
            </a:pPr>
            <a:r>
              <a:t>先固定 tile_rows，再改变 matrix_size。</a:t>
            </a:r>
          </a:p>
          <a:p>
            <a:pPr>
              <a:spcAft>
                <a:spcPts val="800"/>
              </a:spcAft>
              <a:defRPr sz="1500">
                <a:solidFill>
                  <a:srgbClr val="222B36"/>
                </a:solidFill>
                <a:latin typeface="Microsoft YaHei"/>
              </a:defRPr>
            </a:pPr>
            <a:r>
              <a:t>记录 elapsed_sec、PASS/FAIL 和机器配置。</a:t>
            </a:r>
          </a:p>
          <a:p>
            <a:pPr>
              <a:spcAft>
                <a:spcPts val="800"/>
              </a:spcAft>
              <a:defRPr sz="1500">
                <a:solidFill>
                  <a:srgbClr val="222B36"/>
                </a:solidFill>
                <a:latin typeface="Microsoft YaHei"/>
              </a:defRPr>
            </a:pPr>
            <a:r>
              <a:t>不要只比较一次运行，性能会受电源模式和后台程序影响。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06440"/>
            <a:ext cx="103784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182C43"/>
                </a:solidFill>
                <a:latin typeface="Microsoft YaHei"/>
              </a:rPr>
              <a:t>核心问题：矩阵变大后，计算量按 N^3 增长，通信数据按 N^2 增长，二者比例会改变。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82C43"/>
                </a:solidFill>
                <a:latin typeface="Microsoft YaHei"/>
              </a:rPr>
              <a:t>拓展场景：数据并行训练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22960"/>
            <a:ext cx="10332720" cy="3017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Microsoft YaHei"/>
              </a:rPr>
              <a:t>每个进程处理不同样本，但模型参数需要保持一致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78992"/>
            <a:ext cx="1143000" cy="54864"/>
          </a:xfrm>
          <a:prstGeom prst="rect">
            <a:avLst/>
          </a:prstGeom>
          <a:solidFill>
            <a:srgbClr val="00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Microsoft YaHei"/>
              </a:rPr>
              <a:t>第四堂课 | MPI 两进程 GEMM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Microsoft YaHe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1965960" cy="713232"/>
          </a:xfrm>
          <a:prstGeom prst="roundRect">
            <a:avLst/>
          </a:prstGeom>
          <a:solidFill>
            <a:srgbClr val="E7F2FF"/>
          </a:solidFill>
          <a:ln>
            <a:solidFill>
              <a:srgbClr val="2B6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3" y="1399032"/>
            <a:ext cx="1856231" cy="6035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22B36"/>
                </a:solidFill>
                <a:latin typeface="Microsoft YaHei"/>
              </a:rPr>
              <a:t>rank 0
batch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286000"/>
            <a:ext cx="1965960" cy="713232"/>
          </a:xfrm>
          <a:prstGeom prst="roundRect">
            <a:avLst/>
          </a:prstGeom>
          <a:solidFill>
            <a:srgbClr val="E7F2FF"/>
          </a:solidFill>
          <a:ln>
            <a:solidFill>
              <a:srgbClr val="2B6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3" y="2359152"/>
            <a:ext cx="1856231" cy="6035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22B36"/>
                </a:solidFill>
                <a:latin typeface="Microsoft YaHei"/>
              </a:rPr>
              <a:t>rank 1
batch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46120"/>
            <a:ext cx="1965960" cy="713232"/>
          </a:xfrm>
          <a:prstGeom prst="roundRect">
            <a:avLst/>
          </a:prstGeom>
          <a:solidFill>
            <a:srgbClr val="E7F2FF"/>
          </a:solidFill>
          <a:ln>
            <a:solidFill>
              <a:srgbClr val="2B6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3" y="3319272"/>
            <a:ext cx="1856231" cy="6035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22B36"/>
                </a:solidFill>
                <a:latin typeface="Microsoft YaHei"/>
              </a:rPr>
              <a:t>rank 2
batch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206240"/>
            <a:ext cx="1965960" cy="713232"/>
          </a:xfrm>
          <a:prstGeom prst="roundRect">
            <a:avLst/>
          </a:prstGeom>
          <a:solidFill>
            <a:srgbClr val="E7F2FF"/>
          </a:solidFill>
          <a:ln>
            <a:solidFill>
              <a:srgbClr val="2B6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3" y="4279392"/>
            <a:ext cx="1856231" cy="6035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22B36"/>
                </a:solidFill>
                <a:latin typeface="Microsoft YaHei"/>
              </a:rPr>
              <a:t>rank 3
batch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783080"/>
            <a:ext cx="2103120" cy="731520"/>
          </a:xfrm>
          <a:prstGeom prst="roundRect">
            <a:avLst/>
          </a:prstGeom>
          <a:solidFill>
            <a:srgbClr val="EAF8EF"/>
          </a:solidFill>
          <a:ln>
            <a:solidFill>
              <a:srgbClr val="368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92424" y="1856231"/>
            <a:ext cx="1993391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00" b="1">
                <a:solidFill>
                  <a:srgbClr val="222B36"/>
                </a:solidFill>
                <a:latin typeface="Microsoft YaHei"/>
              </a:rPr>
              <a:t>同一份模型
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3749039"/>
            <a:ext cx="2103120" cy="731520"/>
          </a:xfrm>
          <a:prstGeom prst="roundRect">
            <a:avLst/>
          </a:prstGeom>
          <a:solidFill>
            <a:srgbClr val="EAF8EF"/>
          </a:solidFill>
          <a:ln>
            <a:solidFill>
              <a:srgbClr val="368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92424" y="3822191"/>
            <a:ext cx="1993391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22B36"/>
                </a:solidFill>
                <a:latin typeface="Microsoft YaHei"/>
              </a:rPr>
              <a:t>本地反向传播
local W_grad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88920" y="1691640"/>
            <a:ext cx="484632" cy="411480"/>
          </a:xfrm>
          <a:prstGeom prst="line">
            <a:avLst/>
          </a:prstGeom>
          <a:ln w="25400">
            <a:solidFill>
              <a:srgbClr val="2B6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788920" y="2148840"/>
            <a:ext cx="484632" cy="502920"/>
          </a:xfrm>
          <a:prstGeom prst="line">
            <a:avLst/>
          </a:prstGeom>
          <a:ln w="25400">
            <a:solidFill>
              <a:srgbClr val="2B6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788920" y="3611880"/>
            <a:ext cx="484632" cy="457200"/>
          </a:xfrm>
          <a:prstGeom prst="line">
            <a:avLst/>
          </a:prstGeom>
          <a:ln w="25400">
            <a:solidFill>
              <a:srgbClr val="2B6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788920" y="4114800"/>
            <a:ext cx="484632" cy="457200"/>
          </a:xfrm>
          <a:prstGeom prst="line">
            <a:avLst/>
          </a:prstGeom>
          <a:ln w="25400">
            <a:solidFill>
              <a:srgbClr val="2B6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389120" y="2606040"/>
            <a:ext cx="0" cy="1097280"/>
          </a:xfrm>
          <a:prstGeom prst="line">
            <a:avLst/>
          </a:prstGeom>
          <a:ln w="25400">
            <a:solidFill>
              <a:srgbClr val="3684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1325880"/>
            <a:ext cx="5074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1325880"/>
            <a:ext cx="73152" cy="1005840"/>
          </a:xfrm>
          <a:prstGeom prst="rect">
            <a:avLst/>
          </a:prstGeom>
          <a:solidFill>
            <a:srgbClr val="00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73368" y="1453895"/>
            <a:ext cx="474573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C43"/>
                </a:solidFill>
                <a:latin typeface="Microsoft YaHei"/>
              </a:rPr>
              <a:t>什么时候会用到？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1819656"/>
            <a:ext cx="4745736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B36"/>
                </a:solidFill>
                <a:latin typeface="Microsoft YaHei"/>
              </a:rPr>
              <a:t>多 GPU / 多机器训练：每个 rank 拿一部分 batch，提高吞吐。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2697480"/>
            <a:ext cx="5074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72200" y="2697480"/>
            <a:ext cx="73152" cy="1005840"/>
          </a:xfrm>
          <a:prstGeom prst="rect">
            <a:avLst/>
          </a:prstGeom>
          <a:solidFill>
            <a:srgbClr val="DE9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73368" y="2825496"/>
            <a:ext cx="474573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C43"/>
                </a:solidFill>
                <a:latin typeface="Microsoft YaHei"/>
              </a:rPr>
              <a:t>为什么需要同步？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3191256"/>
            <a:ext cx="4745736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B36"/>
                </a:solidFill>
                <a:latin typeface="Microsoft YaHei"/>
              </a:rPr>
              <a:t>如果各 rank 只用自己的梯度更新，模型参数会走向不同方向。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069080"/>
            <a:ext cx="5074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72200" y="4069080"/>
            <a:ext cx="73152" cy="1005840"/>
          </a:xfrm>
          <a:prstGeom prst="rect">
            <a:avLst/>
          </a:prstGeom>
          <a:solidFill>
            <a:srgbClr val="36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73368" y="4197096"/>
            <a:ext cx="474573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C43"/>
                </a:solidFill>
                <a:latin typeface="Microsoft YaHei"/>
              </a:rPr>
              <a:t>同步目标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368" y="4562856"/>
            <a:ext cx="4745736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B36"/>
                </a:solidFill>
                <a:latin typeface="Microsoft YaHei"/>
              </a:rPr>
              <a:t>所有 rank 得到同一个 global W_grad，然后执行相同的参数更新。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806440"/>
            <a:ext cx="1033272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182C43"/>
                </a:solidFill>
                <a:latin typeface="Microsoft YaHei"/>
              </a:rPr>
              <a:t>数据并行的本质：数据被切开，模型保持一致，梯度需要跨进程汇总。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82C43"/>
                </a:solidFill>
                <a:latin typeface="Microsoft YaHei"/>
              </a:rPr>
              <a:t>为什么是 All-Reduce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22960"/>
            <a:ext cx="10332720" cy="3017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Microsoft YaHei"/>
              </a:rPr>
              <a:t>梯度同步不是发给某一个进程，而是所有进程都需要结果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78992"/>
            <a:ext cx="1143000" cy="54864"/>
          </a:xfrm>
          <a:prstGeom prst="rect">
            <a:avLst/>
          </a:prstGeom>
          <a:solidFill>
            <a:srgbClr val="00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Microsoft YaHei"/>
              </a:rPr>
              <a:t>第四堂课 | MPI 两进程 GEMM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Microsoft YaHe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1828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2B6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3" y="1399032"/>
            <a:ext cx="1719072" cy="51206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22B36"/>
                </a:solidFill>
                <a:latin typeface="Microsoft YaHei"/>
              </a:rPr>
              <a:t>rank 0
g0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76272"/>
            <a:ext cx="1828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2B6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3" y="2249424"/>
            <a:ext cx="1719072" cy="51206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22B36"/>
                </a:solidFill>
                <a:latin typeface="Microsoft YaHei"/>
              </a:rPr>
              <a:t>rank 1
g1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26664"/>
            <a:ext cx="1828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2B6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3" y="3099816"/>
            <a:ext cx="1719072" cy="51206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22B36"/>
                </a:solidFill>
                <a:latin typeface="Microsoft YaHei"/>
              </a:rPr>
              <a:t>rank 2
g2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77056"/>
            <a:ext cx="1828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2B6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3" y="3950208"/>
            <a:ext cx="1719072" cy="51206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22B36"/>
                </a:solidFill>
                <a:latin typeface="Microsoft YaHei"/>
              </a:rPr>
              <a:t>rank 3
g3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2148840"/>
            <a:ext cx="2468880" cy="1234440"/>
          </a:xfrm>
          <a:prstGeom prst="roundRect">
            <a:avLst/>
          </a:prstGeom>
          <a:solidFill>
            <a:srgbClr val="FFF6E0"/>
          </a:solidFill>
          <a:ln>
            <a:solidFill>
              <a:srgbClr val="DE9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12463" y="2221992"/>
            <a:ext cx="2359152" cy="11247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22B36"/>
                </a:solidFill>
                <a:latin typeface="Microsoft YaHei"/>
              </a:rPr>
              <a:t>reduce_sum
G = g0+g1+g2+g3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325880"/>
            <a:ext cx="1828800" cy="621792"/>
          </a:xfrm>
          <a:prstGeom prst="roundRect">
            <a:avLst/>
          </a:prstGeom>
          <a:solidFill>
            <a:srgbClr val="EAF8EF"/>
          </a:solidFill>
          <a:ln>
            <a:solidFill>
              <a:srgbClr val="368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70064" y="1399032"/>
            <a:ext cx="1719072" cy="51206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22B36"/>
                </a:solidFill>
                <a:latin typeface="Microsoft YaHei"/>
              </a:rPr>
              <a:t>rank 0
G/4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2176272"/>
            <a:ext cx="1828800" cy="621792"/>
          </a:xfrm>
          <a:prstGeom prst="roundRect">
            <a:avLst/>
          </a:prstGeom>
          <a:solidFill>
            <a:srgbClr val="EAF8EF"/>
          </a:solidFill>
          <a:ln>
            <a:solidFill>
              <a:srgbClr val="368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70064" y="2249424"/>
            <a:ext cx="1719072" cy="51206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22B36"/>
                </a:solidFill>
                <a:latin typeface="Microsoft YaHei"/>
              </a:rPr>
              <a:t>rank 1
G/4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3026664"/>
            <a:ext cx="1828800" cy="621792"/>
          </a:xfrm>
          <a:prstGeom prst="roundRect">
            <a:avLst/>
          </a:prstGeom>
          <a:solidFill>
            <a:srgbClr val="EAF8EF"/>
          </a:solidFill>
          <a:ln>
            <a:solidFill>
              <a:srgbClr val="368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70064" y="3099816"/>
            <a:ext cx="1719072" cy="51206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22B36"/>
                </a:solidFill>
                <a:latin typeface="Microsoft YaHei"/>
              </a:rPr>
              <a:t>rank 2
G/4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3877056"/>
            <a:ext cx="1828800" cy="621792"/>
          </a:xfrm>
          <a:prstGeom prst="roundRect">
            <a:avLst/>
          </a:prstGeom>
          <a:solidFill>
            <a:srgbClr val="EAF8EF"/>
          </a:solidFill>
          <a:ln>
            <a:solidFill>
              <a:srgbClr val="368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70064" y="3950208"/>
            <a:ext cx="1719072" cy="51206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22B36"/>
                </a:solidFill>
                <a:latin typeface="Microsoft YaHei"/>
              </a:rPr>
              <a:t>rank 3
G/4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651760" y="1645920"/>
            <a:ext cx="960120" cy="868680"/>
          </a:xfrm>
          <a:prstGeom prst="line">
            <a:avLst/>
          </a:prstGeom>
          <a:ln w="25400">
            <a:solidFill>
              <a:srgbClr val="2B6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51760" y="2487168"/>
            <a:ext cx="960120" cy="164592"/>
          </a:xfrm>
          <a:prstGeom prst="line">
            <a:avLst/>
          </a:prstGeom>
          <a:ln w="25400">
            <a:solidFill>
              <a:srgbClr val="2B6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651760" y="2816352"/>
            <a:ext cx="960120" cy="521208"/>
          </a:xfrm>
          <a:prstGeom prst="line">
            <a:avLst/>
          </a:prstGeom>
          <a:ln w="25400">
            <a:solidFill>
              <a:srgbClr val="2B6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651760" y="2971800"/>
            <a:ext cx="960120" cy="1216152"/>
          </a:xfrm>
          <a:prstGeom prst="line">
            <a:avLst/>
          </a:prstGeom>
          <a:ln w="25400">
            <a:solidFill>
              <a:srgbClr val="2B6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172200" y="1645920"/>
            <a:ext cx="1097280" cy="868680"/>
          </a:xfrm>
          <a:prstGeom prst="line">
            <a:avLst/>
          </a:prstGeom>
          <a:ln w="25400">
            <a:solidFill>
              <a:srgbClr val="3684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172200" y="2487168"/>
            <a:ext cx="1097280" cy="164592"/>
          </a:xfrm>
          <a:prstGeom prst="line">
            <a:avLst/>
          </a:prstGeom>
          <a:ln w="25400">
            <a:solidFill>
              <a:srgbClr val="3684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172200" y="2816352"/>
            <a:ext cx="1097280" cy="521208"/>
          </a:xfrm>
          <a:prstGeom prst="line">
            <a:avLst/>
          </a:prstGeom>
          <a:ln w="25400">
            <a:solidFill>
              <a:srgbClr val="3684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172200" y="2971800"/>
            <a:ext cx="1097280" cy="1216152"/>
          </a:xfrm>
          <a:prstGeom prst="line">
            <a:avLst/>
          </a:prstGeom>
          <a:ln w="25400">
            <a:solidFill>
              <a:srgbClr val="3684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555480" y="1417320"/>
            <a:ext cx="1874519" cy="32461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22B36"/>
                </a:solidFill>
                <a:latin typeface="Microsoft YaHei"/>
              </a:defRPr>
            </a:pPr>
            <a:r>
              <a:t>Reduce：结果只到 root。</a:t>
            </a:r>
          </a:p>
          <a:p>
            <a:pPr>
              <a:spcAft>
                <a:spcPts val="800"/>
              </a:spcAft>
              <a:defRPr sz="1300">
                <a:solidFill>
                  <a:srgbClr val="222B36"/>
                </a:solidFill>
                <a:latin typeface="Microsoft YaHei"/>
              </a:defRPr>
            </a:pPr>
            <a:r>
              <a:t>Broadcast：root 再发给所有 rank。</a:t>
            </a:r>
          </a:p>
          <a:p>
            <a:pPr>
              <a:spcAft>
                <a:spcPts val="800"/>
              </a:spcAft>
              <a:defRPr sz="1300">
                <a:solidFill>
                  <a:srgbClr val="222B36"/>
                </a:solidFill>
                <a:latin typeface="Microsoft YaHei"/>
              </a:defRPr>
            </a:pPr>
            <a:r>
              <a:t>All-Reduce：汇总并把结果发给所有 rank。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1560" y="5257800"/>
            <a:ext cx="10149840" cy="658368"/>
          </a:xfrm>
          <a:prstGeom prst="rect">
            <a:avLst/>
          </a:prstGeom>
          <a:solidFill>
            <a:srgbClr val="1C232C"/>
          </a:solidFill>
          <a:ln>
            <a:solidFill>
              <a:srgbClr val="3C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79576" y="5367528"/>
            <a:ext cx="9893808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E8EDF2"/>
                </a:solidFill>
                <a:latin typeface="Consolas"/>
              </a:rPr>
              <a:t>MPI_Allreduce(local_w_grad, global_w_grad, count, MPI_DOUBLE, MPI_SUM, MPI_COMM_WORLD);
global_w_grad /= world_size;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82C43"/>
                </a:solidFill>
                <a:latin typeface="Microsoft YaHei"/>
              </a:rPr>
              <a:t>拓展加分：梯度同步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22960"/>
            <a:ext cx="10332720" cy="3017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Microsoft YaHei"/>
              </a:rPr>
              <a:t>I_grad @ D = W_grad 能否 pipeline？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78992"/>
            <a:ext cx="1143000" cy="54864"/>
          </a:xfrm>
          <a:prstGeom prst="rect">
            <a:avLst/>
          </a:prstGeom>
          <a:solidFill>
            <a:srgbClr val="00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Microsoft YaHei"/>
              </a:rPr>
              <a:t>第四堂课 | MPI 两进程 GEMM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Microsoft YaHe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49834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234440"/>
            <a:ext cx="73152" cy="1280160"/>
          </a:xfrm>
          <a:prstGeom prst="rect">
            <a:avLst/>
          </a:prstGeom>
          <a:solidFill>
            <a:srgbClr val="2B6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362456"/>
            <a:ext cx="465429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C43"/>
                </a:solidFill>
                <a:latin typeface="Microsoft YaHei"/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728216"/>
            <a:ext cx="4654296" cy="71323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B36"/>
                </a:solidFill>
                <a:latin typeface="Microsoft YaHei"/>
              </a:rPr>
              <a:t>完整 local GEMM
一次 blocking MPI_Allreduce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234440"/>
            <a:ext cx="49834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73152" cy="1280160"/>
          </a:xfrm>
          <a:prstGeom prst="rect">
            <a:avLst/>
          </a:prstGeom>
          <a:solidFill>
            <a:srgbClr val="00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6248" y="1362456"/>
            <a:ext cx="465429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C43"/>
                </a:solidFill>
                <a:latin typeface="Microsoft YaHei"/>
              </a:rPr>
              <a:t>Pipeline 思路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1728216"/>
            <a:ext cx="4654296" cy="71323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B36"/>
                </a:solidFill>
                <a:latin typeface="Microsoft YaHei"/>
              </a:rPr>
              <a:t>micro-batch GEMM
MPI_Iallreduce overlap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880360"/>
            <a:ext cx="5074920" cy="1234440"/>
          </a:xfrm>
          <a:prstGeom prst="rect">
            <a:avLst/>
          </a:prstGeom>
          <a:solidFill>
            <a:srgbClr val="1C232C"/>
          </a:solidFill>
          <a:ln>
            <a:solidFill>
              <a:srgbClr val="3C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5" y="2990088"/>
            <a:ext cx="4818888" cy="10515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E8EDF2"/>
                </a:solidFill>
                <a:latin typeface="Consolas"/>
              </a:rPr>
              <a:t>local_w_grad = I_grad_local @ D_local
MPI_Allreduce(local_w_grad)
global_w_grad /= world_size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880360"/>
            <a:ext cx="5166360" cy="1234440"/>
          </a:xfrm>
          <a:prstGeom prst="rect">
            <a:avLst/>
          </a:prstGeom>
          <a:solidFill>
            <a:srgbClr val="1C232C"/>
          </a:solidFill>
          <a:ln>
            <a:solidFill>
              <a:srgbClr val="3C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91655" y="2990088"/>
            <a:ext cx="4910328" cy="10515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E8EDF2"/>
                </a:solidFill>
                <a:latin typeface="Consolas"/>
              </a:rPr>
              <a:t>partial[k] = I_grad[k] @ D[k]
MPI_Iallreduce(partial[k])
compute partial[k+1]
Wait, then accumulate reduced partial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00600"/>
            <a:ext cx="10332720" cy="77724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B36"/>
                </a:solidFill>
                <a:latin typeface="Microsoft YaHei"/>
              </a:defRPr>
            </a:pPr>
            <a:r>
              <a:t>MPI_Iallreduce 是集合通信：所有 rank 必须按相同顺序调用。</a:t>
            </a:r>
          </a:p>
          <a:p>
            <a:pPr>
              <a:spcAft>
                <a:spcPts val="800"/>
              </a:spcAft>
              <a:defRPr sz="1500">
                <a:solidFill>
                  <a:srgbClr val="222B36"/>
                </a:solidFill>
                <a:latin typeface="Microsoft YaHei"/>
              </a:defRPr>
            </a:pPr>
            <a:r>
              <a:t>micro-batch 得到 partial W_grad，最终要累加成完整 W_grad。</a:t>
            </a:r>
          </a:p>
          <a:p>
            <a:pPr>
              <a:spcAft>
                <a:spcPts val="800"/>
              </a:spcAft>
              <a:defRPr sz="1500">
                <a:solidFill>
                  <a:srgbClr val="222B36"/>
                </a:solidFill>
                <a:latin typeface="Microsoft YaHei"/>
              </a:defRPr>
            </a:pPr>
            <a:r>
              <a:t>入口代码：mpi_gradient_pipeline_extra.cpp；不要求完整实现。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82C43"/>
                </a:solidFill>
                <a:latin typeface="Microsoft YaHei"/>
              </a:rPr>
              <a:t>90 分钟上机任务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22960"/>
            <a:ext cx="10332720" cy="3017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Microsoft YaHei"/>
              </a:rPr>
              <a:t>先正确，再分析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78992"/>
            <a:ext cx="1143000" cy="54864"/>
          </a:xfrm>
          <a:prstGeom prst="rect">
            <a:avLst/>
          </a:prstGeom>
          <a:solidFill>
            <a:srgbClr val="00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Microsoft YaHei"/>
              </a:rPr>
              <a:t>第四堂课 | MPI 两进程 GEMM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Microsoft YaHei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325880"/>
          <a:ext cx="1060704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时间</a:t>
                      </a:r>
                    </a:p>
                  </a:txBody>
                  <a:tcPr marL="36576" marR="36576" marT="27432" marB="27432">
                    <a:solidFill>
                      <a:srgbClr val="182C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任务</a:t>
                      </a:r>
                    </a:p>
                  </a:txBody>
                  <a:tcPr marL="36576" marR="36576" marT="27432" marB="27432">
                    <a:solidFill>
                      <a:srgbClr val="182C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完成标志</a:t>
                      </a:r>
                    </a:p>
                  </a:txBody>
                  <a:tcPr marL="36576" marR="36576" marT="27432" marB="27432">
                    <a:solidFill>
                      <a:srgbClr val="18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0-10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编译运行 demo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看到 Isend/Irecv 输出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10-20</a:t>
                      </a:r>
                    </a:p>
                  </a:txBody>
                  <a:tcPr marL="36576" marR="36576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运行 blocking baseline</a:t>
                      </a:r>
                    </a:p>
                  </a:txBody>
                  <a:tcPr marL="36576" marR="36576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blocking: PASS</a:t>
                      </a:r>
                    </a:p>
                  </a:txBody>
                  <a:tcPr marL="36576" marR="36576" marT="27432" marB="27432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20-35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阅读 payload 格式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理解 start_row、rows、C_tile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35-60</a:t>
                      </a:r>
                    </a:p>
                  </a:txBody>
                  <a:tcPr marL="36576" marR="36576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实现 Rank0Pipeline</a:t>
                      </a:r>
                    </a:p>
                  </a:txBody>
                  <a:tcPr marL="36576" marR="36576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rank 0 不死锁</a:t>
                      </a:r>
                    </a:p>
                  </a:txBody>
                  <a:tcPr marL="36576" marR="36576" marT="27432" marB="27432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60-75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实现 Rank1Pipeline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pipeline: PASS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55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75-90</a:t>
                      </a:r>
                    </a:p>
                  </a:txBody>
                  <a:tcPr marL="36576" marR="36576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比较不同 tile_rows</a:t>
                      </a:r>
                    </a:p>
                  </a:txBody>
                  <a:tcPr marL="36576" marR="36576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6"/>
                          </a:solidFill>
                          <a:latin typeface="Microsoft YaHei"/>
                        </a:rPr>
                        <a:t>解释不是越细越好</a:t>
                      </a:r>
                    </a:p>
                  </a:txBody>
                  <a:tcPr marL="36576" marR="36576" marT="27432" marB="27432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82C43"/>
                </a:solidFill>
                <a:latin typeface="Microsoft YaHei"/>
              </a:rPr>
              <a:t>提交要求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22960"/>
            <a:ext cx="10332720" cy="3017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Microsoft YaHei"/>
              </a:rPr>
              <a:t>实验报告继续统一 PDF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78992"/>
            <a:ext cx="1143000" cy="54864"/>
          </a:xfrm>
          <a:prstGeom prst="rect">
            <a:avLst/>
          </a:prstGeom>
          <a:solidFill>
            <a:srgbClr val="00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Microsoft YaHei"/>
              </a:rPr>
              <a:t>第四堂课 | MPI 两进程 GEMM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Microsoft YaHe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3063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417320"/>
            <a:ext cx="73152" cy="960120"/>
          </a:xfrm>
          <a:prstGeom prst="rect">
            <a:avLst/>
          </a:prstGeom>
          <a:solidFill>
            <a:srgbClr val="2B6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1545336"/>
            <a:ext cx="273405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C43"/>
                </a:solidFill>
                <a:latin typeface="Microsoft YaHei"/>
              </a:rPr>
              <a:t>代码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911095"/>
            <a:ext cx="2734056" cy="3931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B36"/>
                </a:solidFill>
                <a:latin typeface="Microsoft YaHei"/>
              </a:rPr>
              <a:t>Rank0Pipeline
Rank1Pipeline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417320"/>
            <a:ext cx="3063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80" y="1417320"/>
            <a:ext cx="73152" cy="960120"/>
          </a:xfrm>
          <a:prstGeom prst="rect">
            <a:avLst/>
          </a:prstGeom>
          <a:solidFill>
            <a:srgbClr val="36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1545336"/>
            <a:ext cx="273405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C43"/>
                </a:solidFill>
                <a:latin typeface="Microsoft YaHei"/>
              </a:rPr>
              <a:t>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1911095"/>
            <a:ext cx="2734056" cy="3931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B36"/>
                </a:solidFill>
                <a:latin typeface="Microsoft YaHei"/>
              </a:rPr>
              <a:t>blocking 与 pipeline
都要截图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063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79" y="1417320"/>
            <a:ext cx="73152" cy="960120"/>
          </a:xfrm>
          <a:prstGeom prst="rect">
            <a:avLst/>
          </a:prstGeom>
          <a:solidFill>
            <a:srgbClr val="00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048" y="1545336"/>
            <a:ext cx="273405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C43"/>
                </a:solidFill>
                <a:latin typeface="Microsoft YaHei"/>
              </a:rPr>
              <a:t>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1911095"/>
            <a:ext cx="2734056" cy="3931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B36"/>
                </a:solidFill>
                <a:latin typeface="Microsoft YaHei"/>
              </a:rPr>
              <a:t>tile_rows
不是越细越好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063240"/>
            <a:ext cx="9875520" cy="14173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B36"/>
                </a:solidFill>
                <a:latin typeface="Microsoft YaHei"/>
              </a:defRPr>
            </a:pPr>
            <a:r>
              <a:t>说明 MPI_Isend/Irecv 和 MPI_Wait 的关系。</a:t>
            </a:r>
          </a:p>
          <a:p>
            <a:pPr>
              <a:spcAft>
                <a:spcPts val="800"/>
              </a:spcAft>
              <a:defRPr sz="1800">
                <a:solidFill>
                  <a:srgbClr val="222B36"/>
                </a:solidFill>
                <a:latin typeface="Microsoft YaHei"/>
              </a:defRPr>
            </a:pPr>
            <a:r>
              <a:t>比较至少三组 tile_rows，例如 16、64、256。</a:t>
            </a:r>
          </a:p>
          <a:p>
            <a:pPr>
              <a:spcAft>
                <a:spcPts val="800"/>
              </a:spcAft>
              <a:defRPr sz="1800">
                <a:solidFill>
                  <a:srgbClr val="222B36"/>
                </a:solidFill>
                <a:latin typeface="Microsoft YaHei"/>
              </a:defRPr>
            </a:pPr>
            <a:r>
              <a:t>解释 pipeline 不一定更快的原因。</a:t>
            </a:r>
          </a:p>
          <a:p>
            <a:pPr>
              <a:spcAft>
                <a:spcPts val="800"/>
              </a:spcAft>
              <a:defRPr sz="1800">
                <a:solidFill>
                  <a:srgbClr val="222B36"/>
                </a:solidFill>
                <a:latin typeface="Microsoft YaHei"/>
              </a:defRPr>
            </a:pPr>
            <a:r>
              <a:t>可选：拓展加分题的思路或代码尝试。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486400"/>
            <a:ext cx="99669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000" b="1">
                <a:solidFill>
                  <a:srgbClr val="008780"/>
                </a:solidFill>
                <a:latin typeface="Microsoft YaHei"/>
              </a:rPr>
              <a:t>核心：非阻塞通信给出 overlap 机会，但 buffer 生命周期和任务粒度决定收益。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82C43"/>
                </a:solidFill>
                <a:latin typeface="Microsoft YaHei"/>
              </a:rPr>
              <a:t>提交要求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22960"/>
            <a:ext cx="10332720" cy="3017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Microsoft YaHei"/>
              </a:rPr>
              <a:t>实验报告继续统一 PDF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78992"/>
            <a:ext cx="1143000" cy="54864"/>
          </a:xfrm>
          <a:prstGeom prst="rect">
            <a:avLst/>
          </a:prstGeom>
          <a:solidFill>
            <a:srgbClr val="00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Microsoft YaHei"/>
              </a:rPr>
              <a:t>第四堂课 | MPI 两进程 GEMM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Microsoft YaHe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3063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417320"/>
            <a:ext cx="73152" cy="960120"/>
          </a:xfrm>
          <a:prstGeom prst="rect">
            <a:avLst/>
          </a:prstGeom>
          <a:solidFill>
            <a:srgbClr val="2B6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1545336"/>
            <a:ext cx="273405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C43"/>
                </a:solidFill>
                <a:latin typeface="Microsoft YaHei"/>
              </a:rPr>
              <a:t>代码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911095"/>
            <a:ext cx="2734056" cy="3931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B36"/>
                </a:solidFill>
                <a:latin typeface="Microsoft YaHei"/>
              </a:rPr>
              <a:t>Rank0Pipeline
Rank1Pipeline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417320"/>
            <a:ext cx="3063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80" y="1417320"/>
            <a:ext cx="73152" cy="960120"/>
          </a:xfrm>
          <a:prstGeom prst="rect">
            <a:avLst/>
          </a:prstGeom>
          <a:solidFill>
            <a:srgbClr val="36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1545336"/>
            <a:ext cx="273405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C43"/>
                </a:solidFill>
                <a:latin typeface="Microsoft YaHei"/>
              </a:rPr>
              <a:t>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1911095"/>
            <a:ext cx="2734056" cy="3931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B36"/>
                </a:solidFill>
                <a:latin typeface="Microsoft YaHei"/>
              </a:rPr>
              <a:t>blocking 与 pipeline
都要截图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063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79" y="1417320"/>
            <a:ext cx="73152" cy="960120"/>
          </a:xfrm>
          <a:prstGeom prst="rect">
            <a:avLst/>
          </a:prstGeom>
          <a:solidFill>
            <a:srgbClr val="00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048" y="1545336"/>
            <a:ext cx="273405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C43"/>
                </a:solidFill>
                <a:latin typeface="Microsoft YaHei"/>
              </a:rPr>
              <a:t>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1911095"/>
            <a:ext cx="2734056" cy="3931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B36"/>
                </a:solidFill>
                <a:latin typeface="Microsoft YaHei"/>
              </a:rPr>
              <a:t>tile_rows
不是越细越好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643918"/>
            <a:ext cx="9875520" cy="14173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B36"/>
                </a:solidFill>
                <a:latin typeface="Microsoft YaHei"/>
              </a:defRPr>
            </a:pPr>
            <a:r>
              <a:rPr dirty="0" err="1"/>
              <a:t>说明</a:t>
            </a:r>
            <a:r>
              <a:rPr dirty="0"/>
              <a:t> </a:t>
            </a:r>
            <a:r>
              <a:rPr dirty="0" err="1"/>
              <a:t>MPI_Isend</a:t>
            </a:r>
            <a:r>
              <a:rPr dirty="0"/>
              <a:t>/</a:t>
            </a:r>
            <a:r>
              <a:rPr dirty="0" err="1"/>
              <a:t>Irecv</a:t>
            </a:r>
            <a:r>
              <a:rPr dirty="0"/>
              <a:t> 和 </a:t>
            </a:r>
            <a:r>
              <a:rPr dirty="0" err="1"/>
              <a:t>MPI_Wait</a:t>
            </a:r>
            <a:r>
              <a:rPr dirty="0"/>
              <a:t> </a:t>
            </a:r>
            <a:r>
              <a:rPr dirty="0" err="1"/>
              <a:t>的关系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1800">
                <a:solidFill>
                  <a:srgbClr val="222B36"/>
                </a:solidFill>
                <a:latin typeface="Microsoft YaHei"/>
              </a:defRPr>
            </a:pPr>
            <a:r>
              <a:rPr dirty="0" err="1"/>
              <a:t>比较至少三组</a:t>
            </a:r>
            <a:r>
              <a:rPr dirty="0"/>
              <a:t> </a:t>
            </a:r>
            <a:r>
              <a:rPr dirty="0" err="1"/>
              <a:t>tile_rows，例如</a:t>
            </a:r>
            <a:r>
              <a:rPr dirty="0"/>
              <a:t> 16、64、256。</a:t>
            </a:r>
          </a:p>
          <a:p>
            <a:pPr>
              <a:spcAft>
                <a:spcPts val="800"/>
              </a:spcAft>
              <a:defRPr sz="1800">
                <a:solidFill>
                  <a:srgbClr val="222B36"/>
                </a:solidFill>
                <a:latin typeface="Microsoft YaHei"/>
              </a:defRPr>
            </a:pPr>
            <a:r>
              <a:rPr dirty="0" err="1"/>
              <a:t>解释</a:t>
            </a:r>
            <a:r>
              <a:rPr dirty="0"/>
              <a:t> pipeline </a:t>
            </a:r>
            <a:r>
              <a:rPr dirty="0" err="1"/>
              <a:t>不一定更快的原因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1800">
                <a:solidFill>
                  <a:srgbClr val="222B36"/>
                </a:solidFill>
                <a:latin typeface="Microsoft YaHei"/>
              </a:defRPr>
            </a:pPr>
            <a:r>
              <a:rPr dirty="0" err="1"/>
              <a:t>可选：拓展加分题的思路或代码尝试</a:t>
            </a:r>
            <a:r>
              <a:rPr dirty="0"/>
              <a:t>。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C5A39A7D-9A32-4972-8DD9-AC3781926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405" y="2886474"/>
            <a:ext cx="2791252" cy="318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912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1348</Words>
  <Application>Microsoft Office PowerPoint</Application>
  <PresentationFormat>宽屏</PresentationFormat>
  <Paragraphs>230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微软雅黑</vt:lpstr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15529597297@163.com</cp:lastModifiedBy>
  <cp:revision>7</cp:revision>
  <dcterms:created xsi:type="dcterms:W3CDTF">2013-01-27T09:14:16Z</dcterms:created>
  <dcterms:modified xsi:type="dcterms:W3CDTF">2026-05-12T01:46:43Z</dcterms:modified>
  <cp:category/>
</cp:coreProperties>
</file>