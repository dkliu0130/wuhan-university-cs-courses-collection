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75" r:id="rId10"/>
    <p:sldId id="274" r:id="rId11"/>
    <p:sldId id="264" r:id="rId12"/>
    <p:sldId id="266" r:id="rId13"/>
    <p:sldId id="265" r:id="rId14"/>
    <p:sldId id="273" r:id="rId15"/>
    <p:sldId id="269" r:id="rId16"/>
    <p:sldId id="267" r:id="rId17"/>
    <p:sldId id="268" r:id="rId18"/>
    <p:sldId id="270" r:id="rId19"/>
    <p:sldId id="27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2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713232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Microsoft YaHei"/>
              </a:rPr>
              <a:t>并行与分布式计算实验课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7048533" cy="52937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sz="32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zh-CN" altLang="en-US" sz="32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的多线程</a:t>
            </a:r>
            <a:r>
              <a:rPr sz="32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32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算子实现</a:t>
            </a:r>
            <a:endParaRPr sz="3200" b="1" dirty="0">
              <a:solidFill>
                <a:srgbClr val="182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2542032"/>
            <a:ext cx="6796861" cy="2985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700" b="0" dirty="0" err="1">
                <a:solidFill>
                  <a:srgbClr val="222A34"/>
                </a:solidFill>
                <a:latin typeface="Microsoft YaHei"/>
              </a:rPr>
              <a:t>讲解使用</a:t>
            </a:r>
            <a:r>
              <a:rPr sz="1700" b="0" dirty="0">
                <a:solidFill>
                  <a:srgbClr val="222A34"/>
                </a:solidFill>
                <a:latin typeface="Microsoft YaHei"/>
              </a:rPr>
              <a:t> GEMM </a:t>
            </a:r>
            <a:r>
              <a:rPr sz="1700" b="0" dirty="0" err="1">
                <a:solidFill>
                  <a:srgbClr val="222A34"/>
                </a:solidFill>
                <a:latin typeface="Microsoft YaHei"/>
              </a:rPr>
              <a:t>示例；上机任务实现图像卷积的串行和并行算子</a:t>
            </a:r>
            <a:r>
              <a:rPr sz="1700" b="0" dirty="0">
                <a:solidFill>
                  <a:srgbClr val="222A34"/>
                </a:solidFill>
                <a:latin typeface="Microsoft YaHei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050791"/>
            <a:ext cx="2651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讲解示例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416552"/>
            <a:ext cx="2651760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GEMM: C = A x B
学习并行化模式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38862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77639" y="3886200"/>
            <a:ext cx="73152" cy="96012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7" y="4050791"/>
            <a:ext cx="26517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上机任务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4416552"/>
            <a:ext cx="2651760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Conv: 实现两个算子
通过检查后测速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今天要掌握的并行模式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481328"/>
            <a:ext cx="3200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" y="1481328"/>
            <a:ext cx="73152" cy="1170432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645920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1. 先写串行版本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2880360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得到一个可信的 baseline 和参考结果。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00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81328"/>
            <a:ext cx="73152" cy="1170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645920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2. 找输出空间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11680"/>
            <a:ext cx="2880360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判断哪些输出元素可以独立计算。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81328"/>
            <a:ext cx="3200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481328"/>
            <a:ext cx="73152" cy="117043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3. 加 OpenMP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2880360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把输出循环分配给多个线程。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6576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11680" y="3657600"/>
            <a:ext cx="73152" cy="114300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12848" y="3822191"/>
            <a:ext cx="31546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4. 检查正确性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187952"/>
            <a:ext cx="3154679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并行结果必须与参考结果一致。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6576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3657600"/>
            <a:ext cx="73152" cy="1143000"/>
          </a:xfrm>
          <a:prstGeom prst="rect">
            <a:avLst/>
          </a:prstGeom>
          <a:solidFill>
            <a:srgbClr val="C6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76288" y="3822191"/>
            <a:ext cx="31546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5. 测量加速比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187952"/>
            <a:ext cx="3154679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记录不同线程数下的耗时并解释。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>
                <a:solidFill>
                  <a:srgbClr val="182636"/>
                </a:solidFill>
                <a:latin typeface="Microsoft YaHei"/>
              </a:rPr>
              <a:t>GEMM </a:t>
            </a:r>
            <a:r>
              <a:rPr sz="2600" b="1" dirty="0" err="1">
                <a:solidFill>
                  <a:srgbClr val="182636"/>
                </a:solidFill>
                <a:latin typeface="Microsoft YaHei"/>
              </a:rPr>
              <a:t>是什么</a:t>
            </a:r>
            <a:endParaRPr sz="26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3</a:t>
            </a:r>
          </a:p>
        </p:txBody>
      </p:sp>
      <p:pic>
        <p:nvPicPr>
          <p:cNvPr id="3076" name="Picture 4" descr="Matrix Multiplication-Why is it a big deal? | by Charchithowitzer | Medium">
            <a:extLst>
              <a:ext uri="{FF2B5EF4-FFF2-40B4-BE49-F238E27FC236}">
                <a16:creationId xmlns:a16="http://schemas.microsoft.com/office/drawing/2014/main" id="{29A912F5-216A-4F58-B624-7CCCCA698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2143125"/>
            <a:ext cx="11766550" cy="397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C0A53CA-CC1C-4CFD-8F80-CA89FA9835BF}"/>
              </a:ext>
            </a:extLst>
          </p:cNvPr>
          <p:cNvSpPr txBox="1"/>
          <p:nvPr/>
        </p:nvSpPr>
        <p:spPr>
          <a:xfrm>
            <a:off x="848868" y="1586275"/>
            <a:ext cx="6385594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2600" b="1" dirty="0">
                <a:solidFill>
                  <a:srgbClr val="182636"/>
                </a:solidFill>
                <a:latin typeface="Microsoft YaHei"/>
              </a:rPr>
              <a:t>General Matrix-Matrix Multiplication</a:t>
            </a:r>
            <a:endParaRPr sz="2600" b="1" dirty="0">
              <a:solidFill>
                <a:srgbClr val="18263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GEMM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2834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1078992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673351"/>
            <a:ext cx="251460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矩阵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2514600" cy="4571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M x K
行 i，列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508760"/>
            <a:ext cx="2834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1508760"/>
            <a:ext cx="73152" cy="1078992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0328" y="1673351"/>
            <a:ext cx="251460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矩阵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039112"/>
            <a:ext cx="2514600" cy="4571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K x N
行 k，列 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508760"/>
            <a:ext cx="2834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1508760"/>
            <a:ext cx="73152" cy="107899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0808" y="1673351"/>
            <a:ext cx="251460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矩阵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039112"/>
            <a:ext cx="2514600" cy="4571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M x N
行 i，列 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828669" y="3016023"/>
                <a:ext cx="4504182" cy="470898"/>
              </a:xfrm>
              <a:prstGeom prst="rect">
                <a:avLst/>
              </a:prstGeom>
              <a:noFill/>
            </p:spPr>
            <p:txBody>
              <a:bodyPr wrap="none" lIns="36576" tIns="18288" rIns="36576" bIns="18288">
                <a:spAutoFit/>
              </a:bodyPr>
              <a:lstStyle/>
              <a:p>
                <a:pPr algn="ctr"/>
                <a:r>
                  <a:rPr lang="en-US" altLang="zh-CN" sz="2600" b="1" dirty="0">
                    <a:solidFill>
                      <a:srgbClr val="182636"/>
                    </a:solidFill>
                  </a:rPr>
                  <a:t>C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182636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600" b="1" i="1" smtClean="0">
                                <a:solidFill>
                                  <a:srgbClr val="1826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solidFill>
                                  <a:srgbClr val="18263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2600" b="1" i="1" smtClean="0">
                                <a:solidFill>
                                  <a:srgbClr val="1826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solidFill>
                                  <a:srgbClr val="182636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][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6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sz="2600" b="1" dirty="0">
                  <a:solidFill>
                    <a:srgbClr val="182636"/>
                  </a:solidFill>
                  <a:latin typeface="Microsoft YaHei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669" y="3016023"/>
                <a:ext cx="4504182" cy="470898"/>
              </a:xfrm>
              <a:prstGeom prst="rect">
                <a:avLst/>
              </a:prstGeom>
              <a:blipFill>
                <a:blip r:embed="rId2"/>
                <a:stretch>
                  <a:fillRect l="-3248" t="-10390" b="-38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234440" y="3977639"/>
            <a:ext cx="969264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00897B"/>
                </a:solidFill>
                <a:latin typeface="Microsoft YaHei"/>
              </a:rPr>
              <a:t>A 的第 i 行，与 B 的第 j 列做点积，得到 C 的一个元素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663440"/>
            <a:ext cx="9418320" cy="8229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每个 C[i][j] 是一个独立输出元素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不同线程可以计算不同的 i 或不同的 i,j 组合</a:t>
            </a:r>
          </a:p>
        </p:txBody>
      </p:sp>
    </p:spTree>
    <p:extLst>
      <p:ext uri="{BB962C8B-B14F-4D97-AF65-F5344CB8AC3E}">
        <p14:creationId xmlns:p14="http://schemas.microsoft.com/office/powerpoint/2010/main" val="362031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GEMM 串行版本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172200" cy="4297680"/>
          </a:xfrm>
          <a:prstGeom prst="rect">
            <a:avLst/>
          </a:prstGeom>
          <a:solidFill>
            <a:srgbClr val="1B222B"/>
          </a:solidFill>
          <a:ln>
            <a:solidFill>
              <a:srgbClr val="374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481328"/>
            <a:ext cx="5916168" cy="4133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6EBF1"/>
                </a:solidFill>
                <a:latin typeface="Consolas"/>
              </a:rPr>
              <a:t>// A: MxK, B: KxN, C: MxN, row-major
void gemm_serial(const float* a, const float* b, float* c) {
  for (int i = 0; i &lt; M; ++i) {        // output row
    for (int j = 0; j &lt; N; ++j) {      // output col
      float sum = 0.0f;
      for (int k = 0; k &lt; K; ++k) {    // reduction
        sum += a[i * K + k] * b[k * N + j];
      }
      c[i * N + j] = sum;
    }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0876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86600" y="150876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87768" y="1673351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i, j 是输出空间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03911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每个 (i,j) 对应一个 C 元素。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78892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86600" y="2788920"/>
            <a:ext cx="73152" cy="96012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87768" y="2953512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k 是累加维度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331927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只为当前 C[i][j] 服务。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06908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406908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4233672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sum 是局部变量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459943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每次计算新 C[i][j] 都重新置零。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GEMM 中哪里可以并行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" y="4800600"/>
            <a:ext cx="365760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600" b="1" dirty="0">
                <a:solidFill>
                  <a:srgbClr val="182636"/>
                </a:solidFill>
                <a:latin typeface="Microsoft YaHei"/>
              </a:rPr>
              <a:t>C </a:t>
            </a:r>
            <a:r>
              <a:rPr sz="1600" b="1" dirty="0" err="1">
                <a:solidFill>
                  <a:srgbClr val="182636"/>
                </a:solidFill>
                <a:latin typeface="Microsoft YaHei"/>
              </a:rPr>
              <a:t>的输出网格</a:t>
            </a:r>
            <a:endParaRPr sz="16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46520" y="1417320"/>
            <a:ext cx="448056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182636"/>
                </a:solidFill>
                <a:latin typeface="Microsoft YaHei"/>
              </a:rPr>
              <a:t>适合并行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2039112"/>
            <a:ext cx="4389120" cy="10515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并行 i 循环：不同线程负责不同行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或使用 collapse(2)：并行 i,j 输出元素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每个线程只写自己的 C[i][j]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3977639"/>
            <a:ext cx="438912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C63939"/>
                </a:solidFill>
                <a:latin typeface="Microsoft YaHei"/>
              </a:rPr>
              <a:t>不适合共享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480560"/>
            <a:ext cx="46482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 dirty="0">
                <a:solidFill>
                  <a:srgbClr val="222A34"/>
                </a:solidFill>
                <a:latin typeface="Microsoft YaHei"/>
              </a:rPr>
              <a:t>sum </a:t>
            </a:r>
            <a:r>
              <a:rPr sz="1600" b="0" dirty="0" err="1">
                <a:solidFill>
                  <a:srgbClr val="222A34"/>
                </a:solidFill>
                <a:latin typeface="Microsoft YaHei"/>
              </a:rPr>
              <a:t>不能放到循环外让多个线程共同更新，否则会产生数据竞争</a:t>
            </a:r>
            <a:r>
              <a:rPr sz="1600" b="0" dirty="0">
                <a:solidFill>
                  <a:srgbClr val="222A34"/>
                </a:solidFill>
                <a:latin typeface="Microsoft YaHei"/>
              </a:rPr>
              <a:t>。</a:t>
            </a:r>
          </a:p>
        </p:txBody>
      </p:sp>
      <p:pic>
        <p:nvPicPr>
          <p:cNvPr id="1026" name="Picture 2" descr="CUTLASS GEMM API — NVIDIA CUTLASS Documentation">
            <a:extLst>
              <a:ext uri="{FF2B5EF4-FFF2-40B4-BE49-F238E27FC236}">
                <a16:creationId xmlns:a16="http://schemas.microsoft.com/office/drawing/2014/main" id="{6A80E4C5-E5A8-43D2-AB17-719EE8C1B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44"/>
          <a:stretch/>
        </p:blipFill>
        <p:spPr bwMode="auto">
          <a:xfrm>
            <a:off x="1563115" y="2140871"/>
            <a:ext cx="2910659" cy="233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GEMM OpenMP 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172200" cy="4297680"/>
          </a:xfrm>
          <a:prstGeom prst="rect">
            <a:avLst/>
          </a:prstGeom>
          <a:solidFill>
            <a:srgbClr val="1B222B"/>
          </a:solidFill>
          <a:ln>
            <a:solidFill>
              <a:srgbClr val="374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481328"/>
            <a:ext cx="5916168" cy="4133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6EBF1"/>
                </a:solidFill>
                <a:latin typeface="Consolas"/>
              </a:rPr>
              <a:t>void gemm_openmp(const float* a, const float* b, float* c) {
#pragma omp parallel for schedule(static)
  for (int i = 0; i &lt; M; ++i) {        // parallel rows
    for (int j = 0; j &lt; N; ++j) {      // output col
      float sum = 0.0f;
      for (int k = 0; k &lt; K; ++k)      // reduction
        sum += a[i * K + k] * b[k * N + j];
      c[i * N + j] = sum;
    }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0876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86600" y="1508760"/>
            <a:ext cx="73152" cy="96012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87768" y="1673351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parallel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03911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把 i 的不同取值分给多个线程。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78892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86600" y="278892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87768" y="2953512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schedule(static)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331927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每行工作量接近，静态划分开销低。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069080"/>
            <a:ext cx="39776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406908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4233672"/>
            <a:ext cx="365759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sum 为什么安全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4599432"/>
            <a:ext cx="365759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sum 在循环内部，每个线程有自己的局部变量。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GEMM：公式到代码的对应关系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71600"/>
          <a:ext cx="106527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公式元素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代码变量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并行判断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C[i][j]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i, j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输出矩阵中的一个元素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不同 i,j 写不同位置，可以并行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Σ(k=0..K-1)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k loop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点积累加维度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属于一个输出元素内部的计算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sum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local variable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当前 C[i][j] 的临时累加值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必须放在 i,j 循环内部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A[i][k] × B[k][j]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inner multiply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一次乘加操作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由负责该输出元素的线程执行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036031" y="5806440"/>
            <a:ext cx="3998018" cy="2985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 dirty="0" err="1">
                <a:solidFill>
                  <a:srgbClr val="00897B"/>
                </a:solidFill>
                <a:latin typeface="Microsoft YaHei"/>
              </a:rPr>
              <a:t>并行输出空间，累加维度留在线程内部</a:t>
            </a:r>
            <a:r>
              <a:rPr sz="1700" b="1" dirty="0">
                <a:solidFill>
                  <a:srgbClr val="00897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1696105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0" name="Picture 2" descr="Convolutional Neural Network. In this article, we will see what are… | by  Arunava | TDS Archive | Medium">
            <a:extLst>
              <a:ext uri="{FF2B5EF4-FFF2-40B4-BE49-F238E27FC236}">
                <a16:creationId xmlns:a16="http://schemas.microsoft.com/office/drawing/2014/main" id="{522FC7E8-C6BE-4A18-B7D8-59D225A7A4D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1290638"/>
            <a:ext cx="37623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78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1696105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Convolutional Neural Network | Deep Learning | Developers Breach">
            <a:extLst>
              <a:ext uri="{FF2B5EF4-FFF2-40B4-BE49-F238E27FC236}">
                <a16:creationId xmlns:a16="http://schemas.microsoft.com/office/drawing/2014/main" id="{48D85F8C-0D2C-456F-BEF1-52C426AD2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519773"/>
            <a:ext cx="9744075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499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Conv 公式：上机实现参考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73152" cy="96012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227832"/>
            <a:ext cx="1409168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82636"/>
                </a:solidFill>
                <a:latin typeface="Microsoft YaHei"/>
              </a:rPr>
              <a:t>输入</a:t>
            </a:r>
            <a:r>
              <a:rPr sz="1500" b="1" dirty="0">
                <a:solidFill>
                  <a:srgbClr val="182636"/>
                </a:solidFill>
                <a:latin typeface="Microsoft YaHei"/>
              </a:rPr>
              <a:t> image</a:t>
            </a:r>
            <a:r>
              <a:rPr lang="en-US" sz="1500" b="1" dirty="0">
                <a:solidFill>
                  <a:srgbClr val="182636"/>
                </a:solidFill>
                <a:latin typeface="Microsoft YaHei"/>
              </a:rPr>
              <a:t>(A)</a:t>
            </a:r>
            <a:endParaRPr sz="15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3593592"/>
            <a:ext cx="292607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>
                <a:solidFill>
                  <a:srgbClr val="222A34"/>
                </a:solidFill>
                <a:latin typeface="Microsoft YaHei"/>
              </a:rPr>
              <a:t>C x H x W
本实验：3 x 1024 x 1024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06324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3063240"/>
            <a:ext cx="73152" cy="96012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3227832"/>
            <a:ext cx="1658274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82636"/>
                </a:solidFill>
                <a:latin typeface="Microsoft YaHei"/>
              </a:rPr>
              <a:t>卷积核</a:t>
            </a:r>
            <a:r>
              <a:rPr sz="1500" b="1" dirty="0">
                <a:solidFill>
                  <a:srgbClr val="182636"/>
                </a:solidFill>
                <a:latin typeface="Microsoft YaHei"/>
              </a:rPr>
              <a:t> kernel</a:t>
            </a:r>
            <a:r>
              <a:rPr lang="en-US" sz="1500" b="1" dirty="0">
                <a:solidFill>
                  <a:srgbClr val="182636"/>
                </a:solidFill>
                <a:latin typeface="Microsoft YaHei"/>
              </a:rPr>
              <a:t>(M)</a:t>
            </a:r>
            <a:endParaRPr sz="15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3593592"/>
            <a:ext cx="292607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 x KH x KW
本实验：3 x 3 x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06324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06324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227832"/>
            <a:ext cx="1133452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82636"/>
                </a:solidFill>
                <a:latin typeface="Microsoft YaHei"/>
              </a:rPr>
              <a:t>输出</a:t>
            </a:r>
            <a:r>
              <a:rPr sz="1500" b="1" dirty="0">
                <a:solidFill>
                  <a:srgbClr val="182636"/>
                </a:solidFill>
                <a:latin typeface="Microsoft YaHei"/>
              </a:rPr>
              <a:t> out</a:t>
            </a:r>
            <a:r>
              <a:rPr lang="en-US" sz="1500" b="1" dirty="0">
                <a:solidFill>
                  <a:srgbClr val="182636"/>
                </a:solidFill>
                <a:latin typeface="Microsoft YaHei"/>
              </a:rPr>
              <a:t>(X)</a:t>
            </a:r>
            <a:endParaRPr sz="15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3593592"/>
            <a:ext cx="2926079" cy="33832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OH x OW
OH=H-KH+1, OW=W-KW+1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00600"/>
            <a:ext cx="9692640" cy="8229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A34"/>
                </a:solidFill>
                <a:latin typeface="Microsoft YaHei"/>
              </a:defRPr>
            </a:pPr>
            <a:r>
              <a:rPr dirty="0"/>
              <a:t>oh, ow </a:t>
            </a:r>
            <a:r>
              <a:rPr dirty="0" err="1"/>
              <a:t>是输出空间，适合并行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222A34"/>
                </a:solidFill>
                <a:latin typeface="Microsoft YaHei"/>
              </a:defRPr>
            </a:pPr>
            <a:r>
              <a:rPr dirty="0"/>
              <a:t>c, </a:t>
            </a:r>
            <a:r>
              <a:rPr dirty="0" err="1"/>
              <a:t>kh</a:t>
            </a:r>
            <a:r>
              <a:rPr dirty="0"/>
              <a:t>, kw </a:t>
            </a:r>
            <a:r>
              <a:rPr dirty="0" err="1"/>
              <a:t>是累加维度，sum</a:t>
            </a:r>
            <a:r>
              <a:rPr dirty="0"/>
              <a:t> </a:t>
            </a:r>
            <a:r>
              <a:rPr dirty="0" err="1"/>
              <a:t>必须是每个输出点的局部变量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8AACF03-E3C3-46A7-87F5-50738B4665EE}"/>
                  </a:ext>
                </a:extLst>
              </p:cNvPr>
              <p:cNvSpPr txBox="1"/>
              <p:nvPr/>
            </p:nvSpPr>
            <p:spPr>
              <a:xfrm>
                <a:off x="580390" y="1032739"/>
                <a:ext cx="11465306" cy="1981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182636"/>
                    </a:solidFill>
                  </a:rPr>
                  <a:t>X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CN" sz="32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𝒐𝒉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altLang="zh-CN" sz="32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182636"/>
                            </a:solidFill>
                            <a:latin typeface="Cambria Math" panose="02040503050406030204" pitchFamily="18" charset="0"/>
                          </a:rPr>
                          <m:t>𝒐𝒘</m:t>
                        </m:r>
                      </m:e>
                    </m:d>
                  </m:oMath>
                </a14:m>
                <a:endParaRPr lang="en-US" altLang="zh-CN" sz="3200" b="1" i="1" dirty="0">
                  <a:solidFill>
                    <a:srgbClr val="182636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sz="3200" b="1" i="1" smtClean="0">
                          <a:solidFill>
                            <a:srgbClr val="18263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1" i="1" smtClean="0">
                              <a:solidFill>
                                <a:srgbClr val="18263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ar-AE" altLang="zh-CN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zh-CN" altLang="ar-AE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ar-AE" altLang="zh-CN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ar-AE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zh-CN" altLang="ar-AE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zh-CN" altLang="ar-AE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ar-AE" sz="3200" b="1" i="1">
                                  <a:solidFill>
                                    <a:srgbClr val="182636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  <m:e>
                                  <m:r>
                                    <a:rPr lang="zh-CN" altLang="ar-AE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ar-AE" altLang="zh-CN" sz="3200" b="1" i="1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𝒐𝒉</m:t>
                                      </m:r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𝒌𝒉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ar-AE" altLang="zh-CN" sz="3200" b="1" i="1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𝒐𝒘</m:t>
                                      </m:r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3200" b="1" i="1" smtClean="0">
                                          <a:solidFill>
                                            <a:srgbClr val="18263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𝒌𝒘</m:t>
                                      </m:r>
                                    </m:e>
                                  </m:d>
                                  <m: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  <m: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][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𝒌𝒉</m:t>
                                  </m:r>
                                  <m:r>
                                    <a:rPr lang="ar-AE" altLang="zh-CN" sz="3200" b="1" i="1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𝒌𝒘</m:t>
                                  </m:r>
                                  <m:r>
                                    <a:rPr lang="en-US" altLang="zh-CN" sz="3200" b="1" i="1" smtClean="0">
                                      <a:solidFill>
                                        <a:srgbClr val="182636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ar-AE" altLang="zh-CN" sz="3200" b="1" dirty="0">
                  <a:solidFill>
                    <a:srgbClr val="182636"/>
                  </a:solidFill>
                  <a:latin typeface="Microsoft YaHei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8AACF03-E3C3-46A7-87F5-50738B46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0" y="1032739"/>
                <a:ext cx="11465306" cy="1981504"/>
              </a:xfrm>
              <a:prstGeom prst="rect">
                <a:avLst/>
              </a:prstGeom>
              <a:blipFill>
                <a:blip r:embed="rId2"/>
                <a:stretch>
                  <a:fillRect t="-3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Conv 数据在代码里怎样存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9875520" cy="3017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67280"/>
                </a:solidFill>
                <a:latin typeface="Microsoft YaHei"/>
              </a:rPr>
              <a:t>逻辑上是多维数组，实际存在一段连续</a:t>
            </a:r>
            <a:r>
              <a:rPr sz="1200" b="0" dirty="0">
                <a:solidFill>
                  <a:srgbClr val="667280"/>
                </a:solidFill>
                <a:latin typeface="Microsoft YaHei"/>
              </a:rPr>
              <a:t> vector 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05156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29260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image[c][h][w]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47672"/>
            <a:ext cx="2926079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image[(c * H + h) * W + 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73152" cy="105156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81912"/>
            <a:ext cx="29260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kernel[c][kh][kw]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47672"/>
            <a:ext cx="2926079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kernel[(c * KH + kh) * KW + kw]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05156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81912"/>
            <a:ext cx="29260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out[oh][ow]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47672"/>
            <a:ext cx="2926079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out[oh * OW + ow]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10332720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182636"/>
                </a:solidFill>
                <a:latin typeface="Microsoft YaHei"/>
              </a:rPr>
              <a:t>计算 out[oh][ow] 时，卷积核左上角对齐到 image[*][oh][ow]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32720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897B"/>
                </a:solidFill>
                <a:latin typeface="Microsoft YaHei"/>
              </a:rPr>
              <a:t>所以 kernel[c][kh][kw] 对应的输入位置是 image[c][oh+kh][ow+kw]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83480"/>
            <a:ext cx="9601200" cy="73152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A34"/>
                </a:solidFill>
                <a:latin typeface="Microsoft YaHei"/>
              </a:defRPr>
            </a:pPr>
            <a:r>
              <a:t>实现时优先使用框架提供的 index 函数，减少手写下标错误</a:t>
            </a:r>
          </a:p>
          <a:p>
            <a:pPr>
              <a:spcAft>
                <a:spcPts val="800"/>
              </a:spcAft>
              <a:defRPr sz="1600">
                <a:solidFill>
                  <a:srgbClr val="222A34"/>
                </a:solidFill>
                <a:latin typeface="Microsoft YaHei"/>
              </a:defRPr>
            </a:pPr>
            <a:r>
              <a:t>先让 serial_status PASS，再考虑 OpenMP 并行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Conv 上机任务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81912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已提供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conv_data.bin
数据读取、检查、测速逻辑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14300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650947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82636"/>
                </a:solidFill>
                <a:latin typeface="Microsoft YaHei"/>
              </a:rPr>
              <a:t>要实现</a:t>
            </a:r>
            <a:endParaRPr sz="15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6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conv_serial
conv_openmp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46136" y="1417320"/>
            <a:ext cx="73152" cy="1143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7304" y="1581912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通过标准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serial_status: PASS
openmp_status: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906" y="3999892"/>
            <a:ext cx="2526141" cy="357021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A34"/>
                </a:solidFill>
                <a:latin typeface="Microsoft YaHei"/>
              </a:defRPr>
            </a:pPr>
            <a:r>
              <a:rPr lang="en-US" dirty="0"/>
              <a:t>1. </a:t>
            </a:r>
            <a:r>
              <a:rPr dirty="0" err="1"/>
              <a:t>先实现单线程</a:t>
            </a:r>
            <a:r>
              <a:rPr dirty="0"/>
              <a:t> Conv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B3F8A86-2B67-4CAF-AFBC-AC413FC1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05" y="2724912"/>
            <a:ext cx="7660900" cy="35806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Conv 上机任务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81912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已提供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conv_data.bin
数据读取、检查、测速逻辑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14300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650947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82636"/>
                </a:solidFill>
                <a:latin typeface="Microsoft YaHei"/>
              </a:rPr>
              <a:t>要实现</a:t>
            </a:r>
            <a:endParaRPr sz="15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6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conv_serial
conv_openmp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46136" y="1417320"/>
            <a:ext cx="73152" cy="1143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7304" y="1581912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通过标准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947672"/>
            <a:ext cx="3063240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serial_status: PASS
openmp_status: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90" y="3708315"/>
            <a:ext cx="2916809" cy="357021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A34"/>
                </a:solidFill>
                <a:latin typeface="Microsoft YaHei"/>
              </a:defRPr>
            </a:pPr>
            <a:r>
              <a:rPr lang="en-US" dirty="0"/>
              <a:t>2.</a:t>
            </a:r>
            <a:r>
              <a:rPr dirty="0"/>
              <a:t>再实现 OpenMP Conv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C5530F7-93F4-4138-9CF2-395832DC4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48" y="2724912"/>
            <a:ext cx="7980952" cy="4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3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Windows 编译运行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2265172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67280"/>
                </a:solidFill>
                <a:latin typeface="Microsoft YaHei"/>
              </a:rPr>
              <a:t>只需要</a:t>
            </a:r>
            <a:r>
              <a:rPr sz="1200" b="0" dirty="0">
                <a:solidFill>
                  <a:srgbClr val="667280"/>
                </a:solidFill>
                <a:latin typeface="Microsoft YaHei"/>
              </a:rPr>
              <a:t> C++ </a:t>
            </a:r>
            <a:r>
              <a:rPr sz="1200" b="0" dirty="0" err="1">
                <a:solidFill>
                  <a:srgbClr val="667280"/>
                </a:solidFill>
                <a:latin typeface="Microsoft YaHei"/>
              </a:rPr>
              <a:t>编译器和</a:t>
            </a:r>
            <a:r>
              <a:rPr sz="1200" b="0" dirty="0">
                <a:solidFill>
                  <a:srgbClr val="667280"/>
                </a:solidFill>
                <a:latin typeface="Microsoft YaHei"/>
              </a:rPr>
              <a:t> OpenMP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5440680" cy="1463040"/>
          </a:xfrm>
          <a:prstGeom prst="rect">
            <a:avLst/>
          </a:prstGeom>
          <a:solidFill>
            <a:srgbClr val="1B222B"/>
          </a:solidFill>
          <a:ln>
            <a:solidFill>
              <a:srgbClr val="374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435607"/>
            <a:ext cx="5184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E6EBF1"/>
                </a:solidFill>
                <a:latin typeface="Consolas"/>
              </a:rPr>
              <a:t># GEMM example
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g++ -O2 -std=</a:t>
            </a:r>
            <a:r>
              <a:rPr lang="en-US" sz="1200" b="0" dirty="0" err="1">
                <a:solidFill>
                  <a:srgbClr val="E6EBF1"/>
                </a:solidFill>
                <a:latin typeface="Consolas"/>
              </a:rPr>
              <a:t>c++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17 -</a:t>
            </a:r>
            <a:r>
              <a:rPr lang="en-US" sz="1200" b="0" dirty="0" err="1">
                <a:solidFill>
                  <a:srgbClr val="E6EBF1"/>
                </a:solidFill>
                <a:latin typeface="Consolas"/>
              </a:rPr>
              <a:t>fopenmp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 gemm_openmp_example.cpp -o gemm_openmp_example.exe</a:t>
            </a:r>
            <a:r>
              <a:rPr sz="1200" b="0" dirty="0">
                <a:solidFill>
                  <a:srgbClr val="E6EBF1"/>
                </a:solidFill>
                <a:latin typeface="Consolas"/>
              </a:rPr>
              <a:t>
.\gemm_openmp_example.exe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10128"/>
            <a:ext cx="5440680" cy="1645920"/>
          </a:xfrm>
          <a:prstGeom prst="rect">
            <a:avLst/>
          </a:prstGeom>
          <a:solidFill>
            <a:srgbClr val="1B222B"/>
          </a:solidFill>
          <a:ln>
            <a:solidFill>
              <a:srgbClr val="374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419856"/>
            <a:ext cx="4535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E6EBF1"/>
                </a:solidFill>
                <a:latin typeface="Consolas"/>
              </a:rPr>
              <a:t># Conv lab
g++ -O2 -std=</a:t>
            </a:r>
            <a:r>
              <a:rPr lang="en-US" sz="1200" b="0" dirty="0" err="1">
                <a:solidFill>
                  <a:srgbClr val="E6EBF1"/>
                </a:solidFill>
                <a:latin typeface="Consolas"/>
              </a:rPr>
              <a:t>c++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17 -</a:t>
            </a:r>
            <a:r>
              <a:rPr lang="en-US" sz="1200" b="0" dirty="0" err="1">
                <a:solidFill>
                  <a:srgbClr val="E6EBF1"/>
                </a:solidFill>
                <a:latin typeface="Consolas"/>
              </a:rPr>
              <a:t>fopenmp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 </a:t>
            </a:r>
            <a:r>
              <a:rPr lang="en-US" altLang="zh-CN" sz="1200" b="0" dirty="0">
                <a:solidFill>
                  <a:srgbClr val="E6EBF1"/>
                </a:solidFill>
                <a:latin typeface="Consolas"/>
              </a:rPr>
              <a:t>conv</a:t>
            </a:r>
            <a:r>
              <a:rPr lang="en-US" sz="1200" b="0" dirty="0">
                <a:solidFill>
                  <a:srgbClr val="E6EBF1"/>
                </a:solidFill>
                <a:latin typeface="Consolas"/>
              </a:rPr>
              <a:t>_openmp_starter.cpp -o conv_openmp.exe
.\conv_openmp.exe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389120" cy="15087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统一使用</a:t>
            </a:r>
            <a:r>
              <a:rPr dirty="0"/>
              <a:t> x64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统一使用</a:t>
            </a:r>
            <a:r>
              <a:rPr dirty="0"/>
              <a:t> Release 或 -O2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conv_data.bin</a:t>
            </a:r>
            <a:r>
              <a:rPr dirty="0"/>
              <a:t> 与 exe </a:t>
            </a:r>
            <a:r>
              <a:rPr dirty="0" err="1"/>
              <a:t>放在同一目录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编译参数必须包含</a:t>
            </a:r>
            <a:r>
              <a:rPr dirty="0"/>
              <a:t> /</a:t>
            </a:r>
            <a:r>
              <a:rPr dirty="0" err="1"/>
              <a:t>openmp</a:t>
            </a:r>
            <a:r>
              <a:rPr dirty="0"/>
              <a:t> 或 -</a:t>
            </a:r>
            <a:r>
              <a:rPr dirty="0" err="1"/>
              <a:t>fopenmp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正确性检查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9875520" cy="3017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67280"/>
                </a:solidFill>
                <a:latin typeface="Microsoft YaHei"/>
              </a:rPr>
              <a:t>速度只有在结果正确之后才有意义</a:t>
            </a:r>
            <a:endParaRPr sz="1200" b="0" dirty="0">
              <a:solidFill>
                <a:srgbClr val="66728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1670050"/>
            <a:ext cx="3770884" cy="1100814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串行输出与标准输出比较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并行输出与标准输出比较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rPr dirty="0" err="1"/>
              <a:t>串行输出与并行输出也会比较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357616" y="4087137"/>
            <a:ext cx="303530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dirty="0" err="1">
                <a:solidFill>
                  <a:srgbClr val="C63939"/>
                </a:solidFill>
                <a:latin typeface="Microsoft YaHei"/>
              </a:rPr>
              <a:t>如果检查失败，先修正确性；程序会跳过性能测试</a:t>
            </a:r>
            <a:r>
              <a:rPr sz="1800" b="1" dirty="0">
                <a:solidFill>
                  <a:srgbClr val="C63939"/>
                </a:solidFill>
                <a:latin typeface="Microsoft YaHei"/>
              </a:rPr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E5101B3-3A44-449A-B0BC-7FC25DA19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2" y="1478432"/>
            <a:ext cx="7590476" cy="243809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E5BF8AE-BEC3-4477-A242-51AC2CB1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07" y="4077399"/>
            <a:ext cx="7514286" cy="25428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性能测量与加速比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9875520" cy="3017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7280"/>
                </a:solidFill>
                <a:latin typeface="Microsoft YaHei"/>
              </a:rPr>
              <a:t>同一台机器、同一份数据、不同线程数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93776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182636"/>
                </a:solidFill>
                <a:latin typeface="Microsoft YaHei"/>
              </a:rPr>
              <a:t>加速比公式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5212080" cy="6583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00897B"/>
                </a:solidFill>
                <a:latin typeface="Microsoft YaHei"/>
              </a:rPr>
              <a:t>speedup = T_serial / T_openmp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5120640" cy="12801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使用 Release 或 -O2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分别测试 1、2、4、8 线程</a:t>
            </a:r>
          </a:p>
          <a:p>
            <a:pPr>
              <a:spcAft>
                <a:spcPts val="800"/>
              </a:spcAft>
              <a:defRPr sz="1800">
                <a:solidFill>
                  <a:srgbClr val="222A34"/>
                </a:solidFill>
                <a:latin typeface="Microsoft YaHei"/>
              </a:defRPr>
            </a:pPr>
            <a:r>
              <a:t>记录时间、加速比和 PASS/FAIL 状态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417320"/>
          <a:ext cx="4297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线程数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串行 ms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OpenMP ms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加速比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56832" y="4709160"/>
            <a:ext cx="4407408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C63939"/>
                </a:solidFill>
                <a:latin typeface="Microsoft YaHei"/>
              </a:rPr>
              <a:t>线程越多不一定越快，可能受到线程开销和内存带宽限制。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2584169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altLang="zh-CN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分钟</a:t>
            </a:r>
            <a:r>
              <a:rPr sz="2600" b="1" dirty="0" err="1">
                <a:solidFill>
                  <a:srgbClr val="182636"/>
                </a:solidFill>
                <a:latin typeface="Microsoft YaHei"/>
              </a:rPr>
              <a:t>上机任务</a:t>
            </a:r>
            <a:endParaRPr sz="26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9875520" cy="3017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7280"/>
                </a:solidFill>
                <a:latin typeface="Microsoft YaHei"/>
              </a:rPr>
              <a:t>按步骤完成，最后提交源码和运行结果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84114"/>
              </p:ext>
            </p:extLst>
          </p:nvPr>
        </p:nvGraphicFramePr>
        <p:xfrm>
          <a:off x="841248" y="1371600"/>
          <a:ext cx="10561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完成标志</a:t>
                      </a:r>
                    </a:p>
                  </a:txBody>
                  <a:tcPr marL="36576" marR="36576" marT="27432" marB="27432">
                    <a:solidFill>
                      <a:srgbClr val="18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0-1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0</a:t>
                      </a:r>
                      <a:endParaRPr sz="1200" b="0" dirty="0">
                        <a:solidFill>
                          <a:srgbClr val="222A34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222A34"/>
                          </a:solidFill>
                          <a:latin typeface="Microsoft YaHei"/>
                        </a:rPr>
                        <a:t>运行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 GEMM </a:t>
                      </a:r>
                      <a:r>
                        <a:rPr sz="1200" b="0" dirty="0" err="1">
                          <a:solidFill>
                            <a:srgbClr val="222A34"/>
                          </a:solidFill>
                          <a:latin typeface="Microsoft YaHei"/>
                        </a:rPr>
                        <a:t>示例和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 Conv starter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理解 PASS/FAIL 输出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1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0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-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45</a:t>
                      </a:r>
                      <a:endParaRPr sz="1200" b="0" dirty="0">
                        <a:solidFill>
                          <a:srgbClr val="222A34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实现 conv_serial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serial_status: PASS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45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-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60</a:t>
                      </a:r>
                      <a:endParaRPr sz="1200" b="0" dirty="0">
                        <a:solidFill>
                          <a:srgbClr val="222A34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实现 conv_openmp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openmp_status: PASS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6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0-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7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测试 1、2、4、8 线程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完成结果表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7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5-</a:t>
                      </a:r>
                      <a:r>
                        <a:rPr lang="en-US"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9</a:t>
                      </a:r>
                      <a:r>
                        <a:rPr sz="1200" b="0" dirty="0">
                          <a:solidFill>
                            <a:srgbClr val="222A34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4"/>
                          </a:solidFill>
                          <a:latin typeface="Microsoft YaHei"/>
                        </a:rPr>
                        <a:t>整理提交内容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22A34"/>
                          </a:solidFill>
                          <a:latin typeface="Microsoft YaHei"/>
                        </a:rPr>
                        <a:t>写出简短实验结论</a:t>
                      </a:r>
                      <a:endParaRPr sz="1200" b="0" dirty="0">
                        <a:solidFill>
                          <a:srgbClr val="222A34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94865" y="5806440"/>
            <a:ext cx="2680349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 dirty="0">
                <a:solidFill>
                  <a:srgbClr val="00897B"/>
                </a:solidFill>
                <a:latin typeface="Microsoft YaHei"/>
              </a:rPr>
              <a:t>GEMM </a:t>
            </a:r>
            <a:r>
              <a:rPr sz="1500" b="1" dirty="0" err="1">
                <a:solidFill>
                  <a:srgbClr val="00897B"/>
                </a:solidFill>
                <a:latin typeface="Microsoft YaHei"/>
              </a:rPr>
              <a:t>是示例；Conv</a:t>
            </a:r>
            <a:r>
              <a:rPr sz="1500" b="1" dirty="0">
                <a:solidFill>
                  <a:srgbClr val="00897B"/>
                </a:solidFill>
                <a:latin typeface="Microsoft YaHei"/>
              </a:rPr>
              <a:t> </a:t>
            </a:r>
            <a:r>
              <a:rPr sz="1500" b="1" dirty="0" err="1">
                <a:solidFill>
                  <a:srgbClr val="00897B"/>
                </a:solidFill>
                <a:latin typeface="Microsoft YaHei"/>
              </a:rPr>
              <a:t>是作业</a:t>
            </a:r>
            <a:endParaRPr sz="1500" b="1" dirty="0">
              <a:solidFill>
                <a:srgbClr val="00897B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82636"/>
                </a:solidFill>
                <a:latin typeface="Microsoft YaHei"/>
              </a:rPr>
              <a:t>提交内容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50392"/>
            <a:ext cx="9875520" cy="3017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67280"/>
                </a:solidFill>
                <a:latin typeface="Microsoft YaHei"/>
              </a:rPr>
              <a:t>提交材料要能复现实验结果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105156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673351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1. 源码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2651252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222A34"/>
                </a:solidFill>
                <a:latin typeface="Microsoft YaHei"/>
              </a:rPr>
              <a:t>已实现</a:t>
            </a:r>
            <a:r>
              <a:rPr sz="1200" b="0" dirty="0">
                <a:solidFill>
                  <a:srgbClr val="222A34"/>
                </a:solidFill>
                <a:latin typeface="Microsoft YaHei"/>
              </a:rPr>
              <a:t> </a:t>
            </a:r>
            <a:r>
              <a:rPr sz="1200" b="0" dirty="0" err="1">
                <a:solidFill>
                  <a:srgbClr val="222A34"/>
                </a:solidFill>
                <a:latin typeface="Microsoft YaHei"/>
              </a:rPr>
              <a:t>conv_serial</a:t>
            </a:r>
            <a:r>
              <a:rPr sz="1200" b="0" dirty="0">
                <a:solidFill>
                  <a:srgbClr val="222A34"/>
                </a:solidFill>
                <a:latin typeface="Microsoft YaHei"/>
              </a:rPr>
              <a:t> 和 </a:t>
            </a:r>
            <a:r>
              <a:rPr sz="1200" b="0" dirty="0" err="1">
                <a:solidFill>
                  <a:srgbClr val="222A34"/>
                </a:solidFill>
                <a:latin typeface="Microsoft YaHei"/>
              </a:rPr>
              <a:t>conv_openmp</a:t>
            </a:r>
            <a:r>
              <a:rPr sz="1200" b="0" dirty="0">
                <a:solidFill>
                  <a:srgbClr val="222A34"/>
                </a:solidFill>
                <a:latin typeface="Microsoft YaHei"/>
              </a:rPr>
              <a:t> 的 .</a:t>
            </a:r>
            <a:r>
              <a:rPr sz="1200" b="0" dirty="0" err="1">
                <a:solidFill>
                  <a:srgbClr val="222A34"/>
                </a:solidFill>
                <a:latin typeface="Microsoft YaHei"/>
              </a:rPr>
              <a:t>cpp</a:t>
            </a:r>
            <a:r>
              <a:rPr sz="1200" b="0" dirty="0">
                <a:solidFill>
                  <a:srgbClr val="222A34"/>
                </a:solidFill>
                <a:latin typeface="Microsoft YaHei"/>
              </a:rPr>
              <a:t> </a:t>
            </a:r>
            <a:r>
              <a:rPr sz="1200" b="0" dirty="0" err="1">
                <a:solidFill>
                  <a:srgbClr val="222A34"/>
                </a:solidFill>
                <a:latin typeface="Microsoft YaHei"/>
              </a:rPr>
              <a:t>文件</a:t>
            </a:r>
            <a:r>
              <a:rPr sz="1200" b="0" dirty="0">
                <a:solidFill>
                  <a:srgbClr val="222A34"/>
                </a:solidFill>
                <a:latin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731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673351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2. 运行结果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2880360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终端输出截图，或复制的完整输出。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73152" cy="105156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673351"/>
            <a:ext cx="288036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3. 测试表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2880360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1、2、4、8 线程的耗时和加速比。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65760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11680" y="3657600"/>
            <a:ext cx="73152" cy="1051560"/>
          </a:xfrm>
          <a:prstGeom prst="rect">
            <a:avLst/>
          </a:prstGeom>
          <a:solidFill>
            <a:srgbClr val="EF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12848" y="3822191"/>
            <a:ext cx="31546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4. 正确性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187952"/>
            <a:ext cx="3154679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截图中应包含 serial_status 和 openmp_status。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65760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3657600"/>
            <a:ext cx="73152" cy="1051560"/>
          </a:xfrm>
          <a:prstGeom prst="rect">
            <a:avLst/>
          </a:prstGeom>
          <a:solidFill>
            <a:srgbClr val="C6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76288" y="3822191"/>
            <a:ext cx="3154679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82636"/>
                </a:solidFill>
                <a:latin typeface="Microsoft YaHei"/>
              </a:rPr>
              <a:t>5. 实验结论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187952"/>
            <a:ext cx="3154679" cy="42976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Microsoft YaHei"/>
              </a:rPr>
              <a:t>100-150 字解释加速比变化。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96012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82636"/>
                </a:solidFill>
                <a:latin typeface="Microsoft YaHei"/>
              </a:rPr>
              <a:t>提交内容</a:t>
            </a:r>
            <a:endParaRPr sz="2600" b="1" dirty="0">
              <a:solidFill>
                <a:srgbClr val="182636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115568"/>
            <a:ext cx="10515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67280"/>
                </a:solidFill>
                <a:latin typeface="Microsoft YaHei"/>
              </a:rPr>
              <a:t>16</a:t>
            </a: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3C29B88C-A803-4976-B69D-90CF0926330B}"/>
              </a:ext>
            </a:extLst>
          </p:cNvPr>
          <p:cNvSpPr txBox="1"/>
          <p:nvPr/>
        </p:nvSpPr>
        <p:spPr>
          <a:xfrm>
            <a:off x="1608844" y="1614657"/>
            <a:ext cx="9076331" cy="8371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提交实验报告</a:t>
            </a:r>
            <a:r>
              <a:rPr lang="en-US" altLang="zh-CN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en-US" altLang="zh-CN" sz="2600" b="1" dirty="0">
              <a:solidFill>
                <a:srgbClr val="182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600" b="1" dirty="0">
                <a:solidFill>
                  <a:srgbClr val="182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（包括源码截图、运行结果截图，多线程测试表，实验结论）</a:t>
            </a:r>
            <a:endParaRPr sz="2600" b="1" dirty="0">
              <a:solidFill>
                <a:srgbClr val="182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A8EA0C7-D592-48C8-B6E2-0057FDD5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847" y="2788455"/>
            <a:ext cx="3259379" cy="34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9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1182</Words>
  <Application>Microsoft Office PowerPoint</Application>
  <PresentationFormat>宽屏</PresentationFormat>
  <Paragraphs>202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微软雅黑</vt:lpstr>
      <vt:lpstr>微软雅黑</vt:lpstr>
      <vt:lpstr>Arial</vt:lpstr>
      <vt:lpstr>Calibri</vt:lpstr>
      <vt:lpstr>Cambria Math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15529597297@163.com</cp:lastModifiedBy>
  <cp:revision>17</cp:revision>
  <dcterms:created xsi:type="dcterms:W3CDTF">2013-01-27T09:14:16Z</dcterms:created>
  <dcterms:modified xsi:type="dcterms:W3CDTF">2026-04-20T14:29:37Z</dcterms:modified>
  <cp:category/>
</cp:coreProperties>
</file>