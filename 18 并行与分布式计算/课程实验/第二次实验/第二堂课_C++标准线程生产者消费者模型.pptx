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81" r:id="rId3"/>
    <p:sldId id="279" r:id="rId4"/>
    <p:sldId id="259" r:id="rId5"/>
    <p:sldId id="260" r:id="rId6"/>
    <p:sldId id="261" r:id="rId7"/>
    <p:sldId id="262" r:id="rId8"/>
    <p:sldId id="282" r:id="rId9"/>
    <p:sldId id="280" r:id="rId10"/>
    <p:sldId id="256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3" d="100"/>
          <a:sy n="143" d="100"/>
        </p:scale>
        <p:origin x="12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40716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 err="1">
                <a:solidFill>
                  <a:srgbClr val="1C2B3A"/>
                </a:solidFill>
                <a:latin typeface="Microsoft YaHei"/>
              </a:rPr>
              <a:t>反馈</a:t>
            </a:r>
            <a:endParaRPr sz="2600" b="1" dirty="0">
              <a:solidFill>
                <a:srgbClr val="1C2B3A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3624"/>
            <a:ext cx="2201052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en-US" sz="24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</a:t>
            </a:r>
            <a:r>
              <a:rPr sz="24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lang="zh-CN" altLang="en-US" sz="24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提交时间</a:t>
            </a:r>
            <a:endParaRPr sz="2400" b="1" dirty="0">
              <a:solidFill>
                <a:srgbClr val="1C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C8444A38-710D-4945-AF51-2FB9B45A09E5}"/>
              </a:ext>
            </a:extLst>
          </p:cNvPr>
          <p:cNvSpPr txBox="1"/>
          <p:nvPr/>
        </p:nvSpPr>
        <p:spPr>
          <a:xfrm>
            <a:off x="1234440" y="3383280"/>
            <a:ext cx="4417684" cy="721223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建议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当天（有些同学没带电源）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第二天提交入口会关闭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40716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 err="1">
                <a:solidFill>
                  <a:srgbClr val="1C2B3A"/>
                </a:solidFill>
                <a:latin typeface="Microsoft YaHei"/>
              </a:rPr>
              <a:t>反馈</a:t>
            </a:r>
            <a:endParaRPr sz="2600" b="1" dirty="0">
              <a:solidFill>
                <a:srgbClr val="1C2B3A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3624"/>
            <a:ext cx="1582293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en-US" sz="2400" b="1" dirty="0">
                <a:solidFill>
                  <a:srgbClr val="1C2B3A"/>
                </a:solidFill>
                <a:latin typeface="Microsoft YaHei"/>
              </a:rPr>
              <a:t>1.</a:t>
            </a:r>
            <a:r>
              <a:rPr sz="2400" b="1" dirty="0">
                <a:solidFill>
                  <a:srgbClr val="1C2B3A"/>
                </a:solidFill>
                <a:latin typeface="Microsoft YaHei"/>
              </a:rPr>
              <a:t>报告格式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9D9A61A6-38A6-4A83-8F88-E4AE4B5C6E12}"/>
              </a:ext>
            </a:extLst>
          </p:cNvPr>
          <p:cNvSpPr txBox="1"/>
          <p:nvPr/>
        </p:nvSpPr>
        <p:spPr>
          <a:xfrm>
            <a:off x="1234440" y="3383280"/>
            <a:ext cx="2494081" cy="341632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有同学提交了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docx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181AC63-A7F0-4722-8693-C9605AE84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560" y="3665046"/>
            <a:ext cx="2952381" cy="819048"/>
          </a:xfrm>
          <a:prstGeom prst="rect">
            <a:avLst/>
          </a:prstGeom>
        </p:spPr>
      </p:pic>
      <p:sp>
        <p:nvSpPr>
          <p:cNvPr id="20" name="TextBox 14">
            <a:extLst>
              <a:ext uri="{FF2B5EF4-FFF2-40B4-BE49-F238E27FC236}">
                <a16:creationId xmlns:a16="http://schemas.microsoft.com/office/drawing/2014/main" id="{3F60FE10-8BAF-4650-80FF-40B356A43DDD}"/>
              </a:ext>
            </a:extLst>
          </p:cNvPr>
          <p:cNvSpPr txBox="1"/>
          <p:nvPr/>
        </p:nvSpPr>
        <p:spPr>
          <a:xfrm>
            <a:off x="5610709" y="4605272"/>
            <a:ext cx="1043363" cy="341632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朴实无华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708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40716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 err="1">
                <a:solidFill>
                  <a:srgbClr val="1C2B3A"/>
                </a:solidFill>
                <a:latin typeface="Microsoft YaHei"/>
              </a:rPr>
              <a:t>反馈</a:t>
            </a:r>
            <a:endParaRPr sz="2600" b="1" dirty="0">
              <a:solidFill>
                <a:srgbClr val="1C2B3A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4389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73152" cy="123444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563624"/>
            <a:ext cx="4059935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报告格式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29384"/>
            <a:ext cx="4059935" cy="6675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后续实验报告统一提交 PDF。
不再提交 Word 文档。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83280"/>
            <a:ext cx="9509760" cy="123444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dirty="0"/>
              <a:t>建议命名：学号_姓名_第N堂课实验报告.pdf</a:t>
            </a:r>
          </a:p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dirty="0" err="1"/>
              <a:t>报告中保留关键代码、运行截图、数据表和简短分析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dirty="0" err="1"/>
              <a:t>代码、截图、文字结论三者都要有，不要只交其中一种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31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43922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</a:t>
            </a:r>
            <a:endParaRPr sz="2600" b="1" dirty="0">
              <a:solidFill>
                <a:srgbClr val="1C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并行实验不是每次都稳定变快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8120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981200"/>
            <a:ext cx="73152" cy="1051560"/>
          </a:xfrm>
          <a:prstGeom prst="rect">
            <a:avLst/>
          </a:prstGeom>
          <a:solidFill>
            <a:srgbClr val="E29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127504"/>
            <a:ext cx="30540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现象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493264"/>
            <a:ext cx="3054096" cy="48463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OpenMP 运行时间
波动明显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8120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981200"/>
            <a:ext cx="73152" cy="10515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2127504"/>
            <a:ext cx="30540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现象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493264"/>
            <a:ext cx="3054096" cy="48463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部分同学加速比不高，
甚至低于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8120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981200"/>
            <a:ext cx="73152" cy="105156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127504"/>
            <a:ext cx="30540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现象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93264"/>
            <a:ext cx="3054096" cy="484631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同一份代码在不同电脑上
差异很大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01440"/>
            <a:ext cx="10104120" cy="47548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200" b="1">
                <a:solidFill>
                  <a:srgbClr val="1C2B3A"/>
                </a:solidFill>
                <a:latin typeface="Microsoft YaHei"/>
              </a:rPr>
              <a:t>这不是“并行没有用”，而是一次真实的性能实验。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815840"/>
            <a:ext cx="9052560" cy="91440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t>代码只是性能的一部分；硬件状态、系统策略和测量方式也会影响结果</a:t>
            </a:r>
          </a:p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t>性能实验的结论，必须和运行条件一起记录</a:t>
            </a: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6EF0F088-D5D9-4717-BA8D-B70F60A202DA}"/>
              </a:ext>
            </a:extLst>
          </p:cNvPr>
          <p:cNvSpPr txBox="1"/>
          <p:nvPr/>
        </p:nvSpPr>
        <p:spPr>
          <a:xfrm>
            <a:off x="777240" y="1377696"/>
            <a:ext cx="1707327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en-US" sz="2600" b="1" dirty="0">
                <a:solidFill>
                  <a:srgbClr val="1C2B3A"/>
                </a:solidFill>
                <a:latin typeface="Microsoft YaHei"/>
              </a:rPr>
              <a:t>2.</a:t>
            </a:r>
            <a:r>
              <a:rPr sz="2600" b="1" dirty="0">
                <a:solidFill>
                  <a:srgbClr val="1C2B3A"/>
                </a:solidFill>
                <a:latin typeface="Microsoft YaHei"/>
              </a:rPr>
              <a:t>性能现象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为什么不插电会影响加速比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移动设备会优先保护续航和温度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96012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517904"/>
            <a:ext cx="300837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电源策略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83664"/>
            <a:ext cx="300837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电池模式常限制 CPU
频率和功耗上限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73152" cy="960120"/>
          </a:xfrm>
          <a:prstGeom prst="rect">
            <a:avLst/>
          </a:prstGeom>
          <a:solidFill>
            <a:srgbClr val="E29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1517904"/>
            <a:ext cx="300837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睿频限制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883664"/>
            <a:ext cx="300837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不插电时 Boost 频率
更难长时间保持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9601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517904"/>
            <a:ext cx="300837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散热限制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1883664"/>
            <a:ext cx="300837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温度升高后 CPU 降频，
越跑越慢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260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292608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072384"/>
            <a:ext cx="300837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大小核调度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38144"/>
            <a:ext cx="300837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任务可能被调度到
低功耗核心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9260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34840" y="2926080"/>
            <a:ext cx="73152" cy="9601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7" y="3072384"/>
            <a:ext cx="300837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后台负载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3438144"/>
            <a:ext cx="300837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浏览器、杀毒、同步软件
会抢占 CPU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926080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2926080"/>
            <a:ext cx="73152" cy="96012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8" y="3072384"/>
            <a:ext cx="300837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测量误差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3438144"/>
            <a:ext cx="300837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单次运行、Debug、小数据
都会误导结论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10195560" cy="4114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00897B"/>
                </a:solidFill>
                <a:latin typeface="Microsoft YaHei"/>
              </a:rPr>
              <a:t>建议：插电、高性能模式、Release/O2、多次运行、记录机器和线程数。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性能实验应记录什么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没有运行条件，性能数字就很难解释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104241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记录项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为什么重要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例子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电源状态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决定功耗墙和频率策略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插电 / 电池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编译模式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Debug 与 Release 差异巨大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-O2 / Release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线程数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影响并行开销和资源竞争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1, 2, 4, 8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运行次数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单次运行容易受偶然因素影响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至少 3 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机器状态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后台任务会抢占资源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关闭大型软件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>
                <a:solidFill>
                  <a:srgbClr val="1C2B3A"/>
                </a:solidFill>
                <a:latin typeface="Microsoft YaHei"/>
              </a:rPr>
              <a:t>HPC </a:t>
            </a:r>
            <a:r>
              <a:rPr sz="2600" b="1" dirty="0" err="1">
                <a:solidFill>
                  <a:srgbClr val="1C2B3A"/>
                </a:solidFill>
                <a:latin typeface="Microsoft YaHei"/>
              </a:rPr>
              <a:t>与端侧低功耗计算</a:t>
            </a:r>
            <a:endParaRPr sz="2600" b="1" dirty="0">
              <a:solidFill>
                <a:srgbClr val="1C2B3A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同样是并行，目标可能完全不同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71600"/>
          <a:ext cx="106070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典型目标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主要约束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例子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HPC / 服务器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最短时间完成大规模计算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供电、散热、成本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超算、训练服务器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桌面 / 工作站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性能与稳定性平衡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散热和后台负载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实验室工作站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13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笔记本 / 端侧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低功耗、低延迟、稳定续航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电池、温度、体积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手机、笔记本、边缘设备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5669280"/>
            <a:ext cx="100584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1C2B3A"/>
                </a:solidFill>
                <a:latin typeface="Microsoft YaHei"/>
              </a:rPr>
              <a:t>并行优化不能只问“快不快”，还要问“在什么设备、什么约束下快”。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3571619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en-US" altLang="zh-CN" sz="26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HPC </a:t>
            </a:r>
            <a:r>
              <a:rPr lang="zh-CN" altLang="en-US" sz="26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与端侧低功耗计算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7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973511-A867-40DD-AC1B-9D517285D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750" y="1562980"/>
            <a:ext cx="9384280" cy="389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9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740716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 err="1">
                <a:solidFill>
                  <a:srgbClr val="1C2B3A"/>
                </a:solidFill>
                <a:latin typeface="Microsoft YaHei"/>
              </a:rPr>
              <a:t>反馈</a:t>
            </a:r>
            <a:endParaRPr sz="2600" b="1" dirty="0">
              <a:solidFill>
                <a:srgbClr val="1C2B3A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563624"/>
            <a:ext cx="3762377" cy="406265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en-US" sz="24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如何看待使用</a:t>
            </a:r>
            <a:r>
              <a:rPr lang="en-US" altLang="zh-CN" sz="24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完成作业</a:t>
            </a:r>
            <a:endParaRPr sz="2400" b="1" dirty="0">
              <a:solidFill>
                <a:srgbClr val="1C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2923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58368"/>
            <a:ext cx="713232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00897B"/>
                </a:solidFill>
                <a:latin typeface="Microsoft YaHei"/>
              </a:rPr>
              <a:t>并行与分布式计算实验课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9692640" cy="100584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3100" b="1" dirty="0" err="1">
                <a:solidFill>
                  <a:srgbClr val="1C2B3A"/>
                </a:solidFill>
                <a:latin typeface="Microsoft YaHei"/>
              </a:rPr>
              <a:t>第二堂课：C</a:t>
            </a:r>
            <a:r>
              <a:rPr sz="3100" b="1" dirty="0">
                <a:solidFill>
                  <a:srgbClr val="1C2B3A"/>
                </a:solidFill>
                <a:latin typeface="Microsoft YaHei"/>
              </a:rPr>
              <a:t>++ </a:t>
            </a:r>
            <a:r>
              <a:rPr sz="3100" b="1" dirty="0" err="1">
                <a:solidFill>
                  <a:srgbClr val="1C2B3A"/>
                </a:solidFill>
                <a:latin typeface="Microsoft YaHei"/>
              </a:rPr>
              <a:t>标准线程</a:t>
            </a:r>
            <a:r>
              <a:rPr sz="3100" b="1" dirty="0">
                <a:solidFill>
                  <a:srgbClr val="1C2B3A"/>
                </a:solidFill>
                <a:latin typeface="Microsoft YaHei"/>
              </a:rPr>
              <a:t>
</a:t>
            </a:r>
            <a:r>
              <a:rPr sz="3100" b="1" dirty="0" err="1">
                <a:solidFill>
                  <a:srgbClr val="1C2B3A"/>
                </a:solidFill>
                <a:latin typeface="Microsoft YaHei"/>
              </a:rPr>
              <a:t>生产者-消费者模型</a:t>
            </a:r>
            <a:endParaRPr sz="3100" b="1" dirty="0">
              <a:solidFill>
                <a:srgbClr val="1C2B3A"/>
              </a:solidFill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1980" y="3936192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1980" y="3936192"/>
            <a:ext cx="73152" cy="96012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3148" y="4082496"/>
            <a:ext cx="264261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API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148" y="4448256"/>
            <a:ext cx="264261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thread / mutex
condition_variable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950208"/>
            <a:ext cx="2971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23760" y="3950208"/>
            <a:ext cx="73152" cy="9601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4928" y="4096512"/>
            <a:ext cx="264261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上机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8" y="4462272"/>
            <a:ext cx="264261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实现 Push
实现 Pop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从 OpenMP 到 C++ 标准线程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 dirty="0" err="1">
                <a:solidFill>
                  <a:srgbClr val="697480"/>
                </a:solidFill>
                <a:latin typeface="Microsoft YaHei"/>
              </a:rPr>
              <a:t>上一课是数据并行，本节课是线程协作</a:t>
            </a:r>
            <a:endParaRPr sz="1200" b="0" dirty="0">
              <a:solidFill>
                <a:srgbClr val="697480"/>
              </a:solidFill>
              <a:latin typeface="Microsoft Ya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98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OpenMP 循环并行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C++ 标准线程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抽象层次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较高：给循环加 pragma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较低：手动创建线程和同步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典型任务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62E38"/>
                          </a:solidFill>
                          <a:latin typeface="Microsoft YaHei"/>
                        </a:rPr>
                        <a:t>独立输出元素并行计算</a:t>
                      </a:r>
                      <a:endParaRPr sz="1100" b="0" dirty="0">
                        <a:solidFill>
                          <a:srgbClr val="262E38"/>
                        </a:solidFill>
                        <a:latin typeface="Microsoft YaHe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多个线程协作处理共享资源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主要风险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数据竞争、粒度过小、调度开销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死锁、错误等待、共享状态破坏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本节重点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62E38"/>
                          </a:solidFill>
                          <a:latin typeface="Microsoft YaHei"/>
                        </a:rPr>
                        <a:t>理解并行结果正确性</a:t>
                      </a:r>
                      <a:endParaRPr sz="1100" b="0" dirty="0">
                        <a:solidFill>
                          <a:srgbClr val="262E38"/>
                        </a:solidFill>
                        <a:latin typeface="Microsoft YaHe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262E38"/>
                          </a:solidFill>
                          <a:latin typeface="Microsoft YaHei"/>
                        </a:rPr>
                        <a:t>理解</a:t>
                      </a:r>
                      <a:r>
                        <a:rPr sz="1100" b="0" dirty="0">
                          <a:solidFill>
                            <a:srgbClr val="262E38"/>
                          </a:solidFill>
                          <a:latin typeface="Microsoft YaHei"/>
                        </a:rPr>
                        <a:t> mutex 与 </a:t>
                      </a:r>
                      <a:r>
                        <a:rPr sz="1100" b="0" dirty="0" err="1">
                          <a:solidFill>
                            <a:srgbClr val="262E38"/>
                          </a:solidFill>
                          <a:latin typeface="Microsoft YaHei"/>
                        </a:rPr>
                        <a:t>condition_variable</a:t>
                      </a:r>
                      <a:endParaRPr sz="1100" b="0" dirty="0">
                        <a:solidFill>
                          <a:srgbClr val="262E38"/>
                        </a:solidFill>
                        <a:latin typeface="Microsoft YaHe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先看一个 API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小程序先讲 API，大程序再讲模型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17320"/>
            <a:ext cx="73152" cy="114300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563624"/>
            <a:ext cx="291693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std::thread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29384"/>
            <a:ext cx="2916936" cy="5760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创建线程
join 等待线程结束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73152" cy="1143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563624"/>
            <a:ext cx="291693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 dirty="0">
                <a:solidFill>
                  <a:srgbClr val="1C2B3A"/>
                </a:solidFill>
                <a:latin typeface="Microsoft YaHei"/>
              </a:rPr>
              <a:t>std::mutex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929384"/>
            <a:ext cx="2916936" cy="5760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保护共享队列
避免同时读写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11430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63624"/>
            <a:ext cx="291693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 dirty="0" err="1">
                <a:solidFill>
                  <a:srgbClr val="1C2B3A"/>
                </a:solidFill>
                <a:latin typeface="Microsoft YaHei"/>
              </a:rPr>
              <a:t>condition_variable</a:t>
            </a:r>
            <a:endParaRPr sz="1500" b="1" dirty="0">
              <a:solidFill>
                <a:srgbClr val="1C2B3A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5048" y="1929384"/>
            <a:ext cx="2916936" cy="57607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没有任务时睡眠
有任务时被通知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3154680"/>
            <a:ext cx="9966960" cy="1508760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9576" y="3264408"/>
            <a:ext cx="9710928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8EDF2"/>
                </a:solidFill>
                <a:latin typeface="Consolas"/>
              </a:rPr>
              <a:t>thread t1(producer);
thread t2(consumer);
t1.join();
t2.join();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9966960" cy="41148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1C2B3A"/>
                </a:solidFill>
                <a:latin typeface="Microsoft YaHei"/>
              </a:rPr>
              <a:t>主线程负责启动和回收；工作线程负责执行函数。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API demo：完整代码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共享队列、生产者线程、通知消费者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11018520" cy="5074920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1344168"/>
            <a:ext cx="10762488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dirty="0">
                <a:solidFill>
                  <a:srgbClr val="E8EDF2"/>
                </a:solidFill>
                <a:latin typeface="Consolas"/>
              </a:rPr>
              <a:t>#include &lt;chrono&gt;
#include &lt;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condition_variable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&gt;
#include &lt;iostream&gt;
#include &lt;mutex&gt;
#include &lt;queue&gt;
#include &lt;thread&gt;
using namespace std;
queue&lt;int&gt; jobs;
mutex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jobs_mutex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;
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condition_variable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jobs_ready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;
bool finished = false;
void producer() {
    for (int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i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 = 1;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i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 &lt;= 5; ++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i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) {
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this_thread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::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sleep_for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(chrono::milliseconds(200));
        {
    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lock_guard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&lt;mutex&gt; lock(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jobs_mutex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);
    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jobs.push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i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);
    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cout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 &lt;&lt; "producer: push job " &lt;&lt;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i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 &lt;&lt;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endl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;
        }
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jobs_ready.notify_one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();
    }
    {
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lock_guard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&lt;mutex&gt; lock(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jobs_mutex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);
        finished = true;
    }
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jobs_ready.notify_one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();
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>
                <a:solidFill>
                  <a:srgbClr val="1C2B3A"/>
                </a:solidFill>
                <a:latin typeface="Microsoft YaHei"/>
              </a:rPr>
              <a:t>API </a:t>
            </a:r>
            <a:r>
              <a:rPr sz="2600" b="1" dirty="0" err="1">
                <a:solidFill>
                  <a:srgbClr val="1C2B3A"/>
                </a:solidFill>
                <a:latin typeface="Microsoft YaHei"/>
              </a:rPr>
              <a:t>demo：完整代码</a:t>
            </a:r>
            <a:r>
              <a:rPr sz="2600" b="1" dirty="0">
                <a:solidFill>
                  <a:srgbClr val="1C2B3A"/>
                </a:solidFill>
                <a:latin typeface="Microsoft YaHei"/>
              </a:rPr>
              <a:t>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消费者等待条件，主线程创建并回收线程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11018520" cy="5074920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1344168"/>
            <a:ext cx="10762488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dirty="0">
                <a:solidFill>
                  <a:srgbClr val="E8EDF2"/>
                </a:solidFill>
                <a:latin typeface="Consolas"/>
              </a:rPr>
              <a:t>void consumer() {
    while (true) {
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unique_lock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&lt;mutex&gt; lock(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jobs_mutex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);
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jobs_ready.wait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(lock, [] {
            return !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jobs.empty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() || finished;
        });
        if (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jobs.empty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() &amp;&amp; finished) {
            break;
        }
        int job =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jobs.front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();
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jobs.pop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();
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lock.unlock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();
    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cout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 &lt;&lt; "consumer: handle job " &lt;&lt; job &lt;&lt;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endl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;
    }
}
int main() {
    thread t1(producer);
    thread t2(consumer);
    t1.join();
    t2.join();
   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cout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 &lt;&lt; "demo done" &lt;&lt; </a:t>
            </a:r>
            <a:r>
              <a:rPr sz="800" b="0" dirty="0" err="1">
                <a:solidFill>
                  <a:srgbClr val="E8EDF2"/>
                </a:solidFill>
                <a:latin typeface="Consolas"/>
              </a:rPr>
              <a:t>endl</a:t>
            </a:r>
            <a:r>
              <a:rPr sz="800" b="0" dirty="0">
                <a:solidFill>
                  <a:srgbClr val="E8EDF2"/>
                </a:solidFill>
                <a:latin typeface="Consolas"/>
              </a:rPr>
              <a:t>;
    return 0;
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API demo：线程创建与等待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`std::thread` 表示一个正在运行的执行流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17320"/>
            <a:ext cx="5074920" cy="1874519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1527048"/>
            <a:ext cx="4818888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E8EDF2"/>
                </a:solidFill>
                <a:latin typeface="Consolas"/>
              </a:rPr>
              <a:t>void producer() {
    // work here
}
thread t1(producer);
t1.join();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572000" cy="201168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t>`thread t1(producer)`：让函数在新线程中运行</a:t>
            </a:r>
          </a:p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t>`join()`：主线程等待子线程结束</a:t>
            </a:r>
          </a:p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t>没有 join，程序可能提前结束或直接异常终止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10058400" cy="47548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00897B"/>
                </a:solidFill>
                <a:latin typeface="Microsoft YaHei"/>
              </a:rPr>
              <a:t>线程创建解决“让谁同时做事”，但不解决“共享数据怎么安全使用”。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API demo：mutex 保护共享数据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`mutex` 让同一时刻只有一个线程进入关键区域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17320"/>
            <a:ext cx="5212080" cy="2148840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1527048"/>
            <a:ext cx="4956048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dirty="0">
                <a:solidFill>
                  <a:srgbClr val="E8EDF2"/>
                </a:solidFill>
                <a:latin typeface="Consolas"/>
              </a:rPr>
              <a:t>{
    </a:t>
            </a:r>
            <a:r>
              <a:rPr sz="1600" b="0" dirty="0" err="1">
                <a:solidFill>
                  <a:srgbClr val="E8EDF2"/>
                </a:solidFill>
                <a:latin typeface="Consolas"/>
              </a:rPr>
              <a:t>lock_guard</a:t>
            </a:r>
            <a:r>
              <a:rPr sz="1600" b="0" dirty="0">
                <a:solidFill>
                  <a:srgbClr val="E8EDF2"/>
                </a:solidFill>
                <a:latin typeface="Consolas"/>
              </a:rPr>
              <a:t>&lt;mutex&gt; lock(</a:t>
            </a:r>
            <a:r>
              <a:rPr sz="1600" b="0" dirty="0" err="1">
                <a:solidFill>
                  <a:srgbClr val="E8EDF2"/>
                </a:solidFill>
                <a:latin typeface="Consolas"/>
              </a:rPr>
              <a:t>jobs_mutex</a:t>
            </a:r>
            <a:r>
              <a:rPr sz="1600" b="0" dirty="0">
                <a:solidFill>
                  <a:srgbClr val="E8EDF2"/>
                </a:solidFill>
                <a:latin typeface="Consolas"/>
              </a:rPr>
              <a:t>);
    </a:t>
            </a:r>
            <a:r>
              <a:rPr sz="1600" b="0" dirty="0" err="1">
                <a:solidFill>
                  <a:srgbClr val="E8EDF2"/>
                </a:solidFill>
                <a:latin typeface="Consolas"/>
              </a:rPr>
              <a:t>jobs.push</a:t>
            </a:r>
            <a:r>
              <a:rPr sz="1600" b="0" dirty="0">
                <a:solidFill>
                  <a:srgbClr val="E8EDF2"/>
                </a:solidFill>
                <a:latin typeface="Consolas"/>
              </a:rPr>
              <a:t>(</a:t>
            </a:r>
            <a:r>
              <a:rPr sz="1600" b="0" dirty="0" err="1">
                <a:solidFill>
                  <a:srgbClr val="E8EDF2"/>
                </a:solidFill>
                <a:latin typeface="Consolas"/>
              </a:rPr>
              <a:t>i</a:t>
            </a:r>
            <a:r>
              <a:rPr sz="1600" b="0" dirty="0">
                <a:solidFill>
                  <a:srgbClr val="E8EDF2"/>
                </a:solidFill>
                <a:latin typeface="Consolas"/>
              </a:rPr>
              <a:t>);
    finished = true;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572000" cy="210312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dirty="0"/>
              <a:t>`jobs` 和 `finished` </a:t>
            </a:r>
            <a:r>
              <a:rPr dirty="0" err="1"/>
              <a:t>都是共享状态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dirty="0"/>
              <a:t>`</a:t>
            </a:r>
            <a:r>
              <a:rPr dirty="0" err="1"/>
              <a:t>lock_guard</a:t>
            </a:r>
            <a:r>
              <a:rPr dirty="0"/>
              <a:t>` </a:t>
            </a:r>
            <a:r>
              <a:rPr dirty="0" err="1"/>
              <a:t>构造时加锁，离开作用域自动解锁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262E38"/>
                </a:solidFill>
                <a:latin typeface="Microsoft YaHei"/>
              </a:defRPr>
            </a:pPr>
            <a:r>
              <a:rPr dirty="0" err="1"/>
              <a:t>关键区域越短越好，只放共享状态读写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05840" y="4617720"/>
            <a:ext cx="10058400" cy="4572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BE3737"/>
                </a:solidFill>
                <a:latin typeface="Microsoft YaHei"/>
              </a:rPr>
              <a:t>没有 mutex，就可能出现两个线程同时改同一个变量，结果偶尔对、偶尔错。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API demo：等待与通知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`condition_variable` 避免消费者空转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53312"/>
            <a:ext cx="5623560" cy="2514600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463040"/>
            <a:ext cx="5367528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dirty="0" err="1">
                <a:solidFill>
                  <a:srgbClr val="E8EDF2"/>
                </a:solidFill>
                <a:latin typeface="Consolas"/>
              </a:rPr>
              <a:t>unique_lock</a:t>
            </a:r>
            <a:r>
              <a:rPr sz="1500" b="0" dirty="0">
                <a:solidFill>
                  <a:srgbClr val="E8EDF2"/>
                </a:solidFill>
                <a:latin typeface="Consolas"/>
              </a:rPr>
              <a:t>&lt;mutex&gt; lock(</a:t>
            </a:r>
            <a:r>
              <a:rPr sz="1500" b="0" dirty="0" err="1">
                <a:solidFill>
                  <a:srgbClr val="E8EDF2"/>
                </a:solidFill>
                <a:latin typeface="Consolas"/>
              </a:rPr>
              <a:t>jobs_mutex</a:t>
            </a:r>
            <a:r>
              <a:rPr sz="1500" b="0" dirty="0">
                <a:solidFill>
                  <a:srgbClr val="E8EDF2"/>
                </a:solidFill>
                <a:latin typeface="Consolas"/>
              </a:rPr>
              <a:t>);
</a:t>
            </a:r>
            <a:r>
              <a:rPr sz="1500" b="0" dirty="0" err="1">
                <a:solidFill>
                  <a:srgbClr val="E8EDF2"/>
                </a:solidFill>
                <a:latin typeface="Consolas"/>
              </a:rPr>
              <a:t>jobs_ready.wait</a:t>
            </a:r>
            <a:r>
              <a:rPr sz="1500" b="0" dirty="0">
                <a:solidFill>
                  <a:srgbClr val="E8EDF2"/>
                </a:solidFill>
                <a:latin typeface="Consolas"/>
              </a:rPr>
              <a:t>(lock, [] {
    return !</a:t>
            </a:r>
            <a:r>
              <a:rPr sz="1500" b="0" dirty="0" err="1">
                <a:solidFill>
                  <a:srgbClr val="E8EDF2"/>
                </a:solidFill>
                <a:latin typeface="Consolas"/>
              </a:rPr>
              <a:t>jobs.empty</a:t>
            </a:r>
            <a:r>
              <a:rPr sz="1500" b="0" dirty="0">
                <a:solidFill>
                  <a:srgbClr val="E8EDF2"/>
                </a:solidFill>
                <a:latin typeface="Consolas"/>
              </a:rPr>
              <a:t>() || finished;
});
</a:t>
            </a:r>
            <a:r>
              <a:rPr sz="1500" b="0" dirty="0" err="1">
                <a:solidFill>
                  <a:srgbClr val="E8EDF2"/>
                </a:solidFill>
                <a:latin typeface="Consolas"/>
              </a:rPr>
              <a:t>jobs_ready.notify_one</a:t>
            </a:r>
            <a:r>
              <a:rPr sz="1500" b="0" dirty="0">
                <a:solidFill>
                  <a:srgbClr val="E8EDF2"/>
                </a:solidFill>
                <a:latin typeface="Consolas"/>
              </a:rPr>
              <a:t>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08760"/>
            <a:ext cx="4389120" cy="233172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2E38"/>
                </a:solidFill>
                <a:latin typeface="Microsoft YaHei"/>
              </a:defRPr>
            </a:pPr>
            <a:r>
              <a:t>`wait(lock, 条件)`：条件不满足时睡眠等待</a:t>
            </a:r>
          </a:p>
          <a:p>
            <a:pPr>
              <a:spcAft>
                <a:spcPts val="800"/>
              </a:spcAft>
              <a:defRPr sz="1700">
                <a:solidFill>
                  <a:srgbClr val="262E38"/>
                </a:solidFill>
                <a:latin typeface="Microsoft YaHei"/>
              </a:defRPr>
            </a:pPr>
            <a:r>
              <a:t>等待时会释放锁，被唤醒后重新拿锁</a:t>
            </a:r>
          </a:p>
          <a:p>
            <a:pPr>
              <a:spcAft>
                <a:spcPts val="800"/>
              </a:spcAft>
              <a:defRPr sz="1700">
                <a:solidFill>
                  <a:srgbClr val="262E38"/>
                </a:solidFill>
                <a:latin typeface="Microsoft YaHei"/>
              </a:defRPr>
            </a:pPr>
            <a:r>
              <a:t>`notify_one()`：通知一个等待中的线程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10195560" cy="47548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>
                <a:solidFill>
                  <a:srgbClr val="1C2B3A"/>
                </a:solidFill>
                <a:latin typeface="Microsoft YaHei"/>
              </a:rPr>
              <a:t>条件变量不是数据本身；真正的条件仍然由共享变量表示。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生活中的生产者-消费者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先用直观模型理解同步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463040"/>
            <a:ext cx="73152" cy="109728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609344"/>
            <a:ext cx="255117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后厨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1975104"/>
            <a:ext cx="2551176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不断做出菜品
Producer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463040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1463040"/>
            <a:ext cx="73152" cy="1097280"/>
          </a:xfrm>
          <a:prstGeom prst="rect">
            <a:avLst/>
          </a:prstGeom>
          <a:solidFill>
            <a:srgbClr val="E29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1609344"/>
            <a:ext cx="255117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取餐台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1975104"/>
            <a:ext cx="2551176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位置有限
Bounded Buffer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463040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1463040"/>
            <a:ext cx="73152" cy="109728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9368" y="1609344"/>
            <a:ext cx="255117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顾客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1975104"/>
            <a:ext cx="2551176" cy="53035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取走菜品
Consumer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94760" y="2011680"/>
            <a:ext cx="731520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35240" y="2011680"/>
            <a:ext cx="731520" cy="0"/>
          </a:xfrm>
          <a:prstGeom prst="line">
            <a:avLst/>
          </a:prstGeom>
          <a:ln w="25400">
            <a:solidFill>
              <a:srgbClr val="008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3337560"/>
            <a:ext cx="9692640" cy="123444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2E38"/>
                </a:solidFill>
                <a:latin typeface="Microsoft YaHei"/>
              </a:defRPr>
            </a:pPr>
            <a:r>
              <a:t>取餐台满了，后厨不能继续放，只能等待空位</a:t>
            </a:r>
          </a:p>
          <a:p>
            <a:pPr>
              <a:spcAft>
                <a:spcPts val="800"/>
              </a:spcAft>
              <a:defRPr sz="1900">
                <a:solidFill>
                  <a:srgbClr val="262E38"/>
                </a:solidFill>
                <a:latin typeface="Microsoft YaHei"/>
              </a:defRPr>
            </a:pPr>
            <a:r>
              <a:t>取餐台空了，顾客不能凭空取，只能等待新菜</a:t>
            </a:r>
          </a:p>
          <a:p>
            <a:pPr>
              <a:spcAft>
                <a:spcPts val="800"/>
              </a:spcAft>
              <a:defRPr sz="1900">
                <a:solidFill>
                  <a:srgbClr val="262E38"/>
                </a:solidFill>
                <a:latin typeface="Microsoft YaHei"/>
              </a:defRPr>
            </a:pPr>
            <a:r>
              <a:t>多人同时放/取时，需要规则避免混乱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有限缓冲区的状态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本质上是一个循环队列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417320"/>
          <a:ext cx="103327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变量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谁会修改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data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固定容量数组，保存 item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生产者写，消费者读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head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下一个要取走的位置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消费者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tail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下一个要写入的位置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生产者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count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当前已经放入但尚未取走的 item 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E38"/>
                          </a:solidFill>
                          <a:latin typeface="Microsoft YaHei"/>
                        </a:rPr>
                        <a:t>生产者和消费者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5257800"/>
            <a:ext cx="1005840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00897B"/>
                </a:solidFill>
                <a:latin typeface="Microsoft YaHei"/>
              </a:rPr>
              <a:t>head、tail、count 必须一起保持一致，因此它们都属于 mutex 保护的共享状态。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两个等待条件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condition_variable 负责“什么时候可以继续”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4526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08760"/>
            <a:ext cx="73152" cy="1234440"/>
          </a:xfrm>
          <a:prstGeom prst="rect">
            <a:avLst/>
          </a:prstGeom>
          <a:solidFill>
            <a:srgbClr val="366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655063"/>
            <a:ext cx="41970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not_full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20824"/>
            <a:ext cx="4197096" cy="6675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生产者等待：
count &lt; capacity
缓冲区未满才能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508760"/>
            <a:ext cx="4526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97880" y="1508760"/>
            <a:ext cx="73152" cy="123444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9048" y="1655063"/>
            <a:ext cx="419709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not_empty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020824"/>
            <a:ext cx="4197096" cy="66751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消费者等待：
count &gt; 0
缓冲区非空才能 pop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3520440"/>
            <a:ext cx="9829800" cy="1325880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71016" y="3630168"/>
            <a:ext cx="9573768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8EDF2"/>
                </a:solidFill>
                <a:latin typeface="Consolas"/>
              </a:rPr>
              <a:t>buffer.not_full.wait(lock,  [&amp;] { return buffer.count &lt; capacity; });
buffer.not_empty.wait(lock, [&amp;] { return buffer.count &gt; 0; });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10058400" cy="36576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800" b="1">
                <a:solidFill>
                  <a:srgbClr val="BE3737"/>
                </a:solidFill>
                <a:latin typeface="Microsoft YaHei"/>
              </a:rPr>
              <a:t>等待条件必须写成谓词，避免虚假唤醒导致错误执行。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Push / Pop 的正确时序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顺序错了，程序可能死锁或数据损坏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17320"/>
            <a:ext cx="4983480" cy="2148840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1527048"/>
            <a:ext cx="4727448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8EDF2"/>
                </a:solidFill>
                <a:latin typeface="Consolas"/>
              </a:rPr>
              <a:t>Producer Push:
lock(mutex)
wait until not full
write item at tail
update tail/count
unlock
notify not_empty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4983480" cy="2148840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527048"/>
            <a:ext cx="4727448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8EDF2"/>
                </a:solidFill>
                <a:latin typeface="Consolas"/>
              </a:rPr>
              <a:t>Consumer Pop:
lock(mutex)
wait until not empty
read item at head
update head/count
unlock
notify not_full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241280" cy="45720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100" b="1">
                <a:solidFill>
                  <a:srgbClr val="00897B"/>
                </a:solidFill>
                <a:latin typeface="Microsoft YaHei"/>
              </a:rPr>
              <a:t>口径：先确认条件，再修改共享状态；改完共享状态，再通知对方。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93792"/>
            <a:ext cx="10241280" cy="38404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1700" b="1">
                <a:solidFill>
                  <a:srgbClr val="1C2B3A"/>
                </a:solidFill>
                <a:latin typeface="Microsoft YaHei"/>
              </a:rPr>
              <a:t>临界区里只做共享状态读写，不把耗时工作放进锁里。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停止消费者：STOP_ITEM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多消费者程序还要设计退出协议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10241280" cy="114300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2E38"/>
                </a:solidFill>
                <a:latin typeface="Microsoft YaHei"/>
              </a:defRPr>
            </a:pPr>
            <a:r>
              <a:t>生产者结束后，消费者可能还在等待 not_empty</a:t>
            </a:r>
          </a:p>
          <a:p>
            <a:pPr>
              <a:spcAft>
                <a:spcPts val="800"/>
              </a:spcAft>
              <a:defRPr sz="1900">
                <a:solidFill>
                  <a:srgbClr val="262E38"/>
                </a:solidFill>
                <a:latin typeface="Microsoft YaHei"/>
              </a:defRPr>
            </a:pPr>
            <a:r>
              <a:t>主线程给每个消费者放入一个特殊 item，通知它退出</a:t>
            </a:r>
          </a:p>
          <a:p>
            <a:pPr>
              <a:spcAft>
                <a:spcPts val="800"/>
              </a:spcAft>
              <a:defRPr sz="1900">
                <a:solidFill>
                  <a:srgbClr val="262E38"/>
                </a:solidFill>
                <a:latin typeface="Microsoft YaHei"/>
              </a:defRPr>
            </a:pPr>
            <a:r>
              <a:t>有几个消费者，就需要放几个 STOP_ITEM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3154680"/>
            <a:ext cx="9601200" cy="1508760"/>
          </a:xfrm>
          <a:prstGeom prst="rect">
            <a:avLst/>
          </a:prstGeom>
          <a:solidFill>
            <a:srgbClr val="1D242D"/>
          </a:solidFill>
          <a:ln>
            <a:solidFill>
              <a:srgbClr val="38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2456" y="3264408"/>
            <a:ext cx="9345168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E8EDF2"/>
                </a:solidFill>
                <a:latin typeface="Consolas"/>
              </a:rPr>
              <a:t>after all producers join:
  repeat CONSUMER_COUNT times:
    push(STOP_ITEM)
consumer receives STOP_ITEM:
  exit thread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90 分钟上机任务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实现 BufferPush 和 BufferPop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25880"/>
          <a:ext cx="105156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完成标志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0-10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编译运行 API demo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能解释 thread / mutex / condition_variable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10-20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编译运行 starter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看到 status: FAIL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20-40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阅读缓冲区数据结构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能说明 head / tail / count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40-60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实现 BufferPush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生产者可以放入数据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60-75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实现 BufferPop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消费者可以取出数据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75-90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调试并记录结果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status: PASS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0241280" cy="50292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C2B3A"/>
                </a:solidFill>
                <a:latin typeface="Microsoft YaHei"/>
              </a:rPr>
              <a:t>调试时优先看什么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并发程序要从现象反推同步问题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944822"/>
              </p:ext>
            </p:extLst>
          </p:nvPr>
        </p:nvGraphicFramePr>
        <p:xfrm>
          <a:off x="777240" y="132588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可能原因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</a:rPr>
                        <a:t>优先检查</a:t>
                      </a:r>
                    </a:p>
                  </a:txBody>
                  <a:tcPr marL="36576" marR="36576" marT="27432" marB="27432">
                    <a:solidFill>
                      <a:srgbClr val="1C2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程序卡住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等待条件没人满足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wait 条件、notify 是否正确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produced 正确，consumed 错误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Pop 或 head 更新错误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head/count 和锁保护范围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262E38"/>
                          </a:solidFill>
                          <a:latin typeface="Microsoft YaHei"/>
                        </a:rPr>
                        <a:t>偶尔</a:t>
                      </a:r>
                      <a:r>
                        <a:rPr sz="1100" b="0" dirty="0">
                          <a:solidFill>
                            <a:srgbClr val="262E38"/>
                          </a:solidFill>
                          <a:latin typeface="Microsoft YaHei"/>
                        </a:rPr>
                        <a:t> PASS </a:t>
                      </a:r>
                      <a:r>
                        <a:rPr sz="1100" b="0" dirty="0" err="1">
                          <a:solidFill>
                            <a:srgbClr val="262E38"/>
                          </a:solidFill>
                          <a:latin typeface="Microsoft YaHei"/>
                        </a:rPr>
                        <a:t>偶尔</a:t>
                      </a:r>
                      <a:r>
                        <a:rPr sz="1100" b="0" dirty="0">
                          <a:solidFill>
                            <a:srgbClr val="262E38"/>
                          </a:solidFill>
                          <a:latin typeface="Microsoft YaHei"/>
                        </a:rPr>
                        <a:t> FAIL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仍有数据竞争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共享状态是否都在锁内</a:t>
                      </a:r>
                    </a:p>
                  </a:txBody>
                  <a:tcPr marL="36576" marR="36576" marT="27432" marB="27432">
                    <a:solidFill>
                      <a:srgbClr val="F1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数量超过或低于目标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E38"/>
                          </a:solidFill>
                          <a:latin typeface="Microsoft YaHei"/>
                        </a:rPr>
                        <a:t>重复消费或丢失 item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62E38"/>
                          </a:solidFill>
                          <a:latin typeface="Microsoft YaHei"/>
                        </a:rPr>
                        <a:t>tail/head </a:t>
                      </a:r>
                      <a:r>
                        <a:rPr sz="1100" b="0" dirty="0" err="1">
                          <a:solidFill>
                            <a:srgbClr val="262E38"/>
                          </a:solidFill>
                          <a:latin typeface="Microsoft YaHei"/>
                        </a:rPr>
                        <a:t>取模和位置更新</a:t>
                      </a:r>
                      <a:endParaRPr sz="1100" b="0" dirty="0">
                        <a:solidFill>
                          <a:srgbClr val="262E38"/>
                        </a:solidFill>
                        <a:latin typeface="Microsoft YaHei"/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3077894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2600" b="1" dirty="0" err="1">
                <a:solidFill>
                  <a:srgbClr val="1C2B3A"/>
                </a:solidFill>
                <a:latin typeface="Microsoft YaHei"/>
              </a:rPr>
              <a:t>提交要求</a:t>
            </a:r>
            <a:r>
              <a:rPr sz="2600" b="1" dirty="0" err="1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6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r>
              <a:rPr sz="2600" b="1" dirty="0" err="1">
                <a:solidFill>
                  <a:srgbClr val="1C2B3A"/>
                </a:solidFill>
                <a:latin typeface="Microsoft YaHei"/>
              </a:rPr>
              <a:t>问题</a:t>
            </a:r>
            <a:endParaRPr sz="2600" b="1" dirty="0">
              <a:solidFill>
                <a:srgbClr val="1C2B3A"/>
              </a:solidFill>
              <a:latin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从本次课开始统一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417320"/>
            <a:ext cx="73152" cy="9601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1563624"/>
            <a:ext cx="273405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报告格式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929384"/>
            <a:ext cx="273405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PDF
不提交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1417320"/>
            <a:ext cx="73152" cy="96012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1563624"/>
            <a:ext cx="273405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运行结果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929384"/>
            <a:ext cx="273405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包含
status: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063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73152" cy="9601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563624"/>
            <a:ext cx="2734056" cy="25603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1C2B3A"/>
                </a:solidFill>
                <a:latin typeface="Microsoft YaHei"/>
              </a:rPr>
              <a:t>实验分析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1929384"/>
            <a:ext cx="2734056" cy="393192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262E38"/>
                </a:solidFill>
                <a:latin typeface="Microsoft YaHei"/>
              </a:rPr>
              <a:t>解释 mutex 与
condition_variable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71800"/>
            <a:ext cx="9966960" cy="1920240"/>
          </a:xfrm>
          <a:prstGeom prst="rect">
            <a:avLst/>
          </a:prstGeom>
          <a:noFill/>
        </p:spPr>
        <p:txBody>
          <a:bodyPr wrap="none" lIns="73152" tIns="18288" rIns="45720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62E38"/>
                </a:solidFill>
                <a:latin typeface="Microsoft YaHei"/>
              </a:defRPr>
            </a:pPr>
            <a:r>
              <a:rPr dirty="0" err="1"/>
              <a:t>为什么生产者要等待</a:t>
            </a:r>
            <a:r>
              <a:rPr dirty="0"/>
              <a:t> </a:t>
            </a:r>
            <a:r>
              <a:rPr dirty="0" err="1"/>
              <a:t>not_full</a:t>
            </a:r>
            <a:r>
              <a:rPr dirty="0"/>
              <a:t>？</a:t>
            </a:r>
          </a:p>
          <a:p>
            <a:pPr>
              <a:spcAft>
                <a:spcPts val="800"/>
              </a:spcAft>
              <a:defRPr sz="2100">
                <a:solidFill>
                  <a:srgbClr val="262E38"/>
                </a:solidFill>
                <a:latin typeface="Microsoft YaHei"/>
              </a:defRPr>
            </a:pPr>
            <a:r>
              <a:rPr dirty="0" err="1"/>
              <a:t>为什么消费者要等待</a:t>
            </a:r>
            <a:r>
              <a:rPr dirty="0"/>
              <a:t> </a:t>
            </a:r>
            <a:r>
              <a:rPr dirty="0" err="1"/>
              <a:t>not_empty</a:t>
            </a:r>
            <a:r>
              <a:rPr dirty="0"/>
              <a:t>？</a:t>
            </a:r>
          </a:p>
          <a:p>
            <a:pPr>
              <a:spcAft>
                <a:spcPts val="800"/>
              </a:spcAft>
              <a:defRPr sz="2100">
                <a:solidFill>
                  <a:srgbClr val="262E38"/>
                </a:solidFill>
                <a:latin typeface="Microsoft YaHei"/>
              </a:defRPr>
            </a:pPr>
            <a:r>
              <a:rPr dirty="0"/>
              <a:t>mutex 和 </a:t>
            </a:r>
            <a:r>
              <a:rPr dirty="0" err="1"/>
              <a:t>condition_variable</a:t>
            </a:r>
            <a:r>
              <a:rPr dirty="0"/>
              <a:t> </a:t>
            </a:r>
            <a:r>
              <a:rPr dirty="0" err="1"/>
              <a:t>分别解决什么问题</a:t>
            </a:r>
            <a:r>
              <a:rPr dirty="0"/>
              <a:t>？</a:t>
            </a:r>
          </a:p>
          <a:p>
            <a:pPr>
              <a:spcAft>
                <a:spcPts val="800"/>
              </a:spcAft>
              <a:defRPr sz="2100">
                <a:solidFill>
                  <a:srgbClr val="262E38"/>
                </a:solidFill>
                <a:latin typeface="Microsoft YaHei"/>
              </a:defRPr>
            </a:pPr>
            <a:r>
              <a:rPr dirty="0" err="1"/>
              <a:t>为什么有几个消费者，就要放几个</a:t>
            </a:r>
            <a:r>
              <a:rPr dirty="0"/>
              <a:t> STOP_ITEM？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8379" y="5486400"/>
            <a:ext cx="8024761" cy="344710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ctr"/>
            <a:r>
              <a:rPr sz="2000" b="1" dirty="0" err="1">
                <a:solidFill>
                  <a:srgbClr val="00897B"/>
                </a:solidFill>
                <a:latin typeface="Microsoft YaHei"/>
              </a:rPr>
              <a:t>并发程序的核心不是线程越多越好，而是共享状态必须被正确协调</a:t>
            </a:r>
            <a:r>
              <a:rPr sz="2000" b="1" dirty="0">
                <a:solidFill>
                  <a:srgbClr val="00897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10896"/>
            <a:ext cx="1413977" cy="437043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lang="zh-CN" altLang="en-US" sz="2600" b="1" dirty="0">
                <a:solidFill>
                  <a:srgbClr val="1C2B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提交作业</a:t>
            </a:r>
            <a:endParaRPr sz="2600" b="1" dirty="0">
              <a:solidFill>
                <a:srgbClr val="1C2B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6656" y="841248"/>
            <a:ext cx="10058400" cy="292608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1200" b="0">
                <a:solidFill>
                  <a:srgbClr val="697480"/>
                </a:solidFill>
                <a:latin typeface="Microsoft YaHei"/>
              </a:rPr>
              <a:t>从本次课开始统一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88136"/>
            <a:ext cx="109728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6510528"/>
            <a:ext cx="676656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97480"/>
                </a:solidFill>
                <a:latin typeface="Microsoft YaHei"/>
              </a:rPr>
              <a:t>第二堂课 | C++ 标准线程生产者-消费者模型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219456"/>
          </a:xfrm>
          <a:prstGeom prst="rect">
            <a:avLst/>
          </a:prstGeom>
          <a:noFill/>
        </p:spPr>
        <p:txBody>
          <a:bodyPr wrap="none" lIns="36576" tIns="18288" rIns="36576" bIns="18288">
            <a:spAutoFit/>
          </a:bodyPr>
          <a:lstStyle/>
          <a:p>
            <a:pPr algn="r"/>
            <a:r>
              <a:rPr sz="900" b="0">
                <a:solidFill>
                  <a:srgbClr val="697480"/>
                </a:solidFill>
                <a:latin typeface="Microsoft YaHei"/>
              </a:rPr>
              <a:t>22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F0B73AC-32DE-41AA-843C-A8A19DBAC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06" y="987552"/>
            <a:ext cx="4393754" cy="51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21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1606</Words>
  <Application>Microsoft Office PowerPoint</Application>
  <PresentationFormat>宽屏</PresentationFormat>
  <Paragraphs>299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微软雅黑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15529597297@163.com</cp:lastModifiedBy>
  <cp:revision>22</cp:revision>
  <dcterms:created xsi:type="dcterms:W3CDTF">2013-01-27T09:14:16Z</dcterms:created>
  <dcterms:modified xsi:type="dcterms:W3CDTF">2026-04-28T01:46:20Z</dcterms:modified>
  <cp:category/>
</cp:coreProperties>
</file>