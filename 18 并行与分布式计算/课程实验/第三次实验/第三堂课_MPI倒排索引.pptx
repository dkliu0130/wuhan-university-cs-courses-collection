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7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12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58368"/>
            <a:ext cx="713232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00897B"/>
                </a:solidFill>
                <a:latin typeface="Microsoft YaHei"/>
              </a:rPr>
              <a:t>并行与分布式计算实验课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9875520" cy="10058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3100" b="1">
                <a:solidFill>
                  <a:srgbClr val="1B2C3E"/>
                </a:solidFill>
                <a:latin typeface="Microsoft YaHei"/>
              </a:rPr>
              <a:t>第三堂课：使用 MPI 构建
多进程倒排索引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788920"/>
            <a:ext cx="969264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252D37"/>
                </a:solidFill>
                <a:latin typeface="Microsoft YaHei"/>
              </a:rPr>
              <a:t>从共享内存并行进入消息传递并行，用英文书籍构建 word -&gt; doc_id 列表。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50208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950208"/>
            <a:ext cx="73152" cy="960120"/>
          </a:xfrm>
          <a:prstGeom prst="rect">
            <a:avLst/>
          </a:prstGeom>
          <a:solidFill>
            <a:srgbClr val="33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4096512"/>
            <a:ext cx="264261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462272"/>
            <a:ext cx="264261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rank / size
Send / Recv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3950208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77639" y="3950208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8807" y="4096512"/>
            <a:ext cx="264261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4462272"/>
            <a:ext cx="264261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每个进程运行同一个 main
rank 决定角色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950208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23760" y="3950208"/>
            <a:ext cx="73152" cy="960120"/>
          </a:xfrm>
          <a:prstGeom prst="rect">
            <a:avLst/>
          </a:prstGeom>
          <a:solidFill>
            <a:srgbClr val="3D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4928" y="4096512"/>
            <a:ext cx="264261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8" y="4462272"/>
            <a:ext cx="264261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局部索引
rank 0 合并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从线程到进程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MPI 的核心变化：不再共享普通变量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98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执行单元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内存模型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通信方式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OpenMP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线程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共享同一进程地址空间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运行时调度 + 共享变量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C++ thread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线程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共享同一进程地址空间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mutex / condition_variable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MPI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进程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每个进程独立地址空间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D37"/>
                          </a:solidFill>
                          <a:latin typeface="Microsoft YaHei"/>
                        </a:rPr>
                        <a:t>显式 Send / Recv / Collective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00897B"/>
                </a:solidFill>
                <a:latin typeface="Microsoft YaHei"/>
              </a:rPr>
              <a:t>MPI 程序里，每个进程都有自己的变量副本；想交换结果，必须发消息。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倒排索引是什么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搜索引擎和文本检索中的基本数据结构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971800" cy="658368"/>
          </a:xfrm>
          <a:prstGeom prst="roundRect">
            <a:avLst/>
          </a:prstGeom>
          <a:solidFill>
            <a:srgbClr val="E7F4FF"/>
          </a:solidFill>
          <a:ln>
            <a:solidFill>
              <a:srgbClr val="33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490472"/>
            <a:ext cx="2862072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doc 0
apple banana apple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2971800" cy="658368"/>
          </a:xfrm>
          <a:prstGeom prst="roundRect">
            <a:avLst/>
          </a:prstGeom>
          <a:solidFill>
            <a:srgbClr val="EBF8F0"/>
          </a:solidFill>
          <a:ln>
            <a:solidFill>
              <a:srgbClr val="3D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404872"/>
            <a:ext cx="2862072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doc 1
banana orange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46120"/>
            <a:ext cx="2971800" cy="658368"/>
          </a:xfrm>
          <a:prstGeom prst="roundRect">
            <a:avLst/>
          </a:prstGeom>
          <a:solidFill>
            <a:srgbClr val="FFF6E0"/>
          </a:solidFill>
          <a:ln>
            <a:solidFill>
              <a:srgbClr val="DF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2862072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doc 2
apple orange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160520"/>
            <a:ext cx="246888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1B2C3E"/>
                </a:solidFill>
                <a:latin typeface="Microsoft YaHei"/>
              </a:rPr>
              <a:t>正向：文档 -&gt; 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514600"/>
            <a:ext cx="1005840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69080" y="2057400"/>
            <a:ext cx="1234440" cy="32918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00897B"/>
                </a:solidFill>
                <a:latin typeface="Microsoft YaHei"/>
              </a:rPr>
              <a:t>反转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417320"/>
            <a:ext cx="1965960" cy="658368"/>
          </a:xfrm>
          <a:prstGeom prst="roundRect">
            <a:avLst/>
          </a:prstGeom>
          <a:solidFill>
            <a:srgbClr val="E7F4FF"/>
          </a:solidFill>
          <a:ln>
            <a:solidFill>
              <a:srgbClr val="33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86983" y="1490472"/>
            <a:ext cx="1856231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52D37"/>
                </a:solidFill>
                <a:latin typeface="Microsoft YaHei"/>
              </a:rPr>
              <a:t>apple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417320"/>
            <a:ext cx="23774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3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81544" y="1490472"/>
            <a:ext cx="2267712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52D37"/>
                </a:solidFill>
                <a:latin typeface="Microsoft YaHei"/>
              </a:rPr>
              <a:t>0, 2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2331720"/>
            <a:ext cx="1965960" cy="658368"/>
          </a:xfrm>
          <a:prstGeom prst="roundRect">
            <a:avLst/>
          </a:prstGeom>
          <a:solidFill>
            <a:srgbClr val="EBF8F0"/>
          </a:solidFill>
          <a:ln>
            <a:solidFill>
              <a:srgbClr val="3D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86983" y="2404872"/>
            <a:ext cx="1856231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52D37"/>
                </a:solidFill>
                <a:latin typeface="Microsoft YaHei"/>
              </a:rPr>
              <a:t>banana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2331720"/>
            <a:ext cx="23774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D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81544" y="2404872"/>
            <a:ext cx="2267712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52D37"/>
                </a:solidFill>
                <a:latin typeface="Microsoft YaHei"/>
              </a:rPr>
              <a:t>0, 1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3246120"/>
            <a:ext cx="1965960" cy="658368"/>
          </a:xfrm>
          <a:prstGeom prst="roundRect">
            <a:avLst/>
          </a:prstGeom>
          <a:solidFill>
            <a:srgbClr val="FFF6E0"/>
          </a:solidFill>
          <a:ln>
            <a:solidFill>
              <a:srgbClr val="DF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86983" y="3319272"/>
            <a:ext cx="1856231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52D37"/>
                </a:solidFill>
                <a:latin typeface="Microsoft YaHei"/>
              </a:rPr>
              <a:t>orange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3246120"/>
            <a:ext cx="23774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F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81544" y="3319272"/>
            <a:ext cx="2267712" cy="5486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252D37"/>
                </a:solidFill>
                <a:latin typeface="Microsoft YaHei"/>
              </a:rPr>
              <a:t>1, 2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160520"/>
            <a:ext cx="402336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1B2C3E"/>
                </a:solidFill>
                <a:latin typeface="Microsoft YaHei"/>
              </a:rPr>
              <a:t>倒排：词 -&gt; 出现过的文档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800600"/>
            <a:ext cx="9601200" cy="77724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52D37"/>
                </a:solidFill>
                <a:latin typeface="Microsoft YaHei"/>
              </a:defRPr>
            </a:pPr>
            <a:r>
              <a:t>正向视角：每个文档包含哪些词</a:t>
            </a:r>
          </a:p>
          <a:p>
            <a:pPr>
              <a:spcAft>
                <a:spcPts val="800"/>
              </a:spcAft>
              <a:defRPr sz="1600">
                <a:solidFill>
                  <a:srgbClr val="252D37"/>
                </a:solidFill>
                <a:latin typeface="Microsoft YaHei"/>
              </a:defRPr>
            </a:pPr>
            <a:r>
              <a:t>倒排视角：每个词出现在哪些文档中</a:t>
            </a:r>
          </a:p>
          <a:p>
            <a:pPr>
              <a:spcAft>
                <a:spcPts val="800"/>
              </a:spcAft>
              <a:defRPr sz="1600">
                <a:solidFill>
                  <a:srgbClr val="252D37"/>
                </a:solidFill>
                <a:latin typeface="Microsoft YaHei"/>
              </a:defRPr>
            </a:pPr>
            <a:r>
              <a:t>本实验只记录某个词是否出现在一本书里，不统计词频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实验数据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英文公版书籍文本，已经下载到本地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143000"/>
          </a:xfrm>
          <a:prstGeom prst="rect">
            <a:avLst/>
          </a:prstGeom>
          <a:solidFill>
            <a:srgbClr val="33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63624"/>
            <a:ext cx="291693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books/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29384"/>
            <a:ext cx="2916936" cy="5760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约 300 个英文文本
约 209 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563624"/>
            <a:ext cx="291693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manifest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929384"/>
            <a:ext cx="2916936" cy="5760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data/books_manifest.tsv
保存 doc_id / path / title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1143000"/>
          </a:xfrm>
          <a:prstGeom prst="rect">
            <a:avLst/>
          </a:prstGeom>
          <a:solidFill>
            <a:srgbClr val="3D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63624"/>
            <a:ext cx="291693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29384"/>
            <a:ext cx="2916936" cy="5760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>
                <a:solidFill>
                  <a:srgbClr val="252D37"/>
                </a:solidFill>
                <a:latin typeface="Microsoft YaHei"/>
              </a:rPr>
              <a:t>Project Gutenberg
</a:t>
            </a:r>
            <a:r>
              <a:rPr sz="1200" b="0" dirty="0" err="1">
                <a:solidFill>
                  <a:srgbClr val="252D37"/>
                </a:solidFill>
                <a:latin typeface="Microsoft YaHei"/>
              </a:rPr>
              <a:t>Gutendex</a:t>
            </a:r>
            <a:r>
              <a:rPr sz="1200" b="0" dirty="0">
                <a:solidFill>
                  <a:srgbClr val="252D37"/>
                </a:solidFill>
                <a:latin typeface="Microsoft YaHei"/>
              </a:rPr>
              <a:t>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337560"/>
            <a:ext cx="10287000" cy="123444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1" y="3438144"/>
            <a:ext cx="10049256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8EDF2"/>
                </a:solidFill>
                <a:latin typeface="Consolas"/>
              </a:rPr>
              <a:t>doc_id    path                                   title
84        books/pg00084_Frankenstein...txt       Frankenstein
2701      books/pg02701_Moby_Dick...txt          Moby Dick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100584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1B2C3E"/>
                </a:solidFill>
                <a:latin typeface="Microsoft YaHei"/>
              </a:rPr>
              <a:t>本实验要求处理 manifest 中的全部书籍，并与 reference_index.tsv 完全一致。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MPI 程序的执行方式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每个进程都执行同一个 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200400" cy="731520"/>
          </a:xfrm>
          <a:prstGeom prst="roundRect">
            <a:avLst/>
          </a:prstGeom>
          <a:solidFill>
            <a:srgbClr val="E8EFFA"/>
          </a:solidFill>
          <a:ln>
            <a:solidFill>
              <a:srgbClr val="33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9703" y="1307592"/>
            <a:ext cx="3090672" cy="6217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252D37"/>
                </a:solidFill>
                <a:latin typeface="Microsoft YaHei"/>
              </a:rPr>
              <a:t>mpi_hello_demo.exe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84831"/>
            <a:ext cx="338328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00897B"/>
                </a:solidFill>
                <a:latin typeface="Microsoft YaHei"/>
              </a:rPr>
              <a:t>mpiexec -n 4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148840" y="2057400"/>
            <a:ext cx="2423160" cy="777240"/>
          </a:xfrm>
          <a:prstGeom prst="line">
            <a:avLst/>
          </a:prstGeom>
          <a:ln w="25400">
            <a:solidFill>
              <a:srgbClr val="336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480560" y="2057400"/>
            <a:ext cx="777240" cy="77724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29400" y="2057400"/>
            <a:ext cx="274320" cy="777240"/>
          </a:xfrm>
          <a:prstGeom prst="line">
            <a:avLst/>
          </a:prstGeom>
          <a:ln w="25400">
            <a:solidFill>
              <a:srgbClr val="3D8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057400"/>
            <a:ext cx="1828801" cy="777240"/>
          </a:xfrm>
          <a:prstGeom prst="line">
            <a:avLst/>
          </a:prstGeom>
          <a:ln w="25400">
            <a:solidFill>
              <a:srgbClr val="DF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" y="288036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880360"/>
            <a:ext cx="73152" cy="1005840"/>
          </a:xfrm>
          <a:prstGeom prst="rect">
            <a:avLst/>
          </a:prstGeom>
          <a:solidFill>
            <a:srgbClr val="33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026664"/>
            <a:ext cx="19110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rank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1911096" cy="4389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读参数
收集结果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88036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29000" y="2880360"/>
            <a:ext cx="73152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30168" y="3026664"/>
            <a:ext cx="19110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rank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92424"/>
            <a:ext cx="1911096" cy="4389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处理文档块
发送局部索引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88036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80760" y="2880360"/>
            <a:ext cx="73152" cy="1005840"/>
          </a:xfrm>
          <a:prstGeom prst="rect">
            <a:avLst/>
          </a:prstGeom>
          <a:solidFill>
            <a:srgbClr val="3D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1928" y="3026664"/>
            <a:ext cx="19110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rank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392424"/>
            <a:ext cx="1911096" cy="4389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处理文档块
发送局部索引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288036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32520" y="2880360"/>
            <a:ext cx="73152" cy="1005840"/>
          </a:xfrm>
          <a:prstGeom prst="rect">
            <a:avLst/>
          </a:prstGeom>
          <a:solidFill>
            <a:srgbClr val="DF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33688" y="3026664"/>
            <a:ext cx="19110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rank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3392424"/>
            <a:ext cx="1911096" cy="4389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处理文档块
发送局部索引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617720"/>
            <a:ext cx="9875520" cy="82296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52D37"/>
                </a:solidFill>
                <a:latin typeface="Microsoft YaHei"/>
              </a:defRPr>
            </a:pPr>
            <a:r>
              <a:t>同一份可执行文件会启动多个独立进程，每个进程都有自己的变量副本</a:t>
            </a:r>
          </a:p>
          <a:p>
            <a:pPr>
              <a:spcAft>
                <a:spcPts val="800"/>
              </a:spcAft>
              <a:defRPr sz="1700">
                <a:solidFill>
                  <a:srgbClr val="252D37"/>
                </a:solidFill>
                <a:latin typeface="Microsoft YaHei"/>
              </a:defRPr>
            </a:pPr>
            <a:r>
              <a:t>rank 不是线程号，而是 MPI 进程在通信世界中的编号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MPI 最小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766637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 err="1">
                <a:solidFill>
                  <a:srgbClr val="657180"/>
                </a:solidFill>
                <a:latin typeface="Microsoft YaHei"/>
              </a:rPr>
              <a:t>完成实验所需的核心函数</a:t>
            </a:r>
            <a:endParaRPr sz="1200" b="0" dirty="0">
              <a:solidFill>
                <a:srgbClr val="657180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280160"/>
          <a:ext cx="10561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API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本实验中的角色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MPI_Init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初始化 MPI 环境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程序开始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MPI_Comm_rank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获得当前进程编号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区分 rank 0 和 worker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MPI_Comm_size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获得总进程数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划分文档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MPI_Send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发送消息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worker 发送局部索引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MPI_Recv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接收消息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rank 0 接收局部索引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MPI_Barrier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同步所有进程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计时前后对齐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MPI_Reduce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汇总数值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统计总处理文档数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MPI_Finalize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结束 MPI 环境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程序结束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Demo：初始化与 rank/size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2228302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 err="1">
                <a:solidFill>
                  <a:srgbClr val="657180"/>
                </a:solidFill>
                <a:latin typeface="Microsoft YaHei"/>
              </a:rPr>
              <a:t>看每个进程如何知道自己的身份</a:t>
            </a:r>
            <a:endParaRPr sz="1200" b="0" dirty="0">
              <a:solidFill>
                <a:srgbClr val="657180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00" cy="411480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35024"/>
            <a:ext cx="10735056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E8EDF2"/>
                </a:solidFill>
                <a:latin typeface="Consolas"/>
              </a:rPr>
              <a:t>#include &lt;mpi.h&gt;
#include &lt;iostream&gt;
int main(int argc, char** argv) {
    MPI_Init(&amp;argc, &amp;argv);
    int rank = 0;
    int size = 0;
    MPI_Comm_rank(MPI_COMM_WORLD, &amp;rank);
    MPI_Comm_size(MPI_COMM_WORLD, &amp;size);
    std::cout &lt;&lt; "Hello from rank "
              &lt;&lt; rank &lt;&lt; " of " &lt;&lt; size &lt;&lt; std::endl;
    MPI_Finalize();
    return 0;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669280"/>
            <a:ext cx="100584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00897B"/>
                </a:solidFill>
                <a:latin typeface="Microsoft YaHei"/>
              </a:rPr>
              <a:t>同一份代码启动 N 份进程，每份进程看到不同的 rank。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Demo：Send / Recv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rank 0 发送消息长度和字符串内容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00" cy="434340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35024"/>
            <a:ext cx="10735056" cy="4178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dirty="0">
                <a:solidFill>
                  <a:srgbClr val="E8EDF2"/>
                </a:solidFill>
                <a:latin typeface="Consolas"/>
              </a:rPr>
              <a:t>if (rank == 0) {
    const std::string message =
        "task: build local inverted index";
    int length = </a:t>
            </a:r>
            <a:r>
              <a:rPr sz="1400" b="0" dirty="0" err="1">
                <a:solidFill>
                  <a:srgbClr val="E8EDF2"/>
                </a:solidFill>
                <a:latin typeface="Consolas"/>
              </a:rPr>
              <a:t>static_cast</a:t>
            </a:r>
            <a:r>
              <a:rPr sz="1400" b="0" dirty="0">
                <a:solidFill>
                  <a:srgbClr val="E8EDF2"/>
                </a:solidFill>
                <a:latin typeface="Consolas"/>
              </a:rPr>
              <a:t>&lt;int&gt;(</a:t>
            </a:r>
            <a:r>
              <a:rPr sz="1400" b="0" dirty="0" err="1">
                <a:solidFill>
                  <a:srgbClr val="E8EDF2"/>
                </a:solidFill>
                <a:latin typeface="Consolas"/>
              </a:rPr>
              <a:t>message.size</a:t>
            </a:r>
            <a:r>
              <a:rPr sz="1400" b="0" dirty="0">
                <a:solidFill>
                  <a:srgbClr val="E8EDF2"/>
                </a:solidFill>
                <a:latin typeface="Consolas"/>
              </a:rPr>
              <a:t>()) + 1;
    </a:t>
            </a:r>
            <a:r>
              <a:rPr sz="1400" b="0" dirty="0" err="1">
                <a:solidFill>
                  <a:srgbClr val="E8EDF2"/>
                </a:solidFill>
                <a:latin typeface="Consolas"/>
              </a:rPr>
              <a:t>MPI_Send</a:t>
            </a:r>
            <a:r>
              <a:rPr sz="1400" b="0" dirty="0">
                <a:solidFill>
                  <a:srgbClr val="E8EDF2"/>
                </a:solidFill>
                <a:latin typeface="Consolas"/>
              </a:rPr>
              <a:t>(&amp;length, 1, MPI_INT, 1, 0, MPI_COMM_WORLD);
    </a:t>
            </a:r>
            <a:r>
              <a:rPr sz="1400" b="0" dirty="0" err="1">
                <a:solidFill>
                  <a:srgbClr val="E8EDF2"/>
                </a:solidFill>
                <a:latin typeface="Consolas"/>
              </a:rPr>
              <a:t>MPI_Send</a:t>
            </a:r>
            <a:r>
              <a:rPr sz="1400" b="0" dirty="0">
                <a:solidFill>
                  <a:srgbClr val="E8EDF2"/>
                </a:solidFill>
                <a:latin typeface="Consolas"/>
              </a:rPr>
              <a:t>(</a:t>
            </a:r>
            <a:r>
              <a:rPr sz="1400" b="0" dirty="0" err="1">
                <a:solidFill>
                  <a:srgbClr val="E8EDF2"/>
                </a:solidFill>
                <a:latin typeface="Consolas"/>
              </a:rPr>
              <a:t>message.c_str</a:t>
            </a:r>
            <a:r>
              <a:rPr sz="1400" b="0" dirty="0">
                <a:solidFill>
                  <a:srgbClr val="E8EDF2"/>
                </a:solidFill>
                <a:latin typeface="Consolas"/>
              </a:rPr>
              <a:t>(), length, MPI_CHAR, 1, 1,
             MPI_COMM_WORLD);
    std::</a:t>
            </a:r>
            <a:r>
              <a:rPr sz="1400" b="0" dirty="0" err="1">
                <a:solidFill>
                  <a:srgbClr val="E8EDF2"/>
                </a:solidFill>
                <a:latin typeface="Consolas"/>
              </a:rPr>
              <a:t>cout</a:t>
            </a:r>
            <a:r>
              <a:rPr sz="1400" b="0" dirty="0">
                <a:solidFill>
                  <a:srgbClr val="E8EDF2"/>
                </a:solidFill>
                <a:latin typeface="Consolas"/>
              </a:rPr>
              <a:t> &lt;&lt; "rank 0 sent a message to rank 1" &lt;&lt; std::</a:t>
            </a:r>
            <a:r>
              <a:rPr sz="1400" b="0" dirty="0" err="1">
                <a:solidFill>
                  <a:srgbClr val="E8EDF2"/>
                </a:solidFill>
                <a:latin typeface="Consolas"/>
              </a:rPr>
              <a:t>endl</a:t>
            </a:r>
            <a:r>
              <a:rPr sz="1400" b="0" dirty="0">
                <a:solidFill>
                  <a:srgbClr val="E8EDF2"/>
                </a:solidFill>
                <a:latin typeface="Consolas"/>
              </a:rPr>
              <a:t>;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2701" y="5715000"/>
            <a:ext cx="5844677" cy="3139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800" b="1" dirty="0" err="1">
                <a:solidFill>
                  <a:srgbClr val="1B2C3E"/>
                </a:solidFill>
                <a:latin typeface="Microsoft YaHei"/>
              </a:rPr>
              <a:t>发送字符串时，先发长度，再发内容，是最容易的做法</a:t>
            </a:r>
            <a:r>
              <a:rPr sz="1800" b="1" dirty="0">
                <a:solidFill>
                  <a:srgbClr val="1B2C3E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Demo：Send / Recv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rank 1 按同样顺序接收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00" cy="434340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35024"/>
            <a:ext cx="10735056" cy="4178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8EDF2"/>
                </a:solidFill>
                <a:latin typeface="Consolas"/>
              </a:rPr>
              <a:t>else if (rank == 1) {
    int length = 0;
    MPI_Recv(&amp;length, 1, MPI_INT, 0, 0,
             MPI_COMM_WORLD, MPI_STATUS_IGNORE);
    std::string message(length, '\0');
    MPI_Recv(message.data(), length, MPI_CHAR, 0, 1,
             MPI_COMM_WORLD, MPI_STATUS_IGNORE);
    std::cout &lt;&lt; "rank 1 received: "
              &lt;&lt; message.c_str() &lt;&lt; std::endl;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BE3A3A"/>
                </a:solidFill>
                <a:latin typeface="Microsoft YaHei"/>
              </a:rPr>
              <a:t>Send 和 Recv 的 source、dest、tag、数据类型要匹配。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运行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先确认 MPI 环境能跑多进程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17320"/>
            <a:ext cx="4983480" cy="192024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517904"/>
            <a:ext cx="4745736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8EDF2"/>
                </a:solidFill>
                <a:latin typeface="Consolas"/>
              </a:rPr>
              <a:t>Windows:
build_windows_mpi.bat
mpiexec -n 4 mpi_hello_demo.exe
mpiexec -n 4 mpi_inverted_index.exe ^
  data/books_manifest.tsv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4983480" cy="192024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517904"/>
            <a:ext cx="42611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E8EDF2"/>
                </a:solidFill>
                <a:latin typeface="Consolas"/>
              </a:rPr>
              <a:t>macOS / Linux:
</a:t>
            </a:r>
            <a:r>
              <a:rPr sz="1200" b="0" dirty="0" err="1">
                <a:solidFill>
                  <a:srgbClr val="E8EDF2"/>
                </a:solidFill>
                <a:latin typeface="Consolas"/>
              </a:rPr>
              <a:t>mpicxx</a:t>
            </a:r>
            <a:r>
              <a:rPr sz="1200" b="0" dirty="0">
                <a:solidFill>
                  <a:srgbClr val="E8EDF2"/>
                </a:solidFill>
                <a:latin typeface="Consolas"/>
              </a:rPr>
              <a:t> -O2 -std=</a:t>
            </a:r>
            <a:r>
              <a:rPr sz="1200" b="0" dirty="0" err="1">
                <a:solidFill>
                  <a:srgbClr val="E8EDF2"/>
                </a:solidFill>
                <a:latin typeface="Consolas"/>
              </a:rPr>
              <a:t>c++</a:t>
            </a:r>
            <a:r>
              <a:rPr sz="1200" b="0" dirty="0">
                <a:solidFill>
                  <a:srgbClr val="E8EDF2"/>
                </a:solidFill>
                <a:latin typeface="Consolas"/>
              </a:rPr>
              <a:t>17 mpi_hello_demo.cpp   -o </a:t>
            </a:r>
            <a:r>
              <a:rPr sz="1200" b="0" dirty="0" err="1">
                <a:solidFill>
                  <a:srgbClr val="E8EDF2"/>
                </a:solidFill>
                <a:latin typeface="Consolas"/>
              </a:rPr>
              <a:t>mpi_hello_demo</a:t>
            </a:r>
            <a:r>
              <a:rPr sz="1200" b="0" dirty="0">
                <a:solidFill>
                  <a:srgbClr val="E8EDF2"/>
                </a:solidFill>
                <a:latin typeface="Consolas"/>
              </a:rPr>
              <a:t>
</a:t>
            </a:r>
            <a:r>
              <a:rPr sz="1200" b="0" dirty="0" err="1">
                <a:solidFill>
                  <a:srgbClr val="E8EDF2"/>
                </a:solidFill>
                <a:latin typeface="Consolas"/>
              </a:rPr>
              <a:t>mpirun</a:t>
            </a:r>
            <a:r>
              <a:rPr sz="1200" b="0" dirty="0">
                <a:solidFill>
                  <a:srgbClr val="E8EDF2"/>
                </a:solidFill>
                <a:latin typeface="Consolas"/>
              </a:rPr>
              <a:t> -np 4 ./</a:t>
            </a:r>
            <a:r>
              <a:rPr sz="1200" b="0" dirty="0" err="1">
                <a:solidFill>
                  <a:srgbClr val="E8EDF2"/>
                </a:solidFill>
                <a:latin typeface="Consolas"/>
              </a:rPr>
              <a:t>mpi_hello_demo</a:t>
            </a:r>
            <a:endParaRPr sz="1200" b="0" dirty="0">
              <a:solidFill>
                <a:srgbClr val="E8EDF2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3000" y="4069080"/>
            <a:ext cx="9875520" cy="105156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4169664"/>
            <a:ext cx="9637776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8EDF2"/>
                </a:solidFill>
                <a:latin typeface="Consolas"/>
              </a:rPr>
              <a:t>Hello from rank 0 of 4
Hello from rank 1 of 4
rank 0 sent a message to rank 1
rank 1 received: task: build local inverted index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or 15"/>
          <p:cNvCxnSpPr/>
          <p:nvPr/>
        </p:nvCxnSpPr>
        <p:spPr>
          <a:xfrm>
            <a:off x="2697480" y="1572768"/>
            <a:ext cx="2423160" cy="0"/>
          </a:xfrm>
          <a:prstGeom prst="line">
            <a:avLst/>
          </a:prstGeom>
          <a:ln w="25400">
            <a:solidFill>
              <a:srgbClr val="336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97480" y="1572768"/>
            <a:ext cx="4617720" cy="0"/>
          </a:xfrm>
          <a:prstGeom prst="line">
            <a:avLst/>
          </a:prstGeom>
          <a:ln w="25400">
            <a:solidFill>
              <a:srgbClr val="336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并行倒排索引流程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13816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先局部计算，再集中合并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965960" cy="502920"/>
          </a:xfrm>
          <a:prstGeom prst="roundRect">
            <a:avLst/>
          </a:prstGeom>
          <a:solidFill>
            <a:srgbClr val="E8EFFA"/>
          </a:solidFill>
          <a:ln>
            <a:solidFill>
              <a:srgbClr val="33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399032"/>
            <a:ext cx="1856231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252D37"/>
                </a:solidFill>
                <a:latin typeface="Microsoft YaHei"/>
              </a:rPr>
              <a:t>manifest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25880"/>
            <a:ext cx="1965960" cy="502920"/>
          </a:xfrm>
          <a:prstGeom prst="roundRect">
            <a:avLst/>
          </a:prstGeom>
          <a:solidFill>
            <a:srgbClr val="ECF8F4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26664" y="1399032"/>
            <a:ext cx="1856231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rank 1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325880"/>
            <a:ext cx="1965960" cy="502920"/>
          </a:xfrm>
          <a:prstGeom prst="roundRect">
            <a:avLst/>
          </a:prstGeom>
          <a:solidFill>
            <a:srgbClr val="EBF8F0"/>
          </a:solidFill>
          <a:ln>
            <a:solidFill>
              <a:srgbClr val="3D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21224" y="1399032"/>
            <a:ext cx="1856231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rank 2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325880"/>
            <a:ext cx="1965960" cy="502920"/>
          </a:xfrm>
          <a:prstGeom prst="roundRect">
            <a:avLst/>
          </a:prstGeom>
          <a:solidFill>
            <a:srgbClr val="FFF6E0"/>
          </a:solidFill>
          <a:ln>
            <a:solidFill>
              <a:srgbClr val="DF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15784" y="1399032"/>
            <a:ext cx="1856231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rank 3 docs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97480" y="1572768"/>
            <a:ext cx="228600" cy="0"/>
          </a:xfrm>
          <a:prstGeom prst="line">
            <a:avLst/>
          </a:prstGeom>
          <a:ln w="25400">
            <a:solidFill>
              <a:srgbClr val="336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71800" y="233172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26664" y="2404872"/>
            <a:ext cx="1856231" cy="5760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local index
rank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233172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D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21224" y="2404872"/>
            <a:ext cx="1856231" cy="5760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local index
rank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33172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F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15784" y="2404872"/>
            <a:ext cx="1856231" cy="5760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local index
rank 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59352" y="1874519"/>
            <a:ext cx="0" cy="411481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53912" y="1874519"/>
            <a:ext cx="0" cy="411481"/>
          </a:xfrm>
          <a:prstGeom prst="line">
            <a:avLst/>
          </a:prstGeom>
          <a:ln w="25400">
            <a:solidFill>
              <a:srgbClr val="3D8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48472" y="1874519"/>
            <a:ext cx="0" cy="411481"/>
          </a:xfrm>
          <a:prstGeom prst="line">
            <a:avLst/>
          </a:prstGeom>
          <a:ln w="25400">
            <a:solidFill>
              <a:srgbClr val="DF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983480" y="3840480"/>
            <a:ext cx="2423160" cy="731520"/>
          </a:xfrm>
          <a:prstGeom prst="roundRect">
            <a:avLst/>
          </a:prstGeom>
          <a:solidFill>
            <a:srgbClr val="FFEBEB"/>
          </a:solidFill>
          <a:ln>
            <a:solidFill>
              <a:srgbClr val="B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38344" y="3913632"/>
            <a:ext cx="2313432" cy="6217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252D37"/>
                </a:solidFill>
                <a:latin typeface="Microsoft YaHei"/>
              </a:rPr>
              <a:t>rank 0
merge global index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59352" y="3063240"/>
            <a:ext cx="1161288" cy="73152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53912" y="3063240"/>
            <a:ext cx="0" cy="731520"/>
          </a:xfrm>
          <a:prstGeom prst="line">
            <a:avLst/>
          </a:prstGeom>
          <a:ln w="25400">
            <a:solidFill>
              <a:srgbClr val="3D8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269480" y="3063240"/>
            <a:ext cx="1078992" cy="731520"/>
          </a:xfrm>
          <a:prstGeom prst="line">
            <a:avLst/>
          </a:prstGeom>
          <a:ln w="25400">
            <a:solidFill>
              <a:srgbClr val="DF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29600" y="3840480"/>
            <a:ext cx="2423160" cy="731520"/>
          </a:xfrm>
          <a:prstGeom prst="roundRect">
            <a:avLst/>
          </a:prstGeom>
          <a:solidFill>
            <a:srgbClr val="F1F6F9"/>
          </a:solidFill>
          <a:ln>
            <a:solidFill>
              <a:srgbClr val="1B2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84464" y="3913632"/>
            <a:ext cx="2313432" cy="6217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252D37"/>
                </a:solidFill>
                <a:latin typeface="Microsoft YaHei"/>
              </a:rPr>
              <a:t>reference_index.tsv
完全一致校验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52360" y="4206240"/>
            <a:ext cx="731519" cy="0"/>
          </a:xfrm>
          <a:prstGeom prst="line">
            <a:avLst/>
          </a:prstGeom>
          <a:ln w="25400">
            <a:solidFill>
              <a:srgbClr val="BE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51560" y="5166360"/>
            <a:ext cx="10058400" cy="59436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52D37"/>
                </a:solidFill>
                <a:latin typeface="Microsoft YaHei"/>
              </a:defRPr>
            </a:pPr>
            <a:r>
              <a:t>文档按 i % size == rank 轮转划分；局部索引用 map&lt;string, set&lt;int&gt;&gt;；rank 0 合并后写 output_global_index.txt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Starter：整体结构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00" cy="434340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35024"/>
            <a:ext cx="10735056" cy="4178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8EDF2"/>
                </a:solidFill>
                <a:latin typeface="Consolas"/>
              </a:rPr>
              <a:t>docs = LoadManifest(manifest_path);
local_docs = SelectLocalDocuments(docs, rank, size);
local_index = BuildLocalIndex(local_docs);      // TODO 1
payload = SerializeIndex(local_index);          // TODO 2
if (rank == 0) {
    receive payloads from workers;
    MergeSerializedIndex(global_index, payload); // TODO 3
    WriteIndex(global_index, "output_global_index.txt");
} else {
    send payload to rank 0;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1484" y="5715000"/>
            <a:ext cx="9587112" cy="2985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700" b="1" dirty="0">
                <a:solidFill>
                  <a:srgbClr val="00897B"/>
                </a:solidFill>
                <a:latin typeface="Microsoft YaHei"/>
              </a:rPr>
              <a:t>MPI </a:t>
            </a:r>
            <a:r>
              <a:rPr sz="1700" b="1" dirty="0" err="1">
                <a:solidFill>
                  <a:srgbClr val="00897B"/>
                </a:solidFill>
                <a:latin typeface="Microsoft YaHei"/>
              </a:rPr>
              <a:t>通信框架给好，主要实现文本索引和合并逻辑；最终必须匹配</a:t>
            </a:r>
            <a:r>
              <a:rPr sz="1700" b="1" dirty="0">
                <a:solidFill>
                  <a:srgbClr val="00897B"/>
                </a:solidFill>
                <a:latin typeface="Microsoft YaHei"/>
              </a:rPr>
              <a:t> data/</a:t>
            </a:r>
            <a:r>
              <a:rPr sz="1700" b="1" dirty="0" err="1">
                <a:solidFill>
                  <a:srgbClr val="00897B"/>
                </a:solidFill>
                <a:latin typeface="Microsoft YaHei"/>
              </a:rPr>
              <a:t>reference_index.tsv</a:t>
            </a:r>
            <a:r>
              <a:rPr sz="1700" b="1" dirty="0">
                <a:solidFill>
                  <a:srgbClr val="00897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TODO 1：BuildLocalIndex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每个进程只处理自己的文档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241280" cy="192024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52D37"/>
                </a:solidFill>
                <a:latin typeface="Microsoft YaHei"/>
              </a:defRPr>
            </a:pPr>
            <a:r>
              <a:t>逐个打开 local_docs 中的文本文件</a:t>
            </a:r>
          </a:p>
          <a:p>
            <a:pPr>
              <a:spcAft>
                <a:spcPts val="800"/>
              </a:spcAft>
              <a:defRPr sz="2100">
                <a:solidFill>
                  <a:srgbClr val="252D37"/>
                </a:solidFill>
                <a:latin typeface="Microsoft YaHei"/>
              </a:defRPr>
            </a:pPr>
            <a:r>
              <a:t>按非英文字母切分 token，并统一转成小写</a:t>
            </a:r>
          </a:p>
          <a:p>
            <a:pPr>
              <a:spcAft>
                <a:spcPts val="800"/>
              </a:spcAft>
              <a:defRPr sz="2100">
                <a:solidFill>
                  <a:srgbClr val="252D37"/>
                </a:solidFill>
                <a:latin typeface="Microsoft YaHei"/>
              </a:defRPr>
            </a:pPr>
            <a:r>
              <a:t>同一本书中重复出现的词只记录一次 doc_id</a:t>
            </a:r>
          </a:p>
          <a:p>
            <a:pPr>
              <a:spcAft>
                <a:spcPts val="800"/>
              </a:spcAft>
              <a:defRPr sz="2100">
                <a:solidFill>
                  <a:srgbClr val="252D37"/>
                </a:solidFill>
                <a:latin typeface="Microsoft YaHei"/>
              </a:defRPr>
            </a:pPr>
            <a:r>
              <a:t>返回 map&lt;string, set&lt;int&gt;&gt;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977639"/>
            <a:ext cx="9875520" cy="114300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4078224"/>
            <a:ext cx="9637776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8EDF2"/>
                </a:solidFill>
                <a:latin typeface="Consolas"/>
              </a:rPr>
              <a:t>for each document:
    unique_words = words in this document
    for word in unique_words:
        index[word].insert(doc.id)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TODO 2/3：序列化与合并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3178884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 err="1">
                <a:solidFill>
                  <a:srgbClr val="657180"/>
                </a:solidFill>
                <a:latin typeface="Microsoft YaHei"/>
              </a:rPr>
              <a:t>为了简单，把</a:t>
            </a:r>
            <a:r>
              <a:rPr sz="1200" b="0" dirty="0">
                <a:solidFill>
                  <a:srgbClr val="657180"/>
                </a:solidFill>
                <a:latin typeface="Microsoft YaHei"/>
              </a:rPr>
              <a:t> map </a:t>
            </a:r>
            <a:r>
              <a:rPr sz="1200" b="0" dirty="0" err="1">
                <a:solidFill>
                  <a:srgbClr val="657180"/>
                </a:solidFill>
                <a:latin typeface="Microsoft YaHei"/>
              </a:rPr>
              <a:t>转成字符串通过</a:t>
            </a:r>
            <a:r>
              <a:rPr sz="1200" b="0" dirty="0">
                <a:solidFill>
                  <a:srgbClr val="657180"/>
                </a:solidFill>
                <a:latin typeface="Microsoft YaHei"/>
              </a:rPr>
              <a:t> MPI </a:t>
            </a:r>
            <a:r>
              <a:rPr sz="1200" b="0" dirty="0" err="1">
                <a:solidFill>
                  <a:srgbClr val="657180"/>
                </a:solidFill>
                <a:latin typeface="Microsoft YaHei"/>
              </a:rPr>
              <a:t>发送</a:t>
            </a:r>
            <a:endParaRPr sz="1200" b="0" dirty="0">
              <a:solidFill>
                <a:srgbClr val="657180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5120640" cy="214884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26464"/>
            <a:ext cx="4882896" cy="1984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dirty="0" err="1">
                <a:solidFill>
                  <a:srgbClr val="E8EDF2"/>
                </a:solidFill>
                <a:latin typeface="Consolas"/>
              </a:rPr>
              <a:t>SerializeIndex</a:t>
            </a:r>
            <a:r>
              <a:rPr sz="1500" b="0" dirty="0">
                <a:solidFill>
                  <a:srgbClr val="E8EDF2"/>
                </a:solidFill>
                <a:latin typeface="Consolas"/>
              </a:rPr>
              <a:t>:
apple\t84,2701
future\t84,1342,2701
...
worker sends payload to rank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5120640" cy="214884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426464"/>
            <a:ext cx="4882896" cy="1984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8EDF2"/>
                </a:solidFill>
                <a:latin typeface="Consolas"/>
              </a:rPr>
              <a:t>MergeSerializedIndex:
for each line:
    split by tab
    split doc ids by comma
    global[word].insert(doc_id)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4432" y="4754880"/>
            <a:ext cx="6561220" cy="32932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900" b="1" dirty="0" err="1">
                <a:solidFill>
                  <a:srgbClr val="1B2C3E"/>
                </a:solidFill>
                <a:latin typeface="Microsoft YaHei"/>
              </a:rPr>
              <a:t>这不是最高性能的工业实现，但非常适合第一次</a:t>
            </a:r>
            <a:r>
              <a:rPr sz="1900" b="1" dirty="0">
                <a:solidFill>
                  <a:srgbClr val="1B2C3E"/>
                </a:solidFill>
                <a:latin typeface="Microsoft YaHei"/>
              </a:rPr>
              <a:t> </a:t>
            </a:r>
            <a:r>
              <a:rPr sz="1900" b="1" dirty="0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MPI </a:t>
            </a:r>
            <a:r>
              <a:rPr lang="zh-CN" altLang="en-US" sz="1900" b="1" dirty="0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上手</a:t>
            </a:r>
            <a:r>
              <a:rPr sz="1900" b="1" dirty="0">
                <a:solidFill>
                  <a:srgbClr val="1B2C3E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90 分钟上机任务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处理全部书籍，并与 reference_index.tsv 完全一致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25880"/>
          <a:ext cx="105156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完成标志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0-10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编译运行 mpi_hello_demo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看到多个 rank 输出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10-20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编译运行 starter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看到 status: FAIL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20-45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实现 BuildLocalIndex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能产生非空局部索引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45-60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实现 SerializeIndex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worker 能发送字符串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60-75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实现 MergeSerializedIndex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rank 0 能合并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75-90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比较进程数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2D37"/>
                          </a:solidFill>
                          <a:latin typeface="Microsoft YaHei"/>
                        </a:rPr>
                        <a:t>记录 1/2/4 进程结果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调试优先级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MPI 错误通常来自路径、进程数、消息匹配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可能原因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优先检查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mpiexec 找不到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 runtime 未安装或 PATH 未刷新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重新打开终端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mpi.h 找不到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SDK 未安装或编译命令不对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MSMPI_INC / MSMPI_LIB64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程序卡住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Send/Recv 顺序或 tag 不匹配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source/dest/tag/type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status: FAIL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TODO 逻辑未完成或路径错误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manifest 与 books 目录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进程数变多不加速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I/O 或 rank 0 合并瓶颈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记录并分析即可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提交要求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实验报告继续统一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73152" cy="960120"/>
          </a:xfrm>
          <a:prstGeom prst="rect">
            <a:avLst/>
          </a:prstGeom>
          <a:solidFill>
            <a:srgbClr val="33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563624"/>
            <a:ext cx="273405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29384"/>
            <a:ext cx="273405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三个 TODO
关键实现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73152" cy="960120"/>
          </a:xfrm>
          <a:prstGeom prst="rect">
            <a:avLst/>
          </a:prstGeom>
          <a:solidFill>
            <a:srgbClr val="3D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563624"/>
            <a:ext cx="273405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929384"/>
            <a:ext cx="273405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至少一次
status: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63624"/>
            <a:ext cx="273405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29384"/>
            <a:ext cx="273405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1/2/4 进程
运行时间对比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63240"/>
            <a:ext cx="9875520" cy="155448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52D37"/>
                </a:solidFill>
                <a:latin typeface="Microsoft YaHei"/>
              </a:defRPr>
            </a:pPr>
            <a:r>
              <a:rPr dirty="0" err="1"/>
              <a:t>说明</a:t>
            </a:r>
            <a:r>
              <a:rPr dirty="0"/>
              <a:t> MPI </a:t>
            </a:r>
            <a:r>
              <a:rPr dirty="0" err="1"/>
              <a:t>进程为什么不能直接共享普通变量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252D37"/>
                </a:solidFill>
                <a:latin typeface="Microsoft YaHei"/>
              </a:defRPr>
            </a:pPr>
            <a:r>
              <a:rPr dirty="0" err="1"/>
              <a:t>说明局部索引为什么需要发送给</a:t>
            </a:r>
            <a:r>
              <a:rPr dirty="0"/>
              <a:t> rank 0</a:t>
            </a:r>
          </a:p>
          <a:p>
            <a:pPr>
              <a:spcAft>
                <a:spcPts val="800"/>
              </a:spcAft>
              <a:defRPr sz="1700">
                <a:solidFill>
                  <a:srgbClr val="252D37"/>
                </a:solidFill>
                <a:latin typeface="Microsoft YaHei"/>
              </a:defRPr>
            </a:pPr>
            <a:r>
              <a:rPr dirty="0" err="1"/>
              <a:t>可选：讨论集合通信、共享内存窗口或</a:t>
            </a:r>
            <a:r>
              <a:rPr dirty="0"/>
              <a:t> pipeline </a:t>
            </a:r>
            <a:r>
              <a:rPr dirty="0" err="1"/>
              <a:t>能否改进本实验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252D37"/>
                </a:solidFill>
                <a:latin typeface="Microsoft YaHei"/>
              </a:defRPr>
            </a:pPr>
            <a:r>
              <a:rPr dirty="0" err="1"/>
              <a:t>如果进程数增加但不加速，结合</a:t>
            </a:r>
            <a:r>
              <a:rPr dirty="0"/>
              <a:t> I/</a:t>
            </a:r>
            <a:r>
              <a:rPr dirty="0" err="1"/>
              <a:t>O、通信和合并开销分析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097280" y="5486400"/>
            <a:ext cx="9966960" cy="4114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00897B"/>
                </a:solidFill>
                <a:latin typeface="Microsoft YaHei"/>
              </a:rPr>
              <a:t>本节课的核心：多进程并行 = 局部计算 + 显式通信 + 结果合并。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B2C3E"/>
                </a:solidFill>
                <a:latin typeface="Microsoft YaHei"/>
              </a:rPr>
              <a:t>提交要求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实验报告继续统一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73152" cy="960120"/>
          </a:xfrm>
          <a:prstGeom prst="rect">
            <a:avLst/>
          </a:prstGeom>
          <a:solidFill>
            <a:srgbClr val="33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563624"/>
            <a:ext cx="273405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29384"/>
            <a:ext cx="273405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三个 TODO
关键实现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73152" cy="960120"/>
          </a:xfrm>
          <a:prstGeom prst="rect">
            <a:avLst/>
          </a:prstGeom>
          <a:solidFill>
            <a:srgbClr val="3D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563624"/>
            <a:ext cx="273405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929384"/>
            <a:ext cx="273405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至少一次
status: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63624"/>
            <a:ext cx="273405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29384"/>
            <a:ext cx="273405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1/2/4 进程
运行时间对比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823606B-0C60-426F-953C-BC836163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475" y="2765077"/>
            <a:ext cx="2977741" cy="336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40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2411045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r>
              <a:rPr sz="2600" b="1" dirty="0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600" b="1" dirty="0" err="1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集合通信</a:t>
            </a:r>
            <a:endParaRPr sz="2600" b="1" dirty="0">
              <a:solidFill>
                <a:srgbClr val="1B2C3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课外了解：把一组常见通信模式交给 MPI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73152" cy="1051560"/>
          </a:xfrm>
          <a:prstGeom prst="rect">
            <a:avLst/>
          </a:prstGeom>
          <a:solidFill>
            <a:srgbClr val="33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472184"/>
            <a:ext cx="28254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Broadcast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37943"/>
            <a:ext cx="2825496" cy="48463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MPI_Bcast
rank 0 把同一份数据发给所有进程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325880"/>
            <a:ext cx="73152" cy="1051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472184"/>
            <a:ext cx="28254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Gather / Scatter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837943"/>
            <a:ext cx="2825496" cy="48463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MPI_Gather / MPI_Scatter
集中收集或分发数组块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325880"/>
            <a:ext cx="3154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325880"/>
            <a:ext cx="73152" cy="1051560"/>
          </a:xfrm>
          <a:prstGeom prst="rect">
            <a:avLst/>
          </a:prstGeom>
          <a:solidFill>
            <a:srgbClr val="3D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1472184"/>
            <a:ext cx="28254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B2C3E"/>
                </a:solidFill>
                <a:latin typeface="Microsoft YaHei"/>
              </a:rPr>
              <a:t>Reduce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837943"/>
            <a:ext cx="2825496" cy="48463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52D37"/>
                </a:solidFill>
                <a:latin typeface="Microsoft YaHei"/>
              </a:rPr>
              <a:t>MPI_Reduce
把局部数值求和、取最大等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7122" y="31131"/>
            <a:ext cx="3931920" cy="1143000"/>
          </a:xfrm>
          <a:prstGeom prst="rect">
            <a:avLst/>
          </a:prstGeom>
          <a:solidFill>
            <a:srgbClr val="1B222B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5994" y="131715"/>
            <a:ext cx="3694176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 err="1">
                <a:solidFill>
                  <a:srgbClr val="E8EDF2"/>
                </a:solidFill>
                <a:latin typeface="Consolas"/>
              </a:rPr>
              <a:t>MPI_Reduce</a:t>
            </a:r>
            <a:r>
              <a:rPr sz="1000" b="0" dirty="0">
                <a:solidFill>
                  <a:srgbClr val="E8EDF2"/>
                </a:solidFill>
                <a:latin typeface="Consolas"/>
              </a:rPr>
              <a:t>(&amp;</a:t>
            </a:r>
            <a:r>
              <a:rPr sz="1000" b="0" dirty="0" err="1">
                <a:solidFill>
                  <a:srgbClr val="E8EDF2"/>
                </a:solidFill>
                <a:latin typeface="Consolas"/>
              </a:rPr>
              <a:t>local_count</a:t>
            </a:r>
            <a:r>
              <a:rPr sz="1000" b="0" dirty="0">
                <a:solidFill>
                  <a:srgbClr val="E8EDF2"/>
                </a:solidFill>
                <a:latin typeface="Consolas"/>
              </a:rPr>
              <a:t>,
           &amp;</a:t>
            </a:r>
            <a:r>
              <a:rPr sz="1000" b="0" dirty="0" err="1">
                <a:solidFill>
                  <a:srgbClr val="E8EDF2"/>
                </a:solidFill>
                <a:latin typeface="Consolas"/>
              </a:rPr>
              <a:t>total_count</a:t>
            </a:r>
            <a:r>
              <a:rPr sz="1000" b="0" dirty="0">
                <a:solidFill>
                  <a:srgbClr val="E8EDF2"/>
                </a:solidFill>
                <a:latin typeface="Consolas"/>
              </a:rPr>
              <a:t>,
           1, MPI_INT, MPI_SUM,
           0, MPI_COMM_WORLD);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4255" y="6335767"/>
            <a:ext cx="4339396" cy="29854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dirty="0" err="1">
                <a:solidFill>
                  <a:srgbClr val="1B2C3E"/>
                </a:solidFill>
                <a:latin typeface="Microsoft YaHei"/>
              </a:rPr>
              <a:t>思考：局部索引能不能用</a:t>
            </a:r>
            <a:r>
              <a:rPr sz="1700" b="1" dirty="0">
                <a:solidFill>
                  <a:srgbClr val="1B2C3E"/>
                </a:solidFill>
                <a:latin typeface="Microsoft YaHei"/>
              </a:rPr>
              <a:t> Gather </a:t>
            </a:r>
            <a:r>
              <a:rPr sz="1700" b="1" dirty="0" err="1">
                <a:solidFill>
                  <a:srgbClr val="1B2C3E"/>
                </a:solidFill>
                <a:latin typeface="Microsoft YaHei"/>
              </a:rPr>
              <a:t>收集</a:t>
            </a:r>
            <a:r>
              <a:rPr sz="1700" b="1" dirty="0">
                <a:solidFill>
                  <a:srgbClr val="1B2C3E"/>
                </a:solidFill>
                <a:latin typeface="Microsoft YaHei"/>
              </a:rPr>
              <a:t>？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4460515-56D4-493E-A577-717BC77A3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566243"/>
            <a:ext cx="4532420" cy="1781399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6217E64D-2F7E-44B1-9113-0393E1B1F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92" y="4438397"/>
            <a:ext cx="4376024" cy="1742947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DE78B4C3-5499-4F6C-9F4F-AF8B86456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081" y="2644362"/>
            <a:ext cx="4379266" cy="1648983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2A1DBAE5-B656-486B-882A-631970B96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761" y="4463885"/>
            <a:ext cx="4437431" cy="16919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3185296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r>
              <a:rPr sz="2600" b="1" dirty="0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：MPI </a:t>
            </a:r>
            <a:r>
              <a:rPr sz="2600" b="1" dirty="0" err="1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共享内存</a:t>
            </a:r>
            <a:endParaRPr sz="2600" b="1" dirty="0">
              <a:solidFill>
                <a:srgbClr val="1B2C3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课外了解：同一节点内的 MPI 进程也可以建立共享窗口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2011680" cy="640080"/>
          </a:xfrm>
          <a:prstGeom prst="roundRect">
            <a:avLst/>
          </a:prstGeom>
          <a:solidFill>
            <a:srgbClr val="E7F4FF"/>
          </a:solidFill>
          <a:ln>
            <a:solidFill>
              <a:srgbClr val="33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490472"/>
            <a:ext cx="1901952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52D37"/>
                </a:solidFill>
                <a:latin typeface="Microsoft YaHei"/>
              </a:rPr>
              <a:t>rank 0
private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2011680" cy="640080"/>
          </a:xfrm>
          <a:prstGeom prst="roundRect">
            <a:avLst/>
          </a:prstGeom>
          <a:solidFill>
            <a:srgbClr val="ECF8F4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404872"/>
            <a:ext cx="1901952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52D37"/>
                </a:solidFill>
                <a:latin typeface="Microsoft YaHei"/>
              </a:rPr>
              <a:t>rank 1
private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46120"/>
            <a:ext cx="2011680" cy="640080"/>
          </a:xfrm>
          <a:prstGeom prst="roundRect">
            <a:avLst/>
          </a:prstGeom>
          <a:solidFill>
            <a:srgbClr val="EBF8F0"/>
          </a:solidFill>
          <a:ln>
            <a:solidFill>
              <a:srgbClr val="3D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3319272"/>
            <a:ext cx="1901952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52D37"/>
                </a:solidFill>
                <a:latin typeface="Microsoft YaHei"/>
              </a:rPr>
              <a:t>rank 2
private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828800"/>
            <a:ext cx="2926080" cy="1508760"/>
          </a:xfrm>
          <a:prstGeom prst="roundRect">
            <a:avLst/>
          </a:prstGeom>
          <a:solidFill>
            <a:srgbClr val="FFF6E0"/>
          </a:solidFill>
          <a:ln>
            <a:solidFill>
              <a:srgbClr val="DF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58183" y="1901952"/>
            <a:ext cx="2816352" cy="139903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400" b="1">
                <a:solidFill>
                  <a:srgbClr val="252D37"/>
                </a:solidFill>
                <a:latin typeface="Microsoft YaHei"/>
              </a:rPr>
              <a:t>shared window
同一节点内映射的共享区域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1737360"/>
            <a:ext cx="731520" cy="411480"/>
          </a:xfrm>
          <a:prstGeom prst="line">
            <a:avLst/>
          </a:prstGeom>
          <a:ln w="25400">
            <a:solidFill>
              <a:srgbClr val="336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926080" y="2606040"/>
            <a:ext cx="731520" cy="4572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926080" y="3063240"/>
            <a:ext cx="731520" cy="502920"/>
          </a:xfrm>
          <a:prstGeom prst="line">
            <a:avLst/>
          </a:prstGeom>
          <a:ln w="25400">
            <a:solidFill>
              <a:srgbClr val="3D8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086600" y="1325880"/>
          <a:ext cx="4297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普通 MPI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共享窗口</a:t>
                      </a:r>
                    </a:p>
                  </a:txBody>
                  <a:tcPr marL="36576" marR="36576" marT="27432" marB="27432">
                    <a:solidFill>
                      <a:srgbClr val="1B2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Send / Recv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Win_allocate_shared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适合跨节点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适合同节点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显式发消息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2D37"/>
                          </a:solidFill>
                          <a:latin typeface="Microsoft YaHei"/>
                        </a:rPr>
                        <a:t>显式创建共享区域</a:t>
                      </a:r>
                    </a:p>
                  </a:txBody>
                  <a:tcPr marL="36576" marR="36576" marT="27432" marB="27432"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005840" y="4800600"/>
            <a:ext cx="10058400" cy="73152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52D37"/>
                </a:solidFill>
                <a:latin typeface="Microsoft YaHei"/>
              </a:defRPr>
            </a:pPr>
            <a:r>
              <a:t>共享窗口不是 C++ 全局变量共享；多个进程同时写共享区域时，仍然要设计同步</a:t>
            </a:r>
          </a:p>
          <a:p>
            <a:pPr>
              <a:spcAft>
                <a:spcPts val="800"/>
              </a:spcAft>
              <a:defRPr sz="1600">
                <a:solidFill>
                  <a:srgbClr val="252D37"/>
                </a:solidFill>
                <a:latin typeface="Microsoft YaHei"/>
              </a:defRPr>
            </a:pPr>
            <a:r>
              <a:t>本实验先使用消息传递，是因为概念更直接、跨平台更容易讲清楚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4001224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r>
              <a:rPr sz="2600" b="1" dirty="0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600" b="1" dirty="0" err="1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计算-通信</a:t>
            </a:r>
            <a:r>
              <a:rPr sz="2600" b="1" dirty="0">
                <a:solidFill>
                  <a:srgbClr val="1B2C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57180"/>
                </a:solidFill>
                <a:latin typeface="Microsoft YaHei"/>
              </a:rPr>
              <a:t>课外了解：让计算和通信重叠，减少等待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Microsoft YaHei"/>
              </a:rPr>
              <a:t>第三堂课 | MPI 多进程倒排索引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57180"/>
                </a:solidFill>
                <a:latin typeface="Microsoft Ya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5156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657180"/>
                </a:solidFill>
                <a:latin typeface="Microsoft YaHei"/>
              </a:rPr>
              <a:t>时间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1554480"/>
            <a:ext cx="9052560" cy="0"/>
          </a:xfrm>
          <a:prstGeom prst="line">
            <a:avLst/>
          </a:prstGeom>
          <a:ln w="25400">
            <a:solidFill>
              <a:srgbClr val="65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97280" y="2057400"/>
            <a:ext cx="2240280" cy="502920"/>
          </a:xfrm>
          <a:prstGeom prst="roundRect">
            <a:avLst/>
          </a:prstGeom>
          <a:solidFill>
            <a:srgbClr val="E7F4FF"/>
          </a:solidFill>
          <a:ln>
            <a:solidFill>
              <a:srgbClr val="33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144" y="2130552"/>
            <a:ext cx="2130552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52D37"/>
                </a:solidFill>
                <a:latin typeface="Microsoft YaHei"/>
              </a:rPr>
              <a:t>batch 1 compute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057400"/>
            <a:ext cx="2240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3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9584" y="2130552"/>
            <a:ext cx="2130552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52D37"/>
                </a:solidFill>
                <a:latin typeface="Microsoft YaHei"/>
              </a:rPr>
              <a:t>batch 1 send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057400"/>
            <a:ext cx="2240280" cy="502920"/>
          </a:xfrm>
          <a:prstGeom prst="roundRect">
            <a:avLst/>
          </a:prstGeom>
          <a:solidFill>
            <a:srgbClr val="E7F4FF"/>
          </a:solidFill>
          <a:ln>
            <a:solidFill>
              <a:srgbClr val="33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07024" y="2130552"/>
            <a:ext cx="2130552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52D37"/>
                </a:solidFill>
                <a:latin typeface="Microsoft YaHei"/>
              </a:rPr>
              <a:t>batch 2 compute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43200"/>
            <a:ext cx="699516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1B2C3E"/>
                </a:solidFill>
                <a:latin typeface="Microsoft YaHei"/>
              </a:rPr>
              <a:t>基础版本：算完一批，再发送；计算和通信串行等待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657600"/>
            <a:ext cx="2240280" cy="502920"/>
          </a:xfrm>
          <a:prstGeom prst="roundRect">
            <a:avLst/>
          </a:prstGeom>
          <a:solidFill>
            <a:srgbClr val="ECF8F4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2144" y="3730752"/>
            <a:ext cx="2130552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 dirty="0">
                <a:solidFill>
                  <a:srgbClr val="252D37"/>
                </a:solidFill>
                <a:latin typeface="Microsoft YaHei"/>
              </a:rPr>
              <a:t>batch 1 compute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657600"/>
            <a:ext cx="2240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9584" y="3730752"/>
            <a:ext cx="2130552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52D37"/>
                </a:solidFill>
                <a:latin typeface="Microsoft YaHei"/>
              </a:rPr>
              <a:t>batch 1 Isend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251960"/>
            <a:ext cx="2240280" cy="502920"/>
          </a:xfrm>
          <a:prstGeom prst="roundRect">
            <a:avLst/>
          </a:prstGeom>
          <a:solidFill>
            <a:srgbClr val="ECF8F4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52544" y="4325112"/>
            <a:ext cx="2130552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52D37"/>
                </a:solidFill>
                <a:latin typeface="Microsoft YaHei"/>
              </a:rPr>
              <a:t>batch 2 compute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4251960"/>
            <a:ext cx="2240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9983" y="4325112"/>
            <a:ext cx="2130552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52D37"/>
                </a:solidFill>
                <a:latin typeface="Microsoft YaHei"/>
              </a:rPr>
              <a:t>batch 2 Isend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841248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300" b="1">
                <a:solidFill>
                  <a:srgbClr val="1B2C3E"/>
                </a:solidFill>
                <a:latin typeface="Microsoft YaHei"/>
              </a:rPr>
              <a:t>Pipeline 版本：上一批通信时，下一批继续计算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9875520" cy="50292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2D37"/>
                </a:solidFill>
                <a:latin typeface="Microsoft YaHei"/>
              </a:defRPr>
            </a:pPr>
            <a:r>
              <a:t>关键 API：MPI_Isend、MPI_Irecv、MPI_Wait、MPI_Test；适合大数据、长通信、可分批处理的任务</a:t>
            </a:r>
          </a:p>
        </p:txBody>
      </p:sp>
      <p:sp>
        <p:nvSpPr>
          <p:cNvPr id="26" name="Rounded Rectangle 21">
            <a:extLst>
              <a:ext uri="{FF2B5EF4-FFF2-40B4-BE49-F238E27FC236}">
                <a16:creationId xmlns:a16="http://schemas.microsoft.com/office/drawing/2014/main" id="{2D012F43-9853-44C0-A771-36168091768A}"/>
              </a:ext>
            </a:extLst>
          </p:cNvPr>
          <p:cNvSpPr/>
          <p:nvPr/>
        </p:nvSpPr>
        <p:spPr>
          <a:xfrm>
            <a:off x="8147304" y="2048723"/>
            <a:ext cx="2240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DD936F2C-83FB-478C-BB3D-1218690B8D03}"/>
              </a:ext>
            </a:extLst>
          </p:cNvPr>
          <p:cNvSpPr txBox="1"/>
          <p:nvPr/>
        </p:nvSpPr>
        <p:spPr>
          <a:xfrm>
            <a:off x="8202167" y="2121875"/>
            <a:ext cx="2130552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252D37"/>
                </a:solidFill>
                <a:latin typeface="Microsoft YaHei"/>
              </a:rPr>
              <a:t>batch 2 Isend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1680</Words>
  <Application>Microsoft Office PowerPoint</Application>
  <PresentationFormat>宽屏</PresentationFormat>
  <Paragraphs>288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微软雅黑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15529597297@163.com</cp:lastModifiedBy>
  <cp:revision>14</cp:revision>
  <dcterms:created xsi:type="dcterms:W3CDTF">2013-01-27T09:14:16Z</dcterms:created>
  <dcterms:modified xsi:type="dcterms:W3CDTF">2026-05-09T02:18:18Z</dcterms:modified>
  <cp:category/>
</cp:coreProperties>
</file>