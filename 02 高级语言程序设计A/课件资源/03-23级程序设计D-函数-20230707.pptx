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15"/>
  </p:handoutMasterIdLst>
  <p:sldIdLst>
    <p:sldId id="880" r:id="rId3"/>
    <p:sldId id="1203" r:id="rId4"/>
    <p:sldId id="757" r:id="rId5"/>
    <p:sldId id="716" r:id="rId6"/>
    <p:sldId id="1273" r:id="rId8"/>
    <p:sldId id="1205" r:id="rId9"/>
    <p:sldId id="1274" r:id="rId10"/>
    <p:sldId id="1275" r:id="rId11"/>
    <p:sldId id="1276" r:id="rId12"/>
    <p:sldId id="1277" r:id="rId13"/>
    <p:sldId id="1278" r:id="rId14"/>
    <p:sldId id="1279" r:id="rId15"/>
    <p:sldId id="1280" r:id="rId16"/>
    <p:sldId id="1207" r:id="rId17"/>
    <p:sldId id="1311" r:id="rId18"/>
    <p:sldId id="1208" r:id="rId19"/>
    <p:sldId id="1209" r:id="rId20"/>
    <p:sldId id="1210" r:id="rId21"/>
    <p:sldId id="1211" r:id="rId22"/>
    <p:sldId id="1212" r:id="rId23"/>
    <p:sldId id="1213" r:id="rId24"/>
    <p:sldId id="1214" r:id="rId25"/>
    <p:sldId id="1215" r:id="rId26"/>
    <p:sldId id="1217" r:id="rId27"/>
    <p:sldId id="1218" r:id="rId28"/>
    <p:sldId id="1219" r:id="rId29"/>
    <p:sldId id="1220" r:id="rId30"/>
    <p:sldId id="1221" r:id="rId31"/>
    <p:sldId id="1222" r:id="rId32"/>
    <p:sldId id="1223" r:id="rId33"/>
    <p:sldId id="1224" r:id="rId34"/>
    <p:sldId id="1225" r:id="rId35"/>
    <p:sldId id="1227" r:id="rId36"/>
    <p:sldId id="1308" r:id="rId37"/>
    <p:sldId id="1228" r:id="rId38"/>
    <p:sldId id="1229" r:id="rId39"/>
    <p:sldId id="1309" r:id="rId40"/>
    <p:sldId id="1310" r:id="rId41"/>
    <p:sldId id="1232" r:id="rId42"/>
    <p:sldId id="1233" r:id="rId43"/>
    <p:sldId id="1235" r:id="rId44"/>
    <p:sldId id="1236" r:id="rId45"/>
    <p:sldId id="1237" r:id="rId46"/>
    <p:sldId id="1238" r:id="rId47"/>
    <p:sldId id="1239" r:id="rId48"/>
    <p:sldId id="1240" r:id="rId49"/>
    <p:sldId id="1242" r:id="rId50"/>
    <p:sldId id="1244" r:id="rId51"/>
    <p:sldId id="1286" r:id="rId52"/>
    <p:sldId id="1287" r:id="rId53"/>
    <p:sldId id="1288" r:id="rId54"/>
    <p:sldId id="1289" r:id="rId55"/>
    <p:sldId id="1290" r:id="rId56"/>
    <p:sldId id="1300" r:id="rId57"/>
    <p:sldId id="1301" r:id="rId58"/>
    <p:sldId id="1302" r:id="rId59"/>
    <p:sldId id="1292" r:id="rId60"/>
    <p:sldId id="1293" r:id="rId61"/>
    <p:sldId id="1294" r:id="rId62"/>
    <p:sldId id="1248" r:id="rId63"/>
    <p:sldId id="1295" r:id="rId64"/>
    <p:sldId id="1296" r:id="rId65"/>
    <p:sldId id="1297" r:id="rId66"/>
    <p:sldId id="1249" r:id="rId67"/>
    <p:sldId id="1250" r:id="rId68"/>
    <p:sldId id="1251" r:id="rId69"/>
    <p:sldId id="1312" r:id="rId70"/>
    <p:sldId id="1313" r:id="rId71"/>
    <p:sldId id="1252" r:id="rId72"/>
    <p:sldId id="1253" r:id="rId73"/>
    <p:sldId id="1306" r:id="rId74"/>
    <p:sldId id="1254" r:id="rId75"/>
    <p:sldId id="1255" r:id="rId76"/>
    <p:sldId id="1256" r:id="rId77"/>
    <p:sldId id="1314" r:id="rId78"/>
    <p:sldId id="1315" r:id="rId79"/>
    <p:sldId id="1257" r:id="rId80"/>
    <p:sldId id="1258" r:id="rId81"/>
    <p:sldId id="1259" r:id="rId82"/>
    <p:sldId id="1260" r:id="rId83"/>
    <p:sldId id="1261" r:id="rId84"/>
    <p:sldId id="1262" r:id="rId85"/>
    <p:sldId id="1263" r:id="rId86"/>
    <p:sldId id="1264" r:id="rId87"/>
    <p:sldId id="1265" r:id="rId88"/>
    <p:sldId id="1303" r:id="rId89"/>
    <p:sldId id="1304" r:id="rId90"/>
    <p:sldId id="1305" r:id="rId91"/>
    <p:sldId id="1267" r:id="rId92"/>
    <p:sldId id="1268" r:id="rId93"/>
    <p:sldId id="1269" r:id="rId94"/>
    <p:sldId id="1270" r:id="rId95"/>
    <p:sldId id="1271" r:id="rId96"/>
    <p:sldId id="1272" r:id="rId97"/>
    <p:sldId id="1316" r:id="rId98"/>
    <p:sldId id="1317" r:id="rId99"/>
    <p:sldId id="1318" r:id="rId100"/>
    <p:sldId id="1319" r:id="rId101"/>
    <p:sldId id="1320" r:id="rId102"/>
    <p:sldId id="1321" r:id="rId103"/>
    <p:sldId id="1322" r:id="rId104"/>
    <p:sldId id="1323" r:id="rId105"/>
    <p:sldId id="1324" r:id="rId106"/>
    <p:sldId id="1325" r:id="rId107"/>
    <p:sldId id="1326" r:id="rId108"/>
    <p:sldId id="1327" r:id="rId109"/>
    <p:sldId id="1281" r:id="rId110"/>
    <p:sldId id="1282" r:id="rId111"/>
    <p:sldId id="1284" r:id="rId112"/>
    <p:sldId id="1328" r:id="rId113"/>
    <p:sldId id="1285" r:id="rId114"/>
  </p:sldIdLst>
  <p:sldSz cx="9144000" cy="6858000" type="screen4x3"/>
  <p:notesSz cx="7102475" cy="10233025"/>
  <p:custDataLst>
    <p:tags r:id="rId119"/>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42"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000000"/>
    <a:srgbClr val="4B0064"/>
    <a:srgbClr val="3030C7"/>
    <a:srgbClr val="2F2FC5"/>
    <a:srgbClr val="740000"/>
    <a:srgbClr val="CB1522"/>
    <a:srgbClr val="C177FF"/>
    <a:srgbClr val="E682E1"/>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86618" autoAdjust="0"/>
  </p:normalViewPr>
  <p:slideViewPr>
    <p:cSldViewPr showGuides="1">
      <p:cViewPr varScale="1">
        <p:scale>
          <a:sx n="97" d="100"/>
          <a:sy n="97" d="100"/>
        </p:scale>
        <p:origin x="1692" y="0"/>
      </p:cViewPr>
      <p:guideLst>
        <p:guide orient="horz" pos="1842"/>
        <p:guide pos="2928"/>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19482"/>
    </p:cViewPr>
  </p:sorterViewPr>
  <p:notesViewPr>
    <p:cSldViewPr>
      <p:cViewPr varScale="1">
        <p:scale>
          <a:sx n="77" d="100"/>
          <a:sy n="77" d="100"/>
        </p:scale>
        <p:origin x="3318" y="108"/>
      </p:cViewPr>
      <p:guideLst>
        <p:guide orient="horz" pos="3222"/>
        <p:guide pos="223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9" Type="http://schemas.openxmlformats.org/officeDocument/2006/relationships/tags" Target="tags/tag1.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handoutMaster" Target="handoutMasters/handoutMaster1.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slide" Target="slides/slide59.xml"/><Relationship Id="rId1"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661"/>
            <a:ext cx="3078079"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4024397" y="-1661"/>
            <a:ext cx="3078078"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r" eaLnBrk="0" hangingPunct="0">
              <a:defRPr sz="11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719880"/>
            <a:ext cx="3078079"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4024397" y="9719880"/>
            <a:ext cx="3078078"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r" eaLnBrk="0" hangingPunct="0">
              <a:defRPr sz="11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661"/>
            <a:ext cx="3078079"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l" defTabSz="803910" eaLnBrk="0" hangingPunct="0">
              <a:defRPr sz="11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4024397" y="-1661"/>
            <a:ext cx="3078078"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r" defTabSz="803910" eaLnBrk="0" hangingPunct="0">
              <a:defRPr sz="11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719880"/>
            <a:ext cx="3078079"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l" defTabSz="803910" eaLnBrk="0" hangingPunct="0">
              <a:defRPr sz="11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4024397" y="9719880"/>
            <a:ext cx="3078078"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r" defTabSz="803910" eaLnBrk="0" hangingPunct="0">
              <a:defRPr sz="11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946319" y="4859110"/>
            <a:ext cx="5209838" cy="460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139" tIns="48570" rIns="97139" bIns="48570" numCol="1" anchor="t" anchorCtr="0" compatLnSpc="1"/>
          <a:lstStyle/>
          <a:p>
            <a:pPr lvl="0"/>
            <a:r>
              <a:rPr lang="en-US" altLang="zh-CN" smtClean="0"/>
              <a:t>Click to edit Master notes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5" name="Rectangle 7"/>
          <p:cNvSpPr>
            <a:spLocks noGrp="1" noRot="1" noChangeAspect="1" noChangeArrowheads="1" noTextEdit="1"/>
          </p:cNvSpPr>
          <p:nvPr>
            <p:ph type="sldImg" idx="2"/>
          </p:nvPr>
        </p:nvSpPr>
        <p:spPr bwMode="auto">
          <a:xfrm>
            <a:off x="1001713" y="773113"/>
            <a:ext cx="5100637" cy="3824287"/>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为什么用函数？模块化、功能抽象、代码复用</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形参的作用：接收传递数据的占位符</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略</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略</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略</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dirty="0"/>
              <a:t>【</a:t>
            </a:r>
            <a:r>
              <a:rPr lang="en-US" altLang="zh-CN" sz="1300" dirty="0" err="1"/>
              <a:t>a,b</a:t>
            </a:r>
            <a:r>
              <a:rPr lang="en-US" altLang="zh-CN" sz="1300" dirty="0"/>
              <a:t>】</a:t>
            </a:r>
            <a:r>
              <a:rPr lang="zh-CN" altLang="en-US" sz="1300" dirty="0"/>
              <a:t>区间的数：</a:t>
            </a:r>
            <a:r>
              <a:rPr lang="en-US" altLang="zh-CN" sz="1300" dirty="0"/>
              <a:t>a + rand() % (b-a+1) </a:t>
            </a:r>
            <a:endParaRPr lang="en-US" altLang="zh-CN" sz="1300" dirty="0"/>
          </a:p>
          <a:p>
            <a:r>
              <a:rPr lang="en-US" altLang="zh-CN" sz="1300" dirty="0"/>
              <a:t>Rand</a:t>
            </a:r>
            <a:r>
              <a:rPr lang="zh-CN" altLang="en-US" sz="1300" dirty="0"/>
              <a:t>（）</a:t>
            </a:r>
            <a:r>
              <a:rPr lang="en-US" altLang="zh-CN" sz="1300" dirty="0"/>
              <a:t>0</a:t>
            </a:r>
            <a:r>
              <a:rPr lang="zh-CN" altLang="en-US" sz="1300" dirty="0"/>
              <a:t>到</a:t>
            </a:r>
            <a:r>
              <a:rPr lang="en-US" altLang="zh-CN" sz="1300" dirty="0"/>
              <a:t>RAND_MAX</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ln w="9525"/>
        </p:spPr>
        <p:txBody>
          <a:bodyPr/>
          <a:lstStyle/>
          <a:p>
            <a:endParaRPr lang="zh-CN" altLang="en-US" smtClean="0">
              <a:ea typeface="宋体" panose="02010600030101010101" pitchFamily="2" charset="-122"/>
            </a:endParaRPr>
          </a:p>
        </p:txBody>
      </p:sp>
      <p:sp>
        <p:nvSpPr>
          <p:cNvPr id="86020" name="灯片编号占位符 3"/>
          <p:cNvSpPr>
            <a:spLocks noGrp="1"/>
          </p:cNvSpPr>
          <p:nvPr>
            <p:ph type="sldNum" sz="quarter" idx="5"/>
          </p:nvPr>
        </p:nvSpPr>
        <p:spPr>
          <a:noFill/>
        </p:spPr>
        <p:txBody>
          <a:bodyPr/>
          <a:lstStyle/>
          <a:p>
            <a:fld id="{404DB960-7A36-4A8A-839E-3E8EBF5B812C}" type="slidenum">
              <a:rPr lang="en-US" altLang="zh-CN" smtClean="0"/>
            </a:fld>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ln w="9525"/>
        </p:spPr>
        <p:txBody>
          <a:bodyPr/>
          <a:lstStyle/>
          <a:p>
            <a:endParaRPr lang="zh-CN" altLang="en-US" smtClean="0">
              <a:ea typeface="宋体" panose="02010600030101010101" pitchFamily="2" charset="-122"/>
            </a:endParaRPr>
          </a:p>
        </p:txBody>
      </p:sp>
      <p:sp>
        <p:nvSpPr>
          <p:cNvPr id="86020" name="灯片编号占位符 3"/>
          <p:cNvSpPr>
            <a:spLocks noGrp="1"/>
          </p:cNvSpPr>
          <p:nvPr>
            <p:ph type="sldNum" sz="quarter" idx="5"/>
          </p:nvPr>
        </p:nvSpPr>
        <p:spPr>
          <a:noFill/>
        </p:spPr>
        <p:txBody>
          <a:bodyPr/>
          <a:lstStyle/>
          <a:p>
            <a:fld id="{404DB960-7A36-4A8A-839E-3E8EBF5B812C}" type="slidenum">
              <a:rPr lang="en-US" altLang="zh-CN" smtClean="0"/>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a:noFill/>
          <a:ln w="9525"/>
        </p:spPr>
        <p:txBody>
          <a:bodyPr/>
          <a:lstStyle/>
          <a:p>
            <a:endParaRPr lang="zh-CN" altLang="en-US" smtClean="0">
              <a:ea typeface="宋体" panose="02010600030101010101" pitchFamily="2" charset="-122"/>
            </a:endParaRPr>
          </a:p>
        </p:txBody>
      </p:sp>
      <p:sp>
        <p:nvSpPr>
          <p:cNvPr id="87044" name="灯片编号占位符 3"/>
          <p:cNvSpPr>
            <a:spLocks noGrp="1"/>
          </p:cNvSpPr>
          <p:nvPr>
            <p:ph type="sldNum" sz="quarter" idx="5"/>
          </p:nvPr>
        </p:nvSpPr>
        <p:spPr>
          <a:noFill/>
        </p:spPr>
        <p:txBody>
          <a:bodyPr/>
          <a:lstStyle/>
          <a:p>
            <a:fld id="{CC0EF420-C9B7-4182-B026-047AE0CAAA12}" type="slidenum">
              <a:rPr lang="en-US" altLang="zh-CN" smtClean="0"/>
            </a:fld>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a:ln w="9525"/>
        </p:spPr>
        <p:txBody>
          <a:bodyPr/>
          <a:lstStyle/>
          <a:p>
            <a:endParaRPr lang="zh-CN" altLang="en-US" smtClean="0">
              <a:ea typeface="宋体" panose="02010600030101010101" pitchFamily="2" charset="-122"/>
            </a:endParaRPr>
          </a:p>
        </p:txBody>
      </p:sp>
      <p:sp>
        <p:nvSpPr>
          <p:cNvPr id="89092" name="灯片编号占位符 3"/>
          <p:cNvSpPr>
            <a:spLocks noGrp="1"/>
          </p:cNvSpPr>
          <p:nvPr>
            <p:ph type="sldNum" sz="quarter" idx="5"/>
          </p:nvPr>
        </p:nvSpPr>
        <p:spPr>
          <a:noFill/>
        </p:spPr>
        <p:txBody>
          <a:bodyPr/>
          <a:lstStyle/>
          <a:p>
            <a:fld id="{B1B96466-CA70-4DC5-A7B1-56D03923F02E}" type="slidenum">
              <a:rPr lang="en-US" altLang="zh-CN" smtClean="0"/>
            </a:fld>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4B06C9F9-ADC3-4F9E-879E-E6C2FF8ACAAE}" type="datetime1">
              <a:rPr lang="zh-CN" altLang="en-US" sz="1300" b="0">
                <a:solidFill>
                  <a:schemeClr val="tx1"/>
                </a:solidFill>
              </a:rPr>
            </a:fld>
            <a:endParaRPr lang="en-US" altLang="zh-CN" sz="1300" b="0">
              <a:solidFill>
                <a:schemeClr val="tx1"/>
              </a:solidFill>
            </a:endParaRPr>
          </a:p>
        </p:txBody>
      </p:sp>
      <p:sp>
        <p:nvSpPr>
          <p:cNvPr id="7680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87DF3FAB-C485-479B-8DFD-81313438411D}" type="slidenum">
              <a:rPr lang="en-US" altLang="zh-CN" sz="1300" b="0">
                <a:solidFill>
                  <a:schemeClr val="tx1"/>
                </a:solidFill>
              </a:rPr>
            </a:fld>
            <a:endParaRPr lang="en-US" altLang="zh-CN" sz="1300" b="0">
              <a:solidFill>
                <a:schemeClr val="tx1"/>
              </a:solidFill>
            </a:endParaRPr>
          </a:p>
        </p:txBody>
      </p:sp>
      <p:sp>
        <p:nvSpPr>
          <p:cNvPr id="76804" name="Rectangle 2"/>
          <p:cNvSpPr>
            <a:spLocks noGrp="1" noRot="1" noChangeAspect="1" noChangeArrowheads="1" noTextEdit="1"/>
          </p:cNvSpPr>
          <p:nvPr>
            <p:ph type="sldImg"/>
          </p:nvPr>
        </p:nvSpPr>
        <p:spPr/>
      </p:sp>
      <p:sp>
        <p:nvSpPr>
          <p:cNvPr id="7680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427D2B1C-0D9F-48F9-9A3D-59A421C09F31}" type="datetime1">
              <a:rPr lang="zh-CN" altLang="en-US" sz="1300" b="0">
                <a:solidFill>
                  <a:schemeClr val="tx1"/>
                </a:solidFill>
              </a:rPr>
            </a:fld>
            <a:endParaRPr lang="en-US" altLang="zh-CN" sz="1300" b="0">
              <a:solidFill>
                <a:schemeClr val="tx1"/>
              </a:solidFill>
            </a:endParaRPr>
          </a:p>
        </p:txBody>
      </p:sp>
      <p:sp>
        <p:nvSpPr>
          <p:cNvPr id="7782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A982E3A0-95DF-42D4-922D-69536E505F8D}" type="slidenum">
              <a:rPr lang="en-US" altLang="zh-CN" sz="1300" b="0">
                <a:solidFill>
                  <a:schemeClr val="tx1"/>
                </a:solidFill>
              </a:rPr>
            </a:fld>
            <a:endParaRPr lang="en-US" altLang="zh-CN" sz="1300" b="0">
              <a:solidFill>
                <a:schemeClr val="tx1"/>
              </a:solidFill>
            </a:endParaRPr>
          </a:p>
        </p:txBody>
      </p:sp>
      <p:sp>
        <p:nvSpPr>
          <p:cNvPr id="77828" name="Rectangle 2"/>
          <p:cNvSpPr>
            <a:spLocks noGrp="1" noRot="1" noChangeAspect="1" noChangeArrowheads="1" noTextEdit="1"/>
          </p:cNvSpPr>
          <p:nvPr>
            <p:ph type="sldImg"/>
          </p:nvPr>
        </p:nvSpPr>
        <p:spPr/>
      </p:sp>
      <p:sp>
        <p:nvSpPr>
          <p:cNvPr id="7782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4D952232-7AD3-478D-B9EB-97C090630D62}" type="datetime1">
              <a:rPr lang="zh-CN" altLang="en-US" sz="1300" b="0">
                <a:solidFill>
                  <a:schemeClr val="tx1"/>
                </a:solidFill>
              </a:rPr>
            </a:fld>
            <a:endParaRPr lang="en-US" altLang="zh-CN" sz="1300" b="0">
              <a:solidFill>
                <a:schemeClr val="tx1"/>
              </a:solidFill>
            </a:endParaRPr>
          </a:p>
        </p:txBody>
      </p:sp>
      <p:sp>
        <p:nvSpPr>
          <p:cNvPr id="7885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C739626E-57DB-46A6-8156-9D294DC7B82E}" type="slidenum">
              <a:rPr lang="en-US" altLang="zh-CN" sz="1300" b="0">
                <a:solidFill>
                  <a:schemeClr val="tx1"/>
                </a:solidFill>
              </a:rPr>
            </a:fld>
            <a:endParaRPr lang="en-US" altLang="zh-CN" sz="1300" b="0">
              <a:solidFill>
                <a:schemeClr val="tx1"/>
              </a:solidFill>
            </a:endParaRPr>
          </a:p>
        </p:txBody>
      </p:sp>
      <p:sp>
        <p:nvSpPr>
          <p:cNvPr id="78852" name="Rectangle 2"/>
          <p:cNvSpPr>
            <a:spLocks noGrp="1" noRot="1" noChangeAspect="1" noChangeArrowheads="1" noTextEdit="1"/>
          </p:cNvSpPr>
          <p:nvPr>
            <p:ph type="sldImg"/>
          </p:nvPr>
        </p:nvSpPr>
        <p:spPr/>
      </p:sp>
      <p:sp>
        <p:nvSpPr>
          <p:cNvPr id="7885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a:noFill/>
          <a:ln w="9525"/>
        </p:spPr>
        <p:txBody>
          <a:bodyPr/>
          <a:lstStyle/>
          <a:p>
            <a:endParaRPr lang="zh-CN" altLang="en-US" smtClean="0">
              <a:ea typeface="宋体" panose="02010600030101010101" pitchFamily="2" charset="-122"/>
            </a:endParaRPr>
          </a:p>
        </p:txBody>
      </p:sp>
      <p:sp>
        <p:nvSpPr>
          <p:cNvPr id="90116" name="灯片编号占位符 3"/>
          <p:cNvSpPr>
            <a:spLocks noGrp="1"/>
          </p:cNvSpPr>
          <p:nvPr>
            <p:ph type="sldNum" sz="quarter" idx="5"/>
          </p:nvPr>
        </p:nvSpPr>
        <p:spPr>
          <a:noFill/>
        </p:spPr>
        <p:txBody>
          <a:bodyPr/>
          <a:lstStyle/>
          <a:p>
            <a:fld id="{601340F8-5D39-42BD-B4A4-7D05D01C361F}" type="slidenum">
              <a:rPr lang="en-US" altLang="zh-CN" smtClean="0"/>
            </a:fld>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强类型</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r>
              <a:rPr lang="en-US" altLang="zh-CN" dirty="0" smtClean="0">
                <a:ea typeface="宋体" panose="02010600030101010101" pitchFamily="2" charset="-122"/>
              </a:rPr>
              <a:t>https://docs.microsoft.com/zh-cn/</a:t>
            </a:r>
            <a:endParaRPr lang="en-US" altLang="zh-CN" dirty="0" smtClean="0">
              <a:ea typeface="宋体" panose="02010600030101010101" pitchFamily="2" charset="-122"/>
            </a:endParaRPr>
          </a:p>
          <a:p>
            <a:r>
              <a:rPr lang="en-US" altLang="zh-CN" dirty="0" smtClean="0">
                <a:ea typeface="宋体" panose="02010600030101010101" pitchFamily="2" charset="-122"/>
              </a:rPr>
              <a:t>https://docs.microsoft.com/zh-cn/cpp/?view=vs-2019</a:t>
            </a:r>
            <a:endParaRPr lang="en-US" altLang="zh-CN" dirty="0" smtClean="0">
              <a:ea typeface="宋体" panose="02010600030101010101" pitchFamily="2" charset="-122"/>
            </a:endParaRPr>
          </a:p>
          <a:p>
            <a:r>
              <a:rPr lang="en-US" altLang="zh-CN" smtClean="0">
                <a:ea typeface="宋体" panose="02010600030101010101" pitchFamily="2" charset="-122"/>
              </a:rPr>
              <a:t>https://docs.microsoft.com/zh-cn/cpp/cpp/c-cpp-language-and-standard-libraries?view=vs-2019</a:t>
            </a:r>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p:spPr>
        <p:txBody>
          <a:bodyPr/>
          <a:lstStyle/>
          <a:p>
            <a:endParaRPr lang="zh-CN" altLang="en-US" dirty="0" smtClean="0">
              <a:ea typeface="宋体" panose="02010600030101010101" pitchFamily="2" charset="-122"/>
            </a:endParaRPr>
          </a:p>
        </p:txBody>
      </p:sp>
      <p:sp>
        <p:nvSpPr>
          <p:cNvPr id="92164" name="灯片编号占位符 3"/>
          <p:cNvSpPr>
            <a:spLocks noGrp="1"/>
          </p:cNvSpPr>
          <p:nvPr>
            <p:ph type="sldNum" sz="quarter" idx="5"/>
          </p:nvPr>
        </p:nvSpPr>
        <p:spPr>
          <a:noFill/>
        </p:spPr>
        <p:txBody>
          <a:bodyPr/>
          <a:lstStyle/>
          <a:p>
            <a:fld id="{08CA5C6D-0D0F-4041-A255-775889B6301E}" type="slidenum">
              <a:rPr lang="en-US" altLang="zh-CN" smtClean="0"/>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文本框 5"/>
          <p:cNvSpPr txBox="1"/>
          <p:nvPr userDrawn="1"/>
        </p:nvSpPr>
        <p:spPr>
          <a:xfrm>
            <a:off x="6854825" y="648716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7" name="文本框 6"/>
          <p:cNvSpPr txBox="1"/>
          <p:nvPr userDrawn="1"/>
        </p:nvSpPr>
        <p:spPr>
          <a:xfrm>
            <a:off x="4994910" y="645033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8" name="文本框 7"/>
          <p:cNvSpPr txBox="1"/>
          <p:nvPr userDrawn="1"/>
        </p:nvSpPr>
        <p:spPr>
          <a:xfrm>
            <a:off x="2764790" y="660019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9" name="文本框 8"/>
          <p:cNvSpPr txBox="1"/>
          <p:nvPr userDrawn="1"/>
        </p:nvSpPr>
        <p:spPr>
          <a:xfrm>
            <a:off x="1539240" y="652081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5" name="文本框 4"/>
          <p:cNvSpPr txBox="1"/>
          <p:nvPr userDrawn="1"/>
        </p:nvSpPr>
        <p:spPr>
          <a:xfrm>
            <a:off x="2112010" y="652526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6" name="文本框 5"/>
          <p:cNvSpPr txBox="1"/>
          <p:nvPr userDrawn="1"/>
        </p:nvSpPr>
        <p:spPr>
          <a:xfrm>
            <a:off x="1028065" y="649732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stretch>
            <a:fillRect/>
          </a:stretch>
        </p:blipFill>
        <p:spPr>
          <a:xfrm>
            <a:off x="1066340" y="6525344"/>
            <a:ext cx="6241965" cy="260648"/>
          </a:xfrm>
          <a:prstGeom prst="rect">
            <a:avLst/>
          </a:prstGeom>
        </p:spPr>
      </p:pic>
      <p:sp>
        <p:nvSpPr>
          <p:cNvPr id="2" name="Text Box 3"/>
          <p:cNvSpPr txBox="1">
            <a:spLocks noChangeArrowheads="1"/>
          </p:cNvSpPr>
          <p:nvPr userDrawn="1"/>
        </p:nvSpPr>
        <p:spPr bwMode="auto">
          <a:xfrm>
            <a:off x="827586" y="6381332"/>
            <a:ext cx="6624736" cy="466725"/>
          </a:xfrm>
          <a:prstGeom prst="rect">
            <a:avLst/>
          </a:prstGeom>
          <a:solidFill>
            <a:srgbClr val="3030C7"/>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
        <p:nvSpPr>
          <p:cNvPr id="3" name="标题 2"/>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5" name="文本框 4"/>
          <p:cNvSpPr txBox="1"/>
          <p:nvPr userDrawn="1"/>
        </p:nvSpPr>
        <p:spPr>
          <a:xfrm>
            <a:off x="2967355" y="231076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7"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3" name="Rectangle 9"/>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370013" y="301625"/>
            <a:ext cx="7313612"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370013" y="1827213"/>
            <a:ext cx="3579812"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02225" y="1827213"/>
            <a:ext cx="3581400"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a:effectLst>
                <a:outerShdw blurRad="38100" dist="38100" dir="2700000" algn="tl">
                  <a:srgbClr val="000000"/>
                </a:outerShdw>
              </a:effectLst>
              <a:ea typeface="隶书" panose="02010509060101010101" pitchFamily="49" charset="-122"/>
            </a:endParaRPr>
          </a:p>
        </p:txBody>
      </p:sp>
      <p:sp>
        <p:nvSpPr>
          <p:cNvPr id="3" name="Text Box 3"/>
          <p:cNvSpPr txBox="1">
            <a:spLocks noChangeArrowheads="1"/>
          </p:cNvSpPr>
          <p:nvPr userDrawn="1"/>
        </p:nvSpPr>
        <p:spPr bwMode="auto">
          <a:xfrm>
            <a:off x="971600" y="6381328"/>
            <a:ext cx="6408712" cy="476672"/>
          </a:xfrm>
          <a:prstGeom prst="rect">
            <a:avLst/>
          </a:prstGeom>
          <a:solidFill>
            <a:srgbClr val="2F2FC5"/>
          </a:solidFill>
          <a:ln>
            <a:noFill/>
          </a:ln>
          <a:effectLst/>
        </p:spPr>
        <p:txBody>
          <a:bodyPr lIns="36000" tIns="0" rIns="36000" bIns="0">
            <a:scene3d>
              <a:camera prst="orthographicFront"/>
              <a:lightRig rig="harsh" dir="t"/>
            </a:scene3d>
            <a:sp3d extrusionH="57150" prstMaterial="matte">
              <a:bevelT w="63500" h="12700" prst="angle"/>
              <a:contourClr>
                <a:schemeClr val="bg1">
                  <a:lumMod val="65000"/>
                </a:schemeClr>
              </a:contourClr>
            </a:sp3d>
          </a:bodyPr>
          <a:lstStyle/>
          <a:p>
            <a:pPr algn="dist"/>
            <a:r>
              <a:rPr lang="zh-CN" altLang="en-US" sz="3200" b="1" cap="none" spc="0" dirty="0">
                <a:solidFill>
                  <a:schemeClr val="accent3"/>
                </a:solidFill>
                <a:effectLst/>
                <a:latin typeface="隶书" panose="02010509060101010101" pitchFamily="49" charset="-122"/>
                <a:ea typeface="隶书" panose="02010509060101010101" pitchFamily="49" charset="-122"/>
              </a:rPr>
              <a:t>武汉大学</a:t>
            </a:r>
            <a:r>
              <a:rPr lang="zh-CN" altLang="en-US" sz="2400" b="1" cap="none" spc="0" dirty="0">
                <a:solidFill>
                  <a:schemeClr val="accent3"/>
                </a:solidFill>
                <a:effectLst/>
                <a:latin typeface="隶书" panose="02010509060101010101" pitchFamily="49" charset="-122"/>
                <a:ea typeface="隶书" panose="02010509060101010101" pitchFamily="49" charset="-122"/>
              </a:rPr>
              <a:t>计算机学院</a:t>
            </a:r>
            <a:endParaRPr lang="zh-CN" altLang="en-US" sz="2400" b="1" cap="none" spc="0" dirty="0">
              <a:solidFill>
                <a:schemeClr val="accent3"/>
              </a:solidFill>
              <a:effectLst/>
              <a:latin typeface="隶书" panose="02010509060101010101" pitchFamily="49" charset="-122"/>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5.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3.bin"/><Relationship Id="rId2" Type="http://schemas.openxmlformats.org/officeDocument/2006/relationships/image" Target="../media/image6.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5.bin"/><Relationship Id="rId2" Type="http://schemas.openxmlformats.org/officeDocument/2006/relationships/image" Target="../media/image8.wmf"/><Relationship Id="rId1"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image" Target="../media/image13.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image" Target="../media/image13.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8.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2031" name="剪辑" r:id="rId1" imgW="685800" imgH="586740" progId="">
                  <p:embed/>
                </p:oleObj>
              </mc:Choice>
              <mc:Fallback>
                <p:oleObj name="剪辑" r:id="rId1" imgW="685800" imgH="586740" progId="">
                  <p:embed/>
                  <p:pic>
                    <p:nvPicPr>
                      <p:cNvPr id="0" name="Picture 7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3"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524310" y="2103783"/>
            <a:ext cx="7344816"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6000" b="1" dirty="0">
                <a:solidFill>
                  <a:srgbClr val="FFFF00"/>
                </a:solidFill>
                <a:effectLst>
                  <a:outerShdw blurRad="38100" dist="38100" dir="2700000" algn="tl">
                    <a:srgbClr val="000000"/>
                  </a:outerShdw>
                </a:effectLst>
                <a:latin typeface="+mj-lt"/>
                <a:ea typeface="黑体" panose="02010609060101010101" pitchFamily="49" charset="-122"/>
              </a:rPr>
              <a:t>UNIT </a:t>
            </a:r>
            <a:r>
              <a:rPr lang="en-US" altLang="zh-CN" sz="6000" b="1" dirty="0" smtClean="0">
                <a:solidFill>
                  <a:srgbClr val="FFFF00"/>
                </a:solidFill>
                <a:effectLst>
                  <a:outerShdw blurRad="38100" dist="38100" dir="2700000" algn="tl">
                    <a:srgbClr val="000000"/>
                  </a:outerShdw>
                </a:effectLst>
                <a:latin typeface="+mj-lt"/>
                <a:ea typeface="黑体" panose="02010609060101010101" pitchFamily="49" charset="-122"/>
              </a:rPr>
              <a:t>03      </a:t>
            </a:r>
            <a:r>
              <a:rPr lang="zh-CN" altLang="en-US" sz="9600" b="1" dirty="0" smtClean="0">
                <a:effectLst>
                  <a:outerShdw blurRad="38100" dist="38100" dir="2700000" algn="tl">
                    <a:srgbClr val="000000"/>
                  </a:outerShdw>
                </a:effectLst>
                <a:latin typeface="华文行楷" panose="02010800040101010101" pitchFamily="2" charset="-122"/>
                <a:ea typeface="华文行楷" panose="02010800040101010101" pitchFamily="2" charset="-122"/>
              </a:rPr>
              <a:t>函数</a:t>
            </a:r>
            <a:endParaRPr lang="zh-CN" altLang="en-US" sz="7200" b="1" dirty="0">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3" name="Rectangle 9"/>
          <p:cNvSpPr>
            <a:spLocks noGrp="1" noChangeArrowheads="1"/>
          </p:cNvSpPr>
          <p:nvPr>
            <p:ph type="title"/>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dist"/>
            <a:r>
              <a:rPr lang="zh-CN" altLang="en-US" sz="4200" b="1" i="0" dirty="0" smtClean="0">
                <a:solidFill>
                  <a:srgbClr val="FFFFFF"/>
                </a:solidFill>
                <a:latin typeface="方正舒体" panose="02010601030101010101" pitchFamily="2" charset="-122"/>
                <a:ea typeface="方正舒体" panose="02010601030101010101" pitchFamily="2" charset="-122"/>
              </a:rPr>
              <a:t>程序设计</a:t>
            </a:r>
            <a:r>
              <a:rPr lang="en-US" altLang="zh-CN" sz="4200" b="1" i="0" smtClean="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
        <p:nvSpPr>
          <p:cNvPr id="8" name="Text Box 7"/>
          <p:cNvSpPr txBox="1">
            <a:spLocks noChangeArrowheads="1"/>
          </p:cNvSpPr>
          <p:nvPr/>
        </p:nvSpPr>
        <p:spPr bwMode="auto">
          <a:xfrm>
            <a:off x="2067744" y="5016118"/>
            <a:ext cx="5810200" cy="392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algn="dist">
              <a:lnSpc>
                <a:spcPct val="70000"/>
              </a:lnSpc>
              <a:spcBef>
                <a:spcPct val="50000"/>
              </a:spcBef>
            </a:pPr>
            <a:r>
              <a:rPr lang="zh-CN" altLang="en-US" sz="2800" b="1" dirty="0">
                <a:solidFill>
                  <a:srgbClr val="FFFF00"/>
                </a:solidFill>
                <a:ea typeface="隶书" panose="02010509060101010101" pitchFamily="49" charset="-122"/>
              </a:rPr>
              <a:t>主讲人</a:t>
            </a:r>
            <a:r>
              <a:rPr lang="zh-CN" altLang="en-US" sz="2800" b="1" dirty="0" smtClean="0">
                <a:solidFill>
                  <a:srgbClr val="FFFF00"/>
                </a:solidFill>
                <a:ea typeface="隶书" panose="02010509060101010101" pitchFamily="49" charset="-122"/>
              </a:rPr>
              <a:t>：</a:t>
            </a:r>
            <a:r>
              <a:rPr lang="zh-CN" altLang="en-US" sz="2800" b="1" dirty="0" smtClean="0">
                <a:solidFill>
                  <a:srgbClr val="FFFF00"/>
                </a:solidFill>
                <a:ea typeface="隶书" panose="02010509060101010101" pitchFamily="49" charset="-122"/>
              </a:rPr>
              <a:t>刘峰  教授</a:t>
            </a:r>
            <a:endParaRPr lang="zh-CN" altLang="en-US" sz="2800" b="1" dirty="0">
              <a:solidFill>
                <a:srgbClr val="FFFF00"/>
              </a:solidFill>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rot="21281222">
            <a:off x="-257" y="343755"/>
            <a:ext cx="4666131" cy="782662"/>
          </a:xfrm>
          <a:prstGeom prst="rect">
            <a:avLst/>
          </a:prstGeom>
          <a:noFill/>
          <a:ln w="9525">
            <a:noFill/>
            <a:miter lim="800000"/>
          </a:ln>
        </p:spPr>
        <p:txBody>
          <a:bodyPr anchor="b"/>
          <a:lstStyle/>
          <a:p>
            <a:pPr algn="ctr" eaLnBrk="1" hangingPunct="1"/>
            <a:r>
              <a:rPr lang="zh-CN" altLang="en-US" sz="4000" dirty="0">
                <a:latin typeface="方正舒体" panose="02010601030101010101" pitchFamily="2" charset="-122"/>
                <a:ea typeface="方正舒体" panose="02010601030101010101" pitchFamily="2" charset="-122"/>
              </a:rPr>
              <a:t>思考几个问题？</a:t>
            </a:r>
            <a:endParaRPr lang="zh-CN" altLang="en-US" sz="4000" dirty="0">
              <a:latin typeface="方正舒体" panose="02010601030101010101" pitchFamily="2" charset="-122"/>
              <a:ea typeface="方正舒体" panose="02010601030101010101" pitchFamily="2" charset="-122"/>
            </a:endParaRPr>
          </a:p>
        </p:txBody>
      </p:sp>
      <p:sp>
        <p:nvSpPr>
          <p:cNvPr id="4099" name="Text Box 20"/>
          <p:cNvSpPr txBox="1">
            <a:spLocks noChangeArrowheads="1"/>
          </p:cNvSpPr>
          <p:nvPr/>
        </p:nvSpPr>
        <p:spPr bwMode="auto">
          <a:xfrm>
            <a:off x="950384" y="1340768"/>
            <a:ext cx="7895370" cy="4328090"/>
          </a:xfrm>
          <a:prstGeom prst="rect">
            <a:avLst/>
          </a:prstGeom>
          <a:noFill/>
          <a:ln w="9525">
            <a:noFill/>
            <a:miter lim="800000"/>
          </a:ln>
        </p:spPr>
        <p:txBody>
          <a:bodyPr wrap="square" bIns="144000">
            <a:spAutoFit/>
          </a:bodyPr>
          <a:lstStyle/>
          <a:p>
            <a:pPr marL="342900" indent="-342900" algn="l">
              <a:lnSpc>
                <a:spcPct val="120000"/>
              </a:lnSpc>
              <a:spcBef>
                <a:spcPct val="60000"/>
              </a:spcBef>
              <a:buFontTx/>
              <a:buAutoNum type="arabicPeriod"/>
            </a:pPr>
            <a:r>
              <a:rPr lang="zh-CN" altLang="en-US" sz="2800" b="1" dirty="0">
                <a:latin typeface="+mn-lt"/>
                <a:ea typeface="+mj-ea"/>
              </a:rPr>
              <a:t>高级语言程序设计中为什么需要引入</a:t>
            </a:r>
            <a:r>
              <a:rPr lang="zh-CN" altLang="en-US" sz="2800" b="1" dirty="0" smtClean="0">
                <a:latin typeface="+mn-lt"/>
                <a:ea typeface="+mj-ea"/>
              </a:rPr>
              <a:t>函数（</a:t>
            </a:r>
            <a:r>
              <a:rPr lang="zh-CN" altLang="en-US" sz="2800" b="1" dirty="0">
                <a:latin typeface="+mn-lt"/>
                <a:ea typeface="+mj-ea"/>
              </a:rPr>
              <a:t>模块化）的概念？</a:t>
            </a:r>
            <a:endParaRPr lang="zh-CN" altLang="en-US" sz="2800" b="1" dirty="0">
              <a:latin typeface="+mn-lt"/>
              <a:ea typeface="+mj-ea"/>
            </a:endParaRPr>
          </a:p>
          <a:p>
            <a:pPr marL="342900" indent="-342900" algn="l">
              <a:lnSpc>
                <a:spcPct val="120000"/>
              </a:lnSpc>
              <a:spcBef>
                <a:spcPct val="60000"/>
              </a:spcBef>
              <a:buFontTx/>
              <a:buAutoNum type="arabicPeriod"/>
            </a:pPr>
            <a:r>
              <a:rPr lang="zh-CN" altLang="en-US" sz="2800" b="1" dirty="0">
                <a:latin typeface="+mn-lt"/>
                <a:ea typeface="+mj-ea"/>
              </a:rPr>
              <a:t>函数间如何实现数据传递和协同工作？</a:t>
            </a:r>
            <a:endParaRPr lang="zh-CN" altLang="en-US" sz="2800" b="1" dirty="0">
              <a:latin typeface="+mn-lt"/>
              <a:ea typeface="+mj-ea"/>
            </a:endParaRPr>
          </a:p>
          <a:p>
            <a:pPr marL="342900" indent="-342900" algn="l">
              <a:lnSpc>
                <a:spcPct val="120000"/>
              </a:lnSpc>
              <a:spcBef>
                <a:spcPct val="60000"/>
              </a:spcBef>
              <a:buFontTx/>
              <a:buAutoNum type="arabicPeriod"/>
            </a:pPr>
            <a:r>
              <a:rPr lang="en-US" altLang="zh-CN" sz="2800" b="1" dirty="0" smtClean="0">
                <a:latin typeface="+mn-lt"/>
                <a:ea typeface="+mj-ea"/>
              </a:rPr>
              <a:t>C++</a:t>
            </a:r>
            <a:r>
              <a:rPr lang="zh-CN" altLang="en-US" sz="2800" b="1" dirty="0" smtClean="0">
                <a:latin typeface="+mn-lt"/>
                <a:ea typeface="+mj-ea"/>
              </a:rPr>
              <a:t>的函数重载给编程带来哪些好处？</a:t>
            </a:r>
            <a:endParaRPr lang="en-US" altLang="zh-CN" sz="2800" b="1" dirty="0" smtClean="0">
              <a:latin typeface="+mn-lt"/>
              <a:ea typeface="+mj-ea"/>
            </a:endParaRPr>
          </a:p>
          <a:p>
            <a:pPr algn="l">
              <a:lnSpc>
                <a:spcPct val="120000"/>
              </a:lnSpc>
              <a:spcBef>
                <a:spcPct val="60000"/>
              </a:spcBef>
            </a:pPr>
            <a:r>
              <a:rPr lang="zh-CN" altLang="en-US" sz="2800" b="1" dirty="0" smtClean="0">
                <a:solidFill>
                  <a:srgbClr val="FFFF00"/>
                </a:solidFill>
                <a:latin typeface="+mn-lt"/>
                <a:ea typeface="+mj-ea"/>
              </a:rPr>
              <a:t>结构化程序设计中，函数是模块划分的单位；</a:t>
            </a:r>
            <a:endParaRPr lang="en-US" altLang="zh-CN" sz="2800" b="1" dirty="0" smtClean="0">
              <a:solidFill>
                <a:srgbClr val="FFFF00"/>
              </a:solidFill>
              <a:latin typeface="+mn-lt"/>
              <a:ea typeface="+mj-ea"/>
            </a:endParaRPr>
          </a:p>
          <a:p>
            <a:pPr algn="l">
              <a:lnSpc>
                <a:spcPct val="120000"/>
              </a:lnSpc>
              <a:spcBef>
                <a:spcPct val="60000"/>
              </a:spcBef>
            </a:pPr>
            <a:r>
              <a:rPr lang="zh-CN" altLang="en-US" sz="2800" b="1" dirty="0" smtClean="0">
                <a:solidFill>
                  <a:srgbClr val="FFFF00"/>
                </a:solidFill>
                <a:latin typeface="+mn-lt"/>
                <a:ea typeface="+mj-ea"/>
              </a:rPr>
              <a:t>面向对象程序设计中，函数划块</a:t>
            </a:r>
            <a:r>
              <a:rPr lang="en-US" altLang="zh-CN" sz="2800" b="1" dirty="0" smtClean="0">
                <a:solidFill>
                  <a:srgbClr val="FFFF00"/>
                </a:solidFill>
                <a:latin typeface="+mn-lt"/>
                <a:ea typeface="+mj-ea"/>
              </a:rPr>
              <a:t>+</a:t>
            </a:r>
            <a:r>
              <a:rPr lang="zh-CN" altLang="en-US" sz="2800" b="1" dirty="0" smtClean="0">
                <a:solidFill>
                  <a:srgbClr val="FFFF00"/>
                </a:solidFill>
                <a:latin typeface="+mn-lt"/>
                <a:ea typeface="+mj-ea"/>
              </a:rPr>
              <a:t>功能的抽象！</a:t>
            </a:r>
            <a:endParaRPr lang="en-US" altLang="zh-CN" sz="2800" b="1" dirty="0" smtClean="0">
              <a:solidFill>
                <a:srgbClr val="FFFF00"/>
              </a:solidFill>
              <a:latin typeface="+mn-lt"/>
              <a:ea typeface="+mj-ea"/>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267744" y="476672"/>
            <a:ext cx="6400800" cy="5692346"/>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rmAutofit fontScale="92500" lnSpcReduction="10000"/>
          </a:bodyPr>
          <a:lstStyle/>
          <a:p>
            <a:pPr>
              <a:lnSpc>
                <a:spcPct val="150000"/>
              </a:lnSpc>
              <a:spcBef>
                <a:spcPts val="600"/>
              </a:spcBef>
              <a:buClr>
                <a:schemeClr val="tx1"/>
              </a:buClr>
              <a:buFont typeface="Monotype Sorts" pitchFamily="2" charset="2"/>
              <a:buChar char="&amp;"/>
            </a:pPr>
            <a:r>
              <a:rPr lang="zh-CN" altLang="en-US" sz="3600" b="1" dirty="0">
                <a:latin typeface="华文中宋" panose="02010600040101010101" pitchFamily="2" charset="-122"/>
                <a:ea typeface="华文中宋" panose="02010600040101010101" pitchFamily="2" charset="-122"/>
              </a:rPr>
              <a:t> </a:t>
            </a: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函数的定义与使用</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en-US" altLang="zh-CN" sz="3600" b="1" dirty="0" err="1" smtClean="0">
                <a:latin typeface="华文中宋" panose="02010600040101010101" pitchFamily="2" charset="-122"/>
                <a:ea typeface="华文中宋" panose="02010600040101010101" pitchFamily="2" charset="-122"/>
              </a:rPr>
              <a:t>constexpr</a:t>
            </a:r>
            <a:r>
              <a:rPr lang="zh-CN" altLang="en-US" sz="3600" b="1" dirty="0" smtClean="0">
                <a:latin typeface="华文中宋" panose="02010600040101010101" pitchFamily="2" charset="-122"/>
                <a:ea typeface="华文中宋" panose="02010600040101010101" pitchFamily="2" charset="-122"/>
              </a:rPr>
              <a:t>函数</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内联函数</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带默认参数值的函数</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函数重载</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使用</a:t>
            </a:r>
            <a:r>
              <a:rPr lang="en-US" altLang="zh-CN" sz="3600" b="1" dirty="0" smtClean="0">
                <a:latin typeface="华文中宋" panose="02010600040101010101" pitchFamily="2" charset="-122"/>
                <a:ea typeface="华文中宋" panose="02010600040101010101" pitchFamily="2" charset="-122"/>
              </a:rPr>
              <a:t>C++</a:t>
            </a:r>
            <a:r>
              <a:rPr lang="zh-CN" altLang="en-US" sz="3600" b="1" dirty="0" smtClean="0">
                <a:latin typeface="华文中宋" panose="02010600040101010101" pitchFamily="2" charset="-122"/>
                <a:ea typeface="华文中宋" panose="02010600040101010101" pitchFamily="2" charset="-122"/>
              </a:rPr>
              <a:t>系统函数</a:t>
            </a:r>
            <a:endParaRPr lang="en-US" altLang="zh-CN" sz="36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深度探索</a:t>
            </a:r>
            <a:endParaRPr lang="en-US" altLang="zh-CN" sz="3600" b="1" dirty="0" smtClean="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270662"/>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244827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buFont typeface="+mj-lt"/>
              <a:buAutoNum type="arabicPeriod"/>
            </a:pPr>
            <a:r>
              <a:rPr lang="zh-CN" altLang="en-US" sz="6000" b="1" dirty="0" smtClean="0">
                <a:ea typeface="华文彩云" panose="02010800040101010101" pitchFamily="2" charset="-122"/>
              </a:rPr>
              <a:t>函数的  </a:t>
            </a:r>
            <a:br>
              <a:rPr lang="en-US" altLang="zh-CN" sz="6000" b="1" dirty="0" smtClean="0">
                <a:ea typeface="华文彩云" panose="02010800040101010101" pitchFamily="2" charset="-122"/>
              </a:rPr>
            </a:br>
            <a:r>
              <a:rPr lang="en-US" altLang="zh-CN" sz="6000" b="1" dirty="0" smtClean="0">
                <a:ea typeface="华文彩云" panose="02010800040101010101" pitchFamily="2" charset="-122"/>
              </a:rPr>
              <a:t>      </a:t>
            </a:r>
            <a:r>
              <a:rPr lang="zh-CN" altLang="en-US" sz="6000" b="1" dirty="0" smtClean="0">
                <a:ea typeface="华文彩云" panose="02010800040101010101" pitchFamily="2" charset="-122"/>
              </a:rPr>
              <a:t>定义  </a:t>
            </a:r>
            <a:r>
              <a:rPr lang="en-US" altLang="zh-CN" sz="4800" b="1" dirty="0" smtClean="0">
                <a:ea typeface="华文彩云" panose="02010800040101010101" pitchFamily="2" charset="-122"/>
              </a:rPr>
              <a:t>&amp; </a:t>
            </a:r>
            <a:r>
              <a:rPr lang="zh-CN" altLang="en-US" sz="6000" b="1" dirty="0" smtClean="0">
                <a:ea typeface="华文彩云" panose="02010800040101010101" pitchFamily="2" charset="-122"/>
              </a:rPr>
              <a:t>使用</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971600" y="1484784"/>
            <a:ext cx="7777163" cy="1943100"/>
          </a:xfrm>
          <a:noFill/>
          <a:ln w="19050">
            <a:solidFill>
              <a:srgbClr val="FFC000"/>
            </a:solidFill>
          </a:ln>
        </p:spPr>
        <p:txBody>
          <a:bodyPr/>
          <a:lstStyle/>
          <a:p>
            <a:pPr marL="358775" indent="0" eaLnBrk="1" hangingPunct="1">
              <a:buFont typeface="Wingdings" panose="05000000000000000000" pitchFamily="2" charset="2"/>
              <a:buNone/>
            </a:pPr>
            <a:r>
              <a:rPr lang="en-US" altLang="zh-CN" sz="2600" b="1" dirty="0" smtClean="0">
                <a:solidFill>
                  <a:srgbClr val="FFFF00"/>
                </a:solidFill>
                <a:latin typeface="Times New Roman" panose="02020603050405020304" pitchFamily="18" charset="0"/>
                <a:ea typeface="华文楷体" panose="02010600040101010101" pitchFamily="2" charset="-122"/>
              </a:rPr>
              <a:t> return-value-type  function-name(parameter list)</a:t>
            </a:r>
            <a:endParaRPr lang="en-US" altLang="zh-CN" sz="2600" b="1" dirty="0" smtClean="0">
              <a:solidFill>
                <a:srgbClr val="FFFF00"/>
              </a:solidFill>
              <a:latin typeface="Times New Roman" panose="02020603050405020304" pitchFamily="18" charset="0"/>
              <a:ea typeface="华文楷体" panose="02010600040101010101" pitchFamily="2" charset="-122"/>
            </a:endParaRPr>
          </a:p>
          <a:p>
            <a:pPr marL="358775" indent="0" eaLnBrk="1" hangingPunct="1">
              <a:buFont typeface="Wingdings" panose="05000000000000000000" pitchFamily="2" charset="2"/>
              <a:buNone/>
            </a:pPr>
            <a:r>
              <a:rPr lang="en-US" altLang="zh-CN" sz="2600" b="1" dirty="0" smtClean="0">
                <a:solidFill>
                  <a:srgbClr val="FFFF00"/>
                </a:solidFill>
                <a:latin typeface="Times New Roman" panose="02020603050405020304" pitchFamily="18" charset="0"/>
                <a:ea typeface="华文楷体" panose="02010600040101010101" pitchFamily="2" charset="-122"/>
              </a:rPr>
              <a:t>{</a:t>
            </a:r>
            <a:endParaRPr lang="en-US" altLang="zh-CN" sz="2600" b="1" dirty="0" smtClean="0">
              <a:solidFill>
                <a:srgbClr val="FFFF00"/>
              </a:solidFill>
              <a:latin typeface="Times New Roman" panose="02020603050405020304" pitchFamily="18" charset="0"/>
              <a:ea typeface="华文楷体" panose="02010600040101010101" pitchFamily="2" charset="-122"/>
            </a:endParaRPr>
          </a:p>
          <a:p>
            <a:pPr marL="358775" indent="0" eaLnBrk="1" hangingPunct="1">
              <a:buFont typeface="Wingdings" panose="05000000000000000000" pitchFamily="2" charset="2"/>
              <a:buNone/>
            </a:pPr>
            <a:r>
              <a:rPr lang="en-US" altLang="zh-CN" sz="2600" b="1" dirty="0" smtClean="0">
                <a:solidFill>
                  <a:srgbClr val="FFFF00"/>
                </a:solidFill>
                <a:latin typeface="Times New Roman" panose="02020603050405020304" pitchFamily="18" charset="0"/>
                <a:ea typeface="华文楷体" panose="02010600040101010101" pitchFamily="2" charset="-122"/>
              </a:rPr>
              <a:t>	body of function</a:t>
            </a:r>
            <a:endParaRPr lang="en-US" altLang="zh-CN" sz="2600" b="1" dirty="0" smtClean="0">
              <a:solidFill>
                <a:srgbClr val="FFFF00"/>
              </a:solidFill>
              <a:latin typeface="Times New Roman" panose="02020603050405020304" pitchFamily="18" charset="0"/>
              <a:ea typeface="华文楷体" panose="02010600040101010101" pitchFamily="2" charset="-122"/>
            </a:endParaRPr>
          </a:p>
          <a:p>
            <a:pPr marL="358775" indent="0" eaLnBrk="1" hangingPunct="1">
              <a:buFont typeface="Wingdings" panose="05000000000000000000" pitchFamily="2" charset="2"/>
              <a:buNone/>
            </a:pPr>
            <a:r>
              <a:rPr lang="en-US" altLang="zh-CN" sz="2600" b="1" dirty="0" smtClean="0">
                <a:solidFill>
                  <a:srgbClr val="FFFF00"/>
                </a:solidFill>
                <a:latin typeface="Times New Roman" panose="02020603050405020304" pitchFamily="18" charset="0"/>
                <a:ea typeface="华文楷体" panose="02010600040101010101" pitchFamily="2" charset="-122"/>
              </a:rPr>
              <a:t>}  </a:t>
            </a:r>
            <a:endParaRPr lang="en-US" altLang="zh-CN" sz="2800" b="1" dirty="0" smtClean="0">
              <a:solidFill>
                <a:srgbClr val="FFFF00"/>
              </a:solidFill>
              <a:latin typeface="Times New Roman" panose="02020603050405020304" pitchFamily="18" charset="0"/>
              <a:ea typeface="华文楷体" panose="02010600040101010101" pitchFamily="2" charset="-122"/>
            </a:endParaRPr>
          </a:p>
        </p:txBody>
      </p:sp>
      <p:sp>
        <p:nvSpPr>
          <p:cNvPr id="16388" name="Rectangle 5"/>
          <p:cNvSpPr>
            <a:spLocks noChangeArrowheads="1"/>
          </p:cNvSpPr>
          <p:nvPr/>
        </p:nvSpPr>
        <p:spPr bwMode="auto">
          <a:xfrm>
            <a:off x="1078409" y="3501008"/>
            <a:ext cx="8065591" cy="2862322"/>
          </a:xfrm>
          <a:prstGeom prst="rect">
            <a:avLst/>
          </a:prstGeom>
          <a:noFill/>
          <a:ln w="12700" algn="ctr">
            <a:noFill/>
            <a:miter lim="800000"/>
          </a:ln>
        </p:spPr>
        <p:txBody>
          <a:bodyPr wrap="square" lIns="0" rIns="0">
            <a:spAutoFit/>
          </a:bodyPr>
          <a:lstStyle/>
          <a:p>
            <a:pPr algn="l" eaLnBrk="1" hangingPunct="1">
              <a:lnSpc>
                <a:spcPct val="150000"/>
              </a:lnSpc>
              <a:buClr>
                <a:schemeClr val="accent2"/>
              </a:buClr>
              <a:buSzPct val="70000"/>
              <a:buFont typeface="Wingdings" panose="05000000000000000000" pitchFamily="2" charset="2"/>
              <a:buNone/>
            </a:pPr>
            <a:r>
              <a:rPr lang="en-US" altLang="zh-CN" sz="2000" b="1" dirty="0">
                <a:solidFill>
                  <a:srgbClr val="FFFF00"/>
                </a:solidFill>
                <a:latin typeface="微软雅黑" panose="020B0503020204020204" pitchFamily="34" charset="-122"/>
                <a:ea typeface="微软雅黑" panose="020B0503020204020204" pitchFamily="34" charset="-122"/>
              </a:rPr>
              <a:t>return-value-type</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函数返回值的数据类型</a:t>
            </a:r>
            <a:r>
              <a:rPr lang="zh-CN" altLang="en-US" sz="2000" b="1" dirty="0" smtClean="0">
                <a:latin typeface="微软雅黑" panose="020B0503020204020204" pitchFamily="34" charset="-122"/>
                <a:ea typeface="微软雅黑" panose="020B0503020204020204" pitchFamily="34" charset="-122"/>
              </a:rPr>
              <a:t>；没有返回值写</a:t>
            </a:r>
            <a:r>
              <a:rPr lang="en-US" altLang="zh-CN" sz="2000" b="1" dirty="0" smtClean="0">
                <a:solidFill>
                  <a:srgbClr val="FFFF00"/>
                </a:solidFill>
                <a:latin typeface="微软雅黑" panose="020B0503020204020204" pitchFamily="34" charset="-122"/>
                <a:ea typeface="微软雅黑" panose="020B0503020204020204" pitchFamily="34" charset="-122"/>
              </a:rPr>
              <a:t>void</a:t>
            </a:r>
            <a:r>
              <a:rPr lang="en-US" altLang="zh-CN"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algn="l" eaLnBrk="1" hangingPunct="1">
              <a:lnSpc>
                <a:spcPct val="150000"/>
              </a:lnSpc>
              <a:buClr>
                <a:schemeClr val="accent2"/>
              </a:buClr>
              <a:buSzPct val="70000"/>
              <a:buFont typeface="Wingdings" panose="05000000000000000000" pitchFamily="2" charset="2"/>
              <a:buNone/>
            </a:pPr>
            <a:r>
              <a:rPr lang="en-US" altLang="zh-CN" sz="2000" b="1" dirty="0">
                <a:solidFill>
                  <a:srgbClr val="FFFF00"/>
                </a:solidFill>
                <a:latin typeface="微软雅黑" panose="020B0503020204020204" pitchFamily="34" charset="-122"/>
                <a:ea typeface="微软雅黑" panose="020B0503020204020204" pitchFamily="34" charset="-122"/>
              </a:rPr>
              <a:t>function-name</a:t>
            </a:r>
            <a:r>
              <a:rPr lang="zh-CN" altLang="en-US" sz="2000" b="1" dirty="0">
                <a:latin typeface="微软雅黑" panose="020B0503020204020204" pitchFamily="34" charset="-122"/>
                <a:ea typeface="微软雅黑" panose="020B0503020204020204" pitchFamily="34" charset="-122"/>
              </a:rPr>
              <a:t>：函数名；</a:t>
            </a:r>
            <a:endParaRPr lang="zh-CN" altLang="en-US" sz="2000" b="1" dirty="0">
              <a:latin typeface="微软雅黑" panose="020B0503020204020204" pitchFamily="34" charset="-122"/>
              <a:ea typeface="微软雅黑" panose="020B0503020204020204" pitchFamily="34" charset="-122"/>
            </a:endParaRPr>
          </a:p>
          <a:p>
            <a:pPr algn="l" eaLnBrk="1" hangingPunct="1">
              <a:lnSpc>
                <a:spcPct val="150000"/>
              </a:lnSpc>
              <a:buClr>
                <a:schemeClr val="accent2"/>
              </a:buClr>
              <a:buSzPct val="70000"/>
              <a:buFont typeface="Wingdings" panose="05000000000000000000" pitchFamily="2" charset="2"/>
              <a:buNone/>
            </a:pPr>
            <a:r>
              <a:rPr lang="en-US" altLang="zh-CN" sz="2000" b="1" dirty="0">
                <a:solidFill>
                  <a:srgbClr val="FFFF00"/>
                </a:solidFill>
                <a:latin typeface="微软雅黑" panose="020B0503020204020204" pitchFamily="34" charset="-122"/>
                <a:ea typeface="微软雅黑" panose="020B0503020204020204" pitchFamily="34" charset="-122"/>
              </a:rPr>
              <a:t>parameter list</a:t>
            </a:r>
            <a:r>
              <a:rPr lang="zh-CN" altLang="en-US" sz="2000" b="1" dirty="0" smtClean="0">
                <a:latin typeface="微软雅黑" panose="020B0503020204020204" pitchFamily="34" charset="-122"/>
                <a:ea typeface="微软雅黑" panose="020B0503020204020204" pitchFamily="34" charset="-122"/>
              </a:rPr>
              <a:t>：形式参数</a:t>
            </a:r>
            <a:r>
              <a:rPr lang="zh-CN" altLang="en-US" sz="2000" b="1" dirty="0">
                <a:latin typeface="微软雅黑" panose="020B0503020204020204" pitchFamily="34" charset="-122"/>
                <a:ea typeface="微软雅黑" panose="020B0503020204020204" pitchFamily="34" charset="-122"/>
              </a:rPr>
              <a:t>表，用逗号间隔</a:t>
            </a:r>
            <a:r>
              <a:rPr lang="zh-CN" altLang="en-US" sz="2000" b="1" dirty="0" smtClean="0">
                <a:latin typeface="微软雅黑" panose="020B0503020204020204" pitchFamily="34" charset="-122"/>
                <a:ea typeface="微软雅黑" panose="020B0503020204020204" pitchFamily="34" charset="-122"/>
              </a:rPr>
              <a:t>；</a:t>
            </a:r>
            <a:br>
              <a:rPr lang="en-US" altLang="zh-CN" sz="2000" b="1" dirty="0" smtClean="0">
                <a:latin typeface="微软雅黑" panose="020B0503020204020204" pitchFamily="34" charset="-122"/>
                <a:ea typeface="微软雅黑" panose="020B0503020204020204" pitchFamily="34" charset="-122"/>
              </a:rPr>
            </a:br>
            <a:r>
              <a:rPr lang="zh-CN" altLang="en-US" sz="2000" b="1" dirty="0" smtClean="0">
                <a:latin typeface="微软雅黑" panose="020B0503020204020204" pitchFamily="34" charset="-122"/>
                <a:ea typeface="微软雅黑" panose="020B0503020204020204" pitchFamily="34" charset="-122"/>
              </a:rPr>
              <a:t>函数</a:t>
            </a:r>
            <a:r>
              <a:rPr lang="zh-CN" altLang="en-US" sz="2000" b="1" dirty="0">
                <a:latin typeface="微软雅黑" panose="020B0503020204020204" pitchFamily="34" charset="-122"/>
                <a:ea typeface="微软雅黑" panose="020B0503020204020204" pitchFamily="34" charset="-122"/>
              </a:rPr>
              <a:t>参数在函数调用时接收由调用者传入的变元值</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algn="l">
              <a:lnSpc>
                <a:spcPct val="150000"/>
              </a:lnSpc>
              <a:buClr>
                <a:schemeClr val="accent2"/>
              </a:buClr>
              <a:buSzPct val="70000"/>
            </a:pPr>
            <a:r>
              <a:rPr lang="zh-CN" altLang="en-US" sz="2000" b="1" dirty="0" smtClean="0">
                <a:latin typeface="微软雅黑" panose="020B0503020204020204" pitchFamily="34" charset="-122"/>
                <a:ea typeface="微软雅黑" panose="020B0503020204020204" pitchFamily="34" charset="-122"/>
              </a:rPr>
              <a:t>形参是被初始化的内部变量，寿命和可见性仅限于函数内部</a:t>
            </a:r>
            <a:endParaRPr lang="zh-CN" altLang="en-US" sz="2000" b="1" dirty="0" smtClean="0">
              <a:latin typeface="微软雅黑" panose="020B0503020204020204" pitchFamily="34" charset="-122"/>
              <a:ea typeface="微软雅黑" panose="020B0503020204020204" pitchFamily="34" charset="-122"/>
            </a:endParaRPr>
          </a:p>
          <a:p>
            <a:pPr algn="l" eaLnBrk="1" hangingPunct="1">
              <a:lnSpc>
                <a:spcPct val="150000"/>
              </a:lnSpc>
              <a:buClr>
                <a:schemeClr val="accent2"/>
              </a:buClr>
              <a:buSzPct val="70000"/>
              <a:buFont typeface="Wingdings" panose="05000000000000000000" pitchFamily="2" charset="2"/>
              <a:buNone/>
            </a:pPr>
            <a:r>
              <a:rPr lang="en-US" altLang="zh-CN" sz="2000" b="1" dirty="0" smtClean="0">
                <a:solidFill>
                  <a:srgbClr val="FFFF00"/>
                </a:solidFill>
                <a:latin typeface="微软雅黑" panose="020B0503020204020204" pitchFamily="34" charset="-122"/>
                <a:ea typeface="微软雅黑" panose="020B0503020204020204" pitchFamily="34" charset="-122"/>
              </a:rPr>
              <a:t>body </a:t>
            </a:r>
            <a:r>
              <a:rPr lang="en-US" altLang="zh-CN" sz="2000" b="1" dirty="0">
                <a:solidFill>
                  <a:srgbClr val="FFFF00"/>
                </a:solidFill>
                <a:latin typeface="微软雅黑" panose="020B0503020204020204" pitchFamily="34" charset="-122"/>
                <a:ea typeface="微软雅黑" panose="020B0503020204020204" pitchFamily="34" charset="-122"/>
              </a:rPr>
              <a:t>of </a:t>
            </a:r>
            <a:r>
              <a:rPr lang="en-US" altLang="zh-CN" sz="2000" b="1" dirty="0" err="1">
                <a:solidFill>
                  <a:srgbClr val="FFFF00"/>
                </a:solidFill>
                <a:latin typeface="微软雅黑" panose="020B0503020204020204" pitchFamily="34" charset="-122"/>
                <a:ea typeface="微软雅黑" panose="020B0503020204020204" pitchFamily="34" charset="-122"/>
              </a:rPr>
              <a:t>funcation</a:t>
            </a:r>
            <a:r>
              <a:rPr lang="zh-CN" altLang="en-US" sz="2000" b="1" dirty="0">
                <a:latin typeface="微软雅黑" panose="020B0503020204020204" pitchFamily="34" charset="-122"/>
                <a:ea typeface="微软雅黑" panose="020B0503020204020204" pitchFamily="34" charset="-122"/>
              </a:rPr>
              <a:t>：函数体。  </a:t>
            </a:r>
            <a:endParaRPr lang="zh-CN" altLang="en-US" sz="2000" b="1" dirty="0">
              <a:latin typeface="微软雅黑" panose="020B0503020204020204" pitchFamily="34" charset="-122"/>
              <a:ea typeface="微软雅黑" panose="020B0503020204020204" pitchFamily="34" charset="-122"/>
            </a:endParaRPr>
          </a:p>
        </p:txBody>
      </p:sp>
      <p:sp>
        <p:nvSpPr>
          <p:cNvPr id="6" name="标题 1"/>
          <p:cNvSpPr txBox="1"/>
          <p:nvPr/>
        </p:nvSpPr>
        <p:spPr>
          <a:xfrm>
            <a:off x="781050" y="517529"/>
            <a:ext cx="7886700" cy="1325563"/>
          </a:xfrm>
          <a:prstGeom prst="rect">
            <a:avLst/>
          </a:prstGeom>
          <a:noFill/>
          <a:ln>
            <a:noFill/>
          </a:ln>
        </p:spPr>
        <p:txBody>
          <a:bodyPr anchor="t"/>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rPr>
              <a:t>3.1.1 </a:t>
            </a:r>
            <a:r>
              <a:rPr kumimoji="1" lang="zh-CN" altLang="en-US"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rPr>
              <a:t>函数定义</a:t>
            </a:r>
            <a:endParaRPr kumimoji="1" lang="zh-CN" altLang="en-US"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noFill/>
          <a:ln>
            <a:noFill/>
          </a:ln>
        </p:spPr>
        <p:txBody>
          <a:bodyPr anchor="t"/>
          <a:lstStyle/>
          <a:p>
            <a:pPr algn="ctr" eaLnBrk="1" hangingPunct="1"/>
            <a:r>
              <a:rPr lang="en-US" altLang="zh-CN" sz="4400" b="1" dirty="0" smtClean="0">
                <a:solidFill>
                  <a:srgbClr val="FFFFFF"/>
                </a:solidFill>
                <a:latin typeface="Times New Roman" panose="02020603050405020304" pitchFamily="18" charset="0"/>
                <a:ea typeface="隶书" panose="02010509060101010101" pitchFamily="49" charset="-122"/>
                <a:cs typeface="+mn-cs"/>
              </a:rPr>
              <a:t>3.1.1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函数定义（续）</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3" name="内容占位符 2"/>
          <p:cNvSpPr>
            <a:spLocks noGrp="1"/>
          </p:cNvSpPr>
          <p:nvPr>
            <p:ph idx="1"/>
          </p:nvPr>
        </p:nvSpPr>
        <p:spPr>
          <a:xfrm>
            <a:off x="611560" y="1556792"/>
            <a:ext cx="8532440" cy="4351338"/>
          </a:xfrm>
        </p:spPr>
        <p:txBody>
          <a:bodyPr>
            <a:normAutofit fontScale="92500" lnSpcReduction="10000"/>
          </a:bodyPr>
          <a:lstStyle/>
          <a:p>
            <a:pPr marL="365760" indent="-255905" eaLnBrk="1" fontAlgn="auto" hangingPunct="1">
              <a:lnSpc>
                <a:spcPct val="150000"/>
              </a:lnSpc>
              <a:spcAft>
                <a:spcPts val="0"/>
              </a:spcAft>
              <a:buClr>
                <a:srgbClr val="00B0F0"/>
              </a:buClr>
              <a:buFont typeface="Wingdings" panose="05000000000000000000" pitchFamily="2" charset="2"/>
              <a:buChar char="u"/>
              <a:defRPr/>
            </a:pPr>
            <a:r>
              <a:rPr lang="zh-CN" altLang="en-US" sz="2400" b="1" dirty="0" smtClean="0">
                <a:latin typeface="微软雅黑" panose="020B0503020204020204" pitchFamily="34" charset="-122"/>
                <a:ea typeface="微软雅黑" panose="020B0503020204020204" pitchFamily="34" charset="-122"/>
              </a:rPr>
              <a:t>  形式参数表</a:t>
            </a:r>
            <a:endParaRPr lang="zh-CN" altLang="en-US" sz="2400" b="1" dirty="0" smtClean="0">
              <a:latin typeface="微软雅黑" panose="020B0503020204020204" pitchFamily="34" charset="-122"/>
              <a:ea typeface="微软雅黑" panose="020B0503020204020204" pitchFamily="34" charset="-122"/>
            </a:endParaRPr>
          </a:p>
          <a:p>
            <a:pPr marL="658495" lvl="1" indent="-247015" eaLnBrk="1" fontAlgn="auto" hangingPunct="1">
              <a:lnSpc>
                <a:spcPct val="150000"/>
              </a:lnSpc>
              <a:spcAft>
                <a:spcPts val="0"/>
              </a:spcAft>
              <a:buFont typeface="Georgia" panose="02040502050405020303"/>
              <a:buNone/>
              <a:defRPr/>
            </a:pPr>
            <a:r>
              <a:rPr lang="en-US" altLang="zh-CN" sz="2400" b="1" noProof="1" smtClean="0">
                <a:solidFill>
                  <a:srgbClr val="FFFF00"/>
                </a:solidFill>
                <a:latin typeface="微软雅黑" panose="020B0503020204020204" pitchFamily="34" charset="-122"/>
                <a:ea typeface="微软雅黑" panose="020B0503020204020204" pitchFamily="34" charset="-122"/>
              </a:rPr>
              <a:t>&lt;type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1</a:t>
            </a:r>
            <a:r>
              <a:rPr lang="en-US" altLang="zh-CN" sz="2400" b="1" noProof="1" smtClean="0">
                <a:solidFill>
                  <a:srgbClr val="FFFF00"/>
                </a:solidFill>
                <a:latin typeface="微软雅黑" panose="020B0503020204020204" pitchFamily="34" charset="-122"/>
                <a:ea typeface="微软雅黑" panose="020B0503020204020204" pitchFamily="34" charset="-122"/>
              </a:rPr>
              <a:t>&gt; name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1</a:t>
            </a:r>
            <a:r>
              <a:rPr lang="en-US" altLang="zh-CN" sz="2400" b="1" noProof="1" smtClean="0">
                <a:solidFill>
                  <a:srgbClr val="FFFF00"/>
                </a:solidFill>
                <a:latin typeface="微软雅黑" panose="020B0503020204020204" pitchFamily="34" charset="-122"/>
                <a:ea typeface="微软雅黑" panose="020B0503020204020204" pitchFamily="34" charset="-122"/>
              </a:rPr>
              <a:t>, &lt;type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2</a:t>
            </a:r>
            <a:r>
              <a:rPr lang="en-US" altLang="zh-CN" sz="2400" b="1" noProof="1" smtClean="0">
                <a:solidFill>
                  <a:srgbClr val="FFFF00"/>
                </a:solidFill>
                <a:latin typeface="微软雅黑" panose="020B0503020204020204" pitchFamily="34" charset="-122"/>
                <a:ea typeface="微软雅黑" panose="020B0503020204020204" pitchFamily="34" charset="-122"/>
              </a:rPr>
              <a:t>&gt; name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2</a:t>
            </a:r>
            <a:r>
              <a:rPr lang="en-US" altLang="zh-CN" sz="2400" b="1" noProof="1" smtClean="0">
                <a:solidFill>
                  <a:srgbClr val="FFFF00"/>
                </a:solidFill>
                <a:latin typeface="微软雅黑" panose="020B0503020204020204" pitchFamily="34" charset="-122"/>
                <a:ea typeface="微软雅黑" panose="020B0503020204020204" pitchFamily="34" charset="-122"/>
              </a:rPr>
              <a:t>, ..., &lt;type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n</a:t>
            </a:r>
            <a:r>
              <a:rPr lang="en-US" altLang="zh-CN" sz="2400" b="1" noProof="1" smtClean="0">
                <a:solidFill>
                  <a:srgbClr val="FFFF00"/>
                </a:solidFill>
                <a:latin typeface="微软雅黑" panose="020B0503020204020204" pitchFamily="34" charset="-122"/>
                <a:ea typeface="微软雅黑" panose="020B0503020204020204" pitchFamily="34" charset="-122"/>
              </a:rPr>
              <a:t>&gt; name</a:t>
            </a:r>
            <a:r>
              <a:rPr lang="en-US" altLang="zh-CN" sz="2400" b="1" baseline="-25000" noProof="1" smtClean="0">
                <a:solidFill>
                  <a:srgbClr val="FFFF00"/>
                </a:solidFill>
                <a:latin typeface="微软雅黑" panose="020B0503020204020204" pitchFamily="34" charset="-122"/>
                <a:ea typeface="微软雅黑" panose="020B0503020204020204" pitchFamily="34" charset="-122"/>
              </a:rPr>
              <a:t>n</a:t>
            </a:r>
            <a:br>
              <a:rPr lang="en-US" altLang="zh-CN" sz="2400" b="1" baseline="-25000" noProof="1" smtClean="0">
                <a:solidFill>
                  <a:srgbClr val="FFFF00"/>
                </a:solidFill>
                <a:latin typeface="微软雅黑" panose="020B0503020204020204" pitchFamily="34" charset="-122"/>
                <a:ea typeface="微软雅黑" panose="020B0503020204020204" pitchFamily="34" charset="-122"/>
              </a:rPr>
            </a:br>
            <a:br>
              <a:rPr lang="en-US" altLang="zh-CN" sz="2400" b="1" baseline="-25000" noProof="1" smtClean="0">
                <a:solidFill>
                  <a:srgbClr val="FFFF00"/>
                </a:solidFill>
                <a:latin typeface="微软雅黑" panose="020B0503020204020204" pitchFamily="34" charset="-122"/>
                <a:ea typeface="微软雅黑" panose="020B0503020204020204" pitchFamily="34" charset="-122"/>
              </a:rPr>
            </a:br>
            <a:endParaRPr lang="en-US" altLang="zh-CN" sz="2400" b="1" baseline="-25000" noProof="1" smtClean="0">
              <a:solidFill>
                <a:srgbClr val="FFFF00"/>
              </a:solidFill>
              <a:latin typeface="微软雅黑" panose="020B0503020204020204" pitchFamily="34" charset="-122"/>
              <a:ea typeface="微软雅黑" panose="020B0503020204020204" pitchFamily="34" charset="-122"/>
            </a:endParaRPr>
          </a:p>
          <a:p>
            <a:pPr marL="365760" indent="-255905" eaLnBrk="1" fontAlgn="auto" hangingPunct="1">
              <a:lnSpc>
                <a:spcPct val="150000"/>
              </a:lnSpc>
              <a:spcAft>
                <a:spcPts val="0"/>
              </a:spcAft>
              <a:buClr>
                <a:srgbClr val="00B0F0"/>
              </a:buClr>
              <a:buFont typeface="Wingdings" panose="05000000000000000000" pitchFamily="2" charset="2"/>
              <a:buChar char="u"/>
              <a:defRPr/>
            </a:pPr>
            <a:r>
              <a:rPr lang="zh-CN" altLang="en-US" sz="2400" b="1" dirty="0" smtClean="0">
                <a:latin typeface="微软雅黑" panose="020B0503020204020204" pitchFamily="34" charset="-122"/>
                <a:ea typeface="微软雅黑" panose="020B0503020204020204" pitchFamily="34" charset="-122"/>
              </a:rPr>
              <a:t>函数的返回值</a:t>
            </a:r>
            <a:endParaRPr lang="zh-CN" altLang="en-US" sz="2400" b="1" dirty="0" smtClean="0">
              <a:latin typeface="微软雅黑" panose="020B0503020204020204" pitchFamily="34" charset="-122"/>
              <a:ea typeface="微软雅黑" panose="020B0503020204020204" pitchFamily="34" charset="-122"/>
            </a:endParaRPr>
          </a:p>
          <a:p>
            <a:pPr marL="658495" lvl="1" indent="-247015" eaLnBrk="1" fontAlgn="auto" hangingPunct="1">
              <a:lnSpc>
                <a:spcPct val="150000"/>
              </a:lnSpc>
              <a:spcAft>
                <a:spcPts val="0"/>
              </a:spcAft>
              <a:buFont typeface="Wingdings" panose="05000000000000000000" pitchFamily="2" charset="2"/>
              <a:buChar char="ü"/>
              <a:defRPr/>
            </a:pPr>
            <a:r>
              <a:rPr lang="zh-CN" altLang="en-US" sz="2400" b="1" dirty="0" smtClean="0">
                <a:latin typeface="微软雅黑" panose="020B0503020204020204" pitchFamily="34" charset="-122"/>
                <a:ea typeface="微软雅黑" panose="020B0503020204020204" pitchFamily="34" charset="-122"/>
              </a:rPr>
              <a:t>由 </a:t>
            </a:r>
            <a:r>
              <a:rPr lang="en-US" altLang="zh-CN" sz="2400" b="1" dirty="0" smtClean="0">
                <a:latin typeface="微软雅黑" panose="020B0503020204020204" pitchFamily="34" charset="-122"/>
                <a:ea typeface="微软雅黑" panose="020B0503020204020204" pitchFamily="34" charset="-122"/>
              </a:rPr>
              <a:t>return </a:t>
            </a:r>
            <a:r>
              <a:rPr lang="zh-CN" altLang="en-US" sz="2400" b="1" dirty="0" smtClean="0">
                <a:latin typeface="微软雅黑" panose="020B0503020204020204" pitchFamily="34" charset="-122"/>
                <a:ea typeface="微软雅黑" panose="020B0503020204020204" pitchFamily="34" charset="-122"/>
              </a:rPr>
              <a:t>语句给出，例如：</a:t>
            </a:r>
            <a:r>
              <a:rPr lang="en-US" altLang="zh-CN" sz="2400" b="1" dirty="0" smtClean="0">
                <a:latin typeface="微软雅黑" panose="020B0503020204020204" pitchFamily="34" charset="-122"/>
                <a:ea typeface="微软雅黑" panose="020B0503020204020204" pitchFamily="34" charset="-122"/>
              </a:rPr>
              <a:t>return  0</a:t>
            </a:r>
            <a:endParaRPr lang="en-US" altLang="zh-CN" sz="2400" b="1" dirty="0" smtClean="0">
              <a:latin typeface="微软雅黑" panose="020B0503020204020204" pitchFamily="34" charset="-122"/>
              <a:ea typeface="微软雅黑" panose="020B0503020204020204" pitchFamily="34" charset="-122"/>
            </a:endParaRPr>
          </a:p>
          <a:p>
            <a:pPr marL="658495" lvl="1" indent="-247015" eaLnBrk="1" fontAlgn="auto" hangingPunct="1">
              <a:lnSpc>
                <a:spcPct val="150000"/>
              </a:lnSpc>
              <a:spcAft>
                <a:spcPts val="0"/>
              </a:spcAft>
              <a:buFont typeface="Wingdings" panose="05000000000000000000" pitchFamily="2" charset="2"/>
              <a:buChar char="ü"/>
              <a:defRPr/>
            </a:pPr>
            <a:r>
              <a:rPr lang="zh-CN" altLang="en-US" sz="2400" b="1" dirty="0" smtClean="0">
                <a:latin typeface="微软雅黑" panose="020B0503020204020204" pitchFamily="34" charset="-122"/>
                <a:ea typeface="微软雅黑" panose="020B0503020204020204" pitchFamily="34" charset="-122"/>
              </a:rPr>
              <a:t>无返回值的函数（</a:t>
            </a:r>
            <a:r>
              <a:rPr lang="en-US" altLang="zh-CN" sz="2400" b="1" dirty="0" smtClean="0">
                <a:latin typeface="微软雅黑" panose="020B0503020204020204" pitchFamily="34" charset="-122"/>
                <a:ea typeface="微软雅黑" panose="020B0503020204020204" pitchFamily="34" charset="-122"/>
              </a:rPr>
              <a:t>void</a:t>
            </a:r>
            <a:r>
              <a:rPr lang="zh-CN" altLang="en-US" sz="2400" b="1" dirty="0" smtClean="0">
                <a:latin typeface="微软雅黑" panose="020B0503020204020204" pitchFamily="34" charset="-122"/>
                <a:ea typeface="微软雅黑" panose="020B0503020204020204" pitchFamily="34" charset="-122"/>
              </a:rPr>
              <a:t>类型），不必写</a:t>
            </a:r>
            <a:r>
              <a:rPr lang="en-US" altLang="zh-CN" sz="2400" b="1" dirty="0" smtClean="0">
                <a:latin typeface="微软雅黑" panose="020B0503020204020204" pitchFamily="34" charset="-122"/>
                <a:ea typeface="微软雅黑" panose="020B0503020204020204" pitchFamily="34" charset="-122"/>
              </a:rPr>
              <a:t>return</a:t>
            </a:r>
            <a:r>
              <a:rPr lang="zh-CN" altLang="en-US" sz="2400" b="1" dirty="0" smtClean="0">
                <a:latin typeface="微软雅黑" panose="020B0503020204020204" pitchFamily="34" charset="-122"/>
                <a:ea typeface="微软雅黑" panose="020B0503020204020204" pitchFamily="34" charset="-122"/>
              </a:rPr>
              <a:t>语句。</a:t>
            </a:r>
            <a:endParaRPr lang="en-US" altLang="zh-CN" sz="2400" b="1" dirty="0" smtClean="0">
              <a:latin typeface="微软雅黑" panose="020B0503020204020204" pitchFamily="34" charset="-122"/>
              <a:ea typeface="微软雅黑" panose="020B0503020204020204" pitchFamily="34" charset="-122"/>
            </a:endParaRPr>
          </a:p>
          <a:p>
            <a:pPr marL="658495" lvl="1" indent="-247015" eaLnBrk="1" fontAlgn="auto" hangingPunct="1">
              <a:lnSpc>
                <a:spcPct val="150000"/>
              </a:lnSpc>
              <a:spcAft>
                <a:spcPts val="0"/>
              </a:spcAft>
              <a:buFont typeface="Wingdings" panose="05000000000000000000" pitchFamily="2" charset="2"/>
              <a:buChar char="ü"/>
              <a:defRPr/>
            </a:pPr>
            <a:r>
              <a:rPr lang="zh-CN" altLang="en-US" sz="2000" b="1" dirty="0" smtClean="0">
                <a:solidFill>
                  <a:srgbClr val="FFFF00"/>
                </a:solidFill>
                <a:latin typeface="微软雅黑" panose="020B0503020204020204" pitchFamily="34" charset="-122"/>
                <a:ea typeface="微软雅黑" panose="020B0503020204020204" pitchFamily="34" charset="-122"/>
              </a:rPr>
              <a:t>注意：函数的返回值由</a:t>
            </a:r>
            <a:r>
              <a:rPr lang="en-US" altLang="zh-CN" sz="2000" b="1" dirty="0" smtClean="0">
                <a:solidFill>
                  <a:srgbClr val="FFFF00"/>
                </a:solidFill>
                <a:latin typeface="微软雅黑" panose="020B0503020204020204" pitchFamily="34" charset="-122"/>
                <a:ea typeface="微软雅黑" panose="020B0503020204020204" pitchFamily="34" charset="-122"/>
              </a:rPr>
              <a:t>return</a:t>
            </a:r>
            <a:r>
              <a:rPr lang="zh-CN" altLang="en-US" sz="2000" b="1" dirty="0" smtClean="0">
                <a:solidFill>
                  <a:srgbClr val="FFFF00"/>
                </a:solidFill>
                <a:latin typeface="微软雅黑" panose="020B0503020204020204" pitchFamily="34" charset="-122"/>
                <a:ea typeface="微软雅黑" panose="020B0503020204020204" pitchFamily="34" charset="-122"/>
              </a:rPr>
              <a:t>语句决定，而函数的返回值类型由函数首行的类型说明符决定！</a:t>
            </a:r>
            <a:endParaRPr lang="zh-CN" altLang="en-US" sz="20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611560" y="1844824"/>
            <a:ext cx="3446777" cy="2308324"/>
          </a:xfrm>
          <a:prstGeom prst="rect">
            <a:avLst/>
          </a:prstGeom>
          <a:solidFill>
            <a:schemeClr val="tx1"/>
          </a:solidFill>
          <a:ln w="38100">
            <a:solidFill>
              <a:srgbClr val="FFC000"/>
            </a:solidFill>
            <a:miter lim="800000"/>
          </a:ln>
        </p:spPr>
        <p:txBody>
          <a:bodyPr wrap="none" anchor="ctr">
            <a:spAutoFit/>
          </a:bodyPr>
          <a:lstStyle/>
          <a:p>
            <a:pPr algn="l"/>
            <a:r>
              <a:rPr kumimoji="1" lang="en-US" altLang="zh-CN" b="1" dirty="0">
                <a:solidFill>
                  <a:srgbClr val="000000"/>
                </a:solidFill>
                <a:latin typeface="+mn-lt"/>
                <a:ea typeface="+mj-ea"/>
              </a:rPr>
              <a:t>/*</a:t>
            </a:r>
            <a:r>
              <a:rPr kumimoji="1" lang="zh-CN" altLang="en-US" b="1" dirty="0">
                <a:solidFill>
                  <a:srgbClr val="000000"/>
                </a:solidFill>
                <a:latin typeface="+mn-lt"/>
                <a:ea typeface="+mj-ea"/>
              </a:rPr>
              <a:t>求解两个整数最大值*</a:t>
            </a:r>
            <a:r>
              <a:rPr kumimoji="1" lang="en-US" altLang="zh-CN" b="1" dirty="0">
                <a:solidFill>
                  <a:srgbClr val="000000"/>
                </a:solidFill>
                <a:latin typeface="+mn-lt"/>
                <a:ea typeface="+mj-ea"/>
              </a:rPr>
              <a:t>/</a:t>
            </a:r>
            <a:endParaRPr kumimoji="1" lang="en-US" altLang="zh-CN" b="1" dirty="0">
              <a:solidFill>
                <a:srgbClr val="000000"/>
              </a:solidFill>
              <a:latin typeface="+mn-lt"/>
              <a:ea typeface="+mj-ea"/>
            </a:endParaRPr>
          </a:p>
          <a:p>
            <a:pPr algn="l"/>
            <a:r>
              <a:rPr kumimoji="1" lang="en-US" altLang="zh-CN" b="1" dirty="0">
                <a:solidFill>
                  <a:srgbClr val="000000"/>
                </a:solidFill>
                <a:latin typeface="+mn-lt"/>
                <a:ea typeface="+mj-ea"/>
              </a:rPr>
              <a:t>  </a:t>
            </a:r>
            <a:r>
              <a:rPr kumimoji="1" lang="en-US" altLang="zh-CN" b="1" dirty="0" err="1">
                <a:solidFill>
                  <a:srgbClr val="000000"/>
                </a:solidFill>
                <a:latin typeface="+mn-lt"/>
                <a:ea typeface="+mj-ea"/>
              </a:rPr>
              <a:t>int</a:t>
            </a:r>
            <a:r>
              <a:rPr kumimoji="1" lang="en-US" altLang="zh-CN" b="1" dirty="0">
                <a:solidFill>
                  <a:srgbClr val="000000"/>
                </a:solidFill>
                <a:latin typeface="+mn-lt"/>
                <a:ea typeface="+mj-ea"/>
              </a:rPr>
              <a:t> max(</a:t>
            </a:r>
            <a:r>
              <a:rPr kumimoji="1" lang="en-US" altLang="zh-CN" b="1" dirty="0" err="1">
                <a:solidFill>
                  <a:srgbClr val="000000"/>
                </a:solidFill>
                <a:latin typeface="+mn-lt"/>
                <a:ea typeface="+mj-ea"/>
              </a:rPr>
              <a:t>int</a:t>
            </a:r>
            <a:r>
              <a:rPr kumimoji="1" lang="en-US" altLang="zh-CN" b="1" dirty="0">
                <a:solidFill>
                  <a:srgbClr val="000000"/>
                </a:solidFill>
                <a:latin typeface="+mn-lt"/>
                <a:ea typeface="+mj-ea"/>
              </a:rPr>
              <a:t> </a:t>
            </a:r>
            <a:r>
              <a:rPr kumimoji="1" lang="en-US" altLang="zh-CN" b="1" dirty="0" err="1">
                <a:solidFill>
                  <a:srgbClr val="000000"/>
                </a:solidFill>
                <a:latin typeface="+mn-lt"/>
                <a:ea typeface="+mj-ea"/>
              </a:rPr>
              <a:t>x,int</a:t>
            </a:r>
            <a:r>
              <a:rPr kumimoji="1" lang="en-US" altLang="zh-CN" b="1" dirty="0">
                <a:solidFill>
                  <a:srgbClr val="000000"/>
                </a:solidFill>
                <a:latin typeface="+mn-lt"/>
                <a:ea typeface="+mj-ea"/>
              </a:rPr>
              <a:t> y)</a:t>
            </a:r>
            <a:endParaRPr kumimoji="1" lang="en-US" altLang="zh-CN" b="1" dirty="0">
              <a:solidFill>
                <a:srgbClr val="000000"/>
              </a:solidFill>
              <a:latin typeface="+mn-lt"/>
              <a:ea typeface="+mj-ea"/>
            </a:endParaRPr>
          </a:p>
          <a:p>
            <a:pPr algn="l"/>
            <a:r>
              <a:rPr kumimoji="1" lang="en-US" altLang="zh-CN" b="1" dirty="0">
                <a:solidFill>
                  <a:srgbClr val="000000"/>
                </a:solidFill>
                <a:latin typeface="+mn-lt"/>
                <a:ea typeface="+mj-ea"/>
              </a:rPr>
              <a:t>  {   </a:t>
            </a:r>
            <a:r>
              <a:rPr kumimoji="1" lang="en-US" altLang="zh-CN" b="1" dirty="0" err="1">
                <a:solidFill>
                  <a:srgbClr val="000000"/>
                </a:solidFill>
                <a:latin typeface="+mn-lt"/>
                <a:ea typeface="+mj-ea"/>
              </a:rPr>
              <a:t>int</a:t>
            </a:r>
            <a:r>
              <a:rPr kumimoji="1" lang="en-US" altLang="zh-CN" b="1" dirty="0">
                <a:solidFill>
                  <a:srgbClr val="000000"/>
                </a:solidFill>
                <a:latin typeface="+mn-lt"/>
                <a:ea typeface="+mj-ea"/>
              </a:rPr>
              <a:t> z;</a:t>
            </a:r>
            <a:endParaRPr kumimoji="1" lang="en-US" altLang="zh-CN" b="1" dirty="0">
              <a:solidFill>
                <a:srgbClr val="000000"/>
              </a:solidFill>
              <a:latin typeface="+mn-lt"/>
              <a:ea typeface="+mj-ea"/>
            </a:endParaRPr>
          </a:p>
          <a:p>
            <a:pPr algn="l"/>
            <a:r>
              <a:rPr kumimoji="1" lang="en-US" altLang="zh-CN" b="1" dirty="0">
                <a:solidFill>
                  <a:srgbClr val="000000"/>
                </a:solidFill>
                <a:latin typeface="+mn-lt"/>
                <a:ea typeface="+mj-ea"/>
              </a:rPr>
              <a:t>      z=x&gt;</a:t>
            </a:r>
            <a:r>
              <a:rPr kumimoji="1" lang="en-US" altLang="zh-CN" b="1" dirty="0" err="1">
                <a:solidFill>
                  <a:srgbClr val="000000"/>
                </a:solidFill>
                <a:latin typeface="+mn-lt"/>
                <a:ea typeface="+mj-ea"/>
              </a:rPr>
              <a:t>y?x:y</a:t>
            </a:r>
            <a:r>
              <a:rPr kumimoji="1" lang="en-US" altLang="zh-CN" b="1" dirty="0">
                <a:solidFill>
                  <a:srgbClr val="000000"/>
                </a:solidFill>
                <a:latin typeface="+mn-lt"/>
                <a:ea typeface="+mj-ea"/>
              </a:rPr>
              <a:t>;</a:t>
            </a:r>
            <a:endParaRPr kumimoji="1" lang="en-US" altLang="zh-CN" b="1" dirty="0">
              <a:solidFill>
                <a:srgbClr val="000000"/>
              </a:solidFill>
              <a:latin typeface="+mn-lt"/>
              <a:ea typeface="+mj-ea"/>
            </a:endParaRPr>
          </a:p>
          <a:p>
            <a:pPr algn="l"/>
            <a:r>
              <a:rPr kumimoji="1" lang="en-US" altLang="zh-CN" b="1" dirty="0">
                <a:solidFill>
                  <a:srgbClr val="000000"/>
                </a:solidFill>
                <a:latin typeface="+mn-lt"/>
                <a:ea typeface="+mj-ea"/>
              </a:rPr>
              <a:t>      return(z);</a:t>
            </a:r>
            <a:endParaRPr kumimoji="1" lang="en-US" altLang="zh-CN" b="1" dirty="0">
              <a:solidFill>
                <a:srgbClr val="000000"/>
              </a:solidFill>
              <a:latin typeface="+mn-lt"/>
              <a:ea typeface="+mj-ea"/>
            </a:endParaRPr>
          </a:p>
          <a:p>
            <a:pPr algn="l"/>
            <a:r>
              <a:rPr kumimoji="1" lang="en-US" altLang="zh-CN" b="1" dirty="0">
                <a:solidFill>
                  <a:srgbClr val="000000"/>
                </a:solidFill>
                <a:latin typeface="+mn-lt"/>
                <a:ea typeface="+mj-ea"/>
              </a:rPr>
              <a:t>  }</a:t>
            </a:r>
            <a:endParaRPr kumimoji="1" lang="en-US" altLang="zh-CN" b="1" dirty="0">
              <a:solidFill>
                <a:srgbClr val="000000"/>
              </a:solidFill>
              <a:latin typeface="+mn-lt"/>
              <a:ea typeface="+mj-ea"/>
            </a:endParaRPr>
          </a:p>
        </p:txBody>
      </p:sp>
      <p:sp>
        <p:nvSpPr>
          <p:cNvPr id="18436" name="Text Box 4"/>
          <p:cNvSpPr txBox="1">
            <a:spLocks noChangeArrowheads="1"/>
          </p:cNvSpPr>
          <p:nvPr/>
        </p:nvSpPr>
        <p:spPr bwMode="auto">
          <a:xfrm>
            <a:off x="4500563" y="1829862"/>
            <a:ext cx="4442242" cy="3785652"/>
          </a:xfrm>
          <a:prstGeom prst="rect">
            <a:avLst/>
          </a:prstGeom>
          <a:solidFill>
            <a:schemeClr val="tx1"/>
          </a:solidFill>
          <a:ln w="38100" algn="ctr">
            <a:solidFill>
              <a:srgbClr val="FFC000"/>
            </a:solidFill>
            <a:miter lim="800000"/>
          </a:ln>
        </p:spPr>
        <p:txBody>
          <a:bodyPr wrap="none" anchor="ctr">
            <a:spAutoFit/>
          </a:bodyPr>
          <a:lstStyle/>
          <a:p>
            <a:pPr algn="l"/>
            <a:r>
              <a:rPr kumimoji="1" lang="en-US" altLang="zh-CN" b="1">
                <a:solidFill>
                  <a:srgbClr val="000000"/>
                </a:solidFill>
                <a:latin typeface="+mn-lt"/>
                <a:ea typeface="+mj-ea"/>
              </a:rPr>
              <a:t>/*</a:t>
            </a:r>
            <a:r>
              <a:rPr kumimoji="1" lang="zh-CN" altLang="en-US" b="1">
                <a:solidFill>
                  <a:srgbClr val="000000"/>
                </a:solidFill>
                <a:latin typeface="+mn-lt"/>
                <a:ea typeface="+mj-ea"/>
              </a:rPr>
              <a:t>计算</a:t>
            </a:r>
            <a:r>
              <a:rPr kumimoji="1" lang="en-US" altLang="zh-CN" b="1">
                <a:solidFill>
                  <a:srgbClr val="000000"/>
                </a:solidFill>
                <a:latin typeface="+mn-lt"/>
                <a:ea typeface="+mj-ea"/>
              </a:rPr>
              <a:t>x</a:t>
            </a:r>
            <a:r>
              <a:rPr kumimoji="1" lang="zh-CN" altLang="en-US" b="1">
                <a:solidFill>
                  <a:srgbClr val="000000"/>
                </a:solidFill>
                <a:latin typeface="+mn-lt"/>
                <a:ea typeface="+mj-ea"/>
              </a:rPr>
              <a:t>的</a:t>
            </a:r>
            <a:r>
              <a:rPr kumimoji="1" lang="en-US" altLang="zh-CN" b="1">
                <a:solidFill>
                  <a:srgbClr val="000000"/>
                </a:solidFill>
                <a:latin typeface="+mn-lt"/>
                <a:ea typeface="+mj-ea"/>
              </a:rPr>
              <a:t>n</a:t>
            </a:r>
            <a:r>
              <a:rPr kumimoji="1" lang="zh-CN" altLang="en-US" b="1">
                <a:solidFill>
                  <a:srgbClr val="000000"/>
                </a:solidFill>
                <a:latin typeface="+mn-lt"/>
                <a:ea typeface="+mj-ea"/>
              </a:rPr>
              <a:t>次方*</a:t>
            </a:r>
            <a:r>
              <a:rPr kumimoji="1" lang="en-US" altLang="zh-CN" b="1">
                <a:solidFill>
                  <a:srgbClr val="000000"/>
                </a:solidFill>
                <a:latin typeface="+mn-lt"/>
                <a:ea typeface="+mj-ea"/>
              </a:rPr>
              <a:t>/</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double power(double x,int n)</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double p;</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if(n&gt;0)</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for(p=1.0;n&gt;0;n--)</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p*=x;</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else</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p=1.0;</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	return p;</a:t>
            </a:r>
            <a:endParaRPr kumimoji="1" lang="en-US" altLang="zh-CN" b="1">
              <a:solidFill>
                <a:srgbClr val="000000"/>
              </a:solidFill>
              <a:latin typeface="+mn-lt"/>
              <a:ea typeface="+mj-ea"/>
            </a:endParaRPr>
          </a:p>
          <a:p>
            <a:pPr algn="l"/>
            <a:r>
              <a:rPr kumimoji="1" lang="en-US" altLang="zh-CN" b="1">
                <a:solidFill>
                  <a:srgbClr val="000000"/>
                </a:solidFill>
                <a:latin typeface="+mn-lt"/>
                <a:ea typeface="+mj-ea"/>
              </a:rPr>
              <a:t>}</a:t>
            </a:r>
            <a:endParaRPr kumimoji="1" lang="en-US" altLang="zh-CN" b="1">
              <a:solidFill>
                <a:srgbClr val="000000"/>
              </a:solidFill>
              <a:latin typeface="+mn-lt"/>
              <a:ea typeface="+mj-ea"/>
            </a:endParaRPr>
          </a:p>
        </p:txBody>
      </p:sp>
      <p:sp>
        <p:nvSpPr>
          <p:cNvPr id="6" name="标题 1"/>
          <p:cNvSpPr txBox="1"/>
          <p:nvPr/>
        </p:nvSpPr>
        <p:spPr>
          <a:xfrm>
            <a:off x="781050" y="517529"/>
            <a:ext cx="7886700" cy="1325563"/>
          </a:xfrm>
          <a:prstGeom prst="rect">
            <a:avLst/>
          </a:prstGeom>
          <a:noFill/>
          <a:ln>
            <a:noFill/>
          </a:ln>
        </p:spPr>
        <p:txBody>
          <a:bodyPr anchor="t"/>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rPr>
              <a:t>3.1.1 </a:t>
            </a:r>
            <a:r>
              <a:rPr kumimoji="1" lang="zh-CN" altLang="en-US"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rPr>
              <a:t>函数定义</a:t>
            </a:r>
            <a:endParaRPr kumimoji="1" lang="zh-CN" altLang="en-US" sz="4400" b="1" i="1"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539750" y="1628800"/>
            <a:ext cx="7999413" cy="865187"/>
          </a:xfrm>
          <a:noFill/>
        </p:spPr>
        <p:txBody>
          <a:bodyPr/>
          <a:lstStyle/>
          <a:p>
            <a:pPr marL="0" indent="0" algn="ctr" eaLnBrk="1" hangingPunct="1">
              <a:buFont typeface="Wingdings" panose="05000000000000000000" pitchFamily="2" charset="2"/>
              <a:buNone/>
              <a:tabLst>
                <a:tab pos="266700" algn="l"/>
              </a:tabLst>
            </a:pPr>
            <a:r>
              <a:rPr lang="en-US" altLang="zh-CN" b="1" dirty="0" smtClean="0">
                <a:solidFill>
                  <a:srgbClr val="FFFF00"/>
                </a:solidFill>
                <a:latin typeface="Times New Roman" panose="02020603050405020304" pitchFamily="18" charset="0"/>
                <a:ea typeface="华文楷体" panose="02010600040101010101" pitchFamily="2" charset="-122"/>
              </a:rPr>
              <a:t>   </a:t>
            </a:r>
            <a:r>
              <a:rPr lang="zh-CN" altLang="en-US" sz="3800" b="1" dirty="0" smtClean="0">
                <a:solidFill>
                  <a:srgbClr val="FFFF00"/>
                </a:solidFill>
                <a:latin typeface="Times New Roman" panose="02020603050405020304" pitchFamily="18" charset="0"/>
                <a:ea typeface="华文楷体" panose="02010600040101010101" pitchFamily="2" charset="-122"/>
              </a:rPr>
              <a:t>函数名</a:t>
            </a:r>
            <a:r>
              <a:rPr lang="en-US" altLang="zh-CN" sz="3800" b="1" dirty="0" smtClean="0">
                <a:solidFill>
                  <a:srgbClr val="FFFF00"/>
                </a:solidFill>
                <a:latin typeface="Times New Roman" panose="02020603050405020304" pitchFamily="18" charset="0"/>
                <a:ea typeface="华文楷体" panose="02010600040101010101" pitchFamily="2" charset="-122"/>
              </a:rPr>
              <a:t>(</a:t>
            </a:r>
            <a:r>
              <a:rPr lang="zh-CN" altLang="en-US" sz="3800" b="1" dirty="0" smtClean="0">
                <a:solidFill>
                  <a:srgbClr val="FFFF00"/>
                </a:solidFill>
                <a:latin typeface="Times New Roman" panose="02020603050405020304" pitchFamily="18" charset="0"/>
                <a:ea typeface="华文楷体" panose="02010600040101010101" pitchFamily="2" charset="-122"/>
              </a:rPr>
              <a:t>实参表</a:t>
            </a:r>
            <a:r>
              <a:rPr lang="en-US" altLang="zh-CN" sz="3800" b="1" dirty="0" smtClean="0">
                <a:solidFill>
                  <a:srgbClr val="FFFF00"/>
                </a:solidFill>
                <a:latin typeface="Times New Roman" panose="02020603050405020304" pitchFamily="18" charset="0"/>
                <a:ea typeface="华文楷体" panose="02010600040101010101" pitchFamily="2" charset="-122"/>
              </a:rPr>
              <a:t>)</a:t>
            </a:r>
            <a:endParaRPr lang="en-US" altLang="zh-CN" sz="3800" b="1" dirty="0" smtClean="0">
              <a:solidFill>
                <a:srgbClr val="FFFF00"/>
              </a:solidFill>
              <a:latin typeface="Times New Roman" panose="02020603050405020304" pitchFamily="18" charset="0"/>
              <a:ea typeface="华文楷体" panose="02010600040101010101" pitchFamily="2" charset="-122"/>
            </a:endParaRPr>
          </a:p>
        </p:txBody>
      </p:sp>
      <p:sp>
        <p:nvSpPr>
          <p:cNvPr id="22531" name="Rectangle 4"/>
          <p:cNvSpPr>
            <a:spLocks noGrp="1" noChangeArrowheads="1"/>
          </p:cNvSpPr>
          <p:nvPr>
            <p:ph type="title"/>
          </p:nvPr>
        </p:nvSpPr>
        <p:spPr>
          <a:xfrm>
            <a:off x="540000" y="360000"/>
            <a:ext cx="7886700" cy="646331"/>
          </a:xfrm>
          <a:noFill/>
        </p:spPr>
        <p:txBody>
          <a:bodyPr>
            <a:spAutoFit/>
          </a:bodyPr>
          <a:lstStyle/>
          <a:p>
            <a:pPr algn="ctr" eaLnBrk="1" hangingPunct="1"/>
            <a:r>
              <a:rPr lang="en-US" altLang="zh-CN" b="1" dirty="0" smtClean="0">
                <a:solidFill>
                  <a:srgbClr val="FFFFFF"/>
                </a:solidFill>
                <a:latin typeface="微软雅黑" panose="020B0503020204020204" pitchFamily="34" charset="-122"/>
                <a:ea typeface="微软雅黑" panose="020B0503020204020204" pitchFamily="34" charset="-122"/>
              </a:rPr>
              <a:t>3.1.2  </a:t>
            </a:r>
            <a:r>
              <a:rPr lang="zh-CN" altLang="en-US" b="1" dirty="0" smtClean="0">
                <a:solidFill>
                  <a:srgbClr val="FFFFFF"/>
                </a:solidFill>
                <a:latin typeface="微软雅黑" panose="020B0503020204020204" pitchFamily="34" charset="-122"/>
                <a:ea typeface="微软雅黑" panose="020B0503020204020204" pitchFamily="34" charset="-122"/>
              </a:rPr>
              <a:t>函数的调用：</a:t>
            </a:r>
            <a:r>
              <a:rPr lang="zh-CN" altLang="en-US" b="1" dirty="0" smtClean="0">
                <a:latin typeface="微软雅黑" panose="020B0503020204020204" pitchFamily="34" charset="-122"/>
                <a:ea typeface="微软雅黑" panose="020B0503020204020204" pitchFamily="34" charset="-122"/>
              </a:rPr>
              <a:t>调用的一般形式</a:t>
            </a:r>
            <a:endParaRPr lang="zh-CN" altLang="en-US" b="1" dirty="0" smtClean="0">
              <a:latin typeface="微软雅黑" panose="020B0503020204020204" pitchFamily="34" charset="-122"/>
              <a:ea typeface="微软雅黑" panose="020B0503020204020204" pitchFamily="34" charset="-122"/>
            </a:endParaRPr>
          </a:p>
        </p:txBody>
      </p:sp>
      <p:sp>
        <p:nvSpPr>
          <p:cNvPr id="22532" name="Rectangle 5"/>
          <p:cNvSpPr>
            <a:spLocks noChangeArrowheads="1"/>
          </p:cNvSpPr>
          <p:nvPr/>
        </p:nvSpPr>
        <p:spPr bwMode="auto">
          <a:xfrm>
            <a:off x="683568" y="3141663"/>
            <a:ext cx="7922270" cy="2303462"/>
          </a:xfrm>
          <a:prstGeom prst="rect">
            <a:avLst/>
          </a:prstGeom>
          <a:noFill/>
          <a:ln w="19050">
            <a:solidFill>
              <a:srgbClr val="FFC000"/>
            </a:solidFill>
            <a:miter lim="800000"/>
          </a:ln>
        </p:spPr>
        <p:txBody>
          <a:bodyPr/>
          <a:lstStyle/>
          <a:p>
            <a:pPr marL="358775" lvl="2" algn="l" eaLnBrk="1" hangingPunct="1">
              <a:lnSpc>
                <a:spcPct val="120000"/>
              </a:lnSpc>
              <a:spcBef>
                <a:spcPct val="50000"/>
              </a:spcBef>
              <a:buClr>
                <a:schemeClr val="tx2"/>
              </a:buClr>
              <a:buSzPct val="65000"/>
              <a:buFont typeface="Wingdings" panose="05000000000000000000" pitchFamily="2" charset="2"/>
              <a:buNone/>
              <a:tabLst>
                <a:tab pos="266700" algn="l"/>
              </a:tabLst>
            </a:pPr>
            <a:r>
              <a:rPr lang="zh-CN" altLang="en-US" b="1" dirty="0">
                <a:solidFill>
                  <a:srgbClr val="FFFF00"/>
                </a:solidFill>
                <a:latin typeface="微软雅黑" panose="020B0503020204020204" pitchFamily="34" charset="-122"/>
                <a:ea typeface="微软雅黑" panose="020B0503020204020204" pitchFamily="34" charset="-122"/>
              </a:rPr>
              <a:t>说明：</a:t>
            </a:r>
            <a:endParaRPr lang="zh-CN" altLang="en-US" b="1" dirty="0">
              <a:solidFill>
                <a:srgbClr val="FFFF00"/>
              </a:solidFill>
              <a:latin typeface="微软雅黑" panose="020B0503020204020204" pitchFamily="34" charset="-122"/>
              <a:ea typeface="微软雅黑" panose="020B0503020204020204" pitchFamily="34" charset="-122"/>
            </a:endParaRPr>
          </a:p>
          <a:p>
            <a:pPr marL="538480" lvl="3" algn="l" eaLnBrk="1" hangingPunct="1">
              <a:lnSpc>
                <a:spcPct val="120000"/>
              </a:lnSpc>
              <a:spcBef>
                <a:spcPct val="50000"/>
              </a:spcBef>
              <a:buClr>
                <a:schemeClr val="accent2"/>
              </a:buClr>
              <a:buSzPct val="70000"/>
              <a:buFont typeface="Wingdings" panose="05000000000000000000" pitchFamily="2" charset="2"/>
              <a:buChar char="¡"/>
              <a:tabLst>
                <a:tab pos="266700" algn="l"/>
              </a:tabLst>
            </a:pPr>
            <a:r>
              <a:rPr lang="zh-CN" altLang="en-US" b="1" dirty="0">
                <a:solidFill>
                  <a:srgbClr val="FFFF00"/>
                </a:solidFill>
                <a:latin typeface="微软雅黑" panose="020B0503020204020204" pitchFamily="34" charset="-122"/>
                <a:ea typeface="微软雅黑" panose="020B0503020204020204" pitchFamily="34" charset="-122"/>
              </a:rPr>
              <a:t>实参与形参</a:t>
            </a:r>
            <a:r>
              <a:rPr lang="zh-CN" altLang="en-US" b="1" dirty="0">
                <a:latin typeface="微软雅黑" panose="020B0503020204020204" pitchFamily="34" charset="-122"/>
                <a:ea typeface="微软雅黑" panose="020B0503020204020204" pitchFamily="34" charset="-122"/>
              </a:rPr>
              <a:t>个数相等，类型一致，按顺序</a:t>
            </a:r>
            <a:r>
              <a:rPr lang="zh-CN" altLang="en-US" b="1" dirty="0">
                <a:solidFill>
                  <a:srgbClr val="FFFF00"/>
                </a:solidFill>
                <a:latin typeface="微软雅黑" panose="020B0503020204020204" pitchFamily="34" charset="-122"/>
                <a:ea typeface="微软雅黑" panose="020B0503020204020204" pitchFamily="34" charset="-122"/>
              </a:rPr>
              <a:t>一一对应；</a:t>
            </a:r>
            <a:endParaRPr lang="zh-CN" altLang="en-US" b="1" dirty="0">
              <a:solidFill>
                <a:srgbClr val="FFFF00"/>
              </a:solidFill>
              <a:latin typeface="微软雅黑" panose="020B0503020204020204" pitchFamily="34" charset="-122"/>
              <a:ea typeface="微软雅黑" panose="020B0503020204020204" pitchFamily="34" charset="-122"/>
            </a:endParaRPr>
          </a:p>
          <a:p>
            <a:pPr marL="538480" lvl="3" algn="l" eaLnBrk="1" hangingPunct="1">
              <a:lnSpc>
                <a:spcPct val="120000"/>
              </a:lnSpc>
              <a:spcBef>
                <a:spcPct val="50000"/>
              </a:spcBef>
              <a:buClr>
                <a:schemeClr val="accent2"/>
              </a:buClr>
              <a:buSzPct val="70000"/>
              <a:buFont typeface="Wingdings" panose="05000000000000000000" pitchFamily="2" charset="2"/>
              <a:buChar char="¡"/>
              <a:tabLst>
                <a:tab pos="266700" algn="l"/>
              </a:tabLst>
            </a:pPr>
            <a:r>
              <a:rPr lang="zh-CN" altLang="en-US" b="1" dirty="0">
                <a:solidFill>
                  <a:srgbClr val="FFFF00"/>
                </a:solidFill>
                <a:latin typeface="微软雅黑" panose="020B0503020204020204" pitchFamily="34" charset="-122"/>
                <a:ea typeface="微软雅黑" panose="020B0503020204020204" pitchFamily="34" charset="-122"/>
              </a:rPr>
              <a:t>实参表求值顺序，因系统而</a:t>
            </a:r>
            <a:r>
              <a:rPr lang="zh-CN" altLang="en-US" b="1" dirty="0" smtClean="0">
                <a:solidFill>
                  <a:srgbClr val="FFFF00"/>
                </a:solidFill>
                <a:latin typeface="微软雅黑" panose="020B0503020204020204" pitchFamily="34" charset="-122"/>
                <a:ea typeface="微软雅黑" panose="020B0503020204020204" pitchFamily="34" charset="-122"/>
              </a:rPr>
              <a:t>定</a:t>
            </a:r>
            <a:endParaRPr lang="zh-CN" altLang="en-US" b="1" dirty="0">
              <a:solidFill>
                <a:srgbClr val="11111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xfrm>
            <a:off x="899592" y="1628775"/>
            <a:ext cx="7778750" cy="936129"/>
          </a:xfrm>
          <a:noFill/>
          <a:ln w="28575">
            <a:solidFill>
              <a:srgbClr val="FFC000"/>
            </a:solidFill>
          </a:ln>
        </p:spPr>
        <p:txBody>
          <a:bodyPr/>
          <a:lstStyle/>
          <a:p>
            <a:pPr eaLnBrk="1" hangingPunct="1">
              <a:buFont typeface="Wingdings" panose="05000000000000000000" pitchFamily="2" charset="2"/>
              <a:buNone/>
            </a:pPr>
            <a:r>
              <a:rPr lang="en-US" altLang="zh-CN" sz="2400" b="1" dirty="0" smtClean="0">
                <a:solidFill>
                  <a:srgbClr val="FFFF00"/>
                </a:solidFill>
                <a:latin typeface="微软雅黑" panose="020B0503020204020204" pitchFamily="34" charset="-122"/>
                <a:ea typeface="微软雅黑" panose="020B0503020204020204" pitchFamily="34" charset="-122"/>
              </a:rPr>
              <a:t>1</a:t>
            </a:r>
            <a:r>
              <a:rPr lang="zh-CN" altLang="en-US" sz="2400" b="1" dirty="0" smtClean="0">
                <a:solidFill>
                  <a:srgbClr val="FFFF00"/>
                </a:solidFill>
                <a:latin typeface="微软雅黑" panose="020B0503020204020204" pitchFamily="34" charset="-122"/>
                <a:ea typeface="微软雅黑" panose="020B0503020204020204" pitchFamily="34" charset="-122"/>
              </a:rPr>
              <a:t>）函数语句：</a:t>
            </a:r>
            <a:r>
              <a:rPr lang="zh-CN" altLang="en-US" sz="2400" b="1" dirty="0" smtClean="0">
                <a:latin typeface="微软雅黑" panose="020B0503020204020204" pitchFamily="34" charset="-122"/>
                <a:ea typeface="微软雅黑" panose="020B0503020204020204" pitchFamily="34" charset="-122"/>
              </a:rPr>
              <a:t>不要求函数返回确定的值。</a:t>
            </a:r>
            <a:endParaRPr lang="en-US" altLang="zh-CN" sz="2400" b="1" dirty="0" smtClean="0">
              <a:latin typeface="微软雅黑" panose="020B0503020204020204" pitchFamily="34" charset="-122"/>
              <a:ea typeface="微软雅黑" panose="020B0503020204020204" pitchFamily="34" charset="-122"/>
            </a:endParaRPr>
          </a:p>
        </p:txBody>
      </p:sp>
      <p:sp>
        <p:nvSpPr>
          <p:cNvPr id="23555" name="Rectangle 4"/>
          <p:cNvSpPr>
            <a:spLocks noChangeArrowheads="1"/>
          </p:cNvSpPr>
          <p:nvPr/>
        </p:nvSpPr>
        <p:spPr bwMode="auto">
          <a:xfrm>
            <a:off x="899592" y="3032671"/>
            <a:ext cx="7808912" cy="1439862"/>
          </a:xfrm>
          <a:prstGeom prst="rect">
            <a:avLst/>
          </a:prstGeom>
          <a:noFill/>
          <a:ln w="28575">
            <a:solidFill>
              <a:srgbClr val="FFC000"/>
            </a:solidFill>
            <a:miter lim="800000"/>
          </a:ln>
        </p:spPr>
        <p:txBody>
          <a:bodyPr/>
          <a:lstStyle/>
          <a:p>
            <a:pPr marL="342900" indent="-342900" algn="l" eaLnBrk="1" hangingPunct="1">
              <a:spcBef>
                <a:spcPct val="20000"/>
              </a:spcBef>
              <a:buClr>
                <a:schemeClr val="tx2"/>
              </a:buClr>
              <a:buSzPct val="70000"/>
              <a:buFont typeface="Wingdings" panose="05000000000000000000" pitchFamily="2" charset="2"/>
              <a:buNone/>
            </a:pPr>
            <a:r>
              <a:rPr lang="en-US" altLang="zh-CN" b="1" dirty="0" smtClean="0">
                <a:solidFill>
                  <a:srgbClr val="FFFF00"/>
                </a:solidFill>
                <a:latin typeface="微软雅黑" panose="020B0503020204020204" pitchFamily="34" charset="-122"/>
                <a:ea typeface="微软雅黑" panose="020B0503020204020204" pitchFamily="34" charset="-122"/>
              </a:rPr>
              <a:t>2</a:t>
            </a:r>
            <a:r>
              <a:rPr lang="zh-CN" altLang="en-US" b="1" dirty="0" smtClean="0">
                <a:solidFill>
                  <a:srgbClr val="FFFF00"/>
                </a:solidFill>
                <a:latin typeface="微软雅黑" panose="020B0503020204020204" pitchFamily="34" charset="-122"/>
                <a:ea typeface="微软雅黑" panose="020B0503020204020204" pitchFamily="34" charset="-122"/>
              </a:rPr>
              <a:t>）函数</a:t>
            </a:r>
            <a:r>
              <a:rPr lang="zh-CN" altLang="en-US" b="1" dirty="0">
                <a:solidFill>
                  <a:srgbClr val="FFFF00"/>
                </a:solidFill>
                <a:latin typeface="微软雅黑" panose="020B0503020204020204" pitchFamily="34" charset="-122"/>
                <a:ea typeface="微软雅黑" panose="020B0503020204020204" pitchFamily="34" charset="-122"/>
              </a:rPr>
              <a:t>表达式：</a:t>
            </a:r>
            <a:r>
              <a:rPr lang="zh-CN" altLang="en-US" b="1" dirty="0">
                <a:latin typeface="微软雅黑" panose="020B0503020204020204" pitchFamily="34" charset="-122"/>
                <a:ea typeface="微软雅黑" panose="020B0503020204020204" pitchFamily="34" charset="-122"/>
              </a:rPr>
              <a:t>要求函数必须返回一个确定的值；</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  例       </a:t>
            </a:r>
            <a:r>
              <a:rPr lang="en-US" altLang="zh-CN" b="1" dirty="0">
                <a:latin typeface="微软雅黑" panose="020B0503020204020204" pitchFamily="34" charset="-122"/>
                <a:ea typeface="微软雅黑" panose="020B0503020204020204" pitchFamily="34" charset="-122"/>
              </a:rPr>
              <a:t>m=max(</a:t>
            </a:r>
            <a:r>
              <a:rPr lang="en-US" altLang="zh-CN" b="1" dirty="0" err="1">
                <a:latin typeface="微软雅黑" panose="020B0503020204020204" pitchFamily="34" charset="-122"/>
                <a:ea typeface="微软雅黑" panose="020B0503020204020204" pitchFamily="34" charset="-122"/>
              </a:rPr>
              <a:t>a,b</a:t>
            </a:r>
            <a:r>
              <a:rPr lang="en-US" altLang="zh-CN" b="1" dirty="0">
                <a:latin typeface="微软雅黑" panose="020B0503020204020204" pitchFamily="34" charset="-122"/>
                <a:ea typeface="微软雅黑" panose="020B0503020204020204" pitchFamily="34" charset="-122"/>
              </a:rPr>
              <a:t>)*2;</a:t>
            </a:r>
            <a:br>
              <a:rPr lang="en-US" altLang="zh-CN" b="1" dirty="0">
                <a:latin typeface="微软雅黑" panose="020B0503020204020204" pitchFamily="34" charset="-122"/>
                <a:ea typeface="微软雅黑" panose="020B0503020204020204" pitchFamily="34" charset="-122"/>
              </a:rPr>
            </a:br>
            <a:endParaRPr lang="en-US" altLang="zh-CN" b="1" dirty="0">
              <a:latin typeface="微软雅黑" panose="020B0503020204020204" pitchFamily="34" charset="-122"/>
              <a:ea typeface="微软雅黑" panose="020B0503020204020204" pitchFamily="34" charset="-122"/>
            </a:endParaRPr>
          </a:p>
        </p:txBody>
      </p:sp>
      <p:sp>
        <p:nvSpPr>
          <p:cNvPr id="23556" name="Rectangle 5"/>
          <p:cNvSpPr>
            <a:spLocks noChangeArrowheads="1"/>
          </p:cNvSpPr>
          <p:nvPr/>
        </p:nvSpPr>
        <p:spPr bwMode="auto">
          <a:xfrm>
            <a:off x="899592" y="4940300"/>
            <a:ext cx="7808912" cy="1584325"/>
          </a:xfrm>
          <a:prstGeom prst="rect">
            <a:avLst/>
          </a:prstGeom>
          <a:solidFill>
            <a:srgbClr val="2F2FC5"/>
          </a:solidFill>
          <a:ln w="19050">
            <a:solidFill>
              <a:srgbClr val="FFC000"/>
            </a:solidFill>
            <a:miter lim="800000"/>
          </a:ln>
        </p:spPr>
        <p:txBody>
          <a:bodyPr/>
          <a:lstStyle/>
          <a:p>
            <a:pPr marL="443230" indent="-443230" algn="l" eaLnBrk="1" hangingPunct="1">
              <a:spcBef>
                <a:spcPct val="20000"/>
              </a:spcBef>
              <a:buClr>
                <a:schemeClr val="tx2"/>
              </a:buClr>
              <a:buSzPct val="70000"/>
            </a:pPr>
            <a:r>
              <a:rPr lang="en-US" altLang="zh-CN" b="1" dirty="0" smtClean="0">
                <a:solidFill>
                  <a:srgbClr val="FFFF00"/>
                </a:solidFill>
                <a:latin typeface="微软雅黑" panose="020B0503020204020204" pitchFamily="34" charset="-122"/>
                <a:ea typeface="微软雅黑" panose="020B0503020204020204" pitchFamily="34" charset="-122"/>
              </a:rPr>
              <a:t>3</a:t>
            </a:r>
            <a:r>
              <a:rPr lang="zh-CN" altLang="en-US" b="1" dirty="0" smtClean="0">
                <a:solidFill>
                  <a:srgbClr val="FFFF00"/>
                </a:solidFill>
                <a:latin typeface="微软雅黑" panose="020B0503020204020204" pitchFamily="34" charset="-122"/>
                <a:ea typeface="微软雅黑" panose="020B0503020204020204" pitchFamily="34" charset="-122"/>
              </a:rPr>
              <a:t>）函数</a:t>
            </a:r>
            <a:r>
              <a:rPr lang="zh-CN" altLang="en-US" b="1" dirty="0">
                <a:solidFill>
                  <a:srgbClr val="FFFF00"/>
                </a:solidFill>
                <a:latin typeface="微软雅黑" panose="020B0503020204020204" pitchFamily="34" charset="-122"/>
                <a:ea typeface="微软雅黑" panose="020B0503020204020204" pitchFamily="34" charset="-122"/>
              </a:rPr>
              <a:t>表达式的特殊用法：函数参数</a:t>
            </a:r>
            <a:r>
              <a:rPr lang="zh-CN" altLang="en-US" b="1" dirty="0">
                <a:latin typeface="微软雅黑" panose="020B0503020204020204" pitchFamily="34" charset="-122"/>
                <a:ea typeface="微软雅黑" panose="020B0503020204020204" pitchFamily="34" charset="-122"/>
              </a:rPr>
              <a:t>，函数调用作为函数的实参。</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  例      </a:t>
            </a:r>
            <a:r>
              <a:rPr lang="en-US" altLang="zh-CN" b="1" dirty="0" smtClean="0">
                <a:latin typeface="微软雅黑" panose="020B0503020204020204" pitchFamily="34" charset="-122"/>
                <a:ea typeface="微软雅黑" panose="020B0503020204020204" pitchFamily="34" charset="-122"/>
              </a:rPr>
              <a:t>m=max(</a:t>
            </a:r>
            <a:r>
              <a:rPr lang="en-US" altLang="zh-CN" b="1" dirty="0" err="1" smtClean="0">
                <a:latin typeface="微软雅黑" panose="020B0503020204020204" pitchFamily="34" charset="-122"/>
                <a:ea typeface="微软雅黑" panose="020B0503020204020204" pitchFamily="34" charset="-122"/>
              </a:rPr>
              <a:t>a,max</a:t>
            </a:r>
            <a:r>
              <a:rPr lang="en-US" altLang="zh-CN" b="1" dirty="0" smtClean="0">
                <a:latin typeface="微软雅黑" panose="020B0503020204020204" pitchFamily="34" charset="-122"/>
                <a:ea typeface="微软雅黑" panose="020B0503020204020204" pitchFamily="34" charset="-122"/>
              </a:rPr>
              <a:t>(</a:t>
            </a:r>
            <a:r>
              <a:rPr lang="en-US" altLang="zh-CN" b="1" dirty="0" err="1" smtClean="0">
                <a:latin typeface="微软雅黑" panose="020B0503020204020204" pitchFamily="34" charset="-122"/>
                <a:ea typeface="微软雅黑" panose="020B0503020204020204" pitchFamily="34" charset="-122"/>
              </a:rPr>
              <a:t>b,c</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p:sp>
        <p:nvSpPr>
          <p:cNvPr id="23557" name="Rectangle 7"/>
          <p:cNvSpPr>
            <a:spLocks noGrp="1" noChangeArrowheads="1"/>
          </p:cNvSpPr>
          <p:nvPr>
            <p:ph type="title"/>
          </p:nvPr>
        </p:nvSpPr>
        <p:spPr>
          <a:xfrm>
            <a:off x="540000" y="360000"/>
            <a:ext cx="7817669" cy="646331"/>
          </a:xfrm>
          <a:noFill/>
        </p:spPr>
        <p:txBody>
          <a:bodyPr wrap="square">
            <a:spAutoFit/>
          </a:bodyPr>
          <a:lstStyle/>
          <a:p>
            <a:pPr algn="ctr"/>
            <a:r>
              <a:rPr lang="en-US" altLang="zh-CN" b="1" dirty="0">
                <a:solidFill>
                  <a:srgbClr val="FFFFFF"/>
                </a:solidFill>
                <a:latin typeface="微软雅黑" panose="020B0503020204020204" pitchFamily="34" charset="-122"/>
                <a:ea typeface="微软雅黑" panose="020B0503020204020204" pitchFamily="34" charset="-122"/>
              </a:rPr>
              <a:t>3.1.2  </a:t>
            </a:r>
            <a:r>
              <a:rPr lang="zh-CN" altLang="en-US" b="1" dirty="0">
                <a:solidFill>
                  <a:srgbClr val="FFFFFF"/>
                </a:solidFill>
                <a:latin typeface="微软雅黑" panose="020B0503020204020204" pitchFamily="34" charset="-122"/>
                <a:ea typeface="微软雅黑" panose="020B0503020204020204" pitchFamily="34" charset="-122"/>
              </a:rPr>
              <a:t>函数的调用：调用的一般形式</a:t>
            </a:r>
            <a:endParaRPr lang="zh-CN" altLang="en-US"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noFill/>
        </p:spPr>
        <p:txBody>
          <a:bodyPr/>
          <a:lstStyle/>
          <a:p>
            <a:pPr algn="ctr" eaLnBrk="1" hangingPunct="1"/>
            <a:r>
              <a:rPr lang="en-US" altLang="zh-CN" b="1" dirty="0" smtClean="0">
                <a:solidFill>
                  <a:srgbClr val="FFFFFF"/>
                </a:solidFill>
                <a:latin typeface="微软雅黑" panose="020B0503020204020204" pitchFamily="34" charset="-122"/>
                <a:ea typeface="微软雅黑" panose="020B0503020204020204" pitchFamily="34" charset="-122"/>
              </a:rPr>
              <a:t>3.1.2  </a:t>
            </a:r>
            <a:r>
              <a:rPr lang="zh-CN" altLang="en-US" b="1" dirty="0" smtClean="0">
                <a:solidFill>
                  <a:srgbClr val="FFFFFF"/>
                </a:solidFill>
                <a:latin typeface="微软雅黑" panose="020B0503020204020204" pitchFamily="34" charset="-122"/>
                <a:ea typeface="微软雅黑" panose="020B0503020204020204" pitchFamily="34" charset="-122"/>
              </a:rPr>
              <a:t>函数的调用：函数原型</a:t>
            </a:r>
            <a:endParaRPr lang="zh-CN" altLang="en-US" b="1" dirty="0" smtClean="0">
              <a:solidFill>
                <a:srgbClr val="FFFFFF"/>
              </a:solidFill>
              <a:latin typeface="微软雅黑" panose="020B0503020204020204" pitchFamily="34" charset="-122"/>
              <a:ea typeface="微软雅黑" panose="020B0503020204020204" pitchFamily="34" charset="-122"/>
            </a:endParaRPr>
          </a:p>
        </p:txBody>
      </p:sp>
      <p:sp>
        <p:nvSpPr>
          <p:cNvPr id="31747" name="Rectangle 6"/>
          <p:cNvSpPr>
            <a:spLocks noGrp="1" noChangeArrowheads="1"/>
          </p:cNvSpPr>
          <p:nvPr>
            <p:ph type="body" idx="1"/>
          </p:nvPr>
        </p:nvSpPr>
        <p:spPr>
          <a:xfrm>
            <a:off x="1042988" y="1989956"/>
            <a:ext cx="7777162" cy="1791260"/>
          </a:xfrm>
          <a:noFill/>
          <a:ln w="19050">
            <a:solidFill>
              <a:srgbClr val="FFC000"/>
            </a:solidFill>
          </a:ln>
        </p:spPr>
        <p:txBody>
          <a:bodyPr>
            <a:spAutoFit/>
          </a:bodyPr>
          <a:lstStyle/>
          <a:p>
            <a:pPr marL="0" indent="0" eaLnBrk="1" hangingPunct="1">
              <a:buFont typeface="Wingdings" panose="05000000000000000000" pitchFamily="2" charset="2"/>
              <a:buNone/>
            </a:pPr>
            <a:r>
              <a:rPr lang="en-US" altLang="zh-CN" sz="2400" b="1" dirty="0" smtClean="0">
                <a:latin typeface="微软雅黑" panose="020B0503020204020204" pitchFamily="34" charset="-122"/>
                <a:ea typeface="微软雅黑" panose="020B0503020204020204" pitchFamily="34" charset="-122"/>
              </a:rPr>
              <a:t> return-value-type  function-name(parameter list)</a:t>
            </a:r>
            <a:endParaRPr lang="en-US" altLang="zh-CN" sz="2400" b="1" dirty="0" smtClean="0">
              <a:latin typeface="微软雅黑" panose="020B0503020204020204" pitchFamily="34" charset="-122"/>
              <a:ea typeface="微软雅黑" panose="020B0503020204020204" pitchFamily="34" charset="-122"/>
            </a:endParaRPr>
          </a:p>
          <a:p>
            <a:pPr marL="358775" indent="0" eaLnBrk="1" hangingPunct="1">
              <a:buFont typeface="Wingdings" panose="05000000000000000000" pitchFamily="2" charset="2"/>
              <a:buNone/>
            </a:pP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358775" indent="0" eaLnBrk="1" hangingPunct="1">
              <a:buFont typeface="Wingdings" panose="05000000000000000000" pitchFamily="2" charset="2"/>
              <a:buNone/>
            </a:pPr>
            <a:r>
              <a:rPr lang="en-US" altLang="zh-CN" sz="2400" b="1" dirty="0" smtClean="0">
                <a:latin typeface="微软雅黑" panose="020B0503020204020204" pitchFamily="34" charset="-122"/>
                <a:ea typeface="微软雅黑" panose="020B0503020204020204" pitchFamily="34" charset="-122"/>
              </a:rPr>
              <a:t>	body of </a:t>
            </a:r>
            <a:r>
              <a:rPr lang="en-US" altLang="zh-CN" sz="2400" b="1" dirty="0" err="1" smtClean="0">
                <a:latin typeface="微软雅黑" panose="020B0503020204020204" pitchFamily="34" charset="-122"/>
                <a:ea typeface="微软雅黑" panose="020B0503020204020204" pitchFamily="34" charset="-122"/>
              </a:rPr>
              <a:t>funcation</a:t>
            </a:r>
            <a:endParaRPr lang="en-US" altLang="zh-CN" sz="2400" b="1" dirty="0" smtClean="0">
              <a:latin typeface="微软雅黑" panose="020B0503020204020204" pitchFamily="34" charset="-122"/>
              <a:ea typeface="微软雅黑" panose="020B0503020204020204" pitchFamily="34" charset="-122"/>
            </a:endParaRPr>
          </a:p>
          <a:p>
            <a:pPr marL="358775" indent="0" eaLnBrk="1" hangingPunct="1">
              <a:buFont typeface="Wingdings" panose="05000000000000000000" pitchFamily="2" charset="2"/>
              <a:buNone/>
            </a:pPr>
            <a:r>
              <a:rPr lang="en-US" altLang="zh-CN" sz="2400" b="1" dirty="0" smtClean="0">
                <a:latin typeface="微软雅黑" panose="020B0503020204020204" pitchFamily="34" charset="-122"/>
                <a:ea typeface="微软雅黑" panose="020B0503020204020204" pitchFamily="34" charset="-122"/>
              </a:rPr>
              <a:t>}  </a:t>
            </a:r>
            <a:endParaRPr lang="en-US" altLang="zh-CN" sz="2400" b="1" dirty="0" smtClean="0">
              <a:latin typeface="微软雅黑" panose="020B0503020204020204" pitchFamily="34" charset="-122"/>
              <a:ea typeface="微软雅黑" panose="020B0503020204020204" pitchFamily="34" charset="-122"/>
            </a:endParaRPr>
          </a:p>
        </p:txBody>
      </p:sp>
      <p:sp>
        <p:nvSpPr>
          <p:cNvPr id="31748" name="Rectangle 7"/>
          <p:cNvSpPr>
            <a:spLocks noChangeArrowheads="1"/>
          </p:cNvSpPr>
          <p:nvPr/>
        </p:nvSpPr>
        <p:spPr bwMode="auto">
          <a:xfrm>
            <a:off x="971550" y="5013325"/>
            <a:ext cx="7848600" cy="792163"/>
          </a:xfrm>
          <a:prstGeom prst="rect">
            <a:avLst/>
          </a:prstGeom>
          <a:noFill/>
          <a:ln w="19050">
            <a:solidFill>
              <a:srgbClr val="FFC000"/>
            </a:solidFill>
            <a:miter lim="800000"/>
          </a:ln>
        </p:spPr>
        <p:txBody>
          <a:bodyPr/>
          <a:lstStyle/>
          <a:p>
            <a:pPr algn="l" eaLnBrk="1" hangingPunct="1">
              <a:spcBef>
                <a:spcPct val="20000"/>
              </a:spcBef>
              <a:buClr>
                <a:schemeClr val="tx2"/>
              </a:buClr>
              <a:buSzPct val="70000"/>
              <a:buFont typeface="Wingdings" panose="05000000000000000000" pitchFamily="2" charset="2"/>
              <a:buNone/>
            </a:pPr>
            <a:r>
              <a:rPr lang="en-US" altLang="zh-CN" b="1" dirty="0" smtClean="0">
                <a:latin typeface="微软雅黑" panose="020B0503020204020204" pitchFamily="34" charset="-122"/>
                <a:ea typeface="微软雅黑" panose="020B0503020204020204" pitchFamily="34" charset="-122"/>
              </a:rPr>
              <a:t>return-value-type  </a:t>
            </a:r>
            <a:r>
              <a:rPr lang="en-US" altLang="zh-CN" b="1" dirty="0">
                <a:latin typeface="微软雅黑" panose="020B0503020204020204" pitchFamily="34" charset="-122"/>
                <a:ea typeface="微软雅黑" panose="020B0503020204020204" pitchFamily="34" charset="-122"/>
              </a:rPr>
              <a:t>function-name(parameter list);</a:t>
            </a:r>
            <a:endParaRPr lang="en-US" altLang="zh-CN" b="1" dirty="0">
              <a:latin typeface="微软雅黑" panose="020B0503020204020204" pitchFamily="34" charset="-122"/>
              <a:ea typeface="微软雅黑" panose="020B0503020204020204" pitchFamily="34" charset="-122"/>
            </a:endParaRPr>
          </a:p>
        </p:txBody>
      </p:sp>
      <p:sp>
        <p:nvSpPr>
          <p:cNvPr id="31749" name="Text Box 8"/>
          <p:cNvSpPr txBox="1">
            <a:spLocks noChangeArrowheads="1"/>
          </p:cNvSpPr>
          <p:nvPr/>
        </p:nvSpPr>
        <p:spPr bwMode="auto">
          <a:xfrm>
            <a:off x="1042988" y="1269231"/>
            <a:ext cx="2089150" cy="609398"/>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buFont typeface="Wingdings" panose="05000000000000000000" pitchFamily="2" charset="2"/>
              <a:buNone/>
            </a:pPr>
            <a:r>
              <a:rPr lang="zh-CN" altLang="en-US" sz="2800" b="1" dirty="0">
                <a:solidFill>
                  <a:srgbClr val="FFFF00"/>
                </a:solidFill>
                <a:latin typeface="微软雅黑" panose="020B0503020204020204" pitchFamily="34" charset="-122"/>
                <a:ea typeface="微软雅黑" panose="020B0503020204020204" pitchFamily="34" charset="-122"/>
              </a:rPr>
              <a:t>函数定义</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
        <p:nvSpPr>
          <p:cNvPr id="31750" name="Text Box 9"/>
          <p:cNvSpPr txBox="1">
            <a:spLocks noChangeArrowheads="1"/>
          </p:cNvSpPr>
          <p:nvPr/>
        </p:nvSpPr>
        <p:spPr bwMode="auto">
          <a:xfrm>
            <a:off x="971550" y="4365625"/>
            <a:ext cx="2089150" cy="609398"/>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buFont typeface="Wingdings" panose="05000000000000000000" pitchFamily="2" charset="2"/>
              <a:buNone/>
            </a:pPr>
            <a:r>
              <a:rPr lang="zh-CN" altLang="en-US" sz="2800" b="1">
                <a:solidFill>
                  <a:srgbClr val="FFFF00"/>
                </a:solidFill>
                <a:latin typeface="微软雅黑" panose="020B0503020204020204" pitchFamily="34" charset="-122"/>
                <a:ea typeface="微软雅黑" panose="020B0503020204020204" pitchFamily="34" charset="-122"/>
              </a:rPr>
              <a:t>函数原型</a:t>
            </a:r>
            <a:endParaRPr lang="zh-CN" altLang="en-US" sz="2800" b="1">
              <a:solidFill>
                <a:srgbClr val="FFFF00"/>
              </a:solidFill>
              <a:latin typeface="微软雅黑" panose="020B0503020204020204" pitchFamily="34" charset="-122"/>
              <a:ea typeface="微软雅黑" panose="020B0503020204020204" pitchFamily="34" charset="-122"/>
            </a:endParaRPr>
          </a:p>
        </p:txBody>
      </p:sp>
      <p:cxnSp>
        <p:nvCxnSpPr>
          <p:cNvPr id="31751" name="AutoShape 10"/>
          <p:cNvCxnSpPr>
            <a:cxnSpLocks noChangeShapeType="1"/>
            <a:stCxn id="31747" idx="1"/>
            <a:endCxn id="31748" idx="1"/>
          </p:cNvCxnSpPr>
          <p:nvPr/>
        </p:nvCxnSpPr>
        <p:spPr bwMode="auto">
          <a:xfrm rot="10800000" flipV="1">
            <a:off x="971550" y="2885585"/>
            <a:ext cx="71438" cy="2523821"/>
          </a:xfrm>
          <a:prstGeom prst="bentConnector3">
            <a:avLst>
              <a:gd name="adj1" fmla="val 419998"/>
            </a:avLst>
          </a:prstGeom>
          <a:noFill/>
          <a:ln w="28575">
            <a:solidFill>
              <a:srgbClr val="00B0F0"/>
            </a:solidFill>
            <a:miter lim="800000"/>
            <a:tailEnd type="triangle" w="med" len="med"/>
          </a:ln>
        </p:spPr>
      </p:cxn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a:lstStyle/>
          <a:p>
            <a:pPr algn="ctr" eaLnBrk="1" hangingPunct="1"/>
            <a:r>
              <a:rPr lang="en-US" altLang="zh-CN" b="1" dirty="0" smtClean="0">
                <a:solidFill>
                  <a:srgbClr val="FFFFFF"/>
                </a:solidFill>
                <a:latin typeface="微软雅黑" panose="020B0503020204020204" pitchFamily="34" charset="-122"/>
                <a:ea typeface="微软雅黑" panose="020B0503020204020204" pitchFamily="34" charset="-122"/>
              </a:rPr>
              <a:t>3.1.2  </a:t>
            </a:r>
            <a:r>
              <a:rPr lang="zh-CN" altLang="en-US" b="1" dirty="0" smtClean="0">
                <a:solidFill>
                  <a:srgbClr val="FFFFFF"/>
                </a:solidFill>
                <a:latin typeface="微软雅黑" panose="020B0503020204020204" pitchFamily="34" charset="-122"/>
                <a:ea typeface="微软雅黑" panose="020B0503020204020204" pitchFamily="34" charset="-122"/>
              </a:rPr>
              <a:t>函数的调用：</a:t>
            </a:r>
            <a:r>
              <a:rPr lang="zh-CN" altLang="en-US" b="1" dirty="0" smtClean="0">
                <a:latin typeface="微软雅黑" panose="020B0503020204020204" pitchFamily="34" charset="-122"/>
                <a:ea typeface="微软雅黑" panose="020B0503020204020204" pitchFamily="34" charset="-122"/>
              </a:rPr>
              <a:t>函数原型</a:t>
            </a:r>
            <a:r>
              <a:rPr lang="zh-CN" altLang="en-US" b="1" dirty="0" smtClean="0">
                <a:solidFill>
                  <a:srgbClr val="FFFF00"/>
                </a:solidFill>
                <a:latin typeface="微软雅黑" panose="020B0503020204020204" pitchFamily="34" charset="-122"/>
                <a:ea typeface="微软雅黑" panose="020B0503020204020204" pitchFamily="34" charset="-122"/>
              </a:rPr>
              <a:t>（作用）</a:t>
            </a:r>
            <a:endParaRPr lang="zh-CN" altLang="en-US" b="1" dirty="0" smtClean="0">
              <a:solidFill>
                <a:srgbClr val="FFFF00"/>
              </a:solidFill>
              <a:latin typeface="微软雅黑" panose="020B0503020204020204" pitchFamily="34" charset="-122"/>
              <a:ea typeface="微软雅黑" panose="020B0503020204020204" pitchFamily="34" charset="-122"/>
            </a:endParaRPr>
          </a:p>
        </p:txBody>
      </p:sp>
      <p:sp>
        <p:nvSpPr>
          <p:cNvPr id="32771" name="Rectangle 4"/>
          <p:cNvSpPr>
            <a:spLocks noChangeArrowheads="1"/>
          </p:cNvSpPr>
          <p:nvPr/>
        </p:nvSpPr>
        <p:spPr bwMode="auto">
          <a:xfrm>
            <a:off x="899593" y="2132013"/>
            <a:ext cx="7920000" cy="792162"/>
          </a:xfrm>
          <a:prstGeom prst="rect">
            <a:avLst/>
          </a:prstGeom>
          <a:noFill/>
          <a:ln w="19050">
            <a:solidFill>
              <a:srgbClr val="008000"/>
            </a:solidFill>
            <a:miter lim="800000"/>
          </a:ln>
        </p:spPr>
        <p:txBody>
          <a:bodyPr/>
          <a:lstStyle/>
          <a:p>
            <a:pPr algn="l" eaLnBrk="1" hangingPunct="1">
              <a:spcBef>
                <a:spcPct val="20000"/>
              </a:spcBef>
              <a:buClr>
                <a:schemeClr val="tx2"/>
              </a:buClr>
              <a:buSzPct val="70000"/>
              <a:buFont typeface="Wingdings" panose="05000000000000000000" pitchFamily="2" charset="2"/>
              <a:buNone/>
            </a:pPr>
            <a:r>
              <a:rPr lang="en-US" altLang="zh-CN" b="1" dirty="0">
                <a:latin typeface="微软雅黑" panose="020B0503020204020204" pitchFamily="34" charset="-122"/>
                <a:ea typeface="微软雅黑" panose="020B0503020204020204" pitchFamily="34" charset="-122"/>
              </a:rPr>
              <a:t> return-value-type  function-name(parameter list);</a:t>
            </a:r>
            <a:endParaRPr lang="en-US" altLang="zh-CN" b="1" dirty="0">
              <a:latin typeface="微软雅黑" panose="020B0503020204020204" pitchFamily="34" charset="-122"/>
              <a:ea typeface="微软雅黑" panose="020B0503020204020204" pitchFamily="34" charset="-122"/>
            </a:endParaRPr>
          </a:p>
        </p:txBody>
      </p:sp>
      <p:sp>
        <p:nvSpPr>
          <p:cNvPr id="32772" name="Text Box 6"/>
          <p:cNvSpPr txBox="1">
            <a:spLocks noChangeArrowheads="1"/>
          </p:cNvSpPr>
          <p:nvPr/>
        </p:nvSpPr>
        <p:spPr bwMode="auto">
          <a:xfrm>
            <a:off x="827584" y="1484313"/>
            <a:ext cx="2089150" cy="565604"/>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buFont typeface="Wingdings" panose="05000000000000000000" pitchFamily="2" charset="2"/>
              <a:buNone/>
            </a:pPr>
            <a:r>
              <a:rPr lang="zh-CN" altLang="en-US" sz="2800" b="1" dirty="0">
                <a:solidFill>
                  <a:srgbClr val="FFFF00"/>
                </a:solidFill>
                <a:latin typeface="微软雅黑" panose="020B0503020204020204" pitchFamily="34" charset="-122"/>
                <a:ea typeface="微软雅黑" panose="020B0503020204020204" pitchFamily="34" charset="-122"/>
              </a:rPr>
              <a:t>函数</a:t>
            </a:r>
            <a:r>
              <a:rPr lang="zh-CN" altLang="en-US" sz="2800" b="1" dirty="0" smtClean="0">
                <a:solidFill>
                  <a:srgbClr val="FFFF00"/>
                </a:solidFill>
                <a:latin typeface="微软雅黑" panose="020B0503020204020204" pitchFamily="34" charset="-122"/>
                <a:ea typeface="微软雅黑" panose="020B0503020204020204" pitchFamily="34" charset="-122"/>
              </a:rPr>
              <a:t>原型：</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cxnSp>
        <p:nvCxnSpPr>
          <p:cNvPr id="32773" name="AutoShape 7"/>
          <p:cNvCxnSpPr>
            <a:cxnSpLocks noChangeShapeType="1"/>
            <a:stCxn id="32771" idx="1"/>
          </p:cNvCxnSpPr>
          <p:nvPr/>
        </p:nvCxnSpPr>
        <p:spPr bwMode="auto">
          <a:xfrm rot="10800000" flipH="1" flipV="1">
            <a:off x="899593" y="2528094"/>
            <a:ext cx="109536" cy="2177530"/>
          </a:xfrm>
          <a:prstGeom prst="bentConnector4">
            <a:avLst>
              <a:gd name="adj1" fmla="val -208699"/>
              <a:gd name="adj2" fmla="val 99056"/>
            </a:avLst>
          </a:prstGeom>
          <a:noFill/>
          <a:ln w="57150">
            <a:solidFill>
              <a:srgbClr val="00B0F0"/>
            </a:solidFill>
            <a:miter lim="800000"/>
            <a:tailEnd type="triangle" w="med" len="med"/>
          </a:ln>
        </p:spPr>
      </p:cxnSp>
      <p:sp>
        <p:nvSpPr>
          <p:cNvPr id="32774" name="Text Box 9"/>
          <p:cNvSpPr txBox="1">
            <a:spLocks noChangeArrowheads="1"/>
          </p:cNvSpPr>
          <p:nvPr/>
        </p:nvSpPr>
        <p:spPr bwMode="auto">
          <a:xfrm>
            <a:off x="1009130" y="3357563"/>
            <a:ext cx="7884045" cy="2696123"/>
          </a:xfrm>
          <a:prstGeom prst="rect">
            <a:avLst/>
          </a:prstGeom>
          <a:noFill/>
          <a:ln w="12700" algn="ctr">
            <a:noFill/>
            <a:miter lim="800000"/>
          </a:ln>
        </p:spPr>
        <p:txBody>
          <a:bodyPr wrap="square" lIns="0" rIns="0">
            <a:spAutoFit/>
          </a:bodyPr>
          <a:lstStyle/>
          <a:p>
            <a:pPr marL="522605" indent="-342900" algn="l" eaLnBrk="1" hangingPunct="1">
              <a:spcBef>
                <a:spcPct val="35000"/>
              </a:spcBef>
              <a:buClr>
                <a:schemeClr val="tx1"/>
              </a:buClr>
              <a:buSzPct val="70000"/>
              <a:buFont typeface="Wingdings" panose="05000000000000000000" pitchFamily="2" charset="2"/>
              <a:buAutoNum type="arabicPeriod"/>
            </a:pPr>
            <a:r>
              <a:rPr lang="zh-CN" altLang="en-US" b="1" dirty="0">
                <a:solidFill>
                  <a:srgbClr val="FFFF00"/>
                </a:solidFill>
                <a:latin typeface="微软雅黑" panose="020B0503020204020204" pitchFamily="34" charset="-122"/>
                <a:ea typeface="微软雅黑" panose="020B0503020204020204" pitchFamily="34" charset="-122"/>
              </a:rPr>
              <a:t>函数原型能告诉编译器一些有用信息：</a:t>
            </a:r>
            <a:endParaRPr lang="zh-CN" altLang="en-US" b="1" dirty="0">
              <a:solidFill>
                <a:srgbClr val="FFFF00"/>
              </a:solidFill>
              <a:latin typeface="微软雅黑" panose="020B0503020204020204" pitchFamily="34" charset="-122"/>
              <a:ea typeface="微软雅黑" panose="020B0503020204020204" pitchFamily="34" charset="-122"/>
            </a:endParaRPr>
          </a:p>
          <a:p>
            <a:pPr marL="800100" lvl="1" indent="-342900" algn="l" eaLnBrk="1" hangingPunct="1">
              <a:spcBef>
                <a:spcPct val="35000"/>
              </a:spcBef>
              <a:buClr>
                <a:schemeClr val="tx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  函数的返回类型；</a:t>
            </a:r>
            <a:endParaRPr lang="zh-CN" altLang="en-US" b="1" dirty="0">
              <a:latin typeface="微软雅黑" panose="020B0503020204020204" pitchFamily="34" charset="-122"/>
              <a:ea typeface="微软雅黑" panose="020B0503020204020204" pitchFamily="34" charset="-122"/>
            </a:endParaRPr>
          </a:p>
          <a:p>
            <a:pPr marL="800100" lvl="1" indent="-342900" algn="l" eaLnBrk="1" hangingPunct="1">
              <a:spcBef>
                <a:spcPct val="35000"/>
              </a:spcBef>
              <a:buClr>
                <a:schemeClr val="tx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  被调用时希望接收的参数类型</a:t>
            </a:r>
            <a:r>
              <a:rPr lang="zh-CN" altLang="en-US"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数目</a:t>
            </a:r>
            <a:r>
              <a:rPr lang="zh-CN" altLang="en-US" b="1" dirty="0" smtClean="0">
                <a:latin typeface="微软雅黑" panose="020B0503020204020204" pitchFamily="34" charset="-122"/>
                <a:ea typeface="微软雅黑" panose="020B0503020204020204" pitchFamily="34" charset="-122"/>
              </a:rPr>
              <a:t>和</a:t>
            </a:r>
            <a:r>
              <a:rPr lang="zh-CN" altLang="en-US" b="1" dirty="0">
                <a:latin typeface="微软雅黑" panose="020B0503020204020204" pitchFamily="34" charset="-122"/>
                <a:ea typeface="微软雅黑" panose="020B0503020204020204" pitchFamily="34" charset="-122"/>
              </a:rPr>
              <a:t>顺序。</a:t>
            </a:r>
            <a:endParaRPr lang="zh-CN" altLang="en-US" b="1" dirty="0">
              <a:latin typeface="微软雅黑" panose="020B0503020204020204" pitchFamily="34" charset="-122"/>
              <a:ea typeface="微软雅黑" panose="020B0503020204020204" pitchFamily="34" charset="-122"/>
            </a:endParaRPr>
          </a:p>
          <a:p>
            <a:pPr marL="522605" indent="-342900" algn="l" eaLnBrk="1" hangingPunct="1">
              <a:spcBef>
                <a:spcPct val="35000"/>
              </a:spcBef>
              <a:buClr>
                <a:schemeClr val="tx1"/>
              </a:buClr>
              <a:buSzPct val="70000"/>
              <a:buFont typeface="Wingdings" panose="05000000000000000000" pitchFamily="2" charset="2"/>
              <a:buAutoNum type="arabicPeriod" startAt="2"/>
            </a:pPr>
            <a:r>
              <a:rPr lang="zh-CN" altLang="en-US" b="1" dirty="0">
                <a:solidFill>
                  <a:srgbClr val="FFFF00"/>
                </a:solidFill>
                <a:latin typeface="微软雅黑" panose="020B0503020204020204" pitchFamily="34" charset="-122"/>
                <a:ea typeface="微软雅黑" panose="020B0503020204020204" pitchFamily="34" charset="-122"/>
              </a:rPr>
              <a:t>编译器根据这些信息去检查函数调用是否符合要求</a:t>
            </a:r>
            <a:r>
              <a:rPr lang="zh-CN" altLang="en-US" b="1" dirty="0">
                <a:latin typeface="微软雅黑" panose="020B0503020204020204" pitchFamily="34" charset="-122"/>
                <a:ea typeface="微软雅黑" panose="020B0503020204020204" pitchFamily="34" charset="-122"/>
              </a:rPr>
              <a:t>，判断是否存在编译错误或警告，可避免严重的运行时错误和难以觉察的逻辑错误。  </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28650" y="365129"/>
            <a:ext cx="8515350" cy="1325563"/>
          </a:xfrm>
          <a:noFill/>
        </p:spPr>
        <p:txBody>
          <a:bodyPr/>
          <a:lstStyle/>
          <a:p>
            <a:pPr algn="ctr" eaLnBrk="1" hangingPunct="1"/>
            <a:r>
              <a:rPr lang="en-US" altLang="zh-CN" b="1" dirty="0" smtClean="0">
                <a:solidFill>
                  <a:srgbClr val="FFFFFF"/>
                </a:solidFill>
                <a:latin typeface="微软雅黑" panose="020B0503020204020204" pitchFamily="34" charset="-122"/>
                <a:ea typeface="微软雅黑" panose="020B0503020204020204" pitchFamily="34" charset="-122"/>
              </a:rPr>
              <a:t>3.1.2  </a:t>
            </a:r>
            <a:r>
              <a:rPr lang="zh-CN" altLang="en-US" b="1" dirty="0" smtClean="0">
                <a:solidFill>
                  <a:srgbClr val="FFFFFF"/>
                </a:solidFill>
                <a:latin typeface="微软雅黑" panose="020B0503020204020204" pitchFamily="34" charset="-122"/>
                <a:ea typeface="微软雅黑" panose="020B0503020204020204" pitchFamily="34" charset="-122"/>
              </a:rPr>
              <a:t>函数的调用：</a:t>
            </a:r>
            <a:r>
              <a:rPr lang="zh-CN" altLang="en-US" b="1" dirty="0" smtClean="0">
                <a:latin typeface="微软雅黑" panose="020B0503020204020204" pitchFamily="34" charset="-122"/>
                <a:ea typeface="微软雅黑" panose="020B0503020204020204" pitchFamily="34" charset="-122"/>
              </a:rPr>
              <a:t>函数原型</a:t>
            </a:r>
            <a:r>
              <a:rPr lang="zh-CN" altLang="en-US" b="1" dirty="0" smtClean="0">
                <a:solidFill>
                  <a:srgbClr val="FFFF00"/>
                </a:solidFill>
                <a:latin typeface="微软雅黑" panose="020B0503020204020204" pitchFamily="34" charset="-122"/>
                <a:ea typeface="微软雅黑" panose="020B0503020204020204" pitchFamily="34" charset="-122"/>
              </a:rPr>
              <a:t>（使用时机）</a:t>
            </a:r>
            <a:endParaRPr lang="zh-CN" altLang="en-US" b="1" dirty="0" smtClean="0">
              <a:solidFill>
                <a:srgbClr val="FFFF00"/>
              </a:solidFill>
              <a:latin typeface="微软雅黑" panose="020B0503020204020204" pitchFamily="34" charset="-122"/>
              <a:ea typeface="微软雅黑" panose="020B0503020204020204" pitchFamily="34" charset="-122"/>
            </a:endParaRPr>
          </a:p>
        </p:txBody>
      </p:sp>
      <p:sp>
        <p:nvSpPr>
          <p:cNvPr id="33795" name="Rectangle 3"/>
          <p:cNvSpPr>
            <a:spLocks noChangeArrowheads="1"/>
          </p:cNvSpPr>
          <p:nvPr/>
        </p:nvSpPr>
        <p:spPr bwMode="auto">
          <a:xfrm>
            <a:off x="899593" y="2132013"/>
            <a:ext cx="7920000" cy="792162"/>
          </a:xfrm>
          <a:prstGeom prst="rect">
            <a:avLst/>
          </a:prstGeom>
          <a:noFill/>
          <a:ln w="19050">
            <a:solidFill>
              <a:srgbClr val="FFC000"/>
            </a:solidFill>
            <a:miter lim="800000"/>
          </a:ln>
        </p:spPr>
        <p:txBody>
          <a:bodyPr/>
          <a:lstStyle/>
          <a:p>
            <a:pPr algn="l" eaLnBrk="1" hangingPunct="1">
              <a:spcBef>
                <a:spcPct val="20000"/>
              </a:spcBef>
              <a:buClr>
                <a:schemeClr val="tx2"/>
              </a:buClr>
              <a:buSzPct val="70000"/>
              <a:buFont typeface="Wingdings" panose="05000000000000000000" pitchFamily="2" charset="2"/>
              <a:buNone/>
            </a:pPr>
            <a:r>
              <a:rPr lang="en-US" altLang="zh-CN" b="1" dirty="0">
                <a:latin typeface="微软雅黑" panose="020B0503020204020204" pitchFamily="34" charset="-122"/>
                <a:ea typeface="微软雅黑" panose="020B0503020204020204" pitchFamily="34" charset="-122"/>
              </a:rPr>
              <a:t> return-value-type  function-name(parameter list);</a:t>
            </a:r>
            <a:endParaRPr lang="en-US" altLang="zh-CN" b="1" dirty="0">
              <a:latin typeface="微软雅黑" panose="020B0503020204020204" pitchFamily="34" charset="-122"/>
              <a:ea typeface="微软雅黑" panose="020B0503020204020204" pitchFamily="34" charset="-122"/>
            </a:endParaRPr>
          </a:p>
        </p:txBody>
      </p:sp>
      <p:sp>
        <p:nvSpPr>
          <p:cNvPr id="33796" name="Text Box 4"/>
          <p:cNvSpPr txBox="1">
            <a:spLocks noChangeArrowheads="1"/>
          </p:cNvSpPr>
          <p:nvPr/>
        </p:nvSpPr>
        <p:spPr bwMode="auto">
          <a:xfrm>
            <a:off x="899593" y="1484313"/>
            <a:ext cx="2089150" cy="609398"/>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buFont typeface="Wingdings" panose="05000000000000000000" pitchFamily="2" charset="2"/>
              <a:buNone/>
            </a:pPr>
            <a:r>
              <a:rPr lang="zh-CN" altLang="en-US" sz="2800" b="1" dirty="0">
                <a:solidFill>
                  <a:srgbClr val="FFFF00"/>
                </a:solidFill>
                <a:latin typeface="微软雅黑" panose="020B0503020204020204" pitchFamily="34" charset="-122"/>
                <a:ea typeface="微软雅黑" panose="020B0503020204020204" pitchFamily="34" charset="-122"/>
              </a:rPr>
              <a:t>函数原型</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cxnSp>
        <p:nvCxnSpPr>
          <p:cNvPr id="33797" name="AutoShape 5"/>
          <p:cNvCxnSpPr>
            <a:cxnSpLocks noChangeShapeType="1"/>
            <a:stCxn id="33795" idx="1"/>
            <a:endCxn id="33798" idx="1"/>
          </p:cNvCxnSpPr>
          <p:nvPr/>
        </p:nvCxnSpPr>
        <p:spPr bwMode="auto">
          <a:xfrm rot="10800000" flipH="1" flipV="1">
            <a:off x="899592" y="2528093"/>
            <a:ext cx="109537" cy="1678933"/>
          </a:xfrm>
          <a:prstGeom prst="bentConnector3">
            <a:avLst>
              <a:gd name="adj1" fmla="val -208697"/>
            </a:avLst>
          </a:prstGeom>
          <a:noFill/>
          <a:ln w="57150">
            <a:solidFill>
              <a:srgbClr val="00B0F0"/>
            </a:solidFill>
            <a:miter lim="800000"/>
            <a:tailEnd type="triangle" w="med" len="med"/>
          </a:ln>
        </p:spPr>
      </p:cxnSp>
      <p:sp>
        <p:nvSpPr>
          <p:cNvPr id="33798" name="Text Box 6"/>
          <p:cNvSpPr txBox="1">
            <a:spLocks noChangeArrowheads="1"/>
          </p:cNvSpPr>
          <p:nvPr/>
        </p:nvSpPr>
        <p:spPr bwMode="auto">
          <a:xfrm>
            <a:off x="1009130" y="3357563"/>
            <a:ext cx="7416800" cy="1698927"/>
          </a:xfrm>
          <a:prstGeom prst="rect">
            <a:avLst/>
          </a:prstGeom>
          <a:noFill/>
          <a:ln w="12700" algn="ctr">
            <a:noFill/>
            <a:miter lim="800000"/>
          </a:ln>
        </p:spPr>
        <p:txBody>
          <a:bodyPr lIns="0" rIns="0">
            <a:spAutoFit/>
          </a:bodyPr>
          <a:lstStyle/>
          <a:p>
            <a:pPr marL="636905" indent="-457200" algn="l" eaLnBrk="1" hangingPunct="1">
              <a:spcBef>
                <a:spcPct val="35000"/>
              </a:spcBef>
              <a:buClr>
                <a:srgbClr val="FFC000"/>
              </a:buClr>
              <a:buSzPct val="70000"/>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把被调函数定义的位置放在主调函数之前，用这种方法也可以省去被调函数的原型说明；</a:t>
            </a:r>
            <a:endParaRPr lang="zh-CN" altLang="en-US" b="1" dirty="0">
              <a:latin typeface="微软雅黑" panose="020B0503020204020204" pitchFamily="34" charset="-122"/>
              <a:ea typeface="微软雅黑" panose="020B0503020204020204" pitchFamily="34" charset="-122"/>
            </a:endParaRPr>
          </a:p>
          <a:p>
            <a:pPr marL="636905" indent="-457200" algn="l" eaLnBrk="1" hangingPunct="1">
              <a:spcBef>
                <a:spcPct val="35000"/>
              </a:spcBef>
              <a:buClr>
                <a:srgbClr val="FFC000"/>
              </a:buClr>
              <a:buSzPct val="70000"/>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被调函数定义的位置放在主调函数之后，则必须在函数调用之前使用被调函数的原型说明；</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28650" y="365129"/>
            <a:ext cx="8263830" cy="1325563"/>
          </a:xfrm>
          <a:noFill/>
        </p:spPr>
        <p:txBody>
          <a:bodyPr/>
          <a:lstStyle/>
          <a:p>
            <a:pPr algn="ctr" eaLnBrk="1" hangingPunct="1"/>
            <a:r>
              <a:rPr lang="en-US" altLang="zh-CN" b="1" dirty="0" smtClean="0">
                <a:solidFill>
                  <a:srgbClr val="FFFFFF"/>
                </a:solidFill>
                <a:latin typeface="微软雅黑" panose="020B0503020204020204" pitchFamily="34" charset="-122"/>
                <a:ea typeface="微软雅黑" panose="020B0503020204020204" pitchFamily="34" charset="-122"/>
              </a:rPr>
              <a:t>3.1.2  </a:t>
            </a:r>
            <a:r>
              <a:rPr lang="zh-CN" altLang="en-US" b="1" dirty="0" smtClean="0">
                <a:solidFill>
                  <a:srgbClr val="FFFFFF"/>
                </a:solidFill>
                <a:latin typeface="微软雅黑" panose="020B0503020204020204" pitchFamily="34" charset="-122"/>
                <a:ea typeface="微软雅黑" panose="020B0503020204020204" pitchFamily="34" charset="-122"/>
              </a:rPr>
              <a:t>函数的调用：</a:t>
            </a:r>
            <a:r>
              <a:rPr lang="zh-CN" altLang="en-US" b="1" dirty="0" smtClean="0">
                <a:latin typeface="微软雅黑" panose="020B0503020204020204" pitchFamily="34" charset="-122"/>
                <a:ea typeface="微软雅黑" panose="020B0503020204020204" pitchFamily="34" charset="-122"/>
              </a:rPr>
              <a:t>函数原型</a:t>
            </a:r>
            <a:r>
              <a:rPr lang="en-US" altLang="zh-CN" b="1" dirty="0" smtClean="0">
                <a:solidFill>
                  <a:srgbClr val="FFFF00"/>
                </a:solidFill>
                <a:latin typeface="微软雅黑" panose="020B0503020204020204" pitchFamily="34" charset="-122"/>
                <a:ea typeface="微软雅黑" panose="020B0503020204020204" pitchFamily="34" charset="-122"/>
              </a:rPr>
              <a:t>(</a:t>
            </a:r>
            <a:r>
              <a:rPr lang="zh-CN" altLang="en-US" b="1" dirty="0" smtClean="0">
                <a:solidFill>
                  <a:srgbClr val="FFFF00"/>
                </a:solidFill>
                <a:latin typeface="微软雅黑" panose="020B0503020204020204" pitchFamily="34" charset="-122"/>
                <a:ea typeface="微软雅黑" panose="020B0503020204020204" pitchFamily="34" charset="-122"/>
              </a:rPr>
              <a:t>书写规范）</a:t>
            </a:r>
            <a:endParaRPr lang="zh-CN" altLang="en-US" b="1" dirty="0" smtClean="0">
              <a:solidFill>
                <a:srgbClr val="FFFF00"/>
              </a:solidFill>
              <a:latin typeface="微软雅黑" panose="020B0503020204020204" pitchFamily="34" charset="-122"/>
              <a:ea typeface="微软雅黑" panose="020B0503020204020204" pitchFamily="34" charset="-122"/>
            </a:endParaRPr>
          </a:p>
        </p:txBody>
      </p:sp>
      <p:sp>
        <p:nvSpPr>
          <p:cNvPr id="34819" name="Rectangle 3"/>
          <p:cNvSpPr>
            <a:spLocks noChangeArrowheads="1"/>
          </p:cNvSpPr>
          <p:nvPr/>
        </p:nvSpPr>
        <p:spPr bwMode="auto">
          <a:xfrm>
            <a:off x="719088" y="2060476"/>
            <a:ext cx="7920000" cy="792162"/>
          </a:xfrm>
          <a:prstGeom prst="rect">
            <a:avLst/>
          </a:prstGeom>
          <a:noFill/>
          <a:ln w="19050">
            <a:solidFill>
              <a:srgbClr val="FFC000"/>
            </a:solidFill>
            <a:miter lim="800000"/>
          </a:ln>
        </p:spPr>
        <p:txBody>
          <a:bodyPr/>
          <a:lstStyle/>
          <a:p>
            <a:pPr algn="l" eaLnBrk="1" hangingPunct="1">
              <a:spcBef>
                <a:spcPct val="20000"/>
              </a:spcBef>
              <a:buClr>
                <a:schemeClr val="tx2"/>
              </a:buClr>
              <a:buSzPct val="70000"/>
              <a:buFont typeface="Wingdings" panose="05000000000000000000" pitchFamily="2" charset="2"/>
              <a:buNone/>
            </a:pPr>
            <a:r>
              <a:rPr lang="en-US" altLang="zh-CN" b="1">
                <a:latin typeface="微软雅黑" panose="020B0503020204020204" pitchFamily="34" charset="-122"/>
                <a:ea typeface="微软雅黑" panose="020B0503020204020204" pitchFamily="34" charset="-122"/>
              </a:rPr>
              <a:t> return-value-type  function-name(parameter list);</a:t>
            </a:r>
            <a:endParaRPr lang="en-US" altLang="zh-CN" b="1">
              <a:latin typeface="微软雅黑" panose="020B0503020204020204" pitchFamily="34" charset="-122"/>
              <a:ea typeface="微软雅黑" panose="020B0503020204020204" pitchFamily="34" charset="-122"/>
            </a:endParaRPr>
          </a:p>
        </p:txBody>
      </p:sp>
      <p:sp>
        <p:nvSpPr>
          <p:cNvPr id="34820" name="Text Box 4"/>
          <p:cNvSpPr txBox="1">
            <a:spLocks noChangeArrowheads="1"/>
          </p:cNvSpPr>
          <p:nvPr/>
        </p:nvSpPr>
        <p:spPr bwMode="auto">
          <a:xfrm>
            <a:off x="719088" y="1412776"/>
            <a:ext cx="2089150" cy="609398"/>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buFont typeface="Wingdings" panose="05000000000000000000" pitchFamily="2" charset="2"/>
              <a:buNone/>
            </a:pPr>
            <a:r>
              <a:rPr lang="zh-CN" altLang="en-US" sz="2800" b="1" dirty="0">
                <a:solidFill>
                  <a:srgbClr val="FFFF00"/>
                </a:solidFill>
                <a:latin typeface="微软雅黑" panose="020B0503020204020204" pitchFamily="34" charset="-122"/>
                <a:ea typeface="微软雅黑" panose="020B0503020204020204" pitchFamily="34" charset="-122"/>
              </a:rPr>
              <a:t>函数原型</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cxnSp>
        <p:nvCxnSpPr>
          <p:cNvPr id="34821" name="AutoShape 5"/>
          <p:cNvCxnSpPr>
            <a:cxnSpLocks noChangeShapeType="1"/>
            <a:stCxn id="34819" idx="1"/>
            <a:endCxn id="34822" idx="1"/>
          </p:cNvCxnSpPr>
          <p:nvPr/>
        </p:nvCxnSpPr>
        <p:spPr bwMode="auto">
          <a:xfrm rot="10800000" flipH="1" flipV="1">
            <a:off x="719088" y="2456557"/>
            <a:ext cx="109536" cy="2076806"/>
          </a:xfrm>
          <a:prstGeom prst="bentConnector3">
            <a:avLst>
              <a:gd name="adj1" fmla="val -208699"/>
            </a:avLst>
          </a:prstGeom>
          <a:noFill/>
          <a:ln w="57150">
            <a:solidFill>
              <a:srgbClr val="00B0F0"/>
            </a:solidFill>
            <a:miter lim="800000"/>
            <a:tailEnd type="triangle" w="med" len="med"/>
          </a:ln>
        </p:spPr>
      </p:cxnSp>
      <p:sp>
        <p:nvSpPr>
          <p:cNvPr id="34822" name="Text Box 6"/>
          <p:cNvSpPr txBox="1">
            <a:spLocks noChangeArrowheads="1"/>
          </p:cNvSpPr>
          <p:nvPr/>
        </p:nvSpPr>
        <p:spPr bwMode="auto">
          <a:xfrm>
            <a:off x="828624" y="3213001"/>
            <a:ext cx="7920000" cy="2640723"/>
          </a:xfrm>
          <a:prstGeom prst="rect">
            <a:avLst/>
          </a:prstGeom>
          <a:noFill/>
          <a:ln w="12700" algn="ctr">
            <a:noFill/>
            <a:miter lim="800000"/>
          </a:ln>
        </p:spPr>
        <p:txBody>
          <a:bodyPr lIns="0" rIns="0">
            <a:spAutoFit/>
          </a:bodyPr>
          <a:lstStyle/>
          <a:p>
            <a:pPr marL="179705" algn="l" eaLnBrk="1" hangingPunct="1">
              <a:lnSpc>
                <a:spcPct val="120000"/>
              </a:lnSpc>
              <a:spcBef>
                <a:spcPct val="50000"/>
              </a:spcBef>
              <a:buClr>
                <a:schemeClr val="accent2"/>
              </a:buClr>
              <a:buSzPct val="70000"/>
            </a:pPr>
            <a:r>
              <a:rPr lang="zh-CN" altLang="en-US" b="1" dirty="0" smtClean="0">
                <a:latin typeface="微软雅黑" panose="020B0503020204020204" pitchFamily="34" charset="-122"/>
                <a:ea typeface="微软雅黑" panose="020B0503020204020204" pitchFamily="34" charset="-122"/>
              </a:rPr>
              <a:t>不</a:t>
            </a:r>
            <a:r>
              <a:rPr lang="zh-CN" altLang="en-US" b="1" dirty="0">
                <a:latin typeface="微软雅黑" panose="020B0503020204020204" pitchFamily="34" charset="-122"/>
                <a:ea typeface="微软雅黑" panose="020B0503020204020204" pitchFamily="34" charset="-122"/>
              </a:rPr>
              <a:t>要求函数原型和函数头完全一致，</a:t>
            </a:r>
            <a:r>
              <a:rPr lang="zh-CN" altLang="en-US" b="1" dirty="0" smtClean="0">
                <a:solidFill>
                  <a:srgbClr val="FFFF00"/>
                </a:solidFill>
                <a:latin typeface="微软雅黑" panose="020B0503020204020204" pitchFamily="34" charset="-122"/>
                <a:ea typeface="微软雅黑" panose="020B0503020204020204" pitchFamily="34" charset="-122"/>
              </a:rPr>
              <a:t>形式参数名称可以</a:t>
            </a:r>
            <a:r>
              <a:rPr lang="zh-CN" altLang="en-US" b="1" dirty="0">
                <a:solidFill>
                  <a:srgbClr val="FFFF00"/>
                </a:solidFill>
                <a:latin typeface="微软雅黑" panose="020B0503020204020204" pitchFamily="34" charset="-122"/>
                <a:ea typeface="微软雅黑" panose="020B0503020204020204" pitchFamily="34" charset="-122"/>
              </a:rPr>
              <a:t>省略，只需参数的类型、参数的个数和顺序保持一致即可。 </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   例如：</a:t>
            </a:r>
            <a:r>
              <a:rPr lang="en-US" altLang="zh-CN" sz="2800" b="1" dirty="0">
                <a:latin typeface="微软雅黑" panose="020B0503020204020204" pitchFamily="34" charset="-122"/>
                <a:ea typeface="微软雅黑" panose="020B0503020204020204" pitchFamily="34" charset="-122"/>
              </a:rPr>
              <a:t>void </a:t>
            </a:r>
            <a:r>
              <a:rPr lang="en-US" altLang="zh-CN" sz="2800" b="1" dirty="0" err="1">
                <a:latin typeface="微软雅黑" panose="020B0503020204020204" pitchFamily="34" charset="-122"/>
                <a:ea typeface="微软雅黑" panose="020B0503020204020204" pitchFamily="34" charset="-122"/>
              </a:rPr>
              <a:t>addrat</a:t>
            </a:r>
            <a:r>
              <a:rPr lang="en-US" altLang="zh-CN" sz="2800" b="1" dirty="0">
                <a:latin typeface="微软雅黑" panose="020B0503020204020204" pitchFamily="34" charset="-122"/>
                <a:ea typeface="微软雅黑" panose="020B0503020204020204" pitchFamily="34" charset="-122"/>
              </a:rPr>
              <a:t>(</a:t>
            </a:r>
            <a:r>
              <a:rPr lang="en-US" altLang="zh-CN" sz="2800" b="1" dirty="0" err="1">
                <a:latin typeface="微软雅黑" panose="020B0503020204020204" pitchFamily="34" charset="-122"/>
                <a:ea typeface="微软雅黑" panose="020B0503020204020204" pitchFamily="34" charset="-122"/>
              </a:rPr>
              <a:t>int</a:t>
            </a:r>
            <a:r>
              <a:rPr lang="en-US" altLang="zh-CN" sz="2800" b="1" dirty="0">
                <a:latin typeface="微软雅黑" panose="020B0503020204020204" pitchFamily="34" charset="-122"/>
                <a:ea typeface="微软雅黑" panose="020B0503020204020204" pitchFamily="34" charset="-122"/>
              </a:rPr>
              <a:t>, </a:t>
            </a:r>
            <a:r>
              <a:rPr lang="en-US" altLang="zh-CN" sz="2800" b="1" dirty="0" err="1">
                <a:latin typeface="微软雅黑" panose="020B0503020204020204" pitchFamily="34" charset="-122"/>
                <a:ea typeface="微软雅黑" panose="020B0503020204020204" pitchFamily="34" charset="-122"/>
              </a:rPr>
              <a:t>int</a:t>
            </a:r>
            <a:r>
              <a:rPr lang="en-US" altLang="zh-CN"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a:p>
            <a:pPr marL="179705" algn="l" eaLnBrk="1" hangingPunct="1">
              <a:lnSpc>
                <a:spcPct val="120000"/>
              </a:lnSpc>
              <a:spcBef>
                <a:spcPct val="50000"/>
              </a:spcBef>
              <a:buClr>
                <a:schemeClr val="accent2"/>
              </a:buClr>
              <a:buSzPct val="70000"/>
            </a:pPr>
            <a:r>
              <a:rPr lang="zh-CN" altLang="en-US" b="1" dirty="0" smtClean="0">
                <a:solidFill>
                  <a:srgbClr val="FFFF00"/>
                </a:solidFill>
                <a:latin typeface="微软雅黑" panose="020B0503020204020204" pitchFamily="34" charset="-122"/>
                <a:ea typeface="微软雅黑" panose="020B0503020204020204" pitchFamily="34" charset="-122"/>
              </a:rPr>
              <a:t>好的</a:t>
            </a:r>
            <a:r>
              <a:rPr lang="zh-CN" altLang="en-US" b="1" dirty="0">
                <a:solidFill>
                  <a:srgbClr val="FFFF00"/>
                </a:solidFill>
                <a:latin typeface="微软雅黑" panose="020B0503020204020204" pitchFamily="34" charset="-122"/>
                <a:ea typeface="微软雅黑" panose="020B0503020204020204" pitchFamily="34" charset="-122"/>
              </a:rPr>
              <a:t>书写习惯： 不要省略参数</a:t>
            </a:r>
            <a:r>
              <a:rPr lang="zh-CN" altLang="en-US" b="1" dirty="0" smtClean="0">
                <a:solidFill>
                  <a:srgbClr val="FFFF00"/>
                </a:solidFill>
                <a:latin typeface="微软雅黑" panose="020B0503020204020204" pitchFamily="34" charset="-122"/>
                <a:ea typeface="微软雅黑" panose="020B0503020204020204" pitchFamily="34" charset="-122"/>
              </a:rPr>
              <a:t>名</a:t>
            </a:r>
            <a:br>
              <a:rPr lang="zh-CN" altLang="en-US" b="1" dirty="0">
                <a:solidFill>
                  <a:srgbClr val="FFFF00"/>
                </a:solidFill>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  例如：</a:t>
            </a:r>
            <a:r>
              <a:rPr lang="en-US" altLang="zh-CN" sz="2800" b="1" dirty="0">
                <a:latin typeface="微软雅黑" panose="020B0503020204020204" pitchFamily="34" charset="-122"/>
                <a:ea typeface="微软雅黑" panose="020B0503020204020204" pitchFamily="34" charset="-122"/>
              </a:rPr>
              <a:t>void </a:t>
            </a:r>
            <a:r>
              <a:rPr lang="en-US" altLang="zh-CN" sz="2800" b="1" dirty="0" err="1">
                <a:latin typeface="微软雅黑" panose="020B0503020204020204" pitchFamily="34" charset="-122"/>
                <a:ea typeface="微软雅黑" panose="020B0503020204020204" pitchFamily="34" charset="-122"/>
              </a:rPr>
              <a:t>addrat</a:t>
            </a:r>
            <a:r>
              <a:rPr lang="en-US" altLang="zh-CN" sz="2800" b="1" dirty="0">
                <a:latin typeface="微软雅黑" panose="020B0503020204020204" pitchFamily="34" charset="-122"/>
                <a:ea typeface="微软雅黑" panose="020B0503020204020204" pitchFamily="34" charset="-122"/>
              </a:rPr>
              <a:t>(</a:t>
            </a:r>
            <a:r>
              <a:rPr lang="en-US" altLang="zh-CN" sz="2800" b="1" dirty="0" err="1">
                <a:latin typeface="微软雅黑" panose="020B0503020204020204" pitchFamily="34" charset="-122"/>
                <a:ea typeface="微软雅黑" panose="020B0503020204020204" pitchFamily="34" charset="-122"/>
              </a:rPr>
              <a:t>int</a:t>
            </a:r>
            <a:r>
              <a:rPr lang="en-US" altLang="zh-CN" sz="2800" b="1" dirty="0">
                <a:latin typeface="微软雅黑" panose="020B0503020204020204" pitchFamily="34" charset="-122"/>
                <a:ea typeface="微软雅黑" panose="020B0503020204020204" pitchFamily="34" charset="-122"/>
              </a:rPr>
              <a:t> a, </a:t>
            </a:r>
            <a:r>
              <a:rPr lang="en-US" altLang="zh-CN" sz="2800" b="1" dirty="0" err="1">
                <a:latin typeface="微软雅黑" panose="020B0503020204020204" pitchFamily="34" charset="-122"/>
                <a:ea typeface="微软雅黑" panose="020B0503020204020204" pitchFamily="34" charset="-122"/>
              </a:rPr>
              <a:t>int</a:t>
            </a:r>
            <a:r>
              <a:rPr lang="en-US" altLang="zh-CN" sz="2800" b="1" dirty="0">
                <a:latin typeface="微软雅黑" panose="020B0503020204020204" pitchFamily="34" charset="-122"/>
                <a:ea typeface="微软雅黑" panose="020B0503020204020204" pitchFamily="34" charset="-122"/>
              </a:rPr>
              <a:t> b);</a:t>
            </a: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noFill/>
          <a:ln>
            <a:noFill/>
          </a:ln>
        </p:spPr>
        <p:txBody>
          <a:bodyPr anchor="t"/>
          <a:lstStyle/>
          <a:p>
            <a:r>
              <a:rPr lang="zh-CN" altLang="en-US" sz="2800" b="1" dirty="0" smtClean="0">
                <a:solidFill>
                  <a:srgbClr val="FFFFFF"/>
                </a:solidFill>
                <a:latin typeface="微软雅黑" panose="020B0503020204020204" pitchFamily="34" charset="-122"/>
                <a:ea typeface="微软雅黑" panose="020B0503020204020204" pitchFamily="34" charset="-122"/>
                <a:cs typeface="+mn-cs"/>
              </a:rPr>
              <a:t>例</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3-1   </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编写一个求</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x</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的</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n</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次方的函数</a:t>
            </a:r>
            <a:endParaRPr lang="zh-CN" altLang="en-US" sz="2800" b="1" dirty="0" smtClean="0">
              <a:solidFill>
                <a:srgbClr val="FFFFFF"/>
              </a:solidFill>
              <a:latin typeface="微软雅黑" panose="020B0503020204020204" pitchFamily="34" charset="-122"/>
              <a:ea typeface="微软雅黑" panose="020B0503020204020204" pitchFamily="34" charset="-122"/>
              <a:cs typeface="+mn-cs"/>
            </a:endParaRPr>
          </a:p>
        </p:txBody>
      </p:sp>
      <p:sp>
        <p:nvSpPr>
          <p:cNvPr id="3" name="内容占位符 2"/>
          <p:cNvSpPr>
            <a:spLocks noGrp="1"/>
          </p:cNvSpPr>
          <p:nvPr>
            <p:ph idx="1"/>
          </p:nvPr>
        </p:nvSpPr>
        <p:spPr>
          <a:xfrm>
            <a:off x="251520" y="1340768"/>
            <a:ext cx="4392488" cy="5040560"/>
          </a:xfrm>
          <a:solidFill>
            <a:schemeClr val="tx1"/>
          </a:solidFill>
        </p:spPr>
        <p:txBody>
          <a:bodyPr>
            <a:noAutofit/>
          </a:bodyPr>
          <a:lstStyle/>
          <a:p>
            <a:pPr marL="365760" indent="-255905" eaLnBrk="1" fontAlgn="auto" hangingPunct="1">
              <a:lnSpc>
                <a:spcPct val="150000"/>
              </a:lnSpc>
              <a:spcBef>
                <a:spcPct val="0"/>
              </a:spcBef>
              <a:spcAft>
                <a:spcPts val="0"/>
              </a:spcAft>
              <a:buClr>
                <a:schemeClr val="accent3"/>
              </a:buClr>
              <a:buFont typeface="Georgia" panose="02040502050405020303"/>
              <a:buNone/>
              <a:defRPr/>
            </a:pPr>
            <a:r>
              <a:rPr lang="zh-CN" altLang="en-US" sz="2400" b="1" noProof="1" smtClean="0">
                <a:solidFill>
                  <a:srgbClr val="000000"/>
                </a:solidFill>
                <a:ea typeface="+mj-ea"/>
              </a:rPr>
              <a:t>#</a:t>
            </a:r>
            <a:r>
              <a:rPr lang="en-US" altLang="zh-CN" sz="2400" b="1" noProof="1" smtClean="0">
                <a:solidFill>
                  <a:srgbClr val="000000"/>
                </a:solidFill>
                <a:ea typeface="+mj-ea"/>
              </a:rPr>
              <a:t>include &lt;iostream&gt;</a:t>
            </a:r>
            <a:endParaRPr lang="en-US" altLang="zh-CN" sz="2400" b="1" dirty="0"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using namespace std;</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sz="2400" b="1" dirty="0" smtClean="0">
                <a:solidFill>
                  <a:srgbClr val="000000"/>
                </a:solidFill>
                <a:ea typeface="+mj-ea"/>
              </a:rPr>
              <a:t>//</a:t>
            </a:r>
            <a:r>
              <a:rPr lang="zh-CN" altLang="en-US" sz="2400" b="1" dirty="0" smtClean="0">
                <a:solidFill>
                  <a:srgbClr val="000000"/>
                </a:solidFill>
                <a:ea typeface="+mj-ea"/>
              </a:rPr>
              <a:t>计算</a:t>
            </a:r>
            <a:r>
              <a:rPr lang="en-US" sz="2400" b="1" dirty="0" smtClean="0">
                <a:solidFill>
                  <a:srgbClr val="000000"/>
                </a:solidFill>
                <a:ea typeface="+mj-ea"/>
              </a:rPr>
              <a:t>x</a:t>
            </a:r>
            <a:r>
              <a:rPr lang="zh-CN" altLang="en-US" sz="2400" b="1" dirty="0" smtClean="0">
                <a:solidFill>
                  <a:srgbClr val="000000"/>
                </a:solidFill>
                <a:ea typeface="+mj-ea"/>
              </a:rPr>
              <a:t>的</a:t>
            </a:r>
            <a:r>
              <a:rPr lang="en-US" sz="2400" b="1" dirty="0" smtClean="0">
                <a:solidFill>
                  <a:srgbClr val="000000"/>
                </a:solidFill>
                <a:ea typeface="+mj-ea"/>
              </a:rPr>
              <a:t>n</a:t>
            </a:r>
            <a:r>
              <a:rPr lang="zh-CN" altLang="en-US" sz="2400" b="1" dirty="0" smtClean="0">
                <a:solidFill>
                  <a:srgbClr val="000000"/>
                </a:solidFill>
                <a:ea typeface="+mj-ea"/>
              </a:rPr>
              <a:t>次方</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double</a:t>
            </a:r>
            <a:r>
              <a:rPr lang="en-US" altLang="zh-CN" sz="2400" b="1" dirty="0" smtClean="0">
                <a:solidFill>
                  <a:srgbClr val="000000"/>
                </a:solidFill>
                <a:ea typeface="+mj-ea"/>
              </a:rPr>
              <a:t> </a:t>
            </a:r>
            <a:r>
              <a:rPr lang="en-US" altLang="zh-CN" sz="2400" b="1" noProof="1" smtClean="0">
                <a:solidFill>
                  <a:srgbClr val="000000"/>
                </a:solidFill>
                <a:ea typeface="+mj-ea"/>
              </a:rPr>
              <a:t>power(double x, int n) {</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	double val = 1.0;</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	while (n--)</a:t>
            </a:r>
            <a:r>
              <a:rPr lang="en-US" altLang="zh-CN" sz="2400" b="1" dirty="0" smtClean="0">
                <a:solidFill>
                  <a:srgbClr val="000000"/>
                </a:solidFill>
                <a:ea typeface="+mj-ea"/>
              </a:rPr>
              <a:t> </a:t>
            </a:r>
            <a:r>
              <a:rPr lang="en-US" altLang="zh-CN" sz="2400" b="1" noProof="1" smtClean="0">
                <a:solidFill>
                  <a:srgbClr val="000000"/>
                </a:solidFill>
                <a:ea typeface="+mj-ea"/>
              </a:rPr>
              <a:t>val *= x;</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	return val;</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a:t>
            </a:r>
            <a:endParaRPr lang="zh-CN" altLang="en-US" sz="2400" b="1" dirty="0">
              <a:solidFill>
                <a:srgbClr val="000000"/>
              </a:solidFill>
              <a:ea typeface="+mj-ea"/>
            </a:endParaRPr>
          </a:p>
        </p:txBody>
      </p:sp>
      <p:sp>
        <p:nvSpPr>
          <p:cNvPr id="4" name="内容占位符 2"/>
          <p:cNvSpPr txBox="1"/>
          <p:nvPr/>
        </p:nvSpPr>
        <p:spPr>
          <a:xfrm>
            <a:off x="4860032" y="1340768"/>
            <a:ext cx="4067944" cy="5040560"/>
          </a:xfrm>
          <a:prstGeom prst="rect">
            <a:avLst/>
          </a:prstGeom>
          <a:solidFill>
            <a:schemeClr val="tx1"/>
          </a:solidFill>
        </p:spPr>
        <p:txBody>
          <a:bodyPr>
            <a:no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0" indent="-255905" fontAlgn="auto">
              <a:lnSpc>
                <a:spcPct val="150000"/>
              </a:lnSpc>
              <a:spcBef>
                <a:spcPct val="0"/>
              </a:spcBef>
              <a:spcAft>
                <a:spcPts val="0"/>
              </a:spcAft>
              <a:buClr>
                <a:schemeClr val="accent3"/>
              </a:buClr>
              <a:buFont typeface="Georgia" panose="02040502050405020303"/>
              <a:buNone/>
              <a:defRPr/>
            </a:pPr>
            <a:r>
              <a:rPr lang="en-US" altLang="zh-CN" sz="2200" b="1" noProof="1" smtClean="0">
                <a:solidFill>
                  <a:srgbClr val="000000"/>
                </a:solidFill>
                <a:ea typeface="+mj-ea"/>
              </a:rPr>
              <a:t>int main() {</a:t>
            </a:r>
            <a:endParaRPr lang="en-US" altLang="zh-CN" sz="2200" b="1" noProof="1" smtClean="0">
              <a:solidFill>
                <a:srgbClr val="000000"/>
              </a:solidFill>
              <a:ea typeface="+mj-ea"/>
            </a:endParaRPr>
          </a:p>
          <a:p>
            <a:pPr marL="365760" indent="-255905" fontAlgn="auto">
              <a:lnSpc>
                <a:spcPct val="150000"/>
              </a:lnSpc>
              <a:spcBef>
                <a:spcPct val="0"/>
              </a:spcBef>
              <a:spcAft>
                <a:spcPts val="0"/>
              </a:spcAft>
              <a:buClr>
                <a:schemeClr val="accent3"/>
              </a:buClr>
              <a:buFont typeface="Georgia" panose="02040502050405020303"/>
              <a:buNone/>
              <a:defRPr/>
            </a:pPr>
            <a:r>
              <a:rPr lang="en-US" altLang="zh-CN" sz="2200" b="1" noProof="1" smtClean="0">
                <a:solidFill>
                  <a:srgbClr val="000000"/>
                </a:solidFill>
                <a:ea typeface="+mj-ea"/>
              </a:rPr>
              <a:t>	cout &lt;&lt; "5 to the power 2 is "</a:t>
            </a:r>
            <a:br>
              <a:rPr lang="en-US" altLang="zh-CN" sz="2200" b="1" noProof="1" smtClean="0">
                <a:solidFill>
                  <a:srgbClr val="000000"/>
                </a:solidFill>
                <a:ea typeface="+mj-ea"/>
              </a:rPr>
            </a:br>
            <a:r>
              <a:rPr lang="en-US" altLang="zh-CN" sz="2200" b="1" noProof="1" smtClean="0">
                <a:solidFill>
                  <a:srgbClr val="000000"/>
                </a:solidFill>
                <a:ea typeface="+mj-ea"/>
              </a:rPr>
              <a:t>     &lt;&lt; power(5, 2) &lt;&lt; endl;</a:t>
            </a:r>
            <a:endParaRPr lang="en-US" altLang="zh-CN" sz="2200" b="1" noProof="1" smtClean="0">
              <a:solidFill>
                <a:srgbClr val="000000"/>
              </a:solidFill>
              <a:ea typeface="+mj-ea"/>
            </a:endParaRPr>
          </a:p>
          <a:p>
            <a:pPr marL="365760" indent="-255905" fontAlgn="auto">
              <a:lnSpc>
                <a:spcPct val="150000"/>
              </a:lnSpc>
              <a:spcBef>
                <a:spcPct val="0"/>
              </a:spcBef>
              <a:spcAft>
                <a:spcPts val="0"/>
              </a:spcAft>
              <a:buClr>
                <a:schemeClr val="accent3"/>
              </a:buClr>
              <a:buFont typeface="Georgia" panose="02040502050405020303"/>
              <a:buNone/>
              <a:defRPr/>
            </a:pPr>
            <a:r>
              <a:rPr lang="en-US" altLang="zh-CN" sz="2200" b="1" noProof="1" smtClean="0">
                <a:solidFill>
                  <a:srgbClr val="000000"/>
                </a:solidFill>
                <a:ea typeface="+mj-ea"/>
              </a:rPr>
              <a:t>	return 0;</a:t>
            </a:r>
            <a:endParaRPr lang="en-US" altLang="zh-CN" sz="2200" b="1" noProof="1" smtClean="0">
              <a:solidFill>
                <a:srgbClr val="000000"/>
              </a:solidFill>
              <a:ea typeface="+mj-ea"/>
            </a:endParaRPr>
          </a:p>
          <a:p>
            <a:pPr marL="365760" indent="-255905" fontAlgn="auto">
              <a:lnSpc>
                <a:spcPct val="150000"/>
              </a:lnSpc>
              <a:spcBef>
                <a:spcPct val="0"/>
              </a:spcBef>
              <a:spcAft>
                <a:spcPts val="0"/>
              </a:spcAft>
              <a:buClr>
                <a:schemeClr val="accent3"/>
              </a:buClr>
              <a:buFont typeface="Georgia" panose="02040502050405020303"/>
              <a:buNone/>
              <a:defRPr/>
            </a:pPr>
            <a:r>
              <a:rPr lang="en-US" altLang="zh-CN" sz="2200" b="1" noProof="1" smtClean="0">
                <a:solidFill>
                  <a:srgbClr val="000000"/>
                </a:solidFill>
                <a:ea typeface="+mj-ea"/>
              </a:rPr>
              <a:t>}</a:t>
            </a:r>
            <a:endParaRPr lang="zh-CN" altLang="en-US" sz="22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noFill/>
          <a:ln>
            <a:noFill/>
          </a:ln>
        </p:spPr>
        <p:txBody>
          <a:bodyPr anchor="t"/>
          <a:lstStyle/>
          <a:p>
            <a:r>
              <a:rPr lang="zh-CN" altLang="en-US" sz="2800" b="1" dirty="0" smtClean="0">
                <a:solidFill>
                  <a:srgbClr val="FFFFFF"/>
                </a:solidFill>
                <a:latin typeface="微软雅黑" panose="020B0503020204020204" pitchFamily="34" charset="-122"/>
                <a:ea typeface="微软雅黑" panose="020B0503020204020204" pitchFamily="34" charset="-122"/>
                <a:cs typeface="+mn-cs"/>
              </a:rPr>
              <a:t>例</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   </a:t>
            </a:r>
            <a:r>
              <a:rPr lang="en-US" altLang="zh-CN" sz="2800" b="1" dirty="0" err="1" smtClean="0">
                <a:solidFill>
                  <a:srgbClr val="FFFFFF"/>
                </a:solidFill>
                <a:latin typeface="微软雅黑" panose="020B0503020204020204" pitchFamily="34" charset="-122"/>
                <a:ea typeface="微软雅黑" panose="020B0503020204020204" pitchFamily="34" charset="-122"/>
                <a:cs typeface="+mn-cs"/>
              </a:rPr>
              <a:t>decltype</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在函数返回值类型的使用方法</a:t>
            </a:r>
            <a:endParaRPr lang="zh-CN" altLang="en-US" sz="2800" b="1" dirty="0" smtClean="0">
              <a:solidFill>
                <a:srgbClr val="FFFFFF"/>
              </a:solidFill>
              <a:latin typeface="微软雅黑" panose="020B0503020204020204" pitchFamily="34" charset="-122"/>
              <a:ea typeface="微软雅黑" panose="020B0503020204020204" pitchFamily="34" charset="-122"/>
              <a:cs typeface="+mn-cs"/>
            </a:endParaRPr>
          </a:p>
        </p:txBody>
      </p:sp>
      <p:sp>
        <p:nvSpPr>
          <p:cNvPr id="3" name="内容占位符 2"/>
          <p:cNvSpPr>
            <a:spLocks noGrp="1"/>
          </p:cNvSpPr>
          <p:nvPr>
            <p:ph idx="1"/>
          </p:nvPr>
        </p:nvSpPr>
        <p:spPr>
          <a:xfrm>
            <a:off x="251520" y="1340768"/>
            <a:ext cx="8064896" cy="5040560"/>
          </a:xfrm>
          <a:solidFill>
            <a:schemeClr val="tx1"/>
          </a:solidFill>
        </p:spPr>
        <p:txBody>
          <a:bodyPr>
            <a:noAutofit/>
          </a:bodyPr>
          <a:lstStyle/>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int a=10, b=5;</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decltype(a) myMax(deccltype(a)) lhs, decltype(a) rhs) {</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	//</a:t>
            </a:r>
            <a:r>
              <a:rPr lang="zh-CN" altLang="en-US" sz="2400" b="1" noProof="1" smtClean="0">
                <a:solidFill>
                  <a:srgbClr val="000000"/>
                </a:solidFill>
                <a:ea typeface="+mj-ea"/>
              </a:rPr>
              <a:t>返回值类型和</a:t>
            </a:r>
            <a:r>
              <a:rPr lang="en-US" altLang="zh-CN" sz="2400" b="1" noProof="1" smtClean="0">
                <a:solidFill>
                  <a:srgbClr val="000000"/>
                </a:solidFill>
                <a:ea typeface="+mj-ea"/>
              </a:rPr>
              <a:t>a</a:t>
            </a:r>
            <a:r>
              <a:rPr lang="zh-CN" altLang="en-US" sz="2400" b="1" noProof="1" smtClean="0">
                <a:solidFill>
                  <a:srgbClr val="000000"/>
                </a:solidFill>
                <a:ea typeface="+mj-ea"/>
              </a:rPr>
              <a:t>保持一致</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 return lhs&gt;rhs?lhs:rhs;</a:t>
            </a:r>
            <a:endParaRPr lang="en-US" altLang="zh-CN" sz="2400" b="1" noProof="1" smtClean="0">
              <a:solidFill>
                <a:srgbClr val="000000"/>
              </a:solidFill>
              <a:ea typeface="+mj-ea"/>
            </a:endParaRPr>
          </a:p>
          <a:p>
            <a:pPr marL="365760" indent="-255905" eaLnBrk="1" fontAlgn="auto" hangingPunct="1">
              <a:lnSpc>
                <a:spcPct val="150000"/>
              </a:lnSpc>
              <a:spcBef>
                <a:spcPct val="0"/>
              </a:spcBef>
              <a:spcAft>
                <a:spcPts val="0"/>
              </a:spcAft>
              <a:buClr>
                <a:schemeClr val="accent3"/>
              </a:buClr>
              <a:buFont typeface="Georgia" panose="02040502050405020303"/>
              <a:buNone/>
              <a:defRPr/>
            </a:pPr>
            <a:r>
              <a:rPr lang="en-US" altLang="zh-CN" sz="2400" b="1" noProof="1" smtClean="0">
                <a:solidFill>
                  <a:srgbClr val="000000"/>
                </a:solidFill>
                <a:ea typeface="+mj-ea"/>
              </a:rPr>
              <a:t>}</a:t>
            </a:r>
            <a:endParaRPr lang="zh-CN" altLang="en-US" sz="24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628650" y="365129"/>
            <a:ext cx="7886700" cy="1119655"/>
          </a:xfrm>
          <a:noFill/>
          <a:ln>
            <a:noFill/>
          </a:ln>
        </p:spPr>
        <p:txBody>
          <a:bodyPr anchor="t"/>
          <a:lstStyle/>
          <a:p>
            <a:r>
              <a:rPr lang="zh-CN" altLang="en-US" sz="2800" b="1" dirty="0" smtClean="0">
                <a:solidFill>
                  <a:srgbClr val="FFFFFF"/>
                </a:solidFill>
                <a:latin typeface="微软雅黑" panose="020B0503020204020204" pitchFamily="34" charset="-122"/>
                <a:ea typeface="微软雅黑" panose="020B0503020204020204" pitchFamily="34" charset="-122"/>
                <a:cs typeface="+mn-cs"/>
              </a:rPr>
              <a:t>例</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3-2  </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数制转换</a:t>
            </a:r>
            <a:endParaRPr lang="zh-CN" altLang="en-US" sz="2800" b="1" dirty="0" smtClean="0">
              <a:solidFill>
                <a:srgbClr val="FFFFFF"/>
              </a:solidFill>
              <a:latin typeface="微软雅黑" panose="020B0503020204020204" pitchFamily="34" charset="-122"/>
              <a:ea typeface="微软雅黑" panose="020B0503020204020204" pitchFamily="34" charset="-122"/>
              <a:cs typeface="+mn-cs"/>
            </a:endParaRPr>
          </a:p>
        </p:txBody>
      </p:sp>
      <p:sp>
        <p:nvSpPr>
          <p:cNvPr id="3" name="内容占位符 2"/>
          <p:cNvSpPr>
            <a:spLocks noGrp="1"/>
          </p:cNvSpPr>
          <p:nvPr>
            <p:ph idx="1"/>
          </p:nvPr>
        </p:nvSpPr>
        <p:spPr>
          <a:xfrm>
            <a:off x="646103" y="1196752"/>
            <a:ext cx="7886700" cy="2808312"/>
          </a:xfrm>
          <a:noFill/>
        </p:spPr>
        <p:txBody>
          <a:bodyPr>
            <a:normAutofit/>
          </a:bodyPr>
          <a:lstStyle/>
          <a:p>
            <a:pPr marL="0" indent="0" eaLnBrk="1" fontAlgn="auto" hangingPunct="1">
              <a:lnSpc>
                <a:spcPct val="150000"/>
              </a:lnSpc>
              <a:spcAft>
                <a:spcPts val="0"/>
              </a:spcAft>
              <a:buClr>
                <a:schemeClr val="accent3"/>
              </a:buClr>
              <a:buFont typeface="Georgia" panose="02040502050405020303"/>
              <a:buNone/>
              <a:defRPr/>
            </a:pPr>
            <a:r>
              <a:rPr lang="zh-CN" altLang="en-US" sz="2400" b="1" dirty="0" smtClean="0">
                <a:latin typeface="微软雅黑" panose="020B0503020204020204" pitchFamily="34" charset="-122"/>
                <a:ea typeface="微软雅黑" panose="020B0503020204020204" pitchFamily="34" charset="-122"/>
              </a:rPr>
              <a:t>题目：</a:t>
            </a:r>
            <a:endParaRPr lang="zh-CN" altLang="en-US" sz="2400" b="1" dirty="0" smtClean="0">
              <a:latin typeface="微软雅黑" panose="020B0503020204020204" pitchFamily="34" charset="-122"/>
              <a:ea typeface="微软雅黑" panose="020B0503020204020204" pitchFamily="34" charset="-122"/>
            </a:endParaRPr>
          </a:p>
          <a:p>
            <a:pPr marL="0" indent="0" eaLnBrk="1" fontAlgn="auto" hangingPunct="1">
              <a:lnSpc>
                <a:spcPct val="150000"/>
              </a:lnSpc>
              <a:spcAft>
                <a:spcPts val="0"/>
              </a:spcAft>
              <a:buClr>
                <a:schemeClr val="accent3"/>
              </a:buClr>
              <a:buFont typeface="Georgia" panose="02040502050405020303"/>
              <a:buNone/>
              <a:defRPr/>
            </a:pPr>
            <a:r>
              <a:rPr lang="zh-CN" altLang="en-US" sz="2400" b="1" dirty="0" smtClean="0">
                <a:latin typeface="微软雅黑" panose="020B0503020204020204" pitchFamily="34" charset="-122"/>
                <a:ea typeface="微软雅黑" panose="020B0503020204020204" pitchFamily="34" charset="-122"/>
              </a:rPr>
              <a:t>输入一个</a:t>
            </a:r>
            <a:r>
              <a:rPr lang="en-US" altLang="zh-CN" sz="2400" b="1" dirty="0" smtClean="0">
                <a:latin typeface="微软雅黑" panose="020B0503020204020204" pitchFamily="34" charset="-122"/>
                <a:ea typeface="微软雅黑" panose="020B0503020204020204" pitchFamily="34" charset="-122"/>
              </a:rPr>
              <a:t>8</a:t>
            </a:r>
            <a:r>
              <a:rPr lang="zh-CN" altLang="en-US" sz="2400" b="1" dirty="0" smtClean="0">
                <a:latin typeface="微软雅黑" panose="020B0503020204020204" pitchFamily="34" charset="-122"/>
                <a:ea typeface="微软雅黑" panose="020B0503020204020204" pitchFamily="34" charset="-122"/>
              </a:rPr>
              <a:t>位二进制数，将其转换为十进制数输出。</a:t>
            </a:r>
            <a:endParaRPr lang="zh-CN" altLang="en-US" sz="2400" b="1" dirty="0" smtClean="0">
              <a:latin typeface="微软雅黑" panose="020B0503020204020204" pitchFamily="34" charset="-122"/>
              <a:ea typeface="微软雅黑" panose="020B0503020204020204" pitchFamily="34" charset="-122"/>
            </a:endParaRPr>
          </a:p>
          <a:p>
            <a:pPr marL="0" indent="0" eaLnBrk="1" fontAlgn="auto" hangingPunct="1">
              <a:lnSpc>
                <a:spcPct val="150000"/>
              </a:lnSpc>
              <a:spcAft>
                <a:spcPts val="0"/>
              </a:spcAft>
              <a:buClr>
                <a:schemeClr val="accent3"/>
              </a:buClr>
              <a:buFont typeface="Georgia" panose="02040502050405020303"/>
              <a:buNone/>
              <a:defRPr/>
            </a:pPr>
            <a:r>
              <a:rPr lang="zh-CN" altLang="en-US" sz="2400" b="1" dirty="0" smtClean="0">
                <a:latin typeface="微软雅黑" panose="020B0503020204020204" pitchFamily="34" charset="-122"/>
                <a:ea typeface="微软雅黑" panose="020B0503020204020204" pitchFamily="34" charset="-122"/>
              </a:rPr>
              <a:t>例如：</a:t>
            </a:r>
            <a:r>
              <a:rPr lang="zh-CN" altLang="en-US" sz="2400" b="1" noProof="1" smtClean="0">
                <a:latin typeface="微软雅黑" panose="020B0503020204020204" pitchFamily="34" charset="-122"/>
                <a:ea typeface="微软雅黑" panose="020B0503020204020204" pitchFamily="34" charset="-122"/>
              </a:rPr>
              <a:t>1101</a:t>
            </a:r>
            <a:r>
              <a:rPr lang="zh-CN" altLang="en-US" sz="2400" b="1" baseline="-25000" noProof="1" smtClean="0">
                <a:latin typeface="微软雅黑" panose="020B0503020204020204" pitchFamily="34" charset="-122"/>
                <a:ea typeface="微软雅黑" panose="020B0503020204020204" pitchFamily="34" charset="-122"/>
              </a:rPr>
              <a:t>2</a:t>
            </a:r>
            <a:r>
              <a:rPr lang="zh-CN" altLang="en-US" sz="2400" b="1" noProof="1" smtClean="0">
                <a:latin typeface="微软雅黑" panose="020B0503020204020204" pitchFamily="34" charset="-122"/>
                <a:ea typeface="微软雅黑" panose="020B0503020204020204" pitchFamily="34" charset="-122"/>
              </a:rPr>
              <a:t>=1(2</a:t>
            </a:r>
            <a:r>
              <a:rPr lang="zh-CN" altLang="en-US" sz="2400" b="1" baseline="30000" noProof="1" smtClean="0">
                <a:latin typeface="微软雅黑" panose="020B0503020204020204" pitchFamily="34" charset="-122"/>
                <a:ea typeface="微软雅黑" panose="020B0503020204020204" pitchFamily="34" charset="-122"/>
              </a:rPr>
              <a:t>3</a:t>
            </a:r>
            <a:r>
              <a:rPr lang="zh-CN" altLang="en-US" sz="2400" b="1" noProof="1" smtClean="0">
                <a:latin typeface="微软雅黑" panose="020B0503020204020204" pitchFamily="34" charset="-122"/>
                <a:ea typeface="微软雅黑" panose="020B0503020204020204" pitchFamily="34" charset="-122"/>
              </a:rPr>
              <a:t>)+1(2</a:t>
            </a:r>
            <a:r>
              <a:rPr lang="zh-CN" altLang="en-US" sz="2400" b="1" baseline="30000" noProof="1" smtClean="0">
                <a:latin typeface="微软雅黑" panose="020B0503020204020204" pitchFamily="34" charset="-122"/>
                <a:ea typeface="微软雅黑" panose="020B0503020204020204" pitchFamily="34" charset="-122"/>
              </a:rPr>
              <a:t>2</a:t>
            </a:r>
            <a:r>
              <a:rPr lang="zh-CN" altLang="en-US" sz="2400" b="1" noProof="1" smtClean="0">
                <a:latin typeface="微软雅黑" panose="020B0503020204020204" pitchFamily="34" charset="-122"/>
                <a:ea typeface="微软雅黑" panose="020B0503020204020204" pitchFamily="34" charset="-122"/>
              </a:rPr>
              <a:t>)+0(2</a:t>
            </a:r>
            <a:r>
              <a:rPr lang="zh-CN" altLang="en-US" sz="2400" b="1" baseline="30000" noProof="1" smtClean="0">
                <a:latin typeface="微软雅黑" panose="020B0503020204020204" pitchFamily="34" charset="-122"/>
                <a:ea typeface="微软雅黑" panose="020B0503020204020204" pitchFamily="34" charset="-122"/>
              </a:rPr>
              <a:t>1</a:t>
            </a:r>
            <a:r>
              <a:rPr lang="zh-CN" altLang="en-US" sz="2400" b="1" noProof="1" smtClean="0">
                <a:latin typeface="微软雅黑" panose="020B0503020204020204" pitchFamily="34" charset="-122"/>
                <a:ea typeface="微软雅黑" panose="020B0503020204020204" pitchFamily="34" charset="-122"/>
              </a:rPr>
              <a:t>)+1(2</a:t>
            </a:r>
            <a:r>
              <a:rPr lang="zh-CN" altLang="en-US" sz="2400" b="1" baseline="30000" noProof="1" smtClean="0">
                <a:latin typeface="微软雅黑" panose="020B0503020204020204" pitchFamily="34" charset="-122"/>
                <a:ea typeface="微软雅黑" panose="020B0503020204020204" pitchFamily="34" charset="-122"/>
              </a:rPr>
              <a:t>0</a:t>
            </a:r>
            <a:r>
              <a:rPr lang="zh-CN" altLang="en-US" sz="2400" b="1" noProof="1" smtClean="0">
                <a:latin typeface="微软雅黑" panose="020B0503020204020204" pitchFamily="34" charset="-122"/>
                <a:ea typeface="微软雅黑" panose="020B0503020204020204" pitchFamily="34" charset="-122"/>
              </a:rPr>
              <a:t>)=13</a:t>
            </a:r>
            <a:r>
              <a:rPr lang="zh-CN" altLang="en-US" sz="2400" b="1" baseline="-25000" noProof="1" smtClean="0">
                <a:latin typeface="微软雅黑" panose="020B0503020204020204" pitchFamily="34" charset="-122"/>
                <a:ea typeface="微软雅黑" panose="020B0503020204020204" pitchFamily="34" charset="-122"/>
              </a:rPr>
              <a:t>10 </a:t>
            </a:r>
            <a:endParaRPr lang="zh-CN" altLang="en-US" sz="2400" b="1" baseline="-25000" noProof="1" smtClean="0">
              <a:latin typeface="微软雅黑" panose="020B0503020204020204" pitchFamily="34" charset="-122"/>
              <a:ea typeface="微软雅黑" panose="020B0503020204020204" pitchFamily="34" charset="-122"/>
            </a:endParaRPr>
          </a:p>
          <a:p>
            <a:pPr marL="0" indent="0" eaLnBrk="1" fontAlgn="auto" hangingPunct="1">
              <a:lnSpc>
                <a:spcPct val="150000"/>
              </a:lnSpc>
              <a:spcAft>
                <a:spcPts val="0"/>
              </a:spcAft>
              <a:buClr>
                <a:schemeClr val="accent3"/>
              </a:buClr>
              <a:buFont typeface="Georgia" panose="02040502050405020303"/>
              <a:buNone/>
              <a:defRPr/>
            </a:pPr>
            <a:r>
              <a:rPr lang="zh-CN" altLang="en-US" sz="2400" b="1" dirty="0" smtClean="0">
                <a:latin typeface="微软雅黑" panose="020B0503020204020204" pitchFamily="34" charset="-122"/>
                <a:ea typeface="微软雅黑" panose="020B0503020204020204" pitchFamily="34" charset="-122"/>
              </a:rPr>
              <a:t>所以，如果输入</a:t>
            </a:r>
            <a:r>
              <a:rPr lang="en-US" altLang="zh-CN" sz="2400" b="1" dirty="0" smtClean="0">
                <a:solidFill>
                  <a:srgbClr val="FFFF00"/>
                </a:solidFill>
                <a:latin typeface="微软雅黑" panose="020B0503020204020204" pitchFamily="34" charset="-122"/>
                <a:ea typeface="微软雅黑" panose="020B0503020204020204" pitchFamily="34" charset="-122"/>
              </a:rPr>
              <a:t>1101</a:t>
            </a:r>
            <a:r>
              <a:rPr lang="zh-CN" altLang="en-US" sz="2400" b="1" dirty="0" smtClean="0">
                <a:latin typeface="微软雅黑" panose="020B0503020204020204" pitchFamily="34" charset="-122"/>
                <a:ea typeface="微软雅黑" panose="020B0503020204020204" pitchFamily="34" charset="-122"/>
              </a:rPr>
              <a:t>，则应输出</a:t>
            </a:r>
            <a:r>
              <a:rPr lang="en-US" altLang="zh-CN" sz="2400" b="1" dirty="0" smtClean="0">
                <a:solidFill>
                  <a:srgbClr val="FFFF00"/>
                </a:solidFill>
                <a:latin typeface="微软雅黑" panose="020B0503020204020204" pitchFamily="34" charset="-122"/>
                <a:ea typeface="微软雅黑" panose="020B0503020204020204" pitchFamily="34" charset="-122"/>
              </a:rPr>
              <a:t>13</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365760" indent="-255905" eaLnBrk="1" fontAlgn="auto" hangingPunct="1">
              <a:lnSpc>
                <a:spcPct val="95000"/>
              </a:lnSpc>
              <a:spcBef>
                <a:spcPct val="0"/>
              </a:spcBef>
              <a:spcAft>
                <a:spcPts val="0"/>
              </a:spcAft>
              <a:buClr>
                <a:schemeClr val="accent3"/>
              </a:buClr>
              <a:buFont typeface="Georgia" panose="02040502050405020303"/>
              <a:buNone/>
              <a:defRPr/>
            </a:pPr>
            <a:endParaRPr lang="zh-CN" altLang="en-US" sz="2400" b="1" dirty="0">
              <a:latin typeface="微软雅黑" panose="020B0503020204020204" pitchFamily="34" charset="-122"/>
              <a:ea typeface="微软雅黑" panose="020B0503020204020204" pitchFamily="34" charset="-122"/>
            </a:endParaRPr>
          </a:p>
        </p:txBody>
      </p:sp>
      <p:sp>
        <p:nvSpPr>
          <p:cNvPr id="4" name="矩形 3"/>
          <p:cNvSpPr/>
          <p:nvPr/>
        </p:nvSpPr>
        <p:spPr>
          <a:xfrm>
            <a:off x="2018946" y="3846714"/>
            <a:ext cx="3297698" cy="769441"/>
          </a:xfrm>
          <a:prstGeom prst="rect">
            <a:avLst/>
          </a:prstGeom>
          <a:noFill/>
        </p:spPr>
        <p:txBody>
          <a:bodyPr wrap="none" lIns="91440" tIns="45720" rIns="91440" bIns="45720">
            <a:spAutoFit/>
          </a:bodyPr>
          <a:lstStyle/>
          <a:p>
            <a:pPr algn="ctr"/>
            <a:r>
              <a:rPr lang="zh-CN" altLang="en-US" sz="4400" b="1" cap="none" spc="0" dirty="0" smtClean="0">
                <a:ln w="9525">
                  <a:solidFill>
                    <a:schemeClr val="bg1"/>
                  </a:solidFill>
                  <a:prstDash val="solid"/>
                </a:ln>
                <a:solidFill>
                  <a:schemeClr val="tx1"/>
                </a:solidFill>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rPr>
              <a:t>请审题</a:t>
            </a:r>
            <a:r>
              <a:rPr lang="en-US" altLang="zh-CN" sz="4400" b="1" cap="none" spc="0" dirty="0" smtClean="0">
                <a:ln w="9525">
                  <a:solidFill>
                    <a:schemeClr val="bg1"/>
                  </a:solidFill>
                  <a:prstDash val="solid"/>
                </a:ln>
                <a:solidFill>
                  <a:schemeClr val="tx1"/>
                </a:solidFill>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rPr>
              <a:t>&amp;</a:t>
            </a:r>
            <a:r>
              <a:rPr lang="zh-CN" altLang="en-US" sz="4400" b="1" cap="none" spc="0" dirty="0" smtClean="0">
                <a:ln w="9525">
                  <a:solidFill>
                    <a:schemeClr val="bg1"/>
                  </a:solidFill>
                  <a:prstDash val="solid"/>
                </a:ln>
                <a:solidFill>
                  <a:schemeClr val="tx1"/>
                </a:solidFill>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rPr>
              <a:t>分析</a:t>
            </a:r>
            <a:endParaRPr lang="zh-CN" altLang="en-US" sz="4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endParaRPr>
          </a:p>
        </p:txBody>
      </p:sp>
      <p:sp>
        <p:nvSpPr>
          <p:cNvPr id="6" name="矩形 5"/>
          <p:cNvSpPr/>
          <p:nvPr/>
        </p:nvSpPr>
        <p:spPr>
          <a:xfrm>
            <a:off x="5868144" y="4532582"/>
            <a:ext cx="2448106" cy="769441"/>
          </a:xfrm>
          <a:prstGeom prst="rect">
            <a:avLst/>
          </a:prstGeom>
          <a:noFill/>
        </p:spPr>
        <p:txBody>
          <a:bodyPr wrap="none" lIns="91440" tIns="45720" rIns="91440" bIns="45720">
            <a:spAutoFit/>
          </a:bodyPr>
          <a:lstStyle/>
          <a:p>
            <a:r>
              <a:rPr lang="zh-CN" altLang="en-US" sz="4400" b="1" dirty="0">
                <a:ln w="9525">
                  <a:solidFill>
                    <a:schemeClr val="bg1"/>
                  </a:solidFill>
                  <a:prstDash val="solid"/>
                </a:ln>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rPr>
              <a:t>设计算法</a:t>
            </a:r>
            <a:endParaRPr lang="zh-CN" altLang="en-US" sz="4400" b="1" dirty="0">
              <a:ln w="9525">
                <a:solidFill>
                  <a:schemeClr val="bg1"/>
                </a:solidFill>
                <a:prstDash val="solid"/>
              </a:ln>
              <a:effectLst>
                <a:outerShdw blurRad="12700" dist="38100" dir="2700000" algn="tl" rotWithShape="0">
                  <a:schemeClr val="bg1">
                    <a:lumMod val="50000"/>
                  </a:schemeClr>
                </a:outerShdw>
              </a:effectLst>
              <a:latin typeface="黑体" panose="02010609060101010101" pitchFamily="49" charset="-122"/>
              <a:ea typeface="黑体" panose="02010609060101010101" pitchFamily="49" charset="-122"/>
            </a:endParaRPr>
          </a:p>
        </p:txBody>
      </p:sp>
      <p:sp>
        <p:nvSpPr>
          <p:cNvPr id="5" name="右箭头 4"/>
          <p:cNvSpPr/>
          <p:nvPr/>
        </p:nvSpPr>
        <p:spPr bwMode="auto">
          <a:xfrm>
            <a:off x="3993899" y="4655806"/>
            <a:ext cx="1489941" cy="606347"/>
          </a:xfrm>
          <a:prstGeom prst="rightArrow">
            <a:avLst>
              <a:gd name="adj1" fmla="val 67227"/>
              <a:gd name="adj2" fmla="val 166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rPr>
              <a:t>然后</a:t>
            </a: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endParaRPr>
          </a:p>
        </p:txBody>
      </p:sp>
      <p:sp>
        <p:nvSpPr>
          <p:cNvPr id="8" name="右箭头 7"/>
          <p:cNvSpPr/>
          <p:nvPr/>
        </p:nvSpPr>
        <p:spPr bwMode="auto">
          <a:xfrm>
            <a:off x="6588224" y="5433396"/>
            <a:ext cx="1592314" cy="685109"/>
          </a:xfrm>
          <a:prstGeom prst="rightArrow">
            <a:avLst>
              <a:gd name="adj1" fmla="val 67227"/>
              <a:gd name="adj2"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r>
              <a:rPr lang="zh-CN" altLang="en-US" dirty="0"/>
              <a:t>再然后</a:t>
            </a:r>
            <a:endParaRPr lang="zh-CN" altLang="en-US" dirty="0"/>
          </a:p>
        </p:txBody>
      </p:sp>
      <p:sp>
        <p:nvSpPr>
          <p:cNvPr id="7" name="矩形 6"/>
          <p:cNvSpPr/>
          <p:nvPr/>
        </p:nvSpPr>
        <p:spPr>
          <a:xfrm rot="1200492">
            <a:off x="794531" y="5178184"/>
            <a:ext cx="5457149" cy="769441"/>
          </a:xfrm>
          <a:prstGeom prst="rect">
            <a:avLst/>
          </a:prstGeom>
          <a:solidFill>
            <a:srgbClr val="2F2FC5"/>
          </a:solidFill>
          <a:ln w="31750">
            <a:solidFill>
              <a:schemeClr val="tx1"/>
            </a:solidFill>
            <a:prstDash val="dashDot"/>
          </a:ln>
        </p:spPr>
        <p:txBody>
          <a:bodyPr wrap="square" lIns="91440" tIns="45720" rIns="91440" bIns="45720">
            <a:spAutoFit/>
          </a:bodyPr>
          <a:lstStyle/>
          <a:p>
            <a:pPr algn="dist"/>
            <a:r>
              <a:rPr lang="en-US" altLang="zh-CN" sz="4400" b="1" dirty="0" smtClean="0">
                <a:ln w="9525">
                  <a:solidFill>
                    <a:schemeClr val="bg1"/>
                  </a:solidFill>
                  <a:prstDash val="solid"/>
                </a:ln>
                <a:solidFill>
                  <a:srgbClr val="FFFF00"/>
                </a:solidFill>
                <a:effectLst>
                  <a:outerShdw blurRad="12700" dist="38100" dir="2700000" algn="tl" rotWithShape="0">
                    <a:schemeClr val="bg1">
                      <a:lumMod val="50000"/>
                    </a:schemeClr>
                  </a:outerShdw>
                </a:effectLst>
                <a:latin typeface="华文行楷" panose="02010800040101010101" pitchFamily="2" charset="-122"/>
                <a:ea typeface="华文行楷" panose="02010800040101010101" pitchFamily="2" charset="-122"/>
              </a:rPr>
              <a:t>3</a:t>
            </a:r>
            <a:r>
              <a:rPr lang="zh-CN" altLang="en-US" sz="4400" b="1" dirty="0" smtClean="0">
                <a:ln w="9525">
                  <a:solidFill>
                    <a:schemeClr val="bg1"/>
                  </a:solidFill>
                  <a:prstDash val="solid"/>
                </a:ln>
                <a:solidFill>
                  <a:srgbClr val="FFFF00"/>
                </a:solidFill>
                <a:effectLst>
                  <a:outerShdw blurRad="12700" dist="38100" dir="2700000" algn="tl" rotWithShape="0">
                    <a:schemeClr val="bg1">
                      <a:lumMod val="50000"/>
                    </a:schemeClr>
                  </a:outerShdw>
                </a:effectLst>
                <a:latin typeface="华文行楷" panose="02010800040101010101" pitchFamily="2" charset="-122"/>
                <a:ea typeface="华文行楷" panose="02010800040101010101" pitchFamily="2" charset="-122"/>
              </a:rPr>
              <a:t>大步骤，不能省却</a:t>
            </a:r>
            <a:endParaRPr lang="zh-CN" altLang="en-US" sz="4400" b="1" cap="none" spc="0" dirty="0">
              <a:ln w="9525">
                <a:solidFill>
                  <a:schemeClr val="bg1"/>
                </a:solidFill>
                <a:prstDash val="solid"/>
              </a:ln>
              <a:solidFill>
                <a:srgbClr val="FFFF00"/>
              </a:solidFill>
              <a:effectLst>
                <a:outerShdw blurRad="12700" dist="38100" dir="2700000" algn="tl" rotWithShape="0">
                  <a:schemeClr val="bg1">
                    <a:lumMod val="50000"/>
                  </a:schemeClr>
                </a:outerShdw>
              </a:effectLst>
              <a:latin typeface="华文行楷" panose="02010800040101010101" pitchFamily="2" charset="-122"/>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50" y="428625"/>
            <a:ext cx="8686800" cy="6215063"/>
          </a:xfrm>
          <a:solidFill>
            <a:schemeClr val="tx1"/>
          </a:solidFill>
        </p:spPr>
        <p:txBody>
          <a:bodyPr>
            <a:noAutofit/>
          </a:bodyPr>
          <a:lstStyle/>
          <a:p>
            <a:pPr marL="365760" indent="-255905" eaLnBrk="1" fontAlgn="auto" hangingPunct="1">
              <a:lnSpc>
                <a:spcPct val="70000"/>
              </a:lnSpc>
              <a:spcAft>
                <a:spcPts val="0"/>
              </a:spcAft>
              <a:buClr>
                <a:schemeClr val="accent3"/>
              </a:buClr>
              <a:buFont typeface="Georgia" panose="02040502050405020303"/>
              <a:buNone/>
              <a:defRPr/>
            </a:pPr>
            <a:r>
              <a:rPr lang="zh-CN" altLang="en-US" sz="2000" b="1" noProof="1" smtClean="0">
                <a:solidFill>
                  <a:srgbClr val="000000"/>
                </a:solidFill>
                <a:ea typeface="+mj-ea"/>
              </a:rPr>
              <a:t>#</a:t>
            </a:r>
            <a:r>
              <a:rPr lang="en-US" altLang="zh-CN" sz="2000" b="1" noProof="1" smtClean="0">
                <a:solidFill>
                  <a:srgbClr val="000000"/>
                </a:solidFill>
                <a:ea typeface="+mj-ea"/>
              </a:rPr>
              <a:t>include &lt;iostream&gt;</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using namespace std;</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pitchFamily="18" charset="0"/>
              <a:buNone/>
              <a:defRPr/>
            </a:pPr>
            <a:r>
              <a:rPr lang="en-US" altLang="zh-CN" sz="2000" b="1" noProof="1" smtClean="0">
                <a:solidFill>
                  <a:srgbClr val="FF0000"/>
                </a:solidFill>
                <a:ea typeface="+mj-ea"/>
              </a:rPr>
              <a:t>double power (double x, int n);</a:t>
            </a:r>
            <a:r>
              <a:rPr lang="en-US" sz="2000" b="1" dirty="0" smtClean="0">
                <a:solidFill>
                  <a:srgbClr val="FF0000"/>
                </a:solidFill>
                <a:ea typeface="+mj-ea"/>
              </a:rPr>
              <a:t> //</a:t>
            </a:r>
            <a:r>
              <a:rPr lang="zh-CN" altLang="en-US" sz="2000" b="1" dirty="0" smtClean="0">
                <a:solidFill>
                  <a:srgbClr val="FF0000"/>
                </a:solidFill>
                <a:ea typeface="+mj-ea"/>
              </a:rPr>
              <a:t>计算</a:t>
            </a:r>
            <a:r>
              <a:rPr lang="en-US" sz="2000" b="1" dirty="0" smtClean="0">
                <a:solidFill>
                  <a:srgbClr val="FF0000"/>
                </a:solidFill>
                <a:ea typeface="+mj-ea"/>
              </a:rPr>
              <a:t>x</a:t>
            </a:r>
            <a:r>
              <a:rPr lang="zh-CN" altLang="en-US" sz="2000" b="1" dirty="0" smtClean="0">
                <a:solidFill>
                  <a:srgbClr val="FF0000"/>
                </a:solidFill>
                <a:ea typeface="+mj-ea"/>
              </a:rPr>
              <a:t>的</a:t>
            </a:r>
            <a:r>
              <a:rPr lang="en-US" sz="2000" b="1" dirty="0" smtClean="0">
                <a:solidFill>
                  <a:srgbClr val="FF0000"/>
                </a:solidFill>
                <a:ea typeface="+mj-ea"/>
              </a:rPr>
              <a:t>n</a:t>
            </a:r>
            <a:r>
              <a:rPr lang="zh-CN" altLang="en-US" sz="2000" b="1" dirty="0" smtClean="0">
                <a:solidFill>
                  <a:srgbClr val="FF0000"/>
                </a:solidFill>
                <a:ea typeface="+mj-ea"/>
              </a:rPr>
              <a:t>次方</a:t>
            </a:r>
            <a:endParaRPr lang="zh-CN" altLang="en-US" sz="2000" b="1" dirty="0" smtClean="0">
              <a:solidFill>
                <a:srgbClr val="FF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int main() {</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int  value = 0;</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cout &lt;&lt; "Enter an 8 bit binary number  ";</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for (int i = 7; i &gt;= 0; i--) {</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char ch;</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cin &gt;&gt; ch;</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if (ch == '1')</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value += static_cast&lt;int&gt;(power(2, i));</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cout &lt;&lt; "Decimal value is  " &lt;&lt; value &lt;&lt; endl;</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return 0;</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endParaRPr lang="en-US" altLang="zh-CN" sz="2000" b="1" dirty="0"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double power (double x, int n) {</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double val = 1.0;</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while (n--)</a:t>
            </a:r>
            <a:r>
              <a:rPr lang="en-US" altLang="zh-CN" sz="2000" b="1" dirty="0" smtClean="0">
                <a:solidFill>
                  <a:srgbClr val="000000"/>
                </a:solidFill>
                <a:ea typeface="+mj-ea"/>
              </a:rPr>
              <a:t> </a:t>
            </a:r>
            <a:endParaRPr lang="en-US" altLang="zh-CN" sz="2000" b="1" dirty="0"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val *= x;</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	return val;</a:t>
            </a:r>
            <a:endParaRPr lang="en-US" altLang="zh-CN" sz="2000" b="1" noProof="1" smtClean="0">
              <a:solidFill>
                <a:srgbClr val="000000"/>
              </a:solidFill>
              <a:ea typeface="+mj-ea"/>
            </a:endParaRPr>
          </a:p>
          <a:p>
            <a:pPr marL="365760" indent="-255905" eaLnBrk="1" fontAlgn="auto" hangingPunct="1">
              <a:lnSpc>
                <a:spcPct val="70000"/>
              </a:lnSpc>
              <a:spcAft>
                <a:spcPts val="0"/>
              </a:spcAft>
              <a:buClr>
                <a:schemeClr val="accent3"/>
              </a:buClr>
              <a:buFont typeface="Georgia" panose="02040502050405020303"/>
              <a:buNone/>
              <a:defRPr/>
            </a:pPr>
            <a:r>
              <a:rPr lang="en-US" altLang="zh-CN" sz="2000" b="1" noProof="1" smtClean="0">
                <a:solidFill>
                  <a:srgbClr val="000000"/>
                </a:solidFill>
                <a:ea typeface="+mj-ea"/>
              </a:rPr>
              <a:t>}</a:t>
            </a:r>
            <a:endParaRPr lang="en-US" altLang="zh-CN" sz="1800" b="1" dirty="0" smtClean="0">
              <a:solidFill>
                <a:srgbClr val="000000"/>
              </a:solidFill>
              <a:ea typeface="+mj-ea"/>
            </a:endParaRPr>
          </a:p>
        </p:txBody>
      </p:sp>
      <p:sp>
        <p:nvSpPr>
          <p:cNvPr id="23557" name="Text Box 4"/>
          <p:cNvSpPr txBox="1">
            <a:spLocks noChangeArrowheads="1"/>
          </p:cNvSpPr>
          <p:nvPr/>
        </p:nvSpPr>
        <p:spPr bwMode="auto">
          <a:xfrm>
            <a:off x="5214938" y="5301208"/>
            <a:ext cx="3786187" cy="1446550"/>
          </a:xfrm>
          <a:prstGeom prst="rect">
            <a:avLst/>
          </a:prstGeom>
          <a:solidFill>
            <a:srgbClr val="000000"/>
          </a:solidFill>
          <a:ln w="12700" cap="sq">
            <a:noFill/>
            <a:miter lim="800000"/>
            <a:headEnd type="none" w="sm" len="sm"/>
            <a:tailEnd type="none" w="sm" len="sm"/>
          </a:ln>
        </p:spPr>
        <p:txBody>
          <a:bodyPr>
            <a:spAutoFit/>
          </a:bodyPr>
          <a:lstStyle/>
          <a:p>
            <a:pPr algn="l">
              <a:spcBef>
                <a:spcPct val="20000"/>
              </a:spcBef>
              <a:buClr>
                <a:schemeClr val="accent2"/>
              </a:buClr>
              <a:buSzPct val="80000"/>
              <a:buFont typeface="Wingdings" panose="05000000000000000000" pitchFamily="2" charset="2"/>
              <a:buNone/>
            </a:pPr>
            <a:r>
              <a:rPr lang="zh-CN" sz="2000" b="1" dirty="0">
                <a:latin typeface="+mn-lt"/>
                <a:ea typeface="+mj-ea"/>
              </a:rPr>
              <a:t>运行结果：</a:t>
            </a:r>
            <a:endParaRPr lang="zh-CN" sz="2000" b="1" dirty="0">
              <a:latin typeface="+mn-lt"/>
              <a:ea typeface="+mj-ea"/>
            </a:endParaRPr>
          </a:p>
          <a:p>
            <a:pPr algn="l">
              <a:spcBef>
                <a:spcPct val="20000"/>
              </a:spcBef>
              <a:buClr>
                <a:schemeClr val="accent2"/>
              </a:buClr>
              <a:buSzPct val="80000"/>
              <a:buFont typeface="Wingdings" panose="05000000000000000000" pitchFamily="2" charset="2"/>
              <a:buNone/>
            </a:pPr>
            <a:r>
              <a:rPr lang="en-US" altLang="zh-CN" sz="2000" b="1" noProof="1">
                <a:latin typeface="+mn-lt"/>
                <a:ea typeface="+mj-ea"/>
              </a:rPr>
              <a:t>Enter an 8 bit binary number  01101001</a:t>
            </a:r>
            <a:endParaRPr lang="en-US" altLang="zh-CN" sz="2000" b="1" noProof="1">
              <a:latin typeface="+mn-lt"/>
              <a:ea typeface="+mj-ea"/>
            </a:endParaRPr>
          </a:p>
          <a:p>
            <a:pPr algn="l">
              <a:spcBef>
                <a:spcPct val="20000"/>
              </a:spcBef>
              <a:buClr>
                <a:schemeClr val="accent2"/>
              </a:buClr>
              <a:buSzPct val="80000"/>
              <a:buFont typeface="Wingdings" panose="05000000000000000000" pitchFamily="2" charset="2"/>
              <a:buNone/>
            </a:pPr>
            <a:r>
              <a:rPr lang="en-US" altLang="zh-CN" sz="2000" b="1" noProof="1">
                <a:latin typeface="+mn-lt"/>
                <a:ea typeface="+mj-ea"/>
              </a:rPr>
              <a:t>Decimal value is  105</a:t>
            </a:r>
            <a:endParaRPr lang="en-US" altLang="zh-CN" sz="2000" b="1" dirty="0">
              <a:latin typeface="+mn-lt"/>
              <a:ea typeface="+mj-ea"/>
            </a:endParaRPr>
          </a:p>
        </p:txBody>
      </p:sp>
      <p:sp>
        <p:nvSpPr>
          <p:cNvPr id="23558" name="标题 1"/>
          <p:cNvSpPr>
            <a:spLocks noGrp="1"/>
          </p:cNvSpPr>
          <p:nvPr>
            <p:ph type="title"/>
          </p:nvPr>
        </p:nvSpPr>
        <p:spPr>
          <a:xfrm>
            <a:off x="6000750" y="428625"/>
            <a:ext cx="3000375" cy="642938"/>
          </a:xfrm>
          <a:solidFill>
            <a:schemeClr val="bg1"/>
          </a:solidFill>
        </p:spPr>
        <p:txBody>
          <a:bodyPr/>
          <a:lstStyle/>
          <a:p>
            <a:pPr eaLnBrk="1" hangingPunct="1"/>
            <a:r>
              <a:rPr lang="zh-CN" altLang="en-US" smtClean="0"/>
              <a:t>例</a:t>
            </a:r>
            <a:r>
              <a:rPr lang="en-US" altLang="zh-CN" smtClean="0"/>
              <a:t>3-2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标题 1"/>
          <p:cNvSpPr>
            <a:spLocks noGrp="1"/>
          </p:cNvSpPr>
          <p:nvPr>
            <p:ph type="title"/>
          </p:nvPr>
        </p:nvSpPr>
        <p:spPr>
          <a:xfrm>
            <a:off x="628650" y="365129"/>
            <a:ext cx="7886700" cy="831623"/>
          </a:xfrm>
          <a:noFill/>
          <a:ln>
            <a:noFill/>
          </a:ln>
        </p:spPr>
        <p:txBody>
          <a:bodyPr anchor="t"/>
          <a:lstStyle/>
          <a:p>
            <a:r>
              <a:rPr lang="zh-CN" altLang="en-US" sz="2800" b="1" dirty="0" smtClean="0">
                <a:solidFill>
                  <a:srgbClr val="FFFFFF"/>
                </a:solidFill>
                <a:latin typeface="微软雅黑" panose="020B0503020204020204" pitchFamily="34" charset="-122"/>
                <a:ea typeface="微软雅黑" panose="020B0503020204020204" pitchFamily="34" charset="-122"/>
                <a:cs typeface="+mn-cs"/>
              </a:rPr>
              <a:t>例</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3-3 </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编写程序求</a:t>
            </a:r>
            <a:r>
              <a:rPr lang="en-US" altLang="zh-CN" sz="2800" b="1" dirty="0" smtClean="0">
                <a:solidFill>
                  <a:srgbClr val="FFFFFF"/>
                </a:solidFill>
                <a:latin typeface="微软雅黑" panose="020B0503020204020204" pitchFamily="34" charset="-122"/>
                <a:ea typeface="微软雅黑" panose="020B0503020204020204" pitchFamily="34" charset="-122"/>
                <a:cs typeface="+mn-cs"/>
              </a:rPr>
              <a:t>π</a:t>
            </a:r>
            <a:r>
              <a:rPr lang="zh-CN" altLang="en-US" sz="2800" b="1" dirty="0" smtClean="0">
                <a:solidFill>
                  <a:srgbClr val="FFFFFF"/>
                </a:solidFill>
                <a:latin typeface="微软雅黑" panose="020B0503020204020204" pitchFamily="34" charset="-122"/>
                <a:ea typeface="微软雅黑" panose="020B0503020204020204" pitchFamily="34" charset="-122"/>
                <a:cs typeface="+mn-cs"/>
              </a:rPr>
              <a:t>的值</a:t>
            </a:r>
            <a:endParaRPr lang="zh-CN" altLang="en-US" sz="2800" b="1" dirty="0" smtClean="0">
              <a:solidFill>
                <a:srgbClr val="FFFFFF"/>
              </a:solidFill>
              <a:latin typeface="微软雅黑" panose="020B0503020204020204" pitchFamily="34" charset="-122"/>
              <a:ea typeface="微软雅黑" panose="020B0503020204020204" pitchFamily="34" charset="-122"/>
              <a:cs typeface="+mn-cs"/>
            </a:endParaRPr>
          </a:p>
        </p:txBody>
      </p:sp>
      <p:sp>
        <p:nvSpPr>
          <p:cNvPr id="1029" name="内容占位符 2"/>
          <p:cNvSpPr>
            <a:spLocks noGrp="1"/>
          </p:cNvSpPr>
          <p:nvPr>
            <p:ph idx="1"/>
          </p:nvPr>
        </p:nvSpPr>
        <p:spPr>
          <a:xfrm>
            <a:off x="539552" y="1340768"/>
            <a:ext cx="7886700" cy="4351338"/>
          </a:xfrm>
          <a:noFill/>
        </p:spPr>
        <p:txBody>
          <a:bodyPr/>
          <a:lstStyle/>
          <a:p>
            <a:pPr marL="0" indent="0" eaLnBrk="1" hangingPunct="1">
              <a:lnSpc>
                <a:spcPct val="150000"/>
              </a:lnSpc>
              <a:buFont typeface="Georgia" panose="02040502050405020303" pitchFamily="18" charset="0"/>
              <a:buNone/>
            </a:pPr>
            <a:r>
              <a:rPr lang="el-GR" altLang="zh-CN" sz="2800" dirty="0" smtClean="0"/>
              <a:t>Π</a:t>
            </a:r>
            <a:r>
              <a:rPr lang="zh-CN" altLang="en-US" sz="2800" b="1" dirty="0" smtClean="0">
                <a:latin typeface="微软雅黑" panose="020B0503020204020204" pitchFamily="34" charset="-122"/>
                <a:ea typeface="微软雅黑" panose="020B0503020204020204" pitchFamily="34" charset="-122"/>
              </a:rPr>
              <a:t>的计算公式如下：</a:t>
            </a: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r>
              <a:rPr lang="zh-CN" altLang="en-US" sz="2800" b="1" dirty="0" smtClean="0">
                <a:latin typeface="微软雅黑" panose="020B0503020204020204" pitchFamily="34" charset="-122"/>
                <a:ea typeface="微软雅黑" panose="020B0503020204020204" pitchFamily="34" charset="-122"/>
              </a:rPr>
              <a:t>其中</a:t>
            </a:r>
            <a:r>
              <a:rPr lang="en-US" altLang="zh-CN" sz="2800" b="1" dirty="0" err="1" smtClean="0">
                <a:latin typeface="微软雅黑" panose="020B0503020204020204" pitchFamily="34" charset="-122"/>
                <a:ea typeface="微软雅黑" panose="020B0503020204020204" pitchFamily="34" charset="-122"/>
              </a:rPr>
              <a:t>arctan</a:t>
            </a:r>
            <a:r>
              <a:rPr lang="zh-CN" altLang="en-US" sz="2800" b="1" dirty="0" smtClean="0">
                <a:latin typeface="微软雅黑" panose="020B0503020204020204" pitchFamily="34" charset="-122"/>
                <a:ea typeface="微软雅黑" panose="020B0503020204020204" pitchFamily="34" charset="-122"/>
              </a:rPr>
              <a:t>用如下形式的级数计算：</a:t>
            </a: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r>
              <a:rPr lang="zh-CN" altLang="en-US" sz="2800" b="1" dirty="0" smtClean="0">
                <a:latin typeface="微软雅黑" panose="020B0503020204020204" pitchFamily="34" charset="-122"/>
                <a:ea typeface="微软雅黑" panose="020B0503020204020204" pitchFamily="34" charset="-122"/>
              </a:rPr>
              <a:t>直到级数某项绝对值不大于</a:t>
            </a:r>
            <a:r>
              <a:rPr lang="en-US" altLang="zh-CN" sz="2800" b="1" dirty="0" smtClean="0">
                <a:latin typeface="微软雅黑" panose="020B0503020204020204" pitchFamily="34" charset="-122"/>
                <a:ea typeface="微软雅黑" panose="020B0503020204020204" pitchFamily="34" charset="-122"/>
              </a:rPr>
              <a:t>10</a:t>
            </a:r>
            <a:r>
              <a:rPr lang="en-US" altLang="zh-CN" sz="2800" b="1" baseline="30000" dirty="0" smtClean="0">
                <a:latin typeface="微软雅黑" panose="020B0503020204020204" pitchFamily="34" charset="-122"/>
                <a:ea typeface="微软雅黑" panose="020B0503020204020204" pitchFamily="34" charset="-122"/>
              </a:rPr>
              <a:t>-15</a:t>
            </a:r>
            <a:r>
              <a:rPr lang="zh-CN" altLang="en-US" sz="2800" b="1" dirty="0" smtClean="0">
                <a:latin typeface="微软雅黑" panose="020B0503020204020204" pitchFamily="34" charset="-122"/>
                <a:ea typeface="微软雅黑" panose="020B0503020204020204" pitchFamily="34" charset="-122"/>
              </a:rPr>
              <a:t>为止；</a:t>
            </a:r>
            <a:r>
              <a:rPr lang="en-US" altLang="zh-CN" sz="2800" b="1" dirty="0" smtClean="0">
                <a:latin typeface="微软雅黑" panose="020B0503020204020204" pitchFamily="34" charset="-122"/>
                <a:ea typeface="微软雅黑" panose="020B0503020204020204" pitchFamily="34" charset="-122"/>
              </a:rPr>
              <a:t>π</a:t>
            </a:r>
            <a:r>
              <a:rPr lang="zh-CN" altLang="en-US" sz="2800" b="1" dirty="0" smtClean="0">
                <a:latin typeface="微软雅黑" panose="020B0503020204020204" pitchFamily="34" charset="-122"/>
                <a:ea typeface="微软雅黑" panose="020B0503020204020204" pitchFamily="34" charset="-122"/>
              </a:rPr>
              <a:t>和</a:t>
            </a:r>
            <a:r>
              <a:rPr lang="en-US" altLang="zh-CN" sz="2800" b="1" dirty="0" smtClean="0">
                <a:latin typeface="微软雅黑" panose="020B0503020204020204" pitchFamily="34" charset="-122"/>
                <a:ea typeface="微软雅黑" panose="020B0503020204020204" pitchFamily="34" charset="-122"/>
              </a:rPr>
              <a:t>x</a:t>
            </a:r>
            <a:r>
              <a:rPr lang="zh-CN" altLang="en-US" sz="2800" b="1" dirty="0" smtClean="0">
                <a:latin typeface="微软雅黑" panose="020B0503020204020204" pitchFamily="34" charset="-122"/>
                <a:ea typeface="微软雅黑" panose="020B0503020204020204" pitchFamily="34" charset="-122"/>
              </a:rPr>
              <a:t>均为</a:t>
            </a:r>
            <a:r>
              <a:rPr lang="en-US" altLang="zh-CN" sz="2800" b="1" dirty="0" smtClean="0">
                <a:latin typeface="微软雅黑" panose="020B0503020204020204" pitchFamily="34" charset="-122"/>
                <a:ea typeface="微软雅黑" panose="020B0503020204020204" pitchFamily="34" charset="-122"/>
              </a:rPr>
              <a:t>double</a:t>
            </a:r>
            <a:r>
              <a:rPr lang="zh-CN" altLang="en-US" sz="2800" b="1" dirty="0" smtClean="0">
                <a:latin typeface="微软雅黑" panose="020B0503020204020204" pitchFamily="34" charset="-122"/>
                <a:ea typeface="微软雅黑" panose="020B0503020204020204" pitchFamily="34" charset="-122"/>
              </a:rPr>
              <a:t>型。</a:t>
            </a:r>
            <a:endParaRPr lang="en-US" altLang="zh-CN" sz="2800" b="1" dirty="0" smtClean="0">
              <a:latin typeface="微软雅黑" panose="020B0503020204020204" pitchFamily="34" charset="-122"/>
              <a:ea typeface="微软雅黑" panose="020B0503020204020204" pitchFamily="34" charset="-122"/>
            </a:endParaRPr>
          </a:p>
          <a:p>
            <a:pPr marL="0" indent="0" eaLnBrk="1" hangingPunct="1">
              <a:lnSpc>
                <a:spcPct val="150000"/>
              </a:lnSpc>
              <a:buFont typeface="Georgia" panose="02040502050405020303" pitchFamily="18" charset="0"/>
              <a:buNone/>
            </a:pPr>
            <a:endParaRPr lang="zh-CN" altLang="en-US" sz="2800" b="1" dirty="0" smtClean="0">
              <a:latin typeface="微软雅黑" panose="020B0503020204020204" pitchFamily="34" charset="-122"/>
              <a:ea typeface="微软雅黑" panose="020B0503020204020204" pitchFamily="34" charset="-122"/>
            </a:endParaRPr>
          </a:p>
        </p:txBody>
      </p:sp>
      <p:graphicFrame>
        <p:nvGraphicFramePr>
          <p:cNvPr id="1026" name="Object 9"/>
          <p:cNvGraphicFramePr>
            <a:graphicFrameLocks noChangeAspect="1"/>
          </p:cNvGraphicFramePr>
          <p:nvPr/>
        </p:nvGraphicFramePr>
        <p:xfrm>
          <a:off x="2357438" y="2428875"/>
          <a:ext cx="3929062" cy="1000125"/>
        </p:xfrm>
        <a:graphic>
          <a:graphicData uri="http://schemas.openxmlformats.org/presentationml/2006/ole">
            <mc:AlternateContent xmlns:mc="http://schemas.openxmlformats.org/markup-compatibility/2006">
              <mc:Choice xmlns:v="urn:schemas-microsoft-com:vml" Requires="v">
                <p:oleObj spid="_x0000_s618858" name="Equation" r:id="rId1" imgW="2095500" imgH="431800" progId="Equation.DSMT4">
                  <p:embed/>
                </p:oleObj>
              </mc:Choice>
              <mc:Fallback>
                <p:oleObj name="Equation" r:id="rId1" imgW="2095500" imgH="43180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2428875"/>
                        <a:ext cx="3929062" cy="1000125"/>
                      </a:xfrm>
                      <a:prstGeom prst="rect">
                        <a:avLst/>
                      </a:prstGeom>
                      <a:solidFill>
                        <a:schemeClr val="tx1"/>
                      </a:solidFill>
                      <a:ln>
                        <a:noFill/>
                      </a:ln>
                      <a:effectLst/>
                    </p:spPr>
                  </p:pic>
                </p:oleObj>
              </mc:Fallback>
            </mc:AlternateContent>
          </a:graphicData>
        </a:graphic>
      </p:graphicFrame>
      <p:graphicFrame>
        <p:nvGraphicFramePr>
          <p:cNvPr id="1027" name="Object 10"/>
          <p:cNvGraphicFramePr>
            <a:graphicFrameLocks noChangeAspect="1"/>
          </p:cNvGraphicFramePr>
          <p:nvPr/>
        </p:nvGraphicFramePr>
        <p:xfrm>
          <a:off x="2286000" y="4227934"/>
          <a:ext cx="3897313" cy="857250"/>
        </p:xfrm>
        <a:graphic>
          <a:graphicData uri="http://schemas.openxmlformats.org/presentationml/2006/ole">
            <mc:AlternateContent xmlns:mc="http://schemas.openxmlformats.org/markup-compatibility/2006">
              <mc:Choice xmlns:v="urn:schemas-microsoft-com:vml" Requires="v">
                <p:oleObj spid="_x0000_s618859" name="Equation" r:id="rId3" imgW="1905000" imgH="419100" progId="Equation.DSMT4">
                  <p:embed/>
                </p:oleObj>
              </mc:Choice>
              <mc:Fallback>
                <p:oleObj name="Equation" r:id="rId3" imgW="1905000" imgH="4191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227934"/>
                        <a:ext cx="3897313" cy="857250"/>
                      </a:xfrm>
                      <a:prstGeom prst="rect">
                        <a:avLst/>
                      </a:prstGeom>
                      <a:solidFill>
                        <a:schemeClr val="tx1"/>
                      </a:solid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625" y="571500"/>
            <a:ext cx="8543925" cy="6073775"/>
          </a:xfrm>
          <a:solidFill>
            <a:schemeClr val="tx1"/>
          </a:solidFill>
        </p:spPr>
        <p:txBody>
          <a:bodyPr>
            <a:noAutofit/>
          </a:bodyPr>
          <a:lstStyle/>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#include &lt;</a:t>
            </a:r>
            <a:r>
              <a:rPr lang="en-US" altLang="zh-CN" sz="2000" b="1" dirty="0" err="1" smtClean="0">
                <a:solidFill>
                  <a:srgbClr val="000000"/>
                </a:solidFill>
                <a:latin typeface="微软雅黑" panose="020B0503020204020204" pitchFamily="34" charset="-122"/>
                <a:ea typeface="微软雅黑" panose="020B0503020204020204" pitchFamily="34" charset="-122"/>
              </a:rPr>
              <a:t>iostream</a:t>
            </a:r>
            <a:r>
              <a:rPr lang="en-US" altLang="zh-CN" sz="2000" b="1" dirty="0" smtClean="0">
                <a:solidFill>
                  <a:srgbClr val="000000"/>
                </a:solidFill>
                <a:latin typeface="微软雅黑" panose="020B0503020204020204" pitchFamily="34" charset="-122"/>
                <a:ea typeface="微软雅黑" panose="020B0503020204020204" pitchFamily="34" charset="-122"/>
              </a:rPr>
              <a:t>&gt;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using namespace std;</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double </a:t>
            </a:r>
            <a:r>
              <a:rPr lang="en-US" altLang="zh-CN" sz="2000" b="1" dirty="0" err="1" smtClean="0">
                <a:solidFill>
                  <a:srgbClr val="000000"/>
                </a:solidFill>
                <a:latin typeface="微软雅黑" panose="020B0503020204020204" pitchFamily="34" charset="-122"/>
                <a:ea typeface="微软雅黑" panose="020B0503020204020204" pitchFamily="34" charset="-122"/>
              </a:rPr>
              <a:t>arctan</a:t>
            </a:r>
            <a:r>
              <a:rPr lang="en-US" altLang="zh-CN" sz="2000" b="1" dirty="0" smtClean="0">
                <a:solidFill>
                  <a:srgbClr val="000000"/>
                </a:solidFill>
                <a:latin typeface="微软雅黑" panose="020B0503020204020204" pitchFamily="34" charset="-122"/>
                <a:ea typeface="微软雅黑" panose="020B0503020204020204" pitchFamily="34" charset="-122"/>
              </a:rPr>
              <a:t>(double x)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a:t>
            </a:r>
            <a:r>
              <a:rPr lang="en-US" altLang="zh-CN" sz="2000" b="1" dirty="0" err="1" smtClean="0">
                <a:solidFill>
                  <a:srgbClr val="000000"/>
                </a:solidFill>
                <a:latin typeface="微软雅黑" panose="020B0503020204020204" pitchFamily="34" charset="-122"/>
                <a:ea typeface="微软雅黑" panose="020B0503020204020204" pitchFamily="34" charset="-122"/>
              </a:rPr>
              <a:t>sqr</a:t>
            </a:r>
            <a:r>
              <a:rPr lang="en-US" altLang="zh-CN" sz="2000" b="1" dirty="0" smtClean="0">
                <a:solidFill>
                  <a:srgbClr val="000000"/>
                </a:solidFill>
                <a:latin typeface="微软雅黑" panose="020B0503020204020204" pitchFamily="34" charset="-122"/>
                <a:ea typeface="微软雅黑" panose="020B0503020204020204" pitchFamily="34" charset="-122"/>
              </a:rPr>
              <a:t> = x * x;</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e = x;</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r = 0;</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int </a:t>
            </a:r>
            <a:r>
              <a:rPr lang="en-US" altLang="zh-CN" sz="2000" b="1" dirty="0" err="1" smtClean="0">
                <a:solidFill>
                  <a:srgbClr val="000000"/>
                </a:solidFill>
                <a:latin typeface="微软雅黑" panose="020B0503020204020204" pitchFamily="34" charset="-122"/>
                <a:ea typeface="微软雅黑" panose="020B0503020204020204" pitchFamily="34" charset="-122"/>
              </a:rPr>
              <a:t>i</a:t>
            </a:r>
            <a:r>
              <a:rPr lang="en-US" altLang="zh-CN" sz="2000" b="1" dirty="0" smtClean="0">
                <a:solidFill>
                  <a:srgbClr val="000000"/>
                </a:solidFill>
                <a:latin typeface="微软雅黑" panose="020B0503020204020204" pitchFamily="34" charset="-122"/>
                <a:ea typeface="微软雅黑" panose="020B0503020204020204" pitchFamily="34" charset="-122"/>
              </a:rPr>
              <a:t> = 1;</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while (e / </a:t>
            </a:r>
            <a:r>
              <a:rPr lang="en-US" altLang="zh-CN" sz="2000" b="1" dirty="0" err="1" smtClean="0">
                <a:solidFill>
                  <a:srgbClr val="000000"/>
                </a:solidFill>
                <a:latin typeface="微软雅黑" panose="020B0503020204020204" pitchFamily="34" charset="-122"/>
                <a:ea typeface="微软雅黑" panose="020B0503020204020204" pitchFamily="34" charset="-122"/>
              </a:rPr>
              <a:t>i</a:t>
            </a:r>
            <a:r>
              <a:rPr lang="en-US" altLang="zh-CN" sz="2000" b="1" dirty="0" smtClean="0">
                <a:solidFill>
                  <a:srgbClr val="000000"/>
                </a:solidFill>
                <a:latin typeface="微软雅黑" panose="020B0503020204020204" pitchFamily="34" charset="-122"/>
                <a:ea typeface="微软雅黑" panose="020B0503020204020204" pitchFamily="34" charset="-122"/>
              </a:rPr>
              <a:t> &gt; 1e-15)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f = e / </a:t>
            </a:r>
            <a:r>
              <a:rPr lang="en-US" altLang="zh-CN" sz="2000" b="1" dirty="0" err="1" smtClean="0">
                <a:solidFill>
                  <a:srgbClr val="000000"/>
                </a:solidFill>
                <a:latin typeface="微软雅黑" panose="020B0503020204020204" pitchFamily="34" charset="-122"/>
                <a:ea typeface="微软雅黑" panose="020B0503020204020204" pitchFamily="34" charset="-122"/>
              </a:rPr>
              <a:t>i</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r = (</a:t>
            </a:r>
            <a:r>
              <a:rPr lang="en-US" altLang="zh-CN" sz="2000" b="1" dirty="0" err="1" smtClean="0">
                <a:solidFill>
                  <a:srgbClr val="000000"/>
                </a:solidFill>
                <a:latin typeface="微软雅黑" panose="020B0503020204020204" pitchFamily="34" charset="-122"/>
                <a:ea typeface="微软雅黑" panose="020B0503020204020204" pitchFamily="34" charset="-122"/>
              </a:rPr>
              <a:t>i</a:t>
            </a:r>
            <a:r>
              <a:rPr lang="en-US" altLang="zh-CN" sz="2000" b="1" dirty="0" smtClean="0">
                <a:solidFill>
                  <a:srgbClr val="000000"/>
                </a:solidFill>
                <a:latin typeface="微软雅黑" panose="020B0503020204020204" pitchFamily="34" charset="-122"/>
                <a:ea typeface="微软雅黑" panose="020B0503020204020204" pitchFamily="34" charset="-122"/>
              </a:rPr>
              <a:t> % 4 == 1) ? r + f : r - f;</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e = e * </a:t>
            </a:r>
            <a:r>
              <a:rPr lang="en-US" altLang="zh-CN" sz="2000" b="1" dirty="0" err="1" smtClean="0">
                <a:solidFill>
                  <a:srgbClr val="000000"/>
                </a:solidFill>
                <a:latin typeface="微软雅黑" panose="020B0503020204020204" pitchFamily="34" charset="-122"/>
                <a:ea typeface="微软雅黑" panose="020B0503020204020204" pitchFamily="34" charset="-122"/>
              </a:rPr>
              <a:t>sqr</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i</a:t>
            </a:r>
            <a:r>
              <a:rPr lang="en-US" altLang="zh-CN" sz="2000" b="1" dirty="0" smtClean="0">
                <a:solidFill>
                  <a:srgbClr val="000000"/>
                </a:solidFill>
                <a:latin typeface="微软雅黑" panose="020B0503020204020204" pitchFamily="34" charset="-122"/>
                <a:ea typeface="微软雅黑" panose="020B0503020204020204" pitchFamily="34" charset="-122"/>
              </a:rPr>
              <a:t> += 2;</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return r;</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Font typeface="Georgia" panose="02040502050405020303"/>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sp>
        <p:nvSpPr>
          <p:cNvPr id="24581" name="标题 1"/>
          <p:cNvSpPr>
            <a:spLocks noGrp="1"/>
          </p:cNvSpPr>
          <p:nvPr>
            <p:ph type="title"/>
          </p:nvPr>
        </p:nvSpPr>
        <p:spPr>
          <a:xfrm>
            <a:off x="6357938" y="571500"/>
            <a:ext cx="2614612" cy="1071563"/>
          </a:xfrm>
          <a:solidFill>
            <a:schemeClr val="bg1"/>
          </a:solidFill>
        </p:spPr>
        <p:txBody>
          <a:bodyPr/>
          <a:lstStyle/>
          <a:p>
            <a:pPr eaLnBrk="1" hangingPunct="1"/>
            <a:r>
              <a:rPr lang="zh-CN" altLang="en-US" smtClean="0"/>
              <a:t>例</a:t>
            </a:r>
            <a:r>
              <a:rPr lang="en-US" altLang="zh-CN" smtClean="0"/>
              <a:t>3-3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1000125"/>
            <a:ext cx="8858250" cy="4572000"/>
          </a:xfrm>
          <a:solidFill>
            <a:schemeClr val="tx1"/>
          </a:solidFill>
        </p:spPr>
        <p:txBody>
          <a:bodyPr>
            <a:noAutofit/>
          </a:bodyPr>
          <a:lstStyle/>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int main()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a = 16.0 * </a:t>
            </a:r>
            <a:r>
              <a:rPr lang="en-US" altLang="zh-CN" sz="2000" b="1" dirty="0" err="1" smtClean="0">
                <a:solidFill>
                  <a:srgbClr val="000000"/>
                </a:solidFill>
                <a:latin typeface="微软雅黑" panose="020B0503020204020204" pitchFamily="34" charset="-122"/>
                <a:ea typeface="微软雅黑" panose="020B0503020204020204" pitchFamily="34" charset="-122"/>
              </a:rPr>
              <a:t>arctan</a:t>
            </a:r>
            <a:r>
              <a:rPr lang="en-US" altLang="zh-CN" sz="2000" b="1" dirty="0" smtClean="0">
                <a:solidFill>
                  <a:srgbClr val="000000"/>
                </a:solidFill>
                <a:latin typeface="微软雅黑" panose="020B0503020204020204" pitchFamily="34" charset="-122"/>
                <a:ea typeface="微软雅黑" panose="020B0503020204020204" pitchFamily="34" charset="-122"/>
              </a:rPr>
              <a:t>(1 / 5.0);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double b = 4.0 * </a:t>
            </a:r>
            <a:r>
              <a:rPr lang="en-US" altLang="zh-CN" sz="2000" b="1" dirty="0" err="1" smtClean="0">
                <a:solidFill>
                  <a:srgbClr val="000000"/>
                </a:solidFill>
                <a:latin typeface="微软雅黑" panose="020B0503020204020204" pitchFamily="34" charset="-122"/>
                <a:ea typeface="微软雅黑" panose="020B0503020204020204" pitchFamily="34" charset="-122"/>
              </a:rPr>
              <a:t>arctan</a:t>
            </a:r>
            <a:r>
              <a:rPr lang="en-US" altLang="zh-CN" sz="2000" b="1" dirty="0" smtClean="0">
                <a:solidFill>
                  <a:srgbClr val="000000"/>
                </a:solidFill>
                <a:latin typeface="微软雅黑" panose="020B0503020204020204" pitchFamily="34" charset="-122"/>
                <a:ea typeface="微软雅黑" panose="020B0503020204020204" pitchFamily="34" charset="-122"/>
              </a:rPr>
              <a:t>(1 / 239.0);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1800" b="1" dirty="0" smtClean="0">
                <a:solidFill>
                  <a:srgbClr val="000000"/>
                </a:solidFill>
                <a:latin typeface="微软雅黑" panose="020B0503020204020204" pitchFamily="34" charset="-122"/>
                <a:ea typeface="微软雅黑" panose="020B0503020204020204" pitchFamily="34" charset="-122"/>
              </a:rPr>
              <a:t>    /* </a:t>
            </a:r>
            <a:r>
              <a:rPr lang="zh-CN" altLang="en-US" sz="1800" b="1" dirty="0" smtClean="0">
                <a:solidFill>
                  <a:srgbClr val="000000"/>
                </a:solidFill>
                <a:latin typeface="微软雅黑" panose="020B0503020204020204" pitchFamily="34" charset="-122"/>
                <a:ea typeface="微软雅黑" panose="020B0503020204020204" pitchFamily="34" charset="-122"/>
              </a:rPr>
              <a:t>注意：因为整数相除结果取整，如果参数写</a:t>
            </a:r>
            <a:r>
              <a:rPr lang="en-US" altLang="zh-CN" sz="1800" b="1" dirty="0" smtClean="0">
                <a:solidFill>
                  <a:srgbClr val="000000"/>
                </a:solidFill>
                <a:latin typeface="微软雅黑" panose="020B0503020204020204" pitchFamily="34" charset="-122"/>
                <a:ea typeface="微软雅黑" panose="020B0503020204020204" pitchFamily="34" charset="-122"/>
              </a:rPr>
              <a:t>1/5</a:t>
            </a:r>
            <a:r>
              <a:rPr lang="zh-CN" altLang="en-US" sz="1800" b="1" dirty="0" smtClean="0">
                <a:solidFill>
                  <a:srgbClr val="000000"/>
                </a:solidFill>
                <a:latin typeface="微软雅黑" panose="020B0503020204020204" pitchFamily="34" charset="-122"/>
                <a:ea typeface="微软雅黑" panose="020B0503020204020204" pitchFamily="34" charset="-122"/>
              </a:rPr>
              <a:t>，</a:t>
            </a:r>
            <a:r>
              <a:rPr lang="en-US" altLang="zh-CN" sz="1800" b="1" dirty="0" smtClean="0">
                <a:solidFill>
                  <a:srgbClr val="000000"/>
                </a:solidFill>
                <a:latin typeface="微软雅黑" panose="020B0503020204020204" pitchFamily="34" charset="-122"/>
                <a:ea typeface="微软雅黑" panose="020B0503020204020204" pitchFamily="34" charset="-122"/>
              </a:rPr>
              <a:t>1/239</a:t>
            </a:r>
            <a:r>
              <a:rPr lang="zh-CN" altLang="en-US" sz="1800" b="1" dirty="0" smtClean="0">
                <a:solidFill>
                  <a:srgbClr val="000000"/>
                </a:solidFill>
                <a:latin typeface="微软雅黑" panose="020B0503020204020204" pitchFamily="34" charset="-122"/>
                <a:ea typeface="微软雅黑" panose="020B0503020204020204" pitchFamily="34" charset="-122"/>
              </a:rPr>
              <a:t>，结果就都是</a:t>
            </a:r>
            <a:r>
              <a:rPr lang="en-US" altLang="zh-CN" sz="1800" b="1" dirty="0" smtClean="0">
                <a:solidFill>
                  <a:srgbClr val="000000"/>
                </a:solidFill>
                <a:latin typeface="微软雅黑" panose="020B0503020204020204" pitchFamily="34" charset="-122"/>
                <a:ea typeface="微软雅黑" panose="020B0503020204020204" pitchFamily="34" charset="-122"/>
              </a:rPr>
              <a:t>0 */</a:t>
            </a:r>
            <a:endParaRPr lang="en-US" altLang="zh-CN" sz="18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cout</a:t>
            </a:r>
            <a:r>
              <a:rPr lang="en-US" altLang="zh-CN" sz="2000" b="1" dirty="0" smtClean="0">
                <a:solidFill>
                  <a:srgbClr val="000000"/>
                </a:solidFill>
                <a:latin typeface="微软雅黑" panose="020B0503020204020204" pitchFamily="34" charset="-122"/>
                <a:ea typeface="微软雅黑" panose="020B0503020204020204" pitchFamily="34" charset="-122"/>
              </a:rPr>
              <a:t> &lt;&lt; "PI = " &lt;&lt; a - b &lt;&lt; </a:t>
            </a:r>
            <a:r>
              <a:rPr lang="en-US" altLang="zh-CN" sz="2000" b="1" dirty="0" err="1" smtClean="0">
                <a:solidFill>
                  <a:srgbClr val="000000"/>
                </a:solidFill>
                <a:latin typeface="微软雅黑" panose="020B0503020204020204" pitchFamily="34" charset="-122"/>
                <a:ea typeface="微软雅黑" panose="020B0503020204020204" pitchFamily="34" charset="-122"/>
              </a:rPr>
              <a:t>endl</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return 0;</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lnSpc>
                <a:spcPct val="9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Aft>
                <a:spcPts val="0"/>
              </a:spcAft>
              <a:buClr>
                <a:schemeClr val="accent3"/>
              </a:buClr>
              <a:buNone/>
              <a:defRPr/>
            </a:pP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sp>
        <p:nvSpPr>
          <p:cNvPr id="6" name="Text Box 4"/>
          <p:cNvSpPr txBox="1">
            <a:spLocks noChangeArrowheads="1"/>
          </p:cNvSpPr>
          <p:nvPr/>
        </p:nvSpPr>
        <p:spPr bwMode="auto">
          <a:xfrm>
            <a:off x="214313" y="4802188"/>
            <a:ext cx="2500312" cy="769937"/>
          </a:xfrm>
          <a:prstGeom prst="rect">
            <a:avLst/>
          </a:prstGeom>
          <a:solidFill>
            <a:srgbClr val="000000"/>
          </a:solidFill>
          <a:ln w="12700" cap="sq">
            <a:noFill/>
            <a:miter lim="800000"/>
            <a:headEnd type="none" w="sm" len="sm"/>
            <a:tailEnd type="none" w="sm" len="sm"/>
          </a:ln>
        </p:spPr>
        <p:txBody>
          <a:bodyPr>
            <a:spAutoFit/>
          </a:bodyPr>
          <a:lstStyle/>
          <a:p>
            <a:pPr algn="l">
              <a:spcBef>
                <a:spcPct val="20000"/>
              </a:spcBef>
              <a:buClr>
                <a:schemeClr val="accent2"/>
              </a:buClr>
              <a:buSzPct val="80000"/>
              <a:buFont typeface="Wingdings" panose="05000000000000000000" pitchFamily="2" charset="2"/>
              <a:buNone/>
              <a:defRPr/>
            </a:pPr>
            <a:r>
              <a:rPr lang="zh-CN" sz="2000" b="1" dirty="0">
                <a:latin typeface="+mn-lt"/>
                <a:ea typeface="+mj-ea"/>
              </a:rPr>
              <a:t>运行结果：</a:t>
            </a:r>
            <a:endParaRPr lang="zh-CN" sz="2000" b="1" dirty="0">
              <a:latin typeface="+mn-lt"/>
              <a:ea typeface="+mj-ea"/>
            </a:endParaRPr>
          </a:p>
          <a:p>
            <a:pPr algn="l">
              <a:spcBef>
                <a:spcPct val="20000"/>
              </a:spcBef>
              <a:buClr>
                <a:schemeClr val="accent2"/>
              </a:buClr>
              <a:buSzPct val="80000"/>
              <a:buFont typeface="Wingdings" panose="05000000000000000000" pitchFamily="2" charset="2"/>
              <a:buNone/>
              <a:defRPr/>
            </a:pPr>
            <a:r>
              <a:rPr lang="en-US" altLang="zh-CN" sz="2000" b="1" dirty="0">
                <a:latin typeface="+mn-lt"/>
                <a:ea typeface="+mj-ea"/>
              </a:rPr>
              <a:t>PI=3.14159</a:t>
            </a:r>
            <a:endParaRPr lang="en-US" altLang="zh-CN" sz="2000" b="1" dirty="0">
              <a:latin typeface="+mn-lt"/>
              <a:ea typeface="+mj-ea"/>
            </a:endParaRPr>
          </a:p>
        </p:txBody>
      </p:sp>
      <p:sp>
        <p:nvSpPr>
          <p:cNvPr id="25606" name="标题 1"/>
          <p:cNvSpPr>
            <a:spLocks noGrp="1"/>
          </p:cNvSpPr>
          <p:nvPr>
            <p:ph type="title"/>
          </p:nvPr>
        </p:nvSpPr>
        <p:spPr>
          <a:xfrm>
            <a:off x="6243638" y="4572000"/>
            <a:ext cx="2828925" cy="1000125"/>
          </a:xfrm>
          <a:solidFill>
            <a:schemeClr val="bg1"/>
          </a:solidFill>
        </p:spPr>
        <p:txBody>
          <a:bodyPr/>
          <a:lstStyle/>
          <a:p>
            <a:pPr eaLnBrk="1" hangingPunct="1"/>
            <a:r>
              <a:rPr lang="zh-CN" altLang="en-US" smtClean="0"/>
              <a:t>例</a:t>
            </a:r>
            <a:r>
              <a:rPr lang="en-US" altLang="zh-CN" smtClean="0"/>
              <a:t>3-3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628650" y="365129"/>
            <a:ext cx="7886700" cy="461665"/>
          </a:xfrm>
        </p:spPr>
        <p:txBody>
          <a:bodyPr>
            <a:spAutoFit/>
          </a:bodyPr>
          <a:lstStyle/>
          <a:p>
            <a:pPr eaLnBrk="1" hangingPunct="1"/>
            <a:r>
              <a:rPr lang="zh-CN" altLang="en-US" sz="2400" dirty="0" smtClean="0">
                <a:latin typeface="微软雅黑" panose="020B0503020204020204" pitchFamily="34" charset="-122"/>
                <a:ea typeface="微软雅黑" panose="020B0503020204020204" pitchFamily="34" charset="-122"/>
              </a:rPr>
              <a:t>例</a:t>
            </a:r>
            <a:r>
              <a:rPr lang="en-US" altLang="zh-CN" sz="2400" dirty="0" smtClean="0">
                <a:latin typeface="微软雅黑" panose="020B0503020204020204" pitchFamily="34" charset="-122"/>
                <a:ea typeface="微软雅黑" panose="020B0503020204020204" pitchFamily="34" charset="-122"/>
              </a:rPr>
              <a:t>3-4</a:t>
            </a:r>
            <a:endParaRPr lang="zh-CN" altLang="en-US" sz="2400" dirty="0" smtClean="0">
              <a:latin typeface="微软雅黑" panose="020B0503020204020204" pitchFamily="34" charset="-122"/>
              <a:ea typeface="微软雅黑" panose="020B0503020204020204" pitchFamily="34" charset="-122"/>
            </a:endParaRPr>
          </a:p>
        </p:txBody>
      </p:sp>
      <p:sp>
        <p:nvSpPr>
          <p:cNvPr id="26627" name="内容占位符 2"/>
          <p:cNvSpPr>
            <a:spLocks noGrp="1"/>
          </p:cNvSpPr>
          <p:nvPr>
            <p:ph idx="1"/>
          </p:nvPr>
        </p:nvSpPr>
        <p:spPr>
          <a:xfrm>
            <a:off x="611560" y="1268760"/>
            <a:ext cx="7920000" cy="4351338"/>
          </a:xfrm>
          <a:noFill/>
        </p:spPr>
        <p:txBody>
          <a:bodyPr/>
          <a:lstStyle/>
          <a:p>
            <a:pPr marL="0" indent="0">
              <a:buNone/>
            </a:pPr>
            <a:r>
              <a:rPr lang="zh-CN" altLang="en-US" sz="2400" b="1" dirty="0" smtClean="0">
                <a:latin typeface="微软雅黑" panose="020B0503020204020204" pitchFamily="34" charset="-122"/>
                <a:ea typeface="微软雅黑" panose="020B0503020204020204" pitchFamily="34" charset="-122"/>
              </a:rPr>
              <a:t>寻找并输出</a:t>
            </a:r>
            <a:r>
              <a:rPr lang="en-US" altLang="zh-CN" sz="2400" b="1" dirty="0" smtClean="0">
                <a:latin typeface="微软雅黑" panose="020B0503020204020204" pitchFamily="34" charset="-122"/>
                <a:ea typeface="微软雅黑" panose="020B0503020204020204" pitchFamily="34" charset="-122"/>
              </a:rPr>
              <a:t>11~999</a:t>
            </a:r>
            <a:r>
              <a:rPr lang="zh-CN" altLang="en-US" sz="2400" b="1" dirty="0" smtClean="0">
                <a:latin typeface="微软雅黑" panose="020B0503020204020204" pitchFamily="34" charset="-122"/>
                <a:ea typeface="微软雅黑" panose="020B0503020204020204" pitchFamily="34" charset="-122"/>
              </a:rPr>
              <a:t>之间的数</a:t>
            </a:r>
            <a:r>
              <a:rPr lang="en-US" altLang="zh-CN" sz="2400" b="1" dirty="0" smtClean="0">
                <a:latin typeface="微软雅黑" panose="020B0503020204020204" pitchFamily="34" charset="-122"/>
                <a:ea typeface="微软雅黑" panose="020B0503020204020204" pitchFamily="34" charset="-122"/>
              </a:rPr>
              <a:t>m</a:t>
            </a:r>
            <a:r>
              <a:rPr lang="zh-CN" altLang="en-US" sz="2400" b="1" dirty="0" smtClean="0">
                <a:latin typeface="微软雅黑" panose="020B0503020204020204" pitchFamily="34" charset="-122"/>
                <a:ea typeface="微软雅黑" panose="020B0503020204020204" pitchFamily="34" charset="-122"/>
              </a:rPr>
              <a:t>，它满足</a:t>
            </a:r>
            <a:r>
              <a:rPr lang="en-US" altLang="zh-CN" sz="2400" b="1" dirty="0" smtClean="0">
                <a:latin typeface="微软雅黑" panose="020B0503020204020204" pitchFamily="34" charset="-122"/>
                <a:ea typeface="微软雅黑" panose="020B0503020204020204" pitchFamily="34" charset="-122"/>
              </a:rPr>
              <a:t>m</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m</a:t>
            </a:r>
            <a:r>
              <a:rPr lang="en-US" altLang="zh-CN" sz="2400" b="1" baseline="30000"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和</a:t>
            </a:r>
            <a:r>
              <a:rPr lang="en-US" altLang="zh-CN" sz="2400" b="1" dirty="0" smtClean="0">
                <a:latin typeface="微软雅黑" panose="020B0503020204020204" pitchFamily="34" charset="-122"/>
                <a:ea typeface="微软雅黑" panose="020B0503020204020204" pitchFamily="34" charset="-122"/>
              </a:rPr>
              <a:t>m</a:t>
            </a:r>
            <a:r>
              <a:rPr lang="en-US" altLang="zh-CN" sz="2400" b="1" baseline="30000" dirty="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均为回文数。</a:t>
            </a:r>
            <a:endParaRPr lang="en-US" altLang="zh-CN" sz="2400" b="1" dirty="0" smtClean="0">
              <a:latin typeface="微软雅黑" panose="020B0503020204020204" pitchFamily="34" charset="-122"/>
              <a:ea typeface="微软雅黑" panose="020B0503020204020204" pitchFamily="34" charset="-122"/>
            </a:endParaRPr>
          </a:p>
          <a:p>
            <a:pPr marL="0" indent="0">
              <a:buNone/>
            </a:pPr>
            <a:endParaRPr lang="zh-CN" altLang="en-US" sz="2400" b="1" dirty="0" smtClean="0">
              <a:latin typeface="微软雅黑" panose="020B0503020204020204" pitchFamily="34" charset="-122"/>
              <a:ea typeface="微软雅黑" panose="020B0503020204020204" pitchFamily="34" charset="-122"/>
            </a:endParaRPr>
          </a:p>
          <a:p>
            <a:pPr marL="0" lvl="1" indent="0">
              <a:lnSpc>
                <a:spcPct val="150000"/>
              </a:lnSpc>
              <a:buClr>
                <a:schemeClr val="tx2"/>
              </a:buClr>
              <a:buNone/>
            </a:pPr>
            <a:r>
              <a:rPr lang="zh-CN" altLang="en-US" sz="2400" b="1" dirty="0" smtClean="0">
                <a:latin typeface="微软雅黑" panose="020B0503020204020204" pitchFamily="34" charset="-122"/>
                <a:ea typeface="微软雅黑" panose="020B0503020204020204" pitchFamily="34" charset="-122"/>
              </a:rPr>
              <a:t>回文：各位数字左右对称的整数。</a:t>
            </a:r>
            <a:br>
              <a:rPr lang="zh-CN" altLang="en-US" sz="2400" b="1" dirty="0" smtClean="0">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例如：</a:t>
            </a:r>
            <a:r>
              <a:rPr lang="en-US" altLang="zh-CN" sz="2400" b="1" dirty="0" smtClean="0">
                <a:latin typeface="微软雅黑" panose="020B0503020204020204" pitchFamily="34" charset="-122"/>
                <a:ea typeface="微软雅黑" panose="020B0503020204020204" pitchFamily="34" charset="-122"/>
              </a:rPr>
              <a:t>11</a:t>
            </a:r>
            <a:r>
              <a:rPr lang="zh-CN" altLang="en-US" sz="2400" b="1" dirty="0" smtClean="0">
                <a:latin typeface="微软雅黑" panose="020B0503020204020204" pitchFamily="34" charset="-122"/>
                <a:ea typeface="微软雅黑" panose="020B0503020204020204" pitchFamily="34" charset="-122"/>
              </a:rPr>
              <a:t>满足上述条件</a:t>
            </a:r>
            <a:br>
              <a:rPr lang="zh-CN" altLang="en-US" sz="2400" b="1" dirty="0" smtClean="0">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11</a:t>
            </a:r>
            <a:r>
              <a:rPr lang="en-US" altLang="zh-CN" sz="2400" b="1" baseline="30000" dirty="0" smtClean="0">
                <a:latin typeface="微软雅黑" panose="020B0503020204020204" pitchFamily="34" charset="-122"/>
                <a:ea typeface="微软雅黑" panose="020B0503020204020204" pitchFamily="34" charset="-122"/>
              </a:rPr>
              <a:t>2</a:t>
            </a:r>
            <a:r>
              <a:rPr lang="en-US" altLang="zh-CN" sz="2400" b="1" dirty="0" smtClean="0">
                <a:latin typeface="微软雅黑" panose="020B0503020204020204" pitchFamily="34" charset="-122"/>
                <a:ea typeface="微软雅黑" panose="020B0503020204020204" pitchFamily="34" charset="-122"/>
              </a:rPr>
              <a:t>=121</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11</a:t>
            </a:r>
            <a:r>
              <a:rPr lang="en-US" altLang="zh-CN" sz="2400" b="1" baseline="30000" dirty="0" smtClean="0">
                <a:latin typeface="微软雅黑" panose="020B0503020204020204" pitchFamily="34" charset="-122"/>
                <a:ea typeface="微软雅黑" panose="020B0503020204020204" pitchFamily="34" charset="-122"/>
              </a:rPr>
              <a:t>3</a:t>
            </a:r>
            <a:r>
              <a:rPr lang="en-US" altLang="zh-CN" sz="2400" b="1" dirty="0" smtClean="0">
                <a:latin typeface="微软雅黑" panose="020B0503020204020204" pitchFamily="34" charset="-122"/>
                <a:ea typeface="微软雅黑" panose="020B0503020204020204" pitchFamily="34" charset="-122"/>
              </a:rPr>
              <a:t>=1331</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marL="0" indent="0">
              <a:lnSpc>
                <a:spcPct val="150000"/>
              </a:lnSpc>
              <a:buNone/>
            </a:pPr>
            <a:r>
              <a:rPr lang="zh-CN" altLang="en-US" sz="2400" b="1" dirty="0" smtClean="0">
                <a:latin typeface="微软雅黑" panose="020B0503020204020204" pitchFamily="34" charset="-122"/>
                <a:ea typeface="微软雅黑" panose="020B0503020204020204" pitchFamily="34" charset="-122"/>
              </a:rPr>
              <a:t>分析：</a:t>
            </a:r>
            <a:r>
              <a:rPr lang="en-US" altLang="zh-CN" sz="2400" b="1" dirty="0" smtClean="0">
                <a:latin typeface="微软雅黑" panose="020B0503020204020204" pitchFamily="34" charset="-122"/>
                <a:ea typeface="微软雅黑" panose="020B0503020204020204" pitchFamily="34" charset="-122"/>
              </a:rPr>
              <a:t>10</a:t>
            </a:r>
            <a:r>
              <a:rPr lang="zh-CN" altLang="en-US" sz="2400" b="1" dirty="0" smtClean="0">
                <a:latin typeface="微软雅黑" panose="020B0503020204020204" pitchFamily="34" charset="-122"/>
                <a:ea typeface="微软雅黑" panose="020B0503020204020204" pitchFamily="34" charset="-122"/>
              </a:rPr>
              <a:t>取余的方法，从最低位开始，依次取出该数的各位数字。按反序重新构成新的数，比较与原数是否相等，若相等，则原数为回文。</a:t>
            </a:r>
            <a:endParaRPr lang="zh-CN" altLang="en-US" sz="2400" b="1" dirty="0" smtClean="0">
              <a:latin typeface="微软雅黑" panose="020B0503020204020204" pitchFamily="34" charset="-122"/>
              <a:ea typeface="微软雅黑" panose="020B0503020204020204" pitchFamily="34" charset="-122"/>
            </a:endParaRPr>
          </a:p>
          <a:p>
            <a:pPr marL="0" indent="0">
              <a:lnSpc>
                <a:spcPct val="150000"/>
              </a:lnSpc>
              <a:buNone/>
            </a:pP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829675" cy="6073775"/>
          </a:xfrm>
          <a:solidFill>
            <a:schemeClr val="tx1"/>
          </a:solidFill>
        </p:spPr>
        <p:txBody>
          <a:bodyPr>
            <a:noAutofit/>
          </a:bodyPr>
          <a:lstStyle/>
          <a:p>
            <a:pPr marL="365760" indent="-255905" fontAlgn="auto">
              <a:lnSpc>
                <a:spcPct val="90000"/>
              </a:lnSpc>
              <a:spcAft>
                <a:spcPts val="0"/>
              </a:spcAft>
              <a:buClr>
                <a:schemeClr val="accent3"/>
              </a:buClr>
              <a:buNone/>
              <a:defRPr/>
            </a:pPr>
            <a:r>
              <a:rPr lang="en-US" altLang="zh-CN" sz="2800" b="1" dirty="0" smtClean="0">
                <a:solidFill>
                  <a:srgbClr val="000000"/>
                </a:solidFill>
                <a:ea typeface="+mj-ea"/>
              </a:rPr>
              <a:t>#include &lt;</a:t>
            </a:r>
            <a:r>
              <a:rPr lang="en-US" altLang="zh-CN" sz="2800" b="1" dirty="0" err="1" smtClean="0">
                <a:solidFill>
                  <a:srgbClr val="000000"/>
                </a:solidFill>
                <a:ea typeface="+mj-ea"/>
              </a:rPr>
              <a:t>iostream</a:t>
            </a:r>
            <a:r>
              <a:rPr lang="en-US" altLang="zh-CN" sz="2800" b="1" dirty="0" smtClean="0">
                <a:solidFill>
                  <a:srgbClr val="000000"/>
                </a:solidFill>
                <a:ea typeface="+mj-ea"/>
              </a:rPr>
              <a:t>&gt;</a:t>
            </a:r>
            <a:endParaRPr lang="en-US" altLang="zh-CN" sz="2800" b="1" dirty="0" smtClean="0">
              <a:solidFill>
                <a:srgbClr val="000000"/>
              </a:solidFill>
              <a:ea typeface="+mj-ea"/>
            </a:endParaRPr>
          </a:p>
          <a:p>
            <a:pPr marL="365760" indent="-255905" fontAlgn="auto">
              <a:lnSpc>
                <a:spcPct val="90000"/>
              </a:lnSpc>
              <a:spcAft>
                <a:spcPts val="0"/>
              </a:spcAft>
              <a:buClr>
                <a:schemeClr val="accent3"/>
              </a:buClr>
              <a:buNone/>
              <a:defRPr/>
            </a:pPr>
            <a:r>
              <a:rPr lang="en-US" altLang="zh-CN" sz="2800" b="1" dirty="0" smtClean="0">
                <a:solidFill>
                  <a:srgbClr val="000000"/>
                </a:solidFill>
                <a:ea typeface="+mj-ea"/>
              </a:rPr>
              <a:t>using namespace std;</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a:t>
            </a:r>
            <a:r>
              <a:rPr lang="zh-CN" altLang="en-US" sz="2800" b="1" dirty="0" smtClean="0">
                <a:solidFill>
                  <a:srgbClr val="000000"/>
                </a:solidFill>
                <a:ea typeface="+mj-ea"/>
              </a:rPr>
              <a:t>判断</a:t>
            </a:r>
            <a:r>
              <a:rPr lang="en-US" altLang="zh-CN" sz="2800" b="1" dirty="0" smtClean="0">
                <a:solidFill>
                  <a:srgbClr val="000000"/>
                </a:solidFill>
                <a:ea typeface="+mj-ea"/>
              </a:rPr>
              <a:t>n</a:t>
            </a:r>
            <a:r>
              <a:rPr lang="zh-CN" altLang="en-US" sz="2800" b="1" dirty="0" smtClean="0">
                <a:solidFill>
                  <a:srgbClr val="000000"/>
                </a:solidFill>
                <a:ea typeface="+mj-ea"/>
              </a:rPr>
              <a:t>是否为回文数</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err="1" smtClean="0">
                <a:solidFill>
                  <a:srgbClr val="000000"/>
                </a:solidFill>
                <a:ea typeface="+mj-ea"/>
              </a:rPr>
              <a:t>bool</a:t>
            </a:r>
            <a:r>
              <a:rPr lang="en-US" altLang="zh-CN" sz="2800" b="1" dirty="0" smtClean="0">
                <a:solidFill>
                  <a:srgbClr val="000000"/>
                </a:solidFill>
                <a:ea typeface="+mj-ea"/>
              </a:rPr>
              <a:t> </a:t>
            </a:r>
            <a:r>
              <a:rPr lang="en-US" altLang="zh-CN" sz="2800" b="1" dirty="0" err="1" smtClean="0">
                <a:solidFill>
                  <a:srgbClr val="000000"/>
                </a:solidFill>
                <a:ea typeface="+mj-ea"/>
              </a:rPr>
              <a:t>symm</a:t>
            </a:r>
            <a:r>
              <a:rPr lang="en-US" altLang="zh-CN" sz="2800" b="1" dirty="0" smtClean="0">
                <a:solidFill>
                  <a:srgbClr val="000000"/>
                </a:solidFill>
                <a:ea typeface="+mj-ea"/>
              </a:rPr>
              <a:t>(unsigned n) {</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unsigned </a:t>
            </a:r>
            <a:r>
              <a:rPr lang="en-US" altLang="zh-CN" sz="2800" b="1" dirty="0" err="1" smtClean="0">
                <a:solidFill>
                  <a:srgbClr val="000000"/>
                </a:solidFill>
                <a:ea typeface="+mj-ea"/>
              </a:rPr>
              <a:t>i</a:t>
            </a:r>
            <a:r>
              <a:rPr lang="en-US" altLang="zh-CN" sz="2800" b="1" dirty="0" smtClean="0">
                <a:solidFill>
                  <a:srgbClr val="000000"/>
                </a:solidFill>
                <a:ea typeface="+mj-ea"/>
              </a:rPr>
              <a:t> = n;</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unsigned m = 0;</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while (</a:t>
            </a:r>
            <a:r>
              <a:rPr lang="en-US" altLang="zh-CN" sz="2800" b="1" dirty="0" err="1" smtClean="0">
                <a:solidFill>
                  <a:srgbClr val="000000"/>
                </a:solidFill>
                <a:ea typeface="+mj-ea"/>
              </a:rPr>
              <a:t>i</a:t>
            </a:r>
            <a:r>
              <a:rPr lang="en-US" altLang="zh-CN" sz="2800" b="1" dirty="0" smtClean="0">
                <a:solidFill>
                  <a:srgbClr val="000000"/>
                </a:solidFill>
                <a:ea typeface="+mj-ea"/>
              </a:rPr>
              <a:t> &gt; 0) {</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m = m * 10 + </a:t>
            </a:r>
            <a:r>
              <a:rPr lang="en-US" altLang="zh-CN" sz="2800" b="1" dirty="0" err="1" smtClean="0">
                <a:solidFill>
                  <a:srgbClr val="000000"/>
                </a:solidFill>
                <a:ea typeface="+mj-ea"/>
              </a:rPr>
              <a:t>i</a:t>
            </a:r>
            <a:r>
              <a:rPr lang="en-US" altLang="zh-CN" sz="2800" b="1" dirty="0" smtClean="0">
                <a:solidFill>
                  <a:srgbClr val="000000"/>
                </a:solidFill>
                <a:ea typeface="+mj-ea"/>
              </a:rPr>
              <a:t> % 10;</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a:t>
            </a:r>
            <a:r>
              <a:rPr lang="en-US" altLang="zh-CN" sz="2800" b="1" dirty="0" err="1" smtClean="0">
                <a:solidFill>
                  <a:srgbClr val="000000"/>
                </a:solidFill>
                <a:ea typeface="+mj-ea"/>
              </a:rPr>
              <a:t>i</a:t>
            </a:r>
            <a:r>
              <a:rPr lang="en-US" altLang="zh-CN" sz="2800" b="1" dirty="0" smtClean="0">
                <a:solidFill>
                  <a:srgbClr val="000000"/>
                </a:solidFill>
                <a:ea typeface="+mj-ea"/>
              </a:rPr>
              <a:t> /= 10;</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  return m == n;</a:t>
            </a:r>
            <a:endParaRPr lang="en-US" altLang="zh-CN" sz="2800" b="1" dirty="0" smtClean="0">
              <a:solidFill>
                <a:srgbClr val="000000"/>
              </a:solidFill>
              <a:ea typeface="+mj-ea"/>
            </a:endParaRPr>
          </a:p>
          <a:p>
            <a:pPr marL="365760" indent="-255905" fontAlgn="auto">
              <a:spcAft>
                <a:spcPts val="0"/>
              </a:spcAft>
              <a:buClr>
                <a:schemeClr val="accent3"/>
              </a:buClr>
              <a:buNone/>
              <a:defRPr/>
            </a:pPr>
            <a:r>
              <a:rPr lang="en-US" altLang="zh-CN" sz="2800" b="1" dirty="0" smtClean="0">
                <a:solidFill>
                  <a:srgbClr val="000000"/>
                </a:solidFill>
                <a:ea typeface="+mj-ea"/>
              </a:rPr>
              <a:t>}</a:t>
            </a:r>
            <a:endParaRPr lang="en-US" altLang="zh-CN" sz="2800" b="1" dirty="0" smtClean="0">
              <a:solidFill>
                <a:srgbClr val="000000"/>
              </a:solidFill>
              <a:ea typeface="+mj-ea"/>
            </a:endParaRPr>
          </a:p>
        </p:txBody>
      </p:sp>
      <p:sp>
        <p:nvSpPr>
          <p:cNvPr id="27653" name="标题 1"/>
          <p:cNvSpPr>
            <a:spLocks noGrp="1"/>
          </p:cNvSpPr>
          <p:nvPr>
            <p:ph type="title"/>
          </p:nvPr>
        </p:nvSpPr>
        <p:spPr>
          <a:xfrm>
            <a:off x="6386513" y="571500"/>
            <a:ext cx="2614612" cy="1071563"/>
          </a:xfrm>
          <a:solidFill>
            <a:schemeClr val="bg1"/>
          </a:solidFill>
        </p:spPr>
        <p:txBody>
          <a:bodyPr/>
          <a:lstStyle/>
          <a:p>
            <a:pPr eaLnBrk="1" hangingPunct="1"/>
            <a:r>
              <a:rPr lang="zh-CN" altLang="en-US" smtClean="0"/>
              <a:t>例</a:t>
            </a:r>
            <a:r>
              <a:rPr lang="en-US" altLang="zh-CN" smtClean="0"/>
              <a:t>3-4</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571500"/>
            <a:ext cx="8758237" cy="6073775"/>
          </a:xfrm>
          <a:solidFill>
            <a:schemeClr val="tx1"/>
          </a:solidFill>
        </p:spPr>
        <p:txBody>
          <a:bodyPr>
            <a:noAutofit/>
          </a:bodyPr>
          <a:lstStyle/>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int main() {</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	for(unsigned m = 11; m &lt; 1000; m++)</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	  if (</a:t>
            </a:r>
            <a:r>
              <a:rPr lang="en-US" altLang="zh-CN" sz="2800" b="1" dirty="0" err="1" smtClean="0">
                <a:solidFill>
                  <a:srgbClr val="000000"/>
                </a:solidFill>
                <a:ea typeface="+mj-ea"/>
              </a:rPr>
              <a:t>symm</a:t>
            </a:r>
            <a:r>
              <a:rPr lang="en-US" altLang="zh-CN" sz="2800" b="1" dirty="0" smtClean="0">
                <a:solidFill>
                  <a:srgbClr val="000000"/>
                </a:solidFill>
                <a:ea typeface="+mj-ea"/>
              </a:rPr>
              <a:t>(m) &amp;&amp; </a:t>
            </a:r>
            <a:r>
              <a:rPr lang="en-US" altLang="zh-CN" sz="2800" b="1" dirty="0" err="1" smtClean="0">
                <a:solidFill>
                  <a:srgbClr val="000000"/>
                </a:solidFill>
                <a:ea typeface="+mj-ea"/>
              </a:rPr>
              <a:t>symm</a:t>
            </a:r>
            <a:r>
              <a:rPr lang="en-US" altLang="zh-CN" sz="2800" b="1" dirty="0" smtClean="0">
                <a:solidFill>
                  <a:srgbClr val="000000"/>
                </a:solidFill>
                <a:ea typeface="+mj-ea"/>
              </a:rPr>
              <a:t>(m * m) &amp;&amp;</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	      </a:t>
            </a:r>
            <a:r>
              <a:rPr lang="en-US" altLang="zh-CN" sz="2800" b="1" dirty="0" err="1" smtClean="0">
                <a:solidFill>
                  <a:srgbClr val="000000"/>
                </a:solidFill>
                <a:ea typeface="+mj-ea"/>
              </a:rPr>
              <a:t>symm</a:t>
            </a:r>
            <a:r>
              <a:rPr lang="en-US" altLang="zh-CN" sz="2800" b="1" dirty="0" smtClean="0">
                <a:solidFill>
                  <a:srgbClr val="000000"/>
                </a:solidFill>
                <a:ea typeface="+mj-ea"/>
              </a:rPr>
              <a:t>(m * m * m)) {</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fr-FR" altLang="zh-CN" sz="2800" b="1" dirty="0" smtClean="0">
                <a:solidFill>
                  <a:srgbClr val="000000"/>
                </a:solidFill>
                <a:ea typeface="+mj-ea"/>
              </a:rPr>
              <a:t>	    cout &lt;&lt; "m = " &lt;&lt; m;</a:t>
            </a:r>
            <a:endParaRPr lang="fr-FR"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fr-FR" altLang="zh-CN" sz="2800" b="1" dirty="0" smtClean="0">
                <a:solidFill>
                  <a:srgbClr val="000000"/>
                </a:solidFill>
                <a:ea typeface="+mj-ea"/>
              </a:rPr>
              <a:t>	    cout &lt;&lt; "  m * m = " &lt;&lt; m * m;</a:t>
            </a:r>
            <a:endParaRPr lang="fr-FR"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fr-FR" altLang="zh-CN" sz="2800" b="1" dirty="0" smtClean="0">
                <a:solidFill>
                  <a:srgbClr val="000000"/>
                </a:solidFill>
                <a:ea typeface="+mj-ea"/>
              </a:rPr>
              <a:t>	    cout &lt;&lt; "  m * m * m = "</a:t>
            </a:r>
            <a:endParaRPr lang="fr-FR"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fr-FR" altLang="zh-CN" sz="2800" b="1" dirty="0" smtClean="0">
                <a:solidFill>
                  <a:srgbClr val="000000"/>
                </a:solidFill>
                <a:ea typeface="+mj-ea"/>
              </a:rPr>
              <a:t>	         &lt;&lt; m * m * m &lt;&lt; </a:t>
            </a:r>
            <a:r>
              <a:rPr lang="fr-FR" altLang="zh-CN" sz="2800" b="1" dirty="0" err="1" smtClean="0">
                <a:solidFill>
                  <a:srgbClr val="000000"/>
                </a:solidFill>
                <a:ea typeface="+mj-ea"/>
              </a:rPr>
              <a:t>endl</a:t>
            </a:r>
            <a:r>
              <a:rPr lang="fr-FR" altLang="zh-CN" sz="2800" b="1" dirty="0" smtClean="0">
                <a:solidFill>
                  <a:srgbClr val="000000"/>
                </a:solidFill>
                <a:ea typeface="+mj-ea"/>
              </a:rPr>
              <a:t>;</a:t>
            </a:r>
            <a:endParaRPr lang="fr-FR"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	  }</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	return 0;</a:t>
            </a:r>
            <a:endParaRPr lang="en-US" altLang="zh-CN" sz="2800" b="1" dirty="0" smtClean="0">
              <a:solidFill>
                <a:srgbClr val="000000"/>
              </a:solidFill>
              <a:ea typeface="+mj-ea"/>
            </a:endParaRPr>
          </a:p>
          <a:p>
            <a:pPr marL="365760" indent="-255905" eaLnBrk="1" fontAlgn="auto" hangingPunct="1">
              <a:lnSpc>
                <a:spcPct val="90000"/>
              </a:lnSpc>
              <a:spcAft>
                <a:spcPts val="0"/>
              </a:spcAft>
              <a:buClr>
                <a:schemeClr val="accent3"/>
              </a:buClr>
              <a:buNone/>
              <a:defRPr/>
            </a:pPr>
            <a:r>
              <a:rPr lang="en-US" altLang="zh-CN" sz="2800" b="1" dirty="0" smtClean="0">
                <a:solidFill>
                  <a:srgbClr val="000000"/>
                </a:solidFill>
                <a:ea typeface="+mj-ea"/>
              </a:rPr>
              <a:t>}</a:t>
            </a:r>
            <a:endParaRPr lang="en-US" altLang="zh-CN" sz="2800" b="1" dirty="0" smtClean="0">
              <a:solidFill>
                <a:srgbClr val="000000"/>
              </a:solidFill>
              <a:ea typeface="+mj-ea"/>
            </a:endParaRPr>
          </a:p>
        </p:txBody>
      </p:sp>
      <p:sp>
        <p:nvSpPr>
          <p:cNvPr id="28677" name="标题 1"/>
          <p:cNvSpPr>
            <a:spLocks noGrp="1"/>
          </p:cNvSpPr>
          <p:nvPr>
            <p:ph type="title"/>
          </p:nvPr>
        </p:nvSpPr>
        <p:spPr>
          <a:xfrm>
            <a:off x="6457950" y="548680"/>
            <a:ext cx="2686050" cy="1138237"/>
          </a:xfrm>
          <a:solidFill>
            <a:schemeClr val="bg1"/>
          </a:solidFill>
        </p:spPr>
        <p:txBody>
          <a:bodyPr/>
          <a:lstStyle/>
          <a:p>
            <a:pPr eaLnBrk="1" hangingPunct="1"/>
            <a:r>
              <a:rPr lang="zh-CN" altLang="en-US" smtClean="0"/>
              <a:t>例</a:t>
            </a:r>
            <a:r>
              <a:rPr lang="en-US" altLang="zh-CN" smtClean="0"/>
              <a:t>3-4</a:t>
            </a:r>
            <a:r>
              <a:rPr lang="zh-CN" altLang="en-US" smtClean="0"/>
              <a:t>（续）</a:t>
            </a:r>
            <a:endParaRPr lang="zh-CN" altLang="en-US" smtClean="0"/>
          </a:p>
        </p:txBody>
      </p:sp>
      <p:sp>
        <p:nvSpPr>
          <p:cNvPr id="6" name="内容占位符 2"/>
          <p:cNvSpPr txBox="1"/>
          <p:nvPr/>
        </p:nvSpPr>
        <p:spPr>
          <a:xfrm>
            <a:off x="4552578" y="4980563"/>
            <a:ext cx="4591422" cy="1877437"/>
          </a:xfrm>
          <a:prstGeom prst="rect">
            <a:avLst/>
          </a:prstGeom>
          <a:solidFill>
            <a:srgbClr val="000000"/>
          </a:solidFill>
          <a:ln w="12700" cap="sq">
            <a:noFill/>
            <a:miter lim="800000"/>
            <a:headEnd type="none" w="sm" len="sm"/>
            <a:tailEnd type="none" w="sm" len="sm"/>
          </a:ln>
        </p:spPr>
        <p:txBody>
          <a:bodyPr wrap="square">
            <a:spAutoFit/>
          </a:bodyPr>
          <a:lstStyle/>
          <a:p>
            <a:pPr marL="0" marR="0" lvl="0" indent="0" algn="l" defTabSz="914400" rtl="0" eaLnBrk="1" fontAlgn="base" latinLnBrk="0" hangingPunct="1">
              <a:lnSpc>
                <a:spcPct val="130000"/>
              </a:lnSpc>
              <a:spcBef>
                <a:spcPct val="20000"/>
              </a:spcBef>
              <a:spcAft>
                <a:spcPct val="0"/>
              </a:spcAft>
              <a:buClr>
                <a:schemeClr val="accent2"/>
              </a:buClr>
              <a:buSzPct val="80000"/>
              <a:buFont typeface="Monotype Sorts" pitchFamily="2" charset="2"/>
              <a:buNone/>
              <a:defRPr/>
            </a:pPr>
            <a:r>
              <a:rPr kumimoji="1" lang="zh-CN" altLang="en-US" sz="2000" b="1" i="0" u="none" strike="noStrike" kern="1200" cap="none" spc="0" normalizeH="0" baseline="0" noProof="0" smtClean="0">
                <a:ln>
                  <a:noFill/>
                </a:ln>
                <a:solidFill>
                  <a:schemeClr val="tx1"/>
                </a:solidFill>
                <a:effectLst/>
                <a:uLnTx/>
                <a:uFillTx/>
                <a:latin typeface="+mn-lt"/>
                <a:ea typeface="+mj-ea"/>
                <a:cs typeface="+mn-cs"/>
              </a:rPr>
              <a:t>运行结果：</a:t>
            </a:r>
            <a:endParaRPr kumimoji="1" lang="zh-CN" altLang="en-US" sz="2000" b="1" i="0" u="none" strike="noStrike" kern="1200" cap="none" spc="0" normalizeH="0" baseline="0" noProof="0" smtClean="0">
              <a:ln>
                <a:noFill/>
              </a:ln>
              <a:solidFill>
                <a:schemeClr val="tx1"/>
              </a:solidFill>
              <a:effectLst/>
              <a:uLnTx/>
              <a:uFillTx/>
              <a:latin typeface="+mn-lt"/>
              <a:ea typeface="+mj-ea"/>
              <a:cs typeface="+mn-cs"/>
            </a:endParaRPr>
          </a:p>
          <a:p>
            <a:pPr marL="0" marR="0" lvl="0" indent="0" algn="l" defTabSz="914400" rtl="0" eaLnBrk="1" fontAlgn="base" latinLnBrk="0" hangingPunct="1">
              <a:lnSpc>
                <a:spcPct val="130000"/>
              </a:lnSpc>
              <a:spcBef>
                <a:spcPct val="20000"/>
              </a:spcBef>
              <a:spcAft>
                <a:spcPct val="0"/>
              </a:spcAft>
              <a:buClr>
                <a:schemeClr val="accent2"/>
              </a:buClr>
              <a:buSzPct val="80000"/>
              <a:buFont typeface="Monotype Sorts" pitchFamily="2" charset="2"/>
              <a:buNone/>
              <a:defRPr/>
            </a:pPr>
            <a:r>
              <a:rPr kumimoji="1" lang="en-US" altLang="zh-CN" sz="2000" b="1" i="0" u="none" strike="noStrike" kern="1200" cap="none" spc="0" normalizeH="0" baseline="0" noProof="0" smtClean="0">
                <a:ln>
                  <a:noFill/>
                </a:ln>
                <a:solidFill>
                  <a:schemeClr val="tx1"/>
                </a:solidFill>
                <a:effectLst/>
                <a:uLnTx/>
                <a:uFillTx/>
                <a:latin typeface="+mn-lt"/>
                <a:ea typeface="+mj-ea"/>
                <a:cs typeface="+mn-cs"/>
              </a:rPr>
              <a:t>m=11  m*m=121  m*m*m=1331</a:t>
            </a:r>
            <a:endParaRPr kumimoji="1" lang="en-US" altLang="zh-CN" sz="2000" b="1" i="0" u="none" strike="noStrike" kern="1200" cap="none" spc="0" normalizeH="0" baseline="0" noProof="0" smtClean="0">
              <a:ln>
                <a:noFill/>
              </a:ln>
              <a:solidFill>
                <a:schemeClr val="tx1"/>
              </a:solidFill>
              <a:effectLst/>
              <a:uLnTx/>
              <a:uFillTx/>
              <a:latin typeface="+mn-lt"/>
              <a:ea typeface="+mj-ea"/>
              <a:cs typeface="+mn-cs"/>
            </a:endParaRPr>
          </a:p>
          <a:p>
            <a:pPr marL="0" marR="0" lvl="0" indent="0" algn="l" defTabSz="914400" rtl="0" eaLnBrk="1" fontAlgn="base" latinLnBrk="0" hangingPunct="1">
              <a:lnSpc>
                <a:spcPct val="130000"/>
              </a:lnSpc>
              <a:spcBef>
                <a:spcPct val="20000"/>
              </a:spcBef>
              <a:spcAft>
                <a:spcPct val="0"/>
              </a:spcAft>
              <a:buClr>
                <a:schemeClr val="accent2"/>
              </a:buClr>
              <a:buSzPct val="80000"/>
              <a:buFont typeface="Monotype Sorts" pitchFamily="2" charset="2"/>
              <a:buNone/>
              <a:defRPr/>
            </a:pPr>
            <a:r>
              <a:rPr kumimoji="1" lang="en-US" altLang="zh-CN" sz="2000" b="1" i="0" u="none" strike="noStrike" kern="1200" cap="none" spc="0" normalizeH="0" baseline="0" noProof="0" smtClean="0">
                <a:ln>
                  <a:noFill/>
                </a:ln>
                <a:solidFill>
                  <a:schemeClr val="tx1"/>
                </a:solidFill>
                <a:effectLst/>
                <a:uLnTx/>
                <a:uFillTx/>
                <a:latin typeface="+mn-lt"/>
                <a:ea typeface="+mj-ea"/>
                <a:cs typeface="+mn-cs"/>
              </a:rPr>
              <a:t>m=101  m*m=10201  m*m*m=1030301</a:t>
            </a:r>
            <a:endParaRPr kumimoji="1" lang="en-US" altLang="zh-CN" sz="2000" b="1" i="0" u="none" strike="noStrike" kern="1200" cap="none" spc="0" normalizeH="0" baseline="0" noProof="0" smtClean="0">
              <a:ln>
                <a:noFill/>
              </a:ln>
              <a:solidFill>
                <a:schemeClr val="tx1"/>
              </a:solidFill>
              <a:effectLst/>
              <a:uLnTx/>
              <a:uFillTx/>
              <a:latin typeface="+mn-lt"/>
              <a:ea typeface="+mj-ea"/>
              <a:cs typeface="+mn-cs"/>
            </a:endParaRPr>
          </a:p>
          <a:p>
            <a:pPr marL="0" marR="0" lvl="0" indent="0" algn="l" defTabSz="914400" rtl="0" eaLnBrk="1" fontAlgn="base" latinLnBrk="0" hangingPunct="1">
              <a:lnSpc>
                <a:spcPct val="130000"/>
              </a:lnSpc>
              <a:spcBef>
                <a:spcPct val="20000"/>
              </a:spcBef>
              <a:spcAft>
                <a:spcPct val="0"/>
              </a:spcAft>
              <a:buClr>
                <a:schemeClr val="accent2"/>
              </a:buClr>
              <a:buSzPct val="80000"/>
              <a:buFont typeface="Monotype Sorts" pitchFamily="2" charset="2"/>
              <a:buNone/>
              <a:defRPr/>
            </a:pPr>
            <a:r>
              <a:rPr kumimoji="1" lang="en-US" altLang="zh-CN" sz="2000" b="1" i="0" u="none" strike="noStrike" kern="1200" cap="none" spc="0" normalizeH="0" baseline="0" noProof="0" smtClean="0">
                <a:ln>
                  <a:noFill/>
                </a:ln>
                <a:solidFill>
                  <a:schemeClr val="tx1"/>
                </a:solidFill>
                <a:effectLst/>
                <a:uLnTx/>
                <a:uFillTx/>
                <a:latin typeface="+mn-lt"/>
                <a:ea typeface="+mj-ea"/>
                <a:cs typeface="+mn-cs"/>
              </a:rPr>
              <a:t>m=111  m*m=12321  m*m*m=1367631</a:t>
            </a:r>
            <a:endParaRPr kumimoji="1" lang="en-US" altLang="zh-CN" sz="2000" b="1" i="0" u="none" strike="noStrike" kern="1200" cap="none" spc="0" normalizeH="0" baseline="0" noProof="0" dirty="0" smtClean="0">
              <a:ln>
                <a:noFill/>
              </a:ln>
              <a:solidFill>
                <a:schemeClr val="tx1"/>
              </a:solidFill>
              <a:effectLst/>
              <a:uLnTx/>
              <a:uFillTx/>
              <a:latin typeface="+mn-lt"/>
              <a:ea typeface="+mj-ea"/>
              <a:cs typeface="+mn-cs"/>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标题 1"/>
          <p:cNvSpPr>
            <a:spLocks noGrp="1"/>
          </p:cNvSpPr>
          <p:nvPr>
            <p:ph type="title"/>
          </p:nvPr>
        </p:nvSpPr>
        <p:spPr/>
        <p:txBody>
          <a:bodyPr/>
          <a:lstStyle/>
          <a:p>
            <a:pPr eaLnBrk="1" hangingPunct="1"/>
            <a:r>
              <a:rPr lang="zh-CN" altLang="en-US" smtClean="0">
                <a:latin typeface="微软雅黑" panose="020B0503020204020204" pitchFamily="34" charset="-122"/>
                <a:ea typeface="微软雅黑" panose="020B0503020204020204" pitchFamily="34" charset="-122"/>
              </a:rPr>
              <a:t>例</a:t>
            </a:r>
            <a:r>
              <a:rPr lang="en-US" altLang="zh-CN" smtClean="0">
                <a:latin typeface="微软雅黑" panose="020B0503020204020204" pitchFamily="34" charset="-122"/>
                <a:ea typeface="微软雅黑" panose="020B0503020204020204" pitchFamily="34" charset="-122"/>
              </a:rPr>
              <a:t>3-5</a:t>
            </a:r>
            <a:endParaRPr lang="zh-CN" altLang="en-US" smtClean="0">
              <a:latin typeface="微软雅黑" panose="020B0503020204020204" pitchFamily="34" charset="-122"/>
              <a:ea typeface="微软雅黑" panose="020B0503020204020204" pitchFamily="34" charset="-122"/>
            </a:endParaRPr>
          </a:p>
        </p:txBody>
      </p:sp>
      <p:sp>
        <p:nvSpPr>
          <p:cNvPr id="2053" name="内容占位符 2"/>
          <p:cNvSpPr>
            <a:spLocks noGrp="1"/>
          </p:cNvSpPr>
          <p:nvPr>
            <p:ph idx="1"/>
          </p:nvPr>
        </p:nvSpPr>
        <p:spPr>
          <a:xfrm>
            <a:off x="683568" y="1268760"/>
            <a:ext cx="7886700" cy="4351338"/>
          </a:xfrm>
          <a:noFill/>
        </p:spPr>
        <p:txBody>
          <a:bodyPr/>
          <a:lstStyle/>
          <a:p>
            <a:pPr marL="0" indent="0" eaLnBrk="1" hangingPunct="1">
              <a:buNone/>
            </a:pPr>
            <a:r>
              <a:rPr lang="zh-CN" altLang="en-US" sz="2400" b="1" dirty="0" smtClean="0">
                <a:latin typeface="微软雅黑" panose="020B0503020204020204" pitchFamily="34" charset="-122"/>
                <a:ea typeface="微软雅黑" panose="020B0503020204020204" pitchFamily="34" charset="-122"/>
              </a:rPr>
              <a:t>计算如下公式，并输出结果：</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buNone/>
            </a:pP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buNone/>
            </a:pP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buNone/>
            </a:pP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buNone/>
            </a:pP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buNone/>
            </a:pPr>
            <a:r>
              <a:rPr lang="zh-CN" altLang="en-US" sz="2400" b="1" dirty="0" smtClean="0">
                <a:latin typeface="微软雅黑" panose="020B0503020204020204" pitchFamily="34" charset="-122"/>
                <a:ea typeface="微软雅黑" panose="020B0503020204020204" pitchFamily="34" charset="-122"/>
              </a:rPr>
              <a:t>其中</a:t>
            </a:r>
            <a:r>
              <a:rPr lang="en-US" altLang="zh-CN" sz="2400" b="1" dirty="0" smtClean="0">
                <a:latin typeface="微软雅黑" panose="020B0503020204020204" pitchFamily="34" charset="-122"/>
                <a:ea typeface="微软雅黑" panose="020B0503020204020204" pitchFamily="34" charset="-122"/>
              </a:rPr>
              <a:t>r</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s</a:t>
            </a:r>
            <a:r>
              <a:rPr lang="zh-CN" altLang="en-US" sz="2400" b="1" dirty="0" smtClean="0">
                <a:latin typeface="微软雅黑" panose="020B0503020204020204" pitchFamily="34" charset="-122"/>
                <a:ea typeface="微软雅黑" panose="020B0503020204020204" pitchFamily="34" charset="-122"/>
              </a:rPr>
              <a:t>的值由键盘输入。</a:t>
            </a:r>
            <a:r>
              <a:rPr lang="en-US" altLang="zh-CN" sz="2400" b="1" dirty="0" smtClean="0">
                <a:latin typeface="微软雅黑" panose="020B0503020204020204" pitchFamily="34" charset="-122"/>
                <a:ea typeface="微软雅黑" panose="020B0503020204020204" pitchFamily="34" charset="-122"/>
              </a:rPr>
              <a:t>sin x</a:t>
            </a:r>
            <a:r>
              <a:rPr lang="zh-CN" altLang="en-US" sz="2400" b="1" dirty="0" smtClean="0">
                <a:latin typeface="微软雅黑" panose="020B0503020204020204" pitchFamily="34" charset="-122"/>
                <a:ea typeface="微软雅黑" panose="020B0503020204020204" pitchFamily="34" charset="-122"/>
              </a:rPr>
              <a:t>的近似值按如下公式计算，计算精度为</a:t>
            </a:r>
            <a:r>
              <a:rPr lang="en-US" altLang="zh-CN" sz="2400" b="1" dirty="0" smtClean="0">
                <a:latin typeface="微软雅黑" panose="020B0503020204020204" pitchFamily="34" charset="-122"/>
                <a:ea typeface="微软雅黑" panose="020B0503020204020204" pitchFamily="34" charset="-122"/>
              </a:rPr>
              <a:t>10</a:t>
            </a:r>
            <a:r>
              <a:rPr lang="en-US" altLang="zh-CN" sz="2400" b="1" baseline="30000" dirty="0" smtClean="0">
                <a:latin typeface="微软雅黑" panose="020B0503020204020204" pitchFamily="34" charset="-122"/>
                <a:ea typeface="微软雅黑" panose="020B0503020204020204" pitchFamily="34" charset="-122"/>
              </a:rPr>
              <a:t>-10</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buNone/>
            </a:pP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95000"/>
              </a:lnSpc>
              <a:buNone/>
            </a:pPr>
            <a:endParaRPr lang="zh-CN" altLang="en-US" sz="2400" b="1" dirty="0" smtClean="0">
              <a:latin typeface="微软雅黑" panose="020B0503020204020204" pitchFamily="34" charset="-122"/>
              <a:ea typeface="微软雅黑" panose="020B0503020204020204" pitchFamily="34" charset="-122"/>
            </a:endParaRPr>
          </a:p>
        </p:txBody>
      </p:sp>
      <p:graphicFrame>
        <p:nvGraphicFramePr>
          <p:cNvPr id="2050" name="Object 2"/>
          <p:cNvGraphicFramePr>
            <a:graphicFrameLocks noChangeAspect="1"/>
          </p:cNvGraphicFramePr>
          <p:nvPr/>
        </p:nvGraphicFramePr>
        <p:xfrm>
          <a:off x="2123728" y="1844824"/>
          <a:ext cx="3714750" cy="1341438"/>
        </p:xfrm>
        <a:graphic>
          <a:graphicData uri="http://schemas.openxmlformats.org/presentationml/2006/ole">
            <mc:AlternateContent xmlns:mc="http://schemas.openxmlformats.org/markup-compatibility/2006">
              <mc:Choice xmlns:v="urn:schemas-microsoft-com:vml" Requires="v">
                <p:oleObj spid="_x0000_s619882" name="Equation" r:id="rId1" imgW="1968500" imgH="711200" progId="Equation.DSMT4">
                  <p:embed/>
                </p:oleObj>
              </mc:Choice>
              <mc:Fallback>
                <p:oleObj name="Equation" r:id="rId1" imgW="1968500" imgH="711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844824"/>
                        <a:ext cx="3714750" cy="1341438"/>
                      </a:xfrm>
                      <a:prstGeom prst="rect">
                        <a:avLst/>
                      </a:prstGeom>
                      <a:solidFill>
                        <a:schemeClr val="tx1"/>
                      </a:solidFill>
                      <a:ln>
                        <a:noFill/>
                      </a:ln>
                      <a:effectLst/>
                    </p:spPr>
                  </p:pic>
                </p:oleObj>
              </mc:Fallback>
            </mc:AlternateContent>
          </a:graphicData>
        </a:graphic>
      </p:graphicFrame>
      <p:graphicFrame>
        <p:nvGraphicFramePr>
          <p:cNvPr id="2051" name="Object 3"/>
          <p:cNvGraphicFramePr>
            <a:graphicFrameLocks noChangeAspect="1"/>
          </p:cNvGraphicFramePr>
          <p:nvPr/>
        </p:nvGraphicFramePr>
        <p:xfrm>
          <a:off x="1214438" y="4786313"/>
          <a:ext cx="6772275" cy="1000125"/>
        </p:xfrm>
        <a:graphic>
          <a:graphicData uri="http://schemas.openxmlformats.org/presentationml/2006/ole">
            <mc:AlternateContent xmlns:mc="http://schemas.openxmlformats.org/markup-compatibility/2006">
              <mc:Choice xmlns:v="urn:schemas-microsoft-com:vml" Requires="v">
                <p:oleObj spid="_x0000_s619883" name="Equation" r:id="rId3" imgW="3009900" imgH="444500" progId="Equation.DSMT4">
                  <p:embed/>
                </p:oleObj>
              </mc:Choice>
              <mc:Fallback>
                <p:oleObj name="Equation" r:id="rId3" imgW="3009900" imgH="444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4786313"/>
                        <a:ext cx="6772275" cy="1000125"/>
                      </a:xfrm>
                      <a:prstGeom prst="rect">
                        <a:avLst/>
                      </a:prstGeom>
                      <a:solidFill>
                        <a:schemeClr val="tx1"/>
                      </a:solid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332656"/>
            <a:ext cx="8858250" cy="6286500"/>
          </a:xfrm>
          <a:solidFill>
            <a:schemeClr val="tx1"/>
          </a:solidFill>
        </p:spPr>
        <p:txBody>
          <a:bodyPr>
            <a:noAutofit/>
          </a:bodyPr>
          <a:lstStyle/>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iostream</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cmath</a:t>
            </a:r>
            <a:r>
              <a:rPr lang="en-US" altLang="zh-CN" sz="2400" b="1" dirty="0" smtClean="0">
                <a:solidFill>
                  <a:srgbClr val="000000"/>
                </a:solidFill>
                <a:ea typeface="+mj-ea"/>
              </a:rPr>
              <a:t>&gt;  /*</a:t>
            </a:r>
            <a:r>
              <a:rPr lang="zh-CN" altLang="en-US" sz="2400" b="1" dirty="0" smtClean="0">
                <a:solidFill>
                  <a:srgbClr val="000000"/>
                </a:solidFill>
                <a:ea typeface="+mj-ea"/>
              </a:rPr>
              <a:t>对</a:t>
            </a:r>
            <a:r>
              <a:rPr lang="en-US" altLang="zh-CN" sz="2400" b="1" dirty="0" smtClean="0">
                <a:solidFill>
                  <a:srgbClr val="000000"/>
                </a:solidFill>
                <a:ea typeface="+mj-ea"/>
              </a:rPr>
              <a:t>C++</a:t>
            </a:r>
            <a:r>
              <a:rPr lang="zh-CN" altLang="en-US" sz="2400" b="1" dirty="0" smtClean="0">
                <a:solidFill>
                  <a:srgbClr val="000000"/>
                </a:solidFill>
                <a:ea typeface="+mj-ea"/>
              </a:rPr>
              <a:t>标准库中数学函数的说明</a:t>
            </a:r>
            <a:r>
              <a:rPr lang="en-US" altLang="zh-CN" sz="2400" b="1" dirty="0" smtClean="0">
                <a:solidFill>
                  <a:srgbClr val="000000"/>
                </a:solidFill>
                <a:ea typeface="+mj-ea"/>
              </a:rPr>
              <a:t>*/</a:t>
            </a:r>
            <a:endParaRPr lang="zh-CN" altLang="en-US"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err="1" smtClean="0">
                <a:solidFill>
                  <a:srgbClr val="000000"/>
                </a:solidFill>
                <a:ea typeface="+mj-ea"/>
              </a:rPr>
              <a:t>const</a:t>
            </a:r>
            <a:r>
              <a:rPr lang="en-US" altLang="zh-CN" sz="2400" b="1" dirty="0" smtClean="0">
                <a:solidFill>
                  <a:srgbClr val="000000"/>
                </a:solidFill>
                <a:ea typeface="+mj-ea"/>
              </a:rPr>
              <a:t> double TINY_VALUE = 1e-10;</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double </a:t>
            </a:r>
            <a:r>
              <a:rPr lang="en-US" altLang="zh-CN" sz="2400" b="1" dirty="0" err="1" smtClean="0">
                <a:solidFill>
                  <a:srgbClr val="000000"/>
                </a:solidFill>
                <a:ea typeface="+mj-ea"/>
              </a:rPr>
              <a:t>tsin</a:t>
            </a:r>
            <a:r>
              <a:rPr lang="en-US" altLang="zh-CN" sz="2400" b="1" dirty="0" smtClean="0">
                <a:solidFill>
                  <a:srgbClr val="000000"/>
                </a:solidFill>
                <a:ea typeface="+mj-ea"/>
              </a:rPr>
              <a:t>(double x) {</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double g = 0;</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double t = x;</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int</a:t>
            </a:r>
            <a:r>
              <a:rPr lang="en-US" altLang="zh-CN" sz="2400" b="1" dirty="0" smtClean="0">
                <a:solidFill>
                  <a:srgbClr val="000000"/>
                </a:solidFill>
                <a:ea typeface="+mj-ea"/>
              </a:rPr>
              <a:t> n = 1;</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do {</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g += t;</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n++;</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t = -t * x * x / (2 * n - 1) / (2 * n - 2);</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 while (</a:t>
            </a:r>
            <a:r>
              <a:rPr lang="en-US" altLang="zh-CN" sz="2400" b="1" dirty="0" err="1" smtClean="0">
                <a:solidFill>
                  <a:srgbClr val="000000"/>
                </a:solidFill>
                <a:ea typeface="+mj-ea"/>
              </a:rPr>
              <a:t>fabs</a:t>
            </a:r>
            <a:r>
              <a:rPr lang="en-US" altLang="zh-CN" sz="2400" b="1" dirty="0" smtClean="0">
                <a:solidFill>
                  <a:srgbClr val="000000"/>
                </a:solidFill>
                <a:ea typeface="+mj-ea"/>
              </a:rPr>
              <a:t>(t) &gt;= TINY_VALUE); </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return g;</a:t>
            </a:r>
            <a:endParaRPr lang="en-US" altLang="zh-CN" sz="2400" b="1" dirty="0" smtClean="0">
              <a:solidFill>
                <a:srgbClr val="000000"/>
              </a:solidFill>
              <a:ea typeface="+mj-ea"/>
            </a:endParaRPr>
          </a:p>
          <a:p>
            <a:pPr marL="365760" indent="-255905" fontAlgn="auto">
              <a:spcBef>
                <a:spcPts val="300"/>
              </a:spcBef>
              <a:spcAft>
                <a:spcPts val="0"/>
              </a:spcAft>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p:txBody>
      </p:sp>
      <p:sp>
        <p:nvSpPr>
          <p:cNvPr id="30725" name="标题 1"/>
          <p:cNvSpPr>
            <a:spLocks noGrp="1"/>
          </p:cNvSpPr>
          <p:nvPr>
            <p:ph type="title"/>
          </p:nvPr>
        </p:nvSpPr>
        <p:spPr>
          <a:xfrm>
            <a:off x="6429375" y="5500688"/>
            <a:ext cx="2571750" cy="1138237"/>
          </a:xfrm>
          <a:solidFill>
            <a:srgbClr val="002060"/>
          </a:solidFill>
        </p:spPr>
        <p:txBody>
          <a:bodyPr/>
          <a:lstStyle/>
          <a:p>
            <a:pPr eaLnBrk="1" hangingPunct="1"/>
            <a:r>
              <a:rPr lang="zh-CN" altLang="en-US" dirty="0" smtClean="0"/>
              <a:t>例</a:t>
            </a:r>
            <a:r>
              <a:rPr lang="en-US" altLang="zh-CN" dirty="0" smtClean="0"/>
              <a:t>3-5</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858250" cy="6073775"/>
          </a:xfrm>
          <a:solidFill>
            <a:schemeClr val="tx1"/>
          </a:solidFill>
        </p:spPr>
        <p:txBody>
          <a:bodyPr>
            <a:noAutofit/>
          </a:bodyPr>
          <a:lstStyle/>
          <a:p>
            <a:pPr marL="365760" indent="-255905" fontAlgn="auto">
              <a:spcAft>
                <a:spcPts val="0"/>
              </a:spcAft>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double k, r, s;</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"r = ";</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cin</a:t>
            </a:r>
            <a:r>
              <a:rPr lang="en-US" altLang="zh-CN" sz="2400" b="1" dirty="0" smtClean="0">
                <a:solidFill>
                  <a:srgbClr val="000000"/>
                </a:solidFill>
                <a:ea typeface="+mj-ea"/>
              </a:rPr>
              <a:t> &gt;&gt; r;</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"s = ";</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cin</a:t>
            </a:r>
            <a:r>
              <a:rPr lang="en-US" altLang="zh-CN" sz="2400" b="1" dirty="0" smtClean="0">
                <a:solidFill>
                  <a:srgbClr val="000000"/>
                </a:solidFill>
                <a:ea typeface="+mj-ea"/>
              </a:rPr>
              <a:t> &gt;&gt; s;</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if (r * r &lt;= s * s)</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k=</a:t>
            </a:r>
            <a:r>
              <a:rPr lang="en-US" altLang="zh-CN" sz="2400" b="1" dirty="0" err="1" smtClean="0">
                <a:solidFill>
                  <a:srgbClr val="000000"/>
                </a:solidFill>
                <a:ea typeface="+mj-ea"/>
              </a:rPr>
              <a:t>sqrt</a:t>
            </a:r>
            <a:r>
              <a:rPr lang="en-US" altLang="zh-CN" sz="2400" b="1" dirty="0" smtClean="0">
                <a:solidFill>
                  <a:srgbClr val="000000"/>
                </a:solidFill>
                <a:ea typeface="+mj-ea"/>
              </a:rPr>
              <a:t>(</a:t>
            </a:r>
            <a:r>
              <a:rPr lang="en-US" altLang="zh-CN" sz="2400" b="1" dirty="0" err="1" smtClean="0">
                <a:solidFill>
                  <a:srgbClr val="000000"/>
                </a:solidFill>
                <a:ea typeface="+mj-ea"/>
              </a:rPr>
              <a:t>tsin</a:t>
            </a:r>
            <a:r>
              <a:rPr lang="en-US" altLang="zh-CN" sz="2400" b="1" dirty="0" smtClean="0">
                <a:solidFill>
                  <a:srgbClr val="000000"/>
                </a:solidFill>
                <a:ea typeface="+mj-ea"/>
              </a:rPr>
              <a:t>(r)*</a:t>
            </a:r>
            <a:r>
              <a:rPr lang="en-US" altLang="zh-CN" sz="2400" b="1" dirty="0" err="1" smtClean="0">
                <a:solidFill>
                  <a:srgbClr val="000000"/>
                </a:solidFill>
                <a:ea typeface="+mj-ea"/>
              </a:rPr>
              <a:t>tsin</a:t>
            </a:r>
            <a:r>
              <a:rPr lang="en-US" altLang="zh-CN" sz="2400" b="1" dirty="0" smtClean="0">
                <a:solidFill>
                  <a:srgbClr val="000000"/>
                </a:solidFill>
                <a:ea typeface="+mj-ea"/>
              </a:rPr>
              <a:t>(r)+</a:t>
            </a:r>
            <a:r>
              <a:rPr lang="en-US" altLang="zh-CN" sz="2400" b="1" dirty="0" err="1" smtClean="0">
                <a:solidFill>
                  <a:srgbClr val="000000"/>
                </a:solidFill>
                <a:ea typeface="+mj-ea"/>
              </a:rPr>
              <a:t>tsin</a:t>
            </a:r>
            <a:r>
              <a:rPr lang="en-US" altLang="zh-CN" sz="2400" b="1" dirty="0" smtClean="0">
                <a:solidFill>
                  <a:srgbClr val="000000"/>
                </a:solidFill>
                <a:ea typeface="+mj-ea"/>
              </a:rPr>
              <a:t>(s)*</a:t>
            </a:r>
            <a:r>
              <a:rPr lang="en-US" altLang="zh-CN" sz="2400" b="1" dirty="0" err="1" smtClean="0">
                <a:solidFill>
                  <a:srgbClr val="000000"/>
                </a:solidFill>
                <a:ea typeface="+mj-ea"/>
              </a:rPr>
              <a:t>tsin</a:t>
            </a:r>
            <a:r>
              <a:rPr lang="en-US" altLang="zh-CN" sz="2400" b="1" dirty="0" smtClean="0">
                <a:solidFill>
                  <a:srgbClr val="000000"/>
                </a:solidFill>
                <a:ea typeface="+mj-ea"/>
              </a:rPr>
              <a:t>(s));</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else</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k = </a:t>
            </a:r>
            <a:r>
              <a:rPr lang="en-US" altLang="zh-CN" sz="2400" b="1" dirty="0" err="1" smtClean="0">
                <a:solidFill>
                  <a:srgbClr val="000000"/>
                </a:solidFill>
                <a:ea typeface="+mj-ea"/>
              </a:rPr>
              <a:t>tsin</a:t>
            </a:r>
            <a:r>
              <a:rPr lang="en-US" altLang="zh-CN" sz="2400" b="1" dirty="0" smtClean="0">
                <a:solidFill>
                  <a:srgbClr val="000000"/>
                </a:solidFill>
                <a:ea typeface="+mj-ea"/>
              </a:rPr>
              <a:t>(r * s) / 2;</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k &lt;&lt; </a:t>
            </a:r>
            <a:r>
              <a:rPr lang="en-US" altLang="zh-CN" sz="2400" b="1" dirty="0" err="1" smtClean="0">
                <a:solidFill>
                  <a:srgbClr val="000000"/>
                </a:solidFill>
                <a:ea typeface="+mj-ea"/>
              </a:rPr>
              <a:t>endl</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fontAlgn="auto">
              <a:spcAft>
                <a:spcPts val="0"/>
              </a:spcAft>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spcAft>
                <a:spcPts val="0"/>
              </a:spcAft>
              <a:buClr>
                <a:schemeClr val="accent3"/>
              </a:buClr>
              <a:buNone/>
              <a:defRPr/>
            </a:pPr>
            <a:endParaRPr lang="en-US" altLang="zh-CN" sz="2400" b="1" dirty="0" smtClean="0">
              <a:solidFill>
                <a:srgbClr val="000000"/>
              </a:solidFill>
              <a:ea typeface="+mj-ea"/>
            </a:endParaRPr>
          </a:p>
        </p:txBody>
      </p:sp>
      <p:sp>
        <p:nvSpPr>
          <p:cNvPr id="6" name="Text Box 4"/>
          <p:cNvSpPr txBox="1">
            <a:spLocks noChangeArrowheads="1"/>
          </p:cNvSpPr>
          <p:nvPr/>
        </p:nvSpPr>
        <p:spPr bwMode="auto">
          <a:xfrm>
            <a:off x="6858000" y="4980563"/>
            <a:ext cx="2286000" cy="1877437"/>
          </a:xfrm>
          <a:prstGeom prst="rect">
            <a:avLst/>
          </a:prstGeom>
          <a:solidFill>
            <a:srgbClr val="000000"/>
          </a:solidFill>
          <a:ln w="12700" cap="sq">
            <a:noFill/>
            <a:miter lim="800000"/>
            <a:headEnd type="none" w="sm" len="sm"/>
            <a:tailEnd type="none" w="sm" len="sm"/>
          </a:ln>
        </p:spPr>
        <p:txBody>
          <a:bodyPr wrap="square">
            <a:spAutoFit/>
          </a:bodyPr>
          <a:lstStyle/>
          <a:p>
            <a:pPr algn="l">
              <a:lnSpc>
                <a:spcPct val="130000"/>
              </a:lnSpc>
              <a:spcBef>
                <a:spcPct val="20000"/>
              </a:spcBef>
              <a:buClr>
                <a:schemeClr val="accent2"/>
              </a:buClr>
              <a:buSzPct val="80000"/>
              <a:defRPr/>
            </a:pPr>
            <a:r>
              <a:rPr lang="zh-CN" altLang="en-US" sz="2000" b="1" dirty="0">
                <a:latin typeface="+mn-lt"/>
                <a:ea typeface="+mj-ea"/>
              </a:rPr>
              <a:t>运行结果：</a:t>
            </a:r>
            <a:endParaRPr lang="zh-CN" altLang="en-US" sz="2000" b="1" dirty="0">
              <a:latin typeface="+mn-lt"/>
              <a:ea typeface="+mj-ea"/>
            </a:endParaRPr>
          </a:p>
          <a:p>
            <a:pPr algn="l">
              <a:lnSpc>
                <a:spcPct val="130000"/>
              </a:lnSpc>
              <a:spcBef>
                <a:spcPct val="20000"/>
              </a:spcBef>
              <a:buClr>
                <a:schemeClr val="accent2"/>
              </a:buClr>
              <a:buSzPct val="80000"/>
              <a:defRPr/>
            </a:pPr>
            <a:r>
              <a:rPr lang="en-US" altLang="zh-CN" sz="2000" b="1" dirty="0">
                <a:latin typeface="+mn-lt"/>
                <a:ea typeface="+mj-ea"/>
              </a:rPr>
              <a:t>r=5</a:t>
            </a:r>
            <a:endParaRPr lang="en-US" altLang="zh-CN" sz="2000" b="1" dirty="0">
              <a:latin typeface="+mn-lt"/>
              <a:ea typeface="+mj-ea"/>
            </a:endParaRPr>
          </a:p>
          <a:p>
            <a:pPr algn="l">
              <a:lnSpc>
                <a:spcPct val="130000"/>
              </a:lnSpc>
              <a:spcBef>
                <a:spcPct val="20000"/>
              </a:spcBef>
              <a:buClr>
                <a:schemeClr val="accent2"/>
              </a:buClr>
              <a:buSzPct val="80000"/>
              <a:defRPr/>
            </a:pPr>
            <a:r>
              <a:rPr lang="en-US" altLang="zh-CN" sz="2000" b="1" dirty="0">
                <a:latin typeface="+mn-lt"/>
                <a:ea typeface="+mj-ea"/>
              </a:rPr>
              <a:t>s=8</a:t>
            </a:r>
            <a:endParaRPr lang="en-US" altLang="zh-CN" sz="2000" b="1" dirty="0">
              <a:latin typeface="+mn-lt"/>
              <a:ea typeface="+mj-ea"/>
            </a:endParaRPr>
          </a:p>
          <a:p>
            <a:pPr algn="l">
              <a:lnSpc>
                <a:spcPct val="130000"/>
              </a:lnSpc>
              <a:spcBef>
                <a:spcPct val="20000"/>
              </a:spcBef>
              <a:buClr>
                <a:schemeClr val="accent2"/>
              </a:buClr>
              <a:buSzPct val="80000"/>
              <a:defRPr/>
            </a:pPr>
            <a:r>
              <a:rPr lang="en-US" altLang="zh-CN" sz="2000" b="1" dirty="0">
                <a:latin typeface="+mn-lt"/>
                <a:ea typeface="+mj-ea"/>
              </a:rPr>
              <a:t>1.37781</a:t>
            </a:r>
            <a:endParaRPr lang="en-US" altLang="zh-CN" sz="2000" b="1" dirty="0">
              <a:latin typeface="+mn-lt"/>
              <a:ea typeface="+mj-ea"/>
            </a:endParaRPr>
          </a:p>
        </p:txBody>
      </p:sp>
      <p:sp>
        <p:nvSpPr>
          <p:cNvPr id="31750" name="标题 1"/>
          <p:cNvSpPr>
            <a:spLocks noGrp="1"/>
          </p:cNvSpPr>
          <p:nvPr>
            <p:ph type="title"/>
          </p:nvPr>
        </p:nvSpPr>
        <p:spPr>
          <a:xfrm>
            <a:off x="6315075" y="571500"/>
            <a:ext cx="2686050" cy="1071563"/>
          </a:xfrm>
          <a:solidFill>
            <a:srgbClr val="002060"/>
          </a:solidFill>
        </p:spPr>
        <p:txBody>
          <a:bodyPr/>
          <a:lstStyle/>
          <a:p>
            <a:pPr eaLnBrk="1" hangingPunct="1"/>
            <a:r>
              <a:rPr lang="zh-CN" altLang="en-US" smtClean="0"/>
              <a:t>例</a:t>
            </a:r>
            <a:r>
              <a:rPr lang="en-US" altLang="zh-CN" smtClean="0"/>
              <a:t>3-5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11560" y="260648"/>
            <a:ext cx="7920000" cy="1325563"/>
          </a:xfrm>
        </p:spPr>
        <p:txBody>
          <a:bodyPr/>
          <a:lstStyle/>
          <a:p>
            <a:pPr eaLnBrk="1" hangingPunct="1"/>
            <a:r>
              <a:rPr lang="zh-CN" altLang="en-US" dirty="0" smtClean="0">
                <a:latin typeface="微软雅黑" panose="020B0503020204020204" pitchFamily="34" charset="-122"/>
                <a:ea typeface="微软雅黑" panose="020B0503020204020204" pitchFamily="34" charset="-122"/>
              </a:rPr>
              <a:t>例</a:t>
            </a:r>
            <a:r>
              <a:rPr lang="en-US" altLang="zh-CN" dirty="0" smtClean="0">
                <a:latin typeface="微软雅黑" panose="020B0503020204020204" pitchFamily="34" charset="-122"/>
                <a:ea typeface="微软雅黑" panose="020B0503020204020204" pitchFamily="34" charset="-122"/>
              </a:rPr>
              <a:t>3-6 </a:t>
            </a:r>
            <a:r>
              <a:rPr lang="zh-CN" altLang="en-US" dirty="0" smtClean="0">
                <a:latin typeface="微软雅黑" panose="020B0503020204020204" pitchFamily="34" charset="-122"/>
                <a:ea typeface="微软雅黑" panose="020B0503020204020204" pitchFamily="34" charset="-122"/>
              </a:rPr>
              <a:t>投骰子的随机游戏</a:t>
            </a:r>
            <a:endParaRPr lang="zh-CN" altLang="en-US" dirty="0" smtClean="0">
              <a:latin typeface="微软雅黑" panose="020B0503020204020204" pitchFamily="34" charset="-122"/>
              <a:ea typeface="微软雅黑" panose="020B0503020204020204" pitchFamily="34" charset="-122"/>
            </a:endParaRPr>
          </a:p>
        </p:txBody>
      </p:sp>
      <p:sp>
        <p:nvSpPr>
          <p:cNvPr id="32771" name="内容占位符 2"/>
          <p:cNvSpPr>
            <a:spLocks noGrp="1"/>
          </p:cNvSpPr>
          <p:nvPr>
            <p:ph idx="1"/>
          </p:nvPr>
        </p:nvSpPr>
        <p:spPr>
          <a:xfrm>
            <a:off x="611560" y="1196752"/>
            <a:ext cx="7920000" cy="4351338"/>
          </a:xfrm>
          <a:noFill/>
        </p:spPr>
        <p:txBody>
          <a:bodyPr/>
          <a:lstStyle/>
          <a:p>
            <a:pPr marL="0" indent="0" eaLnBrk="1" hangingPunct="1">
              <a:lnSpc>
                <a:spcPct val="130000"/>
              </a:lnSpc>
              <a:spcAft>
                <a:spcPts val="600"/>
              </a:spcAft>
              <a:buNone/>
            </a:pPr>
            <a:r>
              <a:rPr lang="zh-CN" altLang="en-US" sz="2400" b="1" dirty="0" smtClean="0">
                <a:latin typeface="微软雅黑" panose="020B0503020204020204" pitchFamily="34" charset="-122"/>
                <a:ea typeface="微软雅黑" panose="020B0503020204020204" pitchFamily="34" charset="-122"/>
              </a:rPr>
              <a:t>每个骰子有六面，点数分别为</a:t>
            </a:r>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4</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5</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6</a:t>
            </a:r>
            <a:r>
              <a:rPr lang="zh-CN" altLang="en-US" sz="2400" b="1" dirty="0" smtClean="0">
                <a:latin typeface="微软雅黑" panose="020B0503020204020204" pitchFamily="34" charset="-122"/>
                <a:ea typeface="微软雅黑" panose="020B0503020204020204" pitchFamily="34" charset="-122"/>
              </a:rPr>
              <a:t>。游戏者在程序开始时输入一个无符号整数，作为产生随机数的种子。</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30000"/>
              </a:lnSpc>
              <a:spcAft>
                <a:spcPts val="600"/>
              </a:spcAft>
              <a:buNone/>
            </a:pPr>
            <a:r>
              <a:rPr lang="zh-CN" altLang="en-US" sz="2400" b="1" dirty="0" smtClean="0">
                <a:latin typeface="微软雅黑" panose="020B0503020204020204" pitchFamily="34" charset="-122"/>
                <a:ea typeface="微软雅黑" panose="020B0503020204020204" pitchFamily="34" charset="-122"/>
              </a:rPr>
              <a:t>每轮投两次骰子，第一轮如果和数为</a:t>
            </a:r>
            <a:r>
              <a:rPr lang="en-US" altLang="zh-CN" sz="2400" b="1" dirty="0" smtClean="0">
                <a:latin typeface="微软雅黑" panose="020B0503020204020204" pitchFamily="34" charset="-122"/>
                <a:ea typeface="微软雅黑" panose="020B0503020204020204" pitchFamily="34" charset="-122"/>
              </a:rPr>
              <a:t>7</a:t>
            </a:r>
            <a:r>
              <a:rPr lang="zh-CN" altLang="en-US" sz="2400" b="1" dirty="0" smtClean="0">
                <a:latin typeface="微软雅黑" panose="020B0503020204020204" pitchFamily="34" charset="-122"/>
                <a:ea typeface="微软雅黑" panose="020B0503020204020204" pitchFamily="34" charset="-122"/>
              </a:rPr>
              <a:t>或</a:t>
            </a:r>
            <a:r>
              <a:rPr lang="en-US" altLang="zh-CN" sz="2400" b="1" dirty="0" smtClean="0">
                <a:latin typeface="微软雅黑" panose="020B0503020204020204" pitchFamily="34" charset="-122"/>
                <a:ea typeface="微软雅黑" panose="020B0503020204020204" pitchFamily="34" charset="-122"/>
              </a:rPr>
              <a:t>11</a:t>
            </a:r>
            <a:r>
              <a:rPr lang="zh-CN" altLang="en-US" sz="2400" b="1" dirty="0" smtClean="0">
                <a:latin typeface="微软雅黑" panose="020B0503020204020204" pitchFamily="34" charset="-122"/>
                <a:ea typeface="微软雅黑" panose="020B0503020204020204" pitchFamily="34" charset="-122"/>
              </a:rPr>
              <a:t>则为胜，游戏结束；和数为</a:t>
            </a:r>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或</a:t>
            </a:r>
            <a:r>
              <a:rPr lang="en-US" altLang="zh-CN" sz="2400" b="1" dirty="0" smtClean="0">
                <a:latin typeface="微软雅黑" panose="020B0503020204020204" pitchFamily="34" charset="-122"/>
                <a:ea typeface="微软雅黑" panose="020B0503020204020204" pitchFamily="34" charset="-122"/>
              </a:rPr>
              <a:t>12</a:t>
            </a:r>
            <a:r>
              <a:rPr lang="zh-CN" altLang="en-US" sz="2400" b="1" dirty="0" smtClean="0">
                <a:latin typeface="微软雅黑" panose="020B0503020204020204" pitchFamily="34" charset="-122"/>
                <a:ea typeface="微软雅黑" panose="020B0503020204020204" pitchFamily="34" charset="-122"/>
              </a:rPr>
              <a:t>则为负，游戏结束；和数为其它值则将此值作为自己的点数，继续第二轮、第三轮</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直到某轮的和数等于点数则取胜，若在此前出现和数为</a:t>
            </a:r>
            <a:r>
              <a:rPr lang="en-US" altLang="zh-CN" sz="2400" b="1" dirty="0" smtClean="0">
                <a:latin typeface="微软雅黑" panose="020B0503020204020204" pitchFamily="34" charset="-122"/>
                <a:ea typeface="微软雅黑" panose="020B0503020204020204" pitchFamily="34" charset="-122"/>
              </a:rPr>
              <a:t>7</a:t>
            </a:r>
            <a:r>
              <a:rPr lang="zh-CN" altLang="en-US" sz="2400" b="1" dirty="0" smtClean="0">
                <a:latin typeface="微软雅黑" panose="020B0503020204020204" pitchFamily="34" charset="-122"/>
                <a:ea typeface="微软雅黑" panose="020B0503020204020204" pitchFamily="34" charset="-122"/>
              </a:rPr>
              <a:t>则为负。</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30000"/>
              </a:lnSpc>
              <a:spcAft>
                <a:spcPts val="600"/>
              </a:spcAft>
              <a:buNone/>
            </a:pPr>
            <a:r>
              <a:rPr lang="zh-CN" altLang="en-US" sz="2400" b="1" dirty="0" smtClean="0">
                <a:latin typeface="微软雅黑" panose="020B0503020204020204" pitchFamily="34" charset="-122"/>
                <a:ea typeface="微软雅黑" panose="020B0503020204020204" pitchFamily="34" charset="-122"/>
              </a:rPr>
              <a:t>由</a:t>
            </a:r>
            <a:r>
              <a:rPr lang="en-US" altLang="zh-CN" sz="2400" b="1" dirty="0" smtClean="0">
                <a:latin typeface="微软雅黑" panose="020B0503020204020204" pitchFamily="34" charset="-122"/>
                <a:ea typeface="微软雅黑" panose="020B0503020204020204" pitchFamily="34" charset="-122"/>
              </a:rPr>
              <a:t>rolldice</a:t>
            </a:r>
            <a:r>
              <a:rPr lang="zh-CN" altLang="en-US" sz="2400" b="1" dirty="0" smtClean="0">
                <a:latin typeface="微软雅黑" panose="020B0503020204020204" pitchFamily="34" charset="-122"/>
                <a:ea typeface="微软雅黑" panose="020B0503020204020204" pitchFamily="34" charset="-122"/>
              </a:rPr>
              <a:t>函数负责模拟投骰子、计算和数并输出和数。</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628650" y="365129"/>
            <a:ext cx="7920000" cy="1325563"/>
          </a:xfrm>
        </p:spPr>
        <p:txBody>
          <a:bodyPr/>
          <a:lstStyle/>
          <a:p>
            <a:pPr eaLnBrk="1" hangingPunct="1"/>
            <a:r>
              <a:rPr lang="zh-CN" altLang="en-US" smtClean="0">
                <a:latin typeface="微软雅黑" panose="020B0503020204020204" pitchFamily="34" charset="-122"/>
                <a:ea typeface="微软雅黑" panose="020B0503020204020204" pitchFamily="34" charset="-122"/>
              </a:rPr>
              <a:t>例</a:t>
            </a:r>
            <a:r>
              <a:rPr lang="en-US" altLang="zh-CN" smtClean="0">
                <a:latin typeface="微软雅黑" panose="020B0503020204020204" pitchFamily="34" charset="-122"/>
                <a:ea typeface="微软雅黑" panose="020B0503020204020204" pitchFamily="34" charset="-122"/>
              </a:rPr>
              <a:t>3.6 </a:t>
            </a:r>
            <a:r>
              <a:rPr lang="zh-CN" altLang="en-US" smtClean="0">
                <a:latin typeface="微软雅黑" panose="020B0503020204020204" pitchFamily="34" charset="-122"/>
                <a:ea typeface="微软雅黑" panose="020B0503020204020204" pitchFamily="34" charset="-122"/>
              </a:rPr>
              <a:t>（续）</a:t>
            </a:r>
            <a:endParaRPr lang="zh-CN" altLang="en-US" smtClean="0">
              <a:latin typeface="微软雅黑" panose="020B0503020204020204" pitchFamily="34" charset="-122"/>
              <a:ea typeface="微软雅黑" panose="020B0503020204020204" pitchFamily="34" charset="-122"/>
            </a:endParaRPr>
          </a:p>
        </p:txBody>
      </p:sp>
      <p:sp>
        <p:nvSpPr>
          <p:cNvPr id="33795" name="内容占位符 2"/>
          <p:cNvSpPr>
            <a:spLocks noGrp="1"/>
          </p:cNvSpPr>
          <p:nvPr>
            <p:ph idx="1"/>
          </p:nvPr>
        </p:nvSpPr>
        <p:spPr>
          <a:xfrm>
            <a:off x="628650" y="1340768"/>
            <a:ext cx="7920000" cy="4351338"/>
          </a:xfrm>
          <a:noFill/>
        </p:spPr>
        <p:txBody>
          <a:bodyPr/>
          <a:lstStyle/>
          <a:p>
            <a:pPr marL="457200" indent="-457200" eaLnBrk="1" hangingPunct="1">
              <a:buFont typeface="+mj-ea"/>
              <a:buAutoNum type="circleNumDbPlain"/>
            </a:pPr>
            <a:r>
              <a:rPr lang="en-US" altLang="zh-CN" sz="2400" b="1" dirty="0" smtClean="0">
                <a:latin typeface="微软雅黑" panose="020B0503020204020204" pitchFamily="34" charset="-122"/>
                <a:ea typeface="微软雅黑" panose="020B0503020204020204" pitchFamily="34" charset="-122"/>
              </a:rPr>
              <a:t>rand</a:t>
            </a:r>
            <a:endParaRPr lang="en-US" altLang="zh-CN" sz="2400" b="1" dirty="0" smtClean="0">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函数原型：</a:t>
            </a:r>
            <a:r>
              <a:rPr lang="en-US" altLang="zh-CN" sz="2400" b="1" dirty="0" smtClean="0">
                <a:solidFill>
                  <a:srgbClr val="FFFF00"/>
                </a:solidFill>
                <a:latin typeface="微软雅黑" panose="020B0503020204020204" pitchFamily="34" charset="-122"/>
                <a:ea typeface="微软雅黑" panose="020B0503020204020204" pitchFamily="34" charset="-122"/>
              </a:rPr>
              <a:t>int rand(void);</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所需头文件：</a:t>
            </a:r>
            <a:r>
              <a:rPr lang="en-US" altLang="zh-CN" sz="2400" b="1" dirty="0" smtClean="0">
                <a:latin typeface="微软雅黑" panose="020B0503020204020204" pitchFamily="34" charset="-122"/>
                <a:ea typeface="微软雅黑" panose="020B0503020204020204" pitchFamily="34" charset="-122"/>
              </a:rPr>
              <a:t>&lt;cstdlib&gt;</a:t>
            </a:r>
            <a:endParaRPr lang="en-US" altLang="zh-CN" sz="2400" b="1" dirty="0" smtClean="0">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功能和返回值：求出并返回一个伪随机数</a:t>
            </a:r>
            <a:endParaRPr lang="zh-CN" altLang="en-US" sz="2400" b="1" dirty="0" smtClean="0">
              <a:latin typeface="微软雅黑" panose="020B0503020204020204" pitchFamily="34" charset="-122"/>
              <a:ea typeface="微软雅黑" panose="020B0503020204020204" pitchFamily="34" charset="-122"/>
            </a:endParaRPr>
          </a:p>
          <a:p>
            <a:pPr marL="457200" indent="-457200" eaLnBrk="1" hangingPunct="1">
              <a:buFont typeface="+mj-ea"/>
              <a:buAutoNum type="circleNumDbPlain"/>
            </a:pPr>
            <a:r>
              <a:rPr lang="en-US" altLang="zh-CN" sz="2400" b="1" dirty="0" smtClean="0">
                <a:latin typeface="微软雅黑" panose="020B0503020204020204" pitchFamily="34" charset="-122"/>
                <a:ea typeface="微软雅黑" panose="020B0503020204020204" pitchFamily="34" charset="-122"/>
              </a:rPr>
              <a:t>srand</a:t>
            </a:r>
            <a:endParaRPr lang="en-US" altLang="zh-CN" sz="2400" b="1" dirty="0" smtClean="0">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函数原型：</a:t>
            </a:r>
            <a:r>
              <a:rPr lang="en-US" altLang="zh-CN" sz="2400" b="1" dirty="0" smtClean="0">
                <a:solidFill>
                  <a:srgbClr val="FFFF00"/>
                </a:solidFill>
                <a:latin typeface="微软雅黑" panose="020B0503020204020204" pitchFamily="34" charset="-122"/>
                <a:ea typeface="微软雅黑" panose="020B0503020204020204" pitchFamily="34" charset="-122"/>
              </a:rPr>
              <a:t>void srand(unsigned int seed);</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参数：</a:t>
            </a:r>
            <a:r>
              <a:rPr lang="en-US" altLang="zh-CN" sz="2400" b="1" dirty="0" smtClean="0">
                <a:latin typeface="微软雅黑" panose="020B0503020204020204" pitchFamily="34" charset="-122"/>
                <a:ea typeface="微软雅黑" panose="020B0503020204020204" pitchFamily="34" charset="-122"/>
              </a:rPr>
              <a:t>seed</a:t>
            </a:r>
            <a:r>
              <a:rPr lang="zh-CN" altLang="en-US" sz="2400" b="1" dirty="0" smtClean="0">
                <a:latin typeface="微软雅黑" panose="020B0503020204020204" pitchFamily="34" charset="-122"/>
                <a:ea typeface="微软雅黑" panose="020B0503020204020204" pitchFamily="34" charset="-122"/>
              </a:rPr>
              <a:t>产生随机数的种子。</a:t>
            </a:r>
            <a:endParaRPr lang="zh-CN" altLang="en-US" sz="2400" b="1" dirty="0" smtClean="0">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所需头文件：</a:t>
            </a:r>
            <a:r>
              <a:rPr lang="en-US" altLang="zh-CN" sz="2400" b="1" dirty="0" smtClean="0">
                <a:latin typeface="微软雅黑" panose="020B0503020204020204" pitchFamily="34" charset="-122"/>
                <a:ea typeface="微软雅黑" panose="020B0503020204020204" pitchFamily="34" charset="-122"/>
              </a:rPr>
              <a:t>&lt;cstdlib&gt;</a:t>
            </a:r>
            <a:endParaRPr lang="en-US" altLang="zh-CN" sz="2400" b="1" dirty="0" smtClean="0">
              <a:latin typeface="微软雅黑" panose="020B0503020204020204" pitchFamily="34" charset="-122"/>
              <a:ea typeface="微软雅黑" panose="020B0503020204020204" pitchFamily="34" charset="-122"/>
            </a:endParaRPr>
          </a:p>
          <a:p>
            <a:pPr marL="0" lvl="1" indent="0" eaLnBrk="1" hangingPunct="1">
              <a:buClr>
                <a:schemeClr val="tx2"/>
              </a:buClr>
              <a:buNone/>
            </a:pPr>
            <a:r>
              <a:rPr lang="zh-CN" altLang="en-US" sz="2400" b="1" dirty="0" smtClean="0">
                <a:latin typeface="微软雅黑" panose="020B0503020204020204" pitchFamily="34" charset="-122"/>
                <a:ea typeface="微软雅黑" panose="020B0503020204020204" pitchFamily="34" charset="-122"/>
              </a:rPr>
              <a:t>功能：为使</a:t>
            </a:r>
            <a:r>
              <a:rPr lang="en-US" altLang="zh-CN" sz="2400" b="1" dirty="0" smtClean="0">
                <a:latin typeface="微软雅黑" panose="020B0503020204020204" pitchFamily="34" charset="-122"/>
                <a:ea typeface="微软雅黑" panose="020B0503020204020204" pitchFamily="34" charset="-122"/>
              </a:rPr>
              <a:t>rand()</a:t>
            </a:r>
            <a:r>
              <a:rPr lang="zh-CN" altLang="en-US" sz="2400" b="1" dirty="0" smtClean="0">
                <a:latin typeface="微软雅黑" panose="020B0503020204020204" pitchFamily="34" charset="-122"/>
                <a:ea typeface="微软雅黑" panose="020B0503020204020204" pitchFamily="34" charset="-122"/>
              </a:rPr>
              <a:t>产生一序列伪随机整数而设置起始点。使用</a:t>
            </a:r>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作为</a:t>
            </a:r>
            <a:r>
              <a:rPr lang="en-US" altLang="zh-CN" sz="2400" b="1" dirty="0" smtClean="0">
                <a:latin typeface="微软雅黑" panose="020B0503020204020204" pitchFamily="34" charset="-122"/>
                <a:ea typeface="微软雅黑" panose="020B0503020204020204" pitchFamily="34" charset="-122"/>
              </a:rPr>
              <a:t>seed</a:t>
            </a:r>
            <a:r>
              <a:rPr lang="zh-CN" altLang="en-US" sz="2400" b="1" dirty="0" smtClean="0">
                <a:latin typeface="微软雅黑" panose="020B0503020204020204" pitchFamily="34" charset="-122"/>
                <a:ea typeface="微软雅黑" panose="020B0503020204020204" pitchFamily="34" charset="-122"/>
              </a:rPr>
              <a:t>参数，可以重新初化</a:t>
            </a:r>
            <a:r>
              <a:rPr lang="en-US" altLang="zh-CN" sz="2400" b="1" dirty="0" smtClean="0">
                <a:latin typeface="微软雅黑" panose="020B0503020204020204" pitchFamily="34" charset="-122"/>
                <a:ea typeface="微软雅黑" panose="020B0503020204020204" pitchFamily="34" charset="-122"/>
              </a:rPr>
              <a:t>rand()</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63" y="571500"/>
            <a:ext cx="8472487" cy="6073775"/>
          </a:xfrm>
          <a:solidFill>
            <a:schemeClr val="tx1"/>
          </a:solidFill>
        </p:spPr>
        <p:txBody>
          <a:bodyPr>
            <a:noAutofit/>
          </a:bodyPr>
          <a:lstStyle/>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iostream</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cstdlib</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a:t>
            </a:r>
            <a:r>
              <a:rPr lang="zh-CN" altLang="en-US" sz="2400" b="1" dirty="0" smtClean="0">
                <a:solidFill>
                  <a:srgbClr val="000000"/>
                </a:solidFill>
                <a:ea typeface="+mj-ea"/>
              </a:rPr>
              <a:t>投骰子、计算和数、输出和数</a:t>
            </a:r>
            <a:endParaRPr lang="zh-CN" altLang="en-US"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int </a:t>
            </a:r>
            <a:r>
              <a:rPr lang="en-US" altLang="zh-CN" sz="2400" b="1" dirty="0" err="1" smtClean="0">
                <a:solidFill>
                  <a:srgbClr val="000000"/>
                </a:solidFill>
                <a:ea typeface="+mj-ea"/>
              </a:rPr>
              <a:t>rollDice</a:t>
            </a: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int die1 = 1 + rand() % 6;</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int die2 = 1 + rand() % 6;</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int sum = die1 + die2;</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"player rolled " &lt;&lt; die1 &lt;&lt; " + " &lt;&lt; die2 &lt;&lt; " = " &lt;&lt; sum &lt;&lt; </a:t>
            </a:r>
            <a:r>
              <a:rPr lang="en-US" altLang="zh-CN" sz="2400" b="1" dirty="0" err="1" smtClean="0">
                <a:solidFill>
                  <a:srgbClr val="000000"/>
                </a:solidFill>
                <a:ea typeface="+mj-ea"/>
              </a:rPr>
              <a:t>endl</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	return sum;</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p:txBody>
      </p:sp>
      <p:sp>
        <p:nvSpPr>
          <p:cNvPr id="34821" name="标题 1"/>
          <p:cNvSpPr>
            <a:spLocks noGrp="1"/>
          </p:cNvSpPr>
          <p:nvPr>
            <p:ph type="title"/>
          </p:nvPr>
        </p:nvSpPr>
        <p:spPr>
          <a:xfrm>
            <a:off x="6357938" y="571500"/>
            <a:ext cx="2643187" cy="1071563"/>
          </a:xfrm>
          <a:solidFill>
            <a:schemeClr val="bg1"/>
          </a:solidFill>
        </p:spPr>
        <p:txBody>
          <a:bodyPr/>
          <a:lstStyle/>
          <a:p>
            <a:pPr eaLnBrk="1" hangingPunct="1"/>
            <a:r>
              <a:rPr lang="zh-CN" altLang="en-US" smtClean="0"/>
              <a:t>例</a:t>
            </a:r>
            <a:r>
              <a:rPr lang="en-US" altLang="zh-CN" smtClean="0"/>
              <a:t>3-6</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929688" cy="6073775"/>
          </a:xfrm>
          <a:solidFill>
            <a:schemeClr val="tx1"/>
          </a:solidFill>
        </p:spPr>
        <p:txBody>
          <a:bodyPr>
            <a:noAutofit/>
          </a:bodyPr>
          <a:lstStyle/>
          <a:p>
            <a:pPr marL="365760" indent="-255905" eaLnBrk="1" fontAlgn="auto" hangingPunct="1">
              <a:spcAft>
                <a:spcPts val="0"/>
              </a:spcAft>
              <a:buClr>
                <a:schemeClr val="accent3"/>
              </a:buClr>
              <a:buNone/>
              <a:defRPr/>
            </a:pPr>
            <a:r>
              <a:rPr lang="en-US" altLang="zh-CN" sz="2400" b="1" dirty="0" err="1" smtClean="0">
                <a:solidFill>
                  <a:srgbClr val="000000"/>
                </a:solidFill>
                <a:ea typeface="+mj-ea"/>
              </a:rPr>
              <a:t>enum</a:t>
            </a:r>
            <a:r>
              <a:rPr lang="en-US" altLang="zh-CN" sz="2400" b="1" dirty="0" smtClean="0">
                <a:solidFill>
                  <a:srgbClr val="000000"/>
                </a:solidFill>
                <a:ea typeface="+mj-ea"/>
              </a:rPr>
              <a:t> </a:t>
            </a:r>
            <a:r>
              <a:rPr lang="en-US" altLang="zh-CN" sz="2400" b="1" dirty="0" err="1" smtClean="0">
                <a:solidFill>
                  <a:srgbClr val="000000"/>
                </a:solidFill>
                <a:ea typeface="+mj-ea"/>
              </a:rPr>
              <a:t>GameStatus</a:t>
            </a:r>
            <a:r>
              <a:rPr lang="en-US" altLang="zh-CN" sz="2400" b="1" dirty="0" smtClean="0">
                <a:solidFill>
                  <a:srgbClr val="000000"/>
                </a:solidFill>
                <a:ea typeface="+mj-ea"/>
              </a:rPr>
              <a:t> { WIN, LOSE, PLAYING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int sum, </a:t>
            </a:r>
            <a:r>
              <a:rPr lang="en-US" altLang="zh-CN" sz="2400" b="1" dirty="0" err="1" smtClean="0">
                <a:solidFill>
                  <a:srgbClr val="000000"/>
                </a:solidFill>
                <a:ea typeface="+mj-ea"/>
              </a:rPr>
              <a:t>myPoint</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GameStatus</a:t>
            </a:r>
            <a:r>
              <a:rPr lang="en-US" altLang="zh-CN" sz="2400" b="1" dirty="0" smtClean="0">
                <a:solidFill>
                  <a:srgbClr val="000000"/>
                </a:solidFill>
                <a:ea typeface="+mj-ea"/>
              </a:rPr>
              <a:t> status;</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unsigned seed;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&lt;&lt;"Please enter an unsigned integer: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cin</a:t>
            </a:r>
            <a:r>
              <a:rPr lang="en-US" altLang="zh-CN" sz="2400" b="1" dirty="0" smtClean="0">
                <a:solidFill>
                  <a:srgbClr val="000000"/>
                </a:solidFill>
                <a:ea typeface="+mj-ea"/>
              </a:rPr>
              <a:t> &gt;&gt; seed;	//</a:t>
            </a:r>
            <a:r>
              <a:rPr lang="zh-CN" altLang="en-US" sz="2400" b="1" dirty="0" smtClean="0">
                <a:solidFill>
                  <a:srgbClr val="000000"/>
                </a:solidFill>
                <a:ea typeface="+mj-ea"/>
              </a:rPr>
              <a:t>输入随机数种子</a:t>
            </a:r>
            <a:endParaRPr lang="zh-CN" altLang="en-US" sz="2400" b="1" dirty="0" smtClean="0">
              <a:solidFill>
                <a:srgbClr val="000000"/>
              </a:solidFill>
              <a:ea typeface="+mj-ea"/>
            </a:endParaRPr>
          </a:p>
          <a:p>
            <a:pPr marL="365760" indent="-255905" eaLnBrk="1" fontAlgn="auto" hangingPunct="1">
              <a:spcAft>
                <a:spcPts val="0"/>
              </a:spcAft>
              <a:buClr>
                <a:schemeClr val="accent3"/>
              </a:buClr>
              <a:buNone/>
              <a:defRPr/>
            </a:pPr>
            <a:r>
              <a:rPr lang="zh-CN" altLang="en-US" sz="2400" b="1" dirty="0" smtClean="0">
                <a:solidFill>
                  <a:srgbClr val="000000"/>
                </a:solidFill>
                <a:ea typeface="+mj-ea"/>
              </a:rPr>
              <a:t>	</a:t>
            </a:r>
            <a:r>
              <a:rPr lang="en-US" altLang="zh-CN" sz="2400" b="1" dirty="0" err="1" smtClean="0">
                <a:solidFill>
                  <a:srgbClr val="000000"/>
                </a:solidFill>
                <a:ea typeface="+mj-ea"/>
              </a:rPr>
              <a:t>srand</a:t>
            </a:r>
            <a:r>
              <a:rPr lang="en-US" altLang="zh-CN" sz="2400" b="1" dirty="0" smtClean="0">
                <a:solidFill>
                  <a:srgbClr val="000000"/>
                </a:solidFill>
                <a:ea typeface="+mj-ea"/>
              </a:rPr>
              <a:t>(seed);	//</a:t>
            </a:r>
            <a:r>
              <a:rPr lang="zh-CN" altLang="en-US" sz="2400" b="1" dirty="0" smtClean="0">
                <a:solidFill>
                  <a:srgbClr val="000000"/>
                </a:solidFill>
                <a:ea typeface="+mj-ea"/>
              </a:rPr>
              <a:t>将种子传递给</a:t>
            </a:r>
            <a:r>
              <a:rPr lang="en-US" altLang="zh-CN" sz="2400" b="1" dirty="0" smtClean="0">
                <a:solidFill>
                  <a:srgbClr val="000000"/>
                </a:solidFill>
                <a:ea typeface="+mj-ea"/>
              </a:rPr>
              <a:t>rand()</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eaLnBrk="1" fontAlgn="auto" hangingPunct="1">
              <a:spcAft>
                <a:spcPts val="0"/>
              </a:spcAft>
              <a:buClr>
                <a:schemeClr val="accent3"/>
              </a:buClr>
              <a:buNone/>
              <a:defRPr/>
            </a:pPr>
            <a:r>
              <a:rPr lang="en-US" altLang="zh-CN" sz="2400" b="1" dirty="0" smtClean="0">
                <a:solidFill>
                  <a:srgbClr val="000000"/>
                </a:solidFill>
                <a:ea typeface="+mj-ea"/>
              </a:rPr>
              <a:t>	sum = </a:t>
            </a:r>
            <a:r>
              <a:rPr lang="en-US" altLang="zh-CN" sz="2400" b="1" dirty="0" err="1" smtClean="0">
                <a:solidFill>
                  <a:srgbClr val="000000"/>
                </a:solidFill>
                <a:ea typeface="+mj-ea"/>
              </a:rPr>
              <a:t>rollDice</a:t>
            </a:r>
            <a:r>
              <a:rPr lang="en-US" altLang="zh-CN" sz="2400" b="1" dirty="0" smtClean="0">
                <a:solidFill>
                  <a:srgbClr val="000000"/>
                </a:solidFill>
                <a:ea typeface="+mj-ea"/>
              </a:rPr>
              <a:t>(); 	//</a:t>
            </a:r>
            <a:r>
              <a:rPr lang="zh-CN" altLang="en-US" sz="2400" b="1" dirty="0" smtClean="0">
                <a:solidFill>
                  <a:srgbClr val="000000"/>
                </a:solidFill>
                <a:ea typeface="+mj-ea"/>
              </a:rPr>
              <a:t>第一轮投骰子、计算和数</a:t>
            </a:r>
            <a:endParaRPr lang="zh-CN" altLang="en-US" sz="2400" b="1" dirty="0" smtClean="0">
              <a:solidFill>
                <a:srgbClr val="000000"/>
              </a:solidFill>
              <a:ea typeface="+mj-ea"/>
            </a:endParaRPr>
          </a:p>
        </p:txBody>
      </p:sp>
      <p:sp>
        <p:nvSpPr>
          <p:cNvPr id="35845" name="标题 1"/>
          <p:cNvSpPr>
            <a:spLocks noGrp="1"/>
          </p:cNvSpPr>
          <p:nvPr>
            <p:ph type="title"/>
          </p:nvPr>
        </p:nvSpPr>
        <p:spPr>
          <a:xfrm>
            <a:off x="6660232" y="5949280"/>
            <a:ext cx="2412331" cy="694408"/>
          </a:xfrm>
          <a:solidFill>
            <a:schemeClr val="accent6">
              <a:lumMod val="50000"/>
            </a:schemeClr>
          </a:solidFill>
        </p:spPr>
        <p:txBody>
          <a:bodyPr/>
          <a:lstStyle/>
          <a:p>
            <a:pPr eaLnBrk="1" hangingPunct="1"/>
            <a:r>
              <a:rPr lang="zh-CN" altLang="en-US" dirty="0" smtClean="0"/>
              <a:t>例</a:t>
            </a:r>
            <a:r>
              <a:rPr lang="en-US" altLang="zh-CN" dirty="0" smtClean="0"/>
              <a:t>3-6</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571500"/>
            <a:ext cx="8858250" cy="6073775"/>
          </a:xfrm>
          <a:solidFill>
            <a:schemeClr val="tx1"/>
          </a:solidFill>
        </p:spPr>
        <p:txBody>
          <a:bodyPr>
            <a:noAutofit/>
          </a:bodyPr>
          <a:lstStyle/>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switch (sum)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case 7:   //</a:t>
            </a:r>
            <a:r>
              <a:rPr lang="zh-CN" altLang="en-US" sz="2000" b="1" dirty="0" smtClean="0">
                <a:solidFill>
                  <a:srgbClr val="000000"/>
                </a:solidFill>
                <a:latin typeface="微软雅黑" panose="020B0503020204020204" pitchFamily="34" charset="-122"/>
                <a:ea typeface="微软雅黑" panose="020B0503020204020204" pitchFamily="34" charset="-122"/>
              </a:rPr>
              <a:t>如果和数为</a:t>
            </a:r>
            <a:r>
              <a:rPr lang="en-US" altLang="zh-CN" sz="2000" b="1" dirty="0" smtClean="0">
                <a:solidFill>
                  <a:srgbClr val="000000"/>
                </a:solidFill>
                <a:latin typeface="微软雅黑" panose="020B0503020204020204" pitchFamily="34" charset="-122"/>
                <a:ea typeface="微软雅黑" panose="020B0503020204020204" pitchFamily="34" charset="-122"/>
              </a:rPr>
              <a:t>7</a:t>
            </a:r>
            <a:r>
              <a:rPr lang="zh-CN" altLang="en-US" sz="2000" b="1" dirty="0" smtClean="0">
                <a:solidFill>
                  <a:srgbClr val="000000"/>
                </a:solidFill>
                <a:latin typeface="微软雅黑" panose="020B0503020204020204" pitchFamily="34" charset="-122"/>
                <a:ea typeface="微软雅黑" panose="020B0503020204020204" pitchFamily="34" charset="-122"/>
              </a:rPr>
              <a:t>或</a:t>
            </a:r>
            <a:r>
              <a:rPr lang="en-US" altLang="zh-CN" sz="2000" b="1" dirty="0" smtClean="0">
                <a:solidFill>
                  <a:srgbClr val="000000"/>
                </a:solidFill>
                <a:latin typeface="微软雅黑" panose="020B0503020204020204" pitchFamily="34" charset="-122"/>
                <a:ea typeface="微软雅黑" panose="020B0503020204020204" pitchFamily="34" charset="-122"/>
              </a:rPr>
              <a:t>11</a:t>
            </a:r>
            <a:r>
              <a:rPr lang="zh-CN" altLang="en-US" sz="2000" b="1" dirty="0" smtClean="0">
                <a:solidFill>
                  <a:srgbClr val="000000"/>
                </a:solidFill>
                <a:latin typeface="微软雅黑" panose="020B0503020204020204" pitchFamily="34" charset="-122"/>
                <a:ea typeface="微软雅黑" panose="020B0503020204020204" pitchFamily="34" charset="-122"/>
              </a:rPr>
              <a:t>则为胜</a:t>
            </a:r>
            <a:r>
              <a:rPr lang="en-US" altLang="zh-CN" sz="2000" b="1" dirty="0" smtClean="0">
                <a:solidFill>
                  <a:srgbClr val="000000"/>
                </a:solidFill>
                <a:latin typeface="微软雅黑" panose="020B0503020204020204" pitchFamily="34" charset="-122"/>
                <a:ea typeface="微软雅黑" panose="020B0503020204020204" pitchFamily="34" charset="-122"/>
              </a:rPr>
              <a:t>,</a:t>
            </a:r>
            <a:r>
              <a:rPr lang="zh-CN" altLang="en-US" sz="2000" b="1" dirty="0" smtClean="0">
                <a:solidFill>
                  <a:srgbClr val="000000"/>
                </a:solidFill>
                <a:latin typeface="微软雅黑" panose="020B0503020204020204" pitchFamily="34" charset="-122"/>
                <a:ea typeface="微软雅黑" panose="020B0503020204020204" pitchFamily="34" charset="-122"/>
              </a:rPr>
              <a:t>状态为</a:t>
            </a:r>
            <a:r>
              <a:rPr lang="en-US" altLang="zh-CN" sz="2000" b="1" dirty="0" smtClean="0">
                <a:solidFill>
                  <a:srgbClr val="000000"/>
                </a:solidFill>
                <a:latin typeface="微软雅黑" panose="020B0503020204020204" pitchFamily="34" charset="-122"/>
                <a:ea typeface="微软雅黑" panose="020B0503020204020204" pitchFamily="34" charset="-122"/>
              </a:rPr>
              <a:t>WIN</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case 11:	  status = WIN;	  break;</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case 2:   //</a:t>
            </a:r>
            <a:r>
              <a:rPr lang="zh-CN" altLang="en-US" sz="2000" b="1" dirty="0" smtClean="0">
                <a:solidFill>
                  <a:srgbClr val="000000"/>
                </a:solidFill>
                <a:latin typeface="微软雅黑" panose="020B0503020204020204" pitchFamily="34" charset="-122"/>
                <a:ea typeface="微软雅黑" panose="020B0503020204020204" pitchFamily="34" charset="-122"/>
              </a:rPr>
              <a:t>和数为</a:t>
            </a:r>
            <a:r>
              <a:rPr lang="en-US" altLang="zh-CN" sz="2000" b="1" dirty="0" smtClean="0">
                <a:solidFill>
                  <a:srgbClr val="000000"/>
                </a:solidFill>
                <a:latin typeface="微软雅黑" panose="020B0503020204020204" pitchFamily="34" charset="-122"/>
                <a:ea typeface="微软雅黑" panose="020B0503020204020204" pitchFamily="34" charset="-122"/>
              </a:rPr>
              <a:t>2</a:t>
            </a:r>
            <a:r>
              <a:rPr lang="zh-CN" altLang="en-US" sz="2000" b="1" dirty="0" smtClean="0">
                <a:solidFill>
                  <a:srgbClr val="000000"/>
                </a:solidFill>
                <a:latin typeface="微软雅黑" panose="020B0503020204020204" pitchFamily="34" charset="-122"/>
                <a:ea typeface="微软雅黑" panose="020B0503020204020204" pitchFamily="34" charset="-122"/>
              </a:rPr>
              <a:t>、</a:t>
            </a:r>
            <a:r>
              <a:rPr lang="en-US" altLang="zh-CN" sz="2000" b="1" dirty="0" smtClean="0">
                <a:solidFill>
                  <a:srgbClr val="000000"/>
                </a:solidFill>
                <a:latin typeface="微软雅黑" panose="020B0503020204020204" pitchFamily="34" charset="-122"/>
                <a:ea typeface="微软雅黑" panose="020B0503020204020204" pitchFamily="34" charset="-122"/>
              </a:rPr>
              <a:t>3</a:t>
            </a:r>
            <a:r>
              <a:rPr lang="zh-CN" altLang="en-US" sz="2000" b="1" dirty="0" smtClean="0">
                <a:solidFill>
                  <a:srgbClr val="000000"/>
                </a:solidFill>
                <a:latin typeface="微软雅黑" panose="020B0503020204020204" pitchFamily="34" charset="-122"/>
                <a:ea typeface="微软雅黑" panose="020B0503020204020204" pitchFamily="34" charset="-122"/>
              </a:rPr>
              <a:t>或</a:t>
            </a:r>
            <a:r>
              <a:rPr lang="en-US" altLang="zh-CN" sz="2000" b="1" dirty="0" smtClean="0">
                <a:solidFill>
                  <a:srgbClr val="000000"/>
                </a:solidFill>
                <a:latin typeface="微软雅黑" panose="020B0503020204020204" pitchFamily="34" charset="-122"/>
                <a:ea typeface="微软雅黑" panose="020B0503020204020204" pitchFamily="34" charset="-122"/>
              </a:rPr>
              <a:t>12</a:t>
            </a:r>
            <a:r>
              <a:rPr lang="zh-CN" altLang="en-US" sz="2000" b="1" dirty="0" smtClean="0">
                <a:solidFill>
                  <a:srgbClr val="000000"/>
                </a:solidFill>
                <a:latin typeface="微软雅黑" panose="020B0503020204020204" pitchFamily="34" charset="-122"/>
                <a:ea typeface="微软雅黑" panose="020B0503020204020204" pitchFamily="34" charset="-122"/>
              </a:rPr>
              <a:t>则为负</a:t>
            </a:r>
            <a:r>
              <a:rPr lang="en-US" altLang="zh-CN" sz="2000" b="1" dirty="0" smtClean="0">
                <a:solidFill>
                  <a:srgbClr val="000000"/>
                </a:solidFill>
                <a:latin typeface="微软雅黑" panose="020B0503020204020204" pitchFamily="34" charset="-122"/>
                <a:ea typeface="微软雅黑" panose="020B0503020204020204" pitchFamily="34" charset="-122"/>
              </a:rPr>
              <a:t>,</a:t>
            </a:r>
            <a:r>
              <a:rPr lang="zh-CN" altLang="en-US" sz="2000" b="1" dirty="0" smtClean="0">
                <a:solidFill>
                  <a:srgbClr val="000000"/>
                </a:solidFill>
                <a:latin typeface="微软雅黑" panose="020B0503020204020204" pitchFamily="34" charset="-122"/>
                <a:ea typeface="微软雅黑" panose="020B0503020204020204" pitchFamily="34" charset="-122"/>
              </a:rPr>
              <a:t>状态为</a:t>
            </a:r>
            <a:r>
              <a:rPr lang="en-US" altLang="zh-CN" sz="2000" b="1" dirty="0" smtClean="0">
                <a:solidFill>
                  <a:srgbClr val="000000"/>
                </a:solidFill>
                <a:latin typeface="微软雅黑" panose="020B0503020204020204" pitchFamily="34" charset="-122"/>
                <a:ea typeface="微软雅黑" panose="020B0503020204020204" pitchFamily="34" charset="-122"/>
              </a:rPr>
              <a:t>LOSE</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case 3: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case 12:</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status = LOSE;</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break;</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default:</a:t>
            </a:r>
            <a:r>
              <a:rPr lang="en-US" altLang="zh-CN" sz="2800" b="1" dirty="0" smtClean="0">
                <a:solidFill>
                  <a:srgbClr val="000000"/>
                </a:solidFill>
                <a:latin typeface="微软雅黑" panose="020B0503020204020204" pitchFamily="34" charset="-122"/>
                <a:ea typeface="微软雅黑" panose="020B0503020204020204" pitchFamily="34" charset="-122"/>
              </a:rPr>
              <a:t>  </a:t>
            </a:r>
            <a:r>
              <a:rPr lang="en-US" altLang="zh-CN" sz="1800" b="1" dirty="0" smtClean="0">
                <a:solidFill>
                  <a:srgbClr val="000000"/>
                </a:solidFill>
                <a:latin typeface="微软雅黑" panose="020B0503020204020204" pitchFamily="34" charset="-122"/>
                <a:ea typeface="微软雅黑" panose="020B0503020204020204" pitchFamily="34" charset="-122"/>
              </a:rPr>
              <a:t>/*</a:t>
            </a:r>
            <a:r>
              <a:rPr lang="zh-CN" altLang="en-US" sz="1800" b="1" dirty="0" smtClean="0">
                <a:solidFill>
                  <a:srgbClr val="000000"/>
                </a:solidFill>
                <a:latin typeface="微软雅黑" panose="020B0503020204020204" pitchFamily="34" charset="-122"/>
                <a:ea typeface="微软雅黑" panose="020B0503020204020204" pitchFamily="34" charset="-122"/>
              </a:rPr>
              <a:t>其它情况</a:t>
            </a:r>
            <a:r>
              <a:rPr lang="en-US" altLang="zh-CN" sz="1800" b="1" dirty="0" smtClean="0">
                <a:solidFill>
                  <a:srgbClr val="000000"/>
                </a:solidFill>
                <a:latin typeface="微软雅黑" panose="020B0503020204020204" pitchFamily="34" charset="-122"/>
                <a:ea typeface="微软雅黑" panose="020B0503020204020204" pitchFamily="34" charset="-122"/>
              </a:rPr>
              <a:t>,</a:t>
            </a:r>
            <a:r>
              <a:rPr lang="zh-CN" altLang="en-US" sz="1800" b="1" dirty="0" smtClean="0">
                <a:solidFill>
                  <a:srgbClr val="000000"/>
                </a:solidFill>
                <a:latin typeface="微软雅黑" panose="020B0503020204020204" pitchFamily="34" charset="-122"/>
                <a:ea typeface="微软雅黑" panose="020B0503020204020204" pitchFamily="34" charset="-122"/>
              </a:rPr>
              <a:t>游戏尚无结果</a:t>
            </a:r>
            <a:r>
              <a:rPr lang="en-US" altLang="zh-CN" sz="1800" b="1" dirty="0" smtClean="0">
                <a:solidFill>
                  <a:srgbClr val="000000"/>
                </a:solidFill>
                <a:latin typeface="微软雅黑" panose="020B0503020204020204" pitchFamily="34" charset="-122"/>
                <a:ea typeface="微软雅黑" panose="020B0503020204020204" pitchFamily="34" charset="-122"/>
              </a:rPr>
              <a:t>,</a:t>
            </a:r>
            <a:r>
              <a:rPr lang="zh-CN" altLang="en-US" sz="1800" b="1" dirty="0" smtClean="0">
                <a:solidFill>
                  <a:srgbClr val="000000"/>
                </a:solidFill>
                <a:latin typeface="微软雅黑" panose="020B0503020204020204" pitchFamily="34" charset="-122"/>
                <a:ea typeface="微软雅黑" panose="020B0503020204020204" pitchFamily="34" charset="-122"/>
              </a:rPr>
              <a:t>状态为</a:t>
            </a:r>
            <a:r>
              <a:rPr lang="en-US" altLang="zh-CN" sz="1800" b="1" dirty="0" smtClean="0">
                <a:solidFill>
                  <a:srgbClr val="000000"/>
                </a:solidFill>
                <a:latin typeface="微软雅黑" panose="020B0503020204020204" pitchFamily="34" charset="-122"/>
                <a:ea typeface="微软雅黑" panose="020B0503020204020204" pitchFamily="34" charset="-122"/>
              </a:rPr>
              <a:t> PLAYING,</a:t>
            </a:r>
            <a:r>
              <a:rPr lang="zh-CN" altLang="en-US" sz="1800" b="1" dirty="0" smtClean="0">
                <a:solidFill>
                  <a:srgbClr val="000000"/>
                </a:solidFill>
                <a:latin typeface="微软雅黑" panose="020B0503020204020204" pitchFamily="34" charset="-122"/>
                <a:ea typeface="微软雅黑" panose="020B0503020204020204" pitchFamily="34" charset="-122"/>
              </a:rPr>
              <a:t>记下点数</a:t>
            </a:r>
            <a:r>
              <a:rPr lang="en-US" altLang="zh-CN" sz="1800" b="1" dirty="0" smtClean="0">
                <a:solidFill>
                  <a:srgbClr val="000000"/>
                </a:solidFill>
                <a:latin typeface="微软雅黑" panose="020B0503020204020204" pitchFamily="34" charset="-122"/>
                <a:ea typeface="微软雅黑" panose="020B0503020204020204" pitchFamily="34" charset="-122"/>
              </a:rPr>
              <a:t>,</a:t>
            </a:r>
            <a:r>
              <a:rPr lang="zh-CN" altLang="en-US" sz="1800" b="1" dirty="0" smtClean="0">
                <a:solidFill>
                  <a:srgbClr val="000000"/>
                </a:solidFill>
                <a:latin typeface="微软雅黑" panose="020B0503020204020204" pitchFamily="34" charset="-122"/>
                <a:ea typeface="微软雅黑" panose="020B0503020204020204" pitchFamily="34" charset="-122"/>
              </a:rPr>
              <a:t>为下一轮做准备 </a:t>
            </a:r>
            <a:r>
              <a:rPr lang="en-US" altLang="zh-CN" sz="1800" b="1" dirty="0" smtClean="0">
                <a:solidFill>
                  <a:srgbClr val="000000"/>
                </a:solidFill>
                <a:latin typeface="微软雅黑" panose="020B0503020204020204" pitchFamily="34" charset="-122"/>
                <a:ea typeface="微软雅黑" panose="020B0503020204020204" pitchFamily="34" charset="-122"/>
              </a:rPr>
              <a:t>*/</a:t>
            </a:r>
            <a:endParaRPr lang="zh-CN" altLang="en-US" sz="28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zh-CN" altLang="en-US"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smtClean="0">
                <a:solidFill>
                  <a:srgbClr val="000000"/>
                </a:solidFill>
                <a:latin typeface="微软雅黑" panose="020B0503020204020204" pitchFamily="34" charset="-122"/>
                <a:ea typeface="微软雅黑" panose="020B0503020204020204" pitchFamily="34" charset="-122"/>
              </a:rPr>
              <a:t>status = PLAYING;</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myPoint</a:t>
            </a:r>
            <a:r>
              <a:rPr lang="en-US" altLang="zh-CN" sz="2000" b="1" dirty="0" smtClean="0">
                <a:solidFill>
                  <a:srgbClr val="000000"/>
                </a:solidFill>
                <a:latin typeface="微软雅黑" panose="020B0503020204020204" pitchFamily="34" charset="-122"/>
                <a:ea typeface="微软雅黑" panose="020B0503020204020204" pitchFamily="34" charset="-122"/>
              </a:rPr>
              <a:t> = sum;</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cout</a:t>
            </a:r>
            <a:r>
              <a:rPr lang="en-US" altLang="zh-CN" sz="2000" b="1" dirty="0" smtClean="0">
                <a:solidFill>
                  <a:srgbClr val="000000"/>
                </a:solidFill>
                <a:latin typeface="微软雅黑" panose="020B0503020204020204" pitchFamily="34" charset="-122"/>
                <a:ea typeface="微软雅黑" panose="020B0503020204020204" pitchFamily="34" charset="-122"/>
              </a:rPr>
              <a:t> &lt;&lt; "point is " &lt;&lt; </a:t>
            </a:r>
            <a:r>
              <a:rPr lang="en-US" altLang="zh-CN" sz="2000" b="1" dirty="0" err="1" smtClean="0">
                <a:solidFill>
                  <a:srgbClr val="000000"/>
                </a:solidFill>
                <a:latin typeface="微软雅黑" panose="020B0503020204020204" pitchFamily="34" charset="-122"/>
                <a:ea typeface="微软雅黑" panose="020B0503020204020204" pitchFamily="34" charset="-122"/>
              </a:rPr>
              <a:t>myPoint</a:t>
            </a:r>
            <a:r>
              <a:rPr lang="en-US" altLang="zh-CN" sz="2000" b="1" dirty="0" smtClean="0">
                <a:solidFill>
                  <a:srgbClr val="000000"/>
                </a:solidFill>
                <a:latin typeface="微软雅黑" panose="020B0503020204020204" pitchFamily="34" charset="-122"/>
                <a:ea typeface="微软雅黑" panose="020B0503020204020204" pitchFamily="34" charset="-122"/>
              </a:rPr>
              <a:t> &lt;&lt; </a:t>
            </a:r>
            <a:r>
              <a:rPr lang="en-US" altLang="zh-CN" sz="2000" b="1" dirty="0" err="1" smtClean="0">
                <a:solidFill>
                  <a:srgbClr val="000000"/>
                </a:solidFill>
                <a:latin typeface="微软雅黑" panose="020B0503020204020204" pitchFamily="34" charset="-122"/>
                <a:ea typeface="微软雅黑" panose="020B0503020204020204" pitchFamily="34" charset="-122"/>
              </a:rPr>
              <a:t>endl</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break;</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1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spcAft>
                <a:spcPts val="0"/>
              </a:spcAft>
              <a:buClr>
                <a:schemeClr val="accent3"/>
              </a:buClr>
              <a:buNone/>
              <a:defRPr/>
            </a:pPr>
            <a:endParaRPr lang="zh-CN" altLang="en-US" sz="2000" b="1" dirty="0" smtClean="0">
              <a:solidFill>
                <a:srgbClr val="000000"/>
              </a:solidFill>
              <a:latin typeface="微软雅黑" panose="020B0503020204020204" pitchFamily="34" charset="-122"/>
              <a:ea typeface="微软雅黑" panose="020B0503020204020204" pitchFamily="34" charset="-122"/>
            </a:endParaRPr>
          </a:p>
        </p:txBody>
      </p:sp>
      <p:sp>
        <p:nvSpPr>
          <p:cNvPr id="36869" name="标题 1"/>
          <p:cNvSpPr>
            <a:spLocks noGrp="1"/>
          </p:cNvSpPr>
          <p:nvPr>
            <p:ph type="title"/>
          </p:nvPr>
        </p:nvSpPr>
        <p:spPr>
          <a:xfrm>
            <a:off x="6372200" y="571500"/>
            <a:ext cx="2700363" cy="697260"/>
          </a:xfrm>
          <a:solidFill>
            <a:schemeClr val="accent6">
              <a:lumMod val="50000"/>
            </a:schemeClr>
          </a:solidFill>
        </p:spPr>
        <p:txBody>
          <a:bodyPr/>
          <a:lstStyle/>
          <a:p>
            <a:pPr eaLnBrk="1" hangingPunct="1"/>
            <a:r>
              <a:rPr lang="zh-CN" altLang="en-US" dirty="0" smtClean="0"/>
              <a:t>例</a:t>
            </a:r>
            <a:r>
              <a:rPr lang="en-US" altLang="zh-CN" dirty="0" smtClean="0"/>
              <a:t>3-6</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50" y="241126"/>
            <a:ext cx="8786813" cy="6572250"/>
          </a:xfrm>
          <a:solidFill>
            <a:schemeClr val="tx1"/>
          </a:solidFill>
        </p:spPr>
        <p:txBody>
          <a:bodyPr>
            <a:noAutofit/>
          </a:bodyPr>
          <a:lstStyle/>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while (status == PLAYING) {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zh-CN" altLang="en-US" sz="2000" b="1" dirty="0" smtClean="0">
                <a:solidFill>
                  <a:srgbClr val="000000"/>
                </a:solidFill>
                <a:latin typeface="微软雅黑" panose="020B0503020204020204" pitchFamily="34" charset="-122"/>
                <a:ea typeface="微软雅黑" panose="020B0503020204020204" pitchFamily="34" charset="-122"/>
              </a:rPr>
              <a:t>只要状态仍为</a:t>
            </a:r>
            <a:r>
              <a:rPr lang="en-US" altLang="zh-CN" sz="2000" b="1" dirty="0" smtClean="0">
                <a:solidFill>
                  <a:srgbClr val="000000"/>
                </a:solidFill>
                <a:latin typeface="微软雅黑" panose="020B0503020204020204" pitchFamily="34" charset="-122"/>
                <a:ea typeface="微软雅黑" panose="020B0503020204020204" pitchFamily="34" charset="-122"/>
              </a:rPr>
              <a:t>PLAYING,</a:t>
            </a:r>
            <a:r>
              <a:rPr lang="zh-CN" altLang="en-US" sz="2000" b="1" dirty="0" smtClean="0">
                <a:solidFill>
                  <a:srgbClr val="000000"/>
                </a:solidFill>
                <a:latin typeface="微软雅黑" panose="020B0503020204020204" pitchFamily="34" charset="-122"/>
                <a:ea typeface="微软雅黑" panose="020B0503020204020204" pitchFamily="34" charset="-122"/>
              </a:rPr>
              <a:t>就继续进 行下一轮</a:t>
            </a:r>
            <a:endParaRPr lang="zh-CN" altLang="en-US"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zh-CN" altLang="en-US"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smtClean="0">
                <a:solidFill>
                  <a:srgbClr val="000000"/>
                </a:solidFill>
                <a:latin typeface="微软雅黑" panose="020B0503020204020204" pitchFamily="34" charset="-122"/>
                <a:ea typeface="微软雅黑" panose="020B0503020204020204" pitchFamily="34" charset="-122"/>
              </a:rPr>
              <a:t>sum = </a:t>
            </a:r>
            <a:r>
              <a:rPr lang="en-US" altLang="zh-CN" sz="2000" b="1" dirty="0" err="1" smtClean="0">
                <a:solidFill>
                  <a:srgbClr val="000000"/>
                </a:solidFill>
                <a:latin typeface="微软雅黑" panose="020B0503020204020204" pitchFamily="34" charset="-122"/>
                <a:ea typeface="微软雅黑" panose="020B0503020204020204" pitchFamily="34" charset="-122"/>
              </a:rPr>
              <a:t>rollDice</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if (sum == </a:t>
            </a:r>
            <a:r>
              <a:rPr lang="en-US" altLang="zh-CN" sz="2000" b="1" dirty="0" err="1" smtClean="0">
                <a:solidFill>
                  <a:srgbClr val="000000"/>
                </a:solidFill>
                <a:latin typeface="微软雅黑" panose="020B0503020204020204" pitchFamily="34" charset="-122"/>
                <a:ea typeface="微软雅黑" panose="020B0503020204020204" pitchFamily="34" charset="-122"/>
              </a:rPr>
              <a:t>myPoint</a:t>
            </a: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zh-CN" altLang="en-US" sz="2000" b="1" dirty="0" smtClean="0">
                <a:solidFill>
                  <a:srgbClr val="000000"/>
                </a:solidFill>
                <a:latin typeface="微软雅黑" panose="020B0503020204020204" pitchFamily="34" charset="-122"/>
                <a:ea typeface="微软雅黑" panose="020B0503020204020204" pitchFamily="34" charset="-122"/>
              </a:rPr>
              <a:t>某轮的和数等于点数则取胜</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status = WIN;</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else if (sum == 7)    //</a:t>
            </a:r>
            <a:r>
              <a:rPr lang="zh-CN" altLang="en-US" sz="2000" b="1" dirty="0" smtClean="0">
                <a:solidFill>
                  <a:srgbClr val="000000"/>
                </a:solidFill>
                <a:latin typeface="微软雅黑" panose="020B0503020204020204" pitchFamily="34" charset="-122"/>
                <a:ea typeface="微软雅黑" panose="020B0503020204020204" pitchFamily="34" charset="-122"/>
              </a:rPr>
              <a:t>出现和数为</a:t>
            </a:r>
            <a:r>
              <a:rPr lang="en-US" altLang="zh-CN" sz="2000" b="1" dirty="0" smtClean="0">
                <a:solidFill>
                  <a:srgbClr val="000000"/>
                </a:solidFill>
                <a:latin typeface="微软雅黑" panose="020B0503020204020204" pitchFamily="34" charset="-122"/>
                <a:ea typeface="微软雅黑" panose="020B0503020204020204" pitchFamily="34" charset="-122"/>
              </a:rPr>
              <a:t>7</a:t>
            </a:r>
            <a:r>
              <a:rPr lang="zh-CN" altLang="en-US" sz="2000" b="1" dirty="0" smtClean="0">
                <a:solidFill>
                  <a:srgbClr val="000000"/>
                </a:solidFill>
                <a:latin typeface="微软雅黑" panose="020B0503020204020204" pitchFamily="34" charset="-122"/>
                <a:ea typeface="微软雅黑" panose="020B0503020204020204" pitchFamily="34" charset="-122"/>
              </a:rPr>
              <a:t>则为负</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status = LOSE;</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zh-CN" altLang="en-US" sz="2000" b="1" dirty="0" smtClean="0">
                <a:solidFill>
                  <a:srgbClr val="000000"/>
                </a:solidFill>
                <a:latin typeface="微软雅黑" panose="020B0503020204020204" pitchFamily="34" charset="-122"/>
                <a:ea typeface="微软雅黑" panose="020B0503020204020204" pitchFamily="34" charset="-122"/>
              </a:rPr>
              <a:t>当状态不为</a:t>
            </a:r>
            <a:r>
              <a:rPr lang="en-US" altLang="zh-CN" sz="2000" b="1" dirty="0" smtClean="0">
                <a:solidFill>
                  <a:srgbClr val="000000"/>
                </a:solidFill>
                <a:latin typeface="微软雅黑" panose="020B0503020204020204" pitchFamily="34" charset="-122"/>
                <a:ea typeface="微软雅黑" panose="020B0503020204020204" pitchFamily="34" charset="-122"/>
              </a:rPr>
              <a:t>PLAYING</a:t>
            </a:r>
            <a:r>
              <a:rPr lang="zh-CN" altLang="en-US" sz="2000" b="1" dirty="0" smtClean="0">
                <a:solidFill>
                  <a:srgbClr val="000000"/>
                </a:solidFill>
                <a:latin typeface="微软雅黑" panose="020B0503020204020204" pitchFamily="34" charset="-122"/>
                <a:ea typeface="微软雅黑" panose="020B0503020204020204" pitchFamily="34" charset="-122"/>
              </a:rPr>
              <a:t>时上面的循环结束</a:t>
            </a:r>
            <a:r>
              <a:rPr lang="en-US" altLang="zh-CN" sz="2000" b="1" dirty="0" smtClean="0">
                <a:solidFill>
                  <a:srgbClr val="000000"/>
                </a:solidFill>
                <a:latin typeface="微软雅黑" panose="020B0503020204020204" pitchFamily="34" charset="-122"/>
                <a:ea typeface="微软雅黑" panose="020B0503020204020204" pitchFamily="34" charset="-122"/>
              </a:rPr>
              <a:t>,</a:t>
            </a:r>
            <a:r>
              <a:rPr lang="zh-CN" altLang="en-US" sz="2000" b="1" dirty="0" smtClean="0">
                <a:solidFill>
                  <a:srgbClr val="000000"/>
                </a:solidFill>
                <a:latin typeface="微软雅黑" panose="020B0503020204020204" pitchFamily="34" charset="-122"/>
                <a:ea typeface="微软雅黑" panose="020B0503020204020204" pitchFamily="34" charset="-122"/>
              </a:rPr>
              <a:t>以下程序段输出游戏结果</a:t>
            </a:r>
            <a:endParaRPr lang="zh-CN" altLang="en-US"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zh-CN" altLang="en-US"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smtClean="0">
                <a:solidFill>
                  <a:srgbClr val="000000"/>
                </a:solidFill>
                <a:latin typeface="微软雅黑" panose="020B0503020204020204" pitchFamily="34" charset="-122"/>
                <a:ea typeface="微软雅黑" panose="020B0503020204020204" pitchFamily="34" charset="-122"/>
              </a:rPr>
              <a:t>if (status == WIN)</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cout</a:t>
            </a:r>
            <a:r>
              <a:rPr lang="en-US" altLang="zh-CN" sz="2000" b="1" dirty="0" smtClean="0">
                <a:solidFill>
                  <a:srgbClr val="000000"/>
                </a:solidFill>
                <a:latin typeface="微软雅黑" panose="020B0503020204020204" pitchFamily="34" charset="-122"/>
                <a:ea typeface="微软雅黑" panose="020B0503020204020204" pitchFamily="34" charset="-122"/>
              </a:rPr>
              <a:t> &lt;&lt; "player wins" &lt;&lt; </a:t>
            </a:r>
            <a:r>
              <a:rPr lang="en-US" altLang="zh-CN" sz="2000" b="1" dirty="0" err="1" smtClean="0">
                <a:solidFill>
                  <a:srgbClr val="000000"/>
                </a:solidFill>
                <a:latin typeface="微软雅黑" panose="020B0503020204020204" pitchFamily="34" charset="-122"/>
                <a:ea typeface="微软雅黑" panose="020B0503020204020204" pitchFamily="34" charset="-122"/>
              </a:rPr>
              <a:t>endl</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else</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r>
              <a:rPr lang="en-US" altLang="zh-CN" sz="2000" b="1" dirty="0" err="1" smtClean="0">
                <a:solidFill>
                  <a:srgbClr val="000000"/>
                </a:solidFill>
                <a:latin typeface="微软雅黑" panose="020B0503020204020204" pitchFamily="34" charset="-122"/>
                <a:ea typeface="微软雅黑" panose="020B0503020204020204" pitchFamily="34" charset="-122"/>
              </a:rPr>
              <a:t>cout</a:t>
            </a:r>
            <a:r>
              <a:rPr lang="en-US" altLang="zh-CN" sz="2000" b="1" dirty="0" smtClean="0">
                <a:solidFill>
                  <a:srgbClr val="000000"/>
                </a:solidFill>
                <a:latin typeface="微软雅黑" panose="020B0503020204020204" pitchFamily="34" charset="-122"/>
                <a:ea typeface="微软雅黑" panose="020B0503020204020204" pitchFamily="34" charset="-122"/>
              </a:rPr>
              <a:t> &lt;&lt; "player loses" &lt;&lt; </a:t>
            </a:r>
            <a:r>
              <a:rPr lang="en-US" altLang="zh-CN" sz="2000" b="1" dirty="0" err="1" smtClean="0">
                <a:solidFill>
                  <a:srgbClr val="000000"/>
                </a:solidFill>
                <a:latin typeface="微软雅黑" panose="020B0503020204020204" pitchFamily="34" charset="-122"/>
                <a:ea typeface="微软雅黑" panose="020B0503020204020204" pitchFamily="34" charset="-122"/>
              </a:rPr>
              <a:t>endl</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return 0;</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marL="365760" indent="-255905" eaLnBrk="1" fontAlgn="auto" hangingPunct="1">
              <a:lnSpc>
                <a:spcPct val="120000"/>
              </a:lnSpc>
              <a:spcAft>
                <a:spcPts val="0"/>
              </a:spcAft>
              <a:buClr>
                <a:schemeClr val="accent3"/>
              </a:buClr>
              <a:buNone/>
              <a:defRPr/>
            </a:pPr>
            <a:r>
              <a:rPr lang="en-US" altLang="zh-CN" sz="2000" b="1" dirty="0" smtClean="0">
                <a:solidFill>
                  <a:srgbClr val="000000"/>
                </a:solidFill>
                <a:latin typeface="微软雅黑" panose="020B0503020204020204" pitchFamily="34" charset="-122"/>
                <a:ea typeface="微软雅黑" panose="020B0503020204020204" pitchFamily="34" charset="-122"/>
              </a:rPr>
              <a:t>} </a:t>
            </a: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sp>
        <p:nvSpPr>
          <p:cNvPr id="37893" name="标题 1"/>
          <p:cNvSpPr>
            <a:spLocks noGrp="1"/>
          </p:cNvSpPr>
          <p:nvPr>
            <p:ph type="title"/>
          </p:nvPr>
        </p:nvSpPr>
        <p:spPr>
          <a:xfrm>
            <a:off x="6588224" y="548680"/>
            <a:ext cx="2555776" cy="875307"/>
          </a:xfrm>
          <a:solidFill>
            <a:schemeClr val="accent6">
              <a:lumMod val="50000"/>
            </a:schemeClr>
          </a:solidFill>
        </p:spPr>
        <p:txBody>
          <a:bodyPr/>
          <a:lstStyle/>
          <a:p>
            <a:pPr eaLnBrk="1" hangingPunct="1"/>
            <a:r>
              <a:rPr lang="zh-CN" altLang="en-US" dirty="0" smtClean="0"/>
              <a:t>例</a:t>
            </a:r>
            <a:r>
              <a:rPr lang="en-US" altLang="zh-CN" dirty="0" smtClean="0"/>
              <a:t>3-6</a:t>
            </a:r>
            <a:r>
              <a:rPr lang="zh-CN" altLang="en-US" dirty="0" smtClean="0"/>
              <a:t>（续）</a:t>
            </a:r>
            <a:endParaRPr lang="zh-CN" altLang="en-US" dirty="0" smtClean="0"/>
          </a:p>
        </p:txBody>
      </p:sp>
      <p:sp>
        <p:nvSpPr>
          <p:cNvPr id="6" name="内容占位符 2"/>
          <p:cNvSpPr txBox="1"/>
          <p:nvPr/>
        </p:nvSpPr>
        <p:spPr>
          <a:xfrm>
            <a:off x="5002907" y="4611231"/>
            <a:ext cx="4141093" cy="2246769"/>
          </a:xfrm>
          <a:prstGeom prst="rect">
            <a:avLst/>
          </a:prstGeom>
          <a:solidFill>
            <a:srgbClr val="000000"/>
          </a:solidFill>
          <a:ln w="12700" cap="sq">
            <a:noFill/>
            <a:miter lim="800000"/>
            <a:headEnd type="none" w="sm" len="sm"/>
            <a:tailEnd type="none" w="sm" len="sm"/>
          </a:ln>
        </p:spPr>
        <p:txBody>
          <a:bodyPr wrap="square">
            <a:spAutoFit/>
          </a:bodyPr>
          <a:lstStyle/>
          <a:p>
            <a:pPr marL="0" marR="0" lvl="0" indent="0" algn="l" defTabSz="914400" rtl="0" eaLnBrk="1" fontAlgn="base" latinLnBrk="0" hangingPunct="1">
              <a:spcBef>
                <a:spcPct val="20000"/>
              </a:spcBef>
              <a:spcAft>
                <a:spcPct val="0"/>
              </a:spcAft>
              <a:buClr>
                <a:schemeClr val="accent2"/>
              </a:buClr>
              <a:buSzPct val="80000"/>
              <a:buFont typeface="Georgia" panose="02040502050405020303"/>
              <a:buNone/>
              <a:defRPr/>
            </a:pPr>
            <a:r>
              <a:rPr kumimoji="1" lang="zh-CN" altLang="en-US" sz="2000" b="1" i="0" u="none" strike="noStrike" kern="1200" cap="none" spc="0" normalizeH="0" baseline="0" noProof="0" dirty="0" smtClean="0">
                <a:ln>
                  <a:noFill/>
                </a:ln>
                <a:solidFill>
                  <a:schemeClr val="tx1"/>
                </a:solidFill>
                <a:effectLst/>
                <a:uLnTx/>
                <a:uFillTx/>
                <a:latin typeface="+mn-lt"/>
                <a:ea typeface="+mj-ea"/>
                <a:cs typeface="+mn-cs"/>
              </a:rPr>
              <a:t>运行结果：</a:t>
            </a:r>
            <a:endParaRPr kumimoji="1" lang="zh-CN" altLang="en-US" sz="2000" b="1" i="0" u="none" strike="noStrike" kern="1200" cap="none" spc="0" normalizeH="0" baseline="0" noProof="0" dirty="0" smtClean="0">
              <a:ln>
                <a:noFill/>
              </a:ln>
              <a:solidFill>
                <a:schemeClr val="tx1"/>
              </a:solidFill>
              <a:effectLst/>
              <a:uLnTx/>
              <a:uFillTx/>
              <a:latin typeface="+mn-lt"/>
              <a:ea typeface="+mj-ea"/>
              <a:cs typeface="+mn-cs"/>
            </a:endParaRPr>
          </a:p>
          <a:p>
            <a:pPr marL="0" marR="0" lvl="0" indent="0" algn="l" defTabSz="914400" rtl="0" eaLnBrk="1" fontAlgn="base" latinLnBrk="0" hangingPunct="1">
              <a:spcBef>
                <a:spcPct val="20000"/>
              </a:spcBef>
              <a:spcAft>
                <a:spcPct val="0"/>
              </a:spcAft>
              <a:buClr>
                <a:schemeClr val="accent2"/>
              </a:buClr>
              <a:buSzPct val="80000"/>
              <a:buFont typeface="Georgia" panose="02040502050405020303" pitchFamily="18" charset="0"/>
              <a:buNone/>
              <a:defRPr/>
            </a:pPr>
            <a:r>
              <a:rPr kumimoji="1" lang="en-US" altLang="zh-CN" sz="2000" b="1" i="0" u="none" strike="noStrike" kern="1200" cap="none" spc="0" normalizeH="0" baseline="0" noProof="0" dirty="0" smtClean="0">
                <a:ln>
                  <a:noFill/>
                </a:ln>
                <a:solidFill>
                  <a:schemeClr val="tx1"/>
                </a:solidFill>
                <a:effectLst/>
                <a:uLnTx/>
                <a:uFillTx/>
                <a:latin typeface="+mn-lt"/>
                <a:ea typeface="+mj-ea"/>
                <a:cs typeface="+mn-cs"/>
              </a:rPr>
              <a:t>Please enter an unsigned integer:23</a:t>
            </a:r>
            <a:endParaRPr kumimoji="1" lang="en-US" altLang="zh-CN" sz="2000" b="1" i="0" u="none" strike="noStrike" kern="1200" cap="none" spc="0" normalizeH="0" baseline="0" noProof="0" dirty="0" smtClean="0">
              <a:ln>
                <a:noFill/>
              </a:ln>
              <a:solidFill>
                <a:schemeClr val="tx1"/>
              </a:solidFill>
              <a:effectLst/>
              <a:uLnTx/>
              <a:uFillTx/>
              <a:latin typeface="+mn-lt"/>
              <a:ea typeface="+mj-ea"/>
              <a:cs typeface="+mn-cs"/>
            </a:endParaRPr>
          </a:p>
          <a:p>
            <a:pPr marL="0" marR="0" lvl="0" indent="0" algn="l" defTabSz="914400" rtl="0" eaLnBrk="1" fontAlgn="base" latinLnBrk="0" hangingPunct="1">
              <a:spcBef>
                <a:spcPct val="20000"/>
              </a:spcBef>
              <a:spcAft>
                <a:spcPct val="0"/>
              </a:spcAft>
              <a:buClr>
                <a:schemeClr val="accent2"/>
              </a:buClr>
              <a:buSzPct val="80000"/>
              <a:buFont typeface="Georgia" panose="02040502050405020303" pitchFamily="18" charset="0"/>
              <a:buNone/>
              <a:defRPr/>
            </a:pPr>
            <a:r>
              <a:rPr kumimoji="1" lang="en-US" altLang="zh-CN" sz="2000" b="1" i="0" u="none" strike="noStrike" kern="1200" cap="none" spc="0" normalizeH="0" baseline="0" noProof="0" dirty="0" smtClean="0">
                <a:ln>
                  <a:noFill/>
                </a:ln>
                <a:solidFill>
                  <a:schemeClr val="tx1"/>
                </a:solidFill>
                <a:effectLst/>
                <a:uLnTx/>
                <a:uFillTx/>
                <a:latin typeface="+mn-lt"/>
                <a:ea typeface="+mj-ea"/>
                <a:cs typeface="+mn-cs"/>
              </a:rPr>
              <a:t>player rolled 6 + 3 = 9</a:t>
            </a:r>
            <a:endParaRPr kumimoji="1" lang="en-US" altLang="zh-CN" sz="2000" b="1" i="0" u="none" strike="noStrike" kern="1200" cap="none" spc="0" normalizeH="0" baseline="0" noProof="0" dirty="0" smtClean="0">
              <a:ln>
                <a:noFill/>
              </a:ln>
              <a:solidFill>
                <a:schemeClr val="tx1"/>
              </a:solidFill>
              <a:effectLst/>
              <a:uLnTx/>
              <a:uFillTx/>
              <a:latin typeface="+mn-lt"/>
              <a:ea typeface="+mj-ea"/>
              <a:cs typeface="+mn-cs"/>
            </a:endParaRPr>
          </a:p>
          <a:p>
            <a:pPr marL="0" marR="0" lvl="0" indent="0" algn="l" defTabSz="914400" rtl="0" eaLnBrk="1" fontAlgn="base" latinLnBrk="0" hangingPunct="1">
              <a:spcBef>
                <a:spcPct val="20000"/>
              </a:spcBef>
              <a:spcAft>
                <a:spcPct val="0"/>
              </a:spcAft>
              <a:buClr>
                <a:schemeClr val="accent2"/>
              </a:buClr>
              <a:buSzPct val="80000"/>
              <a:buFont typeface="Georgia" panose="02040502050405020303" pitchFamily="18" charset="0"/>
              <a:buNone/>
              <a:defRPr/>
            </a:pPr>
            <a:r>
              <a:rPr kumimoji="1" lang="en-US" altLang="zh-CN" sz="2000" b="1" i="0" u="none" strike="noStrike" kern="1200" cap="none" spc="0" normalizeH="0" baseline="0" noProof="0" dirty="0" smtClean="0">
                <a:ln>
                  <a:noFill/>
                </a:ln>
                <a:solidFill>
                  <a:schemeClr val="tx1"/>
                </a:solidFill>
                <a:effectLst/>
                <a:uLnTx/>
                <a:uFillTx/>
                <a:latin typeface="+mn-lt"/>
                <a:ea typeface="+mj-ea"/>
                <a:cs typeface="+mn-cs"/>
              </a:rPr>
              <a:t>point is 9</a:t>
            </a:r>
            <a:endParaRPr kumimoji="1" lang="en-US" altLang="zh-CN" sz="2000" b="1" i="0" u="none" strike="noStrike" kern="1200" cap="none" spc="0" normalizeH="0" baseline="0" noProof="0" dirty="0" smtClean="0">
              <a:ln>
                <a:noFill/>
              </a:ln>
              <a:solidFill>
                <a:schemeClr val="tx1"/>
              </a:solidFill>
              <a:effectLst/>
              <a:uLnTx/>
              <a:uFillTx/>
              <a:latin typeface="+mn-lt"/>
              <a:ea typeface="+mj-ea"/>
              <a:cs typeface="+mn-cs"/>
            </a:endParaRPr>
          </a:p>
          <a:p>
            <a:pPr marL="0" marR="0" lvl="0" indent="0" algn="l" defTabSz="914400" rtl="0" eaLnBrk="1" fontAlgn="base" latinLnBrk="0" hangingPunct="1">
              <a:spcBef>
                <a:spcPct val="20000"/>
              </a:spcBef>
              <a:spcAft>
                <a:spcPct val="0"/>
              </a:spcAft>
              <a:buClr>
                <a:schemeClr val="accent2"/>
              </a:buClr>
              <a:buSzPct val="80000"/>
              <a:buFont typeface="Georgia" panose="02040502050405020303" pitchFamily="18" charset="0"/>
              <a:buNone/>
              <a:defRPr/>
            </a:pPr>
            <a:r>
              <a:rPr kumimoji="1" lang="en-US" altLang="zh-CN" sz="2000" b="1" i="0" u="none" strike="noStrike" kern="1200" cap="none" spc="0" normalizeH="0" baseline="0" noProof="0" dirty="0" smtClean="0">
                <a:ln>
                  <a:noFill/>
                </a:ln>
                <a:solidFill>
                  <a:schemeClr val="tx1"/>
                </a:solidFill>
                <a:effectLst/>
                <a:uLnTx/>
                <a:uFillTx/>
                <a:latin typeface="+mn-lt"/>
                <a:ea typeface="+mj-ea"/>
                <a:cs typeface="+mn-cs"/>
              </a:rPr>
              <a:t>player rolled 5 + 4 = 9</a:t>
            </a:r>
            <a:endParaRPr kumimoji="1" lang="en-US" altLang="zh-CN" sz="2000" b="1" i="0" u="none" strike="noStrike" kern="1200" cap="none" spc="0" normalizeH="0" baseline="0" noProof="0" dirty="0" smtClean="0">
              <a:ln>
                <a:noFill/>
              </a:ln>
              <a:solidFill>
                <a:schemeClr val="tx1"/>
              </a:solidFill>
              <a:effectLst/>
              <a:uLnTx/>
              <a:uFillTx/>
              <a:latin typeface="+mn-lt"/>
              <a:ea typeface="+mj-ea"/>
              <a:cs typeface="+mn-cs"/>
            </a:endParaRPr>
          </a:p>
          <a:p>
            <a:pPr marL="0" marR="0" lvl="0" indent="0" algn="l" defTabSz="914400" rtl="0" eaLnBrk="1" fontAlgn="base" latinLnBrk="0" hangingPunct="1">
              <a:spcBef>
                <a:spcPct val="20000"/>
              </a:spcBef>
              <a:spcAft>
                <a:spcPct val="0"/>
              </a:spcAft>
              <a:buClr>
                <a:schemeClr val="accent2"/>
              </a:buClr>
              <a:buSzPct val="80000"/>
              <a:buFont typeface="Georgia" panose="02040502050405020303" pitchFamily="18" charset="0"/>
              <a:buNone/>
              <a:defRPr/>
            </a:pPr>
            <a:r>
              <a:rPr kumimoji="1" lang="en-US" altLang="zh-CN" sz="2000" b="1" i="0" u="none" strike="noStrike" kern="1200" cap="none" spc="0" normalizeH="0" baseline="0" noProof="0" dirty="0" smtClean="0">
                <a:ln>
                  <a:noFill/>
                </a:ln>
                <a:solidFill>
                  <a:schemeClr val="tx1"/>
                </a:solidFill>
                <a:effectLst/>
                <a:uLnTx/>
                <a:uFillTx/>
                <a:latin typeface="+mn-lt"/>
                <a:ea typeface="+mj-ea"/>
                <a:cs typeface="+mn-cs"/>
              </a:rPr>
              <a:t>player wins</a:t>
            </a:r>
            <a:endParaRPr kumimoji="1" lang="zh-CN" altLang="en-US" sz="2000" b="1" i="0" u="none" strike="noStrike" kern="1200" cap="none" spc="0" normalizeH="0" baseline="0" noProof="0" dirty="0">
              <a:ln>
                <a:noFill/>
              </a:ln>
              <a:solidFill>
                <a:schemeClr val="tx1"/>
              </a:solidFill>
              <a:effectLst/>
              <a:uLnTx/>
              <a:uFillTx/>
              <a:latin typeface="+mn-lt"/>
              <a:ea typeface="+mj-ea"/>
              <a:cs typeface="+mn-cs"/>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pPr algn="ctr" eaLnBrk="1" hangingPunct="1"/>
            <a:r>
              <a:rPr lang="en-US" altLang="zh-CN" b="1" dirty="0" smtClean="0">
                <a:solidFill>
                  <a:srgbClr val="FFFFFF"/>
                </a:solidFill>
                <a:latin typeface="Times New Roman" panose="02020603050405020304" pitchFamily="18" charset="0"/>
                <a:ea typeface="隶书" panose="02010509060101010101" pitchFamily="49" charset="-122"/>
              </a:rPr>
              <a:t>3.1.2  </a:t>
            </a:r>
            <a:r>
              <a:rPr lang="zh-CN" altLang="en-US" b="1" dirty="0" smtClean="0">
                <a:solidFill>
                  <a:srgbClr val="FFFFFF"/>
                </a:solidFill>
                <a:latin typeface="Times New Roman" panose="02020603050405020304" pitchFamily="18" charset="0"/>
                <a:ea typeface="隶书" panose="02010509060101010101" pitchFamily="49" charset="-122"/>
              </a:rPr>
              <a:t>函数的调用：</a:t>
            </a:r>
            <a:r>
              <a:rPr lang="zh-CN" altLang="en-US" b="1" dirty="0" smtClean="0">
                <a:solidFill>
                  <a:srgbClr val="FFFF00"/>
                </a:solidFill>
                <a:latin typeface="Times New Roman" panose="02020603050405020304" pitchFamily="18" charset="0"/>
                <a:ea typeface="隶书" panose="02010509060101010101" pitchFamily="49" charset="-122"/>
              </a:rPr>
              <a:t>嵌套调用</a:t>
            </a:r>
            <a:endParaRPr lang="zh-CN" altLang="en-US" b="1" dirty="0" smtClean="0">
              <a:solidFill>
                <a:srgbClr val="FFFF00"/>
              </a:solidFill>
              <a:latin typeface="Times New Roman" panose="02020603050405020304" pitchFamily="18" charset="0"/>
              <a:ea typeface="隶书" panose="02010509060101010101" pitchFamily="49" charset="-122"/>
            </a:endParaRPr>
          </a:p>
        </p:txBody>
      </p:sp>
      <p:sp>
        <p:nvSpPr>
          <p:cNvPr id="7" name="Text Box 2054"/>
          <p:cNvSpPr txBox="1">
            <a:spLocks noChangeArrowheads="1"/>
          </p:cNvSpPr>
          <p:nvPr/>
        </p:nvSpPr>
        <p:spPr bwMode="auto">
          <a:xfrm>
            <a:off x="1214438" y="1928813"/>
            <a:ext cx="1673225" cy="2590800"/>
          </a:xfrm>
          <a:prstGeom prst="rect">
            <a:avLst/>
          </a:prstGeom>
          <a:noFill/>
          <a:ln w="9525">
            <a:noFill/>
            <a:miter lim="800000"/>
          </a:ln>
        </p:spPr>
        <p:txBody>
          <a:bodyPr/>
          <a:lstStyle/>
          <a:p>
            <a:pPr algn="just">
              <a:lnSpc>
                <a:spcPct val="115000"/>
              </a:lnSpc>
              <a:defRPr/>
            </a:pPr>
            <a:r>
              <a:rPr lang="en-US" altLang="zh-CN" sz="2800" b="1" dirty="0">
                <a:latin typeface="+mn-lt"/>
                <a:ea typeface="+mj-ea"/>
              </a:rPr>
              <a:t>main{}</a:t>
            </a: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r>
              <a:rPr lang="zh-CN" altLang="en-US" sz="2800" b="1" dirty="0">
                <a:latin typeface="+mn-lt"/>
                <a:ea typeface="+mj-ea"/>
              </a:rPr>
              <a:t>调</a:t>
            </a:r>
            <a:r>
              <a:rPr lang="en-US" altLang="zh-CN" sz="2800" b="1" dirty="0" err="1" smtClean="0">
                <a:latin typeface="+mn-lt"/>
                <a:ea typeface="+mj-ea"/>
              </a:rPr>
              <a:t>funA</a:t>
            </a:r>
            <a:r>
              <a:rPr lang="en-US" altLang="zh-CN" sz="2800" b="1" dirty="0" smtClean="0">
                <a:latin typeface="+mn-lt"/>
                <a:ea typeface="+mj-ea"/>
              </a:rPr>
              <a:t>()</a:t>
            </a: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r>
              <a:rPr lang="zh-CN" altLang="en-US" sz="2800" b="1" dirty="0">
                <a:latin typeface="+mn-lt"/>
                <a:ea typeface="+mj-ea"/>
              </a:rPr>
              <a:t>结束</a:t>
            </a:r>
            <a:endParaRPr lang="zh-CN" altLang="en-US" sz="2800" b="1" dirty="0">
              <a:latin typeface="+mn-lt"/>
              <a:ea typeface="+mj-ea"/>
            </a:endParaRPr>
          </a:p>
        </p:txBody>
      </p:sp>
      <p:sp>
        <p:nvSpPr>
          <p:cNvPr id="8" name="Text Box 2055"/>
          <p:cNvSpPr txBox="1">
            <a:spLocks noChangeArrowheads="1"/>
          </p:cNvSpPr>
          <p:nvPr/>
        </p:nvSpPr>
        <p:spPr bwMode="auto">
          <a:xfrm>
            <a:off x="3806825" y="1928813"/>
            <a:ext cx="1673225" cy="2590800"/>
          </a:xfrm>
          <a:prstGeom prst="rect">
            <a:avLst/>
          </a:prstGeom>
          <a:noFill/>
          <a:ln w="9525">
            <a:noFill/>
            <a:miter lim="800000"/>
          </a:ln>
        </p:spPr>
        <p:txBody>
          <a:bodyPr/>
          <a:lstStyle/>
          <a:p>
            <a:pPr algn="just">
              <a:lnSpc>
                <a:spcPct val="115000"/>
              </a:lnSpc>
              <a:defRPr/>
            </a:pPr>
            <a:r>
              <a:rPr lang="en-US" altLang="zh-CN" sz="2800" b="1" dirty="0" err="1" smtClean="0">
                <a:latin typeface="+mn-lt"/>
                <a:ea typeface="+mj-ea"/>
              </a:rPr>
              <a:t>funA</a:t>
            </a:r>
            <a:r>
              <a:rPr lang="en-US" altLang="zh-CN" sz="2800" b="1" dirty="0" smtClean="0">
                <a:latin typeface="+mn-lt"/>
                <a:ea typeface="+mj-ea"/>
              </a:rPr>
              <a:t>()</a:t>
            </a: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r>
              <a:rPr lang="zh-CN" altLang="en-US" sz="2800" b="1" dirty="0">
                <a:latin typeface="+mn-lt"/>
                <a:ea typeface="+mj-ea"/>
              </a:rPr>
              <a:t>调</a:t>
            </a:r>
            <a:r>
              <a:rPr lang="en-US" altLang="zh-CN" sz="2800" b="1" dirty="0" err="1" smtClean="0">
                <a:latin typeface="+mn-lt"/>
                <a:ea typeface="+mj-ea"/>
              </a:rPr>
              <a:t>funB</a:t>
            </a:r>
            <a:r>
              <a:rPr lang="en-US" altLang="zh-CN" sz="2800" b="1" dirty="0" smtClean="0">
                <a:latin typeface="+mn-lt"/>
                <a:ea typeface="+mj-ea"/>
              </a:rPr>
              <a:t>()</a:t>
            </a: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r>
              <a:rPr lang="zh-CN" altLang="en-US" sz="2800" b="1" dirty="0">
                <a:latin typeface="+mn-lt"/>
                <a:ea typeface="+mj-ea"/>
              </a:rPr>
              <a:t>返回</a:t>
            </a:r>
            <a:endParaRPr lang="zh-CN" altLang="en-US" sz="2800" b="1" dirty="0">
              <a:latin typeface="+mn-lt"/>
              <a:ea typeface="+mj-ea"/>
            </a:endParaRPr>
          </a:p>
        </p:txBody>
      </p:sp>
      <p:sp>
        <p:nvSpPr>
          <p:cNvPr id="9" name="Text Box 2056"/>
          <p:cNvSpPr txBox="1">
            <a:spLocks noChangeArrowheads="1"/>
          </p:cNvSpPr>
          <p:nvPr/>
        </p:nvSpPr>
        <p:spPr bwMode="auto">
          <a:xfrm>
            <a:off x="6399213" y="1928813"/>
            <a:ext cx="1673225" cy="2590800"/>
          </a:xfrm>
          <a:prstGeom prst="rect">
            <a:avLst/>
          </a:prstGeom>
          <a:noFill/>
          <a:ln w="9525">
            <a:noFill/>
            <a:miter lim="800000"/>
          </a:ln>
        </p:spPr>
        <p:txBody>
          <a:bodyPr/>
          <a:lstStyle/>
          <a:p>
            <a:pPr algn="just">
              <a:lnSpc>
                <a:spcPct val="115000"/>
              </a:lnSpc>
              <a:defRPr/>
            </a:pPr>
            <a:r>
              <a:rPr lang="en-US" altLang="zh-CN" sz="2800" b="1" dirty="0" err="1" smtClean="0">
                <a:latin typeface="+mn-lt"/>
                <a:ea typeface="+mj-ea"/>
              </a:rPr>
              <a:t>funB</a:t>
            </a:r>
            <a:r>
              <a:rPr lang="en-US" altLang="zh-CN" sz="2800" b="1" dirty="0" smtClean="0">
                <a:latin typeface="+mn-lt"/>
                <a:ea typeface="+mj-ea"/>
              </a:rPr>
              <a:t>()</a:t>
            </a: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endParaRPr lang="en-US" altLang="zh-CN" sz="2800" b="1" dirty="0">
              <a:latin typeface="+mn-lt"/>
              <a:ea typeface="+mj-ea"/>
            </a:endParaRPr>
          </a:p>
          <a:p>
            <a:pPr algn="just">
              <a:lnSpc>
                <a:spcPct val="115000"/>
              </a:lnSpc>
              <a:defRPr/>
            </a:pPr>
            <a:r>
              <a:rPr lang="zh-CN" altLang="en-US" sz="2800" b="1" dirty="0">
                <a:latin typeface="+mn-lt"/>
                <a:ea typeface="+mj-ea"/>
              </a:rPr>
              <a:t>返回</a:t>
            </a:r>
            <a:endParaRPr lang="zh-CN" altLang="en-US" sz="2800" b="1" dirty="0">
              <a:latin typeface="+mn-lt"/>
              <a:ea typeface="+mj-ea"/>
            </a:endParaRPr>
          </a:p>
        </p:txBody>
      </p:sp>
      <p:sp>
        <p:nvSpPr>
          <p:cNvPr id="10" name="Line 2057"/>
          <p:cNvSpPr>
            <a:spLocks noChangeShapeType="1"/>
          </p:cNvSpPr>
          <p:nvPr/>
        </p:nvSpPr>
        <p:spPr bwMode="auto">
          <a:xfrm>
            <a:off x="1717675" y="2501900"/>
            <a:ext cx="0" cy="550863"/>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1" name="Line 2058"/>
          <p:cNvSpPr>
            <a:spLocks noChangeShapeType="1"/>
          </p:cNvSpPr>
          <p:nvPr/>
        </p:nvSpPr>
        <p:spPr bwMode="auto">
          <a:xfrm>
            <a:off x="1717675" y="3419475"/>
            <a:ext cx="0" cy="549275"/>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2" name="Line 2059"/>
          <p:cNvSpPr>
            <a:spLocks noChangeShapeType="1"/>
          </p:cNvSpPr>
          <p:nvPr/>
        </p:nvSpPr>
        <p:spPr bwMode="auto">
          <a:xfrm flipV="1">
            <a:off x="2705100" y="2462213"/>
            <a:ext cx="1100138" cy="704850"/>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3" name="Line 2060"/>
          <p:cNvSpPr>
            <a:spLocks noChangeShapeType="1"/>
          </p:cNvSpPr>
          <p:nvPr/>
        </p:nvSpPr>
        <p:spPr bwMode="auto">
          <a:xfrm flipH="1" flipV="1">
            <a:off x="2620963" y="3349625"/>
            <a:ext cx="1184275" cy="712788"/>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4" name="Line 2061"/>
          <p:cNvSpPr>
            <a:spLocks noChangeShapeType="1"/>
          </p:cNvSpPr>
          <p:nvPr/>
        </p:nvSpPr>
        <p:spPr bwMode="auto">
          <a:xfrm>
            <a:off x="4357688" y="2501900"/>
            <a:ext cx="0" cy="550863"/>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5" name="Line 2062"/>
          <p:cNvSpPr>
            <a:spLocks noChangeShapeType="1"/>
          </p:cNvSpPr>
          <p:nvPr/>
        </p:nvSpPr>
        <p:spPr bwMode="auto">
          <a:xfrm>
            <a:off x="4357688" y="3419475"/>
            <a:ext cx="0" cy="549275"/>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6" name="Line 2063"/>
          <p:cNvSpPr>
            <a:spLocks noChangeShapeType="1"/>
          </p:cNvSpPr>
          <p:nvPr/>
        </p:nvSpPr>
        <p:spPr bwMode="auto">
          <a:xfrm flipV="1">
            <a:off x="5203825" y="2386013"/>
            <a:ext cx="1268413" cy="803275"/>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7" name="Line 2064"/>
          <p:cNvSpPr>
            <a:spLocks noChangeShapeType="1"/>
          </p:cNvSpPr>
          <p:nvPr/>
        </p:nvSpPr>
        <p:spPr bwMode="auto">
          <a:xfrm>
            <a:off x="6835775" y="2501900"/>
            <a:ext cx="0" cy="1466850"/>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8" name="Line 2065"/>
          <p:cNvSpPr>
            <a:spLocks noChangeShapeType="1"/>
          </p:cNvSpPr>
          <p:nvPr/>
        </p:nvSpPr>
        <p:spPr bwMode="auto">
          <a:xfrm flipH="1" flipV="1">
            <a:off x="5245100" y="3384550"/>
            <a:ext cx="1150938" cy="754063"/>
          </a:xfrm>
          <a:prstGeom prst="line">
            <a:avLst/>
          </a:prstGeom>
          <a:noFill/>
          <a:ln w="9525">
            <a:solidFill>
              <a:schemeClr val="tx1"/>
            </a:solidFill>
            <a:round/>
            <a:tailEnd type="triangle" w="med" len="med"/>
          </a:ln>
        </p:spPr>
        <p:txBody>
          <a:bodyPr/>
          <a:lstStyle/>
          <a:p>
            <a:pPr>
              <a:defRPr/>
            </a:pPr>
            <a:endParaRPr lang="zh-CN" altLang="en-US">
              <a:latin typeface="+mn-lt"/>
            </a:endParaRPr>
          </a:p>
        </p:txBody>
      </p:sp>
      <p:sp>
        <p:nvSpPr>
          <p:cNvPr id="19" name="Text Box 2066"/>
          <p:cNvSpPr txBox="1">
            <a:spLocks noChangeArrowheads="1"/>
          </p:cNvSpPr>
          <p:nvPr/>
        </p:nvSpPr>
        <p:spPr bwMode="auto">
          <a:xfrm>
            <a:off x="1290638" y="2520950"/>
            <a:ext cx="322262" cy="434975"/>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①</a:t>
            </a:r>
            <a:endParaRPr lang="en-US" altLang="zh-CN" sz="2800">
              <a:latin typeface="+mn-lt"/>
              <a:ea typeface="宋体" panose="02010600030101010101" pitchFamily="2" charset="-122"/>
            </a:endParaRPr>
          </a:p>
        </p:txBody>
      </p:sp>
      <p:sp>
        <p:nvSpPr>
          <p:cNvPr id="20" name="Text Box 2067"/>
          <p:cNvSpPr txBox="1">
            <a:spLocks noChangeArrowheads="1"/>
          </p:cNvSpPr>
          <p:nvPr/>
        </p:nvSpPr>
        <p:spPr bwMode="auto">
          <a:xfrm>
            <a:off x="2947988" y="2474913"/>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②</a:t>
            </a:r>
            <a:endParaRPr lang="en-US" altLang="zh-CN" sz="2800">
              <a:latin typeface="+mn-lt"/>
              <a:ea typeface="宋体" panose="02010600030101010101" pitchFamily="2" charset="-122"/>
            </a:endParaRPr>
          </a:p>
        </p:txBody>
      </p:sp>
      <p:sp>
        <p:nvSpPr>
          <p:cNvPr id="21" name="Text Box 2068"/>
          <p:cNvSpPr txBox="1">
            <a:spLocks noChangeArrowheads="1"/>
          </p:cNvSpPr>
          <p:nvPr/>
        </p:nvSpPr>
        <p:spPr bwMode="auto">
          <a:xfrm>
            <a:off x="4438650" y="2497138"/>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③</a:t>
            </a:r>
            <a:endParaRPr lang="en-US" altLang="zh-CN" sz="2800">
              <a:latin typeface="+mn-lt"/>
              <a:ea typeface="宋体" panose="02010600030101010101" pitchFamily="2" charset="-122"/>
            </a:endParaRPr>
          </a:p>
        </p:txBody>
      </p:sp>
      <p:sp>
        <p:nvSpPr>
          <p:cNvPr id="22" name="Text Box 2069"/>
          <p:cNvSpPr txBox="1">
            <a:spLocks noChangeArrowheads="1"/>
          </p:cNvSpPr>
          <p:nvPr/>
        </p:nvSpPr>
        <p:spPr bwMode="auto">
          <a:xfrm>
            <a:off x="4398963" y="3436938"/>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⑦</a:t>
            </a:r>
            <a:endParaRPr lang="en-US" altLang="zh-CN" sz="2800">
              <a:latin typeface="+mn-lt"/>
              <a:ea typeface="宋体" panose="02010600030101010101" pitchFamily="2" charset="-122"/>
            </a:endParaRPr>
          </a:p>
        </p:txBody>
      </p:sp>
      <p:sp>
        <p:nvSpPr>
          <p:cNvPr id="23" name="Text Box 2070"/>
          <p:cNvSpPr txBox="1">
            <a:spLocks noChangeArrowheads="1"/>
          </p:cNvSpPr>
          <p:nvPr/>
        </p:nvSpPr>
        <p:spPr bwMode="auto">
          <a:xfrm>
            <a:off x="5507038" y="2497138"/>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④</a:t>
            </a:r>
            <a:endParaRPr lang="en-US" altLang="zh-CN" sz="2800">
              <a:latin typeface="+mn-lt"/>
              <a:ea typeface="宋体" panose="02010600030101010101" pitchFamily="2" charset="-122"/>
            </a:endParaRPr>
          </a:p>
        </p:txBody>
      </p:sp>
      <p:sp>
        <p:nvSpPr>
          <p:cNvPr id="24" name="Text Box 2071"/>
          <p:cNvSpPr txBox="1">
            <a:spLocks noChangeArrowheads="1"/>
          </p:cNvSpPr>
          <p:nvPr/>
        </p:nvSpPr>
        <p:spPr bwMode="auto">
          <a:xfrm>
            <a:off x="6877050" y="2955925"/>
            <a:ext cx="301625" cy="366713"/>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⑤</a:t>
            </a:r>
            <a:endParaRPr lang="en-US" altLang="zh-CN" sz="2800">
              <a:latin typeface="+mn-lt"/>
              <a:ea typeface="宋体" panose="02010600030101010101" pitchFamily="2" charset="-122"/>
            </a:endParaRPr>
          </a:p>
        </p:txBody>
      </p:sp>
      <p:sp>
        <p:nvSpPr>
          <p:cNvPr id="25" name="Text Box 2072"/>
          <p:cNvSpPr txBox="1">
            <a:spLocks noChangeArrowheads="1"/>
          </p:cNvSpPr>
          <p:nvPr/>
        </p:nvSpPr>
        <p:spPr bwMode="auto">
          <a:xfrm>
            <a:off x="5627688" y="3735388"/>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⑥</a:t>
            </a:r>
            <a:endParaRPr lang="en-US" altLang="zh-CN" sz="2800">
              <a:latin typeface="+mn-lt"/>
              <a:ea typeface="宋体" panose="02010600030101010101" pitchFamily="2" charset="-122"/>
            </a:endParaRPr>
          </a:p>
        </p:txBody>
      </p:sp>
      <p:sp>
        <p:nvSpPr>
          <p:cNvPr id="26" name="Text Box 2073"/>
          <p:cNvSpPr txBox="1">
            <a:spLocks noChangeArrowheads="1"/>
          </p:cNvSpPr>
          <p:nvPr/>
        </p:nvSpPr>
        <p:spPr bwMode="auto">
          <a:xfrm>
            <a:off x="3008313" y="3735388"/>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⑧</a:t>
            </a:r>
            <a:endParaRPr lang="en-US" altLang="zh-CN" sz="2800">
              <a:latin typeface="+mn-lt"/>
              <a:ea typeface="宋体" panose="02010600030101010101" pitchFamily="2" charset="-122"/>
            </a:endParaRPr>
          </a:p>
        </p:txBody>
      </p:sp>
      <p:sp>
        <p:nvSpPr>
          <p:cNvPr id="27" name="Text Box 2074"/>
          <p:cNvSpPr txBox="1">
            <a:spLocks noChangeArrowheads="1"/>
          </p:cNvSpPr>
          <p:nvPr/>
        </p:nvSpPr>
        <p:spPr bwMode="auto">
          <a:xfrm>
            <a:off x="1290638" y="3414713"/>
            <a:ext cx="301625" cy="366712"/>
          </a:xfrm>
          <a:prstGeom prst="rect">
            <a:avLst/>
          </a:prstGeom>
          <a:noFill/>
          <a:ln w="9525">
            <a:noFill/>
            <a:miter lim="800000"/>
          </a:ln>
        </p:spPr>
        <p:txBody>
          <a:bodyPr lIns="0" tIns="0" rIns="0" bIns="0"/>
          <a:lstStyle/>
          <a:p>
            <a:pPr algn="just">
              <a:defRPr/>
            </a:pPr>
            <a:r>
              <a:rPr lang="en-US" altLang="zh-CN" sz="2800">
                <a:latin typeface="+mn-lt"/>
                <a:ea typeface="宋体" panose="02010600030101010101" pitchFamily="2" charset="-122"/>
              </a:rPr>
              <a:t>⑨</a:t>
            </a:r>
            <a:endParaRPr lang="en-US" altLang="zh-CN" sz="2800">
              <a:latin typeface="+mn-lt"/>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pPr algn="ctr" eaLnBrk="1" hangingPunct="1"/>
            <a:r>
              <a:rPr lang="en-US" altLang="zh-CN" b="1" dirty="0" smtClean="0">
                <a:solidFill>
                  <a:srgbClr val="FFFFFF"/>
                </a:solidFill>
                <a:latin typeface="Times New Roman" panose="02020603050405020304" pitchFamily="18" charset="0"/>
                <a:ea typeface="隶书" panose="02010509060101010101" pitchFamily="49" charset="-122"/>
              </a:rPr>
              <a:t>3.1.2  </a:t>
            </a:r>
            <a:r>
              <a:rPr lang="zh-CN" altLang="en-US" b="1" dirty="0" smtClean="0">
                <a:solidFill>
                  <a:srgbClr val="FFFFFF"/>
                </a:solidFill>
                <a:latin typeface="Times New Roman" panose="02020603050405020304" pitchFamily="18" charset="0"/>
                <a:ea typeface="隶书" panose="02010509060101010101" pitchFamily="49" charset="-122"/>
              </a:rPr>
              <a:t>函数的调用：</a:t>
            </a:r>
            <a:r>
              <a:rPr lang="zh-CN" altLang="en-US" b="1" dirty="0" smtClean="0">
                <a:solidFill>
                  <a:srgbClr val="FFFF00"/>
                </a:solidFill>
                <a:latin typeface="Times New Roman" panose="02020603050405020304" pitchFamily="18" charset="0"/>
                <a:ea typeface="隶书" panose="02010509060101010101" pitchFamily="49" charset="-122"/>
              </a:rPr>
              <a:t>嵌套调用</a:t>
            </a:r>
            <a:endParaRPr lang="zh-CN" altLang="en-US" b="1" dirty="0" smtClean="0">
              <a:solidFill>
                <a:srgbClr val="FFFF00"/>
              </a:solidFill>
              <a:latin typeface="Times New Roman" panose="02020603050405020304" pitchFamily="18" charset="0"/>
              <a:ea typeface="隶书" panose="02010509060101010101" pitchFamily="49" charset="-122"/>
            </a:endParaRPr>
          </a:p>
        </p:txBody>
      </p:sp>
      <p:graphicFrame>
        <p:nvGraphicFramePr>
          <p:cNvPr id="28" name="Object 4"/>
          <p:cNvGraphicFramePr>
            <a:graphicFrameLocks noChangeAspect="1"/>
          </p:cNvGraphicFramePr>
          <p:nvPr/>
        </p:nvGraphicFramePr>
        <p:xfrm>
          <a:off x="971550" y="2636838"/>
          <a:ext cx="7442200" cy="1800225"/>
        </p:xfrm>
        <a:graphic>
          <a:graphicData uri="http://schemas.openxmlformats.org/presentationml/2006/ole">
            <mc:AlternateContent xmlns:mc="http://schemas.openxmlformats.org/markup-compatibility/2006">
              <mc:Choice xmlns:v="urn:schemas-microsoft-com:vml" Requires="v">
                <p:oleObj spid="_x0000_s622690" name="Visio" r:id="rId1" imgW="6383655" imgH="1557655" progId="Visio.Drawing.11">
                  <p:embed/>
                </p:oleObj>
              </mc:Choice>
              <mc:Fallback>
                <p:oleObj name="Visio" r:id="rId1" imgW="6383655" imgH="1557655" progId="Visio.Drawing.11">
                  <p:embed/>
                  <p:pic>
                    <p:nvPicPr>
                      <p:cNvPr id="0" name="图片 6226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636838"/>
                        <a:ext cx="7442200" cy="1800225"/>
                      </a:xfrm>
                      <a:prstGeom prst="rect">
                        <a:avLst/>
                      </a:prstGeom>
                      <a:solidFill>
                        <a:schemeClr val="tx1"/>
                      </a:solidFill>
                      <a:ln>
                        <a:noFill/>
                      </a:ln>
                    </p:spPr>
                  </p:pic>
                </p:oleObj>
              </mc:Fallback>
            </mc:AlternateContent>
          </a:graphicData>
        </a:graphic>
      </p:graphicFrame>
      <p:sp>
        <p:nvSpPr>
          <p:cNvPr id="29" name="Rectangle 36"/>
          <p:cNvSpPr>
            <a:spLocks noChangeArrowheads="1"/>
          </p:cNvSpPr>
          <p:nvPr/>
        </p:nvSpPr>
        <p:spPr bwMode="auto">
          <a:xfrm>
            <a:off x="1006475" y="1628775"/>
            <a:ext cx="7669213" cy="662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buFont typeface="Wingdings" panose="05000000000000000000" pitchFamily="2" charset="2"/>
              <a:buNone/>
            </a:pPr>
            <a:r>
              <a:rPr lang="zh-CN" altLang="en-US" sz="2400" b="1">
                <a:latin typeface="微软雅黑" panose="020B0503020204020204" pitchFamily="34" charset="-122"/>
                <a:ea typeface="微软雅黑" panose="020B0503020204020204" pitchFamily="34" charset="-122"/>
              </a:rPr>
              <a:t>堆栈</a:t>
            </a:r>
            <a:r>
              <a:rPr lang="en-US" altLang="zh-CN" sz="2400" b="1">
                <a:latin typeface="微软雅黑" panose="020B0503020204020204" pitchFamily="34" charset="-122"/>
                <a:ea typeface="微软雅黑" panose="020B0503020204020204" pitchFamily="34" charset="-122"/>
              </a:rPr>
              <a:t>(stack)</a:t>
            </a:r>
            <a:r>
              <a:rPr lang="zh-CN" altLang="en-US" sz="2400" b="1">
                <a:latin typeface="微软雅黑" panose="020B0503020204020204" pitchFamily="34" charset="-122"/>
                <a:ea typeface="微软雅黑" panose="020B0503020204020204" pitchFamily="34" charset="-122"/>
              </a:rPr>
              <a:t>是一种先进后出的数据结构。</a:t>
            </a:r>
            <a:endParaRPr lang="en-US" altLang="zh-CN" sz="2400" b="1">
              <a:latin typeface="微软雅黑" panose="020B0503020204020204" pitchFamily="34" charset="-122"/>
              <a:ea typeface="微软雅黑" panose="020B0503020204020204" pitchFamily="34" charset="-122"/>
            </a:endParaRPr>
          </a:p>
        </p:txBody>
      </p:sp>
      <p:sp>
        <p:nvSpPr>
          <p:cNvPr id="30" name="矩形 10"/>
          <p:cNvSpPr>
            <a:spLocks noChangeArrowheads="1"/>
          </p:cNvSpPr>
          <p:nvPr/>
        </p:nvSpPr>
        <p:spPr bwMode="auto">
          <a:xfrm>
            <a:off x="971550" y="4508500"/>
            <a:ext cx="7632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buFont typeface="Wingdings" panose="05000000000000000000" pitchFamily="2" charset="2"/>
              <a:buNone/>
            </a:pPr>
            <a:r>
              <a:rPr lang="zh-CN" altLang="en-US" sz="2400" b="1">
                <a:latin typeface="微软雅黑" panose="020B0503020204020204" pitchFamily="34" charset="-122"/>
                <a:ea typeface="微软雅黑" panose="020B0503020204020204" pitchFamily="34" charset="-122"/>
              </a:rPr>
              <a:t>函数的运行栈负责管理函数调用和返回的有关数据，它保存函数的形参、返回地址和局部变量。</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algn="ctr"/>
            <a:r>
              <a:rPr lang="zh-CN" altLang="en-US" sz="3200" b="1" dirty="0" smtClean="0">
                <a:solidFill>
                  <a:srgbClr val="FFFFFF"/>
                </a:solidFill>
                <a:latin typeface="Times New Roman" panose="02020603050405020304" pitchFamily="18" charset="0"/>
                <a:ea typeface="隶书" panose="02010509060101010101" pitchFamily="49" charset="-122"/>
              </a:rPr>
              <a:t>例</a:t>
            </a:r>
            <a:r>
              <a:rPr lang="en-US" altLang="zh-CN" sz="3200" b="1" dirty="0" smtClean="0">
                <a:solidFill>
                  <a:srgbClr val="FFFFFF"/>
                </a:solidFill>
                <a:latin typeface="Times New Roman" panose="02020603050405020304" pitchFamily="18" charset="0"/>
                <a:ea typeface="隶书" panose="02010509060101010101" pitchFamily="49" charset="-122"/>
              </a:rPr>
              <a:t>3-7 </a:t>
            </a:r>
            <a:r>
              <a:rPr lang="zh-CN" altLang="en-US" sz="3200" b="1" dirty="0" smtClean="0">
                <a:solidFill>
                  <a:srgbClr val="FFFFFF"/>
                </a:solidFill>
                <a:latin typeface="Times New Roman" panose="02020603050405020304" pitchFamily="18" charset="0"/>
                <a:ea typeface="隶书" panose="02010509060101010101" pitchFamily="49" charset="-122"/>
              </a:rPr>
              <a:t>输入两个整数，求平方和</a:t>
            </a:r>
            <a:endParaRPr lang="zh-CN" altLang="en-US" sz="3200" b="1" dirty="0" smtClean="0">
              <a:solidFill>
                <a:srgbClr val="FFFFFF"/>
              </a:solidFill>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28650" y="1340769"/>
            <a:ext cx="7886700" cy="4464496"/>
          </a:xfrm>
          <a:solidFill>
            <a:schemeClr val="tx1"/>
          </a:solidFill>
        </p:spPr>
        <p:txBody>
          <a:bodyPr>
            <a:noAutofit/>
          </a:bodyPr>
          <a:lstStyle/>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iostream</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fontAlgn="auto">
              <a:lnSpc>
                <a:spcPct val="120000"/>
              </a:lnSpc>
              <a:spcAft>
                <a:spcPts val="600"/>
              </a:spcAft>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int fun2(int m) {</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	return m * m;</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fontAlgn="auto">
              <a:lnSpc>
                <a:spcPct val="120000"/>
              </a:lnSpc>
              <a:spcAft>
                <a:spcPts val="600"/>
              </a:spcAft>
              <a:buClr>
                <a:schemeClr val="accent3"/>
              </a:buClr>
              <a:buNone/>
              <a:defRPr/>
            </a:pPr>
            <a:r>
              <a:rPr lang="en-US" altLang="zh-CN" sz="2400" b="1" dirty="0" smtClean="0">
                <a:solidFill>
                  <a:srgbClr val="000000"/>
                </a:solidFill>
                <a:ea typeface="+mj-ea"/>
              </a:rPr>
              <a:t>int fun1(int </a:t>
            </a:r>
            <a:r>
              <a:rPr lang="en-US" altLang="zh-CN" sz="2400" b="1" dirty="0" err="1" smtClean="0">
                <a:solidFill>
                  <a:srgbClr val="000000"/>
                </a:solidFill>
                <a:ea typeface="+mj-ea"/>
              </a:rPr>
              <a:t>x,int</a:t>
            </a:r>
            <a:r>
              <a:rPr lang="en-US" altLang="zh-CN" sz="2400" b="1" dirty="0" smtClean="0">
                <a:solidFill>
                  <a:srgbClr val="000000"/>
                </a:solidFill>
                <a:ea typeface="+mj-ea"/>
              </a:rPr>
              <a:t> y) {</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	return fun2(x) + fun2(y);</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20000"/>
              </a:lnSpc>
              <a:spcAft>
                <a:spcPts val="0"/>
              </a:spcAft>
              <a:buClr>
                <a:schemeClr val="accent3"/>
              </a:buClr>
              <a:buNone/>
              <a:defRPr/>
            </a:pPr>
            <a:endParaRPr lang="zh-CN" altLang="en-US" sz="2400" b="1" dirty="0" smtClean="0">
              <a:solidFill>
                <a:srgbClr val="000000"/>
              </a:solidFill>
              <a:ea typeface="+mj-ea"/>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571500"/>
            <a:ext cx="9072563" cy="6073775"/>
          </a:xfrm>
          <a:solidFill>
            <a:schemeClr val="tx1"/>
          </a:solidFill>
        </p:spPr>
        <p:txBody>
          <a:bodyPr>
            <a:noAutofit/>
          </a:bodyPr>
          <a:lstStyle/>
          <a:p>
            <a:pPr marL="365760" indent="-255905" eaLnBrk="1" fontAlgn="auto" hangingPunct="1">
              <a:lnSpc>
                <a:spcPct val="120000"/>
              </a:lnSpc>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int</a:t>
            </a:r>
            <a:r>
              <a:rPr lang="en-US" altLang="zh-CN" sz="2400" b="1" dirty="0" smtClean="0">
                <a:solidFill>
                  <a:srgbClr val="000000"/>
                </a:solidFill>
                <a:ea typeface="+mj-ea"/>
              </a:rPr>
              <a:t> a, b;</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&lt;&lt;"Please enter two integers (a and b): ";</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cin</a:t>
            </a:r>
            <a:r>
              <a:rPr lang="en-US" altLang="zh-CN" sz="2400" b="1" dirty="0" smtClean="0">
                <a:solidFill>
                  <a:srgbClr val="000000"/>
                </a:solidFill>
                <a:ea typeface="+mj-ea"/>
              </a:rPr>
              <a:t> &gt;&gt; a &gt;&gt; b;</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"The sum of square of a and  b: " &lt;&lt; fun1(a, b) &lt;&lt; </a:t>
            </a:r>
            <a:r>
              <a:rPr lang="en-US" altLang="zh-CN" sz="2400" b="1" dirty="0" err="1" smtClean="0">
                <a:solidFill>
                  <a:srgbClr val="000000"/>
                </a:solidFill>
                <a:ea typeface="+mj-ea"/>
              </a:rPr>
              <a:t>endl</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eaLnBrk="1" fontAlgn="auto" hangingPunct="1">
              <a:lnSpc>
                <a:spcPct val="120000"/>
              </a:lnSpc>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120000"/>
              </a:lnSpc>
              <a:spcAft>
                <a:spcPts val="0"/>
              </a:spcAft>
              <a:buClr>
                <a:schemeClr val="accent3"/>
              </a:buClr>
              <a:buNone/>
              <a:defRPr/>
            </a:pPr>
            <a:endParaRPr lang="en-US" altLang="zh-CN" sz="2400" b="1" dirty="0" smtClean="0">
              <a:solidFill>
                <a:srgbClr val="000000"/>
              </a:solidFill>
              <a:ea typeface="+mj-ea"/>
            </a:endParaRPr>
          </a:p>
        </p:txBody>
      </p:sp>
      <p:sp>
        <p:nvSpPr>
          <p:cNvPr id="6" name="Text Box 4"/>
          <p:cNvSpPr txBox="1">
            <a:spLocks noChangeArrowheads="1"/>
          </p:cNvSpPr>
          <p:nvPr/>
        </p:nvSpPr>
        <p:spPr bwMode="auto">
          <a:xfrm>
            <a:off x="3563888" y="5445224"/>
            <a:ext cx="5544616" cy="1348061"/>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defRPr/>
            </a:pPr>
            <a:r>
              <a:rPr lang="zh-CN" altLang="en-US" b="1" dirty="0">
                <a:latin typeface="+mn-lt"/>
                <a:ea typeface="+mj-ea"/>
              </a:rPr>
              <a:t>运行结果：</a:t>
            </a:r>
            <a:endParaRPr lang="zh-CN" altLang="en-US" b="1" dirty="0">
              <a:latin typeface="+mn-lt"/>
              <a:ea typeface="+mj-ea"/>
            </a:endParaRPr>
          </a:p>
          <a:p>
            <a:pPr algn="l">
              <a:spcBef>
                <a:spcPct val="20000"/>
              </a:spcBef>
              <a:buClr>
                <a:schemeClr val="accent2"/>
              </a:buClr>
              <a:buSzPct val="80000"/>
              <a:defRPr/>
            </a:pPr>
            <a:r>
              <a:rPr lang="en-US" altLang="zh-CN" b="1" dirty="0">
                <a:latin typeface="+mn-lt"/>
                <a:ea typeface="+mj-ea"/>
              </a:rPr>
              <a:t>Please enter two integers(a and b): 3 4</a:t>
            </a:r>
            <a:endParaRPr lang="en-US" altLang="zh-CN" b="1" dirty="0">
              <a:latin typeface="+mn-lt"/>
              <a:ea typeface="+mj-ea"/>
            </a:endParaRPr>
          </a:p>
          <a:p>
            <a:pPr algn="l">
              <a:spcBef>
                <a:spcPct val="20000"/>
              </a:spcBef>
              <a:buClr>
                <a:schemeClr val="accent2"/>
              </a:buClr>
              <a:buSzPct val="80000"/>
              <a:defRPr/>
            </a:pPr>
            <a:r>
              <a:rPr lang="en-US" altLang="zh-CN" b="1" dirty="0">
                <a:latin typeface="+mn-lt"/>
                <a:ea typeface="+mj-ea"/>
              </a:rPr>
              <a:t>The sum of square of a and b: </a:t>
            </a:r>
            <a:r>
              <a:rPr lang="en-US" altLang="zh-CN" b="1" dirty="0" smtClean="0">
                <a:latin typeface="+mn-lt"/>
                <a:ea typeface="+mj-ea"/>
              </a:rPr>
              <a:t>25</a:t>
            </a:r>
            <a:endParaRPr lang="en-US" altLang="zh-CN" b="1" dirty="0">
              <a:latin typeface="+mn-lt"/>
              <a:ea typeface="+mj-ea"/>
            </a:endParaRPr>
          </a:p>
        </p:txBody>
      </p:sp>
      <p:sp>
        <p:nvSpPr>
          <p:cNvPr id="41990" name="标题 1"/>
          <p:cNvSpPr>
            <a:spLocks noGrp="1"/>
          </p:cNvSpPr>
          <p:nvPr>
            <p:ph type="title"/>
          </p:nvPr>
        </p:nvSpPr>
        <p:spPr>
          <a:xfrm>
            <a:off x="6243638" y="571500"/>
            <a:ext cx="2828925" cy="785813"/>
          </a:xfrm>
          <a:solidFill>
            <a:schemeClr val="bg1"/>
          </a:solidFill>
        </p:spPr>
        <p:txBody>
          <a:bodyPr/>
          <a:lstStyle/>
          <a:p>
            <a:pPr eaLnBrk="1" hangingPunct="1"/>
            <a:r>
              <a:rPr lang="zh-CN" altLang="en-US" smtClean="0"/>
              <a:t>例</a:t>
            </a:r>
            <a:r>
              <a:rPr lang="en-US" altLang="zh-CN" smtClean="0"/>
              <a:t>3-7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algn="ctr" eaLnBrk="1" hangingPunct="1"/>
            <a:r>
              <a:rPr lang="en-US" altLang="zh-CN" b="1" dirty="0" smtClean="0">
                <a:solidFill>
                  <a:srgbClr val="FFFFFF"/>
                </a:solidFill>
                <a:latin typeface="Times New Roman" panose="02020603050405020304" pitchFamily="18" charset="0"/>
                <a:ea typeface="隶书" panose="02010509060101010101" pitchFamily="49" charset="-122"/>
              </a:rPr>
              <a:t>3.1.2  </a:t>
            </a:r>
            <a:r>
              <a:rPr lang="zh-CN" altLang="en-US" b="1" dirty="0" smtClean="0">
                <a:solidFill>
                  <a:srgbClr val="FFFFFF"/>
                </a:solidFill>
                <a:latin typeface="Times New Roman" panose="02020603050405020304" pitchFamily="18" charset="0"/>
                <a:ea typeface="隶书" panose="02010509060101010101" pitchFamily="49" charset="-122"/>
              </a:rPr>
              <a:t>函数的调用：递归调用</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sp>
        <p:nvSpPr>
          <p:cNvPr id="43013" name="Rectangle 3"/>
          <p:cNvSpPr>
            <a:spLocks noGrp="1" noChangeArrowheads="1"/>
          </p:cNvSpPr>
          <p:nvPr>
            <p:ph idx="1"/>
          </p:nvPr>
        </p:nvSpPr>
        <p:spPr>
          <a:xfrm>
            <a:off x="628650" y="1700808"/>
            <a:ext cx="8191822" cy="4351338"/>
          </a:xfrm>
        </p:spPr>
        <p:txBody>
          <a:bodyPr/>
          <a:lstStyle/>
          <a:p>
            <a:pPr marL="114300" indent="-114300" eaLnBrk="1" hangingPunct="1">
              <a:lnSpc>
                <a:spcPct val="150000"/>
              </a:lnSpc>
              <a:spcBef>
                <a:spcPts val="0"/>
              </a:spcBef>
            </a:pPr>
            <a:r>
              <a:rPr lang="zh-CN" altLang="en-US" sz="2800" b="1" dirty="0" smtClean="0">
                <a:latin typeface="微软雅黑" panose="020B0503020204020204" pitchFamily="34" charset="-122"/>
                <a:ea typeface="微软雅黑" panose="020B0503020204020204" pitchFamily="34" charset="-122"/>
              </a:rPr>
              <a:t>函数直接或间接地调用自身，称为递归调用。</a:t>
            </a:r>
            <a:endParaRPr lang="zh-CN" altLang="en-US" sz="2800" b="1" dirty="0" smtClean="0">
              <a:latin typeface="微软雅黑" panose="020B0503020204020204" pitchFamily="34" charset="-122"/>
              <a:ea typeface="微软雅黑" panose="020B0503020204020204" pitchFamily="34" charset="-122"/>
            </a:endParaRPr>
          </a:p>
          <a:p>
            <a:pPr marL="114300" indent="-114300" eaLnBrk="1" hangingPunct="1">
              <a:lnSpc>
                <a:spcPct val="150000"/>
              </a:lnSpc>
              <a:spcBef>
                <a:spcPts val="0"/>
              </a:spcBef>
            </a:pPr>
            <a:r>
              <a:rPr lang="zh-CN" altLang="en-US" sz="2800" b="1" dirty="0" smtClean="0">
                <a:latin typeface="微软雅黑" panose="020B0503020204020204" pitchFamily="34" charset="-122"/>
                <a:ea typeface="微软雅黑" panose="020B0503020204020204" pitchFamily="34" charset="-122"/>
              </a:rPr>
              <a:t>递归过程的两个阶段，以</a:t>
            </a:r>
            <a:r>
              <a:rPr lang="en-US" altLang="zh-CN" sz="2800" b="1" dirty="0" smtClean="0">
                <a:latin typeface="微软雅黑" panose="020B0503020204020204" pitchFamily="34" charset="-122"/>
                <a:ea typeface="微软雅黑" panose="020B0503020204020204" pitchFamily="34" charset="-122"/>
              </a:rPr>
              <a:t>n!</a:t>
            </a:r>
            <a:r>
              <a:rPr lang="zh-CN" altLang="en-US" sz="2800" b="1" dirty="0" smtClean="0">
                <a:latin typeface="微软雅黑" panose="020B0503020204020204" pitchFamily="34" charset="-122"/>
                <a:ea typeface="微软雅黑" panose="020B0503020204020204" pitchFamily="34" charset="-122"/>
              </a:rPr>
              <a:t>为例：</a:t>
            </a:r>
            <a:endParaRPr lang="zh-CN" altLang="en-US" sz="2800" b="1" dirty="0" smtClean="0">
              <a:latin typeface="微软雅黑" panose="020B0503020204020204" pitchFamily="34" charset="-122"/>
              <a:ea typeface="微软雅黑" panose="020B0503020204020204" pitchFamily="34" charset="-122"/>
            </a:endParaRPr>
          </a:p>
          <a:p>
            <a:pPr marL="400050" lvl="1" indent="-171450" eaLnBrk="1" hangingPunct="1"/>
            <a:r>
              <a:rPr lang="zh-CN" altLang="en-US" sz="2400" b="1" dirty="0" smtClean="0">
                <a:latin typeface="微软雅黑" panose="020B0503020204020204" pitchFamily="34" charset="-122"/>
                <a:ea typeface="微软雅黑" panose="020B0503020204020204" pitchFamily="34" charset="-122"/>
              </a:rPr>
              <a:t>递推：</a:t>
            </a:r>
            <a:endParaRPr lang="zh-CN" altLang="en-US" sz="2400" b="1" dirty="0" smtClean="0">
              <a:latin typeface="微软雅黑" panose="020B0503020204020204" pitchFamily="34" charset="-122"/>
              <a:ea typeface="微软雅黑" panose="020B0503020204020204" pitchFamily="34" charset="-122"/>
            </a:endParaRPr>
          </a:p>
          <a:p>
            <a:pPr marL="400050" lvl="1" indent="-171450" eaLnBrk="1" hangingPunct="1">
              <a:buFontTx/>
              <a:buNone/>
            </a:pPr>
            <a:r>
              <a:rPr lang="zh-CN" altLang="en-US" sz="2000" b="1" dirty="0" smtClean="0">
                <a:ea typeface="+mj-ea"/>
              </a:rPr>
              <a:t> </a:t>
            </a:r>
            <a:r>
              <a:rPr lang="en-US" altLang="zh-CN" sz="2400" b="1" dirty="0" smtClean="0">
                <a:solidFill>
                  <a:schemeClr val="tx1"/>
                </a:solidFill>
                <a:ea typeface="+mj-ea"/>
              </a:rPr>
              <a:t>4!=4×3! →3!=3×2! →2!=2×1! →1!=1×0! →0!=1</a:t>
            </a:r>
            <a:endParaRPr lang="en-US" altLang="zh-CN" sz="2400" b="1" dirty="0" smtClean="0">
              <a:solidFill>
                <a:schemeClr val="tx1"/>
              </a:solidFill>
              <a:ea typeface="+mj-ea"/>
            </a:endParaRPr>
          </a:p>
          <a:p>
            <a:pPr marL="400050" lvl="1" indent="-171450" eaLnBrk="1" hangingPunct="1">
              <a:buFontTx/>
              <a:buNone/>
            </a:pPr>
            <a:r>
              <a:rPr lang="zh-CN" altLang="en-US" sz="2400" b="1" dirty="0" smtClean="0">
                <a:solidFill>
                  <a:srgbClr val="FFFF00"/>
                </a:solidFill>
                <a:ea typeface="+mj-ea"/>
              </a:rPr>
              <a:t>     未知                                                                已知</a:t>
            </a:r>
            <a:endParaRPr lang="zh-CN" altLang="en-US" sz="2400" b="1" dirty="0" smtClean="0">
              <a:solidFill>
                <a:srgbClr val="FFFF00"/>
              </a:solidFill>
              <a:ea typeface="+mj-ea"/>
            </a:endParaRPr>
          </a:p>
          <a:p>
            <a:pPr marL="400050" lvl="1" indent="-171450" eaLnBrk="1" hangingPunct="1"/>
            <a:r>
              <a:rPr lang="zh-CN" altLang="en-US" sz="2400" b="1" dirty="0" smtClean="0">
                <a:latin typeface="微软雅黑" panose="020B0503020204020204" pitchFamily="34" charset="-122"/>
                <a:ea typeface="微软雅黑" panose="020B0503020204020204" pitchFamily="34" charset="-122"/>
              </a:rPr>
              <a:t>回归：</a:t>
            </a:r>
            <a:endParaRPr lang="zh-CN" altLang="en-US" sz="2400" b="1" dirty="0" smtClean="0">
              <a:latin typeface="微软雅黑" panose="020B0503020204020204" pitchFamily="34" charset="-122"/>
              <a:ea typeface="微软雅黑" panose="020B0503020204020204" pitchFamily="34" charset="-122"/>
            </a:endParaRPr>
          </a:p>
          <a:p>
            <a:pPr marL="400050" lvl="1" indent="-171450" eaLnBrk="1" hangingPunct="1">
              <a:buFontTx/>
              <a:buNone/>
            </a:pPr>
            <a:r>
              <a:rPr lang="en-US" altLang="zh-CN" sz="2200" b="1" dirty="0" smtClean="0">
                <a:solidFill>
                  <a:schemeClr val="tx1"/>
                </a:solidFill>
                <a:ea typeface="+mj-ea"/>
              </a:rPr>
              <a:t>4!=4×3!=24 </a:t>
            </a:r>
            <a:r>
              <a:rPr lang="en-US" altLang="zh-CN" sz="2400" b="1" dirty="0" smtClean="0">
                <a:solidFill>
                  <a:schemeClr val="tx1"/>
                </a:solidFill>
                <a:ea typeface="+mj-ea"/>
              </a:rPr>
              <a:t>←</a:t>
            </a:r>
            <a:r>
              <a:rPr lang="en-US" altLang="zh-CN" sz="2200" b="1" dirty="0" smtClean="0">
                <a:solidFill>
                  <a:schemeClr val="tx1"/>
                </a:solidFill>
                <a:ea typeface="+mj-ea"/>
              </a:rPr>
              <a:t>3!=3×2!=6 </a:t>
            </a:r>
            <a:r>
              <a:rPr lang="en-US" altLang="zh-CN" sz="2400" b="1" dirty="0" smtClean="0">
                <a:solidFill>
                  <a:schemeClr val="tx1"/>
                </a:solidFill>
                <a:ea typeface="+mj-ea"/>
              </a:rPr>
              <a:t>←2</a:t>
            </a:r>
            <a:r>
              <a:rPr lang="en-US" altLang="zh-CN" sz="2200" b="1" dirty="0" smtClean="0">
                <a:solidFill>
                  <a:schemeClr val="tx1"/>
                </a:solidFill>
                <a:ea typeface="+mj-ea"/>
              </a:rPr>
              <a:t>!=2×1!=2 </a:t>
            </a:r>
            <a:r>
              <a:rPr lang="en-US" altLang="zh-CN" sz="2400" b="1" dirty="0" smtClean="0">
                <a:solidFill>
                  <a:schemeClr val="tx1"/>
                </a:solidFill>
                <a:ea typeface="+mj-ea"/>
              </a:rPr>
              <a:t>←</a:t>
            </a:r>
            <a:r>
              <a:rPr lang="en-US" altLang="zh-CN" sz="2200" b="1" dirty="0" smtClean="0">
                <a:solidFill>
                  <a:schemeClr val="tx1"/>
                </a:solidFill>
                <a:ea typeface="+mj-ea"/>
              </a:rPr>
              <a:t>1!=1×0!=1 </a:t>
            </a:r>
            <a:r>
              <a:rPr lang="en-US" altLang="zh-CN" sz="2400" b="1" dirty="0" smtClean="0">
                <a:solidFill>
                  <a:schemeClr val="tx1"/>
                </a:solidFill>
                <a:ea typeface="+mj-ea"/>
              </a:rPr>
              <a:t>←</a:t>
            </a:r>
            <a:r>
              <a:rPr lang="en-US" altLang="zh-CN" sz="2200" b="1" dirty="0" smtClean="0">
                <a:solidFill>
                  <a:schemeClr val="tx1"/>
                </a:solidFill>
                <a:ea typeface="+mj-ea"/>
              </a:rPr>
              <a:t>0!=1</a:t>
            </a:r>
            <a:endParaRPr lang="en-US" altLang="zh-CN" sz="2200" b="1" dirty="0" smtClean="0">
              <a:solidFill>
                <a:schemeClr val="tx1"/>
              </a:solidFill>
              <a:ea typeface="+mj-ea"/>
            </a:endParaRPr>
          </a:p>
          <a:p>
            <a:pPr marL="400050" lvl="1" indent="-171450" eaLnBrk="1" hangingPunct="1">
              <a:buFontTx/>
              <a:buNone/>
            </a:pPr>
            <a:r>
              <a:rPr lang="zh-CN" altLang="en-US" sz="2400" b="1" dirty="0" smtClean="0">
                <a:solidFill>
                  <a:srgbClr val="FFFF00"/>
                </a:solidFill>
                <a:ea typeface="+mj-ea"/>
              </a:rPr>
              <a:t>    未知                                                                已知</a:t>
            </a:r>
            <a:endParaRPr lang="zh-CN" altLang="en-US" sz="2400" b="1" dirty="0" smtClean="0">
              <a:solidFill>
                <a:srgbClr val="FFFF00"/>
              </a:solidFill>
              <a:ea typeface="+mj-ea"/>
            </a:endParaRPr>
          </a:p>
        </p:txBody>
      </p:sp>
      <p:sp>
        <p:nvSpPr>
          <p:cNvPr id="43014" name="Line 2053"/>
          <p:cNvSpPr>
            <a:spLocks noChangeShapeType="1"/>
          </p:cNvSpPr>
          <p:nvPr/>
        </p:nvSpPr>
        <p:spPr bwMode="auto">
          <a:xfrm>
            <a:off x="1428750" y="3573016"/>
            <a:ext cx="5951562" cy="2852"/>
          </a:xfrm>
          <a:prstGeom prst="line">
            <a:avLst/>
          </a:prstGeom>
          <a:noFill/>
          <a:ln w="38100" cap="sq">
            <a:solidFill>
              <a:srgbClr val="FFFF00"/>
            </a:solidFill>
            <a:round/>
            <a:headEnd type="oval" w="med" len="med"/>
            <a:tailEnd type="triangle" w="lg" len="lg"/>
          </a:ln>
        </p:spPr>
        <p:txBody>
          <a:bodyPr wrap="none" anchor="ctr"/>
          <a:lstStyle/>
          <a:p>
            <a:endParaRPr lang="zh-CN" altLang="en-US"/>
          </a:p>
        </p:txBody>
      </p:sp>
      <p:sp>
        <p:nvSpPr>
          <p:cNvPr id="43015" name="Line 2054"/>
          <p:cNvSpPr>
            <a:spLocks noChangeShapeType="1"/>
          </p:cNvSpPr>
          <p:nvPr/>
        </p:nvSpPr>
        <p:spPr bwMode="auto">
          <a:xfrm>
            <a:off x="1331640" y="4869160"/>
            <a:ext cx="6059488" cy="0"/>
          </a:xfrm>
          <a:prstGeom prst="line">
            <a:avLst/>
          </a:prstGeom>
          <a:noFill/>
          <a:ln w="38100" cap="sq">
            <a:solidFill>
              <a:srgbClr val="FFFF00"/>
            </a:solidFill>
            <a:round/>
            <a:headEnd type="triangle" w="lg" len="lg"/>
            <a:tailEnd type="oval"/>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algn="ctr" eaLnBrk="1" hangingPunct="1"/>
            <a:r>
              <a:rPr lang="en-US" altLang="zh-CN" b="1" dirty="0" smtClean="0">
                <a:solidFill>
                  <a:srgbClr val="FFFFFF"/>
                </a:solidFill>
                <a:latin typeface="Times New Roman" panose="02020603050405020304" pitchFamily="18" charset="0"/>
                <a:ea typeface="隶书" panose="02010509060101010101" pitchFamily="49" charset="-122"/>
              </a:rPr>
              <a:t>3.1.2  </a:t>
            </a:r>
            <a:r>
              <a:rPr lang="zh-CN" altLang="en-US" b="1" dirty="0" smtClean="0">
                <a:solidFill>
                  <a:srgbClr val="FFFFFF"/>
                </a:solidFill>
                <a:latin typeface="Times New Roman" panose="02020603050405020304" pitchFamily="18" charset="0"/>
                <a:ea typeface="隶书" panose="02010509060101010101" pitchFamily="49" charset="-122"/>
              </a:rPr>
              <a:t>函数的调用：递归调用</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grpSp>
        <p:nvGrpSpPr>
          <p:cNvPr id="33" name="Group 32"/>
          <p:cNvGrpSpPr/>
          <p:nvPr/>
        </p:nvGrpSpPr>
        <p:grpSpPr bwMode="auto">
          <a:xfrm>
            <a:off x="1618853" y="4047207"/>
            <a:ext cx="865188" cy="1363663"/>
            <a:chOff x="1292" y="3093"/>
            <a:chExt cx="545" cy="859"/>
          </a:xfrm>
          <a:solidFill>
            <a:schemeClr val="tx1"/>
          </a:solidFill>
        </p:grpSpPr>
        <p:sp>
          <p:nvSpPr>
            <p:cNvPr id="34" name="Text Box 8"/>
            <p:cNvSpPr txBox="1">
              <a:spLocks noChangeArrowheads="1"/>
            </p:cNvSpPr>
            <p:nvPr/>
          </p:nvSpPr>
          <p:spPr bwMode="auto">
            <a:xfrm>
              <a:off x="1474" y="3093"/>
              <a:ext cx="363" cy="250"/>
            </a:xfrm>
            <a:prstGeom prst="rect">
              <a:avLst/>
            </a:prstGeom>
            <a:grpFill/>
            <a:ln w="9525">
              <a:solidFill>
                <a:srgbClr val="000000"/>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en-US" altLang="zh-CN" sz="2000" b="1" dirty="0" smtClean="0">
                  <a:solidFill>
                    <a:srgbClr val="0000CC"/>
                  </a:solidFill>
                  <a:latin typeface="Times New Roman" panose="02020603050405020304" pitchFamily="18" charset="0"/>
                  <a:ea typeface="华文楷体" panose="02010600040101010101" pitchFamily="2" charset="-122"/>
                </a:rPr>
                <a:t>f( )</a:t>
              </a:r>
              <a:endParaRPr lang="en-US" altLang="zh-CN" sz="2000" b="1" dirty="0" smtClean="0">
                <a:solidFill>
                  <a:srgbClr val="0000CC"/>
                </a:solidFill>
                <a:latin typeface="Times New Roman" panose="02020603050405020304" pitchFamily="18" charset="0"/>
                <a:ea typeface="华文楷体" panose="02010600040101010101" pitchFamily="2" charset="-122"/>
              </a:endParaRPr>
            </a:p>
          </p:txBody>
        </p:sp>
        <p:sp>
          <p:nvSpPr>
            <p:cNvPr id="35" name="Text Box 9"/>
            <p:cNvSpPr txBox="1">
              <a:spLocks noChangeArrowheads="1"/>
            </p:cNvSpPr>
            <p:nvPr/>
          </p:nvSpPr>
          <p:spPr bwMode="auto">
            <a:xfrm>
              <a:off x="1474" y="3702"/>
              <a:ext cx="363" cy="250"/>
            </a:xfrm>
            <a:prstGeom prst="rect">
              <a:avLst/>
            </a:prstGeom>
            <a:grpFill/>
            <a:ln w="9525">
              <a:solidFill>
                <a:srgbClr val="000000"/>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zh-CN" altLang="zh-CN" sz="2000" b="1" dirty="0" smtClean="0">
                  <a:solidFill>
                    <a:srgbClr val="0000CC"/>
                  </a:solidFill>
                  <a:latin typeface="Times New Roman" panose="02020603050405020304" pitchFamily="18" charset="0"/>
                  <a:ea typeface="华文楷体" panose="02010600040101010101" pitchFamily="2" charset="-122"/>
                </a:rPr>
                <a:t>调</a:t>
              </a:r>
              <a:r>
                <a:rPr lang="en-US" altLang="zh-CN" sz="2000" b="1" dirty="0" smtClean="0">
                  <a:solidFill>
                    <a:srgbClr val="0000CC"/>
                  </a:solidFill>
                  <a:latin typeface="Times New Roman" panose="02020603050405020304" pitchFamily="18" charset="0"/>
                  <a:ea typeface="华文楷体" panose="02010600040101010101" pitchFamily="2" charset="-122"/>
                </a:rPr>
                <a:t>f</a:t>
              </a:r>
              <a:endParaRPr lang="en-US" altLang="zh-CN" sz="2000" b="1" dirty="0" smtClean="0">
                <a:solidFill>
                  <a:srgbClr val="0000CC"/>
                </a:solidFill>
                <a:latin typeface="Times New Roman" panose="02020603050405020304" pitchFamily="18" charset="0"/>
                <a:ea typeface="华文楷体" panose="02010600040101010101" pitchFamily="2" charset="-122"/>
              </a:endParaRPr>
            </a:p>
          </p:txBody>
        </p:sp>
        <p:sp>
          <p:nvSpPr>
            <p:cNvPr id="36" name="Line 10"/>
            <p:cNvSpPr>
              <a:spLocks noChangeShapeType="1"/>
            </p:cNvSpPr>
            <p:nvPr/>
          </p:nvSpPr>
          <p:spPr bwMode="auto">
            <a:xfrm>
              <a:off x="1676" y="3338"/>
              <a:ext cx="0" cy="363"/>
            </a:xfrm>
            <a:prstGeom prst="line">
              <a:avLst/>
            </a:prstGeom>
            <a:grpFill/>
            <a:ln w="9525">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37" name="Line 11"/>
            <p:cNvSpPr>
              <a:spLocks noChangeShapeType="1"/>
            </p:cNvSpPr>
            <p:nvPr/>
          </p:nvSpPr>
          <p:spPr bwMode="auto">
            <a:xfrm flipH="1">
              <a:off x="1292" y="3762"/>
              <a:ext cx="192" cy="0"/>
            </a:xfrm>
            <a:prstGeom prst="line">
              <a:avLst/>
            </a:prstGeom>
            <a:grpFill/>
            <a:ln w="9525">
              <a:solidFill>
                <a:srgbClr val="FFC000"/>
              </a:solidFill>
              <a:roun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38" name="Line 12"/>
            <p:cNvSpPr>
              <a:spLocks noChangeShapeType="1"/>
            </p:cNvSpPr>
            <p:nvPr/>
          </p:nvSpPr>
          <p:spPr bwMode="auto">
            <a:xfrm flipV="1">
              <a:off x="1292" y="3218"/>
              <a:ext cx="0" cy="544"/>
            </a:xfrm>
            <a:prstGeom prst="line">
              <a:avLst/>
            </a:prstGeom>
            <a:grpFill/>
            <a:ln w="9525">
              <a:solidFill>
                <a:srgbClr val="FFC000"/>
              </a:solidFill>
              <a:roun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39" name="Line 13"/>
            <p:cNvSpPr>
              <a:spLocks noChangeShapeType="1"/>
            </p:cNvSpPr>
            <p:nvPr/>
          </p:nvSpPr>
          <p:spPr bwMode="auto">
            <a:xfrm>
              <a:off x="1292" y="3218"/>
              <a:ext cx="204" cy="0"/>
            </a:xfrm>
            <a:prstGeom prst="line">
              <a:avLst/>
            </a:prstGeom>
            <a:grpFill/>
            <a:ln w="9525">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grpSp>
      <p:grpSp>
        <p:nvGrpSpPr>
          <p:cNvPr id="40" name="Group 14"/>
          <p:cNvGrpSpPr/>
          <p:nvPr/>
        </p:nvGrpSpPr>
        <p:grpSpPr bwMode="auto">
          <a:xfrm>
            <a:off x="4284268" y="4004583"/>
            <a:ext cx="2447926" cy="1584837"/>
            <a:chOff x="2400" y="1708"/>
            <a:chExt cx="1542" cy="1449"/>
          </a:xfrm>
          <a:solidFill>
            <a:schemeClr val="tx1"/>
          </a:solidFill>
        </p:grpSpPr>
        <p:sp>
          <p:nvSpPr>
            <p:cNvPr id="41" name="Text Box 15"/>
            <p:cNvSpPr txBox="1">
              <a:spLocks noChangeArrowheads="1"/>
            </p:cNvSpPr>
            <p:nvPr/>
          </p:nvSpPr>
          <p:spPr bwMode="auto">
            <a:xfrm>
              <a:off x="2400" y="2794"/>
              <a:ext cx="409" cy="363"/>
            </a:xfrm>
            <a:prstGeom prst="rect">
              <a:avLst/>
            </a:prstGeom>
            <a:grpFill/>
            <a:ln w="9525">
              <a:solidFill>
                <a:srgbClr val="000000"/>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zh-CN" altLang="zh-CN" sz="2000" b="1" dirty="0" smtClean="0">
                  <a:solidFill>
                    <a:srgbClr val="0000CC"/>
                  </a:solidFill>
                  <a:latin typeface="Times New Roman" panose="02020603050405020304" pitchFamily="18" charset="0"/>
                  <a:ea typeface="华文楷体" panose="02010600040101010101" pitchFamily="2" charset="-122"/>
                </a:rPr>
                <a:t>调</a:t>
              </a:r>
              <a:r>
                <a:rPr lang="en-US" altLang="zh-CN" sz="2000" b="1" dirty="0" smtClean="0">
                  <a:solidFill>
                    <a:srgbClr val="0000CC"/>
                  </a:solidFill>
                  <a:latin typeface="Times New Roman" panose="02020603050405020304" pitchFamily="18" charset="0"/>
                  <a:ea typeface="华文楷体" panose="02010600040101010101" pitchFamily="2" charset="-122"/>
                </a:rPr>
                <a:t>f2</a:t>
              </a:r>
              <a:endParaRPr lang="en-US" altLang="zh-CN" sz="2000" b="1" dirty="0" smtClean="0">
                <a:solidFill>
                  <a:srgbClr val="0000CC"/>
                </a:solidFill>
                <a:latin typeface="Times New Roman" panose="02020603050405020304" pitchFamily="18" charset="0"/>
                <a:ea typeface="华文楷体" panose="02010600040101010101" pitchFamily="2" charset="-122"/>
              </a:endParaRPr>
            </a:p>
          </p:txBody>
        </p:sp>
        <p:sp>
          <p:nvSpPr>
            <p:cNvPr id="42" name="Text Box 16"/>
            <p:cNvSpPr txBox="1">
              <a:spLocks noChangeArrowheads="1"/>
            </p:cNvSpPr>
            <p:nvPr/>
          </p:nvSpPr>
          <p:spPr bwMode="auto">
            <a:xfrm>
              <a:off x="3312" y="2794"/>
              <a:ext cx="432" cy="363"/>
            </a:xfrm>
            <a:prstGeom prst="rect">
              <a:avLst/>
            </a:prstGeom>
            <a:grpFill/>
            <a:ln w="9525">
              <a:solidFill>
                <a:srgbClr val="000000"/>
              </a:solidFill>
              <a:miter lim="800000"/>
            </a:ln>
          </p:spPr>
          <p:txBody>
            <a:bodyPr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zh-CN" altLang="zh-CN" sz="2000" b="1" smtClean="0">
                  <a:solidFill>
                    <a:srgbClr val="0000CC"/>
                  </a:solidFill>
                  <a:latin typeface="Times New Roman" panose="02020603050405020304" pitchFamily="18" charset="0"/>
                  <a:ea typeface="华文楷体" panose="02010600040101010101" pitchFamily="2" charset="-122"/>
                </a:rPr>
                <a:t>调</a:t>
              </a:r>
              <a:r>
                <a:rPr lang="en-US" altLang="zh-CN" sz="2000" b="1" smtClean="0">
                  <a:solidFill>
                    <a:srgbClr val="0000CC"/>
                  </a:solidFill>
                  <a:latin typeface="Times New Roman" panose="02020603050405020304" pitchFamily="18" charset="0"/>
                  <a:ea typeface="华文楷体" panose="02010600040101010101" pitchFamily="2" charset="-122"/>
                </a:rPr>
                <a:t>f1</a:t>
              </a:r>
              <a:endParaRPr lang="en-US" altLang="zh-CN" sz="2000" b="1" smtClean="0">
                <a:solidFill>
                  <a:srgbClr val="0000CC"/>
                </a:solidFill>
                <a:latin typeface="Times New Roman" panose="02020603050405020304" pitchFamily="18" charset="0"/>
                <a:ea typeface="华文楷体" panose="02010600040101010101" pitchFamily="2" charset="-122"/>
              </a:endParaRPr>
            </a:p>
          </p:txBody>
        </p:sp>
        <p:sp>
          <p:nvSpPr>
            <p:cNvPr id="43" name="Text Box 17"/>
            <p:cNvSpPr txBox="1">
              <a:spLocks noChangeArrowheads="1"/>
            </p:cNvSpPr>
            <p:nvPr/>
          </p:nvSpPr>
          <p:spPr bwMode="auto">
            <a:xfrm>
              <a:off x="2456" y="1865"/>
              <a:ext cx="395" cy="362"/>
            </a:xfrm>
            <a:prstGeom prst="rect">
              <a:avLst/>
            </a:prstGeom>
            <a:grpFill/>
            <a:ln w="9525">
              <a:solidFill>
                <a:srgbClr val="000000"/>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en-US" altLang="zh-CN" sz="2000" b="1" dirty="0" smtClean="0">
                  <a:solidFill>
                    <a:srgbClr val="0000CC"/>
                  </a:solidFill>
                  <a:latin typeface="Times New Roman" panose="02020603050405020304" pitchFamily="18" charset="0"/>
                  <a:ea typeface="华文楷体" panose="02010600040101010101" pitchFamily="2" charset="-122"/>
                </a:rPr>
                <a:t>f1( )</a:t>
              </a:r>
              <a:endParaRPr lang="en-US" altLang="zh-CN" sz="2000" b="1" dirty="0" smtClean="0">
                <a:solidFill>
                  <a:srgbClr val="0000CC"/>
                </a:solidFill>
                <a:latin typeface="Times New Roman" panose="02020603050405020304" pitchFamily="18" charset="0"/>
                <a:ea typeface="华文楷体" panose="02010600040101010101" pitchFamily="2" charset="-122"/>
              </a:endParaRPr>
            </a:p>
          </p:txBody>
        </p:sp>
        <p:sp>
          <p:nvSpPr>
            <p:cNvPr id="44" name="Text Box 18"/>
            <p:cNvSpPr txBox="1">
              <a:spLocks noChangeArrowheads="1"/>
            </p:cNvSpPr>
            <p:nvPr/>
          </p:nvSpPr>
          <p:spPr bwMode="auto">
            <a:xfrm>
              <a:off x="3368" y="1865"/>
              <a:ext cx="395" cy="362"/>
            </a:xfrm>
            <a:prstGeom prst="rect">
              <a:avLst/>
            </a:prstGeom>
            <a:grpFill/>
            <a:ln w="9525">
              <a:solidFill>
                <a:srgbClr val="000000"/>
              </a:solidFill>
              <a:miter lim="800000"/>
            </a:ln>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0" hangingPunct="0">
                <a:spcBef>
                  <a:spcPct val="0"/>
                </a:spcBef>
                <a:buClrTx/>
                <a:buSzTx/>
                <a:buFontTx/>
                <a:buNone/>
              </a:pPr>
              <a:r>
                <a:rPr lang="en-US" altLang="zh-CN" sz="2000" b="1" smtClean="0">
                  <a:solidFill>
                    <a:srgbClr val="0000CC"/>
                  </a:solidFill>
                  <a:latin typeface="Times New Roman" panose="02020603050405020304" pitchFamily="18" charset="0"/>
                  <a:ea typeface="华文楷体" panose="02010600040101010101" pitchFamily="2" charset="-122"/>
                </a:rPr>
                <a:t>f2( )</a:t>
              </a:r>
              <a:endParaRPr lang="en-US" altLang="zh-CN" sz="2000" b="1" smtClean="0">
                <a:solidFill>
                  <a:srgbClr val="0000CC"/>
                </a:solidFill>
                <a:latin typeface="Times New Roman" panose="02020603050405020304" pitchFamily="18" charset="0"/>
                <a:ea typeface="华文楷体" panose="02010600040101010101" pitchFamily="2" charset="-122"/>
              </a:endParaRPr>
            </a:p>
          </p:txBody>
        </p:sp>
        <p:sp>
          <p:nvSpPr>
            <p:cNvPr id="45" name="Line 19"/>
            <p:cNvSpPr>
              <a:spLocks noChangeShapeType="1"/>
            </p:cNvSpPr>
            <p:nvPr/>
          </p:nvSpPr>
          <p:spPr bwMode="auto">
            <a:xfrm>
              <a:off x="2592" y="2202"/>
              <a:ext cx="0" cy="560"/>
            </a:xfrm>
            <a:prstGeom prst="line">
              <a:avLst/>
            </a:prstGeom>
            <a:grpFill/>
            <a:ln w="19050">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46" name="Line 20"/>
            <p:cNvSpPr>
              <a:spLocks noChangeShapeType="1"/>
            </p:cNvSpPr>
            <p:nvPr/>
          </p:nvSpPr>
          <p:spPr bwMode="auto">
            <a:xfrm flipV="1">
              <a:off x="2808" y="2235"/>
              <a:ext cx="590" cy="658"/>
            </a:xfrm>
            <a:prstGeom prst="line">
              <a:avLst/>
            </a:prstGeom>
            <a:grpFill/>
            <a:ln w="19050">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47" name="Line 21"/>
            <p:cNvSpPr>
              <a:spLocks noChangeShapeType="1"/>
            </p:cNvSpPr>
            <p:nvPr/>
          </p:nvSpPr>
          <p:spPr bwMode="auto">
            <a:xfrm>
              <a:off x="3504" y="2208"/>
              <a:ext cx="0" cy="576"/>
            </a:xfrm>
            <a:prstGeom prst="line">
              <a:avLst/>
            </a:prstGeom>
            <a:grpFill/>
            <a:ln w="19050">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48" name="Line 22"/>
            <p:cNvSpPr>
              <a:spLocks noChangeShapeType="1"/>
            </p:cNvSpPr>
            <p:nvPr/>
          </p:nvSpPr>
          <p:spPr bwMode="auto">
            <a:xfrm>
              <a:off x="3739" y="2928"/>
              <a:ext cx="192" cy="0"/>
            </a:xfrm>
            <a:prstGeom prst="line">
              <a:avLst/>
            </a:prstGeom>
            <a:grpFill/>
            <a:ln w="19050">
              <a:solidFill>
                <a:srgbClr val="FFC000"/>
              </a:solidFill>
              <a:roun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49" name="Line 23"/>
            <p:cNvSpPr>
              <a:spLocks noChangeShapeType="1"/>
            </p:cNvSpPr>
            <p:nvPr/>
          </p:nvSpPr>
          <p:spPr bwMode="auto">
            <a:xfrm flipV="1">
              <a:off x="3942" y="1708"/>
              <a:ext cx="0" cy="1218"/>
            </a:xfrm>
            <a:prstGeom prst="line">
              <a:avLst/>
            </a:prstGeom>
            <a:grpFill/>
            <a:ln w="19050">
              <a:solidFill>
                <a:srgbClr val="FFC000"/>
              </a:solidFill>
              <a:roun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50" name="Line 24"/>
            <p:cNvSpPr>
              <a:spLocks noChangeShapeType="1"/>
            </p:cNvSpPr>
            <p:nvPr/>
          </p:nvSpPr>
          <p:spPr bwMode="auto">
            <a:xfrm flipH="1">
              <a:off x="2592" y="1708"/>
              <a:ext cx="1339" cy="0"/>
            </a:xfrm>
            <a:prstGeom prst="line">
              <a:avLst/>
            </a:prstGeom>
            <a:grpFill/>
            <a:ln w="19050">
              <a:solidFill>
                <a:srgbClr val="FFC000"/>
              </a:solidFill>
              <a:roun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sp>
          <p:nvSpPr>
            <p:cNvPr id="51" name="Line 25"/>
            <p:cNvSpPr>
              <a:spLocks noChangeShapeType="1"/>
            </p:cNvSpPr>
            <p:nvPr/>
          </p:nvSpPr>
          <p:spPr bwMode="auto">
            <a:xfrm>
              <a:off x="2592" y="1708"/>
              <a:ext cx="0" cy="144"/>
            </a:xfrm>
            <a:prstGeom prst="line">
              <a:avLst/>
            </a:prstGeom>
            <a:grpFill/>
            <a:ln w="19050">
              <a:solidFill>
                <a:srgbClr val="FFC000"/>
              </a:solidFill>
              <a:round/>
              <a:tailEnd type="triangle" w="med" len="med"/>
            </a:ln>
          </p:spPr>
          <p:txBody>
            <a:bodyPr wrap="none" anchor="ctr"/>
            <a:lstStyle/>
            <a:p>
              <a:pPr algn="l" eaLnBrk="0" hangingPunct="0"/>
              <a:endParaRPr kumimoji="0" lang="zh-CN" altLang="en-US" b="1" smtClean="0">
                <a:solidFill>
                  <a:srgbClr val="000000"/>
                </a:solidFill>
                <a:ea typeface="华文楷体" panose="02010600040101010101" pitchFamily="2" charset="-122"/>
              </a:endParaRPr>
            </a:p>
          </p:txBody>
        </p:sp>
      </p:grpSp>
      <p:sp>
        <p:nvSpPr>
          <p:cNvPr id="52" name="Text Box 26"/>
          <p:cNvSpPr txBox="1">
            <a:spLocks noChangeArrowheads="1"/>
          </p:cNvSpPr>
          <p:nvPr/>
        </p:nvSpPr>
        <p:spPr bwMode="auto">
          <a:xfrm>
            <a:off x="1115616" y="1449487"/>
            <a:ext cx="1835150" cy="2235200"/>
          </a:xfrm>
          <a:prstGeom prst="rect">
            <a:avLst/>
          </a:prstGeom>
          <a:solidFill>
            <a:srgbClr val="FFFFFF"/>
          </a:solidFill>
          <a:ln w="9525">
            <a:solidFill>
              <a:srgbClr val="FFC000"/>
            </a:solidFill>
            <a:miter lim="800000"/>
          </a:ln>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int  f(int x)</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int y,z;</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rPr>
              <a:t>z=f(y);</a:t>
            </a:r>
            <a:endPar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return(2*z);</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53" name="Group 27"/>
          <p:cNvGrpSpPr/>
          <p:nvPr/>
        </p:nvGrpSpPr>
        <p:grpSpPr bwMode="auto">
          <a:xfrm>
            <a:off x="3384153" y="1400274"/>
            <a:ext cx="4375150" cy="2252663"/>
            <a:chOff x="2338" y="2048"/>
            <a:chExt cx="2756" cy="1419"/>
          </a:xfrm>
        </p:grpSpPr>
        <p:sp>
          <p:nvSpPr>
            <p:cNvPr id="54" name="Text Box 28"/>
            <p:cNvSpPr txBox="1">
              <a:spLocks noChangeArrowheads="1"/>
            </p:cNvSpPr>
            <p:nvPr/>
          </p:nvSpPr>
          <p:spPr bwMode="auto">
            <a:xfrm>
              <a:off x="2338" y="2059"/>
              <a:ext cx="1156" cy="1408"/>
            </a:xfrm>
            <a:prstGeom prst="rect">
              <a:avLst/>
            </a:prstGeom>
            <a:solidFill>
              <a:srgbClr val="FFFFFF"/>
            </a:solidFill>
            <a:ln w="9525">
              <a:solidFill>
                <a:srgbClr val="FFC000"/>
              </a:solidFill>
              <a:miter lim="800000"/>
            </a:ln>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int  f1(int x)</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int y,z;</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rPr>
                <a:t>z=f2(y);</a:t>
              </a:r>
              <a:endPar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return(2*z);</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5" name="Text Box 29"/>
            <p:cNvSpPr txBox="1">
              <a:spLocks noChangeArrowheads="1"/>
            </p:cNvSpPr>
            <p:nvPr/>
          </p:nvSpPr>
          <p:spPr bwMode="auto">
            <a:xfrm>
              <a:off x="3927" y="2048"/>
              <a:ext cx="1167" cy="1408"/>
            </a:xfrm>
            <a:prstGeom prst="rect">
              <a:avLst/>
            </a:prstGeom>
            <a:solidFill>
              <a:srgbClr val="FFFFFF"/>
            </a:solidFill>
            <a:ln w="9525">
              <a:solidFill>
                <a:srgbClr val="FFC000"/>
              </a:solidFill>
              <a:miter lim="800000"/>
            </a:ln>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int  f2(int t)</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int a,c;</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rPr>
                <a:t>c=f1(a);</a:t>
              </a:r>
              <a:endParaRPr kumimoji="0" lang="en-US" altLang="zh-CN" sz="2000" b="1" i="0" u="none" strike="noStrike" kern="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     return(3+c);</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l" defTabSz="914400" eaLnBrk="1" fontAlgn="auto" latinLnBrk="0" hangingPunct="1">
                <a:lnSpc>
                  <a:spcPct val="100000"/>
                </a:lnSpc>
                <a:spcBef>
                  <a:spcPct val="0"/>
                </a:spcBef>
                <a:spcAft>
                  <a:spcPts val="0"/>
                </a:spcAft>
                <a:buClrTx/>
                <a:buSzTx/>
                <a:buFontTx/>
                <a:buNone/>
                <a:defRPr/>
              </a:pPr>
              <a:r>
                <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0" lang="en-US" altLang="zh-CN" sz="20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30"/>
            <p:cNvSpPr>
              <a:spLocks noChangeShapeType="1"/>
            </p:cNvSpPr>
            <p:nvPr/>
          </p:nvSpPr>
          <p:spPr bwMode="auto">
            <a:xfrm flipV="1">
              <a:off x="3212" y="2211"/>
              <a:ext cx="766" cy="600"/>
            </a:xfrm>
            <a:prstGeom prst="line">
              <a:avLst/>
            </a:prstGeom>
            <a:noFill/>
            <a:ln w="9525">
              <a:solidFill>
                <a:srgbClr val="FFC000"/>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eaLnBrk="0" fontAlgn="auto" latinLnBrk="0" hangingPunct="0">
                <a:lnSpc>
                  <a:spcPct val="100000"/>
                </a:lnSpc>
                <a:spcBef>
                  <a:spcPts val="0"/>
                </a:spcBef>
                <a:spcAft>
                  <a:spcPts val="0"/>
                </a:spcAft>
                <a:buClrTx/>
                <a:buSzTx/>
                <a:buFontTx/>
                <a:buNone/>
                <a:defRPr/>
              </a:pPr>
              <a:endParaRPr kumimoji="0" lang="zh-CN" altLang="en-US" sz="1800" b="1" i="0" u="none" strike="noStrike" kern="0" cap="none" spc="0" normalizeH="0" baseline="0" noProof="0" smtClean="0">
                <a:ln>
                  <a:noFill/>
                </a:ln>
                <a:solidFill>
                  <a:srgbClr val="000000"/>
                </a:solidFill>
                <a:effectLst/>
                <a:uLnTx/>
                <a:uFillTx/>
                <a:ea typeface="华文楷体" panose="02010600040101010101" pitchFamily="2" charset="-122"/>
              </a:endParaRPr>
            </a:p>
          </p:txBody>
        </p:sp>
        <p:sp>
          <p:nvSpPr>
            <p:cNvPr id="57" name="Line 31"/>
            <p:cNvSpPr>
              <a:spLocks noChangeShapeType="1"/>
            </p:cNvSpPr>
            <p:nvPr/>
          </p:nvSpPr>
          <p:spPr bwMode="auto">
            <a:xfrm flipH="1" flipV="1">
              <a:off x="3178" y="2189"/>
              <a:ext cx="823" cy="566"/>
            </a:xfrm>
            <a:prstGeom prst="line">
              <a:avLst/>
            </a:prstGeom>
            <a:noFill/>
            <a:ln w="9525">
              <a:solidFill>
                <a:srgbClr val="FFC000"/>
              </a:solidFill>
              <a:rou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eaLnBrk="0" fontAlgn="auto" latinLnBrk="0" hangingPunct="0">
                <a:lnSpc>
                  <a:spcPct val="100000"/>
                </a:lnSpc>
                <a:spcBef>
                  <a:spcPts val="0"/>
                </a:spcBef>
                <a:spcAft>
                  <a:spcPts val="0"/>
                </a:spcAft>
                <a:buClrTx/>
                <a:buSzTx/>
                <a:buFontTx/>
                <a:buNone/>
                <a:defRPr/>
              </a:pPr>
              <a:endParaRPr kumimoji="0" lang="zh-CN" altLang="en-US" sz="1800" b="1" i="0" u="none" strike="noStrike" kern="0" cap="none" spc="0" normalizeH="0" baseline="0" noProof="0" smtClean="0">
                <a:ln>
                  <a:noFill/>
                </a:ln>
                <a:solidFill>
                  <a:srgbClr val="000000"/>
                </a:solidFill>
                <a:effectLst/>
                <a:uLnTx/>
                <a:uFillTx/>
                <a:ea typeface="华文楷体"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par>
                                <p:cTn id="8" presetID="3" presetClass="entr" presetSubtype="1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linds(horizontal)">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blinds(horizontal)">
                                      <p:cBhvr>
                                        <p:cTn id="15" dur="500"/>
                                        <p:tgtEl>
                                          <p:spTgt spid="53"/>
                                        </p:tgtEl>
                                      </p:cBhvr>
                                    </p:animEffect>
                                  </p:childTnLst>
                                </p:cTn>
                              </p:par>
                              <p:par>
                                <p:cTn id="16" presetID="3" presetClass="entr" presetSubtype="10" fill="hold"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blinds(horizontal)">
                                      <p:cBhvr>
                                        <p:cTn id="1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a:lstStyle/>
          <a:p>
            <a:pPr eaLnBrk="1" hangingPunct="1"/>
            <a:r>
              <a:rPr lang="zh-CN" altLang="en-US" smtClean="0"/>
              <a:t>例</a:t>
            </a:r>
            <a:r>
              <a:rPr lang="en-US" altLang="zh-CN" smtClean="0"/>
              <a:t>3-8 </a:t>
            </a:r>
            <a:r>
              <a:rPr lang="zh-CN" altLang="en-US" smtClean="0"/>
              <a:t>求</a:t>
            </a:r>
            <a:r>
              <a:rPr lang="en-US" altLang="zh-CN" smtClean="0"/>
              <a:t>n!</a:t>
            </a:r>
            <a:endParaRPr lang="zh-CN" altLang="en-US" smtClean="0"/>
          </a:p>
        </p:txBody>
      </p:sp>
      <p:sp>
        <p:nvSpPr>
          <p:cNvPr id="3" name="内容占位符 2"/>
          <p:cNvSpPr>
            <a:spLocks noGrp="1"/>
          </p:cNvSpPr>
          <p:nvPr>
            <p:ph idx="1"/>
          </p:nvPr>
        </p:nvSpPr>
        <p:spPr>
          <a:xfrm>
            <a:off x="611560" y="1700808"/>
            <a:ext cx="7886700" cy="4351338"/>
          </a:xfrm>
        </p:spPr>
        <p:txBody>
          <a:bodyPr/>
          <a:lstStyle/>
          <a:p>
            <a:pPr marL="0" indent="0" eaLnBrk="1" hangingPunct="1">
              <a:buFont typeface="Wingdings" panose="05000000000000000000" pitchFamily="2" charset="2"/>
              <a:buNone/>
              <a:defRPr/>
            </a:pPr>
            <a:r>
              <a:rPr lang="zh-CN" altLang="en-US" sz="2800" b="1" dirty="0" smtClean="0">
                <a:latin typeface="微软雅黑" panose="020B0503020204020204" pitchFamily="34" charset="-122"/>
                <a:ea typeface="微软雅黑" panose="020B0503020204020204" pitchFamily="34" charset="-122"/>
              </a:rPr>
              <a:t>分析：计算</a:t>
            </a:r>
            <a:r>
              <a:rPr lang="en-US" altLang="zh-CN" sz="2800" b="1" i="1" dirty="0" smtClean="0">
                <a:latin typeface="微软雅黑" panose="020B0503020204020204" pitchFamily="34" charset="-122"/>
                <a:ea typeface="微软雅黑" panose="020B0503020204020204" pitchFamily="34" charset="-122"/>
              </a:rPr>
              <a:t>n</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的公式如下：</a:t>
            </a: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0" eaLnBrk="1" hangingPunct="1">
              <a:buFont typeface="Wingdings" panose="05000000000000000000" pitchFamily="2" charset="2"/>
              <a:buNone/>
              <a:defRPr/>
            </a:pPr>
            <a:r>
              <a:rPr lang="zh-CN" altLang="en-US" sz="2800" b="1" dirty="0" smtClean="0">
                <a:latin typeface="微软雅黑" panose="020B0503020204020204" pitchFamily="34" charset="-122"/>
                <a:ea typeface="微软雅黑" panose="020B0503020204020204" pitchFamily="34" charset="-122"/>
              </a:rPr>
              <a:t>这是一个递归形式的公式，应该用递归函数实现。</a:t>
            </a:r>
            <a:endParaRPr lang="zh-CN" altLang="en-US" sz="2800" b="1" dirty="0" smtClean="0">
              <a:latin typeface="微软雅黑" panose="020B0503020204020204" pitchFamily="34" charset="-122"/>
              <a:ea typeface="微软雅黑" panose="020B0503020204020204" pitchFamily="34" charset="-122"/>
            </a:endParaRPr>
          </a:p>
          <a:p>
            <a:pPr eaLnBrk="1" hangingPunct="1">
              <a:defRPr/>
            </a:pPr>
            <a:endParaRPr lang="zh-CN" altLang="en-US" sz="2800" b="1" dirty="0">
              <a:latin typeface="微软雅黑" panose="020B0503020204020204" pitchFamily="34" charset="-122"/>
              <a:ea typeface="微软雅黑" panose="020B0503020204020204" pitchFamily="34" charset="-122"/>
            </a:endParaRPr>
          </a:p>
        </p:txBody>
      </p:sp>
      <p:graphicFrame>
        <p:nvGraphicFramePr>
          <p:cNvPr id="3074" name="Object 2"/>
          <p:cNvGraphicFramePr>
            <a:graphicFrameLocks noChangeAspect="1"/>
          </p:cNvGraphicFramePr>
          <p:nvPr/>
        </p:nvGraphicFramePr>
        <p:xfrm>
          <a:off x="2714625" y="2357438"/>
          <a:ext cx="3945607" cy="1300162"/>
        </p:xfrm>
        <a:graphic>
          <a:graphicData uri="http://schemas.openxmlformats.org/presentationml/2006/ole">
            <mc:AlternateContent xmlns:mc="http://schemas.openxmlformats.org/markup-compatibility/2006">
              <mc:Choice xmlns:v="urn:schemas-microsoft-com:vml" Requires="v">
                <p:oleObj spid="_x0000_s620726" name="Equation" r:id="rId1" imgW="1435100" imgH="457200" progId="Equation.DSMT4">
                  <p:embed/>
                </p:oleObj>
              </mc:Choice>
              <mc:Fallback>
                <p:oleObj name="Equation" r:id="rId1" imgW="1435100" imgH="457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2357438"/>
                        <a:ext cx="3945607" cy="1300162"/>
                      </a:xfrm>
                      <a:prstGeom prst="rect">
                        <a:avLst/>
                      </a:prstGeom>
                      <a:solidFill>
                        <a:schemeClr val="tx1"/>
                      </a:solid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929688" cy="6073775"/>
          </a:xfrm>
          <a:solidFill>
            <a:schemeClr val="tx1"/>
          </a:solidFill>
        </p:spPr>
        <p:txBody>
          <a:bodyPr>
            <a:noAutofit/>
          </a:bodyPr>
          <a:lstStyle/>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#include &lt;</a:t>
            </a:r>
            <a:r>
              <a:rPr lang="en-US" altLang="zh-CN" sz="2400" b="1" dirty="0" err="1" smtClean="0">
                <a:solidFill>
                  <a:srgbClr val="000000"/>
                </a:solidFill>
                <a:latin typeface="微软雅黑" panose="020B0503020204020204" pitchFamily="34" charset="-122"/>
                <a:ea typeface="微软雅黑" panose="020B0503020204020204" pitchFamily="34" charset="-122"/>
              </a:rPr>
              <a:t>iostream</a:t>
            </a:r>
            <a:r>
              <a:rPr lang="en-US" altLang="zh-CN" sz="2400" b="1" dirty="0" smtClean="0">
                <a:solidFill>
                  <a:srgbClr val="000000"/>
                </a:solidFill>
                <a:latin typeface="微软雅黑" panose="020B0503020204020204" pitchFamily="34" charset="-122"/>
                <a:ea typeface="微软雅黑" panose="020B0503020204020204" pitchFamily="34" charset="-122"/>
              </a:rPr>
              <a:t>&gt;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using namespace std;</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unsigned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(int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f;</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if </a:t>
            </a:r>
            <a:r>
              <a:rPr lang="en-US" altLang="zh-CN" sz="2400" b="1" dirty="0" smtClean="0">
                <a:solidFill>
                  <a:srgbClr val="3333FF"/>
                </a:solidFill>
                <a:latin typeface="微软雅黑" panose="020B0503020204020204" pitchFamily="34" charset="-122"/>
                <a:ea typeface="微软雅黑" panose="020B0503020204020204" pitchFamily="34" charset="-122"/>
              </a:rPr>
              <a:t>(n == 0)  </a:t>
            </a:r>
            <a:r>
              <a:rPr lang="en-US" altLang="zh-CN" sz="2400" b="1" dirty="0" smtClean="0">
                <a:solidFill>
                  <a:srgbClr val="000000"/>
                </a:solidFill>
                <a:latin typeface="微软雅黑" panose="020B0503020204020204" pitchFamily="34" charset="-122"/>
                <a:ea typeface="微软雅黑" panose="020B0503020204020204" pitchFamily="34" charset="-122"/>
              </a:rPr>
              <a:t>f = 1;</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else	  f =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(n - 1) *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return f;</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int main() {</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cout</a:t>
            </a:r>
            <a:r>
              <a:rPr lang="en-US" altLang="zh-CN" sz="2400" b="1" dirty="0" smtClean="0">
                <a:solidFill>
                  <a:srgbClr val="000000"/>
                </a:solidFill>
                <a:latin typeface="微软雅黑" panose="020B0503020204020204" pitchFamily="34" charset="-122"/>
                <a:ea typeface="微软雅黑" panose="020B0503020204020204" pitchFamily="34" charset="-122"/>
              </a:rPr>
              <a:t> &lt;&lt; "Enter a positive integer:";</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cin</a:t>
            </a:r>
            <a:r>
              <a:rPr lang="en-US" altLang="zh-CN" sz="2400" b="1" dirty="0" smtClean="0">
                <a:solidFill>
                  <a:srgbClr val="000000"/>
                </a:solidFill>
                <a:latin typeface="微软雅黑" panose="020B0503020204020204" pitchFamily="34" charset="-122"/>
                <a:ea typeface="微软雅黑" panose="020B0503020204020204" pitchFamily="34" charset="-122"/>
              </a:rPr>
              <a:t> &gt;&gt;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y =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cout</a:t>
            </a:r>
            <a:r>
              <a:rPr lang="en-US" altLang="zh-CN" sz="2400" b="1" dirty="0" smtClean="0">
                <a:solidFill>
                  <a:srgbClr val="000000"/>
                </a:solidFill>
                <a:latin typeface="微软雅黑" panose="020B0503020204020204" pitchFamily="34" charset="-122"/>
                <a:ea typeface="微软雅黑" panose="020B0503020204020204" pitchFamily="34" charset="-122"/>
              </a:rPr>
              <a:t> &lt;&lt; n &lt;&lt; "! = " &lt;&lt; y &lt;&lt; </a:t>
            </a:r>
            <a:r>
              <a:rPr lang="en-US" altLang="zh-CN" sz="2400" b="1" dirty="0" err="1" smtClean="0">
                <a:solidFill>
                  <a:srgbClr val="000000"/>
                </a:solidFill>
                <a:latin typeface="微软雅黑" panose="020B0503020204020204" pitchFamily="34" charset="-122"/>
                <a:ea typeface="微软雅黑" panose="020B0503020204020204" pitchFamily="34" charset="-122"/>
              </a:rPr>
              <a:t>endl</a:t>
            </a: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return 0;</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p:txBody>
      </p:sp>
      <p:sp>
        <p:nvSpPr>
          <p:cNvPr id="45061" name="Text Box 4"/>
          <p:cNvSpPr txBox="1">
            <a:spLocks noChangeArrowheads="1"/>
          </p:cNvSpPr>
          <p:nvPr/>
        </p:nvSpPr>
        <p:spPr bwMode="auto">
          <a:xfrm>
            <a:off x="6715125" y="5335588"/>
            <a:ext cx="2357438" cy="1421928"/>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buFont typeface="Wingdings" panose="05000000000000000000" pitchFamily="2" charset="2"/>
              <a:buNone/>
              <a:defRPr/>
            </a:pPr>
            <a:r>
              <a:rPr lang="zh-CN" altLang="en-US" b="1" dirty="0">
                <a:latin typeface="+mn-lt"/>
                <a:ea typeface="+mj-ea"/>
              </a:rPr>
              <a:t>运行结果：</a:t>
            </a:r>
            <a:endParaRPr lang="zh-CN" altLang="en-US" b="1" dirty="0">
              <a:latin typeface="+mn-lt"/>
              <a:ea typeface="+mj-ea"/>
            </a:endParaRPr>
          </a:p>
          <a:p>
            <a:pPr algn="l">
              <a:lnSpc>
                <a:spcPct val="75000"/>
              </a:lnSpc>
              <a:spcBef>
                <a:spcPct val="20000"/>
              </a:spcBef>
              <a:buClr>
                <a:schemeClr val="accent2"/>
              </a:buClr>
              <a:buSzPct val="80000"/>
              <a:buFont typeface="Wingdings" panose="05000000000000000000" pitchFamily="2" charset="2"/>
              <a:buNone/>
              <a:defRPr/>
            </a:pPr>
            <a:r>
              <a:rPr lang="en-US" altLang="zh-CN" b="1" dirty="0">
                <a:latin typeface="+mn-lt"/>
                <a:ea typeface="+mj-ea"/>
              </a:rPr>
              <a:t>Enter a positive integer:8</a:t>
            </a:r>
            <a:endParaRPr lang="en-US" altLang="zh-CN" b="1" dirty="0">
              <a:latin typeface="+mn-lt"/>
              <a:ea typeface="+mj-ea"/>
            </a:endParaRPr>
          </a:p>
          <a:p>
            <a:pPr algn="l">
              <a:lnSpc>
                <a:spcPct val="70000"/>
              </a:lnSpc>
              <a:spcBef>
                <a:spcPct val="20000"/>
              </a:spcBef>
              <a:buClr>
                <a:schemeClr val="accent2"/>
              </a:buClr>
              <a:buSzPct val="80000"/>
              <a:buFont typeface="Wingdings" panose="05000000000000000000" pitchFamily="2" charset="2"/>
              <a:buNone/>
              <a:defRPr/>
            </a:pPr>
            <a:r>
              <a:rPr lang="en-US" altLang="zh-CN" b="1" dirty="0">
                <a:latin typeface="+mn-lt"/>
                <a:ea typeface="+mj-ea"/>
              </a:rPr>
              <a:t>8! = 40320</a:t>
            </a:r>
            <a:endParaRPr lang="en-US" altLang="zh-CN" b="1" dirty="0">
              <a:latin typeface="+mn-lt"/>
              <a:ea typeface="+mj-ea"/>
            </a:endParaRPr>
          </a:p>
        </p:txBody>
      </p:sp>
      <p:sp>
        <p:nvSpPr>
          <p:cNvPr id="45062" name="标题 1"/>
          <p:cNvSpPr>
            <a:spLocks noGrp="1"/>
          </p:cNvSpPr>
          <p:nvPr>
            <p:ph type="title"/>
          </p:nvPr>
        </p:nvSpPr>
        <p:spPr>
          <a:xfrm>
            <a:off x="6215063" y="571500"/>
            <a:ext cx="2857500" cy="857250"/>
          </a:xfrm>
          <a:solidFill>
            <a:schemeClr val="accent6">
              <a:lumMod val="50000"/>
            </a:schemeClr>
          </a:solidFill>
        </p:spPr>
        <p:txBody>
          <a:bodyPr/>
          <a:lstStyle/>
          <a:p>
            <a:pPr eaLnBrk="1" hangingPunct="1"/>
            <a:r>
              <a:rPr lang="zh-CN" altLang="en-US" dirty="0" smtClean="0"/>
              <a:t>例</a:t>
            </a:r>
            <a:r>
              <a:rPr lang="en-US" altLang="zh-CN" dirty="0" smtClean="0"/>
              <a:t>3-8</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pPr eaLnBrk="1" hangingPunct="1"/>
            <a:r>
              <a:rPr lang="zh-CN" altLang="en-US" smtClean="0"/>
              <a:t>例</a:t>
            </a:r>
            <a:r>
              <a:rPr lang="en-US" altLang="zh-CN" smtClean="0"/>
              <a:t>3-9</a:t>
            </a:r>
            <a:endParaRPr lang="zh-CN" altLang="en-US" smtClean="0"/>
          </a:p>
        </p:txBody>
      </p:sp>
      <p:sp>
        <p:nvSpPr>
          <p:cNvPr id="47107" name="内容占位符 2"/>
          <p:cNvSpPr>
            <a:spLocks noGrp="1"/>
          </p:cNvSpPr>
          <p:nvPr>
            <p:ph idx="1"/>
          </p:nvPr>
        </p:nvSpPr>
        <p:spPr>
          <a:xfrm>
            <a:off x="683568" y="1412776"/>
            <a:ext cx="7886700" cy="4351338"/>
          </a:xfrm>
        </p:spPr>
        <p:txBody>
          <a:bodyPr/>
          <a:lstStyle/>
          <a:p>
            <a:pPr marL="0" indent="0">
              <a:buNone/>
              <a:defRPr/>
            </a:pPr>
            <a:r>
              <a:rPr lang="zh-CN" altLang="en-US" b="1" dirty="0" smtClean="0">
                <a:ea typeface="+mj-ea"/>
              </a:rPr>
              <a:t>用递归法计算从</a:t>
            </a:r>
            <a:r>
              <a:rPr lang="en-US" altLang="zh-CN" b="1" dirty="0" smtClean="0">
                <a:ea typeface="+mj-ea"/>
              </a:rPr>
              <a:t>n</a:t>
            </a:r>
            <a:r>
              <a:rPr lang="zh-CN" altLang="en-US" b="1" dirty="0" smtClean="0">
                <a:ea typeface="+mj-ea"/>
              </a:rPr>
              <a:t>个人中选择</a:t>
            </a:r>
            <a:r>
              <a:rPr lang="en-US" altLang="zh-CN" b="1" dirty="0" smtClean="0">
                <a:ea typeface="+mj-ea"/>
              </a:rPr>
              <a:t>k</a:t>
            </a:r>
            <a:r>
              <a:rPr lang="zh-CN" altLang="en-US" b="1" dirty="0" smtClean="0">
                <a:ea typeface="+mj-ea"/>
              </a:rPr>
              <a:t>个人组成一个委员会的不同组合数。</a:t>
            </a:r>
            <a:endParaRPr lang="zh-CN" altLang="en-US" b="1" dirty="0" smtClean="0">
              <a:ea typeface="+mj-ea"/>
            </a:endParaRPr>
          </a:p>
          <a:p>
            <a:pPr>
              <a:buNone/>
              <a:defRPr/>
            </a:pPr>
            <a:r>
              <a:rPr lang="zh-CN" altLang="en-US" b="1" dirty="0" smtClean="0">
                <a:ea typeface="+mj-ea"/>
              </a:rPr>
              <a:t>分析：</a:t>
            </a:r>
            <a:endParaRPr lang="zh-CN" altLang="en-US" b="1" dirty="0" smtClean="0">
              <a:ea typeface="+mj-ea"/>
            </a:endParaRPr>
          </a:p>
          <a:p>
            <a:pPr lvl="1">
              <a:buClr>
                <a:schemeClr val="tx2"/>
              </a:buClr>
              <a:buFontTx/>
              <a:buNone/>
              <a:defRPr/>
            </a:pPr>
            <a:r>
              <a:rPr lang="zh-CN" altLang="en-US" sz="3200" b="1" dirty="0" smtClean="0">
                <a:ea typeface="+mj-ea"/>
              </a:rPr>
              <a:t> 由</a:t>
            </a:r>
            <a:r>
              <a:rPr lang="en-US" altLang="zh-CN" sz="3200" b="1" dirty="0" smtClean="0">
                <a:ea typeface="+mj-ea"/>
              </a:rPr>
              <a:t>n</a:t>
            </a:r>
            <a:r>
              <a:rPr lang="zh-CN" altLang="en-US" sz="3200" b="1" dirty="0" smtClean="0">
                <a:ea typeface="+mj-ea"/>
              </a:rPr>
              <a:t>个人里选</a:t>
            </a:r>
            <a:r>
              <a:rPr lang="en-US" altLang="zh-CN" sz="3200" b="1" dirty="0" smtClean="0">
                <a:ea typeface="+mj-ea"/>
              </a:rPr>
              <a:t>k</a:t>
            </a:r>
            <a:r>
              <a:rPr lang="zh-CN" altLang="en-US" sz="3200" b="1" dirty="0" smtClean="0">
                <a:ea typeface="+mj-ea"/>
              </a:rPr>
              <a:t>个人的组合数</a:t>
            </a:r>
            <a:endParaRPr lang="zh-CN" altLang="en-US" sz="3200" b="1" dirty="0" smtClean="0">
              <a:ea typeface="+mj-ea"/>
            </a:endParaRPr>
          </a:p>
          <a:p>
            <a:pPr lvl="1">
              <a:buClr>
                <a:schemeClr val="tx2"/>
              </a:buClr>
              <a:buFontTx/>
              <a:buNone/>
              <a:defRPr/>
            </a:pPr>
            <a:r>
              <a:rPr lang="zh-CN" altLang="en-US" sz="3200" b="1" dirty="0" smtClean="0">
                <a:ea typeface="+mj-ea"/>
              </a:rPr>
              <a:t> </a:t>
            </a:r>
            <a:r>
              <a:rPr lang="en-US" altLang="zh-CN" sz="3200" b="1" dirty="0" smtClean="0">
                <a:ea typeface="+mj-ea"/>
              </a:rPr>
              <a:t>= </a:t>
            </a:r>
            <a:r>
              <a:rPr lang="zh-CN" altLang="en-US" sz="3200" b="1" dirty="0" smtClean="0">
                <a:ea typeface="+mj-ea"/>
              </a:rPr>
              <a:t>由</a:t>
            </a:r>
            <a:r>
              <a:rPr lang="en-US" altLang="zh-CN" sz="3200" b="1" dirty="0" smtClean="0">
                <a:ea typeface="+mj-ea"/>
              </a:rPr>
              <a:t>n-1</a:t>
            </a:r>
            <a:r>
              <a:rPr lang="zh-CN" altLang="en-US" sz="3200" b="1" dirty="0" smtClean="0">
                <a:ea typeface="+mj-ea"/>
              </a:rPr>
              <a:t>个人里选</a:t>
            </a:r>
            <a:r>
              <a:rPr lang="en-US" altLang="zh-CN" sz="3200" b="1" dirty="0" smtClean="0">
                <a:ea typeface="+mj-ea"/>
              </a:rPr>
              <a:t>k</a:t>
            </a:r>
            <a:r>
              <a:rPr lang="zh-CN" altLang="en-US" sz="3200" b="1" dirty="0" smtClean="0">
                <a:ea typeface="+mj-ea"/>
              </a:rPr>
              <a:t>个人的组合数</a:t>
            </a:r>
            <a:endParaRPr lang="zh-CN" altLang="en-US" sz="3200" b="1" dirty="0" smtClean="0">
              <a:ea typeface="+mj-ea"/>
            </a:endParaRPr>
          </a:p>
          <a:p>
            <a:pPr lvl="1">
              <a:buClr>
                <a:schemeClr val="tx2"/>
              </a:buClr>
              <a:buFontTx/>
              <a:buNone/>
              <a:defRPr/>
            </a:pPr>
            <a:r>
              <a:rPr lang="zh-CN" altLang="en-US" sz="3200" b="1" dirty="0" smtClean="0">
                <a:ea typeface="+mj-ea"/>
              </a:rPr>
              <a:t>   </a:t>
            </a:r>
            <a:r>
              <a:rPr lang="en-US" altLang="zh-CN" sz="3200" b="1" dirty="0" smtClean="0">
                <a:ea typeface="+mj-ea"/>
              </a:rPr>
              <a:t>+</a:t>
            </a:r>
            <a:r>
              <a:rPr lang="zh-CN" altLang="en-US" sz="3200" b="1" dirty="0" smtClean="0">
                <a:ea typeface="+mj-ea"/>
              </a:rPr>
              <a:t>由</a:t>
            </a:r>
            <a:r>
              <a:rPr lang="en-US" altLang="zh-CN" sz="3200" b="1" dirty="0" smtClean="0">
                <a:ea typeface="+mj-ea"/>
              </a:rPr>
              <a:t>n-1</a:t>
            </a:r>
            <a:r>
              <a:rPr lang="zh-CN" altLang="en-US" sz="3200" b="1" dirty="0" smtClean="0">
                <a:ea typeface="+mj-ea"/>
              </a:rPr>
              <a:t>个人里选</a:t>
            </a:r>
            <a:r>
              <a:rPr lang="en-US" altLang="zh-CN" sz="3200" b="1" dirty="0" smtClean="0">
                <a:ea typeface="+mj-ea"/>
              </a:rPr>
              <a:t>k-1</a:t>
            </a:r>
            <a:r>
              <a:rPr lang="zh-CN" altLang="en-US" sz="3200" b="1" dirty="0" smtClean="0">
                <a:ea typeface="+mj-ea"/>
              </a:rPr>
              <a:t>个人的组合数</a:t>
            </a:r>
            <a:endParaRPr lang="zh-CN" altLang="en-US" sz="3200" b="1" dirty="0" smtClean="0">
              <a:ea typeface="+mj-ea"/>
            </a:endParaRPr>
          </a:p>
          <a:p>
            <a:pPr lvl="1">
              <a:buClr>
                <a:schemeClr val="tx2"/>
              </a:buClr>
              <a:buFontTx/>
              <a:buNone/>
              <a:defRPr/>
            </a:pPr>
            <a:r>
              <a:rPr lang="zh-CN" altLang="en-US" sz="3200" b="1" dirty="0" smtClean="0">
                <a:ea typeface="+mj-ea"/>
              </a:rPr>
              <a:t>当</a:t>
            </a:r>
            <a:r>
              <a:rPr lang="en-US" altLang="zh-CN" sz="3200" b="1" dirty="0" smtClean="0">
                <a:ea typeface="+mj-ea"/>
              </a:rPr>
              <a:t>n = k</a:t>
            </a:r>
            <a:r>
              <a:rPr lang="zh-CN" altLang="en-US" sz="3200" b="1" dirty="0" smtClean="0">
                <a:ea typeface="+mj-ea"/>
              </a:rPr>
              <a:t>或</a:t>
            </a:r>
            <a:r>
              <a:rPr lang="en-US" altLang="zh-CN" sz="3200" b="1" dirty="0" smtClean="0">
                <a:ea typeface="+mj-ea"/>
              </a:rPr>
              <a:t>k = 0</a:t>
            </a:r>
            <a:r>
              <a:rPr lang="zh-CN" altLang="en-US" sz="3200" b="1" dirty="0" smtClean="0">
                <a:ea typeface="+mj-ea"/>
              </a:rPr>
              <a:t>时，组合数为</a:t>
            </a:r>
            <a:r>
              <a:rPr lang="en-US" altLang="zh-CN" sz="3200" b="1" dirty="0" smtClean="0">
                <a:ea typeface="+mj-ea"/>
              </a:rPr>
              <a:t>1</a:t>
            </a:r>
            <a:endParaRPr lang="en-US" altLang="zh-CN" sz="3200" b="1" dirty="0" smtClean="0">
              <a:ea typeface="+mj-ea"/>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929688" cy="6073775"/>
          </a:xfrm>
          <a:solidFill>
            <a:schemeClr val="tx1"/>
          </a:solidFill>
        </p:spPr>
        <p:txBody>
          <a:bodyPr>
            <a:noAutofit/>
          </a:bodyPr>
          <a:lstStyle/>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iostream</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err="1" smtClean="0">
                <a:solidFill>
                  <a:srgbClr val="000000"/>
                </a:solidFill>
                <a:ea typeface="+mj-ea"/>
              </a:rPr>
              <a:t>int</a:t>
            </a:r>
            <a:r>
              <a:rPr lang="en-US" altLang="zh-CN" sz="2400" b="1" dirty="0" smtClean="0">
                <a:solidFill>
                  <a:srgbClr val="000000"/>
                </a:solidFill>
                <a:ea typeface="+mj-ea"/>
              </a:rPr>
              <a:t> </a:t>
            </a:r>
            <a:r>
              <a:rPr lang="en-US" altLang="zh-CN" sz="2400" b="1" dirty="0" err="1" smtClean="0">
                <a:solidFill>
                  <a:srgbClr val="000000"/>
                </a:solidFill>
                <a:ea typeface="+mj-ea"/>
              </a:rPr>
              <a:t>comm</a:t>
            </a:r>
            <a:r>
              <a:rPr lang="en-US" altLang="zh-CN" sz="2400" b="1" dirty="0" smtClean="0">
                <a:solidFill>
                  <a:srgbClr val="000000"/>
                </a:solidFill>
                <a:ea typeface="+mj-ea"/>
              </a:rPr>
              <a:t>(</a:t>
            </a:r>
            <a:r>
              <a:rPr lang="en-US" altLang="zh-CN" sz="2400" b="1" dirty="0" err="1" smtClean="0">
                <a:solidFill>
                  <a:srgbClr val="000000"/>
                </a:solidFill>
                <a:ea typeface="+mj-ea"/>
              </a:rPr>
              <a:t>int</a:t>
            </a:r>
            <a:r>
              <a:rPr lang="en-US" altLang="zh-CN" sz="2400" b="1" dirty="0" smtClean="0">
                <a:solidFill>
                  <a:srgbClr val="000000"/>
                </a:solidFill>
                <a:ea typeface="+mj-ea"/>
              </a:rPr>
              <a:t> n, </a:t>
            </a:r>
            <a:r>
              <a:rPr lang="en-US" altLang="zh-CN" sz="2400" b="1" dirty="0" err="1" smtClean="0">
                <a:solidFill>
                  <a:srgbClr val="000000"/>
                </a:solidFill>
                <a:ea typeface="+mj-ea"/>
              </a:rPr>
              <a:t>int</a:t>
            </a:r>
            <a:r>
              <a:rPr lang="en-US" altLang="zh-CN" sz="2400" b="1" dirty="0" smtClean="0">
                <a:solidFill>
                  <a:srgbClr val="000000"/>
                </a:solidFill>
                <a:ea typeface="+mj-ea"/>
              </a:rPr>
              <a:t> k)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if (k &gt; n)</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else if (n == k || k == 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1;</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else</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a:t>
            </a:r>
            <a:r>
              <a:rPr lang="en-US" altLang="zh-CN" sz="2400" b="1" dirty="0" err="1" smtClean="0">
                <a:solidFill>
                  <a:srgbClr val="000000"/>
                </a:solidFill>
                <a:ea typeface="+mj-ea"/>
              </a:rPr>
              <a:t>comm</a:t>
            </a:r>
            <a:r>
              <a:rPr lang="en-US" altLang="zh-CN" sz="2400" b="1" dirty="0" smtClean="0">
                <a:solidFill>
                  <a:srgbClr val="000000"/>
                </a:solidFill>
                <a:ea typeface="+mj-ea"/>
              </a:rPr>
              <a:t>(n - 1, k) + </a:t>
            </a:r>
            <a:r>
              <a:rPr lang="en-US" altLang="zh-CN" sz="2400" b="1" dirty="0" err="1" smtClean="0">
                <a:solidFill>
                  <a:srgbClr val="000000"/>
                </a:solidFill>
                <a:ea typeface="+mj-ea"/>
              </a:rPr>
              <a:t>comm</a:t>
            </a:r>
            <a:r>
              <a:rPr lang="en-US" altLang="zh-CN" sz="2400" b="1" dirty="0" smtClean="0">
                <a:solidFill>
                  <a:srgbClr val="000000"/>
                </a:solidFill>
                <a:ea typeface="+mj-ea"/>
              </a:rPr>
              <a:t>(n - 1, k - 1);</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err="1" smtClean="0">
                <a:solidFill>
                  <a:srgbClr val="000000"/>
                </a:solidFill>
                <a:ea typeface="+mj-ea"/>
              </a:rPr>
              <a:t>int</a:t>
            </a:r>
            <a:r>
              <a:rPr lang="en-US" altLang="zh-CN" sz="2400" b="1" dirty="0" smtClean="0">
                <a:solidFill>
                  <a:srgbClr val="000000"/>
                </a:solidFill>
                <a:ea typeface="+mj-ea"/>
              </a:rPr>
              <a:t> main()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int</a:t>
            </a:r>
            <a:r>
              <a:rPr lang="en-US" altLang="zh-CN" sz="2400" b="1" dirty="0" smtClean="0">
                <a:solidFill>
                  <a:srgbClr val="000000"/>
                </a:solidFill>
                <a:ea typeface="+mj-ea"/>
              </a:rPr>
              <a:t> n, k;</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"Please enter two integers n and k: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cin</a:t>
            </a:r>
            <a:r>
              <a:rPr lang="en-US" altLang="zh-CN" sz="2400" b="1" dirty="0" smtClean="0">
                <a:solidFill>
                  <a:srgbClr val="000000"/>
                </a:solidFill>
                <a:ea typeface="+mj-ea"/>
              </a:rPr>
              <a:t> &gt;&gt; n &gt;&gt; k;</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"C(n, k) = " &lt;&lt; </a:t>
            </a:r>
            <a:r>
              <a:rPr lang="en-US" altLang="zh-CN" sz="2400" b="1" dirty="0" err="1" smtClean="0">
                <a:solidFill>
                  <a:srgbClr val="000000"/>
                </a:solidFill>
                <a:ea typeface="+mj-ea"/>
              </a:rPr>
              <a:t>comm</a:t>
            </a:r>
            <a:r>
              <a:rPr lang="en-US" altLang="zh-CN" sz="2400" b="1" dirty="0" smtClean="0">
                <a:solidFill>
                  <a:srgbClr val="000000"/>
                </a:solidFill>
                <a:ea typeface="+mj-ea"/>
              </a:rPr>
              <a:t>(n, k) &lt;&lt; </a:t>
            </a:r>
            <a:r>
              <a:rPr lang="en-US" altLang="zh-CN" sz="2400" b="1" dirty="0" err="1" smtClean="0">
                <a:solidFill>
                  <a:srgbClr val="000000"/>
                </a:solidFill>
                <a:ea typeface="+mj-ea"/>
              </a:rPr>
              <a:t>endl</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p:txBody>
      </p:sp>
      <p:sp>
        <p:nvSpPr>
          <p:cNvPr id="48133" name="Text Box 4"/>
          <p:cNvSpPr txBox="1">
            <a:spLocks noChangeArrowheads="1"/>
          </p:cNvSpPr>
          <p:nvPr/>
        </p:nvSpPr>
        <p:spPr bwMode="auto">
          <a:xfrm>
            <a:off x="6786562" y="5177283"/>
            <a:ext cx="2357438" cy="1348061"/>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defRPr/>
            </a:pPr>
            <a:r>
              <a:rPr lang="zh-CN" altLang="en-US" b="1" dirty="0">
                <a:latin typeface="+mn-lt"/>
                <a:ea typeface="+mj-ea"/>
              </a:rPr>
              <a:t>运行结果：</a:t>
            </a:r>
            <a:endParaRPr lang="zh-CN" altLang="en-US" b="1" dirty="0">
              <a:latin typeface="+mn-lt"/>
              <a:ea typeface="+mj-ea"/>
            </a:endParaRPr>
          </a:p>
          <a:p>
            <a:pPr algn="l">
              <a:spcBef>
                <a:spcPct val="20000"/>
              </a:spcBef>
              <a:buClr>
                <a:schemeClr val="accent2"/>
              </a:buClr>
              <a:buSzPct val="80000"/>
              <a:defRPr/>
            </a:pPr>
            <a:r>
              <a:rPr lang="en-US" altLang="zh-CN" b="1" dirty="0">
                <a:latin typeface="+mn-lt"/>
                <a:ea typeface="+mj-ea"/>
              </a:rPr>
              <a:t>18 5</a:t>
            </a:r>
            <a:endParaRPr lang="en-US" altLang="zh-CN" b="1" dirty="0">
              <a:latin typeface="+mn-lt"/>
              <a:ea typeface="+mj-ea"/>
            </a:endParaRPr>
          </a:p>
          <a:p>
            <a:pPr algn="l">
              <a:spcBef>
                <a:spcPct val="20000"/>
              </a:spcBef>
              <a:buClr>
                <a:schemeClr val="accent2"/>
              </a:buClr>
              <a:buSzPct val="80000"/>
              <a:defRPr/>
            </a:pPr>
            <a:r>
              <a:rPr lang="en-US" altLang="zh-CN" b="1" dirty="0">
                <a:latin typeface="+mn-lt"/>
                <a:ea typeface="+mj-ea"/>
              </a:rPr>
              <a:t>8568</a:t>
            </a:r>
            <a:endParaRPr lang="en-US" altLang="zh-CN" b="1" dirty="0">
              <a:latin typeface="+mn-lt"/>
              <a:ea typeface="+mj-ea"/>
            </a:endParaRPr>
          </a:p>
        </p:txBody>
      </p:sp>
      <p:sp>
        <p:nvSpPr>
          <p:cNvPr id="48134" name="标题 1"/>
          <p:cNvSpPr>
            <a:spLocks noGrp="1"/>
          </p:cNvSpPr>
          <p:nvPr>
            <p:ph type="title"/>
          </p:nvPr>
        </p:nvSpPr>
        <p:spPr>
          <a:xfrm>
            <a:off x="6172200" y="571500"/>
            <a:ext cx="2900363" cy="928688"/>
          </a:xfrm>
          <a:solidFill>
            <a:schemeClr val="bg1"/>
          </a:solidFill>
        </p:spPr>
        <p:txBody>
          <a:bodyPr/>
          <a:lstStyle/>
          <a:p>
            <a:pPr eaLnBrk="1" hangingPunct="1"/>
            <a:r>
              <a:rPr lang="zh-CN" altLang="en-US" smtClean="0"/>
              <a:t>例</a:t>
            </a:r>
            <a:r>
              <a:rPr lang="en-US" altLang="zh-CN" smtClean="0"/>
              <a:t>3-9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例</a:t>
            </a:r>
            <a:r>
              <a:rPr lang="en-US" altLang="zh-CN" smtClean="0"/>
              <a:t>3-10</a:t>
            </a:r>
            <a:endParaRPr lang="zh-CN" altLang="en-US" smtClean="0"/>
          </a:p>
        </p:txBody>
      </p:sp>
      <p:sp>
        <p:nvSpPr>
          <p:cNvPr id="49155" name="内容占位符 2"/>
          <p:cNvSpPr>
            <a:spLocks noGrp="1"/>
          </p:cNvSpPr>
          <p:nvPr>
            <p:ph idx="1"/>
          </p:nvPr>
        </p:nvSpPr>
        <p:spPr>
          <a:xfrm>
            <a:off x="683568" y="1052736"/>
            <a:ext cx="7886700" cy="4351338"/>
          </a:xfrm>
        </p:spPr>
        <p:txBody>
          <a:bodyPr/>
          <a:lstStyle/>
          <a:p>
            <a:pPr marL="0" indent="0">
              <a:buNone/>
              <a:defRPr/>
            </a:pPr>
            <a:r>
              <a:rPr lang="zh-CN" altLang="en-US" b="1" dirty="0" smtClean="0">
                <a:ea typeface="+mj-ea"/>
              </a:rPr>
              <a:t>有三根针</a:t>
            </a:r>
            <a:r>
              <a:rPr lang="en-US" altLang="zh-CN" b="1" dirty="0" smtClean="0">
                <a:ea typeface="+mj-ea"/>
              </a:rPr>
              <a:t>A</a:t>
            </a:r>
            <a:r>
              <a:rPr lang="zh-CN" altLang="en-US" b="1" dirty="0" smtClean="0">
                <a:ea typeface="+mj-ea"/>
              </a:rPr>
              <a:t>、</a:t>
            </a:r>
            <a:r>
              <a:rPr lang="en-US" altLang="zh-CN" b="1" dirty="0" smtClean="0">
                <a:ea typeface="+mj-ea"/>
              </a:rPr>
              <a:t>B</a:t>
            </a:r>
            <a:r>
              <a:rPr lang="zh-CN" altLang="en-US" b="1" dirty="0" smtClean="0">
                <a:ea typeface="+mj-ea"/>
              </a:rPr>
              <a:t>、</a:t>
            </a:r>
            <a:r>
              <a:rPr lang="en-US" altLang="zh-CN" b="1" dirty="0" smtClean="0">
                <a:ea typeface="+mj-ea"/>
              </a:rPr>
              <a:t>C</a:t>
            </a:r>
            <a:r>
              <a:rPr lang="zh-CN" altLang="en-US" b="1" dirty="0" smtClean="0">
                <a:ea typeface="+mj-ea"/>
              </a:rPr>
              <a:t>。</a:t>
            </a:r>
            <a:r>
              <a:rPr lang="en-US" altLang="zh-CN" b="1" dirty="0" smtClean="0">
                <a:ea typeface="+mj-ea"/>
              </a:rPr>
              <a:t>A</a:t>
            </a:r>
            <a:r>
              <a:rPr lang="zh-CN" altLang="en-US" b="1" dirty="0" smtClean="0">
                <a:ea typeface="+mj-ea"/>
              </a:rPr>
              <a:t>针上有</a:t>
            </a:r>
            <a:r>
              <a:rPr lang="en-US" altLang="zh-CN" b="1" dirty="0" smtClean="0">
                <a:ea typeface="+mj-ea"/>
              </a:rPr>
              <a:t>N</a:t>
            </a:r>
            <a:r>
              <a:rPr lang="zh-CN" altLang="en-US" b="1" dirty="0" smtClean="0">
                <a:ea typeface="+mj-ea"/>
              </a:rPr>
              <a:t>个盘子，大的在下，小的在上，要求把这</a:t>
            </a:r>
            <a:r>
              <a:rPr lang="en-US" altLang="zh-CN" b="1" dirty="0" smtClean="0">
                <a:ea typeface="+mj-ea"/>
              </a:rPr>
              <a:t>N</a:t>
            </a:r>
            <a:r>
              <a:rPr lang="zh-CN" altLang="en-US" b="1" dirty="0" smtClean="0">
                <a:ea typeface="+mj-ea"/>
              </a:rPr>
              <a:t>个盘子从</a:t>
            </a:r>
            <a:r>
              <a:rPr lang="en-US" altLang="zh-CN" b="1" dirty="0" smtClean="0">
                <a:ea typeface="+mj-ea"/>
              </a:rPr>
              <a:t>A</a:t>
            </a:r>
            <a:r>
              <a:rPr lang="zh-CN" altLang="en-US" b="1" dirty="0" smtClean="0">
                <a:ea typeface="+mj-ea"/>
              </a:rPr>
              <a:t>针移到</a:t>
            </a:r>
            <a:r>
              <a:rPr lang="en-US" altLang="zh-CN" b="1" dirty="0" smtClean="0">
                <a:ea typeface="+mj-ea"/>
              </a:rPr>
              <a:t>C</a:t>
            </a:r>
            <a:r>
              <a:rPr lang="zh-CN" altLang="en-US" b="1" dirty="0" smtClean="0">
                <a:ea typeface="+mj-ea"/>
              </a:rPr>
              <a:t>针，在移动过程中可以借助</a:t>
            </a:r>
            <a:r>
              <a:rPr lang="en-US" altLang="zh-CN" b="1" dirty="0" smtClean="0">
                <a:ea typeface="+mj-ea"/>
              </a:rPr>
              <a:t>B</a:t>
            </a:r>
            <a:r>
              <a:rPr lang="zh-CN" altLang="en-US" b="1" dirty="0" smtClean="0">
                <a:ea typeface="+mj-ea"/>
              </a:rPr>
              <a:t>针，每次只允许移动一个盘，且在移动过程中在三根针上都保持大盘在下，小盘在上。</a:t>
            </a:r>
            <a:endParaRPr lang="zh-CN" altLang="en-US" b="1" dirty="0" smtClean="0">
              <a:ea typeface="+mj-ea"/>
            </a:endParaRPr>
          </a:p>
          <a:p>
            <a:pPr>
              <a:buNone/>
              <a:defRPr/>
            </a:pPr>
            <a:endParaRPr lang="zh-CN" altLang="en-US" b="1" dirty="0" smtClean="0">
              <a:ea typeface="+mj-ea"/>
            </a:endParaRPr>
          </a:p>
        </p:txBody>
      </p:sp>
      <p:grpSp>
        <p:nvGrpSpPr>
          <p:cNvPr id="2" name="Group 2071"/>
          <p:cNvGrpSpPr/>
          <p:nvPr/>
        </p:nvGrpSpPr>
        <p:grpSpPr bwMode="auto">
          <a:xfrm>
            <a:off x="1828800" y="4340226"/>
            <a:ext cx="5486400" cy="2049463"/>
            <a:chOff x="1152" y="2734"/>
            <a:chExt cx="3456" cy="1291"/>
          </a:xfrm>
        </p:grpSpPr>
        <p:sp>
          <p:nvSpPr>
            <p:cNvPr id="49159" name="Line 2054"/>
            <p:cNvSpPr>
              <a:spLocks noChangeShapeType="1"/>
            </p:cNvSpPr>
            <p:nvPr/>
          </p:nvSpPr>
          <p:spPr bwMode="auto">
            <a:xfrm>
              <a:off x="1152" y="3632"/>
              <a:ext cx="855" cy="0"/>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0" name="Line 2055"/>
            <p:cNvSpPr>
              <a:spLocks noChangeShapeType="1"/>
            </p:cNvSpPr>
            <p:nvPr/>
          </p:nvSpPr>
          <p:spPr bwMode="auto">
            <a:xfrm>
              <a:off x="2541" y="3632"/>
              <a:ext cx="784" cy="0"/>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1" name="Line 2056"/>
            <p:cNvSpPr>
              <a:spLocks noChangeShapeType="1"/>
            </p:cNvSpPr>
            <p:nvPr/>
          </p:nvSpPr>
          <p:spPr bwMode="auto">
            <a:xfrm>
              <a:off x="3824" y="3632"/>
              <a:ext cx="784" cy="0"/>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2" name="Line 2057"/>
            <p:cNvSpPr>
              <a:spLocks noChangeShapeType="1"/>
            </p:cNvSpPr>
            <p:nvPr/>
          </p:nvSpPr>
          <p:spPr bwMode="auto">
            <a:xfrm flipV="1">
              <a:off x="1579" y="2775"/>
              <a:ext cx="0" cy="857"/>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3" name="Line 2058"/>
            <p:cNvSpPr>
              <a:spLocks noChangeShapeType="1"/>
            </p:cNvSpPr>
            <p:nvPr/>
          </p:nvSpPr>
          <p:spPr bwMode="auto">
            <a:xfrm flipV="1">
              <a:off x="2934" y="2734"/>
              <a:ext cx="0" cy="898"/>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4" name="Line 2059"/>
            <p:cNvSpPr>
              <a:spLocks noChangeShapeType="1"/>
            </p:cNvSpPr>
            <p:nvPr/>
          </p:nvSpPr>
          <p:spPr bwMode="auto">
            <a:xfrm flipV="1">
              <a:off x="4181" y="2734"/>
              <a:ext cx="0" cy="898"/>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5" name="Line 2060"/>
            <p:cNvSpPr>
              <a:spLocks noChangeShapeType="1"/>
            </p:cNvSpPr>
            <p:nvPr/>
          </p:nvSpPr>
          <p:spPr bwMode="auto">
            <a:xfrm>
              <a:off x="1294" y="3510"/>
              <a:ext cx="0" cy="0"/>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6" name="Line 2061"/>
            <p:cNvSpPr>
              <a:spLocks noChangeShapeType="1"/>
            </p:cNvSpPr>
            <p:nvPr/>
          </p:nvSpPr>
          <p:spPr bwMode="auto">
            <a:xfrm>
              <a:off x="1294" y="3510"/>
              <a:ext cx="0" cy="0"/>
            </a:xfrm>
            <a:prstGeom prst="line">
              <a:avLst/>
            </a:prstGeom>
            <a:noFill/>
            <a:ln w="38100">
              <a:solidFill>
                <a:srgbClr val="FFFF00"/>
              </a:solidFill>
              <a:round/>
              <a:headEnd type="none" w="sm" len="sm"/>
              <a:tailEnd type="none" w="sm" len="sm"/>
            </a:ln>
          </p:spPr>
          <p:txBody>
            <a:bodyPr wrap="none" anchor="ctr"/>
            <a:lstStyle/>
            <a:p>
              <a:endParaRPr lang="zh-CN" altLang="en-US"/>
            </a:p>
          </p:txBody>
        </p:sp>
        <p:sp>
          <p:nvSpPr>
            <p:cNvPr id="49167" name="Rectangle 2062"/>
            <p:cNvSpPr>
              <a:spLocks noChangeArrowheads="1"/>
            </p:cNvSpPr>
            <p:nvPr/>
          </p:nvSpPr>
          <p:spPr bwMode="auto">
            <a:xfrm>
              <a:off x="1259" y="3510"/>
              <a:ext cx="677" cy="122"/>
            </a:xfrm>
            <a:prstGeom prst="rect">
              <a:avLst/>
            </a:prstGeom>
            <a:noFill/>
            <a:ln w="38100">
              <a:solidFill>
                <a:srgbClr val="FFFF00"/>
              </a:solidFill>
              <a:miter lim="800000"/>
              <a:headEnd type="none" w="sm" len="sm"/>
              <a:tailEnd type="none" w="sm" len="sm"/>
            </a:ln>
          </p:spPr>
          <p:txBody>
            <a:bodyPr wrap="none" anchor="ctr"/>
            <a:lstStyle/>
            <a:p>
              <a:endParaRPr lang="zh-CN" altLang="en-US"/>
            </a:p>
          </p:txBody>
        </p:sp>
        <p:sp>
          <p:nvSpPr>
            <p:cNvPr id="49168" name="Rectangle 2063"/>
            <p:cNvSpPr>
              <a:spLocks noChangeArrowheads="1"/>
            </p:cNvSpPr>
            <p:nvPr/>
          </p:nvSpPr>
          <p:spPr bwMode="auto">
            <a:xfrm>
              <a:off x="1330" y="3387"/>
              <a:ext cx="499" cy="123"/>
            </a:xfrm>
            <a:prstGeom prst="rect">
              <a:avLst/>
            </a:prstGeom>
            <a:noFill/>
            <a:ln w="38100">
              <a:solidFill>
                <a:srgbClr val="FFFF00"/>
              </a:solidFill>
              <a:miter lim="800000"/>
              <a:headEnd type="none" w="sm" len="sm"/>
              <a:tailEnd type="none" w="sm" len="sm"/>
            </a:ln>
          </p:spPr>
          <p:txBody>
            <a:bodyPr wrap="none" anchor="ctr"/>
            <a:lstStyle/>
            <a:p>
              <a:endParaRPr lang="zh-CN" altLang="en-US"/>
            </a:p>
          </p:txBody>
        </p:sp>
        <p:sp>
          <p:nvSpPr>
            <p:cNvPr id="49169" name="Rectangle 2064"/>
            <p:cNvSpPr>
              <a:spLocks noChangeArrowheads="1"/>
            </p:cNvSpPr>
            <p:nvPr/>
          </p:nvSpPr>
          <p:spPr bwMode="auto">
            <a:xfrm>
              <a:off x="1401" y="3265"/>
              <a:ext cx="321" cy="122"/>
            </a:xfrm>
            <a:prstGeom prst="rect">
              <a:avLst/>
            </a:prstGeom>
            <a:noFill/>
            <a:ln w="38100">
              <a:solidFill>
                <a:srgbClr val="FFFF00"/>
              </a:solidFill>
              <a:miter lim="800000"/>
              <a:headEnd type="none" w="sm" len="sm"/>
              <a:tailEnd type="none" w="sm" len="sm"/>
            </a:ln>
          </p:spPr>
          <p:txBody>
            <a:bodyPr wrap="none" anchor="ctr"/>
            <a:lstStyle/>
            <a:p>
              <a:endParaRPr lang="zh-CN" altLang="en-US"/>
            </a:p>
          </p:txBody>
        </p:sp>
        <p:sp>
          <p:nvSpPr>
            <p:cNvPr id="49170" name="Rectangle 2065"/>
            <p:cNvSpPr>
              <a:spLocks noChangeArrowheads="1"/>
            </p:cNvSpPr>
            <p:nvPr/>
          </p:nvSpPr>
          <p:spPr bwMode="auto">
            <a:xfrm>
              <a:off x="1473" y="3142"/>
              <a:ext cx="214" cy="123"/>
            </a:xfrm>
            <a:prstGeom prst="rect">
              <a:avLst/>
            </a:prstGeom>
            <a:noFill/>
            <a:ln w="38100">
              <a:solidFill>
                <a:srgbClr val="FFFF00"/>
              </a:solidFill>
              <a:miter lim="800000"/>
              <a:headEnd type="none" w="sm" len="sm"/>
              <a:tailEnd type="none" w="sm" len="sm"/>
            </a:ln>
          </p:spPr>
          <p:txBody>
            <a:bodyPr wrap="none" anchor="ctr"/>
            <a:lstStyle/>
            <a:p>
              <a:endParaRPr lang="zh-CN" altLang="en-US"/>
            </a:p>
          </p:txBody>
        </p:sp>
        <p:sp>
          <p:nvSpPr>
            <p:cNvPr id="49171" name="Rectangle 2066"/>
            <p:cNvSpPr>
              <a:spLocks noChangeArrowheads="1"/>
            </p:cNvSpPr>
            <p:nvPr/>
          </p:nvSpPr>
          <p:spPr bwMode="auto">
            <a:xfrm>
              <a:off x="1544" y="3060"/>
              <a:ext cx="71" cy="82"/>
            </a:xfrm>
            <a:prstGeom prst="rect">
              <a:avLst/>
            </a:prstGeom>
            <a:noFill/>
            <a:ln w="38100">
              <a:solidFill>
                <a:srgbClr val="FFFF00"/>
              </a:solidFill>
              <a:miter lim="800000"/>
              <a:headEnd type="none" w="sm" len="sm"/>
              <a:tailEnd type="none" w="sm" len="sm"/>
            </a:ln>
          </p:spPr>
          <p:txBody>
            <a:bodyPr wrap="none" anchor="ctr"/>
            <a:lstStyle/>
            <a:p>
              <a:endParaRPr lang="zh-CN" altLang="en-US"/>
            </a:p>
          </p:txBody>
        </p:sp>
        <p:sp>
          <p:nvSpPr>
            <p:cNvPr id="49172" name="Text Box 2067"/>
            <p:cNvSpPr txBox="1">
              <a:spLocks noChangeArrowheads="1"/>
            </p:cNvSpPr>
            <p:nvPr/>
          </p:nvSpPr>
          <p:spPr bwMode="auto">
            <a:xfrm>
              <a:off x="1401" y="3734"/>
              <a:ext cx="429" cy="291"/>
            </a:xfrm>
            <a:prstGeom prst="rect">
              <a:avLst/>
            </a:prstGeom>
            <a:noFill/>
            <a:ln w="38100">
              <a:noFill/>
              <a:miter lim="800000"/>
              <a:headEnd type="none" w="sm" len="sm"/>
              <a:tailEnd type="none" w="sm" len="sm"/>
            </a:ln>
          </p:spPr>
          <p:txBody>
            <a:bodyPr>
              <a:spAutoFit/>
            </a:bodyPr>
            <a:lstStyle/>
            <a:p>
              <a:pPr algn="ctr"/>
              <a:r>
                <a:rPr lang="en-US" altLang="zh-CN" b="1" dirty="0">
                  <a:solidFill>
                    <a:srgbClr val="FFFF00"/>
                  </a:solidFill>
                  <a:latin typeface="+mn-lt"/>
                  <a:ea typeface="宋体" panose="02010600030101010101" pitchFamily="2" charset="-122"/>
                </a:rPr>
                <a:t>A</a:t>
              </a:r>
              <a:endParaRPr lang="en-US" altLang="zh-CN" b="1" dirty="0">
                <a:solidFill>
                  <a:srgbClr val="FFFF00"/>
                </a:solidFill>
                <a:latin typeface="+mn-lt"/>
                <a:ea typeface="宋体" panose="02010600030101010101" pitchFamily="2" charset="-122"/>
              </a:endParaRPr>
            </a:p>
          </p:txBody>
        </p:sp>
        <p:sp>
          <p:nvSpPr>
            <p:cNvPr id="49173" name="Text Box 2068"/>
            <p:cNvSpPr txBox="1">
              <a:spLocks noChangeArrowheads="1"/>
            </p:cNvSpPr>
            <p:nvPr/>
          </p:nvSpPr>
          <p:spPr bwMode="auto">
            <a:xfrm>
              <a:off x="2755" y="3734"/>
              <a:ext cx="428" cy="291"/>
            </a:xfrm>
            <a:prstGeom prst="rect">
              <a:avLst/>
            </a:prstGeom>
            <a:noFill/>
            <a:ln w="38100">
              <a:noFill/>
              <a:miter lim="800000"/>
              <a:headEnd type="none" w="sm" len="sm"/>
              <a:tailEnd type="none" w="sm" len="sm"/>
            </a:ln>
          </p:spPr>
          <p:txBody>
            <a:bodyPr>
              <a:spAutoFit/>
            </a:bodyPr>
            <a:lstStyle/>
            <a:p>
              <a:pPr algn="ctr"/>
              <a:r>
                <a:rPr lang="en-US" altLang="zh-CN" b="1" dirty="0">
                  <a:solidFill>
                    <a:srgbClr val="FFFF00"/>
                  </a:solidFill>
                  <a:latin typeface="+mn-lt"/>
                  <a:ea typeface="宋体" panose="02010600030101010101" pitchFamily="2" charset="-122"/>
                </a:rPr>
                <a:t>B</a:t>
              </a:r>
              <a:endParaRPr lang="en-US" altLang="zh-CN" b="1" dirty="0">
                <a:solidFill>
                  <a:srgbClr val="FFFF00"/>
                </a:solidFill>
                <a:latin typeface="+mn-lt"/>
                <a:ea typeface="宋体" panose="02010600030101010101" pitchFamily="2" charset="-122"/>
              </a:endParaRPr>
            </a:p>
          </p:txBody>
        </p:sp>
        <p:sp>
          <p:nvSpPr>
            <p:cNvPr id="49174" name="Text Box 2069"/>
            <p:cNvSpPr txBox="1">
              <a:spLocks noChangeArrowheads="1"/>
            </p:cNvSpPr>
            <p:nvPr/>
          </p:nvSpPr>
          <p:spPr bwMode="auto">
            <a:xfrm>
              <a:off x="4039" y="3734"/>
              <a:ext cx="390" cy="291"/>
            </a:xfrm>
            <a:prstGeom prst="rect">
              <a:avLst/>
            </a:prstGeom>
            <a:noFill/>
            <a:ln w="38100">
              <a:noFill/>
              <a:miter lim="800000"/>
              <a:headEnd type="none" w="sm" len="sm"/>
              <a:tailEnd type="none" w="sm" len="sm"/>
            </a:ln>
          </p:spPr>
          <p:txBody>
            <a:bodyPr>
              <a:spAutoFit/>
            </a:bodyPr>
            <a:lstStyle/>
            <a:p>
              <a:pPr algn="ctr"/>
              <a:r>
                <a:rPr lang="en-US" altLang="zh-CN" b="1">
                  <a:solidFill>
                    <a:srgbClr val="FFFF00"/>
                  </a:solidFill>
                  <a:latin typeface="+mn-lt"/>
                  <a:ea typeface="宋体" panose="02010600030101010101" pitchFamily="2" charset="-122"/>
                </a:rPr>
                <a:t>C</a:t>
              </a:r>
              <a:endParaRPr lang="en-US" altLang="zh-CN" b="1">
                <a:solidFill>
                  <a:srgbClr val="FFFF00"/>
                </a:solidFill>
                <a:latin typeface="+mn-lt"/>
                <a:ea typeface="宋体" panose="02010600030101010101" pitchFamily="2" charset="-122"/>
              </a:endParaRPr>
            </a:p>
          </p:txBody>
        </p:sp>
      </p:gr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例</a:t>
            </a:r>
            <a:r>
              <a:rPr lang="en-US" altLang="zh-CN" smtClean="0"/>
              <a:t>3-10</a:t>
            </a:r>
            <a:r>
              <a:rPr lang="zh-CN" altLang="en-US" smtClean="0"/>
              <a:t>（续）</a:t>
            </a:r>
            <a:endParaRPr lang="zh-CN" altLang="en-US" smtClean="0"/>
          </a:p>
        </p:txBody>
      </p:sp>
      <p:sp>
        <p:nvSpPr>
          <p:cNvPr id="50179" name="内容占位符 2"/>
          <p:cNvSpPr>
            <a:spLocks noGrp="1"/>
          </p:cNvSpPr>
          <p:nvPr>
            <p:ph idx="1"/>
          </p:nvPr>
        </p:nvSpPr>
        <p:spPr>
          <a:xfrm>
            <a:off x="683568" y="1124744"/>
            <a:ext cx="7886700" cy="4351338"/>
          </a:xfrm>
        </p:spPr>
        <p:txBody>
          <a:bodyPr/>
          <a:lstStyle/>
          <a:p>
            <a:pPr eaLnBrk="1" hangingPunct="1">
              <a:lnSpc>
                <a:spcPct val="120000"/>
              </a:lnSpc>
              <a:buNone/>
              <a:defRPr/>
            </a:pPr>
            <a:r>
              <a:rPr lang="zh-CN" altLang="en-US" sz="2400" b="1" dirty="0" smtClean="0">
                <a:latin typeface="微软雅黑" panose="020B0503020204020204" pitchFamily="34" charset="-122"/>
                <a:ea typeface="微软雅黑" panose="020B0503020204020204" pitchFamily="34" charset="-122"/>
              </a:rPr>
              <a:t>分析：</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zh-CN" altLang="en-US" sz="2400" b="1" dirty="0" smtClean="0">
                <a:latin typeface="微软雅黑" panose="020B0503020204020204" pitchFamily="34" charset="-122"/>
                <a:ea typeface="微软雅黑" panose="020B0503020204020204" pitchFamily="34" charset="-122"/>
              </a:rPr>
              <a:t>将</a:t>
            </a:r>
            <a:r>
              <a:rPr lang="en-US" altLang="zh-CN" sz="2400" b="1" dirty="0" smtClean="0">
                <a:latin typeface="微软雅黑" panose="020B0503020204020204" pitchFamily="34" charset="-122"/>
                <a:ea typeface="微软雅黑" panose="020B0503020204020204" pitchFamily="34" charset="-122"/>
              </a:rPr>
              <a:t>n </a:t>
            </a:r>
            <a:r>
              <a:rPr lang="zh-CN" altLang="en-US" sz="2400" b="1" dirty="0" smtClean="0">
                <a:latin typeface="微软雅黑" panose="020B0503020204020204" pitchFamily="34" charset="-122"/>
                <a:ea typeface="微软雅黑" panose="020B0503020204020204" pitchFamily="34" charset="-122"/>
              </a:rPr>
              <a:t>个盘子从</a:t>
            </a:r>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针移到</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针可以分解为下面三个步骤：</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zh-CN" altLang="en-US" sz="2400" b="1" dirty="0" smtClean="0">
                <a:latin typeface="微软雅黑" panose="020B0503020204020204" pitchFamily="34" charset="-122"/>
                <a:ea typeface="微软雅黑" panose="020B0503020204020204" pitchFamily="34" charset="-122"/>
              </a:rPr>
              <a:t>①将</a:t>
            </a:r>
            <a:r>
              <a:rPr lang="en-US" altLang="zh-CN" sz="2400" b="1" dirty="0" smtClean="0">
                <a:latin typeface="微软雅黑" panose="020B0503020204020204" pitchFamily="34" charset="-122"/>
                <a:ea typeface="微软雅黑" panose="020B0503020204020204" pitchFamily="34" charset="-122"/>
              </a:rPr>
              <a:t>A </a:t>
            </a:r>
            <a:r>
              <a:rPr lang="zh-CN" altLang="en-US" sz="2400" b="1" dirty="0" smtClean="0">
                <a:latin typeface="微软雅黑" panose="020B0503020204020204" pitchFamily="34" charset="-122"/>
                <a:ea typeface="微软雅黑" panose="020B0503020204020204" pitchFamily="34" charset="-122"/>
              </a:rPr>
              <a:t>上</a:t>
            </a:r>
            <a:r>
              <a:rPr lang="en-US" altLang="zh-CN" sz="2400" b="1" dirty="0" smtClean="0">
                <a:latin typeface="微软雅黑" panose="020B0503020204020204" pitchFamily="34" charset="-122"/>
                <a:ea typeface="微软雅黑" panose="020B0503020204020204" pitchFamily="34" charset="-122"/>
              </a:rPr>
              <a:t>n-1</a:t>
            </a:r>
            <a:r>
              <a:rPr lang="zh-CN" altLang="en-US" sz="2400" b="1" dirty="0" smtClean="0">
                <a:latin typeface="微软雅黑" panose="020B0503020204020204" pitchFamily="34" charset="-122"/>
                <a:ea typeface="微软雅黑" panose="020B0503020204020204" pitchFamily="34" charset="-122"/>
              </a:rPr>
              <a:t>个盘子移到 </a:t>
            </a:r>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针上（借助</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针）</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en-US" altLang="zh-CN" sz="2400" b="1" dirty="0" smtClean="0">
                <a:latin typeface="微软雅黑" panose="020B0503020204020204" pitchFamily="34" charset="-122"/>
                <a:ea typeface="微软雅黑" panose="020B0503020204020204" pitchFamily="34" charset="-122"/>
              </a:rPr>
              <a:t>②</a:t>
            </a:r>
            <a:r>
              <a:rPr lang="zh-CN" altLang="en-US" sz="2400" b="1" dirty="0" smtClean="0">
                <a:latin typeface="微软雅黑" panose="020B0503020204020204" pitchFamily="34" charset="-122"/>
                <a:ea typeface="微软雅黑" panose="020B0503020204020204" pitchFamily="34" charset="-122"/>
              </a:rPr>
              <a:t>把</a:t>
            </a:r>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针上剩下的一个盘子移到</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针上</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en-US" altLang="zh-CN" sz="2400" b="1" dirty="0" smtClean="0">
                <a:latin typeface="微软雅黑" panose="020B0503020204020204" pitchFamily="34" charset="-122"/>
                <a:ea typeface="微软雅黑" panose="020B0503020204020204" pitchFamily="34" charset="-122"/>
              </a:rPr>
              <a:t>③</a:t>
            </a:r>
            <a:r>
              <a:rPr lang="zh-CN" altLang="en-US" sz="2400" b="1" dirty="0" smtClean="0">
                <a:latin typeface="微软雅黑" panose="020B0503020204020204" pitchFamily="34" charset="-122"/>
                <a:ea typeface="微软雅黑" panose="020B0503020204020204" pitchFamily="34" charset="-122"/>
              </a:rPr>
              <a:t>将</a:t>
            </a:r>
            <a:r>
              <a:rPr lang="en-US" altLang="zh-CN" sz="2400" b="1" dirty="0" smtClean="0">
                <a:latin typeface="微软雅黑" panose="020B0503020204020204" pitchFamily="34" charset="-122"/>
                <a:ea typeface="微软雅黑" panose="020B0503020204020204" pitchFamily="34" charset="-122"/>
              </a:rPr>
              <a:t>n-1</a:t>
            </a:r>
            <a:r>
              <a:rPr lang="zh-CN" altLang="en-US" sz="2400" b="1" dirty="0" smtClean="0">
                <a:latin typeface="微软雅黑" panose="020B0503020204020204" pitchFamily="34" charset="-122"/>
                <a:ea typeface="微软雅黑" panose="020B0503020204020204" pitchFamily="34" charset="-122"/>
              </a:rPr>
              <a:t>个盘子从</a:t>
            </a:r>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针移到</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针上（借助</a:t>
            </a:r>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针）</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20000"/>
              </a:lnSpc>
              <a:spcBef>
                <a:spcPts val="2400"/>
              </a:spcBef>
              <a:buNone/>
              <a:defRPr/>
            </a:pPr>
            <a:r>
              <a:rPr lang="zh-CN" altLang="en-US" sz="2400" b="1" dirty="0" smtClean="0">
                <a:latin typeface="微软雅黑" panose="020B0503020204020204" pitchFamily="34" charset="-122"/>
                <a:ea typeface="微软雅黑" panose="020B0503020204020204" pitchFamily="34" charset="-122"/>
              </a:rPr>
              <a:t>事实上，上面三个步骤包含两种操作：</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zh-CN" altLang="en-US" sz="2400" b="1" dirty="0" smtClean="0">
                <a:latin typeface="微软雅黑" panose="020B0503020204020204" pitchFamily="34" charset="-122"/>
                <a:ea typeface="微软雅黑" panose="020B0503020204020204" pitchFamily="34" charset="-122"/>
              </a:rPr>
              <a:t>①将多个盘子从一个针移到另一个针上，这是一个递归的过程。 </a:t>
            </a:r>
            <a:r>
              <a:rPr lang="en-US" altLang="zh-CN" sz="2400" b="1" dirty="0" smtClean="0">
                <a:latin typeface="微软雅黑" panose="020B0503020204020204" pitchFamily="34" charset="-122"/>
                <a:ea typeface="微软雅黑" panose="020B0503020204020204" pitchFamily="34" charset="-122"/>
              </a:rPr>
              <a:t>hanoi</a:t>
            </a:r>
            <a:r>
              <a:rPr lang="zh-CN" altLang="en-US" sz="2400" b="1" dirty="0" smtClean="0">
                <a:latin typeface="微软雅黑" panose="020B0503020204020204" pitchFamily="34" charset="-122"/>
                <a:ea typeface="微软雅黑" panose="020B0503020204020204" pitchFamily="34" charset="-122"/>
              </a:rPr>
              <a:t>函数实现。</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buNone/>
              <a:defRPr/>
            </a:pPr>
            <a:r>
              <a:rPr lang="zh-CN" altLang="en-US" sz="2400" b="1" dirty="0" smtClean="0">
                <a:latin typeface="微软雅黑" panose="020B0503020204020204" pitchFamily="34" charset="-122"/>
                <a:ea typeface="微软雅黑" panose="020B0503020204020204" pitchFamily="34" charset="-122"/>
              </a:rPr>
              <a:t>②将</a:t>
            </a:r>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个盘子从一个针上移到另一针上。</a:t>
            </a:r>
            <a:br>
              <a:rPr lang="zh-CN" altLang="en-US" sz="2400" b="1" dirty="0" smtClean="0">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用</a:t>
            </a:r>
            <a:r>
              <a:rPr lang="en-US" altLang="zh-CN" sz="2400" b="1" dirty="0" smtClean="0">
                <a:latin typeface="微软雅黑" panose="020B0503020204020204" pitchFamily="34" charset="-122"/>
                <a:ea typeface="微软雅黑" panose="020B0503020204020204" pitchFamily="34" charset="-122"/>
              </a:rPr>
              <a:t>move</a:t>
            </a:r>
            <a:r>
              <a:rPr lang="zh-CN" altLang="en-US" sz="2400" b="1" dirty="0" smtClean="0">
                <a:latin typeface="微软雅黑" panose="020B0503020204020204" pitchFamily="34" charset="-122"/>
                <a:ea typeface="微软雅黑" panose="020B0503020204020204" pitchFamily="34" charset="-122"/>
              </a:rPr>
              <a:t>函数实现。</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571500"/>
            <a:ext cx="8858250" cy="6286500"/>
          </a:xfrm>
          <a:solidFill>
            <a:schemeClr val="tx1"/>
          </a:solidFill>
        </p:spPr>
        <p:txBody>
          <a:bodyPr>
            <a:noAutofit/>
          </a:bodyPr>
          <a:lstStyle/>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#include &lt;</a:t>
            </a:r>
            <a:r>
              <a:rPr lang="en-US" altLang="zh-CN" sz="2400" b="1" dirty="0" err="1" smtClean="0">
                <a:solidFill>
                  <a:srgbClr val="000000"/>
                </a:solidFill>
                <a:ea typeface="+mj-ea"/>
              </a:rPr>
              <a:t>iostream</a:t>
            </a:r>
            <a:r>
              <a:rPr lang="en-US" altLang="zh-CN" sz="2400" b="1" dirty="0" smtClean="0">
                <a:solidFill>
                  <a:srgbClr val="000000"/>
                </a:solidFill>
                <a:ea typeface="+mj-ea"/>
              </a:rPr>
              <a:t>&gt;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a:t>
            </a:r>
            <a:r>
              <a:rPr lang="zh-CN" altLang="en-US" sz="2400" b="1" dirty="0" smtClean="0">
                <a:solidFill>
                  <a:srgbClr val="000000"/>
                </a:solidFill>
                <a:ea typeface="+mj-ea"/>
              </a:rPr>
              <a:t>把</a:t>
            </a:r>
            <a:r>
              <a:rPr lang="en-US" altLang="zh-CN" sz="2400" b="1" dirty="0" err="1" smtClean="0">
                <a:solidFill>
                  <a:srgbClr val="000000"/>
                </a:solidFill>
                <a:ea typeface="+mj-ea"/>
              </a:rPr>
              <a:t>src</a:t>
            </a:r>
            <a:r>
              <a:rPr lang="zh-CN" altLang="en-US" sz="2400" b="1" dirty="0" smtClean="0">
                <a:solidFill>
                  <a:srgbClr val="000000"/>
                </a:solidFill>
                <a:ea typeface="+mj-ea"/>
              </a:rPr>
              <a:t>针的最上面一个盘子移动到</a:t>
            </a:r>
            <a:r>
              <a:rPr lang="en-US" altLang="zh-CN" sz="2400" b="1" dirty="0" err="1" smtClean="0">
                <a:solidFill>
                  <a:srgbClr val="000000"/>
                </a:solidFill>
                <a:ea typeface="+mj-ea"/>
              </a:rPr>
              <a:t>dest</a:t>
            </a:r>
            <a:r>
              <a:rPr lang="zh-CN" altLang="en-US" sz="2400" b="1" dirty="0" smtClean="0">
                <a:solidFill>
                  <a:srgbClr val="000000"/>
                </a:solidFill>
                <a:ea typeface="+mj-ea"/>
              </a:rPr>
              <a:t>针上</a:t>
            </a:r>
            <a:endParaRPr lang="zh-CN" altLang="en-US"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void move(char </a:t>
            </a:r>
            <a:r>
              <a:rPr lang="en-US" altLang="zh-CN" sz="2400" b="1" dirty="0" err="1" smtClean="0">
                <a:solidFill>
                  <a:srgbClr val="000000"/>
                </a:solidFill>
                <a:ea typeface="+mj-ea"/>
              </a:rPr>
              <a:t>src</a:t>
            </a:r>
            <a:r>
              <a:rPr lang="en-US" altLang="zh-CN" sz="2400" b="1" dirty="0" smtClean="0">
                <a:solidFill>
                  <a:srgbClr val="000000"/>
                </a:solidFill>
                <a:ea typeface="+mj-ea"/>
              </a:rPr>
              <a:t>, char </a:t>
            </a:r>
            <a:r>
              <a:rPr lang="en-US" altLang="zh-CN" sz="2400" b="1" dirty="0" err="1" smtClean="0">
                <a:solidFill>
                  <a:srgbClr val="000000"/>
                </a:solidFill>
                <a:ea typeface="+mj-ea"/>
              </a:rPr>
              <a:t>dest</a:t>
            </a:r>
            <a:r>
              <a:rPr lang="en-US" altLang="zh-CN" sz="2400" b="1" dirty="0" smtClean="0">
                <a:solidFill>
                  <a:srgbClr val="000000"/>
                </a:solidFill>
                <a:ea typeface="+mj-ea"/>
              </a:rPr>
              <a:t>) { </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cout</a:t>
            </a:r>
            <a:r>
              <a:rPr lang="en-US" altLang="zh-CN" sz="2400" b="1" dirty="0" smtClean="0">
                <a:solidFill>
                  <a:srgbClr val="000000"/>
                </a:solidFill>
                <a:ea typeface="+mj-ea"/>
              </a:rPr>
              <a:t> &lt;&lt; </a:t>
            </a:r>
            <a:r>
              <a:rPr lang="en-US" altLang="zh-CN" sz="2400" b="1" dirty="0" err="1" smtClean="0">
                <a:solidFill>
                  <a:srgbClr val="000000"/>
                </a:solidFill>
                <a:ea typeface="+mj-ea"/>
              </a:rPr>
              <a:t>src</a:t>
            </a:r>
            <a:r>
              <a:rPr lang="en-US" altLang="zh-CN" sz="2400" b="1" dirty="0" smtClean="0">
                <a:solidFill>
                  <a:srgbClr val="000000"/>
                </a:solidFill>
                <a:ea typeface="+mj-ea"/>
              </a:rPr>
              <a:t> &lt;&lt; " --&gt; " &lt;&lt; </a:t>
            </a:r>
            <a:r>
              <a:rPr lang="en-US" altLang="zh-CN" sz="2400" b="1" dirty="0" err="1" smtClean="0">
                <a:solidFill>
                  <a:srgbClr val="000000"/>
                </a:solidFill>
                <a:ea typeface="+mj-ea"/>
              </a:rPr>
              <a:t>dest</a:t>
            </a:r>
            <a:r>
              <a:rPr lang="en-US" altLang="zh-CN" sz="2400" b="1" dirty="0" smtClean="0">
                <a:solidFill>
                  <a:srgbClr val="000000"/>
                </a:solidFill>
                <a:ea typeface="+mj-ea"/>
              </a:rPr>
              <a:t> &lt;&lt; </a:t>
            </a:r>
            <a:r>
              <a:rPr lang="en-US" altLang="zh-CN" sz="2400" b="1" dirty="0" err="1" smtClean="0">
                <a:solidFill>
                  <a:srgbClr val="000000"/>
                </a:solidFill>
                <a:ea typeface="+mj-ea"/>
              </a:rPr>
              <a:t>endl</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a:t>
            </a:r>
            <a:r>
              <a:rPr lang="zh-CN" altLang="en-US" sz="2400" b="1" dirty="0" smtClean="0">
                <a:solidFill>
                  <a:srgbClr val="000000"/>
                </a:solidFill>
                <a:ea typeface="+mj-ea"/>
              </a:rPr>
              <a:t>把</a:t>
            </a:r>
            <a:r>
              <a:rPr lang="en-US" altLang="zh-CN" sz="2400" b="1" dirty="0" smtClean="0">
                <a:solidFill>
                  <a:srgbClr val="000000"/>
                </a:solidFill>
                <a:ea typeface="+mj-ea"/>
              </a:rPr>
              <a:t>n</a:t>
            </a:r>
            <a:r>
              <a:rPr lang="zh-CN" altLang="en-US" sz="2400" b="1" dirty="0" smtClean="0">
                <a:solidFill>
                  <a:srgbClr val="000000"/>
                </a:solidFill>
                <a:ea typeface="+mj-ea"/>
              </a:rPr>
              <a:t>个盘子从</a:t>
            </a:r>
            <a:r>
              <a:rPr lang="en-US" altLang="zh-CN" sz="2400" b="1" dirty="0" err="1" smtClean="0">
                <a:solidFill>
                  <a:srgbClr val="000000"/>
                </a:solidFill>
                <a:ea typeface="+mj-ea"/>
              </a:rPr>
              <a:t>src</a:t>
            </a:r>
            <a:r>
              <a:rPr lang="zh-CN" altLang="en-US" sz="2400" b="1" dirty="0" smtClean="0">
                <a:solidFill>
                  <a:srgbClr val="000000"/>
                </a:solidFill>
                <a:ea typeface="+mj-ea"/>
              </a:rPr>
              <a:t>针移动到</a:t>
            </a:r>
            <a:r>
              <a:rPr lang="en-US" altLang="zh-CN" sz="2400" b="1" dirty="0" err="1" smtClean="0">
                <a:solidFill>
                  <a:srgbClr val="000000"/>
                </a:solidFill>
                <a:ea typeface="+mj-ea"/>
              </a:rPr>
              <a:t>dest</a:t>
            </a:r>
            <a:r>
              <a:rPr lang="zh-CN" altLang="en-US" sz="2400" b="1" dirty="0" smtClean="0">
                <a:solidFill>
                  <a:srgbClr val="000000"/>
                </a:solidFill>
                <a:ea typeface="+mj-ea"/>
              </a:rPr>
              <a:t>针，以</a:t>
            </a:r>
            <a:r>
              <a:rPr lang="en-US" altLang="zh-CN" sz="2400" b="1" dirty="0" smtClean="0">
                <a:solidFill>
                  <a:srgbClr val="000000"/>
                </a:solidFill>
                <a:ea typeface="+mj-ea"/>
              </a:rPr>
              <a:t>medium</a:t>
            </a:r>
            <a:r>
              <a:rPr lang="zh-CN" altLang="en-US" sz="2400" b="1" dirty="0" smtClean="0">
                <a:solidFill>
                  <a:srgbClr val="000000"/>
                </a:solidFill>
                <a:ea typeface="+mj-ea"/>
              </a:rPr>
              <a:t>针作为中介</a:t>
            </a:r>
            <a:endParaRPr lang="zh-CN" altLang="en-US"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void </a:t>
            </a:r>
            <a:r>
              <a:rPr lang="en-US" altLang="zh-CN" sz="2400" b="1" dirty="0" err="1" smtClean="0">
                <a:solidFill>
                  <a:srgbClr val="000000"/>
                </a:solidFill>
                <a:ea typeface="+mj-ea"/>
              </a:rPr>
              <a:t>hanoi</a:t>
            </a:r>
            <a:r>
              <a:rPr lang="en-US" altLang="zh-CN" sz="2400" b="1" dirty="0" smtClean="0">
                <a:solidFill>
                  <a:srgbClr val="000000"/>
                </a:solidFill>
                <a:ea typeface="+mj-ea"/>
              </a:rPr>
              <a:t>(</a:t>
            </a:r>
            <a:r>
              <a:rPr lang="en-US" altLang="zh-CN" sz="2400" b="1" dirty="0" err="1" smtClean="0">
                <a:solidFill>
                  <a:srgbClr val="000000"/>
                </a:solidFill>
                <a:ea typeface="+mj-ea"/>
              </a:rPr>
              <a:t>int</a:t>
            </a:r>
            <a:r>
              <a:rPr lang="en-US" altLang="zh-CN" sz="2400" b="1" dirty="0" smtClean="0">
                <a:solidFill>
                  <a:srgbClr val="000000"/>
                </a:solidFill>
                <a:ea typeface="+mj-ea"/>
              </a:rPr>
              <a:t> n, char </a:t>
            </a:r>
            <a:r>
              <a:rPr lang="en-US" altLang="zh-CN" sz="2400" b="1" dirty="0" err="1" smtClean="0">
                <a:solidFill>
                  <a:srgbClr val="000000"/>
                </a:solidFill>
                <a:ea typeface="+mj-ea"/>
              </a:rPr>
              <a:t>src</a:t>
            </a:r>
            <a:r>
              <a:rPr lang="en-US" altLang="zh-CN" sz="2400" b="1" dirty="0" smtClean="0">
                <a:solidFill>
                  <a:srgbClr val="000000"/>
                </a:solidFill>
                <a:ea typeface="+mj-ea"/>
              </a:rPr>
              <a:t>, char medium, char </a:t>
            </a:r>
            <a:r>
              <a:rPr lang="en-US" altLang="zh-CN" sz="2400" b="1" dirty="0" err="1" smtClean="0">
                <a:solidFill>
                  <a:srgbClr val="000000"/>
                </a:solidFill>
                <a:ea typeface="+mj-ea"/>
              </a:rPr>
              <a:t>dest</a:t>
            </a: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if (n == 1)</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move(</a:t>
            </a:r>
            <a:r>
              <a:rPr lang="en-US" altLang="zh-CN" sz="2400" b="1" dirty="0" err="1" smtClean="0">
                <a:solidFill>
                  <a:srgbClr val="000000"/>
                </a:solidFill>
                <a:ea typeface="+mj-ea"/>
              </a:rPr>
              <a:t>src</a:t>
            </a:r>
            <a:r>
              <a:rPr lang="en-US" altLang="zh-CN" sz="2400" b="1" dirty="0" smtClean="0">
                <a:solidFill>
                  <a:srgbClr val="000000"/>
                </a:solidFill>
                <a:ea typeface="+mj-ea"/>
              </a:rPr>
              <a:t>, </a:t>
            </a:r>
            <a:r>
              <a:rPr lang="en-US" altLang="zh-CN" sz="2400" b="1" dirty="0" err="1" smtClean="0">
                <a:solidFill>
                  <a:srgbClr val="000000"/>
                </a:solidFill>
                <a:ea typeface="+mj-ea"/>
              </a:rPr>
              <a:t>dest</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else {</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hanoi</a:t>
            </a:r>
            <a:r>
              <a:rPr lang="en-US" altLang="zh-CN" sz="2400" b="1" dirty="0" smtClean="0">
                <a:solidFill>
                  <a:srgbClr val="000000"/>
                </a:solidFill>
                <a:ea typeface="+mj-ea"/>
              </a:rPr>
              <a:t>(n - 1, </a:t>
            </a:r>
            <a:r>
              <a:rPr lang="en-US" altLang="zh-CN" sz="2400" b="1" dirty="0" err="1" smtClean="0">
                <a:solidFill>
                  <a:srgbClr val="000000"/>
                </a:solidFill>
                <a:ea typeface="+mj-ea"/>
              </a:rPr>
              <a:t>src</a:t>
            </a:r>
            <a:r>
              <a:rPr lang="en-US" altLang="zh-CN" sz="2400" b="1" dirty="0" smtClean="0">
                <a:solidFill>
                  <a:srgbClr val="000000"/>
                </a:solidFill>
                <a:ea typeface="+mj-ea"/>
              </a:rPr>
              <a:t>, </a:t>
            </a:r>
            <a:r>
              <a:rPr lang="en-US" altLang="zh-CN" sz="2400" b="1" dirty="0" err="1" smtClean="0">
                <a:solidFill>
                  <a:srgbClr val="000000"/>
                </a:solidFill>
                <a:ea typeface="+mj-ea"/>
              </a:rPr>
              <a:t>dest</a:t>
            </a:r>
            <a:r>
              <a:rPr lang="en-US" altLang="zh-CN" sz="2400" b="1" dirty="0" smtClean="0">
                <a:solidFill>
                  <a:srgbClr val="000000"/>
                </a:solidFill>
                <a:ea typeface="+mj-ea"/>
              </a:rPr>
              <a:t>, medium);</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move(</a:t>
            </a:r>
            <a:r>
              <a:rPr lang="en-US" altLang="zh-CN" sz="2400" b="1" dirty="0" err="1" smtClean="0">
                <a:solidFill>
                  <a:srgbClr val="000000"/>
                </a:solidFill>
                <a:ea typeface="+mj-ea"/>
              </a:rPr>
              <a:t>src</a:t>
            </a:r>
            <a:r>
              <a:rPr lang="en-US" altLang="zh-CN" sz="2400" b="1" dirty="0" smtClean="0">
                <a:solidFill>
                  <a:srgbClr val="000000"/>
                </a:solidFill>
                <a:ea typeface="+mj-ea"/>
              </a:rPr>
              <a:t>, </a:t>
            </a:r>
            <a:r>
              <a:rPr lang="en-US" altLang="zh-CN" sz="2400" b="1" dirty="0" err="1" smtClean="0">
                <a:solidFill>
                  <a:srgbClr val="000000"/>
                </a:solidFill>
                <a:ea typeface="+mj-ea"/>
              </a:rPr>
              <a:t>dest</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a:t>
            </a:r>
            <a:r>
              <a:rPr lang="en-US" altLang="zh-CN" sz="2400" b="1" dirty="0" err="1" smtClean="0">
                <a:solidFill>
                  <a:srgbClr val="000000"/>
                </a:solidFill>
                <a:ea typeface="+mj-ea"/>
              </a:rPr>
              <a:t>hanoi</a:t>
            </a:r>
            <a:r>
              <a:rPr lang="en-US" altLang="zh-CN" sz="2400" b="1" dirty="0" smtClean="0">
                <a:solidFill>
                  <a:srgbClr val="000000"/>
                </a:solidFill>
                <a:ea typeface="+mj-ea"/>
              </a:rPr>
              <a:t>(n - 1, medium, </a:t>
            </a:r>
            <a:r>
              <a:rPr lang="en-US" altLang="zh-CN" sz="2400" b="1" dirty="0" err="1" smtClean="0">
                <a:solidFill>
                  <a:srgbClr val="000000"/>
                </a:solidFill>
                <a:ea typeface="+mj-ea"/>
              </a:rPr>
              <a:t>src</a:t>
            </a:r>
            <a:r>
              <a:rPr lang="en-US" altLang="zh-CN" sz="2400" b="1" dirty="0" smtClean="0">
                <a:solidFill>
                  <a:srgbClr val="000000"/>
                </a:solidFill>
                <a:ea typeface="+mj-ea"/>
              </a:rPr>
              <a:t>, </a:t>
            </a:r>
            <a:r>
              <a:rPr lang="en-US" altLang="zh-CN" sz="2400" b="1" dirty="0" err="1" smtClean="0">
                <a:solidFill>
                  <a:srgbClr val="000000"/>
                </a:solidFill>
                <a:ea typeface="+mj-ea"/>
              </a:rPr>
              <a:t>dest</a:t>
            </a: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	}</a:t>
            </a:r>
            <a:endParaRPr lang="en-US" altLang="zh-CN" sz="2400" b="1" dirty="0" smtClean="0">
              <a:solidFill>
                <a:srgbClr val="000000"/>
              </a:solidFill>
              <a:ea typeface="+mj-ea"/>
            </a:endParaRPr>
          </a:p>
          <a:p>
            <a:pPr marL="365760" indent="-255905" fontAlgn="auto">
              <a:lnSpc>
                <a:spcPct val="10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p:txBody>
      </p:sp>
      <p:sp>
        <p:nvSpPr>
          <p:cNvPr id="51205" name="标题 1"/>
          <p:cNvSpPr>
            <a:spLocks noGrp="1"/>
          </p:cNvSpPr>
          <p:nvPr>
            <p:ph type="title"/>
          </p:nvPr>
        </p:nvSpPr>
        <p:spPr>
          <a:xfrm>
            <a:off x="6215063" y="571500"/>
            <a:ext cx="2857500" cy="785813"/>
          </a:xfrm>
          <a:solidFill>
            <a:schemeClr val="bg1"/>
          </a:solidFill>
        </p:spPr>
        <p:txBody>
          <a:bodyPr/>
          <a:lstStyle/>
          <a:p>
            <a:pPr eaLnBrk="1" hangingPunct="1"/>
            <a:r>
              <a:rPr lang="zh-CN" altLang="en-US" smtClean="0"/>
              <a:t>例</a:t>
            </a:r>
            <a:r>
              <a:rPr lang="en-US" altLang="zh-CN" smtClean="0"/>
              <a:t>3-10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214313" y="571500"/>
            <a:ext cx="8786812" cy="6073775"/>
          </a:xfrm>
          <a:solidFill>
            <a:schemeClr val="tx1"/>
          </a:solidFill>
        </p:spPr>
        <p:txBody>
          <a:bodyPr>
            <a:noAutofit/>
          </a:bodyPr>
          <a:lstStyle/>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int m;</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cout &lt;&lt; "Enter the number of diskes: ";</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cin &gt;&gt; m;</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cout &lt;&lt; "the steps to moving " &lt;&lt; m &lt;&lt; " diskes:" &lt;&lt; endl;</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hanoi(m,'A','B','C');</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lnSpc>
                <a:spcPct val="85000"/>
              </a:lnSpc>
              <a:spcBef>
                <a:spcPts val="0"/>
              </a:spcBef>
              <a:buClr>
                <a:schemeClr val="accent3"/>
              </a:buClr>
              <a:buNone/>
              <a:defRPr/>
            </a:pPr>
            <a:endParaRPr lang="en-US" altLang="zh-CN" sz="2400" b="1" dirty="0" smtClean="0">
              <a:solidFill>
                <a:srgbClr val="000000"/>
              </a:solidFill>
              <a:ea typeface="+mj-ea"/>
            </a:endParaRPr>
          </a:p>
        </p:txBody>
      </p:sp>
      <p:sp>
        <p:nvSpPr>
          <p:cNvPr id="52229" name="标题 1"/>
          <p:cNvSpPr>
            <a:spLocks noGrp="1"/>
          </p:cNvSpPr>
          <p:nvPr>
            <p:ph type="title"/>
          </p:nvPr>
        </p:nvSpPr>
        <p:spPr>
          <a:xfrm>
            <a:off x="6215063" y="571500"/>
            <a:ext cx="2786062" cy="857250"/>
          </a:xfrm>
          <a:solidFill>
            <a:schemeClr val="bg1"/>
          </a:solidFill>
        </p:spPr>
        <p:txBody>
          <a:bodyPr/>
          <a:lstStyle/>
          <a:p>
            <a:pPr eaLnBrk="1" hangingPunct="1"/>
            <a:r>
              <a:rPr lang="zh-CN" altLang="en-US" smtClean="0"/>
              <a:t>例</a:t>
            </a:r>
            <a:r>
              <a:rPr lang="en-US" altLang="zh-CN" smtClean="0"/>
              <a:t>3-10</a:t>
            </a:r>
            <a:r>
              <a:rPr lang="zh-CN" altLang="en-US" smtClean="0"/>
              <a:t>（续）</a:t>
            </a:r>
            <a:endParaRPr lang="zh-CN" altLang="en-US" smtClean="0"/>
          </a:p>
        </p:txBody>
      </p:sp>
      <p:sp>
        <p:nvSpPr>
          <p:cNvPr id="6" name="内容占位符 6"/>
          <p:cNvSpPr txBox="1"/>
          <p:nvPr/>
        </p:nvSpPr>
        <p:spPr>
          <a:xfrm>
            <a:off x="4768602" y="2407551"/>
            <a:ext cx="4375398" cy="4450449"/>
          </a:xfrm>
          <a:prstGeom prst="rect">
            <a:avLst/>
          </a:prstGeom>
          <a:solidFill>
            <a:srgbClr val="000000"/>
          </a:solidFill>
          <a:ln w="12700" cap="sq">
            <a:noFill/>
            <a:miter lim="800000"/>
            <a:headEnd type="none" w="sm" len="sm"/>
            <a:tailEnd type="none" w="sm" len="sm"/>
          </a:ln>
        </p:spPr>
        <p:txBody>
          <a:bodyPr wrap="square">
            <a:spAutoFit/>
          </a:bodyPr>
          <a:lstStyle/>
          <a:p>
            <a:pPr marL="365760" marR="0" lvl="0" indent="-255905" algn="l" defTabSz="914400" rtl="0" eaLnBrk="1" fontAlgn="base" latinLnBrk="0" hangingPunct="1">
              <a:lnSpc>
                <a:spcPct val="100000"/>
              </a:lnSpc>
              <a:spcBef>
                <a:spcPct val="20000"/>
              </a:spcBef>
              <a:spcAft>
                <a:spcPct val="0"/>
              </a:spcAft>
              <a:buClr>
                <a:schemeClr val="accent2"/>
              </a:buClr>
              <a:buSzPct val="80000"/>
              <a:buFont typeface="Georgia" panose="02040502050405020303"/>
              <a:buNone/>
              <a:defRPr/>
            </a:pPr>
            <a:r>
              <a:rPr kumimoji="1" lang="zh-CN" altLang="en-US" sz="2400" b="1" i="0" u="none" strike="noStrike" kern="1200" cap="none" spc="0" normalizeH="0" baseline="0" noProof="0" dirty="0" smtClean="0">
                <a:ln>
                  <a:noFill/>
                </a:ln>
                <a:solidFill>
                  <a:schemeClr val="tx1"/>
                </a:solidFill>
                <a:effectLst/>
                <a:uLnTx/>
                <a:uFillTx/>
                <a:latin typeface="+mn-lt"/>
                <a:ea typeface="+mj-ea"/>
                <a:cs typeface="+mn-cs"/>
              </a:rPr>
              <a:t>运行结果：</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Enter the number of diskes:3</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the steps to moving 3 </a:t>
            </a:r>
            <a:r>
              <a:rPr kumimoji="1" lang="en-US" altLang="zh-CN" sz="2400" b="1" i="0" u="none" strike="noStrike" kern="1200" cap="none" spc="0" normalizeH="0" baseline="0" noProof="0" dirty="0" err="1" smtClean="0">
                <a:ln>
                  <a:noFill/>
                </a:ln>
                <a:solidFill>
                  <a:schemeClr val="tx1"/>
                </a:solidFill>
                <a:effectLst/>
                <a:uLnTx/>
                <a:uFillTx/>
                <a:latin typeface="+mn-lt"/>
                <a:ea typeface="+mj-ea"/>
                <a:cs typeface="+mn-cs"/>
              </a:rPr>
              <a:t>diskes</a:t>
            </a: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A --&gt; C</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A --&gt; B</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C --&gt; B</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A --&gt; C</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B --&gt; A</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B --&gt; C</a:t>
            </a:r>
            <a:endParaRPr kumimoji="1" lang="en-US" altLang="zh-CN" sz="2400" b="1" i="0" u="none" strike="noStrike" kern="1200" cap="none" spc="0" normalizeH="0" baseline="0" noProof="0" dirty="0" smtClean="0">
              <a:ln>
                <a:noFill/>
              </a:ln>
              <a:solidFill>
                <a:schemeClr val="tx1"/>
              </a:solidFill>
              <a:effectLst/>
              <a:uLnTx/>
              <a:uFillTx/>
              <a:latin typeface="+mn-lt"/>
              <a:ea typeface="+mj-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en-US" altLang="zh-CN" sz="2400" b="1" i="0" u="none" strike="noStrike" kern="1200" cap="none" spc="0" normalizeH="0" baseline="0" noProof="0" dirty="0" smtClean="0">
                <a:ln>
                  <a:noFill/>
                </a:ln>
                <a:solidFill>
                  <a:schemeClr val="tx1"/>
                </a:solidFill>
                <a:effectLst/>
                <a:uLnTx/>
                <a:uFillTx/>
                <a:latin typeface="+mn-lt"/>
                <a:ea typeface="+mj-ea"/>
                <a:cs typeface="+mn-cs"/>
              </a:rPr>
              <a:t>A --&gt; C</a:t>
            </a:r>
            <a:endParaRPr kumimoji="1" lang="zh-CN" altLang="en-US" sz="2400" b="1" i="0" u="none" strike="noStrike" kern="1200" cap="none" spc="0" normalizeH="0" baseline="0" noProof="0" dirty="0">
              <a:ln>
                <a:noFill/>
              </a:ln>
              <a:solidFill>
                <a:schemeClr val="tx1"/>
              </a:solidFill>
              <a:effectLst/>
              <a:uLnTx/>
              <a:uFillTx/>
              <a:latin typeface="+mn-lt"/>
              <a:ea typeface="+mj-ea"/>
              <a:cs typeface="+mn-cs"/>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递归过程</a:t>
            </a:r>
            <a:endParaRPr lang="zh-CN" altLang="en-US" smtClean="0"/>
          </a:p>
        </p:txBody>
      </p:sp>
      <p:pic>
        <p:nvPicPr>
          <p:cNvPr id="54275" name="内容占位符 4" descr="递归图示.jpg"/>
          <p:cNvPicPr>
            <a:picLocks noGrp="1" noChangeAspect="1"/>
          </p:cNvPicPr>
          <p:nvPr>
            <p:ph idx="1"/>
          </p:nvPr>
        </p:nvPicPr>
        <p:blipFill>
          <a:blip r:embed="rId1" cstate="print"/>
          <a:srcRect/>
          <a:stretch>
            <a:fillRect/>
          </a:stretch>
        </p:blipFill>
        <p:spPr>
          <a:xfrm>
            <a:off x="1331640" y="1268760"/>
            <a:ext cx="6192837" cy="5216525"/>
          </a:xfrm>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pPr algn="ctr"/>
            <a:r>
              <a:rPr lang="en-US" altLang="zh-CN" b="1" dirty="0" smtClean="0">
                <a:solidFill>
                  <a:srgbClr val="FFFFFF"/>
                </a:solidFill>
                <a:latin typeface="Times New Roman" panose="02020603050405020304" pitchFamily="18" charset="0"/>
                <a:ea typeface="隶书" panose="02010509060101010101" pitchFamily="49" charset="-122"/>
              </a:rPr>
              <a:t>3.1.3 </a:t>
            </a:r>
            <a:r>
              <a:rPr lang="zh-CN" altLang="en-US" b="1" dirty="0" smtClean="0">
                <a:solidFill>
                  <a:srgbClr val="FFFFFF"/>
                </a:solidFill>
                <a:latin typeface="Times New Roman" panose="02020603050405020304" pitchFamily="18" charset="0"/>
                <a:ea typeface="隶书" panose="02010509060101010101" pitchFamily="49" charset="-122"/>
              </a:rPr>
              <a:t>函数的参数传递</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sp>
        <p:nvSpPr>
          <p:cNvPr id="56323" name="内容占位符 2"/>
          <p:cNvSpPr>
            <a:spLocks noGrp="1"/>
          </p:cNvSpPr>
          <p:nvPr>
            <p:ph idx="1"/>
          </p:nvPr>
        </p:nvSpPr>
        <p:spPr>
          <a:xfrm>
            <a:off x="683568" y="1412776"/>
            <a:ext cx="7886700" cy="4351338"/>
          </a:xfrm>
        </p:spPr>
        <p:txBody>
          <a:bodyPr/>
          <a:lstStyle/>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在函数被调用时才分配形参的存储单元。</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实参可以是常量、变量或表达式。</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实参类型必须与形参相符。</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值传递是传递参数值，即单向传递。</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引用传递可以实现双向传递</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常引用作参数可以保障实参数据的安全</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403648" y="116632"/>
            <a:ext cx="7313612" cy="1143000"/>
          </a:xfrm>
          <a:noFill/>
        </p:spPr>
        <p:txBody>
          <a:bodyPr/>
          <a:lstStyle/>
          <a:p>
            <a:pPr algn="ctr" eaLnBrk="1" hangingPunct="1"/>
            <a:r>
              <a:rPr lang="en-US" altLang="zh-CN" b="1" dirty="0">
                <a:solidFill>
                  <a:srgbClr val="FFFFFF"/>
                </a:solidFill>
                <a:latin typeface="Times New Roman" panose="02020603050405020304" pitchFamily="18" charset="0"/>
                <a:ea typeface="隶书" panose="02010509060101010101" pitchFamily="49" charset="-122"/>
              </a:rPr>
              <a:t>3.1.3 </a:t>
            </a:r>
            <a:r>
              <a:rPr lang="zh-CN" altLang="en-US" b="1" dirty="0">
                <a:solidFill>
                  <a:srgbClr val="FFFFFF"/>
                </a:solidFill>
                <a:latin typeface="Times New Roman" panose="02020603050405020304" pitchFamily="18" charset="0"/>
                <a:ea typeface="隶书" panose="02010509060101010101" pitchFamily="49" charset="-122"/>
              </a:rPr>
              <a:t>函数的参数传递：</a:t>
            </a:r>
            <a:br>
              <a:rPr lang="en-US" altLang="zh-CN" b="1" dirty="0">
                <a:solidFill>
                  <a:srgbClr val="FFFFFF"/>
                </a:solidFill>
                <a:latin typeface="Times New Roman" panose="02020603050405020304" pitchFamily="18" charset="0"/>
                <a:ea typeface="隶书" panose="02010509060101010101" pitchFamily="49" charset="-122"/>
              </a:rPr>
            </a:br>
            <a:r>
              <a:rPr lang="zh-CN" altLang="en-US" b="1" dirty="0">
                <a:solidFill>
                  <a:srgbClr val="FFFFFF"/>
                </a:solidFill>
                <a:latin typeface="Times New Roman" panose="02020603050405020304" pitchFamily="18" charset="0"/>
                <a:ea typeface="隶书" panose="02010509060101010101" pitchFamily="49" charset="-122"/>
              </a:rPr>
              <a:t>模块间的数据通信方式</a:t>
            </a:r>
            <a:endParaRPr lang="zh-CN" altLang="en-US" b="1" dirty="0">
              <a:solidFill>
                <a:srgbClr val="FFFFFF"/>
              </a:solidFill>
              <a:latin typeface="Times New Roman" panose="02020603050405020304" pitchFamily="18" charset="0"/>
              <a:ea typeface="隶书" panose="02010509060101010101" pitchFamily="49" charset="-122"/>
            </a:endParaRPr>
          </a:p>
        </p:txBody>
      </p:sp>
      <p:sp>
        <p:nvSpPr>
          <p:cNvPr id="157699" name="Rectangle 3"/>
          <p:cNvSpPr>
            <a:spLocks noGrp="1" noChangeArrowheads="1"/>
          </p:cNvSpPr>
          <p:nvPr>
            <p:ph type="body" sz="half" idx="1"/>
          </p:nvPr>
        </p:nvSpPr>
        <p:spPr>
          <a:xfrm>
            <a:off x="725488" y="1444625"/>
            <a:ext cx="8602662" cy="1512887"/>
          </a:xfrm>
          <a:noFill/>
        </p:spPr>
        <p:txBody>
          <a:bodyPr/>
          <a:lstStyle/>
          <a:p>
            <a:pPr marL="0" indent="0" eaLnBrk="1" hangingPunct="1">
              <a:buFont typeface="Wingdings" panose="05000000000000000000" pitchFamily="2" charset="2"/>
              <a:buNone/>
              <a:tabLst>
                <a:tab pos="266700" algn="l"/>
              </a:tabLst>
            </a:pPr>
            <a:r>
              <a:rPr lang="zh-CN" altLang="en-US" sz="2800" b="1" dirty="0" smtClean="0">
                <a:solidFill>
                  <a:srgbClr val="FFFF00"/>
                </a:solidFill>
                <a:latin typeface="Times New Roman" panose="02020603050405020304" pitchFamily="18" charset="0"/>
                <a:ea typeface="华文楷体" panose="02010600040101010101" pitchFamily="2" charset="-122"/>
              </a:rPr>
              <a:t>主调函数与被调函数之间的三种数据通信方式：</a:t>
            </a:r>
            <a:endParaRPr lang="zh-CN" altLang="en-US" sz="2800" b="1" dirty="0" smtClean="0">
              <a:solidFill>
                <a:srgbClr val="FFFF00"/>
              </a:solidFill>
              <a:latin typeface="Times New Roman" panose="02020603050405020304" pitchFamily="18" charset="0"/>
              <a:ea typeface="华文楷体" panose="02010600040101010101" pitchFamily="2" charset="-122"/>
            </a:endParaRPr>
          </a:p>
          <a:p>
            <a:pPr marL="0" indent="0" eaLnBrk="1" hangingPunct="1">
              <a:tabLst>
                <a:tab pos="266700" algn="l"/>
              </a:tabLst>
            </a:pPr>
            <a:r>
              <a:rPr lang="zh-CN" altLang="en-US" sz="2800" b="1" dirty="0" smtClean="0">
                <a:solidFill>
                  <a:srgbClr val="0000CC"/>
                </a:solidFill>
                <a:latin typeface="Times New Roman" panose="02020603050405020304" pitchFamily="18" charset="0"/>
                <a:ea typeface="华文楷体" panose="02010600040101010101" pitchFamily="2" charset="-122"/>
              </a:rPr>
              <a:t> </a:t>
            </a:r>
            <a:r>
              <a:rPr lang="zh-CN" altLang="en-US" sz="2800" b="1" dirty="0" smtClean="0">
                <a:latin typeface="Times New Roman" panose="02020603050405020304" pitchFamily="18" charset="0"/>
                <a:ea typeface="华文楷体" panose="02010600040101010101" pitchFamily="2" charset="-122"/>
              </a:rPr>
              <a:t>两种基本通信方式：传入、传出；</a:t>
            </a:r>
            <a:endParaRPr lang="zh-CN" altLang="en-US" sz="2800" b="1" dirty="0" smtClean="0">
              <a:latin typeface="Times New Roman" panose="02020603050405020304" pitchFamily="18" charset="0"/>
              <a:ea typeface="华文楷体" panose="02010600040101010101" pitchFamily="2" charset="-122"/>
            </a:endParaRPr>
          </a:p>
          <a:p>
            <a:pPr marL="0" indent="0" eaLnBrk="1" hangingPunct="1">
              <a:tabLst>
                <a:tab pos="266700" algn="l"/>
              </a:tabLst>
            </a:pPr>
            <a:r>
              <a:rPr lang="zh-CN" altLang="en-US" sz="2800" b="1" dirty="0" smtClean="0">
                <a:latin typeface="Times New Roman" panose="02020603050405020304" pitchFamily="18" charset="0"/>
                <a:ea typeface="华文楷体" panose="02010600040101010101" pitchFamily="2" charset="-122"/>
              </a:rPr>
              <a:t> 双向传递：传入和传出的混合使用方式。</a:t>
            </a:r>
            <a:endParaRPr lang="zh-CN" altLang="en-US" sz="2800" b="1" dirty="0" smtClean="0">
              <a:latin typeface="Times New Roman" panose="02020603050405020304" pitchFamily="18" charset="0"/>
              <a:ea typeface="华文楷体" panose="02010600040101010101" pitchFamily="2" charset="-122"/>
            </a:endParaRPr>
          </a:p>
        </p:txBody>
      </p:sp>
      <p:grpSp>
        <p:nvGrpSpPr>
          <p:cNvPr id="157700" name="Group 4"/>
          <p:cNvGrpSpPr/>
          <p:nvPr/>
        </p:nvGrpSpPr>
        <p:grpSpPr bwMode="auto">
          <a:xfrm>
            <a:off x="900113" y="3387725"/>
            <a:ext cx="1838325" cy="2586038"/>
            <a:chOff x="567" y="2134"/>
            <a:chExt cx="1158" cy="1629"/>
          </a:xfrm>
        </p:grpSpPr>
        <p:sp>
          <p:nvSpPr>
            <p:cNvPr id="157711" name="AutoShape 5"/>
            <p:cNvSpPr>
              <a:spLocks noChangeArrowheads="1"/>
            </p:cNvSpPr>
            <p:nvPr/>
          </p:nvSpPr>
          <p:spPr bwMode="auto">
            <a:xfrm>
              <a:off x="609" y="2134"/>
              <a:ext cx="1113" cy="424"/>
            </a:xfrm>
            <a:prstGeom prst="roundRect">
              <a:avLst>
                <a:gd name="adj" fmla="val 16667"/>
              </a:avLst>
            </a:prstGeom>
            <a:solidFill>
              <a:srgbClr val="CCECFF"/>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主调函数</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sp>
          <p:nvSpPr>
            <p:cNvPr id="157712" name="AutoShape 6"/>
            <p:cNvSpPr>
              <a:spLocks noChangeArrowheads="1"/>
            </p:cNvSpPr>
            <p:nvPr/>
          </p:nvSpPr>
          <p:spPr bwMode="auto">
            <a:xfrm>
              <a:off x="612" y="3339"/>
              <a:ext cx="1113" cy="424"/>
            </a:xfrm>
            <a:prstGeom prst="roundRect">
              <a:avLst>
                <a:gd name="adj" fmla="val 16667"/>
              </a:avLst>
            </a:prstGeom>
            <a:solidFill>
              <a:srgbClr val="ECECEC"/>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被调函数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57713" name="AutoShape 7"/>
            <p:cNvCxnSpPr>
              <a:cxnSpLocks noChangeShapeType="1"/>
              <a:stCxn id="157711" idx="2"/>
              <a:endCxn id="157712" idx="0"/>
            </p:cNvCxnSpPr>
            <p:nvPr/>
          </p:nvCxnSpPr>
          <p:spPr bwMode="auto">
            <a:xfrm>
              <a:off x="1166" y="2558"/>
              <a:ext cx="3" cy="781"/>
            </a:xfrm>
            <a:prstGeom prst="straightConnector1">
              <a:avLst/>
            </a:prstGeom>
            <a:noFill/>
            <a:ln w="28575">
              <a:solidFill>
                <a:srgbClr val="FFC000"/>
              </a:solidFill>
              <a:round/>
              <a:tailEnd type="triangle" w="lg" len="lg"/>
            </a:ln>
            <a:extLst>
              <a:ext uri="{909E8E84-426E-40DD-AFC4-6F175D3DCCD1}">
                <a14:hiddenFill xmlns:a14="http://schemas.microsoft.com/office/drawing/2010/main">
                  <a:noFill/>
                </a14:hiddenFill>
              </a:ext>
            </a:extLst>
          </p:spPr>
        </p:cxnSp>
        <p:sp>
          <p:nvSpPr>
            <p:cNvPr id="157714" name="Text Box 8"/>
            <p:cNvSpPr txBox="1">
              <a:spLocks noChangeArrowheads="1"/>
            </p:cNvSpPr>
            <p:nvPr/>
          </p:nvSpPr>
          <p:spPr bwMode="auto">
            <a:xfrm>
              <a:off x="567" y="2704"/>
              <a:ext cx="1089" cy="337"/>
            </a:xfrm>
            <a:prstGeom prst="rect">
              <a:avLst/>
            </a:prstGeom>
            <a:noFill/>
            <a:ln w="12700" algn="ctr">
              <a:no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传入方式</a:t>
              </a:r>
              <a:endParaRPr kumimoji="0" lang="zh-CN" altLang="en-US" sz="2400" b="1" dirty="0">
                <a:latin typeface="Times New Roman" panose="02020603050405020304" pitchFamily="18" charset="0"/>
                <a:ea typeface="华文楷体" panose="02010600040101010101" pitchFamily="2" charset="-122"/>
              </a:endParaRPr>
            </a:p>
          </p:txBody>
        </p:sp>
      </p:grpSp>
      <p:grpSp>
        <p:nvGrpSpPr>
          <p:cNvPr id="157701" name="Group 9"/>
          <p:cNvGrpSpPr/>
          <p:nvPr/>
        </p:nvGrpSpPr>
        <p:grpSpPr bwMode="auto">
          <a:xfrm>
            <a:off x="3492500" y="3405188"/>
            <a:ext cx="1838325" cy="2586037"/>
            <a:chOff x="567" y="2134"/>
            <a:chExt cx="1158" cy="1629"/>
          </a:xfrm>
        </p:grpSpPr>
        <p:sp>
          <p:nvSpPr>
            <p:cNvPr id="157707" name="AutoShape 10"/>
            <p:cNvSpPr>
              <a:spLocks noChangeArrowheads="1"/>
            </p:cNvSpPr>
            <p:nvPr/>
          </p:nvSpPr>
          <p:spPr bwMode="auto">
            <a:xfrm>
              <a:off x="609" y="2134"/>
              <a:ext cx="1113" cy="424"/>
            </a:xfrm>
            <a:prstGeom prst="roundRect">
              <a:avLst>
                <a:gd name="adj" fmla="val 16667"/>
              </a:avLst>
            </a:prstGeom>
            <a:solidFill>
              <a:srgbClr val="CCECFF"/>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主调函数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sp>
          <p:nvSpPr>
            <p:cNvPr id="157708" name="AutoShape 11"/>
            <p:cNvSpPr>
              <a:spLocks noChangeArrowheads="1"/>
            </p:cNvSpPr>
            <p:nvPr/>
          </p:nvSpPr>
          <p:spPr bwMode="auto">
            <a:xfrm>
              <a:off x="612" y="3339"/>
              <a:ext cx="1113" cy="424"/>
            </a:xfrm>
            <a:prstGeom prst="roundRect">
              <a:avLst>
                <a:gd name="adj" fmla="val 16667"/>
              </a:avLst>
            </a:prstGeom>
            <a:solidFill>
              <a:srgbClr val="ECECEC"/>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被调函数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57709" name="AutoShape 12"/>
            <p:cNvCxnSpPr>
              <a:cxnSpLocks noChangeShapeType="1"/>
              <a:stCxn id="157707" idx="2"/>
              <a:endCxn id="157708" idx="0"/>
            </p:cNvCxnSpPr>
            <p:nvPr/>
          </p:nvCxnSpPr>
          <p:spPr bwMode="auto">
            <a:xfrm>
              <a:off x="1166" y="2558"/>
              <a:ext cx="3" cy="781"/>
            </a:xfrm>
            <a:prstGeom prst="straightConnector1">
              <a:avLst/>
            </a:prstGeom>
            <a:noFill/>
            <a:ln w="28575">
              <a:solidFill>
                <a:srgbClr val="FFC000"/>
              </a:solidFill>
              <a:round/>
              <a:headEnd type="triangle" w="lg" len="lg"/>
            </a:ln>
            <a:extLst>
              <a:ext uri="{909E8E84-426E-40DD-AFC4-6F175D3DCCD1}">
                <a14:hiddenFill xmlns:a14="http://schemas.microsoft.com/office/drawing/2010/main">
                  <a:noFill/>
                </a14:hiddenFill>
              </a:ext>
            </a:extLst>
          </p:spPr>
        </p:cxnSp>
        <p:sp>
          <p:nvSpPr>
            <p:cNvPr id="157710" name="Text Box 13"/>
            <p:cNvSpPr txBox="1">
              <a:spLocks noChangeArrowheads="1"/>
            </p:cNvSpPr>
            <p:nvPr/>
          </p:nvSpPr>
          <p:spPr bwMode="auto">
            <a:xfrm>
              <a:off x="567" y="2704"/>
              <a:ext cx="1089" cy="320"/>
            </a:xfrm>
            <a:prstGeom prst="rect">
              <a:avLst/>
            </a:prstGeom>
            <a:noFill/>
            <a:ln w="12700" algn="ctr">
              <a:no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传出方式</a:t>
              </a:r>
              <a:endParaRPr kumimoji="0" lang="zh-CN" altLang="en-US" sz="2400" b="1" dirty="0">
                <a:latin typeface="Times New Roman" panose="02020603050405020304" pitchFamily="18" charset="0"/>
                <a:ea typeface="华文楷体" panose="02010600040101010101" pitchFamily="2" charset="-122"/>
              </a:endParaRPr>
            </a:p>
          </p:txBody>
        </p:sp>
      </p:grpSp>
      <p:grpSp>
        <p:nvGrpSpPr>
          <p:cNvPr id="157702" name="Group 14"/>
          <p:cNvGrpSpPr/>
          <p:nvPr/>
        </p:nvGrpSpPr>
        <p:grpSpPr bwMode="auto">
          <a:xfrm>
            <a:off x="6300788" y="3429000"/>
            <a:ext cx="1838325" cy="2586038"/>
            <a:chOff x="567" y="2134"/>
            <a:chExt cx="1158" cy="1629"/>
          </a:xfrm>
        </p:grpSpPr>
        <p:sp>
          <p:nvSpPr>
            <p:cNvPr id="157703" name="AutoShape 15"/>
            <p:cNvSpPr>
              <a:spLocks noChangeArrowheads="1"/>
            </p:cNvSpPr>
            <p:nvPr/>
          </p:nvSpPr>
          <p:spPr bwMode="auto">
            <a:xfrm>
              <a:off x="609" y="2134"/>
              <a:ext cx="1113" cy="424"/>
            </a:xfrm>
            <a:prstGeom prst="roundRect">
              <a:avLst>
                <a:gd name="adj" fmla="val 16667"/>
              </a:avLst>
            </a:prstGeom>
            <a:solidFill>
              <a:srgbClr val="CCECFF"/>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主调函数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sp>
          <p:nvSpPr>
            <p:cNvPr id="157704" name="AutoShape 16"/>
            <p:cNvSpPr>
              <a:spLocks noChangeArrowheads="1"/>
            </p:cNvSpPr>
            <p:nvPr/>
          </p:nvSpPr>
          <p:spPr bwMode="auto">
            <a:xfrm>
              <a:off x="612" y="3339"/>
              <a:ext cx="1113" cy="424"/>
            </a:xfrm>
            <a:prstGeom prst="roundRect">
              <a:avLst>
                <a:gd name="adj" fmla="val 16667"/>
              </a:avLst>
            </a:prstGeom>
            <a:solidFill>
              <a:srgbClr val="ECECEC"/>
            </a:solidFill>
            <a:ln w="12700" algn="ctr">
              <a:solidFill>
                <a:srgbClr val="FFC000"/>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被调函数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57705" name="AutoShape 17"/>
            <p:cNvCxnSpPr>
              <a:cxnSpLocks noChangeShapeType="1"/>
              <a:stCxn id="157703" idx="2"/>
              <a:endCxn id="157704" idx="0"/>
            </p:cNvCxnSpPr>
            <p:nvPr/>
          </p:nvCxnSpPr>
          <p:spPr bwMode="auto">
            <a:xfrm>
              <a:off x="1166" y="2558"/>
              <a:ext cx="3" cy="781"/>
            </a:xfrm>
            <a:prstGeom prst="straightConnector1">
              <a:avLst/>
            </a:prstGeom>
            <a:noFill/>
            <a:ln w="28575">
              <a:solidFill>
                <a:srgbClr val="FFC000"/>
              </a:solidFill>
              <a:round/>
              <a:headEnd type="triangle" w="lg" len="lg"/>
              <a:tailEnd type="triangle" w="lg" len="lg"/>
            </a:ln>
            <a:extLst>
              <a:ext uri="{909E8E84-426E-40DD-AFC4-6F175D3DCCD1}">
                <a14:hiddenFill xmlns:a14="http://schemas.microsoft.com/office/drawing/2010/main">
                  <a:noFill/>
                </a14:hiddenFill>
              </a:ext>
            </a:extLst>
          </p:spPr>
        </p:cxnSp>
        <p:sp>
          <p:nvSpPr>
            <p:cNvPr id="157706" name="Text Box 18"/>
            <p:cNvSpPr txBox="1">
              <a:spLocks noChangeArrowheads="1"/>
            </p:cNvSpPr>
            <p:nvPr/>
          </p:nvSpPr>
          <p:spPr bwMode="auto">
            <a:xfrm>
              <a:off x="567" y="2704"/>
              <a:ext cx="1089" cy="320"/>
            </a:xfrm>
            <a:prstGeom prst="rect">
              <a:avLst/>
            </a:prstGeom>
            <a:noFill/>
            <a:ln w="12700" algn="ctr">
              <a:no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双向传递</a:t>
              </a:r>
              <a:endParaRPr kumimoji="0" lang="zh-CN" altLang="en-US" sz="2400" b="1" dirty="0">
                <a:latin typeface="Times New Roman" panose="02020603050405020304" pitchFamily="18" charset="0"/>
                <a:ea typeface="华文楷体" panose="02010600040101010101" pitchFamily="2" charset="-122"/>
              </a:endParaRPr>
            </a:p>
          </p:txBody>
        </p:sp>
      </p:grpSp>
    </p:spTree>
  </p:cSld>
  <p:clrMapOvr>
    <a:masterClrMapping/>
  </p:clrMapOvr>
  <p:transition>
    <p:cove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noFill/>
        </p:spPr>
        <p:txBody>
          <a:bodyPr/>
          <a:lstStyle/>
          <a:p>
            <a:pPr algn="ctr" eaLnBrk="1" hangingPunct="1"/>
            <a:r>
              <a:rPr lang="en-US" altLang="zh-CN" b="1" dirty="0">
                <a:solidFill>
                  <a:srgbClr val="FFFFFF"/>
                </a:solidFill>
                <a:latin typeface="Times New Roman" panose="02020603050405020304" pitchFamily="18" charset="0"/>
                <a:ea typeface="隶书" panose="02010509060101010101" pitchFamily="49" charset="-122"/>
              </a:rPr>
              <a:t>3.1.3 </a:t>
            </a:r>
            <a:r>
              <a:rPr lang="zh-CN" altLang="en-US" b="1" dirty="0">
                <a:solidFill>
                  <a:srgbClr val="FFFFFF"/>
                </a:solidFill>
                <a:latin typeface="Times New Roman" panose="02020603050405020304" pitchFamily="18" charset="0"/>
                <a:ea typeface="隶书" panose="02010509060101010101" pitchFamily="49" charset="-122"/>
              </a:rPr>
              <a:t>函数的参数传递：</a:t>
            </a:r>
            <a:br>
              <a:rPr lang="en-US" altLang="zh-CN" b="1" dirty="0">
                <a:solidFill>
                  <a:srgbClr val="FFFFFF"/>
                </a:solidFill>
                <a:latin typeface="Times New Roman" panose="02020603050405020304" pitchFamily="18" charset="0"/>
                <a:ea typeface="隶书" panose="02010509060101010101" pitchFamily="49" charset="-122"/>
              </a:rPr>
            </a:br>
            <a:r>
              <a:rPr lang="zh-CN" altLang="en-US" b="1" dirty="0">
                <a:solidFill>
                  <a:srgbClr val="FFFFFF"/>
                </a:solidFill>
                <a:latin typeface="Times New Roman" panose="02020603050405020304" pitchFamily="18" charset="0"/>
                <a:ea typeface="隶书" panose="02010509060101010101" pitchFamily="49" charset="-122"/>
              </a:rPr>
              <a:t>模块间的数据通信方式</a:t>
            </a:r>
            <a:endParaRPr lang="zh-CN" altLang="en-US" b="1" dirty="0">
              <a:ea typeface="华文行楷" panose="02010800040101010101" pitchFamily="2" charset="-122"/>
            </a:endParaRPr>
          </a:p>
        </p:txBody>
      </p:sp>
      <p:sp>
        <p:nvSpPr>
          <p:cNvPr id="158723" name="Rectangle 3"/>
          <p:cNvSpPr>
            <a:spLocks noGrp="1" noChangeArrowheads="1"/>
          </p:cNvSpPr>
          <p:nvPr>
            <p:ph type="body" sz="half" idx="1"/>
          </p:nvPr>
        </p:nvSpPr>
        <p:spPr>
          <a:xfrm>
            <a:off x="5435600" y="2708275"/>
            <a:ext cx="3097213" cy="3600450"/>
          </a:xfrm>
          <a:noFill/>
        </p:spPr>
        <p:txBody>
          <a:bodyPr/>
          <a:lstStyle/>
          <a:p>
            <a:pPr marL="476250" indent="-476250" eaLnBrk="1" hangingPunct="1">
              <a:lnSpc>
                <a:spcPct val="115000"/>
              </a:lnSpc>
              <a:tabLst>
                <a:tab pos="266700" algn="l"/>
              </a:tabLst>
            </a:pPr>
            <a:r>
              <a:rPr lang="zh-CN" altLang="en-US" sz="2600" b="1" dirty="0" smtClean="0">
                <a:latin typeface="Times New Roman" panose="02020603050405020304" pitchFamily="18" charset="0"/>
                <a:ea typeface="华文楷体" panose="02010600040101010101" pitchFamily="2" charset="-122"/>
              </a:rPr>
              <a:t>在函数被调用时，通过参数之间的</a:t>
            </a:r>
            <a:r>
              <a:rPr lang="zh-CN" altLang="en-US" sz="3000" b="1" dirty="0" smtClean="0">
                <a:solidFill>
                  <a:srgbClr val="FFFF00"/>
                </a:solidFill>
                <a:latin typeface="Times New Roman" panose="02020603050405020304" pitchFamily="18" charset="0"/>
                <a:ea typeface="华文楷体" panose="02010600040101010101" pitchFamily="2" charset="-122"/>
              </a:rPr>
              <a:t>值传递</a:t>
            </a:r>
            <a:r>
              <a:rPr lang="zh-CN" altLang="en-US" sz="2600" b="1" dirty="0" smtClean="0">
                <a:latin typeface="Times New Roman" panose="02020603050405020304" pitchFamily="18" charset="0"/>
                <a:ea typeface="华文楷体" panose="02010600040101010101" pitchFamily="2" charset="-122"/>
              </a:rPr>
              <a:t>把实参的值传递给相应形参。</a:t>
            </a:r>
            <a:endParaRPr lang="zh-CN" altLang="en-US" sz="2600" b="1" dirty="0" smtClean="0">
              <a:latin typeface="Times New Roman" panose="02020603050405020304" pitchFamily="18" charset="0"/>
              <a:ea typeface="华文楷体" panose="02010600040101010101" pitchFamily="2" charset="-122"/>
            </a:endParaRPr>
          </a:p>
          <a:p>
            <a:pPr marL="476250" indent="-476250" eaLnBrk="1" hangingPunct="1">
              <a:lnSpc>
                <a:spcPct val="115000"/>
              </a:lnSpc>
              <a:tabLst>
                <a:tab pos="266700" algn="l"/>
              </a:tabLst>
            </a:pPr>
            <a:r>
              <a:rPr lang="zh-CN" altLang="en-US" sz="2600" b="1" dirty="0" smtClean="0">
                <a:latin typeface="Times New Roman" panose="02020603050405020304" pitchFamily="18" charset="0"/>
                <a:ea typeface="华文楷体" panose="02010600040101010101" pitchFamily="2" charset="-122"/>
              </a:rPr>
              <a:t>全局变量</a:t>
            </a:r>
            <a:r>
              <a:rPr lang="zh-CN" altLang="en-US" sz="2600" b="1" dirty="0" smtClean="0">
                <a:solidFill>
                  <a:srgbClr val="FFFF00"/>
                </a:solidFill>
                <a:latin typeface="Times New Roman" panose="02020603050405020304" pitchFamily="18" charset="0"/>
                <a:ea typeface="华文楷体" panose="02010600040101010101" pitchFamily="2" charset="-122"/>
              </a:rPr>
              <a:t>（很少使用）</a:t>
            </a:r>
            <a:endParaRPr lang="zh-CN" altLang="en-US" sz="3400" b="1" dirty="0" smtClean="0">
              <a:solidFill>
                <a:srgbClr val="FFFF00"/>
              </a:solidFill>
              <a:latin typeface="Times New Roman" panose="02020603050405020304" pitchFamily="18" charset="0"/>
              <a:ea typeface="华文楷体" panose="02010600040101010101" pitchFamily="2" charset="-122"/>
            </a:endParaRPr>
          </a:p>
        </p:txBody>
      </p:sp>
      <p:sp>
        <p:nvSpPr>
          <p:cNvPr id="158724" name="Rectangle 4"/>
          <p:cNvSpPr>
            <a:spLocks noChangeArrowheads="1"/>
          </p:cNvSpPr>
          <p:nvPr/>
        </p:nvSpPr>
        <p:spPr bwMode="auto">
          <a:xfrm>
            <a:off x="1692275" y="1700213"/>
            <a:ext cx="65516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en-US" altLang="zh-CN" sz="3400" b="1" dirty="0">
                <a:solidFill>
                  <a:srgbClr val="FFFF00"/>
                </a:solidFill>
                <a:latin typeface="Times New Roman" panose="02020603050405020304" pitchFamily="18" charset="0"/>
                <a:ea typeface="华文楷体" panose="02010600040101010101" pitchFamily="2" charset="-122"/>
              </a:rPr>
              <a:t>  </a:t>
            </a:r>
            <a:r>
              <a:rPr kumimoji="0" lang="zh-CN" altLang="en-US" sz="3400" b="1" dirty="0">
                <a:solidFill>
                  <a:srgbClr val="FFFF00"/>
                </a:solidFill>
                <a:latin typeface="Times New Roman" panose="02020603050405020304" pitchFamily="18" charset="0"/>
                <a:ea typeface="华文楷体" panose="02010600040101010101" pitchFamily="2" charset="-122"/>
              </a:rPr>
              <a:t>基本通信方式一：传入方式</a:t>
            </a:r>
            <a:endParaRPr kumimoji="0" lang="zh-CN" altLang="en-US" sz="3400" b="1" dirty="0">
              <a:solidFill>
                <a:srgbClr val="FFFF00"/>
              </a:solidFill>
              <a:latin typeface="Times New Roman" panose="02020603050405020304" pitchFamily="18" charset="0"/>
              <a:ea typeface="华文楷体" panose="02010600040101010101" pitchFamily="2" charset="-122"/>
            </a:endParaRPr>
          </a:p>
        </p:txBody>
      </p:sp>
      <p:sp>
        <p:nvSpPr>
          <p:cNvPr id="158725" name="AutoShape 5"/>
          <p:cNvSpPr>
            <a:spLocks noChangeArrowheads="1"/>
          </p:cNvSpPr>
          <p:nvPr/>
        </p:nvSpPr>
        <p:spPr bwMode="auto">
          <a:xfrm>
            <a:off x="3563888" y="3604778"/>
            <a:ext cx="1658541" cy="1210544"/>
          </a:xfrm>
          <a:prstGeom prst="rightArrow">
            <a:avLst>
              <a:gd name="adj1" fmla="val 50000"/>
              <a:gd name="adj2" fmla="val 36236"/>
            </a:avLst>
          </a:prstGeom>
          <a:solidFill>
            <a:schemeClr val="tx2"/>
          </a:solidFill>
          <a:ln w="12700" algn="ctr">
            <a:solidFill>
              <a:srgbClr val="FFC000"/>
            </a:solidFill>
            <a:miter lim="800000"/>
          </a:ln>
        </p:spPr>
        <p:txBody>
          <a:bodyPr wrap="none"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实现方式</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grpSp>
        <p:nvGrpSpPr>
          <p:cNvPr id="158726" name="Group 6"/>
          <p:cNvGrpSpPr/>
          <p:nvPr/>
        </p:nvGrpSpPr>
        <p:grpSpPr bwMode="auto">
          <a:xfrm>
            <a:off x="1077913" y="2930525"/>
            <a:ext cx="1838325" cy="2586038"/>
            <a:chOff x="567" y="2134"/>
            <a:chExt cx="1158" cy="1629"/>
          </a:xfrm>
        </p:grpSpPr>
        <p:sp>
          <p:nvSpPr>
            <p:cNvPr id="158727" name="AutoShape 7"/>
            <p:cNvSpPr>
              <a:spLocks noChangeArrowheads="1"/>
            </p:cNvSpPr>
            <p:nvPr/>
          </p:nvSpPr>
          <p:spPr bwMode="auto">
            <a:xfrm>
              <a:off x="609" y="2134"/>
              <a:ext cx="1113" cy="425"/>
            </a:xfrm>
            <a:prstGeom prst="roundRect">
              <a:avLst>
                <a:gd name="adj" fmla="val 16667"/>
              </a:avLst>
            </a:prstGeom>
            <a:solidFill>
              <a:srgbClr val="CCECFF"/>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主调函数</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sp>
          <p:nvSpPr>
            <p:cNvPr id="158728" name="AutoShape 8"/>
            <p:cNvSpPr>
              <a:spLocks noChangeArrowheads="1"/>
            </p:cNvSpPr>
            <p:nvPr/>
          </p:nvSpPr>
          <p:spPr bwMode="auto">
            <a:xfrm>
              <a:off x="612" y="3339"/>
              <a:ext cx="1113" cy="424"/>
            </a:xfrm>
            <a:prstGeom prst="roundRect">
              <a:avLst>
                <a:gd name="adj" fmla="val 16667"/>
              </a:avLst>
            </a:prstGeom>
            <a:solidFill>
              <a:srgbClr val="ECECEC"/>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被调函数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58729" name="AutoShape 9"/>
            <p:cNvCxnSpPr>
              <a:cxnSpLocks noChangeShapeType="1"/>
              <a:stCxn id="158727" idx="2"/>
              <a:endCxn id="158728" idx="0"/>
            </p:cNvCxnSpPr>
            <p:nvPr/>
          </p:nvCxnSpPr>
          <p:spPr bwMode="auto">
            <a:xfrm>
              <a:off x="1166" y="2559"/>
              <a:ext cx="3" cy="780"/>
            </a:xfrm>
            <a:prstGeom prst="straightConnector1">
              <a:avLst/>
            </a:prstGeom>
            <a:noFill/>
            <a:ln w="28575">
              <a:solidFill>
                <a:srgbClr val="FFC000"/>
              </a:solidFill>
              <a:round/>
              <a:tailEnd type="triangle" w="lg" len="lg"/>
            </a:ln>
            <a:extLst>
              <a:ext uri="{909E8E84-426E-40DD-AFC4-6F175D3DCCD1}">
                <a14:hiddenFill xmlns:a14="http://schemas.microsoft.com/office/drawing/2010/main">
                  <a:noFill/>
                </a14:hiddenFill>
              </a:ext>
            </a:extLst>
          </p:spPr>
        </p:cxnSp>
        <p:sp>
          <p:nvSpPr>
            <p:cNvPr id="158730" name="Text Box 10"/>
            <p:cNvSpPr txBox="1">
              <a:spLocks noChangeArrowheads="1"/>
            </p:cNvSpPr>
            <p:nvPr/>
          </p:nvSpPr>
          <p:spPr bwMode="auto">
            <a:xfrm>
              <a:off x="567" y="2704"/>
              <a:ext cx="108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传入方式</a:t>
              </a:r>
              <a:endParaRPr kumimoji="0" lang="zh-CN" altLang="en-US" sz="2400" b="1" dirty="0">
                <a:latin typeface="Times New Roman" panose="02020603050405020304" pitchFamily="18" charset="0"/>
                <a:ea typeface="华文楷体" panose="02010600040101010101" pitchFamily="2" charset="-122"/>
              </a:endParaRPr>
            </a:p>
          </p:txBody>
        </p:sp>
      </p:grpSp>
    </p:spTree>
  </p:cSld>
  <p:clrMapOvr>
    <a:masterClrMapping/>
  </p:clrMapOvr>
  <p:transition>
    <p:cove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noFill/>
        </p:spPr>
        <p:txBody>
          <a:bodyPr/>
          <a:lstStyle/>
          <a:p>
            <a:pPr algn="ctr" eaLnBrk="1" hangingPunct="1"/>
            <a:r>
              <a:rPr lang="en-US" altLang="zh-CN" b="1" dirty="0">
                <a:solidFill>
                  <a:srgbClr val="FFFFFF"/>
                </a:solidFill>
                <a:latin typeface="Times New Roman" panose="02020603050405020304" pitchFamily="18" charset="0"/>
                <a:ea typeface="隶书" panose="02010509060101010101" pitchFamily="49" charset="-122"/>
              </a:rPr>
              <a:t>3.1.3 </a:t>
            </a:r>
            <a:r>
              <a:rPr lang="zh-CN" altLang="en-US" b="1" dirty="0">
                <a:solidFill>
                  <a:srgbClr val="FFFFFF"/>
                </a:solidFill>
                <a:latin typeface="Times New Roman" panose="02020603050405020304" pitchFamily="18" charset="0"/>
                <a:ea typeface="隶书" panose="02010509060101010101" pitchFamily="49" charset="-122"/>
              </a:rPr>
              <a:t>函数的参数传递：</a:t>
            </a:r>
            <a:br>
              <a:rPr lang="en-US" altLang="zh-CN" b="1" dirty="0">
                <a:solidFill>
                  <a:srgbClr val="FFFFFF"/>
                </a:solidFill>
                <a:latin typeface="Times New Roman" panose="02020603050405020304" pitchFamily="18" charset="0"/>
                <a:ea typeface="隶书" panose="02010509060101010101" pitchFamily="49" charset="-122"/>
              </a:rPr>
            </a:br>
            <a:r>
              <a:rPr lang="zh-CN" altLang="en-US" b="1" dirty="0">
                <a:solidFill>
                  <a:srgbClr val="FFFFFF"/>
                </a:solidFill>
                <a:latin typeface="Times New Roman" panose="02020603050405020304" pitchFamily="18" charset="0"/>
                <a:ea typeface="隶书" panose="02010509060101010101" pitchFamily="49" charset="-122"/>
              </a:rPr>
              <a:t>模块间的数据通信方式</a:t>
            </a:r>
            <a:endParaRPr lang="zh-CN" altLang="en-US" b="1" dirty="0">
              <a:ea typeface="华文行楷" panose="02010800040101010101" pitchFamily="2" charset="-122"/>
            </a:endParaRPr>
          </a:p>
        </p:txBody>
      </p:sp>
      <p:sp>
        <p:nvSpPr>
          <p:cNvPr id="159747" name="Rectangle 3"/>
          <p:cNvSpPr>
            <a:spLocks noGrp="1" noChangeArrowheads="1"/>
          </p:cNvSpPr>
          <p:nvPr>
            <p:ph type="body" sz="half" idx="1"/>
          </p:nvPr>
        </p:nvSpPr>
        <p:spPr>
          <a:xfrm>
            <a:off x="5435600" y="2708275"/>
            <a:ext cx="3097213" cy="3097213"/>
          </a:xfrm>
          <a:noFill/>
        </p:spPr>
        <p:txBody>
          <a:bodyPr/>
          <a:lstStyle/>
          <a:p>
            <a:pPr marL="476250" indent="-476250" eaLnBrk="1" hangingPunct="1">
              <a:lnSpc>
                <a:spcPct val="115000"/>
              </a:lnSpc>
              <a:tabLst>
                <a:tab pos="266700" algn="l"/>
              </a:tabLst>
            </a:pPr>
            <a:r>
              <a:rPr lang="zh-CN" altLang="en-US" sz="2400" b="1" dirty="0" smtClean="0">
                <a:latin typeface="Times New Roman" panose="02020603050405020304" pitchFamily="18" charset="0"/>
                <a:ea typeface="华文楷体" panose="02010600040101010101" pitchFamily="2" charset="-122"/>
              </a:rPr>
              <a:t>函数返回值：返回结果的个数受限，提出只能是一个结果。</a:t>
            </a:r>
            <a:endParaRPr lang="zh-CN" altLang="en-US" sz="2400" b="1" dirty="0" smtClean="0">
              <a:latin typeface="Times New Roman" panose="02020603050405020304" pitchFamily="18" charset="0"/>
              <a:ea typeface="华文楷体" panose="02010600040101010101" pitchFamily="2" charset="-122"/>
            </a:endParaRPr>
          </a:p>
          <a:p>
            <a:pPr marL="476250" indent="-476250" eaLnBrk="1" hangingPunct="1">
              <a:lnSpc>
                <a:spcPct val="115000"/>
              </a:lnSpc>
              <a:tabLst>
                <a:tab pos="266700" algn="l"/>
              </a:tabLst>
            </a:pPr>
            <a:r>
              <a:rPr lang="zh-CN" altLang="en-US" sz="2400" b="1" dirty="0" smtClean="0">
                <a:latin typeface="Times New Roman" panose="02020603050405020304" pitchFamily="18" charset="0"/>
                <a:ea typeface="华文楷体" panose="02010600040101010101" pitchFamily="2" charset="-122"/>
              </a:rPr>
              <a:t>全局变量：</a:t>
            </a:r>
            <a:r>
              <a:rPr lang="zh-CN" altLang="en-US" sz="2400" b="1" dirty="0" smtClean="0">
                <a:solidFill>
                  <a:srgbClr val="FFFF00"/>
                </a:solidFill>
                <a:latin typeface="Times New Roman" panose="02020603050405020304" pitchFamily="18" charset="0"/>
                <a:ea typeface="华文楷体" panose="02010600040101010101" pitchFamily="2" charset="-122"/>
              </a:rPr>
              <a:t>（很少使用）。</a:t>
            </a:r>
            <a:endParaRPr lang="zh-CN" altLang="en-US" sz="2400" b="1" dirty="0" smtClean="0">
              <a:solidFill>
                <a:srgbClr val="FFFF00"/>
              </a:solidFill>
              <a:latin typeface="Times New Roman" panose="02020603050405020304" pitchFamily="18" charset="0"/>
              <a:ea typeface="华文楷体" panose="02010600040101010101" pitchFamily="2" charset="-122"/>
            </a:endParaRPr>
          </a:p>
          <a:p>
            <a:pPr marL="476250" indent="-476250" eaLnBrk="1" hangingPunct="1">
              <a:lnSpc>
                <a:spcPct val="115000"/>
              </a:lnSpc>
              <a:tabLst>
                <a:tab pos="266700" algn="l"/>
              </a:tabLst>
            </a:pPr>
            <a:r>
              <a:rPr lang="zh-CN" altLang="en-US" sz="2400" b="1" dirty="0" smtClean="0">
                <a:solidFill>
                  <a:srgbClr val="FFFF00"/>
                </a:solidFill>
                <a:latin typeface="Times New Roman" panose="02020603050405020304" pitchFamily="18" charset="0"/>
                <a:ea typeface="华文楷体" panose="02010600040101010101" pitchFamily="2" charset="-122"/>
              </a:rPr>
              <a:t>参数间的按引用传递。</a:t>
            </a:r>
            <a:endParaRPr lang="zh-CN" altLang="en-US" sz="2400" b="1" dirty="0" smtClean="0">
              <a:solidFill>
                <a:srgbClr val="FFFF00"/>
              </a:solidFill>
              <a:latin typeface="Times New Roman" panose="02020603050405020304" pitchFamily="18" charset="0"/>
              <a:ea typeface="华文楷体" panose="02010600040101010101" pitchFamily="2" charset="-122"/>
            </a:endParaRPr>
          </a:p>
        </p:txBody>
      </p:sp>
      <p:sp>
        <p:nvSpPr>
          <p:cNvPr id="159748" name="Rectangle 4"/>
          <p:cNvSpPr>
            <a:spLocks noChangeArrowheads="1"/>
          </p:cNvSpPr>
          <p:nvPr/>
        </p:nvSpPr>
        <p:spPr bwMode="auto">
          <a:xfrm>
            <a:off x="1692275" y="1700213"/>
            <a:ext cx="65516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en-US" altLang="zh-CN" sz="3400" b="1" dirty="0">
                <a:solidFill>
                  <a:srgbClr val="FFFF00"/>
                </a:solidFill>
                <a:latin typeface="Times New Roman" panose="02020603050405020304" pitchFamily="18" charset="0"/>
                <a:ea typeface="华文楷体" panose="02010600040101010101" pitchFamily="2" charset="-122"/>
              </a:rPr>
              <a:t>  </a:t>
            </a:r>
            <a:r>
              <a:rPr kumimoji="0" lang="zh-CN" altLang="en-US" sz="3400" b="1" dirty="0">
                <a:solidFill>
                  <a:srgbClr val="FFFF00"/>
                </a:solidFill>
                <a:latin typeface="Times New Roman" panose="02020603050405020304" pitchFamily="18" charset="0"/>
                <a:ea typeface="华文楷体" panose="02010600040101010101" pitchFamily="2" charset="-122"/>
              </a:rPr>
              <a:t>基本通信方式二：传出方式</a:t>
            </a:r>
            <a:endParaRPr kumimoji="0" lang="zh-CN" altLang="en-US" sz="3400" b="1" dirty="0">
              <a:solidFill>
                <a:srgbClr val="FFFF00"/>
              </a:solidFill>
              <a:latin typeface="Times New Roman" panose="02020603050405020304" pitchFamily="18" charset="0"/>
              <a:ea typeface="华文楷体" panose="02010600040101010101" pitchFamily="2" charset="-122"/>
            </a:endParaRPr>
          </a:p>
        </p:txBody>
      </p:sp>
      <p:sp>
        <p:nvSpPr>
          <p:cNvPr id="159749" name="AutoShape 5"/>
          <p:cNvSpPr>
            <a:spLocks noChangeArrowheads="1"/>
          </p:cNvSpPr>
          <p:nvPr/>
        </p:nvSpPr>
        <p:spPr bwMode="auto">
          <a:xfrm>
            <a:off x="3769717" y="3460316"/>
            <a:ext cx="1658541" cy="1210544"/>
          </a:xfrm>
          <a:prstGeom prst="rightArrow">
            <a:avLst>
              <a:gd name="adj1" fmla="val 50000"/>
              <a:gd name="adj2" fmla="val 36236"/>
            </a:avLst>
          </a:prstGeom>
          <a:solidFill>
            <a:schemeClr val="tx2"/>
          </a:solidFill>
          <a:ln w="12700" algn="ctr">
            <a:solidFill>
              <a:srgbClr val="FFC000"/>
            </a:solidFill>
            <a:miter lim="800000"/>
          </a:ln>
        </p:spPr>
        <p:txBody>
          <a:bodyPr wrap="none"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实现方式</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grpSp>
        <p:nvGrpSpPr>
          <p:cNvPr id="159750" name="Group 6"/>
          <p:cNvGrpSpPr/>
          <p:nvPr/>
        </p:nvGrpSpPr>
        <p:grpSpPr bwMode="auto">
          <a:xfrm>
            <a:off x="1187450" y="2997199"/>
            <a:ext cx="1838325" cy="2568575"/>
            <a:chOff x="567" y="2134"/>
            <a:chExt cx="1158" cy="1618"/>
          </a:xfrm>
        </p:grpSpPr>
        <p:sp>
          <p:nvSpPr>
            <p:cNvPr id="159751" name="AutoShape 7"/>
            <p:cNvSpPr>
              <a:spLocks noChangeArrowheads="1"/>
            </p:cNvSpPr>
            <p:nvPr/>
          </p:nvSpPr>
          <p:spPr bwMode="auto">
            <a:xfrm>
              <a:off x="609" y="2134"/>
              <a:ext cx="1113" cy="424"/>
            </a:xfrm>
            <a:prstGeom prst="roundRect">
              <a:avLst>
                <a:gd name="adj" fmla="val 16667"/>
              </a:avLst>
            </a:prstGeom>
            <a:solidFill>
              <a:srgbClr val="CCECFF"/>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主调函数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sp>
          <p:nvSpPr>
            <p:cNvPr id="159752" name="AutoShape 8"/>
            <p:cNvSpPr>
              <a:spLocks noChangeArrowheads="1"/>
            </p:cNvSpPr>
            <p:nvPr/>
          </p:nvSpPr>
          <p:spPr bwMode="auto">
            <a:xfrm>
              <a:off x="612" y="3350"/>
              <a:ext cx="1113" cy="402"/>
            </a:xfrm>
            <a:prstGeom prst="roundRect">
              <a:avLst>
                <a:gd name="adj" fmla="val 16667"/>
              </a:avLst>
            </a:prstGeom>
            <a:solidFill>
              <a:srgbClr val="ECECEC"/>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被调函数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59753" name="AutoShape 9"/>
            <p:cNvCxnSpPr>
              <a:cxnSpLocks noChangeShapeType="1"/>
              <a:stCxn id="159751" idx="2"/>
              <a:endCxn id="159752" idx="0"/>
            </p:cNvCxnSpPr>
            <p:nvPr/>
          </p:nvCxnSpPr>
          <p:spPr bwMode="auto">
            <a:xfrm>
              <a:off x="1166" y="2558"/>
              <a:ext cx="3" cy="792"/>
            </a:xfrm>
            <a:prstGeom prst="straightConnector1">
              <a:avLst/>
            </a:prstGeom>
            <a:noFill/>
            <a:ln w="28575">
              <a:solidFill>
                <a:srgbClr val="FFC000"/>
              </a:solidFill>
              <a:round/>
              <a:headEnd type="triangle" w="lg" len="lg"/>
            </a:ln>
            <a:extLst>
              <a:ext uri="{909E8E84-426E-40DD-AFC4-6F175D3DCCD1}">
                <a14:hiddenFill xmlns:a14="http://schemas.microsoft.com/office/drawing/2010/main">
                  <a:noFill/>
                </a14:hiddenFill>
              </a:ext>
            </a:extLst>
          </p:spPr>
        </p:cxnSp>
        <p:sp>
          <p:nvSpPr>
            <p:cNvPr id="159754" name="Text Box 10"/>
            <p:cNvSpPr txBox="1">
              <a:spLocks noChangeArrowheads="1"/>
            </p:cNvSpPr>
            <p:nvPr/>
          </p:nvSpPr>
          <p:spPr bwMode="auto">
            <a:xfrm>
              <a:off x="567" y="2704"/>
              <a:ext cx="108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a:latin typeface="Times New Roman" panose="02020603050405020304" pitchFamily="18" charset="0"/>
                  <a:ea typeface="华文楷体" panose="02010600040101010101" pitchFamily="2" charset="-122"/>
                </a:rPr>
                <a:t>传出方式</a:t>
              </a:r>
              <a:endParaRPr kumimoji="0" lang="zh-CN" altLang="en-US" sz="2400" b="1">
                <a:latin typeface="Times New Roman" panose="02020603050405020304" pitchFamily="18" charset="0"/>
                <a:ea typeface="华文楷体" panose="02010600040101010101" pitchFamily="2" charset="-122"/>
              </a:endParaRPr>
            </a:p>
          </p:txBody>
        </p:sp>
      </p:grpSp>
    </p:spTree>
  </p:cSld>
  <p:clrMapOvr>
    <a:masterClrMapping/>
  </p:clrMapOvr>
  <p:transition>
    <p:cove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654049" y="404664"/>
            <a:ext cx="8080375" cy="585788"/>
          </a:xfrm>
        </p:spPr>
        <p:txBody>
          <a:bodyPr/>
          <a:lstStyle/>
          <a:p>
            <a:pPr algn="ctr" eaLnBrk="1" hangingPunct="1"/>
            <a:r>
              <a:rPr lang="en-US" altLang="zh-CN" b="1" dirty="0" smtClean="0">
                <a:ea typeface="华文行楷" panose="02010800040101010101" pitchFamily="2" charset="-122"/>
              </a:rPr>
              <a:t> </a:t>
            </a:r>
            <a:r>
              <a:rPr lang="en-US" altLang="zh-CN" b="1" dirty="0">
                <a:solidFill>
                  <a:srgbClr val="FFFFFF"/>
                </a:solidFill>
                <a:latin typeface="Times New Roman" panose="02020603050405020304" pitchFamily="18" charset="0"/>
                <a:ea typeface="隶书" panose="02010509060101010101" pitchFamily="49" charset="-122"/>
              </a:rPr>
              <a:t>3.1.3 </a:t>
            </a:r>
            <a:r>
              <a:rPr lang="zh-CN" altLang="en-US" b="1" dirty="0">
                <a:solidFill>
                  <a:srgbClr val="FFFFFF"/>
                </a:solidFill>
                <a:latin typeface="Times New Roman" panose="02020603050405020304" pitchFamily="18" charset="0"/>
                <a:ea typeface="隶书" panose="02010509060101010101" pitchFamily="49" charset="-122"/>
              </a:rPr>
              <a:t>函数的参数传递：参数</a:t>
            </a:r>
            <a:r>
              <a:rPr lang="zh-CN" altLang="en-US" b="1" dirty="0" smtClean="0">
                <a:solidFill>
                  <a:srgbClr val="FFFFFF"/>
                </a:solidFill>
                <a:latin typeface="Times New Roman" panose="02020603050405020304" pitchFamily="18" charset="0"/>
                <a:ea typeface="隶书" panose="02010509060101010101" pitchFamily="49" charset="-122"/>
              </a:rPr>
              <a:t>传递方式</a:t>
            </a:r>
            <a:endParaRPr lang="zh-CN" altLang="en-US" b="1" dirty="0">
              <a:solidFill>
                <a:srgbClr val="FFFFFF"/>
              </a:solidFill>
              <a:latin typeface="Times New Roman" panose="02020603050405020304" pitchFamily="18" charset="0"/>
              <a:ea typeface="隶书" panose="02010509060101010101" pitchFamily="49" charset="-122"/>
            </a:endParaRPr>
          </a:p>
        </p:txBody>
      </p:sp>
      <p:sp>
        <p:nvSpPr>
          <p:cNvPr id="16388" name="Rectangle 5"/>
          <p:cNvSpPr>
            <a:spLocks noChangeArrowheads="1"/>
          </p:cNvSpPr>
          <p:nvPr/>
        </p:nvSpPr>
        <p:spPr bwMode="auto">
          <a:xfrm>
            <a:off x="654049" y="1312863"/>
            <a:ext cx="8302625" cy="5261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a:tailEnd/>
              </a14:hiddenLine>
            </a:ext>
          </a:extLst>
        </p:spPr>
        <p:txBody>
          <a:bodyPr wrap="square" lIns="36000" tIns="36000" rIns="36000" bIns="36000">
            <a:spAutoFit/>
          </a:bodyPr>
          <a:lstStyle>
            <a:lvl1pPr marL="342900" indent="-342900">
              <a:defRPr kumimoji="1" sz="2100" b="1">
                <a:solidFill>
                  <a:srgbClr val="FFFF00"/>
                </a:solidFill>
                <a:latin typeface="Times New Roman" panose="02020603050405020304" pitchFamily="18" charset="0"/>
                <a:ea typeface="宋体" panose="02010600030101010101" pitchFamily="2" charset="-122"/>
              </a:defRPr>
            </a:lvl1pPr>
            <a:lvl2pPr marL="800100" indent="-342900">
              <a:defRPr kumimoji="1" sz="2100" b="1">
                <a:solidFill>
                  <a:srgbClr val="FFFF00"/>
                </a:solidFill>
                <a:latin typeface="Times New Roman" panose="02020603050405020304" pitchFamily="18" charset="0"/>
                <a:ea typeface="宋体" panose="02010600030101010101" pitchFamily="2" charset="-122"/>
              </a:defRPr>
            </a:lvl2pPr>
            <a:lvl3pPr marL="1143000" indent="-228600">
              <a:defRPr kumimoji="1" sz="2100" b="1">
                <a:solidFill>
                  <a:srgbClr val="FFFF00"/>
                </a:solidFill>
                <a:latin typeface="Times New Roman" panose="02020603050405020304" pitchFamily="18" charset="0"/>
                <a:ea typeface="宋体" panose="02010600030101010101" pitchFamily="2" charset="-122"/>
              </a:defRPr>
            </a:lvl3pPr>
            <a:lvl4pPr marL="1600200" indent="-228600">
              <a:defRPr kumimoji="1" sz="2100" b="1">
                <a:solidFill>
                  <a:srgbClr val="FFFF00"/>
                </a:solidFill>
                <a:latin typeface="Times New Roman" panose="02020603050405020304" pitchFamily="18" charset="0"/>
                <a:ea typeface="宋体" panose="02010600030101010101" pitchFamily="2" charset="-122"/>
              </a:defRPr>
            </a:lvl4pPr>
            <a:lvl5pPr marL="2057400" indent="-22860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9pPr>
          </a:lstStyle>
          <a:p>
            <a:pPr marL="0" indent="0" algn="l" eaLnBrk="1" hangingPunct="1">
              <a:lnSpc>
                <a:spcPct val="135000"/>
              </a:lnSpc>
              <a:spcBef>
                <a:spcPct val="25000"/>
              </a:spcBef>
              <a:buClr>
                <a:srgbClr val="00B0F0"/>
              </a:buClr>
              <a:buSzPct val="75000"/>
            </a:pPr>
            <a:r>
              <a:rPr lang="zh-CN" altLang="en-US" sz="2400" dirty="0" smtClean="0">
                <a:latin typeface="微软雅黑" panose="020B0503020204020204" pitchFamily="34" charset="-122"/>
                <a:ea typeface="微软雅黑" panose="020B0503020204020204" pitchFamily="34" charset="-122"/>
              </a:rPr>
              <a:t>形参的类型决定了形参和实参交互的方式：</a:t>
            </a:r>
            <a:r>
              <a:rPr lang="zh-CN" altLang="en-US" sz="2400" dirty="0" smtClean="0">
                <a:solidFill>
                  <a:schemeClr val="tx1"/>
                </a:solidFill>
                <a:latin typeface="微软雅黑" panose="020B0503020204020204" pitchFamily="34" charset="-122"/>
                <a:ea typeface="微软雅黑" panose="020B0503020204020204" pitchFamily="34" charset="-122"/>
              </a:rPr>
              <a:t>值传递和引用传递</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引用</a:t>
            </a:r>
            <a:r>
              <a:rPr lang="zh-CN" altLang="en-US" sz="2400" dirty="0" smtClean="0">
                <a:latin typeface="微软雅黑" panose="020B0503020204020204" pitchFamily="34" charset="-122"/>
                <a:ea typeface="微软雅黑" panose="020B0503020204020204" pitchFamily="34" charset="-122"/>
              </a:rPr>
              <a:t>传递：</a:t>
            </a:r>
            <a:r>
              <a:rPr lang="zh-CN" altLang="en-US" sz="2400" dirty="0">
                <a:solidFill>
                  <a:schemeClr val="tx1"/>
                </a:solidFill>
                <a:latin typeface="微软雅黑" panose="020B0503020204020204" pitchFamily="34" charset="-122"/>
                <a:ea typeface="微软雅黑" panose="020B0503020204020204" pitchFamily="34" charset="-122"/>
              </a:rPr>
              <a:t>当</a:t>
            </a:r>
            <a:r>
              <a:rPr lang="zh-CN" altLang="en-US" sz="2400" dirty="0" smtClean="0">
                <a:solidFill>
                  <a:schemeClr val="tx1"/>
                </a:solidFill>
                <a:latin typeface="微软雅黑" panose="020B0503020204020204" pitchFamily="34" charset="-122"/>
                <a:ea typeface="微软雅黑" panose="020B0503020204020204" pitchFamily="34" charset="-122"/>
              </a:rPr>
              <a:t>形参</a:t>
            </a:r>
            <a:r>
              <a:rPr lang="zh-CN" altLang="en-US" sz="2400" dirty="0">
                <a:solidFill>
                  <a:schemeClr val="tx1"/>
                </a:solidFill>
                <a:latin typeface="微软雅黑" panose="020B0503020204020204" pitchFamily="34" charset="-122"/>
                <a:ea typeface="微软雅黑" panose="020B0503020204020204" pitchFamily="34" charset="-122"/>
              </a:rPr>
              <a:t>是引用类型时</a:t>
            </a:r>
            <a:r>
              <a:rPr lang="zh-CN" altLang="en-US" sz="2400" dirty="0" smtClean="0">
                <a:solidFill>
                  <a:schemeClr val="tx1"/>
                </a:solidFill>
                <a:latin typeface="微软雅黑" panose="020B0503020204020204" pitchFamily="34" charset="-122"/>
                <a:ea typeface="微软雅黑" panose="020B0503020204020204" pitchFamily="34" charset="-122"/>
              </a:rPr>
              <a:t>称为</a:t>
            </a:r>
            <a:r>
              <a:rPr lang="zh-CN" altLang="en-US" sz="2400" dirty="0">
                <a:solidFill>
                  <a:schemeClr val="tx1"/>
                </a:solidFill>
                <a:latin typeface="微软雅黑" panose="020B0503020204020204" pitchFamily="34" charset="-122"/>
                <a:ea typeface="微软雅黑" panose="020B0503020204020204" pitchFamily="34" charset="-122"/>
              </a:rPr>
              <a:t>引用传递</a:t>
            </a:r>
            <a:r>
              <a:rPr lang="zh-CN" altLang="en-US" sz="2400" dirty="0" smtClean="0">
                <a:solidFill>
                  <a:schemeClr val="tx1"/>
                </a:solidFill>
                <a:latin typeface="微软雅黑" panose="020B0503020204020204" pitchFamily="34" charset="-122"/>
                <a:ea typeface="微软雅黑" panose="020B0503020204020204" pitchFamily="34" charset="-122"/>
              </a:rPr>
              <a:t>，此时形参绑定实参对象</a:t>
            </a:r>
            <a:endParaRPr lang="en-US" altLang="zh-CN" sz="2400" dirty="0">
              <a:solidFill>
                <a:schemeClr val="tx1"/>
              </a:solidFill>
              <a:latin typeface="微软雅黑" panose="020B0503020204020204" pitchFamily="34" charset="-122"/>
              <a:ea typeface="微软雅黑" panose="020B0503020204020204" pitchFamily="34" charset="-122"/>
            </a:endParaRPr>
          </a:p>
          <a:p>
            <a:pPr algn="l" eaLnBrk="1" hangingPunct="1">
              <a:spcBef>
                <a:spcPct val="25000"/>
              </a:spcBef>
              <a:buClr>
                <a:srgbClr val="00B0F0"/>
              </a:buClr>
              <a:buSzPct val="75000"/>
              <a:buFont typeface="Wingdings" panose="05000000000000000000" pitchFamily="2" charset="2"/>
              <a:buChar char="u"/>
            </a:pPr>
            <a:r>
              <a:rPr lang="zh-CN" altLang="en-US" sz="2400" dirty="0" smtClean="0">
                <a:latin typeface="微软雅黑" panose="020B0503020204020204" pitchFamily="34" charset="-122"/>
                <a:ea typeface="微软雅黑" panose="020B0503020204020204" pitchFamily="34" charset="-122"/>
              </a:rPr>
              <a:t>值传递：</a:t>
            </a:r>
            <a:r>
              <a:rPr lang="zh-CN" altLang="en-US" sz="2400" dirty="0" smtClean="0">
                <a:solidFill>
                  <a:schemeClr val="tx1"/>
                </a:solidFill>
                <a:latin typeface="微软雅黑" panose="020B0503020204020204" pitchFamily="34" charset="-122"/>
                <a:ea typeface="微软雅黑" panose="020B0503020204020204" pitchFamily="34" charset="-122"/>
              </a:rPr>
              <a:t>当</a:t>
            </a:r>
            <a:r>
              <a:rPr lang="zh-CN" altLang="en-US" sz="2400" dirty="0">
                <a:solidFill>
                  <a:schemeClr val="tx1"/>
                </a:solidFill>
                <a:latin typeface="微软雅黑" panose="020B0503020204020204" pitchFamily="34" charset="-122"/>
                <a:ea typeface="微软雅黑" panose="020B0503020204020204" pitchFamily="34" charset="-122"/>
              </a:rPr>
              <a:t>实参的值拷贝给形参时，形参和实参是相关独立的对象，称为值传递</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什么是传值：</a:t>
            </a:r>
            <a:r>
              <a:rPr lang="zh-CN" altLang="en-US" sz="2400" dirty="0" smtClean="0">
                <a:solidFill>
                  <a:schemeClr val="tx1"/>
                </a:solidFill>
                <a:latin typeface="微软雅黑" panose="020B0503020204020204" pitchFamily="34" charset="-122"/>
                <a:ea typeface="微软雅黑" panose="020B0503020204020204" pitchFamily="34" charset="-122"/>
              </a:rPr>
              <a:t>指初始化</a:t>
            </a:r>
            <a:r>
              <a:rPr lang="zh-CN" altLang="en-US" sz="2400" dirty="0">
                <a:solidFill>
                  <a:schemeClr val="tx1"/>
                </a:solidFill>
                <a:latin typeface="微软雅黑" panose="020B0503020204020204" pitchFamily="34" charset="-122"/>
                <a:ea typeface="微软雅黑" panose="020B0503020204020204" pitchFamily="34" charset="-122"/>
              </a:rPr>
              <a:t>一个非引用类型变量，初始值被拷贝</a:t>
            </a:r>
            <a:r>
              <a:rPr lang="zh-CN" altLang="en-US" sz="2400" dirty="0" smtClean="0">
                <a:solidFill>
                  <a:schemeClr val="tx1"/>
                </a:solidFill>
                <a:latin typeface="微软雅黑" panose="020B0503020204020204" pitchFamily="34" charset="-122"/>
                <a:ea typeface="微软雅黑" panose="020B0503020204020204" pitchFamily="34" charset="-122"/>
              </a:rPr>
              <a:t>给变量。变量</a:t>
            </a:r>
            <a:r>
              <a:rPr lang="zh-CN" altLang="en-US" sz="2400" dirty="0">
                <a:solidFill>
                  <a:schemeClr val="tx1"/>
                </a:solidFill>
                <a:latin typeface="微软雅黑" panose="020B0503020204020204" pitchFamily="34" charset="-122"/>
                <a:ea typeface="微软雅黑" panose="020B0503020204020204" pitchFamily="34" charset="-122"/>
              </a:rPr>
              <a:t>的改动不影响初始值</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传值参数</a:t>
            </a:r>
            <a:r>
              <a:rPr lang="zh-CN" altLang="en-US" sz="2400" dirty="0">
                <a:solidFill>
                  <a:schemeClr val="tx1"/>
                </a:solidFill>
                <a:latin typeface="微软雅黑" panose="020B0503020204020204" pitchFamily="34" charset="-122"/>
                <a:ea typeface="微软雅黑" panose="020B0503020204020204" pitchFamily="34" charset="-122"/>
              </a:rPr>
              <a:t>的机理完全一样，函数对形参做的所有操作都不会影响实参</a:t>
            </a:r>
            <a:endParaRPr lang="en-US" altLang="zh-CN" sz="2400" dirty="0">
              <a:solidFill>
                <a:schemeClr val="tx1"/>
              </a:solidFill>
              <a:latin typeface="微软雅黑" panose="020B0503020204020204" pitchFamily="34" charset="-122"/>
              <a:ea typeface="微软雅黑" panose="020B0503020204020204" pitchFamily="34" charset="-122"/>
            </a:endParaRPr>
          </a:p>
          <a:p>
            <a:pPr algn="l" eaLnBrk="1" hangingPunct="1">
              <a:lnSpc>
                <a:spcPct val="135000"/>
              </a:lnSpc>
              <a:spcBef>
                <a:spcPct val="25000"/>
              </a:spcBef>
              <a:buClr>
                <a:srgbClr val="00B0F0"/>
              </a:buClr>
              <a:buSzPct val="75000"/>
              <a:buFont typeface="Wingdings" panose="05000000000000000000" pitchFamily="2" charset="2"/>
              <a:buChar char="u"/>
            </a:pP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1" name="Rectangle 3"/>
          <p:cNvSpPr>
            <a:spLocks noChangeArrowheads="1"/>
          </p:cNvSpPr>
          <p:nvPr/>
        </p:nvSpPr>
        <p:spPr bwMode="auto">
          <a:xfrm>
            <a:off x="1487182" y="1843551"/>
            <a:ext cx="70564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zh-CN" altLang="en-US" sz="2800" b="1" dirty="0">
                <a:solidFill>
                  <a:srgbClr val="FFFF00"/>
                </a:solidFill>
                <a:latin typeface="Times New Roman" panose="02020603050405020304" pitchFamily="18" charset="0"/>
                <a:ea typeface="华文楷体" panose="02010600040101010101" pitchFamily="2" charset="-122"/>
              </a:rPr>
              <a:t>实参和形参之间的传递方式一：按值传递</a:t>
            </a:r>
            <a:endParaRPr kumimoji="0" lang="zh-CN" altLang="en-US" sz="2800" b="1" dirty="0">
              <a:solidFill>
                <a:srgbClr val="FFFF00"/>
              </a:solidFill>
              <a:latin typeface="Times New Roman" panose="02020603050405020304" pitchFamily="18" charset="0"/>
              <a:ea typeface="华文楷体" panose="02010600040101010101" pitchFamily="2" charset="-122"/>
            </a:endParaRPr>
          </a:p>
        </p:txBody>
      </p:sp>
      <p:sp>
        <p:nvSpPr>
          <p:cNvPr id="160772" name="Rectangle 4"/>
          <p:cNvSpPr>
            <a:spLocks noGrp="1" noChangeArrowheads="1"/>
          </p:cNvSpPr>
          <p:nvPr>
            <p:ph type="body" sz="half" idx="1"/>
          </p:nvPr>
        </p:nvSpPr>
        <p:spPr>
          <a:xfrm>
            <a:off x="4716463" y="2708275"/>
            <a:ext cx="3816350" cy="2547938"/>
          </a:xfrm>
          <a:noFill/>
        </p:spPr>
        <p:txBody>
          <a:bodyPr/>
          <a:lstStyle/>
          <a:p>
            <a:pPr marL="476250" indent="-476250" eaLnBrk="1" hangingPunct="1">
              <a:spcBef>
                <a:spcPct val="50000"/>
              </a:spcBef>
              <a:tabLst>
                <a:tab pos="266700" algn="l"/>
              </a:tabLst>
            </a:pPr>
            <a:r>
              <a:rPr lang="zh-CN" altLang="en-US" sz="2400" b="1" dirty="0" smtClean="0">
                <a:ea typeface="华文楷体" panose="02010600040101010101" pitchFamily="2" charset="-122"/>
              </a:rPr>
              <a:t>形参和实参各有自己的内存空间；</a:t>
            </a:r>
            <a:endParaRPr lang="zh-CN" altLang="en-US" sz="2400" b="1" dirty="0" smtClean="0">
              <a:ea typeface="华文楷体" panose="02010600040101010101" pitchFamily="2" charset="-122"/>
            </a:endParaRPr>
          </a:p>
          <a:p>
            <a:pPr marL="476250" indent="-476250" eaLnBrk="1" hangingPunct="1">
              <a:spcBef>
                <a:spcPct val="50000"/>
              </a:spcBef>
              <a:tabLst>
                <a:tab pos="266700" algn="l"/>
              </a:tabLst>
            </a:pPr>
            <a:r>
              <a:rPr lang="zh-CN" altLang="en-US" sz="2400" b="1" dirty="0" smtClean="0">
                <a:ea typeface="华文楷体" panose="02010600040101010101" pitchFamily="2" charset="-122"/>
              </a:rPr>
              <a:t>单向传递：把实参的值赋值给形参变量；</a:t>
            </a:r>
            <a:endParaRPr lang="zh-CN" altLang="en-US" sz="2400" b="1" dirty="0" smtClean="0">
              <a:ea typeface="华文楷体" panose="02010600040101010101" pitchFamily="2" charset="-122"/>
            </a:endParaRPr>
          </a:p>
          <a:p>
            <a:pPr marL="476250" indent="-476250" eaLnBrk="1" hangingPunct="1">
              <a:spcBef>
                <a:spcPct val="50000"/>
              </a:spcBef>
              <a:tabLst>
                <a:tab pos="266700" algn="l"/>
              </a:tabLst>
            </a:pPr>
            <a:r>
              <a:rPr lang="zh-CN" altLang="en-US" sz="2400" b="1" dirty="0" smtClean="0">
                <a:ea typeface="华文楷体" panose="02010600040101010101" pitchFamily="2" charset="-122"/>
              </a:rPr>
              <a:t>形参的取值改变不影响实参。</a:t>
            </a:r>
            <a:endParaRPr lang="zh-CN" altLang="en-US" sz="2400" b="1" dirty="0" smtClean="0">
              <a:ea typeface="华文楷体" panose="02010600040101010101" pitchFamily="2" charset="-122"/>
            </a:endParaRPr>
          </a:p>
        </p:txBody>
      </p:sp>
      <p:sp>
        <p:nvSpPr>
          <p:cNvPr id="160773" name="AutoShape 5"/>
          <p:cNvSpPr>
            <a:spLocks noChangeArrowheads="1"/>
          </p:cNvSpPr>
          <p:nvPr/>
        </p:nvSpPr>
        <p:spPr bwMode="auto">
          <a:xfrm>
            <a:off x="3635896" y="3390466"/>
            <a:ext cx="959619" cy="1210544"/>
          </a:xfrm>
          <a:prstGeom prst="rightArrow">
            <a:avLst>
              <a:gd name="adj1" fmla="val 50000"/>
              <a:gd name="adj2" fmla="val 25000"/>
            </a:avLst>
          </a:prstGeom>
          <a:solidFill>
            <a:schemeClr val="tx2"/>
          </a:solidFill>
          <a:ln w="12700" algn="ctr">
            <a:solidFill>
              <a:srgbClr val="FFC000"/>
            </a:solidFill>
            <a:miter lim="800000"/>
          </a:ln>
        </p:spPr>
        <p:txBody>
          <a:bodyPr wrap="square"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特点</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grpSp>
        <p:nvGrpSpPr>
          <p:cNvPr id="160774" name="Group 6"/>
          <p:cNvGrpSpPr/>
          <p:nvPr/>
        </p:nvGrpSpPr>
        <p:grpSpPr bwMode="auto">
          <a:xfrm>
            <a:off x="1187450" y="2924174"/>
            <a:ext cx="1838325" cy="2568575"/>
            <a:chOff x="567" y="2134"/>
            <a:chExt cx="1158" cy="1618"/>
          </a:xfrm>
        </p:grpSpPr>
        <p:sp>
          <p:nvSpPr>
            <p:cNvPr id="160775" name="AutoShape 7"/>
            <p:cNvSpPr>
              <a:spLocks noChangeArrowheads="1"/>
            </p:cNvSpPr>
            <p:nvPr/>
          </p:nvSpPr>
          <p:spPr bwMode="auto">
            <a:xfrm>
              <a:off x="609" y="2134"/>
              <a:ext cx="1113" cy="424"/>
            </a:xfrm>
            <a:prstGeom prst="roundRect">
              <a:avLst>
                <a:gd name="adj" fmla="val 16667"/>
              </a:avLst>
            </a:prstGeom>
            <a:solidFill>
              <a:srgbClr val="CCECFF"/>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形式参数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sp>
          <p:nvSpPr>
            <p:cNvPr id="160776" name="AutoShape 8"/>
            <p:cNvSpPr>
              <a:spLocks noChangeArrowheads="1"/>
            </p:cNvSpPr>
            <p:nvPr/>
          </p:nvSpPr>
          <p:spPr bwMode="auto">
            <a:xfrm>
              <a:off x="612" y="3350"/>
              <a:ext cx="1113" cy="402"/>
            </a:xfrm>
            <a:prstGeom prst="roundRect">
              <a:avLst>
                <a:gd name="adj" fmla="val 16667"/>
              </a:avLst>
            </a:prstGeom>
            <a:solidFill>
              <a:srgbClr val="ECECEC"/>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实际</a:t>
              </a:r>
              <a:r>
                <a:rPr kumimoji="0" lang="zh-CN" altLang="en-US" sz="2800" b="1" dirty="0" smtClean="0">
                  <a:solidFill>
                    <a:srgbClr val="000000"/>
                  </a:solidFill>
                  <a:latin typeface="Times New Roman" panose="02020603050405020304" pitchFamily="18" charset="0"/>
                  <a:ea typeface="华文楷体" panose="02010600040101010101" pitchFamily="2" charset="-122"/>
                </a:rPr>
                <a:t>参数</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cxnSp>
          <p:nvCxnSpPr>
            <p:cNvPr id="160777" name="AutoShape 9"/>
            <p:cNvCxnSpPr>
              <a:cxnSpLocks noChangeShapeType="1"/>
              <a:stCxn id="160775" idx="2"/>
              <a:endCxn id="160776" idx="0"/>
            </p:cNvCxnSpPr>
            <p:nvPr/>
          </p:nvCxnSpPr>
          <p:spPr bwMode="auto">
            <a:xfrm>
              <a:off x="1166" y="2558"/>
              <a:ext cx="3" cy="792"/>
            </a:xfrm>
            <a:prstGeom prst="straightConnector1">
              <a:avLst/>
            </a:prstGeom>
            <a:noFill/>
            <a:ln w="28575">
              <a:solidFill>
                <a:srgbClr val="FFC000"/>
              </a:solidFill>
              <a:round/>
              <a:headEnd type="triangle" w="lg" len="lg"/>
            </a:ln>
            <a:extLst>
              <a:ext uri="{909E8E84-426E-40DD-AFC4-6F175D3DCCD1}">
                <a14:hiddenFill xmlns:a14="http://schemas.microsoft.com/office/drawing/2010/main">
                  <a:noFill/>
                </a14:hiddenFill>
              </a:ext>
            </a:extLst>
          </p:spPr>
        </p:cxnSp>
        <p:sp>
          <p:nvSpPr>
            <p:cNvPr id="160778" name="Text Box 10"/>
            <p:cNvSpPr txBox="1">
              <a:spLocks noChangeArrowheads="1"/>
            </p:cNvSpPr>
            <p:nvPr/>
          </p:nvSpPr>
          <p:spPr bwMode="auto">
            <a:xfrm>
              <a:off x="567" y="2704"/>
              <a:ext cx="108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按值传递</a:t>
              </a:r>
              <a:endParaRPr kumimoji="0" lang="zh-CN" altLang="en-US" sz="2400" b="1" dirty="0">
                <a:latin typeface="Times New Roman" panose="02020603050405020304" pitchFamily="18" charset="0"/>
                <a:ea typeface="华文楷体" panose="02010600040101010101" pitchFamily="2" charset="-122"/>
              </a:endParaRPr>
            </a:p>
          </p:txBody>
        </p:sp>
      </p:grpSp>
      <p:sp>
        <p:nvSpPr>
          <p:cNvPr id="12" name="Rectangle 3"/>
          <p:cNvSpPr>
            <a:spLocks noGrp="1" noChangeArrowheads="1"/>
          </p:cNvSpPr>
          <p:nvPr>
            <p:ph type="title"/>
          </p:nvPr>
        </p:nvSpPr>
        <p:spPr>
          <a:xfrm>
            <a:off x="654050" y="555625"/>
            <a:ext cx="8080375" cy="585788"/>
          </a:xfrm>
        </p:spPr>
        <p:txBody>
          <a:bodyPr/>
          <a:lstStyle/>
          <a:p>
            <a:pPr algn="ctr" eaLnBrk="1" hangingPunct="1"/>
            <a:r>
              <a:rPr lang="en-US" altLang="zh-CN" sz="4400" b="1" dirty="0">
                <a:ea typeface="华文行楷" panose="02010800040101010101" pitchFamily="2" charset="-122"/>
              </a:rPr>
              <a:t> </a:t>
            </a:r>
            <a:r>
              <a:rPr lang="en-US" altLang="zh-CN" sz="4400" b="1" dirty="0">
                <a:solidFill>
                  <a:srgbClr val="FFFFFF"/>
                </a:solidFill>
                <a:latin typeface="Times New Roman" panose="02020603050405020304" pitchFamily="18" charset="0"/>
                <a:ea typeface="隶书" panose="02010509060101010101" pitchFamily="49" charset="-122"/>
              </a:rPr>
              <a:t>3.1.3 </a:t>
            </a:r>
            <a:r>
              <a:rPr lang="zh-CN" altLang="en-US" sz="4400" b="1" dirty="0">
                <a:solidFill>
                  <a:srgbClr val="FFFFFF"/>
                </a:solidFill>
                <a:latin typeface="Times New Roman" panose="02020603050405020304" pitchFamily="18" charset="0"/>
                <a:ea typeface="隶书" panose="02010509060101010101" pitchFamily="49" charset="-122"/>
              </a:rPr>
              <a:t>函数的参数传递</a:t>
            </a:r>
            <a:r>
              <a:rPr lang="zh-CN" altLang="en-US" sz="4400" b="1" dirty="0" smtClean="0">
                <a:solidFill>
                  <a:srgbClr val="FFFFFF"/>
                </a:solidFill>
                <a:latin typeface="Times New Roman" panose="02020603050405020304" pitchFamily="18" charset="0"/>
                <a:ea typeface="隶书" panose="02010509060101010101" pitchFamily="49" charset="-122"/>
              </a:rPr>
              <a:t>：值传递</a:t>
            </a:r>
            <a:endParaRPr lang="zh-CN" altLang="en-US" sz="4400" b="1" dirty="0">
              <a:ea typeface="华文行楷" panose="02010800040101010101" pitchFamily="2" charset="-122"/>
            </a:endParaRPr>
          </a:p>
        </p:txBody>
      </p:sp>
    </p:spTree>
  </p:cSld>
  <p:clrMapOvr>
    <a:masterClrMapping/>
  </p:clrMapOvr>
  <p:transition>
    <p:cove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457200" y="571500"/>
            <a:ext cx="8229600" cy="1066800"/>
          </a:xfrm>
        </p:spPr>
        <p:txBody>
          <a:bodyPr/>
          <a:lstStyle/>
          <a:p>
            <a:pPr algn="ctr"/>
            <a:r>
              <a:rPr lang="zh-CN" altLang="en-US" b="1" dirty="0" smtClean="0">
                <a:solidFill>
                  <a:srgbClr val="FFFFFF"/>
                </a:solidFill>
                <a:latin typeface="Times New Roman" panose="02020603050405020304" pitchFamily="18" charset="0"/>
                <a:ea typeface="隶书" panose="02010509060101010101" pitchFamily="49" charset="-122"/>
              </a:rPr>
              <a:t>值传递举例</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grpSp>
        <p:nvGrpSpPr>
          <p:cNvPr id="2" name="Group 24"/>
          <p:cNvGrpSpPr/>
          <p:nvPr/>
        </p:nvGrpSpPr>
        <p:grpSpPr bwMode="auto">
          <a:xfrm>
            <a:off x="1409700" y="1857375"/>
            <a:ext cx="6289676" cy="4164013"/>
            <a:chOff x="846" y="1056"/>
            <a:chExt cx="3962" cy="2623"/>
          </a:xfrm>
        </p:grpSpPr>
        <p:sp>
          <p:nvSpPr>
            <p:cNvPr id="57350" name="Rectangle 4"/>
            <p:cNvSpPr>
              <a:spLocks noChangeArrowheads="1"/>
            </p:cNvSpPr>
            <p:nvPr/>
          </p:nvSpPr>
          <p:spPr bwMode="auto">
            <a:xfrm>
              <a:off x="2027" y="2544"/>
              <a:ext cx="1012" cy="402"/>
            </a:xfrm>
            <a:prstGeom prst="rect">
              <a:avLst/>
            </a:prstGeom>
            <a:solidFill>
              <a:srgbClr val="FFFFFF"/>
            </a:solidFill>
            <a:ln w="12700">
              <a:solidFill>
                <a:schemeClr val="tx1"/>
              </a:solidFill>
              <a:miter lim="800000"/>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51" name="Rectangle 5"/>
            <p:cNvSpPr>
              <a:spLocks noChangeArrowheads="1"/>
            </p:cNvSpPr>
            <p:nvPr/>
          </p:nvSpPr>
          <p:spPr bwMode="auto">
            <a:xfrm>
              <a:off x="3803" y="2567"/>
              <a:ext cx="942" cy="379"/>
            </a:xfrm>
            <a:prstGeom prst="rect">
              <a:avLst/>
            </a:prstGeom>
            <a:solidFill>
              <a:srgbClr val="FFFFFF"/>
            </a:solidFill>
            <a:ln w="12700">
              <a:solidFill>
                <a:schemeClr val="tx1"/>
              </a:solidFill>
              <a:miter lim="800000"/>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1605" y="2578"/>
              <a:ext cx="159" cy="271"/>
            </a:xfrm>
            <a:prstGeom prst="rect">
              <a:avLst/>
            </a:prstGeom>
            <a:noFill/>
            <a:ln w="9525">
              <a:noFill/>
              <a:miter lim="800000"/>
            </a:ln>
          </p:spPr>
          <p:txBody>
            <a:bodyPr wrap="none" lIns="0" tIns="0" rIns="0" bIns="0">
              <a:spAutoFit/>
            </a:bodyPr>
            <a:lstStyle/>
            <a:p>
              <a:pPr algn="just">
                <a:defRPr/>
              </a:pPr>
              <a:r>
                <a:rPr lang="en-US" altLang="zh-CN" sz="2800" b="1" dirty="0">
                  <a:latin typeface="微软雅黑" panose="020B0503020204020204" pitchFamily="34" charset="-122"/>
                  <a:ea typeface="微软雅黑" panose="020B0503020204020204" pitchFamily="34" charset="-122"/>
                </a:rPr>
                <a:t>X</a:t>
              </a:r>
              <a:endParaRPr lang="en-US" altLang="zh-CN" sz="2800" b="1" dirty="0">
                <a:latin typeface="微软雅黑" panose="020B0503020204020204" pitchFamily="34" charset="-122"/>
                <a:ea typeface="微软雅黑" panose="020B0503020204020204" pitchFamily="34" charset="-122"/>
              </a:endParaRPr>
            </a:p>
          </p:txBody>
        </p:sp>
        <p:sp>
          <p:nvSpPr>
            <p:cNvPr id="10" name="Rectangle 7"/>
            <p:cNvSpPr>
              <a:spLocks noChangeArrowheads="1"/>
            </p:cNvSpPr>
            <p:nvPr/>
          </p:nvSpPr>
          <p:spPr bwMode="auto">
            <a:xfrm>
              <a:off x="3549" y="2601"/>
              <a:ext cx="192" cy="271"/>
            </a:xfrm>
            <a:prstGeom prst="rect">
              <a:avLst/>
            </a:prstGeom>
            <a:noFill/>
            <a:ln w="9525">
              <a:noFill/>
              <a:miter lim="800000"/>
            </a:ln>
          </p:spPr>
          <p:txBody>
            <a:bodyPr wrap="none" lIns="0" tIns="0" rIns="0" bIns="0">
              <a:spAutoFit/>
            </a:bodyPr>
            <a:lstStyle/>
            <a:p>
              <a:pPr algn="just">
                <a:defRPr/>
              </a:pPr>
              <a:r>
                <a:rPr lang="en-US" altLang="zh-CN" sz="2800" b="1" dirty="0">
                  <a:latin typeface="微软雅黑" panose="020B0503020204020204" pitchFamily="34" charset="-122"/>
                  <a:ea typeface="微软雅黑" panose="020B0503020204020204" pitchFamily="34" charset="-122"/>
                </a:rPr>
                <a:t>N</a:t>
              </a:r>
              <a:endParaRPr lang="en-US" altLang="zh-CN" sz="2800" b="1" dirty="0">
                <a:latin typeface="微软雅黑" panose="020B0503020204020204" pitchFamily="34" charset="-122"/>
                <a:ea typeface="微软雅黑" panose="020B0503020204020204" pitchFamily="34" charset="-122"/>
              </a:endParaRPr>
            </a:p>
          </p:txBody>
        </p:sp>
        <p:sp>
          <p:nvSpPr>
            <p:cNvPr id="57354" name="Freeform 8"/>
            <p:cNvSpPr/>
            <p:nvPr/>
          </p:nvSpPr>
          <p:spPr bwMode="auto">
            <a:xfrm>
              <a:off x="4171" y="2398"/>
              <a:ext cx="158" cy="203"/>
            </a:xfrm>
            <a:custGeom>
              <a:avLst/>
              <a:gdLst>
                <a:gd name="T0" fmla="*/ 1149 w 140"/>
                <a:gd name="T1" fmla="*/ 2530 h 180"/>
                <a:gd name="T2" fmla="*/ 0 w 140"/>
                <a:gd name="T3" fmla="*/ 0 h 180"/>
                <a:gd name="T4" fmla="*/ 1149 w 140"/>
                <a:gd name="T5" fmla="*/ 856 h 180"/>
                <a:gd name="T6" fmla="*/ 1999 w 140"/>
                <a:gd name="T7" fmla="*/ 0 h 180"/>
                <a:gd name="T8" fmla="*/ 1149 w 140"/>
                <a:gd name="T9" fmla="*/ 2530 h 180"/>
                <a:gd name="T10" fmla="*/ 0 60000 65536"/>
                <a:gd name="T11" fmla="*/ 0 60000 65536"/>
                <a:gd name="T12" fmla="*/ 0 60000 65536"/>
                <a:gd name="T13" fmla="*/ 0 60000 65536"/>
                <a:gd name="T14" fmla="*/ 0 60000 65536"/>
                <a:gd name="T15" fmla="*/ 0 w 140"/>
                <a:gd name="T16" fmla="*/ 0 h 180"/>
                <a:gd name="T17" fmla="*/ 140 w 140"/>
                <a:gd name="T18" fmla="*/ 180 h 180"/>
              </a:gdLst>
              <a:ahLst/>
              <a:cxnLst>
                <a:cxn ang="T10">
                  <a:pos x="T0" y="T1"/>
                </a:cxn>
                <a:cxn ang="T11">
                  <a:pos x="T2" y="T3"/>
                </a:cxn>
                <a:cxn ang="T12">
                  <a:pos x="T4" y="T5"/>
                </a:cxn>
                <a:cxn ang="T13">
                  <a:pos x="T6" y="T7"/>
                </a:cxn>
                <a:cxn ang="T14">
                  <a:pos x="T8" y="T9"/>
                </a:cxn>
              </a:cxnLst>
              <a:rect l="T15" t="T16" r="T17" b="T18"/>
              <a:pathLst>
                <a:path w="140" h="180">
                  <a:moveTo>
                    <a:pt x="80" y="180"/>
                  </a:moveTo>
                  <a:lnTo>
                    <a:pt x="0" y="0"/>
                  </a:lnTo>
                  <a:lnTo>
                    <a:pt x="80" y="60"/>
                  </a:lnTo>
                  <a:lnTo>
                    <a:pt x="140" y="0"/>
                  </a:lnTo>
                  <a:lnTo>
                    <a:pt x="80" y="180"/>
                  </a:lnTo>
                  <a:close/>
                </a:path>
              </a:pathLst>
            </a:custGeom>
            <a:solidFill>
              <a:schemeClr val="tx1"/>
            </a:solidFill>
            <a:ln w="9525">
              <a:solidFill>
                <a:schemeClr val="tx1"/>
              </a:solidFill>
              <a:round/>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55" name="Line 9"/>
            <p:cNvSpPr>
              <a:spLocks noChangeShapeType="1"/>
            </p:cNvSpPr>
            <p:nvPr/>
          </p:nvSpPr>
          <p:spPr bwMode="auto">
            <a:xfrm>
              <a:off x="4261" y="1904"/>
              <a:ext cx="3" cy="584"/>
            </a:xfrm>
            <a:prstGeom prst="line">
              <a:avLst/>
            </a:prstGeom>
            <a:noFill/>
            <a:ln w="12700">
              <a:solidFill>
                <a:schemeClr val="tx1"/>
              </a:solidFill>
              <a:round/>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56" name="Freeform 10"/>
            <p:cNvSpPr/>
            <p:nvPr/>
          </p:nvSpPr>
          <p:spPr bwMode="auto">
            <a:xfrm>
              <a:off x="2488" y="2376"/>
              <a:ext cx="157" cy="202"/>
            </a:xfrm>
            <a:custGeom>
              <a:avLst/>
              <a:gdLst>
                <a:gd name="T0" fmla="*/ 990 w 140"/>
                <a:gd name="T1" fmla="*/ 2276 h 180"/>
                <a:gd name="T2" fmla="*/ 0 w 140"/>
                <a:gd name="T3" fmla="*/ 0 h 180"/>
                <a:gd name="T4" fmla="*/ 990 w 140"/>
                <a:gd name="T5" fmla="*/ 744 h 180"/>
                <a:gd name="T6" fmla="*/ 1738 w 140"/>
                <a:gd name="T7" fmla="*/ 0 h 180"/>
                <a:gd name="T8" fmla="*/ 990 w 140"/>
                <a:gd name="T9" fmla="*/ 2276 h 180"/>
                <a:gd name="T10" fmla="*/ 0 60000 65536"/>
                <a:gd name="T11" fmla="*/ 0 60000 65536"/>
                <a:gd name="T12" fmla="*/ 0 60000 65536"/>
                <a:gd name="T13" fmla="*/ 0 60000 65536"/>
                <a:gd name="T14" fmla="*/ 0 60000 65536"/>
                <a:gd name="T15" fmla="*/ 0 w 140"/>
                <a:gd name="T16" fmla="*/ 0 h 180"/>
                <a:gd name="T17" fmla="*/ 140 w 140"/>
                <a:gd name="T18" fmla="*/ 180 h 180"/>
              </a:gdLst>
              <a:ahLst/>
              <a:cxnLst>
                <a:cxn ang="T10">
                  <a:pos x="T0" y="T1"/>
                </a:cxn>
                <a:cxn ang="T11">
                  <a:pos x="T2" y="T3"/>
                </a:cxn>
                <a:cxn ang="T12">
                  <a:pos x="T4" y="T5"/>
                </a:cxn>
                <a:cxn ang="T13">
                  <a:pos x="T6" y="T7"/>
                </a:cxn>
                <a:cxn ang="T14">
                  <a:pos x="T8" y="T9"/>
                </a:cxn>
              </a:cxnLst>
              <a:rect l="T15" t="T16" r="T17" b="T18"/>
              <a:pathLst>
                <a:path w="140" h="180">
                  <a:moveTo>
                    <a:pt x="80" y="180"/>
                  </a:moveTo>
                  <a:lnTo>
                    <a:pt x="0" y="0"/>
                  </a:lnTo>
                  <a:lnTo>
                    <a:pt x="80" y="60"/>
                  </a:lnTo>
                  <a:lnTo>
                    <a:pt x="140" y="0"/>
                  </a:lnTo>
                  <a:lnTo>
                    <a:pt x="80" y="180"/>
                  </a:lnTo>
                  <a:close/>
                </a:path>
              </a:pathLst>
            </a:custGeom>
            <a:solidFill>
              <a:schemeClr val="tx1"/>
            </a:solidFill>
            <a:ln w="9525">
              <a:solidFill>
                <a:schemeClr val="tx1"/>
              </a:solidFill>
              <a:round/>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57" name="Line 11"/>
            <p:cNvSpPr>
              <a:spLocks noChangeShapeType="1"/>
            </p:cNvSpPr>
            <p:nvPr/>
          </p:nvSpPr>
          <p:spPr bwMode="auto">
            <a:xfrm>
              <a:off x="2578" y="1881"/>
              <a:ext cx="3" cy="585"/>
            </a:xfrm>
            <a:prstGeom prst="line">
              <a:avLst/>
            </a:prstGeom>
            <a:noFill/>
            <a:ln w="12700">
              <a:solidFill>
                <a:schemeClr val="tx1"/>
              </a:solidFill>
              <a:round/>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58" name="Rectangle 12"/>
            <p:cNvSpPr>
              <a:spLocks noChangeArrowheads="1"/>
            </p:cNvSpPr>
            <p:nvPr/>
          </p:nvSpPr>
          <p:spPr bwMode="auto">
            <a:xfrm>
              <a:off x="846" y="3072"/>
              <a:ext cx="1131" cy="271"/>
            </a:xfrm>
            <a:prstGeom prst="rect">
              <a:avLst/>
            </a:prstGeom>
            <a:noFill/>
            <a:ln w="9525">
              <a:noFill/>
              <a:miter lim="800000"/>
            </a:ln>
          </p:spPr>
          <p:txBody>
            <a:bodyPr wrap="none" lIns="0" tIns="0" rIns="0" bIns="0">
              <a:spAutoFit/>
            </a:bodyPr>
            <a:lstStyle/>
            <a:p>
              <a:pPr algn="just"/>
              <a:r>
                <a:rPr lang="zh-CN" altLang="en-US" sz="2800" b="1" dirty="0">
                  <a:latin typeface="微软雅黑" panose="020B0503020204020204" pitchFamily="34" charset="-122"/>
                  <a:ea typeface="微软雅黑" panose="020B0503020204020204" pitchFamily="34" charset="-122"/>
                </a:rPr>
                <a:t>被调函数：</a:t>
              </a:r>
              <a:endParaRPr lang="zh-CN" altLang="en-US" sz="2800" b="1" dirty="0">
                <a:latin typeface="微软雅黑" panose="020B0503020204020204" pitchFamily="34" charset="-122"/>
                <a:ea typeface="微软雅黑" panose="020B0503020204020204" pitchFamily="34" charset="-122"/>
              </a:endParaRPr>
            </a:p>
          </p:txBody>
        </p:sp>
        <p:sp>
          <p:nvSpPr>
            <p:cNvPr id="57359" name="Rectangle 13"/>
            <p:cNvSpPr>
              <a:spLocks noChangeArrowheads="1"/>
            </p:cNvSpPr>
            <p:nvPr/>
          </p:nvSpPr>
          <p:spPr bwMode="auto">
            <a:xfrm>
              <a:off x="874" y="1075"/>
              <a:ext cx="1131" cy="271"/>
            </a:xfrm>
            <a:prstGeom prst="rect">
              <a:avLst/>
            </a:prstGeom>
            <a:noFill/>
            <a:ln w="9525">
              <a:noFill/>
              <a:miter lim="800000"/>
            </a:ln>
          </p:spPr>
          <p:txBody>
            <a:bodyPr wrap="none" lIns="0" tIns="0" rIns="0" bIns="0">
              <a:spAutoFit/>
            </a:bodyPr>
            <a:lstStyle/>
            <a:p>
              <a:pPr algn="just"/>
              <a:r>
                <a:rPr lang="zh-CN" altLang="en-US" sz="2800" b="1" dirty="0">
                  <a:latin typeface="微软雅黑" panose="020B0503020204020204" pitchFamily="34" charset="-122"/>
                  <a:ea typeface="微软雅黑" panose="020B0503020204020204" pitchFamily="34" charset="-122"/>
                </a:rPr>
                <a:t>主调函数：</a:t>
              </a:r>
              <a:endParaRPr lang="zh-CN" altLang="en-US" sz="2800" b="1" dirty="0">
                <a:latin typeface="微软雅黑" panose="020B0503020204020204" pitchFamily="34" charset="-122"/>
                <a:ea typeface="微软雅黑" panose="020B0503020204020204" pitchFamily="34" charset="-122"/>
              </a:endParaRPr>
            </a:p>
          </p:txBody>
        </p:sp>
        <p:sp>
          <p:nvSpPr>
            <p:cNvPr id="57360" name="Rectangle 14"/>
            <p:cNvSpPr>
              <a:spLocks noChangeArrowheads="1"/>
            </p:cNvSpPr>
            <p:nvPr/>
          </p:nvSpPr>
          <p:spPr bwMode="auto">
            <a:xfrm>
              <a:off x="3781" y="1600"/>
              <a:ext cx="964" cy="383"/>
            </a:xfrm>
            <a:prstGeom prst="rect">
              <a:avLst/>
            </a:prstGeom>
            <a:solidFill>
              <a:srgbClr val="FFFFFF"/>
            </a:solidFill>
            <a:ln w="12700">
              <a:solidFill>
                <a:schemeClr val="tx1"/>
              </a:solidFill>
              <a:miter lim="800000"/>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61" name="Rectangle 15"/>
            <p:cNvSpPr>
              <a:spLocks noChangeArrowheads="1"/>
            </p:cNvSpPr>
            <p:nvPr/>
          </p:nvSpPr>
          <p:spPr bwMode="auto">
            <a:xfrm>
              <a:off x="4213" y="1637"/>
              <a:ext cx="139" cy="271"/>
            </a:xfrm>
            <a:prstGeom prst="rect">
              <a:avLst/>
            </a:prstGeom>
            <a:noFill/>
            <a:ln w="9525">
              <a:noFill/>
              <a:miter lim="800000"/>
            </a:ln>
          </p:spPr>
          <p:txBody>
            <a:bodyPr wrap="none" lIns="0" tIns="0" rIns="0" bIns="0">
              <a:spAutoFit/>
            </a:bodyPr>
            <a:lstStyle/>
            <a:p>
              <a:pPr algn="just"/>
              <a:r>
                <a:rPr lang="en-US" altLang="zh-CN" sz="2800" b="1" dirty="0">
                  <a:solidFill>
                    <a:srgbClr val="000000"/>
                  </a:solidFill>
                  <a:latin typeface="微软雅黑" panose="020B0503020204020204" pitchFamily="34" charset="-122"/>
                  <a:ea typeface="微软雅黑" panose="020B0503020204020204" pitchFamily="34" charset="-122"/>
                </a:rPr>
                <a:t>3</a:t>
              </a:r>
              <a:endParaRPr lang="en-US" altLang="zh-CN" sz="2800" b="1" dirty="0">
                <a:solidFill>
                  <a:srgbClr val="000000"/>
                </a:solidFill>
                <a:latin typeface="微软雅黑" panose="020B0503020204020204" pitchFamily="34" charset="-122"/>
                <a:ea typeface="微软雅黑" panose="020B0503020204020204" pitchFamily="34" charset="-122"/>
              </a:endParaRPr>
            </a:p>
          </p:txBody>
        </p:sp>
        <p:sp>
          <p:nvSpPr>
            <p:cNvPr id="57362" name="Rectangle 16"/>
            <p:cNvSpPr>
              <a:spLocks noChangeArrowheads="1"/>
            </p:cNvSpPr>
            <p:nvPr/>
          </p:nvSpPr>
          <p:spPr bwMode="auto">
            <a:xfrm>
              <a:off x="2007" y="1600"/>
              <a:ext cx="987" cy="383"/>
            </a:xfrm>
            <a:prstGeom prst="rect">
              <a:avLst/>
            </a:prstGeom>
            <a:solidFill>
              <a:srgbClr val="FFFFFF"/>
            </a:solidFill>
            <a:ln w="12700">
              <a:solidFill>
                <a:schemeClr val="tx1"/>
              </a:solidFill>
              <a:miter lim="800000"/>
            </a:ln>
          </p:spPr>
          <p:txBody>
            <a:bodyPr/>
            <a:lstStyle/>
            <a:p>
              <a:endParaRPr lang="zh-CN" altLang="en-US" sz="2000" b="1">
                <a:latin typeface="微软雅黑" panose="020B0503020204020204" pitchFamily="34" charset="-122"/>
                <a:ea typeface="微软雅黑" panose="020B0503020204020204" pitchFamily="34" charset="-122"/>
              </a:endParaRPr>
            </a:p>
          </p:txBody>
        </p:sp>
        <p:sp>
          <p:nvSpPr>
            <p:cNvPr id="57363" name="Rectangle 17"/>
            <p:cNvSpPr>
              <a:spLocks noChangeArrowheads="1"/>
            </p:cNvSpPr>
            <p:nvPr/>
          </p:nvSpPr>
          <p:spPr bwMode="auto">
            <a:xfrm>
              <a:off x="2297" y="1659"/>
              <a:ext cx="411" cy="271"/>
            </a:xfrm>
            <a:prstGeom prst="rect">
              <a:avLst/>
            </a:prstGeom>
            <a:noFill/>
            <a:ln w="9525">
              <a:noFill/>
              <a:miter lim="800000"/>
            </a:ln>
          </p:spPr>
          <p:txBody>
            <a:bodyPr wrap="none" lIns="0" tIns="0" rIns="0" bIns="0">
              <a:spAutoFit/>
            </a:bodyPr>
            <a:lstStyle/>
            <a:p>
              <a:pPr algn="just"/>
              <a:r>
                <a:rPr lang="en-US" altLang="zh-CN" sz="2800" b="1" dirty="0">
                  <a:solidFill>
                    <a:schemeClr val="bg2"/>
                  </a:solidFill>
                  <a:latin typeface="微软雅黑" panose="020B0503020204020204" pitchFamily="34" charset="-122"/>
                  <a:ea typeface="微软雅黑" panose="020B0503020204020204" pitchFamily="34" charset="-122"/>
                </a:rPr>
                <a:t> </a:t>
              </a:r>
              <a:r>
                <a:rPr lang="en-US" altLang="zh-CN" sz="2800" b="1" dirty="0">
                  <a:solidFill>
                    <a:srgbClr val="000000"/>
                  </a:solidFill>
                  <a:latin typeface="微软雅黑" panose="020B0503020204020204" pitchFamily="34" charset="-122"/>
                  <a:ea typeface="微软雅黑" panose="020B0503020204020204" pitchFamily="34" charset="-122"/>
                </a:rPr>
                <a:t>2.5</a:t>
              </a:r>
              <a:endParaRPr lang="en-US" altLang="zh-CN" sz="2800" b="1" dirty="0">
                <a:solidFill>
                  <a:srgbClr val="000000"/>
                </a:solidFill>
                <a:latin typeface="微软雅黑" panose="020B0503020204020204" pitchFamily="34" charset="-122"/>
                <a:ea typeface="微软雅黑" panose="020B0503020204020204" pitchFamily="34" charset="-122"/>
              </a:endParaRPr>
            </a:p>
          </p:txBody>
        </p:sp>
        <p:sp>
          <p:nvSpPr>
            <p:cNvPr id="21" name="Rectangle 18"/>
            <p:cNvSpPr>
              <a:spLocks noChangeArrowheads="1"/>
            </p:cNvSpPr>
            <p:nvPr/>
          </p:nvSpPr>
          <p:spPr bwMode="auto">
            <a:xfrm>
              <a:off x="1595" y="1637"/>
              <a:ext cx="170" cy="271"/>
            </a:xfrm>
            <a:prstGeom prst="rect">
              <a:avLst/>
            </a:prstGeom>
            <a:noFill/>
            <a:ln w="9525">
              <a:noFill/>
              <a:miter lim="800000"/>
            </a:ln>
          </p:spPr>
          <p:txBody>
            <a:bodyPr wrap="none" lIns="0" tIns="0" rIns="0" bIns="0">
              <a:spAutoFit/>
            </a:bodyPr>
            <a:lstStyle/>
            <a:p>
              <a:pPr algn="just">
                <a:defRPr/>
              </a:pPr>
              <a:r>
                <a:rPr lang="en-US" altLang="zh-CN" sz="2800" b="1" dirty="0">
                  <a:latin typeface="微软雅黑" panose="020B0503020204020204" pitchFamily="34" charset="-122"/>
                  <a:ea typeface="微软雅黑" panose="020B0503020204020204" pitchFamily="34" charset="-122"/>
                </a:rPr>
                <a:t>A</a:t>
              </a:r>
              <a:endParaRPr lang="en-US" altLang="zh-CN" sz="2800" b="1" dirty="0">
                <a:latin typeface="微软雅黑" panose="020B0503020204020204" pitchFamily="34" charset="-122"/>
                <a:ea typeface="微软雅黑" panose="020B0503020204020204" pitchFamily="34" charset="-122"/>
              </a:endParaRPr>
            </a:p>
          </p:txBody>
        </p:sp>
        <p:sp>
          <p:nvSpPr>
            <p:cNvPr id="22" name="Rectangle 19"/>
            <p:cNvSpPr>
              <a:spLocks noChangeArrowheads="1"/>
            </p:cNvSpPr>
            <p:nvPr/>
          </p:nvSpPr>
          <p:spPr bwMode="auto">
            <a:xfrm>
              <a:off x="2502" y="1056"/>
              <a:ext cx="1761" cy="271"/>
            </a:xfrm>
            <a:prstGeom prst="rect">
              <a:avLst/>
            </a:prstGeom>
            <a:noFill/>
            <a:ln w="9525">
              <a:noFill/>
              <a:miter lim="800000"/>
            </a:ln>
          </p:spPr>
          <p:txBody>
            <a:bodyPr wrap="none" lIns="0" tIns="0" rIns="0" bIns="0">
              <a:spAutoFit/>
            </a:bodyPr>
            <a:lstStyle/>
            <a:p>
              <a:pPr algn="just">
                <a:defRPr/>
              </a:pPr>
              <a:r>
                <a:rPr lang="en-US" altLang="zh-CN" sz="2800" b="1" dirty="0">
                  <a:latin typeface="微软雅黑" panose="020B0503020204020204" pitchFamily="34" charset="-122"/>
                  <a:ea typeface="微软雅黑" panose="020B0503020204020204" pitchFamily="34" charset="-122"/>
                </a:rPr>
                <a:t>D = power(A,3)</a:t>
              </a:r>
              <a:endParaRPr lang="en-US" altLang="zh-CN" sz="2800" b="1" dirty="0">
                <a:latin typeface="微软雅黑" panose="020B0503020204020204" pitchFamily="34" charset="-122"/>
                <a:ea typeface="微软雅黑" panose="020B0503020204020204" pitchFamily="34" charset="-122"/>
              </a:endParaRPr>
            </a:p>
          </p:txBody>
        </p:sp>
        <p:sp>
          <p:nvSpPr>
            <p:cNvPr id="57366" name="Rectangle 20"/>
            <p:cNvSpPr>
              <a:spLocks noChangeArrowheads="1"/>
            </p:cNvSpPr>
            <p:nvPr/>
          </p:nvSpPr>
          <p:spPr bwMode="auto">
            <a:xfrm>
              <a:off x="2319" y="2623"/>
              <a:ext cx="411" cy="271"/>
            </a:xfrm>
            <a:prstGeom prst="rect">
              <a:avLst/>
            </a:prstGeom>
            <a:noFill/>
            <a:ln w="9525">
              <a:noFill/>
              <a:miter lim="800000"/>
            </a:ln>
          </p:spPr>
          <p:txBody>
            <a:bodyPr wrap="none" lIns="0" tIns="0" rIns="0" bIns="0">
              <a:spAutoFit/>
            </a:bodyPr>
            <a:lstStyle/>
            <a:p>
              <a:pPr algn="just"/>
              <a:r>
                <a:rPr lang="en-US" altLang="zh-CN" sz="2800" b="1" dirty="0">
                  <a:solidFill>
                    <a:srgbClr val="000000"/>
                  </a:solidFill>
                  <a:latin typeface="微软雅黑" panose="020B0503020204020204" pitchFamily="34" charset="-122"/>
                  <a:ea typeface="微软雅黑" panose="020B0503020204020204" pitchFamily="34" charset="-122"/>
                </a:rPr>
                <a:t> 2.5</a:t>
              </a:r>
              <a:endParaRPr lang="en-US" altLang="zh-CN" sz="2800" b="1" dirty="0">
                <a:solidFill>
                  <a:srgbClr val="000000"/>
                </a:solidFill>
                <a:latin typeface="微软雅黑" panose="020B0503020204020204" pitchFamily="34" charset="-122"/>
                <a:ea typeface="微软雅黑" panose="020B0503020204020204" pitchFamily="34" charset="-122"/>
              </a:endParaRPr>
            </a:p>
          </p:txBody>
        </p:sp>
        <p:sp>
          <p:nvSpPr>
            <p:cNvPr id="57367" name="Rectangle 21"/>
            <p:cNvSpPr>
              <a:spLocks noChangeArrowheads="1"/>
            </p:cNvSpPr>
            <p:nvPr/>
          </p:nvSpPr>
          <p:spPr bwMode="auto">
            <a:xfrm>
              <a:off x="4191" y="2623"/>
              <a:ext cx="139" cy="271"/>
            </a:xfrm>
            <a:prstGeom prst="rect">
              <a:avLst/>
            </a:prstGeom>
            <a:noFill/>
            <a:ln w="9525">
              <a:noFill/>
              <a:miter lim="800000"/>
            </a:ln>
          </p:spPr>
          <p:txBody>
            <a:bodyPr wrap="none" lIns="0" tIns="0" rIns="0" bIns="0">
              <a:spAutoFit/>
            </a:bodyPr>
            <a:lstStyle/>
            <a:p>
              <a:pPr algn="just"/>
              <a:r>
                <a:rPr lang="en-US" altLang="zh-CN" sz="2800" b="1">
                  <a:solidFill>
                    <a:srgbClr val="000000"/>
                  </a:solidFill>
                  <a:latin typeface="微软雅黑" panose="020B0503020204020204" pitchFamily="34" charset="-122"/>
                  <a:ea typeface="微软雅黑" panose="020B0503020204020204" pitchFamily="34" charset="-122"/>
                </a:rPr>
                <a:t>3</a:t>
              </a:r>
              <a:endParaRPr lang="en-US" altLang="zh-CN" sz="2800" b="1">
                <a:solidFill>
                  <a:srgbClr val="000000"/>
                </a:solidFill>
                <a:latin typeface="微软雅黑" panose="020B0503020204020204" pitchFamily="34" charset="-122"/>
                <a:ea typeface="微软雅黑" panose="020B0503020204020204" pitchFamily="34" charset="-122"/>
              </a:endParaRPr>
            </a:p>
          </p:txBody>
        </p:sp>
        <p:sp>
          <p:nvSpPr>
            <p:cNvPr id="25" name="Rectangle 22"/>
            <p:cNvSpPr>
              <a:spLocks noChangeArrowheads="1"/>
            </p:cNvSpPr>
            <p:nvPr/>
          </p:nvSpPr>
          <p:spPr bwMode="auto">
            <a:xfrm>
              <a:off x="1395" y="3408"/>
              <a:ext cx="3413" cy="271"/>
            </a:xfrm>
            <a:prstGeom prst="rect">
              <a:avLst/>
            </a:prstGeom>
            <a:noFill/>
            <a:ln w="9525">
              <a:noFill/>
              <a:miter lim="800000"/>
            </a:ln>
          </p:spPr>
          <p:txBody>
            <a:bodyPr wrap="none" lIns="0" tIns="0" rIns="0" bIns="0">
              <a:spAutoFit/>
            </a:bodyPr>
            <a:lstStyle/>
            <a:p>
              <a:pPr algn="just">
                <a:defRPr/>
              </a:pPr>
              <a:r>
                <a:rPr lang="en-US" altLang="zh-CN" sz="2800" b="1" dirty="0">
                  <a:latin typeface="微软雅黑" panose="020B0503020204020204" pitchFamily="34" charset="-122"/>
                  <a:ea typeface="微软雅黑" panose="020B0503020204020204" pitchFamily="34" charset="-122"/>
                </a:rPr>
                <a:t>double power(double </a:t>
              </a:r>
              <a:r>
                <a:rPr lang="en-US" altLang="zh-CN" sz="2800" b="1" dirty="0" err="1">
                  <a:latin typeface="微软雅黑" panose="020B0503020204020204" pitchFamily="34" charset="-122"/>
                  <a:ea typeface="微软雅黑" panose="020B0503020204020204" pitchFamily="34" charset="-122"/>
                </a:rPr>
                <a:t>X,int</a:t>
              </a:r>
              <a:r>
                <a:rPr lang="en-US" altLang="zh-CN" sz="2800" b="1" dirty="0">
                  <a:latin typeface="微软雅黑" panose="020B0503020204020204" pitchFamily="34" charset="-122"/>
                  <a:ea typeface="微软雅黑" panose="020B0503020204020204" pitchFamily="34" charset="-122"/>
                </a:rPr>
                <a:t> N)</a:t>
              </a:r>
              <a:endParaRPr lang="en-US" altLang="zh-CN" sz="2800" b="1" dirty="0">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pPr algn="ctr"/>
            <a:r>
              <a:rPr lang="zh-CN" altLang="en-US" b="1" dirty="0" smtClean="0">
                <a:solidFill>
                  <a:srgbClr val="FFFFFF"/>
                </a:solidFill>
                <a:latin typeface="Times New Roman" panose="02020603050405020304" pitchFamily="18" charset="0"/>
                <a:ea typeface="隶书" panose="02010509060101010101" pitchFamily="49" charset="-122"/>
              </a:rPr>
              <a:t>例</a:t>
            </a:r>
            <a:r>
              <a:rPr lang="en-US" altLang="zh-CN" b="1" dirty="0" smtClean="0">
                <a:solidFill>
                  <a:srgbClr val="FFFFFF"/>
                </a:solidFill>
                <a:latin typeface="Times New Roman" panose="02020603050405020304" pitchFamily="18" charset="0"/>
                <a:ea typeface="隶书" panose="02010509060101010101" pitchFamily="49" charset="-122"/>
              </a:rPr>
              <a:t>3-11 </a:t>
            </a:r>
            <a:r>
              <a:rPr lang="zh-CN" altLang="en-US" b="1" dirty="0" smtClean="0">
                <a:solidFill>
                  <a:srgbClr val="FFFFFF"/>
                </a:solidFill>
                <a:latin typeface="Times New Roman" panose="02020603050405020304" pitchFamily="18" charset="0"/>
                <a:ea typeface="隶书" panose="02010509060101010101" pitchFamily="49" charset="-122"/>
              </a:rPr>
              <a:t>输入两个整数交换后输出</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sp>
        <p:nvSpPr>
          <p:cNvPr id="58371" name="内容占位符 2"/>
          <p:cNvSpPr>
            <a:spLocks noGrp="1"/>
          </p:cNvSpPr>
          <p:nvPr>
            <p:ph idx="1"/>
          </p:nvPr>
        </p:nvSpPr>
        <p:spPr>
          <a:xfrm>
            <a:off x="683568" y="1556792"/>
            <a:ext cx="7886700" cy="4608512"/>
          </a:xfrm>
          <a:solidFill>
            <a:schemeClr val="tx1"/>
          </a:solidFill>
        </p:spPr>
        <p:txBody>
          <a:bodyPr>
            <a:noAutofit/>
          </a:bodyPr>
          <a:lstStyle/>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#include&lt;iostream&gt;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fr-FR" altLang="zh-CN" sz="2400" b="1" dirty="0" smtClean="0">
                <a:solidFill>
                  <a:srgbClr val="000000"/>
                </a:solidFill>
                <a:ea typeface="+mj-ea"/>
              </a:rPr>
              <a:t>void swap(int a, int b) {</a:t>
            </a:r>
            <a:endParaRPr lang="fr-FR"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fr-FR" altLang="zh-CN" sz="2400" b="1" dirty="0" smtClean="0">
                <a:solidFill>
                  <a:srgbClr val="000000"/>
                </a:solidFill>
                <a:ea typeface="+mj-ea"/>
              </a:rPr>
              <a:t>	int t = a;</a:t>
            </a:r>
            <a:endParaRPr lang="fr-FR"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fr-FR" altLang="zh-CN" sz="2400" b="1" dirty="0" smtClean="0">
                <a:solidFill>
                  <a:srgbClr val="000000"/>
                </a:solidFill>
                <a:ea typeface="+mj-ea"/>
              </a:rPr>
              <a:t>	a = b;</a:t>
            </a:r>
            <a:endParaRPr lang="fr-FR"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fr-FR" altLang="zh-CN" sz="2400" b="1" dirty="0" smtClean="0">
                <a:solidFill>
                  <a:srgbClr val="000000"/>
                </a:solidFill>
                <a:ea typeface="+mj-ea"/>
              </a:rPr>
              <a:t>	b = t;</a:t>
            </a:r>
            <a:endParaRPr lang="fr-FR"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fr-FR" altLang="zh-CN" sz="2400" b="1" dirty="0" smtClean="0">
                <a:solidFill>
                  <a:srgbClr val="000000"/>
                </a:solidFill>
                <a:ea typeface="+mj-ea"/>
              </a:rPr>
              <a:t>}</a:t>
            </a:r>
            <a:endParaRPr lang="fr-FR"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int x = 5, y = 10;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cout &lt;&lt; "x = " &lt;&lt; x &lt;&lt; "  y = " &lt;&lt; y &lt;&lt; endl;</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swap(x, y);</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cout &lt;&lt; "x = " &lt;&lt; x &lt;&lt; "  y = " &lt;&lt; y &lt;&lt; endl;</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a:t>
            </a:r>
            <a:endParaRPr lang="fr-FR" altLang="zh-CN" sz="2400" b="1" dirty="0" smtClean="0">
              <a:solidFill>
                <a:srgbClr val="000000"/>
              </a:solidFill>
              <a:ea typeface="+mj-ea"/>
            </a:endParaRPr>
          </a:p>
          <a:p>
            <a:pPr marL="365760" indent="-255905" fontAlgn="auto">
              <a:lnSpc>
                <a:spcPct val="85000"/>
              </a:lnSpc>
              <a:spcBef>
                <a:spcPts val="0"/>
              </a:spcBef>
              <a:buClr>
                <a:schemeClr val="accent3"/>
              </a:buClr>
              <a:buNone/>
              <a:defRPr/>
            </a:pPr>
            <a:endParaRPr lang="zh-CN" altLang="en-US" sz="2400" b="1" dirty="0" smtClean="0">
              <a:solidFill>
                <a:srgbClr val="000000"/>
              </a:solidFill>
              <a:ea typeface="+mj-ea"/>
            </a:endParaRPr>
          </a:p>
        </p:txBody>
      </p:sp>
      <p:sp>
        <p:nvSpPr>
          <p:cNvPr id="58374" name="Text Box 4"/>
          <p:cNvSpPr txBox="1">
            <a:spLocks noChangeArrowheads="1"/>
          </p:cNvSpPr>
          <p:nvPr/>
        </p:nvSpPr>
        <p:spPr bwMode="auto">
          <a:xfrm>
            <a:off x="4572000" y="5643563"/>
            <a:ext cx="4143375" cy="1348061"/>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defRPr/>
            </a:pPr>
            <a:r>
              <a:rPr lang="zh-CN" altLang="en-US" b="1" dirty="0" smtClean="0">
                <a:latin typeface="+mn-lt"/>
                <a:ea typeface="+mj-ea"/>
              </a:rPr>
              <a:t>运行结果：</a:t>
            </a:r>
            <a:endParaRPr lang="zh-CN" altLang="en-US" b="1" dirty="0" smtClean="0">
              <a:latin typeface="+mn-lt"/>
              <a:ea typeface="+mj-ea"/>
            </a:endParaRPr>
          </a:p>
          <a:p>
            <a:pPr algn="l">
              <a:spcBef>
                <a:spcPct val="20000"/>
              </a:spcBef>
              <a:buClr>
                <a:schemeClr val="accent2"/>
              </a:buClr>
              <a:buSzPct val="80000"/>
              <a:defRPr/>
            </a:pPr>
            <a:r>
              <a:rPr lang="en-US" altLang="zh-CN" b="1" dirty="0" smtClean="0">
                <a:latin typeface="+mn-lt"/>
                <a:ea typeface="+mj-ea"/>
              </a:rPr>
              <a:t>x = 5      y = 10</a:t>
            </a:r>
            <a:endParaRPr lang="en-US" altLang="zh-CN" b="1" dirty="0" smtClean="0">
              <a:latin typeface="+mn-lt"/>
              <a:ea typeface="+mj-ea"/>
            </a:endParaRPr>
          </a:p>
          <a:p>
            <a:pPr algn="l">
              <a:spcBef>
                <a:spcPct val="20000"/>
              </a:spcBef>
              <a:buClr>
                <a:schemeClr val="accent2"/>
              </a:buClr>
              <a:buSzPct val="80000"/>
              <a:defRPr/>
            </a:pPr>
            <a:r>
              <a:rPr lang="en-US" altLang="zh-CN" b="1" dirty="0" smtClean="0">
                <a:latin typeface="+mn-lt"/>
                <a:ea typeface="+mj-ea"/>
              </a:rPr>
              <a:t>x = 5      y = 10</a:t>
            </a:r>
            <a:endParaRPr lang="en-US" altLang="zh-CN" b="1" dirty="0" smtClean="0">
              <a:latin typeface="+mn-lt"/>
              <a:ea typeface="+mj-ea"/>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8"/>
          <p:cNvGrpSpPr/>
          <p:nvPr/>
        </p:nvGrpSpPr>
        <p:grpSpPr bwMode="auto">
          <a:xfrm>
            <a:off x="928688" y="571500"/>
            <a:ext cx="7291387" cy="5943133"/>
            <a:chOff x="624" y="144"/>
            <a:chExt cx="4558" cy="3949"/>
          </a:xfrm>
        </p:grpSpPr>
        <p:sp>
          <p:nvSpPr>
            <p:cNvPr id="59397" name="Text Box 88"/>
            <p:cNvSpPr txBox="1">
              <a:spLocks noChangeArrowheads="1"/>
            </p:cNvSpPr>
            <p:nvPr/>
          </p:nvSpPr>
          <p:spPr bwMode="auto">
            <a:xfrm>
              <a:off x="2619" y="1621"/>
              <a:ext cx="458" cy="178"/>
            </a:xfrm>
            <a:prstGeom prst="rect">
              <a:avLst/>
            </a:prstGeom>
            <a:noFill/>
            <a:ln w="9525">
              <a:noFill/>
              <a:miter lim="800000"/>
            </a:ln>
          </p:spPr>
          <p:txBody>
            <a:bodyPr lIns="0" tIns="0" rIns="0" bIns="0"/>
            <a:lstStyle/>
            <a:p>
              <a:pPr eaLnBrk="0" hangingPunct="0"/>
              <a:r>
                <a:rPr kumimoji="0" lang="en-US" altLang="zh-CN" b="1">
                  <a:latin typeface="+mn-lt"/>
                  <a:ea typeface="+mj-ea"/>
                </a:rPr>
                <a:t>a=b;</a:t>
              </a:r>
              <a:endParaRPr kumimoji="0" lang="en-US" altLang="zh-CN" b="1">
                <a:latin typeface="+mn-lt"/>
                <a:ea typeface="+mj-ea"/>
              </a:endParaRPr>
            </a:p>
          </p:txBody>
        </p:sp>
        <p:sp>
          <p:nvSpPr>
            <p:cNvPr id="59398" name="Text Box 91"/>
            <p:cNvSpPr txBox="1">
              <a:spLocks noChangeArrowheads="1"/>
            </p:cNvSpPr>
            <p:nvPr/>
          </p:nvSpPr>
          <p:spPr bwMode="auto">
            <a:xfrm>
              <a:off x="3077" y="144"/>
              <a:ext cx="535" cy="222"/>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399" name="Text Box 92"/>
            <p:cNvSpPr txBox="1">
              <a:spLocks noChangeArrowheads="1"/>
            </p:cNvSpPr>
            <p:nvPr/>
          </p:nvSpPr>
          <p:spPr bwMode="auto">
            <a:xfrm>
              <a:off x="3087" y="376"/>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x</a:t>
              </a:r>
              <a:endParaRPr kumimoji="0" lang="en-US" altLang="zh-CN" b="1">
                <a:latin typeface="+mn-lt"/>
                <a:ea typeface="+mj-ea"/>
              </a:endParaRPr>
            </a:p>
          </p:txBody>
        </p:sp>
        <p:sp>
          <p:nvSpPr>
            <p:cNvPr id="59400" name="Text Box 94"/>
            <p:cNvSpPr txBox="1">
              <a:spLocks noChangeArrowheads="1"/>
            </p:cNvSpPr>
            <p:nvPr/>
          </p:nvSpPr>
          <p:spPr bwMode="auto">
            <a:xfrm>
              <a:off x="3756" y="144"/>
              <a:ext cx="535" cy="222"/>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01" name="Text Box 95"/>
            <p:cNvSpPr txBox="1">
              <a:spLocks noChangeArrowheads="1"/>
            </p:cNvSpPr>
            <p:nvPr/>
          </p:nvSpPr>
          <p:spPr bwMode="auto">
            <a:xfrm>
              <a:off x="3807" y="376"/>
              <a:ext cx="535" cy="136"/>
            </a:xfrm>
            <a:prstGeom prst="rect">
              <a:avLst/>
            </a:prstGeom>
            <a:noFill/>
            <a:ln w="9525">
              <a:noFill/>
              <a:miter lim="800000"/>
            </a:ln>
          </p:spPr>
          <p:txBody>
            <a:bodyPr lIns="0" tIns="0" rIns="0" bIns="0"/>
            <a:lstStyle/>
            <a:p>
              <a:pPr eaLnBrk="0" hangingPunct="0"/>
              <a:r>
                <a:rPr kumimoji="0" lang="en-US" altLang="zh-CN" b="1" dirty="0">
                  <a:latin typeface="+mn-lt"/>
                  <a:ea typeface="+mj-ea"/>
                </a:rPr>
                <a:t>  y</a:t>
              </a:r>
              <a:endParaRPr kumimoji="0" lang="en-US" altLang="zh-CN" b="1" dirty="0">
                <a:latin typeface="+mn-lt"/>
                <a:ea typeface="+mj-ea"/>
              </a:endParaRPr>
            </a:p>
          </p:txBody>
        </p:sp>
        <p:sp>
          <p:nvSpPr>
            <p:cNvPr id="59402" name="Text Box 97"/>
            <p:cNvSpPr txBox="1">
              <a:spLocks noChangeArrowheads="1"/>
            </p:cNvSpPr>
            <p:nvPr/>
          </p:nvSpPr>
          <p:spPr bwMode="auto">
            <a:xfrm>
              <a:off x="3077" y="772"/>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03" name="Text Box 98"/>
            <p:cNvSpPr txBox="1">
              <a:spLocks noChangeArrowheads="1"/>
            </p:cNvSpPr>
            <p:nvPr/>
          </p:nvSpPr>
          <p:spPr bwMode="auto">
            <a:xfrm>
              <a:off x="3074" y="1039"/>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a</a:t>
              </a:r>
              <a:endParaRPr kumimoji="0" lang="en-US" altLang="zh-CN" b="1">
                <a:latin typeface="+mn-lt"/>
                <a:ea typeface="+mj-ea"/>
              </a:endParaRPr>
            </a:p>
          </p:txBody>
        </p:sp>
        <p:sp>
          <p:nvSpPr>
            <p:cNvPr id="59404" name="Text Box 100"/>
            <p:cNvSpPr txBox="1">
              <a:spLocks noChangeArrowheads="1"/>
            </p:cNvSpPr>
            <p:nvPr/>
          </p:nvSpPr>
          <p:spPr bwMode="auto">
            <a:xfrm>
              <a:off x="3756" y="772"/>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05" name="Text Box 101"/>
            <p:cNvSpPr txBox="1">
              <a:spLocks noChangeArrowheads="1"/>
            </p:cNvSpPr>
            <p:nvPr/>
          </p:nvSpPr>
          <p:spPr bwMode="auto">
            <a:xfrm>
              <a:off x="3753" y="1039"/>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b</a:t>
              </a:r>
              <a:endParaRPr kumimoji="0" lang="en-US" altLang="zh-CN" b="1">
                <a:latin typeface="+mn-lt"/>
                <a:ea typeface="+mj-ea"/>
              </a:endParaRPr>
            </a:p>
          </p:txBody>
        </p:sp>
        <p:sp>
          <p:nvSpPr>
            <p:cNvPr id="59406" name="Line 102"/>
            <p:cNvSpPr>
              <a:spLocks noChangeShapeType="1"/>
            </p:cNvSpPr>
            <p:nvPr/>
          </p:nvSpPr>
          <p:spPr bwMode="auto">
            <a:xfrm>
              <a:off x="3340" y="366"/>
              <a:ext cx="0" cy="406"/>
            </a:xfrm>
            <a:prstGeom prst="line">
              <a:avLst/>
            </a:prstGeom>
            <a:noFill/>
            <a:ln w="9525">
              <a:solidFill>
                <a:schemeClr val="tx1"/>
              </a:solidFill>
              <a:round/>
              <a:tailEnd type="triangle" w="med" len="med"/>
            </a:ln>
          </p:spPr>
          <p:txBody>
            <a:bodyPr/>
            <a:lstStyle/>
            <a:p>
              <a:endParaRPr lang="zh-CN" altLang="en-US" b="1">
                <a:latin typeface="+mn-lt"/>
                <a:ea typeface="+mj-ea"/>
              </a:endParaRPr>
            </a:p>
          </p:txBody>
        </p:sp>
        <p:sp>
          <p:nvSpPr>
            <p:cNvPr id="59407" name="Line 103"/>
            <p:cNvSpPr>
              <a:spLocks noChangeShapeType="1"/>
            </p:cNvSpPr>
            <p:nvPr/>
          </p:nvSpPr>
          <p:spPr bwMode="auto">
            <a:xfrm>
              <a:off x="4019" y="366"/>
              <a:ext cx="0" cy="406"/>
            </a:xfrm>
            <a:prstGeom prst="line">
              <a:avLst/>
            </a:prstGeom>
            <a:noFill/>
            <a:ln w="9525">
              <a:solidFill>
                <a:schemeClr val="tx1"/>
              </a:solidFill>
              <a:round/>
              <a:tailEnd type="triangle" w="med" len="med"/>
            </a:ln>
          </p:spPr>
          <p:txBody>
            <a:bodyPr/>
            <a:lstStyle/>
            <a:p>
              <a:endParaRPr lang="zh-CN" altLang="en-US" b="1">
                <a:latin typeface="+mn-lt"/>
                <a:ea typeface="+mj-ea"/>
              </a:endParaRPr>
            </a:p>
          </p:txBody>
        </p:sp>
        <p:sp>
          <p:nvSpPr>
            <p:cNvPr id="59408" name="Text Box 104"/>
            <p:cNvSpPr txBox="1">
              <a:spLocks noChangeArrowheads="1"/>
            </p:cNvSpPr>
            <p:nvPr/>
          </p:nvSpPr>
          <p:spPr bwMode="auto">
            <a:xfrm>
              <a:off x="836" y="169"/>
              <a:ext cx="1842" cy="518"/>
            </a:xfrm>
            <a:prstGeom prst="rect">
              <a:avLst/>
            </a:prstGeom>
            <a:noFill/>
            <a:ln w="9525">
              <a:noFill/>
              <a:miter lim="800000"/>
            </a:ln>
          </p:spPr>
          <p:txBody>
            <a:bodyPr/>
            <a:lstStyle/>
            <a:p>
              <a:pPr algn="just" eaLnBrk="0" hangingPunct="0"/>
              <a:r>
                <a:rPr kumimoji="0" lang="zh-CN" altLang="en-US" sz="2000" b="1" dirty="0">
                  <a:latin typeface="微软雅黑" panose="020B0503020204020204" pitchFamily="34" charset="-122"/>
                  <a:ea typeface="微软雅黑" panose="020B0503020204020204" pitchFamily="34" charset="-122"/>
                </a:rPr>
                <a:t>执行主函数中的函数调用</a:t>
              </a:r>
              <a:r>
                <a:rPr kumimoji="0" lang="en-US" altLang="zh-CN" sz="2000" b="1" dirty="0">
                  <a:latin typeface="微软雅黑" panose="020B0503020204020204" pitchFamily="34" charset="-122"/>
                  <a:ea typeface="微软雅黑" panose="020B0503020204020204" pitchFamily="34" charset="-122"/>
                </a:rPr>
                <a:t>swap(</a:t>
              </a:r>
              <a:r>
                <a:rPr kumimoji="0" lang="en-US" altLang="zh-CN" sz="2000" b="1" dirty="0" err="1">
                  <a:latin typeface="微软雅黑" panose="020B0503020204020204" pitchFamily="34" charset="-122"/>
                  <a:ea typeface="微软雅黑" panose="020B0503020204020204" pitchFamily="34" charset="-122"/>
                </a:rPr>
                <a:t>x,y</a:t>
              </a:r>
              <a:r>
                <a:rPr kumimoji="0" lang="en-US" altLang="zh-CN" sz="2000" b="1" dirty="0">
                  <a:latin typeface="微软雅黑" panose="020B0503020204020204" pitchFamily="34" charset="-122"/>
                  <a:ea typeface="微软雅黑" panose="020B0503020204020204" pitchFamily="34" charset="-122"/>
                </a:rPr>
                <a:t>);</a:t>
              </a:r>
              <a:endParaRPr kumimoji="0" lang="en-US" altLang="zh-CN" sz="2000" b="1" dirty="0">
                <a:latin typeface="微软雅黑" panose="020B0503020204020204" pitchFamily="34" charset="-122"/>
                <a:ea typeface="微软雅黑" panose="020B0503020204020204" pitchFamily="34" charset="-122"/>
              </a:endParaRPr>
            </a:p>
          </p:txBody>
        </p:sp>
        <p:sp>
          <p:nvSpPr>
            <p:cNvPr id="59409" name="Text Box 105"/>
            <p:cNvSpPr txBox="1">
              <a:spLocks noChangeArrowheads="1"/>
            </p:cNvSpPr>
            <p:nvPr/>
          </p:nvSpPr>
          <p:spPr bwMode="auto">
            <a:xfrm>
              <a:off x="1167" y="1612"/>
              <a:ext cx="459" cy="177"/>
            </a:xfrm>
            <a:prstGeom prst="rect">
              <a:avLst/>
            </a:prstGeom>
            <a:noFill/>
            <a:ln w="9525">
              <a:noFill/>
              <a:miter lim="800000"/>
            </a:ln>
          </p:spPr>
          <p:txBody>
            <a:bodyPr lIns="0" tIns="0" rIns="0" bIns="0"/>
            <a:lstStyle/>
            <a:p>
              <a:pPr eaLnBrk="0" hangingPunct="0"/>
              <a:r>
                <a:rPr kumimoji="0" lang="en-US" altLang="zh-CN" b="1">
                  <a:latin typeface="+mn-lt"/>
                  <a:ea typeface="+mj-ea"/>
                </a:rPr>
                <a:t>t=a;</a:t>
              </a:r>
              <a:endParaRPr kumimoji="0" lang="en-US" altLang="zh-CN" b="1">
                <a:latin typeface="+mn-lt"/>
                <a:ea typeface="+mj-ea"/>
              </a:endParaRPr>
            </a:p>
          </p:txBody>
        </p:sp>
        <p:sp>
          <p:nvSpPr>
            <p:cNvPr id="59410" name="Text Box 109"/>
            <p:cNvSpPr txBox="1">
              <a:spLocks noChangeArrowheads="1"/>
            </p:cNvSpPr>
            <p:nvPr/>
          </p:nvSpPr>
          <p:spPr bwMode="auto">
            <a:xfrm>
              <a:off x="675"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11" name="Text Box 110"/>
            <p:cNvSpPr txBox="1">
              <a:spLocks noChangeArrowheads="1"/>
            </p:cNvSpPr>
            <p:nvPr/>
          </p:nvSpPr>
          <p:spPr bwMode="auto">
            <a:xfrm>
              <a:off x="672"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x</a:t>
              </a:r>
              <a:endParaRPr kumimoji="0" lang="en-US" altLang="zh-CN" b="1">
                <a:latin typeface="+mn-lt"/>
                <a:ea typeface="+mj-ea"/>
              </a:endParaRPr>
            </a:p>
          </p:txBody>
        </p:sp>
        <p:sp>
          <p:nvSpPr>
            <p:cNvPr id="59412" name="Text Box 112"/>
            <p:cNvSpPr txBox="1">
              <a:spLocks noChangeArrowheads="1"/>
            </p:cNvSpPr>
            <p:nvPr/>
          </p:nvSpPr>
          <p:spPr bwMode="auto">
            <a:xfrm>
              <a:off x="1354"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13" name="Text Box 113"/>
            <p:cNvSpPr txBox="1">
              <a:spLocks noChangeArrowheads="1"/>
            </p:cNvSpPr>
            <p:nvPr/>
          </p:nvSpPr>
          <p:spPr bwMode="auto">
            <a:xfrm>
              <a:off x="1351"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y</a:t>
              </a:r>
              <a:endParaRPr kumimoji="0" lang="en-US" altLang="zh-CN" b="1">
                <a:latin typeface="+mn-lt"/>
                <a:ea typeface="+mj-ea"/>
              </a:endParaRPr>
            </a:p>
          </p:txBody>
        </p:sp>
        <p:sp>
          <p:nvSpPr>
            <p:cNvPr id="59414" name="Text Box 115"/>
            <p:cNvSpPr txBox="1">
              <a:spLocks noChangeArrowheads="1"/>
            </p:cNvSpPr>
            <p:nvPr/>
          </p:nvSpPr>
          <p:spPr bwMode="auto">
            <a:xfrm>
              <a:off x="675"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15" name="Text Box 116"/>
            <p:cNvSpPr txBox="1">
              <a:spLocks noChangeArrowheads="1"/>
            </p:cNvSpPr>
            <p:nvPr/>
          </p:nvSpPr>
          <p:spPr bwMode="auto">
            <a:xfrm>
              <a:off x="672" y="2808"/>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a</a:t>
              </a:r>
              <a:endParaRPr kumimoji="0" lang="en-US" altLang="zh-CN" b="1">
                <a:latin typeface="+mn-lt"/>
                <a:ea typeface="+mj-ea"/>
              </a:endParaRPr>
            </a:p>
          </p:txBody>
        </p:sp>
        <p:sp>
          <p:nvSpPr>
            <p:cNvPr id="59416" name="Text Box 118"/>
            <p:cNvSpPr txBox="1">
              <a:spLocks noChangeArrowheads="1"/>
            </p:cNvSpPr>
            <p:nvPr/>
          </p:nvSpPr>
          <p:spPr bwMode="auto">
            <a:xfrm>
              <a:off x="1354"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17" name="Text Box 119"/>
            <p:cNvSpPr txBox="1">
              <a:spLocks noChangeArrowheads="1"/>
            </p:cNvSpPr>
            <p:nvPr/>
          </p:nvSpPr>
          <p:spPr bwMode="auto">
            <a:xfrm>
              <a:off x="1351" y="2808"/>
              <a:ext cx="535" cy="136"/>
            </a:xfrm>
            <a:prstGeom prst="rect">
              <a:avLst/>
            </a:prstGeom>
            <a:noFill/>
            <a:ln w="9525">
              <a:noFill/>
              <a:miter lim="800000"/>
            </a:ln>
          </p:spPr>
          <p:txBody>
            <a:bodyPr lIns="0" tIns="0" rIns="0" bIns="0"/>
            <a:lstStyle/>
            <a:p>
              <a:pPr eaLnBrk="0" hangingPunct="0"/>
              <a:r>
                <a:rPr kumimoji="0" lang="en-US" altLang="zh-CN" b="1" dirty="0">
                  <a:latin typeface="+mn-lt"/>
                  <a:ea typeface="+mj-ea"/>
                </a:rPr>
                <a:t>  b</a:t>
              </a:r>
              <a:endParaRPr kumimoji="0" lang="en-US" altLang="zh-CN" b="1" dirty="0">
                <a:latin typeface="+mn-lt"/>
                <a:ea typeface="+mj-ea"/>
              </a:endParaRPr>
            </a:p>
          </p:txBody>
        </p:sp>
        <p:sp>
          <p:nvSpPr>
            <p:cNvPr id="59418" name="Text Box 121"/>
            <p:cNvSpPr txBox="1">
              <a:spLocks noChangeArrowheads="1"/>
            </p:cNvSpPr>
            <p:nvPr/>
          </p:nvSpPr>
          <p:spPr bwMode="auto">
            <a:xfrm>
              <a:off x="1006" y="3149"/>
              <a:ext cx="543" cy="229"/>
            </a:xfrm>
            <a:prstGeom prst="rect">
              <a:avLst/>
            </a:prstGeom>
            <a:solidFill>
              <a:srgbClr val="FFFFFF"/>
            </a:solidFill>
            <a:ln w="9525">
              <a:solidFill>
                <a:schemeClr val="tx1"/>
              </a:solidFill>
              <a:miter lim="800000"/>
            </a:ln>
          </p:spPr>
          <p:txBody>
            <a:bodyPr/>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19" name="Line 122"/>
            <p:cNvSpPr>
              <a:spLocks noChangeShapeType="1"/>
            </p:cNvSpPr>
            <p:nvPr/>
          </p:nvSpPr>
          <p:spPr bwMode="auto">
            <a:xfrm>
              <a:off x="1092" y="2869"/>
              <a:ext cx="0" cy="282"/>
            </a:xfrm>
            <a:prstGeom prst="line">
              <a:avLst/>
            </a:prstGeom>
            <a:noFill/>
            <a:ln w="9525">
              <a:solidFill>
                <a:schemeClr val="tx1"/>
              </a:solidFill>
              <a:round/>
              <a:tailEnd type="triangle" w="med" len="lg"/>
            </a:ln>
          </p:spPr>
          <p:txBody>
            <a:bodyPr/>
            <a:lstStyle/>
            <a:p>
              <a:endParaRPr lang="zh-CN" altLang="en-US" b="1">
                <a:latin typeface="+mn-lt"/>
                <a:ea typeface="+mj-ea"/>
              </a:endParaRPr>
            </a:p>
          </p:txBody>
        </p:sp>
        <p:sp>
          <p:nvSpPr>
            <p:cNvPr id="59420" name="Text Box 123"/>
            <p:cNvSpPr txBox="1">
              <a:spLocks noChangeArrowheads="1"/>
            </p:cNvSpPr>
            <p:nvPr/>
          </p:nvSpPr>
          <p:spPr bwMode="auto">
            <a:xfrm>
              <a:off x="777" y="3200"/>
              <a:ext cx="203" cy="178"/>
            </a:xfrm>
            <a:prstGeom prst="rect">
              <a:avLst/>
            </a:prstGeom>
            <a:noFill/>
            <a:ln w="9525">
              <a:noFill/>
              <a:miter lim="800000"/>
            </a:ln>
          </p:spPr>
          <p:txBody>
            <a:bodyPr lIns="0" tIns="0" rIns="0" bIns="0"/>
            <a:lstStyle/>
            <a:p>
              <a:pPr algn="ctr" eaLnBrk="0" hangingPunct="0"/>
              <a:r>
                <a:rPr kumimoji="0" lang="en-US" altLang="zh-CN" b="1">
                  <a:latin typeface="+mn-lt"/>
                  <a:ea typeface="+mj-ea"/>
                </a:rPr>
                <a:t>t</a:t>
              </a:r>
              <a:endParaRPr kumimoji="0" lang="en-US" altLang="zh-CN" b="1">
                <a:latin typeface="+mn-lt"/>
                <a:ea typeface="+mj-ea"/>
              </a:endParaRPr>
            </a:p>
          </p:txBody>
        </p:sp>
        <p:sp>
          <p:nvSpPr>
            <p:cNvPr id="59421" name="Text Box 124"/>
            <p:cNvSpPr txBox="1">
              <a:spLocks noChangeArrowheads="1"/>
            </p:cNvSpPr>
            <p:nvPr/>
          </p:nvSpPr>
          <p:spPr bwMode="auto">
            <a:xfrm>
              <a:off x="4197" y="1612"/>
              <a:ext cx="459" cy="177"/>
            </a:xfrm>
            <a:prstGeom prst="rect">
              <a:avLst/>
            </a:prstGeom>
            <a:noFill/>
            <a:ln w="9525">
              <a:noFill/>
              <a:miter lim="800000"/>
            </a:ln>
          </p:spPr>
          <p:txBody>
            <a:bodyPr lIns="0" tIns="0" rIns="0" bIns="0"/>
            <a:lstStyle/>
            <a:p>
              <a:pPr eaLnBrk="0" hangingPunct="0"/>
              <a:r>
                <a:rPr kumimoji="0" lang="en-US" altLang="zh-CN" b="1">
                  <a:latin typeface="+mn-lt"/>
                  <a:ea typeface="+mj-ea"/>
                </a:rPr>
                <a:t>b=t;</a:t>
              </a:r>
              <a:endParaRPr kumimoji="0" lang="en-US" altLang="zh-CN" b="1">
                <a:latin typeface="+mn-lt"/>
                <a:ea typeface="+mj-ea"/>
              </a:endParaRPr>
            </a:p>
          </p:txBody>
        </p:sp>
        <p:sp>
          <p:nvSpPr>
            <p:cNvPr id="59422" name="Text Box 128"/>
            <p:cNvSpPr txBox="1">
              <a:spLocks noChangeArrowheads="1"/>
            </p:cNvSpPr>
            <p:nvPr/>
          </p:nvSpPr>
          <p:spPr bwMode="auto">
            <a:xfrm>
              <a:off x="3866"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dirty="0">
                  <a:solidFill>
                    <a:srgbClr val="000000"/>
                  </a:solidFill>
                  <a:latin typeface="+mn-lt"/>
                  <a:ea typeface="+mj-ea"/>
                </a:rPr>
                <a:t>5</a:t>
              </a:r>
              <a:endParaRPr kumimoji="0" lang="en-US" altLang="zh-CN" b="1" dirty="0">
                <a:solidFill>
                  <a:srgbClr val="000000"/>
                </a:solidFill>
                <a:latin typeface="+mn-lt"/>
                <a:ea typeface="+mj-ea"/>
              </a:endParaRPr>
            </a:p>
          </p:txBody>
        </p:sp>
        <p:sp>
          <p:nvSpPr>
            <p:cNvPr id="59423" name="Text Box 129"/>
            <p:cNvSpPr txBox="1">
              <a:spLocks noChangeArrowheads="1"/>
            </p:cNvSpPr>
            <p:nvPr/>
          </p:nvSpPr>
          <p:spPr bwMode="auto">
            <a:xfrm>
              <a:off x="3863"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x</a:t>
              </a:r>
              <a:endParaRPr kumimoji="0" lang="en-US" altLang="zh-CN" b="1">
                <a:latin typeface="+mn-lt"/>
                <a:ea typeface="+mj-ea"/>
              </a:endParaRPr>
            </a:p>
          </p:txBody>
        </p:sp>
        <p:sp>
          <p:nvSpPr>
            <p:cNvPr id="59424" name="Text Box 131"/>
            <p:cNvSpPr txBox="1">
              <a:spLocks noChangeArrowheads="1"/>
            </p:cNvSpPr>
            <p:nvPr/>
          </p:nvSpPr>
          <p:spPr bwMode="auto">
            <a:xfrm>
              <a:off x="4546"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25" name="Text Box 132"/>
            <p:cNvSpPr txBox="1">
              <a:spLocks noChangeArrowheads="1"/>
            </p:cNvSpPr>
            <p:nvPr/>
          </p:nvSpPr>
          <p:spPr bwMode="auto">
            <a:xfrm>
              <a:off x="4543"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y</a:t>
              </a:r>
              <a:endParaRPr kumimoji="0" lang="en-US" altLang="zh-CN" b="1">
                <a:latin typeface="+mn-lt"/>
                <a:ea typeface="+mj-ea"/>
              </a:endParaRPr>
            </a:p>
          </p:txBody>
        </p:sp>
        <p:sp>
          <p:nvSpPr>
            <p:cNvPr id="59426" name="Text Box 134"/>
            <p:cNvSpPr txBox="1">
              <a:spLocks noChangeArrowheads="1"/>
            </p:cNvSpPr>
            <p:nvPr/>
          </p:nvSpPr>
          <p:spPr bwMode="auto">
            <a:xfrm>
              <a:off x="3866"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27" name="Text Box 135"/>
            <p:cNvSpPr txBox="1">
              <a:spLocks noChangeArrowheads="1"/>
            </p:cNvSpPr>
            <p:nvPr/>
          </p:nvSpPr>
          <p:spPr bwMode="auto">
            <a:xfrm>
              <a:off x="3863" y="2808"/>
              <a:ext cx="535" cy="136"/>
            </a:xfrm>
            <a:prstGeom prst="rect">
              <a:avLst/>
            </a:prstGeom>
            <a:noFill/>
            <a:ln w="9525">
              <a:noFill/>
              <a:miter lim="800000"/>
            </a:ln>
          </p:spPr>
          <p:txBody>
            <a:bodyPr lIns="0" tIns="0" rIns="0" bIns="0"/>
            <a:lstStyle/>
            <a:p>
              <a:pPr eaLnBrk="0" hangingPunct="0"/>
              <a:r>
                <a:rPr kumimoji="0" lang="en-US" altLang="zh-CN" b="1" dirty="0">
                  <a:latin typeface="+mn-lt"/>
                  <a:ea typeface="+mj-ea"/>
                </a:rPr>
                <a:t>  a</a:t>
              </a:r>
              <a:endParaRPr kumimoji="0" lang="en-US" altLang="zh-CN" b="1" dirty="0">
                <a:latin typeface="+mn-lt"/>
                <a:ea typeface="+mj-ea"/>
              </a:endParaRPr>
            </a:p>
          </p:txBody>
        </p:sp>
        <p:sp>
          <p:nvSpPr>
            <p:cNvPr id="59428" name="Text Box 137"/>
            <p:cNvSpPr txBox="1">
              <a:spLocks noChangeArrowheads="1"/>
            </p:cNvSpPr>
            <p:nvPr/>
          </p:nvSpPr>
          <p:spPr bwMode="auto">
            <a:xfrm>
              <a:off x="4546"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29" name="Text Box 138"/>
            <p:cNvSpPr txBox="1">
              <a:spLocks noChangeArrowheads="1"/>
            </p:cNvSpPr>
            <p:nvPr/>
          </p:nvSpPr>
          <p:spPr bwMode="auto">
            <a:xfrm>
              <a:off x="4543" y="2808"/>
              <a:ext cx="535" cy="136"/>
            </a:xfrm>
            <a:prstGeom prst="rect">
              <a:avLst/>
            </a:prstGeom>
            <a:noFill/>
            <a:ln w="9525">
              <a:noFill/>
              <a:miter lim="800000"/>
            </a:ln>
          </p:spPr>
          <p:txBody>
            <a:bodyPr lIns="0" tIns="0" rIns="0" bIns="0"/>
            <a:lstStyle/>
            <a:p>
              <a:pPr algn="ctr" eaLnBrk="0" hangingPunct="0"/>
              <a:r>
                <a:rPr kumimoji="0" lang="en-US" altLang="zh-CN" b="1" dirty="0">
                  <a:latin typeface="+mn-lt"/>
                  <a:ea typeface="+mj-ea"/>
                </a:rPr>
                <a:t>  b</a:t>
              </a:r>
              <a:endParaRPr kumimoji="0" lang="en-US" altLang="zh-CN" b="1" dirty="0">
                <a:latin typeface="+mn-lt"/>
                <a:ea typeface="+mj-ea"/>
              </a:endParaRPr>
            </a:p>
          </p:txBody>
        </p:sp>
        <p:sp>
          <p:nvSpPr>
            <p:cNvPr id="59430" name="Text Box 140"/>
            <p:cNvSpPr txBox="1">
              <a:spLocks noChangeArrowheads="1"/>
            </p:cNvSpPr>
            <p:nvPr/>
          </p:nvSpPr>
          <p:spPr bwMode="auto">
            <a:xfrm>
              <a:off x="4197" y="3149"/>
              <a:ext cx="546" cy="229"/>
            </a:xfrm>
            <a:prstGeom prst="rect">
              <a:avLst/>
            </a:prstGeom>
            <a:solidFill>
              <a:srgbClr val="FFFFFF"/>
            </a:solidFill>
            <a:ln w="9525">
              <a:solidFill>
                <a:schemeClr val="tx1"/>
              </a:solidFill>
              <a:miter lim="800000"/>
            </a:ln>
          </p:spPr>
          <p:txBody>
            <a:bodyPr/>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31" name="Line 141"/>
            <p:cNvSpPr>
              <a:spLocks noChangeShapeType="1"/>
            </p:cNvSpPr>
            <p:nvPr/>
          </p:nvSpPr>
          <p:spPr bwMode="auto">
            <a:xfrm flipV="1">
              <a:off x="4641" y="2869"/>
              <a:ext cx="0" cy="282"/>
            </a:xfrm>
            <a:prstGeom prst="line">
              <a:avLst/>
            </a:prstGeom>
            <a:noFill/>
            <a:ln w="9525">
              <a:solidFill>
                <a:schemeClr val="tx1"/>
              </a:solidFill>
              <a:round/>
              <a:tailEnd type="triangle" w="med" len="lg"/>
            </a:ln>
          </p:spPr>
          <p:txBody>
            <a:bodyPr/>
            <a:lstStyle/>
            <a:p>
              <a:endParaRPr lang="zh-CN" altLang="en-US" b="1">
                <a:latin typeface="+mn-lt"/>
                <a:ea typeface="+mj-ea"/>
              </a:endParaRPr>
            </a:p>
          </p:txBody>
        </p:sp>
        <p:sp>
          <p:nvSpPr>
            <p:cNvPr id="59432" name="Text Box 142"/>
            <p:cNvSpPr txBox="1">
              <a:spLocks noChangeArrowheads="1"/>
            </p:cNvSpPr>
            <p:nvPr/>
          </p:nvSpPr>
          <p:spPr bwMode="auto">
            <a:xfrm>
              <a:off x="3968" y="3200"/>
              <a:ext cx="202" cy="178"/>
            </a:xfrm>
            <a:prstGeom prst="rect">
              <a:avLst/>
            </a:prstGeom>
            <a:noFill/>
            <a:ln w="9525">
              <a:noFill/>
              <a:miter lim="800000"/>
            </a:ln>
          </p:spPr>
          <p:txBody>
            <a:bodyPr lIns="0" tIns="0" rIns="0" bIns="0"/>
            <a:lstStyle/>
            <a:p>
              <a:pPr algn="ctr" eaLnBrk="0" hangingPunct="0"/>
              <a:r>
                <a:rPr kumimoji="0" lang="en-US" altLang="zh-CN" b="1">
                  <a:latin typeface="+mn-lt"/>
                  <a:ea typeface="+mj-ea"/>
                </a:rPr>
                <a:t>t</a:t>
              </a:r>
              <a:endParaRPr kumimoji="0" lang="en-US" altLang="zh-CN" b="1">
                <a:latin typeface="+mn-lt"/>
                <a:ea typeface="+mj-ea"/>
              </a:endParaRPr>
            </a:p>
          </p:txBody>
        </p:sp>
        <p:sp>
          <p:nvSpPr>
            <p:cNvPr id="59433" name="Text Box 146"/>
            <p:cNvSpPr txBox="1">
              <a:spLocks noChangeArrowheads="1"/>
            </p:cNvSpPr>
            <p:nvPr/>
          </p:nvSpPr>
          <p:spPr bwMode="auto">
            <a:xfrm>
              <a:off x="2288"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34" name="Text Box 147"/>
            <p:cNvSpPr txBox="1">
              <a:spLocks noChangeArrowheads="1"/>
            </p:cNvSpPr>
            <p:nvPr/>
          </p:nvSpPr>
          <p:spPr bwMode="auto">
            <a:xfrm>
              <a:off x="2285"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x</a:t>
              </a:r>
              <a:endParaRPr kumimoji="0" lang="en-US" altLang="zh-CN" b="1">
                <a:latin typeface="+mn-lt"/>
                <a:ea typeface="+mj-ea"/>
              </a:endParaRPr>
            </a:p>
          </p:txBody>
        </p:sp>
        <p:sp>
          <p:nvSpPr>
            <p:cNvPr id="59435" name="Text Box 149"/>
            <p:cNvSpPr txBox="1">
              <a:spLocks noChangeArrowheads="1"/>
            </p:cNvSpPr>
            <p:nvPr/>
          </p:nvSpPr>
          <p:spPr bwMode="auto">
            <a:xfrm>
              <a:off x="2967" y="2020"/>
              <a:ext cx="535" cy="223"/>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dirty="0">
                  <a:solidFill>
                    <a:srgbClr val="000000"/>
                  </a:solidFill>
                  <a:latin typeface="+mn-lt"/>
                  <a:ea typeface="+mj-ea"/>
                </a:rPr>
                <a:t>10</a:t>
              </a:r>
              <a:endParaRPr kumimoji="0" lang="en-US" altLang="zh-CN" b="1" dirty="0">
                <a:solidFill>
                  <a:srgbClr val="000000"/>
                </a:solidFill>
                <a:latin typeface="+mn-lt"/>
                <a:ea typeface="+mj-ea"/>
              </a:endParaRPr>
            </a:p>
          </p:txBody>
        </p:sp>
        <p:sp>
          <p:nvSpPr>
            <p:cNvPr id="59436" name="Text Box 150"/>
            <p:cNvSpPr txBox="1">
              <a:spLocks noChangeArrowheads="1"/>
            </p:cNvSpPr>
            <p:nvPr/>
          </p:nvSpPr>
          <p:spPr bwMode="auto">
            <a:xfrm>
              <a:off x="2964" y="2287"/>
              <a:ext cx="535" cy="136"/>
            </a:xfrm>
            <a:prstGeom prst="rect">
              <a:avLst/>
            </a:prstGeom>
            <a:noFill/>
            <a:ln w="9525">
              <a:noFill/>
              <a:miter lim="800000"/>
            </a:ln>
          </p:spPr>
          <p:txBody>
            <a:bodyPr lIns="0" tIns="0" rIns="0" bIns="0"/>
            <a:lstStyle/>
            <a:p>
              <a:pPr eaLnBrk="0" hangingPunct="0"/>
              <a:r>
                <a:rPr kumimoji="0" lang="en-US" altLang="zh-CN" b="1">
                  <a:latin typeface="+mn-lt"/>
                  <a:ea typeface="+mj-ea"/>
                </a:rPr>
                <a:t>  y</a:t>
              </a:r>
              <a:endParaRPr kumimoji="0" lang="en-US" altLang="zh-CN" b="1">
                <a:latin typeface="+mn-lt"/>
                <a:ea typeface="+mj-ea"/>
              </a:endParaRPr>
            </a:p>
          </p:txBody>
        </p:sp>
        <p:sp>
          <p:nvSpPr>
            <p:cNvPr id="59437" name="Text Box 152"/>
            <p:cNvSpPr txBox="1">
              <a:spLocks noChangeArrowheads="1"/>
            </p:cNvSpPr>
            <p:nvPr/>
          </p:nvSpPr>
          <p:spPr bwMode="auto">
            <a:xfrm>
              <a:off x="2288"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38" name="Text Box 153"/>
            <p:cNvSpPr txBox="1">
              <a:spLocks noChangeArrowheads="1"/>
            </p:cNvSpPr>
            <p:nvPr/>
          </p:nvSpPr>
          <p:spPr bwMode="auto">
            <a:xfrm>
              <a:off x="2285" y="2808"/>
              <a:ext cx="535" cy="136"/>
            </a:xfrm>
            <a:prstGeom prst="rect">
              <a:avLst/>
            </a:prstGeom>
            <a:noFill/>
            <a:ln w="9525">
              <a:noFill/>
              <a:miter lim="800000"/>
            </a:ln>
          </p:spPr>
          <p:txBody>
            <a:bodyPr lIns="0" tIns="0" rIns="0" bIns="0"/>
            <a:lstStyle/>
            <a:p>
              <a:pPr eaLnBrk="0" hangingPunct="0"/>
              <a:r>
                <a:rPr kumimoji="0" lang="en-US" altLang="zh-CN" b="1" dirty="0">
                  <a:latin typeface="+mn-lt"/>
                  <a:ea typeface="+mj-ea"/>
                </a:rPr>
                <a:t>  a</a:t>
              </a:r>
              <a:endParaRPr kumimoji="0" lang="en-US" altLang="zh-CN" b="1" dirty="0">
                <a:latin typeface="+mn-lt"/>
                <a:ea typeface="+mj-ea"/>
              </a:endParaRPr>
            </a:p>
          </p:txBody>
        </p:sp>
        <p:sp>
          <p:nvSpPr>
            <p:cNvPr id="59439" name="Text Box 155"/>
            <p:cNvSpPr txBox="1">
              <a:spLocks noChangeArrowheads="1"/>
            </p:cNvSpPr>
            <p:nvPr/>
          </p:nvSpPr>
          <p:spPr bwMode="auto">
            <a:xfrm>
              <a:off x="2967" y="2648"/>
              <a:ext cx="535" cy="219"/>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40" name="Text Box 156"/>
            <p:cNvSpPr txBox="1">
              <a:spLocks noChangeArrowheads="1"/>
            </p:cNvSpPr>
            <p:nvPr/>
          </p:nvSpPr>
          <p:spPr bwMode="auto">
            <a:xfrm>
              <a:off x="2964" y="2808"/>
              <a:ext cx="535" cy="136"/>
            </a:xfrm>
            <a:prstGeom prst="rect">
              <a:avLst/>
            </a:prstGeom>
            <a:noFill/>
            <a:ln w="9525">
              <a:noFill/>
              <a:miter lim="800000"/>
            </a:ln>
          </p:spPr>
          <p:txBody>
            <a:bodyPr lIns="0" tIns="0" rIns="0" bIns="0"/>
            <a:lstStyle/>
            <a:p>
              <a:pPr eaLnBrk="0" hangingPunct="0"/>
              <a:r>
                <a:rPr kumimoji="0" lang="en-US" altLang="zh-CN" b="1" dirty="0">
                  <a:latin typeface="+mn-lt"/>
                  <a:ea typeface="+mj-ea"/>
                </a:rPr>
                <a:t>  b</a:t>
              </a:r>
              <a:endParaRPr kumimoji="0" lang="en-US" altLang="zh-CN" b="1" dirty="0">
                <a:latin typeface="+mn-lt"/>
                <a:ea typeface="+mj-ea"/>
              </a:endParaRPr>
            </a:p>
          </p:txBody>
        </p:sp>
        <p:sp>
          <p:nvSpPr>
            <p:cNvPr id="59441" name="Line 157"/>
            <p:cNvSpPr>
              <a:spLocks noChangeShapeType="1"/>
            </p:cNvSpPr>
            <p:nvPr/>
          </p:nvSpPr>
          <p:spPr bwMode="auto">
            <a:xfrm flipH="1">
              <a:off x="2814" y="2758"/>
              <a:ext cx="153" cy="0"/>
            </a:xfrm>
            <a:prstGeom prst="line">
              <a:avLst/>
            </a:prstGeom>
            <a:noFill/>
            <a:ln w="9525">
              <a:solidFill>
                <a:schemeClr val="tx1"/>
              </a:solidFill>
              <a:round/>
              <a:tailEnd type="triangle" w="med" len="lg"/>
            </a:ln>
          </p:spPr>
          <p:txBody>
            <a:bodyPr/>
            <a:lstStyle/>
            <a:p>
              <a:endParaRPr lang="zh-CN" altLang="en-US" b="1">
                <a:latin typeface="+mn-lt"/>
                <a:ea typeface="+mj-ea"/>
              </a:endParaRPr>
            </a:p>
          </p:txBody>
        </p:sp>
        <p:sp>
          <p:nvSpPr>
            <p:cNvPr id="59442" name="Text Box 159"/>
            <p:cNvSpPr txBox="1">
              <a:spLocks noChangeArrowheads="1"/>
            </p:cNvSpPr>
            <p:nvPr/>
          </p:nvSpPr>
          <p:spPr bwMode="auto">
            <a:xfrm>
              <a:off x="2627" y="3132"/>
              <a:ext cx="546" cy="229"/>
            </a:xfrm>
            <a:prstGeom prst="rect">
              <a:avLst/>
            </a:prstGeom>
            <a:solidFill>
              <a:srgbClr val="FFFFFF"/>
            </a:solidFill>
            <a:ln w="9525">
              <a:solidFill>
                <a:schemeClr val="tx1"/>
              </a:solidFill>
              <a:miter lim="800000"/>
            </a:ln>
          </p:spPr>
          <p:txBody>
            <a:bodyPr/>
            <a:lstStyle/>
            <a:p>
              <a:pPr algn="ctr" eaLnBrk="0" hangingPunct="0"/>
              <a:r>
                <a:rPr kumimoji="0" lang="en-US" altLang="zh-CN" b="1">
                  <a:solidFill>
                    <a:srgbClr val="000000"/>
                  </a:solidFill>
                  <a:latin typeface="+mn-lt"/>
                  <a:ea typeface="+mj-ea"/>
                </a:rPr>
                <a:t>5</a:t>
              </a:r>
              <a:endParaRPr kumimoji="0" lang="en-US" altLang="zh-CN" b="1">
                <a:solidFill>
                  <a:srgbClr val="000000"/>
                </a:solidFill>
                <a:latin typeface="+mn-lt"/>
                <a:ea typeface="+mj-ea"/>
              </a:endParaRPr>
            </a:p>
          </p:txBody>
        </p:sp>
        <p:sp>
          <p:nvSpPr>
            <p:cNvPr id="59443" name="Text Box 160"/>
            <p:cNvSpPr txBox="1">
              <a:spLocks noChangeArrowheads="1"/>
            </p:cNvSpPr>
            <p:nvPr/>
          </p:nvSpPr>
          <p:spPr bwMode="auto">
            <a:xfrm>
              <a:off x="2398" y="3183"/>
              <a:ext cx="202" cy="178"/>
            </a:xfrm>
            <a:prstGeom prst="rect">
              <a:avLst/>
            </a:prstGeom>
            <a:noFill/>
            <a:ln w="9525">
              <a:noFill/>
              <a:miter lim="800000"/>
            </a:ln>
          </p:spPr>
          <p:txBody>
            <a:bodyPr lIns="0" tIns="0" rIns="0" bIns="0"/>
            <a:lstStyle/>
            <a:p>
              <a:pPr algn="ctr" eaLnBrk="0" hangingPunct="0"/>
              <a:r>
                <a:rPr kumimoji="0" lang="en-US" altLang="zh-CN" b="1">
                  <a:latin typeface="+mn-lt"/>
                  <a:ea typeface="+mj-ea"/>
                </a:rPr>
                <a:t>t</a:t>
              </a:r>
              <a:endParaRPr kumimoji="0" lang="en-US" altLang="zh-CN" b="1">
                <a:latin typeface="+mn-lt"/>
                <a:ea typeface="+mj-ea"/>
              </a:endParaRPr>
            </a:p>
          </p:txBody>
        </p:sp>
        <p:sp>
          <p:nvSpPr>
            <p:cNvPr id="59444" name="Text Box 161"/>
            <p:cNvSpPr txBox="1">
              <a:spLocks noChangeArrowheads="1"/>
            </p:cNvSpPr>
            <p:nvPr/>
          </p:nvSpPr>
          <p:spPr bwMode="auto">
            <a:xfrm>
              <a:off x="632" y="1358"/>
              <a:ext cx="1555" cy="263"/>
            </a:xfrm>
            <a:prstGeom prst="rect">
              <a:avLst/>
            </a:prstGeom>
            <a:noFill/>
            <a:ln w="9525">
              <a:noFill/>
              <a:miter lim="800000"/>
            </a:ln>
          </p:spPr>
          <p:txBody>
            <a:bodyPr/>
            <a:lstStyle/>
            <a:p>
              <a:pPr algn="just" eaLnBrk="0" hangingPunct="0"/>
              <a:r>
                <a:rPr kumimoji="0" lang="zh-CN" altLang="en-US" sz="2000" b="1" dirty="0">
                  <a:latin typeface="微软雅黑" panose="020B0503020204020204" pitchFamily="34" charset="-122"/>
                  <a:ea typeface="微软雅黑" panose="020B0503020204020204" pitchFamily="34" charset="-122"/>
                </a:rPr>
                <a:t>在</a:t>
              </a:r>
              <a:r>
                <a:rPr kumimoji="0" lang="en-US" altLang="zh-CN" sz="2000" b="1" dirty="0">
                  <a:latin typeface="微软雅黑" panose="020B0503020204020204" pitchFamily="34" charset="-122"/>
                  <a:ea typeface="微软雅黑" panose="020B0503020204020204" pitchFamily="34" charset="-122"/>
                </a:rPr>
                <a:t>swap</a:t>
              </a:r>
              <a:r>
                <a:rPr kumimoji="0" lang="zh-CN" altLang="en-US" sz="2000" b="1" dirty="0">
                  <a:latin typeface="微软雅黑" panose="020B0503020204020204" pitchFamily="34" charset="-122"/>
                  <a:ea typeface="微软雅黑" panose="020B0503020204020204" pitchFamily="34" charset="-122"/>
                </a:rPr>
                <a:t>子函数中</a:t>
              </a:r>
              <a:endParaRPr kumimoji="0" lang="zh-CN" altLang="en-US" sz="2000" b="1" dirty="0">
                <a:latin typeface="微软雅黑" panose="020B0503020204020204" pitchFamily="34" charset="-122"/>
                <a:ea typeface="微软雅黑" panose="020B0503020204020204" pitchFamily="34" charset="-122"/>
              </a:endParaRPr>
            </a:p>
          </p:txBody>
        </p:sp>
        <p:sp>
          <p:nvSpPr>
            <p:cNvPr id="59445" name="Line 162"/>
            <p:cNvSpPr>
              <a:spLocks noChangeShapeType="1"/>
            </p:cNvSpPr>
            <p:nvPr/>
          </p:nvSpPr>
          <p:spPr bwMode="auto">
            <a:xfrm>
              <a:off x="624" y="1264"/>
              <a:ext cx="4558" cy="0"/>
            </a:xfrm>
            <a:prstGeom prst="line">
              <a:avLst/>
            </a:prstGeom>
            <a:noFill/>
            <a:ln w="9525">
              <a:solidFill>
                <a:schemeClr val="tx1"/>
              </a:solidFill>
              <a:prstDash val="dash"/>
              <a:round/>
            </a:ln>
          </p:spPr>
          <p:txBody>
            <a:bodyPr/>
            <a:lstStyle/>
            <a:p>
              <a:endParaRPr lang="zh-CN" altLang="en-US" b="1">
                <a:latin typeface="+mn-lt"/>
                <a:ea typeface="+mj-ea"/>
              </a:endParaRPr>
            </a:p>
          </p:txBody>
        </p:sp>
        <p:sp>
          <p:nvSpPr>
            <p:cNvPr id="59446" name="Line 163"/>
            <p:cNvSpPr>
              <a:spLocks noChangeShapeType="1"/>
            </p:cNvSpPr>
            <p:nvPr/>
          </p:nvSpPr>
          <p:spPr bwMode="auto">
            <a:xfrm>
              <a:off x="624" y="3590"/>
              <a:ext cx="4558" cy="0"/>
            </a:xfrm>
            <a:prstGeom prst="line">
              <a:avLst/>
            </a:prstGeom>
            <a:noFill/>
            <a:ln w="9525">
              <a:solidFill>
                <a:schemeClr val="tx1"/>
              </a:solidFill>
              <a:prstDash val="dash"/>
              <a:round/>
            </a:ln>
          </p:spPr>
          <p:txBody>
            <a:bodyPr/>
            <a:lstStyle/>
            <a:p>
              <a:endParaRPr lang="zh-CN" altLang="en-US" b="1">
                <a:latin typeface="+mn-lt"/>
                <a:ea typeface="+mj-ea"/>
              </a:endParaRPr>
            </a:p>
          </p:txBody>
        </p:sp>
        <p:sp>
          <p:nvSpPr>
            <p:cNvPr id="59447" name="Text Box 164"/>
            <p:cNvSpPr txBox="1">
              <a:spLocks noChangeArrowheads="1"/>
            </p:cNvSpPr>
            <p:nvPr/>
          </p:nvSpPr>
          <p:spPr bwMode="auto">
            <a:xfrm>
              <a:off x="777" y="3734"/>
              <a:ext cx="1455" cy="238"/>
            </a:xfrm>
            <a:prstGeom prst="rect">
              <a:avLst/>
            </a:prstGeom>
            <a:noFill/>
            <a:ln w="9525">
              <a:noFill/>
              <a:miter lim="800000"/>
            </a:ln>
          </p:spPr>
          <p:txBody>
            <a:bodyPr/>
            <a:lstStyle/>
            <a:p>
              <a:pPr algn="just" eaLnBrk="0" hangingPunct="0"/>
              <a:r>
                <a:rPr kumimoji="0" lang="zh-CN" altLang="en-US" b="1" dirty="0">
                  <a:latin typeface="微软雅黑" panose="020B0503020204020204" pitchFamily="34" charset="-122"/>
                  <a:ea typeface="微软雅黑" panose="020B0503020204020204" pitchFamily="34" charset="-122"/>
                </a:rPr>
                <a:t>返回主函数以后</a:t>
              </a:r>
              <a:endParaRPr kumimoji="0" lang="zh-CN" altLang="en-US" b="1" dirty="0">
                <a:latin typeface="微软雅黑" panose="020B0503020204020204" pitchFamily="34" charset="-122"/>
                <a:ea typeface="微软雅黑" panose="020B0503020204020204" pitchFamily="34" charset="-122"/>
              </a:endParaRPr>
            </a:p>
          </p:txBody>
        </p:sp>
        <p:sp>
          <p:nvSpPr>
            <p:cNvPr id="59448" name="Text Box 167"/>
            <p:cNvSpPr txBox="1">
              <a:spLocks noChangeArrowheads="1"/>
            </p:cNvSpPr>
            <p:nvPr/>
          </p:nvSpPr>
          <p:spPr bwMode="auto">
            <a:xfrm>
              <a:off x="2517" y="3819"/>
              <a:ext cx="535" cy="220"/>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dirty="0">
                  <a:solidFill>
                    <a:srgbClr val="000000"/>
                  </a:solidFill>
                  <a:latin typeface="+mn-lt"/>
                  <a:ea typeface="+mj-ea"/>
                </a:rPr>
                <a:t>5</a:t>
              </a:r>
              <a:endParaRPr kumimoji="0" lang="en-US" altLang="zh-CN" b="1" dirty="0">
                <a:solidFill>
                  <a:srgbClr val="000000"/>
                </a:solidFill>
                <a:latin typeface="+mn-lt"/>
                <a:ea typeface="+mj-ea"/>
              </a:endParaRPr>
            </a:p>
          </p:txBody>
        </p:sp>
        <p:sp>
          <p:nvSpPr>
            <p:cNvPr id="59449" name="Text Box 168"/>
            <p:cNvSpPr txBox="1">
              <a:spLocks noChangeArrowheads="1"/>
            </p:cNvSpPr>
            <p:nvPr/>
          </p:nvSpPr>
          <p:spPr bwMode="auto">
            <a:xfrm>
              <a:off x="2514" y="3957"/>
              <a:ext cx="535" cy="136"/>
            </a:xfrm>
            <a:prstGeom prst="rect">
              <a:avLst/>
            </a:prstGeom>
            <a:noFill/>
            <a:ln w="9525">
              <a:noFill/>
              <a:miter lim="800000"/>
            </a:ln>
          </p:spPr>
          <p:txBody>
            <a:bodyPr lIns="0" tIns="0" rIns="0" bIns="0"/>
            <a:lstStyle/>
            <a:p>
              <a:pPr algn="ctr" eaLnBrk="0" hangingPunct="0"/>
              <a:r>
                <a:rPr kumimoji="0" lang="en-US" altLang="zh-CN" b="1" dirty="0">
                  <a:latin typeface="+mn-lt"/>
                  <a:ea typeface="+mj-ea"/>
                </a:rPr>
                <a:t>x</a:t>
              </a:r>
              <a:endParaRPr kumimoji="0" lang="en-US" altLang="zh-CN" b="1" dirty="0">
                <a:latin typeface="+mn-lt"/>
                <a:ea typeface="+mj-ea"/>
              </a:endParaRPr>
            </a:p>
          </p:txBody>
        </p:sp>
        <p:sp>
          <p:nvSpPr>
            <p:cNvPr id="59450" name="Text Box 170"/>
            <p:cNvSpPr txBox="1">
              <a:spLocks noChangeArrowheads="1"/>
            </p:cNvSpPr>
            <p:nvPr/>
          </p:nvSpPr>
          <p:spPr bwMode="auto">
            <a:xfrm>
              <a:off x="3196" y="3819"/>
              <a:ext cx="535" cy="220"/>
            </a:xfrm>
            <a:prstGeom prst="rect">
              <a:avLst/>
            </a:prstGeom>
            <a:solidFill>
              <a:srgbClr val="FFFFFF"/>
            </a:solidFill>
            <a:ln w="9525">
              <a:solidFill>
                <a:schemeClr val="tx1"/>
              </a:solidFill>
              <a:miter lim="800000"/>
            </a:ln>
          </p:spPr>
          <p:txBody>
            <a:bodyPr lIns="0" tIns="0" rIns="0" bIns="0"/>
            <a:lstStyle/>
            <a:p>
              <a:pPr algn="ctr" eaLnBrk="0" hangingPunct="0"/>
              <a:r>
                <a:rPr kumimoji="0" lang="en-US" altLang="zh-CN" b="1">
                  <a:solidFill>
                    <a:srgbClr val="000000"/>
                  </a:solidFill>
                  <a:latin typeface="+mn-lt"/>
                  <a:ea typeface="+mj-ea"/>
                </a:rPr>
                <a:t>10</a:t>
              </a:r>
              <a:endParaRPr kumimoji="0" lang="en-US" altLang="zh-CN" b="1">
                <a:solidFill>
                  <a:srgbClr val="000000"/>
                </a:solidFill>
                <a:latin typeface="+mn-lt"/>
                <a:ea typeface="+mj-ea"/>
              </a:endParaRPr>
            </a:p>
          </p:txBody>
        </p:sp>
        <p:sp>
          <p:nvSpPr>
            <p:cNvPr id="59451" name="Text Box 171"/>
            <p:cNvSpPr txBox="1">
              <a:spLocks noChangeArrowheads="1"/>
            </p:cNvSpPr>
            <p:nvPr/>
          </p:nvSpPr>
          <p:spPr bwMode="auto">
            <a:xfrm>
              <a:off x="3193" y="3957"/>
              <a:ext cx="535" cy="136"/>
            </a:xfrm>
            <a:prstGeom prst="rect">
              <a:avLst/>
            </a:prstGeom>
            <a:noFill/>
            <a:ln w="9525">
              <a:noFill/>
              <a:miter lim="800000"/>
            </a:ln>
          </p:spPr>
          <p:txBody>
            <a:bodyPr lIns="0" tIns="0" rIns="0" bIns="0"/>
            <a:lstStyle/>
            <a:p>
              <a:pPr algn="ctr" eaLnBrk="0" hangingPunct="0"/>
              <a:r>
                <a:rPr kumimoji="0" lang="en-US" altLang="zh-CN" b="1">
                  <a:latin typeface="+mn-lt"/>
                  <a:ea typeface="+mj-ea"/>
                </a:rPr>
                <a:t>y</a:t>
              </a:r>
              <a:endParaRPr kumimoji="0" lang="en-US" altLang="zh-CN" b="1">
                <a:latin typeface="+mn-lt"/>
                <a:ea typeface="+mj-ea"/>
              </a:endParaRPr>
            </a:p>
          </p:txBody>
        </p:sp>
        <p:sp>
          <p:nvSpPr>
            <p:cNvPr id="59452" name="Rectangle 120"/>
            <p:cNvSpPr>
              <a:spLocks noChangeArrowheads="1"/>
            </p:cNvSpPr>
            <p:nvPr/>
          </p:nvSpPr>
          <p:spPr bwMode="auto">
            <a:xfrm>
              <a:off x="651" y="1947"/>
              <a:ext cx="1295" cy="582"/>
            </a:xfrm>
            <a:prstGeom prst="rect">
              <a:avLst/>
            </a:prstGeom>
            <a:solidFill>
              <a:schemeClr val="tx1">
                <a:lumMod val="95000"/>
                <a:alpha val="50195"/>
              </a:schemeClr>
            </a:solidFill>
            <a:ln w="9525">
              <a:noFill/>
              <a:miter lim="800000"/>
            </a:ln>
          </p:spPr>
          <p:txBody>
            <a:bodyPr/>
            <a:lstStyle/>
            <a:p>
              <a:endParaRPr lang="zh-CN" altLang="en-US" b="1" dirty="0">
                <a:solidFill>
                  <a:srgbClr val="000000"/>
                </a:solidFill>
                <a:latin typeface="+mn-lt"/>
                <a:ea typeface="+mj-ea"/>
              </a:endParaRPr>
            </a:p>
          </p:txBody>
        </p:sp>
        <p:sp>
          <p:nvSpPr>
            <p:cNvPr id="59453" name="Rectangle 139"/>
            <p:cNvSpPr>
              <a:spLocks noChangeArrowheads="1"/>
            </p:cNvSpPr>
            <p:nvPr/>
          </p:nvSpPr>
          <p:spPr bwMode="auto">
            <a:xfrm>
              <a:off x="3847" y="1939"/>
              <a:ext cx="1319" cy="582"/>
            </a:xfrm>
            <a:prstGeom prst="rect">
              <a:avLst/>
            </a:prstGeom>
            <a:solidFill>
              <a:schemeClr val="tx1">
                <a:lumMod val="95000"/>
                <a:alpha val="50195"/>
              </a:schemeClr>
            </a:solidFill>
            <a:ln w="9525">
              <a:noFill/>
              <a:miter lim="800000"/>
            </a:ln>
          </p:spPr>
          <p:txBody>
            <a:bodyPr/>
            <a:lstStyle/>
            <a:p>
              <a:endParaRPr lang="zh-CN" altLang="en-US" b="1">
                <a:latin typeface="+mn-lt"/>
                <a:ea typeface="+mj-ea"/>
              </a:endParaRPr>
            </a:p>
          </p:txBody>
        </p:sp>
        <p:sp>
          <p:nvSpPr>
            <p:cNvPr id="59454" name="Rectangle 158"/>
            <p:cNvSpPr>
              <a:spLocks noChangeArrowheads="1"/>
            </p:cNvSpPr>
            <p:nvPr/>
          </p:nvSpPr>
          <p:spPr bwMode="auto">
            <a:xfrm>
              <a:off x="2226" y="1939"/>
              <a:ext cx="1290" cy="582"/>
            </a:xfrm>
            <a:prstGeom prst="rect">
              <a:avLst/>
            </a:prstGeom>
            <a:solidFill>
              <a:schemeClr val="tx1">
                <a:lumMod val="95000"/>
                <a:alpha val="50195"/>
              </a:schemeClr>
            </a:solidFill>
            <a:ln w="9525">
              <a:noFill/>
              <a:miter lim="800000"/>
            </a:ln>
          </p:spPr>
          <p:txBody>
            <a:bodyPr/>
            <a:lstStyle/>
            <a:p>
              <a:endParaRPr lang="zh-CN" altLang="en-US" b="1">
                <a:latin typeface="+mn-lt"/>
                <a:ea typeface="+mj-ea"/>
              </a:endParaRPr>
            </a:p>
          </p:txBody>
        </p:sp>
      </p:gr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ChangeArrowheads="1"/>
          </p:cNvSpPr>
          <p:nvPr/>
        </p:nvSpPr>
        <p:spPr bwMode="auto">
          <a:xfrm>
            <a:off x="1516679" y="1589296"/>
            <a:ext cx="70564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kumimoji="0" lang="zh-CN" altLang="en-US" sz="2800" b="1" dirty="0">
                <a:solidFill>
                  <a:srgbClr val="FFFF00"/>
                </a:solidFill>
                <a:latin typeface="Times New Roman" panose="02020603050405020304" pitchFamily="18" charset="0"/>
                <a:ea typeface="华文楷体" panose="02010600040101010101" pitchFamily="2" charset="-122"/>
              </a:rPr>
              <a:t>实参和形参之间的传递方式一：按地址传递（按值传递的特例）</a:t>
            </a:r>
            <a:endParaRPr kumimoji="0" lang="zh-CN" altLang="en-US" sz="2800" b="1" dirty="0">
              <a:solidFill>
                <a:srgbClr val="FFFF00"/>
              </a:solidFill>
              <a:latin typeface="Times New Roman" panose="02020603050405020304" pitchFamily="18" charset="0"/>
              <a:ea typeface="华文楷体" panose="02010600040101010101" pitchFamily="2" charset="-122"/>
            </a:endParaRPr>
          </a:p>
        </p:txBody>
      </p:sp>
      <p:sp>
        <p:nvSpPr>
          <p:cNvPr id="162820" name="Rectangle 4"/>
          <p:cNvSpPr>
            <a:spLocks noGrp="1" noChangeArrowheads="1"/>
          </p:cNvSpPr>
          <p:nvPr>
            <p:ph type="body" sz="half" idx="1"/>
          </p:nvPr>
        </p:nvSpPr>
        <p:spPr>
          <a:xfrm>
            <a:off x="4720286" y="2962275"/>
            <a:ext cx="3816350" cy="2547938"/>
          </a:xfrm>
          <a:noFill/>
        </p:spPr>
        <p:txBody>
          <a:bodyPr/>
          <a:lstStyle/>
          <a:p>
            <a:pPr marL="476250" indent="-476250" eaLnBrk="1" hangingPunct="1">
              <a:spcBef>
                <a:spcPct val="50000"/>
              </a:spcBef>
              <a:tabLst>
                <a:tab pos="266700" algn="l"/>
              </a:tabLst>
            </a:pPr>
            <a:r>
              <a:rPr lang="zh-CN" altLang="en-US" sz="2400" b="1" dirty="0" smtClean="0">
                <a:ea typeface="华文楷体" panose="02010600040101010101" pitchFamily="2" charset="-122"/>
              </a:rPr>
              <a:t>形参和实参是指针类型；</a:t>
            </a:r>
            <a:endParaRPr lang="zh-CN" altLang="en-US" sz="2400" b="1" dirty="0" smtClean="0">
              <a:ea typeface="华文楷体" panose="02010600040101010101" pitchFamily="2" charset="-122"/>
            </a:endParaRPr>
          </a:p>
          <a:p>
            <a:pPr marL="476250" indent="-476250" eaLnBrk="1" hangingPunct="1">
              <a:spcBef>
                <a:spcPct val="50000"/>
              </a:spcBef>
              <a:tabLst>
                <a:tab pos="266700" algn="l"/>
              </a:tabLst>
            </a:pPr>
            <a:r>
              <a:rPr lang="zh-CN" altLang="en-US" sz="2400" b="1" dirty="0" smtClean="0">
                <a:ea typeface="华文楷体" panose="02010600040101010101" pitchFamily="2" charset="-122"/>
              </a:rPr>
              <a:t>形参和实参指向相同的内存空间；</a:t>
            </a:r>
            <a:endParaRPr lang="zh-CN" altLang="en-US" sz="2400" b="1" dirty="0" smtClean="0">
              <a:ea typeface="华文楷体" panose="02010600040101010101" pitchFamily="2" charset="-122"/>
            </a:endParaRPr>
          </a:p>
          <a:p>
            <a:pPr marL="476250" indent="-476250" eaLnBrk="1" hangingPunct="1">
              <a:spcBef>
                <a:spcPct val="50000"/>
              </a:spcBef>
              <a:tabLst>
                <a:tab pos="266700" algn="l"/>
              </a:tabLst>
            </a:pPr>
            <a:r>
              <a:rPr lang="zh-CN" altLang="en-US" sz="2400" b="1" dirty="0" smtClean="0">
                <a:ea typeface="华文楷体" panose="02010600040101010101" pitchFamily="2" charset="-122"/>
              </a:rPr>
              <a:t>间接实现双向传递；</a:t>
            </a:r>
            <a:endParaRPr lang="zh-CN" altLang="en-US" sz="2400" b="1" dirty="0" smtClean="0">
              <a:ea typeface="华文楷体" panose="02010600040101010101" pitchFamily="2" charset="-122"/>
            </a:endParaRPr>
          </a:p>
        </p:txBody>
      </p:sp>
      <p:sp>
        <p:nvSpPr>
          <p:cNvPr id="12" name="Rectangle 3"/>
          <p:cNvSpPr txBox="1">
            <a:spLocks noChangeArrowheads="1"/>
          </p:cNvSpPr>
          <p:nvPr/>
        </p:nvSpPr>
        <p:spPr>
          <a:xfrm>
            <a:off x="654050" y="555625"/>
            <a:ext cx="8080375" cy="585788"/>
          </a:xfrm>
          <a:prstGeom prst="rect">
            <a:avLst/>
          </a:prstGeom>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a:solidFill>
                  <a:srgbClr val="FFFFFF"/>
                </a:solidFill>
                <a:latin typeface="Times New Roman" panose="02020603050405020304" pitchFamily="18" charset="0"/>
                <a:ea typeface="隶书" panose="02010509060101010101" pitchFamily="49" charset="-122"/>
              </a:rPr>
              <a:t>3.1.3 </a:t>
            </a:r>
            <a:r>
              <a:rPr lang="zh-CN" altLang="en-US" sz="4400" b="1" dirty="0">
                <a:solidFill>
                  <a:srgbClr val="FFFFFF"/>
                </a:solidFill>
                <a:latin typeface="Times New Roman" panose="02020603050405020304" pitchFamily="18" charset="0"/>
                <a:ea typeface="隶书" panose="02010509060101010101" pitchFamily="49" charset="-122"/>
              </a:rPr>
              <a:t>函数的参数传递：值传递</a:t>
            </a:r>
            <a:endParaRPr lang="zh-CN" altLang="en-US" sz="4400" b="1" dirty="0">
              <a:ea typeface="华文行楷" panose="02010800040101010101" pitchFamily="2" charset="-122"/>
            </a:endParaRPr>
          </a:p>
        </p:txBody>
      </p:sp>
      <p:sp>
        <p:nvSpPr>
          <p:cNvPr id="13" name="AutoShape 5"/>
          <p:cNvSpPr>
            <a:spLocks noChangeArrowheads="1"/>
          </p:cNvSpPr>
          <p:nvPr/>
        </p:nvSpPr>
        <p:spPr bwMode="auto">
          <a:xfrm>
            <a:off x="3780135" y="3390466"/>
            <a:ext cx="815380" cy="1210544"/>
          </a:xfrm>
          <a:prstGeom prst="rightArrow">
            <a:avLst>
              <a:gd name="adj1" fmla="val 50000"/>
              <a:gd name="adj2" fmla="val 25000"/>
            </a:avLst>
          </a:prstGeom>
          <a:solidFill>
            <a:schemeClr val="tx2"/>
          </a:solidFill>
          <a:ln w="12700" algn="ctr">
            <a:solidFill>
              <a:srgbClr val="0000CC"/>
            </a:solidFill>
            <a:miter lim="800000"/>
          </a:ln>
        </p:spPr>
        <p:txBody>
          <a:bodyPr wrap="none"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特点</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grpSp>
        <p:nvGrpSpPr>
          <p:cNvPr id="14" name="Group 6"/>
          <p:cNvGrpSpPr/>
          <p:nvPr/>
        </p:nvGrpSpPr>
        <p:grpSpPr bwMode="auto">
          <a:xfrm>
            <a:off x="1187450" y="2924175"/>
            <a:ext cx="1838325" cy="2586038"/>
            <a:chOff x="567" y="2134"/>
            <a:chExt cx="1158" cy="1629"/>
          </a:xfrm>
        </p:grpSpPr>
        <p:sp>
          <p:nvSpPr>
            <p:cNvPr id="15" name="AutoShape 7"/>
            <p:cNvSpPr>
              <a:spLocks noChangeArrowheads="1"/>
            </p:cNvSpPr>
            <p:nvPr/>
          </p:nvSpPr>
          <p:spPr bwMode="auto">
            <a:xfrm>
              <a:off x="609" y="2134"/>
              <a:ext cx="1113" cy="424"/>
            </a:xfrm>
            <a:prstGeom prst="roundRect">
              <a:avLst>
                <a:gd name="adj" fmla="val 16667"/>
              </a:avLst>
            </a:prstGeom>
            <a:solidFill>
              <a:srgbClr val="CCECFF"/>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形式参数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sp>
          <p:nvSpPr>
            <p:cNvPr id="16" name="AutoShape 8"/>
            <p:cNvSpPr>
              <a:spLocks noChangeArrowheads="1"/>
            </p:cNvSpPr>
            <p:nvPr/>
          </p:nvSpPr>
          <p:spPr bwMode="auto">
            <a:xfrm>
              <a:off x="612" y="3339"/>
              <a:ext cx="1113" cy="424"/>
            </a:xfrm>
            <a:prstGeom prst="roundRect">
              <a:avLst>
                <a:gd name="adj" fmla="val 16667"/>
              </a:avLst>
            </a:prstGeom>
            <a:solidFill>
              <a:srgbClr val="ECECEC"/>
            </a:solidFill>
            <a:ln w="12700" algn="ctr">
              <a:solidFill>
                <a:schemeClr val="tx1"/>
              </a:solidFill>
              <a:round/>
            </a:ln>
          </p:spPr>
          <p:txBody>
            <a:bodyPr lIns="0" rIns="0" anchor="ctr">
              <a:spAutoFit/>
            </a:bodyPr>
            <a:lstStyle>
              <a:lvl1pPr marL="635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a:solidFill>
                    <a:srgbClr val="000000"/>
                  </a:solidFill>
                  <a:latin typeface="Times New Roman" panose="02020603050405020304" pitchFamily="18" charset="0"/>
                  <a:ea typeface="华文楷体" panose="02010600040101010101" pitchFamily="2" charset="-122"/>
                </a:rPr>
                <a:t>实在参数</a:t>
              </a:r>
              <a:endParaRPr kumimoji="0" lang="zh-CN" altLang="en-US" sz="2800" b="1">
                <a:solidFill>
                  <a:srgbClr val="000000"/>
                </a:solidFill>
                <a:latin typeface="Times New Roman" panose="02020603050405020304" pitchFamily="18" charset="0"/>
                <a:ea typeface="华文楷体" panose="02010600040101010101" pitchFamily="2" charset="-122"/>
              </a:endParaRPr>
            </a:p>
          </p:txBody>
        </p:sp>
        <p:cxnSp>
          <p:nvCxnSpPr>
            <p:cNvPr id="17" name="AutoShape 9"/>
            <p:cNvCxnSpPr>
              <a:cxnSpLocks noChangeShapeType="1"/>
              <a:stCxn id="15" idx="2"/>
              <a:endCxn id="16" idx="0"/>
            </p:cNvCxnSpPr>
            <p:nvPr/>
          </p:nvCxnSpPr>
          <p:spPr bwMode="auto">
            <a:xfrm>
              <a:off x="1166" y="2558"/>
              <a:ext cx="3" cy="781"/>
            </a:xfrm>
            <a:prstGeom prst="straightConnector1">
              <a:avLst/>
            </a:prstGeom>
            <a:noFill/>
            <a:ln w="28575">
              <a:solidFill>
                <a:srgbClr val="FFC000"/>
              </a:solidFill>
              <a:round/>
              <a:headEnd type="triangle" w="lg" len="lg"/>
            </a:ln>
            <a:extLst>
              <a:ext uri="{909E8E84-426E-40DD-AFC4-6F175D3DCCD1}">
                <a14:hiddenFill xmlns:a14="http://schemas.microsoft.com/office/drawing/2010/main">
                  <a:noFill/>
                </a14:hiddenFill>
              </a:ext>
            </a:extLst>
          </p:spPr>
        </p:cxnSp>
        <p:sp>
          <p:nvSpPr>
            <p:cNvPr id="18" name="Text Box 10"/>
            <p:cNvSpPr txBox="1">
              <a:spLocks noChangeArrowheads="1"/>
            </p:cNvSpPr>
            <p:nvPr/>
          </p:nvSpPr>
          <p:spPr bwMode="auto">
            <a:xfrm>
              <a:off x="567" y="2704"/>
              <a:ext cx="108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按值传递</a:t>
              </a:r>
              <a:endParaRPr kumimoji="0" lang="zh-CN" altLang="en-US" sz="2400" b="1" dirty="0">
                <a:latin typeface="Times New Roman" panose="02020603050405020304" pitchFamily="18" charset="0"/>
                <a:ea typeface="华文楷体" panose="02010600040101010101" pitchFamily="2" charset="-122"/>
              </a:endParaRPr>
            </a:p>
          </p:txBody>
        </p:sp>
      </p:grpSp>
    </p:spTree>
  </p:cSld>
  <p:clrMapOvr>
    <a:masterClrMapping/>
  </p:clrMapOvr>
  <p:transition>
    <p:cove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ChangeArrowheads="1"/>
          </p:cNvSpPr>
          <p:nvPr/>
        </p:nvSpPr>
        <p:spPr bwMode="auto">
          <a:xfrm>
            <a:off x="1219200" y="404813"/>
            <a:ext cx="7673975" cy="6216015"/>
          </a:xfrm>
          <a:prstGeom prst="rect">
            <a:avLst/>
          </a:prstGeom>
          <a:solidFill>
            <a:schemeClr val="tx1"/>
          </a:solidFill>
          <a:ln w="9525">
            <a:solidFill>
              <a:schemeClr val="tx1"/>
            </a:solidFill>
            <a:miter lim="800000"/>
          </a:ln>
        </p:spPr>
        <p:txBody>
          <a:bodyPr>
            <a:spAutoFit/>
          </a:bodyPr>
          <a:lstStyle>
            <a:lvl1pPr indent="2667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zh-CN" altLang="en-US" sz="2200" b="1" dirty="0" smtClean="0">
                <a:solidFill>
                  <a:srgbClr val="000000"/>
                </a:solidFill>
                <a:latin typeface="Times New Roman" panose="02020603050405020304" pitchFamily="18" charset="0"/>
                <a:ea typeface="华文楷体" panose="02010600040101010101" pitchFamily="2" charset="-122"/>
              </a:rPr>
              <a:t>传</a:t>
            </a:r>
            <a:r>
              <a:rPr kumimoji="0" lang="zh-CN" altLang="en-US" sz="2200" b="1" dirty="0">
                <a:solidFill>
                  <a:srgbClr val="000000"/>
                </a:solidFill>
                <a:latin typeface="Times New Roman" panose="02020603050405020304" pitchFamily="18" charset="0"/>
                <a:ea typeface="华文楷体" panose="02010600040101010101" pitchFamily="2" charset="-122"/>
              </a:rPr>
              <a:t>地址调用</a:t>
            </a:r>
            <a:r>
              <a:rPr kumimoji="0" lang="zh-CN" altLang="en-US" sz="2400" b="1" dirty="0">
                <a:solidFill>
                  <a:srgbClr val="000000"/>
                </a:solidFill>
                <a:latin typeface="Times New Roman" panose="02020603050405020304" pitchFamily="18" charset="0"/>
                <a:ea typeface="华文楷体" panose="02010600040101010101" pitchFamily="2" charset="-122"/>
              </a:rPr>
              <a:t>示例程序（</a:t>
            </a:r>
            <a:r>
              <a:rPr kumimoji="0" lang="zh-CN" altLang="en-US" sz="2400" b="1" dirty="0">
                <a:solidFill>
                  <a:srgbClr val="FF0000"/>
                </a:solidFill>
                <a:latin typeface="Times New Roman" panose="02020603050405020304" pitchFamily="18" charset="0"/>
                <a:ea typeface="华文楷体" panose="02010600040101010101" pitchFamily="2" charset="-122"/>
              </a:rPr>
              <a:t>第六章讲解</a:t>
            </a:r>
            <a:r>
              <a:rPr kumimoji="0" lang="zh-CN" altLang="en-US" sz="2400" b="1" dirty="0">
                <a:solidFill>
                  <a:srgbClr val="000000"/>
                </a:solidFill>
                <a:latin typeface="Times New Roman" panose="02020603050405020304" pitchFamily="18" charset="0"/>
                <a:ea typeface="华文楷体" panose="02010600040101010101" pitchFamily="2" charset="-122"/>
              </a:rPr>
              <a:t>）</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eaLnBrk="1" hangingPunct="1">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#include &lt;</a:t>
            </a:r>
            <a:r>
              <a:rPr kumimoji="0" lang="en-US" altLang="zh-CN" sz="2200" b="1" dirty="0" err="1">
                <a:solidFill>
                  <a:srgbClr val="000000"/>
                </a:solidFill>
                <a:latin typeface="Times New Roman" panose="02020603050405020304" pitchFamily="18" charset="0"/>
                <a:ea typeface="华文楷体" panose="02010600040101010101" pitchFamily="2" charset="-122"/>
              </a:rPr>
              <a:t>iostream</a:t>
            </a:r>
            <a:r>
              <a:rPr kumimoji="0" lang="en-US" altLang="zh-CN" sz="2200" b="1" dirty="0">
                <a:solidFill>
                  <a:srgbClr val="000000"/>
                </a:solidFill>
                <a:latin typeface="Times New Roman" panose="02020603050405020304" pitchFamily="18" charset="0"/>
                <a:ea typeface="华文楷体" panose="02010600040101010101" pitchFamily="2" charset="-122"/>
              </a:rPr>
              <a:t>&gt;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eaLnBrk="1" hangingPunct="1">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200" b="1" dirty="0" err="1">
                <a:solidFill>
                  <a:srgbClr val="000000"/>
                </a:solidFill>
                <a:latin typeface="Times New Roman" panose="02020603050405020304" pitchFamily="18" charset="0"/>
                <a:ea typeface="华文楷体" panose="02010600040101010101" pitchFamily="2" charset="-122"/>
              </a:rPr>
              <a:t>std</a:t>
            </a: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void swap(</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x,int</a:t>
            </a:r>
            <a:r>
              <a:rPr kumimoji="0" lang="en-US" altLang="zh-CN" sz="2200" b="1" dirty="0">
                <a:solidFill>
                  <a:srgbClr val="000000"/>
                </a:solidFill>
                <a:latin typeface="Times New Roman" panose="02020603050405020304" pitchFamily="18" charset="0"/>
                <a:ea typeface="华文楷体" panose="02010600040101010101" pitchFamily="2" charset="-122"/>
              </a:rPr>
              <a:t>* y) </a:t>
            </a:r>
            <a:r>
              <a:rPr kumimoji="0" lang="zh-CN" altLang="en-US"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a:solidFill>
                  <a:srgbClr val="000000"/>
                </a:solidFill>
                <a:latin typeface="Times New Roman" panose="02020603050405020304" pitchFamily="18" charset="0"/>
                <a:ea typeface="华文楷体" panose="02010600040101010101" pitchFamily="2" charset="-122"/>
              </a:rPr>
              <a:t>//</a:t>
            </a:r>
            <a:r>
              <a:rPr kumimoji="0" lang="zh-CN" altLang="en-US" sz="2200" b="1" dirty="0">
                <a:solidFill>
                  <a:srgbClr val="000000"/>
                </a:solidFill>
                <a:latin typeface="Times New Roman" panose="02020603050405020304" pitchFamily="18" charset="0"/>
                <a:ea typeface="华文楷体" panose="02010600040101010101" pitchFamily="2" charset="-122"/>
              </a:rPr>
              <a:t>函数定义，形参为指针</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temp;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temp=*x;</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*x=*y;</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*y=temp;</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main()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a=5,b=10;</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cout</a:t>
            </a:r>
            <a:r>
              <a:rPr kumimoji="0" lang="en-US" altLang="zh-CN" sz="2200" b="1" dirty="0">
                <a:solidFill>
                  <a:srgbClr val="000000"/>
                </a:solidFill>
                <a:latin typeface="Times New Roman" panose="02020603050405020304" pitchFamily="18" charset="0"/>
                <a:ea typeface="华文楷体" panose="02010600040101010101" pitchFamily="2" charset="-122"/>
              </a:rPr>
              <a:t>&lt;&lt;"Before Swap a="&lt;&lt;a&lt;&lt;",b="&lt;&lt;b&lt;&lt;</a:t>
            </a:r>
            <a:r>
              <a:rPr kumimoji="0" lang="en-US" altLang="zh-CN" sz="2200" b="1" dirty="0" err="1">
                <a:solidFill>
                  <a:srgbClr val="000000"/>
                </a:solidFill>
                <a:latin typeface="Times New Roman" panose="02020603050405020304" pitchFamily="18" charset="0"/>
                <a:ea typeface="华文楷体" panose="02010600040101010101" pitchFamily="2" charset="-122"/>
              </a:rPr>
              <a:t>endl</a:t>
            </a: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swap(&amp;</a:t>
            </a:r>
            <a:r>
              <a:rPr kumimoji="0" lang="en-US" altLang="zh-CN" sz="2200" b="1" dirty="0" err="1">
                <a:solidFill>
                  <a:srgbClr val="000000"/>
                </a:solidFill>
                <a:latin typeface="Times New Roman" panose="02020603050405020304" pitchFamily="18" charset="0"/>
                <a:ea typeface="华文楷体" panose="02010600040101010101" pitchFamily="2" charset="-122"/>
              </a:rPr>
              <a:t>a,&amp;b</a:t>
            </a:r>
            <a:r>
              <a:rPr kumimoji="0" lang="en-US" altLang="zh-CN" sz="2200" b="1" dirty="0">
                <a:solidFill>
                  <a:srgbClr val="000000"/>
                </a:solidFill>
                <a:latin typeface="Times New Roman" panose="02020603050405020304" pitchFamily="18" charset="0"/>
                <a:ea typeface="华文楷体" panose="02010600040101010101" pitchFamily="2" charset="-122"/>
              </a:rPr>
              <a:t>);</a:t>
            </a:r>
            <a:r>
              <a:rPr kumimoji="0" lang="zh-CN" altLang="en-US"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a:solidFill>
                  <a:srgbClr val="000000"/>
                </a:solidFill>
                <a:latin typeface="Times New Roman" panose="02020603050405020304" pitchFamily="18" charset="0"/>
                <a:ea typeface="华文楷体" panose="02010600040101010101" pitchFamily="2" charset="-122"/>
              </a:rPr>
              <a:t>//</a:t>
            </a:r>
            <a:r>
              <a:rPr kumimoji="0" lang="zh-CN" altLang="en-US" sz="2200" b="1" dirty="0">
                <a:solidFill>
                  <a:srgbClr val="000000"/>
                </a:solidFill>
                <a:latin typeface="Times New Roman" panose="02020603050405020304" pitchFamily="18" charset="0"/>
                <a:ea typeface="华文楷体" panose="02010600040101010101" pitchFamily="2" charset="-122"/>
              </a:rPr>
              <a:t>传地址调用</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zh-CN" altLang="en-US"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cout</a:t>
            </a:r>
            <a:r>
              <a:rPr kumimoji="0" lang="en-US" altLang="zh-CN" sz="2200" b="1" dirty="0">
                <a:solidFill>
                  <a:srgbClr val="000000"/>
                </a:solidFill>
                <a:latin typeface="Times New Roman" panose="02020603050405020304" pitchFamily="18" charset="0"/>
                <a:ea typeface="华文楷体" panose="02010600040101010101" pitchFamily="2" charset="-122"/>
              </a:rPr>
              <a:t>&lt;&lt;"After Swap a="&lt;&lt;a&lt;&lt;",b="&lt;&lt;b&lt;&lt;</a:t>
            </a:r>
            <a:r>
              <a:rPr kumimoji="0" lang="en-US" altLang="zh-CN" sz="2200" b="1" dirty="0" err="1">
                <a:solidFill>
                  <a:srgbClr val="000000"/>
                </a:solidFill>
                <a:latin typeface="Times New Roman" panose="02020603050405020304" pitchFamily="18" charset="0"/>
                <a:ea typeface="华文楷体" panose="02010600040101010101" pitchFamily="2" charset="-122"/>
              </a:rPr>
              <a:t>endl</a:t>
            </a: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return 0;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p:txBody>
      </p:sp>
      <p:sp>
        <p:nvSpPr>
          <p:cNvPr id="297987" name="Text Box 3"/>
          <p:cNvSpPr txBox="1">
            <a:spLocks noChangeArrowheads="1"/>
          </p:cNvSpPr>
          <p:nvPr/>
        </p:nvSpPr>
        <p:spPr bwMode="auto">
          <a:xfrm>
            <a:off x="6156325" y="2276475"/>
            <a:ext cx="2697163" cy="1311275"/>
          </a:xfrm>
          <a:prstGeom prst="rect">
            <a:avLst/>
          </a:prstGeom>
          <a:solidFill>
            <a:schemeClr val="bg2"/>
          </a:solidFill>
          <a:ln>
            <a:noFill/>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0" lang="zh-CN" altLang="en-US" sz="2000" b="1" dirty="0">
                <a:latin typeface="Times New Roman" panose="02020603050405020304" pitchFamily="18" charset="0"/>
                <a:ea typeface="华文楷体" panose="02010600040101010101" pitchFamily="2" charset="-122"/>
              </a:rPr>
              <a:t>运行结果：</a:t>
            </a:r>
            <a:endParaRPr kumimoji="0" lang="zh-CN" altLang="en-US" sz="2000" b="1" dirty="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kumimoji="0" lang="en-US" altLang="zh-CN" sz="2000" b="1" dirty="0">
                <a:latin typeface="Times New Roman" panose="02020603050405020304" pitchFamily="18" charset="0"/>
                <a:ea typeface="华文楷体" panose="02010600040101010101" pitchFamily="2" charset="-122"/>
              </a:rPr>
              <a:t>Before swap a=5,b=10</a:t>
            </a:r>
            <a:endParaRPr kumimoji="0" lang="en-US" altLang="zh-CN" sz="2000" b="1" dirty="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kumimoji="0" lang="en-US" altLang="zh-CN" sz="2000" b="1" dirty="0">
                <a:latin typeface="Times New Roman" panose="02020603050405020304" pitchFamily="18" charset="0"/>
                <a:ea typeface="华文楷体" panose="02010600040101010101" pitchFamily="2" charset="-122"/>
              </a:rPr>
              <a:t>After swap a=10,b=5</a:t>
            </a:r>
            <a:endParaRPr kumimoji="0" lang="en-US" altLang="zh-CN" sz="2000" b="1" dirty="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97987"/>
                                        </p:tgtEl>
                                        <p:attrNameLst>
                                          <p:attrName>style.visibility</p:attrName>
                                        </p:attrNameLst>
                                      </p:cBhvr>
                                      <p:to>
                                        <p:strVal val="visible"/>
                                      </p:to>
                                    </p:set>
                                    <p:anim calcmode="lin" valueType="num">
                                      <p:cBhvr additive="base">
                                        <p:cTn id="7" dur="500" fill="hold"/>
                                        <p:tgtEl>
                                          <p:spTgt spid="297987"/>
                                        </p:tgtEl>
                                        <p:attrNameLst>
                                          <p:attrName>ppt_x</p:attrName>
                                        </p:attrNameLst>
                                      </p:cBhvr>
                                      <p:tavLst>
                                        <p:tav tm="0">
                                          <p:val>
                                            <p:strVal val="1+#ppt_w/2"/>
                                          </p:val>
                                        </p:tav>
                                        <p:tav tm="100000">
                                          <p:val>
                                            <p:strVal val="#ppt_x"/>
                                          </p:val>
                                        </p:tav>
                                      </p:tavLst>
                                    </p:anim>
                                    <p:anim calcmode="lin" valueType="num">
                                      <p:cBhvr additive="base">
                                        <p:cTn id="8" dur="500" fill="hold"/>
                                        <p:tgtEl>
                                          <p:spTgt spid="297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654049" y="332656"/>
            <a:ext cx="8080375" cy="585788"/>
          </a:xfrm>
        </p:spPr>
        <p:txBody>
          <a:bodyPr/>
          <a:lstStyle/>
          <a:p>
            <a:pPr algn="ctr" eaLnBrk="1" hangingPunct="1"/>
            <a:r>
              <a:rPr lang="en-US" altLang="zh-CN" sz="4400" b="1" dirty="0">
                <a:solidFill>
                  <a:srgbClr val="FFFFFF"/>
                </a:solidFill>
                <a:latin typeface="Times New Roman" panose="02020603050405020304" pitchFamily="18" charset="0"/>
                <a:ea typeface="隶书" panose="02010509060101010101" pitchFamily="49" charset="-122"/>
              </a:rPr>
              <a:t>3.1.3 </a:t>
            </a:r>
            <a:r>
              <a:rPr lang="zh-CN" altLang="en-US" sz="4400" b="1" dirty="0">
                <a:solidFill>
                  <a:srgbClr val="FFFFFF"/>
                </a:solidFill>
                <a:latin typeface="Times New Roman" panose="02020603050405020304" pitchFamily="18" charset="0"/>
                <a:ea typeface="隶书" panose="02010509060101010101" pitchFamily="49" charset="-122"/>
              </a:rPr>
              <a:t>函数的参数传递：值传递</a:t>
            </a:r>
            <a:endParaRPr lang="zh-CN" altLang="en-US" sz="4400" b="1" dirty="0">
              <a:ea typeface="华文行楷" panose="02010800040101010101" pitchFamily="2" charset="-122"/>
            </a:endParaRPr>
          </a:p>
        </p:txBody>
      </p:sp>
      <p:sp>
        <p:nvSpPr>
          <p:cNvPr id="16388" name="Rectangle 5"/>
          <p:cNvSpPr>
            <a:spLocks noChangeArrowheads="1"/>
          </p:cNvSpPr>
          <p:nvPr/>
        </p:nvSpPr>
        <p:spPr bwMode="auto">
          <a:xfrm>
            <a:off x="654049" y="1312863"/>
            <a:ext cx="8302625" cy="265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a:tailEnd/>
              </a14:hiddenLine>
            </a:ext>
          </a:extLst>
        </p:spPr>
        <p:txBody>
          <a:bodyPr wrap="square" lIns="36000" tIns="36000" rIns="36000" bIns="36000">
            <a:spAutoFit/>
          </a:bodyPr>
          <a:lstStyle>
            <a:lvl1pPr marL="342900" indent="-342900">
              <a:defRPr kumimoji="1" sz="2100" b="1">
                <a:solidFill>
                  <a:srgbClr val="FFFF00"/>
                </a:solidFill>
                <a:latin typeface="Times New Roman" panose="02020603050405020304" pitchFamily="18" charset="0"/>
                <a:ea typeface="宋体" panose="02010600030101010101" pitchFamily="2" charset="-122"/>
              </a:defRPr>
            </a:lvl1pPr>
            <a:lvl2pPr marL="800100" indent="-342900">
              <a:defRPr kumimoji="1" sz="2100" b="1">
                <a:solidFill>
                  <a:srgbClr val="FFFF00"/>
                </a:solidFill>
                <a:latin typeface="Times New Roman" panose="02020603050405020304" pitchFamily="18" charset="0"/>
                <a:ea typeface="宋体" panose="02010600030101010101" pitchFamily="2" charset="-122"/>
              </a:defRPr>
            </a:lvl2pPr>
            <a:lvl3pPr marL="1143000" indent="-228600">
              <a:defRPr kumimoji="1" sz="2100" b="1">
                <a:solidFill>
                  <a:srgbClr val="FFFF00"/>
                </a:solidFill>
                <a:latin typeface="Times New Roman" panose="02020603050405020304" pitchFamily="18" charset="0"/>
                <a:ea typeface="宋体" panose="02010600030101010101" pitchFamily="2" charset="-122"/>
              </a:defRPr>
            </a:lvl3pPr>
            <a:lvl4pPr marL="1600200" indent="-228600">
              <a:defRPr kumimoji="1" sz="2100" b="1">
                <a:solidFill>
                  <a:srgbClr val="FFFF00"/>
                </a:solidFill>
                <a:latin typeface="Times New Roman" panose="02020603050405020304" pitchFamily="18" charset="0"/>
                <a:ea typeface="宋体" panose="02010600030101010101" pitchFamily="2" charset="-122"/>
              </a:defRPr>
            </a:lvl4pPr>
            <a:lvl5pPr marL="2057400" indent="-22860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9pPr>
          </a:lstStyle>
          <a:p>
            <a:pPr marL="0" indent="0" algn="l" eaLnBrk="1" hangingPunct="1">
              <a:spcBef>
                <a:spcPct val="25000"/>
              </a:spcBef>
              <a:buClr>
                <a:srgbClr val="00B0F0"/>
              </a:buClr>
              <a:buSzPct val="75000"/>
            </a:pPr>
            <a:r>
              <a:rPr lang="zh-CN" altLang="en-US" sz="2400" dirty="0">
                <a:latin typeface="微软雅黑" panose="020B0503020204020204" pitchFamily="34" charset="-122"/>
                <a:ea typeface="微软雅黑" panose="020B0503020204020204" pitchFamily="34" charset="-122"/>
              </a:rPr>
              <a:t>指针</a:t>
            </a:r>
            <a:r>
              <a:rPr lang="zh-CN" altLang="en-US" sz="2400" dirty="0" smtClean="0">
                <a:latin typeface="微软雅黑" panose="020B0503020204020204" pitchFamily="34" charset="-122"/>
                <a:ea typeface="微软雅黑" panose="020B0503020204020204" pitchFamily="34" charset="-122"/>
              </a:rPr>
              <a:t>形参：当形参是指针类型时</a:t>
            </a:r>
            <a:r>
              <a:rPr kumimoji="0" lang="zh-CN" altLang="en-US" sz="2400" dirty="0">
                <a:solidFill>
                  <a:srgbClr val="000000"/>
                </a:solidFill>
                <a:ea typeface="华文楷体" panose="02010600040101010101" pitchFamily="2" charset="-122"/>
                <a:sym typeface="+mn-ea"/>
              </a:rPr>
              <a:t>（</a:t>
            </a:r>
            <a:r>
              <a:rPr kumimoji="0" lang="zh-CN" altLang="en-US" sz="2400" dirty="0">
                <a:solidFill>
                  <a:srgbClr val="FF0000"/>
                </a:solidFill>
                <a:ea typeface="华文楷体" panose="02010600040101010101" pitchFamily="2" charset="-122"/>
                <a:sym typeface="+mn-ea"/>
              </a:rPr>
              <a:t>第六章讲解</a:t>
            </a:r>
            <a:r>
              <a:rPr kumimoji="0" lang="zh-CN" altLang="en-US" sz="2400" dirty="0">
                <a:solidFill>
                  <a:srgbClr val="000000"/>
                </a:solidFill>
                <a:ea typeface="华文楷体" panose="02010600040101010101" pitchFamily="2" charset="-122"/>
                <a:sym typeface="+mn-ea"/>
              </a:rPr>
              <a:t>）</a:t>
            </a:r>
            <a:endParaRPr lang="en-US" altLang="zh-CN" sz="2400" dirty="0">
              <a:latin typeface="微软雅黑" panose="020B0503020204020204" pitchFamily="34" charset="-122"/>
              <a:ea typeface="微软雅黑" panose="020B0503020204020204" pitchFamily="34" charset="-122"/>
            </a:endParaRPr>
          </a:p>
          <a:p>
            <a:pPr algn="l">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指针的行为和其他非引用类型一样</a:t>
            </a:r>
            <a:endParaRPr lang="en-US" altLang="zh-CN" sz="2400" dirty="0">
              <a:solidFill>
                <a:schemeClr val="tx1"/>
              </a:solidFill>
              <a:latin typeface="微软雅黑" panose="020B0503020204020204" pitchFamily="34" charset="-122"/>
              <a:ea typeface="微软雅黑" panose="020B0503020204020204" pitchFamily="34" charset="-122"/>
            </a:endParaRPr>
          </a:p>
          <a:p>
            <a:pPr algn="l">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执行指针拷贝操作时，拷贝的是指针的值</a:t>
            </a:r>
            <a:endParaRPr lang="en-US" altLang="zh-CN" sz="2400" dirty="0">
              <a:solidFill>
                <a:schemeClr val="tx1"/>
              </a:solidFill>
              <a:latin typeface="微软雅黑" panose="020B0503020204020204" pitchFamily="34" charset="-122"/>
              <a:ea typeface="微软雅黑" panose="020B0503020204020204" pitchFamily="34" charset="-122"/>
            </a:endParaRPr>
          </a:p>
          <a:p>
            <a:pPr algn="l">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拷贝之后，两个指针是不同的指针</a:t>
            </a:r>
            <a:endParaRPr lang="en-US" altLang="zh-CN" sz="2400" dirty="0">
              <a:solidFill>
                <a:schemeClr val="tx1"/>
              </a:solidFill>
              <a:latin typeface="微软雅黑" panose="020B0503020204020204" pitchFamily="34" charset="-122"/>
              <a:ea typeface="微软雅黑" panose="020B0503020204020204" pitchFamily="34" charset="-122"/>
            </a:endParaRPr>
          </a:p>
          <a:p>
            <a:pPr algn="l">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指针可间接访问它所指的对象，通过指针可修改它所指的对象的值</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5" name="Text Box 8"/>
          <p:cNvSpPr txBox="1">
            <a:spLocks noChangeArrowheads="1"/>
          </p:cNvSpPr>
          <p:nvPr/>
        </p:nvSpPr>
        <p:spPr bwMode="auto">
          <a:xfrm>
            <a:off x="730249" y="4134985"/>
            <a:ext cx="7927975" cy="2246769"/>
          </a:xfrm>
          <a:prstGeom prst="rect">
            <a:avLst/>
          </a:prstGeom>
          <a:solidFill>
            <a:schemeClr val="tx1"/>
          </a:solidFill>
          <a:ln>
            <a:noFill/>
          </a:ln>
        </p:spPr>
        <p:txBody>
          <a:bodyPr>
            <a:spAutoFit/>
          </a:bodyPr>
          <a:lstStyle>
            <a:lvl1pPr eaLnBrk="0" hangingPunct="0">
              <a:defRPr kumimoji="1" sz="2100" b="1">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2100" b="1">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2100" b="1">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2100" b="1">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9pPr>
          </a:lstStyle>
          <a:p>
            <a:pPr algn="l" eaLnBrk="1" hangingPunct="1">
              <a:defRPr/>
            </a:pPr>
            <a:r>
              <a:rPr lang="en-US" altLang="zh-CN" sz="2000" dirty="0" smtClean="0">
                <a:solidFill>
                  <a:srgbClr val="000000"/>
                </a:solidFill>
                <a:latin typeface="+mn-lt"/>
                <a:ea typeface="华文楷体" panose="02010600040101010101" pitchFamily="2" charset="-122"/>
              </a:rPr>
              <a:t>void reset(</a:t>
            </a:r>
            <a:r>
              <a:rPr lang="en-US" altLang="zh-CN" sz="2000" dirty="0" err="1" smtClean="0">
                <a:solidFill>
                  <a:srgbClr val="000000"/>
                </a:solidFill>
                <a:latin typeface="+mn-lt"/>
                <a:ea typeface="华文楷体" panose="02010600040101010101" pitchFamily="2" charset="-122"/>
              </a:rPr>
              <a:t>int</a:t>
            </a:r>
            <a:r>
              <a:rPr lang="en-US" altLang="zh-CN" sz="2000" dirty="0" smtClean="0">
                <a:solidFill>
                  <a:srgbClr val="000000"/>
                </a:solidFill>
                <a:latin typeface="+mn-lt"/>
                <a:ea typeface="华文楷体" panose="02010600040101010101" pitchFamily="2" charset="-122"/>
              </a:rPr>
              <a:t> *</a:t>
            </a:r>
            <a:r>
              <a:rPr lang="en-US" altLang="zh-CN" sz="2000" dirty="0" err="1" smtClean="0">
                <a:solidFill>
                  <a:srgbClr val="000000"/>
                </a:solidFill>
                <a:latin typeface="+mn-lt"/>
                <a:ea typeface="华文楷体" panose="02010600040101010101" pitchFamily="2" charset="-122"/>
              </a:rPr>
              <a:t>ip</a:t>
            </a:r>
            <a:r>
              <a:rPr lang="en-US" altLang="zh-CN" sz="2000" dirty="0" smtClean="0">
                <a:solidFill>
                  <a:srgbClr val="000000"/>
                </a:solidFill>
                <a:latin typeface="+mn-lt"/>
                <a:ea typeface="华文楷体" panose="02010600040101010101" pitchFamily="2" charset="-122"/>
              </a:rPr>
              <a:t>)</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smtClean="0">
                <a:solidFill>
                  <a:srgbClr val="000000"/>
                </a:solidFill>
                <a:latin typeface="+mn-lt"/>
                <a:ea typeface="华文楷体" panose="02010600040101010101" pitchFamily="2" charset="-122"/>
              </a:rPr>
              <a:t>{   *</a:t>
            </a:r>
            <a:r>
              <a:rPr lang="en-US" altLang="zh-CN" sz="2000" dirty="0" err="1" smtClean="0">
                <a:solidFill>
                  <a:srgbClr val="000000"/>
                </a:solidFill>
                <a:latin typeface="+mn-lt"/>
                <a:ea typeface="华文楷体" panose="02010600040101010101" pitchFamily="2" charset="-122"/>
              </a:rPr>
              <a:t>ip</a:t>
            </a:r>
            <a:r>
              <a:rPr lang="en-US" altLang="zh-CN" sz="2000" dirty="0" smtClean="0">
                <a:solidFill>
                  <a:srgbClr val="000000"/>
                </a:solidFill>
                <a:latin typeface="+mn-lt"/>
                <a:ea typeface="华文楷体" panose="02010600040101010101" pitchFamily="2" charset="-122"/>
              </a:rPr>
              <a:t> = 0;              // </a:t>
            </a:r>
            <a:r>
              <a:rPr lang="zh-CN" altLang="en-US" sz="2000" dirty="0" smtClean="0">
                <a:solidFill>
                  <a:srgbClr val="000000"/>
                </a:solidFill>
                <a:latin typeface="+mn-lt"/>
                <a:ea typeface="华文楷体" panose="02010600040101010101" pitchFamily="2" charset="-122"/>
              </a:rPr>
              <a:t>改变指针</a:t>
            </a:r>
            <a:r>
              <a:rPr lang="en-US" altLang="zh-CN" sz="2000" dirty="0" err="1" smtClean="0">
                <a:solidFill>
                  <a:srgbClr val="000000"/>
                </a:solidFill>
                <a:latin typeface="+mn-lt"/>
                <a:ea typeface="华文楷体" panose="02010600040101010101" pitchFamily="2" charset="-122"/>
              </a:rPr>
              <a:t>ip</a:t>
            </a:r>
            <a:r>
              <a:rPr lang="zh-CN" altLang="en-US" sz="2000" dirty="0" smtClean="0">
                <a:solidFill>
                  <a:srgbClr val="000000"/>
                </a:solidFill>
                <a:latin typeface="+mn-lt"/>
                <a:ea typeface="华文楷体" panose="02010600040101010101" pitchFamily="2" charset="-122"/>
              </a:rPr>
              <a:t>所指向的对象的值</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a:solidFill>
                  <a:srgbClr val="000000"/>
                </a:solidFill>
                <a:latin typeface="+mn-lt"/>
                <a:ea typeface="华文楷体" panose="02010600040101010101" pitchFamily="2" charset="-122"/>
              </a:rPr>
              <a:t> </a:t>
            </a:r>
            <a:r>
              <a:rPr lang="en-US" altLang="zh-CN" sz="2000" dirty="0" smtClean="0">
                <a:solidFill>
                  <a:srgbClr val="000000"/>
                </a:solidFill>
                <a:latin typeface="+mn-lt"/>
                <a:ea typeface="华文楷体" panose="02010600040101010101" pitchFamily="2" charset="-122"/>
              </a:rPr>
              <a:t>    </a:t>
            </a:r>
            <a:r>
              <a:rPr lang="en-US" altLang="zh-CN" sz="2000" dirty="0" err="1" smtClean="0">
                <a:solidFill>
                  <a:srgbClr val="000000"/>
                </a:solidFill>
                <a:latin typeface="+mn-lt"/>
                <a:ea typeface="华文楷体" panose="02010600040101010101" pitchFamily="2" charset="-122"/>
              </a:rPr>
              <a:t>ip</a:t>
            </a:r>
            <a:r>
              <a:rPr lang="en-US" altLang="zh-CN" sz="2000" dirty="0" smtClean="0">
                <a:solidFill>
                  <a:srgbClr val="000000"/>
                </a:solidFill>
                <a:latin typeface="+mn-lt"/>
                <a:ea typeface="华文楷体" panose="02010600040101010101" pitchFamily="2" charset="-122"/>
              </a:rPr>
              <a:t> = 0;                // </a:t>
            </a:r>
            <a:r>
              <a:rPr lang="zh-CN" altLang="en-US" sz="2000" dirty="0" smtClean="0">
                <a:solidFill>
                  <a:srgbClr val="000000"/>
                </a:solidFill>
                <a:latin typeface="+mn-lt"/>
                <a:ea typeface="华文楷体" panose="02010600040101010101" pitchFamily="2" charset="-122"/>
              </a:rPr>
              <a:t>只改变了</a:t>
            </a:r>
            <a:r>
              <a:rPr lang="en-US" altLang="zh-CN" sz="2000" dirty="0" err="1" smtClean="0">
                <a:solidFill>
                  <a:srgbClr val="000000"/>
                </a:solidFill>
                <a:latin typeface="+mn-lt"/>
                <a:ea typeface="华文楷体" panose="02010600040101010101" pitchFamily="2" charset="-122"/>
              </a:rPr>
              <a:t>ip</a:t>
            </a:r>
            <a:r>
              <a:rPr lang="zh-CN" altLang="en-US" sz="2000" dirty="0" smtClean="0">
                <a:solidFill>
                  <a:srgbClr val="000000"/>
                </a:solidFill>
                <a:latin typeface="+mn-lt"/>
                <a:ea typeface="华文楷体" panose="02010600040101010101" pitchFamily="2" charset="-122"/>
              </a:rPr>
              <a:t>的局部拷贝，实参未被改变</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smtClean="0">
                <a:solidFill>
                  <a:srgbClr val="000000"/>
                </a:solidFill>
                <a:latin typeface="+mn-lt"/>
                <a:ea typeface="华文楷体" panose="02010600040101010101" pitchFamily="2" charset="-122"/>
              </a:rPr>
              <a:t>}</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err="1">
                <a:solidFill>
                  <a:srgbClr val="000000"/>
                </a:solidFill>
                <a:ea typeface="华文楷体" panose="02010600040101010101" pitchFamily="2" charset="-122"/>
              </a:rPr>
              <a:t>int</a:t>
            </a:r>
            <a:r>
              <a:rPr lang="en-US" altLang="zh-CN" sz="2000" dirty="0">
                <a:solidFill>
                  <a:srgbClr val="000000"/>
                </a:solidFill>
                <a:ea typeface="华文楷体" panose="02010600040101010101" pitchFamily="2" charset="-122"/>
              </a:rPr>
              <a:t> </a:t>
            </a:r>
            <a:r>
              <a:rPr lang="en-US" altLang="zh-CN" sz="2000" dirty="0" err="1" smtClean="0">
                <a:solidFill>
                  <a:srgbClr val="000000"/>
                </a:solidFill>
                <a:ea typeface="华文楷体" panose="02010600040101010101" pitchFamily="2" charset="-122"/>
              </a:rPr>
              <a:t>i</a:t>
            </a:r>
            <a:r>
              <a:rPr lang="en-US" altLang="zh-CN" sz="2000" dirty="0" smtClean="0">
                <a:solidFill>
                  <a:srgbClr val="000000"/>
                </a:solidFill>
                <a:ea typeface="华文楷体" panose="02010600040101010101" pitchFamily="2" charset="-122"/>
              </a:rPr>
              <a:t> </a:t>
            </a:r>
            <a:r>
              <a:rPr lang="en-US" altLang="zh-CN" sz="2000" dirty="0">
                <a:solidFill>
                  <a:srgbClr val="000000"/>
                </a:solidFill>
                <a:ea typeface="华文楷体" panose="02010600040101010101" pitchFamily="2" charset="-122"/>
              </a:rPr>
              <a:t>= 42;</a:t>
            </a:r>
            <a:endParaRPr lang="en-US" altLang="zh-CN" sz="2000" dirty="0">
              <a:solidFill>
                <a:srgbClr val="000000"/>
              </a:solidFill>
              <a:ea typeface="华文楷体" panose="02010600040101010101" pitchFamily="2" charset="-122"/>
            </a:endParaRPr>
          </a:p>
          <a:p>
            <a:pPr algn="l" eaLnBrk="1" hangingPunct="1">
              <a:defRPr/>
            </a:pPr>
            <a:r>
              <a:rPr lang="en-US" altLang="zh-CN" sz="2000" dirty="0">
                <a:solidFill>
                  <a:srgbClr val="000000"/>
                </a:solidFill>
                <a:ea typeface="华文楷体" panose="02010600040101010101" pitchFamily="2" charset="-122"/>
              </a:rPr>
              <a:t>reset</a:t>
            </a:r>
            <a:r>
              <a:rPr lang="en-US" altLang="zh-CN" sz="2000" dirty="0" smtClean="0">
                <a:solidFill>
                  <a:srgbClr val="000000"/>
                </a:solidFill>
                <a:ea typeface="华文楷体" panose="02010600040101010101" pitchFamily="2" charset="-122"/>
              </a:rPr>
              <a:t>(&amp;</a:t>
            </a:r>
            <a:r>
              <a:rPr lang="en-US" altLang="zh-CN" sz="2000" dirty="0" err="1" smtClean="0">
                <a:solidFill>
                  <a:srgbClr val="000000"/>
                </a:solidFill>
                <a:ea typeface="华文楷体" panose="02010600040101010101" pitchFamily="2" charset="-122"/>
              </a:rPr>
              <a:t>i</a:t>
            </a:r>
            <a:r>
              <a:rPr lang="en-US" altLang="zh-CN" sz="2000" dirty="0" smtClean="0">
                <a:solidFill>
                  <a:srgbClr val="000000"/>
                </a:solidFill>
                <a:ea typeface="华文楷体" panose="02010600040101010101" pitchFamily="2" charset="-122"/>
              </a:rPr>
              <a:t>);</a:t>
            </a:r>
            <a:endParaRPr lang="en-US" altLang="zh-CN" sz="2000" dirty="0">
              <a:solidFill>
                <a:srgbClr val="000000"/>
              </a:solidFill>
              <a:ea typeface="华文楷体" panose="02010600040101010101" pitchFamily="2" charset="-122"/>
            </a:endParaRPr>
          </a:p>
          <a:p>
            <a:pPr algn="l" eaLnBrk="1" hangingPunct="1">
              <a:defRPr/>
            </a:pPr>
            <a:r>
              <a:rPr lang="en-US" altLang="zh-CN" sz="2000" dirty="0" err="1">
                <a:solidFill>
                  <a:srgbClr val="000000"/>
                </a:solidFill>
                <a:ea typeface="华文楷体" panose="02010600040101010101" pitchFamily="2" charset="-122"/>
              </a:rPr>
              <a:t>cout</a:t>
            </a:r>
            <a:r>
              <a:rPr lang="en-US" altLang="zh-CN" sz="2000" dirty="0">
                <a:solidFill>
                  <a:srgbClr val="000000"/>
                </a:solidFill>
                <a:ea typeface="华文楷体" panose="02010600040101010101" pitchFamily="2" charset="-122"/>
              </a:rPr>
              <a:t> &lt;&lt; </a:t>
            </a:r>
            <a:r>
              <a:rPr lang="en-US" altLang="zh-CN" sz="2000" dirty="0" smtClean="0">
                <a:solidFill>
                  <a:srgbClr val="000000"/>
                </a:solidFill>
                <a:ea typeface="华文楷体" panose="02010600040101010101" pitchFamily="2" charset="-122"/>
              </a:rPr>
              <a:t>“</a:t>
            </a:r>
            <a:r>
              <a:rPr lang="en-US" altLang="zh-CN" sz="2000" dirty="0" err="1" smtClean="0">
                <a:solidFill>
                  <a:srgbClr val="000000"/>
                </a:solidFill>
                <a:ea typeface="华文楷体" panose="02010600040101010101" pitchFamily="2" charset="-122"/>
              </a:rPr>
              <a:t>i</a:t>
            </a:r>
            <a:r>
              <a:rPr lang="en-US" altLang="zh-CN" sz="2000" dirty="0" smtClean="0">
                <a:solidFill>
                  <a:srgbClr val="000000"/>
                </a:solidFill>
                <a:ea typeface="华文楷体" panose="02010600040101010101" pitchFamily="2" charset="-122"/>
              </a:rPr>
              <a:t>= ” </a:t>
            </a:r>
            <a:r>
              <a:rPr lang="en-US" altLang="zh-CN" sz="2000" dirty="0">
                <a:solidFill>
                  <a:srgbClr val="000000"/>
                </a:solidFill>
                <a:ea typeface="华文楷体" panose="02010600040101010101" pitchFamily="2" charset="-122"/>
              </a:rPr>
              <a:t>&lt;&lt; </a:t>
            </a:r>
            <a:r>
              <a:rPr lang="en-US" altLang="zh-CN" sz="2000" dirty="0" err="1" smtClean="0">
                <a:solidFill>
                  <a:srgbClr val="000000"/>
                </a:solidFill>
                <a:ea typeface="华文楷体" panose="02010600040101010101" pitchFamily="2" charset="-122"/>
              </a:rPr>
              <a:t>i</a:t>
            </a:r>
            <a:r>
              <a:rPr lang="en-US" altLang="zh-CN" sz="2000" dirty="0" smtClean="0">
                <a:solidFill>
                  <a:srgbClr val="000000"/>
                </a:solidFill>
                <a:ea typeface="华文楷体" panose="02010600040101010101" pitchFamily="2" charset="-122"/>
              </a:rPr>
              <a:t> </a:t>
            </a:r>
            <a:r>
              <a:rPr lang="en-US" altLang="zh-CN" sz="2000" dirty="0">
                <a:solidFill>
                  <a:srgbClr val="000000"/>
                </a:solidFill>
                <a:ea typeface="华文楷体" panose="02010600040101010101" pitchFamily="2" charset="-122"/>
              </a:rPr>
              <a:t>&lt;&lt; </a:t>
            </a:r>
            <a:r>
              <a:rPr lang="en-US" altLang="zh-CN" sz="2000" dirty="0" err="1">
                <a:solidFill>
                  <a:srgbClr val="000000"/>
                </a:solidFill>
                <a:ea typeface="华文楷体" panose="02010600040101010101" pitchFamily="2" charset="-122"/>
              </a:rPr>
              <a:t>endl</a:t>
            </a:r>
            <a:r>
              <a:rPr lang="en-US" altLang="zh-CN" sz="2000" dirty="0">
                <a:solidFill>
                  <a:srgbClr val="000000"/>
                </a:solidFill>
                <a:ea typeface="华文楷体" panose="02010600040101010101" pitchFamily="2" charset="-122"/>
              </a:rPr>
              <a:t>; // </a:t>
            </a:r>
            <a:r>
              <a:rPr lang="zh-CN" altLang="en-US" sz="2000" dirty="0" smtClean="0">
                <a:solidFill>
                  <a:srgbClr val="000000"/>
                </a:solidFill>
                <a:ea typeface="华文楷体" panose="02010600040101010101" pitchFamily="2" charset="-122"/>
              </a:rPr>
              <a:t>输出</a:t>
            </a:r>
            <a:r>
              <a:rPr lang="en-US" altLang="zh-CN" sz="2000" dirty="0" err="1" smtClean="0">
                <a:solidFill>
                  <a:srgbClr val="000000"/>
                </a:solidFill>
                <a:ea typeface="华文楷体" panose="02010600040101010101" pitchFamily="2" charset="-122"/>
              </a:rPr>
              <a:t>i</a:t>
            </a:r>
            <a:r>
              <a:rPr lang="en-US" altLang="zh-CN" sz="2000" dirty="0" smtClean="0">
                <a:solidFill>
                  <a:srgbClr val="000000"/>
                </a:solidFill>
                <a:ea typeface="华文楷体" panose="02010600040101010101" pitchFamily="2" charset="-122"/>
              </a:rPr>
              <a:t>=0</a:t>
            </a:r>
            <a:endParaRPr lang="en-US" altLang="zh-CN" sz="2000" dirty="0" smtClean="0">
              <a:solidFill>
                <a:srgbClr val="000000"/>
              </a:solidFill>
              <a:latin typeface="+mn-lt"/>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algn="ctr"/>
            <a:r>
              <a:rPr lang="en-US" altLang="zh-CN" b="1" dirty="0">
                <a:solidFill>
                  <a:srgbClr val="FFFFFF"/>
                </a:solidFill>
                <a:latin typeface="Times New Roman" panose="02020603050405020304" pitchFamily="18" charset="0"/>
                <a:ea typeface="隶书" panose="02010509060101010101" pitchFamily="49" charset="-122"/>
              </a:rPr>
              <a:t>3.1.3 </a:t>
            </a:r>
            <a:r>
              <a:rPr lang="zh-CN" altLang="en-US" b="1" dirty="0">
                <a:solidFill>
                  <a:srgbClr val="FFFFFF"/>
                </a:solidFill>
                <a:latin typeface="Times New Roman" panose="02020603050405020304" pitchFamily="18" charset="0"/>
                <a:ea typeface="隶书" panose="02010509060101010101" pitchFamily="49" charset="-122"/>
              </a:rPr>
              <a:t>函数的参数传递：引用</a:t>
            </a:r>
            <a:r>
              <a:rPr lang="zh-CN" altLang="en-US" b="1" dirty="0" smtClean="0">
                <a:solidFill>
                  <a:srgbClr val="FFFFFF"/>
                </a:solidFill>
                <a:latin typeface="Times New Roman" panose="02020603050405020304" pitchFamily="18" charset="0"/>
                <a:ea typeface="隶书" panose="02010509060101010101" pitchFamily="49" charset="-122"/>
              </a:rPr>
              <a:t>传递</a:t>
            </a:r>
            <a:endParaRPr lang="zh-CN" altLang="en-US" b="1" dirty="0" smtClean="0">
              <a:solidFill>
                <a:srgbClr val="FFFFFF"/>
              </a:solidFill>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a:xfrm>
            <a:off x="683568" y="1124744"/>
            <a:ext cx="7886700" cy="4351338"/>
          </a:xfrm>
        </p:spPr>
        <p:txBody>
          <a:bodyPr/>
          <a:lstStyle/>
          <a:p>
            <a:pPr marL="228600" indent="-228600" eaLnBrk="1" hangingPunct="1">
              <a:spcBef>
                <a:spcPts val="1000"/>
              </a:spcBef>
            </a:pPr>
            <a:r>
              <a:rPr lang="zh-CN" altLang="en-US" sz="2400" b="1" dirty="0" smtClean="0">
                <a:solidFill>
                  <a:srgbClr val="FFFF00"/>
                </a:solidFill>
                <a:latin typeface="微软雅黑" panose="020B0503020204020204" pitchFamily="34" charset="-122"/>
                <a:ea typeface="微软雅黑" panose="020B0503020204020204" pitchFamily="34" charset="-122"/>
              </a:rPr>
              <a:t>引用</a:t>
            </a:r>
            <a:r>
              <a:rPr lang="en-US" altLang="zh-CN" sz="2400" b="1" dirty="0" smtClean="0">
                <a:solidFill>
                  <a:srgbClr val="FFFF00"/>
                </a:solidFill>
                <a:latin typeface="微软雅黑" panose="020B0503020204020204" pitchFamily="34" charset="-122"/>
                <a:ea typeface="微软雅黑" panose="020B0503020204020204" pitchFamily="34" charset="-122"/>
              </a:rPr>
              <a:t>(&amp;)</a:t>
            </a:r>
            <a:r>
              <a:rPr lang="zh-CN" altLang="en-US" sz="2400" b="1" dirty="0" smtClean="0">
                <a:solidFill>
                  <a:srgbClr val="FFFF00"/>
                </a:solidFill>
                <a:latin typeface="微软雅黑" panose="020B0503020204020204" pitchFamily="34" charset="-122"/>
                <a:ea typeface="微软雅黑" panose="020B0503020204020204" pitchFamily="34" charset="-122"/>
              </a:rPr>
              <a:t>是标识符的别名</a:t>
            </a:r>
            <a:r>
              <a:rPr lang="zh-CN" altLang="en-US" sz="2400" b="1" dirty="0" smtClean="0">
                <a:latin typeface="微软雅黑" panose="020B0503020204020204" pitchFamily="34" charset="-122"/>
                <a:ea typeface="微软雅黑" panose="020B0503020204020204" pitchFamily="34" charset="-122"/>
              </a:rPr>
              <a:t>，例如</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342900" lvl="1" indent="0" eaLnBrk="1" hangingPunct="1">
              <a:spcBef>
                <a:spcPts val="1000"/>
              </a:spcBef>
              <a:buFontTx/>
              <a:buNone/>
            </a:pP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a:t>
            </a:r>
            <a:r>
              <a:rPr lang="en-US" altLang="zh-CN" sz="2000" b="1" dirty="0" smtClean="0">
                <a:latin typeface="微软雅黑" panose="020B0503020204020204" pitchFamily="34" charset="-122"/>
                <a:ea typeface="微软雅黑" panose="020B0503020204020204" pitchFamily="34" charset="-122"/>
              </a:rPr>
              <a:t>, j;</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&amp;</a:t>
            </a:r>
            <a:r>
              <a:rPr lang="en-US" altLang="zh-CN" sz="2000" b="1" dirty="0" err="1" smtClean="0">
                <a:latin typeface="微软雅黑" panose="020B0503020204020204" pitchFamily="34" charset="-122"/>
                <a:ea typeface="微软雅黑" panose="020B0503020204020204" pitchFamily="34" charset="-122"/>
              </a:rPr>
              <a:t>ri</a:t>
            </a:r>
            <a:r>
              <a:rPr lang="en-US" altLang="zh-CN" sz="2000" b="1" dirty="0" smtClean="0">
                <a:latin typeface="微软雅黑" panose="020B0503020204020204" pitchFamily="34" charset="-122"/>
                <a:ea typeface="微软雅黑" panose="020B0503020204020204" pitchFamily="34" charset="-122"/>
              </a:rPr>
              <a:t> = </a:t>
            </a:r>
            <a:r>
              <a:rPr lang="en-US" altLang="zh-CN" sz="2000" b="1" dirty="0" err="1" smtClean="0">
                <a:latin typeface="微软雅黑" panose="020B0503020204020204" pitchFamily="34" charset="-122"/>
                <a:ea typeface="微软雅黑" panose="020B0503020204020204" pitchFamily="34" charset="-122"/>
              </a:rPr>
              <a:t>i</a:t>
            </a:r>
            <a:r>
              <a:rPr lang="en-US" altLang="zh-CN" sz="2000" b="1" dirty="0" smtClean="0">
                <a:latin typeface="微软雅黑" panose="020B0503020204020204" pitchFamily="34" charset="-122"/>
                <a:ea typeface="微软雅黑" panose="020B0503020204020204" pitchFamily="34" charset="-122"/>
              </a:rPr>
              <a:t>;</a:t>
            </a:r>
            <a:br>
              <a:rPr lang="en-US" altLang="zh-CN" sz="2000" b="1" dirty="0" smtClean="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建立一个</a:t>
            </a:r>
            <a:r>
              <a:rPr lang="en-US" altLang="zh-CN" sz="2000" b="1" dirty="0" err="1" smtClean="0">
                <a:latin typeface="微软雅黑" panose="020B0503020204020204" pitchFamily="34" charset="-122"/>
                <a:ea typeface="微软雅黑" panose="020B0503020204020204" pitchFamily="34" charset="-122"/>
              </a:rPr>
              <a:t>int</a:t>
            </a:r>
            <a:r>
              <a:rPr lang="zh-CN" altLang="en-US" sz="2000" b="1" dirty="0" smtClean="0">
                <a:latin typeface="微软雅黑" panose="020B0503020204020204" pitchFamily="34" charset="-122"/>
                <a:ea typeface="微软雅黑" panose="020B0503020204020204" pitchFamily="34" charset="-122"/>
              </a:rPr>
              <a:t>型的引用</a:t>
            </a:r>
            <a:r>
              <a:rPr lang="en-US" altLang="zh-CN" sz="2000" b="1" dirty="0" err="1" smtClean="0">
                <a:latin typeface="微软雅黑" panose="020B0503020204020204" pitchFamily="34" charset="-122"/>
                <a:ea typeface="微软雅黑" panose="020B0503020204020204" pitchFamily="34" charset="-122"/>
              </a:rPr>
              <a:t>ri</a:t>
            </a:r>
            <a:r>
              <a:rPr lang="zh-CN" altLang="en-US" sz="2000" b="1" dirty="0" smtClean="0">
                <a:latin typeface="微软雅黑" panose="020B0503020204020204" pitchFamily="34" charset="-122"/>
                <a:ea typeface="微软雅黑" panose="020B0503020204020204" pitchFamily="34" charset="-122"/>
              </a:rPr>
              <a:t>，并将其</a:t>
            </a:r>
            <a:br>
              <a:rPr lang="zh-CN" altLang="en-US" sz="2000" b="1" dirty="0" smtClean="0">
                <a:latin typeface="微软雅黑" panose="020B0503020204020204" pitchFamily="34" charset="-122"/>
                <a:ea typeface="微软雅黑" panose="020B0503020204020204" pitchFamily="34" charset="-122"/>
              </a:rPr>
            </a:b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初始化为变量</a:t>
            </a:r>
            <a:r>
              <a:rPr lang="en-US" altLang="zh-CN" sz="2000" b="1" dirty="0" err="1" smtClean="0">
                <a:latin typeface="微软雅黑" panose="020B0503020204020204" pitchFamily="34" charset="-122"/>
                <a:ea typeface="微软雅黑" panose="020B0503020204020204" pitchFamily="34" charset="-122"/>
              </a:rPr>
              <a:t>i</a:t>
            </a:r>
            <a:r>
              <a:rPr lang="zh-CN" altLang="en-US" sz="2000" b="1" dirty="0" smtClean="0">
                <a:latin typeface="微软雅黑" panose="020B0503020204020204" pitchFamily="34" charset="-122"/>
                <a:ea typeface="微软雅黑" panose="020B0503020204020204" pitchFamily="34" charset="-122"/>
              </a:rPr>
              <a:t>的一个别名</a:t>
            </a:r>
            <a:br>
              <a:rPr lang="en-US" altLang="en-US" sz="2000" b="1" dirty="0" smtClean="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j = 10;</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ri</a:t>
            </a:r>
            <a:r>
              <a:rPr lang="en-US" altLang="zh-CN" sz="2000" b="1" dirty="0" smtClean="0">
                <a:latin typeface="微软雅黑" panose="020B0503020204020204" pitchFamily="34" charset="-122"/>
                <a:ea typeface="微软雅黑" panose="020B0503020204020204" pitchFamily="34" charset="-122"/>
              </a:rPr>
              <a:t> = j;//</a:t>
            </a:r>
            <a:r>
              <a:rPr lang="zh-CN" altLang="en-US" sz="2000" b="1" dirty="0" smtClean="0">
                <a:latin typeface="微软雅黑" panose="020B0503020204020204" pitchFamily="34" charset="-122"/>
                <a:ea typeface="微软雅黑" panose="020B0503020204020204" pitchFamily="34" charset="-122"/>
              </a:rPr>
              <a:t>相当于 </a:t>
            </a:r>
            <a:r>
              <a:rPr lang="en-US" altLang="zh-CN" sz="2000" b="1" dirty="0" err="1" smtClean="0">
                <a:latin typeface="微软雅黑" panose="020B0503020204020204" pitchFamily="34" charset="-122"/>
                <a:ea typeface="微软雅黑" panose="020B0503020204020204" pitchFamily="34" charset="-122"/>
              </a:rPr>
              <a:t>i</a:t>
            </a:r>
            <a:r>
              <a:rPr lang="en-US" altLang="zh-CN" sz="2000" b="1" dirty="0" smtClean="0">
                <a:latin typeface="微软雅黑" panose="020B0503020204020204" pitchFamily="34" charset="-122"/>
                <a:ea typeface="微软雅黑" panose="020B0503020204020204" pitchFamily="34" charset="-122"/>
              </a:rPr>
              <a:t> = j;</a:t>
            </a:r>
            <a:endParaRPr lang="en-US" altLang="zh-CN" sz="2000" b="1" dirty="0" smtClean="0">
              <a:latin typeface="微软雅黑" panose="020B0503020204020204" pitchFamily="34" charset="-122"/>
              <a:ea typeface="微软雅黑" panose="020B0503020204020204" pitchFamily="34" charset="-122"/>
            </a:endParaRPr>
          </a:p>
          <a:p>
            <a:pPr marL="342900" lvl="1" indent="0" eaLnBrk="1" hangingPunct="1">
              <a:spcBef>
                <a:spcPts val="1000"/>
              </a:spcBef>
              <a:buFontTx/>
              <a:buNone/>
            </a:pPr>
            <a:endParaRPr lang="en-US" altLang="zh-CN" sz="2000" b="1" dirty="0" smtClean="0">
              <a:latin typeface="微软雅黑" panose="020B0503020204020204" pitchFamily="34" charset="-122"/>
              <a:ea typeface="微软雅黑" panose="020B0503020204020204" pitchFamily="34" charset="-122"/>
            </a:endParaRPr>
          </a:p>
          <a:p>
            <a:pPr marL="228600" indent="-228600" eaLnBrk="1" hangingPunct="1">
              <a:spcBef>
                <a:spcPts val="1000"/>
              </a:spcBef>
            </a:pPr>
            <a:r>
              <a:rPr lang="zh-CN" altLang="en-US" sz="2400" b="1" dirty="0" smtClean="0">
                <a:solidFill>
                  <a:srgbClr val="FFFF00"/>
                </a:solidFill>
                <a:latin typeface="微软雅黑" panose="020B0503020204020204" pitchFamily="34" charset="-122"/>
                <a:ea typeface="微软雅黑" panose="020B0503020204020204" pitchFamily="34" charset="-122"/>
              </a:rPr>
              <a:t>声明一个引用时，必须同时对它进行初始化，使它指向一个已存在的对象</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marL="228600" indent="-228600" eaLnBrk="1" hangingPunct="1">
              <a:spcBef>
                <a:spcPts val="1000"/>
              </a:spcBef>
            </a:pPr>
            <a:r>
              <a:rPr lang="zh-CN" altLang="en-US" sz="2400" b="1" dirty="0" smtClean="0">
                <a:latin typeface="微软雅黑" panose="020B0503020204020204" pitchFamily="34" charset="-122"/>
                <a:ea typeface="微软雅黑" panose="020B0503020204020204" pitchFamily="34" charset="-122"/>
              </a:rPr>
              <a:t>一旦一个引用被初始化后，就不能改为指向其它对象。</a:t>
            </a:r>
            <a:endParaRPr lang="zh-CN" altLang="en-US" sz="2400" b="1" dirty="0" smtClean="0">
              <a:latin typeface="微软雅黑" panose="020B0503020204020204" pitchFamily="34" charset="-122"/>
              <a:ea typeface="微软雅黑" panose="020B0503020204020204" pitchFamily="34" charset="-122"/>
            </a:endParaRPr>
          </a:p>
          <a:p>
            <a:pPr marL="228600" indent="-228600" eaLnBrk="1" hangingPunct="1">
              <a:spcBef>
                <a:spcPts val="1000"/>
              </a:spcBef>
            </a:pPr>
            <a:r>
              <a:rPr lang="zh-CN" altLang="en-US" sz="2400" b="1" dirty="0" smtClean="0">
                <a:latin typeface="微软雅黑" panose="020B0503020204020204" pitchFamily="34" charset="-122"/>
                <a:ea typeface="微软雅黑" panose="020B0503020204020204" pitchFamily="34" charset="-122"/>
              </a:rPr>
              <a:t>引用可以作为形参</a:t>
            </a:r>
            <a:br>
              <a:rPr lang="zh-CN" altLang="en-US" sz="2400" b="1" dirty="0" smtClean="0">
                <a:latin typeface="微软雅黑" panose="020B0503020204020204" pitchFamily="34" charset="-122"/>
                <a:ea typeface="微软雅黑" panose="020B0503020204020204" pitchFamily="34" charset="-122"/>
              </a:rPr>
            </a:br>
            <a:r>
              <a:rPr lang="en-US" altLang="zh-CN" sz="2400" b="1" dirty="0" smtClean="0">
                <a:latin typeface="微软雅黑" panose="020B0503020204020204" pitchFamily="34" charset="-122"/>
                <a:ea typeface="微软雅黑" panose="020B0503020204020204" pitchFamily="34" charset="-122"/>
              </a:rPr>
              <a:t>void swap(</a:t>
            </a: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&amp;a, </a:t>
            </a: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&amp;b) {...}</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7" name="Rectangle 3"/>
          <p:cNvSpPr>
            <a:spLocks noChangeArrowheads="1"/>
          </p:cNvSpPr>
          <p:nvPr/>
        </p:nvSpPr>
        <p:spPr bwMode="auto">
          <a:xfrm>
            <a:off x="1692275" y="1700213"/>
            <a:ext cx="65516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zh-CN" altLang="en-US" sz="2800" b="1">
                <a:solidFill>
                  <a:srgbClr val="FFFF00"/>
                </a:solidFill>
                <a:latin typeface="Times New Roman" panose="02020603050405020304" pitchFamily="18" charset="0"/>
                <a:ea typeface="华文楷体" panose="02010600040101010101" pitchFamily="2" charset="-122"/>
              </a:rPr>
              <a:t>实参和形参之间的传递二：按引用传递</a:t>
            </a:r>
            <a:endParaRPr kumimoji="0" lang="zh-CN" altLang="en-US" sz="2800" b="1">
              <a:solidFill>
                <a:srgbClr val="FFFF00"/>
              </a:solidFill>
              <a:latin typeface="Times New Roman" panose="02020603050405020304" pitchFamily="18" charset="0"/>
              <a:ea typeface="华文楷体" panose="02010600040101010101" pitchFamily="2" charset="-122"/>
            </a:endParaRPr>
          </a:p>
        </p:txBody>
      </p:sp>
      <p:sp>
        <p:nvSpPr>
          <p:cNvPr id="164868" name="Rectangle 4"/>
          <p:cNvSpPr>
            <a:spLocks noGrp="1" noChangeArrowheads="1"/>
          </p:cNvSpPr>
          <p:nvPr>
            <p:ph type="body" sz="half" idx="1"/>
          </p:nvPr>
        </p:nvSpPr>
        <p:spPr>
          <a:xfrm>
            <a:off x="4716463" y="2852738"/>
            <a:ext cx="3816350" cy="2547937"/>
          </a:xfrm>
          <a:noFill/>
        </p:spPr>
        <p:txBody>
          <a:bodyPr/>
          <a:lstStyle/>
          <a:p>
            <a:pPr marL="476250" indent="-476250" eaLnBrk="1" hangingPunct="1">
              <a:tabLst>
                <a:tab pos="266700" algn="l"/>
              </a:tabLst>
            </a:pPr>
            <a:r>
              <a:rPr lang="zh-CN" altLang="en-US" sz="2800" b="1" dirty="0" smtClean="0">
                <a:solidFill>
                  <a:srgbClr val="FFFF00"/>
                </a:solidFill>
                <a:ea typeface="华文楷体" panose="02010600040101010101" pitchFamily="2" charset="-122"/>
              </a:rPr>
              <a:t>形参和实参共用同一个内存空间；</a:t>
            </a:r>
            <a:endParaRPr lang="zh-CN" altLang="en-US" sz="2800" b="1" dirty="0" smtClean="0">
              <a:solidFill>
                <a:srgbClr val="FFFF00"/>
              </a:solidFill>
              <a:ea typeface="华文楷体" panose="02010600040101010101" pitchFamily="2" charset="-122"/>
            </a:endParaRPr>
          </a:p>
          <a:p>
            <a:pPr marL="476250" indent="-476250" eaLnBrk="1" hangingPunct="1">
              <a:tabLst>
                <a:tab pos="266700" algn="l"/>
              </a:tabLst>
            </a:pPr>
            <a:r>
              <a:rPr lang="zh-CN" altLang="en-US" sz="2400" b="1" dirty="0" smtClean="0">
                <a:ea typeface="华文楷体" panose="02010600040101010101" pitchFamily="2" charset="-122"/>
              </a:rPr>
              <a:t>双向传递：对形参的取值的改变就是对实参取值的改变。</a:t>
            </a:r>
            <a:endParaRPr lang="zh-CN" altLang="en-US" sz="2400" b="1" dirty="0" smtClean="0">
              <a:ea typeface="华文楷体" panose="02010600040101010101" pitchFamily="2" charset="-122"/>
            </a:endParaRPr>
          </a:p>
        </p:txBody>
      </p:sp>
      <p:sp>
        <p:nvSpPr>
          <p:cNvPr id="164869" name="AutoShape 5"/>
          <p:cNvSpPr>
            <a:spLocks noChangeArrowheads="1"/>
          </p:cNvSpPr>
          <p:nvPr/>
        </p:nvSpPr>
        <p:spPr bwMode="auto">
          <a:xfrm>
            <a:off x="3640435" y="3172978"/>
            <a:ext cx="815380" cy="1210544"/>
          </a:xfrm>
          <a:prstGeom prst="rightArrow">
            <a:avLst>
              <a:gd name="adj1" fmla="val 50000"/>
              <a:gd name="adj2" fmla="val 25000"/>
            </a:avLst>
          </a:prstGeom>
          <a:solidFill>
            <a:schemeClr val="tx2"/>
          </a:solidFill>
          <a:ln w="12700" algn="ctr">
            <a:solidFill>
              <a:srgbClr val="FFC000"/>
            </a:solidFill>
            <a:miter lim="800000"/>
          </a:ln>
        </p:spPr>
        <p:txBody>
          <a:bodyPr wrap="none"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特点</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sp>
        <p:nvSpPr>
          <p:cNvPr id="164870" name="Rectangle 6"/>
          <p:cNvSpPr>
            <a:spLocks noChangeArrowheads="1"/>
          </p:cNvSpPr>
          <p:nvPr/>
        </p:nvSpPr>
        <p:spPr bwMode="auto">
          <a:xfrm>
            <a:off x="611385" y="5373216"/>
            <a:ext cx="79930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
              <a:tabLst>
                <a:tab pos="266700" algn="l"/>
              </a:tabLst>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tabLst>
                <a:tab pos="266700" algn="l"/>
              </a:tabLst>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tabLst>
                <a:tab pos="266700" algn="l"/>
              </a:tabLst>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tabLst>
                <a:tab pos="266700" algn="l"/>
              </a:tabLst>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tabLst>
                <a:tab pos="266700" algn="l"/>
              </a:tabLst>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en-US" altLang="zh-CN" sz="2400" b="1" i="1" dirty="0">
                <a:solidFill>
                  <a:srgbClr val="FFFF00"/>
                </a:solidFill>
                <a:latin typeface="Times New Roman" panose="02020603050405020304" pitchFamily="18" charset="0"/>
                <a:ea typeface="华文楷体" panose="02010600040101010101" pitchFamily="2" charset="-122"/>
              </a:rPr>
              <a:t>C++</a:t>
            </a:r>
            <a:r>
              <a:rPr kumimoji="0" lang="zh-CN" altLang="en-US" sz="2400" b="1" i="1" dirty="0">
                <a:solidFill>
                  <a:srgbClr val="FFFF00"/>
                </a:solidFill>
                <a:latin typeface="Times New Roman" panose="02020603050405020304" pitchFamily="18" charset="0"/>
                <a:ea typeface="华文楷体" panose="02010600040101010101" pitchFamily="2" charset="-122"/>
              </a:rPr>
              <a:t>中有按引用传递，而</a:t>
            </a:r>
            <a:r>
              <a:rPr kumimoji="0" lang="en-US" altLang="zh-CN" sz="2400" b="1" i="1" dirty="0">
                <a:solidFill>
                  <a:srgbClr val="FFFF00"/>
                </a:solidFill>
                <a:latin typeface="Times New Roman" panose="02020603050405020304" pitchFamily="18" charset="0"/>
                <a:ea typeface="华文楷体" panose="02010600040101010101" pitchFamily="2" charset="-122"/>
              </a:rPr>
              <a:t>C</a:t>
            </a:r>
            <a:r>
              <a:rPr kumimoji="0" lang="zh-CN" altLang="en-US" sz="2400" b="1" i="1" dirty="0">
                <a:solidFill>
                  <a:srgbClr val="FFFF00"/>
                </a:solidFill>
                <a:latin typeface="Times New Roman" panose="02020603050405020304" pitchFamily="18" charset="0"/>
                <a:ea typeface="华文楷体" panose="02010600040101010101" pitchFamily="2" charset="-122"/>
              </a:rPr>
              <a:t>语言中实参和形参间没有真正的按引用传递，而是采用指针模拟按引用传递。</a:t>
            </a:r>
            <a:endParaRPr kumimoji="0" lang="zh-CN" altLang="en-US" sz="2400" b="1" i="1" dirty="0">
              <a:solidFill>
                <a:srgbClr val="FFFF00"/>
              </a:solidFill>
              <a:latin typeface="Times New Roman" panose="02020603050405020304" pitchFamily="18" charset="0"/>
              <a:ea typeface="华文楷体" panose="02010600040101010101" pitchFamily="2" charset="-122"/>
            </a:endParaRPr>
          </a:p>
        </p:txBody>
      </p:sp>
      <p:grpSp>
        <p:nvGrpSpPr>
          <p:cNvPr id="164871" name="Group 7"/>
          <p:cNvGrpSpPr/>
          <p:nvPr/>
        </p:nvGrpSpPr>
        <p:grpSpPr bwMode="auto">
          <a:xfrm>
            <a:off x="611188" y="3060700"/>
            <a:ext cx="2232025" cy="1884363"/>
            <a:chOff x="385" y="1928"/>
            <a:chExt cx="1406" cy="1187"/>
          </a:xfrm>
        </p:grpSpPr>
        <p:sp>
          <p:nvSpPr>
            <p:cNvPr id="164872" name="AutoShape 8"/>
            <p:cNvSpPr>
              <a:spLocks noChangeArrowheads="1"/>
            </p:cNvSpPr>
            <p:nvPr/>
          </p:nvSpPr>
          <p:spPr bwMode="auto">
            <a:xfrm>
              <a:off x="385" y="1928"/>
              <a:ext cx="1406" cy="782"/>
            </a:xfrm>
            <a:prstGeom prst="roundRect">
              <a:avLst>
                <a:gd name="adj" fmla="val 16667"/>
              </a:avLst>
            </a:prstGeom>
            <a:solidFill>
              <a:srgbClr val="ECECEC"/>
            </a:solidFill>
            <a:ln w="12700" algn="ctr">
              <a:solidFill>
                <a:srgbClr val="0000CC"/>
              </a:solidFill>
              <a:round/>
            </a:ln>
          </p:spPr>
          <p:txBody>
            <a:bodyPr lIns="0" rIns="0"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20000"/>
                </a:lnSpc>
                <a:spcBef>
                  <a:spcPct val="0"/>
                </a:spcBef>
                <a:buClr>
                  <a:schemeClr val="accent2"/>
                </a:buClr>
                <a:buFont typeface="Wingdings" panose="05000000000000000000" pitchFamily="2" charset="2"/>
                <a:buNone/>
              </a:pPr>
              <a:r>
                <a:rPr kumimoji="0" lang="zh-CN" altLang="en-US" sz="2800" b="1" dirty="0">
                  <a:solidFill>
                    <a:srgbClr val="000000"/>
                  </a:solidFill>
                  <a:latin typeface="Times New Roman" panose="02020603050405020304" pitchFamily="18" charset="0"/>
                  <a:ea typeface="华文楷体" panose="02010600040101010101" pitchFamily="2" charset="-122"/>
                </a:rPr>
                <a:t>形参变量</a:t>
              </a:r>
              <a:r>
                <a:rPr kumimoji="0" lang="en-US" altLang="zh-CN" sz="2800" b="1" dirty="0">
                  <a:solidFill>
                    <a:srgbClr val="000000"/>
                  </a:solidFill>
                  <a:latin typeface="Times New Roman" panose="02020603050405020304" pitchFamily="18" charset="0"/>
                  <a:ea typeface="华文楷体" panose="02010600040101010101" pitchFamily="2" charset="-122"/>
                </a:rPr>
                <a:t>/</a:t>
              </a:r>
              <a:br>
                <a:rPr kumimoji="0" lang="en-US" altLang="zh-CN" sz="2800" b="1" dirty="0">
                  <a:solidFill>
                    <a:srgbClr val="000000"/>
                  </a:solidFill>
                  <a:latin typeface="Times New Roman" panose="02020603050405020304" pitchFamily="18" charset="0"/>
                  <a:ea typeface="华文楷体" panose="02010600040101010101" pitchFamily="2" charset="-122"/>
                </a:rPr>
              </a:br>
              <a:r>
                <a:rPr kumimoji="0" lang="zh-CN" altLang="en-US" sz="2800" b="1" dirty="0">
                  <a:solidFill>
                    <a:srgbClr val="000000"/>
                  </a:solidFill>
                  <a:latin typeface="Times New Roman" panose="02020603050405020304" pitchFamily="18" charset="0"/>
                  <a:ea typeface="华文楷体" panose="02010600040101010101" pitchFamily="2" charset="-122"/>
                </a:rPr>
                <a:t>实参变量</a:t>
              </a:r>
              <a:endParaRPr kumimoji="0" lang="zh-CN" altLang="en-US" sz="2800" b="1" dirty="0">
                <a:solidFill>
                  <a:srgbClr val="000000"/>
                </a:solidFill>
                <a:latin typeface="Times New Roman" panose="02020603050405020304" pitchFamily="18" charset="0"/>
                <a:ea typeface="华文楷体" panose="02010600040101010101" pitchFamily="2" charset="-122"/>
              </a:endParaRPr>
            </a:p>
          </p:txBody>
        </p:sp>
        <p:sp>
          <p:nvSpPr>
            <p:cNvPr id="164873" name="Text Box 9"/>
            <p:cNvSpPr txBox="1">
              <a:spLocks noChangeArrowheads="1"/>
            </p:cNvSpPr>
            <p:nvPr/>
          </p:nvSpPr>
          <p:spPr bwMode="auto">
            <a:xfrm>
              <a:off x="431" y="2795"/>
              <a:ext cx="127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spcBef>
                  <a:spcPct val="50000"/>
                </a:spcBef>
                <a:buClr>
                  <a:schemeClr val="accent2"/>
                </a:buClr>
                <a:buFont typeface="Wingdings" panose="05000000000000000000" pitchFamily="2" charset="2"/>
                <a:buNone/>
              </a:pPr>
              <a:r>
                <a:rPr kumimoji="0" lang="zh-CN" altLang="en-US" sz="2400" b="1" dirty="0">
                  <a:latin typeface="Times New Roman" panose="02020603050405020304" pitchFamily="18" charset="0"/>
                  <a:ea typeface="华文楷体" panose="02010600040101010101" pitchFamily="2" charset="-122"/>
                </a:rPr>
                <a:t>按引用传递</a:t>
              </a:r>
              <a:endParaRPr kumimoji="0" lang="zh-CN" altLang="en-US" sz="2400" b="1" dirty="0">
                <a:latin typeface="Times New Roman" panose="02020603050405020304" pitchFamily="18" charset="0"/>
                <a:ea typeface="华文楷体" panose="02010600040101010101" pitchFamily="2" charset="-122"/>
              </a:endParaRPr>
            </a:p>
          </p:txBody>
        </p:sp>
      </p:grpSp>
      <p:sp>
        <p:nvSpPr>
          <p:cNvPr id="11" name="Rectangle 3"/>
          <p:cNvSpPr>
            <a:spLocks noGrp="1" noChangeArrowheads="1"/>
          </p:cNvSpPr>
          <p:nvPr>
            <p:ph type="title"/>
          </p:nvPr>
        </p:nvSpPr>
        <p:spPr>
          <a:xfrm>
            <a:off x="654050" y="332656"/>
            <a:ext cx="8310438" cy="585788"/>
          </a:xfrm>
        </p:spPr>
        <p:txBody>
          <a:bodyPr/>
          <a:lstStyle/>
          <a:p>
            <a:pPr algn="ctr"/>
            <a:r>
              <a:rPr lang="en-US" altLang="zh-CN" sz="4400" b="1" dirty="0">
                <a:solidFill>
                  <a:srgbClr val="FFFFFF"/>
                </a:solidFill>
                <a:latin typeface="Times New Roman" panose="02020603050405020304" pitchFamily="18" charset="0"/>
                <a:ea typeface="隶书" panose="02010509060101010101" pitchFamily="49" charset="-122"/>
              </a:rPr>
              <a:t>3.1.3 </a:t>
            </a:r>
            <a:r>
              <a:rPr lang="zh-CN" altLang="en-US" sz="4400" b="1" dirty="0">
                <a:solidFill>
                  <a:srgbClr val="FFFFFF"/>
                </a:solidFill>
                <a:latin typeface="Times New Roman" panose="02020603050405020304" pitchFamily="18" charset="0"/>
                <a:ea typeface="隶书" panose="02010509060101010101" pitchFamily="49" charset="-122"/>
              </a:rPr>
              <a:t>函数的参数传递：引用传递</a:t>
            </a:r>
            <a:endParaRPr lang="zh-CN" altLang="en-US" sz="4400" b="1" dirty="0">
              <a:ea typeface="华文行楷" panose="02010800040101010101" pitchFamily="2" charset="-122"/>
            </a:endParaRPr>
          </a:p>
        </p:txBody>
      </p:sp>
    </p:spTree>
  </p:cSld>
  <p:clrMapOvr>
    <a:masterClrMapping/>
  </p:clrMapOvr>
  <p:transition>
    <p:cove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ChangeArrowheads="1"/>
          </p:cNvSpPr>
          <p:nvPr/>
        </p:nvSpPr>
        <p:spPr bwMode="auto">
          <a:xfrm>
            <a:off x="323850" y="549275"/>
            <a:ext cx="8640763" cy="6027738"/>
          </a:xfrm>
          <a:prstGeom prst="rect">
            <a:avLst/>
          </a:prstGeom>
          <a:solidFill>
            <a:schemeClr val="tx1"/>
          </a:solidFill>
          <a:ln w="9525">
            <a:solidFill>
              <a:schemeClr val="tx1"/>
            </a:solidFill>
            <a:miter lim="800000"/>
          </a:ln>
        </p:spPr>
        <p:txBody>
          <a:bodyPr>
            <a:spAutoFit/>
          </a:bodyPr>
          <a:lstStyle>
            <a:lvl1pPr indent="2667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just" eaLnBrk="1" hangingPunct="1">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zh-CN" altLang="en-US" sz="2200" b="1" dirty="0" smtClean="0">
                <a:solidFill>
                  <a:srgbClr val="000000"/>
                </a:solidFill>
                <a:latin typeface="Times New Roman" panose="02020603050405020304" pitchFamily="18" charset="0"/>
                <a:ea typeface="华文楷体" panose="02010600040101010101" pitchFamily="2" charset="-122"/>
              </a:rPr>
              <a:t>形参</a:t>
            </a:r>
            <a:r>
              <a:rPr kumimoji="0" lang="zh-CN" altLang="en-US" sz="2200" b="1" dirty="0">
                <a:solidFill>
                  <a:srgbClr val="000000"/>
                </a:solidFill>
                <a:latin typeface="Times New Roman" panose="02020603050405020304" pitchFamily="18" charset="0"/>
                <a:ea typeface="华文楷体" panose="02010600040101010101" pitchFamily="2" charset="-122"/>
              </a:rPr>
              <a:t>为引用的调用</a:t>
            </a:r>
            <a:r>
              <a:rPr kumimoji="0" lang="zh-CN" altLang="en-US" sz="2400" b="1" dirty="0">
                <a:solidFill>
                  <a:srgbClr val="000000"/>
                </a:solidFill>
                <a:latin typeface="Times New Roman" panose="02020603050405020304" pitchFamily="18" charset="0"/>
                <a:ea typeface="华文楷体" panose="02010600040101010101" pitchFamily="2" charset="-122"/>
              </a:rPr>
              <a:t>示例程序</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eaLnBrk="1" hangingPunct="1">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#include &lt;</a:t>
            </a:r>
            <a:r>
              <a:rPr kumimoji="0" lang="en-US" altLang="zh-CN" sz="2200" b="1" dirty="0" err="1">
                <a:solidFill>
                  <a:srgbClr val="000000"/>
                </a:solidFill>
                <a:latin typeface="Times New Roman" panose="02020603050405020304" pitchFamily="18" charset="0"/>
                <a:ea typeface="华文楷体" panose="02010600040101010101" pitchFamily="2" charset="-122"/>
              </a:rPr>
              <a:t>iostream</a:t>
            </a:r>
            <a:r>
              <a:rPr kumimoji="0" lang="en-US" altLang="zh-CN" sz="2200" b="1" dirty="0">
                <a:solidFill>
                  <a:srgbClr val="000000"/>
                </a:solidFill>
                <a:latin typeface="Times New Roman" panose="02020603050405020304" pitchFamily="18" charset="0"/>
                <a:ea typeface="华文楷体" panose="02010600040101010101" pitchFamily="2" charset="-122"/>
              </a:rPr>
              <a:t>&gt;</a:t>
            </a:r>
            <a:endParaRPr kumimoji="0" lang="en-US" altLang="zh-CN" sz="2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200" b="1" dirty="0" err="1">
                <a:solidFill>
                  <a:srgbClr val="000000"/>
                </a:solidFill>
                <a:latin typeface="Times New Roman" panose="02020603050405020304" pitchFamily="18" charset="0"/>
                <a:ea typeface="华文楷体" panose="02010600040101010101" pitchFamily="2" charset="-122"/>
              </a:rPr>
              <a:t>std</a:t>
            </a: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void swap(</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&amp; </a:t>
            </a:r>
            <a:r>
              <a:rPr kumimoji="0" lang="en-US" altLang="zh-CN" sz="2200" b="1" dirty="0" err="1">
                <a:solidFill>
                  <a:srgbClr val="000000"/>
                </a:solidFill>
                <a:latin typeface="Times New Roman" panose="02020603050405020304" pitchFamily="18" charset="0"/>
                <a:ea typeface="华文楷体" panose="02010600040101010101" pitchFamily="2" charset="-122"/>
              </a:rPr>
              <a:t>x,int</a:t>
            </a:r>
            <a:r>
              <a:rPr kumimoji="0" lang="en-US" altLang="zh-CN" sz="2200" b="1" dirty="0">
                <a:solidFill>
                  <a:srgbClr val="000000"/>
                </a:solidFill>
                <a:latin typeface="Times New Roman" panose="02020603050405020304" pitchFamily="18" charset="0"/>
                <a:ea typeface="华文楷体" panose="02010600040101010101" pitchFamily="2" charset="-122"/>
              </a:rPr>
              <a:t>&amp; y)  //</a:t>
            </a:r>
            <a:r>
              <a:rPr kumimoji="0" lang="zh-CN" altLang="en-US" sz="2200" b="1" dirty="0">
                <a:solidFill>
                  <a:srgbClr val="000000"/>
                </a:solidFill>
                <a:latin typeface="Times New Roman" panose="02020603050405020304" pitchFamily="18" charset="0"/>
                <a:ea typeface="华文楷体" panose="02010600040101010101" pitchFamily="2" charset="-122"/>
              </a:rPr>
              <a:t>定义函数，形参为引用</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temp;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temp=x;</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x=y;</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y=temp;</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main( )	</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int</a:t>
            </a:r>
            <a:r>
              <a:rPr kumimoji="0" lang="en-US" altLang="zh-CN" sz="2200" b="1" dirty="0">
                <a:solidFill>
                  <a:srgbClr val="000000"/>
                </a:solidFill>
                <a:latin typeface="Times New Roman" panose="02020603050405020304" pitchFamily="18" charset="0"/>
                <a:ea typeface="华文楷体" panose="02010600040101010101" pitchFamily="2" charset="-122"/>
              </a:rPr>
              <a:t> a=5,b=10;          //</a:t>
            </a:r>
            <a:r>
              <a:rPr kumimoji="0" lang="zh-CN" altLang="en-US" sz="2200" b="1" dirty="0">
                <a:solidFill>
                  <a:srgbClr val="000000"/>
                </a:solidFill>
                <a:latin typeface="Times New Roman" panose="02020603050405020304" pitchFamily="18" charset="0"/>
                <a:ea typeface="华文楷体" panose="02010600040101010101" pitchFamily="2" charset="-122"/>
              </a:rPr>
              <a:t>定义变量</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zh-CN" altLang="en-US"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cout</a:t>
            </a:r>
            <a:r>
              <a:rPr kumimoji="0" lang="en-US" altLang="zh-CN" sz="2200" b="1" dirty="0">
                <a:solidFill>
                  <a:srgbClr val="000000"/>
                </a:solidFill>
                <a:latin typeface="Times New Roman" panose="02020603050405020304" pitchFamily="18" charset="0"/>
                <a:ea typeface="华文楷体" panose="02010600040101010101" pitchFamily="2" charset="-122"/>
              </a:rPr>
              <a:t>&lt;&lt;"Before Swap a="&lt;&lt;a&lt;&lt;",b="&lt;&lt;b&lt;&lt;</a:t>
            </a:r>
            <a:r>
              <a:rPr kumimoji="0" lang="en-US" altLang="zh-CN" sz="2200" b="1" dirty="0" err="1">
                <a:solidFill>
                  <a:srgbClr val="000000"/>
                </a:solidFill>
                <a:latin typeface="Times New Roman" panose="02020603050405020304" pitchFamily="18" charset="0"/>
                <a:ea typeface="华文楷体" panose="02010600040101010101" pitchFamily="2" charset="-122"/>
              </a:rPr>
              <a:t>endl</a:t>
            </a: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  swap(</a:t>
            </a:r>
            <a:r>
              <a:rPr kumimoji="0" lang="en-US" altLang="zh-CN" sz="2200" b="1" dirty="0" err="1">
                <a:solidFill>
                  <a:srgbClr val="000000"/>
                </a:solidFill>
                <a:latin typeface="Times New Roman" panose="02020603050405020304" pitchFamily="18" charset="0"/>
                <a:ea typeface="华文楷体" panose="02010600040101010101" pitchFamily="2" charset="-122"/>
              </a:rPr>
              <a:t>a,b</a:t>
            </a:r>
            <a:r>
              <a:rPr kumimoji="0" lang="en-US" altLang="zh-CN" sz="2200" b="1" dirty="0">
                <a:solidFill>
                  <a:srgbClr val="000000"/>
                </a:solidFill>
                <a:latin typeface="Times New Roman" panose="02020603050405020304" pitchFamily="18" charset="0"/>
                <a:ea typeface="华文楷体" panose="02010600040101010101" pitchFamily="2" charset="-122"/>
              </a:rPr>
              <a:t>);              //</a:t>
            </a:r>
            <a:r>
              <a:rPr kumimoji="0" lang="zh-CN" altLang="en-US" sz="2200" b="1" dirty="0">
                <a:solidFill>
                  <a:srgbClr val="000000"/>
                </a:solidFill>
                <a:latin typeface="Times New Roman" panose="02020603050405020304" pitchFamily="18" charset="0"/>
                <a:ea typeface="华文楷体" panose="02010600040101010101" pitchFamily="2" charset="-122"/>
              </a:rPr>
              <a:t>引用调用</a:t>
            </a:r>
            <a:endParaRPr kumimoji="0" lang="zh-CN" altLang="en-US"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zh-CN" altLang="en-US" sz="2200" b="1" dirty="0">
                <a:solidFill>
                  <a:srgbClr val="000000"/>
                </a:solidFill>
                <a:latin typeface="Times New Roman" panose="02020603050405020304" pitchFamily="18" charset="0"/>
                <a:ea typeface="华文楷体" panose="02010600040101010101" pitchFamily="2" charset="-122"/>
              </a:rPr>
              <a:t>  </a:t>
            </a:r>
            <a:r>
              <a:rPr kumimoji="0" lang="en-US" altLang="zh-CN" sz="2200" b="1" dirty="0" err="1">
                <a:solidFill>
                  <a:srgbClr val="000000"/>
                </a:solidFill>
                <a:latin typeface="Times New Roman" panose="02020603050405020304" pitchFamily="18" charset="0"/>
                <a:ea typeface="华文楷体" panose="02010600040101010101" pitchFamily="2" charset="-122"/>
              </a:rPr>
              <a:t>cout</a:t>
            </a:r>
            <a:r>
              <a:rPr kumimoji="0" lang="en-US" altLang="zh-CN" sz="2200" b="1" dirty="0">
                <a:solidFill>
                  <a:srgbClr val="000000"/>
                </a:solidFill>
                <a:latin typeface="Times New Roman" panose="02020603050405020304" pitchFamily="18" charset="0"/>
                <a:ea typeface="华文楷体" panose="02010600040101010101" pitchFamily="2" charset="-122"/>
              </a:rPr>
              <a:t>&lt;&lt;"After Swap a="&lt;&lt;a&lt;&lt;",b="&lt;&lt;b&lt;&lt;</a:t>
            </a:r>
            <a:r>
              <a:rPr kumimoji="0" lang="en-US" altLang="zh-CN" sz="2200" b="1" dirty="0" err="1">
                <a:solidFill>
                  <a:srgbClr val="000000"/>
                </a:solidFill>
                <a:latin typeface="Times New Roman" panose="02020603050405020304" pitchFamily="18" charset="0"/>
                <a:ea typeface="华文楷体" panose="02010600040101010101" pitchFamily="2" charset="-122"/>
              </a:rPr>
              <a:t>endl</a:t>
            </a:r>
            <a:r>
              <a:rPr kumimoji="0" lang="en-US" altLang="zh-CN" sz="2200" b="1" dirty="0">
                <a:solidFill>
                  <a:srgbClr val="000000"/>
                </a:solidFill>
                <a:latin typeface="Times New Roman" panose="02020603050405020304" pitchFamily="18" charset="0"/>
                <a:ea typeface="华文楷体" panose="02010600040101010101" pitchFamily="2" charset="-122"/>
              </a:rPr>
              <a:t>;   return 0;</a:t>
            </a:r>
            <a:endParaRPr kumimoji="0" lang="en-US" altLang="zh-CN" sz="2200" b="1" dirty="0">
              <a:solidFill>
                <a:srgbClr val="000000"/>
              </a:solidFill>
              <a:latin typeface="Times New Roman" panose="02020603050405020304" pitchFamily="18" charset="0"/>
              <a:ea typeface="华文楷体" panose="02010600040101010101" pitchFamily="2" charset="-122"/>
            </a:endParaRPr>
          </a:p>
          <a:p>
            <a:pPr algn="just">
              <a:lnSpc>
                <a:spcPct val="110000"/>
              </a:lnSpc>
              <a:spcBef>
                <a:spcPct val="0"/>
              </a:spcBef>
              <a:buClrTx/>
              <a:buSzTx/>
              <a:buFontTx/>
              <a:buNone/>
            </a:pPr>
            <a:r>
              <a:rPr kumimoji="0" lang="en-US" altLang="zh-CN" sz="2200" b="1" dirty="0">
                <a:solidFill>
                  <a:srgbClr val="000000"/>
                </a:solidFill>
                <a:latin typeface="Times New Roman" panose="02020603050405020304" pitchFamily="18" charset="0"/>
                <a:ea typeface="华文楷体" panose="02010600040101010101" pitchFamily="2" charset="-122"/>
              </a:rPr>
              <a:t>}</a:t>
            </a:r>
            <a:endParaRPr kumimoji="0" lang="en-US" altLang="zh-CN" sz="2200" b="1" dirty="0">
              <a:solidFill>
                <a:srgbClr val="000000"/>
              </a:solidFill>
              <a:latin typeface="Times New Roman" panose="02020603050405020304" pitchFamily="18" charset="0"/>
              <a:ea typeface="华文楷体" panose="02010600040101010101" pitchFamily="2" charset="-122"/>
            </a:endParaRPr>
          </a:p>
        </p:txBody>
      </p:sp>
      <p:sp>
        <p:nvSpPr>
          <p:cNvPr id="300035" name="Text Box 3"/>
          <p:cNvSpPr txBox="1">
            <a:spLocks noChangeArrowheads="1"/>
          </p:cNvSpPr>
          <p:nvPr/>
        </p:nvSpPr>
        <p:spPr bwMode="auto">
          <a:xfrm>
            <a:off x="5867400" y="2276475"/>
            <a:ext cx="3097213" cy="1433513"/>
          </a:xfrm>
          <a:prstGeom prst="rect">
            <a:avLst/>
          </a:prstGeom>
          <a:solidFill>
            <a:srgbClr val="000000"/>
          </a:solidFill>
          <a:ln>
            <a:noFill/>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0" lang="zh-CN" altLang="en-US" sz="2200" b="1" dirty="0">
                <a:latin typeface="Times New Roman" panose="02020603050405020304" pitchFamily="18" charset="0"/>
                <a:ea typeface="华文楷体" panose="02010600040101010101" pitchFamily="2" charset="-122"/>
              </a:rPr>
              <a:t>运行结果：</a:t>
            </a:r>
            <a:endParaRPr kumimoji="0" lang="zh-CN" altLang="en-US" sz="2200" b="1" dirty="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kumimoji="0" lang="en-US" altLang="zh-CN" sz="2200" b="1" dirty="0">
                <a:latin typeface="Times New Roman" panose="02020603050405020304" pitchFamily="18" charset="0"/>
                <a:ea typeface="华文楷体" panose="02010600040101010101" pitchFamily="2" charset="-122"/>
              </a:rPr>
              <a:t>Before swap a=5,b=10</a:t>
            </a:r>
            <a:endParaRPr kumimoji="0" lang="en-US" altLang="zh-CN" sz="2200" b="1" dirty="0">
              <a:latin typeface="Times New Roman" panose="02020603050405020304" pitchFamily="18" charset="0"/>
              <a:ea typeface="华文楷体" panose="02010600040101010101" pitchFamily="2" charset="-122"/>
            </a:endParaRPr>
          </a:p>
          <a:p>
            <a:pPr algn="l" eaLnBrk="1" hangingPunct="1">
              <a:spcBef>
                <a:spcPct val="50000"/>
              </a:spcBef>
              <a:buClrTx/>
              <a:buSzTx/>
              <a:buFontTx/>
              <a:buNone/>
            </a:pPr>
            <a:r>
              <a:rPr kumimoji="0" lang="en-US" altLang="zh-CN" sz="2200" b="1" dirty="0">
                <a:latin typeface="Times New Roman" panose="02020603050405020304" pitchFamily="18" charset="0"/>
                <a:ea typeface="华文楷体" panose="02010600040101010101" pitchFamily="2" charset="-122"/>
              </a:rPr>
              <a:t>After swap a=10,b=5</a:t>
            </a:r>
            <a:endParaRPr kumimoji="0" lang="en-US" altLang="zh-CN" sz="2200" b="1" dirty="0">
              <a:latin typeface="Times New Roman" panose="02020603050405020304" pitchFamily="18" charset="0"/>
              <a:ea typeface="华文楷体" panose="02010600040101010101" pitchFamily="2" charset="-122"/>
            </a:endParaRPr>
          </a:p>
        </p:txBody>
      </p:sp>
      <p:sp>
        <p:nvSpPr>
          <p:cNvPr id="300036" name="AutoShape 4"/>
          <p:cNvSpPr>
            <a:spLocks noChangeArrowheads="1"/>
          </p:cNvSpPr>
          <p:nvPr/>
        </p:nvSpPr>
        <p:spPr bwMode="auto">
          <a:xfrm>
            <a:off x="5724525" y="692150"/>
            <a:ext cx="2663825" cy="720725"/>
          </a:xfrm>
          <a:prstGeom prst="wedgeRoundRectCallout">
            <a:avLst>
              <a:gd name="adj1" fmla="val -126102"/>
              <a:gd name="adj2" fmla="val 82157"/>
              <a:gd name="adj3" fmla="val 16667"/>
            </a:avLst>
          </a:prstGeom>
          <a:solidFill>
            <a:srgbClr val="000099"/>
          </a:solidFill>
          <a:ln w="9525" algn="ctr">
            <a:solidFill>
              <a:schemeClr val="tx1"/>
            </a:solidFill>
            <a:miter lim="800000"/>
          </a:ln>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buFont typeface="Wingdings" panose="05000000000000000000" pitchFamily="2" charset="2"/>
              <a:buNone/>
            </a:pPr>
            <a:r>
              <a:rPr kumimoji="0" lang="en-US" altLang="zh-CN" sz="2000" b="1">
                <a:latin typeface="华文楷体" panose="02010600040101010101" pitchFamily="2" charset="-122"/>
                <a:ea typeface="华文楷体" panose="02010600040101010101" pitchFamily="2" charset="-122"/>
              </a:rPr>
              <a:t>C++</a:t>
            </a:r>
            <a:r>
              <a:rPr kumimoji="0" lang="zh-CN" altLang="en-US" sz="2000" b="1">
                <a:latin typeface="华文楷体" panose="02010600040101010101" pitchFamily="2" charset="-122"/>
                <a:ea typeface="华文楷体" panose="02010600040101010101" pitchFamily="2" charset="-122"/>
              </a:rPr>
              <a:t>语言主张引用参数取代地址参数</a:t>
            </a:r>
            <a:endParaRPr kumimoji="0" lang="zh-CN" altLang="en-US" sz="2000" b="1">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0035"/>
                                        </p:tgtEl>
                                        <p:attrNameLst>
                                          <p:attrName>style.visibility</p:attrName>
                                        </p:attrNameLst>
                                      </p:cBhvr>
                                      <p:to>
                                        <p:strVal val="visible"/>
                                      </p:to>
                                    </p:set>
                                    <p:anim calcmode="lin" valueType="num">
                                      <p:cBhvr additive="base">
                                        <p:cTn id="7" dur="500" fill="hold"/>
                                        <p:tgtEl>
                                          <p:spTgt spid="300035"/>
                                        </p:tgtEl>
                                        <p:attrNameLst>
                                          <p:attrName>ppt_x</p:attrName>
                                        </p:attrNameLst>
                                      </p:cBhvr>
                                      <p:tavLst>
                                        <p:tav tm="0">
                                          <p:val>
                                            <p:strVal val="1+#ppt_w/2"/>
                                          </p:val>
                                        </p:tav>
                                        <p:tav tm="100000">
                                          <p:val>
                                            <p:strVal val="#ppt_x"/>
                                          </p:val>
                                        </p:tav>
                                      </p:tavLst>
                                    </p:anim>
                                    <p:anim calcmode="lin" valueType="num">
                                      <p:cBhvr additive="base">
                                        <p:cTn id="8" dur="500" fill="hold"/>
                                        <p:tgtEl>
                                          <p:spTgt spid="3000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0036"/>
                                        </p:tgtEl>
                                        <p:attrNameLst>
                                          <p:attrName>style.visibility</p:attrName>
                                        </p:attrNameLst>
                                      </p:cBhvr>
                                      <p:to>
                                        <p:strVal val="visible"/>
                                      </p:to>
                                    </p:set>
                                    <p:anim calcmode="lin" valueType="num">
                                      <p:cBhvr additive="base">
                                        <p:cTn id="13" dur="500" fill="hold"/>
                                        <p:tgtEl>
                                          <p:spTgt spid="300036"/>
                                        </p:tgtEl>
                                        <p:attrNameLst>
                                          <p:attrName>ppt_x</p:attrName>
                                        </p:attrNameLst>
                                      </p:cBhvr>
                                      <p:tavLst>
                                        <p:tav tm="0">
                                          <p:val>
                                            <p:strVal val="0-#ppt_w/2"/>
                                          </p:val>
                                        </p:tav>
                                        <p:tav tm="100000">
                                          <p:val>
                                            <p:strVal val="#ppt_x"/>
                                          </p:val>
                                        </p:tav>
                                      </p:tavLst>
                                    </p:anim>
                                    <p:anim calcmode="lin" valueType="num">
                                      <p:cBhvr additive="base">
                                        <p:cTn id="14" dur="500" fill="hold"/>
                                        <p:tgtEl>
                                          <p:spTgt spid="300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animBg="1" autoUpdateAnimBg="0"/>
      <p:bldP spid="30003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title"/>
          </p:nvPr>
        </p:nvSpPr>
        <p:spPr>
          <a:xfrm>
            <a:off x="654050" y="332656"/>
            <a:ext cx="8080375" cy="585788"/>
          </a:xfrm>
        </p:spPr>
        <p:txBody>
          <a:bodyPr/>
          <a:lstStyle/>
          <a:p>
            <a:pPr algn="ctr"/>
            <a:r>
              <a:rPr lang="en-US" altLang="zh-CN" sz="4000" b="1" dirty="0">
                <a:solidFill>
                  <a:srgbClr val="FFFFFF"/>
                </a:solidFill>
                <a:latin typeface="Times New Roman" panose="02020603050405020304" pitchFamily="18" charset="0"/>
                <a:ea typeface="隶书" panose="02010509060101010101" pitchFamily="49" charset="-122"/>
              </a:rPr>
              <a:t>3.1.3 </a:t>
            </a:r>
            <a:r>
              <a:rPr lang="zh-CN" altLang="en-US" sz="4000" b="1" dirty="0">
                <a:solidFill>
                  <a:srgbClr val="FFFFFF"/>
                </a:solidFill>
                <a:latin typeface="Times New Roman" panose="02020603050405020304" pitchFamily="18" charset="0"/>
                <a:ea typeface="隶书" panose="02010509060101010101" pitchFamily="49" charset="-122"/>
              </a:rPr>
              <a:t>函数的参数传递：引用传递</a:t>
            </a:r>
            <a:endParaRPr lang="zh-CN" altLang="en-US" sz="4000" b="1" dirty="0">
              <a:ea typeface="华文行楷" panose="02010800040101010101" pitchFamily="2" charset="-122"/>
            </a:endParaRPr>
          </a:p>
        </p:txBody>
      </p:sp>
      <p:sp>
        <p:nvSpPr>
          <p:cNvPr id="16388" name="Rectangle 5"/>
          <p:cNvSpPr>
            <a:spLocks noChangeArrowheads="1"/>
          </p:cNvSpPr>
          <p:nvPr/>
        </p:nvSpPr>
        <p:spPr bwMode="auto">
          <a:xfrm>
            <a:off x="827581" y="1334365"/>
            <a:ext cx="8129091" cy="116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a:tailEnd/>
              </a14:hiddenLine>
            </a:ext>
          </a:extLst>
        </p:spPr>
        <p:txBody>
          <a:bodyPr wrap="square" lIns="36000" tIns="36000" rIns="36000" bIns="36000">
            <a:spAutoFit/>
          </a:bodyPr>
          <a:lstStyle>
            <a:lvl1pPr marL="342900" indent="-342900">
              <a:defRPr kumimoji="1" sz="2100" b="1">
                <a:solidFill>
                  <a:srgbClr val="FFFF00"/>
                </a:solidFill>
                <a:latin typeface="Times New Roman" panose="02020603050405020304" pitchFamily="18" charset="0"/>
                <a:ea typeface="宋体" panose="02010600030101010101" pitchFamily="2" charset="-122"/>
              </a:defRPr>
            </a:lvl1pPr>
            <a:lvl2pPr marL="742950" indent="-285750">
              <a:defRPr kumimoji="1" sz="2100" b="1">
                <a:solidFill>
                  <a:srgbClr val="FFFF00"/>
                </a:solidFill>
                <a:latin typeface="Times New Roman" panose="02020603050405020304" pitchFamily="18" charset="0"/>
                <a:ea typeface="宋体" panose="02010600030101010101" pitchFamily="2" charset="-122"/>
              </a:defRPr>
            </a:lvl2pPr>
            <a:lvl3pPr marL="1143000" indent="-228600">
              <a:defRPr kumimoji="1" sz="2100" b="1">
                <a:solidFill>
                  <a:srgbClr val="FFFF00"/>
                </a:solidFill>
                <a:latin typeface="Times New Roman" panose="02020603050405020304" pitchFamily="18" charset="0"/>
                <a:ea typeface="宋体" panose="02010600030101010101" pitchFamily="2" charset="-122"/>
              </a:defRPr>
            </a:lvl3pPr>
            <a:lvl4pPr marL="1600200" indent="-228600">
              <a:defRPr kumimoji="1" sz="2100" b="1">
                <a:solidFill>
                  <a:srgbClr val="FFFF00"/>
                </a:solidFill>
                <a:latin typeface="Times New Roman" panose="02020603050405020304" pitchFamily="18" charset="0"/>
                <a:ea typeface="宋体" panose="02010600030101010101" pitchFamily="2" charset="-122"/>
              </a:defRPr>
            </a:lvl4pPr>
            <a:lvl5pPr marL="2057400" indent="-22860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9pPr>
          </a:lstStyle>
          <a:p>
            <a:pPr marL="0" indent="0" algn="l" eaLnBrk="1" hangingPunct="1">
              <a:lnSpc>
                <a:spcPct val="135000"/>
              </a:lnSpc>
              <a:spcBef>
                <a:spcPct val="25000"/>
              </a:spcBef>
              <a:buClr>
                <a:srgbClr val="00B0F0"/>
              </a:buClr>
              <a:buSzPct val="75000"/>
            </a:pPr>
            <a:r>
              <a:rPr lang="zh-CN" altLang="en-US" sz="2400" dirty="0">
                <a:solidFill>
                  <a:schemeClr val="tx1"/>
                </a:solidFill>
                <a:latin typeface="微软雅黑" panose="020B0503020204020204" pitchFamily="34" charset="-122"/>
                <a:ea typeface="微软雅黑" panose="020B0503020204020204" pitchFamily="34" charset="-122"/>
              </a:rPr>
              <a:t>对引用的操作实际上是作用在引用对象所引的对象上</a:t>
            </a:r>
            <a:endParaRPr lang="en-US" altLang="zh-CN" sz="2400" dirty="0">
              <a:solidFill>
                <a:schemeClr val="tx1"/>
              </a:solidFill>
              <a:latin typeface="微软雅黑" panose="020B0503020204020204" pitchFamily="34" charset="-122"/>
              <a:ea typeface="微软雅黑" panose="020B0503020204020204" pitchFamily="34" charset="-122"/>
            </a:endParaRPr>
          </a:p>
          <a:p>
            <a:pPr marL="0" indent="0" algn="l" eaLnBrk="1" hangingPunct="1">
              <a:lnSpc>
                <a:spcPct val="135000"/>
              </a:lnSpc>
              <a:spcBef>
                <a:spcPct val="25000"/>
              </a:spcBef>
              <a:buClr>
                <a:srgbClr val="00B0F0"/>
              </a:buClr>
              <a:buSzPct val="75000"/>
            </a:pPr>
            <a:r>
              <a:rPr lang="zh-CN" altLang="en-US" sz="2400" dirty="0">
                <a:solidFill>
                  <a:schemeClr val="tx1"/>
                </a:solidFill>
                <a:latin typeface="微软雅黑" panose="020B0503020204020204" pitchFamily="34" charset="-122"/>
                <a:ea typeface="微软雅黑" panose="020B0503020204020204" pitchFamily="34" charset="-122"/>
              </a:rPr>
              <a:t>调用引用参数的函数，直接传入对象而无须传递对象的地址</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5" name="Text Box 8"/>
          <p:cNvSpPr txBox="1">
            <a:spLocks noChangeArrowheads="1"/>
          </p:cNvSpPr>
          <p:nvPr/>
        </p:nvSpPr>
        <p:spPr bwMode="auto">
          <a:xfrm>
            <a:off x="899592" y="3181137"/>
            <a:ext cx="7927975" cy="2554545"/>
          </a:xfrm>
          <a:prstGeom prst="rect">
            <a:avLst/>
          </a:prstGeom>
          <a:solidFill>
            <a:schemeClr val="tx1"/>
          </a:solidFill>
          <a:ln>
            <a:noFill/>
          </a:ln>
        </p:spPr>
        <p:txBody>
          <a:bodyPr>
            <a:spAutoFit/>
          </a:bodyPr>
          <a:lstStyle>
            <a:lvl1pPr eaLnBrk="0" hangingPunct="0">
              <a:defRPr kumimoji="1" sz="2100" b="1">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2100" b="1">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2100" b="1">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2100" b="1">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rgbClr val="00FF00"/>
              </a:buClr>
              <a:buSzPct val="75000"/>
              <a:buFont typeface="Wingdings" panose="05000000000000000000" pitchFamily="2" charset="2"/>
              <a:buChar char="•"/>
              <a:defRPr kumimoji="1" sz="2100" b="1">
                <a:solidFill>
                  <a:srgbClr val="FFFF00"/>
                </a:solidFill>
                <a:latin typeface="Times New Roman" panose="02020603050405020304" pitchFamily="18" charset="0"/>
                <a:ea typeface="宋体" panose="02010600030101010101" pitchFamily="2" charset="-122"/>
              </a:defRPr>
            </a:lvl9pPr>
          </a:lstStyle>
          <a:p>
            <a:pPr algn="l" eaLnBrk="1" hangingPunct="1">
              <a:defRPr/>
            </a:pPr>
            <a:r>
              <a:rPr lang="en-US" altLang="zh-CN" sz="2000" dirty="0" smtClean="0">
                <a:solidFill>
                  <a:srgbClr val="000000"/>
                </a:solidFill>
                <a:latin typeface="+mn-lt"/>
                <a:ea typeface="华文楷体" panose="02010600040101010101" pitchFamily="2" charset="-122"/>
              </a:rPr>
              <a:t>void reset(</a:t>
            </a:r>
            <a:r>
              <a:rPr lang="en-US" altLang="zh-CN" sz="2000" dirty="0" err="1" smtClean="0">
                <a:solidFill>
                  <a:srgbClr val="000000"/>
                </a:solidFill>
                <a:latin typeface="+mn-lt"/>
                <a:ea typeface="华文楷体" panose="02010600040101010101" pitchFamily="2" charset="-122"/>
              </a:rPr>
              <a:t>int</a:t>
            </a:r>
            <a:r>
              <a:rPr lang="en-US" altLang="zh-CN" sz="2000" dirty="0" smtClean="0">
                <a:solidFill>
                  <a:srgbClr val="000000"/>
                </a:solidFill>
                <a:latin typeface="+mn-lt"/>
                <a:ea typeface="华文楷体" panose="02010600040101010101" pitchFamily="2" charset="-122"/>
              </a:rPr>
              <a:t> &amp;</a:t>
            </a:r>
            <a:r>
              <a:rPr lang="en-US" altLang="zh-CN" sz="2000" dirty="0" err="1" smtClean="0">
                <a:solidFill>
                  <a:srgbClr val="000000"/>
                </a:solidFill>
                <a:latin typeface="+mn-lt"/>
                <a:ea typeface="华文楷体" panose="02010600040101010101" pitchFamily="2" charset="-122"/>
              </a:rPr>
              <a:t>i</a:t>
            </a:r>
            <a:r>
              <a:rPr lang="en-US" altLang="zh-CN" sz="2000" dirty="0" smtClean="0">
                <a:solidFill>
                  <a:srgbClr val="000000"/>
                </a:solidFill>
                <a:latin typeface="+mn-lt"/>
                <a:ea typeface="华文楷体" panose="02010600040101010101" pitchFamily="2" charset="-122"/>
              </a:rPr>
              <a:t>)</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smtClean="0">
                <a:solidFill>
                  <a:srgbClr val="000000"/>
                </a:solidFill>
                <a:latin typeface="+mn-lt"/>
                <a:ea typeface="华文楷体" panose="02010600040101010101" pitchFamily="2" charset="-122"/>
              </a:rPr>
              <a:t>{   </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a:solidFill>
                  <a:srgbClr val="000000"/>
                </a:solidFill>
                <a:latin typeface="+mn-lt"/>
                <a:ea typeface="华文楷体" panose="02010600040101010101" pitchFamily="2" charset="-122"/>
              </a:rPr>
              <a:t> </a:t>
            </a:r>
            <a:r>
              <a:rPr lang="en-US" altLang="zh-CN" sz="2000" dirty="0" smtClean="0">
                <a:solidFill>
                  <a:srgbClr val="000000"/>
                </a:solidFill>
                <a:latin typeface="+mn-lt"/>
                <a:ea typeface="华文楷体" panose="02010600040101010101" pitchFamily="2" charset="-122"/>
              </a:rPr>
              <a:t>      </a:t>
            </a:r>
            <a:r>
              <a:rPr lang="en-US" altLang="zh-CN" sz="2000" dirty="0" err="1" smtClean="0">
                <a:solidFill>
                  <a:srgbClr val="000000"/>
                </a:solidFill>
                <a:latin typeface="+mn-lt"/>
                <a:ea typeface="华文楷体" panose="02010600040101010101" pitchFamily="2" charset="-122"/>
              </a:rPr>
              <a:t>i</a:t>
            </a:r>
            <a:r>
              <a:rPr lang="en-US" altLang="zh-CN" sz="2000" dirty="0" smtClean="0">
                <a:solidFill>
                  <a:srgbClr val="000000"/>
                </a:solidFill>
                <a:latin typeface="+mn-lt"/>
                <a:ea typeface="华文楷体" panose="02010600040101010101" pitchFamily="2" charset="-122"/>
              </a:rPr>
              <a:t> = 0;         // </a:t>
            </a:r>
            <a:r>
              <a:rPr lang="zh-CN" altLang="en-US" sz="2000" dirty="0" smtClean="0">
                <a:solidFill>
                  <a:srgbClr val="000000"/>
                </a:solidFill>
                <a:latin typeface="+mn-lt"/>
                <a:ea typeface="华文楷体" panose="02010600040101010101" pitchFamily="2" charset="-122"/>
              </a:rPr>
              <a:t>改变了</a:t>
            </a:r>
            <a:r>
              <a:rPr lang="en-US" altLang="zh-CN" sz="2000" dirty="0" err="1" smtClean="0">
                <a:solidFill>
                  <a:srgbClr val="000000"/>
                </a:solidFill>
                <a:latin typeface="+mn-lt"/>
                <a:ea typeface="华文楷体" panose="02010600040101010101" pitchFamily="2" charset="-122"/>
              </a:rPr>
              <a:t>i</a:t>
            </a:r>
            <a:r>
              <a:rPr lang="zh-CN" altLang="en-US" sz="2000" dirty="0" smtClean="0">
                <a:solidFill>
                  <a:srgbClr val="000000"/>
                </a:solidFill>
                <a:latin typeface="+mn-lt"/>
                <a:ea typeface="华文楷体" panose="02010600040101010101" pitchFamily="2" charset="-122"/>
              </a:rPr>
              <a:t>所引用对象的值</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smtClean="0">
                <a:solidFill>
                  <a:srgbClr val="000000"/>
                </a:solidFill>
                <a:latin typeface="+mn-lt"/>
                <a:ea typeface="华文楷体" panose="02010600040101010101" pitchFamily="2" charset="-122"/>
              </a:rPr>
              <a:t>}</a:t>
            </a:r>
            <a:endParaRPr lang="en-US" altLang="zh-CN" sz="2000" dirty="0" smtClean="0">
              <a:solidFill>
                <a:srgbClr val="000000"/>
              </a:solidFill>
              <a:latin typeface="+mn-lt"/>
              <a:ea typeface="华文楷体" panose="02010600040101010101" pitchFamily="2" charset="-122"/>
            </a:endParaRPr>
          </a:p>
          <a:p>
            <a:pPr algn="l" eaLnBrk="1" hangingPunct="1">
              <a:defRPr/>
            </a:pPr>
            <a:endParaRPr lang="en-US" altLang="zh-CN" sz="2000" dirty="0">
              <a:solidFill>
                <a:srgbClr val="000000"/>
              </a:solidFill>
              <a:latin typeface="+mn-lt"/>
              <a:ea typeface="华文楷体" panose="02010600040101010101" pitchFamily="2" charset="-122"/>
            </a:endParaRPr>
          </a:p>
          <a:p>
            <a:pPr algn="l" eaLnBrk="1" hangingPunct="1">
              <a:defRPr/>
            </a:pPr>
            <a:r>
              <a:rPr lang="en-US" altLang="zh-CN" sz="2000" dirty="0" err="1" smtClean="0">
                <a:solidFill>
                  <a:srgbClr val="000000"/>
                </a:solidFill>
                <a:latin typeface="+mn-lt"/>
                <a:ea typeface="华文楷体" panose="02010600040101010101" pitchFamily="2" charset="-122"/>
              </a:rPr>
              <a:t>int</a:t>
            </a:r>
            <a:r>
              <a:rPr lang="en-US" altLang="zh-CN" sz="2000" dirty="0" smtClean="0">
                <a:solidFill>
                  <a:srgbClr val="000000"/>
                </a:solidFill>
                <a:latin typeface="+mn-lt"/>
                <a:ea typeface="华文楷体" panose="02010600040101010101" pitchFamily="2" charset="-122"/>
              </a:rPr>
              <a:t> j = 42;</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smtClean="0">
                <a:solidFill>
                  <a:srgbClr val="000000"/>
                </a:solidFill>
                <a:latin typeface="+mn-lt"/>
                <a:ea typeface="华文楷体" panose="02010600040101010101" pitchFamily="2" charset="-122"/>
              </a:rPr>
              <a:t>reset(j);</a:t>
            </a:r>
            <a:endParaRPr lang="en-US" altLang="zh-CN" sz="2000" dirty="0" smtClean="0">
              <a:solidFill>
                <a:srgbClr val="000000"/>
              </a:solidFill>
              <a:latin typeface="+mn-lt"/>
              <a:ea typeface="华文楷体" panose="02010600040101010101" pitchFamily="2" charset="-122"/>
            </a:endParaRPr>
          </a:p>
          <a:p>
            <a:pPr algn="l" eaLnBrk="1" hangingPunct="1">
              <a:defRPr/>
            </a:pPr>
            <a:r>
              <a:rPr lang="en-US" altLang="zh-CN" sz="2000" dirty="0" err="1" smtClean="0">
                <a:solidFill>
                  <a:srgbClr val="000000"/>
                </a:solidFill>
                <a:latin typeface="+mn-lt"/>
                <a:ea typeface="华文楷体" panose="02010600040101010101" pitchFamily="2" charset="-122"/>
              </a:rPr>
              <a:t>cout</a:t>
            </a:r>
            <a:r>
              <a:rPr lang="en-US" altLang="zh-CN" sz="2000" dirty="0" smtClean="0">
                <a:solidFill>
                  <a:srgbClr val="000000"/>
                </a:solidFill>
                <a:latin typeface="+mn-lt"/>
                <a:ea typeface="华文楷体" panose="02010600040101010101" pitchFamily="2" charset="-122"/>
              </a:rPr>
              <a:t> &lt;&lt; “j= ” &lt;&lt; j &lt;&lt; </a:t>
            </a:r>
            <a:r>
              <a:rPr lang="en-US" altLang="zh-CN" sz="2000" dirty="0" err="1" smtClean="0">
                <a:solidFill>
                  <a:srgbClr val="000000"/>
                </a:solidFill>
                <a:latin typeface="+mn-lt"/>
                <a:ea typeface="华文楷体" panose="02010600040101010101" pitchFamily="2" charset="-122"/>
              </a:rPr>
              <a:t>endl</a:t>
            </a:r>
            <a:r>
              <a:rPr lang="en-US" altLang="zh-CN" sz="2000" dirty="0" smtClean="0">
                <a:solidFill>
                  <a:srgbClr val="000000"/>
                </a:solidFill>
                <a:latin typeface="+mn-lt"/>
                <a:ea typeface="华文楷体" panose="02010600040101010101" pitchFamily="2" charset="-122"/>
              </a:rPr>
              <a:t>; // </a:t>
            </a:r>
            <a:r>
              <a:rPr lang="zh-CN" altLang="en-US" sz="2000" dirty="0" smtClean="0">
                <a:solidFill>
                  <a:srgbClr val="000000"/>
                </a:solidFill>
                <a:latin typeface="+mn-lt"/>
                <a:ea typeface="华文楷体" panose="02010600040101010101" pitchFamily="2" charset="-122"/>
              </a:rPr>
              <a:t>输出</a:t>
            </a:r>
            <a:r>
              <a:rPr lang="en-US" altLang="zh-CN" sz="2000" dirty="0" smtClean="0">
                <a:solidFill>
                  <a:srgbClr val="000000"/>
                </a:solidFill>
                <a:latin typeface="+mn-lt"/>
                <a:ea typeface="华文楷体" panose="02010600040101010101" pitchFamily="2" charset="-122"/>
              </a:rPr>
              <a:t>j=0</a:t>
            </a:r>
            <a:endParaRPr lang="en-US" altLang="zh-CN" sz="2000" dirty="0" smtClean="0">
              <a:solidFill>
                <a:srgbClr val="000000"/>
              </a:solidFill>
              <a:latin typeface="+mn-lt"/>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smtClean="0"/>
              <a:t>例</a:t>
            </a:r>
            <a:r>
              <a:rPr lang="en-US" altLang="zh-CN" smtClean="0"/>
              <a:t>3-12 </a:t>
            </a:r>
            <a:r>
              <a:rPr lang="zh-CN" altLang="en-US" smtClean="0"/>
              <a:t>输入两个整数交换后输出</a:t>
            </a:r>
            <a:endParaRPr lang="zh-CN" altLang="en-US" smtClean="0"/>
          </a:p>
        </p:txBody>
      </p:sp>
      <p:sp>
        <p:nvSpPr>
          <p:cNvPr id="61443" name="内容占位符 2"/>
          <p:cNvSpPr>
            <a:spLocks noGrp="1"/>
          </p:cNvSpPr>
          <p:nvPr>
            <p:ph idx="1"/>
          </p:nvPr>
        </p:nvSpPr>
        <p:spPr>
          <a:xfrm>
            <a:off x="457200" y="1643063"/>
            <a:ext cx="8229600" cy="4930775"/>
          </a:xfrm>
          <a:solidFill>
            <a:schemeClr val="tx1"/>
          </a:solidFill>
        </p:spPr>
        <p:txBody>
          <a:bodyPr>
            <a:noAutofit/>
          </a:bodyPr>
          <a:lstStyle/>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#include&lt;iostream&gt;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void swap(int&amp; a, int&amp; b)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int t = a;</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a = b;</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b = 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int main() {</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int x = 5, y = 10;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cout &lt;&lt; "x = " &lt;&lt; x &lt;&lt; "  y = " &lt;&lt; y &lt;&lt; endl;</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swap(x, y);</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cout &lt;&lt; "x = " &lt;&lt; x &lt;&lt; "  y = " &lt;&lt; y &lt;&lt; endl;</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	return 0;</a:t>
            </a:r>
            <a:endParaRPr lang="en-US" altLang="zh-CN" sz="2400" b="1" dirty="0" smtClean="0">
              <a:solidFill>
                <a:srgbClr val="000000"/>
              </a:solidFill>
              <a:ea typeface="+mj-ea"/>
            </a:endParaRPr>
          </a:p>
          <a:p>
            <a:pPr marL="365760" indent="-255905" eaLnBrk="1" fontAlgn="auto" hangingPunct="1">
              <a:lnSpc>
                <a:spcPct val="85000"/>
              </a:lnSpc>
              <a:spcBef>
                <a:spcPts val="0"/>
              </a:spcBef>
              <a:buClr>
                <a:schemeClr val="accent3"/>
              </a:buClr>
              <a:buNone/>
              <a:defRPr/>
            </a:pPr>
            <a:r>
              <a:rPr lang="en-US" altLang="zh-CN" sz="2400" b="1" dirty="0" smtClean="0">
                <a:solidFill>
                  <a:srgbClr val="000000"/>
                </a:solidFill>
                <a:ea typeface="+mj-ea"/>
              </a:rPr>
              <a:t>}</a:t>
            </a:r>
            <a:endParaRPr lang="zh-CN" altLang="en-US" sz="2400" b="1" dirty="0" smtClean="0">
              <a:solidFill>
                <a:srgbClr val="000000"/>
              </a:solidFill>
              <a:ea typeface="+mj-ea"/>
            </a:endParaRPr>
          </a:p>
        </p:txBody>
      </p:sp>
      <p:sp>
        <p:nvSpPr>
          <p:cNvPr id="6" name="Text Box 6"/>
          <p:cNvSpPr txBox="1">
            <a:spLocks noChangeArrowheads="1"/>
          </p:cNvSpPr>
          <p:nvPr/>
        </p:nvSpPr>
        <p:spPr bwMode="auto">
          <a:xfrm>
            <a:off x="6500813" y="1643063"/>
            <a:ext cx="2236787" cy="1348061"/>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buFont typeface="Wingdings" panose="05000000000000000000" pitchFamily="2" charset="2"/>
              <a:buNone/>
              <a:defRPr/>
            </a:pPr>
            <a:r>
              <a:rPr lang="zh-CN" altLang="en-US" b="1" dirty="0">
                <a:latin typeface="+mn-lt"/>
                <a:ea typeface="+mj-ea"/>
              </a:rPr>
              <a:t>运行结果</a:t>
            </a:r>
            <a:r>
              <a:rPr lang="en-US" altLang="zh-CN" b="1" dirty="0">
                <a:latin typeface="+mn-lt"/>
                <a:ea typeface="+mj-ea"/>
              </a:rPr>
              <a:t>:</a:t>
            </a:r>
            <a:endParaRPr lang="en-US" altLang="zh-CN" b="1" dirty="0">
              <a:latin typeface="+mn-lt"/>
              <a:ea typeface="+mj-ea"/>
            </a:endParaRPr>
          </a:p>
          <a:p>
            <a:pPr algn="l">
              <a:spcBef>
                <a:spcPct val="20000"/>
              </a:spcBef>
              <a:buClr>
                <a:schemeClr val="accent2"/>
              </a:buClr>
              <a:buSzPct val="80000"/>
              <a:buFont typeface="Wingdings" panose="05000000000000000000" pitchFamily="2" charset="2"/>
              <a:buNone/>
              <a:defRPr/>
            </a:pPr>
            <a:r>
              <a:rPr lang="en-US" altLang="zh-CN" b="1" dirty="0">
                <a:latin typeface="+mn-lt"/>
                <a:ea typeface="+mj-ea"/>
              </a:rPr>
              <a:t>x = 5   y = 10</a:t>
            </a:r>
            <a:endParaRPr lang="en-US" altLang="zh-CN" b="1" dirty="0">
              <a:latin typeface="+mn-lt"/>
              <a:ea typeface="+mj-ea"/>
            </a:endParaRPr>
          </a:p>
          <a:p>
            <a:pPr algn="l">
              <a:spcBef>
                <a:spcPct val="20000"/>
              </a:spcBef>
              <a:buClr>
                <a:schemeClr val="accent2"/>
              </a:buClr>
              <a:buSzPct val="80000"/>
              <a:buFont typeface="Wingdings" panose="05000000000000000000" pitchFamily="2" charset="2"/>
              <a:buNone/>
              <a:defRPr/>
            </a:pPr>
            <a:r>
              <a:rPr lang="en-US" altLang="zh-CN" b="1" dirty="0">
                <a:latin typeface="+mn-lt"/>
                <a:ea typeface="+mj-ea"/>
              </a:rPr>
              <a:t>x = 10  y = 5</a:t>
            </a:r>
            <a:endParaRPr lang="en-US" altLang="zh-CN" b="1" dirty="0">
              <a:latin typeface="+mn-lt"/>
              <a:ea typeface="+mj-ea"/>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054600" y="533400"/>
            <a:ext cx="3251200" cy="2411413"/>
            <a:chOff x="3184" y="1488"/>
            <a:chExt cx="2048" cy="1519"/>
          </a:xfrm>
        </p:grpSpPr>
        <p:sp>
          <p:nvSpPr>
            <p:cNvPr id="62553" name="Text Box 3"/>
            <p:cNvSpPr txBox="1">
              <a:spLocks noChangeArrowheads="1"/>
            </p:cNvSpPr>
            <p:nvPr/>
          </p:nvSpPr>
          <p:spPr bwMode="auto">
            <a:xfrm>
              <a:off x="3888" y="1488"/>
              <a:ext cx="768" cy="327"/>
            </a:xfrm>
            <a:prstGeom prst="rect">
              <a:avLst/>
            </a:prstGeom>
            <a:noFill/>
            <a:ln w="9525">
              <a:noFill/>
              <a:miter lim="800000"/>
            </a:ln>
          </p:spPr>
          <p:txBody>
            <a:bodyPr>
              <a:spAutoFit/>
            </a:bodyPr>
            <a:lstStyle/>
            <a:p>
              <a:pPr>
                <a:spcBef>
                  <a:spcPct val="50000"/>
                </a:spcBef>
              </a:pPr>
              <a:r>
                <a:rPr lang="en-US" altLang="zh-CN" sz="2800">
                  <a:latin typeface="+mn-lt"/>
                  <a:ea typeface="+mj-ea"/>
                </a:rPr>
                <a:t>t=a;</a:t>
              </a:r>
              <a:endParaRPr lang="en-US" altLang="zh-CN" sz="2800">
                <a:latin typeface="+mn-lt"/>
                <a:ea typeface="+mj-ea"/>
              </a:endParaRPr>
            </a:p>
          </p:txBody>
        </p:sp>
        <p:grpSp>
          <p:nvGrpSpPr>
            <p:cNvPr id="3" name="Group 4"/>
            <p:cNvGrpSpPr/>
            <p:nvPr/>
          </p:nvGrpSpPr>
          <p:grpSpPr bwMode="auto">
            <a:xfrm>
              <a:off x="3411" y="1815"/>
              <a:ext cx="573" cy="503"/>
              <a:chOff x="3387" y="1815"/>
              <a:chExt cx="573" cy="503"/>
            </a:xfrm>
          </p:grpSpPr>
          <p:sp>
            <p:nvSpPr>
              <p:cNvPr id="62564" name="Rectangle 5"/>
              <p:cNvSpPr>
                <a:spLocks noChangeArrowheads="1"/>
              </p:cNvSpPr>
              <p:nvPr/>
            </p:nvSpPr>
            <p:spPr bwMode="auto">
              <a:xfrm>
                <a:off x="3387" y="1824"/>
                <a:ext cx="573" cy="230"/>
              </a:xfrm>
              <a:prstGeom prst="rect">
                <a:avLst/>
              </a:prstGeom>
              <a:solidFill>
                <a:srgbClr val="FFFFFF"/>
              </a:solidFill>
              <a:ln w="12700">
                <a:solidFill>
                  <a:schemeClr val="tx1"/>
                </a:solidFill>
                <a:miter lim="800000"/>
              </a:ln>
            </p:spPr>
            <p:txBody>
              <a:bodyPr/>
              <a:lstStyle/>
              <a:p>
                <a:endParaRPr lang="zh-CN" altLang="zh-CN">
                  <a:latin typeface="+mn-lt"/>
                  <a:ea typeface="+mj-ea"/>
                </a:endParaRPr>
              </a:p>
            </p:txBody>
          </p:sp>
          <p:sp>
            <p:nvSpPr>
              <p:cNvPr id="62565" name="Rectangle 6"/>
              <p:cNvSpPr>
                <a:spLocks noChangeArrowheads="1"/>
              </p:cNvSpPr>
              <p:nvPr/>
            </p:nvSpPr>
            <p:spPr bwMode="auto">
              <a:xfrm>
                <a:off x="3629" y="2047"/>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x</a:t>
                </a:r>
                <a:endParaRPr lang="en-US" altLang="zh-CN" sz="3200">
                  <a:latin typeface="+mn-lt"/>
                  <a:ea typeface="+mj-ea"/>
                </a:endParaRPr>
              </a:p>
            </p:txBody>
          </p:sp>
          <p:sp>
            <p:nvSpPr>
              <p:cNvPr id="62566" name="Rectangle 7"/>
              <p:cNvSpPr>
                <a:spLocks noChangeArrowheads="1"/>
              </p:cNvSpPr>
              <p:nvPr/>
            </p:nvSpPr>
            <p:spPr bwMode="auto">
              <a:xfrm>
                <a:off x="3641" y="1815"/>
                <a:ext cx="98" cy="233"/>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5</a:t>
                </a:r>
                <a:endParaRPr lang="en-US" altLang="zh-CN" b="1" dirty="0">
                  <a:solidFill>
                    <a:srgbClr val="000000"/>
                  </a:solidFill>
                  <a:latin typeface="+mn-lt"/>
                  <a:ea typeface="+mj-ea"/>
                </a:endParaRPr>
              </a:p>
            </p:txBody>
          </p:sp>
        </p:grpSp>
        <p:grpSp>
          <p:nvGrpSpPr>
            <p:cNvPr id="4" name="Group 8"/>
            <p:cNvGrpSpPr/>
            <p:nvPr/>
          </p:nvGrpSpPr>
          <p:grpSpPr bwMode="auto">
            <a:xfrm>
              <a:off x="4660" y="1815"/>
              <a:ext cx="572" cy="555"/>
              <a:chOff x="4126" y="1815"/>
              <a:chExt cx="572" cy="555"/>
            </a:xfrm>
          </p:grpSpPr>
          <p:sp>
            <p:nvSpPr>
              <p:cNvPr id="62561" name="Rectangle 9"/>
              <p:cNvSpPr>
                <a:spLocks noChangeArrowheads="1"/>
              </p:cNvSpPr>
              <p:nvPr/>
            </p:nvSpPr>
            <p:spPr bwMode="auto">
              <a:xfrm>
                <a:off x="4126" y="1824"/>
                <a:ext cx="572" cy="230"/>
              </a:xfrm>
              <a:prstGeom prst="rect">
                <a:avLst/>
              </a:prstGeom>
              <a:solidFill>
                <a:srgbClr val="FFFFFF"/>
              </a:solidFill>
              <a:ln w="12700">
                <a:solidFill>
                  <a:schemeClr val="tx1"/>
                </a:solidFill>
                <a:miter lim="800000"/>
              </a:ln>
            </p:spPr>
            <p:txBody>
              <a:bodyPr/>
              <a:lstStyle/>
              <a:p>
                <a:endParaRPr lang="zh-CN" altLang="en-US">
                  <a:latin typeface="+mn-lt"/>
                  <a:ea typeface="+mj-ea"/>
                </a:endParaRPr>
              </a:p>
            </p:txBody>
          </p:sp>
          <p:sp>
            <p:nvSpPr>
              <p:cNvPr id="62562" name="Rectangle 10"/>
              <p:cNvSpPr>
                <a:spLocks noChangeArrowheads="1"/>
              </p:cNvSpPr>
              <p:nvPr/>
            </p:nvSpPr>
            <p:spPr bwMode="auto">
              <a:xfrm>
                <a:off x="4396" y="2060"/>
                <a:ext cx="72" cy="310"/>
              </a:xfrm>
              <a:prstGeom prst="rect">
                <a:avLst/>
              </a:prstGeom>
              <a:noFill/>
              <a:ln w="9525">
                <a:noFill/>
                <a:miter lim="800000"/>
              </a:ln>
            </p:spPr>
            <p:txBody>
              <a:bodyPr wrap="none" lIns="0" tIns="0" rIns="0" bIns="0">
                <a:spAutoFit/>
              </a:bodyPr>
              <a:lstStyle/>
              <a:p>
                <a:pPr algn="just"/>
                <a:r>
                  <a:rPr lang="en-US" altLang="zh-CN" sz="3200">
                    <a:latin typeface="+mn-lt"/>
                    <a:ea typeface="+mj-ea"/>
                  </a:rPr>
                  <a:t>t</a:t>
                </a:r>
                <a:endParaRPr lang="en-US" altLang="zh-CN" sz="3200">
                  <a:latin typeface="+mn-lt"/>
                  <a:ea typeface="+mj-ea"/>
                </a:endParaRPr>
              </a:p>
            </p:txBody>
          </p:sp>
          <p:sp>
            <p:nvSpPr>
              <p:cNvPr id="62563" name="Rectangle 11"/>
              <p:cNvSpPr>
                <a:spLocks noChangeArrowheads="1"/>
              </p:cNvSpPr>
              <p:nvPr/>
            </p:nvSpPr>
            <p:spPr bwMode="auto">
              <a:xfrm>
                <a:off x="4366" y="1815"/>
                <a:ext cx="98"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5</a:t>
                </a:r>
                <a:endParaRPr lang="en-US" altLang="zh-CN" b="1">
                  <a:solidFill>
                    <a:srgbClr val="000000"/>
                  </a:solidFill>
                  <a:latin typeface="+mn-lt"/>
                  <a:ea typeface="+mj-ea"/>
                </a:endParaRPr>
              </a:p>
            </p:txBody>
          </p:sp>
        </p:grpSp>
        <p:sp>
          <p:nvSpPr>
            <p:cNvPr id="62556" name="Rectangle 12"/>
            <p:cNvSpPr>
              <a:spLocks noChangeArrowheads="1"/>
            </p:cNvSpPr>
            <p:nvPr/>
          </p:nvSpPr>
          <p:spPr bwMode="auto">
            <a:xfrm>
              <a:off x="3184" y="2398"/>
              <a:ext cx="802" cy="344"/>
            </a:xfrm>
            <a:prstGeom prst="rect">
              <a:avLst/>
            </a:prstGeom>
            <a:solidFill>
              <a:srgbClr val="FFFFFF"/>
            </a:solidFill>
            <a:ln w="12700">
              <a:noFill/>
              <a:miter lim="800000"/>
            </a:ln>
          </p:spPr>
          <p:txBody>
            <a:bodyPr/>
            <a:lstStyle/>
            <a:p>
              <a:endParaRPr lang="zh-CN" altLang="en-US">
                <a:latin typeface="+mn-lt"/>
                <a:ea typeface="+mj-ea"/>
              </a:endParaRPr>
            </a:p>
          </p:txBody>
        </p:sp>
        <p:sp>
          <p:nvSpPr>
            <p:cNvPr id="62557" name="Rectangle 13"/>
            <p:cNvSpPr>
              <a:spLocks noChangeArrowheads="1"/>
            </p:cNvSpPr>
            <p:nvPr/>
          </p:nvSpPr>
          <p:spPr bwMode="auto">
            <a:xfrm>
              <a:off x="3249" y="2479"/>
              <a:ext cx="730"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x </a:t>
              </a:r>
              <a:r>
                <a:rPr lang="zh-CN" altLang="zh-CN" b="1">
                  <a:solidFill>
                    <a:srgbClr val="000000"/>
                  </a:solidFill>
                  <a:latin typeface="+mn-lt"/>
                  <a:ea typeface="+mj-ea"/>
                </a:rPr>
                <a:t>的</a:t>
              </a:r>
              <a:r>
                <a:rPr lang="zh-CN" altLang="en-US" b="1">
                  <a:solidFill>
                    <a:srgbClr val="000000"/>
                  </a:solidFill>
                  <a:latin typeface="+mn-lt"/>
                  <a:ea typeface="+mj-ea"/>
                </a:rPr>
                <a:t>引用</a:t>
              </a:r>
              <a:endParaRPr lang="zh-CN" altLang="en-US" b="1">
                <a:solidFill>
                  <a:srgbClr val="000000"/>
                </a:solidFill>
                <a:latin typeface="+mn-lt"/>
                <a:ea typeface="+mj-ea"/>
              </a:endParaRPr>
            </a:p>
          </p:txBody>
        </p:sp>
        <p:sp>
          <p:nvSpPr>
            <p:cNvPr id="62558" name="Rectangle 14"/>
            <p:cNvSpPr>
              <a:spLocks noChangeArrowheads="1"/>
            </p:cNvSpPr>
            <p:nvPr/>
          </p:nvSpPr>
          <p:spPr bwMode="auto">
            <a:xfrm>
              <a:off x="3578" y="2736"/>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a</a:t>
              </a:r>
              <a:endParaRPr lang="en-US" altLang="zh-CN">
                <a:latin typeface="+mn-lt"/>
                <a:ea typeface="+mj-ea"/>
              </a:endParaRPr>
            </a:p>
          </p:txBody>
        </p:sp>
        <p:sp>
          <p:nvSpPr>
            <p:cNvPr id="62559" name="Line 15"/>
            <p:cNvSpPr>
              <a:spLocks noChangeShapeType="1"/>
            </p:cNvSpPr>
            <p:nvPr/>
          </p:nvSpPr>
          <p:spPr bwMode="auto">
            <a:xfrm flipV="1">
              <a:off x="3552" y="2064"/>
              <a:ext cx="0" cy="336"/>
            </a:xfrm>
            <a:prstGeom prst="line">
              <a:avLst/>
            </a:prstGeom>
            <a:noFill/>
            <a:ln w="9525">
              <a:solidFill>
                <a:schemeClr val="tx1"/>
              </a:solidFill>
              <a:round/>
              <a:tailEnd type="stealth" w="lg" len="lg"/>
            </a:ln>
          </p:spPr>
          <p:txBody>
            <a:bodyPr wrap="none" anchor="ctr"/>
            <a:lstStyle/>
            <a:p>
              <a:endParaRPr lang="zh-CN" altLang="en-US">
                <a:latin typeface="+mn-lt"/>
                <a:ea typeface="+mj-ea"/>
              </a:endParaRPr>
            </a:p>
          </p:txBody>
        </p:sp>
        <p:sp>
          <p:nvSpPr>
            <p:cNvPr id="62560" name="Line 16"/>
            <p:cNvSpPr>
              <a:spLocks noChangeShapeType="1"/>
            </p:cNvSpPr>
            <p:nvPr/>
          </p:nvSpPr>
          <p:spPr bwMode="auto">
            <a:xfrm>
              <a:off x="3984" y="1942"/>
              <a:ext cx="672" cy="0"/>
            </a:xfrm>
            <a:prstGeom prst="line">
              <a:avLst/>
            </a:prstGeom>
            <a:noFill/>
            <a:ln w="9525">
              <a:solidFill>
                <a:schemeClr val="tx1"/>
              </a:solidFill>
              <a:prstDash val="dash"/>
              <a:round/>
              <a:tailEnd type="triangle" w="lg" len="lg"/>
            </a:ln>
          </p:spPr>
          <p:txBody>
            <a:bodyPr wrap="none" anchor="ctr"/>
            <a:lstStyle/>
            <a:p>
              <a:endParaRPr lang="zh-CN" altLang="en-US">
                <a:latin typeface="+mn-lt"/>
                <a:ea typeface="+mj-ea"/>
              </a:endParaRPr>
            </a:p>
          </p:txBody>
        </p:sp>
      </p:grpSp>
      <p:grpSp>
        <p:nvGrpSpPr>
          <p:cNvPr id="5" name="Group 17"/>
          <p:cNvGrpSpPr/>
          <p:nvPr/>
        </p:nvGrpSpPr>
        <p:grpSpPr bwMode="auto">
          <a:xfrm>
            <a:off x="514350" y="1117600"/>
            <a:ext cx="4087813" cy="1884363"/>
            <a:chOff x="324" y="704"/>
            <a:chExt cx="2575" cy="1187"/>
          </a:xfrm>
        </p:grpSpPr>
        <p:sp>
          <p:nvSpPr>
            <p:cNvPr id="62526" name="Rectangle 18"/>
            <p:cNvSpPr>
              <a:spLocks noChangeArrowheads="1"/>
            </p:cNvSpPr>
            <p:nvPr/>
          </p:nvSpPr>
          <p:spPr bwMode="auto">
            <a:xfrm>
              <a:off x="939" y="704"/>
              <a:ext cx="573" cy="230"/>
            </a:xfrm>
            <a:prstGeom prst="rect">
              <a:avLst/>
            </a:prstGeom>
            <a:solidFill>
              <a:srgbClr val="FFFFFF"/>
            </a:solidFill>
            <a:ln w="12700">
              <a:solidFill>
                <a:schemeClr val="tx1"/>
              </a:solidFill>
              <a:miter lim="800000"/>
            </a:ln>
          </p:spPr>
          <p:txBody>
            <a:bodyPr/>
            <a:lstStyle/>
            <a:p>
              <a:endParaRPr lang="zh-CN" altLang="zh-CN">
                <a:solidFill>
                  <a:srgbClr val="000000"/>
                </a:solidFill>
                <a:latin typeface="+mn-lt"/>
                <a:ea typeface="+mj-ea"/>
              </a:endParaRPr>
            </a:p>
          </p:txBody>
        </p:sp>
        <p:sp>
          <p:nvSpPr>
            <p:cNvPr id="62527" name="Rectangle 19"/>
            <p:cNvSpPr>
              <a:spLocks noChangeArrowheads="1"/>
            </p:cNvSpPr>
            <p:nvPr/>
          </p:nvSpPr>
          <p:spPr bwMode="auto">
            <a:xfrm>
              <a:off x="1678" y="704"/>
              <a:ext cx="572" cy="230"/>
            </a:xfrm>
            <a:prstGeom prst="rect">
              <a:avLst/>
            </a:prstGeom>
            <a:solidFill>
              <a:srgbClr val="FFFFFF"/>
            </a:solidFill>
            <a:ln w="12700">
              <a:solidFill>
                <a:schemeClr val="tx1"/>
              </a:solidFill>
              <a:miter lim="800000"/>
            </a:ln>
          </p:spPr>
          <p:txBody>
            <a:bodyPr/>
            <a:lstStyle/>
            <a:p>
              <a:endParaRPr lang="zh-CN" altLang="en-US">
                <a:solidFill>
                  <a:srgbClr val="000000"/>
                </a:solidFill>
                <a:latin typeface="+mn-lt"/>
                <a:ea typeface="+mj-ea"/>
              </a:endParaRPr>
            </a:p>
          </p:txBody>
        </p:sp>
        <p:sp>
          <p:nvSpPr>
            <p:cNvPr id="62528" name="Rectangle 20"/>
            <p:cNvSpPr>
              <a:spLocks noChangeArrowheads="1"/>
            </p:cNvSpPr>
            <p:nvPr/>
          </p:nvSpPr>
          <p:spPr bwMode="auto">
            <a:xfrm>
              <a:off x="1181" y="927"/>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x</a:t>
              </a:r>
              <a:endParaRPr lang="en-US" altLang="zh-CN" sz="3200">
                <a:latin typeface="+mn-lt"/>
                <a:ea typeface="+mj-ea"/>
              </a:endParaRPr>
            </a:p>
          </p:txBody>
        </p:sp>
        <p:sp>
          <p:nvSpPr>
            <p:cNvPr id="62529" name="Rectangle 21"/>
            <p:cNvSpPr>
              <a:spLocks noChangeArrowheads="1"/>
            </p:cNvSpPr>
            <p:nvPr/>
          </p:nvSpPr>
          <p:spPr bwMode="auto">
            <a:xfrm>
              <a:off x="1919" y="940"/>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y</a:t>
              </a:r>
              <a:endParaRPr lang="en-US" altLang="zh-CN" sz="3200">
                <a:latin typeface="+mn-lt"/>
                <a:ea typeface="+mj-ea"/>
              </a:endParaRPr>
            </a:p>
          </p:txBody>
        </p:sp>
        <p:sp>
          <p:nvSpPr>
            <p:cNvPr id="62530" name="Rectangle 22"/>
            <p:cNvSpPr>
              <a:spLocks noChangeArrowheads="1"/>
            </p:cNvSpPr>
            <p:nvPr/>
          </p:nvSpPr>
          <p:spPr bwMode="auto">
            <a:xfrm>
              <a:off x="1193" y="723"/>
              <a:ext cx="98" cy="233"/>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5</a:t>
              </a:r>
              <a:endParaRPr lang="en-US" altLang="zh-CN" b="1" dirty="0">
                <a:solidFill>
                  <a:srgbClr val="000000"/>
                </a:solidFill>
                <a:latin typeface="+mn-lt"/>
                <a:ea typeface="+mj-ea"/>
              </a:endParaRPr>
            </a:p>
          </p:txBody>
        </p:sp>
        <p:grpSp>
          <p:nvGrpSpPr>
            <p:cNvPr id="6" name="Group 23"/>
            <p:cNvGrpSpPr/>
            <p:nvPr/>
          </p:nvGrpSpPr>
          <p:grpSpPr bwMode="auto">
            <a:xfrm>
              <a:off x="2562" y="1412"/>
              <a:ext cx="318" cy="97"/>
              <a:chOff x="11584" y="10370"/>
              <a:chExt cx="458" cy="140"/>
            </a:xfrm>
          </p:grpSpPr>
          <p:sp>
            <p:nvSpPr>
              <p:cNvPr id="62551" name="Freeform 24"/>
              <p:cNvSpPr/>
              <p:nvPr/>
            </p:nvSpPr>
            <p:spPr bwMode="auto">
              <a:xfrm>
                <a:off x="11584" y="10370"/>
                <a:ext cx="279" cy="140"/>
              </a:xfrm>
              <a:custGeom>
                <a:avLst/>
                <a:gdLst>
                  <a:gd name="T0" fmla="*/ 0 w 279"/>
                  <a:gd name="T1" fmla="*/ 80 h 140"/>
                  <a:gd name="T2" fmla="*/ 279 w 279"/>
                  <a:gd name="T3" fmla="*/ 0 h 140"/>
                  <a:gd name="T4" fmla="*/ 279 w 279"/>
                  <a:gd name="T5" fmla="*/ 80 h 140"/>
                  <a:gd name="T6" fmla="*/ 279 w 279"/>
                  <a:gd name="T7" fmla="*/ 140 h 140"/>
                  <a:gd name="T8" fmla="*/ 0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0" y="80"/>
                    </a:moveTo>
                    <a:lnTo>
                      <a:pt x="279" y="0"/>
                    </a:lnTo>
                    <a:lnTo>
                      <a:pt x="279" y="80"/>
                    </a:lnTo>
                    <a:lnTo>
                      <a:pt x="279" y="140"/>
                    </a:lnTo>
                    <a:lnTo>
                      <a:pt x="0"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52" name="Line 25"/>
              <p:cNvSpPr>
                <a:spLocks noChangeShapeType="1"/>
              </p:cNvSpPr>
              <p:nvPr/>
            </p:nvSpPr>
            <p:spPr bwMode="auto">
              <a:xfrm>
                <a:off x="11863" y="10449"/>
                <a:ext cx="179" cy="0"/>
              </a:xfrm>
              <a:prstGeom prst="line">
                <a:avLst/>
              </a:prstGeom>
              <a:noFill/>
              <a:ln w="12700">
                <a:solidFill>
                  <a:schemeClr val="tx1"/>
                </a:solidFill>
                <a:round/>
              </a:ln>
            </p:spPr>
            <p:txBody>
              <a:bodyPr/>
              <a:lstStyle/>
              <a:p>
                <a:endParaRPr lang="zh-CN" altLang="en-US">
                  <a:latin typeface="+mn-lt"/>
                  <a:ea typeface="+mj-ea"/>
                </a:endParaRPr>
              </a:p>
            </p:txBody>
          </p:sp>
        </p:grpSp>
        <p:sp>
          <p:nvSpPr>
            <p:cNvPr id="62532" name="Line 26"/>
            <p:cNvSpPr>
              <a:spLocks noChangeShapeType="1"/>
            </p:cNvSpPr>
            <p:nvPr/>
          </p:nvSpPr>
          <p:spPr bwMode="auto">
            <a:xfrm flipV="1">
              <a:off x="2880" y="838"/>
              <a:ext cx="0" cy="625"/>
            </a:xfrm>
            <a:prstGeom prst="line">
              <a:avLst/>
            </a:prstGeom>
            <a:noFill/>
            <a:ln w="12700">
              <a:solidFill>
                <a:schemeClr val="tx1"/>
              </a:solidFill>
              <a:round/>
            </a:ln>
          </p:spPr>
          <p:txBody>
            <a:bodyPr/>
            <a:lstStyle/>
            <a:p>
              <a:endParaRPr lang="zh-CN" altLang="en-US">
                <a:latin typeface="+mn-lt"/>
                <a:ea typeface="+mj-ea"/>
              </a:endParaRPr>
            </a:p>
          </p:txBody>
        </p:sp>
        <p:grpSp>
          <p:nvGrpSpPr>
            <p:cNvPr id="7" name="Group 27"/>
            <p:cNvGrpSpPr/>
            <p:nvPr/>
          </p:nvGrpSpPr>
          <p:grpSpPr bwMode="auto">
            <a:xfrm>
              <a:off x="2478" y="786"/>
              <a:ext cx="421" cy="90"/>
              <a:chOff x="11425" y="9389"/>
              <a:chExt cx="657" cy="140"/>
            </a:xfrm>
          </p:grpSpPr>
          <p:sp>
            <p:nvSpPr>
              <p:cNvPr id="62549" name="Freeform 28"/>
              <p:cNvSpPr/>
              <p:nvPr/>
            </p:nvSpPr>
            <p:spPr bwMode="auto">
              <a:xfrm>
                <a:off x="11425" y="9389"/>
                <a:ext cx="278" cy="140"/>
              </a:xfrm>
              <a:custGeom>
                <a:avLst/>
                <a:gdLst>
                  <a:gd name="T0" fmla="*/ 0 w 278"/>
                  <a:gd name="T1" fmla="*/ 80 h 140"/>
                  <a:gd name="T2" fmla="*/ 278 w 278"/>
                  <a:gd name="T3" fmla="*/ 0 h 140"/>
                  <a:gd name="T4" fmla="*/ 278 w 278"/>
                  <a:gd name="T5" fmla="*/ 80 h 140"/>
                  <a:gd name="T6" fmla="*/ 278 w 278"/>
                  <a:gd name="T7" fmla="*/ 140 h 140"/>
                  <a:gd name="T8" fmla="*/ 0 w 278"/>
                  <a:gd name="T9" fmla="*/ 80 h 140"/>
                  <a:gd name="T10" fmla="*/ 0 60000 65536"/>
                  <a:gd name="T11" fmla="*/ 0 60000 65536"/>
                  <a:gd name="T12" fmla="*/ 0 60000 65536"/>
                  <a:gd name="T13" fmla="*/ 0 60000 65536"/>
                  <a:gd name="T14" fmla="*/ 0 60000 65536"/>
                  <a:gd name="T15" fmla="*/ 0 w 278"/>
                  <a:gd name="T16" fmla="*/ 0 h 140"/>
                  <a:gd name="T17" fmla="*/ 278 w 278"/>
                  <a:gd name="T18" fmla="*/ 140 h 140"/>
                </a:gdLst>
                <a:ahLst/>
                <a:cxnLst>
                  <a:cxn ang="T10">
                    <a:pos x="T0" y="T1"/>
                  </a:cxn>
                  <a:cxn ang="T11">
                    <a:pos x="T2" y="T3"/>
                  </a:cxn>
                  <a:cxn ang="T12">
                    <a:pos x="T4" y="T5"/>
                  </a:cxn>
                  <a:cxn ang="T13">
                    <a:pos x="T6" y="T7"/>
                  </a:cxn>
                  <a:cxn ang="T14">
                    <a:pos x="T8" y="T9"/>
                  </a:cxn>
                </a:cxnLst>
                <a:rect l="T15" t="T16" r="T17" b="T18"/>
                <a:pathLst>
                  <a:path w="278" h="140">
                    <a:moveTo>
                      <a:pt x="0" y="80"/>
                    </a:moveTo>
                    <a:lnTo>
                      <a:pt x="278" y="0"/>
                    </a:lnTo>
                    <a:lnTo>
                      <a:pt x="278" y="80"/>
                    </a:lnTo>
                    <a:lnTo>
                      <a:pt x="278" y="140"/>
                    </a:lnTo>
                    <a:lnTo>
                      <a:pt x="0"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50" name="Line 29"/>
              <p:cNvSpPr>
                <a:spLocks noChangeShapeType="1"/>
              </p:cNvSpPr>
              <p:nvPr/>
            </p:nvSpPr>
            <p:spPr bwMode="auto">
              <a:xfrm flipH="1">
                <a:off x="11703" y="9468"/>
                <a:ext cx="379" cy="2"/>
              </a:xfrm>
              <a:prstGeom prst="line">
                <a:avLst/>
              </a:prstGeom>
              <a:noFill/>
              <a:ln w="12700">
                <a:solidFill>
                  <a:schemeClr val="tx1"/>
                </a:solidFill>
                <a:round/>
              </a:ln>
            </p:spPr>
            <p:txBody>
              <a:bodyPr/>
              <a:lstStyle/>
              <a:p>
                <a:endParaRPr lang="zh-CN" altLang="en-US">
                  <a:latin typeface="+mn-lt"/>
                  <a:ea typeface="+mj-ea"/>
                </a:endParaRPr>
              </a:p>
            </p:txBody>
          </p:sp>
        </p:grpSp>
        <p:sp>
          <p:nvSpPr>
            <p:cNvPr id="62534" name="Rectangle 30"/>
            <p:cNvSpPr>
              <a:spLocks noChangeArrowheads="1"/>
            </p:cNvSpPr>
            <p:nvPr/>
          </p:nvSpPr>
          <p:spPr bwMode="auto">
            <a:xfrm>
              <a:off x="1922" y="723"/>
              <a:ext cx="196"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10</a:t>
              </a:r>
              <a:endParaRPr lang="en-US" altLang="zh-CN" b="1">
                <a:solidFill>
                  <a:srgbClr val="000000"/>
                </a:solidFill>
                <a:latin typeface="+mn-lt"/>
                <a:ea typeface="+mj-ea"/>
              </a:endParaRPr>
            </a:p>
          </p:txBody>
        </p:sp>
        <p:grpSp>
          <p:nvGrpSpPr>
            <p:cNvPr id="8" name="Group 31"/>
            <p:cNvGrpSpPr/>
            <p:nvPr/>
          </p:nvGrpSpPr>
          <p:grpSpPr bwMode="auto">
            <a:xfrm>
              <a:off x="731" y="1279"/>
              <a:ext cx="1717" cy="612"/>
              <a:chOff x="8725" y="10160"/>
              <a:chExt cx="2690" cy="962"/>
            </a:xfrm>
          </p:grpSpPr>
          <p:sp>
            <p:nvSpPr>
              <p:cNvPr id="62543" name="Rectangle 32"/>
              <p:cNvSpPr>
                <a:spLocks noChangeArrowheads="1"/>
              </p:cNvSpPr>
              <p:nvPr/>
            </p:nvSpPr>
            <p:spPr bwMode="auto">
              <a:xfrm>
                <a:off x="8725" y="10160"/>
                <a:ext cx="1255" cy="541"/>
              </a:xfrm>
              <a:prstGeom prst="rect">
                <a:avLst/>
              </a:prstGeom>
              <a:solidFill>
                <a:srgbClr val="FFFFFF"/>
              </a:solidFill>
              <a:ln w="12700">
                <a:noFill/>
                <a:miter lim="800000"/>
              </a:ln>
            </p:spPr>
            <p:txBody>
              <a:bodyPr/>
              <a:lstStyle/>
              <a:p>
                <a:endParaRPr lang="zh-CN" altLang="en-US">
                  <a:latin typeface="+mn-lt"/>
                  <a:ea typeface="+mj-ea"/>
                </a:endParaRPr>
              </a:p>
            </p:txBody>
          </p:sp>
          <p:sp>
            <p:nvSpPr>
              <p:cNvPr id="62544" name="Rectangle 33"/>
              <p:cNvSpPr>
                <a:spLocks noChangeArrowheads="1"/>
              </p:cNvSpPr>
              <p:nvPr/>
            </p:nvSpPr>
            <p:spPr bwMode="auto">
              <a:xfrm>
                <a:off x="10159" y="10160"/>
                <a:ext cx="1256" cy="541"/>
              </a:xfrm>
              <a:prstGeom prst="rect">
                <a:avLst/>
              </a:prstGeom>
              <a:solidFill>
                <a:srgbClr val="FFFFFF"/>
              </a:solidFill>
              <a:ln w="12700">
                <a:noFill/>
                <a:miter lim="800000"/>
              </a:ln>
            </p:spPr>
            <p:txBody>
              <a:bodyPr/>
              <a:lstStyle/>
              <a:p>
                <a:endParaRPr lang="zh-CN" altLang="en-US">
                  <a:latin typeface="+mn-lt"/>
                  <a:ea typeface="+mj-ea"/>
                </a:endParaRPr>
              </a:p>
            </p:txBody>
          </p:sp>
          <p:sp>
            <p:nvSpPr>
              <p:cNvPr id="62545" name="Rectangle 34"/>
              <p:cNvSpPr>
                <a:spLocks noChangeArrowheads="1"/>
              </p:cNvSpPr>
              <p:nvPr/>
            </p:nvSpPr>
            <p:spPr bwMode="auto">
              <a:xfrm>
                <a:off x="10258" y="10281"/>
                <a:ext cx="1144" cy="366"/>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y </a:t>
                </a:r>
                <a:r>
                  <a:rPr lang="zh-CN" altLang="en-US" b="1">
                    <a:solidFill>
                      <a:srgbClr val="000000"/>
                    </a:solidFill>
                    <a:latin typeface="+mn-lt"/>
                    <a:ea typeface="+mj-ea"/>
                  </a:rPr>
                  <a:t>的引用</a:t>
                </a:r>
                <a:endParaRPr lang="zh-CN" altLang="en-US" b="1">
                  <a:solidFill>
                    <a:srgbClr val="000000"/>
                  </a:solidFill>
                  <a:latin typeface="+mn-lt"/>
                  <a:ea typeface="+mj-ea"/>
                </a:endParaRPr>
              </a:p>
            </p:txBody>
          </p:sp>
          <p:sp>
            <p:nvSpPr>
              <p:cNvPr id="62546" name="Rectangle 35"/>
              <p:cNvSpPr>
                <a:spLocks noChangeArrowheads="1"/>
              </p:cNvSpPr>
              <p:nvPr/>
            </p:nvSpPr>
            <p:spPr bwMode="auto">
              <a:xfrm>
                <a:off x="8826" y="10260"/>
                <a:ext cx="1144" cy="366"/>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x </a:t>
                </a:r>
                <a:r>
                  <a:rPr lang="zh-CN" altLang="zh-CN" b="1">
                    <a:solidFill>
                      <a:srgbClr val="000000"/>
                    </a:solidFill>
                    <a:latin typeface="+mn-lt"/>
                    <a:ea typeface="+mj-ea"/>
                  </a:rPr>
                  <a:t>的</a:t>
                </a:r>
                <a:r>
                  <a:rPr lang="zh-CN" altLang="en-US" b="1">
                    <a:solidFill>
                      <a:srgbClr val="000000"/>
                    </a:solidFill>
                    <a:latin typeface="+mn-lt"/>
                    <a:ea typeface="+mj-ea"/>
                  </a:rPr>
                  <a:t>引用</a:t>
                </a:r>
                <a:endParaRPr lang="zh-CN" altLang="en-US" b="1">
                  <a:solidFill>
                    <a:srgbClr val="000000"/>
                  </a:solidFill>
                  <a:latin typeface="+mn-lt"/>
                  <a:ea typeface="+mj-ea"/>
                </a:endParaRPr>
              </a:p>
            </p:txBody>
          </p:sp>
          <p:sp>
            <p:nvSpPr>
              <p:cNvPr id="62547" name="Rectangle 36"/>
              <p:cNvSpPr>
                <a:spLocks noChangeArrowheads="1"/>
              </p:cNvSpPr>
              <p:nvPr/>
            </p:nvSpPr>
            <p:spPr bwMode="auto">
              <a:xfrm>
                <a:off x="9341" y="10683"/>
                <a:ext cx="179" cy="426"/>
              </a:xfrm>
              <a:prstGeom prst="rect">
                <a:avLst/>
              </a:prstGeom>
              <a:noFill/>
              <a:ln w="9525">
                <a:noFill/>
                <a:miter lim="800000"/>
              </a:ln>
            </p:spPr>
            <p:txBody>
              <a:bodyPr wrap="none" lIns="0" tIns="0" rIns="0" bIns="0">
                <a:spAutoFit/>
              </a:bodyPr>
              <a:lstStyle/>
              <a:p>
                <a:pPr algn="just"/>
                <a:r>
                  <a:rPr lang="en-US" altLang="zh-CN" sz="2800" b="1">
                    <a:latin typeface="+mn-lt"/>
                    <a:ea typeface="+mj-ea"/>
                  </a:rPr>
                  <a:t>a</a:t>
                </a:r>
                <a:endParaRPr lang="en-US" altLang="zh-CN">
                  <a:latin typeface="+mn-lt"/>
                  <a:ea typeface="+mj-ea"/>
                </a:endParaRPr>
              </a:p>
            </p:txBody>
          </p:sp>
          <p:sp>
            <p:nvSpPr>
              <p:cNvPr id="62548" name="Rectangle 37"/>
              <p:cNvSpPr>
                <a:spLocks noChangeArrowheads="1"/>
              </p:cNvSpPr>
              <p:nvPr/>
            </p:nvSpPr>
            <p:spPr bwMode="auto">
              <a:xfrm>
                <a:off x="10765" y="10695"/>
                <a:ext cx="198" cy="427"/>
              </a:xfrm>
              <a:prstGeom prst="rect">
                <a:avLst/>
              </a:prstGeom>
              <a:noFill/>
              <a:ln w="9525">
                <a:noFill/>
                <a:miter lim="800000"/>
              </a:ln>
            </p:spPr>
            <p:txBody>
              <a:bodyPr wrap="none" lIns="0" tIns="0" rIns="0" bIns="0">
                <a:spAutoFit/>
              </a:bodyPr>
              <a:lstStyle/>
              <a:p>
                <a:pPr algn="just"/>
                <a:r>
                  <a:rPr lang="en-US" altLang="zh-CN" sz="2800" b="1">
                    <a:latin typeface="+mn-lt"/>
                    <a:ea typeface="+mj-ea"/>
                  </a:rPr>
                  <a:t>b</a:t>
                </a:r>
                <a:endParaRPr lang="en-US" altLang="zh-CN">
                  <a:latin typeface="+mn-lt"/>
                  <a:ea typeface="+mj-ea"/>
                </a:endParaRPr>
              </a:p>
            </p:txBody>
          </p:sp>
        </p:grpSp>
        <p:grpSp>
          <p:nvGrpSpPr>
            <p:cNvPr id="9" name="Group 38"/>
            <p:cNvGrpSpPr/>
            <p:nvPr/>
          </p:nvGrpSpPr>
          <p:grpSpPr bwMode="auto">
            <a:xfrm>
              <a:off x="336" y="1412"/>
              <a:ext cx="318" cy="97"/>
              <a:chOff x="8137" y="10370"/>
              <a:chExt cx="458" cy="140"/>
            </a:xfrm>
          </p:grpSpPr>
          <p:sp>
            <p:nvSpPr>
              <p:cNvPr id="62541" name="Freeform 39"/>
              <p:cNvSpPr/>
              <p:nvPr/>
            </p:nvSpPr>
            <p:spPr bwMode="auto">
              <a:xfrm>
                <a:off x="8316" y="10370"/>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42" name="Line 40"/>
              <p:cNvSpPr>
                <a:spLocks noChangeShapeType="1"/>
              </p:cNvSpPr>
              <p:nvPr/>
            </p:nvSpPr>
            <p:spPr bwMode="auto">
              <a:xfrm flipH="1">
                <a:off x="8137" y="10449"/>
                <a:ext cx="179" cy="0"/>
              </a:xfrm>
              <a:prstGeom prst="line">
                <a:avLst/>
              </a:prstGeom>
              <a:noFill/>
              <a:ln w="12700">
                <a:solidFill>
                  <a:schemeClr val="tx1"/>
                </a:solidFill>
                <a:round/>
              </a:ln>
            </p:spPr>
            <p:txBody>
              <a:bodyPr/>
              <a:lstStyle/>
              <a:p>
                <a:endParaRPr lang="zh-CN" altLang="en-US">
                  <a:latin typeface="+mn-lt"/>
                  <a:ea typeface="+mj-ea"/>
                </a:endParaRPr>
              </a:p>
            </p:txBody>
          </p:sp>
        </p:grpSp>
        <p:sp>
          <p:nvSpPr>
            <p:cNvPr id="62537" name="Line 41"/>
            <p:cNvSpPr>
              <a:spLocks noChangeShapeType="1"/>
            </p:cNvSpPr>
            <p:nvPr/>
          </p:nvSpPr>
          <p:spPr bwMode="auto">
            <a:xfrm flipV="1">
              <a:off x="336" y="838"/>
              <a:ext cx="0" cy="625"/>
            </a:xfrm>
            <a:prstGeom prst="line">
              <a:avLst/>
            </a:prstGeom>
            <a:noFill/>
            <a:ln w="12700">
              <a:solidFill>
                <a:schemeClr val="tx1"/>
              </a:solidFill>
              <a:round/>
            </a:ln>
          </p:spPr>
          <p:txBody>
            <a:bodyPr/>
            <a:lstStyle/>
            <a:p>
              <a:endParaRPr lang="zh-CN" altLang="en-US">
                <a:latin typeface="+mn-lt"/>
                <a:ea typeface="+mj-ea"/>
              </a:endParaRPr>
            </a:p>
          </p:txBody>
        </p:sp>
        <p:grpSp>
          <p:nvGrpSpPr>
            <p:cNvPr id="10" name="Group 42"/>
            <p:cNvGrpSpPr/>
            <p:nvPr/>
          </p:nvGrpSpPr>
          <p:grpSpPr bwMode="auto">
            <a:xfrm>
              <a:off x="324" y="786"/>
              <a:ext cx="419" cy="90"/>
              <a:chOff x="8097" y="9389"/>
              <a:chExt cx="657" cy="140"/>
            </a:xfrm>
          </p:grpSpPr>
          <p:sp>
            <p:nvSpPr>
              <p:cNvPr id="62539" name="Freeform 43"/>
              <p:cNvSpPr/>
              <p:nvPr/>
            </p:nvSpPr>
            <p:spPr bwMode="auto">
              <a:xfrm>
                <a:off x="8475" y="9389"/>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40" name="Line 44"/>
              <p:cNvSpPr>
                <a:spLocks noChangeShapeType="1"/>
              </p:cNvSpPr>
              <p:nvPr/>
            </p:nvSpPr>
            <p:spPr bwMode="auto">
              <a:xfrm>
                <a:off x="8097" y="9468"/>
                <a:ext cx="378" cy="2"/>
              </a:xfrm>
              <a:prstGeom prst="line">
                <a:avLst/>
              </a:prstGeom>
              <a:noFill/>
              <a:ln w="12700">
                <a:solidFill>
                  <a:schemeClr val="tx1"/>
                </a:solidFill>
                <a:round/>
              </a:ln>
            </p:spPr>
            <p:txBody>
              <a:bodyPr/>
              <a:lstStyle/>
              <a:p>
                <a:endParaRPr lang="zh-CN" altLang="en-US">
                  <a:latin typeface="+mn-lt"/>
                  <a:ea typeface="+mj-ea"/>
                </a:endParaRPr>
              </a:p>
            </p:txBody>
          </p:sp>
        </p:grpSp>
      </p:grpSp>
      <p:grpSp>
        <p:nvGrpSpPr>
          <p:cNvPr id="11" name="Group 45"/>
          <p:cNvGrpSpPr/>
          <p:nvPr/>
        </p:nvGrpSpPr>
        <p:grpSpPr bwMode="auto">
          <a:xfrm>
            <a:off x="361950" y="3124201"/>
            <a:ext cx="4087813" cy="2497138"/>
            <a:chOff x="228" y="2496"/>
            <a:chExt cx="2575" cy="1573"/>
          </a:xfrm>
        </p:grpSpPr>
        <p:grpSp>
          <p:nvGrpSpPr>
            <p:cNvPr id="12" name="Group 46"/>
            <p:cNvGrpSpPr/>
            <p:nvPr/>
          </p:nvGrpSpPr>
          <p:grpSpPr bwMode="auto">
            <a:xfrm>
              <a:off x="635" y="3457"/>
              <a:ext cx="1717" cy="612"/>
              <a:chOff x="8725" y="10160"/>
              <a:chExt cx="2690" cy="962"/>
            </a:xfrm>
          </p:grpSpPr>
          <p:sp>
            <p:nvSpPr>
              <p:cNvPr id="62520" name="Rectangle 47"/>
              <p:cNvSpPr>
                <a:spLocks noChangeArrowheads="1"/>
              </p:cNvSpPr>
              <p:nvPr/>
            </p:nvSpPr>
            <p:spPr bwMode="auto">
              <a:xfrm>
                <a:off x="8725" y="10160"/>
                <a:ext cx="1255" cy="541"/>
              </a:xfrm>
              <a:prstGeom prst="rect">
                <a:avLst/>
              </a:prstGeom>
              <a:solidFill>
                <a:srgbClr val="FFFFFF"/>
              </a:solidFill>
              <a:ln w="12700">
                <a:noFill/>
                <a:miter lim="800000"/>
              </a:ln>
            </p:spPr>
            <p:txBody>
              <a:bodyPr/>
              <a:lstStyle/>
              <a:p>
                <a:endParaRPr lang="zh-CN" altLang="en-US">
                  <a:latin typeface="+mn-lt"/>
                  <a:ea typeface="+mj-ea"/>
                </a:endParaRPr>
              </a:p>
            </p:txBody>
          </p:sp>
          <p:sp>
            <p:nvSpPr>
              <p:cNvPr id="62521" name="Rectangle 48"/>
              <p:cNvSpPr>
                <a:spLocks noChangeArrowheads="1"/>
              </p:cNvSpPr>
              <p:nvPr/>
            </p:nvSpPr>
            <p:spPr bwMode="auto">
              <a:xfrm>
                <a:off x="10159" y="10160"/>
                <a:ext cx="1256" cy="541"/>
              </a:xfrm>
              <a:prstGeom prst="rect">
                <a:avLst/>
              </a:prstGeom>
              <a:solidFill>
                <a:srgbClr val="FFFFFF"/>
              </a:solidFill>
              <a:ln w="12700">
                <a:noFill/>
                <a:miter lim="800000"/>
              </a:ln>
            </p:spPr>
            <p:txBody>
              <a:bodyPr/>
              <a:lstStyle/>
              <a:p>
                <a:endParaRPr lang="zh-CN" altLang="en-US">
                  <a:latin typeface="+mn-lt"/>
                  <a:ea typeface="+mj-ea"/>
                </a:endParaRPr>
              </a:p>
            </p:txBody>
          </p:sp>
          <p:sp>
            <p:nvSpPr>
              <p:cNvPr id="62522" name="Rectangle 49"/>
              <p:cNvSpPr>
                <a:spLocks noChangeArrowheads="1"/>
              </p:cNvSpPr>
              <p:nvPr/>
            </p:nvSpPr>
            <p:spPr bwMode="auto">
              <a:xfrm>
                <a:off x="10258" y="10254"/>
                <a:ext cx="1144" cy="366"/>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y </a:t>
                </a:r>
                <a:r>
                  <a:rPr lang="zh-CN" altLang="en-US" b="1">
                    <a:solidFill>
                      <a:srgbClr val="000000"/>
                    </a:solidFill>
                    <a:latin typeface="+mn-lt"/>
                    <a:ea typeface="+mj-ea"/>
                  </a:rPr>
                  <a:t>的引用</a:t>
                </a:r>
                <a:endParaRPr lang="zh-CN" altLang="en-US" b="1">
                  <a:solidFill>
                    <a:srgbClr val="000000"/>
                  </a:solidFill>
                  <a:latin typeface="+mn-lt"/>
                  <a:ea typeface="+mj-ea"/>
                </a:endParaRPr>
              </a:p>
            </p:txBody>
          </p:sp>
          <p:sp>
            <p:nvSpPr>
              <p:cNvPr id="62523" name="Rectangle 50"/>
              <p:cNvSpPr>
                <a:spLocks noChangeArrowheads="1"/>
              </p:cNvSpPr>
              <p:nvPr/>
            </p:nvSpPr>
            <p:spPr bwMode="auto">
              <a:xfrm>
                <a:off x="8827" y="10233"/>
                <a:ext cx="1144" cy="366"/>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x </a:t>
                </a:r>
                <a:r>
                  <a:rPr lang="zh-CN" altLang="zh-CN" b="1" dirty="0">
                    <a:solidFill>
                      <a:srgbClr val="000000"/>
                    </a:solidFill>
                    <a:latin typeface="+mn-lt"/>
                    <a:ea typeface="+mj-ea"/>
                  </a:rPr>
                  <a:t>的</a:t>
                </a:r>
                <a:r>
                  <a:rPr lang="zh-CN" altLang="en-US" b="1" dirty="0">
                    <a:solidFill>
                      <a:srgbClr val="000000"/>
                    </a:solidFill>
                    <a:latin typeface="+mn-lt"/>
                    <a:ea typeface="+mj-ea"/>
                  </a:rPr>
                  <a:t>引用</a:t>
                </a:r>
                <a:endParaRPr lang="zh-CN" altLang="en-US" b="1" dirty="0">
                  <a:solidFill>
                    <a:srgbClr val="000000"/>
                  </a:solidFill>
                  <a:latin typeface="+mn-lt"/>
                  <a:ea typeface="+mj-ea"/>
                </a:endParaRPr>
              </a:p>
            </p:txBody>
          </p:sp>
          <p:sp>
            <p:nvSpPr>
              <p:cNvPr id="62524" name="Rectangle 51"/>
              <p:cNvSpPr>
                <a:spLocks noChangeArrowheads="1"/>
              </p:cNvSpPr>
              <p:nvPr/>
            </p:nvSpPr>
            <p:spPr bwMode="auto">
              <a:xfrm>
                <a:off x="9341" y="10683"/>
                <a:ext cx="179" cy="426"/>
              </a:xfrm>
              <a:prstGeom prst="rect">
                <a:avLst/>
              </a:prstGeom>
              <a:noFill/>
              <a:ln w="9525">
                <a:noFill/>
                <a:miter lim="800000"/>
              </a:ln>
            </p:spPr>
            <p:txBody>
              <a:bodyPr wrap="none" lIns="0" tIns="0" rIns="0" bIns="0">
                <a:spAutoFit/>
              </a:bodyPr>
              <a:lstStyle/>
              <a:p>
                <a:pPr algn="just"/>
                <a:r>
                  <a:rPr lang="en-US" altLang="zh-CN" sz="2800" b="1">
                    <a:latin typeface="+mn-lt"/>
                    <a:ea typeface="+mj-ea"/>
                  </a:rPr>
                  <a:t>a</a:t>
                </a:r>
                <a:endParaRPr lang="en-US" altLang="zh-CN">
                  <a:latin typeface="+mn-lt"/>
                  <a:ea typeface="+mj-ea"/>
                </a:endParaRPr>
              </a:p>
            </p:txBody>
          </p:sp>
          <p:sp>
            <p:nvSpPr>
              <p:cNvPr id="62525" name="Rectangle 52"/>
              <p:cNvSpPr>
                <a:spLocks noChangeArrowheads="1"/>
              </p:cNvSpPr>
              <p:nvPr/>
            </p:nvSpPr>
            <p:spPr bwMode="auto">
              <a:xfrm>
                <a:off x="10765" y="10695"/>
                <a:ext cx="198" cy="427"/>
              </a:xfrm>
              <a:prstGeom prst="rect">
                <a:avLst/>
              </a:prstGeom>
              <a:noFill/>
              <a:ln w="9525">
                <a:noFill/>
                <a:miter lim="800000"/>
              </a:ln>
            </p:spPr>
            <p:txBody>
              <a:bodyPr wrap="none" lIns="0" tIns="0" rIns="0" bIns="0">
                <a:spAutoFit/>
              </a:bodyPr>
              <a:lstStyle/>
              <a:p>
                <a:pPr algn="just"/>
                <a:r>
                  <a:rPr lang="en-US" altLang="zh-CN" sz="2800" b="1">
                    <a:latin typeface="+mn-lt"/>
                    <a:ea typeface="+mj-ea"/>
                  </a:rPr>
                  <a:t>b</a:t>
                </a:r>
                <a:endParaRPr lang="en-US" altLang="zh-CN">
                  <a:latin typeface="+mn-lt"/>
                  <a:ea typeface="+mj-ea"/>
                </a:endParaRPr>
              </a:p>
            </p:txBody>
          </p:sp>
        </p:grpSp>
        <p:grpSp>
          <p:nvGrpSpPr>
            <p:cNvPr id="13" name="Group 53"/>
            <p:cNvGrpSpPr/>
            <p:nvPr/>
          </p:nvGrpSpPr>
          <p:grpSpPr bwMode="auto">
            <a:xfrm>
              <a:off x="228" y="2496"/>
              <a:ext cx="2575" cy="1160"/>
              <a:chOff x="228" y="2784"/>
              <a:chExt cx="2575" cy="1160"/>
            </a:xfrm>
          </p:grpSpPr>
          <p:grpSp>
            <p:nvGrpSpPr>
              <p:cNvPr id="14" name="Group 54"/>
              <p:cNvGrpSpPr/>
              <p:nvPr/>
            </p:nvGrpSpPr>
            <p:grpSpPr bwMode="auto">
              <a:xfrm>
                <a:off x="672" y="3139"/>
                <a:ext cx="573" cy="494"/>
                <a:chOff x="843" y="3139"/>
                <a:chExt cx="573" cy="494"/>
              </a:xfrm>
            </p:grpSpPr>
            <p:sp>
              <p:nvSpPr>
                <p:cNvPr id="62517" name="Rectangle 55"/>
                <p:cNvSpPr>
                  <a:spLocks noChangeArrowheads="1"/>
                </p:cNvSpPr>
                <p:nvPr/>
              </p:nvSpPr>
              <p:spPr bwMode="auto">
                <a:xfrm>
                  <a:off x="843" y="3139"/>
                  <a:ext cx="573" cy="230"/>
                </a:xfrm>
                <a:prstGeom prst="rect">
                  <a:avLst/>
                </a:prstGeom>
                <a:solidFill>
                  <a:srgbClr val="FFFFFF"/>
                </a:solidFill>
                <a:ln w="12700">
                  <a:solidFill>
                    <a:schemeClr val="tx1"/>
                  </a:solidFill>
                  <a:miter lim="800000"/>
                </a:ln>
              </p:spPr>
              <p:txBody>
                <a:bodyPr/>
                <a:lstStyle/>
                <a:p>
                  <a:endParaRPr lang="zh-CN" altLang="zh-CN">
                    <a:latin typeface="+mn-lt"/>
                    <a:ea typeface="+mj-ea"/>
                  </a:endParaRPr>
                </a:p>
              </p:txBody>
            </p:sp>
            <p:sp>
              <p:nvSpPr>
                <p:cNvPr id="62518" name="Rectangle 56"/>
                <p:cNvSpPr>
                  <a:spLocks noChangeArrowheads="1"/>
                </p:cNvSpPr>
                <p:nvPr/>
              </p:nvSpPr>
              <p:spPr bwMode="auto">
                <a:xfrm>
                  <a:off x="1085" y="3362"/>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x</a:t>
                  </a:r>
                  <a:endParaRPr lang="en-US" altLang="zh-CN" sz="3200">
                    <a:latin typeface="+mn-lt"/>
                    <a:ea typeface="+mj-ea"/>
                  </a:endParaRPr>
                </a:p>
              </p:txBody>
            </p:sp>
            <p:sp>
              <p:nvSpPr>
                <p:cNvPr id="62519" name="Rectangle 57"/>
                <p:cNvSpPr>
                  <a:spLocks noChangeArrowheads="1"/>
                </p:cNvSpPr>
                <p:nvPr/>
              </p:nvSpPr>
              <p:spPr bwMode="auto">
                <a:xfrm>
                  <a:off x="1101" y="3158"/>
                  <a:ext cx="196" cy="233"/>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10</a:t>
                  </a:r>
                  <a:endParaRPr lang="en-US" altLang="zh-CN" b="1" dirty="0">
                    <a:solidFill>
                      <a:srgbClr val="000000"/>
                    </a:solidFill>
                    <a:latin typeface="+mn-lt"/>
                    <a:ea typeface="+mj-ea"/>
                  </a:endParaRPr>
                </a:p>
              </p:txBody>
            </p:sp>
          </p:grpSp>
          <p:grpSp>
            <p:nvGrpSpPr>
              <p:cNvPr id="15" name="Group 58"/>
              <p:cNvGrpSpPr/>
              <p:nvPr/>
            </p:nvGrpSpPr>
            <p:grpSpPr bwMode="auto">
              <a:xfrm>
                <a:off x="2466" y="3847"/>
                <a:ext cx="318" cy="97"/>
                <a:chOff x="11584" y="10370"/>
                <a:chExt cx="458" cy="140"/>
              </a:xfrm>
            </p:grpSpPr>
            <p:sp>
              <p:nvSpPr>
                <p:cNvPr id="62515" name="Freeform 59"/>
                <p:cNvSpPr/>
                <p:nvPr/>
              </p:nvSpPr>
              <p:spPr bwMode="auto">
                <a:xfrm>
                  <a:off x="11584" y="10370"/>
                  <a:ext cx="279" cy="140"/>
                </a:xfrm>
                <a:custGeom>
                  <a:avLst/>
                  <a:gdLst>
                    <a:gd name="T0" fmla="*/ 0 w 279"/>
                    <a:gd name="T1" fmla="*/ 80 h 140"/>
                    <a:gd name="T2" fmla="*/ 279 w 279"/>
                    <a:gd name="T3" fmla="*/ 0 h 140"/>
                    <a:gd name="T4" fmla="*/ 279 w 279"/>
                    <a:gd name="T5" fmla="*/ 80 h 140"/>
                    <a:gd name="T6" fmla="*/ 279 w 279"/>
                    <a:gd name="T7" fmla="*/ 140 h 140"/>
                    <a:gd name="T8" fmla="*/ 0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0" y="80"/>
                      </a:moveTo>
                      <a:lnTo>
                        <a:pt x="279" y="0"/>
                      </a:lnTo>
                      <a:lnTo>
                        <a:pt x="279" y="80"/>
                      </a:lnTo>
                      <a:lnTo>
                        <a:pt x="279" y="140"/>
                      </a:lnTo>
                      <a:lnTo>
                        <a:pt x="0"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16" name="Line 60"/>
                <p:cNvSpPr>
                  <a:spLocks noChangeShapeType="1"/>
                </p:cNvSpPr>
                <p:nvPr/>
              </p:nvSpPr>
              <p:spPr bwMode="auto">
                <a:xfrm>
                  <a:off x="11863" y="10449"/>
                  <a:ext cx="179" cy="0"/>
                </a:xfrm>
                <a:prstGeom prst="line">
                  <a:avLst/>
                </a:prstGeom>
                <a:noFill/>
                <a:ln w="12700">
                  <a:solidFill>
                    <a:schemeClr val="tx1"/>
                  </a:solidFill>
                  <a:round/>
                </a:ln>
              </p:spPr>
              <p:txBody>
                <a:bodyPr/>
                <a:lstStyle/>
                <a:p>
                  <a:endParaRPr lang="zh-CN" altLang="en-US">
                    <a:latin typeface="+mn-lt"/>
                    <a:ea typeface="+mj-ea"/>
                  </a:endParaRPr>
                </a:p>
              </p:txBody>
            </p:sp>
          </p:grpSp>
          <p:sp>
            <p:nvSpPr>
              <p:cNvPr id="62498" name="Line 61"/>
              <p:cNvSpPr>
                <a:spLocks noChangeShapeType="1"/>
              </p:cNvSpPr>
              <p:nvPr/>
            </p:nvSpPr>
            <p:spPr bwMode="auto">
              <a:xfrm flipV="1">
                <a:off x="2784" y="3273"/>
                <a:ext cx="0" cy="625"/>
              </a:xfrm>
              <a:prstGeom prst="line">
                <a:avLst/>
              </a:prstGeom>
              <a:noFill/>
              <a:ln w="12700">
                <a:solidFill>
                  <a:schemeClr val="tx1"/>
                </a:solidFill>
                <a:round/>
              </a:ln>
            </p:spPr>
            <p:txBody>
              <a:bodyPr/>
              <a:lstStyle/>
              <a:p>
                <a:endParaRPr lang="zh-CN" altLang="en-US">
                  <a:latin typeface="+mn-lt"/>
                  <a:ea typeface="+mj-ea"/>
                </a:endParaRPr>
              </a:p>
            </p:txBody>
          </p:sp>
          <p:grpSp>
            <p:nvGrpSpPr>
              <p:cNvPr id="16" name="Group 62"/>
              <p:cNvGrpSpPr/>
              <p:nvPr/>
            </p:nvGrpSpPr>
            <p:grpSpPr bwMode="auto">
              <a:xfrm>
                <a:off x="2382" y="3221"/>
                <a:ext cx="421" cy="90"/>
                <a:chOff x="11425" y="9389"/>
                <a:chExt cx="657" cy="140"/>
              </a:xfrm>
            </p:grpSpPr>
            <p:sp>
              <p:nvSpPr>
                <p:cNvPr id="62513" name="Freeform 63"/>
                <p:cNvSpPr/>
                <p:nvPr/>
              </p:nvSpPr>
              <p:spPr bwMode="auto">
                <a:xfrm>
                  <a:off x="11425" y="9389"/>
                  <a:ext cx="278" cy="140"/>
                </a:xfrm>
                <a:custGeom>
                  <a:avLst/>
                  <a:gdLst>
                    <a:gd name="T0" fmla="*/ 0 w 278"/>
                    <a:gd name="T1" fmla="*/ 80 h 140"/>
                    <a:gd name="T2" fmla="*/ 278 w 278"/>
                    <a:gd name="T3" fmla="*/ 0 h 140"/>
                    <a:gd name="T4" fmla="*/ 278 w 278"/>
                    <a:gd name="T5" fmla="*/ 80 h 140"/>
                    <a:gd name="T6" fmla="*/ 278 w 278"/>
                    <a:gd name="T7" fmla="*/ 140 h 140"/>
                    <a:gd name="T8" fmla="*/ 0 w 278"/>
                    <a:gd name="T9" fmla="*/ 80 h 140"/>
                    <a:gd name="T10" fmla="*/ 0 60000 65536"/>
                    <a:gd name="T11" fmla="*/ 0 60000 65536"/>
                    <a:gd name="T12" fmla="*/ 0 60000 65536"/>
                    <a:gd name="T13" fmla="*/ 0 60000 65536"/>
                    <a:gd name="T14" fmla="*/ 0 60000 65536"/>
                    <a:gd name="T15" fmla="*/ 0 w 278"/>
                    <a:gd name="T16" fmla="*/ 0 h 140"/>
                    <a:gd name="T17" fmla="*/ 278 w 278"/>
                    <a:gd name="T18" fmla="*/ 140 h 140"/>
                  </a:gdLst>
                  <a:ahLst/>
                  <a:cxnLst>
                    <a:cxn ang="T10">
                      <a:pos x="T0" y="T1"/>
                    </a:cxn>
                    <a:cxn ang="T11">
                      <a:pos x="T2" y="T3"/>
                    </a:cxn>
                    <a:cxn ang="T12">
                      <a:pos x="T4" y="T5"/>
                    </a:cxn>
                    <a:cxn ang="T13">
                      <a:pos x="T6" y="T7"/>
                    </a:cxn>
                    <a:cxn ang="T14">
                      <a:pos x="T8" y="T9"/>
                    </a:cxn>
                  </a:cxnLst>
                  <a:rect l="T15" t="T16" r="T17" b="T18"/>
                  <a:pathLst>
                    <a:path w="278" h="140">
                      <a:moveTo>
                        <a:pt x="0" y="80"/>
                      </a:moveTo>
                      <a:lnTo>
                        <a:pt x="278" y="0"/>
                      </a:lnTo>
                      <a:lnTo>
                        <a:pt x="278" y="80"/>
                      </a:lnTo>
                      <a:lnTo>
                        <a:pt x="278" y="140"/>
                      </a:lnTo>
                      <a:lnTo>
                        <a:pt x="0"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14" name="Line 64"/>
                <p:cNvSpPr>
                  <a:spLocks noChangeShapeType="1"/>
                </p:cNvSpPr>
                <p:nvPr/>
              </p:nvSpPr>
              <p:spPr bwMode="auto">
                <a:xfrm flipH="1">
                  <a:off x="11703" y="9468"/>
                  <a:ext cx="379" cy="2"/>
                </a:xfrm>
                <a:prstGeom prst="line">
                  <a:avLst/>
                </a:prstGeom>
                <a:noFill/>
                <a:ln w="12700">
                  <a:solidFill>
                    <a:schemeClr val="tx1"/>
                  </a:solidFill>
                  <a:round/>
                </a:ln>
              </p:spPr>
              <p:txBody>
                <a:bodyPr/>
                <a:lstStyle/>
                <a:p>
                  <a:endParaRPr lang="zh-CN" altLang="en-US">
                    <a:latin typeface="+mn-lt"/>
                    <a:ea typeface="+mj-ea"/>
                  </a:endParaRPr>
                </a:p>
              </p:txBody>
            </p:sp>
          </p:grpSp>
          <p:grpSp>
            <p:nvGrpSpPr>
              <p:cNvPr id="17" name="Group 65"/>
              <p:cNvGrpSpPr/>
              <p:nvPr/>
            </p:nvGrpSpPr>
            <p:grpSpPr bwMode="auto">
              <a:xfrm>
                <a:off x="1780" y="3139"/>
                <a:ext cx="572" cy="507"/>
                <a:chOff x="1582" y="3139"/>
                <a:chExt cx="572" cy="507"/>
              </a:xfrm>
            </p:grpSpPr>
            <p:sp>
              <p:nvSpPr>
                <p:cNvPr id="62510" name="Rectangle 66"/>
                <p:cNvSpPr>
                  <a:spLocks noChangeArrowheads="1"/>
                </p:cNvSpPr>
                <p:nvPr/>
              </p:nvSpPr>
              <p:spPr bwMode="auto">
                <a:xfrm>
                  <a:off x="1582" y="3139"/>
                  <a:ext cx="572" cy="230"/>
                </a:xfrm>
                <a:prstGeom prst="rect">
                  <a:avLst/>
                </a:prstGeom>
                <a:solidFill>
                  <a:srgbClr val="FFFFFF"/>
                </a:solidFill>
                <a:ln w="12700">
                  <a:solidFill>
                    <a:schemeClr val="tx1"/>
                  </a:solidFill>
                  <a:miter lim="800000"/>
                </a:ln>
              </p:spPr>
              <p:txBody>
                <a:bodyPr/>
                <a:lstStyle/>
                <a:p>
                  <a:endParaRPr lang="zh-CN" altLang="en-US">
                    <a:latin typeface="+mn-lt"/>
                    <a:ea typeface="+mj-ea"/>
                  </a:endParaRPr>
                </a:p>
              </p:txBody>
            </p:sp>
            <p:sp>
              <p:nvSpPr>
                <p:cNvPr id="62511" name="Rectangle 67"/>
                <p:cNvSpPr>
                  <a:spLocks noChangeArrowheads="1"/>
                </p:cNvSpPr>
                <p:nvPr/>
              </p:nvSpPr>
              <p:spPr bwMode="auto">
                <a:xfrm>
                  <a:off x="1823" y="3375"/>
                  <a:ext cx="114"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y</a:t>
                  </a:r>
                  <a:endParaRPr lang="en-US" altLang="zh-CN" sz="3200">
                    <a:latin typeface="+mn-lt"/>
                    <a:ea typeface="+mj-ea"/>
                  </a:endParaRPr>
                </a:p>
              </p:txBody>
            </p:sp>
            <p:sp>
              <p:nvSpPr>
                <p:cNvPr id="62512" name="Rectangle 68"/>
                <p:cNvSpPr>
                  <a:spLocks noChangeArrowheads="1"/>
                </p:cNvSpPr>
                <p:nvPr/>
              </p:nvSpPr>
              <p:spPr bwMode="auto">
                <a:xfrm>
                  <a:off x="1826" y="3158"/>
                  <a:ext cx="196"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10</a:t>
                  </a:r>
                  <a:endParaRPr lang="en-US" altLang="zh-CN" b="1">
                    <a:solidFill>
                      <a:srgbClr val="000000"/>
                    </a:solidFill>
                    <a:latin typeface="+mn-lt"/>
                    <a:ea typeface="+mj-ea"/>
                  </a:endParaRPr>
                </a:p>
              </p:txBody>
            </p:sp>
          </p:grpSp>
          <p:grpSp>
            <p:nvGrpSpPr>
              <p:cNvPr id="18" name="Group 69"/>
              <p:cNvGrpSpPr/>
              <p:nvPr/>
            </p:nvGrpSpPr>
            <p:grpSpPr bwMode="auto">
              <a:xfrm>
                <a:off x="240" y="3847"/>
                <a:ext cx="318" cy="97"/>
                <a:chOff x="8137" y="10370"/>
                <a:chExt cx="458" cy="140"/>
              </a:xfrm>
            </p:grpSpPr>
            <p:sp>
              <p:nvSpPr>
                <p:cNvPr id="62508" name="Freeform 70"/>
                <p:cNvSpPr/>
                <p:nvPr/>
              </p:nvSpPr>
              <p:spPr bwMode="auto">
                <a:xfrm>
                  <a:off x="8316" y="10370"/>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09" name="Line 71"/>
                <p:cNvSpPr>
                  <a:spLocks noChangeShapeType="1"/>
                </p:cNvSpPr>
                <p:nvPr/>
              </p:nvSpPr>
              <p:spPr bwMode="auto">
                <a:xfrm flipH="1">
                  <a:off x="8137" y="10449"/>
                  <a:ext cx="179" cy="0"/>
                </a:xfrm>
                <a:prstGeom prst="line">
                  <a:avLst/>
                </a:prstGeom>
                <a:noFill/>
                <a:ln w="12700">
                  <a:solidFill>
                    <a:schemeClr val="tx1"/>
                  </a:solidFill>
                  <a:round/>
                </a:ln>
              </p:spPr>
              <p:txBody>
                <a:bodyPr/>
                <a:lstStyle/>
                <a:p>
                  <a:endParaRPr lang="zh-CN" altLang="en-US">
                    <a:latin typeface="+mn-lt"/>
                    <a:ea typeface="+mj-ea"/>
                  </a:endParaRPr>
                </a:p>
              </p:txBody>
            </p:sp>
          </p:grpSp>
          <p:sp>
            <p:nvSpPr>
              <p:cNvPr id="62502" name="Line 72"/>
              <p:cNvSpPr>
                <a:spLocks noChangeShapeType="1"/>
              </p:cNvSpPr>
              <p:nvPr/>
            </p:nvSpPr>
            <p:spPr bwMode="auto">
              <a:xfrm flipV="1">
                <a:off x="240" y="3273"/>
                <a:ext cx="0" cy="625"/>
              </a:xfrm>
              <a:prstGeom prst="line">
                <a:avLst/>
              </a:prstGeom>
              <a:noFill/>
              <a:ln w="12700">
                <a:solidFill>
                  <a:schemeClr val="tx1"/>
                </a:solidFill>
                <a:round/>
              </a:ln>
            </p:spPr>
            <p:txBody>
              <a:bodyPr/>
              <a:lstStyle/>
              <a:p>
                <a:endParaRPr lang="zh-CN" altLang="en-US">
                  <a:latin typeface="+mn-lt"/>
                  <a:ea typeface="+mj-ea"/>
                </a:endParaRPr>
              </a:p>
            </p:txBody>
          </p:sp>
          <p:grpSp>
            <p:nvGrpSpPr>
              <p:cNvPr id="19" name="Group 73"/>
              <p:cNvGrpSpPr/>
              <p:nvPr/>
            </p:nvGrpSpPr>
            <p:grpSpPr bwMode="auto">
              <a:xfrm>
                <a:off x="228" y="3221"/>
                <a:ext cx="419" cy="90"/>
                <a:chOff x="8097" y="9389"/>
                <a:chExt cx="657" cy="140"/>
              </a:xfrm>
            </p:grpSpPr>
            <p:sp>
              <p:nvSpPr>
                <p:cNvPr id="62506" name="Freeform 74"/>
                <p:cNvSpPr/>
                <p:nvPr/>
              </p:nvSpPr>
              <p:spPr bwMode="auto">
                <a:xfrm>
                  <a:off x="8475" y="9389"/>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ln>
              </p:spPr>
              <p:txBody>
                <a:bodyPr/>
                <a:lstStyle/>
                <a:p>
                  <a:endParaRPr lang="zh-CN" altLang="en-US">
                    <a:latin typeface="+mn-lt"/>
                    <a:ea typeface="+mj-ea"/>
                  </a:endParaRPr>
                </a:p>
              </p:txBody>
            </p:sp>
            <p:sp>
              <p:nvSpPr>
                <p:cNvPr id="62507" name="Line 75"/>
                <p:cNvSpPr>
                  <a:spLocks noChangeShapeType="1"/>
                </p:cNvSpPr>
                <p:nvPr/>
              </p:nvSpPr>
              <p:spPr bwMode="auto">
                <a:xfrm>
                  <a:off x="8097" y="9468"/>
                  <a:ext cx="378" cy="2"/>
                </a:xfrm>
                <a:prstGeom prst="line">
                  <a:avLst/>
                </a:prstGeom>
                <a:noFill/>
                <a:ln w="12700">
                  <a:solidFill>
                    <a:schemeClr val="tx1"/>
                  </a:solidFill>
                  <a:round/>
                </a:ln>
              </p:spPr>
              <p:txBody>
                <a:bodyPr/>
                <a:lstStyle/>
                <a:p>
                  <a:endParaRPr lang="zh-CN" altLang="en-US">
                    <a:latin typeface="+mn-lt"/>
                    <a:ea typeface="+mj-ea"/>
                  </a:endParaRPr>
                </a:p>
              </p:txBody>
            </p:sp>
          </p:grpSp>
          <p:sp>
            <p:nvSpPr>
              <p:cNvPr id="62504" name="Line 76"/>
              <p:cNvSpPr>
                <a:spLocks noChangeShapeType="1"/>
              </p:cNvSpPr>
              <p:nvPr/>
            </p:nvSpPr>
            <p:spPr bwMode="auto">
              <a:xfrm flipH="1">
                <a:off x="1248" y="3264"/>
                <a:ext cx="528" cy="0"/>
              </a:xfrm>
              <a:prstGeom prst="line">
                <a:avLst/>
              </a:prstGeom>
              <a:noFill/>
              <a:ln w="9525">
                <a:solidFill>
                  <a:schemeClr val="tx1"/>
                </a:solidFill>
                <a:prstDash val="dash"/>
                <a:round/>
                <a:tailEnd type="triangle" w="lg" len="lg"/>
              </a:ln>
            </p:spPr>
            <p:txBody>
              <a:bodyPr wrap="none" anchor="ctr"/>
              <a:lstStyle/>
              <a:p>
                <a:endParaRPr lang="zh-CN" altLang="en-US">
                  <a:latin typeface="+mn-lt"/>
                  <a:ea typeface="+mj-ea"/>
                </a:endParaRPr>
              </a:p>
            </p:txBody>
          </p:sp>
          <p:sp>
            <p:nvSpPr>
              <p:cNvPr id="62505" name="Text Box 77"/>
              <p:cNvSpPr txBox="1">
                <a:spLocks noChangeArrowheads="1"/>
              </p:cNvSpPr>
              <p:nvPr/>
            </p:nvSpPr>
            <p:spPr bwMode="auto">
              <a:xfrm>
                <a:off x="1248" y="2784"/>
                <a:ext cx="576" cy="327"/>
              </a:xfrm>
              <a:prstGeom prst="rect">
                <a:avLst/>
              </a:prstGeom>
              <a:noFill/>
              <a:ln w="9525">
                <a:noFill/>
                <a:miter lim="800000"/>
              </a:ln>
            </p:spPr>
            <p:txBody>
              <a:bodyPr>
                <a:spAutoFit/>
              </a:bodyPr>
              <a:lstStyle/>
              <a:p>
                <a:pPr>
                  <a:spcBef>
                    <a:spcPct val="50000"/>
                  </a:spcBef>
                </a:pPr>
                <a:r>
                  <a:rPr lang="en-US" altLang="zh-CN" sz="2800">
                    <a:latin typeface="+mn-lt"/>
                    <a:ea typeface="+mj-ea"/>
                  </a:rPr>
                  <a:t>a=b</a:t>
                </a:r>
                <a:endParaRPr lang="en-US" altLang="zh-CN" sz="2800">
                  <a:latin typeface="+mn-lt"/>
                  <a:ea typeface="+mj-ea"/>
                </a:endParaRPr>
              </a:p>
            </p:txBody>
          </p:sp>
        </p:grpSp>
      </p:grpSp>
      <p:grpSp>
        <p:nvGrpSpPr>
          <p:cNvPr id="20" name="Group 78"/>
          <p:cNvGrpSpPr/>
          <p:nvPr/>
        </p:nvGrpSpPr>
        <p:grpSpPr bwMode="auto">
          <a:xfrm>
            <a:off x="5257800" y="3154363"/>
            <a:ext cx="3251200" cy="2411412"/>
            <a:chOff x="3312" y="2803"/>
            <a:chExt cx="2048" cy="1519"/>
          </a:xfrm>
        </p:grpSpPr>
        <p:sp>
          <p:nvSpPr>
            <p:cNvPr id="62480" name="Text Box 79"/>
            <p:cNvSpPr txBox="1">
              <a:spLocks noChangeArrowheads="1"/>
            </p:cNvSpPr>
            <p:nvPr/>
          </p:nvSpPr>
          <p:spPr bwMode="auto">
            <a:xfrm flipH="1">
              <a:off x="3888" y="2803"/>
              <a:ext cx="768" cy="327"/>
            </a:xfrm>
            <a:prstGeom prst="rect">
              <a:avLst/>
            </a:prstGeom>
            <a:noFill/>
            <a:ln w="9525">
              <a:noFill/>
              <a:miter lim="800000"/>
            </a:ln>
          </p:spPr>
          <p:txBody>
            <a:bodyPr>
              <a:spAutoFit/>
            </a:bodyPr>
            <a:lstStyle/>
            <a:p>
              <a:pPr>
                <a:spcBef>
                  <a:spcPct val="50000"/>
                </a:spcBef>
              </a:pPr>
              <a:r>
                <a:rPr lang="en-US" altLang="zh-CN" sz="2800">
                  <a:latin typeface="+mn-lt"/>
                  <a:ea typeface="+mj-ea"/>
                </a:rPr>
                <a:t>b=t;</a:t>
              </a:r>
              <a:endParaRPr lang="en-US" altLang="zh-CN" sz="2800">
                <a:latin typeface="+mn-lt"/>
                <a:ea typeface="+mj-ea"/>
              </a:endParaRPr>
            </a:p>
          </p:txBody>
        </p:sp>
        <p:grpSp>
          <p:nvGrpSpPr>
            <p:cNvPr id="21" name="Group 80"/>
            <p:cNvGrpSpPr/>
            <p:nvPr/>
          </p:nvGrpSpPr>
          <p:grpSpPr bwMode="auto">
            <a:xfrm flipH="1">
              <a:off x="4560" y="3139"/>
              <a:ext cx="573" cy="533"/>
              <a:chOff x="3387" y="1824"/>
              <a:chExt cx="573" cy="533"/>
            </a:xfrm>
          </p:grpSpPr>
          <p:sp>
            <p:nvSpPr>
              <p:cNvPr id="62491" name="Rectangle 81"/>
              <p:cNvSpPr>
                <a:spLocks noChangeArrowheads="1"/>
              </p:cNvSpPr>
              <p:nvPr/>
            </p:nvSpPr>
            <p:spPr bwMode="auto">
              <a:xfrm>
                <a:off x="3387" y="1824"/>
                <a:ext cx="573" cy="230"/>
              </a:xfrm>
              <a:prstGeom prst="rect">
                <a:avLst/>
              </a:prstGeom>
              <a:solidFill>
                <a:srgbClr val="FFFFFF"/>
              </a:solidFill>
              <a:ln w="12700">
                <a:solidFill>
                  <a:schemeClr val="tx1"/>
                </a:solidFill>
                <a:miter lim="800000"/>
              </a:ln>
            </p:spPr>
            <p:txBody>
              <a:bodyPr/>
              <a:lstStyle/>
              <a:p>
                <a:endParaRPr lang="zh-CN" altLang="zh-CN" b="1">
                  <a:solidFill>
                    <a:srgbClr val="000000"/>
                  </a:solidFill>
                  <a:latin typeface="+mn-lt"/>
                  <a:ea typeface="+mj-ea"/>
                </a:endParaRPr>
              </a:p>
            </p:txBody>
          </p:sp>
          <p:sp>
            <p:nvSpPr>
              <p:cNvPr id="62492" name="Rectangle 82"/>
              <p:cNvSpPr>
                <a:spLocks noChangeArrowheads="1"/>
              </p:cNvSpPr>
              <p:nvPr/>
            </p:nvSpPr>
            <p:spPr bwMode="auto">
              <a:xfrm>
                <a:off x="3603" y="2047"/>
                <a:ext cx="129" cy="310"/>
              </a:xfrm>
              <a:prstGeom prst="rect">
                <a:avLst/>
              </a:prstGeom>
              <a:noFill/>
              <a:ln w="9525">
                <a:noFill/>
                <a:miter lim="800000"/>
              </a:ln>
            </p:spPr>
            <p:txBody>
              <a:bodyPr wrap="none" lIns="0" tIns="0" rIns="0" bIns="0">
                <a:spAutoFit/>
              </a:bodyPr>
              <a:lstStyle/>
              <a:p>
                <a:pPr algn="just"/>
                <a:r>
                  <a:rPr lang="en-US" altLang="zh-CN" sz="3200">
                    <a:latin typeface="+mn-lt"/>
                    <a:ea typeface="+mj-ea"/>
                  </a:rPr>
                  <a:t>y</a:t>
                </a:r>
                <a:endParaRPr lang="en-US" altLang="zh-CN" sz="3200">
                  <a:latin typeface="+mn-lt"/>
                  <a:ea typeface="+mj-ea"/>
                </a:endParaRPr>
              </a:p>
            </p:txBody>
          </p:sp>
          <p:sp>
            <p:nvSpPr>
              <p:cNvPr id="62493" name="Rectangle 83"/>
              <p:cNvSpPr>
                <a:spLocks noChangeArrowheads="1"/>
              </p:cNvSpPr>
              <p:nvPr/>
            </p:nvSpPr>
            <p:spPr bwMode="auto">
              <a:xfrm>
                <a:off x="3630" y="1843"/>
                <a:ext cx="98"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mn-lt"/>
                    <a:ea typeface="+mj-ea"/>
                  </a:rPr>
                  <a:t>5</a:t>
                </a:r>
                <a:endParaRPr lang="en-US" altLang="zh-CN" b="1">
                  <a:solidFill>
                    <a:srgbClr val="000000"/>
                  </a:solidFill>
                  <a:latin typeface="+mn-lt"/>
                  <a:ea typeface="+mj-ea"/>
                </a:endParaRPr>
              </a:p>
            </p:txBody>
          </p:sp>
        </p:grpSp>
        <p:grpSp>
          <p:nvGrpSpPr>
            <p:cNvPr id="22" name="Group 84"/>
            <p:cNvGrpSpPr/>
            <p:nvPr/>
          </p:nvGrpSpPr>
          <p:grpSpPr bwMode="auto">
            <a:xfrm flipH="1">
              <a:off x="3312" y="3139"/>
              <a:ext cx="572" cy="546"/>
              <a:chOff x="4126" y="1824"/>
              <a:chExt cx="572" cy="546"/>
            </a:xfrm>
          </p:grpSpPr>
          <p:sp>
            <p:nvSpPr>
              <p:cNvPr id="62488" name="Rectangle 85"/>
              <p:cNvSpPr>
                <a:spLocks noChangeArrowheads="1"/>
              </p:cNvSpPr>
              <p:nvPr/>
            </p:nvSpPr>
            <p:spPr bwMode="auto">
              <a:xfrm>
                <a:off x="4126" y="1824"/>
                <a:ext cx="572" cy="230"/>
              </a:xfrm>
              <a:prstGeom prst="rect">
                <a:avLst/>
              </a:prstGeom>
              <a:solidFill>
                <a:srgbClr val="FFFFFF"/>
              </a:solidFill>
              <a:ln w="12700">
                <a:solidFill>
                  <a:schemeClr val="tx1"/>
                </a:solidFill>
                <a:miter lim="800000"/>
              </a:ln>
            </p:spPr>
            <p:txBody>
              <a:bodyPr/>
              <a:lstStyle/>
              <a:p>
                <a:endParaRPr lang="zh-CN" altLang="en-US">
                  <a:latin typeface="+mn-lt"/>
                  <a:ea typeface="+mj-ea"/>
                </a:endParaRPr>
              </a:p>
            </p:txBody>
          </p:sp>
          <p:sp>
            <p:nvSpPr>
              <p:cNvPr id="62489" name="Rectangle 86"/>
              <p:cNvSpPr>
                <a:spLocks noChangeArrowheads="1"/>
              </p:cNvSpPr>
              <p:nvPr/>
            </p:nvSpPr>
            <p:spPr bwMode="auto">
              <a:xfrm>
                <a:off x="4414" y="2060"/>
                <a:ext cx="72" cy="310"/>
              </a:xfrm>
              <a:prstGeom prst="rect">
                <a:avLst/>
              </a:prstGeom>
              <a:noFill/>
              <a:ln w="9525">
                <a:noFill/>
                <a:miter lim="800000"/>
              </a:ln>
            </p:spPr>
            <p:txBody>
              <a:bodyPr wrap="none" lIns="0" tIns="0" rIns="0" bIns="0">
                <a:spAutoFit/>
              </a:bodyPr>
              <a:lstStyle/>
              <a:p>
                <a:pPr algn="just"/>
                <a:r>
                  <a:rPr lang="en-US" altLang="zh-CN" sz="3200">
                    <a:latin typeface="+mn-lt"/>
                    <a:ea typeface="+mj-ea"/>
                  </a:rPr>
                  <a:t>t</a:t>
                </a:r>
                <a:endParaRPr lang="en-US" altLang="zh-CN" sz="3200">
                  <a:latin typeface="+mn-lt"/>
                  <a:ea typeface="+mj-ea"/>
                </a:endParaRPr>
              </a:p>
            </p:txBody>
          </p:sp>
          <p:sp>
            <p:nvSpPr>
              <p:cNvPr id="62490" name="Rectangle 87"/>
              <p:cNvSpPr>
                <a:spLocks noChangeArrowheads="1"/>
              </p:cNvSpPr>
              <p:nvPr/>
            </p:nvSpPr>
            <p:spPr bwMode="auto">
              <a:xfrm>
                <a:off x="4355" y="1843"/>
                <a:ext cx="98" cy="233"/>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5</a:t>
                </a:r>
                <a:endParaRPr lang="en-US" altLang="zh-CN" b="1" dirty="0">
                  <a:solidFill>
                    <a:srgbClr val="000000"/>
                  </a:solidFill>
                  <a:latin typeface="+mn-lt"/>
                  <a:ea typeface="+mj-ea"/>
                </a:endParaRPr>
              </a:p>
            </p:txBody>
          </p:sp>
        </p:grpSp>
        <p:sp>
          <p:nvSpPr>
            <p:cNvPr id="62483" name="Rectangle 88"/>
            <p:cNvSpPr>
              <a:spLocks noChangeArrowheads="1"/>
            </p:cNvSpPr>
            <p:nvPr/>
          </p:nvSpPr>
          <p:spPr bwMode="auto">
            <a:xfrm flipH="1">
              <a:off x="4558" y="3713"/>
              <a:ext cx="802" cy="344"/>
            </a:xfrm>
            <a:prstGeom prst="rect">
              <a:avLst/>
            </a:prstGeom>
            <a:solidFill>
              <a:srgbClr val="FFFFFF"/>
            </a:solidFill>
            <a:ln w="12700">
              <a:noFill/>
              <a:miter lim="800000"/>
            </a:ln>
          </p:spPr>
          <p:txBody>
            <a:bodyPr/>
            <a:lstStyle/>
            <a:p>
              <a:endParaRPr lang="zh-CN" altLang="en-US">
                <a:latin typeface="+mn-lt"/>
                <a:ea typeface="+mj-ea"/>
              </a:endParaRPr>
            </a:p>
          </p:txBody>
        </p:sp>
        <p:sp>
          <p:nvSpPr>
            <p:cNvPr id="62484" name="Rectangle 89"/>
            <p:cNvSpPr>
              <a:spLocks noChangeArrowheads="1"/>
            </p:cNvSpPr>
            <p:nvPr/>
          </p:nvSpPr>
          <p:spPr bwMode="auto">
            <a:xfrm flipH="1">
              <a:off x="4591" y="3786"/>
              <a:ext cx="730" cy="233"/>
            </a:xfrm>
            <a:prstGeom prst="rect">
              <a:avLst/>
            </a:prstGeom>
            <a:noFill/>
            <a:ln w="9525">
              <a:noFill/>
              <a:miter lim="800000"/>
            </a:ln>
          </p:spPr>
          <p:txBody>
            <a:bodyPr wrap="none" lIns="0" tIns="0" rIns="0" bIns="0">
              <a:spAutoFit/>
            </a:bodyPr>
            <a:lstStyle/>
            <a:p>
              <a:pPr algn="just"/>
              <a:r>
                <a:rPr lang="en-US" altLang="zh-CN" b="1" dirty="0">
                  <a:solidFill>
                    <a:srgbClr val="000000"/>
                  </a:solidFill>
                  <a:latin typeface="+mn-lt"/>
                  <a:ea typeface="+mj-ea"/>
                </a:rPr>
                <a:t>y </a:t>
              </a:r>
              <a:r>
                <a:rPr lang="zh-CN" altLang="zh-CN" b="1" dirty="0">
                  <a:solidFill>
                    <a:srgbClr val="000000"/>
                  </a:solidFill>
                  <a:latin typeface="+mn-lt"/>
                  <a:ea typeface="+mj-ea"/>
                </a:rPr>
                <a:t>的</a:t>
              </a:r>
              <a:r>
                <a:rPr lang="zh-CN" altLang="en-US" b="1" dirty="0">
                  <a:solidFill>
                    <a:srgbClr val="000000"/>
                  </a:solidFill>
                  <a:latin typeface="+mn-lt"/>
                  <a:ea typeface="+mj-ea"/>
                </a:rPr>
                <a:t>引用</a:t>
              </a:r>
              <a:endParaRPr lang="zh-CN" altLang="en-US" b="1" dirty="0">
                <a:solidFill>
                  <a:srgbClr val="000000"/>
                </a:solidFill>
                <a:latin typeface="+mn-lt"/>
                <a:ea typeface="+mj-ea"/>
              </a:endParaRPr>
            </a:p>
          </p:txBody>
        </p:sp>
        <p:sp>
          <p:nvSpPr>
            <p:cNvPr id="62485" name="Rectangle 90"/>
            <p:cNvSpPr>
              <a:spLocks noChangeArrowheads="1"/>
            </p:cNvSpPr>
            <p:nvPr/>
          </p:nvSpPr>
          <p:spPr bwMode="auto">
            <a:xfrm flipH="1">
              <a:off x="4859" y="4051"/>
              <a:ext cx="126" cy="271"/>
            </a:xfrm>
            <a:prstGeom prst="rect">
              <a:avLst/>
            </a:prstGeom>
            <a:noFill/>
            <a:ln w="9525">
              <a:noFill/>
              <a:miter lim="800000"/>
            </a:ln>
          </p:spPr>
          <p:txBody>
            <a:bodyPr wrap="none" lIns="0" tIns="0" rIns="0" bIns="0">
              <a:spAutoFit/>
            </a:bodyPr>
            <a:lstStyle/>
            <a:p>
              <a:pPr algn="just"/>
              <a:r>
                <a:rPr lang="en-US" altLang="zh-CN" sz="2800" b="1">
                  <a:latin typeface="+mn-lt"/>
                  <a:ea typeface="+mj-ea"/>
                </a:rPr>
                <a:t>b</a:t>
              </a:r>
              <a:endParaRPr lang="en-US" altLang="zh-CN">
                <a:latin typeface="+mn-lt"/>
                <a:ea typeface="+mj-ea"/>
              </a:endParaRPr>
            </a:p>
          </p:txBody>
        </p:sp>
        <p:sp>
          <p:nvSpPr>
            <p:cNvPr id="62486" name="Line 91"/>
            <p:cNvSpPr>
              <a:spLocks noChangeShapeType="1"/>
            </p:cNvSpPr>
            <p:nvPr/>
          </p:nvSpPr>
          <p:spPr bwMode="auto">
            <a:xfrm flipH="1" flipV="1">
              <a:off x="4992" y="3379"/>
              <a:ext cx="0" cy="336"/>
            </a:xfrm>
            <a:prstGeom prst="line">
              <a:avLst/>
            </a:prstGeom>
            <a:noFill/>
            <a:ln w="9525">
              <a:solidFill>
                <a:schemeClr val="tx1"/>
              </a:solidFill>
              <a:round/>
              <a:tailEnd type="stealth" w="lg" len="lg"/>
            </a:ln>
          </p:spPr>
          <p:txBody>
            <a:bodyPr wrap="none" anchor="ctr"/>
            <a:lstStyle/>
            <a:p>
              <a:endParaRPr lang="zh-CN" altLang="en-US">
                <a:latin typeface="+mn-lt"/>
                <a:ea typeface="+mj-ea"/>
              </a:endParaRPr>
            </a:p>
          </p:txBody>
        </p:sp>
        <p:sp>
          <p:nvSpPr>
            <p:cNvPr id="62487" name="Line 92"/>
            <p:cNvSpPr>
              <a:spLocks noChangeShapeType="1"/>
            </p:cNvSpPr>
            <p:nvPr/>
          </p:nvSpPr>
          <p:spPr bwMode="auto">
            <a:xfrm flipH="1">
              <a:off x="3888" y="3257"/>
              <a:ext cx="672" cy="0"/>
            </a:xfrm>
            <a:prstGeom prst="line">
              <a:avLst/>
            </a:prstGeom>
            <a:noFill/>
            <a:ln w="9525">
              <a:solidFill>
                <a:schemeClr val="tx1"/>
              </a:solidFill>
              <a:prstDash val="dash"/>
              <a:round/>
              <a:headEnd type="triangle" w="lg" len="lg"/>
              <a:tailEnd type="none" w="lg" len="lg"/>
            </a:ln>
          </p:spPr>
          <p:txBody>
            <a:bodyPr wrap="none" anchor="ctr"/>
            <a:lstStyle/>
            <a:p>
              <a:endParaRPr lang="zh-CN" altLang="en-US">
                <a:latin typeface="+mn-lt"/>
                <a:ea typeface="+mj-ea"/>
              </a:endParaRPr>
            </a:p>
          </p:txBody>
        </p:sp>
      </p:grpSp>
      <p:grpSp>
        <p:nvGrpSpPr>
          <p:cNvPr id="23" name="Group 93"/>
          <p:cNvGrpSpPr/>
          <p:nvPr/>
        </p:nvGrpSpPr>
        <p:grpSpPr bwMode="auto">
          <a:xfrm>
            <a:off x="3657600" y="5791200"/>
            <a:ext cx="2081213" cy="804863"/>
            <a:chOff x="2304" y="3648"/>
            <a:chExt cx="1311" cy="507"/>
          </a:xfrm>
        </p:grpSpPr>
        <p:sp>
          <p:nvSpPr>
            <p:cNvPr id="62474" name="Rectangle 94"/>
            <p:cNvSpPr>
              <a:spLocks noChangeArrowheads="1"/>
            </p:cNvSpPr>
            <p:nvPr/>
          </p:nvSpPr>
          <p:spPr bwMode="auto">
            <a:xfrm>
              <a:off x="2304" y="3648"/>
              <a:ext cx="573" cy="230"/>
            </a:xfrm>
            <a:prstGeom prst="rect">
              <a:avLst/>
            </a:prstGeom>
            <a:solidFill>
              <a:srgbClr val="FFFFFF"/>
            </a:solidFill>
            <a:ln w="12700">
              <a:solidFill>
                <a:schemeClr val="tx1"/>
              </a:solidFill>
              <a:miter lim="800000"/>
            </a:ln>
          </p:spPr>
          <p:txBody>
            <a:bodyPr/>
            <a:lstStyle/>
            <a:p>
              <a:endParaRPr lang="zh-CN" altLang="zh-CN">
                <a:latin typeface="Consolas" panose="020B0609020204030204" pitchFamily="49" charset="0"/>
                <a:ea typeface="宋体" panose="02010600030101010101" pitchFamily="2" charset="-122"/>
              </a:endParaRPr>
            </a:p>
          </p:txBody>
        </p:sp>
        <p:sp>
          <p:nvSpPr>
            <p:cNvPr id="62475" name="Rectangle 95"/>
            <p:cNvSpPr>
              <a:spLocks noChangeArrowheads="1"/>
            </p:cNvSpPr>
            <p:nvPr/>
          </p:nvSpPr>
          <p:spPr bwMode="auto">
            <a:xfrm>
              <a:off x="3043" y="3648"/>
              <a:ext cx="572" cy="230"/>
            </a:xfrm>
            <a:prstGeom prst="rect">
              <a:avLst/>
            </a:prstGeom>
            <a:solidFill>
              <a:srgbClr val="FFFFFF"/>
            </a:solidFill>
            <a:ln w="12700">
              <a:solidFill>
                <a:schemeClr val="tx1"/>
              </a:solidFill>
              <a:miter lim="800000"/>
            </a:ln>
          </p:spPr>
          <p:txBody>
            <a:bodyPr/>
            <a:lstStyle/>
            <a:p>
              <a:endParaRPr lang="zh-CN" altLang="en-US">
                <a:latin typeface="Consolas" panose="020B0609020204030204" pitchFamily="49" charset="0"/>
              </a:endParaRPr>
            </a:p>
          </p:txBody>
        </p:sp>
        <p:sp>
          <p:nvSpPr>
            <p:cNvPr id="62476" name="Rectangle 96"/>
            <p:cNvSpPr>
              <a:spLocks noChangeArrowheads="1"/>
            </p:cNvSpPr>
            <p:nvPr/>
          </p:nvSpPr>
          <p:spPr bwMode="auto">
            <a:xfrm>
              <a:off x="2541" y="3871"/>
              <a:ext cx="124" cy="271"/>
            </a:xfrm>
            <a:prstGeom prst="rect">
              <a:avLst/>
            </a:prstGeom>
            <a:noFill/>
            <a:ln w="9525">
              <a:noFill/>
              <a:miter lim="800000"/>
            </a:ln>
          </p:spPr>
          <p:txBody>
            <a:bodyPr wrap="none" lIns="0" tIns="0" rIns="0" bIns="0">
              <a:spAutoFit/>
            </a:bodyPr>
            <a:lstStyle/>
            <a:p>
              <a:pPr algn="just"/>
              <a:r>
                <a:rPr lang="en-US" altLang="zh-CN" sz="2800" b="1">
                  <a:latin typeface="Consolas" panose="020B0609020204030204" pitchFamily="49" charset="0"/>
                  <a:ea typeface="宋体" panose="02010600030101010101" pitchFamily="2" charset="-122"/>
                </a:rPr>
                <a:t>x</a:t>
              </a:r>
              <a:endParaRPr lang="en-US" altLang="zh-CN" sz="3200">
                <a:latin typeface="Consolas" panose="020B0609020204030204" pitchFamily="49" charset="0"/>
                <a:ea typeface="宋体" panose="02010600030101010101" pitchFamily="2" charset="-122"/>
              </a:endParaRPr>
            </a:p>
          </p:txBody>
        </p:sp>
        <p:sp>
          <p:nvSpPr>
            <p:cNvPr id="62477" name="Rectangle 97"/>
            <p:cNvSpPr>
              <a:spLocks noChangeArrowheads="1"/>
            </p:cNvSpPr>
            <p:nvPr/>
          </p:nvSpPr>
          <p:spPr bwMode="auto">
            <a:xfrm>
              <a:off x="3278" y="3884"/>
              <a:ext cx="127" cy="271"/>
            </a:xfrm>
            <a:prstGeom prst="rect">
              <a:avLst/>
            </a:prstGeom>
            <a:noFill/>
            <a:ln w="9525">
              <a:noFill/>
              <a:miter lim="800000"/>
            </a:ln>
          </p:spPr>
          <p:txBody>
            <a:bodyPr wrap="none" lIns="0" tIns="0" rIns="0" bIns="0">
              <a:spAutoFit/>
            </a:bodyPr>
            <a:lstStyle/>
            <a:p>
              <a:pPr algn="just"/>
              <a:r>
                <a:rPr lang="en-US" altLang="zh-CN" sz="2800" b="1">
                  <a:latin typeface="Consolas" panose="020B0609020204030204" pitchFamily="49" charset="0"/>
                  <a:ea typeface="宋体" panose="02010600030101010101" pitchFamily="2" charset="-122"/>
                </a:rPr>
                <a:t>y</a:t>
              </a:r>
              <a:endParaRPr lang="en-US" altLang="zh-CN" sz="3200">
                <a:latin typeface="Consolas" panose="020B0609020204030204" pitchFamily="49" charset="0"/>
                <a:ea typeface="宋体" panose="02010600030101010101" pitchFamily="2" charset="-122"/>
              </a:endParaRPr>
            </a:p>
          </p:txBody>
        </p:sp>
        <p:sp>
          <p:nvSpPr>
            <p:cNvPr id="62478" name="Rectangle 98"/>
            <p:cNvSpPr>
              <a:spLocks noChangeArrowheads="1"/>
            </p:cNvSpPr>
            <p:nvPr/>
          </p:nvSpPr>
          <p:spPr bwMode="auto">
            <a:xfrm>
              <a:off x="2562" y="3667"/>
              <a:ext cx="194" cy="233"/>
            </a:xfrm>
            <a:prstGeom prst="rect">
              <a:avLst/>
            </a:prstGeom>
            <a:noFill/>
            <a:ln w="9525">
              <a:noFill/>
              <a:miter lim="800000"/>
            </a:ln>
          </p:spPr>
          <p:txBody>
            <a:bodyPr wrap="none" lIns="0" tIns="0" rIns="0" bIns="0">
              <a:spAutoFit/>
            </a:bodyPr>
            <a:lstStyle/>
            <a:p>
              <a:pPr algn="just"/>
              <a:r>
                <a:rPr lang="en-US" altLang="zh-CN" b="1" dirty="0" smtClean="0">
                  <a:solidFill>
                    <a:srgbClr val="000000"/>
                  </a:solidFill>
                  <a:latin typeface="+mn-lt"/>
                  <a:ea typeface="宋体" panose="02010600030101010101" pitchFamily="2" charset="-122"/>
                </a:rPr>
                <a:t>10</a:t>
              </a:r>
              <a:endParaRPr lang="en-US" altLang="zh-CN" b="1" dirty="0">
                <a:solidFill>
                  <a:srgbClr val="000000"/>
                </a:solidFill>
                <a:latin typeface="+mn-lt"/>
                <a:ea typeface="宋体" panose="02010600030101010101" pitchFamily="2" charset="-122"/>
              </a:endParaRPr>
            </a:p>
          </p:txBody>
        </p:sp>
        <p:sp>
          <p:nvSpPr>
            <p:cNvPr id="62479" name="Rectangle 99"/>
            <p:cNvSpPr>
              <a:spLocks noChangeArrowheads="1"/>
            </p:cNvSpPr>
            <p:nvPr/>
          </p:nvSpPr>
          <p:spPr bwMode="auto">
            <a:xfrm>
              <a:off x="3278" y="3667"/>
              <a:ext cx="107" cy="233"/>
            </a:xfrm>
            <a:prstGeom prst="rect">
              <a:avLst/>
            </a:prstGeom>
            <a:noFill/>
            <a:ln w="9525">
              <a:noFill/>
              <a:miter lim="800000"/>
            </a:ln>
          </p:spPr>
          <p:txBody>
            <a:bodyPr wrap="none" lIns="0" tIns="0" rIns="0" bIns="0">
              <a:spAutoFit/>
            </a:bodyPr>
            <a:lstStyle/>
            <a:p>
              <a:pPr algn="just"/>
              <a:r>
                <a:rPr lang="en-US" altLang="zh-CN" b="1">
                  <a:solidFill>
                    <a:srgbClr val="000000"/>
                  </a:solidFill>
                  <a:latin typeface="Consolas" panose="020B0609020204030204" pitchFamily="49" charset="0"/>
                  <a:ea typeface="宋体" panose="02010600030101010101" pitchFamily="2" charset="-122"/>
                </a:rPr>
                <a:t>5</a:t>
              </a:r>
              <a:endParaRPr lang="en-US" altLang="zh-CN" b="1">
                <a:solidFill>
                  <a:srgbClr val="000000"/>
                </a:solidFill>
                <a:latin typeface="Consolas" panose="020B0609020204030204" pitchFamily="49" charset="0"/>
                <a:ea typeface="宋体" panose="02010600030101010101" pitchFamily="2" charset="-122"/>
              </a:endParaRPr>
            </a:p>
          </p:txBody>
        </p:sp>
      </p:grpSp>
      <p:sp>
        <p:nvSpPr>
          <p:cNvPr id="62472" name="Text Box 100"/>
          <p:cNvSpPr txBox="1">
            <a:spLocks noChangeArrowheads="1"/>
          </p:cNvSpPr>
          <p:nvPr/>
        </p:nvSpPr>
        <p:spPr bwMode="auto">
          <a:xfrm>
            <a:off x="609600" y="381000"/>
            <a:ext cx="2514600" cy="519113"/>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800" b="1" dirty="0">
                <a:solidFill>
                  <a:srgbClr val="FFFF00"/>
                </a:solidFill>
                <a:latin typeface="+mn-lt"/>
                <a:ea typeface="+mj-ea"/>
              </a:rPr>
              <a:t>swap(</a:t>
            </a:r>
            <a:r>
              <a:rPr lang="en-US" altLang="zh-CN" sz="2800" b="1" dirty="0" err="1">
                <a:solidFill>
                  <a:srgbClr val="FFFF00"/>
                </a:solidFill>
                <a:latin typeface="+mn-lt"/>
                <a:ea typeface="+mj-ea"/>
              </a:rPr>
              <a:t>x,y</a:t>
            </a:r>
            <a:r>
              <a:rPr lang="en-US" altLang="zh-CN" sz="2800" b="1" dirty="0">
                <a:solidFill>
                  <a:srgbClr val="FFFF00"/>
                </a:solidFill>
                <a:latin typeface="+mn-lt"/>
                <a:ea typeface="+mj-ea"/>
              </a:rPr>
              <a:t>);</a:t>
            </a:r>
            <a:endParaRPr lang="en-US" altLang="zh-CN" sz="2800" b="1" dirty="0">
              <a:solidFill>
                <a:srgbClr val="FFFF00"/>
              </a:solidFill>
              <a:latin typeface="+mn-lt"/>
              <a:ea typeface="+mj-ea"/>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例</a:t>
            </a:r>
            <a:r>
              <a:rPr lang="en-US" altLang="zh-CN" smtClean="0"/>
              <a:t>3-13</a:t>
            </a:r>
            <a:r>
              <a:rPr lang="zh-CN" altLang="en-US" smtClean="0"/>
              <a:t>值传递与引用传递的比较</a:t>
            </a:r>
            <a:endParaRPr lang="zh-CN" altLang="en-US" smtClean="0"/>
          </a:p>
        </p:txBody>
      </p:sp>
      <p:sp>
        <p:nvSpPr>
          <p:cNvPr id="63491" name="内容占位符 2"/>
          <p:cNvSpPr>
            <a:spLocks noGrp="1"/>
          </p:cNvSpPr>
          <p:nvPr>
            <p:ph idx="1"/>
          </p:nvPr>
        </p:nvSpPr>
        <p:spPr>
          <a:xfrm>
            <a:off x="142875" y="1643063"/>
            <a:ext cx="4143375" cy="4810125"/>
          </a:xfrm>
          <a:solidFill>
            <a:schemeClr val="tx1"/>
          </a:solidFill>
        </p:spPr>
        <p:txBody>
          <a:bodyPr>
            <a:noAutofit/>
          </a:bodyPr>
          <a:lstStyle/>
          <a:p>
            <a:pPr marL="365760" indent="-255905" fontAlgn="auto">
              <a:spcBef>
                <a:spcPts val="0"/>
              </a:spcBef>
              <a:buClr>
                <a:schemeClr val="accent3"/>
              </a:buClr>
              <a:buNone/>
              <a:defRPr/>
            </a:pPr>
            <a:r>
              <a:rPr lang="en-US" altLang="zh-CN" sz="2400" b="1" dirty="0" smtClean="0">
                <a:solidFill>
                  <a:srgbClr val="000000"/>
                </a:solidFill>
                <a:ea typeface="+mj-ea"/>
              </a:rPr>
              <a:t>//3_13.cpp</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#include &lt;iostream&gt;</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#include &lt;iomanip&gt;</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using namespace std;</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void fiddle(int in1, int &amp;in2) </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	in1 = in1 + 100;</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	in2 = in2 + 100;</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	cout&lt;&lt;"The values are ";</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	cout &lt;&lt; setw(5) &lt;&lt; in1;</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	cout &lt;&lt; setw(5) &lt;&lt; in2 &lt;&lt; endl;</a:t>
            </a:r>
            <a:endParaRPr lang="en-US" altLang="zh-CN" sz="2400" b="1" dirty="0" smtClean="0">
              <a:solidFill>
                <a:srgbClr val="000000"/>
              </a:solidFill>
              <a:ea typeface="+mj-ea"/>
            </a:endParaRPr>
          </a:p>
          <a:p>
            <a:pPr marL="365760" indent="-255905" fontAlgn="auto">
              <a:spcBef>
                <a:spcPts val="0"/>
              </a:spcBef>
              <a:buClr>
                <a:schemeClr val="accent3"/>
              </a:buClr>
              <a:buNone/>
              <a:defRPr/>
            </a:pPr>
            <a:r>
              <a:rPr lang="en-US" altLang="zh-CN" sz="2400" b="1" dirty="0" smtClean="0">
                <a:solidFill>
                  <a:srgbClr val="000000"/>
                </a:solidFill>
                <a:ea typeface="+mj-ea"/>
              </a:rPr>
              <a:t>}</a:t>
            </a:r>
            <a:endParaRPr lang="en-US" altLang="zh-CN" sz="2400" b="1" dirty="0" smtClean="0">
              <a:solidFill>
                <a:srgbClr val="000000"/>
              </a:solidFill>
              <a:ea typeface="+mj-ea"/>
            </a:endParaRPr>
          </a:p>
        </p:txBody>
      </p:sp>
      <p:sp>
        <p:nvSpPr>
          <p:cNvPr id="63494" name="内容占位符 2"/>
          <p:cNvSpPr txBox="1"/>
          <p:nvPr/>
        </p:nvSpPr>
        <p:spPr bwMode="auto">
          <a:xfrm>
            <a:off x="4429125" y="1643063"/>
            <a:ext cx="4614863" cy="4787900"/>
          </a:xfrm>
          <a:prstGeom prst="rect">
            <a:avLst/>
          </a:prstGeom>
          <a:solidFill>
            <a:schemeClr val="tx1"/>
          </a:solidFill>
        </p:spPr>
        <p:txBody>
          <a:bodyPr>
            <a:noAutofit/>
          </a:bodyPr>
          <a:lstStyle/>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int main() { </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int v1 = 7, v2 = 12;</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"The values are ";</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setw(5) &lt;&lt; v1;</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setw(5) &lt;&lt; v2 &lt;&lt; endl;</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fiddle(v1, v2);</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"The values are ";</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setw(5) &lt;&lt; v1;</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cout &lt;&lt; setw(5) &lt;&lt; v2 &lt;&lt; endl;</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  return 0;</a:t>
            </a:r>
            <a:endParaRPr lang="en-US" altLang="zh-CN" b="1" dirty="0" smtClean="0">
              <a:solidFill>
                <a:srgbClr val="000000"/>
              </a:solidFill>
              <a:latin typeface="+mn-lt"/>
              <a:ea typeface="+mj-ea"/>
            </a:endParaRPr>
          </a:p>
          <a:p>
            <a:pPr marL="365760" indent="-255905" algn="l" fontAlgn="auto">
              <a:spcBef>
                <a:spcPts val="0"/>
              </a:spcBef>
              <a:buClr>
                <a:schemeClr val="accent3"/>
              </a:buClr>
              <a:buSzPct val="75000"/>
              <a:defRPr/>
            </a:pPr>
            <a:r>
              <a:rPr lang="en-US" altLang="zh-CN" b="1" dirty="0" smtClean="0">
                <a:solidFill>
                  <a:srgbClr val="000000"/>
                </a:solidFill>
                <a:latin typeface="+mn-lt"/>
                <a:ea typeface="+mj-ea"/>
              </a:rPr>
              <a:t>}</a:t>
            </a:r>
            <a:endParaRPr lang="en-US" altLang="zh-CN" b="1" dirty="0" smtClean="0">
              <a:solidFill>
                <a:srgbClr val="000000"/>
              </a:solidFill>
              <a:latin typeface="+mn-lt"/>
              <a:ea typeface="+mj-ea"/>
            </a:endParaRPr>
          </a:p>
        </p:txBody>
      </p:sp>
      <p:cxnSp>
        <p:nvCxnSpPr>
          <p:cNvPr id="8" name="直接连接符 7"/>
          <p:cNvCxnSpPr/>
          <p:nvPr/>
        </p:nvCxnSpPr>
        <p:spPr>
          <a:xfrm rot="5400000">
            <a:off x="1962944" y="4036219"/>
            <a:ext cx="4787900"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539552" y="491433"/>
            <a:ext cx="8229838" cy="799892"/>
          </a:xfrm>
        </p:spPr>
        <p:txBody>
          <a:bodyPr/>
          <a:lstStyle/>
          <a:p>
            <a:pPr algn="ctr"/>
            <a:r>
              <a:rPr kumimoji="0" lang="zh-CN" altLang="en-US" dirty="0"/>
              <a:t>可变数量形参</a:t>
            </a:r>
            <a:endParaRPr kumimoji="0" lang="zh-CN" altLang="en-US" dirty="0"/>
          </a:p>
        </p:txBody>
      </p:sp>
      <p:sp>
        <p:nvSpPr>
          <p:cNvPr id="69635" name="内容占位符 2"/>
          <p:cNvSpPr>
            <a:spLocks noGrp="1"/>
          </p:cNvSpPr>
          <p:nvPr>
            <p:ph idx="1"/>
          </p:nvPr>
        </p:nvSpPr>
        <p:spPr>
          <a:xfrm>
            <a:off x="539552" y="1196752"/>
            <a:ext cx="8116759" cy="3509049"/>
          </a:xfrm>
        </p:spPr>
        <p:txBody>
          <a:bodyPr/>
          <a:lstStyle/>
          <a:p>
            <a:pPr marL="171450" indent="-171450">
              <a:lnSpc>
                <a:spcPct val="150000"/>
              </a:lnSpc>
              <a:spcBef>
                <a:spcPts val="450"/>
              </a:spcBef>
            </a:pPr>
            <a:r>
              <a:rPr kumimoji="0" lang="zh-CN" altLang="en-US" sz="2000" b="1" dirty="0">
                <a:ea typeface="华文楷体" panose="02010600040101010101" pitchFamily="2" charset="-122"/>
              </a:rPr>
              <a:t>使用模板类</a:t>
            </a:r>
            <a:r>
              <a:rPr kumimoji="0" lang="en-US" altLang="zh-CN" sz="2000" b="1" dirty="0" err="1">
                <a:ea typeface="华文楷体" panose="02010600040101010101" pitchFamily="2" charset="-122"/>
              </a:rPr>
              <a:t>initializer_list</a:t>
            </a:r>
            <a:r>
              <a:rPr kumimoji="0" lang="en-US" altLang="zh-CN" sz="2000" b="1" dirty="0">
                <a:ea typeface="华文楷体" panose="02010600040101010101" pitchFamily="2" charset="-122"/>
              </a:rPr>
              <a:t>&lt;T&gt;</a:t>
            </a:r>
            <a:r>
              <a:rPr kumimoji="0" lang="zh-CN" altLang="en-US" sz="2000" b="1" dirty="0">
                <a:ea typeface="华文楷体" panose="02010600040101010101" pitchFamily="2" charset="-122"/>
              </a:rPr>
              <a:t>（</a:t>
            </a:r>
            <a:r>
              <a:rPr kumimoji="0" lang="en-US" altLang="zh-CN" sz="2000" b="1" dirty="0">
                <a:solidFill>
                  <a:srgbClr val="FF0000"/>
                </a:solidFill>
                <a:ea typeface="华文楷体" panose="02010600040101010101" pitchFamily="2" charset="-122"/>
              </a:rPr>
              <a:t>T</a:t>
            </a:r>
            <a:r>
              <a:rPr kumimoji="0" lang="zh-CN" altLang="en-US" sz="2000" b="1" dirty="0">
                <a:solidFill>
                  <a:srgbClr val="FF0000"/>
                </a:solidFill>
                <a:ea typeface="华文楷体" panose="02010600040101010101" pitchFamily="2" charset="-122"/>
              </a:rPr>
              <a:t>为类模板，模板将于第</a:t>
            </a:r>
            <a:r>
              <a:rPr kumimoji="0" lang="en-US" altLang="zh-CN" sz="2000" b="1" dirty="0">
                <a:solidFill>
                  <a:srgbClr val="FF0000"/>
                </a:solidFill>
                <a:ea typeface="华文楷体" panose="02010600040101010101" pitchFamily="2" charset="-122"/>
              </a:rPr>
              <a:t>9</a:t>
            </a:r>
            <a:r>
              <a:rPr kumimoji="0" lang="zh-CN" altLang="en-US" sz="2000" b="1" dirty="0">
                <a:solidFill>
                  <a:srgbClr val="FF0000"/>
                </a:solidFill>
                <a:ea typeface="华文楷体" panose="02010600040101010101" pitchFamily="2" charset="-122"/>
              </a:rPr>
              <a:t>章介绍</a:t>
            </a:r>
            <a:r>
              <a:rPr kumimoji="0" lang="zh-CN" altLang="en-US" sz="2000" b="1" dirty="0">
                <a:ea typeface="华文楷体" panose="02010600040101010101" pitchFamily="2" charset="-122"/>
              </a:rPr>
              <a:t>）可向函数传递同类型不定个数参数</a:t>
            </a:r>
            <a:r>
              <a:rPr kumimoji="0" lang="en-US" altLang="zh-CN" sz="2000" b="1" dirty="0">
                <a:ea typeface="华文楷体" panose="02010600040101010101" pitchFamily="2" charset="-122"/>
              </a:rPr>
              <a:t>,</a:t>
            </a:r>
            <a:r>
              <a:rPr kumimoji="0" lang="zh-CN" altLang="en-US" sz="2000" b="1" dirty="0">
                <a:ea typeface="华文楷体" panose="02010600040101010101" pitchFamily="2" charset="-122"/>
              </a:rPr>
              <a:t>例如</a:t>
            </a:r>
            <a:r>
              <a:rPr kumimoji="0" lang="en-US" altLang="zh-CN" sz="2000" b="1" dirty="0">
                <a:ea typeface="华文楷体" panose="02010600040101010101" pitchFamily="2" charset="-122"/>
              </a:rPr>
              <a:t>:</a:t>
            </a:r>
            <a:endParaRPr kumimoji="0" lang="en-US" altLang="zh-CN" sz="2000" b="1" dirty="0">
              <a:ea typeface="华文楷体" panose="02010600040101010101" pitchFamily="2" charset="-122"/>
            </a:endParaRPr>
          </a:p>
          <a:p>
            <a:pPr marL="81915" indent="0">
              <a:buNone/>
            </a:pPr>
            <a:r>
              <a:rPr kumimoji="0" lang="zh-CN" altLang="en-US" sz="2000" b="1" dirty="0">
                <a:solidFill>
                  <a:srgbClr val="FFFF00"/>
                </a:solidFill>
                <a:ea typeface="华文楷体" panose="02010600040101010101" pitchFamily="2" charset="-122"/>
              </a:rPr>
              <a:t>  </a:t>
            </a:r>
            <a:r>
              <a:rPr kumimoji="0" lang="en-US" altLang="zh-CN" sz="2000" b="1" dirty="0">
                <a:solidFill>
                  <a:srgbClr val="FFFF00"/>
                </a:solidFill>
                <a:ea typeface="华文楷体" panose="02010600040101010101" pitchFamily="2" charset="-122"/>
              </a:rPr>
              <a:t>void </a:t>
            </a:r>
            <a:r>
              <a:rPr kumimoji="0" lang="en-US" altLang="zh-CN" sz="2000" b="1" dirty="0" err="1">
                <a:solidFill>
                  <a:srgbClr val="FFFF00"/>
                </a:solidFill>
                <a:ea typeface="华文楷体" panose="02010600040101010101" pitchFamily="2" charset="-122"/>
              </a:rPr>
              <a:t>log_info</a:t>
            </a:r>
            <a:r>
              <a:rPr kumimoji="0" lang="en-US" altLang="zh-CN" sz="2000" b="1" dirty="0">
                <a:solidFill>
                  <a:srgbClr val="FFFF00"/>
                </a:solidFill>
                <a:ea typeface="华文楷体" panose="02010600040101010101" pitchFamily="2" charset="-122"/>
              </a:rPr>
              <a:t>(</a:t>
            </a:r>
            <a:r>
              <a:rPr kumimoji="0" lang="en-US" altLang="zh-CN" sz="2000" b="1" dirty="0" err="1">
                <a:solidFill>
                  <a:srgbClr val="FFFF00"/>
                </a:solidFill>
                <a:ea typeface="华文楷体" panose="02010600040101010101" pitchFamily="2" charset="-122"/>
              </a:rPr>
              <a:t>initializer_list</a:t>
            </a:r>
            <a:r>
              <a:rPr kumimoji="0" lang="en-US" altLang="zh-CN" sz="2000" b="1" dirty="0">
                <a:solidFill>
                  <a:srgbClr val="FFFF00"/>
                </a:solidFill>
                <a:ea typeface="华文楷体" panose="02010600040101010101" pitchFamily="2" charset="-122"/>
              </a:rPr>
              <a:t>&lt;string&gt; </a:t>
            </a:r>
            <a:r>
              <a:rPr kumimoji="0" lang="en-US" altLang="zh-CN" sz="2000" b="1" dirty="0" err="1">
                <a:solidFill>
                  <a:srgbClr val="FFFF00"/>
                </a:solidFill>
                <a:ea typeface="华文楷体" panose="02010600040101010101" pitchFamily="2" charset="-122"/>
              </a:rPr>
              <a:t>lst</a:t>
            </a:r>
            <a:r>
              <a:rPr kumimoji="0" lang="en-US" altLang="zh-CN" sz="2000" b="1" dirty="0">
                <a:solidFill>
                  <a:srgbClr val="FFFF00"/>
                </a:solidFill>
                <a:ea typeface="华文楷体" panose="02010600040101010101" pitchFamily="2" charset="-122"/>
              </a:rPr>
              <a:t>) {</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for (auto</a:t>
            </a:r>
            <a:r>
              <a:rPr kumimoji="0" lang="zh-CN" altLang="en-US" sz="2000" b="1" dirty="0">
                <a:solidFill>
                  <a:srgbClr val="FFFF00"/>
                </a:solidFill>
                <a:ea typeface="华文楷体" panose="02010600040101010101" pitchFamily="2" charset="-122"/>
              </a:rPr>
              <a:t> </a:t>
            </a:r>
            <a:r>
              <a:rPr kumimoji="0" lang="en-US" altLang="zh-CN" sz="2000" b="1" dirty="0">
                <a:solidFill>
                  <a:srgbClr val="FFFF00"/>
                </a:solidFill>
                <a:ea typeface="华文楷体" panose="02010600040101010101" pitchFamily="2" charset="-122"/>
              </a:rPr>
              <a:t>&amp;info:</a:t>
            </a:r>
            <a:r>
              <a:rPr kumimoji="0" lang="zh-CN" altLang="en-US"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lst</a:t>
            </a:r>
            <a:r>
              <a:rPr kumimoji="0" lang="en-US" altLang="zh-CN" sz="2000" b="1" dirty="0">
                <a:solidFill>
                  <a:srgbClr val="FFFF00"/>
                </a:solidFill>
                <a:ea typeface="华文楷体" panose="02010600040101010101" pitchFamily="2" charset="-122"/>
              </a:rPr>
              <a:t>)</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cout</a:t>
            </a:r>
            <a:r>
              <a:rPr kumimoji="0" lang="en-US" altLang="zh-CN" sz="2000" b="1" dirty="0">
                <a:solidFill>
                  <a:srgbClr val="FFFF00"/>
                </a:solidFill>
                <a:ea typeface="华文楷体" panose="02010600040101010101" pitchFamily="2" charset="-122"/>
              </a:rPr>
              <a:t> &lt;&lt; info &lt;&lt; ‘ ’;</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cout</a:t>
            </a:r>
            <a:r>
              <a:rPr kumimoji="0" lang="en-US" altLang="zh-CN" sz="2000" b="1" dirty="0">
                <a:solidFill>
                  <a:srgbClr val="FFFF00"/>
                </a:solidFill>
                <a:ea typeface="华文楷体" panose="02010600040101010101" pitchFamily="2" charset="-122"/>
              </a:rPr>
              <a:t> &lt;&lt; </a:t>
            </a:r>
            <a:r>
              <a:rPr kumimoji="0" lang="en-US" altLang="zh-CN" sz="2000" b="1" dirty="0" err="1">
                <a:solidFill>
                  <a:srgbClr val="FFFF00"/>
                </a:solidFill>
                <a:ea typeface="华文楷体" panose="02010600040101010101" pitchFamily="2" charset="-122"/>
              </a:rPr>
              <a:t>endl</a:t>
            </a:r>
            <a:r>
              <a:rPr kumimoji="0" lang="en-US" altLang="zh-CN" sz="2000" b="1" dirty="0">
                <a:solidFill>
                  <a:srgbClr val="FFFF00"/>
                </a:solidFill>
                <a:ea typeface="华文楷体" panose="02010600040101010101" pitchFamily="2" charset="-122"/>
              </a:rPr>
              <a:t>;</a:t>
            </a:r>
            <a:endParaRPr kumimoji="0" lang="zh-CN" altLang="zh-CN" sz="2000" b="1" dirty="0">
              <a:solidFill>
                <a:srgbClr val="FFFF00"/>
              </a:solidFill>
              <a:ea typeface="华文楷体" panose="02010600040101010101" pitchFamily="2" charset="-122"/>
            </a:endParaRPr>
          </a:p>
          <a:p>
            <a:pPr marL="81915" indent="0">
              <a:buNone/>
            </a:pPr>
            <a:r>
              <a:rPr kumimoji="0" lang="zh-CN" altLang="en-US" sz="2000" b="1" dirty="0">
                <a:solidFill>
                  <a:srgbClr val="FFFF00"/>
                </a:solidFill>
                <a:ea typeface="华文楷体" panose="02010600040101010101" pitchFamily="2" charset="-122"/>
              </a:rPr>
              <a:t>  </a:t>
            </a:r>
            <a:r>
              <a:rPr kumimoji="0" lang="en-US" altLang="zh-CN" sz="2000" b="1" dirty="0">
                <a:solidFill>
                  <a:srgbClr val="FFFF00"/>
                </a:solidFill>
                <a:ea typeface="华文楷体" panose="02010600040101010101" pitchFamily="2" charset="-122"/>
              </a:rPr>
              <a:t>}</a:t>
            </a:r>
            <a:endParaRPr kumimoji="0" lang="en-US" altLang="zh-CN" sz="2000" b="1" dirty="0">
              <a:solidFill>
                <a:srgbClr val="FFFF00"/>
              </a:solidFill>
              <a:ea typeface="华文楷体" panose="02010600040101010101" pitchFamily="2" charset="-122"/>
            </a:endParaRPr>
          </a:p>
          <a:p>
            <a:pPr marL="81915" indent="0">
              <a:buNone/>
            </a:pPr>
            <a:r>
              <a:rPr kumimoji="0" lang="zh-CN" altLang="en-US"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log_info</a:t>
            </a:r>
            <a:r>
              <a:rPr kumimoji="0" lang="en-US" altLang="zh-CN" sz="2000" b="1" dirty="0">
                <a:solidFill>
                  <a:srgbClr val="FFFF00"/>
                </a:solidFill>
                <a:ea typeface="华文楷体" panose="02010600040101010101" pitchFamily="2" charset="-122"/>
              </a:rPr>
              <a:t>(</a:t>
            </a:r>
            <a:r>
              <a:rPr kumimoji="0" lang="en-US" altLang="zh-CN" sz="2000" b="1" dirty="0">
                <a:solidFill>
                  <a:srgbClr val="FFFF00"/>
                </a:solidFill>
                <a:ea typeface="华文楷体" panose="02010600040101010101" pitchFamily="2" charset="-122"/>
                <a:sym typeface="+mn-ea"/>
              </a:rPr>
              <a:t>{“Hello”,</a:t>
            </a:r>
            <a:r>
              <a:rPr kumimoji="0" lang="zh-CN" altLang="en-US" sz="2000" b="1" dirty="0">
                <a:solidFill>
                  <a:srgbClr val="FFFF00"/>
                </a:solidFill>
                <a:ea typeface="华文楷体" panose="02010600040101010101" pitchFamily="2" charset="-122"/>
                <a:sym typeface="+mn-ea"/>
              </a:rPr>
              <a:t> </a:t>
            </a:r>
            <a:r>
              <a:rPr kumimoji="0" lang="en-US" altLang="zh-CN" sz="2000" b="1" dirty="0">
                <a:solidFill>
                  <a:srgbClr val="FFFF00"/>
                </a:solidFill>
                <a:ea typeface="华文楷体" panose="02010600040101010101" pitchFamily="2" charset="-122"/>
                <a:sym typeface="+mn-ea"/>
              </a:rPr>
              <a:t>”world”,</a:t>
            </a:r>
            <a:r>
              <a:rPr kumimoji="0" lang="zh-CN" altLang="en-US" sz="2000" b="1" dirty="0">
                <a:solidFill>
                  <a:srgbClr val="FFFF00"/>
                </a:solidFill>
                <a:ea typeface="华文楷体" panose="02010600040101010101" pitchFamily="2" charset="-122"/>
                <a:sym typeface="+mn-ea"/>
              </a:rPr>
              <a:t> </a:t>
            </a:r>
            <a:r>
              <a:rPr kumimoji="0" lang="en-US" altLang="zh-CN" sz="2000" b="1" dirty="0">
                <a:solidFill>
                  <a:srgbClr val="FFFF00"/>
                </a:solidFill>
                <a:ea typeface="华文楷体" panose="02010600040101010101" pitchFamily="2" charset="-122"/>
                <a:sym typeface="+mn-ea"/>
              </a:rPr>
              <a:t>“!”}</a:t>
            </a:r>
            <a:r>
              <a:rPr kumimoji="0" lang="en-US" altLang="zh-CN" sz="2000" b="1" dirty="0">
                <a:solidFill>
                  <a:srgbClr val="FFFF00"/>
                </a:solidFill>
                <a:ea typeface="华文楷体" panose="02010600040101010101" pitchFamily="2" charset="-122"/>
              </a:rPr>
              <a:t>);</a:t>
            </a:r>
            <a:endParaRPr kumimoji="0" lang="zh-CN" altLang="zh-CN" sz="2000" b="1" dirty="0">
              <a:solidFill>
                <a:srgbClr val="FFFF00"/>
              </a:solidFill>
              <a:ea typeface="华文楷体" panose="02010600040101010101" pitchFamily="2" charset="-122"/>
            </a:endParaRPr>
          </a:p>
          <a:p>
            <a:pPr marL="171450" indent="-171450">
              <a:lnSpc>
                <a:spcPct val="150000"/>
              </a:lnSpc>
              <a:spcBef>
                <a:spcPts val="450"/>
              </a:spcBef>
            </a:pPr>
            <a:r>
              <a:rPr kumimoji="0" lang="en-US" altLang="zh-CN" sz="2000" b="1" dirty="0" err="1">
                <a:ea typeface="华文楷体" panose="02010600040101010101" pitchFamily="2" charset="-122"/>
              </a:rPr>
              <a:t>initializer_list</a:t>
            </a:r>
            <a:r>
              <a:rPr kumimoji="0" lang="en-US" altLang="zh-CN" sz="2000" b="1" dirty="0">
                <a:ea typeface="华文楷体" panose="02010600040101010101" pitchFamily="2" charset="-122"/>
              </a:rPr>
              <a:t>&lt;string&gt; </a:t>
            </a:r>
            <a:r>
              <a:rPr kumimoji="0" lang="en-US" altLang="zh-CN" sz="2000" b="1" dirty="0" err="1">
                <a:ea typeface="华文楷体" panose="02010600040101010101" pitchFamily="2" charset="-122"/>
              </a:rPr>
              <a:t>lst</a:t>
            </a:r>
            <a:r>
              <a:rPr kumimoji="0" lang="zh-CN" altLang="en-US" sz="2000" b="1" dirty="0">
                <a:ea typeface="华文楷体" panose="02010600040101010101" pitchFamily="2" charset="-122"/>
              </a:rPr>
              <a:t>接受不定个数字符串实参</a:t>
            </a:r>
            <a:endParaRPr kumimoji="0" lang="zh-CN" altLang="en-US" sz="2000" b="1" dirty="0">
              <a:ea typeface="华文楷体" panose="02010600040101010101" pitchFamily="2" charset="-122"/>
            </a:endParaRPr>
          </a:p>
          <a:p>
            <a:pPr marL="171450" indent="-171450">
              <a:lnSpc>
                <a:spcPct val="150000"/>
              </a:lnSpc>
              <a:spcBef>
                <a:spcPts val="450"/>
              </a:spcBef>
            </a:pPr>
            <a:r>
              <a:rPr kumimoji="0" lang="zh-CN" altLang="en-US" sz="2000" b="1" dirty="0">
                <a:ea typeface="华文楷体" panose="02010600040101010101" pitchFamily="2" charset="-122"/>
              </a:rPr>
              <a:t>注意，实参以大括号列表方式给出</a:t>
            </a:r>
            <a:endParaRPr kumimoji="0" lang="zh-CN" altLang="en-US" sz="2000" b="1" dirty="0">
              <a:ea typeface="华文楷体" panose="02010600040101010101" pitchFamily="2" charset="-122"/>
            </a:endParaRPr>
          </a:p>
          <a:p>
            <a:pPr marL="171450" indent="-171450">
              <a:lnSpc>
                <a:spcPct val="150000"/>
              </a:lnSpc>
              <a:spcBef>
                <a:spcPts val="450"/>
              </a:spcBef>
            </a:pPr>
            <a:r>
              <a:rPr kumimoji="0" lang="zh-CN" altLang="en-US" sz="2000" b="1" dirty="0">
                <a:ea typeface="华文楷体" panose="02010600040101010101" pitchFamily="2" charset="-122"/>
              </a:rPr>
              <a:t>使用范围</a:t>
            </a:r>
            <a:r>
              <a:rPr kumimoji="0" lang="en-US" altLang="zh-CN" sz="2000" b="1" dirty="0">
                <a:ea typeface="华文楷体" panose="02010600040101010101" pitchFamily="2" charset="-122"/>
              </a:rPr>
              <a:t>for</a:t>
            </a:r>
            <a:r>
              <a:rPr kumimoji="0" lang="zh-CN" altLang="en-US" sz="2000" b="1" dirty="0">
                <a:ea typeface="华文楷体" panose="02010600040101010101" pitchFamily="2" charset="-122"/>
              </a:rPr>
              <a:t>语句遍历</a:t>
            </a:r>
            <a:r>
              <a:rPr kumimoji="0" lang="en-US" altLang="zh-CN" sz="2000" b="1" dirty="0" err="1">
                <a:ea typeface="华文楷体" panose="02010600040101010101" pitchFamily="2" charset="-122"/>
              </a:rPr>
              <a:t>lst</a:t>
            </a:r>
            <a:r>
              <a:rPr kumimoji="0" lang="zh-CN" altLang="en-US" sz="2000" b="1" dirty="0">
                <a:ea typeface="华文楷体" panose="02010600040101010101" pitchFamily="2" charset="-122"/>
              </a:rPr>
              <a:t>，</a:t>
            </a:r>
            <a:r>
              <a:rPr kumimoji="0" lang="en-US" altLang="zh-CN" sz="2000" b="1" dirty="0">
                <a:ea typeface="华文楷体" panose="02010600040101010101" pitchFamily="2" charset="-122"/>
              </a:rPr>
              <a:t>auto</a:t>
            </a:r>
            <a:r>
              <a:rPr kumimoji="0" lang="zh-CN" altLang="en-US" sz="2000" b="1" dirty="0">
                <a:ea typeface="华文楷体" panose="02010600040101010101" pitchFamily="2" charset="-122"/>
              </a:rPr>
              <a:t>自动推断元素为</a:t>
            </a:r>
            <a:r>
              <a:rPr kumimoji="0" lang="en-US" altLang="zh-CN" sz="2000" b="1" dirty="0">
                <a:ea typeface="华文楷体" panose="02010600040101010101" pitchFamily="2" charset="-122"/>
              </a:rPr>
              <a:t>string</a:t>
            </a:r>
            <a:r>
              <a:rPr kumimoji="0" lang="zh-CN" altLang="en-US" sz="2000" b="1" dirty="0">
                <a:ea typeface="华文楷体" panose="02010600040101010101" pitchFamily="2" charset="-122"/>
              </a:rPr>
              <a:t>类型</a:t>
            </a:r>
            <a:endParaRPr kumimoji="0" lang="en-US" altLang="zh-CN" sz="2000" b="1" dirty="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10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69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635">
                                            <p:txEl>
                                              <p:pRg st="2" end="2"/>
                                            </p:txEl>
                                          </p:spTgt>
                                        </p:tgtEl>
                                        <p:attrNameLst>
                                          <p:attrName>style.visibility</p:attrName>
                                        </p:attrNameLst>
                                      </p:cBhvr>
                                      <p:to>
                                        <p:strVal val="visible"/>
                                      </p:to>
                                    </p:set>
                                    <p:anim calcmode="lin" valueType="num">
                                      <p:cBhvr additive="base">
                                        <p:cTn id="13" dur="1000" fill="hold"/>
                                        <p:tgtEl>
                                          <p:spTgt spid="69635">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69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anim calcmode="lin" valueType="num">
                                      <p:cBhvr additive="base">
                                        <p:cTn id="19" dur="1000" fill="hold"/>
                                        <p:tgtEl>
                                          <p:spTgt spid="69635">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69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9635">
                                            <p:txEl>
                                              <p:pRg st="4" end="4"/>
                                            </p:txEl>
                                          </p:spTgt>
                                        </p:tgtEl>
                                        <p:attrNameLst>
                                          <p:attrName>style.visibility</p:attrName>
                                        </p:attrNameLst>
                                      </p:cBhvr>
                                      <p:to>
                                        <p:strVal val="visible"/>
                                      </p:to>
                                    </p:set>
                                    <p:anim calcmode="lin" valueType="num">
                                      <p:cBhvr additive="base">
                                        <p:cTn id="25" dur="1000" fill="hold"/>
                                        <p:tgtEl>
                                          <p:spTgt spid="69635">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696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9635">
                                            <p:txEl>
                                              <p:pRg st="5" end="5"/>
                                            </p:txEl>
                                          </p:spTgt>
                                        </p:tgtEl>
                                        <p:attrNameLst>
                                          <p:attrName>style.visibility</p:attrName>
                                        </p:attrNameLst>
                                      </p:cBhvr>
                                      <p:to>
                                        <p:strVal val="visible"/>
                                      </p:to>
                                    </p:set>
                                    <p:anim calcmode="lin" valueType="num">
                                      <p:cBhvr additive="base">
                                        <p:cTn id="31" dur="1000" fill="hold"/>
                                        <p:tgtEl>
                                          <p:spTgt spid="69635">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696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9635">
                                            <p:txEl>
                                              <p:pRg st="6" end="6"/>
                                            </p:txEl>
                                          </p:spTgt>
                                        </p:tgtEl>
                                        <p:attrNameLst>
                                          <p:attrName>style.visibility</p:attrName>
                                        </p:attrNameLst>
                                      </p:cBhvr>
                                      <p:to>
                                        <p:strVal val="visible"/>
                                      </p:to>
                                    </p:set>
                                    <p:anim calcmode="lin" valueType="num">
                                      <p:cBhvr additive="base">
                                        <p:cTn id="37" dur="1000" fill="hold"/>
                                        <p:tgtEl>
                                          <p:spTgt spid="69635">
                                            <p:txEl>
                                              <p:pRg st="6" end="6"/>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6963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539552" y="491433"/>
            <a:ext cx="8229838" cy="799892"/>
          </a:xfrm>
        </p:spPr>
        <p:txBody>
          <a:bodyPr/>
          <a:lstStyle/>
          <a:p>
            <a:pPr algn="ctr"/>
            <a:r>
              <a:rPr kumimoji="0" lang="zh-CN" altLang="en-US" dirty="0"/>
              <a:t>可变数量形参</a:t>
            </a:r>
            <a:endParaRPr kumimoji="0" lang="zh-CN" altLang="en-US" dirty="0"/>
          </a:p>
        </p:txBody>
      </p:sp>
      <p:sp>
        <p:nvSpPr>
          <p:cNvPr id="69635" name="内容占位符 2"/>
          <p:cNvSpPr>
            <a:spLocks noGrp="1"/>
          </p:cNvSpPr>
          <p:nvPr>
            <p:ph idx="1"/>
          </p:nvPr>
        </p:nvSpPr>
        <p:spPr>
          <a:xfrm>
            <a:off x="539552" y="1196752"/>
            <a:ext cx="8352928" cy="3509049"/>
          </a:xfrm>
        </p:spPr>
        <p:txBody>
          <a:bodyPr/>
          <a:lstStyle/>
          <a:p>
            <a:pPr marL="171450" indent="-171450">
              <a:lnSpc>
                <a:spcPct val="150000"/>
              </a:lnSpc>
              <a:spcBef>
                <a:spcPts val="450"/>
              </a:spcBef>
            </a:pPr>
            <a:r>
              <a:rPr kumimoji="0" lang="zh-CN" altLang="en-US" sz="2000" b="1" dirty="0" smtClean="0">
                <a:ea typeface="华文楷体" panose="02010600040101010101" pitchFamily="2" charset="-122"/>
              </a:rPr>
              <a:t>例如，使用</a:t>
            </a:r>
            <a:r>
              <a:rPr kumimoji="0" lang="en-US" altLang="zh-CN" sz="2000" b="1" dirty="0" err="1" smtClean="0">
                <a:ea typeface="华文楷体" panose="02010600040101010101" pitchFamily="2" charset="-122"/>
              </a:rPr>
              <a:t>initializer_list</a:t>
            </a:r>
            <a:r>
              <a:rPr kumimoji="0" lang="zh-CN" altLang="en-US" sz="2000" b="1" dirty="0" smtClean="0">
                <a:ea typeface="华文楷体" panose="02010600040101010101" pitchFamily="2" charset="-122"/>
              </a:rPr>
              <a:t>编写一个错误信息输出函数，使其可作用于可变数量的形参：</a:t>
            </a:r>
            <a:endParaRPr kumimoji="0" lang="en-US" altLang="zh-CN" sz="2000" b="1" dirty="0">
              <a:ea typeface="华文楷体" panose="02010600040101010101" pitchFamily="2" charset="-122"/>
            </a:endParaRPr>
          </a:p>
          <a:p>
            <a:pPr marL="81915" indent="0">
              <a:buNone/>
            </a:pPr>
            <a:r>
              <a:rPr kumimoji="0" lang="zh-CN" altLang="en-US" sz="2000" b="1" dirty="0">
                <a:solidFill>
                  <a:srgbClr val="FFFF00"/>
                </a:solidFill>
                <a:ea typeface="华文楷体" panose="02010600040101010101" pitchFamily="2" charset="-122"/>
              </a:rPr>
              <a:t>  </a:t>
            </a:r>
            <a:r>
              <a:rPr kumimoji="0" lang="en-US" altLang="zh-CN" sz="2000" b="1" dirty="0">
                <a:solidFill>
                  <a:srgbClr val="FFFF00"/>
                </a:solidFill>
                <a:ea typeface="华文楷体" panose="02010600040101010101" pitchFamily="2" charset="-122"/>
              </a:rPr>
              <a:t>void </a:t>
            </a:r>
            <a:r>
              <a:rPr kumimoji="0" lang="en-US" altLang="zh-CN" sz="2000" b="1" dirty="0" err="1" smtClean="0">
                <a:solidFill>
                  <a:srgbClr val="FFFF00"/>
                </a:solidFill>
                <a:ea typeface="华文楷体" panose="02010600040101010101" pitchFamily="2" charset="-122"/>
              </a:rPr>
              <a:t>print_err</a:t>
            </a:r>
            <a:r>
              <a:rPr kumimoji="0" lang="en-US" altLang="zh-CN" sz="2000" b="1" dirty="0" smtClean="0">
                <a:solidFill>
                  <a:srgbClr val="FFFF00"/>
                </a:solidFill>
                <a:ea typeface="华文楷体" panose="02010600040101010101" pitchFamily="2" charset="-122"/>
              </a:rPr>
              <a:t>(</a:t>
            </a:r>
            <a:r>
              <a:rPr kumimoji="0" lang="en-US" altLang="zh-CN" sz="2000" b="1" dirty="0" err="1" smtClean="0">
                <a:solidFill>
                  <a:srgbClr val="FFFF00"/>
                </a:solidFill>
                <a:ea typeface="华文楷体" panose="02010600040101010101" pitchFamily="2" charset="-122"/>
              </a:rPr>
              <a:t>initializer_list</a:t>
            </a:r>
            <a:r>
              <a:rPr kumimoji="0" lang="en-US" altLang="zh-CN" sz="2000" b="1" dirty="0" smtClean="0">
                <a:solidFill>
                  <a:srgbClr val="FFFF00"/>
                </a:solidFill>
                <a:ea typeface="华文楷体" panose="02010600040101010101" pitchFamily="2" charset="-122"/>
              </a:rPr>
              <a:t>&lt;string</a:t>
            </a:r>
            <a:r>
              <a:rPr kumimoji="0" lang="en-US" altLang="zh-CN" sz="2000" b="1" dirty="0">
                <a:solidFill>
                  <a:srgbClr val="FFFF00"/>
                </a:solidFill>
                <a:ea typeface="华文楷体" panose="02010600040101010101" pitchFamily="2" charset="-122"/>
              </a:rPr>
              <a:t>&gt; </a:t>
            </a:r>
            <a:r>
              <a:rPr kumimoji="0" lang="en-US" altLang="zh-CN" sz="2000" b="1" dirty="0" err="1">
                <a:solidFill>
                  <a:srgbClr val="FFFF00"/>
                </a:solidFill>
                <a:ea typeface="华文楷体" panose="02010600040101010101" pitchFamily="2" charset="-122"/>
              </a:rPr>
              <a:t>lst</a:t>
            </a:r>
            <a:r>
              <a:rPr kumimoji="0" lang="en-US" altLang="zh-CN" sz="2000" b="1" dirty="0">
                <a:solidFill>
                  <a:srgbClr val="FFFF00"/>
                </a:solidFill>
                <a:ea typeface="华文楷体" panose="02010600040101010101" pitchFamily="2" charset="-122"/>
              </a:rPr>
              <a:t>) {</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for (auto</a:t>
            </a:r>
            <a:r>
              <a:rPr kumimoji="0" lang="zh-CN" altLang="en-US" sz="2000" b="1" dirty="0">
                <a:solidFill>
                  <a:srgbClr val="FFFF00"/>
                </a:solidFill>
                <a:ea typeface="华文楷体" panose="02010600040101010101" pitchFamily="2" charset="-122"/>
              </a:rPr>
              <a:t> </a:t>
            </a:r>
            <a:r>
              <a:rPr kumimoji="0" lang="en-US" altLang="zh-CN" sz="2000" b="1" dirty="0" smtClean="0">
                <a:solidFill>
                  <a:srgbClr val="FFFF00"/>
                </a:solidFill>
                <a:ea typeface="华文楷体" panose="02010600040101010101" pitchFamily="2" charset="-122"/>
              </a:rPr>
              <a:t>beg=</a:t>
            </a:r>
            <a:r>
              <a:rPr kumimoji="0" lang="en-US" altLang="zh-CN" sz="2000" b="1" dirty="0" err="1" smtClean="0">
                <a:solidFill>
                  <a:srgbClr val="FFFF00"/>
                </a:solidFill>
                <a:ea typeface="华文楷体" panose="02010600040101010101" pitchFamily="2" charset="-122"/>
              </a:rPr>
              <a:t>lst.begin</a:t>
            </a:r>
            <a:r>
              <a:rPr kumimoji="0" lang="en-US" altLang="zh-CN" sz="2000" b="1" dirty="0" smtClean="0">
                <a:solidFill>
                  <a:srgbClr val="FFFF00"/>
                </a:solidFill>
                <a:ea typeface="华文楷体" panose="02010600040101010101" pitchFamily="2" charset="-122"/>
              </a:rPr>
              <a:t>();beg!=</a:t>
            </a:r>
            <a:r>
              <a:rPr kumimoji="0" lang="en-US" altLang="zh-CN" sz="2000" b="1" dirty="0" err="1" smtClean="0">
                <a:solidFill>
                  <a:srgbClr val="FFFF00"/>
                </a:solidFill>
                <a:ea typeface="华文楷体" panose="02010600040101010101" pitchFamily="2" charset="-122"/>
              </a:rPr>
              <a:t>lst.end</a:t>
            </a:r>
            <a:r>
              <a:rPr kumimoji="0" lang="en-US" altLang="zh-CN" sz="2000" b="1" dirty="0" smtClean="0">
                <a:solidFill>
                  <a:srgbClr val="FFFF00"/>
                </a:solidFill>
                <a:ea typeface="华文楷体" panose="02010600040101010101" pitchFamily="2" charset="-122"/>
              </a:rPr>
              <a:t>();++beg)</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cout</a:t>
            </a:r>
            <a:r>
              <a:rPr kumimoji="0" lang="en-US" altLang="zh-CN" sz="2000" b="1" dirty="0">
                <a:solidFill>
                  <a:srgbClr val="FFFF00"/>
                </a:solidFill>
                <a:ea typeface="华文楷体" panose="02010600040101010101" pitchFamily="2" charset="-122"/>
              </a:rPr>
              <a:t> &lt;&lt; </a:t>
            </a:r>
            <a:r>
              <a:rPr kumimoji="0" lang="en-US" altLang="zh-CN" sz="2000" b="1" dirty="0" smtClean="0">
                <a:solidFill>
                  <a:srgbClr val="FFFF00"/>
                </a:solidFill>
                <a:ea typeface="华文楷体" panose="02010600040101010101" pitchFamily="2" charset="-122"/>
              </a:rPr>
              <a:t>*beg </a:t>
            </a:r>
            <a:r>
              <a:rPr kumimoji="0" lang="en-US" altLang="zh-CN" sz="2000" b="1" dirty="0">
                <a:solidFill>
                  <a:srgbClr val="FFFF00"/>
                </a:solidFill>
                <a:ea typeface="华文楷体" panose="02010600040101010101" pitchFamily="2" charset="-122"/>
              </a:rPr>
              <a:t>&lt;&lt; ‘ ’;</a:t>
            </a:r>
            <a:endParaRPr kumimoji="0" lang="zh-CN" altLang="zh-CN" sz="2000" b="1" dirty="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a:t>
            </a:r>
            <a:r>
              <a:rPr kumimoji="0" lang="en-US" altLang="zh-CN" sz="2000" b="1" dirty="0" err="1">
                <a:solidFill>
                  <a:srgbClr val="FFFF00"/>
                </a:solidFill>
                <a:ea typeface="华文楷体" panose="02010600040101010101" pitchFamily="2" charset="-122"/>
              </a:rPr>
              <a:t>cout</a:t>
            </a:r>
            <a:r>
              <a:rPr kumimoji="0" lang="en-US" altLang="zh-CN" sz="2000" b="1" dirty="0">
                <a:solidFill>
                  <a:srgbClr val="FFFF00"/>
                </a:solidFill>
                <a:ea typeface="华文楷体" panose="02010600040101010101" pitchFamily="2" charset="-122"/>
              </a:rPr>
              <a:t> &lt;&lt; </a:t>
            </a:r>
            <a:r>
              <a:rPr kumimoji="0" lang="en-US" altLang="zh-CN" sz="2000" b="1" dirty="0" err="1">
                <a:solidFill>
                  <a:srgbClr val="FFFF00"/>
                </a:solidFill>
                <a:ea typeface="华文楷体" panose="02010600040101010101" pitchFamily="2" charset="-122"/>
              </a:rPr>
              <a:t>endl</a:t>
            </a:r>
            <a:r>
              <a:rPr kumimoji="0" lang="en-US" altLang="zh-CN" sz="2000" b="1" dirty="0">
                <a:solidFill>
                  <a:srgbClr val="FFFF00"/>
                </a:solidFill>
                <a:ea typeface="华文楷体" panose="02010600040101010101" pitchFamily="2" charset="-122"/>
              </a:rPr>
              <a:t>;</a:t>
            </a:r>
            <a:endParaRPr kumimoji="0" lang="zh-CN" altLang="zh-CN" sz="2000" b="1" dirty="0">
              <a:solidFill>
                <a:srgbClr val="FFFF00"/>
              </a:solidFill>
              <a:ea typeface="华文楷体" panose="02010600040101010101" pitchFamily="2" charset="-122"/>
            </a:endParaRPr>
          </a:p>
          <a:p>
            <a:pPr marL="81915" indent="0">
              <a:buNone/>
            </a:pPr>
            <a:r>
              <a:rPr kumimoji="0" lang="zh-CN" altLang="en-US" sz="2000" b="1" dirty="0">
                <a:solidFill>
                  <a:srgbClr val="FFFF00"/>
                </a:solidFill>
                <a:ea typeface="华文楷体" panose="02010600040101010101" pitchFamily="2" charset="-122"/>
              </a:rPr>
              <a:t>  </a:t>
            </a:r>
            <a:r>
              <a:rPr kumimoji="0" lang="en-US" altLang="zh-CN" sz="2000" b="1" dirty="0">
                <a:solidFill>
                  <a:srgbClr val="FFFF00"/>
                </a:solidFill>
                <a:ea typeface="华文楷体" panose="02010600040101010101" pitchFamily="2" charset="-122"/>
              </a:rPr>
              <a:t>}</a:t>
            </a:r>
            <a:endParaRPr kumimoji="0" lang="en-US" altLang="zh-CN" sz="2000" b="1" dirty="0">
              <a:solidFill>
                <a:srgbClr val="FFFF00"/>
              </a:solidFill>
              <a:ea typeface="华文楷体" panose="02010600040101010101" pitchFamily="2" charset="-122"/>
            </a:endParaRPr>
          </a:p>
          <a:p>
            <a:pPr marL="81915" indent="0">
              <a:buNone/>
            </a:pPr>
            <a:r>
              <a:rPr kumimoji="0" lang="en-US" altLang="zh-CN" sz="2000" b="1" dirty="0" smtClean="0">
                <a:solidFill>
                  <a:srgbClr val="FFFF00"/>
                </a:solidFill>
                <a:ea typeface="华文楷体" panose="02010600040101010101" pitchFamily="2" charset="-122"/>
              </a:rPr>
              <a:t>//</a:t>
            </a:r>
            <a:r>
              <a:rPr kumimoji="0" lang="zh-CN" altLang="en-US" sz="2000" b="1" dirty="0" smtClean="0">
                <a:solidFill>
                  <a:srgbClr val="FFFF00"/>
                </a:solidFill>
                <a:ea typeface="华文楷体" panose="02010600040101010101" pitchFamily="2" charset="-122"/>
              </a:rPr>
              <a:t>如果想向</a:t>
            </a:r>
            <a:r>
              <a:rPr kumimoji="0" lang="en-US" altLang="zh-CN" sz="2000" b="1" dirty="0" err="1" smtClean="0">
                <a:solidFill>
                  <a:srgbClr val="FFFF00"/>
                </a:solidFill>
                <a:ea typeface="华文楷体" panose="02010600040101010101" pitchFamily="2" charset="-122"/>
              </a:rPr>
              <a:t>initializer_list</a:t>
            </a:r>
            <a:r>
              <a:rPr kumimoji="0" lang="zh-CN" altLang="en-US" sz="2000" b="1" dirty="0" smtClean="0">
                <a:solidFill>
                  <a:srgbClr val="FFFF00"/>
                </a:solidFill>
                <a:ea typeface="华文楷体" panose="02010600040101010101" pitchFamily="2" charset="-122"/>
              </a:rPr>
              <a:t>传递一个值的序列，则必须把序列放在一对</a:t>
            </a:r>
            <a:r>
              <a:rPr kumimoji="0" lang="en-US" altLang="zh-CN" sz="2000" b="1" dirty="0" smtClean="0">
                <a:solidFill>
                  <a:srgbClr val="FFFF00"/>
                </a:solidFill>
                <a:ea typeface="华文楷体" panose="02010600040101010101" pitchFamily="2" charset="-122"/>
              </a:rPr>
              <a:t>{}</a:t>
            </a:r>
            <a:r>
              <a:rPr kumimoji="0" lang="zh-CN" altLang="en-US" sz="2000" b="1" dirty="0" smtClean="0">
                <a:solidFill>
                  <a:srgbClr val="FFFF00"/>
                </a:solidFill>
                <a:ea typeface="华文楷体" panose="02010600040101010101" pitchFamily="2" charset="-122"/>
              </a:rPr>
              <a:t>内  </a:t>
            </a:r>
            <a:endParaRPr kumimoji="0" lang="en-US" altLang="zh-CN" sz="2000" b="1" dirty="0" smtClean="0">
              <a:solidFill>
                <a:srgbClr val="FFFF00"/>
              </a:solidFill>
              <a:ea typeface="华文楷体" panose="02010600040101010101" pitchFamily="2" charset="-122"/>
            </a:endParaRPr>
          </a:p>
          <a:p>
            <a:pPr marL="81915" indent="0">
              <a:buNone/>
            </a:pPr>
            <a:r>
              <a:rPr kumimoji="0" lang="en-US" altLang="zh-CN" sz="2000" b="1" dirty="0" smtClean="0">
                <a:solidFill>
                  <a:srgbClr val="FFFF00"/>
                </a:solidFill>
                <a:ea typeface="华文楷体" panose="02010600040101010101" pitchFamily="2" charset="-122"/>
              </a:rPr>
              <a:t>//expected</a:t>
            </a:r>
            <a:r>
              <a:rPr kumimoji="0" lang="zh-CN" altLang="en-US" sz="2000" b="1" dirty="0" smtClean="0">
                <a:solidFill>
                  <a:srgbClr val="FFFF00"/>
                </a:solidFill>
                <a:ea typeface="华文楷体" panose="02010600040101010101" pitchFamily="2" charset="-122"/>
              </a:rPr>
              <a:t>和</a:t>
            </a:r>
            <a:r>
              <a:rPr kumimoji="0" lang="en-US" altLang="zh-CN" sz="2000" b="1" dirty="0" smtClean="0">
                <a:solidFill>
                  <a:srgbClr val="FFFF00"/>
                </a:solidFill>
                <a:ea typeface="华文楷体" panose="02010600040101010101" pitchFamily="2" charset="-122"/>
              </a:rPr>
              <a:t>actual</a:t>
            </a:r>
            <a:r>
              <a:rPr kumimoji="0" lang="zh-CN" altLang="en-US" sz="2000" b="1" dirty="0" smtClean="0">
                <a:solidFill>
                  <a:srgbClr val="FFFF00"/>
                </a:solidFill>
                <a:ea typeface="华文楷体" panose="02010600040101010101" pitchFamily="2" charset="-122"/>
              </a:rPr>
              <a:t>是</a:t>
            </a:r>
            <a:r>
              <a:rPr kumimoji="0" lang="en-US" altLang="zh-CN" sz="2000" b="1" dirty="0" smtClean="0">
                <a:solidFill>
                  <a:srgbClr val="FFFF00"/>
                </a:solidFill>
                <a:ea typeface="华文楷体" panose="02010600040101010101" pitchFamily="2" charset="-122"/>
              </a:rPr>
              <a:t>string</a:t>
            </a:r>
            <a:r>
              <a:rPr kumimoji="0" lang="zh-CN" altLang="en-US" sz="2000" b="1" dirty="0" smtClean="0">
                <a:solidFill>
                  <a:srgbClr val="FFFF00"/>
                </a:solidFill>
                <a:ea typeface="华文楷体" panose="02010600040101010101" pitchFamily="2" charset="-122"/>
              </a:rPr>
              <a:t>对象</a:t>
            </a:r>
            <a:endParaRPr kumimoji="0" lang="en-US" altLang="zh-CN" sz="2000" b="1" dirty="0" smtClean="0">
              <a:solidFill>
                <a:srgbClr val="FFFF00"/>
              </a:solidFill>
              <a:ea typeface="华文楷体" panose="02010600040101010101" pitchFamily="2" charset="-122"/>
            </a:endParaRPr>
          </a:p>
          <a:p>
            <a:pPr marL="81915" indent="0">
              <a:buNone/>
            </a:pPr>
            <a:r>
              <a:rPr kumimoji="0" lang="en-US" altLang="zh-CN" sz="2000" b="1" dirty="0" smtClean="0">
                <a:solidFill>
                  <a:srgbClr val="FFFF00"/>
                </a:solidFill>
                <a:ea typeface="华文楷体" panose="02010600040101010101" pitchFamily="2" charset="-122"/>
              </a:rPr>
              <a:t>if(expected!=actual)</a:t>
            </a:r>
            <a:endParaRPr kumimoji="0" lang="en-US" altLang="zh-CN" sz="2000" b="1" dirty="0" smtClean="0">
              <a:solidFill>
                <a:srgbClr val="FFFF00"/>
              </a:solidFill>
              <a:ea typeface="华文楷体" panose="02010600040101010101" pitchFamily="2" charset="-122"/>
            </a:endParaRPr>
          </a:p>
          <a:p>
            <a:pPr marL="81915" indent="0">
              <a:buNone/>
            </a:pPr>
            <a:r>
              <a:rPr kumimoji="0" lang="en-US" altLang="zh-CN" sz="2000" b="1" dirty="0">
                <a:solidFill>
                  <a:srgbClr val="FFFF00"/>
                </a:solidFill>
                <a:ea typeface="华文楷体" panose="02010600040101010101" pitchFamily="2" charset="-122"/>
              </a:rPr>
              <a:t> </a:t>
            </a:r>
            <a:r>
              <a:rPr kumimoji="0" lang="en-US" altLang="zh-CN" sz="2000" b="1" dirty="0" smtClean="0">
                <a:solidFill>
                  <a:srgbClr val="FFFF00"/>
                </a:solidFill>
                <a:ea typeface="华文楷体" panose="02010600040101010101" pitchFamily="2" charset="-122"/>
              </a:rPr>
              <a:t>  </a:t>
            </a:r>
            <a:r>
              <a:rPr kumimoji="0" lang="en-US" altLang="zh-CN" sz="2000" b="1" dirty="0" err="1" smtClean="0">
                <a:solidFill>
                  <a:srgbClr val="FFFF00"/>
                </a:solidFill>
                <a:ea typeface="华文楷体" panose="02010600040101010101" pitchFamily="2" charset="-122"/>
              </a:rPr>
              <a:t>print_err</a:t>
            </a:r>
            <a:r>
              <a:rPr kumimoji="0" lang="en-US" altLang="zh-CN" sz="2000" b="1" dirty="0" smtClean="0">
                <a:solidFill>
                  <a:srgbClr val="FFFF00"/>
                </a:solidFill>
                <a:ea typeface="华文楷体" panose="02010600040101010101" pitchFamily="2" charset="-122"/>
              </a:rPr>
              <a:t>({“return”,actual,”,”,</a:t>
            </a:r>
            <a:r>
              <a:rPr kumimoji="0" lang="en-US" altLang="zh-CN" sz="2000" b="1" dirty="0" err="1" smtClean="0">
                <a:solidFill>
                  <a:srgbClr val="FFFF00"/>
                </a:solidFill>
                <a:ea typeface="华文楷体" panose="02010600040101010101" pitchFamily="2" charset="-122"/>
              </a:rPr>
              <a:t>expcted</a:t>
            </a:r>
            <a:r>
              <a:rPr kumimoji="0" lang="en-US" altLang="zh-CN" sz="2000" b="1" dirty="0" smtClean="0">
                <a:solidFill>
                  <a:srgbClr val="FFFF00"/>
                </a:solidFill>
                <a:ea typeface="华文楷体" panose="02010600040101010101" pitchFamily="2" charset="-122"/>
              </a:rPr>
              <a:t>,”</a:t>
            </a:r>
            <a:r>
              <a:rPr kumimoji="0" lang="en-US" altLang="zh-CN" sz="2000" b="1" dirty="0" err="1" smtClean="0">
                <a:solidFill>
                  <a:srgbClr val="FFFF00"/>
                </a:solidFill>
                <a:ea typeface="华文楷体" panose="02010600040101010101" pitchFamily="2" charset="-122"/>
              </a:rPr>
              <a:t>is”,”expected</a:t>
            </a:r>
            <a:r>
              <a:rPr kumimoji="0" lang="en-US" altLang="zh-CN" sz="2000" b="1" dirty="0" smtClean="0">
                <a:solidFill>
                  <a:srgbClr val="FFFF00"/>
                </a:solidFill>
                <a:ea typeface="华文楷体" panose="02010600040101010101" pitchFamily="2" charset="-122"/>
              </a:rPr>
              <a:t>”});</a:t>
            </a:r>
            <a:endParaRPr kumimoji="0" lang="en-US" altLang="zh-CN" sz="2000" b="1" dirty="0" smtClean="0">
              <a:solidFill>
                <a:srgbClr val="FFFF00"/>
              </a:solidFill>
              <a:ea typeface="华文楷体" panose="02010600040101010101" pitchFamily="2" charset="-122"/>
            </a:endParaRPr>
          </a:p>
          <a:p>
            <a:pPr marL="81915" indent="0">
              <a:buNone/>
            </a:pPr>
            <a:r>
              <a:rPr kumimoji="0" lang="en-US" altLang="zh-CN" sz="2000" b="1" dirty="0" smtClean="0">
                <a:solidFill>
                  <a:srgbClr val="FFFF00"/>
                </a:solidFill>
                <a:ea typeface="华文楷体" panose="02010600040101010101" pitchFamily="2" charset="-122"/>
              </a:rPr>
              <a:t>else</a:t>
            </a:r>
            <a:endParaRPr kumimoji="0" lang="en-US" altLang="zh-CN" sz="2000" b="1" dirty="0" smtClean="0">
              <a:solidFill>
                <a:srgbClr val="FFFF00"/>
              </a:solidFill>
              <a:ea typeface="华文楷体" panose="02010600040101010101" pitchFamily="2" charset="-122"/>
            </a:endParaRPr>
          </a:p>
          <a:p>
            <a:pPr marL="81915" indent="0">
              <a:buNone/>
            </a:pPr>
            <a:r>
              <a:rPr kumimoji="0" lang="en-US" altLang="zh-CN" sz="2000" b="1" dirty="0" smtClean="0">
                <a:solidFill>
                  <a:srgbClr val="FFFF00"/>
                </a:solidFill>
                <a:ea typeface="华文楷体" panose="02010600040101010101" pitchFamily="2" charset="-122"/>
              </a:rPr>
              <a:t>   </a:t>
            </a:r>
            <a:r>
              <a:rPr kumimoji="0" lang="en-US" altLang="zh-CN" sz="2000" b="1" dirty="0" err="1" smtClean="0">
                <a:solidFill>
                  <a:srgbClr val="FFFF00"/>
                </a:solidFill>
                <a:ea typeface="华文楷体" panose="02010600040101010101" pitchFamily="2" charset="-122"/>
              </a:rPr>
              <a:t>print_err</a:t>
            </a:r>
            <a:r>
              <a:rPr kumimoji="0" lang="en-US" altLang="zh-CN" sz="2000" b="1" dirty="0" smtClean="0">
                <a:solidFill>
                  <a:srgbClr val="FFFF00"/>
                </a:solidFill>
                <a:ea typeface="华文楷体" panose="02010600040101010101" pitchFamily="2" charset="-122"/>
              </a:rPr>
              <a:t>({“</a:t>
            </a:r>
            <a:r>
              <a:rPr kumimoji="0" lang="en-US" altLang="zh-CN" sz="2000" b="1" dirty="0" err="1" smtClean="0">
                <a:solidFill>
                  <a:srgbClr val="FFFF00"/>
                </a:solidFill>
                <a:ea typeface="华文楷体" panose="02010600040101010101" pitchFamily="2" charset="-122"/>
              </a:rPr>
              <a:t>function”,”right</a:t>
            </a:r>
            <a:r>
              <a:rPr kumimoji="0" lang="en-US" altLang="zh-CN" sz="2000" b="1" dirty="0" smtClean="0">
                <a:solidFill>
                  <a:srgbClr val="FFFF00"/>
                </a:solidFill>
                <a:ea typeface="华文楷体" panose="02010600040101010101" pitchFamily="2" charset="-122"/>
              </a:rPr>
              <a:t>”});</a:t>
            </a:r>
            <a:endParaRPr kumimoji="0" lang="en-US" altLang="zh-CN" sz="2000" b="1" dirty="0" smtClean="0">
              <a:solidFill>
                <a:srgbClr val="FFFF00"/>
              </a:solidFill>
              <a:ea typeface="华文楷体" panose="02010600040101010101" pitchFamily="2" charset="-122"/>
            </a:endParaRPr>
          </a:p>
          <a:p>
            <a:pPr marL="81915" indent="0">
              <a:buNone/>
            </a:pPr>
            <a:endParaRPr kumimoji="0" lang="en-US" altLang="zh-CN" sz="2000" b="1" dirty="0">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10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69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635">
                                            <p:txEl>
                                              <p:pRg st="2" end="2"/>
                                            </p:txEl>
                                          </p:spTgt>
                                        </p:tgtEl>
                                        <p:attrNameLst>
                                          <p:attrName>style.visibility</p:attrName>
                                        </p:attrNameLst>
                                      </p:cBhvr>
                                      <p:to>
                                        <p:strVal val="visible"/>
                                      </p:to>
                                    </p:set>
                                    <p:anim calcmode="lin" valueType="num">
                                      <p:cBhvr additive="base">
                                        <p:cTn id="13" dur="1000" fill="hold"/>
                                        <p:tgtEl>
                                          <p:spTgt spid="69635">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69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anim calcmode="lin" valueType="num">
                                      <p:cBhvr additive="base">
                                        <p:cTn id="19" dur="1000" fill="hold"/>
                                        <p:tgtEl>
                                          <p:spTgt spid="69635">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69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9635">
                                            <p:txEl>
                                              <p:pRg st="4" end="4"/>
                                            </p:txEl>
                                          </p:spTgt>
                                        </p:tgtEl>
                                        <p:attrNameLst>
                                          <p:attrName>style.visibility</p:attrName>
                                        </p:attrNameLst>
                                      </p:cBhvr>
                                      <p:to>
                                        <p:strVal val="visible"/>
                                      </p:to>
                                    </p:set>
                                    <p:anim calcmode="lin" valueType="num">
                                      <p:cBhvr additive="base">
                                        <p:cTn id="25" dur="1000" fill="hold"/>
                                        <p:tgtEl>
                                          <p:spTgt spid="69635">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696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9635">
                                            <p:txEl>
                                              <p:pRg st="5" end="5"/>
                                            </p:txEl>
                                          </p:spTgt>
                                        </p:tgtEl>
                                        <p:attrNameLst>
                                          <p:attrName>style.visibility</p:attrName>
                                        </p:attrNameLst>
                                      </p:cBhvr>
                                      <p:to>
                                        <p:strVal val="visible"/>
                                      </p:to>
                                    </p:set>
                                    <p:anim calcmode="lin" valueType="num">
                                      <p:cBhvr additive="base">
                                        <p:cTn id="31" dur="1000" fill="hold"/>
                                        <p:tgtEl>
                                          <p:spTgt spid="69635">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696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9635">
                                            <p:txEl>
                                              <p:pRg st="6" end="6"/>
                                            </p:txEl>
                                          </p:spTgt>
                                        </p:tgtEl>
                                        <p:attrNameLst>
                                          <p:attrName>style.visibility</p:attrName>
                                        </p:attrNameLst>
                                      </p:cBhvr>
                                      <p:to>
                                        <p:strVal val="visible"/>
                                      </p:to>
                                    </p:set>
                                    <p:anim calcmode="lin" valueType="num">
                                      <p:cBhvr additive="base">
                                        <p:cTn id="37" dur="1000" fill="hold"/>
                                        <p:tgtEl>
                                          <p:spTgt spid="69635">
                                            <p:txEl>
                                              <p:pRg st="6" end="6"/>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696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69635">
                                            <p:txEl>
                                              <p:pRg st="7" end="7"/>
                                            </p:txEl>
                                          </p:spTgt>
                                        </p:tgtEl>
                                        <p:attrNameLst>
                                          <p:attrName>style.visibility</p:attrName>
                                        </p:attrNameLst>
                                      </p:cBhvr>
                                      <p:to>
                                        <p:strVal val="visible"/>
                                      </p:to>
                                    </p:set>
                                    <p:anim calcmode="lin" valueType="num">
                                      <p:cBhvr additive="base">
                                        <p:cTn id="43" dur="1000" fill="hold"/>
                                        <p:tgtEl>
                                          <p:spTgt spid="69635">
                                            <p:txEl>
                                              <p:pRg st="7" end="7"/>
                                            </p:txEl>
                                          </p:spTgt>
                                        </p:tgtEl>
                                        <p:attrNameLst>
                                          <p:attrName>ppt_x</p:attrName>
                                        </p:attrNameLst>
                                      </p:cBhvr>
                                      <p:tavLst>
                                        <p:tav tm="0">
                                          <p:val>
                                            <p:strVal val="0-#ppt_w/2"/>
                                          </p:val>
                                        </p:tav>
                                        <p:tav tm="100000">
                                          <p:val>
                                            <p:strVal val="#ppt_x"/>
                                          </p:val>
                                        </p:tav>
                                      </p:tavLst>
                                    </p:anim>
                                    <p:anim calcmode="lin" valueType="num">
                                      <p:cBhvr additive="base">
                                        <p:cTn id="44" dur="1000" fill="hold"/>
                                        <p:tgtEl>
                                          <p:spTgt spid="6963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69635">
                                            <p:txEl>
                                              <p:pRg st="8" end="8"/>
                                            </p:txEl>
                                          </p:spTgt>
                                        </p:tgtEl>
                                        <p:attrNameLst>
                                          <p:attrName>style.visibility</p:attrName>
                                        </p:attrNameLst>
                                      </p:cBhvr>
                                      <p:to>
                                        <p:strVal val="visible"/>
                                      </p:to>
                                    </p:set>
                                    <p:anim calcmode="lin" valueType="num">
                                      <p:cBhvr additive="base">
                                        <p:cTn id="49" dur="1000" fill="hold"/>
                                        <p:tgtEl>
                                          <p:spTgt spid="69635">
                                            <p:txEl>
                                              <p:pRg st="8" end="8"/>
                                            </p:txEl>
                                          </p:spTgt>
                                        </p:tgtEl>
                                        <p:attrNameLst>
                                          <p:attrName>ppt_x</p:attrName>
                                        </p:attrNameLst>
                                      </p:cBhvr>
                                      <p:tavLst>
                                        <p:tav tm="0">
                                          <p:val>
                                            <p:strVal val="0-#ppt_w/2"/>
                                          </p:val>
                                        </p:tav>
                                        <p:tav tm="100000">
                                          <p:val>
                                            <p:strVal val="#ppt_x"/>
                                          </p:val>
                                        </p:tav>
                                      </p:tavLst>
                                    </p:anim>
                                    <p:anim calcmode="lin" valueType="num">
                                      <p:cBhvr additive="base">
                                        <p:cTn id="50" dur="1000" fill="hold"/>
                                        <p:tgtEl>
                                          <p:spTgt spid="6963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69635">
                                            <p:txEl>
                                              <p:pRg st="9" end="9"/>
                                            </p:txEl>
                                          </p:spTgt>
                                        </p:tgtEl>
                                        <p:attrNameLst>
                                          <p:attrName>style.visibility</p:attrName>
                                        </p:attrNameLst>
                                      </p:cBhvr>
                                      <p:to>
                                        <p:strVal val="visible"/>
                                      </p:to>
                                    </p:set>
                                    <p:anim calcmode="lin" valueType="num">
                                      <p:cBhvr additive="base">
                                        <p:cTn id="55" dur="1000" fill="hold"/>
                                        <p:tgtEl>
                                          <p:spTgt spid="69635">
                                            <p:txEl>
                                              <p:pRg st="9" end="9"/>
                                            </p:txEl>
                                          </p:spTgt>
                                        </p:tgtEl>
                                        <p:attrNameLst>
                                          <p:attrName>ppt_x</p:attrName>
                                        </p:attrNameLst>
                                      </p:cBhvr>
                                      <p:tavLst>
                                        <p:tav tm="0">
                                          <p:val>
                                            <p:strVal val="0-#ppt_w/2"/>
                                          </p:val>
                                        </p:tav>
                                        <p:tav tm="100000">
                                          <p:val>
                                            <p:strVal val="#ppt_x"/>
                                          </p:val>
                                        </p:tav>
                                      </p:tavLst>
                                    </p:anim>
                                    <p:anim calcmode="lin" valueType="num">
                                      <p:cBhvr additive="base">
                                        <p:cTn id="56" dur="1000" fill="hold"/>
                                        <p:tgtEl>
                                          <p:spTgt spid="6963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69635">
                                            <p:txEl>
                                              <p:pRg st="10" end="10"/>
                                            </p:txEl>
                                          </p:spTgt>
                                        </p:tgtEl>
                                        <p:attrNameLst>
                                          <p:attrName>style.visibility</p:attrName>
                                        </p:attrNameLst>
                                      </p:cBhvr>
                                      <p:to>
                                        <p:strVal val="visible"/>
                                      </p:to>
                                    </p:set>
                                    <p:anim calcmode="lin" valueType="num">
                                      <p:cBhvr additive="base">
                                        <p:cTn id="61" dur="1000" fill="hold"/>
                                        <p:tgtEl>
                                          <p:spTgt spid="69635">
                                            <p:txEl>
                                              <p:pRg st="10" end="10"/>
                                            </p:txEl>
                                          </p:spTgt>
                                        </p:tgtEl>
                                        <p:attrNameLst>
                                          <p:attrName>ppt_x</p:attrName>
                                        </p:attrNameLst>
                                      </p:cBhvr>
                                      <p:tavLst>
                                        <p:tav tm="0">
                                          <p:val>
                                            <p:strVal val="0-#ppt_w/2"/>
                                          </p:val>
                                        </p:tav>
                                        <p:tav tm="100000">
                                          <p:val>
                                            <p:strVal val="#ppt_x"/>
                                          </p:val>
                                        </p:tav>
                                      </p:tavLst>
                                    </p:anim>
                                    <p:anim calcmode="lin" valueType="num">
                                      <p:cBhvr additive="base">
                                        <p:cTn id="62" dur="1000" fill="hold"/>
                                        <p:tgtEl>
                                          <p:spTgt spid="6963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69635">
                                            <p:txEl>
                                              <p:pRg st="11" end="11"/>
                                            </p:txEl>
                                          </p:spTgt>
                                        </p:tgtEl>
                                        <p:attrNameLst>
                                          <p:attrName>style.visibility</p:attrName>
                                        </p:attrNameLst>
                                      </p:cBhvr>
                                      <p:to>
                                        <p:strVal val="visible"/>
                                      </p:to>
                                    </p:set>
                                    <p:anim calcmode="lin" valueType="num">
                                      <p:cBhvr additive="base">
                                        <p:cTn id="67" dur="1000" fill="hold"/>
                                        <p:tgtEl>
                                          <p:spTgt spid="69635">
                                            <p:txEl>
                                              <p:pRg st="11" end="11"/>
                                            </p:txEl>
                                          </p:spTgt>
                                        </p:tgtEl>
                                        <p:attrNameLst>
                                          <p:attrName>ppt_x</p:attrName>
                                        </p:attrNameLst>
                                      </p:cBhvr>
                                      <p:tavLst>
                                        <p:tav tm="0">
                                          <p:val>
                                            <p:strVal val="0-#ppt_w/2"/>
                                          </p:val>
                                        </p:tav>
                                        <p:tav tm="100000">
                                          <p:val>
                                            <p:strVal val="#ppt_x"/>
                                          </p:val>
                                        </p:tav>
                                      </p:tavLst>
                                    </p:anim>
                                    <p:anim calcmode="lin" valueType="num">
                                      <p:cBhvr additive="base">
                                        <p:cTn id="68" dur="1000" fill="hold"/>
                                        <p:tgtEl>
                                          <p:spTgt spid="6963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2"/>
            </a:pPr>
            <a:r>
              <a:rPr lang="en-US" altLang="zh-CN" sz="6600" b="1" dirty="0" smtClean="0">
                <a:ea typeface="华文彩云" panose="02010800040101010101" pitchFamily="2" charset="-122"/>
              </a:rPr>
              <a:t>   </a:t>
            </a:r>
            <a:r>
              <a:rPr lang="zh-CN" altLang="en-US" sz="6600" b="1" dirty="0" smtClean="0">
                <a:ea typeface="华文彩云" panose="02010800040101010101" pitchFamily="2" charset="-122"/>
              </a:rPr>
              <a:t>内联函数</a:t>
            </a:r>
            <a:endParaRPr lang="zh-CN" altLang="en-US" sz="6600" dirty="0"/>
          </a:p>
        </p:txBody>
      </p:sp>
      <p:grpSp>
        <p:nvGrpSpPr>
          <p:cNvPr id="2"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3" name="Group 6"/>
            <p:cNvGrpSpPr/>
            <p:nvPr/>
          </p:nvGrpSpPr>
          <p:grpSpPr bwMode="auto">
            <a:xfrm>
              <a:off x="2592" y="384"/>
              <a:ext cx="820" cy="734"/>
              <a:chOff x="613" y="1858"/>
              <a:chExt cx="672" cy="686"/>
            </a:xfrm>
          </p:grpSpPr>
          <p:grpSp>
            <p:nvGrpSpPr>
              <p:cNvPr id="4"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5"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3.2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内联函数</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4515" name="内容占位符 2"/>
          <p:cNvSpPr>
            <a:spLocks noGrp="1"/>
          </p:cNvSpPr>
          <p:nvPr>
            <p:ph idx="1"/>
          </p:nvPr>
        </p:nvSpPr>
        <p:spPr>
          <a:xfrm>
            <a:off x="613410" y="1383665"/>
            <a:ext cx="7886700" cy="4351338"/>
          </a:xfrm>
        </p:spPr>
        <p:txBody>
          <a:bodyPr/>
          <a:lstStyle/>
          <a:p>
            <a:pPr eaLnBrk="1" hangingPunct="1">
              <a:lnSpc>
                <a:spcPct val="90000"/>
              </a:lnSpc>
            </a:pPr>
            <a:r>
              <a:rPr lang="zh-CN" altLang="en-US" sz="2800" b="1" dirty="0" smtClean="0">
                <a:latin typeface="微软雅黑" panose="020B0503020204020204" pitchFamily="34" charset="-122"/>
                <a:ea typeface="微软雅黑" panose="020B0503020204020204" pitchFamily="34" charset="-122"/>
              </a:rPr>
              <a:t>声明时使用关键字 </a:t>
            </a:r>
            <a:r>
              <a:rPr lang="en-US" altLang="zh-CN" sz="2800" b="1" dirty="0" smtClean="0">
                <a:latin typeface="微软雅黑" panose="020B0503020204020204" pitchFamily="34" charset="-122"/>
                <a:ea typeface="微软雅黑" panose="020B0503020204020204" pitchFamily="34" charset="-122"/>
              </a:rPr>
              <a:t>inline</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smtClean="0">
              <a:latin typeface="微软雅黑" panose="020B0503020204020204" pitchFamily="34" charset="-122"/>
              <a:ea typeface="微软雅黑" panose="020B0503020204020204" pitchFamily="34" charset="-122"/>
            </a:endParaRPr>
          </a:p>
          <a:p>
            <a:pPr eaLnBrk="1" hangingPunct="1">
              <a:lnSpc>
                <a:spcPct val="90000"/>
              </a:lnSpc>
            </a:pPr>
            <a:r>
              <a:rPr lang="zh-CN" altLang="en-US" sz="2800" b="1" dirty="0" smtClean="0">
                <a:latin typeface="微软雅黑" panose="020B0503020204020204" pitchFamily="34" charset="-122"/>
                <a:ea typeface="微软雅黑" panose="020B0503020204020204" pitchFamily="34" charset="-122"/>
              </a:rPr>
              <a:t>编译时在调用处用函数体进行替换</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节省了参数传递、控制转移等开销。</a:t>
            </a:r>
            <a:endParaRPr lang="zh-CN" altLang="en-US" sz="2800" b="1" dirty="0" smtClean="0">
              <a:latin typeface="微软雅黑" panose="020B0503020204020204" pitchFamily="34" charset="-122"/>
              <a:ea typeface="微软雅黑" panose="020B0503020204020204" pitchFamily="34" charset="-122"/>
            </a:endParaRPr>
          </a:p>
          <a:p>
            <a:pPr eaLnBrk="1" hangingPunct="1">
              <a:lnSpc>
                <a:spcPct val="90000"/>
              </a:lnSpc>
            </a:pPr>
            <a:r>
              <a:rPr lang="zh-CN" altLang="en-US" sz="2800" b="1" dirty="0" smtClean="0">
                <a:latin typeface="微软雅黑" panose="020B0503020204020204" pitchFamily="34" charset="-122"/>
                <a:ea typeface="微软雅黑" panose="020B0503020204020204" pitchFamily="34" charset="-122"/>
              </a:rPr>
              <a:t>注意：</a:t>
            </a:r>
            <a:endParaRPr lang="zh-CN" altLang="en-US" sz="2800" b="1" dirty="0" smtClean="0">
              <a:latin typeface="微软雅黑" panose="020B0503020204020204" pitchFamily="34" charset="-122"/>
              <a:ea typeface="微软雅黑" panose="020B0503020204020204" pitchFamily="34" charset="-122"/>
            </a:endParaRPr>
          </a:p>
          <a:p>
            <a:pPr lvl="1" eaLnBrk="1" hangingPunct="1">
              <a:lnSpc>
                <a:spcPct val="90000"/>
              </a:lnSpc>
            </a:pPr>
            <a:r>
              <a:rPr lang="zh-CN" altLang="en-US" b="1" dirty="0" smtClean="0">
                <a:solidFill>
                  <a:srgbClr val="FFFF00"/>
                </a:solidFill>
                <a:latin typeface="微软雅黑" panose="020B0503020204020204" pitchFamily="34" charset="-122"/>
                <a:ea typeface="微软雅黑" panose="020B0503020204020204" pitchFamily="34" charset="-122"/>
              </a:rPr>
              <a:t>内联函数体内不能有循环语句和</a:t>
            </a:r>
            <a:r>
              <a:rPr lang="en-US" altLang="zh-CN" b="1" dirty="0" smtClean="0">
                <a:solidFill>
                  <a:srgbClr val="FFFF00"/>
                </a:solidFill>
                <a:latin typeface="微软雅黑" panose="020B0503020204020204" pitchFamily="34" charset="-122"/>
                <a:ea typeface="微软雅黑" panose="020B0503020204020204" pitchFamily="34" charset="-122"/>
              </a:rPr>
              <a:t>switch</a:t>
            </a:r>
            <a:r>
              <a:rPr lang="zh-CN" altLang="en-US" b="1" dirty="0" smtClean="0">
                <a:solidFill>
                  <a:srgbClr val="FFFF00"/>
                </a:solidFill>
                <a:latin typeface="微软雅黑" panose="020B0503020204020204" pitchFamily="34" charset="-122"/>
                <a:ea typeface="微软雅黑" panose="020B0503020204020204" pitchFamily="34" charset="-122"/>
              </a:rPr>
              <a:t>语句。</a:t>
            </a:r>
            <a:endParaRPr lang="zh-CN" altLang="en-US" b="1" dirty="0" smtClean="0">
              <a:solidFill>
                <a:srgbClr val="FFFF00"/>
              </a:solidFill>
              <a:latin typeface="微软雅黑" panose="020B0503020204020204" pitchFamily="34" charset="-122"/>
              <a:ea typeface="微软雅黑" panose="020B0503020204020204" pitchFamily="34" charset="-122"/>
            </a:endParaRPr>
          </a:p>
          <a:p>
            <a:pPr lvl="1" eaLnBrk="1" hangingPunct="1">
              <a:lnSpc>
                <a:spcPct val="90000"/>
              </a:lnSpc>
            </a:pPr>
            <a:r>
              <a:rPr lang="zh-CN" altLang="en-US" b="1" dirty="0" smtClean="0">
                <a:latin typeface="微软雅黑" panose="020B0503020204020204" pitchFamily="34" charset="-122"/>
                <a:ea typeface="微软雅黑" panose="020B0503020204020204" pitchFamily="34" charset="-122"/>
              </a:rPr>
              <a:t>内联函数的声明必须出现在内联函数第一次被调用之前。</a:t>
            </a:r>
            <a:endParaRPr lang="zh-CN" altLang="en-US" b="1" dirty="0" smtClean="0">
              <a:latin typeface="微软雅黑" panose="020B0503020204020204" pitchFamily="34" charset="-122"/>
              <a:ea typeface="微软雅黑" panose="020B0503020204020204" pitchFamily="34" charset="-122"/>
            </a:endParaRPr>
          </a:p>
          <a:p>
            <a:pPr lvl="1" eaLnBrk="1" hangingPunct="1">
              <a:lnSpc>
                <a:spcPct val="90000"/>
              </a:lnSpc>
            </a:pPr>
            <a:r>
              <a:rPr lang="zh-CN" altLang="en-US" b="1" dirty="0" smtClean="0">
                <a:latin typeface="微软雅黑" panose="020B0503020204020204" pitchFamily="34" charset="-122"/>
                <a:ea typeface="微软雅黑" panose="020B0503020204020204" pitchFamily="34" charset="-122"/>
              </a:rPr>
              <a:t>对内联函数不能进行异常接口声明。</a:t>
            </a:r>
            <a:endParaRPr lang="zh-CN" altLang="en-US" b="1" dirty="0" smtClean="0">
              <a:latin typeface="微软雅黑" panose="020B0503020204020204" pitchFamily="34" charset="-122"/>
              <a:ea typeface="微软雅黑" panose="020B0503020204020204" pitchFamily="34" charset="-122"/>
            </a:endParaRPr>
          </a:p>
          <a:p>
            <a:endParaRPr lang="zh-CN" altLang="en-US" sz="28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noFill/>
          <a:ln>
            <a:noFill/>
          </a:ln>
        </p:spPr>
        <p:txBody>
          <a:bodyPr anchor="t"/>
          <a:lstStyle/>
          <a:p>
            <a:pPr algn="ctr"/>
            <a:r>
              <a:rPr lang="en-US" altLang="zh-CN" sz="4400" b="1" dirty="0">
                <a:solidFill>
                  <a:srgbClr val="FFFFFF"/>
                </a:solidFill>
                <a:latin typeface="Times New Roman" panose="02020603050405020304" pitchFamily="18" charset="0"/>
                <a:ea typeface="隶书" panose="02010509060101010101" pitchFamily="49" charset="-122"/>
                <a:cs typeface="+mn-cs"/>
              </a:rPr>
              <a:t>3.2</a:t>
            </a:r>
            <a:r>
              <a:rPr lang="zh-CN" altLang="en-US" sz="4400" b="1" dirty="0">
                <a:solidFill>
                  <a:srgbClr val="FFFFFF"/>
                </a:solidFill>
                <a:latin typeface="Times New Roman" panose="02020603050405020304" pitchFamily="18" charset="0"/>
                <a:ea typeface="隶书" panose="02010509060101010101" pitchFamily="49" charset="-122"/>
                <a:cs typeface="+mn-cs"/>
              </a:rPr>
              <a:t>  内联函数</a:t>
            </a:r>
            <a:endParaRPr lang="zh-CN" altLang="en-US" sz="4400" b="1" dirty="0">
              <a:solidFill>
                <a:srgbClr val="FFFFFF"/>
              </a:solidFill>
              <a:latin typeface="Times New Roman" panose="02020603050405020304" pitchFamily="18" charset="0"/>
              <a:ea typeface="隶书" panose="02010509060101010101" pitchFamily="49" charset="-122"/>
              <a:cs typeface="+mn-cs"/>
            </a:endParaRPr>
          </a:p>
        </p:txBody>
      </p:sp>
      <p:sp>
        <p:nvSpPr>
          <p:cNvPr id="134147" name="Rectangle 3"/>
          <p:cNvSpPr>
            <a:spLocks noChangeArrowheads="1"/>
          </p:cNvSpPr>
          <p:nvPr/>
        </p:nvSpPr>
        <p:spPr bwMode="auto">
          <a:xfrm>
            <a:off x="909118" y="2132013"/>
            <a:ext cx="7453312" cy="1081087"/>
          </a:xfrm>
          <a:prstGeom prst="rect">
            <a:avLst/>
          </a:prstGeom>
          <a:noFill/>
          <a:ln w="19050">
            <a:solidFill>
              <a:srgbClr val="FFC000"/>
            </a:solidFill>
            <a:miter lim="800000"/>
          </a:ln>
          <a:extLst>
            <a:ext uri="{909E8E84-426E-40DD-AFC4-6F175D3DCCD1}">
              <a14:hiddenFill xmlns:a14="http://schemas.microsoft.com/office/drawing/2010/main">
                <a:solidFill>
                  <a:srgbClr val="FFFFFF"/>
                </a:solidFill>
              </a14:hiddenFill>
            </a:ext>
          </a:extLst>
        </p:spPr>
        <p:txBody>
          <a:bodyPr/>
          <a:lstStyle>
            <a:lvl1pPr marL="35877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kumimoji="0" lang="en-US" altLang="zh-CN" sz="3200" b="1" dirty="0">
                <a:solidFill>
                  <a:srgbClr val="FFFF00"/>
                </a:solidFill>
                <a:latin typeface="微软雅黑" panose="020B0503020204020204" pitchFamily="34" charset="-122"/>
                <a:ea typeface="微软雅黑" panose="020B0503020204020204" pitchFamily="34" charset="-122"/>
              </a:rPr>
              <a:t>inline </a:t>
            </a:r>
            <a:r>
              <a:rPr kumimoji="0" lang="zh-CN" altLang="en-US" sz="2400" b="1" dirty="0">
                <a:solidFill>
                  <a:srgbClr val="FFFF00"/>
                </a:solidFill>
                <a:latin typeface="微软雅黑" panose="020B0503020204020204" pitchFamily="34" charset="-122"/>
                <a:ea typeface="微软雅黑" panose="020B0503020204020204" pitchFamily="34" charset="-122"/>
              </a:rPr>
              <a:t>返回值类型 函数名（</a:t>
            </a:r>
            <a:r>
              <a:rPr kumimoji="0" lang="en-US" altLang="zh-CN" sz="2400" b="1" dirty="0">
                <a:solidFill>
                  <a:srgbClr val="FFFF00"/>
                </a:solidFill>
                <a:latin typeface="微软雅黑" panose="020B0503020204020204" pitchFamily="34" charset="-122"/>
                <a:ea typeface="微软雅黑" panose="020B0503020204020204" pitchFamily="34" charset="-122"/>
              </a:rPr>
              <a:t>&lt;</a:t>
            </a:r>
            <a:r>
              <a:rPr kumimoji="0" lang="zh-CN" altLang="en-US" sz="2400" b="1" dirty="0">
                <a:solidFill>
                  <a:srgbClr val="FFFF00"/>
                </a:solidFill>
                <a:latin typeface="微软雅黑" panose="020B0503020204020204" pitchFamily="34" charset="-122"/>
                <a:ea typeface="微软雅黑" panose="020B0503020204020204" pitchFamily="34" charset="-122"/>
              </a:rPr>
              <a:t>参数列表</a:t>
            </a:r>
            <a:r>
              <a:rPr kumimoji="0" lang="en-US" altLang="zh-CN" sz="2400" b="1" dirty="0">
                <a:solidFill>
                  <a:srgbClr val="FFFF00"/>
                </a:solidFill>
                <a:latin typeface="微软雅黑" panose="020B0503020204020204" pitchFamily="34" charset="-122"/>
                <a:ea typeface="微软雅黑" panose="020B0503020204020204" pitchFamily="34" charset="-122"/>
              </a:rPr>
              <a:t>&gt;</a:t>
            </a:r>
            <a:r>
              <a:rPr kumimoji="0" lang="zh-CN" altLang="en-US" sz="2400" b="1" dirty="0">
                <a:solidFill>
                  <a:srgbClr val="FFFF00"/>
                </a:solidFill>
                <a:latin typeface="微软雅黑" panose="020B0503020204020204" pitchFamily="34" charset="-122"/>
                <a:ea typeface="微软雅黑" panose="020B0503020204020204" pitchFamily="34" charset="-122"/>
              </a:rPr>
              <a:t>）</a:t>
            </a:r>
            <a:endParaRPr kumimoji="0" lang="zh-CN" altLang="en-US" sz="2400" b="1" dirty="0">
              <a:solidFill>
                <a:srgbClr val="FFFF00"/>
              </a:solidFill>
              <a:latin typeface="微软雅黑" panose="020B0503020204020204" pitchFamily="34" charset="-122"/>
              <a:ea typeface="微软雅黑" panose="020B0503020204020204" pitchFamily="34" charset="-122"/>
            </a:endParaRPr>
          </a:p>
          <a:p>
            <a:pPr algn="l" eaLnBrk="1" hangingPunct="1">
              <a:buFont typeface="Wingdings" panose="05000000000000000000" pitchFamily="2" charset="2"/>
              <a:buNone/>
            </a:pPr>
            <a:r>
              <a:rPr kumimoji="0" lang="en-US" altLang="zh-CN" sz="2400" b="1" dirty="0" smtClean="0">
                <a:solidFill>
                  <a:srgbClr val="FFFF00"/>
                </a:solidFill>
                <a:latin typeface="微软雅黑" panose="020B0503020204020204" pitchFamily="34" charset="-122"/>
                <a:ea typeface="微软雅黑" panose="020B0503020204020204" pitchFamily="34" charset="-122"/>
              </a:rPr>
              <a:t>     {  </a:t>
            </a:r>
            <a:r>
              <a:rPr kumimoji="0" lang="zh-CN" altLang="en-US" sz="2400" b="1" dirty="0">
                <a:solidFill>
                  <a:srgbClr val="FFFF00"/>
                </a:solidFill>
                <a:latin typeface="微软雅黑" panose="020B0503020204020204" pitchFamily="34" charset="-122"/>
                <a:ea typeface="微软雅黑" panose="020B0503020204020204" pitchFamily="34" charset="-122"/>
              </a:rPr>
              <a:t>函数体  </a:t>
            </a:r>
            <a:r>
              <a:rPr kumimoji="0" lang="en-US" altLang="zh-CN" sz="2400" b="1" dirty="0">
                <a:solidFill>
                  <a:srgbClr val="FFFF00"/>
                </a:solidFill>
                <a:latin typeface="微软雅黑" panose="020B0503020204020204" pitchFamily="34" charset="-122"/>
                <a:ea typeface="微软雅黑" panose="020B0503020204020204" pitchFamily="34" charset="-122"/>
              </a:rPr>
              <a:t>}</a:t>
            </a:r>
            <a:endParaRPr kumimoji="0" lang="en-US" altLang="zh-CN" sz="2400" b="1" dirty="0">
              <a:solidFill>
                <a:srgbClr val="FFFF00"/>
              </a:solidFill>
              <a:latin typeface="微软雅黑" panose="020B0503020204020204" pitchFamily="34" charset="-122"/>
              <a:ea typeface="微软雅黑" panose="020B0503020204020204" pitchFamily="34" charset="-122"/>
            </a:endParaRPr>
          </a:p>
        </p:txBody>
      </p:sp>
      <p:sp>
        <p:nvSpPr>
          <p:cNvPr id="134148" name="Text Box 4"/>
          <p:cNvSpPr txBox="1">
            <a:spLocks noChangeArrowheads="1"/>
          </p:cNvSpPr>
          <p:nvPr/>
        </p:nvSpPr>
        <p:spPr bwMode="auto">
          <a:xfrm>
            <a:off x="909118" y="1484313"/>
            <a:ext cx="57974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rIns="0">
            <a:spAutoFit/>
          </a:bodyPr>
          <a:lstStyle>
            <a:lvl1pPr marL="179705">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20000"/>
              </a:lnSpc>
              <a:spcBef>
                <a:spcPct val="50000"/>
              </a:spcBef>
              <a:buClr>
                <a:schemeClr val="accent2"/>
              </a:buClr>
              <a:buFont typeface="Wingdings" panose="05000000000000000000" pitchFamily="2" charset="2"/>
              <a:buNone/>
            </a:pPr>
            <a:r>
              <a:rPr kumimoji="0" lang="zh-CN" altLang="en-US" sz="2400" b="1" dirty="0" smtClean="0">
                <a:latin typeface="微软雅黑" panose="020B0503020204020204" pitchFamily="34" charset="-122"/>
                <a:ea typeface="微软雅黑" panose="020B0503020204020204" pitchFamily="34" charset="-122"/>
              </a:rPr>
              <a:t>内联函数的函数原型是：</a:t>
            </a:r>
            <a:endParaRPr kumimoji="0" lang="zh-CN" altLang="en-US" sz="2400" b="1" dirty="0">
              <a:latin typeface="微软雅黑" panose="020B0503020204020204" pitchFamily="34" charset="-122"/>
              <a:ea typeface="微软雅黑" panose="020B0503020204020204" pitchFamily="34" charset="-122"/>
            </a:endParaRPr>
          </a:p>
        </p:txBody>
      </p:sp>
      <p:cxnSp>
        <p:nvCxnSpPr>
          <p:cNvPr id="134149" name="AutoShape 5"/>
          <p:cNvCxnSpPr>
            <a:cxnSpLocks noChangeShapeType="1"/>
            <a:stCxn id="134147" idx="1"/>
            <a:endCxn id="134150" idx="1"/>
          </p:cNvCxnSpPr>
          <p:nvPr/>
        </p:nvCxnSpPr>
        <p:spPr bwMode="auto">
          <a:xfrm rot="10800000" flipH="1" flipV="1">
            <a:off x="899593" y="2673350"/>
            <a:ext cx="119062" cy="2139950"/>
          </a:xfrm>
          <a:prstGeom prst="bentConnector3">
            <a:avLst>
              <a:gd name="adj1" fmla="val -184000"/>
            </a:avLst>
          </a:prstGeom>
          <a:noFill/>
          <a:ln w="57150">
            <a:solidFill>
              <a:srgbClr val="FFC000"/>
            </a:solidFill>
            <a:miter lim="800000"/>
            <a:tailEnd type="triangle" w="med" len="med"/>
          </a:ln>
          <a:extLst>
            <a:ext uri="{909E8E84-426E-40DD-AFC4-6F175D3DCCD1}">
              <a14:hiddenFill xmlns:a14="http://schemas.microsoft.com/office/drawing/2010/main">
                <a:noFill/>
              </a14:hiddenFill>
            </a:ext>
          </a:extLst>
        </p:spPr>
      </p:cxnSp>
      <p:sp>
        <p:nvSpPr>
          <p:cNvPr id="134150" name="Text Box 6"/>
          <p:cNvSpPr txBox="1">
            <a:spLocks noChangeArrowheads="1"/>
          </p:cNvSpPr>
          <p:nvPr/>
        </p:nvSpPr>
        <p:spPr bwMode="auto">
          <a:xfrm>
            <a:off x="1018655" y="3357563"/>
            <a:ext cx="7416800" cy="290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522605"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05000"/>
              </a:lnSpc>
              <a:spcBef>
                <a:spcPct val="35000"/>
              </a:spcBef>
              <a:buClr>
                <a:srgbClr val="00B0F0"/>
              </a:buClr>
              <a:buSzPct val="65000"/>
              <a:buFont typeface="Wingdings" panose="05000000000000000000" pitchFamily="2" charset="2"/>
              <a:buChar char="u"/>
            </a:pPr>
            <a:r>
              <a:rPr kumimoji="0" lang="zh-CN" altLang="en-US" sz="2400" b="1" dirty="0">
                <a:latin typeface="微软雅黑" panose="020B0503020204020204" pitchFamily="34" charset="-122"/>
                <a:ea typeface="微软雅黑" panose="020B0503020204020204" pitchFamily="34" charset="-122"/>
              </a:rPr>
              <a:t>函数调用有一定的时间和空间开销，影响程序的执行效率。特别是</a:t>
            </a:r>
            <a:r>
              <a:rPr kumimoji="0" lang="zh-CN" altLang="en-US" sz="2400" b="1" u="sng" dirty="0">
                <a:solidFill>
                  <a:srgbClr val="FFFF00"/>
                </a:solidFill>
                <a:latin typeface="微软雅黑" panose="020B0503020204020204" pitchFamily="34" charset="-122"/>
                <a:ea typeface="微软雅黑" panose="020B0503020204020204" pitchFamily="34" charset="-122"/>
              </a:rPr>
              <a:t>对于一些函数体代码不是很大，但又频繁地被调用的函数，则引入内联函数</a:t>
            </a:r>
            <a:r>
              <a:rPr kumimoji="0" lang="zh-CN" altLang="en-US" sz="2400" b="1" dirty="0">
                <a:latin typeface="微软雅黑" panose="020B0503020204020204" pitchFamily="34" charset="-122"/>
                <a:ea typeface="微软雅黑" panose="020B0503020204020204" pitchFamily="34" charset="-122"/>
              </a:rPr>
              <a:t>。 </a:t>
            </a:r>
            <a:endParaRPr kumimoji="0" lang="zh-CN" altLang="en-US" sz="2400" b="1" dirty="0">
              <a:latin typeface="微软雅黑" panose="020B0503020204020204" pitchFamily="34" charset="-122"/>
              <a:ea typeface="微软雅黑" panose="020B0503020204020204" pitchFamily="34" charset="-122"/>
            </a:endParaRPr>
          </a:p>
          <a:p>
            <a:pPr algn="l" eaLnBrk="1" hangingPunct="1">
              <a:lnSpc>
                <a:spcPct val="105000"/>
              </a:lnSpc>
              <a:spcBef>
                <a:spcPct val="35000"/>
              </a:spcBef>
              <a:buClr>
                <a:srgbClr val="00B0F0"/>
              </a:buClr>
              <a:buSzPct val="65000"/>
              <a:buFont typeface="Wingdings" panose="05000000000000000000" pitchFamily="2" charset="2"/>
              <a:buChar char="u"/>
            </a:pPr>
            <a:r>
              <a:rPr kumimoji="0" lang="zh-CN" altLang="en-US" sz="2400" b="1" dirty="0">
                <a:latin typeface="微软雅黑" panose="020B0503020204020204" pitchFamily="34" charset="-122"/>
                <a:ea typeface="微软雅黑" panose="020B0503020204020204" pitchFamily="34" charset="-122"/>
              </a:rPr>
              <a:t>在程序编译时，编译系统</a:t>
            </a:r>
            <a:r>
              <a:rPr kumimoji="0" lang="zh-CN" altLang="en-US" sz="2400" b="1" u="sng" dirty="0">
                <a:solidFill>
                  <a:srgbClr val="FFFF00"/>
                </a:solidFill>
                <a:latin typeface="微软雅黑" panose="020B0503020204020204" pitchFamily="34" charset="-122"/>
                <a:ea typeface="微软雅黑" panose="020B0503020204020204" pitchFamily="34" charset="-122"/>
              </a:rPr>
              <a:t>将程序中出现内联函数调用的地方用函数体进行替换。</a:t>
            </a:r>
            <a:r>
              <a:rPr kumimoji="0" lang="zh-CN" altLang="en-US" sz="2400" b="1" dirty="0">
                <a:latin typeface="微软雅黑" panose="020B0503020204020204" pitchFamily="34" charset="-122"/>
                <a:ea typeface="微软雅黑" panose="020B0503020204020204" pitchFamily="34" charset="-122"/>
              </a:rPr>
              <a:t>引入内联函数可以提高程序的运行效率，节省调用函数的时间开销，是一种以空间换时间的方案。</a:t>
            </a:r>
            <a:endParaRPr kumimoji="0"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cove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428625" y="44624"/>
            <a:ext cx="8229600" cy="1066800"/>
          </a:xfrm>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例</a:t>
            </a:r>
            <a:r>
              <a:rPr lang="en-US" altLang="zh-CN" sz="4400" b="1" dirty="0" smtClean="0">
                <a:solidFill>
                  <a:srgbClr val="FFFFFF"/>
                </a:solidFill>
                <a:latin typeface="Times New Roman" panose="02020603050405020304" pitchFamily="18" charset="0"/>
                <a:ea typeface="隶书" panose="02010509060101010101" pitchFamily="49" charset="-122"/>
                <a:cs typeface="+mn-cs"/>
              </a:rPr>
              <a:t>3-14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内联函数应用举例</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5539" name="内容占位符 2"/>
          <p:cNvSpPr>
            <a:spLocks noGrp="1"/>
          </p:cNvSpPr>
          <p:nvPr>
            <p:ph idx="1"/>
          </p:nvPr>
        </p:nvSpPr>
        <p:spPr>
          <a:xfrm>
            <a:off x="628650" y="1340768"/>
            <a:ext cx="7886700" cy="5347791"/>
          </a:xfrm>
          <a:solidFill>
            <a:schemeClr val="tx1"/>
          </a:solidFill>
        </p:spPr>
        <p:txBody>
          <a:bodyPr>
            <a:noAutofit/>
          </a:bodyPr>
          <a:lstStyle/>
          <a:p>
            <a:pPr marL="365760" indent="-255905" fontAlgn="auto">
              <a:spcBef>
                <a:spcPts val="0"/>
              </a:spcBef>
              <a:buClr>
                <a:schemeClr val="accent3"/>
              </a:buClr>
              <a:buNone/>
            </a:pPr>
            <a:r>
              <a:rPr lang="en-US" altLang="zh-CN" sz="2400" b="1">
                <a:solidFill>
                  <a:srgbClr val="000000"/>
                </a:solidFill>
                <a:ea typeface="+mj-ea"/>
              </a:rPr>
              <a:t>#include &lt;iostream&gt;</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using namespace std;</a:t>
            </a:r>
            <a:endParaRPr lang="en-US" altLang="zh-CN" sz="2400" b="1">
              <a:solidFill>
                <a:srgbClr val="000000"/>
              </a:solidFill>
              <a:ea typeface="+mj-ea"/>
            </a:endParaRPr>
          </a:p>
          <a:p>
            <a:pPr marL="365760" indent="-255905" fontAlgn="auto">
              <a:spcBef>
                <a:spcPts val="0"/>
              </a:spcBef>
              <a:buClr>
                <a:schemeClr val="accent3"/>
              </a:buClr>
              <a:buNone/>
            </a:pP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const double PI = 3.14159265358979;</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inline double calArea(double radius) {</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	return PI * radius * radius;</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a:t>
            </a:r>
            <a:endParaRPr lang="en-US" altLang="zh-CN" sz="2400" b="1">
              <a:solidFill>
                <a:srgbClr val="000000"/>
              </a:solidFill>
              <a:ea typeface="+mj-ea"/>
            </a:endParaRPr>
          </a:p>
          <a:p>
            <a:pPr marL="365760" indent="-255905" fontAlgn="auto">
              <a:spcBef>
                <a:spcPts val="0"/>
              </a:spcBef>
              <a:buClr>
                <a:schemeClr val="accent3"/>
              </a:buClr>
              <a:buNone/>
            </a:pP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int main() {</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	double r = 3.0;</a:t>
            </a:r>
            <a:endParaRPr lang="zh-CN" altLang="en-US" sz="2400" b="1">
              <a:solidFill>
                <a:srgbClr val="000000"/>
              </a:solidFill>
              <a:ea typeface="+mj-ea"/>
            </a:endParaRPr>
          </a:p>
          <a:p>
            <a:pPr marL="365760" indent="-255905" fontAlgn="auto">
              <a:spcBef>
                <a:spcPts val="0"/>
              </a:spcBef>
              <a:buClr>
                <a:schemeClr val="accent3"/>
              </a:buClr>
              <a:buNone/>
            </a:pPr>
            <a:r>
              <a:rPr lang="zh-CN" altLang="en-US" sz="2400" b="1">
                <a:solidFill>
                  <a:srgbClr val="000000"/>
                </a:solidFill>
                <a:ea typeface="+mj-ea"/>
              </a:rPr>
              <a:t>	</a:t>
            </a:r>
            <a:r>
              <a:rPr lang="en-US" altLang="zh-CN" sz="2400" b="1">
                <a:solidFill>
                  <a:srgbClr val="000000"/>
                </a:solidFill>
                <a:ea typeface="+mj-ea"/>
              </a:rPr>
              <a:t>double area	= calArea(r);</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	cout &lt;&lt; area &lt;&lt; endl;</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	return 0;</a:t>
            </a:r>
            <a:endParaRPr lang="en-US" altLang="zh-CN" sz="2400" b="1">
              <a:solidFill>
                <a:srgbClr val="000000"/>
              </a:solidFill>
              <a:ea typeface="+mj-ea"/>
            </a:endParaRPr>
          </a:p>
          <a:p>
            <a:pPr marL="365760" indent="-255905" fontAlgn="auto">
              <a:spcBef>
                <a:spcPts val="0"/>
              </a:spcBef>
              <a:buClr>
                <a:schemeClr val="accent3"/>
              </a:buClr>
              <a:buNone/>
            </a:pPr>
            <a:r>
              <a:rPr lang="en-US" altLang="zh-CN" sz="2400" b="1">
                <a:solidFill>
                  <a:srgbClr val="000000"/>
                </a:solidFill>
                <a:ea typeface="+mj-ea"/>
              </a:rPr>
              <a:t>}</a:t>
            </a:r>
            <a:endParaRPr lang="en-US" altLang="zh-CN" sz="2400" b="1">
              <a:solidFill>
                <a:srgbClr val="000000"/>
              </a:solidFill>
              <a:ea typeface="+mj-ea"/>
            </a:endParaRP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5400" b="1" dirty="0" smtClean="0">
                <a:ea typeface="华文彩云" panose="02010800040101010101" pitchFamily="2" charset="-122"/>
              </a:rPr>
              <a:t>   </a:t>
            </a:r>
            <a:r>
              <a:rPr lang="en-US" altLang="zh-CN" sz="5400" b="1" dirty="0" err="1" smtClean="0">
                <a:ea typeface="华文彩云" panose="02010800040101010101" pitchFamily="2" charset="-122"/>
              </a:rPr>
              <a:t>constexpr</a:t>
            </a:r>
            <a:r>
              <a:rPr lang="zh-CN" altLang="en-US" sz="5400" b="1" dirty="0" smtClean="0">
                <a:ea typeface="华文彩云" panose="02010800040101010101" pitchFamily="2" charset="-122"/>
              </a:rPr>
              <a:t>函数</a:t>
            </a:r>
            <a:endParaRPr lang="zh-CN" altLang="en-US" sz="5400" dirty="0"/>
          </a:p>
        </p:txBody>
      </p:sp>
      <p:grpSp>
        <p:nvGrpSpPr>
          <p:cNvPr id="2" name="Group 4"/>
          <p:cNvGrpSpPr/>
          <p:nvPr/>
        </p:nvGrpSpPr>
        <p:grpSpPr bwMode="auto">
          <a:xfrm>
            <a:off x="5181600" y="4800600"/>
            <a:ext cx="2438400" cy="1219200"/>
            <a:chOff x="2358" y="2934"/>
            <a:chExt cx="450" cy="283"/>
          </a:xfrm>
        </p:grpSpPr>
        <p:grpSp>
          <p:nvGrpSpPr>
            <p:cNvPr id="3" name="Group 5"/>
            <p:cNvGrpSpPr/>
            <p:nvPr/>
          </p:nvGrpSpPr>
          <p:grpSpPr bwMode="auto">
            <a:xfrm>
              <a:off x="2401" y="2996"/>
              <a:ext cx="407" cy="221"/>
              <a:chOff x="2401" y="2996"/>
              <a:chExt cx="407" cy="221"/>
            </a:xfrm>
          </p:grpSpPr>
          <p:grpSp>
            <p:nvGrpSpPr>
              <p:cNvPr id="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5"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Group 21"/>
                <p:cNvGrpSpPr/>
                <p:nvPr/>
              </p:nvGrpSpPr>
              <p:grpSpPr bwMode="auto">
                <a:xfrm>
                  <a:off x="2506" y="2996"/>
                  <a:ext cx="212" cy="221"/>
                  <a:chOff x="2506" y="2996"/>
                  <a:chExt cx="212" cy="221"/>
                </a:xfrm>
              </p:grpSpPr>
              <p:grpSp>
                <p:nvGrpSpPr>
                  <p:cNvPr id="7"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8" name="Group 25"/>
                  <p:cNvGrpSpPr/>
                  <p:nvPr/>
                </p:nvGrpSpPr>
                <p:grpSpPr bwMode="auto">
                  <a:xfrm>
                    <a:off x="2506" y="2996"/>
                    <a:ext cx="212" cy="148"/>
                    <a:chOff x="2506" y="2996"/>
                    <a:chExt cx="212" cy="148"/>
                  </a:xfrm>
                </p:grpSpPr>
                <p:grpSp>
                  <p:nvGrpSpPr>
                    <p:cNvPr id="9" name="Group 26"/>
                    <p:cNvGrpSpPr/>
                    <p:nvPr/>
                  </p:nvGrpSpPr>
                  <p:grpSpPr bwMode="auto">
                    <a:xfrm>
                      <a:off x="2506" y="2996"/>
                      <a:ext cx="203" cy="135"/>
                      <a:chOff x="2506" y="2996"/>
                      <a:chExt cx="203" cy="135"/>
                    </a:xfrm>
                  </p:grpSpPr>
                  <p:grpSp>
                    <p:nvGrpSpPr>
                      <p:cNvPr id="10" name="Group 27"/>
                      <p:cNvGrpSpPr/>
                      <p:nvPr/>
                    </p:nvGrpSpPr>
                    <p:grpSpPr bwMode="auto">
                      <a:xfrm>
                        <a:off x="2506" y="3042"/>
                        <a:ext cx="203" cy="89"/>
                        <a:chOff x="2506" y="3042"/>
                        <a:chExt cx="203" cy="89"/>
                      </a:xfrm>
                    </p:grpSpPr>
                    <p:grpSp>
                      <p:nvGrpSpPr>
                        <p:cNvPr id="11"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2"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3"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 name="Group 49"/>
                        <p:cNvGrpSpPr/>
                        <p:nvPr/>
                      </p:nvGrpSpPr>
                      <p:grpSpPr bwMode="auto">
                        <a:xfrm>
                          <a:off x="2533" y="3064"/>
                          <a:ext cx="107" cy="50"/>
                          <a:chOff x="2533" y="3064"/>
                          <a:chExt cx="107" cy="50"/>
                        </a:xfrm>
                      </p:grpSpPr>
                      <p:grpSp>
                        <p:nvGrpSpPr>
                          <p:cNvPr id="15"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6"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7"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8"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9"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0"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1"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22" name="Group 215"/>
            <p:cNvGrpSpPr/>
            <p:nvPr/>
          </p:nvGrpSpPr>
          <p:grpSpPr bwMode="auto">
            <a:xfrm>
              <a:off x="2358" y="3018"/>
              <a:ext cx="168" cy="199"/>
              <a:chOff x="2358" y="3018"/>
              <a:chExt cx="168" cy="199"/>
            </a:xfrm>
          </p:grpSpPr>
          <p:grpSp>
            <p:nvGrpSpPr>
              <p:cNvPr id="23" name="Group 216"/>
              <p:cNvGrpSpPr/>
              <p:nvPr/>
            </p:nvGrpSpPr>
            <p:grpSpPr bwMode="auto">
              <a:xfrm>
                <a:off x="2358" y="3075"/>
                <a:ext cx="168" cy="142"/>
                <a:chOff x="2358" y="3075"/>
                <a:chExt cx="168" cy="142"/>
              </a:xfrm>
            </p:grpSpPr>
            <p:grpSp>
              <p:nvGrpSpPr>
                <p:cNvPr id="24"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5" name="Group 224"/>
                <p:cNvGrpSpPr/>
                <p:nvPr/>
              </p:nvGrpSpPr>
              <p:grpSpPr bwMode="auto">
                <a:xfrm>
                  <a:off x="2358" y="3075"/>
                  <a:ext cx="168" cy="142"/>
                  <a:chOff x="2358" y="3075"/>
                  <a:chExt cx="168" cy="142"/>
                </a:xfrm>
              </p:grpSpPr>
              <p:grpSp>
                <p:nvGrpSpPr>
                  <p:cNvPr id="26"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7"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28"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29" name="Group 257"/>
              <p:cNvGrpSpPr/>
              <p:nvPr/>
            </p:nvGrpSpPr>
            <p:grpSpPr bwMode="auto">
              <a:xfrm>
                <a:off x="2398" y="3018"/>
                <a:ext cx="78" cy="88"/>
                <a:chOff x="2398" y="3018"/>
                <a:chExt cx="78" cy="88"/>
              </a:xfrm>
            </p:grpSpPr>
            <p:grpSp>
              <p:nvGrpSpPr>
                <p:cNvPr id="30"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1" name="Group 260"/>
                  <p:cNvGrpSpPr/>
                  <p:nvPr/>
                </p:nvGrpSpPr>
                <p:grpSpPr bwMode="auto">
                  <a:xfrm>
                    <a:off x="2416" y="3061"/>
                    <a:ext cx="59" cy="45"/>
                    <a:chOff x="2416" y="3061"/>
                    <a:chExt cx="59" cy="45"/>
                  </a:xfrm>
                </p:grpSpPr>
                <p:grpSp>
                  <p:nvGrpSpPr>
                    <p:cNvPr id="642048" name="Group 261"/>
                    <p:cNvGrpSpPr/>
                    <p:nvPr/>
                  </p:nvGrpSpPr>
                  <p:grpSpPr bwMode="auto">
                    <a:xfrm>
                      <a:off x="2438" y="3061"/>
                      <a:ext cx="37" cy="15"/>
                      <a:chOff x="2438" y="3061"/>
                      <a:chExt cx="37" cy="15"/>
                    </a:xfrm>
                  </p:grpSpPr>
                  <p:grpSp>
                    <p:nvGrpSpPr>
                      <p:cNvPr id="642049"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51"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52" name="Group 270"/>
                    <p:cNvGrpSpPr/>
                    <p:nvPr/>
                  </p:nvGrpSpPr>
                  <p:grpSpPr bwMode="auto">
                    <a:xfrm>
                      <a:off x="2416" y="3070"/>
                      <a:ext cx="56" cy="36"/>
                      <a:chOff x="2416" y="3070"/>
                      <a:chExt cx="56" cy="36"/>
                    </a:xfrm>
                  </p:grpSpPr>
                  <p:grpSp>
                    <p:nvGrpSpPr>
                      <p:cNvPr id="642053"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54" name="Group 274"/>
                      <p:cNvGrpSpPr/>
                      <p:nvPr/>
                    </p:nvGrpSpPr>
                    <p:grpSpPr bwMode="auto">
                      <a:xfrm>
                        <a:off x="2416" y="3082"/>
                        <a:ext cx="51" cy="24"/>
                        <a:chOff x="2416" y="3082"/>
                        <a:chExt cx="51" cy="24"/>
                      </a:xfrm>
                    </p:grpSpPr>
                    <p:grpSp>
                      <p:nvGrpSpPr>
                        <p:cNvPr id="642067"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9"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70" name="Group 285"/>
            <p:cNvGrpSpPr/>
            <p:nvPr/>
          </p:nvGrpSpPr>
          <p:grpSpPr bwMode="auto">
            <a:xfrm>
              <a:off x="2570" y="2934"/>
              <a:ext cx="238" cy="267"/>
              <a:chOff x="2570" y="2934"/>
              <a:chExt cx="238" cy="267"/>
            </a:xfrm>
          </p:grpSpPr>
          <p:grpSp>
            <p:nvGrpSpPr>
              <p:cNvPr id="642073" name="Group 286"/>
              <p:cNvGrpSpPr/>
              <p:nvPr/>
            </p:nvGrpSpPr>
            <p:grpSpPr bwMode="auto">
              <a:xfrm>
                <a:off x="2570" y="2992"/>
                <a:ext cx="154" cy="209"/>
                <a:chOff x="2570" y="2992"/>
                <a:chExt cx="154" cy="209"/>
              </a:xfrm>
            </p:grpSpPr>
            <p:grpSp>
              <p:nvGrpSpPr>
                <p:cNvPr id="642074" name="Group 287"/>
                <p:cNvGrpSpPr/>
                <p:nvPr/>
              </p:nvGrpSpPr>
              <p:grpSpPr bwMode="auto">
                <a:xfrm>
                  <a:off x="2570" y="2992"/>
                  <a:ext cx="154" cy="209"/>
                  <a:chOff x="2570" y="2992"/>
                  <a:chExt cx="154" cy="209"/>
                </a:xfrm>
              </p:grpSpPr>
              <p:grpSp>
                <p:nvGrpSpPr>
                  <p:cNvPr id="642075" name="Group 288"/>
                  <p:cNvGrpSpPr/>
                  <p:nvPr/>
                </p:nvGrpSpPr>
                <p:grpSpPr bwMode="auto">
                  <a:xfrm>
                    <a:off x="2570" y="3112"/>
                    <a:ext cx="67" cy="89"/>
                    <a:chOff x="2570" y="3112"/>
                    <a:chExt cx="67" cy="89"/>
                  </a:xfrm>
                </p:grpSpPr>
                <p:grpSp>
                  <p:nvGrpSpPr>
                    <p:cNvPr id="642076"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8"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81"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97"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98"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42"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4"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6" name="Group 349"/>
              <p:cNvGrpSpPr/>
              <p:nvPr/>
            </p:nvGrpSpPr>
            <p:grpSpPr bwMode="auto">
              <a:xfrm>
                <a:off x="2624" y="2934"/>
                <a:ext cx="106" cy="87"/>
                <a:chOff x="2624" y="2934"/>
                <a:chExt cx="106" cy="87"/>
              </a:xfrm>
            </p:grpSpPr>
            <p:grpSp>
              <p:nvGrpSpPr>
                <p:cNvPr id="642259" name="Group 350"/>
                <p:cNvGrpSpPr/>
                <p:nvPr/>
              </p:nvGrpSpPr>
              <p:grpSpPr bwMode="auto">
                <a:xfrm>
                  <a:off x="2636" y="2956"/>
                  <a:ext cx="75" cy="65"/>
                  <a:chOff x="2636" y="2956"/>
                  <a:chExt cx="75" cy="65"/>
                </a:xfrm>
              </p:grpSpPr>
              <p:grpSp>
                <p:nvGrpSpPr>
                  <p:cNvPr id="642263" name="Group 351"/>
                  <p:cNvGrpSpPr/>
                  <p:nvPr/>
                </p:nvGrpSpPr>
                <p:grpSpPr bwMode="auto">
                  <a:xfrm>
                    <a:off x="2636" y="2956"/>
                    <a:ext cx="75" cy="65"/>
                    <a:chOff x="2636" y="2956"/>
                    <a:chExt cx="75" cy="65"/>
                  </a:xfrm>
                </p:grpSpPr>
                <p:grpSp>
                  <p:nvGrpSpPr>
                    <p:cNvPr id="642264"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65"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2"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273"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299"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305"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306"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3.3 </a:t>
            </a:r>
            <a:r>
              <a:rPr lang="en-US" altLang="zh-CN" sz="4400" b="1" dirty="0" err="1" smtClean="0">
                <a:solidFill>
                  <a:srgbClr val="FFFFFF"/>
                </a:solidFill>
                <a:latin typeface="Times New Roman" panose="02020603050405020304" pitchFamily="18" charset="0"/>
                <a:ea typeface="隶书" panose="02010509060101010101" pitchFamily="49" charset="-122"/>
                <a:cs typeface="+mn-cs"/>
              </a:rPr>
              <a:t>constexpr</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函数</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6563" name="内容占位符 2"/>
          <p:cNvSpPr>
            <a:spLocks noGrp="1"/>
          </p:cNvSpPr>
          <p:nvPr>
            <p:ph idx="1"/>
          </p:nvPr>
        </p:nvSpPr>
        <p:spPr>
          <a:xfrm>
            <a:off x="611560" y="1340768"/>
            <a:ext cx="7886700" cy="4351338"/>
          </a:xfrm>
        </p:spPr>
        <p:txBody>
          <a:bodyPr/>
          <a:lstStyle/>
          <a:p>
            <a:pPr eaLnBrk="1" hangingPunct="1">
              <a:spcBef>
                <a:spcPts val="600"/>
              </a:spcBef>
            </a:pPr>
            <a:r>
              <a:rPr lang="en-US" altLang="zh-CN" sz="2000" b="1" dirty="0" err="1" smtClean="0">
                <a:latin typeface="微软雅黑" panose="020B0503020204020204" pitchFamily="34" charset="-122"/>
                <a:ea typeface="微软雅黑" panose="020B0503020204020204" pitchFamily="34" charset="-122"/>
              </a:rPr>
              <a:t>constexpr</a:t>
            </a:r>
            <a:r>
              <a:rPr lang="zh-CN" altLang="en-US" sz="2000" b="1" dirty="0" smtClean="0">
                <a:latin typeface="微软雅黑" panose="020B0503020204020204" pitchFamily="34" charset="-122"/>
                <a:ea typeface="微软雅黑" panose="020B0503020204020204" pitchFamily="34" charset="-122"/>
              </a:rPr>
              <a:t>函数：指能用于常量表达式的函数。</a:t>
            </a:r>
            <a:br>
              <a:rPr lang="en-US" altLang="zh-CN" sz="2000" b="1" dirty="0" smtClean="0">
                <a:latin typeface="微软雅黑" panose="020B0503020204020204" pitchFamily="34" charset="-122"/>
                <a:ea typeface="微软雅黑" panose="020B0503020204020204" pitchFamily="34" charset="-122"/>
              </a:rPr>
            </a:br>
            <a:r>
              <a:rPr lang="zh-CN" altLang="en-US" sz="2000" b="1" dirty="0" smtClean="0">
                <a:latin typeface="微软雅黑" panose="020B0503020204020204" pitchFamily="34" charset="-122"/>
                <a:ea typeface="微软雅黑" panose="020B0503020204020204" pitchFamily="34" charset="-122"/>
              </a:rPr>
              <a:t>该函数返回类型以及所有形参必须是常量，而且函数体必须有且仅有一条</a:t>
            </a:r>
            <a:r>
              <a:rPr lang="en-US" altLang="zh-CN" sz="2000" b="1" dirty="0" smtClean="0">
                <a:latin typeface="微软雅黑" panose="020B0503020204020204" pitchFamily="34" charset="-122"/>
                <a:ea typeface="微软雅黑" panose="020B0503020204020204" pitchFamily="34" charset="-122"/>
              </a:rPr>
              <a:t>return</a:t>
            </a:r>
            <a:r>
              <a:rPr lang="zh-CN" altLang="en-US" sz="2000" b="1" dirty="0" smtClean="0">
                <a:latin typeface="微软雅黑" panose="020B0503020204020204" pitchFamily="34" charset="-122"/>
                <a:ea typeface="微软雅黑" panose="020B0503020204020204" pitchFamily="34" charset="-122"/>
              </a:rPr>
              <a:t>语句。</a:t>
            </a:r>
            <a:endParaRPr lang="zh-CN" altLang="en-US" sz="2000" b="1" dirty="0" smtClean="0">
              <a:latin typeface="微软雅黑" panose="020B0503020204020204" pitchFamily="34" charset="-122"/>
              <a:ea typeface="微软雅黑" panose="020B0503020204020204" pitchFamily="34" charset="-122"/>
            </a:endParaRPr>
          </a:p>
          <a:p>
            <a:pPr eaLnBrk="1" hangingPunct="1">
              <a:spcBef>
                <a:spcPts val="600"/>
              </a:spcBef>
            </a:pPr>
            <a:r>
              <a:rPr lang="zh-CN" altLang="en-US" sz="2000" b="1" dirty="0" smtClean="0">
                <a:latin typeface="微软雅黑" panose="020B0503020204020204" pitchFamily="34" charset="-122"/>
                <a:ea typeface="微软雅黑" panose="020B0503020204020204" pitchFamily="34" charset="-122"/>
              </a:rPr>
              <a:t>例如：</a:t>
            </a:r>
            <a:endParaRPr lang="zh-CN" altLang="en-US" sz="20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000" b="1" dirty="0" err="1" smtClean="0">
                <a:latin typeface="微软雅黑" panose="020B0503020204020204" pitchFamily="34" charset="-122"/>
                <a:ea typeface="微软雅黑" panose="020B0503020204020204" pitchFamily="34" charset="-122"/>
              </a:rPr>
              <a:t>constexpr</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get_size</a:t>
            </a:r>
            <a:r>
              <a:rPr lang="en-US" altLang="zh-CN" sz="2000" b="1" dirty="0" smtClean="0">
                <a:latin typeface="微软雅黑" panose="020B0503020204020204" pitchFamily="34" charset="-122"/>
                <a:ea typeface="微软雅黑" panose="020B0503020204020204" pitchFamily="34" charset="-122"/>
              </a:rPr>
              <a:t>(){return 20;}</a:t>
            </a:r>
            <a:endParaRPr lang="en-US" altLang="zh-CN" sz="20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000" b="1" dirty="0" err="1" smtClean="0">
                <a:latin typeface="微软雅黑" panose="020B0503020204020204" pitchFamily="34" charset="-122"/>
                <a:ea typeface="微软雅黑" panose="020B0503020204020204" pitchFamily="34" charset="-122"/>
              </a:rPr>
              <a:t>constexpr</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foo=</a:t>
            </a:r>
            <a:r>
              <a:rPr lang="en-US" altLang="zh-CN" sz="2000" b="1" dirty="0" err="1" smtClean="0">
                <a:latin typeface="微软雅黑" panose="020B0503020204020204" pitchFamily="34" charset="-122"/>
                <a:ea typeface="微软雅黑" panose="020B0503020204020204" pitchFamily="34" charset="-122"/>
              </a:rPr>
              <a:t>get_size</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正确：</a:t>
            </a:r>
            <a:r>
              <a:rPr lang="en-US" altLang="zh-CN" sz="2000" b="1" dirty="0" smtClean="0">
                <a:latin typeface="微软雅黑" panose="020B0503020204020204" pitchFamily="34" charset="-122"/>
                <a:ea typeface="微软雅黑" panose="020B0503020204020204" pitchFamily="34" charset="-122"/>
              </a:rPr>
              <a:t>foo</a:t>
            </a:r>
            <a:r>
              <a:rPr lang="zh-CN" altLang="en-US" sz="2000" b="1" dirty="0" smtClean="0">
                <a:latin typeface="微软雅黑" panose="020B0503020204020204" pitchFamily="34" charset="-122"/>
                <a:ea typeface="微软雅黑" panose="020B0503020204020204" pitchFamily="34" charset="-122"/>
              </a:rPr>
              <a:t>是一个常量表达式</a:t>
            </a:r>
            <a:endParaRPr lang="en-US" altLang="zh-CN" sz="2000" b="1" dirty="0" smtClean="0">
              <a:latin typeface="微软雅黑" panose="020B0503020204020204" pitchFamily="34" charset="-122"/>
              <a:ea typeface="微软雅黑" panose="020B0503020204020204" pitchFamily="34" charset="-122"/>
            </a:endParaRPr>
          </a:p>
          <a:p>
            <a:pPr>
              <a:spcBef>
                <a:spcPts val="600"/>
              </a:spcBef>
              <a:buFont typeface="Wingdings" panose="05000000000000000000" pitchFamily="2" charset="2"/>
              <a:buChar char="u"/>
            </a:pPr>
            <a:r>
              <a:rPr lang="en-US" altLang="zh-CN" sz="2000" b="1" dirty="0" err="1" smtClean="0">
                <a:latin typeface="微软雅黑" panose="020B0503020204020204" pitchFamily="34" charset="-122"/>
                <a:ea typeface="微软雅黑" panose="020B0503020204020204" pitchFamily="34" charset="-122"/>
              </a:rPr>
              <a:t>constexpr</a:t>
            </a:r>
            <a:r>
              <a:rPr lang="zh-CN" altLang="en-US" sz="2000" b="1" dirty="0" smtClean="0">
                <a:latin typeface="微软雅黑" panose="020B0503020204020204" pitchFamily="34" charset="-122"/>
                <a:ea typeface="微软雅黑" panose="020B0503020204020204" pitchFamily="34" charset="-122"/>
              </a:rPr>
              <a:t>函数不一定返回常量表达式，例如：</a:t>
            </a:r>
            <a:br>
              <a:rPr lang="en-US" altLang="zh-CN" sz="2000" b="1" dirty="0" smtClean="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如果</a:t>
            </a:r>
            <a:r>
              <a:rPr lang="en-US" altLang="zh-CN" sz="2000" b="1" dirty="0" err="1" smtClean="0">
                <a:latin typeface="微软雅黑" panose="020B0503020204020204" pitchFamily="34" charset="-122"/>
                <a:ea typeface="微软雅黑" panose="020B0503020204020204" pitchFamily="34" charset="-122"/>
              </a:rPr>
              <a:t>arg</a:t>
            </a:r>
            <a:r>
              <a:rPr lang="zh-CN" altLang="en-US" sz="2000" b="1" dirty="0" smtClean="0">
                <a:latin typeface="微软雅黑" panose="020B0503020204020204" pitchFamily="34" charset="-122"/>
                <a:ea typeface="微软雅黑" panose="020B0503020204020204" pitchFamily="34" charset="-122"/>
              </a:rPr>
              <a:t>是常量表达式，则</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arg</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也是常量表达式</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constexpr</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arg</a:t>
            </a:r>
            <a:r>
              <a:rPr lang="en-US" altLang="zh-CN" sz="2000" b="1" dirty="0" smtClean="0">
                <a:latin typeface="微软雅黑" panose="020B0503020204020204" pitchFamily="34" charset="-122"/>
                <a:ea typeface="微软雅黑" panose="020B0503020204020204" pitchFamily="34" charset="-122"/>
              </a:rPr>
              <a:t>){return </a:t>
            </a:r>
            <a:r>
              <a:rPr lang="en-US" altLang="zh-CN" sz="2000" b="1" dirty="0" err="1" smtClean="0">
                <a:latin typeface="微软雅黑" panose="020B0503020204020204" pitchFamily="34" charset="-122"/>
                <a:ea typeface="微软雅黑" panose="020B0503020204020204" pitchFamily="34" charset="-122"/>
              </a:rPr>
              <a:t>get_size</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arg</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a:spcBef>
                <a:spcPts val="600"/>
              </a:spcBef>
              <a:buFont typeface="Wingdings" panose="05000000000000000000" pitchFamily="2" charset="2"/>
              <a:buChar char="u"/>
            </a:pPr>
            <a:r>
              <a:rPr lang="zh-CN" altLang="en-US" sz="2000" b="1" dirty="0" smtClean="0">
                <a:latin typeface="微软雅黑" panose="020B0503020204020204" pitchFamily="34" charset="-122"/>
                <a:ea typeface="微软雅黑" panose="020B0503020204020204" pitchFamily="34" charset="-122"/>
              </a:rPr>
              <a:t>用途：定义数组，例如</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arr</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正确</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latin typeface="微软雅黑" panose="020B0503020204020204" pitchFamily="34" charset="-122"/>
                <a:ea typeface="微软雅黑" panose="020B0503020204020204" pitchFamily="34" charset="-122"/>
              </a:rPr>
              <a:t>）是常量表达式</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a:t>
            </a:r>
            <a:r>
              <a:rPr lang="en-US" altLang="zh-CN" sz="2000" b="1" dirty="0" smtClean="0">
                <a:latin typeface="微软雅黑" panose="020B0503020204020204" pitchFamily="34" charset="-122"/>
                <a:ea typeface="微软雅黑" panose="020B0503020204020204" pitchFamily="34" charset="-122"/>
              </a:rPr>
              <a:t> =2</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i</a:t>
            </a:r>
            <a:r>
              <a:rPr lang="zh-CN" altLang="en-US" sz="2000" b="1" dirty="0" smtClean="0">
                <a:latin typeface="微软雅黑" panose="020B0503020204020204" pitchFamily="34" charset="-122"/>
                <a:ea typeface="微软雅黑" panose="020B0503020204020204" pitchFamily="34" charset="-122"/>
              </a:rPr>
              <a:t>不是常量表达式</a:t>
            </a:r>
            <a:br>
              <a:rPr lang="en-US" altLang="zh-CN" sz="2000" b="1" dirty="0" smtClean="0">
                <a:latin typeface="微软雅黑" panose="020B0503020204020204" pitchFamily="34" charset="-122"/>
                <a:ea typeface="微软雅黑" panose="020B0503020204020204" pitchFamily="34" charset="-122"/>
              </a:rPr>
            </a:b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a2[</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i</a:t>
            </a:r>
            <a:r>
              <a:rPr lang="en-US" altLang="zh-CN" sz="2000" b="1"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错误：</a:t>
            </a:r>
            <a:r>
              <a:rPr lang="en-US" altLang="zh-CN" sz="2000" b="1" dirty="0" err="1" smtClean="0">
                <a:latin typeface="微软雅黑" panose="020B0503020204020204" pitchFamily="34" charset="-122"/>
                <a:ea typeface="微软雅黑" panose="020B0503020204020204" pitchFamily="34" charset="-122"/>
              </a:rPr>
              <a:t>len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i</a:t>
            </a:r>
            <a:r>
              <a:rPr lang="zh-CN" altLang="en-US" sz="2000" b="1" dirty="0" smtClean="0">
                <a:latin typeface="微软雅黑" panose="020B0503020204020204" pitchFamily="34" charset="-122"/>
                <a:ea typeface="微软雅黑" panose="020B0503020204020204" pitchFamily="34" charset="-122"/>
              </a:rPr>
              <a:t>）不是常量表达式</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4"/>
            </a:pPr>
            <a:r>
              <a:rPr lang="zh-CN" altLang="en-US" sz="5400" b="1" dirty="0" smtClean="0">
                <a:ea typeface="华文彩云" panose="02010800040101010101" pitchFamily="2" charset="-122"/>
              </a:rPr>
              <a:t>   带默认形参值的函数</a:t>
            </a:r>
            <a:endParaRPr lang="zh-CN" altLang="en-US" sz="5400" dirty="0"/>
          </a:p>
        </p:txBody>
      </p:sp>
      <p:grpSp>
        <p:nvGrpSpPr>
          <p:cNvPr id="2" name="Group 4"/>
          <p:cNvGrpSpPr/>
          <p:nvPr/>
        </p:nvGrpSpPr>
        <p:grpSpPr bwMode="auto">
          <a:xfrm>
            <a:off x="5181600" y="4800600"/>
            <a:ext cx="2438400" cy="1219200"/>
            <a:chOff x="2358" y="2934"/>
            <a:chExt cx="450" cy="283"/>
          </a:xfrm>
        </p:grpSpPr>
        <p:grpSp>
          <p:nvGrpSpPr>
            <p:cNvPr id="3" name="Group 5"/>
            <p:cNvGrpSpPr/>
            <p:nvPr/>
          </p:nvGrpSpPr>
          <p:grpSpPr bwMode="auto">
            <a:xfrm>
              <a:off x="2401" y="2996"/>
              <a:ext cx="407" cy="221"/>
              <a:chOff x="2401" y="2996"/>
              <a:chExt cx="407" cy="221"/>
            </a:xfrm>
          </p:grpSpPr>
          <p:grpSp>
            <p:nvGrpSpPr>
              <p:cNvPr id="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5"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Group 21"/>
                <p:cNvGrpSpPr/>
                <p:nvPr/>
              </p:nvGrpSpPr>
              <p:grpSpPr bwMode="auto">
                <a:xfrm>
                  <a:off x="2506" y="2996"/>
                  <a:ext cx="212" cy="221"/>
                  <a:chOff x="2506" y="2996"/>
                  <a:chExt cx="212" cy="221"/>
                </a:xfrm>
              </p:grpSpPr>
              <p:grpSp>
                <p:nvGrpSpPr>
                  <p:cNvPr id="7"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8" name="Group 25"/>
                  <p:cNvGrpSpPr/>
                  <p:nvPr/>
                </p:nvGrpSpPr>
                <p:grpSpPr bwMode="auto">
                  <a:xfrm>
                    <a:off x="2506" y="2996"/>
                    <a:ext cx="212" cy="148"/>
                    <a:chOff x="2506" y="2996"/>
                    <a:chExt cx="212" cy="148"/>
                  </a:xfrm>
                </p:grpSpPr>
                <p:grpSp>
                  <p:nvGrpSpPr>
                    <p:cNvPr id="9" name="Group 26"/>
                    <p:cNvGrpSpPr/>
                    <p:nvPr/>
                  </p:nvGrpSpPr>
                  <p:grpSpPr bwMode="auto">
                    <a:xfrm>
                      <a:off x="2506" y="2996"/>
                      <a:ext cx="203" cy="135"/>
                      <a:chOff x="2506" y="2996"/>
                      <a:chExt cx="203" cy="135"/>
                    </a:xfrm>
                  </p:grpSpPr>
                  <p:grpSp>
                    <p:nvGrpSpPr>
                      <p:cNvPr id="10" name="Group 27"/>
                      <p:cNvGrpSpPr/>
                      <p:nvPr/>
                    </p:nvGrpSpPr>
                    <p:grpSpPr bwMode="auto">
                      <a:xfrm>
                        <a:off x="2506" y="3042"/>
                        <a:ext cx="203" cy="89"/>
                        <a:chOff x="2506" y="3042"/>
                        <a:chExt cx="203" cy="89"/>
                      </a:xfrm>
                    </p:grpSpPr>
                    <p:grpSp>
                      <p:nvGrpSpPr>
                        <p:cNvPr id="11"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2"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3"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 name="Group 49"/>
                        <p:cNvGrpSpPr/>
                        <p:nvPr/>
                      </p:nvGrpSpPr>
                      <p:grpSpPr bwMode="auto">
                        <a:xfrm>
                          <a:off x="2533" y="3064"/>
                          <a:ext cx="107" cy="50"/>
                          <a:chOff x="2533" y="3064"/>
                          <a:chExt cx="107" cy="50"/>
                        </a:xfrm>
                      </p:grpSpPr>
                      <p:grpSp>
                        <p:nvGrpSpPr>
                          <p:cNvPr id="15"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6"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7"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8"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19"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0"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1"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22" name="Group 215"/>
            <p:cNvGrpSpPr/>
            <p:nvPr/>
          </p:nvGrpSpPr>
          <p:grpSpPr bwMode="auto">
            <a:xfrm>
              <a:off x="2358" y="3018"/>
              <a:ext cx="168" cy="199"/>
              <a:chOff x="2358" y="3018"/>
              <a:chExt cx="168" cy="199"/>
            </a:xfrm>
          </p:grpSpPr>
          <p:grpSp>
            <p:nvGrpSpPr>
              <p:cNvPr id="23" name="Group 216"/>
              <p:cNvGrpSpPr/>
              <p:nvPr/>
            </p:nvGrpSpPr>
            <p:grpSpPr bwMode="auto">
              <a:xfrm>
                <a:off x="2358" y="3075"/>
                <a:ext cx="168" cy="142"/>
                <a:chOff x="2358" y="3075"/>
                <a:chExt cx="168" cy="142"/>
              </a:xfrm>
            </p:grpSpPr>
            <p:grpSp>
              <p:nvGrpSpPr>
                <p:cNvPr id="24"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5" name="Group 224"/>
                <p:cNvGrpSpPr/>
                <p:nvPr/>
              </p:nvGrpSpPr>
              <p:grpSpPr bwMode="auto">
                <a:xfrm>
                  <a:off x="2358" y="3075"/>
                  <a:ext cx="168" cy="142"/>
                  <a:chOff x="2358" y="3075"/>
                  <a:chExt cx="168" cy="142"/>
                </a:xfrm>
              </p:grpSpPr>
              <p:grpSp>
                <p:nvGrpSpPr>
                  <p:cNvPr id="26"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7"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28"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29" name="Group 257"/>
              <p:cNvGrpSpPr/>
              <p:nvPr/>
            </p:nvGrpSpPr>
            <p:grpSpPr bwMode="auto">
              <a:xfrm>
                <a:off x="2398" y="3018"/>
                <a:ext cx="78" cy="88"/>
                <a:chOff x="2398" y="3018"/>
                <a:chExt cx="78" cy="88"/>
              </a:xfrm>
            </p:grpSpPr>
            <p:grpSp>
              <p:nvGrpSpPr>
                <p:cNvPr id="30"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1" name="Group 260"/>
                  <p:cNvGrpSpPr/>
                  <p:nvPr/>
                </p:nvGrpSpPr>
                <p:grpSpPr bwMode="auto">
                  <a:xfrm>
                    <a:off x="2416" y="3061"/>
                    <a:ext cx="59" cy="45"/>
                    <a:chOff x="2416" y="3061"/>
                    <a:chExt cx="59" cy="45"/>
                  </a:xfrm>
                </p:grpSpPr>
                <p:grpSp>
                  <p:nvGrpSpPr>
                    <p:cNvPr id="642048" name="Group 261"/>
                    <p:cNvGrpSpPr/>
                    <p:nvPr/>
                  </p:nvGrpSpPr>
                  <p:grpSpPr bwMode="auto">
                    <a:xfrm>
                      <a:off x="2438" y="3061"/>
                      <a:ext cx="37" cy="15"/>
                      <a:chOff x="2438" y="3061"/>
                      <a:chExt cx="37" cy="15"/>
                    </a:xfrm>
                  </p:grpSpPr>
                  <p:grpSp>
                    <p:nvGrpSpPr>
                      <p:cNvPr id="642049"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51"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52" name="Group 270"/>
                    <p:cNvGrpSpPr/>
                    <p:nvPr/>
                  </p:nvGrpSpPr>
                  <p:grpSpPr bwMode="auto">
                    <a:xfrm>
                      <a:off x="2416" y="3070"/>
                      <a:ext cx="56" cy="36"/>
                      <a:chOff x="2416" y="3070"/>
                      <a:chExt cx="56" cy="36"/>
                    </a:xfrm>
                  </p:grpSpPr>
                  <p:grpSp>
                    <p:nvGrpSpPr>
                      <p:cNvPr id="642053"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54" name="Group 274"/>
                      <p:cNvGrpSpPr/>
                      <p:nvPr/>
                    </p:nvGrpSpPr>
                    <p:grpSpPr bwMode="auto">
                      <a:xfrm>
                        <a:off x="2416" y="3082"/>
                        <a:ext cx="51" cy="24"/>
                        <a:chOff x="2416" y="3082"/>
                        <a:chExt cx="51" cy="24"/>
                      </a:xfrm>
                    </p:grpSpPr>
                    <p:grpSp>
                      <p:nvGrpSpPr>
                        <p:cNvPr id="642067"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9"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70" name="Group 285"/>
            <p:cNvGrpSpPr/>
            <p:nvPr/>
          </p:nvGrpSpPr>
          <p:grpSpPr bwMode="auto">
            <a:xfrm>
              <a:off x="2570" y="2934"/>
              <a:ext cx="238" cy="267"/>
              <a:chOff x="2570" y="2934"/>
              <a:chExt cx="238" cy="267"/>
            </a:xfrm>
          </p:grpSpPr>
          <p:grpSp>
            <p:nvGrpSpPr>
              <p:cNvPr id="642073" name="Group 286"/>
              <p:cNvGrpSpPr/>
              <p:nvPr/>
            </p:nvGrpSpPr>
            <p:grpSpPr bwMode="auto">
              <a:xfrm>
                <a:off x="2570" y="2992"/>
                <a:ext cx="154" cy="209"/>
                <a:chOff x="2570" y="2992"/>
                <a:chExt cx="154" cy="209"/>
              </a:xfrm>
            </p:grpSpPr>
            <p:grpSp>
              <p:nvGrpSpPr>
                <p:cNvPr id="642074" name="Group 287"/>
                <p:cNvGrpSpPr/>
                <p:nvPr/>
              </p:nvGrpSpPr>
              <p:grpSpPr bwMode="auto">
                <a:xfrm>
                  <a:off x="2570" y="2992"/>
                  <a:ext cx="154" cy="209"/>
                  <a:chOff x="2570" y="2992"/>
                  <a:chExt cx="154" cy="209"/>
                </a:xfrm>
              </p:grpSpPr>
              <p:grpSp>
                <p:nvGrpSpPr>
                  <p:cNvPr id="642075" name="Group 288"/>
                  <p:cNvGrpSpPr/>
                  <p:nvPr/>
                </p:nvGrpSpPr>
                <p:grpSpPr bwMode="auto">
                  <a:xfrm>
                    <a:off x="2570" y="3112"/>
                    <a:ext cx="67" cy="89"/>
                    <a:chOff x="2570" y="3112"/>
                    <a:chExt cx="67" cy="89"/>
                  </a:xfrm>
                </p:grpSpPr>
                <p:grpSp>
                  <p:nvGrpSpPr>
                    <p:cNvPr id="642076"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8"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081"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97"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98"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42"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4"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6" name="Group 349"/>
              <p:cNvGrpSpPr/>
              <p:nvPr/>
            </p:nvGrpSpPr>
            <p:grpSpPr bwMode="auto">
              <a:xfrm>
                <a:off x="2624" y="2934"/>
                <a:ext cx="106" cy="87"/>
                <a:chOff x="2624" y="2934"/>
                <a:chExt cx="106" cy="87"/>
              </a:xfrm>
            </p:grpSpPr>
            <p:grpSp>
              <p:nvGrpSpPr>
                <p:cNvPr id="642259" name="Group 350"/>
                <p:cNvGrpSpPr/>
                <p:nvPr/>
              </p:nvGrpSpPr>
              <p:grpSpPr bwMode="auto">
                <a:xfrm>
                  <a:off x="2636" y="2956"/>
                  <a:ext cx="75" cy="65"/>
                  <a:chOff x="2636" y="2956"/>
                  <a:chExt cx="75" cy="65"/>
                </a:xfrm>
              </p:grpSpPr>
              <p:grpSp>
                <p:nvGrpSpPr>
                  <p:cNvPr id="642263" name="Group 351"/>
                  <p:cNvGrpSpPr/>
                  <p:nvPr/>
                </p:nvGrpSpPr>
                <p:grpSpPr bwMode="auto">
                  <a:xfrm>
                    <a:off x="2636" y="2956"/>
                    <a:ext cx="75" cy="65"/>
                    <a:chOff x="2636" y="2956"/>
                    <a:chExt cx="75" cy="65"/>
                  </a:xfrm>
                </p:grpSpPr>
                <p:grpSp>
                  <p:nvGrpSpPr>
                    <p:cNvPr id="642264"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65"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2"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273"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299"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305"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306"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3.4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带默认参数值的函数</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6563" name="内容占位符 2"/>
          <p:cNvSpPr>
            <a:spLocks noGrp="1"/>
          </p:cNvSpPr>
          <p:nvPr>
            <p:ph idx="1"/>
          </p:nvPr>
        </p:nvSpPr>
        <p:spPr>
          <a:xfrm>
            <a:off x="611560" y="1340768"/>
            <a:ext cx="7886700" cy="4351338"/>
          </a:xfrm>
        </p:spPr>
        <p:txBody>
          <a:bodyPr/>
          <a:lstStyle/>
          <a:p>
            <a:pPr eaLnBrk="1" hangingPunct="1">
              <a:spcBef>
                <a:spcPts val="600"/>
              </a:spcBef>
            </a:pPr>
            <a:r>
              <a:rPr lang="zh-CN" altLang="en-US" sz="2400" b="1" dirty="0" smtClean="0">
                <a:latin typeface="微软雅黑" panose="020B0503020204020204" pitchFamily="34" charset="-122"/>
                <a:ea typeface="微软雅黑" panose="020B0503020204020204" pitchFamily="34" charset="-122"/>
              </a:rPr>
              <a:t>函数在声明时可以预先给出默认的形参值，调用时如给出实参，则采用实参值，否则采用预先给出的默认参数值。</a:t>
            </a:r>
            <a:endParaRPr lang="zh-CN" altLang="en-US" sz="2400" b="1" dirty="0" smtClean="0">
              <a:latin typeface="微软雅黑" panose="020B0503020204020204" pitchFamily="34" charset="-122"/>
              <a:ea typeface="微软雅黑" panose="020B0503020204020204" pitchFamily="34" charset="-122"/>
            </a:endParaRPr>
          </a:p>
          <a:p>
            <a:pPr eaLnBrk="1" hangingPunct="1">
              <a:spcBef>
                <a:spcPts val="600"/>
              </a:spcBef>
            </a:pPr>
            <a:r>
              <a:rPr lang="zh-CN" altLang="en-US" sz="2400" b="1" dirty="0" smtClean="0">
                <a:latin typeface="微软雅黑" panose="020B0503020204020204" pitchFamily="34" charset="-122"/>
                <a:ea typeface="微软雅黑" panose="020B0503020204020204" pitchFamily="34" charset="-122"/>
              </a:rPr>
              <a:t>例如：</a:t>
            </a:r>
            <a:endParaRPr lang="zh-CN" altLang="en-US"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add(</a:t>
            </a: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x = 5,int y = 6) {</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	return x + y;</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main() {</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	add(10,20);    //10+20</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	add(10);         //10+6</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	add();            //5+6</a:t>
            </a:r>
            <a:endParaRPr lang="en-US" altLang="zh-CN" sz="2400" b="1" dirty="0" smtClean="0">
              <a:latin typeface="微软雅黑" panose="020B0503020204020204" pitchFamily="34" charset="-122"/>
              <a:ea typeface="微软雅黑" panose="020B0503020204020204" pitchFamily="34" charset="-122"/>
            </a:endParaRPr>
          </a:p>
          <a:p>
            <a:pPr lvl="1" eaLnBrk="1" hangingPunct="1">
              <a:spcBef>
                <a:spcPts val="600"/>
              </a:spcBef>
              <a:buFontTx/>
              <a:buNone/>
            </a:pPr>
            <a:r>
              <a:rPr lang="en-US" altLang="zh-CN" sz="2400" b="1" dirty="0" smtClean="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默认参数值的说明次序</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7587" name="内容占位符 2"/>
          <p:cNvSpPr>
            <a:spLocks noGrp="1"/>
          </p:cNvSpPr>
          <p:nvPr>
            <p:ph idx="1"/>
          </p:nvPr>
        </p:nvSpPr>
        <p:spPr>
          <a:xfrm>
            <a:off x="718939" y="1124744"/>
            <a:ext cx="8245549" cy="4787900"/>
          </a:xfrm>
        </p:spPr>
        <p:txBody>
          <a:bodyPr/>
          <a:lstStyle/>
          <a:p>
            <a:pPr eaLnBrk="1" hangingPunct="1">
              <a:lnSpc>
                <a:spcPct val="150000"/>
              </a:lnSpc>
            </a:pPr>
            <a:r>
              <a:rPr lang="zh-CN" altLang="en-US" sz="2400" b="1" dirty="0">
                <a:solidFill>
                  <a:srgbClr val="FFFF00"/>
                </a:solidFill>
                <a:latin typeface="微软雅黑" panose="020B0503020204020204" pitchFamily="34" charset="-122"/>
                <a:ea typeface="微软雅黑" panose="020B0503020204020204" pitchFamily="34" charset="-122"/>
              </a:rPr>
              <a:t>有默认参数的形参必须在形参列表的最后</a:t>
            </a:r>
            <a:r>
              <a:rPr lang="zh-CN" altLang="en-US" sz="2400" b="1" dirty="0">
                <a:latin typeface="微软雅黑" panose="020B0503020204020204" pitchFamily="34" charset="-122"/>
                <a:ea typeface="微软雅黑" panose="020B0503020204020204" pitchFamily="34" charset="-122"/>
              </a:rPr>
              <a:t>，也就是说默认参数值的右面不能有无默认值的参数。因为调用时实参与形参的结合是从左向右的顺序。</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例：</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150000"/>
              </a:lnSpc>
              <a:buFontTx/>
              <a:buNone/>
            </a:pP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add(</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x, </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y = 5, </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z = 6</a:t>
            </a:r>
            <a:r>
              <a:rPr lang="en-US" altLang="zh-CN" sz="2400" b="1" dirty="0" smtClean="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正确</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150000"/>
              </a:lnSpc>
              <a:buFontTx/>
              <a:buNone/>
            </a:pP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add(</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x = 1, </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y = 5, </a:t>
            </a:r>
            <a:r>
              <a:rPr lang="en-US" altLang="zh-CN" sz="2400" b="1" dirty="0" err="1">
                <a:solidFill>
                  <a:srgbClr val="FFFF00"/>
                </a:solidFill>
                <a:latin typeface="微软雅黑" panose="020B0503020204020204" pitchFamily="34" charset="-122"/>
                <a:ea typeface="微软雅黑" panose="020B0503020204020204" pitchFamily="34" charset="-122"/>
              </a:rPr>
              <a:t>int</a:t>
            </a:r>
            <a:r>
              <a:rPr lang="en-US" altLang="zh-CN" sz="2400" b="1" dirty="0">
                <a:solidFill>
                  <a:srgbClr val="FFFF00"/>
                </a:solidFill>
                <a:latin typeface="微软雅黑" panose="020B0503020204020204" pitchFamily="34" charset="-122"/>
                <a:ea typeface="微软雅黑" panose="020B0503020204020204" pitchFamily="34" charset="-122"/>
              </a:rPr>
              <a:t> z</a:t>
            </a:r>
            <a:r>
              <a:rPr lang="en-US" altLang="zh-CN" sz="2400" b="1" dirty="0" smtClean="0">
                <a:latin typeface="微软雅黑" panose="020B0503020204020204" pitchFamily="34" charset="-122"/>
                <a:ea typeface="微软雅黑" panose="020B0503020204020204" pitchFamily="34" charset="-122"/>
              </a:rPr>
              <a:t>);  </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zh-CN" sz="2400" b="1" dirty="0">
                <a:solidFill>
                  <a:srgbClr val="FFFF00"/>
                </a:solidFill>
                <a:latin typeface="微软雅黑" panose="020B0503020204020204" pitchFamily="34" charset="-122"/>
                <a:ea typeface="微软雅黑" panose="020B0503020204020204" pitchFamily="34" charset="-122"/>
              </a:rPr>
              <a:t>错误</a:t>
            </a:r>
            <a:endParaRPr lang="zh-CN"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Tx/>
              <a:buNone/>
            </a:pP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add(</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x = 1,</a:t>
            </a:r>
            <a:r>
              <a:rPr lang="en-US" altLang="zh-CN" sz="2400" b="1" dirty="0">
                <a:solidFill>
                  <a:srgbClr val="FFFF00"/>
                </a:solidFill>
                <a:latin typeface="微软雅黑" panose="020B0503020204020204" pitchFamily="34" charset="-122"/>
                <a:ea typeface="微软雅黑" panose="020B0503020204020204" pitchFamily="34" charset="-122"/>
              </a:rPr>
              <a:t> </a:t>
            </a:r>
            <a:r>
              <a:rPr lang="en-US" altLang="zh-CN" sz="2400" b="1" dirty="0" err="1">
                <a:solidFill>
                  <a:srgbClr val="FFFF00"/>
                </a:solidFill>
                <a:latin typeface="微软雅黑" panose="020B0503020204020204" pitchFamily="34" charset="-122"/>
                <a:ea typeface="微软雅黑" panose="020B0503020204020204" pitchFamily="34" charset="-122"/>
              </a:rPr>
              <a:t>int</a:t>
            </a:r>
            <a:r>
              <a:rPr lang="en-US" altLang="zh-CN" sz="2400" b="1" dirty="0">
                <a:solidFill>
                  <a:srgbClr val="FFFF00"/>
                </a:solidFill>
                <a:latin typeface="微软雅黑" panose="020B0503020204020204" pitchFamily="34" charset="-122"/>
                <a:ea typeface="微软雅黑" panose="020B0503020204020204" pitchFamily="34" charset="-122"/>
              </a:rPr>
              <a:t> y</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z = 6</a:t>
            </a:r>
            <a:r>
              <a:rPr lang="en-US" altLang="zh-CN" sz="2400" b="1" dirty="0" smtClean="0">
                <a:latin typeface="微软雅黑" panose="020B0503020204020204" pitchFamily="34" charset="-122"/>
                <a:ea typeface="微软雅黑" panose="020B0503020204020204" pitchFamily="34" charset="-122"/>
              </a:rPr>
              <a:t>);   </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zh-CN" sz="2400" b="1" dirty="0">
                <a:solidFill>
                  <a:srgbClr val="FFFF00"/>
                </a:solidFill>
                <a:latin typeface="微软雅黑" panose="020B0503020204020204" pitchFamily="34" charset="-122"/>
                <a:ea typeface="微软雅黑" panose="020B0503020204020204" pitchFamily="34" charset="-122"/>
              </a:rPr>
              <a:t>错误</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默认参数值与函数的调用位置</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68611" name="内容占位符 2"/>
          <p:cNvSpPr>
            <a:spLocks noGrp="1"/>
          </p:cNvSpPr>
          <p:nvPr>
            <p:ph idx="1"/>
          </p:nvPr>
        </p:nvSpPr>
        <p:spPr>
          <a:xfrm>
            <a:off x="518864" y="1412776"/>
            <a:ext cx="8229600" cy="2214562"/>
          </a:xfrm>
        </p:spPr>
        <p:txBody>
          <a:bodyPr/>
          <a:lstStyle/>
          <a:p>
            <a:pPr eaLnBrk="1" hangingPunct="1"/>
            <a:r>
              <a:rPr lang="zh-CN" altLang="en-US" sz="2800" b="1" dirty="0">
                <a:solidFill>
                  <a:srgbClr val="FFFF00"/>
                </a:solidFill>
                <a:latin typeface="微软雅黑" panose="020B0503020204020204" pitchFamily="34" charset="-122"/>
                <a:ea typeface="微软雅黑" panose="020B0503020204020204" pitchFamily="34" charset="-122"/>
              </a:rPr>
              <a:t>如果一个函数有原型声明，且原型声明在定义之前，则默认参数值必须在函数原型声明中给出；</a:t>
            </a:r>
            <a:r>
              <a:rPr lang="zh-CN" altLang="en-US" sz="2800" b="1" dirty="0">
                <a:latin typeface="微软雅黑" panose="020B0503020204020204" pitchFamily="34" charset="-122"/>
                <a:ea typeface="微软雅黑" panose="020B0503020204020204" pitchFamily="34" charset="-122"/>
              </a:rPr>
              <a:t>而如果只有函数的定义，或函数定义在前，则默认参数值需在函数定义中给出。</a:t>
            </a:r>
            <a:endParaRPr lang="zh-CN" altLang="en-US" sz="2800" b="1" dirty="0">
              <a:latin typeface="微软雅黑" panose="020B0503020204020204" pitchFamily="34" charset="-122"/>
              <a:ea typeface="微软雅黑" panose="020B0503020204020204" pitchFamily="34" charset="-122"/>
            </a:endParaRPr>
          </a:p>
          <a:p>
            <a:pPr eaLnBrk="1" hangingPunct="1"/>
            <a:r>
              <a:rPr lang="zh-CN" altLang="en-US" sz="2800" b="1" dirty="0">
                <a:latin typeface="微软雅黑" panose="020B0503020204020204" pitchFamily="34" charset="-122"/>
                <a:ea typeface="微软雅黑" panose="020B0503020204020204" pitchFamily="34" charset="-122"/>
              </a:rPr>
              <a:t>例：</a:t>
            </a:r>
            <a:endParaRPr lang="zh-CN" altLang="en-US" sz="2800" b="1" dirty="0">
              <a:latin typeface="微软雅黑" panose="020B0503020204020204" pitchFamily="34" charset="-122"/>
              <a:ea typeface="微软雅黑" panose="020B0503020204020204" pitchFamily="34" charset="-122"/>
            </a:endParaRPr>
          </a:p>
        </p:txBody>
      </p:sp>
      <p:sp>
        <p:nvSpPr>
          <p:cNvPr id="68614" name="Text Box 5"/>
          <p:cNvSpPr txBox="1">
            <a:spLocks noChangeArrowheads="1"/>
          </p:cNvSpPr>
          <p:nvPr/>
        </p:nvSpPr>
        <p:spPr bwMode="auto">
          <a:xfrm>
            <a:off x="4929188" y="3786188"/>
            <a:ext cx="3810000" cy="2668423"/>
          </a:xfrm>
          <a:prstGeom prst="rect">
            <a:avLst/>
          </a:prstGeom>
          <a:noFill/>
          <a:ln w="9525">
            <a:noFill/>
            <a:miter lim="800000"/>
          </a:ln>
        </p:spPr>
        <p:txBody>
          <a:bodyPr>
            <a:spAutoFit/>
          </a:bodyPr>
          <a:lstStyle/>
          <a:p>
            <a:pPr algn="l">
              <a:lnSpc>
                <a:spcPct val="90000"/>
              </a:lnSpc>
              <a:spcBef>
                <a:spcPct val="50000"/>
              </a:spcBef>
            </a:pPr>
            <a:r>
              <a:rPr lang="en-US" altLang="zh-CN" sz="1800" b="1" dirty="0" err="1">
                <a:solidFill>
                  <a:srgbClr val="FFFF00"/>
                </a:solidFill>
                <a:latin typeface="微软雅黑" panose="020B0503020204020204" pitchFamily="34" charset="-122"/>
                <a:ea typeface="微软雅黑" panose="020B0503020204020204" pitchFamily="34" charset="-122"/>
              </a:rPr>
              <a:t>int</a:t>
            </a:r>
            <a:r>
              <a:rPr lang="en-US" altLang="zh-CN" sz="1800" b="1" dirty="0">
                <a:solidFill>
                  <a:srgbClr val="FFFF00"/>
                </a:solidFill>
                <a:latin typeface="微软雅黑" panose="020B0503020204020204" pitchFamily="34" charset="-122"/>
                <a:ea typeface="微软雅黑" panose="020B0503020204020204" pitchFamily="34" charset="-122"/>
              </a:rPr>
              <a:t> add(</a:t>
            </a:r>
            <a:r>
              <a:rPr lang="en-US" altLang="zh-CN" sz="1800" b="1" dirty="0" err="1">
                <a:solidFill>
                  <a:srgbClr val="FFFF00"/>
                </a:solidFill>
                <a:latin typeface="微软雅黑" panose="020B0503020204020204" pitchFamily="34" charset="-122"/>
                <a:ea typeface="微软雅黑" panose="020B0503020204020204" pitchFamily="34" charset="-122"/>
              </a:rPr>
              <a:t>int</a:t>
            </a:r>
            <a:r>
              <a:rPr lang="en-US" altLang="zh-CN" sz="1800" b="1" dirty="0">
                <a:solidFill>
                  <a:srgbClr val="FFFF00"/>
                </a:solidFill>
                <a:latin typeface="微软雅黑" panose="020B0503020204020204" pitchFamily="34" charset="-122"/>
                <a:ea typeface="微软雅黑" panose="020B0503020204020204" pitchFamily="34" charset="-122"/>
              </a:rPr>
              <a:t> x = 5,int y = 6) {</a:t>
            </a:r>
            <a:endParaRPr lang="en-US" altLang="zh-CN" sz="1800" b="1" dirty="0">
              <a:solidFill>
                <a:srgbClr val="FFFF00"/>
              </a:solidFill>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a:solidFill>
                  <a:srgbClr val="FFFF00"/>
                </a:solidFill>
                <a:latin typeface="微软雅黑" panose="020B0503020204020204" pitchFamily="34" charset="-122"/>
                <a:ea typeface="微软雅黑" panose="020B0503020204020204" pitchFamily="34" charset="-122"/>
              </a:rPr>
              <a:t>//</a:t>
            </a:r>
            <a:r>
              <a:rPr lang="zh-CN" altLang="en-US" sz="1800" b="1" dirty="0">
                <a:solidFill>
                  <a:srgbClr val="FFFF00"/>
                </a:solidFill>
                <a:latin typeface="微软雅黑" panose="020B0503020204020204" pitchFamily="34" charset="-122"/>
                <a:ea typeface="微软雅黑" panose="020B0503020204020204" pitchFamily="34" charset="-122"/>
              </a:rPr>
              <a:t>只有定义，没有原型声明</a:t>
            </a:r>
            <a:endParaRPr lang="en-US" altLang="zh-CN" sz="1800" b="1" dirty="0">
              <a:solidFill>
                <a:srgbClr val="FFFF00"/>
              </a:solidFill>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a:latin typeface="微软雅黑" panose="020B0503020204020204" pitchFamily="34" charset="-122"/>
                <a:ea typeface="微软雅黑" panose="020B0503020204020204" pitchFamily="34" charset="-122"/>
              </a:rPr>
              <a:t>  return  x + y;</a:t>
            </a:r>
            <a:endParaRPr lang="en-US" altLang="zh-CN" sz="1800"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err="1">
                <a:latin typeface="微软雅黑" panose="020B0503020204020204" pitchFamily="34" charset="-122"/>
                <a:ea typeface="微软雅黑" panose="020B0503020204020204" pitchFamily="34" charset="-122"/>
              </a:rPr>
              <a:t>int</a:t>
            </a:r>
            <a:r>
              <a:rPr lang="en-US" altLang="zh-CN" sz="1800" b="1" dirty="0">
                <a:latin typeface="微软雅黑" panose="020B0503020204020204" pitchFamily="34" charset="-122"/>
                <a:ea typeface="微软雅黑" panose="020B0503020204020204" pitchFamily="34" charset="-122"/>
              </a:rPr>
              <a:t> main() {</a:t>
            </a:r>
            <a:endParaRPr lang="en-US" altLang="zh-CN" sz="1800"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a:latin typeface="微软雅黑" panose="020B0503020204020204" pitchFamily="34" charset="-122"/>
                <a:ea typeface="微软雅黑" panose="020B0503020204020204" pitchFamily="34" charset="-122"/>
              </a:rPr>
              <a:t>  add();</a:t>
            </a:r>
            <a:endParaRPr lang="zh-CN" altLang="en-US" sz="1800"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p:txBody>
      </p:sp>
      <p:sp>
        <p:nvSpPr>
          <p:cNvPr id="68615" name="Line 7"/>
          <p:cNvSpPr>
            <a:spLocks noChangeShapeType="1"/>
          </p:cNvSpPr>
          <p:nvPr/>
        </p:nvSpPr>
        <p:spPr bwMode="auto">
          <a:xfrm>
            <a:off x="4786313" y="3857625"/>
            <a:ext cx="0" cy="2590800"/>
          </a:xfrm>
          <a:prstGeom prst="line">
            <a:avLst/>
          </a:prstGeom>
          <a:noFill/>
          <a:ln w="12700">
            <a:solidFill>
              <a:schemeClr val="tx1"/>
            </a:solidFill>
            <a:prstDash val="dashDot"/>
            <a:round/>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8616" name="Text Box 4"/>
          <p:cNvSpPr txBox="1">
            <a:spLocks noChangeArrowheads="1"/>
          </p:cNvSpPr>
          <p:nvPr/>
        </p:nvSpPr>
        <p:spPr bwMode="auto">
          <a:xfrm>
            <a:off x="1042988" y="3868738"/>
            <a:ext cx="3762375" cy="2944812"/>
          </a:xfrm>
          <a:prstGeom prst="rect">
            <a:avLst/>
          </a:prstGeom>
          <a:noFill/>
          <a:ln w="9525">
            <a:noFill/>
            <a:miter lim="800000"/>
          </a:ln>
        </p:spPr>
        <p:txBody>
          <a:bodyPr>
            <a:spAutoFit/>
          </a:bodyPr>
          <a:lstStyle/>
          <a:p>
            <a:pPr algn="l">
              <a:lnSpc>
                <a:spcPct val="70000"/>
              </a:lnSpc>
              <a:spcBef>
                <a:spcPct val="50000"/>
              </a:spcBef>
            </a:pPr>
            <a:r>
              <a:rPr lang="en-US" altLang="zh-CN" sz="1800" b="1" dirty="0" err="1">
                <a:solidFill>
                  <a:srgbClr val="FFFF00"/>
                </a:solidFill>
                <a:latin typeface="微软雅黑" panose="020B0503020204020204" pitchFamily="34" charset="-122"/>
                <a:ea typeface="微软雅黑" panose="020B0503020204020204" pitchFamily="34" charset="-122"/>
              </a:rPr>
              <a:t>int</a:t>
            </a:r>
            <a:r>
              <a:rPr lang="en-US" altLang="zh-CN" sz="1800" b="1" dirty="0">
                <a:solidFill>
                  <a:srgbClr val="FFFF00"/>
                </a:solidFill>
                <a:latin typeface="微软雅黑" panose="020B0503020204020204" pitchFamily="34" charset="-122"/>
                <a:ea typeface="微软雅黑" panose="020B0503020204020204" pitchFamily="34" charset="-122"/>
              </a:rPr>
              <a:t> add(</a:t>
            </a:r>
            <a:r>
              <a:rPr lang="en-US" altLang="zh-CN" sz="1800" b="1" dirty="0" err="1">
                <a:solidFill>
                  <a:srgbClr val="FFFF00"/>
                </a:solidFill>
                <a:latin typeface="微软雅黑" panose="020B0503020204020204" pitchFamily="34" charset="-122"/>
                <a:ea typeface="微软雅黑" panose="020B0503020204020204" pitchFamily="34" charset="-122"/>
              </a:rPr>
              <a:t>int</a:t>
            </a:r>
            <a:r>
              <a:rPr lang="en-US" altLang="zh-CN" sz="1800" b="1" dirty="0">
                <a:solidFill>
                  <a:srgbClr val="FFFF00"/>
                </a:solidFill>
                <a:latin typeface="微软雅黑" panose="020B0503020204020204" pitchFamily="34" charset="-122"/>
                <a:ea typeface="微软雅黑" panose="020B0503020204020204" pitchFamily="34" charset="-122"/>
              </a:rPr>
              <a:t> x = 5,int y = 6);</a:t>
            </a:r>
            <a:endParaRPr lang="en-US" altLang="zh-CN" sz="1800" b="1" dirty="0">
              <a:solidFill>
                <a:srgbClr val="FFFF00"/>
              </a:solidFill>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a:solidFill>
                  <a:srgbClr val="FFFF00"/>
                </a:solidFill>
                <a:latin typeface="微软雅黑" panose="020B0503020204020204" pitchFamily="34" charset="-122"/>
                <a:ea typeface="微软雅黑" panose="020B0503020204020204" pitchFamily="34" charset="-122"/>
              </a:rPr>
              <a:t>//</a:t>
            </a:r>
            <a:r>
              <a:rPr lang="zh-CN" altLang="en-US" sz="1800" b="1" dirty="0">
                <a:solidFill>
                  <a:srgbClr val="FFFF00"/>
                </a:solidFill>
                <a:latin typeface="微软雅黑" panose="020B0503020204020204" pitchFamily="34" charset="-122"/>
                <a:ea typeface="微软雅黑" panose="020B0503020204020204" pitchFamily="34" charset="-122"/>
              </a:rPr>
              <a:t>原型声明在前</a:t>
            </a:r>
            <a:endParaRPr lang="en-US" altLang="zh-CN" sz="1800" b="1" dirty="0">
              <a:solidFill>
                <a:srgbClr val="FFFF00"/>
              </a:solidFill>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err="1">
                <a:latin typeface="微软雅黑" panose="020B0503020204020204" pitchFamily="34" charset="-122"/>
                <a:ea typeface="微软雅黑" panose="020B0503020204020204" pitchFamily="34" charset="-122"/>
              </a:rPr>
              <a:t>int</a:t>
            </a:r>
            <a:r>
              <a:rPr lang="en-US" altLang="zh-CN" sz="1800" b="1" dirty="0">
                <a:latin typeface="微软雅黑" panose="020B0503020204020204" pitchFamily="34" charset="-122"/>
                <a:ea typeface="微软雅黑" panose="020B0503020204020204" pitchFamily="34" charset="-122"/>
              </a:rPr>
              <a:t> main() {</a:t>
            </a:r>
            <a:endParaRPr lang="en-US" altLang="zh-CN" sz="1800" b="1" dirty="0">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a:latin typeface="微软雅黑" panose="020B0503020204020204" pitchFamily="34" charset="-122"/>
                <a:ea typeface="微软雅黑" panose="020B0503020204020204" pitchFamily="34" charset="-122"/>
              </a:rPr>
              <a:t>  add(); </a:t>
            </a:r>
            <a:endParaRPr lang="en-US" altLang="en-US" sz="1800" b="1" dirty="0">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en-US" sz="1800" b="1" dirty="0">
                <a:latin typeface="微软雅黑" panose="020B0503020204020204" pitchFamily="34" charset="-122"/>
                <a:ea typeface="微软雅黑" panose="020B0503020204020204" pitchFamily="34" charset="-122"/>
              </a:rPr>
              <a:t>}</a:t>
            </a:r>
            <a:endParaRPr lang="en-US" altLang="en-US" sz="1800" b="1" dirty="0">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err="1">
                <a:latin typeface="微软雅黑" panose="020B0503020204020204" pitchFamily="34" charset="-122"/>
                <a:ea typeface="微软雅黑" panose="020B0503020204020204" pitchFamily="34" charset="-122"/>
              </a:rPr>
              <a:t>int</a:t>
            </a:r>
            <a:r>
              <a:rPr lang="en-US" altLang="zh-CN" sz="1800" b="1" dirty="0">
                <a:latin typeface="微软雅黑" panose="020B0503020204020204" pitchFamily="34" charset="-122"/>
                <a:ea typeface="微软雅黑" panose="020B0503020204020204" pitchFamily="34" charset="-122"/>
              </a:rPr>
              <a:t> add(</a:t>
            </a:r>
            <a:r>
              <a:rPr lang="en-US" altLang="zh-CN" sz="1800" b="1" dirty="0" err="1">
                <a:latin typeface="微软雅黑" panose="020B0503020204020204" pitchFamily="34" charset="-122"/>
                <a:ea typeface="微软雅黑" panose="020B0503020204020204" pitchFamily="34" charset="-122"/>
              </a:rPr>
              <a:t>int</a:t>
            </a:r>
            <a:r>
              <a:rPr lang="en-US" altLang="zh-CN" sz="1800" b="1" dirty="0">
                <a:latin typeface="微软雅黑" panose="020B0503020204020204" pitchFamily="34" charset="-122"/>
                <a:ea typeface="微软雅黑" panose="020B0503020204020204" pitchFamily="34" charset="-122"/>
              </a:rPr>
              <a:t> </a:t>
            </a:r>
            <a:r>
              <a:rPr lang="en-US" altLang="zh-CN" sz="1800" b="1" dirty="0" err="1">
                <a:latin typeface="微软雅黑" panose="020B0503020204020204" pitchFamily="34" charset="-122"/>
                <a:ea typeface="微软雅黑" panose="020B0503020204020204" pitchFamily="34" charset="-122"/>
              </a:rPr>
              <a:t>x,int</a:t>
            </a:r>
            <a:r>
              <a:rPr lang="en-US" altLang="zh-CN" sz="1800" b="1" dirty="0">
                <a:latin typeface="微软雅黑" panose="020B0503020204020204" pitchFamily="34" charset="-122"/>
                <a:ea typeface="微软雅黑" panose="020B0503020204020204" pitchFamily="34" charset="-122"/>
              </a:rPr>
              <a:t> y) {</a:t>
            </a:r>
            <a:endParaRPr lang="en-US" altLang="zh-CN" sz="1800" b="1" dirty="0">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a:solidFill>
                  <a:srgbClr val="FFFF00"/>
                </a:solidFill>
                <a:latin typeface="微软雅黑" panose="020B0503020204020204" pitchFamily="34" charset="-122"/>
                <a:ea typeface="微软雅黑" panose="020B0503020204020204" pitchFamily="34" charset="-122"/>
              </a:rPr>
              <a:t>//</a:t>
            </a:r>
            <a:r>
              <a:rPr lang="zh-CN" altLang="en-US" sz="1800" b="1" dirty="0">
                <a:solidFill>
                  <a:srgbClr val="FFFF00"/>
                </a:solidFill>
                <a:latin typeface="微软雅黑" panose="020B0503020204020204" pitchFamily="34" charset="-122"/>
                <a:ea typeface="微软雅黑" panose="020B0503020204020204" pitchFamily="34" charset="-122"/>
              </a:rPr>
              <a:t>此处不能再指定默认值</a:t>
            </a:r>
            <a:endParaRPr lang="en-US" altLang="zh-CN" sz="1800" b="1" dirty="0">
              <a:solidFill>
                <a:srgbClr val="FFFF00"/>
              </a:solidFill>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a:latin typeface="微软雅黑" panose="020B0503020204020204" pitchFamily="34" charset="-122"/>
                <a:ea typeface="微软雅黑" panose="020B0503020204020204" pitchFamily="34" charset="-122"/>
              </a:rPr>
              <a:t>  return x + y;</a:t>
            </a:r>
            <a:endParaRPr lang="en-US" altLang="zh-CN" sz="1800" b="1" dirty="0">
              <a:latin typeface="微软雅黑" panose="020B0503020204020204" pitchFamily="34" charset="-122"/>
              <a:ea typeface="微软雅黑" panose="020B0503020204020204" pitchFamily="34" charset="-122"/>
            </a:endParaRPr>
          </a:p>
          <a:p>
            <a:pPr algn="l">
              <a:lnSpc>
                <a:spcPct val="70000"/>
              </a:lnSpc>
              <a:spcBef>
                <a:spcPct val="50000"/>
              </a:spcBef>
            </a:pPr>
            <a:r>
              <a:rPr lang="en-US" altLang="zh-CN"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例</a:t>
            </a:r>
            <a:r>
              <a:rPr lang="en-US" altLang="zh-CN" smtClean="0"/>
              <a:t>3-15</a:t>
            </a:r>
            <a:r>
              <a:rPr lang="zh-CN" altLang="en-US" smtClean="0"/>
              <a:t>计算长方体的体积</a:t>
            </a:r>
            <a:endParaRPr lang="zh-CN" altLang="en-US" smtClean="0"/>
          </a:p>
        </p:txBody>
      </p:sp>
      <p:sp>
        <p:nvSpPr>
          <p:cNvPr id="69635" name="内容占位符 2"/>
          <p:cNvSpPr>
            <a:spLocks noGrp="1"/>
          </p:cNvSpPr>
          <p:nvPr>
            <p:ph idx="1"/>
          </p:nvPr>
        </p:nvSpPr>
        <p:spPr>
          <a:xfrm>
            <a:off x="611560" y="1772816"/>
            <a:ext cx="7886700" cy="4351338"/>
          </a:xfrm>
        </p:spPr>
        <p:txBody>
          <a:bodyPr/>
          <a:lstStyle/>
          <a:p>
            <a:pPr marL="81280" indent="-6350">
              <a:buFont typeface="Georgia" panose="02040502050405020303" pitchFamily="18" charset="0"/>
              <a:buNone/>
            </a:pPr>
            <a:r>
              <a:rPr lang="zh-CN" altLang="en-US" sz="2800" b="1" dirty="0" smtClean="0">
                <a:latin typeface="微软雅黑" panose="020B0503020204020204" pitchFamily="34" charset="-122"/>
                <a:ea typeface="微软雅黑" panose="020B0503020204020204" pitchFamily="34" charset="-122"/>
              </a:rPr>
              <a:t>函数</a:t>
            </a:r>
            <a:r>
              <a:rPr lang="en-US" altLang="zh-CN" sz="2800" b="1" dirty="0" err="1">
                <a:latin typeface="微软雅黑" panose="020B0503020204020204" pitchFamily="34" charset="-122"/>
                <a:ea typeface="微软雅黑" panose="020B0503020204020204" pitchFamily="34" charset="-122"/>
              </a:rPr>
              <a:t>getVolume</a:t>
            </a:r>
            <a:r>
              <a:rPr lang="zh-CN" altLang="en-US" sz="2800" b="1" dirty="0">
                <a:latin typeface="微软雅黑" panose="020B0503020204020204" pitchFamily="34" charset="-122"/>
                <a:ea typeface="微软雅黑" panose="020B0503020204020204" pitchFamily="34" charset="-122"/>
              </a:rPr>
              <a:t>是计算体积的函数，有三个形参：</a:t>
            </a:r>
            <a:r>
              <a:rPr lang="en-US" altLang="zh-CN" sz="2800" b="1" dirty="0">
                <a:latin typeface="微软雅黑" panose="020B0503020204020204" pitchFamily="34" charset="-122"/>
                <a:ea typeface="微软雅黑" panose="020B0503020204020204" pitchFamily="34" charset="-122"/>
              </a:rPr>
              <a:t>length</a:t>
            </a:r>
            <a:r>
              <a:rPr lang="zh-CN" altLang="en-US" sz="2800" b="1" dirty="0">
                <a:latin typeface="微软雅黑" panose="020B0503020204020204" pitchFamily="34" charset="-122"/>
                <a:ea typeface="微软雅黑" panose="020B0503020204020204" pitchFamily="34" charset="-122"/>
              </a:rPr>
              <a:t>（长）、</a:t>
            </a:r>
            <a:r>
              <a:rPr lang="en-US" altLang="zh-CN" sz="2800" b="1" dirty="0">
                <a:latin typeface="微软雅黑" panose="020B0503020204020204" pitchFamily="34" charset="-122"/>
                <a:ea typeface="微软雅黑" panose="020B0503020204020204" pitchFamily="34" charset="-122"/>
              </a:rPr>
              <a:t>width</a:t>
            </a:r>
            <a:r>
              <a:rPr lang="zh-CN" altLang="en-US" sz="2800" b="1" dirty="0">
                <a:latin typeface="微软雅黑" panose="020B0503020204020204" pitchFamily="34" charset="-122"/>
                <a:ea typeface="微软雅黑" panose="020B0503020204020204" pitchFamily="34" charset="-122"/>
              </a:rPr>
              <a:t>（宽）、</a:t>
            </a:r>
            <a:r>
              <a:rPr lang="en-US" altLang="zh-CN" sz="2800" b="1" dirty="0">
                <a:latin typeface="微软雅黑" panose="020B0503020204020204" pitchFamily="34" charset="-122"/>
                <a:ea typeface="微软雅黑" panose="020B0503020204020204" pitchFamily="34" charset="-122"/>
              </a:rPr>
              <a:t>height</a:t>
            </a:r>
            <a:r>
              <a:rPr lang="zh-CN" altLang="en-US" sz="2800" b="1" dirty="0">
                <a:latin typeface="微软雅黑" panose="020B0503020204020204" pitchFamily="34" charset="-122"/>
                <a:ea typeface="微软雅黑" panose="020B0503020204020204" pitchFamily="34" charset="-122"/>
              </a:rPr>
              <a:t>（高），其中</a:t>
            </a:r>
            <a:r>
              <a:rPr lang="en-US" altLang="zh-CN" sz="2800" b="1" dirty="0">
                <a:latin typeface="微软雅黑" panose="020B0503020204020204" pitchFamily="34" charset="-122"/>
                <a:ea typeface="微软雅黑" panose="020B0503020204020204" pitchFamily="34" charset="-122"/>
              </a:rPr>
              <a:t>width</a:t>
            </a:r>
            <a:r>
              <a:rPr lang="zh-CN" altLang="en-US" sz="2800" b="1" dirty="0">
                <a:latin typeface="微软雅黑" panose="020B0503020204020204" pitchFamily="34" charset="-122"/>
                <a:ea typeface="微软雅黑" panose="020B0503020204020204" pitchFamily="34" charset="-122"/>
              </a:rPr>
              <a:t>和</a:t>
            </a:r>
            <a:r>
              <a:rPr lang="en-US" altLang="zh-CN" sz="2800" b="1" dirty="0">
                <a:latin typeface="微软雅黑" panose="020B0503020204020204" pitchFamily="34" charset="-122"/>
                <a:ea typeface="微软雅黑" panose="020B0503020204020204" pitchFamily="34" charset="-122"/>
              </a:rPr>
              <a:t>height</a:t>
            </a:r>
            <a:r>
              <a:rPr lang="zh-CN" altLang="en-US" sz="2800" b="1" dirty="0">
                <a:latin typeface="微软雅黑" panose="020B0503020204020204" pitchFamily="34" charset="-122"/>
                <a:ea typeface="微软雅黑" panose="020B0503020204020204" pitchFamily="34" charset="-122"/>
              </a:rPr>
              <a:t>带有默认值</a:t>
            </a:r>
            <a:r>
              <a:rPr lang="zh-CN" altLang="en-US" sz="2800" b="1" dirty="0" smtClean="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1280" indent="-6350">
              <a:buFont typeface="Georgia" panose="02040502050405020303" pitchFamily="18" charset="0"/>
              <a:buNone/>
            </a:pPr>
            <a:endParaRPr lang="en-US" altLang="zh-CN" sz="2800" b="1" dirty="0">
              <a:latin typeface="微软雅黑" panose="020B0503020204020204" pitchFamily="34" charset="-122"/>
              <a:ea typeface="微软雅黑" panose="020B0503020204020204" pitchFamily="34" charset="-122"/>
            </a:endParaRPr>
          </a:p>
          <a:p>
            <a:pPr marL="81280" indent="-6350">
              <a:buFont typeface="Georgia" panose="02040502050405020303" pitchFamily="18" charset="0"/>
              <a:buNone/>
            </a:pPr>
            <a:r>
              <a:rPr lang="zh-CN" altLang="en-US" sz="2800" b="1" dirty="0">
                <a:latin typeface="微软雅黑" panose="020B0503020204020204" pitchFamily="34" charset="-122"/>
                <a:ea typeface="微软雅黑" panose="020B0503020204020204" pitchFamily="34" charset="-122"/>
              </a:rPr>
              <a:t>主函数中以不同形式调用</a:t>
            </a:r>
            <a:r>
              <a:rPr lang="en-US" altLang="zh-CN" sz="2800" b="1" dirty="0" err="1">
                <a:latin typeface="微软雅黑" panose="020B0503020204020204" pitchFamily="34" charset="-122"/>
                <a:ea typeface="微软雅黑" panose="020B0503020204020204" pitchFamily="34" charset="-122"/>
              </a:rPr>
              <a:t>getVolume</a:t>
            </a:r>
            <a:r>
              <a:rPr lang="zh-CN" altLang="en-US" sz="2800" b="1" dirty="0">
                <a:latin typeface="微软雅黑" panose="020B0503020204020204" pitchFamily="34" charset="-122"/>
                <a:ea typeface="微软雅黑" panose="020B0503020204020204" pitchFamily="34" charset="-122"/>
              </a:rPr>
              <a:t>函数，分析程序的运行结果。</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p:cNvSpPr>
            <a:spLocks noGrp="1"/>
          </p:cNvSpPr>
          <p:nvPr>
            <p:ph idx="1"/>
          </p:nvPr>
        </p:nvSpPr>
        <p:spPr>
          <a:xfrm>
            <a:off x="457200" y="620688"/>
            <a:ext cx="8578850" cy="5832648"/>
          </a:xfrm>
          <a:solidFill>
            <a:schemeClr val="tx1"/>
          </a:solidFill>
        </p:spPr>
        <p:txBody>
          <a:bodyPr>
            <a:noAutofit/>
          </a:bodyPr>
          <a:lstStyle/>
          <a:p>
            <a:pPr marL="365760" indent="-255905" fontAlgn="auto">
              <a:spcBef>
                <a:spcPts val="0"/>
              </a:spcBef>
              <a:buClr>
                <a:schemeClr val="accent3"/>
              </a:buClr>
              <a:buNone/>
            </a:pPr>
            <a:r>
              <a:rPr lang="en-US" altLang="zh-CN" sz="2000" b="1" dirty="0">
                <a:solidFill>
                  <a:srgbClr val="000000"/>
                </a:solidFill>
                <a:ea typeface="+mj-ea"/>
              </a:rPr>
              <a:t>//3_15.cpp</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#include &lt;</a:t>
            </a:r>
            <a:r>
              <a:rPr lang="en-US" altLang="zh-CN" sz="2000" b="1" dirty="0" err="1">
                <a:solidFill>
                  <a:srgbClr val="000000"/>
                </a:solidFill>
                <a:ea typeface="+mj-ea"/>
              </a:rPr>
              <a:t>iostream</a:t>
            </a:r>
            <a:r>
              <a:rPr lang="en-US" altLang="zh-CN" sz="2000" b="1" dirty="0">
                <a:solidFill>
                  <a:srgbClr val="000000"/>
                </a:solidFill>
                <a:ea typeface="+mj-ea"/>
              </a:rPr>
              <a:t>&gt;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#include &lt;</a:t>
            </a:r>
            <a:r>
              <a:rPr lang="en-US" altLang="zh-CN" sz="2000" b="1" dirty="0" err="1">
                <a:solidFill>
                  <a:srgbClr val="000000"/>
                </a:solidFill>
                <a:ea typeface="+mj-ea"/>
              </a:rPr>
              <a:t>iomanip</a:t>
            </a:r>
            <a:r>
              <a:rPr lang="en-US" altLang="zh-CN" sz="2000" b="1" dirty="0">
                <a:solidFill>
                  <a:srgbClr val="000000"/>
                </a:solidFill>
                <a:ea typeface="+mj-ea"/>
              </a:rPr>
              <a:t>&gt;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using namespace </a:t>
            </a:r>
            <a:r>
              <a:rPr lang="en-US" altLang="zh-CN" sz="2000" b="1" dirty="0" err="1">
                <a:solidFill>
                  <a:srgbClr val="000000"/>
                </a:solidFill>
                <a:ea typeface="+mj-ea"/>
              </a:rPr>
              <a:t>std</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FF0000"/>
                </a:solidFill>
                <a:ea typeface="+mj-ea"/>
              </a:rPr>
              <a:t> </a:t>
            </a:r>
            <a:r>
              <a:rPr lang="en-US" altLang="zh-CN" sz="2000" b="1" dirty="0" err="1" smtClean="0">
                <a:solidFill>
                  <a:srgbClr val="FF0000"/>
                </a:solidFill>
                <a:ea typeface="+mj-ea"/>
              </a:rPr>
              <a:t>int</a:t>
            </a:r>
            <a:r>
              <a:rPr lang="en-US" altLang="zh-CN" sz="2000" b="1" dirty="0" smtClean="0">
                <a:solidFill>
                  <a:srgbClr val="FF0000"/>
                </a:solidFill>
                <a:ea typeface="+mj-ea"/>
              </a:rPr>
              <a:t> </a:t>
            </a:r>
            <a:r>
              <a:rPr lang="en-US" altLang="zh-CN" sz="2000" b="1" dirty="0" err="1">
                <a:solidFill>
                  <a:srgbClr val="FF0000"/>
                </a:solidFill>
                <a:ea typeface="+mj-ea"/>
              </a:rPr>
              <a:t>getVolume</a:t>
            </a:r>
            <a:r>
              <a:rPr lang="en-US" altLang="zh-CN" sz="2000" b="1" dirty="0">
                <a:solidFill>
                  <a:srgbClr val="FF0000"/>
                </a:solidFill>
                <a:ea typeface="+mj-ea"/>
              </a:rPr>
              <a:t>(</a:t>
            </a:r>
            <a:r>
              <a:rPr lang="en-US" altLang="zh-CN" sz="2000" b="1" dirty="0" err="1">
                <a:solidFill>
                  <a:srgbClr val="FF0000"/>
                </a:solidFill>
                <a:ea typeface="+mj-ea"/>
              </a:rPr>
              <a:t>int</a:t>
            </a:r>
            <a:r>
              <a:rPr lang="en-US" altLang="zh-CN" sz="2000" b="1" dirty="0">
                <a:solidFill>
                  <a:srgbClr val="FF0000"/>
                </a:solidFill>
                <a:ea typeface="+mj-ea"/>
              </a:rPr>
              <a:t> length, </a:t>
            </a:r>
            <a:r>
              <a:rPr lang="en-US" altLang="zh-CN" sz="2000" b="1" dirty="0" err="1">
                <a:solidFill>
                  <a:srgbClr val="FF0000"/>
                </a:solidFill>
                <a:ea typeface="+mj-ea"/>
              </a:rPr>
              <a:t>int</a:t>
            </a:r>
            <a:r>
              <a:rPr lang="en-US" altLang="zh-CN" sz="2000" b="1" dirty="0">
                <a:solidFill>
                  <a:srgbClr val="FF0000"/>
                </a:solidFill>
                <a:ea typeface="+mj-ea"/>
              </a:rPr>
              <a:t> width = 2, </a:t>
            </a:r>
            <a:r>
              <a:rPr lang="en-US" altLang="zh-CN" sz="2000" b="1" dirty="0" err="1">
                <a:solidFill>
                  <a:srgbClr val="FF0000"/>
                </a:solidFill>
                <a:ea typeface="+mj-ea"/>
              </a:rPr>
              <a:t>int</a:t>
            </a:r>
            <a:r>
              <a:rPr lang="en-US" altLang="zh-CN" sz="2000" b="1" dirty="0">
                <a:solidFill>
                  <a:srgbClr val="FF0000"/>
                </a:solidFill>
                <a:ea typeface="+mj-ea"/>
              </a:rPr>
              <a:t> height = 3);</a:t>
            </a:r>
            <a:endParaRPr lang="en-US" altLang="zh-CN" sz="2000" b="1" dirty="0">
              <a:solidFill>
                <a:srgbClr val="FF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smtClean="0">
                <a:solidFill>
                  <a:srgbClr val="000000"/>
                </a:solidFill>
                <a:ea typeface="+mj-ea"/>
              </a:rPr>
              <a:t>int</a:t>
            </a:r>
            <a:r>
              <a:rPr lang="en-US" altLang="zh-CN" sz="2000" b="1" dirty="0" smtClean="0">
                <a:solidFill>
                  <a:srgbClr val="000000"/>
                </a:solidFill>
                <a:ea typeface="+mj-ea"/>
              </a:rPr>
              <a:t> </a:t>
            </a:r>
            <a:r>
              <a:rPr lang="en-US" altLang="zh-CN" sz="2000" b="1" dirty="0">
                <a:solidFill>
                  <a:srgbClr val="000000"/>
                </a:solidFill>
                <a:ea typeface="+mj-ea"/>
              </a:rPr>
              <a:t>main()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const</a:t>
            </a:r>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X = 10, Y = 12, Z = 15;</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"Some box data is "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getVolume</a:t>
            </a:r>
            <a:r>
              <a:rPr lang="en-US" altLang="zh-CN" sz="2000" b="1" dirty="0">
                <a:solidFill>
                  <a:srgbClr val="000000"/>
                </a:solidFill>
                <a:ea typeface="+mj-ea"/>
              </a:rPr>
              <a:t>(X, Y, Z)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"Some box data is "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getVolume</a:t>
            </a:r>
            <a:r>
              <a:rPr lang="en-US" altLang="zh-CN" sz="2000" b="1" dirty="0">
                <a:solidFill>
                  <a:srgbClr val="000000"/>
                </a:solidFill>
                <a:ea typeface="+mj-ea"/>
              </a:rPr>
              <a:t>(X, Y)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"Some box data is "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getVolume</a:t>
            </a:r>
            <a:r>
              <a:rPr lang="en-US" altLang="zh-CN" sz="2000" b="1" dirty="0">
                <a:solidFill>
                  <a:srgbClr val="000000"/>
                </a:solidFill>
                <a:ea typeface="+mj-ea"/>
              </a:rPr>
              <a:t>(X)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return 0;</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FF0000"/>
                </a:solidFill>
                <a:ea typeface="+mj-ea"/>
              </a:rPr>
              <a:t> </a:t>
            </a:r>
            <a:r>
              <a:rPr lang="en-US" altLang="zh-CN" sz="2000" b="1" dirty="0" err="1" smtClean="0">
                <a:solidFill>
                  <a:srgbClr val="FF0000"/>
                </a:solidFill>
                <a:ea typeface="+mj-ea"/>
              </a:rPr>
              <a:t>int</a:t>
            </a:r>
            <a:r>
              <a:rPr lang="en-US" altLang="zh-CN" sz="2000" b="1" dirty="0" smtClean="0">
                <a:solidFill>
                  <a:srgbClr val="FF0000"/>
                </a:solidFill>
                <a:ea typeface="+mj-ea"/>
              </a:rPr>
              <a:t> </a:t>
            </a:r>
            <a:r>
              <a:rPr lang="en-US" altLang="zh-CN" sz="2000" b="1" dirty="0" err="1">
                <a:solidFill>
                  <a:srgbClr val="FF0000"/>
                </a:solidFill>
                <a:ea typeface="+mj-ea"/>
              </a:rPr>
              <a:t>getVolume</a:t>
            </a:r>
            <a:r>
              <a:rPr lang="en-US" altLang="zh-CN" sz="2000" b="1" dirty="0">
                <a:solidFill>
                  <a:srgbClr val="FF0000"/>
                </a:solidFill>
                <a:ea typeface="+mj-ea"/>
              </a:rPr>
              <a:t>(</a:t>
            </a:r>
            <a:r>
              <a:rPr lang="en-US" altLang="zh-CN" sz="2000" b="1" dirty="0" err="1">
                <a:solidFill>
                  <a:srgbClr val="FF0000"/>
                </a:solidFill>
                <a:ea typeface="+mj-ea"/>
              </a:rPr>
              <a:t>int</a:t>
            </a:r>
            <a:r>
              <a:rPr lang="en-US" altLang="zh-CN" sz="2000" b="1" dirty="0">
                <a:solidFill>
                  <a:srgbClr val="FF0000"/>
                </a:solidFill>
                <a:ea typeface="+mj-ea"/>
              </a:rPr>
              <a:t> length, </a:t>
            </a:r>
            <a:r>
              <a:rPr lang="en-US" altLang="zh-CN" sz="2000" b="1" dirty="0" err="1">
                <a:solidFill>
                  <a:srgbClr val="FF0000"/>
                </a:solidFill>
                <a:ea typeface="+mj-ea"/>
              </a:rPr>
              <a:t>int</a:t>
            </a:r>
            <a:r>
              <a:rPr lang="en-US" altLang="zh-CN" sz="2000" b="1" dirty="0">
                <a:solidFill>
                  <a:srgbClr val="FF0000"/>
                </a:solidFill>
                <a:ea typeface="+mj-ea"/>
              </a:rPr>
              <a:t> width/* = 2 */, </a:t>
            </a:r>
            <a:r>
              <a:rPr lang="en-US" altLang="zh-CN" sz="2000" b="1" dirty="0" err="1">
                <a:solidFill>
                  <a:srgbClr val="FF0000"/>
                </a:solidFill>
                <a:ea typeface="+mj-ea"/>
              </a:rPr>
              <a:t>int</a:t>
            </a:r>
            <a:r>
              <a:rPr lang="en-US" altLang="zh-CN" sz="2000" b="1" dirty="0">
                <a:solidFill>
                  <a:srgbClr val="FF0000"/>
                </a:solidFill>
                <a:ea typeface="+mj-ea"/>
              </a:rPr>
              <a:t> height/* = 3 */) </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setw</a:t>
            </a:r>
            <a:r>
              <a:rPr lang="en-US" altLang="zh-CN" sz="2000" b="1" dirty="0">
                <a:solidFill>
                  <a:srgbClr val="000000"/>
                </a:solidFill>
                <a:ea typeface="+mj-ea"/>
              </a:rPr>
              <a:t>(5) &lt;&lt; length &lt;&lt; </a:t>
            </a:r>
            <a:r>
              <a:rPr lang="en-US" altLang="zh-CN" sz="2000" b="1" dirty="0" err="1">
                <a:solidFill>
                  <a:srgbClr val="000000"/>
                </a:solidFill>
                <a:ea typeface="+mj-ea"/>
              </a:rPr>
              <a:t>setw</a:t>
            </a:r>
            <a:r>
              <a:rPr lang="en-US" altLang="zh-CN" sz="2000" b="1" dirty="0">
                <a:solidFill>
                  <a:srgbClr val="000000"/>
                </a:solidFill>
                <a:ea typeface="+mj-ea"/>
              </a:rPr>
              <a:t>(5) &lt;&lt; width &lt;&lt; </a:t>
            </a:r>
            <a:r>
              <a:rPr lang="en-US" altLang="zh-CN" sz="2000" b="1" dirty="0" err="1">
                <a:solidFill>
                  <a:srgbClr val="000000"/>
                </a:solidFill>
                <a:ea typeface="+mj-ea"/>
              </a:rPr>
              <a:t>setw</a:t>
            </a:r>
            <a:r>
              <a:rPr lang="en-US" altLang="zh-CN" sz="2000" b="1" dirty="0">
                <a:solidFill>
                  <a:srgbClr val="000000"/>
                </a:solidFill>
                <a:ea typeface="+mj-ea"/>
              </a:rPr>
              <a:t>(5) &lt;&lt; height &lt;&lt; '\t';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return length * width * height;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a:t>
            </a:r>
            <a:endParaRPr lang="en-US" altLang="zh-CN" sz="2000" b="1" dirty="0">
              <a:solidFill>
                <a:srgbClr val="000000"/>
              </a:solidFill>
              <a:ea typeface="+mj-ea"/>
            </a:endParaRPr>
          </a:p>
        </p:txBody>
      </p:sp>
      <p:sp>
        <p:nvSpPr>
          <p:cNvPr id="70661" name="标题 1"/>
          <p:cNvSpPr>
            <a:spLocks noGrp="1"/>
          </p:cNvSpPr>
          <p:nvPr>
            <p:ph type="title"/>
          </p:nvPr>
        </p:nvSpPr>
        <p:spPr>
          <a:xfrm>
            <a:off x="5500688" y="571500"/>
            <a:ext cx="3328987" cy="709613"/>
          </a:xfrm>
          <a:solidFill>
            <a:schemeClr val="bg1"/>
          </a:solidFill>
        </p:spPr>
        <p:txBody>
          <a:bodyPr/>
          <a:lstStyle/>
          <a:p>
            <a:r>
              <a:rPr lang="zh-CN" altLang="en-US" smtClean="0"/>
              <a:t>例</a:t>
            </a:r>
            <a:r>
              <a:rPr lang="en-US" altLang="zh-CN" smtClean="0"/>
              <a:t>3-15</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2060848"/>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5"/>
            </a:pPr>
            <a:r>
              <a:rPr lang="en-US" altLang="zh-CN" sz="5800" b="1" dirty="0">
                <a:ea typeface="华文彩云" panose="02010800040101010101" pitchFamily="2" charset="-122"/>
              </a:rPr>
              <a:t> </a:t>
            </a:r>
            <a:r>
              <a:rPr lang="en-US" altLang="zh-CN" sz="5800" b="1" dirty="0" smtClean="0">
                <a:ea typeface="华文彩云" panose="02010800040101010101" pitchFamily="2" charset="-122"/>
              </a:rPr>
              <a:t>       </a:t>
            </a:r>
            <a:r>
              <a:rPr lang="zh-CN" altLang="en-US" sz="5800" b="1" dirty="0" smtClean="0">
                <a:ea typeface="华文彩云" panose="02010800040101010101" pitchFamily="2" charset="-122"/>
              </a:rPr>
              <a:t>函数重载</a:t>
            </a:r>
            <a:endParaRPr lang="zh-CN" altLang="en-US" sz="5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3.5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函数重载</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1683" name="内容占位符 2"/>
          <p:cNvSpPr>
            <a:spLocks noGrp="1"/>
          </p:cNvSpPr>
          <p:nvPr>
            <p:ph idx="1"/>
          </p:nvPr>
        </p:nvSpPr>
        <p:spPr>
          <a:xfrm>
            <a:off x="467544" y="1714500"/>
            <a:ext cx="8229600" cy="2143125"/>
          </a:xfrm>
        </p:spPr>
        <p:txBody>
          <a:bodyPr/>
          <a:lstStyle/>
          <a:p>
            <a:pPr eaLnBrk="1" hangingPunct="1"/>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允许功能相近的函数在相同的作用域内以相同函数名声明，从而形成重载。方便使用，便于记忆。</a:t>
            </a:r>
            <a:endParaRPr lang="zh-CN" altLang="en-US" sz="2800" b="1" dirty="0">
              <a:latin typeface="微软雅黑" panose="020B0503020204020204" pitchFamily="34" charset="-122"/>
              <a:ea typeface="微软雅黑" panose="020B0503020204020204" pitchFamily="34" charset="-122"/>
            </a:endParaRPr>
          </a:p>
          <a:p>
            <a:pPr eaLnBrk="1" hangingPunct="1"/>
            <a:r>
              <a:rPr lang="zh-CN" altLang="en-US" sz="2800" b="1" dirty="0">
                <a:latin typeface="微软雅黑" panose="020B0503020204020204" pitchFamily="34" charset="-122"/>
                <a:ea typeface="微软雅黑" panose="020B0503020204020204" pitchFamily="34" charset="-122"/>
              </a:rPr>
              <a:t>例：</a:t>
            </a:r>
            <a:endParaRPr lang="zh-CN" altLang="en-US" sz="2800" b="1"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785813" y="3857625"/>
            <a:ext cx="6934200" cy="838200"/>
            <a:chOff x="384" y="2544"/>
            <a:chExt cx="4368" cy="528"/>
          </a:xfrm>
        </p:grpSpPr>
        <p:sp>
          <p:nvSpPr>
            <p:cNvPr id="71690" name="AutoShape 5"/>
            <p:cNvSpPr/>
            <p:nvPr/>
          </p:nvSpPr>
          <p:spPr bwMode="auto">
            <a:xfrm>
              <a:off x="3264" y="2592"/>
              <a:ext cx="80" cy="480"/>
            </a:xfrm>
            <a:prstGeom prst="rightBrace">
              <a:avLst>
                <a:gd name="adj1" fmla="val 50000"/>
                <a:gd name="adj2" fmla="val 50000"/>
              </a:avLst>
            </a:prstGeom>
            <a:noFill/>
            <a:ln w="9525">
              <a:solidFill>
                <a:schemeClr val="tx1"/>
              </a:solidFill>
              <a:round/>
            </a:ln>
          </p:spPr>
          <p:txBody>
            <a:bodyPr wrap="none" anchor="ctr"/>
            <a:lstStyle/>
            <a:p>
              <a:pPr algn="l"/>
              <a:endParaRPr lang="zh-CN" altLang="en-US" sz="2000" b="1">
                <a:latin typeface="微软雅黑" panose="020B0503020204020204" pitchFamily="34" charset="-122"/>
                <a:ea typeface="微软雅黑" panose="020B0503020204020204" pitchFamily="34" charset="-122"/>
              </a:endParaRPr>
            </a:p>
          </p:txBody>
        </p:sp>
        <p:sp>
          <p:nvSpPr>
            <p:cNvPr id="71691" name="Text Box 6"/>
            <p:cNvSpPr txBox="1">
              <a:spLocks noChangeArrowheads="1"/>
            </p:cNvSpPr>
            <p:nvPr/>
          </p:nvSpPr>
          <p:spPr bwMode="auto">
            <a:xfrm>
              <a:off x="3408" y="2662"/>
              <a:ext cx="1344" cy="291"/>
            </a:xfrm>
            <a:prstGeom prst="rect">
              <a:avLst/>
            </a:prstGeom>
            <a:noFill/>
            <a:ln w="9525">
              <a:noFill/>
              <a:miter lim="800000"/>
            </a:ln>
          </p:spPr>
          <p:txBody>
            <a:bodyPr>
              <a:spAutoFit/>
            </a:bodyPr>
            <a:lstStyle/>
            <a:p>
              <a:pPr algn="l">
                <a:spcBef>
                  <a:spcPct val="50000"/>
                </a:spcBef>
              </a:pPr>
              <a:r>
                <a:rPr lang="zh-CN" altLang="en-US" b="1" dirty="0">
                  <a:solidFill>
                    <a:srgbClr val="FFFF00"/>
                  </a:solidFill>
                  <a:latin typeface="微软雅黑" panose="020B0503020204020204" pitchFamily="34" charset="-122"/>
                  <a:ea typeface="微软雅黑" panose="020B0503020204020204" pitchFamily="34" charset="-122"/>
                </a:rPr>
                <a:t>形参类型不同</a:t>
              </a:r>
              <a:endParaRPr lang="zh-CN" altLang="en-US" b="1" dirty="0">
                <a:solidFill>
                  <a:srgbClr val="FFFF00"/>
                </a:solidFill>
                <a:latin typeface="微软雅黑" panose="020B0503020204020204" pitchFamily="34" charset="-122"/>
                <a:ea typeface="微软雅黑" panose="020B0503020204020204" pitchFamily="34" charset="-122"/>
              </a:endParaRPr>
            </a:p>
          </p:txBody>
        </p:sp>
        <p:sp>
          <p:nvSpPr>
            <p:cNvPr id="71692" name="Text Box 7"/>
            <p:cNvSpPr txBox="1">
              <a:spLocks noChangeArrowheads="1"/>
            </p:cNvSpPr>
            <p:nvPr/>
          </p:nvSpPr>
          <p:spPr bwMode="auto">
            <a:xfrm>
              <a:off x="384" y="2544"/>
              <a:ext cx="2784" cy="446"/>
            </a:xfrm>
            <a:prstGeom prst="rect">
              <a:avLst/>
            </a:prstGeom>
            <a:noFill/>
            <a:ln w="9525">
              <a:noFill/>
              <a:miter lim="800000"/>
            </a:ln>
          </p:spPr>
          <p:txBody>
            <a:bodyPr>
              <a:spAutoFit/>
            </a:bodyPr>
            <a:lstStyle/>
            <a:p>
              <a:pPr algn="l"/>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add(</a:t>
              </a:r>
              <a:r>
                <a:rPr lang="en-US" altLang="zh-CN" sz="2000" b="1" dirty="0" err="1">
                  <a:solidFill>
                    <a:srgbClr val="FFFF00"/>
                  </a:solidFill>
                  <a:latin typeface="微软雅黑" panose="020B0503020204020204" pitchFamily="34" charset="-122"/>
                  <a:ea typeface="微软雅黑" panose="020B0503020204020204" pitchFamily="34" charset="-122"/>
                </a:rPr>
                <a:t>int</a:t>
              </a:r>
              <a:r>
                <a:rPr lang="en-US" altLang="zh-CN" sz="2000" b="1" dirty="0">
                  <a:solidFill>
                    <a:srgbClr val="00CC99"/>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x,</a:t>
              </a:r>
              <a:r>
                <a:rPr lang="en-US" altLang="zh-CN" sz="2000" b="1" dirty="0">
                  <a:solidFill>
                    <a:srgbClr val="00CC99"/>
                  </a:solidFill>
                  <a:latin typeface="微软雅黑" panose="020B0503020204020204" pitchFamily="34" charset="-122"/>
                  <a:ea typeface="微软雅黑" panose="020B0503020204020204" pitchFamily="34" charset="-122"/>
                </a:rPr>
                <a:t> </a:t>
              </a:r>
              <a:r>
                <a:rPr lang="en-US" altLang="zh-CN" sz="2000" b="1" dirty="0" err="1">
                  <a:solidFill>
                    <a:srgbClr val="FFFF00"/>
                  </a:solidFill>
                  <a:latin typeface="微软雅黑" panose="020B0503020204020204" pitchFamily="34" charset="-122"/>
                  <a:ea typeface="微软雅黑" panose="020B0503020204020204" pitchFamily="34" charset="-122"/>
                </a:rPr>
                <a:t>int</a:t>
              </a:r>
              <a:r>
                <a:rPr lang="en-US" altLang="zh-CN" sz="2000" b="1" dirty="0">
                  <a:solidFill>
                    <a:srgbClr val="00CC99"/>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y);</a:t>
              </a:r>
              <a:endParaRPr lang="en-US" altLang="zh-CN" sz="2000" b="1" dirty="0">
                <a:latin typeface="微软雅黑" panose="020B0503020204020204" pitchFamily="34" charset="-122"/>
                <a:ea typeface="微软雅黑" panose="020B0503020204020204" pitchFamily="34" charset="-122"/>
              </a:endParaRPr>
            </a:p>
            <a:p>
              <a:pPr algn="l"/>
              <a:r>
                <a:rPr lang="en-US" altLang="zh-CN" sz="2000" b="1" dirty="0">
                  <a:latin typeface="微软雅黑" panose="020B0503020204020204" pitchFamily="34" charset="-122"/>
                  <a:ea typeface="微软雅黑" panose="020B0503020204020204" pitchFamily="34" charset="-122"/>
                </a:rPr>
                <a:t>float add(</a:t>
              </a:r>
              <a:r>
                <a:rPr lang="en-US" altLang="zh-CN" sz="2000" b="1" dirty="0">
                  <a:solidFill>
                    <a:srgbClr val="FFFF00"/>
                  </a:solidFill>
                  <a:latin typeface="微软雅黑" panose="020B0503020204020204" pitchFamily="34" charset="-122"/>
                  <a:ea typeface="微软雅黑" panose="020B0503020204020204" pitchFamily="34" charset="-122"/>
                </a:rPr>
                <a:t>float</a:t>
              </a:r>
              <a:r>
                <a:rPr lang="en-US" altLang="zh-CN" sz="2000" b="1" dirty="0">
                  <a:solidFill>
                    <a:srgbClr val="C0000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x, </a:t>
              </a:r>
              <a:r>
                <a:rPr lang="en-US" altLang="zh-CN" sz="2000" b="1" dirty="0">
                  <a:solidFill>
                    <a:srgbClr val="FFFF00"/>
                  </a:solidFill>
                  <a:latin typeface="微软雅黑" panose="020B0503020204020204" pitchFamily="34" charset="-122"/>
                  <a:ea typeface="微软雅黑" panose="020B0503020204020204" pitchFamily="34" charset="-122"/>
                </a:rPr>
                <a:t>float</a:t>
              </a:r>
              <a:r>
                <a:rPr lang="en-US" altLang="zh-CN" sz="2000" b="1" dirty="0">
                  <a:latin typeface="微软雅黑" panose="020B0503020204020204" pitchFamily="34" charset="-122"/>
                  <a:ea typeface="微软雅黑" panose="020B0503020204020204" pitchFamily="34" charset="-122"/>
                </a:rPr>
                <a:t> y);</a:t>
              </a:r>
              <a:endParaRPr lang="en-US" altLang="zh-CN" sz="2000" b="1" dirty="0">
                <a:latin typeface="微软雅黑" panose="020B0503020204020204" pitchFamily="34" charset="-122"/>
                <a:ea typeface="微软雅黑" panose="020B0503020204020204" pitchFamily="34" charset="-122"/>
              </a:endParaRPr>
            </a:p>
          </p:txBody>
        </p:sp>
      </p:grpSp>
      <p:grpSp>
        <p:nvGrpSpPr>
          <p:cNvPr id="3" name="Group 13"/>
          <p:cNvGrpSpPr/>
          <p:nvPr/>
        </p:nvGrpSpPr>
        <p:grpSpPr bwMode="auto">
          <a:xfrm>
            <a:off x="785813" y="4857750"/>
            <a:ext cx="6927850" cy="914400"/>
            <a:chOff x="912" y="3072"/>
            <a:chExt cx="4364" cy="576"/>
          </a:xfrm>
        </p:grpSpPr>
        <p:sp>
          <p:nvSpPr>
            <p:cNvPr id="71687" name="AutoShape 9"/>
            <p:cNvSpPr/>
            <p:nvPr/>
          </p:nvSpPr>
          <p:spPr bwMode="auto">
            <a:xfrm>
              <a:off x="3801" y="3168"/>
              <a:ext cx="80" cy="480"/>
            </a:xfrm>
            <a:prstGeom prst="rightBrace">
              <a:avLst>
                <a:gd name="adj1" fmla="val 50000"/>
                <a:gd name="adj2" fmla="val 50000"/>
              </a:avLst>
            </a:prstGeom>
            <a:noFill/>
            <a:ln w="9525">
              <a:solidFill>
                <a:schemeClr val="tx1"/>
              </a:solidFill>
              <a:round/>
            </a:ln>
          </p:spPr>
          <p:txBody>
            <a:bodyPr wrap="none" anchor="ctr"/>
            <a:lstStyle/>
            <a:p>
              <a:pPr algn="l"/>
              <a:endParaRPr lang="zh-CN" altLang="en-US" sz="2000" b="1">
                <a:latin typeface="微软雅黑" panose="020B0503020204020204" pitchFamily="34" charset="-122"/>
                <a:ea typeface="微软雅黑" panose="020B0503020204020204" pitchFamily="34" charset="-122"/>
              </a:endParaRPr>
            </a:p>
          </p:txBody>
        </p:sp>
        <p:sp>
          <p:nvSpPr>
            <p:cNvPr id="71688" name="Text Box 10"/>
            <p:cNvSpPr txBox="1">
              <a:spLocks noChangeArrowheads="1"/>
            </p:cNvSpPr>
            <p:nvPr/>
          </p:nvSpPr>
          <p:spPr bwMode="auto">
            <a:xfrm>
              <a:off x="3932" y="3264"/>
              <a:ext cx="1344" cy="291"/>
            </a:xfrm>
            <a:prstGeom prst="rect">
              <a:avLst/>
            </a:prstGeom>
            <a:noFill/>
            <a:ln w="9525">
              <a:noFill/>
              <a:miter lim="800000"/>
            </a:ln>
          </p:spPr>
          <p:txBody>
            <a:bodyPr>
              <a:spAutoFit/>
            </a:bodyPr>
            <a:lstStyle/>
            <a:p>
              <a:pPr algn="l">
                <a:spcBef>
                  <a:spcPct val="50000"/>
                </a:spcBef>
              </a:pPr>
              <a:r>
                <a:rPr lang="zh-CN" altLang="en-US" b="1" dirty="0">
                  <a:solidFill>
                    <a:srgbClr val="FFFF00"/>
                  </a:solidFill>
                  <a:latin typeface="微软雅黑" panose="020B0503020204020204" pitchFamily="34" charset="-122"/>
                  <a:ea typeface="微软雅黑" panose="020B0503020204020204" pitchFamily="34" charset="-122"/>
                </a:rPr>
                <a:t>形参个数不同</a:t>
              </a:r>
              <a:endParaRPr lang="zh-CN" altLang="en-US" b="1" dirty="0">
                <a:solidFill>
                  <a:srgbClr val="FFFF00"/>
                </a:solidFill>
                <a:latin typeface="微软雅黑" panose="020B0503020204020204" pitchFamily="34" charset="-122"/>
                <a:ea typeface="微软雅黑" panose="020B0503020204020204" pitchFamily="34" charset="-122"/>
              </a:endParaRPr>
            </a:p>
          </p:txBody>
        </p:sp>
        <p:sp>
          <p:nvSpPr>
            <p:cNvPr id="71689" name="Text Box 11"/>
            <p:cNvSpPr txBox="1">
              <a:spLocks noChangeArrowheads="1"/>
            </p:cNvSpPr>
            <p:nvPr/>
          </p:nvSpPr>
          <p:spPr bwMode="auto">
            <a:xfrm>
              <a:off x="912" y="3072"/>
              <a:ext cx="2832" cy="446"/>
            </a:xfrm>
            <a:prstGeom prst="rect">
              <a:avLst/>
            </a:prstGeom>
            <a:noFill/>
            <a:ln w="9525">
              <a:noFill/>
              <a:miter lim="800000"/>
            </a:ln>
          </p:spPr>
          <p:txBody>
            <a:bodyPr>
              <a:spAutoFit/>
            </a:bodyPr>
            <a:lstStyle/>
            <a:p>
              <a:pPr algn="l"/>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add(</a:t>
              </a:r>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x, </a:t>
              </a:r>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y);</a:t>
              </a:r>
              <a:endParaRPr lang="en-US" altLang="zh-CN" sz="2000" b="1" dirty="0">
                <a:latin typeface="微软雅黑" panose="020B0503020204020204" pitchFamily="34" charset="-122"/>
                <a:ea typeface="微软雅黑" panose="020B0503020204020204" pitchFamily="34" charset="-122"/>
              </a:endParaRPr>
            </a:p>
            <a:p>
              <a:pPr algn="l"/>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add(</a:t>
              </a:r>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x, </a:t>
              </a:r>
              <a:r>
                <a:rPr lang="en-US" altLang="zh-CN" sz="2000" b="1" dirty="0" err="1">
                  <a:latin typeface="微软雅黑" panose="020B0503020204020204" pitchFamily="34" charset="-122"/>
                  <a:ea typeface="微软雅黑" panose="020B0503020204020204" pitchFamily="34" charset="-122"/>
                </a:rPr>
                <a:t>int</a:t>
              </a:r>
              <a:r>
                <a:rPr lang="en-US" altLang="zh-CN" sz="2000" b="1" dirty="0">
                  <a:latin typeface="微软雅黑" panose="020B0503020204020204" pitchFamily="34" charset="-122"/>
                  <a:ea typeface="微软雅黑" panose="020B0503020204020204" pitchFamily="34" charset="-122"/>
                </a:rPr>
                <a:t> y, </a:t>
              </a:r>
              <a:r>
                <a:rPr lang="en-US" altLang="zh-CN" sz="2000" b="1" dirty="0" err="1">
                  <a:solidFill>
                    <a:srgbClr val="FFFF00"/>
                  </a:solidFill>
                  <a:latin typeface="微软雅黑" panose="020B0503020204020204" pitchFamily="34" charset="-122"/>
                  <a:ea typeface="微软雅黑" panose="020B0503020204020204" pitchFamily="34" charset="-122"/>
                </a:rPr>
                <a:t>int</a:t>
              </a:r>
              <a:r>
                <a:rPr lang="en-US" altLang="zh-CN" sz="2000" b="1" dirty="0">
                  <a:solidFill>
                    <a:srgbClr val="FFFF00"/>
                  </a:solidFill>
                  <a:latin typeface="微软雅黑" panose="020B0503020204020204" pitchFamily="34" charset="-122"/>
                  <a:ea typeface="微软雅黑" panose="020B0503020204020204" pitchFamily="34" charset="-122"/>
                </a:rPr>
                <a:t> z</a:t>
              </a:r>
              <a:r>
                <a:rPr lang="en-US" altLang="zh-CN"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注意事项</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2710" name="Rectangle 1028"/>
          <p:cNvSpPr>
            <a:spLocks noChangeArrowheads="1"/>
          </p:cNvSpPr>
          <p:nvPr/>
        </p:nvSpPr>
        <p:spPr bwMode="auto">
          <a:xfrm>
            <a:off x="762000" y="4221088"/>
            <a:ext cx="8077200" cy="990600"/>
          </a:xfrm>
          <a:prstGeom prst="rect">
            <a:avLst/>
          </a:prstGeom>
          <a:noFill/>
          <a:ln w="9525">
            <a:noFill/>
            <a:miter lim="800000"/>
          </a:ln>
        </p:spPr>
        <p:txBody>
          <a:bodyPr/>
          <a:lstStyle/>
          <a:p>
            <a:pPr lvl="1" indent="-342900" algn="l">
              <a:spcBef>
                <a:spcPct val="20000"/>
              </a:spcBef>
              <a:buClr>
                <a:schemeClr val="accent2"/>
              </a:buClr>
              <a:buFont typeface="Wingdings" panose="05000000000000000000" pitchFamily="2" charset="2"/>
              <a:buChar char="ü"/>
            </a:pPr>
            <a:r>
              <a:rPr lang="zh-CN" altLang="en-US" b="1" dirty="0">
                <a:solidFill>
                  <a:srgbClr val="FFFF00"/>
                </a:solidFill>
                <a:latin typeface="微软雅黑" panose="020B0503020204020204" pitchFamily="34" charset="-122"/>
                <a:ea typeface="微软雅黑" panose="020B0503020204020204" pitchFamily="34" charset="-122"/>
              </a:rPr>
              <a:t>不要将不同功能的函数声明为重载函数，以免出现调用结果的误解、混淆。这样不好：</a:t>
            </a:r>
            <a:endParaRPr lang="zh-CN" altLang="en-US" b="1" dirty="0">
              <a:solidFill>
                <a:srgbClr val="FFFF00"/>
              </a:solidFill>
              <a:latin typeface="微软雅黑" panose="020B0503020204020204" pitchFamily="34" charset="-122"/>
              <a:ea typeface="微软雅黑" panose="020B0503020204020204" pitchFamily="34" charset="-122"/>
            </a:endParaRPr>
          </a:p>
        </p:txBody>
      </p:sp>
      <p:grpSp>
        <p:nvGrpSpPr>
          <p:cNvPr id="2" name="Group 1029"/>
          <p:cNvGrpSpPr/>
          <p:nvPr/>
        </p:nvGrpSpPr>
        <p:grpSpPr bwMode="auto">
          <a:xfrm>
            <a:off x="1066800" y="2620466"/>
            <a:ext cx="3581400" cy="1458912"/>
            <a:chOff x="672" y="2112"/>
            <a:chExt cx="2256" cy="919"/>
          </a:xfrm>
        </p:grpSpPr>
        <p:sp>
          <p:nvSpPr>
            <p:cNvPr id="72722" name="Text Box 1030"/>
            <p:cNvSpPr txBox="1">
              <a:spLocks noChangeArrowheads="1"/>
            </p:cNvSpPr>
            <p:nvPr/>
          </p:nvSpPr>
          <p:spPr bwMode="auto">
            <a:xfrm>
              <a:off x="672" y="2112"/>
              <a:ext cx="2256" cy="919"/>
            </a:xfrm>
            <a:prstGeom prst="rect">
              <a:avLst/>
            </a:prstGeom>
            <a:noFill/>
            <a:ln w="9525">
              <a:noFill/>
              <a:miter lim="800000"/>
            </a:ln>
          </p:spPr>
          <p:txBody>
            <a:bodyPr>
              <a:spAutoFit/>
            </a:bodyPr>
            <a:lstStyle/>
            <a:p>
              <a:pPr algn="l">
                <a:lnSpc>
                  <a:spcPct val="90000"/>
                </a:lnSpc>
                <a:spcBef>
                  <a:spcPct val="50000"/>
                </a:spcBef>
              </a:pP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add(</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err="1">
                  <a:solidFill>
                    <a:srgbClr val="FFFF00"/>
                  </a:solidFill>
                  <a:latin typeface="微软雅黑" panose="020B0503020204020204" pitchFamily="34" charset="-122"/>
                  <a:ea typeface="微软雅黑" panose="020B0503020204020204" pitchFamily="34" charset="-122"/>
                </a:rPr>
                <a:t>x</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a:solidFill>
                    <a:srgbClr val="FFFF00"/>
                  </a:solidFill>
                  <a:latin typeface="微软雅黑" panose="020B0503020204020204" pitchFamily="34" charset="-122"/>
                  <a:ea typeface="微软雅黑" panose="020B0503020204020204" pitchFamily="34" charset="-122"/>
                </a:rPr>
                <a:t>y</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add(</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err="1">
                  <a:solidFill>
                    <a:srgbClr val="FFFF00"/>
                  </a:solidFill>
                  <a:latin typeface="微软雅黑" panose="020B0503020204020204" pitchFamily="34" charset="-122"/>
                  <a:ea typeface="微软雅黑" panose="020B0503020204020204" pitchFamily="34" charset="-122"/>
                </a:rPr>
                <a:t>a</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a:solidFill>
                    <a:srgbClr val="FFFF00"/>
                  </a:solidFill>
                  <a:latin typeface="微软雅黑" panose="020B0503020204020204" pitchFamily="34" charset="-122"/>
                  <a:ea typeface="微软雅黑" panose="020B0503020204020204" pitchFamily="34" charset="-122"/>
                </a:rPr>
                <a:t>b</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gn="l">
                <a:lnSpc>
                  <a:spcPct val="90000"/>
                </a:lnSpc>
                <a:spcBef>
                  <a:spcPct val="50000"/>
                </a:spcBef>
              </a:pPr>
              <a:r>
                <a:rPr lang="zh-CN" altLang="en-US" b="1" dirty="0">
                  <a:latin typeface="微软雅黑" panose="020B0503020204020204" pitchFamily="34" charset="-122"/>
                  <a:ea typeface="微软雅黑" panose="020B0503020204020204" pitchFamily="34" charset="-122"/>
                </a:rPr>
                <a:t>编译器不以</a:t>
              </a:r>
              <a:r>
                <a:rPr lang="zh-CN" altLang="en-US" b="1" dirty="0">
                  <a:solidFill>
                    <a:srgbClr val="FFFF00"/>
                  </a:solidFill>
                  <a:latin typeface="微软雅黑" panose="020B0503020204020204" pitchFamily="34" charset="-122"/>
                  <a:ea typeface="微软雅黑" panose="020B0503020204020204" pitchFamily="34" charset="-122"/>
                </a:rPr>
                <a:t>形参名</a:t>
              </a:r>
              <a:r>
                <a:rPr lang="zh-CN" altLang="en-US" b="1" dirty="0">
                  <a:latin typeface="微软雅黑" panose="020B0503020204020204" pitchFamily="34" charset="-122"/>
                  <a:ea typeface="微软雅黑" panose="020B0503020204020204" pitchFamily="34" charset="-122"/>
                </a:rPr>
                <a:t>来区分</a:t>
              </a:r>
              <a:endParaRPr lang="zh-CN" altLang="en-US" b="1" dirty="0">
                <a:latin typeface="微软雅黑" panose="020B0503020204020204" pitchFamily="34" charset="-122"/>
                <a:ea typeface="微软雅黑" panose="020B0503020204020204" pitchFamily="34" charset="-122"/>
              </a:endParaRPr>
            </a:p>
          </p:txBody>
        </p:sp>
        <p:grpSp>
          <p:nvGrpSpPr>
            <p:cNvPr id="3" name="Group 1031"/>
            <p:cNvGrpSpPr/>
            <p:nvPr/>
          </p:nvGrpSpPr>
          <p:grpSpPr bwMode="auto">
            <a:xfrm>
              <a:off x="2565" y="2236"/>
              <a:ext cx="336" cy="336"/>
              <a:chOff x="2565" y="2236"/>
              <a:chExt cx="336" cy="336"/>
            </a:xfrm>
          </p:grpSpPr>
          <p:sp>
            <p:nvSpPr>
              <p:cNvPr id="72724" name="Line 1032"/>
              <p:cNvSpPr>
                <a:spLocks noChangeShapeType="1"/>
              </p:cNvSpPr>
              <p:nvPr/>
            </p:nvSpPr>
            <p:spPr bwMode="auto">
              <a:xfrm>
                <a:off x="2565" y="2236"/>
                <a:ext cx="336" cy="336"/>
              </a:xfrm>
              <a:prstGeom prst="line">
                <a:avLst/>
              </a:prstGeom>
              <a:noFill/>
              <a:ln w="38100">
                <a:solidFill>
                  <a:srgbClr val="FF0066"/>
                </a:solidFill>
                <a:round/>
              </a:ln>
            </p:spPr>
            <p:txBody>
              <a:bodyPr wrap="none" anchor="ctr"/>
              <a:lstStyle/>
              <a:p>
                <a:pPr algn="l"/>
                <a:endParaRPr lang="zh-CN" altLang="en-US" b="1">
                  <a:latin typeface="微软雅黑" panose="020B0503020204020204" pitchFamily="34" charset="-122"/>
                  <a:ea typeface="微软雅黑" panose="020B0503020204020204" pitchFamily="34" charset="-122"/>
                </a:endParaRPr>
              </a:p>
            </p:txBody>
          </p:sp>
          <p:sp>
            <p:nvSpPr>
              <p:cNvPr id="72725" name="Line 1033"/>
              <p:cNvSpPr>
                <a:spLocks noChangeShapeType="1"/>
              </p:cNvSpPr>
              <p:nvPr/>
            </p:nvSpPr>
            <p:spPr bwMode="auto">
              <a:xfrm flipH="1">
                <a:off x="2565" y="2236"/>
                <a:ext cx="336" cy="336"/>
              </a:xfrm>
              <a:prstGeom prst="line">
                <a:avLst/>
              </a:prstGeom>
              <a:noFill/>
              <a:ln w="38100">
                <a:solidFill>
                  <a:srgbClr val="FF0066"/>
                </a:solidFill>
                <a:round/>
              </a:ln>
            </p:spPr>
            <p:txBody>
              <a:bodyPr wrap="none" anchor="ctr"/>
              <a:lstStyle/>
              <a:p>
                <a:pPr algn="l"/>
                <a:endParaRPr lang="zh-CN" altLang="en-US" b="1">
                  <a:latin typeface="微软雅黑" panose="020B0503020204020204" pitchFamily="34" charset="-122"/>
                  <a:ea typeface="微软雅黑" panose="020B0503020204020204" pitchFamily="34" charset="-122"/>
                </a:endParaRPr>
              </a:p>
            </p:txBody>
          </p:sp>
        </p:grpSp>
      </p:grpSp>
      <p:grpSp>
        <p:nvGrpSpPr>
          <p:cNvPr id="4" name="Group 1034"/>
          <p:cNvGrpSpPr/>
          <p:nvPr/>
        </p:nvGrpSpPr>
        <p:grpSpPr bwMode="auto">
          <a:xfrm>
            <a:off x="4953000" y="2564904"/>
            <a:ext cx="3833813" cy="1458913"/>
            <a:chOff x="3120" y="2077"/>
            <a:chExt cx="2304" cy="919"/>
          </a:xfrm>
        </p:grpSpPr>
        <p:sp>
          <p:nvSpPr>
            <p:cNvPr id="72718" name="Text Box 1035"/>
            <p:cNvSpPr txBox="1">
              <a:spLocks noChangeArrowheads="1"/>
            </p:cNvSpPr>
            <p:nvPr/>
          </p:nvSpPr>
          <p:spPr bwMode="auto">
            <a:xfrm>
              <a:off x="3120" y="2077"/>
              <a:ext cx="2256" cy="919"/>
            </a:xfrm>
            <a:prstGeom prst="rect">
              <a:avLst/>
            </a:prstGeom>
            <a:noFill/>
            <a:ln w="9525">
              <a:noFill/>
              <a:miter lim="800000"/>
            </a:ln>
          </p:spPr>
          <p:txBody>
            <a:bodyPr>
              <a:spAutoFit/>
            </a:bodyPr>
            <a:lstStyle/>
            <a:p>
              <a:pPr algn="l">
                <a:lnSpc>
                  <a:spcPct val="90000"/>
                </a:lnSpc>
                <a:spcBef>
                  <a:spcPct val="50000"/>
                </a:spcBef>
              </a:pPr>
              <a:r>
                <a:rPr lang="en-US" altLang="zh-CN" b="1" dirty="0" err="1">
                  <a:solidFill>
                    <a:srgbClr val="FFFF00"/>
                  </a:solidFill>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add(</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rPr>
                <a:t>x,int</a:t>
              </a:r>
              <a:r>
                <a:rPr lang="en-US" altLang="zh-CN" b="1" dirty="0">
                  <a:latin typeface="微软雅黑" panose="020B0503020204020204" pitchFamily="34" charset="-122"/>
                  <a:ea typeface="微软雅黑" panose="020B0503020204020204" pitchFamily="34" charset="-122"/>
                </a:rPr>
                <a:t> y);</a:t>
              </a:r>
              <a:endParaRPr lang="en-US" altLang="zh-CN" b="1" dirty="0">
                <a:latin typeface="微软雅黑" panose="020B0503020204020204" pitchFamily="34" charset="-122"/>
                <a:ea typeface="微软雅黑" panose="020B0503020204020204" pitchFamily="34" charset="-122"/>
              </a:endParaRPr>
            </a:p>
            <a:p>
              <a:pPr algn="l">
                <a:lnSpc>
                  <a:spcPct val="90000"/>
                </a:lnSpc>
                <a:spcBef>
                  <a:spcPct val="50000"/>
                </a:spcBef>
              </a:pPr>
              <a:r>
                <a:rPr lang="en-US" altLang="zh-CN" b="1" dirty="0">
                  <a:solidFill>
                    <a:srgbClr val="FFFF00"/>
                  </a:solidFill>
                  <a:latin typeface="微软雅黑" panose="020B0503020204020204" pitchFamily="34" charset="-122"/>
                  <a:ea typeface="微软雅黑" panose="020B0503020204020204" pitchFamily="34" charset="-122"/>
                </a:rPr>
                <a:t>void</a:t>
              </a:r>
              <a:r>
                <a:rPr lang="en-US" altLang="zh-CN" b="1" dirty="0">
                  <a:solidFill>
                    <a:srgbClr val="FF0000"/>
                  </a:solidFill>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add(</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rPr>
                <a:t>x,int</a:t>
              </a:r>
              <a:r>
                <a:rPr lang="en-US" altLang="zh-CN" b="1" dirty="0">
                  <a:latin typeface="微软雅黑" panose="020B0503020204020204" pitchFamily="34" charset="-122"/>
                  <a:ea typeface="微软雅黑" panose="020B0503020204020204" pitchFamily="34" charset="-122"/>
                </a:rPr>
                <a:t> y);</a:t>
              </a:r>
              <a:endParaRPr lang="en-US" altLang="zh-CN" b="1" dirty="0">
                <a:latin typeface="微软雅黑" panose="020B0503020204020204" pitchFamily="34" charset="-122"/>
                <a:ea typeface="微软雅黑" panose="020B0503020204020204" pitchFamily="34" charset="-122"/>
              </a:endParaRPr>
            </a:p>
            <a:p>
              <a:pPr algn="l">
                <a:lnSpc>
                  <a:spcPct val="90000"/>
                </a:lnSpc>
                <a:spcBef>
                  <a:spcPct val="50000"/>
                </a:spcBef>
              </a:pPr>
              <a:r>
                <a:rPr lang="zh-CN" altLang="en-US" b="1" dirty="0">
                  <a:latin typeface="微软雅黑" panose="020B0503020204020204" pitchFamily="34" charset="-122"/>
                  <a:ea typeface="微软雅黑" panose="020B0503020204020204" pitchFamily="34" charset="-122"/>
                </a:rPr>
                <a:t>编译器不以</a:t>
              </a:r>
              <a:r>
                <a:rPr lang="zh-CN" altLang="en-US" b="1" dirty="0">
                  <a:solidFill>
                    <a:srgbClr val="FFFF00"/>
                  </a:solidFill>
                  <a:latin typeface="微软雅黑" panose="020B0503020204020204" pitchFamily="34" charset="-122"/>
                  <a:ea typeface="微软雅黑" panose="020B0503020204020204" pitchFamily="34" charset="-122"/>
                </a:rPr>
                <a:t>返回值</a:t>
              </a:r>
              <a:r>
                <a:rPr lang="zh-CN" altLang="en-US" b="1" dirty="0">
                  <a:latin typeface="微软雅黑" panose="020B0503020204020204" pitchFamily="34" charset="-122"/>
                  <a:ea typeface="微软雅黑" panose="020B0503020204020204" pitchFamily="34" charset="-122"/>
                </a:rPr>
                <a:t>来区分</a:t>
              </a:r>
              <a:endParaRPr lang="zh-CN" altLang="en-US" b="1" dirty="0">
                <a:latin typeface="微软雅黑" panose="020B0503020204020204" pitchFamily="34" charset="-122"/>
                <a:ea typeface="微软雅黑" panose="020B0503020204020204" pitchFamily="34" charset="-122"/>
              </a:endParaRPr>
            </a:p>
          </p:txBody>
        </p:sp>
        <p:grpSp>
          <p:nvGrpSpPr>
            <p:cNvPr id="5" name="Group 1036"/>
            <p:cNvGrpSpPr/>
            <p:nvPr/>
          </p:nvGrpSpPr>
          <p:grpSpPr bwMode="auto">
            <a:xfrm>
              <a:off x="5088" y="2291"/>
              <a:ext cx="336" cy="336"/>
              <a:chOff x="5088" y="2291"/>
              <a:chExt cx="336" cy="336"/>
            </a:xfrm>
          </p:grpSpPr>
          <p:sp>
            <p:nvSpPr>
              <p:cNvPr id="72720" name="Line 1037"/>
              <p:cNvSpPr>
                <a:spLocks noChangeShapeType="1"/>
              </p:cNvSpPr>
              <p:nvPr/>
            </p:nvSpPr>
            <p:spPr bwMode="auto">
              <a:xfrm>
                <a:off x="5088" y="2291"/>
                <a:ext cx="336" cy="336"/>
              </a:xfrm>
              <a:prstGeom prst="line">
                <a:avLst/>
              </a:prstGeom>
              <a:noFill/>
              <a:ln w="38100">
                <a:solidFill>
                  <a:srgbClr val="FF0066"/>
                </a:solidFill>
                <a:round/>
              </a:ln>
            </p:spPr>
            <p:txBody>
              <a:bodyPr wrap="none" anchor="ctr"/>
              <a:lstStyle/>
              <a:p>
                <a:pPr algn="l"/>
                <a:endParaRPr lang="zh-CN" altLang="en-US" b="1">
                  <a:latin typeface="微软雅黑" panose="020B0503020204020204" pitchFamily="34" charset="-122"/>
                  <a:ea typeface="微软雅黑" panose="020B0503020204020204" pitchFamily="34" charset="-122"/>
                </a:endParaRPr>
              </a:p>
            </p:txBody>
          </p:sp>
          <p:sp>
            <p:nvSpPr>
              <p:cNvPr id="72721" name="Line 1038"/>
              <p:cNvSpPr>
                <a:spLocks noChangeShapeType="1"/>
              </p:cNvSpPr>
              <p:nvPr/>
            </p:nvSpPr>
            <p:spPr bwMode="auto">
              <a:xfrm flipH="1">
                <a:off x="5088" y="2291"/>
                <a:ext cx="336" cy="336"/>
              </a:xfrm>
              <a:prstGeom prst="line">
                <a:avLst/>
              </a:prstGeom>
              <a:noFill/>
              <a:ln w="38100">
                <a:solidFill>
                  <a:srgbClr val="FF0066"/>
                </a:solidFill>
                <a:round/>
              </a:ln>
            </p:spPr>
            <p:txBody>
              <a:bodyPr wrap="none" anchor="ctr"/>
              <a:lstStyle/>
              <a:p>
                <a:pPr algn="l"/>
                <a:endParaRPr lang="zh-CN" altLang="en-US" b="1">
                  <a:latin typeface="微软雅黑" panose="020B0503020204020204" pitchFamily="34" charset="-122"/>
                  <a:ea typeface="微软雅黑" panose="020B0503020204020204" pitchFamily="34" charset="-122"/>
                </a:endParaRPr>
              </a:p>
            </p:txBody>
          </p:sp>
        </p:grpSp>
      </p:grpSp>
      <p:grpSp>
        <p:nvGrpSpPr>
          <p:cNvPr id="6" name="Group 1048"/>
          <p:cNvGrpSpPr/>
          <p:nvPr/>
        </p:nvGrpSpPr>
        <p:grpSpPr bwMode="auto">
          <a:xfrm>
            <a:off x="1187624" y="5257800"/>
            <a:ext cx="7632526" cy="815975"/>
            <a:chOff x="612" y="3312"/>
            <a:chExt cx="5001" cy="514"/>
          </a:xfrm>
        </p:grpSpPr>
        <p:sp>
          <p:nvSpPr>
            <p:cNvPr id="72715" name="Text Box 1040"/>
            <p:cNvSpPr txBox="1">
              <a:spLocks noChangeArrowheads="1"/>
            </p:cNvSpPr>
            <p:nvPr/>
          </p:nvSpPr>
          <p:spPr bwMode="auto">
            <a:xfrm>
              <a:off x="612" y="3312"/>
              <a:ext cx="2448" cy="514"/>
            </a:xfrm>
            <a:prstGeom prst="rect">
              <a:avLst/>
            </a:prstGeom>
            <a:noFill/>
            <a:ln w="9525">
              <a:noFill/>
              <a:miter lim="800000"/>
            </a:ln>
          </p:spPr>
          <p:txBody>
            <a:bodyPr>
              <a:spAutoFit/>
            </a:bodyPr>
            <a:lstStyle/>
            <a:p>
              <a:pPr algn="l">
                <a:lnSpc>
                  <a:spcPct val="60000"/>
                </a:lnSpc>
                <a:spcBef>
                  <a:spcPct val="50000"/>
                </a:spcBef>
              </a:pP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a:t>
              </a:r>
              <a:r>
                <a:rPr lang="en-US" altLang="zh-CN" b="1" dirty="0">
                  <a:solidFill>
                    <a:srgbClr val="FFFF00"/>
                  </a:solidFill>
                  <a:latin typeface="微软雅黑" panose="020B0503020204020204" pitchFamily="34" charset="-122"/>
                  <a:ea typeface="微软雅黑" panose="020B0503020204020204" pitchFamily="34" charset="-122"/>
                </a:rPr>
                <a:t>add</a:t>
              </a:r>
              <a:r>
                <a:rPr lang="en-US" altLang="zh-CN"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x, </a:t>
              </a:r>
              <a:r>
                <a:rPr lang="en-US" altLang="zh-CN" b="1" dirty="0" err="1">
                  <a:latin typeface="微软雅黑" panose="020B0503020204020204" pitchFamily="34" charset="-122"/>
                  <a:ea typeface="微软雅黑" panose="020B0503020204020204" pitchFamily="34" charset="-122"/>
                </a:rPr>
                <a:t>int</a:t>
              </a:r>
              <a:r>
                <a:rPr lang="en-US" altLang="zh-CN" b="1" dirty="0">
                  <a:latin typeface="微软雅黑" panose="020B0503020204020204" pitchFamily="34" charset="-122"/>
                  <a:ea typeface="微软雅黑" panose="020B0503020204020204" pitchFamily="34" charset="-122"/>
                </a:rPr>
                <a:t> y)</a:t>
              </a:r>
              <a:endParaRPr lang="en-US" altLang="zh-CN" b="1" dirty="0">
                <a:latin typeface="微软雅黑" panose="020B0503020204020204" pitchFamily="34" charset="-122"/>
                <a:ea typeface="微软雅黑" panose="020B0503020204020204" pitchFamily="34" charset="-122"/>
              </a:endParaRPr>
            </a:p>
            <a:p>
              <a:pPr algn="l">
                <a:lnSpc>
                  <a:spcPct val="60000"/>
                </a:lnSpc>
                <a:spcBef>
                  <a:spcPct val="50000"/>
                </a:spcBef>
              </a:pPr>
              <a:r>
                <a:rPr lang="en-US" altLang="zh-CN" b="1" dirty="0">
                  <a:latin typeface="微软雅黑" panose="020B0503020204020204" pitchFamily="34" charset="-122"/>
                  <a:ea typeface="微软雅黑" panose="020B0503020204020204" pitchFamily="34" charset="-122"/>
                </a:rPr>
                <a:t>{  return x </a:t>
              </a:r>
              <a:r>
                <a:rPr lang="en-US" altLang="zh-CN" b="1" dirty="0">
                  <a:solidFill>
                    <a:srgbClr val="FFFF00"/>
                  </a:solidFill>
                  <a:latin typeface="微软雅黑" panose="020B0503020204020204" pitchFamily="34" charset="-122"/>
                  <a:ea typeface="微软雅黑" panose="020B0503020204020204" pitchFamily="34" charset="-122"/>
                </a:rPr>
                <a:t>+</a:t>
              </a:r>
              <a:r>
                <a:rPr lang="en-US" altLang="zh-CN" sz="2800" b="1" dirty="0">
                  <a:solidFill>
                    <a:srgbClr val="FFFF66"/>
                  </a:solidFill>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y;  }</a:t>
              </a:r>
              <a:endParaRPr lang="en-US" altLang="zh-CN" b="1" dirty="0">
                <a:latin typeface="微软雅黑" panose="020B0503020204020204" pitchFamily="34" charset="-122"/>
                <a:ea typeface="微软雅黑" panose="020B0503020204020204" pitchFamily="34" charset="-122"/>
              </a:endParaRPr>
            </a:p>
          </p:txBody>
        </p:sp>
        <p:sp>
          <p:nvSpPr>
            <p:cNvPr id="72716" name="Text Box 1041"/>
            <p:cNvSpPr txBox="1">
              <a:spLocks noChangeArrowheads="1"/>
            </p:cNvSpPr>
            <p:nvPr/>
          </p:nvSpPr>
          <p:spPr bwMode="auto">
            <a:xfrm>
              <a:off x="3060" y="3312"/>
              <a:ext cx="2553" cy="514"/>
            </a:xfrm>
            <a:prstGeom prst="rect">
              <a:avLst/>
            </a:prstGeom>
            <a:noFill/>
            <a:ln w="9525">
              <a:noFill/>
              <a:miter lim="800000"/>
            </a:ln>
          </p:spPr>
          <p:txBody>
            <a:bodyPr>
              <a:spAutoFit/>
            </a:bodyPr>
            <a:lstStyle/>
            <a:p>
              <a:pPr algn="l">
                <a:lnSpc>
                  <a:spcPct val="60000"/>
                </a:lnSpc>
                <a:spcBef>
                  <a:spcPct val="50000"/>
                </a:spcBef>
              </a:pPr>
              <a:r>
                <a:rPr lang="en-US" altLang="zh-CN" b="1" dirty="0">
                  <a:latin typeface="微软雅黑" panose="020B0503020204020204" pitchFamily="34" charset="-122"/>
                  <a:ea typeface="微软雅黑" panose="020B0503020204020204" pitchFamily="34" charset="-122"/>
                </a:rPr>
                <a:t>float </a:t>
              </a:r>
              <a:r>
                <a:rPr lang="en-US" altLang="zh-CN" b="1" dirty="0">
                  <a:solidFill>
                    <a:srgbClr val="FFFF00"/>
                  </a:solidFill>
                  <a:latin typeface="微软雅黑" panose="020B0503020204020204" pitchFamily="34" charset="-122"/>
                  <a:ea typeface="微软雅黑" panose="020B0503020204020204" pitchFamily="34" charset="-122"/>
                </a:rPr>
                <a:t>add</a:t>
              </a:r>
              <a:r>
                <a:rPr lang="en-US" altLang="zh-CN" b="1" dirty="0">
                  <a:latin typeface="微软雅黑" panose="020B0503020204020204" pitchFamily="34" charset="-122"/>
                  <a:ea typeface="微软雅黑" panose="020B0503020204020204" pitchFamily="34" charset="-122"/>
                </a:rPr>
                <a:t>(float </a:t>
              </a:r>
              <a:r>
                <a:rPr lang="en-US" altLang="zh-CN" b="1" dirty="0" err="1">
                  <a:latin typeface="微软雅黑" panose="020B0503020204020204" pitchFamily="34" charset="-122"/>
                  <a:ea typeface="微软雅黑" panose="020B0503020204020204" pitchFamily="34" charset="-122"/>
                </a:rPr>
                <a:t>x,float</a:t>
              </a:r>
              <a:r>
                <a:rPr lang="en-US" altLang="zh-CN" b="1" dirty="0">
                  <a:latin typeface="微软雅黑" panose="020B0503020204020204" pitchFamily="34" charset="-122"/>
                  <a:ea typeface="微软雅黑" panose="020B0503020204020204" pitchFamily="34" charset="-122"/>
                </a:rPr>
                <a:t> y)</a:t>
              </a:r>
              <a:endParaRPr lang="en-US" altLang="zh-CN" b="1" dirty="0">
                <a:latin typeface="微软雅黑" panose="020B0503020204020204" pitchFamily="34" charset="-122"/>
                <a:ea typeface="微软雅黑" panose="020B0503020204020204" pitchFamily="34" charset="-122"/>
              </a:endParaRPr>
            </a:p>
            <a:p>
              <a:pPr algn="l">
                <a:lnSpc>
                  <a:spcPct val="60000"/>
                </a:lnSpc>
                <a:spcBef>
                  <a:spcPct val="50000"/>
                </a:spcBef>
              </a:pPr>
              <a:r>
                <a:rPr lang="en-US" altLang="zh-CN" b="1" dirty="0">
                  <a:latin typeface="微软雅黑" panose="020B0503020204020204" pitchFamily="34" charset="-122"/>
                  <a:ea typeface="微软雅黑" panose="020B0503020204020204" pitchFamily="34" charset="-122"/>
                </a:rPr>
                <a:t>{  return x </a:t>
              </a:r>
              <a:r>
                <a:rPr lang="en-US" altLang="zh-CN" b="1" dirty="0">
                  <a:solidFill>
                    <a:srgbClr val="FFFF00"/>
                  </a:solidFill>
                  <a:latin typeface="微软雅黑" panose="020B0503020204020204" pitchFamily="34" charset="-122"/>
                  <a:ea typeface="微软雅黑" panose="020B0503020204020204" pitchFamily="34" charset="-122"/>
                </a:rPr>
                <a:t>-</a:t>
              </a:r>
              <a:r>
                <a:rPr lang="en-US" altLang="zh-CN" sz="2800" b="1" dirty="0">
                  <a:solidFill>
                    <a:srgbClr val="FFFF66"/>
                  </a:solidFill>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y;  }</a:t>
              </a:r>
              <a:endParaRPr lang="en-US" altLang="zh-CN" b="1" dirty="0">
                <a:latin typeface="微软雅黑" panose="020B0503020204020204" pitchFamily="34" charset="-122"/>
                <a:ea typeface="微软雅黑" panose="020B0503020204020204" pitchFamily="34" charset="-122"/>
              </a:endParaRPr>
            </a:p>
          </p:txBody>
        </p:sp>
        <p:sp>
          <p:nvSpPr>
            <p:cNvPr id="72717" name="Line 1042"/>
            <p:cNvSpPr>
              <a:spLocks noChangeShapeType="1"/>
            </p:cNvSpPr>
            <p:nvPr/>
          </p:nvSpPr>
          <p:spPr bwMode="auto">
            <a:xfrm>
              <a:off x="2880" y="3360"/>
              <a:ext cx="0" cy="384"/>
            </a:xfrm>
            <a:prstGeom prst="line">
              <a:avLst/>
            </a:prstGeom>
            <a:noFill/>
            <a:ln w="9525">
              <a:solidFill>
                <a:schemeClr val="tx1"/>
              </a:solidFill>
              <a:prstDash val="dash"/>
              <a:round/>
            </a:ln>
          </p:spPr>
          <p:txBody>
            <a:bodyPr wrap="none" anchor="ctr"/>
            <a:lstStyle/>
            <a:p>
              <a:pPr algn="l"/>
              <a:endParaRPr lang="zh-CN" altLang="en-US" b="1">
                <a:latin typeface="微软雅黑" panose="020B0503020204020204" pitchFamily="34" charset="-122"/>
                <a:ea typeface="微软雅黑" panose="020B0503020204020204" pitchFamily="34" charset="-122"/>
              </a:endParaRPr>
            </a:p>
          </p:txBody>
        </p:sp>
      </p:grpSp>
      <p:sp>
        <p:nvSpPr>
          <p:cNvPr id="72714" name="Rectangle 1027"/>
          <p:cNvSpPr>
            <a:spLocks noGrp="1" noChangeArrowheads="1"/>
          </p:cNvSpPr>
          <p:nvPr>
            <p:ph type="body" idx="1"/>
          </p:nvPr>
        </p:nvSpPr>
        <p:spPr>
          <a:xfrm>
            <a:off x="762000" y="1268760"/>
            <a:ext cx="7986713" cy="1524000"/>
          </a:xfrm>
        </p:spPr>
        <p:txBody>
          <a:bodyPr/>
          <a:lstStyle/>
          <a:p>
            <a:pPr marL="457200" lvl="1" indent="-342900" eaLnBrk="1" hangingPunct="1">
              <a:buFont typeface="Wingdings" panose="05000000000000000000" pitchFamily="2" charset="2"/>
              <a:buChar char="ü"/>
            </a:pPr>
            <a:r>
              <a:rPr lang="zh-CN" altLang="en-US" sz="2400" b="1" dirty="0" smtClean="0">
                <a:latin typeface="微软雅黑" panose="020B0503020204020204" pitchFamily="34" charset="-122"/>
                <a:ea typeface="微软雅黑" panose="020B0503020204020204" pitchFamily="34" charset="-122"/>
              </a:rPr>
              <a:t>重载函数的</a:t>
            </a:r>
            <a:r>
              <a:rPr lang="zh-CN" altLang="en-US" sz="2400" b="1" dirty="0" smtClean="0">
                <a:solidFill>
                  <a:srgbClr val="FFFF00"/>
                </a:solidFill>
                <a:latin typeface="微软雅黑" panose="020B0503020204020204" pitchFamily="34" charset="-122"/>
                <a:ea typeface="微软雅黑" panose="020B0503020204020204" pitchFamily="34" charset="-122"/>
              </a:rPr>
              <a:t>形参必须不同</a:t>
            </a:r>
            <a:r>
              <a:rPr lang="zh-CN" altLang="en-US" sz="2400" b="1" dirty="0">
                <a:latin typeface="微软雅黑" panose="020B0503020204020204" pitchFamily="34" charset="-122"/>
                <a:ea typeface="微软雅黑" panose="020B0503020204020204" pitchFamily="34" charset="-122"/>
              </a:rPr>
              <a:t>：</a:t>
            </a:r>
            <a:r>
              <a:rPr kumimoji="1" lang="zh-CN" altLang="en-US" sz="2400" b="1" dirty="0" smtClean="0">
                <a:solidFill>
                  <a:srgbClr val="FFFF00"/>
                </a:solidFill>
                <a:latin typeface="微软雅黑" panose="020B0503020204020204" pitchFamily="34" charset="-122"/>
                <a:ea typeface="微软雅黑" panose="020B0503020204020204" pitchFamily="34" charset="-122"/>
              </a:rPr>
              <a:t>个数</a:t>
            </a:r>
            <a:r>
              <a:rPr lang="zh-CN" altLang="en-US" sz="2400" b="1" dirty="0" smtClean="0">
                <a:solidFill>
                  <a:srgbClr val="FFFF00"/>
                </a:solidFill>
                <a:latin typeface="微软雅黑" panose="020B0503020204020204" pitchFamily="34" charset="-122"/>
                <a:ea typeface="微软雅黑" panose="020B0503020204020204" pitchFamily="34" charset="-122"/>
              </a:rPr>
              <a:t>不同</a:t>
            </a:r>
            <a:r>
              <a:rPr lang="zh-CN" altLang="en-US" sz="2400" b="1" dirty="0" smtClean="0">
                <a:latin typeface="微软雅黑" panose="020B0503020204020204" pitchFamily="34" charset="-122"/>
                <a:ea typeface="微软雅黑" panose="020B0503020204020204" pitchFamily="34" charset="-122"/>
              </a:rPr>
              <a:t>或</a:t>
            </a:r>
            <a:r>
              <a:rPr kumimoji="1" lang="zh-CN" altLang="en-US" sz="2400" b="1" dirty="0" smtClean="0">
                <a:solidFill>
                  <a:srgbClr val="FFFF00"/>
                </a:solidFill>
                <a:latin typeface="微软雅黑" panose="020B0503020204020204" pitchFamily="34" charset="-122"/>
                <a:ea typeface="微软雅黑" panose="020B0503020204020204" pitchFamily="34" charset="-122"/>
              </a:rPr>
              <a:t>类型</a:t>
            </a:r>
            <a:r>
              <a:rPr lang="zh-CN" altLang="en-US" sz="2400" b="1" dirty="0" smtClean="0">
                <a:solidFill>
                  <a:srgbClr val="FFFF00"/>
                </a:solidFill>
                <a:latin typeface="微软雅黑" panose="020B0503020204020204" pitchFamily="34" charset="-122"/>
                <a:ea typeface="微软雅黑" panose="020B0503020204020204" pitchFamily="34" charset="-122"/>
              </a:rPr>
              <a:t>不同</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marL="457200" lvl="1" indent="-342900" eaLnBrk="1" hangingPunct="1">
              <a:buFont typeface="Wingdings" panose="05000000000000000000" pitchFamily="2" charset="2"/>
              <a:buChar char="ü"/>
            </a:pPr>
            <a:r>
              <a:rPr lang="zh-CN" altLang="en-US" sz="2400" b="1" dirty="0" smtClean="0">
                <a:latin typeface="微软雅黑" panose="020B0503020204020204" pitchFamily="34" charset="-122"/>
                <a:ea typeface="微软雅黑" panose="020B0503020204020204" pitchFamily="34" charset="-122"/>
              </a:rPr>
              <a:t>编译程序将根据实参和形参的类型及个数的最佳匹配来选择调用哪一个函数。</a:t>
            </a:r>
            <a:endParaRPr kumimoji="1" lang="zh-CN" altLang="en-US" sz="2400" b="1" dirty="0" smtClean="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b="1" dirty="0" smtClean="0"/>
              <a:t>例</a:t>
            </a:r>
            <a:r>
              <a:rPr lang="en-US" altLang="zh-CN" b="1" dirty="0" smtClean="0"/>
              <a:t>3-16</a:t>
            </a:r>
            <a:r>
              <a:rPr lang="zh-CN" altLang="en-US" b="1" dirty="0" smtClean="0"/>
              <a:t>重载函数应用举例</a:t>
            </a:r>
            <a:endParaRPr lang="zh-CN" altLang="en-US" b="1" dirty="0" smtClean="0"/>
          </a:p>
        </p:txBody>
      </p:sp>
      <p:sp>
        <p:nvSpPr>
          <p:cNvPr id="73731" name="内容占位符 2"/>
          <p:cNvSpPr>
            <a:spLocks noGrp="1"/>
          </p:cNvSpPr>
          <p:nvPr>
            <p:ph idx="1"/>
          </p:nvPr>
        </p:nvSpPr>
        <p:spPr>
          <a:xfrm>
            <a:off x="611560" y="2132856"/>
            <a:ext cx="7886700" cy="2035423"/>
          </a:xfrm>
        </p:spPr>
        <p:txBody>
          <a:bodyPr/>
          <a:lstStyle/>
          <a:p>
            <a:pPr marL="0" indent="0" eaLnBrk="1" hangingPunct="1">
              <a:lnSpc>
                <a:spcPct val="200000"/>
              </a:lnSpc>
              <a:buFont typeface="Wingdings" panose="05000000000000000000" pitchFamily="2" charset="2"/>
              <a:buNone/>
            </a:pPr>
            <a:r>
              <a:rPr lang="zh-CN" altLang="en-US" sz="2800" b="1" dirty="0" smtClean="0">
                <a:latin typeface="微软雅黑" panose="020B0503020204020204" pitchFamily="34" charset="-122"/>
                <a:ea typeface="微软雅黑" panose="020B0503020204020204" pitchFamily="34" charset="-122"/>
              </a:rPr>
              <a:t>编写两个名为</a:t>
            </a:r>
            <a:r>
              <a:rPr lang="en-US" altLang="zh-CN" sz="2800" b="1" dirty="0" err="1" smtClean="0">
                <a:solidFill>
                  <a:srgbClr val="FFFF00"/>
                </a:solidFill>
                <a:latin typeface="微软雅黑" panose="020B0503020204020204" pitchFamily="34" charset="-122"/>
                <a:ea typeface="微软雅黑" panose="020B0503020204020204" pitchFamily="34" charset="-122"/>
              </a:rPr>
              <a:t>sumOfSquare</a:t>
            </a:r>
            <a:r>
              <a:rPr lang="zh-CN" altLang="en-US" sz="2800" b="1" dirty="0" smtClean="0">
                <a:latin typeface="微软雅黑" panose="020B0503020204020204" pitchFamily="34" charset="-122"/>
                <a:ea typeface="微软雅黑" panose="020B0503020204020204" pitchFamily="34" charset="-122"/>
              </a:rPr>
              <a:t>的重载函数，分别求两整数的平方和及两实数的平方和。</a:t>
            </a: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764704"/>
            <a:ext cx="8858250" cy="6073775"/>
          </a:xfrm>
          <a:solidFill>
            <a:schemeClr val="tx1"/>
          </a:solidFill>
        </p:spPr>
        <p:txBody>
          <a:bodyPr>
            <a:noAutofit/>
          </a:bodyPr>
          <a:lstStyle/>
          <a:p>
            <a:pPr marL="365760" indent="-255905" fontAlgn="auto">
              <a:spcBef>
                <a:spcPts val="0"/>
              </a:spcBef>
              <a:buClr>
                <a:schemeClr val="accent3"/>
              </a:buClr>
              <a:buNone/>
            </a:pPr>
            <a:r>
              <a:rPr lang="en-US" altLang="zh-CN" sz="2000" b="1" dirty="0">
                <a:solidFill>
                  <a:srgbClr val="000000"/>
                </a:solidFill>
                <a:ea typeface="+mj-ea"/>
              </a:rPr>
              <a:t>#include &lt;</a:t>
            </a:r>
            <a:r>
              <a:rPr lang="en-US" altLang="zh-CN" sz="2000" b="1" dirty="0" err="1">
                <a:solidFill>
                  <a:srgbClr val="000000"/>
                </a:solidFill>
                <a:ea typeface="+mj-ea"/>
              </a:rPr>
              <a:t>iostream</a:t>
            </a:r>
            <a:r>
              <a:rPr lang="en-US" altLang="zh-CN" sz="2000" b="1" dirty="0">
                <a:solidFill>
                  <a:srgbClr val="000000"/>
                </a:solidFill>
                <a:ea typeface="+mj-ea"/>
              </a:rPr>
              <a:t>&gt;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using namespace std;</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err="1" smtClean="0">
                <a:solidFill>
                  <a:srgbClr val="000000"/>
                </a:solidFill>
                <a:ea typeface="+mj-ea"/>
              </a:rPr>
              <a:t>int</a:t>
            </a:r>
            <a:r>
              <a:rPr lang="en-US" altLang="zh-CN" sz="2000" b="1" dirty="0" smtClean="0">
                <a:solidFill>
                  <a:srgbClr val="000000"/>
                </a:solidFill>
                <a:ea typeface="+mj-ea"/>
              </a:rPr>
              <a:t> </a:t>
            </a:r>
            <a:r>
              <a:rPr lang="en-US" altLang="zh-CN" sz="2000" b="1" dirty="0" err="1">
                <a:solidFill>
                  <a:srgbClr val="000000"/>
                </a:solidFill>
                <a:ea typeface="+mj-ea"/>
              </a:rPr>
              <a:t>sumOfSquare</a:t>
            </a:r>
            <a:r>
              <a:rPr lang="en-US" altLang="zh-CN" sz="2000" b="1" dirty="0">
                <a:solidFill>
                  <a:srgbClr val="000000"/>
                </a:solidFill>
                <a:ea typeface="+mj-ea"/>
              </a:rPr>
              <a:t>(</a:t>
            </a:r>
            <a:r>
              <a:rPr lang="en-US" altLang="zh-CN" sz="2000" b="1" dirty="0" err="1">
                <a:solidFill>
                  <a:srgbClr val="000000"/>
                </a:solidFill>
                <a:ea typeface="+mj-ea"/>
              </a:rPr>
              <a:t>int</a:t>
            </a:r>
            <a:r>
              <a:rPr lang="en-US" altLang="zh-CN" sz="2000" b="1" dirty="0">
                <a:solidFill>
                  <a:srgbClr val="000000"/>
                </a:solidFill>
                <a:ea typeface="+mj-ea"/>
              </a:rPr>
              <a:t> a, </a:t>
            </a:r>
            <a:r>
              <a:rPr lang="en-US" altLang="zh-CN" sz="2000" b="1" dirty="0" err="1">
                <a:solidFill>
                  <a:srgbClr val="000000"/>
                </a:solidFill>
                <a:ea typeface="+mj-ea"/>
              </a:rPr>
              <a:t>int</a:t>
            </a:r>
            <a:r>
              <a:rPr lang="en-US" altLang="zh-CN" sz="2000" b="1" dirty="0">
                <a:solidFill>
                  <a:srgbClr val="000000"/>
                </a:solidFill>
                <a:ea typeface="+mj-ea"/>
              </a:rPr>
              <a:t> b)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return a * a + b * b;</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double </a:t>
            </a:r>
            <a:r>
              <a:rPr lang="en-US" altLang="zh-CN" sz="2000" b="1" dirty="0" err="1">
                <a:solidFill>
                  <a:srgbClr val="000000"/>
                </a:solidFill>
                <a:ea typeface="+mj-ea"/>
              </a:rPr>
              <a:t>sumOfSquare</a:t>
            </a:r>
            <a:r>
              <a:rPr lang="en-US" altLang="zh-CN" sz="2000" b="1" dirty="0">
                <a:solidFill>
                  <a:srgbClr val="000000"/>
                </a:solidFill>
                <a:ea typeface="+mj-ea"/>
              </a:rPr>
              <a:t>(double a, double b)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return a * a + b * b;</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err="1">
                <a:solidFill>
                  <a:srgbClr val="000000"/>
                </a:solidFill>
                <a:ea typeface="+mj-ea"/>
              </a:rPr>
              <a:t>int</a:t>
            </a:r>
            <a:r>
              <a:rPr lang="en-US" altLang="zh-CN" sz="2000" b="1" dirty="0">
                <a:solidFill>
                  <a:srgbClr val="000000"/>
                </a:solidFill>
                <a:ea typeface="+mj-ea"/>
              </a:rPr>
              <a:t> main()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m, n;</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"Enter two integer: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cin</a:t>
            </a:r>
            <a:r>
              <a:rPr lang="en-US" altLang="zh-CN" sz="2000" b="1" dirty="0">
                <a:solidFill>
                  <a:srgbClr val="000000"/>
                </a:solidFill>
                <a:ea typeface="+mj-ea"/>
              </a:rPr>
              <a:t> &gt;&gt; m &gt;&gt; n;</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"Their sum of square: " &lt;&lt; </a:t>
            </a:r>
            <a:r>
              <a:rPr lang="en-US" altLang="zh-CN" sz="2000" b="1" dirty="0" err="1">
                <a:solidFill>
                  <a:srgbClr val="000000"/>
                </a:solidFill>
                <a:ea typeface="+mj-ea"/>
              </a:rPr>
              <a:t>sumOfSquare</a:t>
            </a:r>
            <a:r>
              <a:rPr lang="en-US" altLang="zh-CN" sz="2000" b="1" dirty="0">
                <a:solidFill>
                  <a:srgbClr val="000000"/>
                </a:solidFill>
                <a:ea typeface="+mj-ea"/>
              </a:rPr>
              <a:t>(m, n)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smtClean="0">
                <a:solidFill>
                  <a:srgbClr val="000000"/>
                </a:solidFill>
                <a:ea typeface="+mj-ea"/>
              </a:rPr>
              <a:t>    </a:t>
            </a:r>
            <a:r>
              <a:rPr lang="en-US" altLang="zh-CN" sz="2000" b="1" dirty="0">
                <a:solidFill>
                  <a:srgbClr val="000000"/>
                </a:solidFill>
                <a:ea typeface="+mj-ea"/>
              </a:rPr>
              <a:t>double x, y;</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"Enter two real number: ";</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cin</a:t>
            </a:r>
            <a:r>
              <a:rPr lang="en-US" altLang="zh-CN" sz="2000" b="1" dirty="0">
                <a:solidFill>
                  <a:srgbClr val="000000"/>
                </a:solidFill>
                <a:ea typeface="+mj-ea"/>
              </a:rPr>
              <a:t> &gt;&gt; x &gt;&gt; y;</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"Their sum of square: " &lt;&lt; </a:t>
            </a:r>
            <a:r>
              <a:rPr lang="en-US" altLang="zh-CN" sz="2000" b="1" dirty="0" err="1">
                <a:solidFill>
                  <a:srgbClr val="000000"/>
                </a:solidFill>
                <a:ea typeface="+mj-ea"/>
              </a:rPr>
              <a:t>sumOfSquare</a:t>
            </a:r>
            <a:r>
              <a:rPr lang="en-US" altLang="zh-CN" sz="2000" b="1" dirty="0">
                <a:solidFill>
                  <a:srgbClr val="000000"/>
                </a:solidFill>
                <a:ea typeface="+mj-ea"/>
              </a:rPr>
              <a:t>(x, y)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smtClean="0">
                <a:solidFill>
                  <a:srgbClr val="000000"/>
                </a:solidFill>
                <a:ea typeface="+mj-ea"/>
              </a:rPr>
              <a:t>    </a:t>
            </a:r>
            <a:r>
              <a:rPr lang="en-US" altLang="zh-CN" sz="2000" b="1" dirty="0">
                <a:solidFill>
                  <a:srgbClr val="000000"/>
                </a:solidFill>
                <a:ea typeface="+mj-ea"/>
              </a:rPr>
              <a:t>return 0;</a:t>
            </a:r>
            <a:endParaRPr lang="en-US" altLang="zh-CN" sz="2000" b="1" dirty="0">
              <a:solidFill>
                <a:srgbClr val="000000"/>
              </a:solidFill>
              <a:ea typeface="+mj-ea"/>
            </a:endParaRPr>
          </a:p>
          <a:p>
            <a:pPr marL="365760" indent="-255905" fontAlgn="auto">
              <a:spcBef>
                <a:spcPts val="0"/>
              </a:spcBef>
              <a:buClr>
                <a:schemeClr val="accent3"/>
              </a:buClr>
              <a:buNone/>
            </a:pPr>
            <a:r>
              <a:rPr lang="en-US" altLang="zh-CN" sz="2000" b="1" dirty="0">
                <a:solidFill>
                  <a:srgbClr val="000000"/>
                </a:solidFill>
                <a:ea typeface="+mj-ea"/>
              </a:rPr>
              <a:t>}</a:t>
            </a:r>
            <a:endParaRPr lang="en-US" altLang="zh-CN" sz="2000" b="1" dirty="0">
              <a:solidFill>
                <a:srgbClr val="000000"/>
              </a:solidFill>
              <a:ea typeface="+mj-ea"/>
            </a:endParaRPr>
          </a:p>
        </p:txBody>
      </p:sp>
      <p:sp>
        <p:nvSpPr>
          <p:cNvPr id="74757" name="标题 1"/>
          <p:cNvSpPr>
            <a:spLocks noGrp="1"/>
          </p:cNvSpPr>
          <p:nvPr>
            <p:ph type="title"/>
          </p:nvPr>
        </p:nvSpPr>
        <p:spPr>
          <a:xfrm>
            <a:off x="6357937" y="6099571"/>
            <a:ext cx="2786063" cy="785813"/>
          </a:xfrm>
          <a:solidFill>
            <a:schemeClr val="bg1"/>
          </a:solidFill>
        </p:spPr>
        <p:txBody>
          <a:bodyPr/>
          <a:lstStyle/>
          <a:p>
            <a:pPr eaLnBrk="1" hangingPunct="1"/>
            <a:r>
              <a:rPr lang="zh-CN" altLang="en-US" smtClean="0"/>
              <a:t>例</a:t>
            </a:r>
            <a:r>
              <a:rPr lang="en-US" altLang="zh-CN" smtClean="0"/>
              <a:t>3-16</a:t>
            </a:r>
            <a:r>
              <a:rPr lang="zh-CN" altLang="en-US" smtClean="0"/>
              <a:t>（续）</a:t>
            </a:r>
            <a:endParaRPr lang="zh-CN" altLang="en-US" smtClean="0"/>
          </a:p>
        </p:txBody>
      </p:sp>
      <p:sp>
        <p:nvSpPr>
          <p:cNvPr id="7" name="内容占位符 6"/>
          <p:cNvSpPr txBox="1"/>
          <p:nvPr/>
        </p:nvSpPr>
        <p:spPr>
          <a:xfrm>
            <a:off x="4805114" y="-27384"/>
            <a:ext cx="4375398" cy="2234458"/>
          </a:xfrm>
          <a:prstGeom prst="rect">
            <a:avLst/>
          </a:prstGeom>
          <a:solidFill>
            <a:srgbClr val="000000"/>
          </a:solidFill>
          <a:ln w="12700" cap="sq">
            <a:noFill/>
            <a:miter lim="800000"/>
            <a:headEnd type="none" w="sm" len="sm"/>
            <a:tailEnd type="none" w="sm" len="sm"/>
          </a:ln>
        </p:spPr>
        <p:txBody>
          <a:bodyPr wrap="square">
            <a:sp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2"/>
              </a:buClr>
              <a:buSzPct val="80000"/>
              <a:buFont typeface="Wingdings" panose="05000000000000000000" pitchFamily="2" charset="2"/>
              <a:buNone/>
            </a:pPr>
            <a:r>
              <a:rPr lang="zh-CN" altLang="en-US" sz="2400" b="1" dirty="0" smtClean="0">
                <a:ea typeface="+mj-ea"/>
              </a:rPr>
              <a:t>运行结果：</a:t>
            </a:r>
            <a:endParaRPr lang="en-US" altLang="zh-CN" sz="2400" b="1" dirty="0" smtClean="0">
              <a:ea typeface="+mj-ea"/>
            </a:endParaRPr>
          </a:p>
          <a:p>
            <a:pPr>
              <a:buClr>
                <a:schemeClr val="accent2"/>
              </a:buClr>
              <a:buSzPct val="80000"/>
              <a:buFont typeface="Wingdings" panose="05000000000000000000" pitchFamily="2" charset="2"/>
              <a:buNone/>
            </a:pPr>
            <a:r>
              <a:rPr lang="en-US" altLang="zh-CN" sz="2400" b="1" dirty="0" smtClean="0">
                <a:ea typeface="+mj-ea"/>
              </a:rPr>
              <a:t>Enter two integer: 3 5</a:t>
            </a:r>
            <a:endParaRPr lang="en-US" altLang="zh-CN" sz="2400" b="1" dirty="0" smtClean="0">
              <a:ea typeface="+mj-ea"/>
            </a:endParaRPr>
          </a:p>
          <a:p>
            <a:pPr>
              <a:buClr>
                <a:schemeClr val="accent2"/>
              </a:buClr>
              <a:buSzPct val="80000"/>
              <a:buFont typeface="Wingdings" panose="05000000000000000000" pitchFamily="2" charset="2"/>
              <a:buNone/>
            </a:pPr>
            <a:r>
              <a:rPr lang="en-US" altLang="zh-CN" sz="2400" b="1" dirty="0" smtClean="0">
                <a:ea typeface="+mj-ea"/>
              </a:rPr>
              <a:t>Their sum of square: 34</a:t>
            </a:r>
            <a:endParaRPr lang="en-US" altLang="zh-CN" sz="2400" b="1" dirty="0" smtClean="0">
              <a:ea typeface="+mj-ea"/>
            </a:endParaRPr>
          </a:p>
          <a:p>
            <a:pPr>
              <a:buClr>
                <a:schemeClr val="accent2"/>
              </a:buClr>
              <a:buSzPct val="80000"/>
              <a:buFont typeface="Wingdings" panose="05000000000000000000" pitchFamily="2" charset="2"/>
              <a:buNone/>
            </a:pPr>
            <a:r>
              <a:rPr lang="en-US" altLang="zh-CN" sz="2400" b="1" dirty="0" smtClean="0">
                <a:ea typeface="+mj-ea"/>
              </a:rPr>
              <a:t>Enter two real number: 2.3 5.8</a:t>
            </a:r>
            <a:endParaRPr lang="en-US" altLang="zh-CN" sz="2400" b="1" dirty="0" smtClean="0">
              <a:ea typeface="+mj-ea"/>
            </a:endParaRPr>
          </a:p>
          <a:p>
            <a:pPr>
              <a:buClr>
                <a:schemeClr val="accent2"/>
              </a:buClr>
              <a:buSzPct val="80000"/>
              <a:buFont typeface="Wingdings" panose="05000000000000000000" pitchFamily="2" charset="2"/>
              <a:buNone/>
            </a:pPr>
            <a:r>
              <a:rPr lang="en-US" altLang="zh-CN" sz="2400" b="1" dirty="0" smtClean="0">
                <a:ea typeface="+mj-ea"/>
              </a:rPr>
              <a:t>Their sum of square: 38.93</a:t>
            </a:r>
            <a:endParaRPr lang="en-US" altLang="zh-CN" sz="2400" b="1" dirty="0">
              <a:ea typeface="+mj-ea"/>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906959" y="1902916"/>
            <a:ext cx="7776666" cy="461665"/>
          </a:xfrm>
          <a:prstGeom prst="rect">
            <a:avLst/>
          </a:prstGeom>
          <a:noFill/>
          <a:ln w="9525">
            <a:noFill/>
            <a:miter lim="800000"/>
          </a:ln>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50000"/>
              </a:spcBef>
              <a:buClrTx/>
              <a:buSzTx/>
              <a:buFontTx/>
              <a:buNone/>
            </a:pPr>
            <a:r>
              <a:rPr kumimoji="0" lang="zh-CN" altLang="en-US" sz="2400" b="1" dirty="0" smtClean="0">
                <a:latin typeface="微软雅黑" panose="020B0503020204020204" pitchFamily="34" charset="-122"/>
                <a:ea typeface="微软雅黑" panose="020B0503020204020204" pitchFamily="34" charset="-122"/>
              </a:rPr>
              <a:t>（</a:t>
            </a:r>
            <a:r>
              <a:rPr kumimoji="0" lang="en-US" altLang="zh-CN" sz="2400" b="1" dirty="0">
                <a:latin typeface="微软雅黑" panose="020B0503020204020204" pitchFamily="34" charset="-122"/>
                <a:ea typeface="微软雅黑" panose="020B0503020204020204" pitchFamily="34" charset="-122"/>
              </a:rPr>
              <a:t>1</a:t>
            </a:r>
            <a:r>
              <a:rPr kumimoji="0" lang="zh-CN" altLang="en-US" sz="2400" b="1" dirty="0">
                <a:latin typeface="微软雅黑" panose="020B0503020204020204" pitchFamily="34" charset="-122"/>
                <a:ea typeface="微软雅黑" panose="020B0503020204020204" pitchFamily="34" charset="-122"/>
              </a:rPr>
              <a:t>）函数重载和默认参数同时使用，有可能引起二义性。</a:t>
            </a:r>
            <a:endParaRPr kumimoji="0" lang="zh-CN" altLang="en-US" sz="2400" b="1" dirty="0">
              <a:latin typeface="微软雅黑" panose="020B0503020204020204" pitchFamily="34" charset="-122"/>
              <a:ea typeface="微软雅黑" panose="020B0503020204020204" pitchFamily="34" charset="-122"/>
            </a:endParaRPr>
          </a:p>
        </p:txBody>
      </p:sp>
      <p:sp>
        <p:nvSpPr>
          <p:cNvPr id="146435" name="Rectangle 3"/>
          <p:cNvSpPr>
            <a:spLocks noChangeArrowheads="1"/>
          </p:cNvSpPr>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altLang="zh-CN" sz="4400" b="1" i="1" dirty="0" smtClean="0">
                <a:effectLst>
                  <a:outerShdw blurRad="38100" dist="38100" dir="2700000" algn="tl">
                    <a:srgbClr val="000000"/>
                  </a:outerShdw>
                </a:effectLst>
                <a:latin typeface="+mj-lt"/>
                <a:ea typeface="华文行楷" panose="02010800040101010101" pitchFamily="2" charset="-122"/>
                <a:cs typeface="+mj-cs"/>
              </a:rPr>
              <a:t>3.5    </a:t>
            </a:r>
            <a:r>
              <a:rPr lang="zh-CN" altLang="en-US" sz="4400" b="1" i="1" dirty="0">
                <a:effectLst>
                  <a:outerShdw blurRad="38100" dist="38100" dir="2700000" algn="tl">
                    <a:srgbClr val="000000"/>
                  </a:outerShdw>
                </a:effectLst>
                <a:latin typeface="+mj-lt"/>
                <a:ea typeface="华文行楷" panose="02010800040101010101" pitchFamily="2" charset="-122"/>
                <a:cs typeface="+mj-cs"/>
              </a:rPr>
              <a:t>函数</a:t>
            </a:r>
            <a:r>
              <a:rPr lang="zh-CN" altLang="en-US" sz="4400" b="1" i="1" dirty="0" smtClean="0">
                <a:effectLst>
                  <a:outerShdw blurRad="38100" dist="38100" dir="2700000" algn="tl">
                    <a:srgbClr val="000000"/>
                  </a:outerShdw>
                </a:effectLst>
                <a:latin typeface="+mj-lt"/>
                <a:ea typeface="华文行楷" panose="02010800040101010101" pitchFamily="2" charset="-122"/>
                <a:cs typeface="+mj-cs"/>
              </a:rPr>
              <a:t>重载的注意事项</a:t>
            </a:r>
            <a:endParaRPr lang="zh-CN" altLang="en-US" sz="4400" b="1" i="1" dirty="0">
              <a:effectLst>
                <a:outerShdw blurRad="38100" dist="38100" dir="2700000" algn="tl">
                  <a:srgbClr val="000000"/>
                </a:outerShdw>
              </a:effectLst>
              <a:latin typeface="+mj-lt"/>
              <a:ea typeface="华文行楷" panose="02010800040101010101" pitchFamily="2" charset="-122"/>
              <a:cs typeface="+mj-cs"/>
            </a:endParaRPr>
          </a:p>
        </p:txBody>
      </p:sp>
      <p:sp>
        <p:nvSpPr>
          <p:cNvPr id="146436" name="Text Box 4"/>
          <p:cNvSpPr txBox="1">
            <a:spLocks noChangeArrowheads="1"/>
          </p:cNvSpPr>
          <p:nvPr/>
        </p:nvSpPr>
        <p:spPr bwMode="auto">
          <a:xfrm>
            <a:off x="1187624" y="2852936"/>
            <a:ext cx="7272337" cy="3200400"/>
          </a:xfrm>
          <a:prstGeom prst="rect">
            <a:avLst/>
          </a:prstGeom>
          <a:solidFill>
            <a:schemeClr val="tx1"/>
          </a:solidFill>
          <a:ln>
            <a:noFill/>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例如：</a:t>
            </a:r>
            <a:endParaRPr kumimoji="0"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a:solidFill>
                  <a:srgbClr val="000000"/>
                </a:solidFill>
                <a:latin typeface="Times New Roman" panose="02020603050405020304" pitchFamily="18" charset="0"/>
                <a:ea typeface="华文楷体" panose="02010600040101010101" pitchFamily="2" charset="-122"/>
              </a:rPr>
              <a:t>void </a:t>
            </a:r>
            <a:r>
              <a:rPr kumimoji="0" lang="en-US" altLang="zh-CN" sz="2400" b="1" dirty="0" err="1">
                <a:solidFill>
                  <a:srgbClr val="000000"/>
                </a:solidFill>
                <a:latin typeface="Times New Roman" panose="02020603050405020304" pitchFamily="18" charset="0"/>
                <a:ea typeface="华文楷体" panose="02010600040101010101" pitchFamily="2" charset="-122"/>
              </a:rPr>
              <a:t>DrawCircle</a:t>
            </a:r>
            <a:r>
              <a:rPr kumimoji="0" lang="en-US" altLang="zh-CN" sz="2400" b="1" dirty="0">
                <a:solidFill>
                  <a:srgbClr val="000000"/>
                </a:solidFill>
                <a:latin typeface="Times New Roman" panose="02020603050405020304" pitchFamily="18" charset="0"/>
                <a:ea typeface="华文楷体" panose="02010600040101010101" pitchFamily="2" charset="-122"/>
              </a:rPr>
              <a:t>(</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r=0,int x=0, </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y=0);</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en-US" altLang="zh-CN" sz="2400" b="1" dirty="0">
                <a:solidFill>
                  <a:srgbClr val="000000"/>
                </a:solidFill>
                <a:latin typeface="Times New Roman" panose="02020603050405020304" pitchFamily="18" charset="0"/>
                <a:ea typeface="华文楷体" panose="02010600040101010101" pitchFamily="2" charset="-122"/>
              </a:rPr>
              <a:t>          void </a:t>
            </a:r>
            <a:r>
              <a:rPr kumimoji="0" lang="en-US" altLang="zh-CN" sz="2400" b="1" dirty="0" err="1">
                <a:solidFill>
                  <a:srgbClr val="000000"/>
                </a:solidFill>
                <a:latin typeface="Times New Roman" panose="02020603050405020304" pitchFamily="18" charset="0"/>
                <a:ea typeface="华文楷体" panose="02010600040101010101" pitchFamily="2" charset="-122"/>
              </a:rPr>
              <a:t>DrawCircle</a:t>
            </a:r>
            <a:r>
              <a:rPr kumimoji="0" lang="en-US" altLang="zh-CN" sz="2400" b="1" dirty="0">
                <a:solidFill>
                  <a:srgbClr val="000000"/>
                </a:solidFill>
                <a:latin typeface="Times New Roman" panose="02020603050405020304" pitchFamily="18" charset="0"/>
                <a:ea typeface="华文楷体" panose="02010600040101010101" pitchFamily="2" charset="-122"/>
              </a:rPr>
              <a:t>(</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r);</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那么，函数调用</a:t>
            </a:r>
            <a:endParaRPr kumimoji="0"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err="1">
                <a:solidFill>
                  <a:srgbClr val="000000"/>
                </a:solidFill>
                <a:latin typeface="Times New Roman" panose="02020603050405020304" pitchFamily="18" charset="0"/>
                <a:ea typeface="华文楷体" panose="02010600040101010101" pitchFamily="2" charset="-122"/>
              </a:rPr>
              <a:t>DrawCircle</a:t>
            </a:r>
            <a:r>
              <a:rPr kumimoji="0" lang="en-US" altLang="zh-CN" sz="2400" b="1" dirty="0">
                <a:solidFill>
                  <a:srgbClr val="000000"/>
                </a:solidFill>
                <a:latin typeface="Times New Roman" panose="02020603050405020304" pitchFamily="18" charset="0"/>
                <a:ea typeface="华文楷体" panose="02010600040101010101" pitchFamily="2" charset="-122"/>
              </a:rPr>
              <a:t>(20);      </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C00000"/>
                </a:solidFill>
                <a:latin typeface="Times New Roman" panose="02020603050405020304" pitchFamily="18" charset="0"/>
                <a:ea typeface="华文楷体" panose="02010600040101010101" pitchFamily="2" charset="-122"/>
              </a:rPr>
              <a:t>错误，</a:t>
            </a:r>
            <a:r>
              <a:rPr kumimoji="0" lang="en-US" altLang="zh-CN" sz="2400" b="1" dirty="0">
                <a:solidFill>
                  <a:srgbClr val="C00000"/>
                </a:solidFill>
                <a:latin typeface="Times New Roman" panose="02020603050405020304" pitchFamily="18" charset="0"/>
                <a:ea typeface="华文楷体" panose="02010600040101010101" pitchFamily="2" charset="-122"/>
              </a:rPr>
              <a:t>×</a:t>
            </a:r>
            <a:r>
              <a:rPr kumimoji="0" lang="zh-CN" altLang="en-US" sz="2400" b="1" dirty="0">
                <a:solidFill>
                  <a:srgbClr val="000000"/>
                </a:solidFill>
                <a:latin typeface="Times New Roman" panose="02020603050405020304" pitchFamily="18" charset="0"/>
                <a:ea typeface="华文楷体" panose="02010600040101010101" pitchFamily="2" charset="-122"/>
              </a:rPr>
              <a:t>，编译系统无法确定调用哪一个函数</a:t>
            </a:r>
            <a:endParaRPr kumimoji="0" lang="zh-CN" altLang="en-US" sz="24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899593" y="1484784"/>
            <a:ext cx="7704658" cy="1754326"/>
          </a:xfrm>
          <a:prstGeom prst="rect">
            <a:avLst/>
          </a:prstGeom>
          <a:noFill/>
          <a:ln w="9525">
            <a:noFill/>
            <a:miter lim="800000"/>
          </a:ln>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kumimoji="0" lang="zh-CN" altLang="en-US" sz="2400" b="1" dirty="0" smtClean="0">
                <a:latin typeface="微软雅黑" panose="020B0503020204020204" pitchFamily="34" charset="-122"/>
                <a:ea typeface="微软雅黑" panose="020B0503020204020204" pitchFamily="34" charset="-122"/>
              </a:rPr>
              <a:t>（</a:t>
            </a:r>
            <a:r>
              <a:rPr kumimoji="0" lang="en-US" altLang="zh-CN" sz="2400" b="1" dirty="0">
                <a:latin typeface="微软雅黑" panose="020B0503020204020204" pitchFamily="34" charset="-122"/>
                <a:ea typeface="微软雅黑" panose="020B0503020204020204" pitchFamily="34" charset="-122"/>
              </a:rPr>
              <a:t>2</a:t>
            </a:r>
            <a:r>
              <a:rPr kumimoji="0" lang="zh-CN" altLang="en-US" sz="2400" b="1" dirty="0">
                <a:latin typeface="微软雅黑" panose="020B0503020204020204" pitchFamily="34" charset="-122"/>
                <a:ea typeface="微软雅黑" panose="020B0503020204020204" pitchFamily="34" charset="-122"/>
              </a:rPr>
              <a:t>）函数重载时，</a:t>
            </a:r>
            <a:r>
              <a:rPr kumimoji="0" lang="zh-CN" altLang="en-US" sz="2400" b="1" dirty="0">
                <a:solidFill>
                  <a:srgbClr val="FFFF00"/>
                </a:solidFill>
                <a:latin typeface="微软雅黑" panose="020B0503020204020204" pitchFamily="34" charset="-122"/>
                <a:ea typeface="微软雅黑" panose="020B0503020204020204" pitchFamily="34" charset="-122"/>
              </a:rPr>
              <a:t>返回类型不在</a:t>
            </a:r>
            <a:r>
              <a:rPr kumimoji="0" lang="zh-CN" altLang="en-US" sz="2400" b="1" dirty="0">
                <a:latin typeface="微软雅黑" panose="020B0503020204020204" pitchFamily="34" charset="-122"/>
                <a:ea typeface="微软雅黑" panose="020B0503020204020204" pitchFamily="34" charset="-122"/>
              </a:rPr>
              <a:t>参数匹配检查范围之内。所以，如果两个函数返回类型不同，其他均相同，是非法的重载</a:t>
            </a:r>
            <a:endParaRPr kumimoji="0" lang="zh-CN" altLang="en-US" sz="2400" b="1" dirty="0">
              <a:latin typeface="微软雅黑" panose="020B0503020204020204" pitchFamily="34" charset="-122"/>
              <a:ea typeface="微软雅黑" panose="020B0503020204020204" pitchFamily="34" charset="-122"/>
            </a:endParaRPr>
          </a:p>
        </p:txBody>
      </p:sp>
      <p:sp>
        <p:nvSpPr>
          <p:cNvPr id="147459" name="Rectangle 3"/>
          <p:cNvSpPr>
            <a:spLocks noChangeArrowheads="1"/>
          </p:cNvSpPr>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altLang="zh-CN" sz="4400" b="1" i="1" dirty="0" smtClean="0">
                <a:effectLst>
                  <a:outerShdw blurRad="38100" dist="38100" dir="2700000" algn="tl">
                    <a:srgbClr val="000000"/>
                  </a:outerShdw>
                </a:effectLst>
                <a:ea typeface="华文行楷" panose="02010800040101010101" pitchFamily="2" charset="-122"/>
              </a:rPr>
              <a:t>3.5    </a:t>
            </a:r>
            <a:r>
              <a:rPr lang="zh-CN" altLang="en-US" sz="4400" b="1" i="1" dirty="0">
                <a:effectLst>
                  <a:outerShdw blurRad="38100" dist="38100" dir="2700000" algn="tl">
                    <a:srgbClr val="000000"/>
                  </a:outerShdw>
                </a:effectLst>
                <a:ea typeface="华文行楷" panose="02010800040101010101" pitchFamily="2" charset="-122"/>
              </a:rPr>
              <a:t>函数重载的注意事项</a:t>
            </a:r>
            <a:endParaRPr lang="zh-CN" altLang="en-US" sz="4400" b="1" i="1" dirty="0">
              <a:effectLst>
                <a:outerShdw blurRad="38100" dist="38100" dir="2700000" algn="tl">
                  <a:srgbClr val="000000"/>
                </a:outerShdw>
              </a:effectLst>
              <a:ea typeface="华文行楷" panose="02010800040101010101" pitchFamily="2" charset="-122"/>
            </a:endParaRPr>
          </a:p>
        </p:txBody>
      </p:sp>
      <p:sp>
        <p:nvSpPr>
          <p:cNvPr id="147460" name="Text Box 4"/>
          <p:cNvSpPr txBox="1">
            <a:spLocks noChangeArrowheads="1"/>
          </p:cNvSpPr>
          <p:nvPr/>
        </p:nvSpPr>
        <p:spPr bwMode="auto">
          <a:xfrm>
            <a:off x="1115754" y="3358034"/>
            <a:ext cx="7272337" cy="3139321"/>
          </a:xfrm>
          <a:prstGeom prst="rect">
            <a:avLst/>
          </a:prstGeom>
          <a:solidFill>
            <a:schemeClr val="tx1"/>
          </a:solidFill>
          <a:ln>
            <a:noFill/>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例如：</a:t>
            </a:r>
            <a:endParaRPr kumimoji="0"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err="1">
                <a:solidFill>
                  <a:srgbClr val="000000"/>
                </a:solidFill>
                <a:latin typeface="Times New Roman" panose="02020603050405020304" pitchFamily="18" charset="0"/>
                <a:ea typeface="华文楷体" panose="02010600040101010101" pitchFamily="2" charset="-122"/>
              </a:rPr>
              <a:t>Mul</a:t>
            </a:r>
            <a:r>
              <a:rPr kumimoji="0" lang="en-US" altLang="zh-CN" sz="2400" b="1" dirty="0">
                <a:solidFill>
                  <a:srgbClr val="000000"/>
                </a:solidFill>
                <a:latin typeface="Times New Roman" panose="02020603050405020304" pitchFamily="18" charset="0"/>
                <a:ea typeface="华文楷体" panose="02010600040101010101" pitchFamily="2" charset="-122"/>
              </a:rPr>
              <a:t>(</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x, </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y);</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en-US" altLang="zh-CN" sz="2400" b="1" dirty="0">
                <a:solidFill>
                  <a:srgbClr val="000000"/>
                </a:solidFill>
                <a:latin typeface="Times New Roman" panose="02020603050405020304" pitchFamily="18" charset="0"/>
                <a:ea typeface="华文楷体" panose="02010600040101010101" pitchFamily="2" charset="-122"/>
              </a:rPr>
              <a:t>          double </a:t>
            </a:r>
            <a:r>
              <a:rPr kumimoji="0" lang="en-US" altLang="zh-CN" sz="2400" b="1" dirty="0" err="1">
                <a:solidFill>
                  <a:srgbClr val="000000"/>
                </a:solidFill>
                <a:latin typeface="Times New Roman" panose="02020603050405020304" pitchFamily="18" charset="0"/>
                <a:ea typeface="华文楷体" panose="02010600040101010101" pitchFamily="2" charset="-122"/>
              </a:rPr>
              <a:t>Mul</a:t>
            </a:r>
            <a:r>
              <a:rPr kumimoji="0" lang="en-US" altLang="zh-CN" sz="2400" b="1" dirty="0">
                <a:solidFill>
                  <a:srgbClr val="000000"/>
                </a:solidFill>
                <a:latin typeface="Times New Roman" panose="02020603050405020304" pitchFamily="18" charset="0"/>
                <a:ea typeface="华文楷体" panose="02010600040101010101" pitchFamily="2" charset="-122"/>
              </a:rPr>
              <a:t>(</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err="1">
                <a:solidFill>
                  <a:srgbClr val="000000"/>
                </a:solidFill>
                <a:latin typeface="Times New Roman" panose="02020603050405020304" pitchFamily="18" charset="0"/>
                <a:ea typeface="华文楷体" panose="02010600040101010101" pitchFamily="2" charset="-122"/>
              </a:rPr>
              <a:t>x,int</a:t>
            </a:r>
            <a:r>
              <a:rPr kumimoji="0" lang="en-US" altLang="zh-CN" sz="2400" b="1" dirty="0">
                <a:solidFill>
                  <a:srgbClr val="000000"/>
                </a:solidFill>
                <a:latin typeface="Times New Roman" panose="02020603050405020304" pitchFamily="18" charset="0"/>
                <a:ea typeface="华文楷体" panose="02010600040101010101" pitchFamily="2" charset="-122"/>
              </a:rPr>
              <a:t> y);</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C00000"/>
                </a:solidFill>
                <a:latin typeface="Times New Roman" panose="02020603050405020304" pitchFamily="18" charset="0"/>
                <a:ea typeface="华文楷体" panose="02010600040101010101" pitchFamily="2" charset="-122"/>
              </a:rPr>
              <a:t>错误的函数重载，</a:t>
            </a:r>
            <a:r>
              <a:rPr kumimoji="0" lang="en-US" altLang="zh-CN" sz="2400" b="1" dirty="0">
                <a:solidFill>
                  <a:srgbClr val="C00000"/>
                </a:solidFill>
                <a:latin typeface="Times New Roman" panose="02020603050405020304" pitchFamily="18" charset="0"/>
                <a:ea typeface="华文楷体" panose="02010600040101010101" pitchFamily="2" charset="-122"/>
              </a:rPr>
              <a:t>×</a:t>
            </a:r>
            <a:endParaRPr kumimoji="0" lang="en-US" altLang="zh-CN" sz="2400" b="1" dirty="0">
              <a:solidFill>
                <a:srgbClr val="C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编译系统不能区分这两个函数，因为返回类型只有在确定调用哪个函数之后才知道</a:t>
            </a:r>
            <a:endParaRPr kumimoji="0" lang="zh-CN" altLang="en-US" sz="24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683568" y="1484784"/>
            <a:ext cx="8064698" cy="1754326"/>
          </a:xfrm>
          <a:prstGeom prst="rect">
            <a:avLst/>
          </a:prstGeom>
          <a:noFill/>
          <a:ln w="9525">
            <a:noFill/>
            <a:miter lim="800000"/>
          </a:ln>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lnSpc>
                <a:spcPct val="150000"/>
              </a:lnSpc>
              <a:spcBef>
                <a:spcPct val="50000"/>
              </a:spcBef>
              <a:buClrTx/>
              <a:buSzTx/>
              <a:buFontTx/>
              <a:buNone/>
            </a:pPr>
            <a:r>
              <a:rPr kumimoji="0" lang="zh-CN" altLang="en-US" sz="2400" b="1" dirty="0" smtClean="0">
                <a:latin typeface="微软雅黑" panose="020B0503020204020204" pitchFamily="34" charset="-122"/>
                <a:ea typeface="微软雅黑" panose="020B0503020204020204" pitchFamily="34" charset="-122"/>
              </a:rPr>
              <a:t>（</a:t>
            </a:r>
            <a:r>
              <a:rPr kumimoji="0" lang="en-US" altLang="zh-CN" sz="2400" b="1" dirty="0">
                <a:latin typeface="微软雅黑" panose="020B0503020204020204" pitchFamily="34" charset="-122"/>
                <a:ea typeface="微软雅黑" panose="020B0503020204020204" pitchFamily="34" charset="-122"/>
              </a:rPr>
              <a:t>3</a:t>
            </a:r>
            <a:r>
              <a:rPr kumimoji="0" lang="zh-CN" altLang="en-US" sz="2400" b="1" dirty="0">
                <a:latin typeface="微软雅黑" panose="020B0503020204020204" pitchFamily="34" charset="-122"/>
                <a:ea typeface="微软雅黑" panose="020B0503020204020204" pitchFamily="34" charset="-122"/>
              </a:rPr>
              <a:t>）函数调用时如果实参</a:t>
            </a:r>
            <a:r>
              <a:rPr kumimoji="0" lang="zh-CN" altLang="en-US" sz="2400" b="1">
                <a:latin typeface="微软雅黑" panose="020B0503020204020204" pitchFamily="34" charset="-122"/>
                <a:ea typeface="微软雅黑" panose="020B0503020204020204" pitchFamily="34" charset="-122"/>
              </a:rPr>
              <a:t>和</a:t>
            </a:r>
            <a:r>
              <a:rPr kumimoji="0" lang="zh-CN" altLang="en-US" sz="2400" b="1" smtClean="0">
                <a:latin typeface="微软雅黑" panose="020B0503020204020204" pitchFamily="34" charset="-122"/>
                <a:ea typeface="微软雅黑" panose="020B0503020204020204" pitchFamily="34" charset="-122"/>
              </a:rPr>
              <a:t>形参</a:t>
            </a:r>
            <a:r>
              <a:rPr kumimoji="0" lang="zh-CN" altLang="en-US" sz="2400" b="1">
                <a:latin typeface="微软雅黑" panose="020B0503020204020204" pitchFamily="34" charset="-122"/>
                <a:ea typeface="微软雅黑" panose="020B0503020204020204" pitchFamily="34" charset="-122"/>
              </a:rPr>
              <a:t>类型</a:t>
            </a:r>
            <a:r>
              <a:rPr kumimoji="0" lang="zh-CN" altLang="en-US" sz="2400" b="1" smtClean="0">
                <a:latin typeface="微软雅黑" panose="020B0503020204020204" pitchFamily="34" charset="-122"/>
                <a:ea typeface="微软雅黑" panose="020B0503020204020204" pitchFamily="34" charset="-122"/>
              </a:rPr>
              <a:t>不</a:t>
            </a:r>
            <a:r>
              <a:rPr kumimoji="0" lang="zh-CN" altLang="en-US" sz="2400" b="1" dirty="0">
                <a:latin typeface="微软雅黑" panose="020B0503020204020204" pitchFamily="34" charset="-122"/>
                <a:ea typeface="微软雅黑" panose="020B0503020204020204" pitchFamily="34" charset="-122"/>
              </a:rPr>
              <a:t>一致，编译器会自动做类型转换，但是函数重载时，这种类型转换有可能产生不能识别的错误。</a:t>
            </a:r>
            <a:endParaRPr kumimoji="0" lang="zh-CN" altLang="en-US" sz="2400" b="1" dirty="0">
              <a:latin typeface="微软雅黑" panose="020B0503020204020204" pitchFamily="34" charset="-122"/>
              <a:ea typeface="微软雅黑" panose="020B0503020204020204" pitchFamily="34" charset="-122"/>
            </a:endParaRPr>
          </a:p>
        </p:txBody>
      </p:sp>
      <p:sp>
        <p:nvSpPr>
          <p:cNvPr id="148483" name="Rectangle 3"/>
          <p:cNvSpPr>
            <a:spLocks noChangeArrowheads="1"/>
          </p:cNvSpPr>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0">
              <a:spcBef>
                <a:spcPct val="0"/>
              </a:spcBef>
              <a:buClrTx/>
              <a:buSzTx/>
              <a:buNone/>
            </a:pPr>
            <a:r>
              <a:rPr lang="en-US" altLang="zh-CN" sz="4400" b="1" i="1" dirty="0" smtClean="0">
                <a:solidFill>
                  <a:srgbClr val="FFFFFF"/>
                </a:solidFill>
                <a:effectLst>
                  <a:outerShdw blurRad="38100" dist="38100" dir="2700000" algn="tl">
                    <a:srgbClr val="000000"/>
                  </a:outerShdw>
                </a:effectLst>
                <a:latin typeface="Times New Roman" panose="02020603050405020304"/>
                <a:ea typeface="华文行楷" panose="02010800040101010101" pitchFamily="2" charset="-122"/>
              </a:rPr>
              <a:t>3.5    </a:t>
            </a:r>
            <a:r>
              <a:rPr lang="zh-CN" altLang="en-US" sz="4400" b="1" i="1" dirty="0">
                <a:solidFill>
                  <a:srgbClr val="FFFFFF"/>
                </a:solidFill>
                <a:effectLst>
                  <a:outerShdw blurRad="38100" dist="38100" dir="2700000" algn="tl">
                    <a:srgbClr val="000000"/>
                  </a:outerShdw>
                </a:effectLst>
                <a:latin typeface="Times New Roman" panose="02020603050405020304"/>
                <a:ea typeface="华文行楷" panose="02010800040101010101" pitchFamily="2" charset="-122"/>
              </a:rPr>
              <a:t>函数重载的注意事项</a:t>
            </a:r>
            <a:endParaRPr lang="zh-CN" altLang="en-US" sz="4400" b="1" i="1" dirty="0">
              <a:solidFill>
                <a:srgbClr val="FFFFFF"/>
              </a:solidFill>
              <a:effectLst>
                <a:outerShdw blurRad="38100" dist="38100" dir="2700000" algn="tl">
                  <a:srgbClr val="000000"/>
                </a:outerShdw>
              </a:effectLst>
              <a:latin typeface="Times New Roman" panose="02020603050405020304"/>
              <a:ea typeface="华文行楷" panose="02010800040101010101" pitchFamily="2" charset="-122"/>
            </a:endParaRPr>
          </a:p>
        </p:txBody>
      </p:sp>
      <p:sp>
        <p:nvSpPr>
          <p:cNvPr id="148484" name="Text Box 4"/>
          <p:cNvSpPr txBox="1">
            <a:spLocks noChangeArrowheads="1"/>
          </p:cNvSpPr>
          <p:nvPr/>
        </p:nvSpPr>
        <p:spPr bwMode="auto">
          <a:xfrm>
            <a:off x="1079749" y="3357439"/>
            <a:ext cx="7272337" cy="3139321"/>
          </a:xfrm>
          <a:prstGeom prst="rect">
            <a:avLst/>
          </a:prstGeom>
          <a:solidFill>
            <a:schemeClr val="tx1"/>
          </a:solidFill>
          <a:ln>
            <a:noFill/>
          </a:ln>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例如：</a:t>
            </a:r>
            <a:endParaRPr kumimoji="0"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a:solidFill>
                  <a:srgbClr val="000000"/>
                </a:solidFill>
                <a:latin typeface="Times New Roman" panose="02020603050405020304" pitchFamily="18" charset="0"/>
                <a:ea typeface="华文楷体" panose="02010600040101010101" pitchFamily="2" charset="-122"/>
              </a:rPr>
              <a:t>void  </a:t>
            </a:r>
            <a:r>
              <a:rPr kumimoji="0" lang="en-US" altLang="zh-CN" sz="2400" b="1" dirty="0" err="1">
                <a:solidFill>
                  <a:srgbClr val="000000"/>
                </a:solidFill>
                <a:latin typeface="Times New Roman" panose="02020603050405020304" pitchFamily="18" charset="0"/>
                <a:ea typeface="华文楷体" panose="02010600040101010101" pitchFamily="2" charset="-122"/>
              </a:rPr>
              <a:t>F_a</a:t>
            </a:r>
            <a:r>
              <a:rPr kumimoji="0" lang="en-US" altLang="zh-CN" sz="2400" b="1" dirty="0">
                <a:solidFill>
                  <a:srgbClr val="000000"/>
                </a:solidFill>
                <a:latin typeface="Times New Roman" panose="02020603050405020304" pitchFamily="18" charset="0"/>
                <a:ea typeface="华文楷体" panose="02010600040101010101" pitchFamily="2" charset="-122"/>
              </a:rPr>
              <a:t>(</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x);</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en-US" altLang="zh-CN" sz="2400" b="1" dirty="0">
                <a:solidFill>
                  <a:srgbClr val="000000"/>
                </a:solidFill>
                <a:latin typeface="Times New Roman" panose="02020603050405020304" pitchFamily="18" charset="0"/>
                <a:ea typeface="华文楷体" panose="02010600040101010101" pitchFamily="2" charset="-122"/>
              </a:rPr>
              <a:t>          void </a:t>
            </a:r>
            <a:r>
              <a:rPr kumimoji="0" lang="en-US" altLang="zh-CN" sz="2400" b="1" dirty="0" err="1">
                <a:solidFill>
                  <a:srgbClr val="000000"/>
                </a:solidFill>
                <a:latin typeface="Times New Roman" panose="02020603050405020304" pitchFamily="18" charset="0"/>
                <a:ea typeface="华文楷体" panose="02010600040101010101" pitchFamily="2" charset="-122"/>
              </a:rPr>
              <a:t>F_a</a:t>
            </a:r>
            <a:r>
              <a:rPr kumimoji="0" lang="en-US" altLang="zh-CN" sz="2400" b="1" dirty="0">
                <a:solidFill>
                  <a:srgbClr val="000000"/>
                </a:solidFill>
                <a:latin typeface="Times New Roman" panose="02020603050405020304" pitchFamily="18" charset="0"/>
                <a:ea typeface="华文楷体" panose="02010600040101010101" pitchFamily="2" charset="-122"/>
              </a:rPr>
              <a:t>(long </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en-US" altLang="zh-CN" sz="2400" b="1" dirty="0">
                <a:solidFill>
                  <a:srgbClr val="000000"/>
                </a:solidFill>
                <a:latin typeface="Times New Roman" panose="02020603050405020304" pitchFamily="18" charset="0"/>
                <a:ea typeface="华文楷体" panose="02010600040101010101" pitchFamily="2" charset="-122"/>
              </a:rPr>
              <a:t> x);</a:t>
            </a:r>
            <a:endParaRPr kumimoji="0" lang="en-US" altLang="zh-CN"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那么，函数调用</a:t>
            </a:r>
            <a:endParaRPr kumimoji="0" lang="zh-CN" altLang="en-US" sz="2400" b="1" dirty="0">
              <a:solidFill>
                <a:srgbClr val="0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          </a:t>
            </a:r>
            <a:r>
              <a:rPr kumimoji="0" lang="en-US" altLang="zh-CN" sz="2400" b="1" dirty="0" err="1">
                <a:solidFill>
                  <a:srgbClr val="000000"/>
                </a:solidFill>
                <a:latin typeface="Times New Roman" panose="02020603050405020304" pitchFamily="18" charset="0"/>
                <a:ea typeface="华文楷体" panose="02010600040101010101" pitchFamily="2" charset="-122"/>
              </a:rPr>
              <a:t>F_a</a:t>
            </a:r>
            <a:r>
              <a:rPr kumimoji="0" lang="en-US" altLang="zh-CN" sz="2400" b="1" dirty="0">
                <a:solidFill>
                  <a:srgbClr val="000000"/>
                </a:solidFill>
                <a:latin typeface="Times New Roman" panose="02020603050405020304" pitchFamily="18" charset="0"/>
                <a:ea typeface="华文楷体" panose="02010600040101010101" pitchFamily="2" charset="-122"/>
              </a:rPr>
              <a:t>(5.56);    </a:t>
            </a:r>
            <a:r>
              <a:rPr kumimoji="0" lang="en-US" altLang="zh-CN" sz="2400" b="1" dirty="0">
                <a:solidFill>
                  <a:srgbClr val="C00000"/>
                </a:solidFill>
                <a:latin typeface="Times New Roman" panose="02020603050405020304" pitchFamily="18" charset="0"/>
                <a:ea typeface="华文楷体" panose="02010600040101010101" pitchFamily="2" charset="-122"/>
              </a:rPr>
              <a:t>//</a:t>
            </a:r>
            <a:r>
              <a:rPr kumimoji="0" lang="zh-CN" altLang="en-US" sz="2400" b="1" dirty="0">
                <a:solidFill>
                  <a:srgbClr val="C00000"/>
                </a:solidFill>
                <a:latin typeface="Times New Roman" panose="02020603050405020304" pitchFamily="18" charset="0"/>
                <a:ea typeface="华文楷体" panose="02010600040101010101" pitchFamily="2" charset="-122"/>
              </a:rPr>
              <a:t>错误，</a:t>
            </a:r>
            <a:r>
              <a:rPr kumimoji="0" lang="en-US" altLang="zh-CN" sz="2400" b="1" dirty="0">
                <a:solidFill>
                  <a:srgbClr val="C00000"/>
                </a:solidFill>
                <a:latin typeface="Times New Roman" panose="02020603050405020304" pitchFamily="18" charset="0"/>
                <a:ea typeface="华文楷体" panose="02010600040101010101" pitchFamily="2" charset="-122"/>
              </a:rPr>
              <a:t>×</a:t>
            </a:r>
            <a:endParaRPr kumimoji="0" lang="en-US" altLang="zh-CN" sz="2400" b="1" dirty="0">
              <a:solidFill>
                <a:srgbClr val="C00000"/>
              </a:solidFill>
              <a:latin typeface="Times New Roman" panose="02020603050405020304" pitchFamily="18" charset="0"/>
              <a:ea typeface="华文楷体" panose="02010600040101010101" pitchFamily="2" charset="-122"/>
            </a:endParaRPr>
          </a:p>
          <a:p>
            <a:pPr algn="l" eaLnBrk="1" hangingPunct="1">
              <a:spcBef>
                <a:spcPct val="25000"/>
              </a:spcBef>
              <a:buClrTx/>
              <a:buSzTx/>
              <a:buFontTx/>
              <a:buNone/>
            </a:pPr>
            <a:r>
              <a:rPr kumimoji="0" lang="zh-CN" altLang="en-US" sz="2400" b="1" dirty="0">
                <a:solidFill>
                  <a:srgbClr val="000000"/>
                </a:solidFill>
                <a:latin typeface="Times New Roman" panose="02020603050405020304" pitchFamily="18" charset="0"/>
                <a:ea typeface="华文楷体" panose="02010600040101010101" pitchFamily="2" charset="-122"/>
              </a:rPr>
              <a:t>编译系统无法确定</a:t>
            </a:r>
            <a:r>
              <a:rPr kumimoji="0" lang="en-US" altLang="zh-CN" sz="2400" b="1" dirty="0">
                <a:solidFill>
                  <a:srgbClr val="000000"/>
                </a:solidFill>
                <a:latin typeface="Times New Roman" panose="02020603050405020304" pitchFamily="18" charset="0"/>
                <a:ea typeface="华文楷体" panose="02010600040101010101" pitchFamily="2" charset="-122"/>
              </a:rPr>
              <a:t>5.56</a:t>
            </a:r>
            <a:r>
              <a:rPr kumimoji="0" lang="zh-CN" altLang="en-US" sz="2400" b="1" dirty="0">
                <a:solidFill>
                  <a:srgbClr val="000000"/>
                </a:solidFill>
                <a:latin typeface="Times New Roman" panose="02020603050405020304" pitchFamily="18" charset="0"/>
                <a:ea typeface="华文楷体" panose="02010600040101010101" pitchFamily="2" charset="-122"/>
              </a:rPr>
              <a:t>应该转换为</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zh-CN" altLang="en-US" sz="2400" b="1" dirty="0">
                <a:solidFill>
                  <a:srgbClr val="000000"/>
                </a:solidFill>
                <a:latin typeface="Times New Roman" panose="02020603050405020304" pitchFamily="18" charset="0"/>
                <a:ea typeface="华文楷体" panose="02010600040101010101" pitchFamily="2" charset="-122"/>
              </a:rPr>
              <a:t>类型还是</a:t>
            </a:r>
            <a:r>
              <a:rPr kumimoji="0" lang="en-US" altLang="zh-CN" sz="2400" b="1" dirty="0">
                <a:solidFill>
                  <a:srgbClr val="000000"/>
                </a:solidFill>
                <a:latin typeface="Times New Roman" panose="02020603050405020304" pitchFamily="18" charset="0"/>
                <a:ea typeface="华文楷体" panose="02010600040101010101" pitchFamily="2" charset="-122"/>
              </a:rPr>
              <a:t>long </a:t>
            </a:r>
            <a:r>
              <a:rPr kumimoji="0" lang="en-US" altLang="zh-CN" sz="2400" b="1" dirty="0" err="1">
                <a:solidFill>
                  <a:srgbClr val="000000"/>
                </a:solidFill>
                <a:latin typeface="Times New Roman" panose="02020603050405020304" pitchFamily="18" charset="0"/>
                <a:ea typeface="华文楷体" panose="02010600040101010101" pitchFamily="2" charset="-122"/>
              </a:rPr>
              <a:t>int</a:t>
            </a:r>
            <a:r>
              <a:rPr kumimoji="0" lang="zh-CN" altLang="en-US" sz="2400" b="1" dirty="0">
                <a:solidFill>
                  <a:srgbClr val="000000"/>
                </a:solidFill>
                <a:latin typeface="Times New Roman" panose="02020603050405020304" pitchFamily="18" charset="0"/>
                <a:ea typeface="华文楷体" panose="02010600040101010101" pitchFamily="2" charset="-122"/>
              </a:rPr>
              <a:t>类型。</a:t>
            </a:r>
            <a:endParaRPr kumimoji="0" lang="zh-CN" altLang="en-US" sz="24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772816"/>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6"/>
            </a:pPr>
            <a:r>
              <a:rPr lang="en-US" altLang="zh-CN" sz="5800" b="1" dirty="0" smtClean="0">
                <a:ea typeface="华文彩云" panose="02010800040101010101" pitchFamily="2" charset="-122"/>
              </a:rPr>
              <a:t>  C++</a:t>
            </a:r>
            <a:r>
              <a:rPr lang="zh-CN" altLang="en-US" sz="5800" b="1" dirty="0" smtClean="0">
                <a:ea typeface="华文彩云" panose="02010800040101010101" pitchFamily="2" charset="-122"/>
              </a:rPr>
              <a:t>系统函数</a:t>
            </a:r>
            <a:endParaRPr lang="zh-CN" altLang="en-US"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3.6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使用</a:t>
            </a:r>
            <a:r>
              <a:rPr lang="en-US" altLang="zh-CN" sz="4400" b="1" dirty="0" smtClean="0">
                <a:solidFill>
                  <a:srgbClr val="FFFFFF"/>
                </a:solidFill>
                <a:latin typeface="Times New Roman" panose="02020603050405020304" pitchFamily="18" charset="0"/>
                <a:ea typeface="隶书" panose="02010509060101010101" pitchFamily="49" charset="-122"/>
                <a:cs typeface="+mn-cs"/>
              </a:rPr>
              <a:t>C++</a:t>
            </a:r>
            <a:r>
              <a:rPr lang="zh-CN" altLang="en-US" sz="4400" b="1" dirty="0" smtClean="0">
                <a:solidFill>
                  <a:srgbClr val="FFFFFF"/>
                </a:solidFill>
                <a:latin typeface="Times New Roman" panose="02020603050405020304" pitchFamily="18" charset="0"/>
                <a:ea typeface="隶书" panose="02010509060101010101" pitchFamily="49" charset="-122"/>
                <a:cs typeface="+mn-cs"/>
              </a:rPr>
              <a:t>系统函数</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p:txBody>
          <a:bodyPr/>
          <a:lstStyle/>
          <a:p>
            <a:pPr eaLnBrk="1" hangingPunct="1">
              <a:lnSpc>
                <a:spcPct val="120000"/>
              </a:lnSpc>
            </a:pPr>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的系统库中提供了几百个函数可供程序员使用</a:t>
            </a:r>
            <a:r>
              <a:rPr lang="zh-CN" altLang="en-US" sz="2800" b="1" dirty="0" smtClean="0">
                <a:latin typeface="微软雅黑" panose="020B0503020204020204" pitchFamily="34" charset="-122"/>
                <a:ea typeface="微软雅黑" panose="020B0503020204020204" pitchFamily="34" charset="-122"/>
              </a:rPr>
              <a:t>。</a:t>
            </a:r>
            <a:br>
              <a:rPr lang="en-US" altLang="zh-CN" sz="2800" b="1" dirty="0" smtClean="0">
                <a:latin typeface="微软雅黑" panose="020B0503020204020204" pitchFamily="34" charset="-122"/>
                <a:ea typeface="微软雅黑" panose="020B0503020204020204" pitchFamily="34" charset="-122"/>
              </a:rPr>
            </a:br>
            <a:r>
              <a:rPr lang="zh-CN" altLang="en-US" sz="2800" b="1" dirty="0">
                <a:latin typeface="微软雅黑" panose="020B0503020204020204" pitchFamily="34" charset="-122"/>
                <a:ea typeface="微软雅黑" panose="020B0503020204020204" pitchFamily="34" charset="-122"/>
              </a:rPr>
              <a:t>例如：求平方根函数（</a:t>
            </a:r>
            <a:r>
              <a:rPr lang="en-US" altLang="zh-CN" sz="2800" b="1" dirty="0" err="1" smtClean="0">
                <a:latin typeface="微软雅黑" panose="020B0503020204020204" pitchFamily="34" charset="-122"/>
                <a:ea typeface="微软雅黑" panose="020B0503020204020204" pitchFamily="34" charset="-122"/>
              </a:rPr>
              <a:t>s</a:t>
            </a:r>
            <a:r>
              <a:rPr lang="en-US" altLang="zh-CN" sz="2800" b="1" dirty="0" err="1">
                <a:latin typeface="微软雅黑" panose="020B0503020204020204" pitchFamily="34" charset="-122"/>
                <a:ea typeface="微软雅黑" panose="020B0503020204020204" pitchFamily="34" charset="-122"/>
              </a:rPr>
              <a:t>q</a:t>
            </a:r>
            <a:r>
              <a:rPr lang="en-US" altLang="zh-CN" sz="2800" b="1" dirty="0" err="1" smtClean="0">
                <a:latin typeface="微软雅黑" panose="020B0503020204020204" pitchFamily="34" charset="-122"/>
                <a:ea typeface="微软雅黑" panose="020B0503020204020204" pitchFamily="34" charset="-122"/>
              </a:rPr>
              <a:t>rt</a:t>
            </a:r>
            <a:r>
              <a:rPr lang="zh-CN" altLang="en-US" sz="2800" b="1" dirty="0">
                <a:latin typeface="微软雅黑" panose="020B0503020204020204" pitchFamily="34" charset="-122"/>
                <a:ea typeface="微软雅黑" panose="020B0503020204020204" pitchFamily="34" charset="-122"/>
              </a:rPr>
              <a:t>）、求绝对值函数（</a:t>
            </a:r>
            <a:r>
              <a:rPr lang="en-US" altLang="zh-CN" sz="2800" b="1" dirty="0">
                <a:latin typeface="微软雅黑" panose="020B0503020204020204" pitchFamily="34" charset="-122"/>
                <a:ea typeface="微软雅黑" panose="020B0503020204020204" pitchFamily="34" charset="-122"/>
              </a:rPr>
              <a:t>abs</a:t>
            </a:r>
            <a:r>
              <a:rPr lang="zh-CN" altLang="en-US" sz="2800" b="1" dirty="0">
                <a:latin typeface="微软雅黑" panose="020B0503020204020204" pitchFamily="34" charset="-122"/>
                <a:ea typeface="微软雅黑" panose="020B0503020204020204" pitchFamily="34" charset="-122"/>
              </a:rPr>
              <a:t>）等。</a:t>
            </a:r>
            <a:endParaRPr lang="zh-CN" altLang="en-US" sz="2800" b="1"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800" b="1" dirty="0">
                <a:latin typeface="微软雅黑" panose="020B0503020204020204" pitchFamily="34" charset="-122"/>
                <a:ea typeface="微软雅黑" panose="020B0503020204020204" pitchFamily="34" charset="-122"/>
              </a:rPr>
              <a:t>使用系统函数时要包含相应的头文件。</a:t>
            </a:r>
            <a:endParaRPr lang="zh-CN" altLang="en-US" sz="2800" b="1" dirty="0">
              <a:latin typeface="微软雅黑" panose="020B0503020204020204" pitchFamily="34" charset="-122"/>
              <a:ea typeface="微软雅黑" panose="020B0503020204020204" pitchFamily="34" charset="-122"/>
            </a:endParaRPr>
          </a:p>
          <a:p>
            <a:pPr marL="457200" lvl="1" indent="457200" eaLnBrk="1" hangingPunct="1">
              <a:lnSpc>
                <a:spcPct val="120000"/>
              </a:lnSpc>
              <a:buFontTx/>
              <a:buNone/>
            </a:pPr>
            <a:r>
              <a:rPr lang="zh-CN" altLang="en-US" b="1" dirty="0">
                <a:latin typeface="微软雅黑" panose="020B0503020204020204" pitchFamily="34" charset="-122"/>
                <a:ea typeface="微软雅黑" panose="020B0503020204020204" pitchFamily="34" charset="-122"/>
              </a:rPr>
              <a:t>例如：</a:t>
            </a:r>
            <a:r>
              <a:rPr lang="en-US" altLang="zh-CN" b="1" dirty="0" err="1">
                <a:latin typeface="微软雅黑" panose="020B0503020204020204" pitchFamily="34" charset="-122"/>
                <a:ea typeface="微软雅黑" panose="020B0503020204020204" pitchFamily="34" charset="-122"/>
              </a:rPr>
              <a:t>cmath</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或 </a:t>
            </a:r>
            <a:r>
              <a:rPr lang="en-US" altLang="zh-CN" b="1" dirty="0" err="1">
                <a:latin typeface="微软雅黑" panose="020B0503020204020204" pitchFamily="34" charset="-122"/>
                <a:ea typeface="微软雅黑" panose="020B0503020204020204" pitchFamily="34" charset="-122"/>
              </a:rPr>
              <a:t>math.h</a:t>
            </a:r>
            <a:endParaRPr lang="en-US" altLang="zh-CN" b="1" dirty="0">
              <a:latin typeface="微软雅黑" panose="020B0503020204020204" pitchFamily="34" charset="-122"/>
              <a:ea typeface="微软雅黑" panose="020B0503020204020204" pitchFamily="34" charset="-122"/>
            </a:endParaRPr>
          </a:p>
          <a:p>
            <a:endParaRPr lang="zh-CN" altLang="en-US"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US" b="1" smtClean="0"/>
              <a:t>例</a:t>
            </a:r>
            <a:r>
              <a:rPr lang="en-US" altLang="zh-CN" b="1" smtClean="0"/>
              <a:t>3-17 </a:t>
            </a:r>
            <a:r>
              <a:rPr lang="zh-CN" altLang="en-US" b="1" smtClean="0"/>
              <a:t>系统函数应用举例</a:t>
            </a:r>
            <a:endParaRPr lang="zh-CN" altLang="en-US" b="1" smtClean="0"/>
          </a:p>
        </p:txBody>
      </p:sp>
      <p:sp>
        <p:nvSpPr>
          <p:cNvPr id="77827" name="内容占位符 2"/>
          <p:cNvSpPr>
            <a:spLocks noGrp="1"/>
          </p:cNvSpPr>
          <p:nvPr>
            <p:ph idx="1"/>
          </p:nvPr>
        </p:nvSpPr>
        <p:spPr>
          <a:xfrm>
            <a:off x="683568" y="1556792"/>
            <a:ext cx="7886700" cy="4351338"/>
          </a:xfrm>
        </p:spPr>
        <p:txBody>
          <a:bodyPr/>
          <a:lstStyle/>
          <a:p>
            <a:pPr eaLnBrk="1" hangingPunct="1"/>
            <a:r>
              <a:rPr lang="zh-CN" altLang="en-US" sz="2800" b="1" dirty="0">
                <a:latin typeface="微软雅黑" panose="020B0503020204020204" pitchFamily="34" charset="-122"/>
                <a:ea typeface="微软雅黑" panose="020B0503020204020204" pitchFamily="34" charset="-122"/>
              </a:rPr>
              <a:t>题目：</a:t>
            </a:r>
            <a:endParaRPr lang="zh-CN" altLang="en-US" sz="2800" b="1" dirty="0">
              <a:latin typeface="微软雅黑" panose="020B0503020204020204" pitchFamily="34" charset="-122"/>
              <a:ea typeface="微软雅黑" panose="020B0503020204020204" pitchFamily="34" charset="-122"/>
            </a:endParaRPr>
          </a:p>
          <a:p>
            <a:pPr marL="457200" lvl="1" indent="0" eaLnBrk="1" hangingPunct="1">
              <a:spcBef>
                <a:spcPts val="600"/>
              </a:spcBef>
              <a:spcAft>
                <a:spcPts val="600"/>
              </a:spcAft>
              <a:buFontTx/>
              <a:buNone/>
            </a:pPr>
            <a:r>
              <a:rPr lang="zh-CN" altLang="en-US" b="1" dirty="0">
                <a:latin typeface="微软雅黑" panose="020B0503020204020204" pitchFamily="34" charset="-122"/>
                <a:ea typeface="微软雅黑" panose="020B0503020204020204" pitchFamily="34" charset="-122"/>
              </a:rPr>
              <a:t>从键盘输入一个角度值，求出该角度的正弦值、余弦值和正切值。</a:t>
            </a:r>
            <a:endParaRPr lang="zh-CN" altLang="en-US" b="1" dirty="0">
              <a:latin typeface="微软雅黑" panose="020B0503020204020204" pitchFamily="34" charset="-122"/>
              <a:ea typeface="微软雅黑" panose="020B0503020204020204" pitchFamily="34" charset="-122"/>
            </a:endParaRPr>
          </a:p>
          <a:p>
            <a:pPr eaLnBrk="1" hangingPunct="1"/>
            <a:r>
              <a:rPr lang="zh-CN" altLang="en-US" sz="2800" b="1" dirty="0">
                <a:latin typeface="微软雅黑" panose="020B0503020204020204" pitchFamily="34" charset="-122"/>
                <a:ea typeface="微软雅黑" panose="020B0503020204020204" pitchFamily="34" charset="-122"/>
              </a:rPr>
              <a:t>分析：</a:t>
            </a:r>
            <a:endParaRPr lang="zh-CN" altLang="en-US" sz="2800" b="1" dirty="0">
              <a:latin typeface="微软雅黑" panose="020B0503020204020204" pitchFamily="34" charset="-122"/>
              <a:ea typeface="微软雅黑" panose="020B0503020204020204" pitchFamily="34" charset="-122"/>
            </a:endParaRPr>
          </a:p>
          <a:p>
            <a:pPr marL="457200" lvl="1" indent="0" eaLnBrk="1" hangingPunct="1">
              <a:buFontTx/>
              <a:buNone/>
            </a:pPr>
            <a:r>
              <a:rPr lang="zh-CN" altLang="en-US" b="1" dirty="0">
                <a:latin typeface="微软雅黑" panose="020B0503020204020204" pitchFamily="34" charset="-122"/>
                <a:ea typeface="微软雅黑" panose="020B0503020204020204" pitchFamily="34" charset="-122"/>
              </a:rPr>
              <a:t>系统函数中提供了求正弦值、余弦值和正切值的函数：</a:t>
            </a:r>
            <a:r>
              <a:rPr lang="en-US" altLang="zh-CN" b="1" dirty="0">
                <a:latin typeface="微软雅黑" panose="020B0503020204020204" pitchFamily="34" charset="-122"/>
                <a:ea typeface="微软雅黑" panose="020B0503020204020204" pitchFamily="34" charset="-122"/>
              </a:rPr>
              <a:t>sin()</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cos()</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tan()</a:t>
            </a:r>
            <a:r>
              <a:rPr lang="zh-CN" altLang="en-US" b="1" dirty="0">
                <a:latin typeface="微软雅黑" panose="020B0503020204020204" pitchFamily="34" charset="-122"/>
                <a:ea typeface="微软雅黑" panose="020B0503020204020204" pitchFamily="34" charset="-122"/>
              </a:rPr>
              <a:t>，函数的说明在头文件</a:t>
            </a:r>
            <a:r>
              <a:rPr lang="en-US" altLang="zh-CN" b="1" dirty="0" err="1">
                <a:latin typeface="微软雅黑" panose="020B0503020204020204" pitchFamily="34" charset="-122"/>
                <a:ea typeface="微软雅黑" panose="020B0503020204020204" pitchFamily="34" charset="-122"/>
              </a:rPr>
              <a:t>cmath</a:t>
            </a:r>
            <a:r>
              <a:rPr lang="zh-CN" altLang="en-US" b="1" dirty="0">
                <a:latin typeface="微软雅黑" panose="020B0503020204020204" pitchFamily="34" charset="-122"/>
                <a:ea typeface="微软雅黑" panose="020B0503020204020204" pitchFamily="34" charset="-122"/>
              </a:rPr>
              <a:t>中。</a:t>
            </a:r>
            <a:endParaRPr lang="zh-CN" altLang="en-US" b="1" dirty="0">
              <a:latin typeface="微软雅黑" panose="020B0503020204020204" pitchFamily="34" charset="-122"/>
              <a:ea typeface="微软雅黑" panose="020B0503020204020204" pitchFamily="34" charset="-122"/>
            </a:endParaRPr>
          </a:p>
          <a:p>
            <a:endParaRPr lang="zh-CN" altLang="en-US"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438" y="571500"/>
            <a:ext cx="9001125" cy="6286500"/>
          </a:xfrm>
          <a:solidFill>
            <a:schemeClr val="tx1"/>
          </a:solidFill>
        </p:spPr>
        <p:txBody>
          <a:bodyPr>
            <a:noAutofit/>
          </a:bodyPr>
          <a:lstStyle/>
          <a:p>
            <a:pPr marL="365760" indent="-255905" fontAlgn="auto">
              <a:spcBef>
                <a:spcPts val="0"/>
              </a:spcBef>
              <a:buClr>
                <a:schemeClr val="accent3"/>
              </a:buClr>
              <a:buNone/>
            </a:pPr>
            <a:r>
              <a:rPr lang="en-US" altLang="zh-CN" sz="2400" b="1" dirty="0">
                <a:solidFill>
                  <a:srgbClr val="000000"/>
                </a:solidFill>
                <a:ea typeface="+mj-ea"/>
              </a:rPr>
              <a:t>#include &lt;</a:t>
            </a:r>
            <a:r>
              <a:rPr lang="en-US" altLang="zh-CN" sz="2400" b="1" dirty="0" err="1">
                <a:solidFill>
                  <a:srgbClr val="000000"/>
                </a:solidFill>
                <a:ea typeface="+mj-ea"/>
              </a:rPr>
              <a:t>iostream</a:t>
            </a:r>
            <a:r>
              <a:rPr lang="en-US" altLang="zh-CN" sz="2400" b="1" dirty="0">
                <a:solidFill>
                  <a:srgbClr val="000000"/>
                </a:solidFill>
                <a:ea typeface="+mj-ea"/>
              </a:rPr>
              <a:t>&gt;</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#include &lt;</a:t>
            </a:r>
            <a:r>
              <a:rPr lang="en-US" altLang="zh-CN" sz="2400" b="1" dirty="0" err="1">
                <a:solidFill>
                  <a:srgbClr val="000000"/>
                </a:solidFill>
                <a:ea typeface="+mj-ea"/>
              </a:rPr>
              <a:t>cmath</a:t>
            </a:r>
            <a:r>
              <a:rPr lang="en-US" altLang="zh-CN" sz="2400" b="1" dirty="0">
                <a:solidFill>
                  <a:srgbClr val="000000"/>
                </a:solidFill>
                <a:ea typeface="+mj-ea"/>
              </a:rPr>
              <a:t>&gt;</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using namespace std;</a:t>
            </a:r>
            <a:endParaRPr lang="en-US" altLang="zh-CN" sz="2400" b="1" dirty="0">
              <a:solidFill>
                <a:srgbClr val="000000"/>
              </a:solidFill>
              <a:ea typeface="+mj-ea"/>
            </a:endParaRPr>
          </a:p>
          <a:p>
            <a:pPr marL="365760" indent="-255905" fontAlgn="auto">
              <a:spcBef>
                <a:spcPts val="0"/>
              </a:spcBef>
              <a:buClr>
                <a:schemeClr val="accent3"/>
              </a:buClr>
              <a:buNone/>
            </a:pP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const double PI = 3.14159265358979;</a:t>
            </a:r>
            <a:endParaRPr lang="en-US" altLang="zh-CN" sz="2400" b="1" dirty="0">
              <a:solidFill>
                <a:srgbClr val="000000"/>
              </a:solidFill>
              <a:ea typeface="+mj-ea"/>
            </a:endParaRPr>
          </a:p>
          <a:p>
            <a:pPr marL="365760" indent="-255905" fontAlgn="auto">
              <a:spcBef>
                <a:spcPts val="0"/>
              </a:spcBef>
              <a:buClr>
                <a:schemeClr val="accent3"/>
              </a:buClr>
              <a:buNone/>
            </a:pP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err="1">
                <a:solidFill>
                  <a:srgbClr val="000000"/>
                </a:solidFill>
                <a:ea typeface="+mj-ea"/>
              </a:rPr>
              <a:t>int</a:t>
            </a:r>
            <a:r>
              <a:rPr lang="en-US" altLang="zh-CN" sz="2400" b="1" dirty="0">
                <a:solidFill>
                  <a:srgbClr val="000000"/>
                </a:solidFill>
                <a:ea typeface="+mj-ea"/>
              </a:rPr>
              <a:t> main() {</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double angle;</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"Please enter an angle: ";</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a:t>
            </a:r>
            <a:r>
              <a:rPr lang="en-US" altLang="zh-CN" sz="2400" b="1" dirty="0" err="1">
                <a:solidFill>
                  <a:srgbClr val="000000"/>
                </a:solidFill>
                <a:ea typeface="+mj-ea"/>
              </a:rPr>
              <a:t>cin</a:t>
            </a:r>
            <a:r>
              <a:rPr lang="en-US" altLang="zh-CN" sz="2400" b="1" dirty="0">
                <a:solidFill>
                  <a:srgbClr val="000000"/>
                </a:solidFill>
                <a:ea typeface="+mj-ea"/>
              </a:rPr>
              <a:t> &gt;&gt; angle;	//</a:t>
            </a:r>
            <a:r>
              <a:rPr lang="zh-CN" altLang="en-US" sz="2400" b="1" dirty="0">
                <a:solidFill>
                  <a:srgbClr val="000000"/>
                </a:solidFill>
                <a:ea typeface="+mj-ea"/>
              </a:rPr>
              <a:t>输入角度值</a:t>
            </a:r>
            <a:endParaRPr lang="zh-CN" altLang="en-US" sz="2400" b="1" dirty="0">
              <a:solidFill>
                <a:srgbClr val="000000"/>
              </a:solidFill>
              <a:ea typeface="+mj-ea"/>
            </a:endParaRPr>
          </a:p>
          <a:p>
            <a:pPr marL="365760" indent="-255905" fontAlgn="auto">
              <a:spcBef>
                <a:spcPts val="0"/>
              </a:spcBef>
              <a:buClr>
                <a:schemeClr val="accent3"/>
              </a:buClr>
              <a:buNone/>
            </a:pPr>
            <a:endParaRPr lang="zh-CN" altLang="en-US" sz="2400" b="1" dirty="0">
              <a:solidFill>
                <a:srgbClr val="000000"/>
              </a:solidFill>
              <a:ea typeface="+mj-ea"/>
            </a:endParaRPr>
          </a:p>
          <a:p>
            <a:pPr marL="365760" indent="-255905" fontAlgn="auto">
              <a:spcBef>
                <a:spcPts val="0"/>
              </a:spcBef>
              <a:buClr>
                <a:schemeClr val="accent3"/>
              </a:buClr>
              <a:buNone/>
            </a:pPr>
            <a:r>
              <a:rPr lang="zh-CN" altLang="en-US" sz="2400" b="1" dirty="0">
                <a:solidFill>
                  <a:srgbClr val="000000"/>
                </a:solidFill>
                <a:ea typeface="+mj-ea"/>
              </a:rPr>
              <a:t>	</a:t>
            </a:r>
            <a:r>
              <a:rPr lang="en-US" altLang="zh-CN" sz="2400" b="1" dirty="0">
                <a:solidFill>
                  <a:srgbClr val="000000"/>
                </a:solidFill>
                <a:ea typeface="+mj-ea"/>
              </a:rPr>
              <a:t>double radian = angle * PI / 180;	//</a:t>
            </a:r>
            <a:r>
              <a:rPr lang="zh-CN" altLang="en-US" sz="2400" b="1" dirty="0">
                <a:solidFill>
                  <a:srgbClr val="000000"/>
                </a:solidFill>
                <a:ea typeface="+mj-ea"/>
              </a:rPr>
              <a:t>转化为弧度值</a:t>
            </a:r>
            <a:endParaRPr lang="zh-CN" altLang="en-US" sz="2400" b="1" dirty="0">
              <a:solidFill>
                <a:srgbClr val="000000"/>
              </a:solidFill>
              <a:ea typeface="+mj-ea"/>
            </a:endParaRPr>
          </a:p>
          <a:p>
            <a:pPr marL="365760" indent="-255905" fontAlgn="auto">
              <a:spcBef>
                <a:spcPts val="0"/>
              </a:spcBef>
              <a:buClr>
                <a:schemeClr val="accent3"/>
              </a:buClr>
              <a:buNone/>
            </a:pPr>
            <a:r>
              <a:rPr lang="zh-CN" altLang="en-US"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"sin(" &lt;&lt; angle &lt;&lt; ") = " &lt;&lt; sin(radian) &lt;&lt;</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a:t>
            </a:r>
            <a:r>
              <a:rPr lang="en-US" altLang="zh-CN" sz="2400" b="1" dirty="0" err="1">
                <a:solidFill>
                  <a:srgbClr val="000000"/>
                </a:solidFill>
                <a:ea typeface="+mj-ea"/>
              </a:rPr>
              <a:t>cos</a:t>
            </a:r>
            <a:r>
              <a:rPr lang="en-US" altLang="zh-CN" sz="2400" b="1" dirty="0">
                <a:solidFill>
                  <a:srgbClr val="000000"/>
                </a:solidFill>
                <a:ea typeface="+mj-ea"/>
              </a:rPr>
              <a:t>(" &lt;&lt; angle &lt;&lt; ") = " &lt;&lt; </a:t>
            </a:r>
            <a:r>
              <a:rPr lang="en-US" altLang="zh-CN" sz="2400" b="1" dirty="0" err="1">
                <a:solidFill>
                  <a:srgbClr val="000000"/>
                </a:solidFill>
                <a:ea typeface="+mj-ea"/>
              </a:rPr>
              <a:t>cos</a:t>
            </a:r>
            <a:r>
              <a:rPr lang="en-US" altLang="zh-CN" sz="2400" b="1" dirty="0">
                <a:solidFill>
                  <a:srgbClr val="000000"/>
                </a:solidFill>
                <a:ea typeface="+mj-ea"/>
              </a:rPr>
              <a:t>(radian) &lt;&lt;</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"tan(" &lt;&lt; angle &lt;&lt; ") = " &lt;&lt; tan(radian) &lt;&lt;</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	return 0;</a:t>
            </a:r>
            <a:endParaRPr lang="en-US" altLang="zh-CN" sz="2400" b="1" dirty="0">
              <a:solidFill>
                <a:srgbClr val="000000"/>
              </a:solidFill>
              <a:ea typeface="+mj-ea"/>
            </a:endParaRPr>
          </a:p>
          <a:p>
            <a:pPr marL="365760" indent="-255905" fontAlgn="auto">
              <a:spcBef>
                <a:spcPts val="0"/>
              </a:spcBef>
              <a:buClr>
                <a:schemeClr val="accent3"/>
              </a:buClr>
              <a:buNone/>
            </a:pPr>
            <a:r>
              <a:rPr lang="en-US" altLang="zh-CN" sz="2400" b="1" dirty="0">
                <a:solidFill>
                  <a:srgbClr val="000000"/>
                </a:solidFill>
                <a:ea typeface="+mj-ea"/>
              </a:rPr>
              <a:t>}</a:t>
            </a:r>
            <a:endParaRPr lang="en-US" altLang="zh-CN" sz="2400" b="1" dirty="0">
              <a:solidFill>
                <a:srgbClr val="000000"/>
              </a:solidFill>
              <a:ea typeface="+mj-ea"/>
            </a:endParaRPr>
          </a:p>
        </p:txBody>
      </p:sp>
      <p:sp>
        <p:nvSpPr>
          <p:cNvPr id="78853" name="Text Box 4"/>
          <p:cNvSpPr txBox="1">
            <a:spLocks noChangeArrowheads="1"/>
          </p:cNvSpPr>
          <p:nvPr/>
        </p:nvSpPr>
        <p:spPr bwMode="auto">
          <a:xfrm>
            <a:off x="6557963" y="571500"/>
            <a:ext cx="2514600" cy="2234458"/>
          </a:xfrm>
          <a:prstGeom prst="rect">
            <a:avLst/>
          </a:prstGeom>
          <a:solidFill>
            <a:srgbClr val="000000"/>
          </a:solidFill>
          <a:ln w="12700" cap="sq">
            <a:noFill/>
            <a:miter lim="800000"/>
            <a:headEnd type="none" w="sm" len="sm"/>
            <a:tailEnd type="none" w="sm" len="sm"/>
          </a:ln>
        </p:spPr>
        <p:txBody>
          <a:bodyPr wrap="square">
            <a:spAutoFit/>
          </a:bodyPr>
          <a:lstStyle>
            <a:defPPr>
              <a:defRPr lang="zh-CN"/>
            </a:defPPr>
            <a:lvl1pPr marL="342900" indent="-342900" algn="l">
              <a:spcBef>
                <a:spcPct val="20000"/>
              </a:spcBef>
              <a:buClr>
                <a:schemeClr val="accent2"/>
              </a:buClr>
              <a:buSzPct val="80000"/>
              <a:buFont typeface="Wingdings" panose="05000000000000000000" pitchFamily="2" charset="2"/>
              <a:buNone/>
              <a:defRPr b="1">
                <a:latin typeface="+mn-lt"/>
                <a:ea typeface="+mj-ea"/>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运行结果：</a:t>
            </a:r>
            <a:endParaRPr lang="zh-CN" altLang="en-US" dirty="0"/>
          </a:p>
          <a:p>
            <a:r>
              <a:rPr lang="en-US" altLang="zh-CN" dirty="0"/>
              <a:t>30</a:t>
            </a:r>
            <a:endParaRPr lang="en-US" altLang="zh-CN" dirty="0"/>
          </a:p>
          <a:p>
            <a:r>
              <a:rPr lang="en-US" altLang="zh-CN" dirty="0"/>
              <a:t>sin(30)=0.5</a:t>
            </a:r>
            <a:endParaRPr lang="en-US" altLang="zh-CN" dirty="0"/>
          </a:p>
          <a:p>
            <a:r>
              <a:rPr lang="en-US" altLang="zh-CN" dirty="0"/>
              <a:t>cos(30)=0.866025</a:t>
            </a:r>
            <a:endParaRPr lang="en-US" altLang="zh-CN" dirty="0"/>
          </a:p>
          <a:p>
            <a:r>
              <a:rPr lang="en-US" altLang="zh-CN" dirty="0"/>
              <a:t>tan(30)=0.57735</a:t>
            </a:r>
            <a:endParaRPr lang="en-US" altLang="zh-CN" dirty="0"/>
          </a:p>
        </p:txBody>
      </p:sp>
      <p:sp>
        <p:nvSpPr>
          <p:cNvPr id="78854" name="标题 1"/>
          <p:cNvSpPr>
            <a:spLocks noGrp="1"/>
          </p:cNvSpPr>
          <p:nvPr>
            <p:ph type="title"/>
          </p:nvPr>
        </p:nvSpPr>
        <p:spPr>
          <a:xfrm>
            <a:off x="6156176" y="6191587"/>
            <a:ext cx="2928937" cy="693797"/>
          </a:xfrm>
          <a:solidFill>
            <a:schemeClr val="bg1"/>
          </a:solidFill>
        </p:spPr>
        <p:txBody>
          <a:bodyPr/>
          <a:lstStyle/>
          <a:p>
            <a:pPr eaLnBrk="1" hangingPunct="1"/>
            <a:r>
              <a:rPr lang="zh-CN" altLang="en-US" smtClean="0"/>
              <a:t>例</a:t>
            </a:r>
            <a:r>
              <a:rPr lang="en-US" altLang="zh-CN" smtClean="0"/>
              <a:t>3-17</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标准函数与非标准函数</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9875" name="内容占位符 2"/>
          <p:cNvSpPr>
            <a:spLocks noGrp="1"/>
          </p:cNvSpPr>
          <p:nvPr>
            <p:ph idx="1"/>
          </p:nvPr>
        </p:nvSpPr>
        <p:spPr>
          <a:xfrm>
            <a:off x="611560" y="1484784"/>
            <a:ext cx="7886700" cy="4351338"/>
          </a:xfrm>
        </p:spPr>
        <p:txBody>
          <a:bodyPr/>
          <a:lstStyle/>
          <a:p>
            <a:pPr eaLnBrk="1" hangingPunct="1"/>
            <a:r>
              <a:rPr lang="zh-CN" altLang="en-US" sz="2800" b="1" dirty="0">
                <a:latin typeface="微软雅黑" panose="020B0503020204020204" pitchFamily="34" charset="-122"/>
                <a:ea typeface="微软雅黑" panose="020B0503020204020204" pitchFamily="34" charset="-122"/>
              </a:rPr>
              <a:t>标准</a:t>
            </a:r>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函数</a:t>
            </a:r>
            <a:endParaRPr lang="en-US" altLang="zh-CN" sz="2800"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en-US" altLang="zh-CN" b="1" dirty="0">
                <a:solidFill>
                  <a:srgbClr val="FFFF00"/>
                </a:solidFill>
                <a:latin typeface="微软雅黑" panose="020B0503020204020204" pitchFamily="34" charset="-122"/>
                <a:ea typeface="微软雅黑" panose="020B0503020204020204" pitchFamily="34" charset="-122"/>
              </a:rPr>
              <a:t>C++</a:t>
            </a:r>
            <a:r>
              <a:rPr lang="zh-CN" altLang="en-US" b="1" dirty="0">
                <a:solidFill>
                  <a:srgbClr val="FFFF00"/>
                </a:solidFill>
                <a:latin typeface="微软雅黑" panose="020B0503020204020204" pitchFamily="34" charset="-122"/>
                <a:ea typeface="微软雅黑" panose="020B0503020204020204" pitchFamily="34" charset="-122"/>
              </a:rPr>
              <a:t>标准中规定的函数</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各种编译环境普遍支持，因此用标准函数的程序移植性好；</a:t>
            </a:r>
            <a:endParaRPr lang="en-US" altLang="zh-CN"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很多标准</a:t>
            </a:r>
            <a:r>
              <a:rPr lang="en-US" altLang="zh-CN" b="1" dirty="0">
                <a:latin typeface="微软雅黑" panose="020B0503020204020204" pitchFamily="34" charset="-122"/>
                <a:ea typeface="微软雅黑" panose="020B0503020204020204" pitchFamily="34" charset="-122"/>
              </a:rPr>
              <a:t>C++</a:t>
            </a:r>
            <a:r>
              <a:rPr lang="zh-CN" altLang="en-US" b="1" dirty="0">
                <a:latin typeface="微软雅黑" panose="020B0503020204020204" pitchFamily="34" charset="-122"/>
                <a:ea typeface="微软雅黑" panose="020B0503020204020204" pitchFamily="34" charset="-122"/>
              </a:rPr>
              <a:t>函数继承自标准</a:t>
            </a:r>
            <a:r>
              <a:rPr lang="en-US" altLang="zh-CN" b="1" dirty="0">
                <a:latin typeface="微软雅黑" panose="020B0503020204020204" pitchFamily="34" charset="-122"/>
                <a:ea typeface="微软雅黑" panose="020B0503020204020204" pitchFamily="34" charset="-122"/>
              </a:rPr>
              <a:t>C</a:t>
            </a:r>
            <a:r>
              <a:rPr lang="zh-CN" altLang="en-US" b="1" dirty="0">
                <a:latin typeface="微软雅黑" panose="020B0503020204020204" pitchFamily="34" charset="-122"/>
                <a:ea typeface="微软雅黑" panose="020B0503020204020204" pitchFamily="34" charset="-122"/>
              </a:rPr>
              <a:t>，头文件以</a:t>
            </a:r>
            <a:r>
              <a:rPr lang="en-US" altLang="zh-CN" b="1" dirty="0">
                <a:latin typeface="微软雅黑" panose="020B0503020204020204" pitchFamily="34" charset="-122"/>
                <a:ea typeface="微软雅黑" panose="020B0503020204020204" pitchFamily="34" charset="-122"/>
              </a:rPr>
              <a:t>c</a:t>
            </a:r>
            <a:r>
              <a:rPr lang="zh-CN" altLang="en-US" b="1" dirty="0">
                <a:latin typeface="微软雅黑" panose="020B0503020204020204" pitchFamily="34" charset="-122"/>
                <a:ea typeface="微软雅黑" panose="020B0503020204020204" pitchFamily="34" charset="-122"/>
              </a:rPr>
              <a:t>开头：</a:t>
            </a:r>
            <a:r>
              <a:rPr lang="en-US" altLang="zh-CN" b="1" dirty="0" err="1">
                <a:latin typeface="微软雅黑" panose="020B0503020204020204" pitchFamily="34" charset="-122"/>
                <a:ea typeface="微软雅黑" panose="020B0503020204020204" pitchFamily="34" charset="-122"/>
              </a:rPr>
              <a:t>cmath</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cstdlib</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cstdio</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ctime</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eaLnBrk="1" hangingPunct="1"/>
            <a:r>
              <a:rPr lang="zh-CN" altLang="en-US" sz="2800" b="1" dirty="0">
                <a:latin typeface="微软雅黑" panose="020B0503020204020204" pitchFamily="34" charset="-122"/>
                <a:ea typeface="微软雅黑" panose="020B0503020204020204" pitchFamily="34" charset="-122"/>
              </a:rPr>
              <a:t>非标准</a:t>
            </a:r>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函数</a:t>
            </a:r>
            <a:endParaRPr lang="en-US" altLang="zh-CN" sz="2800"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与特定操作系统或编译环境相关；</a:t>
            </a:r>
            <a:endParaRPr lang="en-US" altLang="zh-CN"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在处理和操作系统相关事务时常常需要调用</a:t>
            </a:r>
            <a:r>
              <a:rPr lang="zh-CN" altLang="en-US" b="1" dirty="0" smtClean="0">
                <a:latin typeface="微软雅黑" panose="020B0503020204020204" pitchFamily="34" charset="-122"/>
                <a:ea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查找系统函数的使用说明</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80899" name="内容占位符 2"/>
          <p:cNvSpPr>
            <a:spLocks noGrp="1"/>
          </p:cNvSpPr>
          <p:nvPr>
            <p:ph idx="1"/>
          </p:nvPr>
        </p:nvSpPr>
        <p:spPr>
          <a:xfrm>
            <a:off x="683568" y="1628800"/>
            <a:ext cx="7886700" cy="4351338"/>
          </a:xfrm>
        </p:spPr>
        <p:txBody>
          <a:bodyPr/>
          <a:lstStyle/>
          <a:p>
            <a:pPr eaLnBrk="1" hangingPunct="1">
              <a:lnSpc>
                <a:spcPct val="95000"/>
              </a:lnSpc>
              <a:spcBef>
                <a:spcPct val="10000"/>
              </a:spcBef>
            </a:pPr>
            <a:r>
              <a:rPr lang="zh-CN" altLang="en-US" sz="2400" b="1" dirty="0">
                <a:latin typeface="微软雅黑" panose="020B0503020204020204" pitchFamily="34" charset="-122"/>
                <a:ea typeface="微软雅黑" panose="020B0503020204020204" pitchFamily="34" charset="-122"/>
              </a:rPr>
              <a:t>查编译系统的库函数手册</a:t>
            </a:r>
            <a:endParaRPr lang="zh-CN" altLang="en-US" sz="2400" b="1" dirty="0">
              <a:latin typeface="微软雅黑" panose="020B0503020204020204" pitchFamily="34" charset="-122"/>
              <a:ea typeface="微软雅黑" panose="020B0503020204020204" pitchFamily="34" charset="-122"/>
            </a:endParaRPr>
          </a:p>
          <a:p>
            <a:pPr eaLnBrk="1" hangingPunct="1">
              <a:lnSpc>
                <a:spcPct val="95000"/>
              </a:lnSpc>
              <a:spcBef>
                <a:spcPct val="10000"/>
              </a:spcBef>
            </a:pPr>
            <a:r>
              <a:rPr lang="zh-CN" altLang="en-US" sz="2400" b="1" dirty="0">
                <a:latin typeface="微软雅黑" panose="020B0503020204020204" pitchFamily="34" charset="-122"/>
                <a:ea typeface="微软雅黑" panose="020B0503020204020204" pitchFamily="34" charset="-122"/>
              </a:rPr>
              <a:t>查联机帮助</a:t>
            </a:r>
            <a:r>
              <a:rPr lang="en-US" altLang="zh-CN" sz="2400" b="1" dirty="0">
                <a:latin typeface="微软雅黑" panose="020B0503020204020204" pitchFamily="34" charset="-122"/>
                <a:ea typeface="微软雅黑" panose="020B0503020204020204" pitchFamily="34" charset="-122"/>
              </a:rPr>
              <a:t>——Visual C++.NET 2008</a:t>
            </a:r>
            <a:r>
              <a:rPr lang="zh-CN" altLang="en-US" sz="2400" b="1" dirty="0">
                <a:latin typeface="微软雅黑" panose="020B0503020204020204" pitchFamily="34" charset="-122"/>
                <a:ea typeface="微软雅黑" panose="020B0503020204020204" pitchFamily="34" charset="-122"/>
              </a:rPr>
              <a:t>联机帮助的使用方法：</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95000"/>
              </a:lnSpc>
              <a:spcBef>
                <a:spcPct val="10000"/>
              </a:spcBef>
              <a:buFontTx/>
              <a:buNone/>
            </a:pPr>
            <a:r>
              <a:rPr sz="2400" b="1" dirty="0">
                <a:solidFill>
                  <a:srgbClr val="FFFF00"/>
                </a:solidFill>
                <a:latin typeface="微软雅黑" panose="020B0503020204020204" pitchFamily="34" charset="-122"/>
                <a:ea typeface="微软雅黑" panose="020B0503020204020204" pitchFamily="34" charset="-122"/>
              </a:rPr>
              <a:t>https://zh.cppreference.com/w/%E9%A6%96%E9%A1%B5</a:t>
            </a:r>
            <a:endParaRPr sz="2400" b="1" dirty="0">
              <a:solidFill>
                <a:srgbClr val="FFFF00"/>
              </a:solidFill>
              <a:latin typeface="微软雅黑" panose="020B0503020204020204" pitchFamily="34" charset="-122"/>
              <a:ea typeface="微软雅黑" panose="020B0503020204020204" pitchFamily="34" charset="-122"/>
            </a:endParaRPr>
          </a:p>
          <a:p>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772816"/>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7"/>
            </a:pPr>
            <a:r>
              <a:rPr lang="en-US" altLang="zh-CN" sz="5800" b="1" dirty="0" smtClean="0">
                <a:ea typeface="华文彩云" panose="02010800040101010101" pitchFamily="2" charset="-122"/>
              </a:rPr>
              <a:t>  </a:t>
            </a:r>
            <a:r>
              <a:rPr lang="zh-CN" altLang="en-US" sz="5800" b="1" dirty="0" smtClean="0">
                <a:ea typeface="华文彩云" panose="02010800040101010101" pitchFamily="2" charset="-122"/>
              </a:rPr>
              <a:t>深度探索</a:t>
            </a:r>
            <a:endParaRPr lang="zh-CN" altLang="en-US"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p:txBody>
          <a:bodyPr/>
          <a:lstStyle/>
          <a:p>
            <a:pPr eaLnBrk="1" hangingPunct="1">
              <a:lnSpc>
                <a:spcPct val="120000"/>
              </a:lnSpc>
            </a:pPr>
            <a:r>
              <a:rPr lang="zh-CN" altLang="en-US" sz="2800" b="1" dirty="0" smtClean="0">
                <a:latin typeface="微软雅黑" panose="020B0503020204020204" pitchFamily="34" charset="-122"/>
                <a:ea typeface="微软雅黑" panose="020B0503020204020204" pitchFamily="34" charset="-122"/>
              </a:rPr>
              <a:t>什么是栈？一种后进先出的数据结构</a:t>
            </a:r>
            <a:endParaRPr lang="zh-CN" altLang="en-US" dirty="0" smtClean="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2483768" y="4221088"/>
          <a:ext cx="3647728" cy="1483360"/>
        </p:xfrm>
        <a:graphic>
          <a:graphicData uri="http://schemas.openxmlformats.org/drawingml/2006/table">
            <a:tbl>
              <a:tblPr firstRow="1" bandRow="1">
                <a:tableStyleId>{5C22544A-7EE6-4342-B048-85BDC9FD1C3A}</a:tableStyleId>
              </a:tblPr>
              <a:tblGrid>
                <a:gridCol w="3647728"/>
              </a:tblGrid>
              <a:tr h="370840">
                <a:tc>
                  <a:txBody>
                    <a:bodyPr/>
                    <a:lstStyle/>
                    <a:p>
                      <a:pPr algn="ctr"/>
                      <a:r>
                        <a:rPr lang="en-US" altLang="zh-CN" dirty="0" smtClean="0">
                          <a:solidFill>
                            <a:schemeClr val="tx1"/>
                          </a:solidFill>
                        </a:rPr>
                        <a:t>a</a:t>
                      </a:r>
                      <a:r>
                        <a:rPr lang="en-US" altLang="zh-CN" baseline="-25000" dirty="0" smtClean="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a</a:t>
                      </a:r>
                      <a:r>
                        <a:rPr lang="en-US" altLang="zh-CN" baseline="-25000" dirty="0" smtClean="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a</a:t>
                      </a:r>
                      <a:r>
                        <a:rPr lang="en-US" altLang="zh-CN" baseline="-25000" dirty="0" smtClean="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4" name="直接连接符 3"/>
          <p:cNvCxnSpPr/>
          <p:nvPr/>
        </p:nvCxnSpPr>
        <p:spPr bwMode="auto">
          <a:xfrm>
            <a:off x="2483768" y="3284984"/>
            <a:ext cx="0" cy="15121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6127601" y="3304034"/>
            <a:ext cx="0" cy="15121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肘形连接符 5"/>
          <p:cNvCxnSpPr/>
          <p:nvPr/>
        </p:nvCxnSpPr>
        <p:spPr bwMode="auto">
          <a:xfrm>
            <a:off x="1619672" y="2852936"/>
            <a:ext cx="1512168" cy="720080"/>
          </a:xfrm>
          <a:prstGeom prst="bentConnector3">
            <a:avLst>
              <a:gd name="adj1" fmla="val 9976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肘形连接符 11"/>
          <p:cNvCxnSpPr/>
          <p:nvPr/>
        </p:nvCxnSpPr>
        <p:spPr bwMode="auto">
          <a:xfrm flipV="1">
            <a:off x="4932040" y="2780928"/>
            <a:ext cx="1440160" cy="864096"/>
          </a:xfrm>
          <a:prstGeom prst="bentConnector3">
            <a:avLst>
              <a:gd name="adj1" fmla="val 396"/>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本框 13"/>
          <p:cNvSpPr txBox="1"/>
          <p:nvPr/>
        </p:nvSpPr>
        <p:spPr bwMode="auto">
          <a:xfrm>
            <a:off x="1763688" y="2428201"/>
            <a:ext cx="1025202" cy="4174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压入栈</a:t>
            </a:r>
            <a:endParaRPr lang="zh-CN" altLang="en-US" sz="1600" dirty="0" smtClean="0"/>
          </a:p>
        </p:txBody>
      </p:sp>
      <p:sp>
        <p:nvSpPr>
          <p:cNvPr id="17" name="文本框 16"/>
          <p:cNvSpPr txBox="1"/>
          <p:nvPr/>
        </p:nvSpPr>
        <p:spPr bwMode="auto">
          <a:xfrm>
            <a:off x="5084912" y="2413008"/>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弹出栈</a:t>
            </a:r>
            <a:endParaRPr lang="zh-CN" altLang="en-US" sz="1600" dirty="0" smtClean="0"/>
          </a:p>
        </p:txBody>
      </p:sp>
      <p:cxnSp>
        <p:nvCxnSpPr>
          <p:cNvPr id="16" name="直接箭头连接符 15"/>
          <p:cNvCxnSpPr/>
          <p:nvPr/>
        </p:nvCxnSpPr>
        <p:spPr bwMode="auto">
          <a:xfrm flipH="1">
            <a:off x="6372200" y="4365104"/>
            <a:ext cx="79208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flipH="1">
            <a:off x="6372200" y="5517232"/>
            <a:ext cx="79208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文本框 20"/>
          <p:cNvSpPr txBox="1"/>
          <p:nvPr/>
        </p:nvSpPr>
        <p:spPr bwMode="auto">
          <a:xfrm>
            <a:off x="7301583" y="4221088"/>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22" name="文本框 21"/>
          <p:cNvSpPr txBox="1"/>
          <p:nvPr/>
        </p:nvSpPr>
        <p:spPr bwMode="auto">
          <a:xfrm>
            <a:off x="7301583" y="5238638"/>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栈底</a:t>
            </a:r>
            <a:endParaRPr lang="zh-CN" altLang="en-US" sz="1600" dirty="0" smtClean="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p:txBody>
          <a:bodyPr/>
          <a:lstStyle/>
          <a:p>
            <a:pPr eaLnBrk="1" hangingPunct="1">
              <a:lnSpc>
                <a:spcPct val="120000"/>
              </a:lnSpc>
            </a:pPr>
            <a:r>
              <a:rPr lang="zh-CN" altLang="en-US" sz="2800" b="1" dirty="0" smtClean="0">
                <a:latin typeface="微软雅黑" panose="020B0503020204020204" pitchFamily="34" charset="-122"/>
                <a:ea typeface="微软雅黑" panose="020B0503020204020204" pitchFamily="34" charset="-122"/>
              </a:rPr>
              <a:t>运行栈</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一段区域的内存空间，与存储全局变量的空间无异，只是寻址方式不同</a:t>
            </a:r>
            <a:endParaRPr lang="en-US" altLang="zh-CN" sz="2800" b="1"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运行栈中的数据分为一个一个栈帧</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每个栈帧对应一次函数调用，其中包含这次函数调用中的形参值、一些控制信息、局部变量值、一些临时数据（例如赋值表达式计算的中间值、某些函数的返回值）</a:t>
            </a:r>
            <a:endParaRPr lang="zh-CN" altLang="en-US"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a:lstStyle/>
          <a:p>
            <a:pPr eaLnBrk="1" hangingPunct="1"/>
            <a:r>
              <a:rPr lang="zh-CN" altLang="en-US" smtClean="0"/>
              <a:t>例</a:t>
            </a:r>
            <a:r>
              <a:rPr lang="en-US" altLang="zh-CN" smtClean="0"/>
              <a:t>3-8 </a:t>
            </a:r>
            <a:r>
              <a:rPr lang="zh-CN" altLang="en-US" smtClean="0"/>
              <a:t>求</a:t>
            </a:r>
            <a:r>
              <a:rPr lang="en-US" altLang="zh-CN" smtClean="0"/>
              <a:t>n!</a:t>
            </a:r>
            <a:endParaRPr lang="zh-CN" altLang="en-US" smtClean="0"/>
          </a:p>
        </p:txBody>
      </p:sp>
      <p:sp>
        <p:nvSpPr>
          <p:cNvPr id="3" name="内容占位符 2"/>
          <p:cNvSpPr>
            <a:spLocks noGrp="1"/>
          </p:cNvSpPr>
          <p:nvPr>
            <p:ph idx="1"/>
          </p:nvPr>
        </p:nvSpPr>
        <p:spPr>
          <a:xfrm>
            <a:off x="611560" y="1700808"/>
            <a:ext cx="7886700" cy="4351338"/>
          </a:xfrm>
        </p:spPr>
        <p:txBody>
          <a:bodyPr/>
          <a:lstStyle/>
          <a:p>
            <a:pPr marL="0" indent="0" eaLnBrk="1" hangingPunct="1">
              <a:buFont typeface="Wingdings" panose="05000000000000000000" pitchFamily="2" charset="2"/>
              <a:buNone/>
              <a:defRPr/>
            </a:pPr>
            <a:r>
              <a:rPr lang="zh-CN" altLang="en-US" sz="2800" b="1" dirty="0" smtClean="0">
                <a:latin typeface="微软雅黑" panose="020B0503020204020204" pitchFamily="34" charset="-122"/>
                <a:ea typeface="微软雅黑" panose="020B0503020204020204" pitchFamily="34" charset="-122"/>
              </a:rPr>
              <a:t>分析：计算</a:t>
            </a:r>
            <a:r>
              <a:rPr lang="en-US" altLang="zh-CN" sz="2800" b="1" i="1" dirty="0" smtClean="0">
                <a:latin typeface="微软雅黑" panose="020B0503020204020204" pitchFamily="34" charset="-122"/>
                <a:ea typeface="微软雅黑" panose="020B0503020204020204" pitchFamily="34" charset="-122"/>
              </a:rPr>
              <a:t>n</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的公式如下：</a:t>
            </a: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457200" eaLnBrk="1" hangingPunct="1">
              <a:buFont typeface="Wingdings" panose="05000000000000000000" pitchFamily="2" charset="2"/>
              <a:buNone/>
              <a:defRPr/>
            </a:pPr>
            <a:endParaRPr lang="zh-CN" altLang="en-US" sz="2800" b="1" dirty="0" smtClean="0">
              <a:latin typeface="微软雅黑" panose="020B0503020204020204" pitchFamily="34" charset="-122"/>
              <a:ea typeface="微软雅黑" panose="020B0503020204020204" pitchFamily="34" charset="-122"/>
            </a:endParaRPr>
          </a:p>
          <a:p>
            <a:pPr marL="0" indent="0" eaLnBrk="1" hangingPunct="1">
              <a:buFont typeface="Wingdings" panose="05000000000000000000" pitchFamily="2" charset="2"/>
              <a:buNone/>
              <a:defRPr/>
            </a:pPr>
            <a:r>
              <a:rPr lang="zh-CN" altLang="en-US" sz="2800" b="1" dirty="0" smtClean="0">
                <a:latin typeface="微软雅黑" panose="020B0503020204020204" pitchFamily="34" charset="-122"/>
                <a:ea typeface="微软雅黑" panose="020B0503020204020204" pitchFamily="34" charset="-122"/>
              </a:rPr>
              <a:t>这是一个递归形式的公式，应该用递归函数实现。</a:t>
            </a:r>
            <a:endParaRPr lang="zh-CN" altLang="en-US" sz="2800" b="1" dirty="0" smtClean="0">
              <a:latin typeface="微软雅黑" panose="020B0503020204020204" pitchFamily="34" charset="-122"/>
              <a:ea typeface="微软雅黑" panose="020B0503020204020204" pitchFamily="34" charset="-122"/>
            </a:endParaRPr>
          </a:p>
          <a:p>
            <a:pPr eaLnBrk="1" hangingPunct="1">
              <a:defRPr/>
            </a:pPr>
            <a:endParaRPr lang="zh-CN" altLang="en-US" sz="2800" b="1" dirty="0">
              <a:latin typeface="微软雅黑" panose="020B0503020204020204" pitchFamily="34" charset="-122"/>
              <a:ea typeface="微软雅黑" panose="020B0503020204020204" pitchFamily="34" charset="-122"/>
            </a:endParaRPr>
          </a:p>
        </p:txBody>
      </p:sp>
      <p:graphicFrame>
        <p:nvGraphicFramePr>
          <p:cNvPr id="3074" name="Object 2"/>
          <p:cNvGraphicFramePr>
            <a:graphicFrameLocks noChangeAspect="1"/>
          </p:cNvGraphicFramePr>
          <p:nvPr/>
        </p:nvGraphicFramePr>
        <p:xfrm>
          <a:off x="2714625" y="2357438"/>
          <a:ext cx="3945607" cy="1300162"/>
        </p:xfrm>
        <a:graphic>
          <a:graphicData uri="http://schemas.openxmlformats.org/presentationml/2006/ole">
            <mc:AlternateContent xmlns:mc="http://schemas.openxmlformats.org/markup-compatibility/2006">
              <mc:Choice xmlns:v="urn:schemas-microsoft-com:vml" Requires="v">
                <p:oleObj spid="_x0000_s623649" name="Equation" r:id="rId1" imgW="1435100" imgH="457200" progId="Equation.DSMT4">
                  <p:embed/>
                </p:oleObj>
              </mc:Choice>
              <mc:Fallback>
                <p:oleObj name="Equation" r:id="rId1" imgW="1435100" imgH="457200" progId="Equation.DSMT4">
                  <p:embed/>
                  <p:pic>
                    <p:nvPicPr>
                      <p:cNvPr id="0" name="图片 6236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2357438"/>
                        <a:ext cx="3945607" cy="1300162"/>
                      </a:xfrm>
                      <a:prstGeom prst="rect">
                        <a:avLst/>
                      </a:prstGeom>
                      <a:solidFill>
                        <a:schemeClr val="tx1"/>
                      </a:solid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71500"/>
            <a:ext cx="8929688" cy="6073775"/>
          </a:xfrm>
          <a:solidFill>
            <a:schemeClr val="tx1"/>
          </a:solidFill>
        </p:spPr>
        <p:txBody>
          <a:bodyPr>
            <a:noAutofit/>
          </a:bodyPr>
          <a:lstStyle/>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#include &lt;</a:t>
            </a:r>
            <a:r>
              <a:rPr lang="en-US" altLang="zh-CN" sz="2400" b="1" dirty="0" err="1" smtClean="0">
                <a:solidFill>
                  <a:srgbClr val="000000"/>
                </a:solidFill>
                <a:latin typeface="微软雅黑" panose="020B0503020204020204" pitchFamily="34" charset="-122"/>
                <a:ea typeface="微软雅黑" panose="020B0503020204020204" pitchFamily="34" charset="-122"/>
              </a:rPr>
              <a:t>iostream</a:t>
            </a:r>
            <a:r>
              <a:rPr lang="en-US" altLang="zh-CN" sz="2400" b="1" dirty="0" smtClean="0">
                <a:solidFill>
                  <a:srgbClr val="000000"/>
                </a:solidFill>
                <a:latin typeface="微软雅黑" panose="020B0503020204020204" pitchFamily="34" charset="-122"/>
                <a:ea typeface="微软雅黑" panose="020B0503020204020204" pitchFamily="34" charset="-122"/>
              </a:rPr>
              <a:t>&gt;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using namespace std;</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unsigned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(int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f;</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if </a:t>
            </a:r>
            <a:r>
              <a:rPr lang="en-US" altLang="zh-CN" sz="2400" b="1" dirty="0" smtClean="0">
                <a:solidFill>
                  <a:srgbClr val="3333FF"/>
                </a:solidFill>
                <a:latin typeface="微软雅黑" panose="020B0503020204020204" pitchFamily="34" charset="-122"/>
                <a:ea typeface="微软雅黑" panose="020B0503020204020204" pitchFamily="34" charset="-122"/>
              </a:rPr>
              <a:t>(n == 0)  </a:t>
            </a:r>
            <a:r>
              <a:rPr lang="en-US" altLang="zh-CN" sz="2400" b="1" dirty="0" smtClean="0">
                <a:solidFill>
                  <a:srgbClr val="000000"/>
                </a:solidFill>
                <a:latin typeface="微软雅黑" panose="020B0503020204020204" pitchFamily="34" charset="-122"/>
                <a:ea typeface="微软雅黑" panose="020B0503020204020204" pitchFamily="34" charset="-122"/>
              </a:rPr>
              <a:t>f = 1;</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else	  f =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(n - 1) *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return f;</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int main() {</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cout</a:t>
            </a:r>
            <a:r>
              <a:rPr lang="en-US" altLang="zh-CN" sz="2400" b="1" dirty="0" smtClean="0">
                <a:solidFill>
                  <a:srgbClr val="000000"/>
                </a:solidFill>
                <a:latin typeface="微软雅黑" panose="020B0503020204020204" pitchFamily="34" charset="-122"/>
                <a:ea typeface="微软雅黑" panose="020B0503020204020204" pitchFamily="34" charset="-122"/>
              </a:rPr>
              <a:t> &lt;&lt; "Enter a positive integer:";</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cin</a:t>
            </a:r>
            <a:r>
              <a:rPr lang="en-US" altLang="zh-CN" sz="2400" b="1" dirty="0" smtClean="0">
                <a:solidFill>
                  <a:srgbClr val="000000"/>
                </a:solidFill>
                <a:latin typeface="微软雅黑" panose="020B0503020204020204" pitchFamily="34" charset="-122"/>
                <a:ea typeface="微软雅黑" panose="020B0503020204020204" pitchFamily="34" charset="-122"/>
              </a:rPr>
              <a:t> &gt;&gt; 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unsigned y = </a:t>
            </a:r>
            <a:r>
              <a:rPr lang="en-US" altLang="zh-CN" sz="2400" b="1" dirty="0" err="1" smtClean="0">
                <a:solidFill>
                  <a:srgbClr val="000000"/>
                </a:solidFill>
                <a:latin typeface="微软雅黑" panose="020B0503020204020204" pitchFamily="34" charset="-122"/>
                <a:ea typeface="微软雅黑" panose="020B0503020204020204" pitchFamily="34" charset="-122"/>
              </a:rPr>
              <a:t>fac</a:t>
            </a:r>
            <a:r>
              <a:rPr lang="en-US" altLang="zh-CN" sz="2400" b="1" dirty="0" smtClean="0">
                <a:solidFill>
                  <a:srgbClr val="000000"/>
                </a:solidFill>
                <a:latin typeface="微软雅黑" panose="020B0503020204020204" pitchFamily="34" charset="-122"/>
                <a:ea typeface="微软雅黑" panose="020B0503020204020204" pitchFamily="34" charset="-122"/>
              </a:rPr>
              <a:t>(n);</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en-US" altLang="zh-CN" sz="2400" b="1" dirty="0" err="1" smtClean="0">
                <a:solidFill>
                  <a:srgbClr val="000000"/>
                </a:solidFill>
                <a:latin typeface="微软雅黑" panose="020B0503020204020204" pitchFamily="34" charset="-122"/>
                <a:ea typeface="微软雅黑" panose="020B0503020204020204" pitchFamily="34" charset="-122"/>
              </a:rPr>
              <a:t>cout</a:t>
            </a:r>
            <a:r>
              <a:rPr lang="en-US" altLang="zh-CN" sz="2400" b="1" dirty="0" smtClean="0">
                <a:solidFill>
                  <a:srgbClr val="000000"/>
                </a:solidFill>
                <a:latin typeface="微软雅黑" panose="020B0503020204020204" pitchFamily="34" charset="-122"/>
                <a:ea typeface="微软雅黑" panose="020B0503020204020204" pitchFamily="34" charset="-122"/>
              </a:rPr>
              <a:t> &lt;&lt; n &lt;&lt; "! = " &lt;&lt; y &lt;&lt; </a:t>
            </a:r>
            <a:r>
              <a:rPr lang="en-US" altLang="zh-CN" sz="2400" b="1" dirty="0" err="1" smtClean="0">
                <a:solidFill>
                  <a:srgbClr val="000000"/>
                </a:solidFill>
                <a:latin typeface="微软雅黑" panose="020B0503020204020204" pitchFamily="34" charset="-122"/>
                <a:ea typeface="微软雅黑" panose="020B0503020204020204" pitchFamily="34" charset="-122"/>
              </a:rPr>
              <a:t>endl</a:t>
            </a: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	return 0;</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marL="365760" indent="-255905" fontAlgn="auto">
              <a:spcBef>
                <a:spcPts val="0"/>
              </a:spcBef>
              <a:buClr>
                <a:schemeClr val="accent3"/>
              </a:buClr>
              <a:buNone/>
              <a:defRPr/>
            </a:pP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en-US" altLang="zh-CN" sz="2400" b="1" dirty="0" smtClean="0">
              <a:solidFill>
                <a:srgbClr val="000000"/>
              </a:solidFill>
              <a:latin typeface="微软雅黑" panose="020B0503020204020204" pitchFamily="34" charset="-122"/>
              <a:ea typeface="微软雅黑" panose="020B0503020204020204" pitchFamily="34" charset="-122"/>
            </a:endParaRPr>
          </a:p>
        </p:txBody>
      </p:sp>
      <p:sp>
        <p:nvSpPr>
          <p:cNvPr id="45061" name="Text Box 4"/>
          <p:cNvSpPr txBox="1">
            <a:spLocks noChangeArrowheads="1"/>
          </p:cNvSpPr>
          <p:nvPr/>
        </p:nvSpPr>
        <p:spPr bwMode="auto">
          <a:xfrm>
            <a:off x="6715125" y="5335588"/>
            <a:ext cx="2357438" cy="1421928"/>
          </a:xfrm>
          <a:prstGeom prst="rect">
            <a:avLst/>
          </a:prstGeom>
          <a:solidFill>
            <a:srgbClr val="000000"/>
          </a:solidFill>
          <a:ln w="12700" cap="sq">
            <a:noFill/>
            <a:miter lim="800000"/>
            <a:headEnd type="none" w="sm" len="sm"/>
            <a:tailEnd type="none" w="sm" len="sm"/>
          </a:ln>
        </p:spPr>
        <p:txBody>
          <a:bodyPr wrap="square">
            <a:spAutoFit/>
          </a:bodyPr>
          <a:lstStyle/>
          <a:p>
            <a:pPr algn="l">
              <a:spcBef>
                <a:spcPct val="20000"/>
              </a:spcBef>
              <a:buClr>
                <a:schemeClr val="accent2"/>
              </a:buClr>
              <a:buSzPct val="80000"/>
              <a:buFont typeface="Wingdings" panose="05000000000000000000" pitchFamily="2" charset="2"/>
              <a:buNone/>
              <a:defRPr/>
            </a:pPr>
            <a:r>
              <a:rPr lang="zh-CN" altLang="en-US" b="1" dirty="0">
                <a:latin typeface="+mn-lt"/>
                <a:ea typeface="+mj-ea"/>
              </a:rPr>
              <a:t>运行结果：</a:t>
            </a:r>
            <a:endParaRPr lang="zh-CN" altLang="en-US" b="1" dirty="0">
              <a:latin typeface="+mn-lt"/>
              <a:ea typeface="+mj-ea"/>
            </a:endParaRPr>
          </a:p>
          <a:p>
            <a:pPr algn="l">
              <a:lnSpc>
                <a:spcPct val="75000"/>
              </a:lnSpc>
              <a:spcBef>
                <a:spcPct val="20000"/>
              </a:spcBef>
              <a:buClr>
                <a:schemeClr val="accent2"/>
              </a:buClr>
              <a:buSzPct val="80000"/>
              <a:buFont typeface="Wingdings" panose="05000000000000000000" pitchFamily="2" charset="2"/>
              <a:buNone/>
              <a:defRPr/>
            </a:pPr>
            <a:r>
              <a:rPr lang="en-US" altLang="zh-CN" b="1" dirty="0">
                <a:latin typeface="+mn-lt"/>
                <a:ea typeface="+mj-ea"/>
              </a:rPr>
              <a:t>Enter a positive </a:t>
            </a:r>
            <a:r>
              <a:rPr lang="en-US" altLang="zh-CN" b="1" dirty="0" smtClean="0">
                <a:latin typeface="+mn-lt"/>
                <a:ea typeface="+mj-ea"/>
              </a:rPr>
              <a:t>integer:1</a:t>
            </a:r>
            <a:endParaRPr lang="en-US" altLang="zh-CN" b="1" dirty="0">
              <a:latin typeface="+mn-lt"/>
              <a:ea typeface="+mj-ea"/>
            </a:endParaRPr>
          </a:p>
          <a:p>
            <a:pPr algn="l">
              <a:lnSpc>
                <a:spcPct val="70000"/>
              </a:lnSpc>
              <a:spcBef>
                <a:spcPct val="20000"/>
              </a:spcBef>
              <a:buClr>
                <a:schemeClr val="accent2"/>
              </a:buClr>
              <a:buSzPct val="80000"/>
              <a:buFont typeface="Wingdings" panose="05000000000000000000" pitchFamily="2" charset="2"/>
              <a:buNone/>
              <a:defRPr/>
            </a:pPr>
            <a:r>
              <a:rPr lang="en-US" altLang="zh-CN" b="1" dirty="0" smtClean="0">
                <a:latin typeface="+mn-lt"/>
                <a:ea typeface="+mj-ea"/>
              </a:rPr>
              <a:t>1! </a:t>
            </a:r>
            <a:r>
              <a:rPr lang="en-US" altLang="zh-CN" b="1" dirty="0">
                <a:latin typeface="+mn-lt"/>
                <a:ea typeface="+mj-ea"/>
              </a:rPr>
              <a:t>= </a:t>
            </a:r>
            <a:r>
              <a:rPr lang="en-US" altLang="zh-CN" b="1" dirty="0" smtClean="0">
                <a:latin typeface="+mn-lt"/>
                <a:ea typeface="+mj-ea"/>
              </a:rPr>
              <a:t>1</a:t>
            </a:r>
            <a:endParaRPr lang="en-US" altLang="zh-CN" b="1" dirty="0">
              <a:latin typeface="+mn-lt"/>
              <a:ea typeface="+mj-ea"/>
            </a:endParaRPr>
          </a:p>
        </p:txBody>
      </p:sp>
      <p:sp>
        <p:nvSpPr>
          <p:cNvPr id="45062" name="标题 1"/>
          <p:cNvSpPr>
            <a:spLocks noGrp="1"/>
          </p:cNvSpPr>
          <p:nvPr>
            <p:ph type="title"/>
          </p:nvPr>
        </p:nvSpPr>
        <p:spPr>
          <a:xfrm>
            <a:off x="6215063" y="571500"/>
            <a:ext cx="2857500" cy="857250"/>
          </a:xfrm>
          <a:solidFill>
            <a:schemeClr val="accent6">
              <a:lumMod val="50000"/>
            </a:schemeClr>
          </a:solidFill>
        </p:spPr>
        <p:txBody>
          <a:bodyPr/>
          <a:lstStyle/>
          <a:p>
            <a:pPr eaLnBrk="1" hangingPunct="1"/>
            <a:r>
              <a:rPr lang="zh-CN" altLang="en-US" dirty="0" smtClean="0"/>
              <a:t>例</a:t>
            </a:r>
            <a:r>
              <a:rPr lang="en-US" altLang="zh-CN" dirty="0" smtClean="0"/>
              <a:t>3-8</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当运行程序，输入</a:t>
            </a:r>
            <a:r>
              <a:rPr lang="en-US" altLang="zh-CN" sz="4400" b="1" dirty="0" smtClean="0">
                <a:solidFill>
                  <a:srgbClr val="FFFFFF"/>
                </a:solidFill>
                <a:latin typeface="Times New Roman" panose="02020603050405020304" pitchFamily="18" charset="0"/>
                <a:ea typeface="隶书" panose="02010509060101010101" pitchFamily="49" charset="-122"/>
                <a:cs typeface="+mn-cs"/>
              </a:rPr>
              <a:t>1</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后，</a:t>
            </a:r>
            <a:br>
              <a:rPr lang="en-US" altLang="zh-CN" sz="4400" b="1" dirty="0" smtClean="0">
                <a:solidFill>
                  <a:srgbClr val="FFFFFF"/>
                </a:solidFill>
                <a:latin typeface="Times New Roman" panose="02020603050405020304" pitchFamily="18" charset="0"/>
                <a:ea typeface="隶书" panose="02010509060101010101" pitchFamily="49" charset="-122"/>
                <a:cs typeface="+mn-cs"/>
              </a:rPr>
            </a:br>
            <a:r>
              <a:rPr lang="zh-CN" altLang="en-US" sz="4400" b="1" dirty="0" smtClean="0">
                <a:solidFill>
                  <a:srgbClr val="FFFFFF"/>
                </a:solidFill>
                <a:latin typeface="Times New Roman" panose="02020603050405020304" pitchFamily="18" charset="0"/>
                <a:ea typeface="隶书" panose="02010509060101010101" pitchFamily="49" charset="-122"/>
                <a:cs typeface="+mn-cs"/>
              </a:rPr>
              <a:t>例题</a:t>
            </a:r>
            <a:r>
              <a:rPr lang="en-US" altLang="zh-CN" sz="4400" b="1" dirty="0" smtClean="0">
                <a:solidFill>
                  <a:srgbClr val="FFFFFF"/>
                </a:solidFill>
                <a:latin typeface="Times New Roman" panose="02020603050405020304" pitchFamily="18" charset="0"/>
                <a:ea typeface="隶书" panose="02010509060101010101" pitchFamily="49" charset="-122"/>
                <a:cs typeface="+mn-cs"/>
              </a:rPr>
              <a:t>3-8</a:t>
            </a:r>
            <a:r>
              <a:rPr lang="zh-CN" altLang="en-US" sz="4400" b="1" dirty="0" smtClean="0">
                <a:solidFill>
                  <a:srgbClr val="FFFFFF"/>
                </a:solidFill>
                <a:latin typeface="Times New Roman" panose="02020603050405020304" pitchFamily="18" charset="0"/>
                <a:ea typeface="隶书" panose="02010509060101010101" pitchFamily="49" charset="-122"/>
                <a:cs typeface="+mn-cs"/>
              </a:rPr>
              <a:t>的运行栈变化情况</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graphicFrame>
        <p:nvGraphicFramePr>
          <p:cNvPr id="2" name="表格 1"/>
          <p:cNvGraphicFramePr>
            <a:graphicFrameLocks noGrp="1"/>
          </p:cNvGraphicFramePr>
          <p:nvPr/>
        </p:nvGraphicFramePr>
        <p:xfrm>
          <a:off x="1085378" y="4703544"/>
          <a:ext cx="1703512" cy="741680"/>
        </p:xfrm>
        <a:graphic>
          <a:graphicData uri="http://schemas.openxmlformats.org/drawingml/2006/table">
            <a:tbl>
              <a:tblPr firstRow="1" bandRow="1">
                <a:tableStyleId>{5C22544A-7EE6-4342-B048-85BDC9FD1C3A}</a:tableStyleId>
              </a:tblPr>
              <a:tblGrid>
                <a:gridCol w="1703512"/>
              </a:tblGrid>
              <a:tr h="370840">
                <a:tc>
                  <a:txBody>
                    <a:bodyPr/>
                    <a:lstStyle/>
                    <a:p>
                      <a:pPr algn="ctr"/>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4" name="直接连接符 3"/>
          <p:cNvCxnSpPr/>
          <p:nvPr/>
        </p:nvCxnSpPr>
        <p:spPr bwMode="auto">
          <a:xfrm>
            <a:off x="1086544" y="3140968"/>
            <a:ext cx="0" cy="28083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2784995" y="3088010"/>
            <a:ext cx="3895" cy="28612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本框 13"/>
          <p:cNvSpPr txBox="1"/>
          <p:nvPr/>
        </p:nvSpPr>
        <p:spPr bwMode="auto">
          <a:xfrm>
            <a:off x="1085378" y="2432380"/>
            <a:ext cx="2280270" cy="41549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400" b="1" dirty="0" smtClean="0"/>
              <a:t>(a)main()</a:t>
            </a:r>
            <a:r>
              <a:rPr lang="zh-CN" altLang="en-US" sz="1400" b="1" dirty="0" smtClean="0"/>
              <a:t>调用</a:t>
            </a:r>
            <a:r>
              <a:rPr lang="en-US" altLang="zh-CN" sz="1400" b="1" dirty="0" err="1" smtClean="0"/>
              <a:t>fac</a:t>
            </a:r>
            <a:r>
              <a:rPr lang="en-US" altLang="zh-CN" sz="1400" b="1" dirty="0" smtClean="0"/>
              <a:t>(1)</a:t>
            </a:r>
            <a:r>
              <a:rPr lang="zh-CN" altLang="en-US" sz="1400" b="1" dirty="0" smtClean="0"/>
              <a:t>前</a:t>
            </a:r>
            <a:endParaRPr lang="zh-CN" altLang="en-US" sz="1400" b="1" dirty="0" smtClean="0"/>
          </a:p>
        </p:txBody>
      </p:sp>
      <p:sp>
        <p:nvSpPr>
          <p:cNvPr id="17" name="文本框 16"/>
          <p:cNvSpPr txBox="1"/>
          <p:nvPr/>
        </p:nvSpPr>
        <p:spPr bwMode="auto">
          <a:xfrm>
            <a:off x="3125514" y="4860871"/>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smtClean="0"/>
              <a:t>main()</a:t>
            </a:r>
            <a:endParaRPr lang="zh-CN" altLang="en-US" sz="1600" dirty="0" smtClean="0"/>
          </a:p>
        </p:txBody>
      </p:sp>
      <p:cxnSp>
        <p:nvCxnSpPr>
          <p:cNvPr id="16" name="直接箭头连接符 15"/>
          <p:cNvCxnSpPr/>
          <p:nvPr/>
        </p:nvCxnSpPr>
        <p:spPr bwMode="auto">
          <a:xfrm>
            <a:off x="628650" y="4886286"/>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文本框 20"/>
          <p:cNvSpPr txBox="1"/>
          <p:nvPr/>
        </p:nvSpPr>
        <p:spPr bwMode="auto">
          <a:xfrm>
            <a:off x="251520" y="4526246"/>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23" name="右大括号 22"/>
          <p:cNvSpPr/>
          <p:nvPr/>
        </p:nvSpPr>
        <p:spPr bwMode="auto">
          <a:xfrm>
            <a:off x="2830290" y="4697492"/>
            <a:ext cx="190177" cy="741680"/>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graphicFrame>
        <p:nvGraphicFramePr>
          <p:cNvPr id="26" name="表格 25"/>
          <p:cNvGraphicFramePr>
            <a:graphicFrameLocks noGrp="1"/>
          </p:cNvGraphicFramePr>
          <p:nvPr/>
        </p:nvGraphicFramePr>
        <p:xfrm>
          <a:off x="5164954" y="3645024"/>
          <a:ext cx="1703512" cy="1854200"/>
        </p:xfrm>
        <a:graphic>
          <a:graphicData uri="http://schemas.openxmlformats.org/drawingml/2006/table">
            <a:tbl>
              <a:tblPr firstRow="1" bandRow="1">
                <a:tableStyleId>{5C22544A-7EE6-4342-B048-85BDC9FD1C3A}</a:tableStyleId>
              </a:tblPr>
              <a:tblGrid>
                <a:gridCol w="1703512"/>
              </a:tblGrid>
              <a:tr h="370840">
                <a:tc>
                  <a:txBody>
                    <a:bodyPr/>
                    <a:lstStyle/>
                    <a:p>
                      <a:pPr algn="ctr"/>
                      <a:r>
                        <a:rPr lang="en-US" altLang="zh-CN" dirty="0" smtClean="0">
                          <a:solidFill>
                            <a:schemeClr val="tx1"/>
                          </a:solidFill>
                        </a:rPr>
                        <a:t>f:</a:t>
                      </a:r>
                      <a:r>
                        <a:rPr lang="zh-CN" altLang="en-US" dirty="0" smtClean="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7" name="直接连接符 26"/>
          <p:cNvCxnSpPr/>
          <p:nvPr/>
        </p:nvCxnSpPr>
        <p:spPr bwMode="auto">
          <a:xfrm>
            <a:off x="5166120" y="3288661"/>
            <a:ext cx="0" cy="28083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6864571" y="3235703"/>
            <a:ext cx="3895" cy="28612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文本框 28"/>
          <p:cNvSpPr txBox="1"/>
          <p:nvPr/>
        </p:nvSpPr>
        <p:spPr bwMode="auto">
          <a:xfrm>
            <a:off x="5164954" y="2335019"/>
            <a:ext cx="2280270" cy="41549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400" b="1" dirty="0" smtClean="0"/>
              <a:t>(</a:t>
            </a:r>
            <a:r>
              <a:rPr lang="en-US" altLang="zh-CN" sz="1400" b="1" dirty="0"/>
              <a:t>b</a:t>
            </a:r>
            <a:r>
              <a:rPr lang="en-US" altLang="zh-CN" sz="1400" b="1" dirty="0" smtClean="0"/>
              <a:t>)main()</a:t>
            </a:r>
            <a:r>
              <a:rPr lang="zh-CN" altLang="en-US" sz="1400" b="1" dirty="0" smtClean="0"/>
              <a:t>调用</a:t>
            </a:r>
            <a:r>
              <a:rPr lang="en-US" altLang="zh-CN" sz="1400" b="1" dirty="0" err="1" smtClean="0"/>
              <a:t>fac</a:t>
            </a:r>
            <a:r>
              <a:rPr lang="en-US" altLang="zh-CN" sz="1400" b="1" dirty="0" smtClean="0"/>
              <a:t>(1)</a:t>
            </a:r>
            <a:r>
              <a:rPr lang="zh-CN" altLang="en-US" sz="1400" b="1" dirty="0" smtClean="0"/>
              <a:t>后</a:t>
            </a:r>
            <a:endParaRPr lang="zh-CN" altLang="en-US" sz="1400" b="1" dirty="0" smtClean="0"/>
          </a:p>
        </p:txBody>
      </p:sp>
      <p:sp>
        <p:nvSpPr>
          <p:cNvPr id="30" name="文本框 29"/>
          <p:cNvSpPr txBox="1"/>
          <p:nvPr/>
        </p:nvSpPr>
        <p:spPr bwMode="auto">
          <a:xfrm>
            <a:off x="7131131" y="3952609"/>
            <a:ext cx="1025202" cy="4174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err="1" smtClean="0"/>
              <a:t>fac</a:t>
            </a:r>
            <a:r>
              <a:rPr lang="en-US" altLang="zh-CN" sz="1600" dirty="0" smtClean="0"/>
              <a:t>(1)</a:t>
            </a:r>
            <a:endParaRPr lang="zh-CN" altLang="en-US" sz="1600" dirty="0" smtClean="0"/>
          </a:p>
        </p:txBody>
      </p:sp>
      <p:cxnSp>
        <p:nvCxnSpPr>
          <p:cNvPr id="31" name="直接箭头连接符 30"/>
          <p:cNvCxnSpPr/>
          <p:nvPr/>
        </p:nvCxnSpPr>
        <p:spPr bwMode="auto">
          <a:xfrm>
            <a:off x="4708226" y="3789040"/>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本框 31"/>
          <p:cNvSpPr txBox="1"/>
          <p:nvPr/>
        </p:nvSpPr>
        <p:spPr bwMode="auto">
          <a:xfrm>
            <a:off x="4331096" y="3429000"/>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33" name="右大括号 32"/>
          <p:cNvSpPr/>
          <p:nvPr/>
        </p:nvSpPr>
        <p:spPr bwMode="auto">
          <a:xfrm>
            <a:off x="6891025" y="3645024"/>
            <a:ext cx="163723" cy="1078483"/>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4" name="右大括号 33"/>
          <p:cNvSpPr/>
          <p:nvPr/>
        </p:nvSpPr>
        <p:spPr bwMode="auto">
          <a:xfrm>
            <a:off x="6890430" y="4757544"/>
            <a:ext cx="190177" cy="741680"/>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5" name="文本框 34"/>
          <p:cNvSpPr txBox="1"/>
          <p:nvPr/>
        </p:nvSpPr>
        <p:spPr bwMode="auto">
          <a:xfrm>
            <a:off x="7201195" y="5001039"/>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smtClean="0"/>
              <a:t>main()</a:t>
            </a:r>
            <a:endParaRPr lang="zh-CN" altLang="en-US" sz="1600" dirty="0" smtClean="0"/>
          </a:p>
        </p:txBody>
      </p:sp>
      <p:sp>
        <p:nvSpPr>
          <p:cNvPr id="24" name="右箭头 23"/>
          <p:cNvSpPr/>
          <p:nvPr/>
        </p:nvSpPr>
        <p:spPr bwMode="auto">
          <a:xfrm>
            <a:off x="3497994" y="2532987"/>
            <a:ext cx="1023602" cy="2555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8" name="右箭头 37"/>
          <p:cNvSpPr/>
          <p:nvPr/>
        </p:nvSpPr>
        <p:spPr bwMode="auto">
          <a:xfrm>
            <a:off x="7308304" y="2479335"/>
            <a:ext cx="1023602" cy="2555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zh-CN" altLang="en-US" sz="4400" b="1" dirty="0" smtClean="0">
                <a:solidFill>
                  <a:srgbClr val="FFFFFF"/>
                </a:solidFill>
                <a:latin typeface="Times New Roman" panose="02020603050405020304" pitchFamily="18" charset="0"/>
                <a:ea typeface="隶书" panose="02010509060101010101" pitchFamily="49" charset="-122"/>
                <a:cs typeface="+mn-cs"/>
              </a:rPr>
              <a:t>当运行程序，输入</a:t>
            </a:r>
            <a:r>
              <a:rPr lang="en-US" altLang="zh-CN" sz="4400" b="1" dirty="0" smtClean="0">
                <a:solidFill>
                  <a:srgbClr val="FFFFFF"/>
                </a:solidFill>
                <a:latin typeface="Times New Roman" panose="02020603050405020304" pitchFamily="18" charset="0"/>
                <a:ea typeface="隶书" panose="02010509060101010101" pitchFamily="49" charset="-122"/>
                <a:cs typeface="+mn-cs"/>
              </a:rPr>
              <a:t>1</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后，</a:t>
            </a:r>
            <a:br>
              <a:rPr lang="en-US" altLang="zh-CN" sz="4400" b="1" dirty="0" smtClean="0">
                <a:solidFill>
                  <a:srgbClr val="FFFFFF"/>
                </a:solidFill>
                <a:latin typeface="Times New Roman" panose="02020603050405020304" pitchFamily="18" charset="0"/>
                <a:ea typeface="隶书" panose="02010509060101010101" pitchFamily="49" charset="-122"/>
                <a:cs typeface="+mn-cs"/>
              </a:rPr>
            </a:br>
            <a:r>
              <a:rPr lang="zh-CN" altLang="en-US" sz="4400" b="1" dirty="0" smtClean="0">
                <a:solidFill>
                  <a:srgbClr val="FFFFFF"/>
                </a:solidFill>
                <a:latin typeface="Times New Roman" panose="02020603050405020304" pitchFamily="18" charset="0"/>
                <a:ea typeface="隶书" panose="02010509060101010101" pitchFamily="49" charset="-122"/>
                <a:cs typeface="+mn-cs"/>
              </a:rPr>
              <a:t>例题</a:t>
            </a:r>
            <a:r>
              <a:rPr lang="en-US" altLang="zh-CN" sz="4400" b="1" dirty="0" smtClean="0">
                <a:solidFill>
                  <a:srgbClr val="FFFFFF"/>
                </a:solidFill>
                <a:latin typeface="Times New Roman" panose="02020603050405020304" pitchFamily="18" charset="0"/>
                <a:ea typeface="隶书" panose="02010509060101010101" pitchFamily="49" charset="-122"/>
                <a:cs typeface="+mn-cs"/>
              </a:rPr>
              <a:t>3-8</a:t>
            </a:r>
            <a:r>
              <a:rPr lang="zh-CN" altLang="en-US" sz="4400" b="1" dirty="0" smtClean="0">
                <a:solidFill>
                  <a:srgbClr val="FFFFFF"/>
                </a:solidFill>
                <a:latin typeface="Times New Roman" panose="02020603050405020304" pitchFamily="18" charset="0"/>
                <a:ea typeface="隶书" panose="02010509060101010101" pitchFamily="49" charset="-122"/>
                <a:cs typeface="+mn-cs"/>
              </a:rPr>
              <a:t>的运行栈变化情况</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graphicFrame>
        <p:nvGraphicFramePr>
          <p:cNvPr id="2" name="表格 1"/>
          <p:cNvGraphicFramePr>
            <a:graphicFrameLocks noGrp="1"/>
          </p:cNvGraphicFramePr>
          <p:nvPr/>
        </p:nvGraphicFramePr>
        <p:xfrm>
          <a:off x="6840082" y="4686550"/>
          <a:ext cx="1282834" cy="741680"/>
        </p:xfrm>
        <a:graphic>
          <a:graphicData uri="http://schemas.openxmlformats.org/drawingml/2006/table">
            <a:tbl>
              <a:tblPr firstRow="1" bandRow="1">
                <a:tableStyleId>{5C22544A-7EE6-4342-B048-85BDC9FD1C3A}</a:tableStyleId>
              </a:tblPr>
              <a:tblGrid>
                <a:gridCol w="1282834"/>
              </a:tblGrid>
              <a:tr h="370840">
                <a:tc>
                  <a:txBody>
                    <a:bodyPr/>
                    <a:lstStyle/>
                    <a:p>
                      <a:pPr algn="ctr"/>
                      <a:r>
                        <a:rPr lang="en-US" altLang="zh-CN" dirty="0" smtClean="0">
                          <a:solidFill>
                            <a:schemeClr val="tx1"/>
                          </a:solidFill>
                        </a:rPr>
                        <a:t>y:1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4" name="直接连接符 3"/>
          <p:cNvCxnSpPr/>
          <p:nvPr/>
        </p:nvCxnSpPr>
        <p:spPr bwMode="auto">
          <a:xfrm>
            <a:off x="6843489" y="3123974"/>
            <a:ext cx="0" cy="28083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8119021" y="3071016"/>
            <a:ext cx="3895" cy="28612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本框 13"/>
          <p:cNvSpPr txBox="1"/>
          <p:nvPr/>
        </p:nvSpPr>
        <p:spPr bwMode="auto">
          <a:xfrm>
            <a:off x="6608662" y="2315063"/>
            <a:ext cx="2280270" cy="41549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400" b="1" dirty="0" smtClean="0"/>
              <a:t>(</a:t>
            </a:r>
            <a:r>
              <a:rPr lang="en-US" altLang="zh-CN" sz="1400" b="1" dirty="0"/>
              <a:t>e</a:t>
            </a:r>
            <a:r>
              <a:rPr lang="en-US" altLang="zh-CN" sz="1400" b="1" dirty="0" smtClean="0"/>
              <a:t>)main()</a:t>
            </a:r>
            <a:r>
              <a:rPr lang="zh-CN" altLang="en-US" sz="1400" b="1" dirty="0" smtClean="0"/>
              <a:t>返回前</a:t>
            </a:r>
            <a:endParaRPr lang="zh-CN" altLang="en-US" sz="1400" b="1" dirty="0" smtClean="0"/>
          </a:p>
        </p:txBody>
      </p:sp>
      <p:sp>
        <p:nvSpPr>
          <p:cNvPr id="17" name="文本框 16"/>
          <p:cNvSpPr txBox="1"/>
          <p:nvPr/>
        </p:nvSpPr>
        <p:spPr bwMode="auto">
          <a:xfrm>
            <a:off x="8459540" y="4843877"/>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smtClean="0"/>
              <a:t>main()</a:t>
            </a:r>
            <a:endParaRPr lang="zh-CN" altLang="en-US" sz="1600" dirty="0" smtClean="0"/>
          </a:p>
        </p:txBody>
      </p:sp>
      <p:cxnSp>
        <p:nvCxnSpPr>
          <p:cNvPr id="16" name="直接箭头连接符 15"/>
          <p:cNvCxnSpPr/>
          <p:nvPr/>
        </p:nvCxnSpPr>
        <p:spPr bwMode="auto">
          <a:xfrm>
            <a:off x="6385595" y="4869292"/>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文本框 20"/>
          <p:cNvSpPr txBox="1"/>
          <p:nvPr/>
        </p:nvSpPr>
        <p:spPr bwMode="auto">
          <a:xfrm>
            <a:off x="5946737" y="4514902"/>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23" name="右大括号 22"/>
          <p:cNvSpPr/>
          <p:nvPr/>
        </p:nvSpPr>
        <p:spPr bwMode="auto">
          <a:xfrm>
            <a:off x="8164316" y="4680498"/>
            <a:ext cx="190177" cy="741680"/>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graphicFrame>
        <p:nvGraphicFramePr>
          <p:cNvPr id="26" name="表格 25"/>
          <p:cNvGraphicFramePr>
            <a:graphicFrameLocks noGrp="1"/>
          </p:cNvGraphicFramePr>
          <p:nvPr/>
        </p:nvGraphicFramePr>
        <p:xfrm>
          <a:off x="3779806" y="3695051"/>
          <a:ext cx="1175544" cy="1854200"/>
        </p:xfrm>
        <a:graphic>
          <a:graphicData uri="http://schemas.openxmlformats.org/drawingml/2006/table">
            <a:tbl>
              <a:tblPr firstRow="1" bandRow="1">
                <a:tableStyleId>{5C22544A-7EE6-4342-B048-85BDC9FD1C3A}</a:tableStyleId>
              </a:tblPr>
              <a:tblGrid>
                <a:gridCol w="1175544"/>
              </a:tblGrid>
              <a:tr h="370840">
                <a:tc>
                  <a:txBody>
                    <a:bodyPr/>
                    <a:lstStyle/>
                    <a:p>
                      <a:pPr algn="ctr"/>
                      <a:r>
                        <a:rPr lang="en-US" altLang="zh-CN" dirty="0" smtClean="0">
                          <a:solidFill>
                            <a:schemeClr val="tx1"/>
                          </a:solidFill>
                        </a:rPr>
                        <a:t>f:1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7" name="直接连接符 26"/>
          <p:cNvCxnSpPr/>
          <p:nvPr/>
        </p:nvCxnSpPr>
        <p:spPr bwMode="auto">
          <a:xfrm>
            <a:off x="3769890" y="3338688"/>
            <a:ext cx="0" cy="28083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4951455" y="3285730"/>
            <a:ext cx="3895" cy="28612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文本框 28"/>
          <p:cNvSpPr txBox="1"/>
          <p:nvPr/>
        </p:nvSpPr>
        <p:spPr bwMode="auto">
          <a:xfrm>
            <a:off x="3251838" y="2405468"/>
            <a:ext cx="2280270" cy="374654"/>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eaLnBrk="1" hangingPunct="1">
              <a:lnSpc>
                <a:spcPct val="150000"/>
              </a:lnSpc>
              <a:spcBef>
                <a:spcPct val="50000"/>
              </a:spcBef>
            </a:pPr>
            <a:r>
              <a:rPr lang="en-US" altLang="zh-CN" sz="1400" b="1" dirty="0" smtClean="0"/>
              <a:t>(d)</a:t>
            </a:r>
            <a:r>
              <a:rPr lang="en-US" altLang="zh-CN" sz="1400" b="1" dirty="0" err="1" smtClean="0"/>
              <a:t>fac</a:t>
            </a:r>
            <a:r>
              <a:rPr lang="en-US" altLang="zh-CN" sz="1400" b="1" dirty="0" smtClean="0"/>
              <a:t>(1)</a:t>
            </a:r>
            <a:r>
              <a:rPr lang="zh-CN" altLang="en-US" sz="1400" b="1" dirty="0" smtClean="0"/>
              <a:t>返回前</a:t>
            </a:r>
            <a:endParaRPr lang="zh-CN" altLang="en-US" sz="1400" b="1" dirty="0" smtClean="0"/>
          </a:p>
        </p:txBody>
      </p:sp>
      <p:sp>
        <p:nvSpPr>
          <p:cNvPr id="30" name="文本框 29"/>
          <p:cNvSpPr txBox="1"/>
          <p:nvPr/>
        </p:nvSpPr>
        <p:spPr bwMode="auto">
          <a:xfrm>
            <a:off x="5218015" y="4002636"/>
            <a:ext cx="1025202" cy="4174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err="1" smtClean="0"/>
              <a:t>fac</a:t>
            </a:r>
            <a:r>
              <a:rPr lang="en-US" altLang="zh-CN" sz="1600" dirty="0" smtClean="0"/>
              <a:t>(1)</a:t>
            </a:r>
            <a:endParaRPr lang="zh-CN" altLang="en-US" sz="1600" dirty="0" smtClean="0"/>
          </a:p>
        </p:txBody>
      </p:sp>
      <p:cxnSp>
        <p:nvCxnSpPr>
          <p:cNvPr id="31" name="直接箭头连接符 30"/>
          <p:cNvCxnSpPr/>
          <p:nvPr/>
        </p:nvCxnSpPr>
        <p:spPr bwMode="auto">
          <a:xfrm>
            <a:off x="3311996" y="3839067"/>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本框 31"/>
          <p:cNvSpPr txBox="1"/>
          <p:nvPr/>
        </p:nvSpPr>
        <p:spPr bwMode="auto">
          <a:xfrm>
            <a:off x="2934866" y="3479027"/>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33" name="右大括号 32"/>
          <p:cNvSpPr/>
          <p:nvPr/>
        </p:nvSpPr>
        <p:spPr bwMode="auto">
          <a:xfrm>
            <a:off x="4977909" y="3695051"/>
            <a:ext cx="163723" cy="1078483"/>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4" name="右大括号 33"/>
          <p:cNvSpPr/>
          <p:nvPr/>
        </p:nvSpPr>
        <p:spPr bwMode="auto">
          <a:xfrm>
            <a:off x="4977314" y="4807571"/>
            <a:ext cx="190177" cy="741680"/>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5" name="文本框 34"/>
          <p:cNvSpPr txBox="1"/>
          <p:nvPr/>
        </p:nvSpPr>
        <p:spPr bwMode="auto">
          <a:xfrm>
            <a:off x="5288079" y="5051066"/>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smtClean="0"/>
              <a:t>main()</a:t>
            </a:r>
            <a:endParaRPr lang="zh-CN" altLang="en-US" sz="1600" dirty="0" smtClean="0"/>
          </a:p>
        </p:txBody>
      </p:sp>
      <p:sp>
        <p:nvSpPr>
          <p:cNvPr id="24" name="右箭头 23"/>
          <p:cNvSpPr/>
          <p:nvPr/>
        </p:nvSpPr>
        <p:spPr bwMode="auto">
          <a:xfrm>
            <a:off x="2057816" y="2479334"/>
            <a:ext cx="1023602" cy="2555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38" name="右箭头 37"/>
          <p:cNvSpPr/>
          <p:nvPr/>
        </p:nvSpPr>
        <p:spPr bwMode="auto">
          <a:xfrm>
            <a:off x="5539835" y="2465028"/>
            <a:ext cx="1023602" cy="2555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cxnSp>
        <p:nvCxnSpPr>
          <p:cNvPr id="41" name="直接箭头连接符 40"/>
          <p:cNvCxnSpPr/>
          <p:nvPr/>
        </p:nvCxnSpPr>
        <p:spPr bwMode="auto">
          <a:xfrm>
            <a:off x="-936356" y="3699725"/>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p:cNvSpPr txBox="1"/>
          <p:nvPr/>
        </p:nvSpPr>
        <p:spPr bwMode="auto">
          <a:xfrm>
            <a:off x="-1313486" y="3339685"/>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graphicFrame>
        <p:nvGraphicFramePr>
          <p:cNvPr id="46" name="表格 45"/>
          <p:cNvGraphicFramePr>
            <a:graphicFrameLocks noGrp="1"/>
          </p:cNvGraphicFramePr>
          <p:nvPr/>
        </p:nvGraphicFramePr>
        <p:xfrm>
          <a:off x="795980" y="3270592"/>
          <a:ext cx="1175544" cy="2966720"/>
        </p:xfrm>
        <a:graphic>
          <a:graphicData uri="http://schemas.openxmlformats.org/drawingml/2006/table">
            <a:tbl>
              <a:tblPr firstRow="1" bandRow="1">
                <a:tableStyleId>{5C22544A-7EE6-4342-B048-85BDC9FD1C3A}</a:tableStyleId>
              </a:tblPr>
              <a:tblGrid>
                <a:gridCol w="1175544"/>
              </a:tblGrid>
              <a:tr h="370840">
                <a:tc>
                  <a:txBody>
                    <a:bodyPr/>
                    <a:lstStyle/>
                    <a:p>
                      <a:pPr algn="ctr"/>
                      <a:r>
                        <a:rPr lang="en-US" altLang="zh-CN" dirty="0" smtClean="0">
                          <a:solidFill>
                            <a:schemeClr val="tx1"/>
                          </a:solidFill>
                        </a:rPr>
                        <a:t>f:1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r>
              <a:tr h="370840">
                <a:tc>
                  <a:txBody>
                    <a:bodyPr/>
                    <a:lstStyle/>
                    <a:p>
                      <a:pPr algn="ctr"/>
                      <a:r>
                        <a:rPr lang="en-US" altLang="zh-CN" dirty="0" smtClean="0">
                          <a:solidFill>
                            <a:schemeClr val="tx1"/>
                          </a:solidFill>
                        </a:rPr>
                        <a:t>n:0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f:</a:t>
                      </a:r>
                      <a:r>
                        <a:rPr lang="zh-CN" altLang="en-US" dirty="0" smtClean="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dirty="0" smtClean="0">
                          <a:solidFill>
                            <a:schemeClr val="tx1"/>
                          </a:solidFill>
                        </a:rPr>
                        <a:t>n:1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47" name="直接连接符 46"/>
          <p:cNvCxnSpPr/>
          <p:nvPr/>
        </p:nvCxnSpPr>
        <p:spPr bwMode="auto">
          <a:xfrm flipH="1">
            <a:off x="786064" y="2818615"/>
            <a:ext cx="18637" cy="40122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1962668" y="2818615"/>
            <a:ext cx="8856" cy="40122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370694" y="1854947"/>
            <a:ext cx="2280270" cy="846386"/>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400" b="1" dirty="0" smtClean="0"/>
              <a:t>(c)</a:t>
            </a:r>
            <a:r>
              <a:rPr lang="en-US" altLang="zh-CN" sz="1400" b="1" dirty="0" err="1" smtClean="0"/>
              <a:t>fac</a:t>
            </a:r>
            <a:r>
              <a:rPr lang="en-US" altLang="zh-CN" sz="1400" b="1" dirty="0" smtClean="0"/>
              <a:t>(1)</a:t>
            </a:r>
            <a:r>
              <a:rPr lang="zh-CN" altLang="en-US" sz="1400" b="1" dirty="0" smtClean="0"/>
              <a:t>调用</a:t>
            </a:r>
            <a:r>
              <a:rPr lang="en-US" altLang="zh-CN" sz="1400" b="1" dirty="0" err="1" smtClean="0"/>
              <a:t>fac</a:t>
            </a:r>
            <a:r>
              <a:rPr lang="en-US" altLang="zh-CN" sz="1400" b="1" dirty="0" smtClean="0"/>
              <a:t>(0)</a:t>
            </a:r>
            <a:r>
              <a:rPr lang="zh-CN" altLang="en-US" sz="1400" b="1" dirty="0" smtClean="0"/>
              <a:t>后</a:t>
            </a:r>
            <a:r>
              <a:rPr lang="en-US" altLang="zh-CN" sz="1400" b="1" dirty="0" smtClean="0"/>
              <a:t>,</a:t>
            </a:r>
            <a:endParaRPr lang="en-US" altLang="zh-CN" sz="1400" b="1" dirty="0" smtClean="0"/>
          </a:p>
          <a:p>
            <a:pPr algn="l" eaLnBrk="1" hangingPunct="1">
              <a:lnSpc>
                <a:spcPct val="150000"/>
              </a:lnSpc>
              <a:spcBef>
                <a:spcPct val="50000"/>
              </a:spcBef>
            </a:pPr>
            <a:r>
              <a:rPr lang="en-US" altLang="zh-CN" sz="1400" b="1" dirty="0" err="1" smtClean="0"/>
              <a:t>fac</a:t>
            </a:r>
            <a:r>
              <a:rPr lang="en-US" altLang="zh-CN" sz="1400" b="1" dirty="0" smtClean="0"/>
              <a:t>(0)</a:t>
            </a:r>
            <a:r>
              <a:rPr lang="zh-CN" altLang="en-US" sz="1400" b="1" dirty="0" smtClean="0"/>
              <a:t>返回前</a:t>
            </a:r>
            <a:endParaRPr lang="zh-CN" altLang="en-US" sz="1400" b="1" dirty="0" smtClean="0"/>
          </a:p>
        </p:txBody>
      </p:sp>
      <p:sp>
        <p:nvSpPr>
          <p:cNvPr id="50" name="文本框 49"/>
          <p:cNvSpPr txBox="1"/>
          <p:nvPr/>
        </p:nvSpPr>
        <p:spPr bwMode="auto">
          <a:xfrm>
            <a:off x="2234189" y="4686550"/>
            <a:ext cx="1025202" cy="4174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err="1" smtClean="0"/>
              <a:t>fac</a:t>
            </a:r>
            <a:r>
              <a:rPr lang="en-US" altLang="zh-CN" sz="1600" dirty="0" smtClean="0"/>
              <a:t>(1)</a:t>
            </a:r>
            <a:endParaRPr lang="zh-CN" altLang="en-US" sz="1600" dirty="0" smtClean="0"/>
          </a:p>
        </p:txBody>
      </p:sp>
      <p:cxnSp>
        <p:nvCxnSpPr>
          <p:cNvPr id="51" name="直接箭头连接符 50"/>
          <p:cNvCxnSpPr/>
          <p:nvPr/>
        </p:nvCxnSpPr>
        <p:spPr bwMode="auto">
          <a:xfrm>
            <a:off x="328170" y="3446126"/>
            <a:ext cx="400148"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文本框 51"/>
          <p:cNvSpPr txBox="1"/>
          <p:nvPr/>
        </p:nvSpPr>
        <p:spPr bwMode="auto">
          <a:xfrm>
            <a:off x="-48960" y="3086086"/>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600" dirty="0" smtClean="0"/>
              <a:t>栈顶</a:t>
            </a:r>
            <a:endParaRPr lang="zh-CN" altLang="en-US" sz="1600" dirty="0" smtClean="0"/>
          </a:p>
        </p:txBody>
      </p:sp>
      <p:sp>
        <p:nvSpPr>
          <p:cNvPr id="53" name="右大括号 52"/>
          <p:cNvSpPr/>
          <p:nvPr/>
        </p:nvSpPr>
        <p:spPr bwMode="auto">
          <a:xfrm>
            <a:off x="1994083" y="4378965"/>
            <a:ext cx="163723" cy="1078483"/>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54" name="右大括号 53"/>
          <p:cNvSpPr/>
          <p:nvPr/>
        </p:nvSpPr>
        <p:spPr bwMode="auto">
          <a:xfrm>
            <a:off x="1993488" y="5491485"/>
            <a:ext cx="190177" cy="741680"/>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55" name="文本框 54"/>
          <p:cNvSpPr txBox="1"/>
          <p:nvPr/>
        </p:nvSpPr>
        <p:spPr bwMode="auto">
          <a:xfrm>
            <a:off x="2304253" y="5734980"/>
            <a:ext cx="1025202" cy="4149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smtClean="0"/>
              <a:t>main()</a:t>
            </a:r>
            <a:endParaRPr lang="zh-CN" altLang="en-US" sz="1600" dirty="0" smtClean="0"/>
          </a:p>
        </p:txBody>
      </p:sp>
      <p:sp>
        <p:nvSpPr>
          <p:cNvPr id="56" name="文本框 55"/>
          <p:cNvSpPr txBox="1"/>
          <p:nvPr/>
        </p:nvSpPr>
        <p:spPr bwMode="auto">
          <a:xfrm>
            <a:off x="2262890" y="3600148"/>
            <a:ext cx="1025202" cy="41742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600" dirty="0" err="1" smtClean="0"/>
              <a:t>fac</a:t>
            </a:r>
            <a:r>
              <a:rPr lang="en-US" altLang="zh-CN" sz="1600" dirty="0" smtClean="0"/>
              <a:t>(0)</a:t>
            </a:r>
            <a:endParaRPr lang="zh-CN" altLang="en-US" sz="1600" dirty="0" smtClean="0"/>
          </a:p>
        </p:txBody>
      </p:sp>
      <p:sp>
        <p:nvSpPr>
          <p:cNvPr id="57" name="右大括号 56"/>
          <p:cNvSpPr/>
          <p:nvPr/>
        </p:nvSpPr>
        <p:spPr bwMode="auto">
          <a:xfrm>
            <a:off x="2022784" y="3292563"/>
            <a:ext cx="163723" cy="1078483"/>
          </a:xfrm>
          <a:prstGeom prst="rightBrace">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p:txBody>
          <a:bodyPr/>
          <a:lstStyle/>
          <a:p>
            <a:pPr eaLnBrk="1" hangingPunct="1">
              <a:lnSpc>
                <a:spcPct val="120000"/>
              </a:lnSpc>
            </a:pPr>
            <a:r>
              <a:rPr lang="zh-CN" altLang="en-US" sz="2800" b="1" dirty="0" smtClean="0">
                <a:latin typeface="微软雅黑" panose="020B0503020204020204" pitchFamily="34" charset="-122"/>
                <a:ea typeface="微软雅黑" panose="020B0503020204020204" pitchFamily="34" charset="-122"/>
              </a:rPr>
              <a:t>函数调用的执行过程：以</a:t>
            </a:r>
            <a:r>
              <a:rPr lang="en-US" altLang="zh-CN" sz="2800" b="1" dirty="0" smtClean="0">
                <a:latin typeface="微软雅黑" panose="020B0503020204020204" pitchFamily="34" charset="-122"/>
                <a:ea typeface="微软雅黑" panose="020B0503020204020204" pitchFamily="34" charset="-122"/>
              </a:rPr>
              <a:t>IA-32</a:t>
            </a:r>
            <a:r>
              <a:rPr lang="zh-CN" altLang="en-US" sz="2800" b="1" dirty="0" smtClean="0">
                <a:latin typeface="微软雅黑" panose="020B0503020204020204" pitchFamily="34" charset="-122"/>
                <a:ea typeface="微软雅黑" panose="020B0503020204020204" pitchFamily="34" charset="-122"/>
              </a:rPr>
              <a:t>为例，展示函数执行过程</a:t>
            </a:r>
            <a:endParaRPr lang="en-US" altLang="zh-CN" sz="2800" b="1" dirty="0" smtClean="0">
              <a:latin typeface="微软雅黑" panose="020B0503020204020204" pitchFamily="34" charset="-122"/>
              <a:ea typeface="微软雅黑" panose="020B0503020204020204" pitchFamily="34" charset="-122"/>
            </a:endParaRPr>
          </a:p>
          <a:p>
            <a:pPr lvl="1">
              <a:lnSpc>
                <a:spcPct val="120000"/>
              </a:lnSpc>
            </a:pPr>
            <a:r>
              <a:rPr lang="en-US" altLang="zh-CN" dirty="0" err="1" smtClean="0">
                <a:latin typeface="微软雅黑" panose="020B0503020204020204" pitchFamily="34" charset="-122"/>
                <a:ea typeface="微软雅黑" panose="020B0503020204020204" pitchFamily="34" charset="-122"/>
              </a:rPr>
              <a:t>esp</a:t>
            </a:r>
            <a:r>
              <a:rPr lang="zh-CN" altLang="en-US" dirty="0">
                <a:latin typeface="微软雅黑" panose="020B0503020204020204" pitchFamily="34" charset="-122"/>
                <a:ea typeface="微软雅黑" panose="020B0503020204020204" pitchFamily="34" charset="-122"/>
              </a:rPr>
              <a:t>寄存器：</a:t>
            </a:r>
            <a:r>
              <a:rPr lang="en-US" altLang="zh-CN" dirty="0">
                <a:latin typeface="微软雅黑" panose="020B0503020204020204" pitchFamily="34" charset="-122"/>
                <a:ea typeface="微软雅黑" panose="020B0503020204020204" pitchFamily="34" charset="-122"/>
              </a:rPr>
              <a:t>IA-32</a:t>
            </a:r>
            <a:r>
              <a:rPr lang="zh-CN" altLang="en-US" dirty="0">
                <a:latin typeface="微软雅黑" panose="020B0503020204020204" pitchFamily="34" charset="-122"/>
                <a:ea typeface="微软雅黑" panose="020B0503020204020204" pitchFamily="34" charset="-122"/>
              </a:rPr>
              <a:t>栈指针</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err="1">
                <a:latin typeface="微软雅黑" panose="020B0503020204020204" pitchFamily="34" charset="-122"/>
                <a:ea typeface="微软雅黑" panose="020B0503020204020204" pitchFamily="34" charset="-122"/>
              </a:rPr>
              <a:t>ebp</a:t>
            </a:r>
            <a:r>
              <a:rPr lang="zh-CN" altLang="en-US" dirty="0">
                <a:latin typeface="微软雅黑" panose="020B0503020204020204" pitchFamily="34" charset="-122"/>
                <a:ea typeface="微软雅黑" panose="020B0503020204020204" pitchFamily="34" charset="-122"/>
              </a:rPr>
              <a:t>寄存器：该指针指向系统栈最上面一个栈帧的底部</a:t>
            </a:r>
            <a:r>
              <a:rPr lang="zh-CN" altLang="en-US" dirty="0" smtClean="0">
                <a:latin typeface="微软雅黑" panose="020B0503020204020204" pitchFamily="34" charset="-122"/>
                <a:ea typeface="微软雅黑" panose="020B0503020204020204" pitchFamily="34" charset="-122"/>
              </a:rPr>
              <a:t>。帧指针，函数的形参和局部变量通过它来计算。</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628650" y="231229"/>
            <a:ext cx="7886700" cy="1325563"/>
          </a:xfrm>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a:xfrm>
            <a:off x="676275" y="1268760"/>
            <a:ext cx="7886700" cy="4351338"/>
          </a:xfrm>
        </p:spPr>
        <p:txBody>
          <a:bodyPr/>
          <a:lstStyle/>
          <a:p>
            <a:pPr eaLnBrk="1" hangingPunct="1">
              <a:lnSpc>
                <a:spcPct val="120000"/>
              </a:lnSpc>
            </a:pPr>
            <a:r>
              <a:rPr lang="zh-CN" altLang="en-US" sz="2400" b="1" dirty="0" smtClean="0">
                <a:latin typeface="微软雅黑" panose="020B0503020204020204" pitchFamily="34" charset="-122"/>
                <a:ea typeface="微软雅黑" panose="020B0503020204020204" pitchFamily="34" charset="-122"/>
              </a:rPr>
              <a:t>函数调用的执行过程，例如：</a:t>
            </a: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add(</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a,int</a:t>
            </a:r>
            <a:r>
              <a:rPr lang="en-US" altLang="zh-CN" sz="2000" b="1" dirty="0" smtClean="0">
                <a:latin typeface="微软雅黑" panose="020B0503020204020204" pitchFamily="34" charset="-122"/>
                <a:ea typeface="微软雅黑" panose="020B0503020204020204" pitchFamily="34" charset="-122"/>
              </a:rPr>
              <a:t>   b){</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c=</a:t>
            </a:r>
            <a:r>
              <a:rPr lang="en-US" altLang="zh-CN" sz="2000" b="1" dirty="0" err="1" smtClean="0">
                <a:latin typeface="微软雅黑" panose="020B0503020204020204" pitchFamily="34" charset="-122"/>
                <a:ea typeface="微软雅黑" panose="020B0503020204020204" pitchFamily="34" charset="-122"/>
              </a:rPr>
              <a:t>a+b</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return c;</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zh-CN" altLang="en-US" sz="2000" b="1" dirty="0" smtClean="0">
                <a:latin typeface="微软雅黑" panose="020B0503020204020204" pitchFamily="34" charset="-122"/>
                <a:ea typeface="微软雅黑" panose="020B0503020204020204" pitchFamily="34" charset="-122"/>
              </a:rPr>
              <a:t>当主调函数出现调用代码</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err="1" smtClean="0">
                <a:latin typeface="微软雅黑" panose="020B0503020204020204" pitchFamily="34" charset="-122"/>
                <a:ea typeface="微软雅黑" panose="020B0503020204020204" pitchFamily="34" charset="-122"/>
              </a:rPr>
              <a:t>int</a:t>
            </a:r>
            <a:r>
              <a:rPr lang="en-US" altLang="zh-CN" sz="2000" b="1" dirty="0" smtClean="0">
                <a:latin typeface="微软雅黑" panose="020B0503020204020204" pitchFamily="34" charset="-122"/>
                <a:ea typeface="微软雅黑" panose="020B0503020204020204" pitchFamily="34" charset="-122"/>
              </a:rPr>
              <a:t> x=add(5,7);</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zh-CN" altLang="en-US" sz="2000" b="1" dirty="0" smtClean="0">
                <a:latin typeface="微软雅黑" panose="020B0503020204020204" pitchFamily="34" charset="-122"/>
                <a:ea typeface="微软雅黑" panose="020B0503020204020204" pitchFamily="34" charset="-122"/>
              </a:rPr>
              <a:t>其对应汇编代码如下：</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8048459</a:t>
            </a:r>
            <a:r>
              <a:rPr lang="zh-CN" altLang="en-US"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movl</a:t>
            </a:r>
            <a:r>
              <a:rPr lang="en-US" altLang="zh-CN" sz="2000" b="1" dirty="0" smtClean="0">
                <a:latin typeface="微软雅黑" panose="020B0503020204020204" pitchFamily="34" charset="-122"/>
                <a:ea typeface="微软雅黑" panose="020B0503020204020204" pitchFamily="34" charset="-122"/>
              </a:rPr>
              <a:t> $0x7,0x4(%</a:t>
            </a:r>
            <a:r>
              <a:rPr lang="en-US" altLang="zh-CN" sz="2000" b="1" dirty="0" err="1" smtClean="0">
                <a:latin typeface="微软雅黑" panose="020B0503020204020204" pitchFamily="34" charset="-122"/>
                <a:ea typeface="微软雅黑" panose="020B0503020204020204" pitchFamily="34" charset="-122"/>
              </a:rPr>
              <a:t>esp</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把</a:t>
            </a:r>
            <a:r>
              <a:rPr lang="en-US" altLang="zh-CN" sz="2000" b="1" dirty="0" smtClean="0">
                <a:latin typeface="微软雅黑" panose="020B0503020204020204" pitchFamily="34" charset="-122"/>
                <a:ea typeface="微软雅黑" panose="020B0503020204020204" pitchFamily="34" charset="-122"/>
              </a:rPr>
              <a:t>7</a:t>
            </a:r>
            <a:r>
              <a:rPr lang="zh-CN" altLang="en-US" sz="2000" b="1" dirty="0">
                <a:latin typeface="微软雅黑" panose="020B0503020204020204" pitchFamily="34" charset="-122"/>
                <a:ea typeface="微软雅黑" panose="020B0503020204020204" pitchFamily="34" charset="-122"/>
              </a:rPr>
              <a:t>写入</a:t>
            </a:r>
            <a:r>
              <a:rPr lang="zh-CN" altLang="en-US" sz="2000" b="1" dirty="0" smtClean="0">
                <a:latin typeface="微软雅黑" panose="020B0503020204020204" pitchFamily="34" charset="-122"/>
                <a:ea typeface="微软雅黑" panose="020B0503020204020204" pitchFamily="34" charset="-122"/>
              </a:rPr>
              <a:t>地址</a:t>
            </a:r>
            <a:r>
              <a:rPr lang="en-US" altLang="zh-CN" sz="2000" b="1" dirty="0" smtClean="0">
                <a:latin typeface="微软雅黑" panose="020B0503020204020204" pitchFamily="34" charset="-122"/>
                <a:ea typeface="微软雅黑" panose="020B0503020204020204" pitchFamily="34" charset="-122"/>
              </a:rPr>
              <a:t>esp+4</a:t>
            </a:r>
            <a:r>
              <a:rPr lang="zh-CN" altLang="en-US" sz="2000" b="1" dirty="0" smtClean="0">
                <a:latin typeface="微软雅黑" panose="020B0503020204020204" pitchFamily="34" charset="-122"/>
                <a:ea typeface="微软雅黑" panose="020B0503020204020204" pitchFamily="34" charset="-122"/>
              </a:rPr>
              <a:t>中</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8048461</a:t>
            </a:r>
            <a:r>
              <a:rPr lang="zh-CN" altLang="en-US"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movl</a:t>
            </a:r>
            <a:r>
              <a:rPr lang="en-US" altLang="zh-CN" sz="2000" b="1" dirty="0" smtClean="0">
                <a:latin typeface="微软雅黑" panose="020B0503020204020204" pitchFamily="34" charset="-122"/>
                <a:ea typeface="微软雅黑" panose="020B0503020204020204" pitchFamily="34" charset="-122"/>
              </a:rPr>
              <a:t> $0x5,(%</a:t>
            </a:r>
            <a:r>
              <a:rPr lang="en-US" altLang="zh-CN" sz="2000" b="1" dirty="0" err="1" smtClean="0">
                <a:latin typeface="微软雅黑" panose="020B0503020204020204" pitchFamily="34" charset="-122"/>
                <a:ea typeface="微软雅黑" panose="020B0503020204020204" pitchFamily="34" charset="-122"/>
              </a:rPr>
              <a:t>esp</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把</a:t>
            </a:r>
            <a:r>
              <a:rPr lang="en-US" altLang="zh-CN" sz="2000" b="1" dirty="0" smtClean="0">
                <a:latin typeface="微软雅黑" panose="020B0503020204020204" pitchFamily="34" charset="-122"/>
                <a:ea typeface="微软雅黑" panose="020B0503020204020204" pitchFamily="34" charset="-122"/>
              </a:rPr>
              <a:t>5</a:t>
            </a:r>
            <a:r>
              <a:rPr lang="zh-CN" altLang="en-US" sz="2000" b="1" dirty="0" smtClean="0">
                <a:latin typeface="微软雅黑" panose="020B0503020204020204" pitchFamily="34" charset="-122"/>
                <a:ea typeface="微软雅黑" panose="020B0503020204020204" pitchFamily="34" charset="-122"/>
              </a:rPr>
              <a:t>写入地址</a:t>
            </a:r>
            <a:r>
              <a:rPr lang="en-US" altLang="zh-CN" sz="2000" b="1" dirty="0" err="1" smtClean="0">
                <a:latin typeface="微软雅黑" panose="020B0503020204020204" pitchFamily="34" charset="-122"/>
                <a:ea typeface="微软雅黑" panose="020B0503020204020204" pitchFamily="34" charset="-122"/>
              </a:rPr>
              <a:t>esp</a:t>
            </a:r>
            <a:r>
              <a:rPr lang="zh-CN" altLang="en-US" sz="2000" b="1" dirty="0" smtClean="0">
                <a:latin typeface="微软雅黑" panose="020B0503020204020204" pitchFamily="34" charset="-122"/>
                <a:ea typeface="微软雅黑" panose="020B0503020204020204" pitchFamily="34" charset="-122"/>
              </a:rPr>
              <a:t>中</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solidFill>
                  <a:srgbClr val="FFFF00"/>
                </a:solidFill>
                <a:latin typeface="微软雅黑" panose="020B0503020204020204" pitchFamily="34" charset="-122"/>
                <a:ea typeface="微软雅黑" panose="020B0503020204020204" pitchFamily="34" charset="-122"/>
              </a:rPr>
              <a:t>8048468</a:t>
            </a:r>
            <a:r>
              <a:rPr lang="zh-CN" altLang="en-US" sz="2000" b="1" dirty="0" smtClean="0">
                <a:solidFill>
                  <a:srgbClr val="FFFF00"/>
                </a:solidFill>
                <a:latin typeface="微软雅黑" panose="020B0503020204020204" pitchFamily="34" charset="-122"/>
                <a:ea typeface="微软雅黑" panose="020B0503020204020204" pitchFamily="34" charset="-122"/>
              </a:rPr>
              <a:t>：</a:t>
            </a:r>
            <a:r>
              <a:rPr lang="en-US" altLang="zh-CN" sz="2000" b="1" dirty="0" smtClean="0">
                <a:solidFill>
                  <a:srgbClr val="FFFF00"/>
                </a:solidFill>
                <a:latin typeface="微软雅黑" panose="020B0503020204020204" pitchFamily="34" charset="-122"/>
                <a:ea typeface="微软雅黑" panose="020B0503020204020204" pitchFamily="34" charset="-122"/>
              </a:rPr>
              <a:t>call 8048434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调用</a:t>
            </a:r>
            <a:r>
              <a:rPr lang="en-US" altLang="zh-CN" sz="2000" b="1" dirty="0" smtClean="0">
                <a:latin typeface="微软雅黑" panose="020B0503020204020204" pitchFamily="34" charset="-122"/>
                <a:ea typeface="微软雅黑" panose="020B0503020204020204" pitchFamily="34" charset="-122"/>
              </a:rPr>
              <a:t>8048434</a:t>
            </a:r>
            <a:r>
              <a:rPr lang="zh-CN" altLang="en-US" sz="2000" b="1" dirty="0" smtClean="0">
                <a:latin typeface="微软雅黑" panose="020B0503020204020204" pitchFamily="34" charset="-122"/>
                <a:ea typeface="微软雅黑" panose="020B0503020204020204" pitchFamily="34" charset="-122"/>
              </a:rPr>
              <a:t>地址的函数</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804846d:mov %eax,-0x8(%</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把</a:t>
            </a:r>
            <a:r>
              <a:rPr lang="en-US" altLang="zh-CN" sz="2000" b="1" dirty="0" err="1" smtClean="0">
                <a:latin typeface="微软雅黑" panose="020B0503020204020204" pitchFamily="34" charset="-122"/>
                <a:ea typeface="微软雅黑" panose="020B0503020204020204" pitchFamily="34" charset="-122"/>
              </a:rPr>
              <a:t>eax</a:t>
            </a:r>
            <a:r>
              <a:rPr lang="zh-CN" altLang="en-US" sz="2000" b="1" dirty="0" smtClean="0">
                <a:latin typeface="微软雅黑" panose="020B0503020204020204" pitchFamily="34" charset="-122"/>
                <a:ea typeface="微软雅黑" panose="020B0503020204020204" pitchFamily="34" charset="-122"/>
              </a:rPr>
              <a:t>的值写入地址</a:t>
            </a:r>
            <a:r>
              <a:rPr lang="en-US" altLang="zh-CN" sz="2000" b="1" dirty="0" smtClean="0">
                <a:latin typeface="微软雅黑" panose="020B0503020204020204" pitchFamily="34" charset="-122"/>
                <a:ea typeface="微软雅黑" panose="020B0503020204020204" pitchFamily="34" charset="-122"/>
              </a:rPr>
              <a:t>ebp-8</a:t>
            </a:r>
            <a:r>
              <a:rPr lang="zh-CN" altLang="en-US" sz="2000" b="1" dirty="0" smtClean="0">
                <a:latin typeface="微软雅黑" panose="020B0503020204020204" pitchFamily="34" charset="-122"/>
                <a:ea typeface="微软雅黑" panose="020B0503020204020204" pitchFamily="34" charset="-122"/>
              </a:rPr>
              <a:t>中</a:t>
            </a:r>
            <a:endParaRPr lang="en-US" altLang="zh-CN" sz="2000" b="1" dirty="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628650" y="231229"/>
            <a:ext cx="7886700" cy="1325563"/>
          </a:xfrm>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a:xfrm>
            <a:off x="676275" y="1268760"/>
            <a:ext cx="7886700" cy="4351338"/>
          </a:xfrm>
        </p:spPr>
        <p:txBody>
          <a:bodyPr/>
          <a:lstStyle/>
          <a:p>
            <a:pPr eaLnBrk="1" hangingPunct="1">
              <a:lnSpc>
                <a:spcPct val="120000"/>
              </a:lnSpc>
            </a:pPr>
            <a:r>
              <a:rPr lang="zh-CN" altLang="en-US" sz="2400" b="1" dirty="0" smtClean="0">
                <a:latin typeface="微软雅黑" panose="020B0503020204020204" pitchFamily="34" charset="-122"/>
                <a:ea typeface="微软雅黑" panose="020B0503020204020204" pitchFamily="34" charset="-122"/>
              </a:rPr>
              <a:t>函数调用的执行过程，例如：</a:t>
            </a:r>
            <a:endParaRPr lang="en-US" altLang="zh-CN" sz="24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zh-CN" altLang="en-US" sz="2000" b="1" dirty="0" smtClean="0">
                <a:latin typeface="微软雅黑" panose="020B0503020204020204" pitchFamily="34" charset="-122"/>
                <a:ea typeface="微软雅黑" panose="020B0503020204020204" pitchFamily="34" charset="-122"/>
              </a:rPr>
              <a:t>被调用函数对应汇编代码如下：</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8048434</a:t>
            </a:r>
            <a:r>
              <a:rPr lang="zh-CN" altLang="en-US" sz="2000" b="1" dirty="0" smtClean="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push %</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把</a:t>
            </a:r>
            <a:r>
              <a:rPr lang="en-US" altLang="zh-CN" sz="2000" b="1" dirty="0" err="1" smtClean="0">
                <a:latin typeface="微软雅黑" panose="020B0503020204020204" pitchFamily="34" charset="-122"/>
                <a:ea typeface="微软雅黑" panose="020B0503020204020204" pitchFamily="34" charset="-122"/>
              </a:rPr>
              <a:t>ebp</a:t>
            </a:r>
            <a:r>
              <a:rPr lang="zh-CN" altLang="en-US" sz="2000" b="1" dirty="0" smtClean="0">
                <a:latin typeface="微软雅黑" panose="020B0503020204020204" pitchFamily="34" charset="-122"/>
                <a:ea typeface="微软雅黑" panose="020B0503020204020204" pitchFamily="34" charset="-122"/>
              </a:rPr>
              <a:t>的值压入运行栈</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8048435</a:t>
            </a:r>
            <a:r>
              <a:rPr lang="zh-CN" altLang="en-US"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mov</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esp</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把</a:t>
            </a:r>
            <a:r>
              <a:rPr lang="en-US" altLang="zh-CN" sz="2000" b="1" dirty="0" err="1" smtClean="0">
                <a:latin typeface="微软雅黑" panose="020B0503020204020204" pitchFamily="34" charset="-122"/>
                <a:ea typeface="微软雅黑" panose="020B0503020204020204" pitchFamily="34" charset="-122"/>
              </a:rPr>
              <a:t>esp</a:t>
            </a:r>
            <a:r>
              <a:rPr lang="zh-CN" altLang="en-US" sz="2000" b="1" dirty="0" smtClean="0">
                <a:latin typeface="微软雅黑" panose="020B0503020204020204" pitchFamily="34" charset="-122"/>
                <a:ea typeface="微软雅黑" panose="020B0503020204020204" pitchFamily="34" charset="-122"/>
              </a:rPr>
              <a:t>的值赋给</a:t>
            </a:r>
            <a:r>
              <a:rPr lang="en-US" altLang="zh-CN" sz="2000" b="1" dirty="0" err="1" smtClean="0">
                <a:latin typeface="微软雅黑" panose="020B0503020204020204" pitchFamily="34" charset="-122"/>
                <a:ea typeface="微软雅黑" panose="020B0503020204020204" pitchFamily="34" charset="-122"/>
              </a:rPr>
              <a:t>ebp</a:t>
            </a: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2000" b="1" dirty="0" smtClean="0">
                <a:latin typeface="微软雅黑" panose="020B0503020204020204" pitchFamily="34" charset="-122"/>
                <a:ea typeface="微软雅黑" panose="020B0503020204020204" pitchFamily="34" charset="-122"/>
              </a:rPr>
              <a:t>8048437:  sub //$0x4,%esp</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804843a:  </a:t>
            </a:r>
            <a:r>
              <a:rPr lang="en-US" altLang="zh-CN" sz="2000" b="1" dirty="0" err="1" smtClean="0">
                <a:latin typeface="微软雅黑" panose="020B0503020204020204" pitchFamily="34" charset="-122"/>
                <a:ea typeface="微软雅黑" panose="020B0503020204020204" pitchFamily="34" charset="-122"/>
              </a:rPr>
              <a:t>mov</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$0xc(%</a:t>
            </a:r>
            <a:r>
              <a:rPr lang="en-US" altLang="zh-CN" sz="2000" b="1" dirty="0" err="1">
                <a:latin typeface="微软雅黑" panose="020B0503020204020204" pitchFamily="34" charset="-122"/>
                <a:ea typeface="微软雅黑" panose="020B0503020204020204" pitchFamily="34" charset="-122"/>
              </a:rPr>
              <a:t>ebp</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eax</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804843d:  add //0x8(%</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eax</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8048440:  </a:t>
            </a:r>
            <a:r>
              <a:rPr lang="en-US" altLang="zh-CN" sz="2000" b="1" dirty="0" err="1" smtClean="0">
                <a:latin typeface="微软雅黑" panose="020B0503020204020204" pitchFamily="34" charset="-122"/>
                <a:ea typeface="微软雅黑" panose="020B0503020204020204" pitchFamily="34" charset="-122"/>
              </a:rPr>
              <a:t>mov</a:t>
            </a:r>
            <a:r>
              <a:rPr lang="en-US" altLang="zh-CN" sz="2000" b="1" dirty="0" smtClean="0">
                <a:latin typeface="微软雅黑" panose="020B0503020204020204" pitchFamily="34" charset="-122"/>
                <a:ea typeface="微软雅黑" panose="020B0503020204020204" pitchFamily="34" charset="-122"/>
              </a:rPr>
              <a:t> //%eax,-0x4(%</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8048443:  </a:t>
            </a:r>
            <a:r>
              <a:rPr lang="en-US" altLang="zh-CN" sz="2000" b="1" dirty="0" err="1" smtClean="0">
                <a:latin typeface="微软雅黑" panose="020B0503020204020204" pitchFamily="34" charset="-122"/>
                <a:ea typeface="微软雅黑" panose="020B0503020204020204" pitchFamily="34" charset="-122"/>
              </a:rPr>
              <a:t>mov</a:t>
            </a:r>
            <a:r>
              <a:rPr lang="en-US" altLang="zh-CN" sz="2000" b="1" dirty="0" smtClean="0">
                <a:latin typeface="微软雅黑" panose="020B0503020204020204" pitchFamily="34" charset="-122"/>
                <a:ea typeface="微软雅黑" panose="020B0503020204020204" pitchFamily="34" charset="-122"/>
              </a:rPr>
              <a:t> //-0x4(%</a:t>
            </a:r>
            <a:r>
              <a:rPr lang="en-US" altLang="zh-CN" sz="2000" b="1" dirty="0" err="1" smtClean="0">
                <a:latin typeface="微软雅黑" panose="020B0503020204020204" pitchFamily="34" charset="-122"/>
                <a:ea typeface="微软雅黑" panose="020B0503020204020204" pitchFamily="34" charset="-122"/>
              </a:rPr>
              <a:t>ebp</a:t>
            </a:r>
            <a:r>
              <a:rPr lang="en-US" altLang="zh-CN" sz="2000" b="1" dirty="0" smtClean="0">
                <a:latin typeface="微软雅黑" panose="020B0503020204020204" pitchFamily="34" charset="-122"/>
                <a:ea typeface="微软雅黑" panose="020B0503020204020204" pitchFamily="34" charset="-122"/>
              </a:rPr>
              <a:t>),5eax</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8048446:  leave</a:t>
            </a:r>
            <a:endParaRPr lang="en-US" altLang="zh-CN" sz="2000" b="1" dirty="0" smtClean="0">
              <a:latin typeface="微软雅黑" panose="020B0503020204020204" pitchFamily="34" charset="-122"/>
              <a:ea typeface="微软雅黑" panose="020B0503020204020204" pitchFamily="34" charset="-122"/>
            </a:endParaRPr>
          </a:p>
          <a:p>
            <a:pPr marL="0" indent="0">
              <a:lnSpc>
                <a:spcPct val="120000"/>
              </a:lnSpc>
              <a:buNone/>
            </a:pPr>
            <a:r>
              <a:rPr lang="en-US" altLang="zh-CN" sz="2000" b="1" dirty="0" smtClean="0">
                <a:latin typeface="微软雅黑" panose="020B0503020204020204" pitchFamily="34" charset="-122"/>
                <a:ea typeface="微软雅黑" panose="020B0503020204020204" pitchFamily="34" charset="-122"/>
              </a:rPr>
              <a:t>8048447:  ret</a:t>
            </a:r>
            <a:endParaRPr lang="en-US" altLang="zh-CN" sz="2000" b="1" dirty="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628650" y="231229"/>
            <a:ext cx="7886700" cy="1325563"/>
          </a:xfrm>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3.7.1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运行栈与函数调用的执行</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a:xfrm>
            <a:off x="676275" y="1242442"/>
            <a:ext cx="7886700" cy="4351338"/>
          </a:xfrm>
        </p:spPr>
        <p:txBody>
          <a:bodyPr/>
          <a:lstStyle/>
          <a:p>
            <a:pPr eaLnBrk="1" hangingPunct="1">
              <a:lnSpc>
                <a:spcPct val="120000"/>
              </a:lnSpc>
            </a:pPr>
            <a:r>
              <a:rPr lang="zh-CN" altLang="en-US" sz="2400" b="1" dirty="0" smtClean="0">
                <a:latin typeface="微软雅黑" panose="020B0503020204020204" pitchFamily="34" charset="-122"/>
                <a:ea typeface="微软雅黑" panose="020B0503020204020204" pitchFamily="34" charset="-122"/>
              </a:rPr>
              <a:t>函数调用的执行过程中运行栈变化情况</a:t>
            </a:r>
            <a:endParaRPr lang="en-US" altLang="zh-CN" sz="2000" b="1" dirty="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en-US" altLang="zh-CN" sz="2000" b="1"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endParaRPr lang="zh-CN" altLang="en-US" sz="2000"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827584" y="1916832"/>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bl>
          </a:graphicData>
        </a:graphic>
      </p:graphicFrame>
      <p:cxnSp>
        <p:nvCxnSpPr>
          <p:cNvPr id="4" name="直接连接符 3"/>
          <p:cNvCxnSpPr/>
          <p:nvPr/>
        </p:nvCxnSpPr>
        <p:spPr bwMode="auto">
          <a:xfrm>
            <a:off x="827584" y="1700808"/>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2133253" y="1729383"/>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箭头连接符 5"/>
          <p:cNvCxnSpPr/>
          <p:nvPr/>
        </p:nvCxnSpPr>
        <p:spPr bwMode="auto">
          <a:xfrm>
            <a:off x="395536" y="3212976"/>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文本框 7"/>
          <p:cNvSpPr txBox="1"/>
          <p:nvPr/>
        </p:nvSpPr>
        <p:spPr bwMode="auto">
          <a:xfrm>
            <a:off x="251520" y="2702530"/>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sp>
        <p:nvSpPr>
          <p:cNvPr id="11" name="文本框 10"/>
          <p:cNvSpPr txBox="1"/>
          <p:nvPr/>
        </p:nvSpPr>
        <p:spPr bwMode="auto">
          <a:xfrm>
            <a:off x="988419" y="3773815"/>
            <a:ext cx="1583728"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(a</a:t>
            </a:r>
            <a:r>
              <a:rPr lang="zh-CN" altLang="en-US" sz="1200" b="1" dirty="0" smtClean="0"/>
              <a:t>）初始状态</a:t>
            </a:r>
            <a:endParaRPr lang="zh-CN" altLang="en-US" sz="1200" b="1" dirty="0" smtClean="0"/>
          </a:p>
        </p:txBody>
      </p:sp>
      <p:graphicFrame>
        <p:nvGraphicFramePr>
          <p:cNvPr id="12" name="表格 11"/>
          <p:cNvGraphicFramePr>
            <a:graphicFrameLocks noGrp="1"/>
          </p:cNvGraphicFramePr>
          <p:nvPr/>
        </p:nvGraphicFramePr>
        <p:xfrm>
          <a:off x="3591669" y="1888257"/>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a(5)</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b(7)</a:t>
                      </a:r>
                      <a:endParaRPr lang="zh-CN" altLang="en-US" dirty="0">
                        <a:solidFill>
                          <a:schemeClr val="tx1"/>
                        </a:solidFill>
                      </a:endParaRPr>
                    </a:p>
                  </a:txBody>
                  <a:tcPr>
                    <a:noFill/>
                  </a:tcPr>
                </a:tc>
              </a:tr>
            </a:tbl>
          </a:graphicData>
        </a:graphic>
      </p:graphicFrame>
      <p:cxnSp>
        <p:nvCxnSpPr>
          <p:cNvPr id="13" name="直接连接符 12"/>
          <p:cNvCxnSpPr/>
          <p:nvPr/>
        </p:nvCxnSpPr>
        <p:spPr bwMode="auto">
          <a:xfrm>
            <a:off x="3591669" y="1672233"/>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4897338" y="1700808"/>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箭头连接符 14"/>
          <p:cNvCxnSpPr/>
          <p:nvPr/>
        </p:nvCxnSpPr>
        <p:spPr bwMode="auto">
          <a:xfrm>
            <a:off x="3159621" y="3184401"/>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文本框 15"/>
          <p:cNvSpPr txBox="1"/>
          <p:nvPr/>
        </p:nvSpPr>
        <p:spPr bwMode="auto">
          <a:xfrm>
            <a:off x="3015605" y="2673955"/>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sp>
        <p:nvSpPr>
          <p:cNvPr id="17" name="文本框 16"/>
          <p:cNvSpPr txBox="1"/>
          <p:nvPr/>
        </p:nvSpPr>
        <p:spPr bwMode="auto">
          <a:xfrm>
            <a:off x="3577531" y="3745240"/>
            <a:ext cx="1758701"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a:t>
            </a:r>
            <a:r>
              <a:rPr lang="en-US" altLang="zh-CN" sz="1200" b="1" dirty="0"/>
              <a:t>b</a:t>
            </a:r>
            <a:r>
              <a:rPr lang="zh-CN" altLang="en-US" sz="1200" b="1" dirty="0" smtClean="0"/>
              <a:t>）把</a:t>
            </a:r>
            <a:r>
              <a:rPr lang="en-US" altLang="zh-CN" sz="1200" b="1" dirty="0" smtClean="0"/>
              <a:t>7</a:t>
            </a:r>
            <a:r>
              <a:rPr lang="zh-CN" altLang="en-US" sz="1200" b="1" dirty="0" smtClean="0"/>
              <a:t>和</a:t>
            </a:r>
            <a:r>
              <a:rPr lang="en-US" altLang="zh-CN" sz="1200" b="1" dirty="0" smtClean="0"/>
              <a:t>5 </a:t>
            </a:r>
            <a:r>
              <a:rPr lang="zh-CN" altLang="en-US" sz="1200" b="1" dirty="0" smtClean="0"/>
              <a:t>写入内存后</a:t>
            </a:r>
            <a:endParaRPr lang="zh-CN" altLang="en-US" sz="1200" b="1" dirty="0" smtClean="0"/>
          </a:p>
        </p:txBody>
      </p:sp>
      <p:graphicFrame>
        <p:nvGraphicFramePr>
          <p:cNvPr id="18" name="表格 17"/>
          <p:cNvGraphicFramePr>
            <a:graphicFrameLocks noGrp="1"/>
          </p:cNvGraphicFramePr>
          <p:nvPr/>
        </p:nvGraphicFramePr>
        <p:xfrm>
          <a:off x="6638132" y="4481930"/>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en-US" altLang="zh-CN" dirty="0" err="1" smtClean="0">
                          <a:solidFill>
                            <a:schemeClr val="tx1"/>
                          </a:solidFill>
                        </a:rPr>
                        <a:t>ebp</a:t>
                      </a:r>
                      <a:r>
                        <a:rPr lang="zh-CN" altLang="en-US" dirty="0" smtClean="0">
                          <a:solidFill>
                            <a:schemeClr val="tx1"/>
                          </a:solidFill>
                        </a:rPr>
                        <a:t>原值</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返回地址</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a(5)</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b(7)</a:t>
                      </a:r>
                      <a:endParaRPr lang="zh-CN" altLang="en-US" dirty="0">
                        <a:solidFill>
                          <a:schemeClr val="tx1"/>
                        </a:solidFill>
                      </a:endParaRPr>
                    </a:p>
                  </a:txBody>
                  <a:tcPr>
                    <a:noFill/>
                  </a:tcPr>
                </a:tc>
              </a:tr>
            </a:tbl>
          </a:graphicData>
        </a:graphic>
      </p:graphicFrame>
      <p:cxnSp>
        <p:nvCxnSpPr>
          <p:cNvPr id="19" name="直接连接符 18"/>
          <p:cNvCxnSpPr/>
          <p:nvPr/>
        </p:nvCxnSpPr>
        <p:spPr bwMode="auto">
          <a:xfrm>
            <a:off x="6638132" y="4265906"/>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7943801" y="4294481"/>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a:off x="6206084" y="5019566"/>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文本框 21"/>
          <p:cNvSpPr txBox="1"/>
          <p:nvPr/>
        </p:nvSpPr>
        <p:spPr bwMode="auto">
          <a:xfrm>
            <a:off x="6062068" y="4509120"/>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sp>
        <p:nvSpPr>
          <p:cNvPr id="23" name="文本框 22"/>
          <p:cNvSpPr txBox="1"/>
          <p:nvPr/>
        </p:nvSpPr>
        <p:spPr bwMode="auto">
          <a:xfrm>
            <a:off x="6623994" y="6338913"/>
            <a:ext cx="2052462"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(d</a:t>
            </a:r>
            <a:r>
              <a:rPr lang="zh-CN" altLang="en-US" sz="1200" b="1" dirty="0" smtClean="0"/>
              <a:t>）执行</a:t>
            </a:r>
            <a:r>
              <a:rPr lang="en-US" altLang="zh-CN" sz="1200" b="1" dirty="0" err="1" smtClean="0"/>
              <a:t>push%ebp</a:t>
            </a:r>
            <a:r>
              <a:rPr lang="zh-CN" altLang="en-US" sz="1200" b="1" dirty="0" smtClean="0"/>
              <a:t>指令后</a:t>
            </a:r>
            <a:endParaRPr lang="zh-CN" altLang="en-US" sz="1200" b="1" dirty="0" smtClean="0"/>
          </a:p>
        </p:txBody>
      </p:sp>
      <p:graphicFrame>
        <p:nvGraphicFramePr>
          <p:cNvPr id="24" name="表格 23"/>
          <p:cNvGraphicFramePr>
            <a:graphicFrameLocks noGrp="1"/>
          </p:cNvGraphicFramePr>
          <p:nvPr/>
        </p:nvGraphicFramePr>
        <p:xfrm>
          <a:off x="6579988" y="1673721"/>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返回地址</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a(5)</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b(7)</a:t>
                      </a:r>
                      <a:endParaRPr lang="zh-CN" altLang="en-US" dirty="0">
                        <a:solidFill>
                          <a:schemeClr val="tx1"/>
                        </a:solidFill>
                      </a:endParaRPr>
                    </a:p>
                  </a:txBody>
                  <a:tcPr>
                    <a:noFill/>
                  </a:tcPr>
                </a:tc>
              </a:tr>
            </a:tbl>
          </a:graphicData>
        </a:graphic>
      </p:graphicFrame>
      <p:cxnSp>
        <p:nvCxnSpPr>
          <p:cNvPr id="25" name="直接连接符 24"/>
          <p:cNvCxnSpPr/>
          <p:nvPr/>
        </p:nvCxnSpPr>
        <p:spPr bwMode="auto">
          <a:xfrm>
            <a:off x="6579988" y="1457697"/>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7885657" y="1486272"/>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箭头连接符 26"/>
          <p:cNvCxnSpPr/>
          <p:nvPr/>
        </p:nvCxnSpPr>
        <p:spPr bwMode="auto">
          <a:xfrm>
            <a:off x="6147940" y="2547357"/>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文本框 27"/>
          <p:cNvSpPr txBox="1"/>
          <p:nvPr/>
        </p:nvSpPr>
        <p:spPr bwMode="auto">
          <a:xfrm>
            <a:off x="6003924" y="2036911"/>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sp>
        <p:nvSpPr>
          <p:cNvPr id="29" name="文本框 28"/>
          <p:cNvSpPr txBox="1"/>
          <p:nvPr/>
        </p:nvSpPr>
        <p:spPr bwMode="auto">
          <a:xfrm>
            <a:off x="6565850" y="3530704"/>
            <a:ext cx="1758701"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(c</a:t>
            </a:r>
            <a:r>
              <a:rPr lang="zh-CN" altLang="en-US" sz="1200" b="1" dirty="0" smtClean="0"/>
              <a:t>）执行</a:t>
            </a:r>
            <a:r>
              <a:rPr lang="en-US" altLang="zh-CN" sz="1200" b="1" dirty="0" smtClean="0"/>
              <a:t>call</a:t>
            </a:r>
            <a:r>
              <a:rPr lang="zh-CN" altLang="en-US" sz="1200" b="1" dirty="0" smtClean="0"/>
              <a:t>指令后</a:t>
            </a:r>
            <a:endParaRPr lang="zh-CN" altLang="en-US" sz="1200" b="1" dirty="0" smtClean="0"/>
          </a:p>
        </p:txBody>
      </p:sp>
      <p:graphicFrame>
        <p:nvGraphicFramePr>
          <p:cNvPr id="35" name="表格 34"/>
          <p:cNvGraphicFramePr>
            <a:graphicFrameLocks noGrp="1"/>
          </p:cNvGraphicFramePr>
          <p:nvPr/>
        </p:nvGraphicFramePr>
        <p:xfrm>
          <a:off x="3580357" y="4481930"/>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a:t>
                      </a:r>
                      <a:endParaRPr lang="zh-CN" altLang="en-US" dirty="0">
                        <a:solidFill>
                          <a:schemeClr val="tx1"/>
                        </a:solidFill>
                      </a:endParaRPr>
                    </a:p>
                  </a:txBody>
                  <a:tcPr>
                    <a:noFill/>
                  </a:tcPr>
                </a:tc>
              </a:tr>
              <a:tr h="370840">
                <a:tc>
                  <a:txBody>
                    <a:bodyPr/>
                    <a:lstStyle/>
                    <a:p>
                      <a:pPr algn="ctr"/>
                      <a:r>
                        <a:rPr lang="en-US" altLang="zh-CN" dirty="0" err="1" smtClean="0">
                          <a:solidFill>
                            <a:schemeClr val="tx1"/>
                          </a:solidFill>
                        </a:rPr>
                        <a:t>ebp</a:t>
                      </a:r>
                      <a:r>
                        <a:rPr lang="zh-CN" altLang="en-US" dirty="0" smtClean="0">
                          <a:solidFill>
                            <a:schemeClr val="tx1"/>
                          </a:solidFill>
                        </a:rPr>
                        <a:t>原值</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返回地址</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a(5)</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b(7)</a:t>
                      </a:r>
                      <a:endParaRPr lang="zh-CN" altLang="en-US" dirty="0">
                        <a:solidFill>
                          <a:schemeClr val="tx1"/>
                        </a:solidFill>
                      </a:endParaRPr>
                    </a:p>
                  </a:txBody>
                  <a:tcPr>
                    <a:noFill/>
                  </a:tcPr>
                </a:tc>
              </a:tr>
            </a:tbl>
          </a:graphicData>
        </a:graphic>
      </p:graphicFrame>
      <p:cxnSp>
        <p:nvCxnSpPr>
          <p:cNvPr id="36" name="直接连接符 35"/>
          <p:cNvCxnSpPr/>
          <p:nvPr/>
        </p:nvCxnSpPr>
        <p:spPr bwMode="auto">
          <a:xfrm>
            <a:off x="3580357" y="4265906"/>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4886026" y="4294481"/>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箭头连接符 37"/>
          <p:cNvCxnSpPr/>
          <p:nvPr/>
        </p:nvCxnSpPr>
        <p:spPr bwMode="auto">
          <a:xfrm>
            <a:off x="3148309" y="5019566"/>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文本框 38"/>
          <p:cNvSpPr txBox="1"/>
          <p:nvPr/>
        </p:nvSpPr>
        <p:spPr bwMode="auto">
          <a:xfrm>
            <a:off x="3004293" y="4509120"/>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ebp</a:t>
            </a:r>
            <a:endParaRPr lang="zh-CN" altLang="en-US" sz="1800" dirty="0" smtClean="0"/>
          </a:p>
        </p:txBody>
      </p:sp>
      <p:sp>
        <p:nvSpPr>
          <p:cNvPr id="40" name="文本框 39"/>
          <p:cNvSpPr txBox="1"/>
          <p:nvPr/>
        </p:nvSpPr>
        <p:spPr bwMode="auto">
          <a:xfrm>
            <a:off x="3566219" y="6338913"/>
            <a:ext cx="2052462"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(e</a:t>
            </a:r>
            <a:r>
              <a:rPr lang="zh-CN" altLang="en-US" sz="1200" b="1" dirty="0" smtClean="0"/>
              <a:t>）执行接下来两条指令后</a:t>
            </a:r>
            <a:endParaRPr lang="zh-CN" altLang="en-US" sz="1200" b="1" dirty="0" smtClean="0"/>
          </a:p>
        </p:txBody>
      </p:sp>
      <p:cxnSp>
        <p:nvCxnSpPr>
          <p:cNvPr id="41" name="直接箭头连接符 40"/>
          <p:cNvCxnSpPr/>
          <p:nvPr/>
        </p:nvCxnSpPr>
        <p:spPr bwMode="auto">
          <a:xfrm>
            <a:off x="3138635" y="4653593"/>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p:cNvSpPr txBox="1"/>
          <p:nvPr/>
        </p:nvSpPr>
        <p:spPr bwMode="auto">
          <a:xfrm>
            <a:off x="2994619" y="4143147"/>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graphicFrame>
        <p:nvGraphicFramePr>
          <p:cNvPr id="43" name="表格 42"/>
          <p:cNvGraphicFramePr>
            <a:graphicFrameLocks noGrp="1"/>
          </p:cNvGraphicFramePr>
          <p:nvPr/>
        </p:nvGraphicFramePr>
        <p:xfrm>
          <a:off x="934803" y="4459021"/>
          <a:ext cx="1319808" cy="1854200"/>
        </p:xfrm>
        <a:graphic>
          <a:graphicData uri="http://schemas.openxmlformats.org/drawingml/2006/table">
            <a:tbl>
              <a:tblPr firstRow="1" bandRow="1">
                <a:tableStyleId>{5C22544A-7EE6-4342-B048-85BDC9FD1C3A}</a:tableStyleId>
              </a:tblPr>
              <a:tblGrid>
                <a:gridCol w="1319808"/>
              </a:tblGrid>
              <a:tr h="370840">
                <a:tc>
                  <a:txBody>
                    <a:bodyPr/>
                    <a:lstStyle/>
                    <a:p>
                      <a:pPr algn="ctr"/>
                      <a:r>
                        <a:rPr lang="zh-CN" altLang="en-US" dirty="0" smtClean="0">
                          <a:solidFill>
                            <a:schemeClr val="tx1"/>
                          </a:solidFill>
                        </a:rPr>
                        <a:t>局部变量</a:t>
                      </a:r>
                      <a:r>
                        <a:rPr lang="en-US" altLang="zh-CN" dirty="0" smtClean="0">
                          <a:solidFill>
                            <a:schemeClr val="tx1"/>
                          </a:solidFill>
                        </a:rPr>
                        <a:t>c</a:t>
                      </a:r>
                      <a:endParaRPr lang="zh-CN" altLang="en-US" dirty="0">
                        <a:solidFill>
                          <a:schemeClr val="tx1"/>
                        </a:solidFill>
                      </a:endParaRPr>
                    </a:p>
                  </a:txBody>
                  <a:tcPr>
                    <a:noFill/>
                  </a:tcPr>
                </a:tc>
              </a:tr>
              <a:tr h="370840">
                <a:tc>
                  <a:txBody>
                    <a:bodyPr/>
                    <a:lstStyle/>
                    <a:p>
                      <a:pPr algn="ctr"/>
                      <a:r>
                        <a:rPr lang="en-US" altLang="zh-CN" dirty="0" err="1" smtClean="0">
                          <a:solidFill>
                            <a:schemeClr val="tx1"/>
                          </a:solidFill>
                        </a:rPr>
                        <a:t>ebp</a:t>
                      </a:r>
                      <a:r>
                        <a:rPr lang="zh-CN" altLang="en-US" dirty="0" smtClean="0">
                          <a:solidFill>
                            <a:schemeClr val="tx1"/>
                          </a:solidFill>
                        </a:rPr>
                        <a:t>原值</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返回地址</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a(5)</a:t>
                      </a:r>
                      <a:endParaRPr lang="zh-CN" altLang="en-US" dirty="0">
                        <a:solidFill>
                          <a:schemeClr val="tx1"/>
                        </a:solidFill>
                      </a:endParaRPr>
                    </a:p>
                  </a:txBody>
                  <a:tcPr>
                    <a:noFill/>
                  </a:tcPr>
                </a:tc>
              </a:tr>
              <a:tr h="370840">
                <a:tc>
                  <a:txBody>
                    <a:bodyPr/>
                    <a:lstStyle/>
                    <a:p>
                      <a:pPr algn="ctr"/>
                      <a:r>
                        <a:rPr lang="zh-CN" altLang="en-US" dirty="0" smtClean="0">
                          <a:solidFill>
                            <a:schemeClr val="tx1"/>
                          </a:solidFill>
                        </a:rPr>
                        <a:t>形参</a:t>
                      </a:r>
                      <a:r>
                        <a:rPr lang="en-US" altLang="zh-CN" dirty="0" smtClean="0">
                          <a:solidFill>
                            <a:schemeClr val="tx1"/>
                          </a:solidFill>
                        </a:rPr>
                        <a:t>b(7)</a:t>
                      </a:r>
                      <a:endParaRPr lang="zh-CN" altLang="en-US" dirty="0">
                        <a:solidFill>
                          <a:schemeClr val="tx1"/>
                        </a:solidFill>
                      </a:endParaRPr>
                    </a:p>
                  </a:txBody>
                  <a:tcPr>
                    <a:noFill/>
                  </a:tcPr>
                </a:tc>
              </a:tr>
            </a:tbl>
          </a:graphicData>
        </a:graphic>
      </p:graphicFrame>
      <p:cxnSp>
        <p:nvCxnSpPr>
          <p:cNvPr id="44" name="直接连接符 43"/>
          <p:cNvCxnSpPr/>
          <p:nvPr/>
        </p:nvCxnSpPr>
        <p:spPr bwMode="auto">
          <a:xfrm>
            <a:off x="934803" y="4242997"/>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2240472" y="4271572"/>
            <a:ext cx="0" cy="21602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箭头连接符 45"/>
          <p:cNvCxnSpPr/>
          <p:nvPr/>
        </p:nvCxnSpPr>
        <p:spPr bwMode="auto">
          <a:xfrm>
            <a:off x="502755" y="4996657"/>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p:cNvSpPr txBox="1"/>
          <p:nvPr/>
        </p:nvSpPr>
        <p:spPr bwMode="auto">
          <a:xfrm>
            <a:off x="358739" y="4486211"/>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ebp</a:t>
            </a:r>
            <a:endParaRPr lang="zh-CN" altLang="en-US" sz="1800" dirty="0" smtClean="0"/>
          </a:p>
        </p:txBody>
      </p:sp>
      <p:sp>
        <p:nvSpPr>
          <p:cNvPr id="48" name="文本框 47"/>
          <p:cNvSpPr txBox="1"/>
          <p:nvPr/>
        </p:nvSpPr>
        <p:spPr bwMode="auto">
          <a:xfrm>
            <a:off x="920665" y="6316004"/>
            <a:ext cx="2052462"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200" b="1" dirty="0" smtClean="0"/>
              <a:t>(f</a:t>
            </a:r>
            <a:r>
              <a:rPr lang="zh-CN" altLang="en-US" sz="1200" b="1" dirty="0" smtClean="0"/>
              <a:t>）执行</a:t>
            </a:r>
            <a:r>
              <a:rPr lang="en-US" altLang="zh-CN" sz="1200" b="1" dirty="0" smtClean="0"/>
              <a:t>8048440</a:t>
            </a:r>
            <a:r>
              <a:rPr lang="zh-CN" altLang="en-US" sz="1200" b="1" dirty="0" smtClean="0"/>
              <a:t>指令后</a:t>
            </a:r>
            <a:endParaRPr lang="zh-CN" altLang="en-US" sz="1200" b="1" dirty="0" smtClean="0"/>
          </a:p>
        </p:txBody>
      </p:sp>
      <p:cxnSp>
        <p:nvCxnSpPr>
          <p:cNvPr id="49" name="直接箭头连接符 48"/>
          <p:cNvCxnSpPr/>
          <p:nvPr/>
        </p:nvCxnSpPr>
        <p:spPr bwMode="auto">
          <a:xfrm>
            <a:off x="493081" y="4630684"/>
            <a:ext cx="28073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文本框 49"/>
          <p:cNvSpPr txBox="1"/>
          <p:nvPr/>
        </p:nvSpPr>
        <p:spPr bwMode="auto">
          <a:xfrm>
            <a:off x="349065" y="4120238"/>
            <a:ext cx="561926" cy="50783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800" dirty="0" err="1" smtClean="0"/>
              <a:t>esp</a:t>
            </a:r>
            <a:endParaRPr lang="zh-CN" altLang="en-US" sz="1800" dirty="0" smtClean="0"/>
          </a:p>
        </p:txBody>
      </p:sp>
      <p:cxnSp>
        <p:nvCxnSpPr>
          <p:cNvPr id="10" name="直接连接符 9"/>
          <p:cNvCxnSpPr/>
          <p:nvPr/>
        </p:nvCxnSpPr>
        <p:spPr bwMode="auto">
          <a:xfrm flipV="1">
            <a:off x="0" y="4062214"/>
            <a:ext cx="9144000" cy="62192"/>
          </a:xfrm>
          <a:prstGeom prst="line">
            <a:avLst/>
          </a:prstGeom>
          <a:solidFill>
            <a:schemeClr val="accent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右箭头 50"/>
          <p:cNvSpPr/>
          <p:nvPr/>
        </p:nvSpPr>
        <p:spPr bwMode="auto">
          <a:xfrm>
            <a:off x="2491953" y="2581897"/>
            <a:ext cx="317576" cy="4362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54" name="右箭头 53"/>
          <p:cNvSpPr/>
          <p:nvPr/>
        </p:nvSpPr>
        <p:spPr bwMode="auto">
          <a:xfrm>
            <a:off x="5492227" y="2491637"/>
            <a:ext cx="317576" cy="4362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52" name="下箭头 51"/>
          <p:cNvSpPr/>
          <p:nvPr/>
        </p:nvSpPr>
        <p:spPr bwMode="auto">
          <a:xfrm>
            <a:off x="7004744" y="3991327"/>
            <a:ext cx="581756" cy="25167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53" name="左箭头 52"/>
          <p:cNvSpPr/>
          <p:nvPr/>
        </p:nvSpPr>
        <p:spPr bwMode="auto">
          <a:xfrm>
            <a:off x="2640421" y="5051080"/>
            <a:ext cx="316575" cy="579246"/>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noFill/>
          <a:ln>
            <a:noFill/>
          </a:ln>
        </p:spPr>
        <p:txBody>
          <a:bodyPr anchor="t"/>
          <a:lstStyle/>
          <a:p>
            <a:pPr algn="ctr"/>
            <a:r>
              <a:rPr lang="en-US" altLang="zh-CN" sz="4400" b="1" dirty="0" smtClean="0">
                <a:solidFill>
                  <a:srgbClr val="FFFFFF"/>
                </a:solidFill>
                <a:latin typeface="Times New Roman" panose="02020603050405020304" pitchFamily="18" charset="0"/>
                <a:ea typeface="隶书" panose="02010509060101010101" pitchFamily="49" charset="-122"/>
                <a:cs typeface="+mn-cs"/>
              </a:rPr>
              <a:t>3.7.2  </a:t>
            </a:r>
            <a:r>
              <a:rPr lang="zh-CN" altLang="en-US" sz="4400" b="1" dirty="0" smtClean="0">
                <a:solidFill>
                  <a:srgbClr val="FFFFFF"/>
                </a:solidFill>
                <a:latin typeface="Times New Roman" panose="02020603050405020304" pitchFamily="18" charset="0"/>
                <a:ea typeface="隶书" panose="02010509060101010101" pitchFamily="49" charset="-122"/>
                <a:cs typeface="+mn-cs"/>
              </a:rPr>
              <a:t>函数声明和类型安全</a:t>
            </a:r>
            <a:endParaRPr lang="zh-CN" altLang="en-US" sz="4400" b="1" dirty="0" smtClean="0">
              <a:solidFill>
                <a:srgbClr val="FFFFFF"/>
              </a:solidFill>
              <a:latin typeface="Times New Roman" panose="02020603050405020304" pitchFamily="18" charset="0"/>
              <a:ea typeface="隶书" panose="02010509060101010101" pitchFamily="49" charset="-122"/>
              <a:cs typeface="+mn-cs"/>
            </a:endParaRPr>
          </a:p>
        </p:txBody>
      </p:sp>
      <p:sp>
        <p:nvSpPr>
          <p:cNvPr id="76803" name="内容占位符 2"/>
          <p:cNvSpPr>
            <a:spLocks noGrp="1"/>
          </p:cNvSpPr>
          <p:nvPr>
            <p:ph idx="1"/>
          </p:nvPr>
        </p:nvSpPr>
        <p:spPr>
          <a:xfrm>
            <a:off x="663749" y="1663283"/>
            <a:ext cx="7886700" cy="4351338"/>
          </a:xfrm>
        </p:spPr>
        <p:txBody>
          <a:bodyPr/>
          <a:lstStyle/>
          <a:p>
            <a:pPr eaLnBrk="1" hangingPunct="1">
              <a:lnSpc>
                <a:spcPct val="120000"/>
              </a:lnSpc>
            </a:pPr>
            <a:r>
              <a:rPr lang="zh-CN" altLang="en-US" sz="2000" dirty="0" smtClean="0">
                <a:latin typeface="微软雅黑" panose="020B0503020204020204" pitchFamily="34" charset="-122"/>
                <a:ea typeface="微软雅黑" panose="020B0503020204020204" pitchFamily="34" charset="-122"/>
              </a:rPr>
              <a:t>不同类型的数据，在内存中均以二进制数表示，运行时没有保存其类型信息，因此变量必须先声明再使用。函数亦是如此。</a:t>
            </a:r>
            <a:endParaRPr lang="en-US" altLang="zh-CN" sz="2000" dirty="0" smtClean="0">
              <a:latin typeface="微软雅黑" panose="020B0503020204020204" pitchFamily="34" charset="-122"/>
              <a:ea typeface="微软雅黑" panose="020B0503020204020204" pitchFamily="34" charset="-122"/>
            </a:endParaRPr>
          </a:p>
          <a:p>
            <a:pPr eaLnBrk="1" hangingPunct="1">
              <a:lnSpc>
                <a:spcPct val="120000"/>
              </a:lnSpc>
            </a:pPr>
            <a:r>
              <a:rPr lang="zh-CN" altLang="en-US" sz="2000" dirty="0" smtClean="0">
                <a:latin typeface="微软雅黑" panose="020B0503020204020204" pitchFamily="34" charset="-122"/>
                <a:ea typeface="微软雅黑" panose="020B0503020204020204" pitchFamily="34" charset="-122"/>
              </a:rPr>
              <a:t>函数原型是主调函数和被调函数之间的一个协议。函数调用时，主调函数依据它把数量和类型正确的参数压入运行栈；被调函数依据它存储类型正确的返回值。</a:t>
            </a: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pPr>
            <a:r>
              <a:rPr lang="en-US" altLang="zh-CN" sz="2000" dirty="0" smtClean="0">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比</a:t>
            </a:r>
            <a:r>
              <a:rPr lang="en-US" altLang="zh-CN" sz="2000" dirty="0" smtClean="0">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更安全，例如：</a:t>
            </a:r>
            <a:endParaRPr lang="zh-CN" altLang="en-US" sz="2000" dirty="0" smtClean="0">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smtClean="0">
                <a:solidFill>
                  <a:srgbClr val="FFFF00"/>
                </a:solidFill>
                <a:latin typeface="微软雅黑" panose="020B0503020204020204" pitchFamily="34" charset="-122"/>
                <a:ea typeface="微软雅黑" panose="020B0503020204020204" pitchFamily="34" charset="-122"/>
              </a:rPr>
              <a:t>double add();//</a:t>
            </a:r>
            <a:r>
              <a:rPr lang="zh-CN" altLang="en-US" sz="1600" b="1" dirty="0" smtClean="0">
                <a:solidFill>
                  <a:srgbClr val="FFFF00"/>
                </a:solidFill>
                <a:latin typeface="微软雅黑" panose="020B0503020204020204" pitchFamily="34" charset="-122"/>
                <a:ea typeface="微软雅黑" panose="020B0503020204020204" pitchFamily="34" charset="-122"/>
              </a:rPr>
              <a:t>不完整的函数声明</a:t>
            </a:r>
            <a:r>
              <a:rPr lang="en-US" altLang="zh-CN" sz="1600" b="1" dirty="0" smtClean="0">
                <a:solidFill>
                  <a:srgbClr val="FFFF00"/>
                </a:solidFill>
                <a:latin typeface="微软雅黑" panose="020B0503020204020204" pitchFamily="34" charset="-122"/>
                <a:ea typeface="微软雅黑" panose="020B0503020204020204" pitchFamily="34" charset="-122"/>
              </a:rPr>
              <a:t>,c</a:t>
            </a:r>
            <a:r>
              <a:rPr lang="zh-CN" altLang="en-US" sz="1600" b="1" dirty="0" smtClean="0">
                <a:solidFill>
                  <a:srgbClr val="FFFF00"/>
                </a:solidFill>
                <a:latin typeface="微软雅黑" panose="020B0503020204020204" pitchFamily="34" charset="-122"/>
                <a:ea typeface="微软雅黑" panose="020B0503020204020204" pitchFamily="34" charset="-122"/>
              </a:rPr>
              <a:t>语言中表示参数未知，而不是为空</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err="1" smtClean="0">
                <a:solidFill>
                  <a:srgbClr val="FFFF00"/>
                </a:solidFill>
                <a:latin typeface="微软雅黑" panose="020B0503020204020204" pitchFamily="34" charset="-122"/>
                <a:ea typeface="微软雅黑" panose="020B0503020204020204" pitchFamily="34" charset="-122"/>
              </a:rPr>
              <a:t>int</a:t>
            </a:r>
            <a:r>
              <a:rPr lang="en-US" altLang="zh-CN" sz="1600" b="1" dirty="0" smtClean="0">
                <a:solidFill>
                  <a:srgbClr val="FFFF00"/>
                </a:solidFill>
                <a:latin typeface="微软雅黑" panose="020B0503020204020204" pitchFamily="34" charset="-122"/>
                <a:ea typeface="微软雅黑" panose="020B0503020204020204" pitchFamily="34" charset="-122"/>
              </a:rPr>
              <a:t> main(){</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a:solidFill>
                  <a:srgbClr val="FFFF00"/>
                </a:solidFill>
                <a:latin typeface="微软雅黑" panose="020B0503020204020204" pitchFamily="34" charset="-122"/>
                <a:ea typeface="微软雅黑" panose="020B0503020204020204" pitchFamily="34" charset="-122"/>
              </a:rPr>
              <a:t> </a:t>
            </a:r>
            <a:r>
              <a:rPr lang="en-US" altLang="zh-CN" sz="1600" b="1" dirty="0" smtClean="0">
                <a:solidFill>
                  <a:srgbClr val="FFFF00"/>
                </a:solidFill>
                <a:latin typeface="微软雅黑" panose="020B0503020204020204" pitchFamily="34" charset="-122"/>
                <a:ea typeface="微软雅黑" panose="020B0503020204020204" pitchFamily="34" charset="-122"/>
              </a:rPr>
              <a:t> double s=add(1,2);</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smtClean="0">
                <a:solidFill>
                  <a:srgbClr val="FFFF00"/>
                </a:solidFill>
                <a:latin typeface="微软雅黑" panose="020B0503020204020204" pitchFamily="34" charset="-122"/>
                <a:ea typeface="微软雅黑" panose="020B0503020204020204" pitchFamily="34" charset="-122"/>
              </a:rPr>
              <a:t>……</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smtClean="0">
                <a:solidFill>
                  <a:srgbClr val="FFFF00"/>
                </a:solidFill>
                <a:latin typeface="微软雅黑" panose="020B0503020204020204" pitchFamily="34" charset="-122"/>
                <a:ea typeface="微软雅黑" panose="020B0503020204020204" pitchFamily="34" charset="-122"/>
              </a:rPr>
              <a:t>}</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smtClean="0">
                <a:solidFill>
                  <a:srgbClr val="FFFF00"/>
                </a:solidFill>
                <a:latin typeface="微软雅黑" panose="020B0503020204020204" pitchFamily="34" charset="-122"/>
                <a:ea typeface="微软雅黑" panose="020B0503020204020204" pitchFamily="34" charset="-122"/>
              </a:rPr>
              <a:t>double add(double </a:t>
            </a:r>
            <a:r>
              <a:rPr lang="en-US" altLang="zh-CN" sz="1600" b="1" dirty="0" err="1" smtClean="0">
                <a:solidFill>
                  <a:srgbClr val="FFFF00"/>
                </a:solidFill>
                <a:latin typeface="微软雅黑" panose="020B0503020204020204" pitchFamily="34" charset="-122"/>
                <a:ea typeface="微软雅黑" panose="020B0503020204020204" pitchFamily="34" charset="-122"/>
              </a:rPr>
              <a:t>a,double</a:t>
            </a:r>
            <a:r>
              <a:rPr lang="en-US" altLang="zh-CN" sz="1600" b="1" dirty="0" smtClean="0">
                <a:solidFill>
                  <a:srgbClr val="FFFF00"/>
                </a:solidFill>
                <a:latin typeface="微软雅黑" panose="020B0503020204020204" pitchFamily="34" charset="-122"/>
                <a:ea typeface="微软雅黑" panose="020B0503020204020204" pitchFamily="34" charset="-122"/>
              </a:rPr>
              <a:t> b){</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a:solidFill>
                  <a:srgbClr val="FFFF00"/>
                </a:solidFill>
                <a:latin typeface="微软雅黑" panose="020B0503020204020204" pitchFamily="34" charset="-122"/>
                <a:ea typeface="微软雅黑" panose="020B0503020204020204" pitchFamily="34" charset="-122"/>
              </a:rPr>
              <a:t> </a:t>
            </a:r>
            <a:r>
              <a:rPr lang="en-US" altLang="zh-CN" sz="1600" b="1" dirty="0" smtClean="0">
                <a:solidFill>
                  <a:srgbClr val="FFFF00"/>
                </a:solidFill>
                <a:latin typeface="微软雅黑" panose="020B0503020204020204" pitchFamily="34" charset="-122"/>
                <a:ea typeface="微软雅黑" panose="020B0503020204020204" pitchFamily="34" charset="-122"/>
              </a:rPr>
              <a:t> return </a:t>
            </a:r>
            <a:r>
              <a:rPr lang="en-US" altLang="zh-CN" sz="1600" b="1" dirty="0" err="1" smtClean="0">
                <a:solidFill>
                  <a:srgbClr val="FFFF00"/>
                </a:solidFill>
                <a:latin typeface="微软雅黑" panose="020B0503020204020204" pitchFamily="34" charset="-122"/>
                <a:ea typeface="微软雅黑" panose="020B0503020204020204" pitchFamily="34" charset="-122"/>
              </a:rPr>
              <a:t>a+b</a:t>
            </a:r>
            <a:r>
              <a:rPr lang="en-US" altLang="zh-CN" sz="1600" b="1" dirty="0" smtClean="0">
                <a:solidFill>
                  <a:srgbClr val="FFFF00"/>
                </a:solidFill>
                <a:latin typeface="微软雅黑" panose="020B0503020204020204" pitchFamily="34" charset="-122"/>
                <a:ea typeface="微软雅黑" panose="020B0503020204020204" pitchFamily="34" charset="-122"/>
              </a:rPr>
              <a:t>;</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lnSpc>
                <a:spcPct val="120000"/>
              </a:lnSpc>
              <a:buNone/>
            </a:pPr>
            <a:r>
              <a:rPr lang="en-US" altLang="zh-CN" sz="1600" b="1" dirty="0" smtClean="0">
                <a:solidFill>
                  <a:srgbClr val="FFFF00"/>
                </a:solidFill>
                <a:latin typeface="微软雅黑" panose="020B0503020204020204" pitchFamily="34" charset="-122"/>
                <a:ea typeface="微软雅黑" panose="020B0503020204020204" pitchFamily="34" charset="-122"/>
              </a:rPr>
              <a:t>}</a:t>
            </a:r>
            <a:endParaRPr lang="zh-CN" altLang="en-US" sz="1600" b="1"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本讲主要知识点</a:t>
            </a:r>
            <a:endParaRPr lang="zh-CN" altLang="en-US" b="1" dirty="0" smtClean="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46877" y="1556792"/>
            <a:ext cx="7956550" cy="47520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20000"/>
              </a:spcBef>
              <a:spcAft>
                <a:spcPts val="600"/>
              </a:spcAft>
              <a:buClr>
                <a:schemeClr val="tx2"/>
              </a:buClr>
              <a:buSzPct val="70000"/>
            </a:pPr>
            <a:r>
              <a:rPr lang="zh-CN" altLang="en-US" sz="2400" dirty="0" smtClean="0">
                <a:latin typeface="+mn-lt"/>
                <a:ea typeface="+mj-ea"/>
              </a:rPr>
              <a:t>主要内容：</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函数</a:t>
            </a:r>
            <a:r>
              <a:rPr lang="zh-CN" altLang="en-US" sz="2400" dirty="0">
                <a:latin typeface="+mn-lt"/>
                <a:ea typeface="+mj-ea"/>
              </a:rPr>
              <a:t>的声明和</a:t>
            </a:r>
            <a:r>
              <a:rPr lang="zh-CN" altLang="en-US" sz="2400" dirty="0" smtClean="0">
                <a:latin typeface="+mn-lt"/>
                <a:ea typeface="+mj-ea"/>
              </a:rPr>
              <a:t>调用</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函数</a:t>
            </a:r>
            <a:r>
              <a:rPr lang="zh-CN" altLang="en-US" sz="2400" dirty="0">
                <a:latin typeface="+mn-lt"/>
                <a:ea typeface="+mj-ea"/>
              </a:rPr>
              <a:t>间的参数</a:t>
            </a:r>
            <a:r>
              <a:rPr lang="zh-CN" altLang="en-US" sz="2400" dirty="0" smtClean="0">
                <a:latin typeface="+mn-lt"/>
                <a:ea typeface="+mj-ea"/>
              </a:rPr>
              <a:t>传递</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内</a:t>
            </a:r>
            <a:r>
              <a:rPr lang="zh-CN" altLang="en-US" sz="2400" dirty="0">
                <a:latin typeface="+mn-lt"/>
                <a:ea typeface="+mj-ea"/>
              </a:rPr>
              <a:t>联</a:t>
            </a:r>
            <a:r>
              <a:rPr lang="zh-CN" altLang="en-US" sz="2400" dirty="0" smtClean="0">
                <a:latin typeface="+mn-lt"/>
                <a:ea typeface="+mj-ea"/>
              </a:rPr>
              <a:t>函数</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带</a:t>
            </a:r>
            <a:r>
              <a:rPr lang="zh-CN" altLang="en-US" sz="2400" dirty="0">
                <a:latin typeface="+mn-lt"/>
                <a:ea typeface="+mj-ea"/>
              </a:rPr>
              <a:t>默认参数值的</a:t>
            </a:r>
            <a:r>
              <a:rPr lang="zh-CN" altLang="en-US" sz="2400" dirty="0" smtClean="0">
                <a:latin typeface="+mn-lt"/>
                <a:ea typeface="+mj-ea"/>
              </a:rPr>
              <a:t>函数</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400" dirty="0" smtClean="0">
                <a:latin typeface="+mn-lt"/>
                <a:ea typeface="+mj-ea"/>
              </a:rPr>
              <a:t>函数重载</a:t>
            </a:r>
            <a:endParaRPr lang="en-US" altLang="zh-CN" sz="24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en-US" altLang="zh-CN" sz="2400" dirty="0" smtClean="0">
                <a:latin typeface="+mn-lt"/>
                <a:ea typeface="+mj-ea"/>
              </a:rPr>
              <a:t>C</a:t>
            </a:r>
            <a:r>
              <a:rPr lang="en-US" altLang="zh-CN" sz="2400" dirty="0">
                <a:latin typeface="+mn-lt"/>
                <a:ea typeface="+mj-ea"/>
              </a:rPr>
              <a:t>++</a:t>
            </a:r>
            <a:r>
              <a:rPr lang="zh-CN" altLang="en-US" sz="2400" dirty="0">
                <a:latin typeface="+mn-lt"/>
                <a:ea typeface="+mj-ea"/>
              </a:rPr>
              <a:t>系统</a:t>
            </a:r>
            <a:r>
              <a:rPr lang="zh-CN" altLang="en-US" sz="2400" dirty="0" smtClean="0">
                <a:latin typeface="+mn-lt"/>
                <a:ea typeface="+mj-ea"/>
              </a:rPr>
              <a:t>函数</a:t>
            </a:r>
            <a:endParaRPr lang="en-US" altLang="zh-CN" sz="2400" dirty="0" smtClean="0">
              <a:latin typeface="+mn-lt"/>
              <a:ea typeface="+mj-ea"/>
            </a:endParaRPr>
          </a:p>
          <a:p>
            <a:pPr marL="0" indent="0" algn="l" eaLnBrk="1" hangingPunct="1">
              <a:spcBef>
                <a:spcPct val="20000"/>
              </a:spcBef>
              <a:spcAft>
                <a:spcPts val="600"/>
              </a:spcAft>
              <a:buClr>
                <a:schemeClr val="tx2"/>
              </a:buClr>
              <a:buSzPct val="70000"/>
            </a:pPr>
            <a:r>
              <a:rPr lang="zh-CN" altLang="en-US" sz="2400" dirty="0" smtClean="0">
                <a:solidFill>
                  <a:srgbClr val="FFFF00"/>
                </a:solidFill>
                <a:latin typeface="+mn-lt"/>
                <a:ea typeface="+mj-ea"/>
              </a:rPr>
              <a:t>达到</a:t>
            </a:r>
            <a:r>
              <a:rPr lang="zh-CN" altLang="en-US" sz="2400" dirty="0">
                <a:solidFill>
                  <a:srgbClr val="FFFF00"/>
                </a:solidFill>
                <a:latin typeface="+mn-lt"/>
                <a:ea typeface="+mj-ea"/>
              </a:rPr>
              <a:t>的</a:t>
            </a:r>
            <a:r>
              <a:rPr lang="zh-CN" altLang="en-US" sz="2400" dirty="0" smtClean="0">
                <a:solidFill>
                  <a:srgbClr val="FFFF00"/>
                </a:solidFill>
                <a:latin typeface="+mn-lt"/>
                <a:ea typeface="+mj-ea"/>
              </a:rPr>
              <a:t>目标：学会</a:t>
            </a:r>
            <a:r>
              <a:rPr lang="zh-CN" altLang="en-US" sz="2400" dirty="0">
                <a:solidFill>
                  <a:srgbClr val="FFFF00"/>
                </a:solidFill>
                <a:latin typeface="+mn-lt"/>
                <a:ea typeface="+mj-ea"/>
              </a:rPr>
              <a:t>将一段功能相对独立的程序写成一个函数，为下一章学习类和对象打好必要的基础</a:t>
            </a:r>
            <a:r>
              <a:rPr lang="zh-CN" altLang="en-US" sz="2400" dirty="0" smtClean="0">
                <a:solidFill>
                  <a:srgbClr val="FFFF00"/>
                </a:solidFill>
                <a:latin typeface="+mn-lt"/>
                <a:ea typeface="+mj-ea"/>
              </a:rPr>
              <a:t>。</a:t>
            </a:r>
            <a:endParaRPr lang="zh-CN" altLang="en-US" sz="2400" dirty="0">
              <a:solidFill>
                <a:srgbClr val="FFFF00"/>
              </a:solidFill>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38279" y="908720"/>
            <a:ext cx="8223090" cy="1914773"/>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dirty="0" smtClean="0">
                <a:latin typeface="+mn-lt"/>
                <a:ea typeface="+mj-ea"/>
              </a:rPr>
              <a:t>作业：</a:t>
            </a: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3-7</a:t>
            </a:r>
            <a:r>
              <a:rPr lang="zh-CN" altLang="en-US" dirty="0" smtClean="0">
                <a:latin typeface="+mn-lt"/>
                <a:ea typeface="+mj-ea"/>
              </a:rPr>
              <a:t>、完成函数，参数为两个</a:t>
            </a:r>
            <a:r>
              <a:rPr lang="en-US" altLang="zh-CN" dirty="0" smtClean="0">
                <a:latin typeface="+mn-lt"/>
                <a:ea typeface="+mj-ea"/>
              </a:rPr>
              <a:t>unsigned short </a:t>
            </a:r>
            <a:r>
              <a:rPr lang="en-US" altLang="zh-CN" dirty="0" err="1" smtClean="0">
                <a:latin typeface="+mn-lt"/>
                <a:ea typeface="+mj-ea"/>
              </a:rPr>
              <a:t>int</a:t>
            </a:r>
            <a:r>
              <a:rPr lang="zh-CN" altLang="en-US" dirty="0" smtClean="0">
                <a:latin typeface="+mn-lt"/>
                <a:ea typeface="+mj-ea"/>
              </a:rPr>
              <a:t>型数，返回值为第一个参数除以第二个参数的结果，数据类型为</a:t>
            </a:r>
            <a:r>
              <a:rPr lang="en-US" altLang="zh-CN" dirty="0" smtClean="0">
                <a:latin typeface="+mn-lt"/>
                <a:ea typeface="+mj-ea"/>
              </a:rPr>
              <a:t>short </a:t>
            </a:r>
            <a:r>
              <a:rPr lang="en-US" altLang="zh-CN" dirty="0" err="1" smtClean="0">
                <a:latin typeface="+mn-lt"/>
                <a:ea typeface="+mj-ea"/>
              </a:rPr>
              <a:t>int</a:t>
            </a:r>
            <a:r>
              <a:rPr lang="zh-CN" altLang="en-US" dirty="0" smtClean="0">
                <a:latin typeface="+mn-lt"/>
                <a:ea typeface="+mj-ea"/>
              </a:rPr>
              <a:t>；如果第二个参数为</a:t>
            </a:r>
            <a:r>
              <a:rPr lang="en-US" altLang="zh-CN" dirty="0" smtClean="0">
                <a:latin typeface="+mn-lt"/>
                <a:ea typeface="+mj-ea"/>
              </a:rPr>
              <a:t>0</a:t>
            </a:r>
            <a:r>
              <a:rPr lang="zh-CN" altLang="en-US" dirty="0" smtClean="0">
                <a:latin typeface="+mn-lt"/>
                <a:ea typeface="+mj-ea"/>
              </a:rPr>
              <a:t>，则返回值为</a:t>
            </a:r>
            <a:r>
              <a:rPr lang="en-US" altLang="zh-CN" dirty="0" smtClean="0">
                <a:latin typeface="+mn-lt"/>
                <a:ea typeface="+mj-ea"/>
              </a:rPr>
              <a:t>-1</a:t>
            </a:r>
            <a:r>
              <a:rPr lang="zh-CN" altLang="en-US" dirty="0" smtClean="0">
                <a:latin typeface="+mn-lt"/>
                <a:ea typeface="+mj-ea"/>
              </a:rPr>
              <a:t>。在主程序中实现输入输出。</a:t>
            </a: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3-13</a:t>
            </a:r>
            <a:r>
              <a:rPr lang="zh-CN" altLang="en-US" dirty="0" smtClean="0">
                <a:latin typeface="+mn-lt"/>
                <a:ea typeface="+mj-ea"/>
              </a:rPr>
              <a:t>、用递归的方法编写函数 求</a:t>
            </a:r>
            <a:r>
              <a:rPr lang="en-US" altLang="zh-CN" dirty="0" err="1" smtClean="0">
                <a:latin typeface="+mn-lt"/>
                <a:ea typeface="+mj-ea"/>
              </a:rPr>
              <a:t>Fiboonacci</a:t>
            </a:r>
            <a:r>
              <a:rPr lang="zh-CN" altLang="en-US" dirty="0" smtClean="0">
                <a:latin typeface="+mn-lt"/>
                <a:ea typeface="+mj-ea"/>
              </a:rPr>
              <a:t>级数，公式为：</a:t>
            </a:r>
            <a:br>
              <a:rPr lang="en-US" altLang="zh-CN" dirty="0" smtClean="0">
                <a:latin typeface="+mn-lt"/>
                <a:ea typeface="+mj-ea"/>
              </a:rPr>
            </a:br>
            <a:r>
              <a:rPr lang="en-US" altLang="zh-CN" dirty="0" smtClean="0">
                <a:latin typeface="+mn-lt"/>
                <a:ea typeface="+mj-ea"/>
              </a:rPr>
              <a:t>                               </a:t>
            </a:r>
            <a:r>
              <a:rPr lang="en-US" altLang="zh-CN" dirty="0" err="1" smtClean="0">
                <a:latin typeface="+mn-lt"/>
                <a:ea typeface="+mj-ea"/>
              </a:rPr>
              <a:t>F</a:t>
            </a:r>
            <a:r>
              <a:rPr lang="en-US" altLang="zh-CN" baseline="-25000" dirty="0" err="1" smtClean="0">
                <a:latin typeface="+mn-lt"/>
                <a:ea typeface="+mj-ea"/>
              </a:rPr>
              <a:t>n</a:t>
            </a:r>
            <a:r>
              <a:rPr lang="en-US" altLang="zh-CN" dirty="0" smtClean="0">
                <a:latin typeface="+mn-lt"/>
                <a:ea typeface="+mj-ea"/>
              </a:rPr>
              <a:t>=</a:t>
            </a:r>
            <a:r>
              <a:rPr lang="en-US" altLang="zh-CN" sz="1800" dirty="0"/>
              <a:t> </a:t>
            </a:r>
            <a:r>
              <a:rPr lang="en-US" altLang="zh-CN" sz="1800" dirty="0" smtClean="0"/>
              <a:t>F</a:t>
            </a:r>
            <a:r>
              <a:rPr lang="en-US" altLang="zh-CN" sz="1800" baseline="-25000" dirty="0" smtClean="0"/>
              <a:t>n-1</a:t>
            </a:r>
            <a:r>
              <a:rPr lang="en-US" altLang="zh-CN" sz="1800" dirty="0" smtClean="0"/>
              <a:t>+</a:t>
            </a:r>
            <a:r>
              <a:rPr lang="en-US" altLang="zh-CN" sz="1800" dirty="0"/>
              <a:t> </a:t>
            </a:r>
            <a:r>
              <a:rPr lang="en-US" altLang="zh-CN" sz="1800" dirty="0" smtClean="0"/>
              <a:t>F</a:t>
            </a:r>
            <a:r>
              <a:rPr lang="en-US" altLang="zh-CN" sz="1800" baseline="-25000" dirty="0" smtClean="0"/>
              <a:t>n-2</a:t>
            </a:r>
            <a:r>
              <a:rPr lang="en-US" altLang="zh-CN" sz="1800" dirty="0" smtClean="0"/>
              <a:t>(n&gt;2), </a:t>
            </a:r>
            <a:r>
              <a:rPr lang="en-US" altLang="zh-CN" sz="1600" dirty="0" smtClean="0"/>
              <a:t>F</a:t>
            </a:r>
            <a:r>
              <a:rPr lang="en-US" altLang="zh-CN" sz="1600" baseline="-25000" dirty="0" smtClean="0"/>
              <a:t>1</a:t>
            </a:r>
            <a:r>
              <a:rPr lang="en-US" altLang="zh-CN" sz="1600" dirty="0" smtClean="0"/>
              <a:t>=</a:t>
            </a:r>
            <a:r>
              <a:rPr lang="en-US" altLang="zh-CN" sz="1800" dirty="0" smtClean="0"/>
              <a:t> F</a:t>
            </a:r>
            <a:r>
              <a:rPr lang="en-US" altLang="zh-CN" sz="1800" baseline="-25000" dirty="0" smtClean="0"/>
              <a:t>2</a:t>
            </a:r>
            <a:r>
              <a:rPr lang="en-US" altLang="zh-CN" sz="1800" dirty="0" smtClean="0"/>
              <a:t>=1</a:t>
            </a:r>
            <a:br>
              <a:rPr lang="en-US" altLang="zh-CN" dirty="0" smtClean="0">
                <a:latin typeface="+mn-lt"/>
                <a:ea typeface="+mj-ea"/>
              </a:rPr>
            </a:br>
            <a:endParaRPr lang="en-US" altLang="zh-CN" dirty="0" smtClean="0">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latin typeface="+mn-lt"/>
                <a:ea typeface="+mj-ea"/>
              </a:rPr>
              <a:t>3-15</a:t>
            </a:r>
            <a:r>
              <a:rPr lang="zh-CN" altLang="en-US" dirty="0" smtClean="0">
                <a:latin typeface="+mn-lt"/>
                <a:ea typeface="+mj-ea"/>
              </a:rPr>
              <a:t>、编写递归函数</a:t>
            </a:r>
            <a:r>
              <a:rPr lang="en-US" altLang="zh-CN" dirty="0" err="1" smtClean="0">
                <a:latin typeface="+mn-lt"/>
                <a:ea typeface="+mj-ea"/>
              </a:rPr>
              <a:t>getPower</a:t>
            </a:r>
            <a:r>
              <a:rPr lang="zh-CN" altLang="en-US" dirty="0" smtClean="0">
                <a:latin typeface="+mn-lt"/>
                <a:ea typeface="+mj-ea"/>
              </a:rPr>
              <a:t>计算</a:t>
            </a:r>
            <a:r>
              <a:rPr lang="en-US" altLang="zh-CN" dirty="0" err="1" smtClean="0">
                <a:latin typeface="+mn-lt"/>
                <a:ea typeface="+mj-ea"/>
              </a:rPr>
              <a:t>x</a:t>
            </a:r>
            <a:r>
              <a:rPr lang="en-US" altLang="zh-CN" baseline="30000" dirty="0" err="1" smtClean="0">
                <a:latin typeface="+mn-lt"/>
                <a:ea typeface="+mj-ea"/>
              </a:rPr>
              <a:t>y</a:t>
            </a:r>
            <a:r>
              <a:rPr lang="en-US" altLang="zh-CN" dirty="0" smtClean="0">
                <a:latin typeface="+mn-lt"/>
                <a:ea typeface="+mj-ea"/>
              </a:rPr>
              <a:t>,</a:t>
            </a:r>
            <a:r>
              <a:rPr lang="zh-CN" altLang="en-US" dirty="0" smtClean="0">
                <a:latin typeface="+mn-lt"/>
                <a:ea typeface="+mj-ea"/>
              </a:rPr>
              <a:t>在同一个程序中针对整型和实型实现两个重载函数：</a:t>
            </a:r>
            <a:br>
              <a:rPr lang="en-US" altLang="zh-CN" dirty="0" smtClean="0">
                <a:latin typeface="+mn-lt"/>
                <a:ea typeface="+mj-ea"/>
              </a:rPr>
            </a:br>
            <a:r>
              <a:rPr lang="en-US" altLang="zh-CN" dirty="0" err="1" smtClean="0">
                <a:latin typeface="+mn-lt"/>
                <a:ea typeface="+mj-ea"/>
              </a:rPr>
              <a:t>int</a:t>
            </a:r>
            <a:r>
              <a:rPr lang="en-US" altLang="zh-CN" dirty="0" smtClean="0">
                <a:latin typeface="+mn-lt"/>
                <a:ea typeface="+mj-ea"/>
              </a:rPr>
              <a:t> </a:t>
            </a:r>
            <a:r>
              <a:rPr lang="en-US" altLang="zh-CN" dirty="0" err="1" smtClean="0">
                <a:latin typeface="+mn-lt"/>
                <a:ea typeface="+mj-ea"/>
              </a:rPr>
              <a:t>getPower</a:t>
            </a:r>
            <a:r>
              <a:rPr lang="en-US" altLang="zh-CN" dirty="0" smtClean="0">
                <a:latin typeface="+mn-lt"/>
                <a:ea typeface="+mj-ea"/>
              </a:rPr>
              <a:t>(</a:t>
            </a:r>
            <a:r>
              <a:rPr lang="en-US" altLang="zh-CN" dirty="0" err="1" smtClean="0">
                <a:latin typeface="+mn-lt"/>
                <a:ea typeface="+mj-ea"/>
              </a:rPr>
              <a:t>int</a:t>
            </a:r>
            <a:r>
              <a:rPr lang="en-US" altLang="zh-CN" dirty="0" smtClean="0">
                <a:latin typeface="+mn-lt"/>
                <a:ea typeface="+mj-ea"/>
              </a:rPr>
              <a:t> x, </a:t>
            </a:r>
            <a:r>
              <a:rPr lang="en-US" altLang="zh-CN" dirty="0" err="1" smtClean="0">
                <a:latin typeface="+mn-lt"/>
                <a:ea typeface="+mj-ea"/>
              </a:rPr>
              <a:t>int</a:t>
            </a:r>
            <a:r>
              <a:rPr lang="en-US" altLang="zh-CN" dirty="0" smtClean="0">
                <a:latin typeface="+mn-lt"/>
                <a:ea typeface="+mj-ea"/>
              </a:rPr>
              <a:t> y);  //</a:t>
            </a:r>
            <a:r>
              <a:rPr lang="zh-CN" altLang="en-US" dirty="0" smtClean="0">
                <a:latin typeface="+mn-lt"/>
                <a:ea typeface="+mj-ea"/>
              </a:rPr>
              <a:t>整型版本，，当</a:t>
            </a:r>
            <a:r>
              <a:rPr lang="en-US" altLang="zh-CN" dirty="0" smtClean="0">
                <a:latin typeface="+mn-lt"/>
                <a:ea typeface="+mj-ea"/>
              </a:rPr>
              <a:t>y&lt;0</a:t>
            </a:r>
            <a:r>
              <a:rPr lang="zh-CN" altLang="en-US" dirty="0" smtClean="0">
                <a:latin typeface="+mn-lt"/>
                <a:ea typeface="+mj-ea"/>
              </a:rPr>
              <a:t>时，返回</a:t>
            </a:r>
            <a:r>
              <a:rPr lang="en-US" altLang="zh-CN" dirty="0" smtClean="0">
                <a:latin typeface="+mn-lt"/>
                <a:ea typeface="+mj-ea"/>
              </a:rPr>
              <a:t>0</a:t>
            </a:r>
            <a:br>
              <a:rPr lang="en-US" altLang="zh-CN" dirty="0" smtClean="0">
                <a:latin typeface="+mn-lt"/>
                <a:ea typeface="+mj-ea"/>
              </a:rPr>
            </a:br>
            <a:r>
              <a:rPr lang="en-US" altLang="zh-CN" dirty="0" smtClean="0">
                <a:latin typeface="+mn-lt"/>
                <a:ea typeface="+mj-ea"/>
              </a:rPr>
              <a:t>double </a:t>
            </a:r>
            <a:r>
              <a:rPr lang="en-US" altLang="zh-CN" dirty="0" err="1" smtClean="0">
                <a:latin typeface="+mn-lt"/>
                <a:ea typeface="+mj-ea"/>
              </a:rPr>
              <a:t>getPower</a:t>
            </a:r>
            <a:r>
              <a:rPr lang="en-US" altLang="zh-CN" dirty="0" smtClean="0">
                <a:latin typeface="+mn-lt"/>
                <a:ea typeface="+mj-ea"/>
              </a:rPr>
              <a:t>(double x, </a:t>
            </a:r>
            <a:r>
              <a:rPr lang="en-US" altLang="zh-CN" dirty="0" err="1" smtClean="0">
                <a:latin typeface="+mn-lt"/>
                <a:ea typeface="+mj-ea"/>
              </a:rPr>
              <a:t>int</a:t>
            </a:r>
            <a:r>
              <a:rPr lang="en-US" altLang="zh-CN" dirty="0" smtClean="0">
                <a:latin typeface="+mn-lt"/>
                <a:ea typeface="+mj-ea"/>
              </a:rPr>
              <a:t> y);  //</a:t>
            </a:r>
            <a:r>
              <a:rPr lang="zh-CN" altLang="en-US" dirty="0" smtClean="0">
                <a:latin typeface="+mn-lt"/>
                <a:ea typeface="+mj-ea"/>
              </a:rPr>
              <a:t>实型版本</a:t>
            </a:r>
            <a:br>
              <a:rPr lang="en-US" altLang="zh-CN" dirty="0" smtClean="0">
                <a:latin typeface="+mn-lt"/>
                <a:ea typeface="+mj-ea"/>
              </a:rPr>
            </a:br>
            <a:r>
              <a:rPr lang="zh-CN" altLang="en-US" dirty="0" smtClean="0">
                <a:latin typeface="+mn-lt"/>
                <a:ea typeface="+mj-ea"/>
              </a:rPr>
              <a:t>在主程序中实现输入输出，分别输入一个整数</a:t>
            </a:r>
            <a:r>
              <a:rPr lang="en-US" altLang="zh-CN" dirty="0" smtClean="0">
                <a:latin typeface="+mn-lt"/>
                <a:ea typeface="+mj-ea"/>
              </a:rPr>
              <a:t>a</a:t>
            </a:r>
            <a:r>
              <a:rPr lang="zh-CN" altLang="en-US" dirty="0" smtClean="0">
                <a:latin typeface="+mn-lt"/>
                <a:ea typeface="+mj-ea"/>
              </a:rPr>
              <a:t>和一个实数</a:t>
            </a:r>
            <a:r>
              <a:rPr lang="en-US" altLang="zh-CN" dirty="0" smtClean="0">
                <a:latin typeface="+mn-lt"/>
                <a:ea typeface="+mj-ea"/>
              </a:rPr>
              <a:t>b</a:t>
            </a:r>
            <a:r>
              <a:rPr lang="zh-CN" altLang="en-US" dirty="0" smtClean="0">
                <a:latin typeface="+mn-lt"/>
                <a:ea typeface="+mj-ea"/>
              </a:rPr>
              <a:t>作为底数，再输入一个整数</a:t>
            </a:r>
            <a:r>
              <a:rPr lang="en-US" altLang="zh-CN" dirty="0" smtClean="0">
                <a:latin typeface="+mn-lt"/>
                <a:ea typeface="+mj-ea"/>
              </a:rPr>
              <a:t>m</a:t>
            </a:r>
            <a:r>
              <a:rPr lang="zh-CN" altLang="en-US" dirty="0" smtClean="0">
                <a:latin typeface="+mn-lt"/>
                <a:ea typeface="+mj-ea"/>
              </a:rPr>
              <a:t>作为指数，输出</a:t>
            </a:r>
            <a:r>
              <a:rPr lang="en-US" altLang="zh-CN" dirty="0" smtClean="0">
                <a:latin typeface="+mn-lt"/>
                <a:ea typeface="+mj-ea"/>
              </a:rPr>
              <a:t>a</a:t>
            </a:r>
            <a:r>
              <a:rPr lang="en-US" altLang="zh-CN" baseline="30000" dirty="0" smtClean="0">
                <a:latin typeface="+mn-lt"/>
                <a:ea typeface="+mj-ea"/>
              </a:rPr>
              <a:t>m</a:t>
            </a:r>
            <a:r>
              <a:rPr lang="zh-CN" altLang="en-US" dirty="0" smtClean="0">
                <a:latin typeface="+mn-lt"/>
                <a:ea typeface="+mj-ea"/>
              </a:rPr>
              <a:t>和</a:t>
            </a:r>
            <a:r>
              <a:rPr lang="en-US" altLang="zh-CN" dirty="0" err="1" smtClean="0">
                <a:latin typeface="+mn-lt"/>
                <a:ea typeface="+mj-ea"/>
              </a:rPr>
              <a:t>b</a:t>
            </a:r>
            <a:r>
              <a:rPr lang="en-US" altLang="zh-CN" sz="1800" baseline="30000" dirty="0" err="1" smtClean="0"/>
              <a:t>m</a:t>
            </a:r>
            <a:r>
              <a:rPr lang="zh-CN" altLang="en-US" sz="1800" dirty="0" smtClean="0"/>
              <a:t>。</a:t>
            </a:r>
            <a:br>
              <a:rPr lang="en-US" altLang="zh-CN" sz="1800" dirty="0" smtClean="0"/>
            </a:br>
            <a:r>
              <a:rPr lang="zh-CN" altLang="en-US" sz="1800" dirty="0" smtClean="0"/>
              <a:t>另外请读者思考，如果在调用</a:t>
            </a:r>
            <a:r>
              <a:rPr lang="en-US" altLang="zh-CN" sz="1800" dirty="0" err="1" smtClean="0"/>
              <a:t>getPower</a:t>
            </a:r>
            <a:r>
              <a:rPr lang="zh-CN" altLang="en-US" sz="1800" dirty="0" smtClean="0"/>
              <a:t>函数计算</a:t>
            </a:r>
            <a:r>
              <a:rPr lang="en-US" altLang="zh-CN" sz="1800" dirty="0" smtClean="0"/>
              <a:t>a</a:t>
            </a:r>
            <a:r>
              <a:rPr lang="en-US" altLang="zh-CN" sz="1800" baseline="30000" dirty="0" smtClean="0"/>
              <a:t>m</a:t>
            </a:r>
            <a:r>
              <a:rPr lang="zh-CN" altLang="en-US" sz="1800" dirty="0" smtClean="0"/>
              <a:t>时希望得到一个实型结果（实型结果 表示范围更大，而且可以准确表示</a:t>
            </a:r>
            <a:r>
              <a:rPr lang="en-US" altLang="zh-CN" sz="1800" dirty="0" smtClean="0"/>
              <a:t>m&lt;0</a:t>
            </a:r>
            <a:r>
              <a:rPr lang="zh-CN" altLang="en-US" sz="1800" smtClean="0"/>
              <a:t>时的结果），该如何调用？</a:t>
            </a:r>
            <a:endParaRPr lang="zh-CN" altLang="en-US"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3600" i="1" dirty="0" smtClean="0">
                <a:effectLst>
                  <a:outerShdw blurRad="38100" dist="38100" dir="2700000" algn="tl">
                    <a:srgbClr val="000000"/>
                  </a:outerShdw>
                </a:effectLst>
                <a:ea typeface="隶书" panose="02010509060101010101" pitchFamily="49" charset="-122"/>
                <a:cs typeface="+mj-cs"/>
              </a:rPr>
              <a:t>第</a:t>
            </a:r>
            <a:r>
              <a:rPr lang="en-US" altLang="zh-CN" sz="3600" i="1" dirty="0" smtClean="0">
                <a:effectLst>
                  <a:outerShdw blurRad="38100" dist="38100" dir="2700000" algn="tl">
                    <a:srgbClr val="000000"/>
                  </a:outerShdw>
                </a:effectLst>
                <a:ea typeface="隶书" panose="02010509060101010101" pitchFamily="49" charset="-122"/>
                <a:cs typeface="+mj-cs"/>
              </a:rPr>
              <a:t>3</a:t>
            </a:r>
            <a:r>
              <a:rPr lang="zh-CN" altLang="en-US" sz="3600" i="1" dirty="0" smtClean="0">
                <a:effectLst>
                  <a:outerShdw blurRad="38100" dist="38100" dir="2700000" algn="tl">
                    <a:srgbClr val="000000"/>
                  </a:outerShdw>
                </a:effectLst>
                <a:ea typeface="隶书" panose="02010509060101010101" pitchFamily="49" charset="-122"/>
                <a:cs typeface="+mj-cs"/>
              </a:rPr>
              <a:t>讲 课后练习</a:t>
            </a:r>
            <a:endParaRPr lang="zh-CN" altLang="en-US" sz="36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mc:AlternateContent xmlns:mc="http://schemas.openxmlformats.org/markup-compatibility/2006">
        <mc:Choice xmlns:a14="http://schemas.microsoft.com/office/drawing/2010/main" Requires="a14">
          <p:sp>
            <p:nvSpPr>
              <p:cNvPr id="65539" name="Rectangle 4"/>
              <p:cNvSpPr>
                <a:spLocks noChangeArrowheads="1"/>
              </p:cNvSpPr>
              <p:nvPr/>
            </p:nvSpPr>
            <p:spPr bwMode="auto">
              <a:xfrm>
                <a:off x="838279" y="908720"/>
                <a:ext cx="8223090" cy="1914773"/>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dirty="0" smtClean="0">
                    <a:latin typeface="+mn-lt"/>
                    <a:ea typeface="+mj-ea"/>
                  </a:rPr>
                  <a:t>作业：</a:t>
                </a:r>
                <a:endParaRPr lang="en-US" altLang="zh-CN" dirty="0" smtClean="0">
                  <a:latin typeface="+mn-lt"/>
                  <a:ea typeface="+mj-ea"/>
                </a:endParaRPr>
              </a:p>
              <a:p>
                <a:pPr algn="l"/>
                <a:r>
                  <a:rPr lang="en-US" altLang="zh-CN" dirty="0"/>
                  <a:t>3-14 </a:t>
                </a:r>
                <a:r>
                  <a:rPr lang="zh-CN" altLang="zh-CN" dirty="0"/>
                  <a:t>用递归的方法编写函数求</a:t>
                </a:r>
                <a:r>
                  <a:rPr lang="en-US" altLang="zh-CN" dirty="0"/>
                  <a:t> n </a:t>
                </a:r>
                <a:r>
                  <a:rPr lang="zh-CN" altLang="zh-CN" dirty="0"/>
                  <a:t>阶乐让德多项式的值，在主程序中实现输入输出，递归公式为：</a:t>
                </a:r>
                <a:endParaRPr lang="zh-CN" altLang="zh-CN" dirty="0"/>
              </a:p>
              <a:p>
                <a14:m>
                  <m:oMathPara xmlns:m="http://schemas.openxmlformats.org/officeDocument/2006/math">
                    <m:oMathParaPr>
                      <m:jc m:val="centerGroup"/>
                    </m:oMathParaPr>
                    <m:oMath xmlns:m="http://schemas.openxmlformats.org/officeDocument/2006/math">
                      <m:sSub>
                        <m:sSubPr>
                          <m:ctrlPr>
                            <a:rPr lang="zh-CN" altLang="zh-CN" i="1"/>
                          </m:ctrlPr>
                        </m:sSubPr>
                        <m:e>
                          <m:r>
                            <a:rPr lang="en-US" altLang="zh-CN" i="1">
                              <a:latin typeface="Cambria Math" panose="02040503050406030204" charset="0"/>
                            </a:rPr>
                            <m:t>𝑝</m:t>
                          </m:r>
                        </m:e>
                        <m:sub>
                          <m:r>
                            <a:rPr lang="en-US" altLang="zh-CN" i="1">
                              <a:latin typeface="Cambria Math" panose="02040503050406030204" charset="0"/>
                            </a:rPr>
                            <m:t>𝑛</m:t>
                          </m:r>
                        </m:sub>
                      </m:sSub>
                      <m:d>
                        <m:dPr>
                          <m:ctrlPr>
                            <a:rPr lang="zh-CN" altLang="zh-CN" i="1"/>
                          </m:ctrlPr>
                        </m:dPr>
                        <m:e>
                          <m:r>
                            <a:rPr lang="en-US" altLang="zh-CN" i="1">
                              <a:latin typeface="Cambria Math" panose="02040503050406030204" charset="0"/>
                            </a:rPr>
                            <m:t>𝑥</m:t>
                          </m:r>
                        </m:e>
                      </m:d>
                      <m:r>
                        <a:rPr lang="en-US" altLang="zh-CN" i="1">
                          <a:latin typeface="Cambria Math" panose="02040503050406030204" charset="0"/>
                        </a:rPr>
                        <m:t>=</m:t>
                      </m:r>
                      <m:d>
                        <m:dPr>
                          <m:begChr m:val="{"/>
                          <m:endChr m:val=""/>
                          <m:ctrlPr>
                            <a:rPr lang="zh-CN" altLang="zh-CN" i="1"/>
                          </m:ctrlPr>
                        </m:dPr>
                        <m:e>
                          <m:eqArr>
                            <m:eqArrPr>
                              <m:ctrlPr>
                                <a:rPr lang="zh-CN" altLang="zh-CN" i="1"/>
                              </m:ctrlPr>
                            </m:eqArrPr>
                            <m:e>
                              <m:r>
                                <a:rPr lang="en-US" altLang="zh-CN" i="1">
                                  <a:latin typeface="Cambria Math" panose="02040503050406030204" charset="0"/>
                                </a:rPr>
                                <m:t>1</m:t>
                              </m:r>
                              <m:r>
                                <a:rPr lang="en-US" altLang="zh-CN" i="1">
                                  <a:latin typeface="Cambria Math" panose="02040503050406030204" charset="0"/>
                                </a:rPr>
                                <m:t>        (</m:t>
                              </m:r>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0</m:t>
                              </m:r>
                              <m:r>
                                <a:rPr lang="en-US" altLang="zh-CN" i="1">
                                  <a:latin typeface="Cambria Math" panose="02040503050406030204" charset="0"/>
                                </a:rPr>
                                <m:t>)</m:t>
                              </m:r>
                            </m:e>
                            <m:e>
                              <m:r>
                                <a:rPr lang="en-US" altLang="zh-CN" i="1">
                                  <a:latin typeface="Cambria Math" panose="02040503050406030204" charset="0"/>
                                </a:rPr>
                                <m:t>𝑥</m:t>
                              </m:r>
                              <m:r>
                                <a:rPr lang="en-US" altLang="zh-CN" i="1">
                                  <a:latin typeface="Cambria Math" panose="02040503050406030204" charset="0"/>
                                </a:rPr>
                                <m:t>         (</m:t>
                              </m:r>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1</m:t>
                              </m:r>
                              <m:r>
                                <a:rPr lang="en-US" altLang="zh-CN" i="1">
                                  <a:latin typeface="Cambria Math" panose="02040503050406030204" charset="0"/>
                                </a:rPr>
                                <m:t>)</m:t>
                              </m:r>
                            </m:e>
                            <m:e>
                              <m:f>
                                <m:fPr>
                                  <m:ctrlPr>
                                    <a:rPr lang="zh-CN" altLang="zh-CN" i="1"/>
                                  </m:ctrlPr>
                                </m:fPr>
                                <m:num>
                                  <m:d>
                                    <m:dPr>
                                      <m:begChr m:val="["/>
                                      <m:endChr m:val="]"/>
                                      <m:ctrlPr>
                                        <a:rPr lang="zh-CN" altLang="zh-CN" i="1"/>
                                      </m:ctrlPr>
                                    </m:dPr>
                                    <m:e>
                                      <m:d>
                                        <m:dPr>
                                          <m:ctrlPr>
                                            <a:rPr lang="zh-CN" altLang="zh-CN" i="1"/>
                                          </m:ctrlPr>
                                        </m:dPr>
                                        <m:e>
                                          <m:r>
                                            <a:rPr lang="en-US" altLang="zh-CN" i="1">
                                              <a:latin typeface="Cambria Math" panose="02040503050406030204" charset="0"/>
                                            </a:rPr>
                                            <m:t>2</m:t>
                                          </m:r>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1</m:t>
                                          </m:r>
                                        </m:e>
                                      </m:d>
                                      <m:r>
                                        <a:rPr lang="en-US" altLang="zh-CN" i="1">
                                          <a:latin typeface="Cambria Math" panose="02040503050406030204" charset="0"/>
                                        </a:rPr>
                                        <m:t>𝑥</m:t>
                                      </m:r>
                                      <m:r>
                                        <a:rPr lang="en-US" altLang="zh-CN" i="1">
                                          <a:latin typeface="Cambria Math" panose="02040503050406030204" charset="0"/>
                                        </a:rPr>
                                        <m:t>∙</m:t>
                                      </m:r>
                                      <m:sSub>
                                        <m:sSubPr>
                                          <m:ctrlPr>
                                            <a:rPr lang="zh-CN" altLang="zh-CN" i="1"/>
                                          </m:ctrlPr>
                                        </m:sSubPr>
                                        <m:e>
                                          <m:r>
                                            <a:rPr lang="en-US" altLang="zh-CN" i="1">
                                              <a:latin typeface="Cambria Math" panose="02040503050406030204" charset="0"/>
                                            </a:rPr>
                                            <m:t>𝑝</m:t>
                                          </m:r>
                                        </m:e>
                                        <m:sub>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1</m:t>
                                          </m:r>
                                        </m:sub>
                                      </m:sSub>
                                      <m:d>
                                        <m:dPr>
                                          <m:ctrlPr>
                                            <a:rPr lang="zh-CN" altLang="zh-CN" i="1"/>
                                          </m:ctrlPr>
                                        </m:dPr>
                                        <m:e>
                                          <m:r>
                                            <a:rPr lang="en-US" altLang="zh-CN" i="1">
                                              <a:latin typeface="Cambria Math" panose="02040503050406030204" charset="0"/>
                                            </a:rPr>
                                            <m:t>𝑥</m:t>
                                          </m:r>
                                        </m:e>
                                      </m:d>
                                      <m:r>
                                        <a:rPr lang="en-US" altLang="zh-CN" i="1">
                                          <a:latin typeface="Cambria Math" panose="02040503050406030204" charset="0"/>
                                        </a:rPr>
                                        <m:t>−</m:t>
                                      </m:r>
                                      <m:d>
                                        <m:dPr>
                                          <m:ctrlPr>
                                            <a:rPr lang="zh-CN" altLang="zh-CN" i="1"/>
                                          </m:ctrlPr>
                                        </m:dPr>
                                        <m:e>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1</m:t>
                                          </m:r>
                                        </m:e>
                                      </m:d>
                                      <m:sSub>
                                        <m:sSubPr>
                                          <m:ctrlPr>
                                            <a:rPr lang="zh-CN" altLang="zh-CN" i="1"/>
                                          </m:ctrlPr>
                                        </m:sSubPr>
                                        <m:e>
                                          <m:r>
                                            <a:rPr lang="en-US" altLang="zh-CN" i="1">
                                              <a:latin typeface="Cambria Math" panose="02040503050406030204" charset="0"/>
                                            </a:rPr>
                                            <m:t>𝑝</m:t>
                                          </m:r>
                                        </m:e>
                                        <m:sub>
                                          <m:r>
                                            <a:rPr lang="en-US" altLang="zh-CN" i="1">
                                              <a:latin typeface="Cambria Math" panose="02040503050406030204" charset="0"/>
                                            </a:rPr>
                                            <m:t>𝑛</m:t>
                                          </m:r>
                                          <m:r>
                                            <a:rPr lang="en-US" altLang="zh-CN" i="1">
                                              <a:latin typeface="Cambria Math" panose="02040503050406030204" charset="0"/>
                                            </a:rPr>
                                            <m:t>−</m:t>
                                          </m:r>
                                          <m:r>
                                            <a:rPr lang="en-US" altLang="zh-CN" i="1">
                                              <a:latin typeface="Cambria Math" panose="02040503050406030204" charset="0"/>
                                            </a:rPr>
                                            <m:t>2</m:t>
                                          </m:r>
                                        </m:sub>
                                      </m:sSub>
                                      <m:d>
                                        <m:dPr>
                                          <m:ctrlPr>
                                            <a:rPr lang="zh-CN" altLang="zh-CN" i="1"/>
                                          </m:ctrlPr>
                                        </m:dPr>
                                        <m:e>
                                          <m:r>
                                            <a:rPr lang="en-US" altLang="zh-CN" i="1">
                                              <a:latin typeface="Cambria Math" panose="02040503050406030204" charset="0"/>
                                            </a:rPr>
                                            <m:t>𝑥</m:t>
                                          </m:r>
                                        </m:e>
                                      </m:d>
                                    </m:e>
                                  </m:d>
                                </m:num>
                                <m:den>
                                  <m:r>
                                    <a:rPr lang="en-US" altLang="zh-CN" i="1">
                                      <a:latin typeface="Cambria Math" panose="02040503050406030204" charset="0"/>
                                    </a:rPr>
                                    <m:t>𝑛</m:t>
                                  </m:r>
                                </m:den>
                              </m:f>
                              <m:r>
                                <a:rPr lang="en-US" altLang="zh-CN" i="1">
                                  <a:latin typeface="Cambria Math" panose="02040503050406030204" charset="0"/>
                                </a:rPr>
                                <m:t>                              (</m:t>
                              </m:r>
                              <m:r>
                                <a:rPr lang="en-US" altLang="zh-CN" i="1">
                                  <a:latin typeface="Cambria Math" panose="02040503050406030204" charset="0"/>
                                </a:rPr>
                                <m:t>𝑛</m:t>
                              </m:r>
                              <m:r>
                                <a:rPr lang="en-US" altLang="zh-CN" i="1">
                                  <a:latin typeface="Cambria Math" panose="02040503050406030204" charset="0"/>
                                </a:rPr>
                                <m:t>&gt;</m:t>
                              </m:r>
                              <m:r>
                                <a:rPr lang="en-US" altLang="zh-CN" i="1">
                                  <a:latin typeface="Cambria Math" panose="02040503050406030204" charset="0"/>
                                </a:rPr>
                                <m:t>1</m:t>
                              </m:r>
                              <m:r>
                                <a:rPr lang="en-US" altLang="zh-CN" i="1">
                                  <a:latin typeface="Cambria Math" panose="02040503050406030204" charset="0"/>
                                </a:rPr>
                                <m:t>)</m:t>
                              </m:r>
                            </m:e>
                          </m:eqArr>
                        </m:e>
                      </m:d>
                    </m:oMath>
                  </m:oMathPara>
                </a14:m>
                <a:endParaRPr lang="zh-CN" altLang="zh-CN" dirty="0"/>
              </a:p>
              <a:p>
                <a:r>
                  <a:rPr lang="en-US" altLang="zh-CN" dirty="0"/>
                  <a:t> </a:t>
                </a:r>
                <a:endParaRPr lang="zh-CN" altLang="zh-CN" dirty="0"/>
              </a:p>
              <a:p>
                <a:pPr algn="l"/>
                <a:r>
                  <a:rPr lang="zh-CN" altLang="en-US" dirty="0" smtClean="0"/>
                  <a:t>补充</a:t>
                </a:r>
                <a:r>
                  <a:rPr lang="zh-CN" altLang="zh-CN" dirty="0" smtClean="0"/>
                  <a:t>题目</a:t>
                </a:r>
                <a:r>
                  <a:rPr lang="zh-CN" altLang="zh-CN" dirty="0"/>
                  <a:t>：程序中的函数</a:t>
                </a:r>
                <a:r>
                  <a:rPr lang="en-US" altLang="zh-CN" dirty="0"/>
                  <a:t>tax</a:t>
                </a:r>
                <a:r>
                  <a:rPr lang="zh-CN" altLang="zh-CN" dirty="0"/>
                  <a:t>计算个人所得税，根据工资</a:t>
                </a:r>
                <a:r>
                  <a:rPr lang="en-US" altLang="zh-CN" dirty="0"/>
                  <a:t>m</a:t>
                </a:r>
                <a:r>
                  <a:rPr lang="zh-CN" altLang="zh-CN" dirty="0"/>
                  <a:t>返回其应征的税款。</a:t>
                </a:r>
                <a:endParaRPr lang="zh-CN" altLang="zh-CN" dirty="0"/>
              </a:p>
              <a:p>
                <a:pPr algn="l"/>
                <a:r>
                  <a:rPr lang="en-US" altLang="zh-CN" dirty="0"/>
                  <a:t>      </a:t>
                </a:r>
                <a:r>
                  <a:rPr lang="zh-CN" altLang="zh-CN" dirty="0"/>
                  <a:t>个人所得税率表如下：</a:t>
                </a:r>
                <a:endParaRPr lang="zh-CN" altLang="zh-CN" dirty="0"/>
              </a:p>
              <a:p>
                <a:pPr algn="l"/>
                <a:r>
                  <a:rPr lang="en-US" altLang="zh-CN" dirty="0"/>
                  <a:t>      </a:t>
                </a:r>
                <a:r>
                  <a:rPr lang="zh-CN" altLang="zh-CN" dirty="0"/>
                  <a:t>月收入</a:t>
                </a:r>
                <a:r>
                  <a:rPr lang="en-US" altLang="zh-CN" dirty="0"/>
                  <a:t>1200</a:t>
                </a:r>
                <a:r>
                  <a:rPr lang="zh-CN" altLang="zh-CN" dirty="0"/>
                  <a:t>元起征，</a:t>
                </a:r>
                <a:endParaRPr lang="zh-CN" altLang="zh-CN" dirty="0"/>
              </a:p>
              <a:p>
                <a:pPr algn="l"/>
                <a:r>
                  <a:rPr lang="en-US" altLang="zh-CN" dirty="0"/>
                  <a:t>      </a:t>
                </a:r>
                <a:r>
                  <a:rPr lang="zh-CN" altLang="zh-CN" dirty="0"/>
                  <a:t>超过起征点</a:t>
                </a:r>
                <a:r>
                  <a:rPr lang="en-US" altLang="zh-CN" dirty="0"/>
                  <a:t>1000</a:t>
                </a:r>
                <a:r>
                  <a:rPr lang="zh-CN" altLang="zh-CN" dirty="0"/>
                  <a:t>元</a:t>
                </a:r>
                <a:r>
                  <a:rPr lang="en-US" altLang="zh-CN" dirty="0"/>
                  <a:t>(</a:t>
                </a:r>
                <a:r>
                  <a:rPr lang="zh-CN" altLang="zh-CN" dirty="0"/>
                  <a:t>含</a:t>
                </a:r>
                <a:r>
                  <a:rPr lang="en-US" altLang="zh-CN" dirty="0"/>
                  <a:t>)</a:t>
                </a:r>
                <a:r>
                  <a:rPr lang="zh-CN" altLang="zh-CN" dirty="0"/>
                  <a:t>以内，超过</a:t>
                </a:r>
                <a:r>
                  <a:rPr lang="en-US" altLang="zh-CN" dirty="0"/>
                  <a:t>1200</a:t>
                </a:r>
                <a:r>
                  <a:rPr lang="zh-CN" altLang="zh-CN" dirty="0"/>
                  <a:t>元的部分按</a:t>
                </a:r>
                <a:r>
                  <a:rPr lang="en-US" altLang="zh-CN" dirty="0"/>
                  <a:t>5%</a:t>
                </a:r>
                <a:r>
                  <a:rPr lang="zh-CN" altLang="zh-CN" dirty="0"/>
                  <a:t>征税；</a:t>
                </a:r>
                <a:endParaRPr lang="zh-CN" altLang="zh-CN" dirty="0"/>
              </a:p>
              <a:p>
                <a:pPr algn="l"/>
                <a:r>
                  <a:rPr lang="en-US" altLang="zh-CN" dirty="0"/>
                  <a:t>      </a:t>
                </a:r>
                <a:r>
                  <a:rPr lang="zh-CN" altLang="zh-CN" dirty="0"/>
                  <a:t>超过起征点</a:t>
                </a:r>
                <a:r>
                  <a:rPr lang="en-US" altLang="zh-CN" dirty="0"/>
                  <a:t>3000</a:t>
                </a:r>
                <a:r>
                  <a:rPr lang="zh-CN" altLang="zh-CN" dirty="0"/>
                  <a:t>元</a:t>
                </a:r>
                <a:r>
                  <a:rPr lang="en-US" altLang="zh-CN" dirty="0"/>
                  <a:t>(</a:t>
                </a:r>
                <a:r>
                  <a:rPr lang="zh-CN" altLang="zh-CN" dirty="0"/>
                  <a:t>含</a:t>
                </a:r>
                <a:r>
                  <a:rPr lang="en-US" altLang="zh-CN" dirty="0"/>
                  <a:t>)</a:t>
                </a:r>
                <a:r>
                  <a:rPr lang="zh-CN" altLang="zh-CN" dirty="0"/>
                  <a:t>以内，超过</a:t>
                </a:r>
                <a:r>
                  <a:rPr lang="en-US" altLang="zh-CN" dirty="0"/>
                  <a:t>1200</a:t>
                </a:r>
                <a:r>
                  <a:rPr lang="zh-CN" altLang="zh-CN" dirty="0"/>
                  <a:t>元的部分按</a:t>
                </a:r>
                <a:r>
                  <a:rPr lang="en-US" altLang="zh-CN" dirty="0"/>
                  <a:t>10%</a:t>
                </a:r>
                <a:r>
                  <a:rPr lang="zh-CN" altLang="zh-CN" dirty="0"/>
                  <a:t>征税；</a:t>
                </a:r>
                <a:endParaRPr lang="zh-CN" altLang="zh-CN" dirty="0"/>
              </a:p>
              <a:p>
                <a:pPr algn="l"/>
                <a:r>
                  <a:rPr lang="en-US" altLang="zh-CN" dirty="0"/>
                  <a:t>      </a:t>
                </a:r>
                <a:r>
                  <a:rPr lang="zh-CN" altLang="zh-CN" dirty="0"/>
                  <a:t>超过起征点</a:t>
                </a:r>
                <a:r>
                  <a:rPr lang="en-US" altLang="zh-CN" dirty="0"/>
                  <a:t>5000</a:t>
                </a:r>
                <a:r>
                  <a:rPr lang="zh-CN" altLang="zh-CN" dirty="0"/>
                  <a:t>元</a:t>
                </a:r>
                <a:r>
                  <a:rPr lang="en-US" altLang="zh-CN" dirty="0"/>
                  <a:t>(</a:t>
                </a:r>
                <a:r>
                  <a:rPr lang="zh-CN" altLang="zh-CN" dirty="0"/>
                  <a:t>含</a:t>
                </a:r>
                <a:r>
                  <a:rPr lang="en-US" altLang="zh-CN" dirty="0"/>
                  <a:t>)</a:t>
                </a:r>
                <a:r>
                  <a:rPr lang="zh-CN" altLang="zh-CN" dirty="0"/>
                  <a:t>以内，超过</a:t>
                </a:r>
                <a:r>
                  <a:rPr lang="en-US" altLang="zh-CN" dirty="0"/>
                  <a:t>1200</a:t>
                </a:r>
                <a:r>
                  <a:rPr lang="zh-CN" altLang="zh-CN" dirty="0"/>
                  <a:t>元的部分按</a:t>
                </a:r>
                <a:r>
                  <a:rPr lang="en-US" altLang="zh-CN" dirty="0"/>
                  <a:t>15%</a:t>
                </a:r>
                <a:r>
                  <a:rPr lang="zh-CN" altLang="zh-CN" dirty="0"/>
                  <a:t>征税；</a:t>
                </a:r>
                <a:endParaRPr lang="zh-CN" altLang="zh-CN" dirty="0"/>
              </a:p>
              <a:p>
                <a:pPr algn="l"/>
                <a:r>
                  <a:rPr lang="en-US" altLang="zh-CN" dirty="0"/>
                  <a:t>      </a:t>
                </a:r>
                <a:r>
                  <a:rPr lang="zh-CN" altLang="zh-CN" dirty="0"/>
                  <a:t>超过起征点</a:t>
                </a:r>
                <a:r>
                  <a:rPr lang="en-US" altLang="zh-CN" dirty="0"/>
                  <a:t>10000</a:t>
                </a:r>
                <a:r>
                  <a:rPr lang="zh-CN" altLang="zh-CN" dirty="0"/>
                  <a:t>元</a:t>
                </a:r>
                <a:r>
                  <a:rPr lang="en-US" altLang="zh-CN" dirty="0"/>
                  <a:t>(</a:t>
                </a:r>
                <a:r>
                  <a:rPr lang="zh-CN" altLang="zh-CN" dirty="0"/>
                  <a:t>含</a:t>
                </a:r>
                <a:r>
                  <a:rPr lang="en-US" altLang="zh-CN" dirty="0"/>
                  <a:t>)</a:t>
                </a:r>
                <a:r>
                  <a:rPr lang="zh-CN" altLang="zh-CN" dirty="0"/>
                  <a:t>以内，超过</a:t>
                </a:r>
                <a:r>
                  <a:rPr lang="en-US" altLang="zh-CN" dirty="0"/>
                  <a:t>1200</a:t>
                </a:r>
                <a:r>
                  <a:rPr lang="zh-CN" altLang="zh-CN" dirty="0"/>
                  <a:t>元的部分按</a:t>
                </a:r>
                <a:r>
                  <a:rPr lang="en-US" altLang="zh-CN" dirty="0"/>
                  <a:t>20%</a:t>
                </a:r>
                <a:r>
                  <a:rPr lang="zh-CN" altLang="zh-CN" dirty="0"/>
                  <a:t>征税；</a:t>
                </a:r>
                <a:endParaRPr lang="zh-CN" altLang="zh-CN" dirty="0"/>
              </a:p>
              <a:p>
                <a:pPr algn="l"/>
                <a:r>
                  <a:rPr lang="en-US" altLang="zh-CN" dirty="0" smtClean="0"/>
                  <a:t>      </a:t>
                </a:r>
                <a:r>
                  <a:rPr lang="zh-CN" altLang="zh-CN" dirty="0" smtClean="0"/>
                  <a:t>超过起征点</a:t>
                </a:r>
                <a:r>
                  <a:rPr lang="en-US" altLang="zh-CN" dirty="0" smtClean="0"/>
                  <a:t>10000</a:t>
                </a:r>
                <a:r>
                  <a:rPr lang="zh-CN" altLang="zh-CN" dirty="0" smtClean="0"/>
                  <a:t>元以上的，超过</a:t>
                </a:r>
                <a:r>
                  <a:rPr lang="en-US" altLang="zh-CN" dirty="0" smtClean="0"/>
                  <a:t>1200</a:t>
                </a:r>
                <a:r>
                  <a:rPr lang="zh-CN" altLang="zh-CN" dirty="0" smtClean="0"/>
                  <a:t>元的部分按</a:t>
                </a:r>
                <a:r>
                  <a:rPr lang="en-US" altLang="zh-CN" dirty="0" smtClean="0"/>
                  <a:t>30%</a:t>
                </a:r>
                <a:r>
                  <a:rPr lang="zh-CN" altLang="zh-CN" dirty="0" smtClean="0"/>
                  <a:t>征税。</a:t>
                </a:r>
                <a:endParaRPr lang="zh-CN" altLang="zh-CN" dirty="0"/>
              </a:p>
            </p:txBody>
          </p:sp>
        </mc:Choice>
        <mc:Fallback>
          <p:sp>
            <p:nvSpPr>
              <p:cNvPr id="65539" name="Rectangle 4"/>
              <p:cNvSpPr>
                <a:spLocks noRot="1" noChangeAspect="1" noMove="1" noResize="1" noEditPoints="1" noAdjustHandles="1" noChangeArrowheads="1" noChangeShapeType="1" noTextEdit="1"/>
              </p:cNvSpPr>
              <p:nvPr/>
            </p:nvSpPr>
            <p:spPr bwMode="auto">
              <a:xfrm>
                <a:off x="838279" y="908720"/>
                <a:ext cx="8223090" cy="1914773"/>
              </a:xfrm>
              <a:prstGeom prst="rect">
                <a:avLst/>
              </a:prstGeom>
              <a:blipFill rotWithShape="1">
                <a:blip r:embed="rId1"/>
                <a:stretch>
                  <a:fillRect l="-1" t="-2" r="7" b="-174589"/>
                </a:stretch>
              </a:blipFill>
              <a:ln w="9525" algn="ctr">
                <a:noFill/>
                <a:miter lim="800000"/>
              </a:ln>
            </p:spPr>
            <p:txBody>
              <a:bodyPr/>
              <a:lstStyle/>
              <a:p>
                <a:r>
                  <a:rPr lang="zh-CN" altLang="en-US">
                    <a:noFill/>
                  </a:rPr>
                  <a:t> </a:t>
                </a:r>
              </a:p>
            </p:txBody>
          </p:sp>
        </mc:Fallback>
      </mc:AlternateContent>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3600" i="1" dirty="0" smtClean="0">
                <a:effectLst>
                  <a:outerShdw blurRad="38100" dist="38100" dir="2700000" algn="tl">
                    <a:srgbClr val="000000"/>
                  </a:outerShdw>
                </a:effectLst>
                <a:ea typeface="隶书" panose="02010509060101010101" pitchFamily="49" charset="-122"/>
                <a:cs typeface="+mj-cs"/>
              </a:rPr>
              <a:t>第</a:t>
            </a:r>
            <a:r>
              <a:rPr lang="en-US" altLang="zh-CN" sz="3600" i="1" dirty="0" smtClean="0">
                <a:effectLst>
                  <a:outerShdw blurRad="38100" dist="38100" dir="2700000" algn="tl">
                    <a:srgbClr val="000000"/>
                  </a:outerShdw>
                </a:effectLst>
                <a:ea typeface="隶书" panose="02010509060101010101" pitchFamily="49" charset="-122"/>
                <a:cs typeface="+mj-cs"/>
              </a:rPr>
              <a:t>3</a:t>
            </a:r>
            <a:r>
              <a:rPr lang="zh-CN" altLang="en-US" sz="3600" i="1" dirty="0" smtClean="0">
                <a:effectLst>
                  <a:outerShdw blurRad="38100" dist="38100" dir="2700000" algn="tl">
                    <a:srgbClr val="000000"/>
                  </a:outerShdw>
                </a:effectLst>
                <a:ea typeface="隶书" panose="02010509060101010101" pitchFamily="49" charset="-122"/>
                <a:cs typeface="+mj-cs"/>
              </a:rPr>
              <a:t>讲 课后练习</a:t>
            </a:r>
            <a:endParaRPr lang="zh-CN" altLang="en-US" sz="36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smtClean="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PP_MARK_KEY" val="4575cb14-7c72-4697-bcbf-fc982ecb8506"/>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21336</Words>
  <Application>WPS 演示</Application>
  <PresentationFormat>全屏显示(4:3)</PresentationFormat>
  <Paragraphs>1792</Paragraphs>
  <Slides>111</Slides>
  <Notes>28</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7</vt:i4>
      </vt:variant>
      <vt:variant>
        <vt:lpstr>幻灯片标题</vt:lpstr>
      </vt:variant>
      <vt:variant>
        <vt:i4>111</vt:i4>
      </vt:variant>
    </vt:vector>
  </HeadingPairs>
  <TitlesOfParts>
    <vt:vector size="142" baseType="lpstr">
      <vt:lpstr>Arial</vt:lpstr>
      <vt:lpstr>宋体</vt:lpstr>
      <vt:lpstr>Wingdings</vt:lpstr>
      <vt:lpstr>Times New Roman</vt:lpstr>
      <vt:lpstr>幼圆</vt:lpstr>
      <vt:lpstr>隶书</vt:lpstr>
      <vt:lpstr>Monotype Sorts</vt:lpstr>
      <vt:lpstr>Wingdings</vt:lpstr>
      <vt:lpstr>Book Antiqua</vt:lpstr>
      <vt:lpstr>黑体</vt:lpstr>
      <vt:lpstr>华文行楷</vt:lpstr>
      <vt:lpstr>方正舒体</vt:lpstr>
      <vt:lpstr>华文中宋</vt:lpstr>
      <vt:lpstr>华文彩云</vt:lpstr>
      <vt:lpstr>华文楷体</vt:lpstr>
      <vt:lpstr>微软雅黑</vt:lpstr>
      <vt:lpstr>Georgia</vt:lpstr>
      <vt:lpstr>Arial Unicode MS</vt:lpstr>
      <vt:lpstr>Georgia</vt:lpstr>
      <vt:lpstr>Verdana</vt:lpstr>
      <vt:lpstr>Consolas</vt:lpstr>
      <vt:lpstr>Times New Roman</vt:lpstr>
      <vt:lpstr>Cambria Math</vt:lpstr>
      <vt:lpstr>Blank Presentation</vt:lpstr>
      <vt:lpstr>Equation.DSMT4</vt:lpstr>
      <vt:lpstr>Equation.DSMT4</vt:lpstr>
      <vt:lpstr>Equation.DSMT4</vt:lpstr>
      <vt:lpstr>Equation.DSMT4</vt:lpstr>
      <vt:lpstr>Visio.Drawing.11</vt:lpstr>
      <vt:lpstr>Equation.DSMT4</vt:lpstr>
      <vt:lpstr>Equation.DSMT4</vt:lpstr>
      <vt:lpstr>程序设计D</vt:lpstr>
      <vt:lpstr>PowerPoint 演示文稿</vt:lpstr>
      <vt:lpstr>PowerPoint 演示文稿</vt:lpstr>
      <vt:lpstr>函数的         定义  &amp; 使用</vt:lpstr>
      <vt:lpstr>PowerPoint 演示文稿</vt:lpstr>
      <vt:lpstr>3.1.1 函数定义（续）</vt:lpstr>
      <vt:lpstr>PowerPoint 演示文稿</vt:lpstr>
      <vt:lpstr>3.1.2  函数的调用：调用的一般形式</vt:lpstr>
      <vt:lpstr>3.1.2  函数的调用：调用的一般形式</vt:lpstr>
      <vt:lpstr>3.1.2  函数的调用：函数原型</vt:lpstr>
      <vt:lpstr>3.1.2  函数的调用：函数原型（作用）</vt:lpstr>
      <vt:lpstr>3.1.2  函数的调用：函数原型（使用时机）</vt:lpstr>
      <vt:lpstr>3.1.2  函数的调用：函数原型(书写规范）</vt:lpstr>
      <vt:lpstr>例3-1   编写一个求x的n次方的函数</vt:lpstr>
      <vt:lpstr>例   decltype在函数返回值类型的使用方法</vt:lpstr>
      <vt:lpstr>例3-2  数制转换</vt:lpstr>
      <vt:lpstr>例3-2 （续）</vt:lpstr>
      <vt:lpstr>例3-3 编写程序求π的值</vt:lpstr>
      <vt:lpstr>例3-3 （续）</vt:lpstr>
      <vt:lpstr>例3-3 （续）</vt:lpstr>
      <vt:lpstr>例3-4</vt:lpstr>
      <vt:lpstr>例3-4（续）</vt:lpstr>
      <vt:lpstr>例3-4（续）</vt:lpstr>
      <vt:lpstr>例3-5</vt:lpstr>
      <vt:lpstr>例3-5（续）</vt:lpstr>
      <vt:lpstr>例3-5 （续）</vt:lpstr>
      <vt:lpstr>例3-6 投骰子的随机游戏</vt:lpstr>
      <vt:lpstr>例3.6 （续）</vt:lpstr>
      <vt:lpstr>例3-6（续）</vt:lpstr>
      <vt:lpstr>例3-6（续）</vt:lpstr>
      <vt:lpstr>例3-6（续）</vt:lpstr>
      <vt:lpstr>例3-6（续）</vt:lpstr>
      <vt:lpstr>3.1.2  函数的调用：嵌套调用</vt:lpstr>
      <vt:lpstr>3.1.2  函数的调用：嵌套调用</vt:lpstr>
      <vt:lpstr>例3-7 输入两个整数，求平方和</vt:lpstr>
      <vt:lpstr>例3-7 （续）</vt:lpstr>
      <vt:lpstr>3.1.2  函数的调用：递归调用</vt:lpstr>
      <vt:lpstr>3.1.2  函数的调用：递归调用</vt:lpstr>
      <vt:lpstr>例3-8 求n!</vt:lpstr>
      <vt:lpstr>例3-8（续）</vt:lpstr>
      <vt:lpstr>例3-9</vt:lpstr>
      <vt:lpstr>例3-9（续）</vt:lpstr>
      <vt:lpstr>例3-10</vt:lpstr>
      <vt:lpstr>例3-10（续）</vt:lpstr>
      <vt:lpstr>例3-10（续）</vt:lpstr>
      <vt:lpstr>例3-10（续）</vt:lpstr>
      <vt:lpstr>递归过程</vt:lpstr>
      <vt:lpstr>3.1.3 函数的参数传递</vt:lpstr>
      <vt:lpstr>3.1.3 函数的参数传递： 模块间的数据通信方式</vt:lpstr>
      <vt:lpstr>3.1.3 函数的参数传递： 模块间的数据通信方式</vt:lpstr>
      <vt:lpstr>3.1.3 函数的参数传递： 模块间的数据通信方式</vt:lpstr>
      <vt:lpstr> 3.1.3 函数的参数传递：参数传递方式</vt:lpstr>
      <vt:lpstr> 3.1.3 函数的参数传递：值传递</vt:lpstr>
      <vt:lpstr>值传递举例</vt:lpstr>
      <vt:lpstr>例3-11 输入两个整数交换后输出</vt:lpstr>
      <vt:lpstr>PowerPoint 演示文稿</vt:lpstr>
      <vt:lpstr>PowerPoint 演示文稿</vt:lpstr>
      <vt:lpstr>PowerPoint 演示文稿</vt:lpstr>
      <vt:lpstr>3.1.3 函数的参数传递：值传递</vt:lpstr>
      <vt:lpstr>3.1.3 函数的参数传递：引用传递</vt:lpstr>
      <vt:lpstr>3.1.3 函数的参数传递：引用传递</vt:lpstr>
      <vt:lpstr>PowerPoint 演示文稿</vt:lpstr>
      <vt:lpstr>3.1.3 函数的参数传递：引用传递</vt:lpstr>
      <vt:lpstr>例3-12 输入两个整数交换后输出</vt:lpstr>
      <vt:lpstr>PowerPoint 演示文稿</vt:lpstr>
      <vt:lpstr>例3-13值传递与引用传递的比较</vt:lpstr>
      <vt:lpstr>可变数量形参</vt:lpstr>
      <vt:lpstr>可变数量形参</vt:lpstr>
      <vt:lpstr>   内联函数</vt:lpstr>
      <vt:lpstr>3.2 内联函数</vt:lpstr>
      <vt:lpstr>3.2  内联函数</vt:lpstr>
      <vt:lpstr>例3-14  内联函数应用举例</vt:lpstr>
      <vt:lpstr>   constexpr函数</vt:lpstr>
      <vt:lpstr>3.3 constexpr函数</vt:lpstr>
      <vt:lpstr>   带默认形参值的函数</vt:lpstr>
      <vt:lpstr>3.4 带默认参数值的函数</vt:lpstr>
      <vt:lpstr>默认参数值的说明次序</vt:lpstr>
      <vt:lpstr>默认参数值与函数的调用位置</vt:lpstr>
      <vt:lpstr>例3-15计算长方体的体积</vt:lpstr>
      <vt:lpstr>例3-15（续）</vt:lpstr>
      <vt:lpstr>        函数重载</vt:lpstr>
      <vt:lpstr>3.5 函数重载</vt:lpstr>
      <vt:lpstr>注意事项</vt:lpstr>
      <vt:lpstr>例3-16重载函数应用举例</vt:lpstr>
      <vt:lpstr>例3-16（续）</vt:lpstr>
      <vt:lpstr>PowerPoint 演示文稿</vt:lpstr>
      <vt:lpstr>PowerPoint 演示文稿</vt:lpstr>
      <vt:lpstr>PowerPoint 演示文稿</vt:lpstr>
      <vt:lpstr>  C++系统函数</vt:lpstr>
      <vt:lpstr>3.6  使用C++系统函数</vt:lpstr>
      <vt:lpstr>例3-17 系统函数应用举例</vt:lpstr>
      <vt:lpstr>例3-17（续）</vt:lpstr>
      <vt:lpstr>标准函数与非标准函数</vt:lpstr>
      <vt:lpstr>查找系统函数的使用说明</vt:lpstr>
      <vt:lpstr>  深度探索</vt:lpstr>
      <vt:lpstr>3.7.1  运行栈与函数调用的执行</vt:lpstr>
      <vt:lpstr>3.7.1  运行栈与函数调用的执行</vt:lpstr>
      <vt:lpstr>例3-8 求n!</vt:lpstr>
      <vt:lpstr>例3-8（续）</vt:lpstr>
      <vt:lpstr>当运行程序，输入1后， 例题3-8的运行栈变化情况</vt:lpstr>
      <vt:lpstr>当运行程序，输入1后， 例题3-8的运行栈变化情况</vt:lpstr>
      <vt:lpstr>3.7.1  运行栈与函数调用的执行</vt:lpstr>
      <vt:lpstr>3.7.1  运行栈与函数调用的执行</vt:lpstr>
      <vt:lpstr>3.7.1  运行栈与函数调用的执行</vt:lpstr>
      <vt:lpstr>3.7.1  运行栈与函数调用的执行</vt:lpstr>
      <vt:lpstr>3.7.2  函数声明和类型安全</vt:lpstr>
      <vt:lpstr>本讲小结</vt:lpstr>
      <vt:lpstr>本讲主要知识点</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1655</cp:revision>
  <cp:lastPrinted>2020-02-12T16:33:00Z</cp:lastPrinted>
  <dcterms:created xsi:type="dcterms:W3CDTF">1999-08-09T22:53:00Z</dcterms:created>
  <dcterms:modified xsi:type="dcterms:W3CDTF">2023-10-16T15:11:51Z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193F9BD98FAB477CABA80FBC84585D27_12</vt:lpwstr>
  </property>
  <property fmtid="{D5CDD505-2E9C-101B-9397-08002B2CF9AE}" pid="3" name="KSOProductBuildVer">
    <vt:lpwstr>2052-11.1.0.14309</vt:lpwstr>
  </property>
</Properties>
</file>