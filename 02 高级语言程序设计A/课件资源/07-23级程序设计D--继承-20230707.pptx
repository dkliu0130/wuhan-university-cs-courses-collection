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35"/>
  </p:handoutMasterIdLst>
  <p:sldIdLst>
    <p:sldId id="880" r:id="rId3"/>
    <p:sldId id="2026" r:id="rId5"/>
    <p:sldId id="1375" r:id="rId6"/>
    <p:sldId id="716" r:id="rId7"/>
    <p:sldId id="1914" r:id="rId8"/>
    <p:sldId id="2010" r:id="rId9"/>
    <p:sldId id="2011" r:id="rId10"/>
    <p:sldId id="2012" r:id="rId11"/>
    <p:sldId id="2013" r:id="rId12"/>
    <p:sldId id="2014" r:id="rId13"/>
    <p:sldId id="2015" r:id="rId14"/>
    <p:sldId id="2016" r:id="rId15"/>
    <p:sldId id="1915" r:id="rId16"/>
    <p:sldId id="2017" r:id="rId17"/>
    <p:sldId id="2019" r:id="rId18"/>
    <p:sldId id="2020" r:id="rId19"/>
    <p:sldId id="2155" r:id="rId20"/>
    <p:sldId id="2021" r:id="rId21"/>
    <p:sldId id="2022" r:id="rId22"/>
    <p:sldId id="2023" r:id="rId23"/>
    <p:sldId id="2024" r:id="rId24"/>
    <p:sldId id="2009" r:id="rId25"/>
    <p:sldId id="1918" r:id="rId26"/>
    <p:sldId id="2025" r:id="rId27"/>
    <p:sldId id="1902" r:id="rId28"/>
    <p:sldId id="1919" r:id="rId29"/>
    <p:sldId id="1920" r:id="rId30"/>
    <p:sldId id="2027" r:id="rId31"/>
    <p:sldId id="1921" r:id="rId32"/>
    <p:sldId id="1922" r:id="rId33"/>
    <p:sldId id="1923" r:id="rId34"/>
    <p:sldId id="1924" r:id="rId35"/>
    <p:sldId id="1925" r:id="rId36"/>
    <p:sldId id="1926" r:id="rId37"/>
    <p:sldId id="1927" r:id="rId38"/>
    <p:sldId id="1928" r:id="rId39"/>
    <p:sldId id="1929" r:id="rId40"/>
    <p:sldId id="1930" r:id="rId41"/>
    <p:sldId id="1931" r:id="rId42"/>
    <p:sldId id="1932" r:id="rId43"/>
    <p:sldId id="1933" r:id="rId44"/>
    <p:sldId id="1903" r:id="rId45"/>
    <p:sldId id="1934" r:id="rId46"/>
    <p:sldId id="1935" r:id="rId47"/>
    <p:sldId id="1936" r:id="rId48"/>
    <p:sldId id="1904" r:id="rId49"/>
    <p:sldId id="1937" r:id="rId50"/>
    <p:sldId id="1938" r:id="rId51"/>
    <p:sldId id="1939" r:id="rId52"/>
    <p:sldId id="1940" r:id="rId53"/>
    <p:sldId id="1941" r:id="rId54"/>
    <p:sldId id="1942" r:id="rId55"/>
    <p:sldId id="1943" r:id="rId56"/>
    <p:sldId id="1944" r:id="rId57"/>
    <p:sldId id="1945" r:id="rId58"/>
    <p:sldId id="1946" r:id="rId59"/>
    <p:sldId id="1947" r:id="rId60"/>
    <p:sldId id="1948" r:id="rId61"/>
    <p:sldId id="1949" r:id="rId62"/>
    <p:sldId id="1950" r:id="rId63"/>
    <p:sldId id="1951" r:id="rId64"/>
    <p:sldId id="1952" r:id="rId65"/>
    <p:sldId id="2028" r:id="rId66"/>
    <p:sldId id="1905" r:id="rId67"/>
    <p:sldId id="1954" r:id="rId68"/>
    <p:sldId id="2029" r:id="rId69"/>
    <p:sldId id="1955" r:id="rId70"/>
    <p:sldId id="1956" r:id="rId71"/>
    <p:sldId id="1957" r:id="rId72"/>
    <p:sldId id="1958" r:id="rId73"/>
    <p:sldId id="1959" r:id="rId74"/>
    <p:sldId id="1960" r:id="rId75"/>
    <p:sldId id="1961" r:id="rId76"/>
    <p:sldId id="1962" r:id="rId77"/>
    <p:sldId id="1963" r:id="rId78"/>
    <p:sldId id="1964" r:id="rId79"/>
    <p:sldId id="1965" r:id="rId80"/>
    <p:sldId id="1966" r:id="rId81"/>
    <p:sldId id="1967" r:id="rId82"/>
    <p:sldId id="1968" r:id="rId83"/>
    <p:sldId id="1906" r:id="rId84"/>
    <p:sldId id="1969" r:id="rId85"/>
    <p:sldId id="1970" r:id="rId86"/>
    <p:sldId id="1971" r:id="rId87"/>
    <p:sldId id="1972" r:id="rId88"/>
    <p:sldId id="1973" r:id="rId89"/>
    <p:sldId id="1974" r:id="rId90"/>
    <p:sldId id="1975" r:id="rId91"/>
    <p:sldId id="1976" r:id="rId92"/>
    <p:sldId id="1977" r:id="rId93"/>
    <p:sldId id="1978" r:id="rId94"/>
    <p:sldId id="1979" r:id="rId95"/>
    <p:sldId id="1980" r:id="rId96"/>
    <p:sldId id="1981" r:id="rId97"/>
    <p:sldId id="1907" r:id="rId98"/>
    <p:sldId id="1982" r:id="rId99"/>
    <p:sldId id="1983" r:id="rId100"/>
    <p:sldId id="1984" r:id="rId101"/>
    <p:sldId id="1985" r:id="rId102"/>
    <p:sldId id="1986" r:id="rId103"/>
    <p:sldId id="1987" r:id="rId104"/>
    <p:sldId id="1988" r:id="rId105"/>
    <p:sldId id="1989" r:id="rId106"/>
    <p:sldId id="1990" r:id="rId107"/>
    <p:sldId id="1991" r:id="rId108"/>
    <p:sldId id="1992" r:id="rId109"/>
    <p:sldId id="1993" r:id="rId110"/>
    <p:sldId id="1994" r:id="rId111"/>
    <p:sldId id="1995" r:id="rId112"/>
    <p:sldId id="1996" r:id="rId113"/>
    <p:sldId id="1997" r:id="rId114"/>
    <p:sldId id="1913" r:id="rId115"/>
    <p:sldId id="1998" r:id="rId116"/>
    <p:sldId id="1999" r:id="rId117"/>
    <p:sldId id="2000" r:id="rId118"/>
    <p:sldId id="2001" r:id="rId119"/>
    <p:sldId id="2002" r:id="rId120"/>
    <p:sldId id="2003" r:id="rId121"/>
    <p:sldId id="2004" r:id="rId122"/>
    <p:sldId id="2005" r:id="rId123"/>
    <p:sldId id="2006" r:id="rId124"/>
    <p:sldId id="2007" r:id="rId125"/>
    <p:sldId id="2008" r:id="rId126"/>
    <p:sldId id="1908" r:id="rId127"/>
    <p:sldId id="1909" r:id="rId128"/>
    <p:sldId id="1911" r:id="rId129"/>
    <p:sldId id="2030" r:id="rId130"/>
    <p:sldId id="2031" r:id="rId131"/>
    <p:sldId id="2032" r:id="rId132"/>
    <p:sldId id="2033" r:id="rId133"/>
    <p:sldId id="1912" r:id="rId134"/>
  </p:sldIdLst>
  <p:sldSz cx="9144000" cy="6858000" type="screen4x3"/>
  <p:notesSz cx="6648450" cy="9782175"/>
  <p:custDataLst>
    <p:tags r:id="rId139"/>
  </p:custDataLst>
  <p:defaultTextStyle>
    <a:defPPr>
      <a:defRPr lang="zh-CN"/>
    </a:defPPr>
    <a:lvl1pPr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1pPr>
    <a:lvl2pPr marL="457200"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2pPr>
    <a:lvl3pPr marL="914400"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3pPr>
    <a:lvl4pPr marL="1371600"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4pPr>
    <a:lvl5pPr marL="1828800" algn="ctr" rtl="0" fontAlgn="base">
      <a:spcBef>
        <a:spcPct val="0"/>
      </a:spcBef>
      <a:spcAft>
        <a:spcPct val="0"/>
      </a:spcAft>
      <a:defRPr kumimoji="1" sz="2400" kern="1200">
        <a:solidFill>
          <a:schemeClr val="tx1"/>
        </a:solidFill>
        <a:latin typeface="Times New Roman" panose="02020603050405020304" pitchFamily="18" charset="0"/>
        <a:ea typeface="幼圆" panose="02010509060101010101" pitchFamily="49"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幼圆" panose="02010509060101010101" pitchFamily="49"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幼圆" panose="02010509060101010101" pitchFamily="49"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幼圆" panose="02010509060101010101" pitchFamily="49"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幼圆" panose="02010509060101010101" pitchFamily="49" charset="-122"/>
        <a:cs typeface="+mn-cs"/>
      </a:defRPr>
    </a:lvl9pPr>
  </p:defaultTextStyle>
  <p:extLst>
    <p:ext uri="{EFAFB233-063F-42B5-8137-9DF3F51BA10A}">
      <p15:sldGuideLst xmlns:p15="http://schemas.microsoft.com/office/powerpoint/2012/main">
        <p15:guide id="1" orient="horz" pos="1824" userDrawn="1">
          <p15:clr>
            <a:srgbClr val="A4A3A4"/>
          </p15:clr>
        </p15:guide>
        <p15:guide id="2" pos="29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srgbClr val="00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2F2FC5"/>
    <a:srgbClr val="000000"/>
    <a:srgbClr val="FFFF99"/>
    <a:srgbClr val="E682E1"/>
    <a:srgbClr val="3030C7"/>
    <a:srgbClr val="740000"/>
    <a:srgbClr val="4B0064"/>
    <a:srgbClr val="3333FF"/>
    <a:srgbClr val="CB1522"/>
    <a:srgbClr val="C177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647" autoAdjust="0"/>
    <p:restoredTop sz="92973" autoAdjust="0"/>
  </p:normalViewPr>
  <p:slideViewPr>
    <p:cSldViewPr showGuides="1">
      <p:cViewPr varScale="1">
        <p:scale>
          <a:sx n="104" d="100"/>
          <a:sy n="104" d="100"/>
        </p:scale>
        <p:origin x="1332" y="72"/>
      </p:cViewPr>
      <p:guideLst>
        <p:guide orient="horz" pos="1824"/>
        <p:guide pos="2928"/>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1914"/>
    </p:cViewPr>
  </p:sorterViewPr>
  <p:notesViewPr>
    <p:cSldViewPr>
      <p:cViewPr varScale="1">
        <p:scale>
          <a:sx n="50" d="100"/>
          <a:sy n="50" d="100"/>
        </p:scale>
        <p:origin x="2922" y="60"/>
      </p:cViewPr>
      <p:guideLst>
        <p:guide orient="horz" pos="3080"/>
        <p:guide pos="2094"/>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9" Type="http://schemas.openxmlformats.org/officeDocument/2006/relationships/tags" Target="tags/tag1.xml"/><Relationship Id="rId138" Type="http://schemas.openxmlformats.org/officeDocument/2006/relationships/tableStyles" Target="tableStyles.xml"/><Relationship Id="rId137" Type="http://schemas.openxmlformats.org/officeDocument/2006/relationships/viewProps" Target="viewProps.xml"/><Relationship Id="rId136" Type="http://schemas.openxmlformats.org/officeDocument/2006/relationships/presProps" Target="presProps.xml"/><Relationship Id="rId135" Type="http://schemas.openxmlformats.org/officeDocument/2006/relationships/handoutMaster" Target="handoutMasters/handoutMaster1.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4" Type="http://schemas.openxmlformats.org/officeDocument/2006/relationships/image" Target="../media/image12.wmf"/><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1588"/>
            <a:ext cx="2881313" cy="49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lstStyle>
            <a:lvl1pPr algn="l" eaLnBrk="0" hangingPunct="0">
              <a:defRPr sz="1000" i="1">
                <a:latin typeface="Book Antiqua" panose="02040602050305030304" pitchFamily="18" charset="0"/>
                <a:ea typeface="宋体" panose="02010600030101010101" pitchFamily="2" charset="-122"/>
              </a:defRPr>
            </a:lvl1pPr>
          </a:lstStyle>
          <a:p>
            <a:r>
              <a:rPr lang="zh-CN" altLang="en-US"/>
              <a:t>网站建设与网络安全</a:t>
            </a:r>
            <a:endParaRPr lang="zh-CN" altLang="en-US"/>
          </a:p>
        </p:txBody>
      </p:sp>
      <p:sp>
        <p:nvSpPr>
          <p:cNvPr id="4099" name="Rectangle 3"/>
          <p:cNvSpPr>
            <a:spLocks noGrp="1" noChangeArrowheads="1"/>
          </p:cNvSpPr>
          <p:nvPr>
            <p:ph type="dt" sz="quarter" idx="1"/>
          </p:nvPr>
        </p:nvSpPr>
        <p:spPr bwMode="auto">
          <a:xfrm>
            <a:off x="3767138" y="-1588"/>
            <a:ext cx="2881312" cy="49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lstStyle>
            <a:lvl1pPr algn="r" eaLnBrk="0" hangingPunct="0">
              <a:defRPr sz="1000" i="1">
                <a:latin typeface="Book Antiqua" panose="02040602050305030304" pitchFamily="18" charset="0"/>
                <a:ea typeface="宋体" panose="02010600030101010101" pitchFamily="2" charset="-122"/>
              </a:defRPr>
            </a:lvl1pPr>
          </a:lstStyle>
          <a:p>
            <a:endParaRPr lang="en-US" altLang="zh-CN"/>
          </a:p>
        </p:txBody>
      </p:sp>
      <p:sp>
        <p:nvSpPr>
          <p:cNvPr id="4100" name="Rectangle 4"/>
          <p:cNvSpPr>
            <a:spLocks noGrp="1" noChangeArrowheads="1"/>
          </p:cNvSpPr>
          <p:nvPr>
            <p:ph type="ftr" sz="quarter" idx="2"/>
          </p:nvPr>
        </p:nvSpPr>
        <p:spPr bwMode="auto">
          <a:xfrm>
            <a:off x="0" y="9291638"/>
            <a:ext cx="2881313"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lstStyle>
            <a:lvl1pPr algn="l" eaLnBrk="0" hangingPunct="0">
              <a:defRPr sz="1000" i="1">
                <a:latin typeface="Book Antiqua" panose="02040602050305030304" pitchFamily="18" charset="0"/>
                <a:ea typeface="宋体" panose="02010600030101010101" pitchFamily="2" charset="-122"/>
              </a:defRPr>
            </a:lvl1pPr>
          </a:lstStyle>
          <a:p>
            <a:r>
              <a:rPr lang="zh-CN" altLang="en-US"/>
              <a:t>武汉大学计算机学院 梁意文</a:t>
            </a:r>
            <a:endParaRPr lang="zh-CN" altLang="en-US"/>
          </a:p>
        </p:txBody>
      </p:sp>
      <p:sp>
        <p:nvSpPr>
          <p:cNvPr id="4101" name="Rectangle 5"/>
          <p:cNvSpPr>
            <a:spLocks noGrp="1" noChangeArrowheads="1"/>
          </p:cNvSpPr>
          <p:nvPr>
            <p:ph type="sldNum" sz="quarter" idx="3"/>
          </p:nvPr>
        </p:nvSpPr>
        <p:spPr bwMode="auto">
          <a:xfrm>
            <a:off x="3767138" y="9291638"/>
            <a:ext cx="2881312"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lstStyle>
            <a:lvl1pPr algn="r" eaLnBrk="0" hangingPunct="0">
              <a:defRPr sz="1000" i="1">
                <a:latin typeface="Book Antiqua" panose="02040602050305030304" pitchFamily="18" charset="0"/>
                <a:ea typeface="宋体" panose="02010600030101010101" pitchFamily="2" charset="-122"/>
              </a:defRPr>
            </a:lvl1pPr>
          </a:lstStyle>
          <a:p>
            <a:fld id="{06F2D5D5-3B16-43CA-8995-8BE81CB6B1AB}"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1588"/>
            <a:ext cx="2881313" cy="49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lstStyle>
            <a:lvl1pPr algn="l" defTabSz="762000" eaLnBrk="0" hangingPunct="0">
              <a:defRPr sz="1000" i="1">
                <a:ea typeface="宋体" panose="02010600030101010101" pitchFamily="2" charset="-122"/>
              </a:defRPr>
            </a:lvl1pPr>
          </a:lstStyle>
          <a:p>
            <a:endParaRPr lang="en-US" altLang="zh-CN"/>
          </a:p>
        </p:txBody>
      </p:sp>
      <p:sp>
        <p:nvSpPr>
          <p:cNvPr id="2051" name="Rectangle 3"/>
          <p:cNvSpPr>
            <a:spLocks noGrp="1" noChangeArrowheads="1"/>
          </p:cNvSpPr>
          <p:nvPr>
            <p:ph type="dt" idx="1"/>
          </p:nvPr>
        </p:nvSpPr>
        <p:spPr bwMode="auto">
          <a:xfrm>
            <a:off x="3767138" y="-1588"/>
            <a:ext cx="2881312" cy="49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lstStyle>
            <a:lvl1pPr algn="r" defTabSz="762000" eaLnBrk="0" hangingPunct="0">
              <a:defRPr sz="1000" i="1">
                <a:ea typeface="宋体" panose="02010600030101010101" pitchFamily="2" charset="-122"/>
              </a:defRPr>
            </a:lvl1pPr>
          </a:lstStyle>
          <a:p>
            <a:endParaRPr lang="en-US" altLang="zh-CN"/>
          </a:p>
        </p:txBody>
      </p:sp>
      <p:sp>
        <p:nvSpPr>
          <p:cNvPr id="2052" name="Rectangle 4"/>
          <p:cNvSpPr>
            <a:spLocks noGrp="1" noChangeArrowheads="1"/>
          </p:cNvSpPr>
          <p:nvPr>
            <p:ph type="ftr" sz="quarter" idx="4"/>
          </p:nvPr>
        </p:nvSpPr>
        <p:spPr bwMode="auto">
          <a:xfrm>
            <a:off x="0" y="9291638"/>
            <a:ext cx="2881313"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lstStyle>
            <a:lvl1pPr algn="l" defTabSz="762000" eaLnBrk="0" hangingPunct="0">
              <a:defRPr sz="1000" i="1">
                <a:ea typeface="宋体" panose="02010600030101010101" pitchFamily="2" charset="-122"/>
              </a:defRPr>
            </a:lvl1pPr>
          </a:lstStyle>
          <a:p>
            <a:endParaRPr lang="en-US" altLang="zh-CN"/>
          </a:p>
        </p:txBody>
      </p:sp>
      <p:sp>
        <p:nvSpPr>
          <p:cNvPr id="2053" name="Rectangle 5"/>
          <p:cNvSpPr>
            <a:spLocks noGrp="1" noChangeArrowheads="1"/>
          </p:cNvSpPr>
          <p:nvPr>
            <p:ph type="sldNum" sz="quarter" idx="5"/>
          </p:nvPr>
        </p:nvSpPr>
        <p:spPr bwMode="auto">
          <a:xfrm>
            <a:off x="3767138" y="9291638"/>
            <a:ext cx="2881312"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lstStyle>
            <a:lvl1pPr algn="r" defTabSz="762000" eaLnBrk="0" hangingPunct="0">
              <a:defRPr sz="1000" i="1">
                <a:ea typeface="宋体" panose="02010600030101010101" pitchFamily="2" charset="-122"/>
              </a:defRPr>
            </a:lvl1pPr>
          </a:lstStyle>
          <a:p>
            <a:fld id="{2294745A-D51A-4D6A-8042-2BC64911E49A}" type="slidenum">
              <a:rPr lang="en-US" altLang="zh-CN"/>
            </a:fld>
            <a:endParaRPr lang="en-US" altLang="zh-CN"/>
          </a:p>
        </p:txBody>
      </p:sp>
      <p:sp>
        <p:nvSpPr>
          <p:cNvPr id="2054" name="Rectangle 6"/>
          <p:cNvSpPr>
            <a:spLocks noGrp="1" noChangeArrowheads="1"/>
          </p:cNvSpPr>
          <p:nvPr>
            <p:ph type="body" sz="quarter" idx="3"/>
          </p:nvPr>
        </p:nvSpPr>
        <p:spPr bwMode="auto">
          <a:xfrm>
            <a:off x="885825" y="4645025"/>
            <a:ext cx="4876800" cy="440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lstStyle/>
          <a:p>
            <a:pPr lvl="0"/>
            <a:r>
              <a:rPr lang="en-US" altLang="zh-CN" smtClean="0"/>
              <a:t>Click to edit Master notes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a:p>
            <a:pPr lvl="3"/>
            <a:r>
              <a:rPr lang="en-US" altLang="zh-CN" smtClean="0"/>
              <a:t>Fourth Level</a:t>
            </a:r>
            <a:endParaRPr lang="en-US" altLang="zh-CN" smtClean="0"/>
          </a:p>
          <a:p>
            <a:pPr lvl="4"/>
            <a:r>
              <a:rPr lang="en-US" altLang="zh-CN" smtClean="0"/>
              <a:t>Fifth Level</a:t>
            </a:r>
            <a:endParaRPr lang="en-US" altLang="zh-CN" smtClean="0"/>
          </a:p>
        </p:txBody>
      </p:sp>
      <p:sp>
        <p:nvSpPr>
          <p:cNvPr id="2055" name="Rectangle 7"/>
          <p:cNvSpPr>
            <a:spLocks noGrp="1" noRot="1" noChangeAspect="1" noChangeArrowheads="1" noTextEdit="1"/>
          </p:cNvSpPr>
          <p:nvPr>
            <p:ph type="sldImg" idx="2"/>
          </p:nvPr>
        </p:nvSpPr>
        <p:spPr bwMode="auto">
          <a:xfrm>
            <a:off x="889000" y="739775"/>
            <a:ext cx="4872038" cy="3654425"/>
          </a:xfrm>
          <a:prstGeom prst="rect">
            <a:avLst/>
          </a:prstGeom>
          <a:noFill/>
          <a:ln w="12700">
            <a:solidFill>
              <a:schemeClr val="tx1"/>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EC0428C6-647E-4E12-BC4C-8606AE4E60A9}" type="slidenum">
              <a:rPr lang="en-US" altLang="zh-CN" sz="1200"/>
            </a:fld>
            <a:endParaRPr lang="en-US" altLang="zh-CN" sz="1200"/>
          </a:p>
        </p:txBody>
      </p:sp>
      <p:sp>
        <p:nvSpPr>
          <p:cNvPr id="118787" name="Rectangle 2"/>
          <p:cNvSpPr>
            <a:spLocks noGrp="1" noRot="1" noChangeAspect="1" noChangeArrowheads="1" noTextEdit="1"/>
          </p:cNvSpPr>
          <p:nvPr>
            <p:ph type="sldImg"/>
          </p:nvPr>
        </p:nvSpPr>
        <p:spPr>
          <a:xfrm>
            <a:off x="879475" y="735013"/>
            <a:ext cx="4889500" cy="3667125"/>
          </a:xfrm>
        </p:spPr>
      </p:sp>
      <p:sp>
        <p:nvSpPr>
          <p:cNvPr id="11878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04D0BFE9-E3CB-46A2-BAD7-8C4BCAB43B86}" type="slidenum">
              <a:rPr lang="en-US" altLang="zh-CN" sz="1200"/>
            </a:fld>
            <a:endParaRPr lang="en-US" altLang="zh-CN" sz="1200"/>
          </a:p>
        </p:txBody>
      </p:sp>
      <p:sp>
        <p:nvSpPr>
          <p:cNvPr id="119811" name="Rectangle 2"/>
          <p:cNvSpPr>
            <a:spLocks noGrp="1" noRot="1" noChangeAspect="1" noChangeArrowheads="1" noTextEdit="1"/>
          </p:cNvSpPr>
          <p:nvPr>
            <p:ph type="sldImg"/>
          </p:nvPr>
        </p:nvSpPr>
        <p:spPr>
          <a:xfrm>
            <a:off x="879475" y="735013"/>
            <a:ext cx="4889500" cy="3667125"/>
          </a:xfrm>
        </p:spPr>
      </p:sp>
      <p:sp>
        <p:nvSpPr>
          <p:cNvPr id="119812"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ECE7BB3B-B069-4FAF-A626-6BDCFBEDDE27}" type="slidenum">
              <a:rPr lang="en-US" altLang="zh-CN" sz="1200"/>
            </a:fld>
            <a:endParaRPr lang="en-US" altLang="zh-CN" sz="1200"/>
          </a:p>
        </p:txBody>
      </p:sp>
      <p:sp>
        <p:nvSpPr>
          <p:cNvPr id="120835" name="Rectangle 2"/>
          <p:cNvSpPr>
            <a:spLocks noGrp="1" noRot="1" noChangeAspect="1" noChangeArrowheads="1" noTextEdit="1"/>
          </p:cNvSpPr>
          <p:nvPr>
            <p:ph type="sldImg"/>
          </p:nvPr>
        </p:nvSpPr>
        <p:spPr>
          <a:xfrm>
            <a:off x="879475" y="735013"/>
            <a:ext cx="4889500" cy="3667125"/>
          </a:xfrm>
        </p:spPr>
      </p:sp>
      <p:sp>
        <p:nvSpPr>
          <p:cNvPr id="120836"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F9931E11-F38B-4499-AA52-69AA150997FB}" type="slidenum">
              <a:rPr lang="en-US" altLang="zh-CN" sz="1200"/>
            </a:fld>
            <a:endParaRPr lang="en-US" altLang="zh-CN" sz="1200"/>
          </a:p>
        </p:txBody>
      </p:sp>
      <p:sp>
        <p:nvSpPr>
          <p:cNvPr id="121859" name="Rectangle 2"/>
          <p:cNvSpPr>
            <a:spLocks noGrp="1" noRot="1" noChangeAspect="1" noChangeArrowheads="1" noTextEdit="1"/>
          </p:cNvSpPr>
          <p:nvPr>
            <p:ph type="sldImg"/>
          </p:nvPr>
        </p:nvSpPr>
        <p:spPr>
          <a:xfrm>
            <a:off x="879475" y="735013"/>
            <a:ext cx="4889500" cy="3667125"/>
          </a:xfrm>
        </p:spPr>
      </p:sp>
      <p:sp>
        <p:nvSpPr>
          <p:cNvPr id="121860"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10FB5D54-DDD1-4264-8558-A4105617B4FB}" type="slidenum">
              <a:rPr lang="en-US" altLang="zh-CN" sz="1200"/>
            </a:fld>
            <a:endParaRPr lang="en-US" altLang="zh-CN" sz="1200"/>
          </a:p>
        </p:txBody>
      </p:sp>
      <p:sp>
        <p:nvSpPr>
          <p:cNvPr id="122883" name="Rectangle 2"/>
          <p:cNvSpPr>
            <a:spLocks noGrp="1" noRot="1" noChangeAspect="1" noChangeArrowheads="1" noTextEdit="1"/>
          </p:cNvSpPr>
          <p:nvPr>
            <p:ph type="sldImg"/>
          </p:nvPr>
        </p:nvSpPr>
        <p:spPr>
          <a:xfrm>
            <a:off x="879475" y="735013"/>
            <a:ext cx="4889500" cy="3667125"/>
          </a:xfrm>
        </p:spPr>
      </p:sp>
      <p:sp>
        <p:nvSpPr>
          <p:cNvPr id="122884"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9C416A86-2A67-42F8-BC67-DA902CF87CE1}" type="slidenum">
              <a:rPr lang="en-US" altLang="zh-CN" sz="1200"/>
            </a:fld>
            <a:endParaRPr lang="en-US" altLang="zh-CN" sz="1200"/>
          </a:p>
        </p:txBody>
      </p:sp>
      <p:sp>
        <p:nvSpPr>
          <p:cNvPr id="123907" name="Rectangle 2"/>
          <p:cNvSpPr>
            <a:spLocks noGrp="1" noRot="1" noChangeAspect="1" noChangeArrowheads="1" noTextEdit="1"/>
          </p:cNvSpPr>
          <p:nvPr>
            <p:ph type="sldImg"/>
          </p:nvPr>
        </p:nvSpPr>
        <p:spPr>
          <a:xfrm>
            <a:off x="879475" y="735013"/>
            <a:ext cx="4889500" cy="3667125"/>
          </a:xfrm>
        </p:spPr>
      </p:sp>
      <p:sp>
        <p:nvSpPr>
          <p:cNvPr id="12390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5747FC1E-E011-467A-8EC2-66463F2BD7F6}" type="slidenum">
              <a:rPr lang="en-US" altLang="zh-CN" sz="1200"/>
            </a:fld>
            <a:endParaRPr lang="en-US" altLang="zh-CN" sz="1200"/>
          </a:p>
        </p:txBody>
      </p:sp>
      <p:sp>
        <p:nvSpPr>
          <p:cNvPr id="124931" name="Rectangle 2"/>
          <p:cNvSpPr>
            <a:spLocks noGrp="1" noRot="1" noChangeAspect="1" noChangeArrowheads="1" noTextEdit="1"/>
          </p:cNvSpPr>
          <p:nvPr>
            <p:ph type="sldImg"/>
          </p:nvPr>
        </p:nvSpPr>
        <p:spPr>
          <a:xfrm>
            <a:off x="879475" y="735013"/>
            <a:ext cx="4889500" cy="3667125"/>
          </a:xfrm>
        </p:spPr>
      </p:sp>
      <p:sp>
        <p:nvSpPr>
          <p:cNvPr id="124932"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5FC54DB1-0AA8-4456-B665-2E15D09E6C02}" type="slidenum">
              <a:rPr lang="en-US" altLang="zh-CN" sz="1200"/>
            </a:fld>
            <a:endParaRPr lang="en-US" altLang="zh-CN" sz="1200"/>
          </a:p>
        </p:txBody>
      </p:sp>
      <p:sp>
        <p:nvSpPr>
          <p:cNvPr id="125955" name="Rectangle 2"/>
          <p:cNvSpPr>
            <a:spLocks noGrp="1" noRot="1" noChangeAspect="1" noChangeArrowheads="1" noTextEdit="1"/>
          </p:cNvSpPr>
          <p:nvPr>
            <p:ph type="sldImg"/>
          </p:nvPr>
        </p:nvSpPr>
        <p:spPr>
          <a:xfrm>
            <a:off x="879475" y="735013"/>
            <a:ext cx="4889500" cy="3667125"/>
          </a:xfrm>
        </p:spPr>
      </p:sp>
      <p:sp>
        <p:nvSpPr>
          <p:cNvPr id="125956"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FCFFEC97-F405-4257-B4CA-DE042E671C28}" type="slidenum">
              <a:rPr lang="en-US" altLang="zh-CN" sz="1200"/>
            </a:fld>
            <a:endParaRPr lang="en-US" altLang="zh-CN" sz="1200"/>
          </a:p>
        </p:txBody>
      </p:sp>
      <p:sp>
        <p:nvSpPr>
          <p:cNvPr id="126979" name="Rectangle 2"/>
          <p:cNvSpPr>
            <a:spLocks noGrp="1" noRot="1" noChangeAspect="1" noChangeArrowheads="1" noTextEdit="1"/>
          </p:cNvSpPr>
          <p:nvPr>
            <p:ph type="sldImg"/>
          </p:nvPr>
        </p:nvSpPr>
        <p:spPr>
          <a:xfrm>
            <a:off x="879475" y="735013"/>
            <a:ext cx="4889500" cy="3667125"/>
          </a:xfrm>
        </p:spPr>
      </p:sp>
      <p:sp>
        <p:nvSpPr>
          <p:cNvPr id="126980"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8B46A449-87E5-4EEA-93A1-BEA39BCE488B}" type="slidenum">
              <a:rPr lang="en-US" altLang="zh-CN" sz="1200"/>
            </a:fld>
            <a:endParaRPr lang="en-US" altLang="zh-CN" sz="1200"/>
          </a:p>
        </p:txBody>
      </p:sp>
      <p:sp>
        <p:nvSpPr>
          <p:cNvPr id="128003" name="Rectangle 2"/>
          <p:cNvSpPr>
            <a:spLocks noGrp="1" noRot="1" noChangeAspect="1" noChangeArrowheads="1" noTextEdit="1"/>
          </p:cNvSpPr>
          <p:nvPr>
            <p:ph type="sldImg"/>
          </p:nvPr>
        </p:nvSpPr>
        <p:spPr>
          <a:xfrm>
            <a:off x="879475" y="735013"/>
            <a:ext cx="4889500" cy="3667125"/>
          </a:xfrm>
        </p:spPr>
      </p:sp>
      <p:sp>
        <p:nvSpPr>
          <p:cNvPr id="128004"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3678FCC5-8627-4622-A870-106CBFC8B19C}" type="slidenum">
              <a:rPr lang="en-US" altLang="zh-CN" sz="1200"/>
            </a:fld>
            <a:endParaRPr lang="en-US" altLang="zh-CN" sz="1200"/>
          </a:p>
        </p:txBody>
      </p:sp>
      <p:sp>
        <p:nvSpPr>
          <p:cNvPr id="129027" name="Rectangle 2"/>
          <p:cNvSpPr>
            <a:spLocks noGrp="1" noRot="1" noChangeAspect="1" noChangeArrowheads="1" noTextEdit="1"/>
          </p:cNvSpPr>
          <p:nvPr>
            <p:ph type="sldImg"/>
          </p:nvPr>
        </p:nvSpPr>
        <p:spPr>
          <a:xfrm>
            <a:off x="879475" y="735013"/>
            <a:ext cx="4889500" cy="3667125"/>
          </a:xfrm>
        </p:spPr>
      </p:sp>
      <p:sp>
        <p:nvSpPr>
          <p:cNvPr id="12902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21A78E32-BAF7-471B-9575-5BC3159DF8C9}" type="slidenum">
              <a:rPr lang="en-US" altLang="zh-CN" sz="1200"/>
            </a:fld>
            <a:endParaRPr lang="en-US" altLang="zh-CN" sz="1200"/>
          </a:p>
        </p:txBody>
      </p:sp>
      <p:sp>
        <p:nvSpPr>
          <p:cNvPr id="130051" name="Rectangle 2"/>
          <p:cNvSpPr>
            <a:spLocks noGrp="1" noRot="1" noChangeAspect="1" noChangeArrowheads="1" noTextEdit="1"/>
          </p:cNvSpPr>
          <p:nvPr>
            <p:ph type="sldImg"/>
          </p:nvPr>
        </p:nvSpPr>
        <p:spPr>
          <a:xfrm>
            <a:off x="879475" y="735013"/>
            <a:ext cx="4889500" cy="3667125"/>
          </a:xfrm>
        </p:spPr>
      </p:sp>
      <p:sp>
        <p:nvSpPr>
          <p:cNvPr id="130052"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dirty="0" smtClean="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幻灯片图像占位符 1"/>
          <p:cNvSpPr>
            <a:spLocks noGrp="1" noRot="1" noChangeAspect="1" noTextEdit="1"/>
          </p:cNvSpPr>
          <p:nvPr>
            <p:ph type="sldImg"/>
          </p:nvPr>
        </p:nvSpPr>
        <p:spPr/>
      </p:sp>
      <p:sp>
        <p:nvSpPr>
          <p:cNvPr id="13107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zh-CN" altLang="en-US" smtClean="0">
              <a:ea typeface="宋体" panose="02010600030101010101" pitchFamily="2" charset="-122"/>
            </a:endParaRPr>
          </a:p>
        </p:txBody>
      </p:sp>
      <p:sp>
        <p:nvSpPr>
          <p:cNvPr id="131076" name="灯片编号占位符 3"/>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C7920B73-9565-4E6F-8790-2B89A2AC8AE8}" type="slidenum">
              <a:rPr lang="en-US" altLang="zh-CN" sz="1200">
                <a:ea typeface="隶书" panose="02010509060101010101" pitchFamily="49" charset="-122"/>
              </a:rPr>
            </a:fld>
            <a:endParaRPr lang="en-US" altLang="zh-CN" sz="1200">
              <a:ea typeface="隶书" panose="02010509060101010101" pitchFamily="49"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8054FD44-D63D-406A-B092-002D337EEAD2}" type="slidenum">
              <a:rPr lang="en-US" altLang="zh-CN" sz="1200"/>
            </a:fld>
            <a:endParaRPr lang="en-US" altLang="zh-CN" sz="1200"/>
          </a:p>
        </p:txBody>
      </p:sp>
      <p:sp>
        <p:nvSpPr>
          <p:cNvPr id="132099" name="Rectangle 2"/>
          <p:cNvSpPr>
            <a:spLocks noGrp="1" noRot="1" noChangeAspect="1" noChangeArrowheads="1" noTextEdit="1"/>
          </p:cNvSpPr>
          <p:nvPr>
            <p:ph type="sldImg"/>
          </p:nvPr>
        </p:nvSpPr>
        <p:spPr>
          <a:xfrm>
            <a:off x="879475" y="735013"/>
            <a:ext cx="4889500" cy="3667125"/>
          </a:xfrm>
        </p:spPr>
      </p:sp>
      <p:sp>
        <p:nvSpPr>
          <p:cNvPr id="132100"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544533F0-54A0-480F-9531-B16C985FF77B}" type="slidenum">
              <a:rPr lang="en-US" altLang="zh-CN" sz="1200"/>
            </a:fld>
            <a:endParaRPr lang="en-US" altLang="zh-CN" sz="1200"/>
          </a:p>
        </p:txBody>
      </p:sp>
      <p:sp>
        <p:nvSpPr>
          <p:cNvPr id="133123" name="Rectangle 2"/>
          <p:cNvSpPr>
            <a:spLocks noGrp="1" noRot="1" noChangeAspect="1" noChangeArrowheads="1" noTextEdit="1"/>
          </p:cNvSpPr>
          <p:nvPr>
            <p:ph type="sldImg"/>
          </p:nvPr>
        </p:nvSpPr>
        <p:spPr>
          <a:xfrm>
            <a:off x="879475" y="735013"/>
            <a:ext cx="4889500" cy="3667125"/>
          </a:xfrm>
        </p:spPr>
      </p:sp>
      <p:sp>
        <p:nvSpPr>
          <p:cNvPr id="133124"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9ED8B82B-CB97-47F2-8D12-93794A78023E}" type="slidenum">
              <a:rPr lang="en-US" altLang="zh-CN" sz="1200"/>
            </a:fld>
            <a:endParaRPr lang="en-US" altLang="zh-CN" sz="1200"/>
          </a:p>
        </p:txBody>
      </p:sp>
      <p:sp>
        <p:nvSpPr>
          <p:cNvPr id="134147" name="Rectangle 2"/>
          <p:cNvSpPr>
            <a:spLocks noGrp="1" noRot="1" noChangeAspect="1" noChangeArrowheads="1" noTextEdit="1"/>
          </p:cNvSpPr>
          <p:nvPr>
            <p:ph type="sldImg"/>
          </p:nvPr>
        </p:nvSpPr>
        <p:spPr>
          <a:xfrm>
            <a:off x="879475" y="735013"/>
            <a:ext cx="4889500" cy="3667125"/>
          </a:xfrm>
        </p:spPr>
      </p:sp>
      <p:sp>
        <p:nvSpPr>
          <p:cNvPr id="13414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r>
              <a:rPr lang="en-US" altLang="zh-CN" smtClean="0">
                <a:ea typeface="宋体" panose="02010600030101010101" pitchFamily="2" charset="-122"/>
              </a:rPr>
              <a:t>********2011/11/23</a:t>
            </a:r>
            <a:endParaRPr lang="zh-CN" altLang="zh-CN" smtClean="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40C74FF0-FAAC-432A-ACC7-CDA1A251D7B4}" type="slidenum">
              <a:rPr lang="en-US" altLang="zh-CN" sz="1200"/>
            </a:fld>
            <a:endParaRPr lang="en-US" altLang="zh-CN" sz="1200"/>
          </a:p>
        </p:txBody>
      </p:sp>
      <p:sp>
        <p:nvSpPr>
          <p:cNvPr id="135171" name="Rectangle 2"/>
          <p:cNvSpPr>
            <a:spLocks noGrp="1" noRot="1" noChangeAspect="1" noChangeArrowheads="1" noTextEdit="1"/>
          </p:cNvSpPr>
          <p:nvPr>
            <p:ph type="sldImg"/>
          </p:nvPr>
        </p:nvSpPr>
        <p:spPr>
          <a:xfrm>
            <a:off x="879475" y="735013"/>
            <a:ext cx="4889500" cy="3667125"/>
          </a:xfrm>
        </p:spPr>
      </p:sp>
      <p:sp>
        <p:nvSpPr>
          <p:cNvPr id="135172"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096AF677-1989-4DF7-B2F7-A69E15AE03B3}" type="slidenum">
              <a:rPr lang="en-US" altLang="zh-CN" sz="1200"/>
            </a:fld>
            <a:endParaRPr lang="en-US" altLang="zh-CN" sz="1200"/>
          </a:p>
        </p:txBody>
      </p:sp>
      <p:sp>
        <p:nvSpPr>
          <p:cNvPr id="136195" name="Rectangle 2"/>
          <p:cNvSpPr>
            <a:spLocks noGrp="1" noRot="1" noChangeAspect="1" noChangeArrowheads="1" noTextEdit="1"/>
          </p:cNvSpPr>
          <p:nvPr>
            <p:ph type="sldImg"/>
          </p:nvPr>
        </p:nvSpPr>
        <p:spPr>
          <a:xfrm>
            <a:off x="879475" y="735013"/>
            <a:ext cx="4889500" cy="3667125"/>
          </a:xfrm>
        </p:spPr>
      </p:sp>
      <p:sp>
        <p:nvSpPr>
          <p:cNvPr id="136196"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DFF3E463-7D70-411C-A7E0-CC39DEF113C6}" type="slidenum">
              <a:rPr lang="en-US" altLang="zh-CN" sz="1200"/>
            </a:fld>
            <a:endParaRPr lang="en-US" altLang="zh-CN" sz="1200"/>
          </a:p>
        </p:txBody>
      </p:sp>
      <p:sp>
        <p:nvSpPr>
          <p:cNvPr id="137219" name="Rectangle 2"/>
          <p:cNvSpPr>
            <a:spLocks noGrp="1" noRot="1" noChangeAspect="1" noChangeArrowheads="1" noTextEdit="1"/>
          </p:cNvSpPr>
          <p:nvPr>
            <p:ph type="sldImg"/>
          </p:nvPr>
        </p:nvSpPr>
        <p:spPr>
          <a:xfrm>
            <a:off x="879475" y="735013"/>
            <a:ext cx="4889500" cy="3667125"/>
          </a:xfrm>
        </p:spPr>
      </p:sp>
      <p:sp>
        <p:nvSpPr>
          <p:cNvPr id="137220"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8F835EF1-E454-4423-B837-C173C7B6D0E1}" type="slidenum">
              <a:rPr lang="en-US" altLang="zh-CN" sz="1200"/>
            </a:fld>
            <a:endParaRPr lang="en-US" altLang="zh-CN" sz="1200"/>
          </a:p>
        </p:txBody>
      </p:sp>
      <p:sp>
        <p:nvSpPr>
          <p:cNvPr id="138243" name="Rectangle 2"/>
          <p:cNvSpPr>
            <a:spLocks noGrp="1" noRot="1" noChangeAspect="1" noChangeArrowheads="1" noTextEdit="1"/>
          </p:cNvSpPr>
          <p:nvPr>
            <p:ph type="sldImg"/>
          </p:nvPr>
        </p:nvSpPr>
        <p:spPr>
          <a:xfrm>
            <a:off x="879475" y="735013"/>
            <a:ext cx="4889500" cy="3667125"/>
          </a:xfrm>
        </p:spPr>
      </p:sp>
      <p:sp>
        <p:nvSpPr>
          <p:cNvPr id="138244"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61613166-9C17-44E0-B948-6E812F7AD388}" type="slidenum">
              <a:rPr lang="en-US" altLang="zh-CN" sz="1200"/>
            </a:fld>
            <a:endParaRPr lang="en-US" altLang="zh-CN" sz="1200"/>
          </a:p>
        </p:txBody>
      </p:sp>
      <p:sp>
        <p:nvSpPr>
          <p:cNvPr id="139267" name="Rectangle 2"/>
          <p:cNvSpPr>
            <a:spLocks noGrp="1" noRot="1" noChangeAspect="1" noChangeArrowheads="1" noTextEdit="1"/>
          </p:cNvSpPr>
          <p:nvPr>
            <p:ph type="sldImg"/>
          </p:nvPr>
        </p:nvSpPr>
        <p:spPr>
          <a:xfrm>
            <a:off x="879475" y="735013"/>
            <a:ext cx="4889500" cy="3667125"/>
          </a:xfrm>
        </p:spPr>
      </p:sp>
      <p:sp>
        <p:nvSpPr>
          <p:cNvPr id="13926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ACB892DA-6F15-48A6-BEA1-0EF6321FAD6C}" type="slidenum">
              <a:rPr lang="en-US" altLang="zh-CN" sz="1200"/>
            </a:fld>
            <a:endParaRPr lang="en-US" altLang="zh-CN" sz="1200"/>
          </a:p>
        </p:txBody>
      </p:sp>
      <p:sp>
        <p:nvSpPr>
          <p:cNvPr id="141315" name="Rectangle 2"/>
          <p:cNvSpPr>
            <a:spLocks noGrp="1" noRot="1" noChangeAspect="1" noChangeArrowheads="1" noTextEdit="1"/>
          </p:cNvSpPr>
          <p:nvPr>
            <p:ph type="sldImg"/>
          </p:nvPr>
        </p:nvSpPr>
        <p:spPr>
          <a:xfrm>
            <a:off x="879475" y="735013"/>
            <a:ext cx="4889500" cy="3667125"/>
          </a:xfrm>
        </p:spPr>
      </p:sp>
      <p:sp>
        <p:nvSpPr>
          <p:cNvPr id="141316"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975B9A01-01A3-4B6F-8B12-1B32968FA4D4}" type="slidenum">
              <a:rPr lang="en-US" altLang="zh-CN" sz="1200"/>
            </a:fld>
            <a:endParaRPr lang="en-US" altLang="zh-CN" sz="1200"/>
          </a:p>
        </p:txBody>
      </p:sp>
      <p:sp>
        <p:nvSpPr>
          <p:cNvPr id="142339" name="Rectangle 2"/>
          <p:cNvSpPr>
            <a:spLocks noGrp="1" noRot="1" noChangeAspect="1" noChangeArrowheads="1" noTextEdit="1"/>
          </p:cNvSpPr>
          <p:nvPr>
            <p:ph type="sldImg"/>
          </p:nvPr>
        </p:nvSpPr>
        <p:spPr>
          <a:xfrm>
            <a:off x="879475" y="735013"/>
            <a:ext cx="4889500" cy="3667125"/>
          </a:xfrm>
        </p:spPr>
      </p:sp>
      <p:sp>
        <p:nvSpPr>
          <p:cNvPr id="142340"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B9F3BF01-3B66-4FB1-BAA5-3AE2982E6DC6}" type="slidenum">
              <a:rPr lang="en-US" altLang="zh-CN" sz="1200"/>
            </a:fld>
            <a:endParaRPr lang="en-US" altLang="zh-CN" sz="1200"/>
          </a:p>
        </p:txBody>
      </p:sp>
      <p:sp>
        <p:nvSpPr>
          <p:cNvPr id="143363" name="Rectangle 2"/>
          <p:cNvSpPr>
            <a:spLocks noGrp="1" noRot="1" noChangeAspect="1" noChangeArrowheads="1" noTextEdit="1"/>
          </p:cNvSpPr>
          <p:nvPr>
            <p:ph type="sldImg"/>
          </p:nvPr>
        </p:nvSpPr>
        <p:spPr>
          <a:xfrm>
            <a:off x="879475" y="735013"/>
            <a:ext cx="4889500" cy="3667125"/>
          </a:xfrm>
        </p:spPr>
      </p:sp>
      <p:sp>
        <p:nvSpPr>
          <p:cNvPr id="143364"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DF62F5C8-512F-4532-9B5E-BF4A5B6055FC}" type="slidenum">
              <a:rPr lang="en-US" altLang="zh-CN" sz="1200"/>
            </a:fld>
            <a:endParaRPr lang="en-US" altLang="zh-CN" sz="1200"/>
          </a:p>
        </p:txBody>
      </p:sp>
      <p:sp>
        <p:nvSpPr>
          <p:cNvPr id="144387" name="Rectangle 2"/>
          <p:cNvSpPr>
            <a:spLocks noGrp="1" noRot="1" noChangeAspect="1" noChangeArrowheads="1" noTextEdit="1"/>
          </p:cNvSpPr>
          <p:nvPr>
            <p:ph type="sldImg"/>
          </p:nvPr>
        </p:nvSpPr>
        <p:spPr/>
      </p:sp>
      <p:sp>
        <p:nvSpPr>
          <p:cNvPr id="14438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FC36626B-06DF-4B10-82CC-500D6F4D5CDE}" type="slidenum">
              <a:rPr lang="en-US" altLang="zh-CN" sz="1200"/>
            </a:fld>
            <a:endParaRPr lang="en-US" altLang="zh-CN" sz="1200"/>
          </a:p>
        </p:txBody>
      </p:sp>
      <p:sp>
        <p:nvSpPr>
          <p:cNvPr id="145411" name="Rectangle 2"/>
          <p:cNvSpPr>
            <a:spLocks noGrp="1" noRot="1" noChangeAspect="1" noChangeArrowheads="1" noTextEdit="1"/>
          </p:cNvSpPr>
          <p:nvPr>
            <p:ph type="sldImg"/>
          </p:nvPr>
        </p:nvSpPr>
        <p:spPr>
          <a:xfrm>
            <a:off x="879475" y="735013"/>
            <a:ext cx="4889500" cy="3667125"/>
          </a:xfrm>
        </p:spPr>
      </p:sp>
      <p:sp>
        <p:nvSpPr>
          <p:cNvPr id="145412"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73024C4F-0E61-40FA-9863-B5442074DB4F}" type="slidenum">
              <a:rPr lang="en-US" altLang="zh-CN" sz="1200"/>
            </a:fld>
            <a:endParaRPr lang="en-US" altLang="zh-CN" sz="1200"/>
          </a:p>
        </p:txBody>
      </p:sp>
      <p:sp>
        <p:nvSpPr>
          <p:cNvPr id="146435" name="Rectangle 2"/>
          <p:cNvSpPr>
            <a:spLocks noGrp="1" noRot="1" noChangeAspect="1" noChangeArrowheads="1" noTextEdit="1"/>
          </p:cNvSpPr>
          <p:nvPr>
            <p:ph type="sldImg"/>
          </p:nvPr>
        </p:nvSpPr>
        <p:spPr>
          <a:xfrm>
            <a:off x="879475" y="735013"/>
            <a:ext cx="4889500" cy="3667125"/>
          </a:xfrm>
        </p:spPr>
      </p:sp>
      <p:sp>
        <p:nvSpPr>
          <p:cNvPr id="146436"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BF52A027-F85E-40C8-BCD1-9363D05862E6}" type="slidenum">
              <a:rPr lang="en-US" altLang="zh-CN" sz="1200"/>
            </a:fld>
            <a:endParaRPr lang="en-US" altLang="zh-CN" sz="1200"/>
          </a:p>
        </p:txBody>
      </p:sp>
      <p:sp>
        <p:nvSpPr>
          <p:cNvPr id="147459" name="Rectangle 2"/>
          <p:cNvSpPr>
            <a:spLocks noGrp="1" noRot="1" noChangeAspect="1" noChangeArrowheads="1" noTextEdit="1"/>
          </p:cNvSpPr>
          <p:nvPr>
            <p:ph type="sldImg"/>
          </p:nvPr>
        </p:nvSpPr>
        <p:spPr>
          <a:xfrm>
            <a:off x="879475" y="735013"/>
            <a:ext cx="4889500" cy="3667125"/>
          </a:xfrm>
        </p:spPr>
      </p:sp>
      <p:sp>
        <p:nvSpPr>
          <p:cNvPr id="147460"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48D5C259-F072-4498-85C9-9EA484097192}" type="slidenum">
              <a:rPr lang="en-US" altLang="zh-CN" sz="1200"/>
            </a:fld>
            <a:endParaRPr lang="en-US" altLang="zh-CN" sz="1200"/>
          </a:p>
        </p:txBody>
      </p:sp>
      <p:sp>
        <p:nvSpPr>
          <p:cNvPr id="148483" name="Rectangle 2"/>
          <p:cNvSpPr>
            <a:spLocks noGrp="1" noRot="1" noChangeAspect="1" noChangeArrowheads="1" noTextEdit="1"/>
          </p:cNvSpPr>
          <p:nvPr>
            <p:ph type="sldImg"/>
          </p:nvPr>
        </p:nvSpPr>
        <p:spPr>
          <a:xfrm>
            <a:off x="879475" y="735013"/>
            <a:ext cx="4889500" cy="3667125"/>
          </a:xfrm>
        </p:spPr>
      </p:sp>
      <p:sp>
        <p:nvSpPr>
          <p:cNvPr id="148484"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3B4BE461-6EE6-4EC7-BAF7-CCCC6933CBBD}" type="slidenum">
              <a:rPr lang="en-US" altLang="zh-CN" sz="1200"/>
            </a:fld>
            <a:endParaRPr lang="en-US" altLang="zh-CN" sz="1200"/>
          </a:p>
        </p:txBody>
      </p:sp>
      <p:sp>
        <p:nvSpPr>
          <p:cNvPr id="149507" name="Rectangle 2"/>
          <p:cNvSpPr>
            <a:spLocks noGrp="1" noRot="1" noChangeAspect="1" noChangeArrowheads="1" noTextEdit="1"/>
          </p:cNvSpPr>
          <p:nvPr>
            <p:ph type="sldImg"/>
          </p:nvPr>
        </p:nvSpPr>
        <p:spPr>
          <a:xfrm>
            <a:off x="879475" y="735013"/>
            <a:ext cx="4889500" cy="3667125"/>
          </a:xfrm>
        </p:spPr>
      </p:sp>
      <p:sp>
        <p:nvSpPr>
          <p:cNvPr id="14950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A</a:t>
            </a:r>
            <a:r>
              <a:rPr lang="zh-CN" altLang="en-US" dirty="0" smtClean="0"/>
              <a:t>是线性方程组的系数矩阵，</a:t>
            </a:r>
            <a:r>
              <a:rPr lang="en-US" altLang="zh-CN" dirty="0" smtClean="0"/>
              <a:t>x</a:t>
            </a:r>
            <a:r>
              <a:rPr lang="zh-CN" altLang="en-US" dirty="0" smtClean="0"/>
              <a:t>是列向量，也是解；</a:t>
            </a:r>
            <a:r>
              <a:rPr lang="en-US" altLang="zh-CN" dirty="0" smtClean="0"/>
              <a:t>b</a:t>
            </a:r>
            <a:r>
              <a:rPr lang="zh-CN" altLang="en-US" dirty="0" smtClean="0"/>
              <a:t>是列向量</a:t>
            </a:r>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1BB0CC36-01D8-4AD0-8393-C2849B75B46C}" type="slidenum">
              <a:rPr lang="en-US" altLang="zh-CN" sz="1200"/>
            </a:fld>
            <a:endParaRPr lang="en-US" altLang="zh-CN" sz="1200"/>
          </a:p>
        </p:txBody>
      </p:sp>
      <p:sp>
        <p:nvSpPr>
          <p:cNvPr id="150531" name="Rectangle 2"/>
          <p:cNvSpPr>
            <a:spLocks noGrp="1" noRot="1" noChangeAspect="1" noChangeArrowheads="1" noTextEdit="1"/>
          </p:cNvSpPr>
          <p:nvPr>
            <p:ph type="sldImg"/>
          </p:nvPr>
        </p:nvSpPr>
        <p:spPr>
          <a:xfrm>
            <a:off x="879475" y="735013"/>
            <a:ext cx="4889500" cy="3667125"/>
          </a:xfrm>
        </p:spPr>
      </p:sp>
      <p:sp>
        <p:nvSpPr>
          <p:cNvPr id="150532"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361589B3-AD7C-40EE-8F72-19D5CB6ECF44}" type="slidenum">
              <a:rPr lang="en-US" altLang="zh-CN" sz="1200"/>
            </a:fld>
            <a:endParaRPr lang="en-US" altLang="zh-CN" sz="1200"/>
          </a:p>
        </p:txBody>
      </p:sp>
      <p:sp>
        <p:nvSpPr>
          <p:cNvPr id="151555" name="Rectangle 2"/>
          <p:cNvSpPr>
            <a:spLocks noGrp="1" noRot="1" noChangeAspect="1" noChangeArrowheads="1" noTextEdit="1"/>
          </p:cNvSpPr>
          <p:nvPr>
            <p:ph type="sldImg"/>
          </p:nvPr>
        </p:nvSpPr>
        <p:spPr>
          <a:xfrm>
            <a:off x="879475" y="735013"/>
            <a:ext cx="4889500" cy="3667125"/>
          </a:xfrm>
        </p:spPr>
      </p:sp>
      <p:sp>
        <p:nvSpPr>
          <p:cNvPr id="151556"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B2A550A1-49B2-4BB1-8AC4-9F2947E5E835}" type="slidenum">
              <a:rPr lang="en-US" altLang="zh-CN" sz="1200"/>
            </a:fld>
            <a:endParaRPr lang="en-US" altLang="zh-CN" sz="1200"/>
          </a:p>
        </p:txBody>
      </p:sp>
      <p:sp>
        <p:nvSpPr>
          <p:cNvPr id="152579" name="Rectangle 2"/>
          <p:cNvSpPr>
            <a:spLocks noGrp="1" noRot="1" noChangeAspect="1" noChangeArrowheads="1" noTextEdit="1"/>
          </p:cNvSpPr>
          <p:nvPr>
            <p:ph type="sldImg"/>
          </p:nvPr>
        </p:nvSpPr>
        <p:spPr>
          <a:xfrm>
            <a:off x="879475" y="735013"/>
            <a:ext cx="4889500" cy="3667125"/>
          </a:xfrm>
        </p:spPr>
      </p:sp>
      <p:sp>
        <p:nvSpPr>
          <p:cNvPr id="152580"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5916EC96-BAC3-4295-95B6-412E8C9CCB15}" type="slidenum">
              <a:rPr lang="en-US" altLang="zh-CN" sz="1200"/>
            </a:fld>
            <a:endParaRPr lang="en-US" altLang="zh-CN" sz="1200"/>
          </a:p>
        </p:txBody>
      </p:sp>
      <p:sp>
        <p:nvSpPr>
          <p:cNvPr id="153603" name="Rectangle 2"/>
          <p:cNvSpPr>
            <a:spLocks noGrp="1" noRot="1" noChangeAspect="1" noChangeArrowheads="1" noTextEdit="1"/>
          </p:cNvSpPr>
          <p:nvPr>
            <p:ph type="sldImg"/>
          </p:nvPr>
        </p:nvSpPr>
        <p:spPr>
          <a:xfrm>
            <a:off x="879475" y="735013"/>
            <a:ext cx="4889500" cy="3667125"/>
          </a:xfrm>
        </p:spPr>
      </p:sp>
      <p:sp>
        <p:nvSpPr>
          <p:cNvPr id="153604"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lvl1pPr defTabSz="939165" eaLnBrk="0" hangingPunct="0">
              <a:defRPr kumimoji="1" sz="2300">
                <a:solidFill>
                  <a:schemeClr val="tx1"/>
                </a:solidFill>
                <a:latin typeface="Times New Roman" panose="02020603050405020304" pitchFamily="18" charset="0"/>
                <a:ea typeface="宋体" panose="02010600030101010101" pitchFamily="2" charset="-122"/>
              </a:defRPr>
            </a:lvl1pPr>
            <a:lvl2pPr marL="704215" indent="-271145" defTabSz="939165" eaLnBrk="0" hangingPunct="0">
              <a:defRPr kumimoji="1" sz="2300">
                <a:solidFill>
                  <a:schemeClr val="tx1"/>
                </a:solidFill>
                <a:latin typeface="Times New Roman" panose="02020603050405020304" pitchFamily="18" charset="0"/>
                <a:ea typeface="宋体" panose="02010600030101010101" pitchFamily="2" charset="-122"/>
              </a:defRPr>
            </a:lvl2pPr>
            <a:lvl3pPr marL="108331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3pPr>
            <a:lvl4pPr marL="1516380"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4pPr>
            <a:lvl5pPr marL="1950085" indent="-216535" defTabSz="939165" eaLnBrk="0" hangingPunct="0">
              <a:defRPr kumimoji="1" sz="2300">
                <a:solidFill>
                  <a:schemeClr val="tx1"/>
                </a:solidFill>
                <a:latin typeface="Times New Roman" panose="02020603050405020304" pitchFamily="18" charset="0"/>
                <a:ea typeface="宋体" panose="02010600030101010101" pitchFamily="2" charset="-122"/>
              </a:defRPr>
            </a:lvl5pPr>
            <a:lvl6pPr marL="238315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6pPr>
            <a:lvl7pPr marL="281686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7pPr>
            <a:lvl8pPr marL="3249930"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8pPr>
            <a:lvl9pPr marL="3683635" indent="-216535" defTabSz="939165" eaLnBrk="0" fontAlgn="base" hangingPunct="0">
              <a:spcBef>
                <a:spcPct val="0"/>
              </a:spcBef>
              <a:spcAft>
                <a:spcPct val="0"/>
              </a:spcAft>
              <a:defRPr kumimoji="1" sz="2300">
                <a:solidFill>
                  <a:schemeClr val="tx1"/>
                </a:solidFill>
                <a:latin typeface="Times New Roman" panose="02020603050405020304" pitchFamily="18" charset="0"/>
                <a:ea typeface="宋体" panose="02010600030101010101" pitchFamily="2" charset="-122"/>
              </a:defRPr>
            </a:lvl9pPr>
          </a:lstStyle>
          <a:p>
            <a:pPr eaLnBrk="1" hangingPunct="1"/>
            <a:fld id="{544066A1-FA54-4C86-AEE7-783634918AF2}" type="slidenum">
              <a:rPr lang="en-US" altLang="zh-CN" sz="1200"/>
            </a:fld>
            <a:endParaRPr lang="en-US" altLang="zh-CN" sz="1200"/>
          </a:p>
        </p:txBody>
      </p:sp>
      <p:sp>
        <p:nvSpPr>
          <p:cNvPr id="154627" name="Rectangle 2"/>
          <p:cNvSpPr>
            <a:spLocks noGrp="1" noRot="1" noChangeAspect="1" noChangeArrowheads="1" noTextEdit="1"/>
          </p:cNvSpPr>
          <p:nvPr>
            <p:ph type="sldImg"/>
          </p:nvPr>
        </p:nvSpPr>
        <p:spPr>
          <a:xfrm>
            <a:off x="879475" y="735013"/>
            <a:ext cx="4889500" cy="3667125"/>
          </a:xfrm>
        </p:spPr>
      </p:sp>
      <p:sp>
        <p:nvSpPr>
          <p:cNvPr id="154628" name="Rectangle 4"/>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pPr eaLnBrk="1" hangingPunct="1"/>
            <a:endParaRPr lang="zh-CN" altLang="zh-CN" smtClean="0">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0" i="0" kern="1200" dirty="0" err="1" smtClean="0">
                <a:solidFill>
                  <a:schemeClr val="tx1"/>
                </a:solidFill>
                <a:effectLst/>
                <a:latin typeface="Arial" panose="020B0604020202020204" pitchFamily="34" charset="0"/>
                <a:ea typeface="宋体" panose="02010600030101010101" pitchFamily="2" charset="-122"/>
                <a:cs typeface="+mn-cs"/>
              </a:rPr>
              <a:t>c++</a:t>
            </a:r>
            <a:r>
              <a:rPr kumimoji="1" lang="en-US" altLang="zh-CN" sz="1200" b="0" i="0" kern="1200" dirty="0" smtClean="0">
                <a:solidFill>
                  <a:schemeClr val="tx1"/>
                </a:solidFill>
                <a:effectLst/>
                <a:latin typeface="Arial" panose="020B0604020202020204" pitchFamily="34" charset="0"/>
                <a:ea typeface="宋体" panose="02010600030101010101" pitchFamily="2" charset="-122"/>
                <a:cs typeface="+mn-cs"/>
              </a:rPr>
              <a:t> </a:t>
            </a:r>
            <a:r>
              <a:rPr kumimoji="1" lang="zh-CN" altLang="en-US" sz="1200" b="0" i="0" kern="1200" dirty="0" smtClean="0">
                <a:solidFill>
                  <a:schemeClr val="tx1"/>
                </a:solidFill>
                <a:effectLst/>
                <a:latin typeface="Arial" panose="020B0604020202020204" pitchFamily="34" charset="0"/>
                <a:ea typeface="宋体" panose="02010600030101010101" pitchFamily="2" charset="-122"/>
                <a:cs typeface="+mn-cs"/>
              </a:rPr>
              <a:t>没有禁止虚基类到派生类的转换，不过 </a:t>
            </a:r>
            <a:r>
              <a:rPr kumimoji="1" lang="en-US" altLang="zh-CN" sz="1200" b="0" i="0" kern="1200" dirty="0" err="1" smtClean="0">
                <a:solidFill>
                  <a:schemeClr val="tx1"/>
                </a:solidFill>
                <a:effectLst/>
                <a:latin typeface="Arial" panose="020B0604020202020204" pitchFamily="34" charset="0"/>
                <a:ea typeface="宋体" panose="02010600030101010101" pitchFamily="2" charset="-122"/>
                <a:cs typeface="+mn-cs"/>
              </a:rPr>
              <a:t>c++</a:t>
            </a:r>
            <a:r>
              <a:rPr kumimoji="1" lang="en-US" altLang="zh-CN" sz="1200" b="0" i="0" kern="1200" dirty="0" smtClean="0">
                <a:solidFill>
                  <a:schemeClr val="tx1"/>
                </a:solidFill>
                <a:effectLst/>
                <a:latin typeface="Arial" panose="020B0604020202020204" pitchFamily="34" charset="0"/>
                <a:ea typeface="宋体" panose="02010600030101010101" pitchFamily="2" charset="-122"/>
                <a:cs typeface="+mn-cs"/>
              </a:rPr>
              <a:t> </a:t>
            </a:r>
            <a:r>
              <a:rPr kumimoji="1" lang="zh-CN" altLang="en-US" sz="1200" b="0" i="0" kern="1200" dirty="0" smtClean="0">
                <a:solidFill>
                  <a:schemeClr val="tx1"/>
                </a:solidFill>
                <a:effectLst/>
                <a:latin typeface="Arial" panose="020B0604020202020204" pitchFamily="34" charset="0"/>
                <a:ea typeface="宋体" panose="02010600030101010101" pitchFamily="2" charset="-122"/>
                <a:cs typeface="+mn-cs"/>
              </a:rPr>
              <a:t>要求这样的转换必须经由 </a:t>
            </a:r>
            <a:r>
              <a:rPr kumimoji="1" lang="en-US" altLang="zh-CN" sz="1200" b="0" i="0" kern="1200" dirty="0" err="1" smtClean="0">
                <a:solidFill>
                  <a:schemeClr val="tx1"/>
                </a:solidFill>
                <a:effectLst/>
                <a:latin typeface="Arial" panose="020B0604020202020204" pitchFamily="34" charset="0"/>
                <a:ea typeface="宋体" panose="02010600030101010101" pitchFamily="2" charset="-122"/>
                <a:cs typeface="+mn-cs"/>
              </a:rPr>
              <a:t>dynamic_cast</a:t>
            </a:r>
            <a:r>
              <a:rPr kumimoji="1" lang="en-US" altLang="zh-CN" sz="1200" b="0" i="0" kern="1200" dirty="0" smtClean="0">
                <a:solidFill>
                  <a:schemeClr val="tx1"/>
                </a:solidFill>
                <a:effectLst/>
                <a:latin typeface="Arial" panose="020B0604020202020204" pitchFamily="34" charset="0"/>
                <a:ea typeface="宋体" panose="02010600030101010101" pitchFamily="2" charset="-122"/>
                <a:cs typeface="+mn-cs"/>
              </a:rPr>
              <a:t> </a:t>
            </a:r>
            <a:r>
              <a:rPr kumimoji="1" lang="zh-CN" altLang="en-US" sz="1200" b="0" i="0" kern="1200" dirty="0" smtClean="0">
                <a:solidFill>
                  <a:schemeClr val="tx1"/>
                </a:solidFill>
                <a:effectLst/>
                <a:latin typeface="Arial" panose="020B0604020202020204" pitchFamily="34" charset="0"/>
                <a:ea typeface="宋体" panose="02010600030101010101" pitchFamily="2" charset="-122"/>
                <a:cs typeface="+mn-cs"/>
              </a:rPr>
              <a:t>完成</a:t>
            </a:r>
            <a:endParaRPr lang="zh-CN" altLang="en-US" dirty="0"/>
          </a:p>
        </p:txBody>
      </p:sp>
      <p:sp>
        <p:nvSpPr>
          <p:cNvPr id="4" name="灯片编号占位符 3"/>
          <p:cNvSpPr>
            <a:spLocks noGrp="1"/>
          </p:cNvSpPr>
          <p:nvPr>
            <p:ph type="sldNum" sz="quarter" idx="10"/>
          </p:nvPr>
        </p:nvSpPr>
        <p:spPr/>
        <p:txBody>
          <a:bodyPr/>
          <a:lstStyle/>
          <a:p>
            <a:fld id="{2294745A-D51A-4D6A-8042-2BC64911E49A}"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3"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9"/>
            <a:ext cx="788670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628650" y="1825625"/>
            <a:ext cx="7886700" cy="4351338"/>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2"/>
            <a:ext cx="7886700" cy="2852737"/>
          </a:xfrm>
          <a:prstGeom prst="rect">
            <a:avLst/>
          </a:prstGeo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7"/>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endParaRPr lang="zh-CN" altLang="en-US" smtClean="0"/>
          </a:p>
        </p:txBody>
      </p:sp>
      <p:sp>
        <p:nvSpPr>
          <p:cNvPr id="5"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9"/>
            <a:ext cx="788670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67150" cy="4351338"/>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825625"/>
            <a:ext cx="3867150" cy="4351338"/>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9"/>
            <a:ext cx="7886700" cy="1325563"/>
          </a:xfrm>
          <a:prstGeom prst="rect">
            <a:avLst/>
          </a:prstGeo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9"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30239" y="2505075"/>
            <a:ext cx="3868737" cy="3684588"/>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29150" y="2505075"/>
            <a:ext cx="3887788" cy="3684588"/>
          </a:xfrm>
          <a:prstGeom prst="rect">
            <a:avLst/>
          </a:prstGeo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8"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9"/>
            <a:ext cx="7886700" cy="1325563"/>
          </a:xfrm>
          <a:prstGeom prst="rect">
            <a:avLst/>
          </a:prstGeom>
        </p:spPr>
        <p:txBody>
          <a:bodyPr/>
          <a:lstStyle/>
          <a:p>
            <a:r>
              <a:rPr lang="zh-CN" altLang="en-US" smtClean="0"/>
              <a:t>单击此处编辑母版标题样式</a:t>
            </a:r>
            <a:endParaRPr lang="zh-CN" altLang="en-US"/>
          </a:p>
        </p:txBody>
      </p:sp>
      <p:sp>
        <p:nvSpPr>
          <p:cNvPr id="4"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stretch>
            <a:fillRect/>
          </a:stretch>
        </p:blipFill>
        <p:spPr>
          <a:xfrm>
            <a:off x="1066340" y="6525344"/>
            <a:ext cx="6241965" cy="260648"/>
          </a:xfrm>
          <a:prstGeom prst="rect">
            <a:avLst/>
          </a:prstGeom>
        </p:spPr>
      </p:pic>
      <p:sp>
        <p:nvSpPr>
          <p:cNvPr id="3" name="标题 2"/>
          <p:cNvSpPr>
            <a:spLocks noGrp="1"/>
          </p:cNvSpPr>
          <p:nvPr>
            <p:ph type="title"/>
          </p:nvPr>
        </p:nvSpPr>
        <p:spPr>
          <a:xfrm>
            <a:off x="628650" y="365125"/>
            <a:ext cx="7886700" cy="1325563"/>
          </a:xfrm>
          <a:prstGeom prst="rect">
            <a:avLst/>
          </a:prstGeom>
        </p:spPr>
        <p:txBody>
          <a:bodyPr/>
          <a:lstStyle/>
          <a:p>
            <a:r>
              <a:rPr lang="zh-CN" altLang="en-US" smtClean="0"/>
              <a:t>单击此处编辑母版标题样式</a:t>
            </a:r>
            <a:endParaRPr lang="zh-CN" altLang="en-US"/>
          </a:p>
        </p:txBody>
      </p:sp>
      <p:sp>
        <p:nvSpPr>
          <p:cNvPr id="5"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
        <p:nvSpPr>
          <p:cNvPr id="6" name="文本框 5"/>
          <p:cNvSpPr txBox="1"/>
          <p:nvPr userDrawn="1"/>
        </p:nvSpPr>
        <p:spPr>
          <a:xfrm>
            <a:off x="7643495" y="3253740"/>
            <a:ext cx="3048000" cy="914400"/>
          </a:xfrm>
          <a:prstGeom prst="rect">
            <a:avLst/>
          </a:prstGeom>
          <a:noFill/>
          <a:ln w="9525" algn="ctr">
            <a:noFill/>
            <a:miter lim="800000"/>
          </a:ln>
        </p:spPr>
        <p:txBody>
          <a:bodyPr wrap="square" anchor="ctr"/>
          <a:p>
            <a:pPr algn="l" eaLnBrk="1" hangingPunct="1">
              <a:lnSpc>
                <a:spcPct val="150000"/>
              </a:lnSpc>
              <a:spcBef>
                <a:spcPct val="50000"/>
              </a:spcBef>
            </a:pPr>
            <a:endParaRPr lang="zh-CN" altLang="en-US" sz="2400" dirty="0" smtClean="0"/>
          </a:p>
        </p:txBody>
      </p:sp>
      <p:sp>
        <p:nvSpPr>
          <p:cNvPr id="7" name="文本框 6"/>
          <p:cNvSpPr txBox="1"/>
          <p:nvPr userDrawn="1"/>
        </p:nvSpPr>
        <p:spPr>
          <a:xfrm>
            <a:off x="2643505" y="3130550"/>
            <a:ext cx="3048000" cy="914400"/>
          </a:xfrm>
          <a:prstGeom prst="rect">
            <a:avLst/>
          </a:prstGeom>
          <a:noFill/>
          <a:ln w="9525" algn="ctr">
            <a:noFill/>
            <a:miter lim="800000"/>
          </a:ln>
        </p:spPr>
        <p:txBody>
          <a:bodyPr wrap="square" anchor="ctr"/>
          <a:p>
            <a:pPr algn="l" eaLnBrk="1" hangingPunct="1">
              <a:lnSpc>
                <a:spcPct val="150000"/>
              </a:lnSpc>
              <a:spcBef>
                <a:spcPct val="50000"/>
              </a:spcBef>
            </a:pPr>
            <a:endParaRPr lang="zh-CN" altLang="en-US" sz="2400" dirty="0" smtClean="0"/>
          </a:p>
        </p:txBody>
      </p:sp>
    </p:spTree>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40" y="457200"/>
            <a:ext cx="2949575"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788" y="987429"/>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30240"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6"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40" y="457200"/>
            <a:ext cx="2949575"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788" y="987429"/>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40"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6"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9"/>
            <a:ext cx="7886700" cy="1325563"/>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1825625"/>
            <a:ext cx="7886700" cy="4351338"/>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6" y="365125"/>
            <a:ext cx="1971675" cy="5811838"/>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2" y="365125"/>
            <a:ext cx="5762625" cy="5811838"/>
          </a:xfrm>
          <a:prstGeom prst="rect">
            <a:avLst/>
          </a:prstGeo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Text Box 61"/>
          <p:cNvSpPr txBox="1">
            <a:spLocks noChangeArrowheads="1"/>
          </p:cNvSpPr>
          <p:nvPr userDrawn="1"/>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1370013" y="301625"/>
            <a:ext cx="7313612" cy="1143000"/>
          </a:xfrm>
          <a:prstGeom prst="rect">
            <a:avLst/>
          </a:prstGeom>
        </p:spPr>
        <p:txBody>
          <a:bodyPr/>
          <a:lstStyle/>
          <a:p>
            <a:r>
              <a:rPr lang="zh-CN" altLang="en-US" smtClean="0"/>
              <a:t>单击此处编辑母版标题样式</a:t>
            </a:r>
            <a:endParaRPr lang="zh-CN" altLang="en-US"/>
          </a:p>
        </p:txBody>
      </p:sp>
      <p:sp>
        <p:nvSpPr>
          <p:cNvPr id="3" name="SmartArt 占位符 2"/>
          <p:cNvSpPr>
            <a:spLocks noGrp="1"/>
          </p:cNvSpPr>
          <p:nvPr>
            <p:ph type="pic" idx="1"/>
          </p:nvPr>
        </p:nvSpPr>
        <p:spPr>
          <a:xfrm>
            <a:off x="1370013" y="1827213"/>
            <a:ext cx="7313612" cy="4114800"/>
          </a:xfrm>
          <a:prstGeom prst="rect">
            <a:avLst/>
          </a:prstGeom>
        </p:spPr>
        <p:txBody>
          <a:bodyPr/>
          <a:lstStyle/>
          <a:p>
            <a:pPr lvl="0"/>
            <a:endParaRPr lang="zh-CN" altLang="en-US" noProof="0" smtClean="0"/>
          </a:p>
        </p:txBody>
      </p:sp>
      <p:sp>
        <p:nvSpPr>
          <p:cNvPr id="4" name="Rectangle 8"/>
          <p:cNvSpPr>
            <a:spLocks noGrp="1" noChangeArrowheads="1"/>
          </p:cNvSpPr>
          <p:nvPr>
            <p:ph type="dt" sz="half" idx="10"/>
          </p:nvPr>
        </p:nvSpPr>
        <p:spPr>
          <a:xfrm>
            <a:off x="457200" y="6248400"/>
            <a:ext cx="2133600" cy="457200"/>
          </a:xfrm>
          <a:prstGeom prst="rect">
            <a:avLst/>
          </a:prstGeom>
        </p:spPr>
        <p:txBody>
          <a:bodyPr/>
          <a:lstStyle>
            <a:lvl1pPr>
              <a:defRPr/>
            </a:lvl1pPr>
          </a:lstStyle>
          <a:p>
            <a:pPr>
              <a:defRPr/>
            </a:pPr>
            <a:endParaRPr lang="en-US" altLang="zh-CN"/>
          </a:p>
        </p:txBody>
      </p:sp>
      <p:sp>
        <p:nvSpPr>
          <p:cNvPr id="5" name="Rectangle 10"/>
          <p:cNvSpPr>
            <a:spLocks noGrp="1" noChangeArrowheads="1"/>
          </p:cNvSpPr>
          <p:nvPr>
            <p:ph type="sldNum" sz="quarter" idx="11"/>
          </p:nvPr>
        </p:nvSpPr>
        <p:spPr>
          <a:xfrm>
            <a:off x="6553200" y="6248400"/>
            <a:ext cx="2133600" cy="457200"/>
          </a:xfrm>
          <a:prstGeom prst="rect">
            <a:avLst/>
          </a:prstGeom>
        </p:spPr>
        <p:txBody>
          <a:bodyPr/>
          <a:lstStyle>
            <a:lvl1pPr>
              <a:defRPr/>
            </a:lvl1pPr>
          </a:lstStyle>
          <a:p>
            <a:r>
              <a:rPr lang="en-US" altLang="zh-CN"/>
              <a:t> </a:t>
            </a:r>
            <a:endParaRPr lang="en-US" altLang="zh-CN"/>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1085" name="Text Box 61"/>
          <p:cNvSpPr txBox="1">
            <a:spLocks noChangeArrowheads="1"/>
          </p:cNvSpPr>
          <p:nvPr/>
        </p:nvSpPr>
        <p:spPr bwMode="auto">
          <a:xfrm>
            <a:off x="152400" y="6461129"/>
            <a:ext cx="762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1">
            <a:spAutoFit/>
          </a:bodyPr>
          <a:lstStyle/>
          <a:p>
            <a:pPr algn="l">
              <a:spcBef>
                <a:spcPct val="50000"/>
              </a:spcBef>
            </a:pPr>
            <a:fld id="{99C448A4-D7FD-43EA-A557-CF9710A29668}" type="slidenum">
              <a:rPr lang="en-US" altLang="zh-CN" sz="2000">
                <a:effectLst>
                  <a:outerShdw blurRad="38100" dist="38100" dir="2700000" algn="tl">
                    <a:srgbClr val="000000"/>
                  </a:outerShdw>
                </a:effectLst>
                <a:ea typeface="隶书" panose="02010509060101010101" pitchFamily="49" charset="-122"/>
              </a:rPr>
            </a:fld>
            <a:endParaRPr lang="en-US" altLang="zh-CN" sz="2000" dirty="0">
              <a:effectLst>
                <a:outerShdw blurRad="38100" dist="38100" dir="2700000" algn="tl">
                  <a:srgbClr val="000000"/>
                </a:outerShdw>
              </a:effectLst>
              <a:ea typeface="隶书" panose="02010509060101010101" pitchFamily="49" charset="-122"/>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timing>
    <p:tnLst>
      <p:par>
        <p:cTn id="1" dur="indefinite" restart="never" nodeType="tmRoot"/>
      </p:par>
    </p:tnLst>
  </p:timing>
  <p:hf sldNum="0" hdr="0" ftr="0" dt="0"/>
  <p:txStyles>
    <p:titleStyle>
      <a:lvl1pPr algn="l" rtl="0" fontAlgn="base">
        <a:spcBef>
          <a:spcPct val="0"/>
        </a:spcBef>
        <a:spcAft>
          <a:spcPct val="0"/>
        </a:spcAft>
        <a:defRPr kumimoji="1" sz="3600" i="1" kern="1200">
          <a:solidFill>
            <a:schemeClr val="tx1"/>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2pPr>
      <a:lvl3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3pPr>
      <a:lvl4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4pPr>
      <a:lvl5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9pPr>
    </p:titleStyle>
    <p:bodyStyle>
      <a:lvl1pPr marL="342900" indent="-342900" algn="l" rtl="0" fontAlgn="base">
        <a:spcBef>
          <a:spcPct val="20000"/>
        </a:spcBef>
        <a:spcAft>
          <a:spcPct val="0"/>
        </a:spcAft>
        <a:buClr>
          <a:schemeClr val="tx2"/>
        </a:buClr>
        <a:buSzPct val="75000"/>
        <a:buFont typeface="Monotype Sorts" pitchFamily="2" charset="2"/>
        <a:buChar char="u"/>
        <a:defRPr kumimoji="1" sz="3200" kern="12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Font typeface="Monotype Sorts" pitchFamily="2" charset="2"/>
        <a:buChar char="u"/>
        <a:defRPr kumimoji="1"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SzPct val="62000"/>
        <a:buFont typeface="Monotype Sorts" pitchFamily="2" charset="2"/>
        <a:buChar char="u"/>
        <a:defRPr kumimoji="1" sz="2400" kern="1200">
          <a:solidFill>
            <a:schemeClr val="tx1"/>
          </a:solidFill>
          <a:latin typeface="+mn-lt"/>
          <a:ea typeface="+mn-ea"/>
          <a:cs typeface="+mn-cs"/>
        </a:defRPr>
      </a:lvl3pPr>
      <a:lvl4pPr marL="1600200" indent="-228600" algn="l" rtl="0" fontAlgn="base">
        <a:spcBef>
          <a:spcPct val="20000"/>
        </a:spcBef>
        <a:spcAft>
          <a:spcPct val="0"/>
        </a:spcAft>
        <a:buClr>
          <a:schemeClr val="tx1"/>
        </a:buClr>
        <a:buSzPct val="62000"/>
        <a:buFont typeface="Monotype Sorts" pitchFamily="2" charset="2"/>
        <a:buChar char="u"/>
        <a:defRPr kumimoji="1"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SzPct val="62000"/>
        <a:buFont typeface="Monotype Sorts" pitchFamily="2" charset="2"/>
        <a:buChar char="u"/>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wmf"/></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2.xml"/><Relationship Id="rId2" Type="http://schemas.openxmlformats.org/officeDocument/2006/relationships/image" Target="../media/image5.wmf"/><Relationship Id="rId1"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wmf"/><Relationship Id="rId1" Type="http://schemas.openxmlformats.org/officeDocument/2006/relationships/image" Target="../media/image6.w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wmf"/></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wm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GIF"/></Relationships>
</file>

<file path=ppt/slides/_rels/slide8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12.wmf"/><Relationship Id="rId7" Type="http://schemas.openxmlformats.org/officeDocument/2006/relationships/oleObject" Target="../embeddings/oleObject5.bin"/><Relationship Id="rId6" Type="http://schemas.openxmlformats.org/officeDocument/2006/relationships/image" Target="../media/image11.wmf"/><Relationship Id="rId5" Type="http://schemas.openxmlformats.org/officeDocument/2006/relationships/oleObject" Target="../embeddings/oleObject4.bin"/><Relationship Id="rId4" Type="http://schemas.openxmlformats.org/officeDocument/2006/relationships/image" Target="../media/image10.wmf"/><Relationship Id="rId3" Type="http://schemas.openxmlformats.org/officeDocument/2006/relationships/oleObject" Target="../embeddings/oleObject3.bin"/><Relationship Id="rId2" Type="http://schemas.openxmlformats.org/officeDocument/2006/relationships/image" Target="../media/image9.wmf"/><Relationship Id="rId11" Type="http://schemas.openxmlformats.org/officeDocument/2006/relationships/notesSlide" Target="../notesSlides/notesSlide32.xml"/><Relationship Id="rId10" Type="http://schemas.openxmlformats.org/officeDocument/2006/relationships/vmlDrawing" Target="../drawings/vmlDrawing2.vml"/><Relationship Id="rId1" Type="http://schemas.openxmlformats.org/officeDocument/2006/relationships/oleObject" Target="../embeddings/oleObject2.bin"/></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GIF"/></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wmf"/><Relationship Id="rId1" Type="http://schemas.openxmlformats.org/officeDocument/2006/relationships/image" Target="../media/image6.wmf"/></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8" name="Rectangle 4"/>
          <p:cNvSpPr>
            <a:spLocks noChangeArrowheads="1"/>
          </p:cNvSpPr>
          <p:nvPr/>
        </p:nvSpPr>
        <p:spPr bwMode="auto">
          <a:xfrm>
            <a:off x="533400" y="1219200"/>
            <a:ext cx="7848600" cy="76200"/>
          </a:xfrm>
          <a:prstGeom prst="rect">
            <a:avLst/>
          </a:prstGeom>
          <a:gradFill rotWithShape="0">
            <a:gsLst>
              <a:gs pos="0">
                <a:srgbClr val="5E9EFF"/>
              </a:gs>
              <a:gs pos="39999">
                <a:srgbClr val="85C2FF"/>
              </a:gs>
              <a:gs pos="70000">
                <a:srgbClr val="C4D6EB"/>
              </a:gs>
              <a:gs pos="100000">
                <a:srgbClr val="FFEBFA"/>
              </a:gs>
            </a:gsLst>
            <a:lin ang="5400000" scaled="1"/>
          </a:gradFill>
          <a:ln>
            <a:noFill/>
          </a:ln>
          <a:effectLst/>
          <a:extLst>
            <a:ext uri="{91240B29-F687-4F45-9708-019B960494DF}">
              <a14:hiddenLine xmlns:a14="http://schemas.microsoft.com/office/drawing/2010/main" w="22225">
                <a:solidFill>
                  <a:schemeClr val="tx1"/>
                </a:solidFill>
                <a:miter lim="800000"/>
                <a:headEnd type="none" w="sm" len="med"/>
                <a:tailEnd type="none" w="sm" len="med"/>
              </a14:hiddenLine>
            </a:ext>
            <a:ext uri="{AF507438-7753-43E0-B8FC-AC1667EBCBE1}">
              <a14:hiddenEffects xmlns:a14="http://schemas.microsoft.com/office/drawing/2010/main">
                <a:effectLst>
                  <a:outerShdw dist="35921" dir="2700000" sy="50000" rotWithShape="0">
                    <a:srgbClr val="875B0D"/>
                  </a:outerShdw>
                </a:effectLst>
              </a14:hiddenEffects>
            </a:ext>
          </a:extLst>
        </p:spPr>
        <p:txBody>
          <a:bodyPr wrap="none" anchor="ctr"/>
          <a:lstStyle/>
          <a:p>
            <a:endParaRPr lang="zh-CN" altLang="en-US"/>
          </a:p>
        </p:txBody>
      </p:sp>
      <p:pic>
        <p:nvPicPr>
          <p:cNvPr id="600069" name="Picture 5"/>
          <p:cNvPicPr>
            <a:picLocks noChangeAspect="1" noChangeArrowheads="1"/>
          </p:cNvPicPr>
          <p:nvPr/>
        </p:nvPicPr>
        <p:blipFill>
          <a:blip r:embed="rId1" cstate="print">
            <a:clrChange>
              <a:clrFrom>
                <a:srgbClr val="FFFFFF"/>
              </a:clrFrom>
              <a:clrTo>
                <a:srgbClr val="FFFFFF">
                  <a:alpha val="0"/>
                </a:srgbClr>
              </a:clrTo>
            </a:clrChange>
            <a:biLevel thresh="50000"/>
            <a:grayscl/>
            <a:lum contrast="70000"/>
            <a:extLst>
              <a:ext uri="{28A0092B-C50C-407E-A947-70E740481C1C}">
                <a14:useLocalDpi xmlns:a14="http://schemas.microsoft.com/office/drawing/2010/main" val="0"/>
              </a:ext>
            </a:extLst>
          </a:blip>
          <a:srcRect/>
          <a:stretch>
            <a:fillRect/>
          </a:stretch>
        </p:blipFill>
        <p:spPr bwMode="auto">
          <a:xfrm>
            <a:off x="7696200" y="388939"/>
            <a:ext cx="1219200" cy="754063"/>
          </a:xfrm>
          <a:prstGeom prst="rect">
            <a:avLst/>
          </a:prstGeom>
          <a:noFill/>
          <a:effectLst>
            <a:prstShdw prst="shdw17">
              <a:srgbClr val="FFFFFF">
                <a:gamma/>
                <a:shade val="60000"/>
                <a:invGamma/>
              </a:srgbClr>
            </a:prstShdw>
          </a:effectLst>
          <a:extLst>
            <a:ext uri="{909E8E84-426E-40DD-AFC4-6F175D3DCCD1}">
              <a14:hiddenFill xmlns:a14="http://schemas.microsoft.com/office/drawing/2010/main">
                <a:solidFill>
                  <a:srgbClr val="FFFFFF"/>
                </a:solidFill>
              </a14:hiddenFill>
            </a:ext>
          </a:extLst>
        </p:spPr>
      </p:pic>
      <p:sp>
        <p:nvSpPr>
          <p:cNvPr id="600070" name="Text Box 6"/>
          <p:cNvSpPr txBox="1">
            <a:spLocks noChangeArrowheads="1"/>
          </p:cNvSpPr>
          <p:nvPr/>
        </p:nvSpPr>
        <p:spPr bwMode="auto">
          <a:xfrm>
            <a:off x="971600" y="2806484"/>
            <a:ext cx="7848872" cy="7694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sy="50000" rotWithShape="0">
                    <a:srgbClr val="875B0D"/>
                  </a:outerShdw>
                </a:effectLst>
              </a14:hiddenEffects>
            </a:ext>
          </a:extLst>
        </p:spPr>
        <p:txBody>
          <a:bodyPr wrap="square" anchor="ctr">
            <a:spAutoFit/>
          </a:bodyPr>
          <a:lstStyle/>
          <a:p>
            <a:pPr>
              <a:spcBef>
                <a:spcPct val="50000"/>
              </a:spcBef>
            </a:pPr>
            <a:r>
              <a:rPr lang="en-US" altLang="zh-CN" sz="4400" b="1" dirty="0">
                <a:solidFill>
                  <a:srgbClr val="FFFF00"/>
                </a:solidFill>
                <a:effectLst>
                  <a:outerShdw blurRad="38100" dist="38100" dir="2700000" algn="tl">
                    <a:srgbClr val="000000"/>
                  </a:outerShdw>
                </a:effectLst>
                <a:latin typeface="+mj-lt"/>
                <a:ea typeface="黑体" panose="02010609060101010101" pitchFamily="49" charset="-122"/>
              </a:rPr>
              <a:t>UNIT </a:t>
            </a:r>
            <a:r>
              <a:rPr lang="en-US" altLang="zh-CN" sz="4400" b="1" dirty="0" smtClean="0">
                <a:solidFill>
                  <a:srgbClr val="FFFF00"/>
                </a:solidFill>
                <a:effectLst>
                  <a:outerShdw blurRad="38100" dist="38100" dir="2700000" algn="tl">
                    <a:srgbClr val="000000"/>
                  </a:outerShdw>
                </a:effectLst>
                <a:latin typeface="+mj-lt"/>
                <a:ea typeface="黑体" panose="02010609060101010101" pitchFamily="49" charset="-122"/>
              </a:rPr>
              <a:t>07      </a:t>
            </a:r>
            <a:r>
              <a:rPr lang="zh-CN" altLang="en-US" sz="4000" b="1" dirty="0">
                <a:effectLst>
                  <a:outerShdw blurRad="38100" dist="38100" dir="2700000" algn="tl">
                    <a:srgbClr val="000000"/>
                  </a:outerShdw>
                </a:effectLst>
                <a:latin typeface="+mn-lt"/>
                <a:ea typeface="微软雅黑" panose="020B0503020204020204" pitchFamily="34" charset="-122"/>
              </a:rPr>
              <a:t>类的</a:t>
            </a:r>
            <a:r>
              <a:rPr lang="zh-CN" altLang="en-US" sz="4000" b="1" dirty="0" smtClean="0">
                <a:effectLst>
                  <a:outerShdw blurRad="38100" dist="38100" dir="2700000" algn="tl">
                    <a:srgbClr val="000000"/>
                  </a:outerShdw>
                </a:effectLst>
                <a:latin typeface="+mn-lt"/>
                <a:ea typeface="微软雅黑" panose="020B0503020204020204" pitchFamily="34" charset="-122"/>
              </a:rPr>
              <a:t>继承</a:t>
            </a:r>
            <a:endParaRPr lang="zh-CN" altLang="en-US" sz="2800" b="1" dirty="0">
              <a:effectLst>
                <a:outerShdw blurRad="38100" dist="38100" dir="2700000" algn="tl">
                  <a:srgbClr val="000000"/>
                </a:outerShdw>
              </a:effectLst>
              <a:latin typeface="+mn-lt"/>
              <a:ea typeface="微软雅黑" panose="020B0503020204020204" pitchFamily="34" charset="-122"/>
            </a:endParaRPr>
          </a:p>
        </p:txBody>
      </p:sp>
      <p:sp>
        <p:nvSpPr>
          <p:cNvPr id="9" name="Rectangle 9"/>
          <p:cNvSpPr txBox="1">
            <a:spLocks noChangeArrowheads="1"/>
          </p:cNvSpPr>
          <p:nvPr/>
        </p:nvSpPr>
        <p:spPr bwMode="auto">
          <a:xfrm>
            <a:off x="1611660" y="461170"/>
            <a:ext cx="5410200" cy="6096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rtl="0" fontAlgn="base">
              <a:spcBef>
                <a:spcPct val="0"/>
              </a:spcBef>
              <a:spcAft>
                <a:spcPct val="0"/>
              </a:spcAft>
              <a:defRPr kumimoji="1" sz="3600" i="1" kern="1200">
                <a:solidFill>
                  <a:schemeClr val="tx1"/>
                </a:solidFill>
                <a:effectLst>
                  <a:outerShdw blurRad="38100" dist="38100" dir="2700000" algn="tl">
                    <a:srgbClr val="000000"/>
                  </a:outerShdw>
                </a:effectLst>
                <a:latin typeface="+mj-lt"/>
                <a:ea typeface="+mj-ea"/>
                <a:cs typeface="+mj-cs"/>
              </a:defRPr>
            </a:lvl1pPr>
            <a:lvl2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2pPr>
            <a:lvl3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3pPr>
            <a:lvl4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4pPr>
            <a:lvl5pPr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kumimoji="1" sz="3600" i="1">
                <a:solidFill>
                  <a:schemeClr val="tx1"/>
                </a:solidFill>
                <a:effectLst>
                  <a:outerShdw blurRad="38100" dist="38100" dir="2700000" algn="tl">
                    <a:srgbClr val="000000"/>
                  </a:outerShdw>
                </a:effectLst>
                <a:latin typeface="Times New Roman" panose="02020603050405020304" pitchFamily="18" charset="0"/>
                <a:ea typeface="隶书" panose="02010509060101010101" pitchFamily="49" charset="-122"/>
              </a:defRPr>
            </a:lvl9pPr>
          </a:lstStyle>
          <a:p>
            <a:pPr algn="dist"/>
            <a:r>
              <a:rPr lang="zh-CN" altLang="en-US" sz="4200" b="1" i="0" dirty="0" smtClean="0">
                <a:solidFill>
                  <a:srgbClr val="FFFFFF"/>
                </a:solidFill>
                <a:latin typeface="方正舒体" panose="02010601030101010101" pitchFamily="2" charset="-122"/>
                <a:ea typeface="方正舒体" panose="02010601030101010101" pitchFamily="2" charset="-122"/>
              </a:rPr>
              <a:t>程序设计</a:t>
            </a:r>
            <a:r>
              <a:rPr lang="en-US" altLang="zh-CN" sz="4200" b="1" i="0" smtClean="0">
                <a:solidFill>
                  <a:srgbClr val="FFFFFF"/>
                </a:solidFill>
                <a:latin typeface="方正舒体" panose="02010601030101010101" pitchFamily="2" charset="-122"/>
                <a:ea typeface="方正舒体" panose="02010601030101010101" pitchFamily="2" charset="-122"/>
              </a:rPr>
              <a:t>D</a:t>
            </a:r>
            <a:endParaRPr lang="zh-CN" altLang="en-US" sz="2400" i="0" dirty="0">
              <a:latin typeface="方正舒体" panose="02010601030101010101" pitchFamily="2" charset="-122"/>
              <a:ea typeface="方正舒体" panose="02010601030101010101" pitchFamily="2" charset="-122"/>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27584" y="1351508"/>
            <a:ext cx="7992888" cy="5349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150000"/>
              </a:lnSpc>
              <a:spcBef>
                <a:spcPct val="10000"/>
              </a:spcBef>
            </a:pPr>
            <a:r>
              <a:rPr lang="zh-CN" altLang="en-US" sz="2800" b="1" dirty="0">
                <a:ea typeface="隶书" panose="02010509060101010101" pitchFamily="49" charset="-122"/>
              </a:rPr>
              <a:t>继承与派生其实是同一过程从不同的角度</a:t>
            </a:r>
            <a:r>
              <a:rPr lang="zh-CN" altLang="en-US" sz="2800" b="1" dirty="0" smtClean="0">
                <a:ea typeface="隶书" panose="02010509060101010101" pitchFamily="49" charset="-122"/>
              </a:rPr>
              <a:t>看：</a:t>
            </a:r>
            <a:endParaRPr lang="en-US" altLang="zh-CN" sz="2800" b="1" dirty="0" smtClean="0">
              <a:ea typeface="隶书" panose="02010509060101010101" pitchFamily="49" charset="-122"/>
            </a:endParaRPr>
          </a:p>
          <a:p>
            <a:pPr marL="514350" indent="-514350" algn="l">
              <a:lnSpc>
                <a:spcPct val="150000"/>
              </a:lnSpc>
              <a:spcBef>
                <a:spcPct val="10000"/>
              </a:spcBef>
              <a:buFont typeface="+mj-ea"/>
              <a:buAutoNum type="circleNumDbPlain"/>
            </a:pPr>
            <a:r>
              <a:rPr lang="zh-CN" altLang="en-US" sz="2800" b="1" dirty="0" smtClean="0">
                <a:ea typeface="隶书" panose="02010509060101010101" pitchFamily="49" charset="-122"/>
              </a:rPr>
              <a:t>我们</a:t>
            </a:r>
            <a:r>
              <a:rPr lang="zh-CN" altLang="en-US" sz="2800" b="1" dirty="0">
                <a:ea typeface="隶书" panose="02010509060101010101" pitchFamily="49" charset="-122"/>
              </a:rPr>
              <a:t>将保持已有类的特性而构造新类的过程称为继承，说白了继承的目的就是实现原来设计与代码的重用，希望尽量利用原有的类</a:t>
            </a:r>
            <a:r>
              <a:rPr lang="zh-CN" altLang="en-US" sz="2800" b="1" dirty="0" smtClean="0">
                <a:ea typeface="隶书" panose="02010509060101010101" pitchFamily="49" charset="-122"/>
              </a:rPr>
              <a:t>。</a:t>
            </a:r>
            <a:endParaRPr lang="en-US" altLang="zh-CN" sz="2800" b="1" dirty="0" smtClean="0">
              <a:ea typeface="隶书" panose="02010509060101010101" pitchFamily="49" charset="-122"/>
            </a:endParaRPr>
          </a:p>
          <a:p>
            <a:pPr marL="514350" indent="-514350" algn="l">
              <a:lnSpc>
                <a:spcPct val="150000"/>
              </a:lnSpc>
              <a:spcBef>
                <a:spcPct val="10000"/>
              </a:spcBef>
              <a:buFont typeface="+mj-ea"/>
              <a:buAutoNum type="circleNumDbPlain"/>
            </a:pPr>
            <a:r>
              <a:rPr lang="zh-CN" altLang="en-US" sz="2800" b="1" dirty="0" smtClean="0">
                <a:ea typeface="隶书" panose="02010509060101010101" pitchFamily="49" charset="-122"/>
              </a:rPr>
              <a:t>然而</a:t>
            </a:r>
            <a:r>
              <a:rPr lang="zh-CN" altLang="en-US" sz="2800" b="1" dirty="0">
                <a:ea typeface="隶书" panose="02010509060101010101" pitchFamily="49" charset="-122"/>
              </a:rPr>
              <a:t>当新的问题出现，原有程序无法解决或不能完全解决时，需要对原有程序进行改造，在已有类的基础上新增自己的特性而产生新类的过程称为派生</a:t>
            </a:r>
            <a:endParaRPr lang="zh-CN" altLang="en-US" sz="2800" b="1" dirty="0">
              <a:ea typeface="隶书" panose="02010509060101010101" pitchFamily="49" charset="-122"/>
            </a:endParaRPr>
          </a:p>
        </p:txBody>
      </p:sp>
      <p:sp>
        <p:nvSpPr>
          <p:cNvPr id="4" name="Rectangle 5"/>
          <p:cNvSpPr>
            <a:spLocks noChangeArrowheads="1"/>
          </p:cNvSpPr>
          <p:nvPr/>
        </p:nvSpPr>
        <p:spPr bwMode="auto">
          <a:xfrm rot="21281222">
            <a:off x="493756" y="402992"/>
            <a:ext cx="4666131" cy="782662"/>
          </a:xfrm>
          <a:prstGeom prst="rect">
            <a:avLst/>
          </a:prstGeom>
          <a:noFill/>
          <a:ln w="9525">
            <a:noFill/>
            <a:miter lim="800000"/>
          </a:ln>
        </p:spPr>
        <p:txBody>
          <a:bodyPr anchor="b"/>
          <a:lstStyle/>
          <a:p>
            <a:pPr algn="ctr" eaLnBrk="1" hangingPunct="1"/>
            <a:r>
              <a:rPr lang="zh-CN" altLang="en-US" sz="4000" dirty="0" smtClean="0">
                <a:latin typeface="方正舒体" panose="02010601030101010101" pitchFamily="2" charset="-122"/>
                <a:ea typeface="方正舒体" panose="02010601030101010101" pitchFamily="2" charset="-122"/>
              </a:rPr>
              <a:t>继承和派生的区别？</a:t>
            </a:r>
            <a:endParaRPr lang="zh-CN" altLang="en-US" sz="4000" dirty="0">
              <a:latin typeface="方正舒体" panose="02010601030101010101" pitchFamily="2" charset="-122"/>
              <a:ea typeface="方正舒体" panose="02010601030101010101" pitchFamily="2"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Rectangle 2"/>
          <p:cNvSpPr>
            <a:spLocks noGrp="1" noChangeArrowheads="1"/>
          </p:cNvSpPr>
          <p:nvPr>
            <p:ph type="body" idx="1"/>
          </p:nvPr>
        </p:nvSpPr>
        <p:spPr bwMode="auto">
          <a:xfrm>
            <a:off x="2190016" y="188640"/>
            <a:ext cx="6948264" cy="54006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noAutofit/>
          </a:bodyPr>
          <a:lstStyle/>
          <a:p>
            <a:pPr>
              <a:lnSpc>
                <a:spcPct val="150000"/>
              </a:lnSpc>
              <a:spcBef>
                <a:spcPts val="600"/>
              </a:spcBef>
              <a:buClr>
                <a:schemeClr val="tx1"/>
              </a:buClr>
              <a:buFont typeface="Monotype Sorts" pitchFamily="2" charset="2"/>
              <a:buChar char="&amp;"/>
            </a:pPr>
            <a:r>
              <a:rPr lang="zh-CN" altLang="en-US" b="1" dirty="0" smtClean="0">
                <a:latin typeface="华文中宋" panose="02010600040101010101" pitchFamily="2" charset="-122"/>
                <a:ea typeface="华文中宋" panose="02010600040101010101" pitchFamily="2" charset="-122"/>
              </a:rPr>
              <a:t>  基类和派生类</a:t>
            </a:r>
            <a:endParaRPr lang="en-US" altLang="zh-CN" b="1" dirty="0" smtClean="0">
              <a:latin typeface="华文中宋" panose="02010600040101010101" pitchFamily="2" charset="-122"/>
              <a:ea typeface="华文中宋" panose="02010600040101010101" pitchFamily="2" charset="-122"/>
            </a:endParaRPr>
          </a:p>
          <a:p>
            <a:pPr>
              <a:lnSpc>
                <a:spcPct val="150000"/>
              </a:lnSpc>
              <a:spcBef>
                <a:spcPts val="600"/>
              </a:spcBef>
              <a:buClr>
                <a:schemeClr val="tx1"/>
              </a:buClr>
              <a:buFont typeface="Monotype Sorts" pitchFamily="2" charset="2"/>
              <a:buChar char="&amp;"/>
            </a:pPr>
            <a:r>
              <a:rPr lang="en-US" altLang="zh-CN" b="1" dirty="0" smtClean="0">
                <a:latin typeface="华文中宋" panose="02010600040101010101" pitchFamily="2" charset="-122"/>
                <a:ea typeface="华文中宋" panose="02010600040101010101" pitchFamily="2" charset="-122"/>
              </a:rPr>
              <a:t>  </a:t>
            </a:r>
            <a:r>
              <a:rPr lang="zh-CN" altLang="en-US" b="1" dirty="0" smtClean="0">
                <a:latin typeface="华文中宋" panose="02010600040101010101" pitchFamily="2" charset="-122"/>
                <a:ea typeface="华文中宋" panose="02010600040101010101" pitchFamily="2" charset="-122"/>
              </a:rPr>
              <a:t>访问控制</a:t>
            </a:r>
            <a:endParaRPr lang="en-US" altLang="zh-CN" b="1" dirty="0" smtClean="0">
              <a:latin typeface="华文中宋" panose="02010600040101010101" pitchFamily="2" charset="-122"/>
              <a:ea typeface="华文中宋" panose="02010600040101010101" pitchFamily="2" charset="-122"/>
            </a:endParaRPr>
          </a:p>
          <a:p>
            <a:pPr>
              <a:lnSpc>
                <a:spcPct val="150000"/>
              </a:lnSpc>
              <a:spcBef>
                <a:spcPts val="600"/>
              </a:spcBef>
              <a:buClr>
                <a:schemeClr val="tx1"/>
              </a:buClr>
              <a:buFont typeface="Monotype Sorts" pitchFamily="2" charset="2"/>
              <a:buChar char="&amp;"/>
            </a:pPr>
            <a:r>
              <a:rPr lang="en-US" altLang="zh-CN" b="1" dirty="0" smtClean="0">
                <a:latin typeface="华文中宋" panose="02010600040101010101" pitchFamily="2" charset="-122"/>
                <a:ea typeface="华文中宋" panose="02010600040101010101" pitchFamily="2" charset="-122"/>
              </a:rPr>
              <a:t>  </a:t>
            </a:r>
            <a:r>
              <a:rPr lang="zh-CN" altLang="en-US" b="1" dirty="0" smtClean="0">
                <a:latin typeface="华文中宋" panose="02010600040101010101" pitchFamily="2" charset="-122"/>
                <a:ea typeface="华文中宋" panose="02010600040101010101" pitchFamily="2" charset="-122"/>
              </a:rPr>
              <a:t>类型兼容规则</a:t>
            </a:r>
            <a:endParaRPr lang="en-US" altLang="zh-CN" b="1" dirty="0" smtClean="0">
              <a:latin typeface="华文中宋" panose="02010600040101010101" pitchFamily="2" charset="-122"/>
              <a:ea typeface="华文中宋" panose="02010600040101010101" pitchFamily="2" charset="-122"/>
            </a:endParaRPr>
          </a:p>
          <a:p>
            <a:pPr>
              <a:lnSpc>
                <a:spcPct val="150000"/>
              </a:lnSpc>
              <a:spcBef>
                <a:spcPts val="600"/>
              </a:spcBef>
              <a:buClr>
                <a:schemeClr val="tx1"/>
              </a:buClr>
              <a:buFont typeface="Monotype Sorts" pitchFamily="2" charset="2"/>
              <a:buChar char="&amp;"/>
            </a:pPr>
            <a:r>
              <a:rPr lang="en-US" altLang="zh-CN" b="1" dirty="0" smtClean="0">
                <a:latin typeface="华文中宋" panose="02010600040101010101" pitchFamily="2" charset="-122"/>
                <a:ea typeface="华文中宋" panose="02010600040101010101" pitchFamily="2" charset="-122"/>
              </a:rPr>
              <a:t>  </a:t>
            </a:r>
            <a:r>
              <a:rPr lang="zh-CN" altLang="en-US" b="1" dirty="0">
                <a:latin typeface="华文中宋" panose="02010600040101010101" pitchFamily="2" charset="-122"/>
                <a:ea typeface="华文中宋" panose="02010600040101010101" pitchFamily="2" charset="-122"/>
              </a:rPr>
              <a:t>派生类的构造、析构</a:t>
            </a:r>
            <a:r>
              <a:rPr lang="zh-CN" altLang="en-US" b="1" dirty="0" smtClean="0">
                <a:latin typeface="华文中宋" panose="02010600040101010101" pitchFamily="2" charset="-122"/>
                <a:ea typeface="华文中宋" panose="02010600040101010101" pitchFamily="2" charset="-122"/>
              </a:rPr>
              <a:t>函数</a:t>
            </a:r>
            <a:endParaRPr lang="en-US" altLang="zh-CN" b="1" dirty="0" smtClean="0">
              <a:latin typeface="华文中宋" panose="02010600040101010101" pitchFamily="2" charset="-122"/>
              <a:ea typeface="华文中宋" panose="02010600040101010101" pitchFamily="2" charset="-122"/>
            </a:endParaRPr>
          </a:p>
          <a:p>
            <a:pPr>
              <a:lnSpc>
                <a:spcPct val="150000"/>
              </a:lnSpc>
              <a:spcBef>
                <a:spcPts val="600"/>
              </a:spcBef>
              <a:buClr>
                <a:schemeClr val="tx1"/>
              </a:buClr>
              <a:buFont typeface="Monotype Sorts" pitchFamily="2" charset="2"/>
              <a:buChar char="&amp;"/>
            </a:pPr>
            <a:r>
              <a:rPr lang="en-US" altLang="zh-CN" b="1" dirty="0" smtClean="0">
                <a:latin typeface="华文中宋" panose="02010600040101010101" pitchFamily="2" charset="-122"/>
                <a:ea typeface="华文中宋" panose="02010600040101010101" pitchFamily="2" charset="-122"/>
              </a:rPr>
              <a:t>  </a:t>
            </a:r>
            <a:r>
              <a:rPr lang="zh-CN" altLang="en-US" b="1" dirty="0">
                <a:latin typeface="华文中宋" panose="02010600040101010101" pitchFamily="2" charset="-122"/>
                <a:ea typeface="华文中宋" panose="02010600040101010101" pitchFamily="2" charset="-122"/>
              </a:rPr>
              <a:t>派生类成员的标识与</a:t>
            </a:r>
            <a:r>
              <a:rPr lang="zh-CN" altLang="en-US" b="1" dirty="0" smtClean="0">
                <a:latin typeface="华文中宋" panose="02010600040101010101" pitchFamily="2" charset="-122"/>
                <a:ea typeface="华文中宋" panose="02010600040101010101" pitchFamily="2" charset="-122"/>
              </a:rPr>
              <a:t>访问</a:t>
            </a:r>
            <a:endParaRPr lang="en-US" altLang="zh-CN" b="1" dirty="0" smtClean="0">
              <a:latin typeface="华文中宋" panose="02010600040101010101" pitchFamily="2" charset="-122"/>
              <a:ea typeface="华文中宋" panose="02010600040101010101" pitchFamily="2" charset="-122"/>
            </a:endParaRPr>
          </a:p>
          <a:p>
            <a:pPr>
              <a:lnSpc>
                <a:spcPct val="150000"/>
              </a:lnSpc>
              <a:spcBef>
                <a:spcPts val="600"/>
              </a:spcBef>
              <a:buClr>
                <a:schemeClr val="tx1"/>
              </a:buClr>
              <a:buFont typeface="Monotype Sorts" pitchFamily="2" charset="2"/>
              <a:buChar char="&amp;"/>
            </a:pPr>
            <a:r>
              <a:rPr lang="en-US" altLang="zh-CN" b="1" dirty="0" smtClean="0">
                <a:latin typeface="华文中宋" panose="02010600040101010101" pitchFamily="2" charset="-122"/>
                <a:ea typeface="华文中宋" panose="02010600040101010101" pitchFamily="2" charset="-122"/>
              </a:rPr>
              <a:t>  </a:t>
            </a:r>
            <a:r>
              <a:rPr lang="zh-CN" altLang="en-US" b="1" dirty="0">
                <a:latin typeface="华文中宋" panose="02010600040101010101" pitchFamily="2" charset="-122"/>
                <a:ea typeface="华文中宋" panose="02010600040101010101" pitchFamily="2" charset="-122"/>
              </a:rPr>
              <a:t>程序实例</a:t>
            </a:r>
            <a:r>
              <a:rPr lang="en-US" altLang="zh-CN" sz="2400" b="1" dirty="0">
                <a:latin typeface="华文中宋" panose="02010600040101010101" pitchFamily="2" charset="-122"/>
                <a:ea typeface="华文中宋" panose="02010600040101010101" pitchFamily="2" charset="-122"/>
              </a:rPr>
              <a:t>——</a:t>
            </a:r>
            <a:r>
              <a:rPr lang="zh-CN" altLang="en-US" sz="2400" b="1" dirty="0">
                <a:latin typeface="华文中宋" panose="02010600040101010101" pitchFamily="2" charset="-122"/>
                <a:ea typeface="华文中宋" panose="02010600040101010101" pitchFamily="2" charset="-122"/>
              </a:rPr>
              <a:t>用高斯消去法解</a:t>
            </a:r>
            <a:r>
              <a:rPr lang="zh-CN" altLang="en-US" sz="2400" b="1" dirty="0" smtClean="0">
                <a:latin typeface="华文中宋" panose="02010600040101010101" pitchFamily="2" charset="-122"/>
                <a:ea typeface="华文中宋" panose="02010600040101010101" pitchFamily="2" charset="-122"/>
              </a:rPr>
              <a:t>线性方程组</a:t>
            </a:r>
            <a:endParaRPr lang="en-US" altLang="zh-CN" sz="2400" b="1" dirty="0" smtClean="0">
              <a:latin typeface="华文中宋" panose="02010600040101010101" pitchFamily="2" charset="-122"/>
              <a:ea typeface="华文中宋" panose="02010600040101010101" pitchFamily="2" charset="-122"/>
            </a:endParaRPr>
          </a:p>
          <a:p>
            <a:pPr>
              <a:lnSpc>
                <a:spcPct val="150000"/>
              </a:lnSpc>
              <a:spcBef>
                <a:spcPts val="600"/>
              </a:spcBef>
              <a:buClr>
                <a:schemeClr val="tx1"/>
              </a:buClr>
              <a:buFont typeface="Monotype Sorts" pitchFamily="2" charset="2"/>
              <a:buChar char="&amp;"/>
            </a:pPr>
            <a:r>
              <a:rPr lang="en-US" altLang="zh-CN" b="1" dirty="0" smtClean="0">
                <a:latin typeface="华文中宋" panose="02010600040101010101" pitchFamily="2" charset="-122"/>
                <a:ea typeface="华文中宋" panose="02010600040101010101" pitchFamily="2" charset="-122"/>
              </a:rPr>
              <a:t>  </a:t>
            </a:r>
            <a:r>
              <a:rPr lang="zh-CN" altLang="en-US" b="1" dirty="0">
                <a:latin typeface="华文中宋" panose="02010600040101010101" pitchFamily="2" charset="-122"/>
                <a:ea typeface="华文中宋" panose="02010600040101010101" pitchFamily="2" charset="-122"/>
              </a:rPr>
              <a:t>综合</a:t>
            </a:r>
            <a:r>
              <a:rPr lang="zh-CN" altLang="en-US" b="1" dirty="0" smtClean="0">
                <a:latin typeface="华文中宋" panose="02010600040101010101" pitchFamily="2" charset="-122"/>
                <a:ea typeface="华文中宋" panose="02010600040101010101" pitchFamily="2" charset="-122"/>
              </a:rPr>
              <a:t>实例</a:t>
            </a:r>
            <a:r>
              <a:rPr lang="en-US" altLang="zh-CN" b="1" baseline="30000" dirty="0" smtClean="0">
                <a:solidFill>
                  <a:srgbClr val="FFFFFF"/>
                </a:solidFill>
                <a:latin typeface="华文中宋" panose="02010600040101010101" pitchFamily="2" charset="-122"/>
                <a:ea typeface="华文中宋" panose="02010600040101010101" pitchFamily="2" charset="-122"/>
              </a:rPr>
              <a:t>*</a:t>
            </a:r>
            <a:r>
              <a:rPr lang="en-US" altLang="zh-CN" sz="2400" b="1" dirty="0" smtClean="0">
                <a:latin typeface="华文中宋" panose="02010600040101010101" pitchFamily="2" charset="-122"/>
                <a:ea typeface="华文中宋" panose="02010600040101010101" pitchFamily="2" charset="-122"/>
              </a:rPr>
              <a:t>——</a:t>
            </a:r>
            <a:r>
              <a:rPr lang="zh-CN" altLang="en-US" sz="2400" b="1" dirty="0">
                <a:latin typeface="华文中宋" panose="02010600040101010101" pitchFamily="2" charset="-122"/>
                <a:ea typeface="华文中宋" panose="02010600040101010101" pitchFamily="2" charset="-122"/>
              </a:rPr>
              <a:t>个人银行账户管理程序</a:t>
            </a:r>
            <a:endParaRPr lang="en-US" altLang="zh-CN" sz="2400" b="1" dirty="0">
              <a:latin typeface="华文中宋" panose="02010600040101010101" pitchFamily="2" charset="-122"/>
              <a:ea typeface="华文中宋" panose="02010600040101010101" pitchFamily="2" charset="-122"/>
            </a:endParaRPr>
          </a:p>
          <a:p>
            <a:pPr>
              <a:lnSpc>
                <a:spcPct val="150000"/>
              </a:lnSpc>
              <a:spcBef>
                <a:spcPts val="600"/>
              </a:spcBef>
              <a:buClr>
                <a:schemeClr val="tx1"/>
              </a:buClr>
              <a:buFont typeface="Monotype Sorts" pitchFamily="2" charset="2"/>
              <a:buChar char="&amp;"/>
            </a:pPr>
            <a:r>
              <a:rPr lang="en-US" altLang="zh-CN" b="1" dirty="0" smtClean="0">
                <a:latin typeface="华文中宋" panose="02010600040101010101" pitchFamily="2" charset="-122"/>
                <a:ea typeface="华文中宋" panose="02010600040101010101" pitchFamily="2" charset="-122"/>
              </a:rPr>
              <a:t>  </a:t>
            </a:r>
            <a:r>
              <a:rPr lang="zh-CN" altLang="en-US" b="1" dirty="0">
                <a:latin typeface="华文中宋" panose="02010600040101010101" pitchFamily="2" charset="-122"/>
                <a:ea typeface="华文中宋" panose="02010600040101010101" pitchFamily="2" charset="-122"/>
              </a:rPr>
              <a:t>深度探索</a:t>
            </a:r>
            <a:endParaRPr lang="en-US" altLang="zh-CN" b="1" dirty="0">
              <a:latin typeface="华文中宋" panose="02010600040101010101" pitchFamily="2" charset="-122"/>
              <a:ea typeface="华文中宋" panose="02010600040101010101" pitchFamily="2" charset="-122"/>
            </a:endParaRPr>
          </a:p>
        </p:txBody>
      </p:sp>
      <p:sp>
        <p:nvSpPr>
          <p:cNvPr id="687107" name="WordArt 3"/>
          <p:cNvSpPr>
            <a:spLocks noChangeArrowheads="1" noChangeShapeType="1" noTextEdit="1"/>
          </p:cNvSpPr>
          <p:nvPr/>
        </p:nvSpPr>
        <p:spPr bwMode="auto">
          <a:xfrm rot="5373304">
            <a:off x="-1257300" y="2857500"/>
            <a:ext cx="4876800" cy="838200"/>
          </a:xfrm>
          <a:prstGeom prst="rect">
            <a:avLst/>
          </a:prstGeom>
          <a:extLst>
            <a:ext uri="{AF507438-7753-43E0-B8FC-AC1667EBCBE1}">
              <a14:hiddenEffects xmlns:a14="http://schemas.microsoft.com/office/drawing/2010/main">
                <a:effectLst/>
              </a14:hiddenEffects>
            </a:ext>
          </a:extLst>
        </p:spPr>
        <p:txBody>
          <a:bodyPr vert="eaVert" wrap="none" fromWordArt="1">
            <a:prstTxWarp prst="textPlain">
              <a:avLst>
                <a:gd name="adj" fmla="val 50000"/>
              </a:avLst>
            </a:prstTxWarp>
            <a:scene3d>
              <a:camera prst="legacyPerspectiveFront">
                <a:rot lat="20639999" lon="20699999" rev="0"/>
              </a:camera>
              <a:lightRig rig="legacyFlat4" dir="b"/>
            </a:scene3d>
            <a:sp3d extrusionH="201600" prstMaterial="legacyPlastic">
              <a:extrusionClr>
                <a:srgbClr val="FF9966"/>
              </a:extrusionClr>
              <a:contourClr>
                <a:schemeClr val="tx1"/>
              </a:contourClr>
            </a:sp3d>
          </a:bodyPr>
          <a:lstStyle/>
          <a:p>
            <a:pPr fontAlgn="auto"/>
            <a:r>
              <a:rPr lang="zh-CN" altLang="en-US" sz="3600" kern="10" spc="1800" dirty="0">
                <a:ln w="9525">
                  <a:round/>
                </a:ln>
                <a:latin typeface="隶书" panose="02010509060101010101" pitchFamily="49" charset="-122"/>
                <a:ea typeface="隶书" panose="02010509060101010101" pitchFamily="49" charset="-122"/>
              </a:rPr>
              <a:t>本讲提纲</a:t>
            </a:r>
            <a:endParaRPr lang="zh-CN" altLang="en-US" sz="3600" kern="10" spc="1800" dirty="0">
              <a:ln w="9525">
                <a:round/>
              </a:ln>
              <a:latin typeface="隶书" panose="02010509060101010101" pitchFamily="49" charset="-122"/>
              <a:ea typeface="隶书" panose="02010509060101010101" pitchFamily="49" charset="-122"/>
            </a:endParaRPr>
          </a:p>
        </p:txBody>
      </p:sp>
      <p:pic>
        <p:nvPicPr>
          <p:cNvPr id="687109" name="Picture 5" descr="BS00975_"/>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7596336" y="188640"/>
            <a:ext cx="1295400" cy="11287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6" name="Rectangle 2"/>
          <p:cNvSpPr>
            <a:spLocks noGrp="1" noChangeArrowheads="1"/>
          </p:cNvSpPr>
          <p:nvPr>
            <p:ph type="title"/>
          </p:nvPr>
        </p:nvSpPr>
        <p:spPr bwMode="auto">
          <a:xfrm>
            <a:off x="611560" y="2060848"/>
            <a:ext cx="7990656" cy="12954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a:pPr>
            <a:r>
              <a:rPr lang="zh-CN" altLang="en-US" sz="6000" b="1" dirty="0" smtClean="0">
                <a:ea typeface="华文彩云" panose="02010800040101010101" pitchFamily="2" charset="-122"/>
              </a:rPr>
              <a:t>基类和派生类</a:t>
            </a:r>
            <a:endParaRPr lang="zh-CN" altLang="en-US" sz="6000" dirty="0"/>
          </a:p>
        </p:txBody>
      </p:sp>
      <p:pic>
        <p:nvPicPr>
          <p:cNvPr id="641032" name="Picture 8" descr="surfer4"/>
          <p:cNvPicPr>
            <a:picLocks noChangeAspect="1" noChangeArrowheads="1" noCrop="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372200" y="3933056"/>
            <a:ext cx="2000251" cy="2667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a:latin typeface="Times New Roman" panose="02020603050405020304" pitchFamily="18" charset="0"/>
                <a:ea typeface="隶书" panose="02010509060101010101" pitchFamily="49" charset="-122"/>
              </a:rPr>
              <a:t>7.1 </a:t>
            </a:r>
            <a:r>
              <a:rPr lang="zh-CN" altLang="en-US" sz="4400" b="1" dirty="0" smtClean="0">
                <a:latin typeface="Times New Roman" panose="02020603050405020304" pitchFamily="18" charset="0"/>
                <a:ea typeface="隶书" panose="02010509060101010101" pitchFamily="49" charset="-122"/>
              </a:rPr>
              <a:t>继承关系举例</a:t>
            </a:r>
            <a:endParaRPr lang="zh-CN" altLang="en-US" sz="4400" b="1" dirty="0">
              <a:latin typeface="Times New Roman" panose="02020603050405020304" pitchFamily="18" charset="0"/>
              <a:ea typeface="隶书" panose="02010509060101010101" pitchFamily="49" charset="-122"/>
            </a:endParaRPr>
          </a:p>
        </p:txBody>
      </p:sp>
      <p:sp>
        <p:nvSpPr>
          <p:cNvPr id="16387" name="内容占位符 2"/>
          <p:cNvSpPr>
            <a:spLocks noGrp="1"/>
          </p:cNvSpPr>
          <p:nvPr>
            <p:ph idx="1"/>
          </p:nvPr>
        </p:nvSpPr>
        <p:spPr>
          <a:xfrm>
            <a:off x="640488" y="1556792"/>
            <a:ext cx="7886700" cy="3672408"/>
          </a:xfrm>
        </p:spPr>
        <p:txBody>
          <a:bodyPr/>
          <a:lstStyle/>
          <a:p>
            <a:pPr>
              <a:lnSpc>
                <a:spcPct val="150000"/>
              </a:lnSpc>
              <a:spcAft>
                <a:spcPct val="25000"/>
              </a:spcAft>
            </a:pPr>
            <a:r>
              <a:rPr lang="zh-CN" altLang="en-US" sz="2400" b="1" dirty="0">
                <a:solidFill>
                  <a:srgbClr val="FFFF00"/>
                </a:solidFill>
                <a:ea typeface="华文楷体" panose="02010600040101010101" pitchFamily="2" charset="-122"/>
              </a:rPr>
              <a:t>继承与派生是同一过程从不同的角度</a:t>
            </a:r>
            <a:r>
              <a:rPr lang="zh-CN" altLang="en-US" sz="2400" b="1" dirty="0" smtClean="0">
                <a:solidFill>
                  <a:srgbClr val="FFFF00"/>
                </a:solidFill>
                <a:ea typeface="华文楷体" panose="02010600040101010101" pitchFamily="2" charset="-122"/>
              </a:rPr>
              <a:t>来看！</a:t>
            </a:r>
            <a:endParaRPr lang="en-US" altLang="zh-CN" sz="2400" b="1" dirty="0" smtClean="0">
              <a:solidFill>
                <a:srgbClr val="FFFF00"/>
              </a:solidFill>
              <a:ea typeface="华文楷体" panose="02010600040101010101" pitchFamily="2" charset="-122"/>
            </a:endParaRPr>
          </a:p>
          <a:p>
            <a:pPr>
              <a:lnSpc>
                <a:spcPct val="150000"/>
              </a:lnSpc>
              <a:spcAft>
                <a:spcPct val="25000"/>
              </a:spcAft>
            </a:pPr>
            <a:r>
              <a:rPr lang="zh-CN" altLang="en-US" sz="2400" b="1" dirty="0" smtClean="0">
                <a:ea typeface="华文楷体" panose="02010600040101010101" pitchFamily="2" charset="-122"/>
              </a:rPr>
              <a:t>被</a:t>
            </a:r>
            <a:r>
              <a:rPr lang="zh-CN" altLang="en-US" sz="2400" b="1" dirty="0">
                <a:ea typeface="华文楷体" panose="02010600040101010101" pitchFamily="2" charset="-122"/>
              </a:rPr>
              <a:t>继承的已有类称为基类（或父类）。</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派生出的新类称为派生类。</a:t>
            </a:r>
            <a:endParaRPr lang="en-US" altLang="zh-CN"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直接参与派生出某类的基类称为直接基类，基类的基类甚至更高层的基类称为间接基类。</a:t>
            </a:r>
            <a:endParaRPr lang="en-US" altLang="zh-CN" sz="2400" b="1" dirty="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4294967295"/>
          </p:nvPr>
        </p:nvSpPr>
        <p:spPr>
          <a:xfrm>
            <a:off x="6553200" y="6248400"/>
            <a:ext cx="2133600" cy="457200"/>
          </a:xfrm>
          <a:prstGeom prst="rect">
            <a:avLst/>
          </a:prstGeom>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eaLnBrk="1" hangingPunct="1"/>
            <a:r>
              <a:rPr lang="en-US" altLang="zh-CN" sz="1200" b="0">
                <a:solidFill>
                  <a:schemeClr val="tx1"/>
                </a:solidFill>
                <a:latin typeface="Verdana" panose="020B0604030504040204" pitchFamily="34" charset="0"/>
                <a:ea typeface="宋体" panose="02010600030101010101" pitchFamily="2" charset="-122"/>
              </a:rPr>
              <a:t> </a:t>
            </a:r>
            <a:endParaRPr lang="en-US" altLang="zh-CN" sz="1200" b="0">
              <a:solidFill>
                <a:schemeClr val="tx1"/>
              </a:solidFill>
              <a:latin typeface="Verdana" panose="020B0604030504040204" pitchFamily="34" charset="0"/>
              <a:ea typeface="宋体" panose="02010600030101010101" pitchFamily="2" charset="-122"/>
            </a:endParaRPr>
          </a:p>
        </p:txBody>
      </p:sp>
      <p:sp>
        <p:nvSpPr>
          <p:cNvPr id="11267" name="Rectangle 2"/>
          <p:cNvSpPr>
            <a:spLocks noChangeArrowheads="1"/>
          </p:cNvSpPr>
          <p:nvPr/>
        </p:nvSpPr>
        <p:spPr bwMode="auto">
          <a:xfrm>
            <a:off x="1258888" y="260350"/>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eaLnBrk="1" hangingPunct="1"/>
            <a:r>
              <a:rPr lang="en-US" altLang="zh-CN" sz="4400" i="1" dirty="0">
                <a:solidFill>
                  <a:srgbClr val="FFFFFF"/>
                </a:solidFill>
                <a:effectLst>
                  <a:outerShdw blurRad="38100" dist="38100" dir="2700000" algn="tl">
                    <a:srgbClr val="000000"/>
                  </a:outerShdw>
                </a:effectLst>
                <a:cs typeface="+mj-cs"/>
              </a:rPr>
              <a:t>7.1 </a:t>
            </a:r>
            <a:r>
              <a:rPr lang="zh-CN" altLang="en-US" sz="4400" i="1" dirty="0" smtClean="0">
                <a:solidFill>
                  <a:srgbClr val="FFFFFF"/>
                </a:solidFill>
                <a:effectLst>
                  <a:outerShdw blurRad="38100" dist="38100" dir="2700000" algn="tl">
                    <a:srgbClr val="000000"/>
                  </a:outerShdw>
                </a:effectLst>
                <a:cs typeface="+mj-cs"/>
              </a:rPr>
              <a:t>继承关系举例</a:t>
            </a:r>
            <a:endParaRPr lang="zh-CN" altLang="en-US" sz="3600" dirty="0"/>
          </a:p>
        </p:txBody>
      </p:sp>
      <p:sp>
        <p:nvSpPr>
          <p:cNvPr id="124954" name="Text Box 26"/>
          <p:cNvSpPr txBox="1">
            <a:spLocks noChangeArrowheads="1"/>
          </p:cNvSpPr>
          <p:nvPr/>
        </p:nvSpPr>
        <p:spPr bwMode="auto">
          <a:xfrm>
            <a:off x="971550" y="2420888"/>
            <a:ext cx="7145338" cy="2947218"/>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lnSpc>
                <a:spcPct val="200000"/>
              </a:lnSpc>
              <a:buClr>
                <a:srgbClr val="00B0F0"/>
              </a:buClr>
              <a:buSzPct val="65000"/>
              <a:buFont typeface="Wingdings" panose="05000000000000000000" pitchFamily="2" charset="2"/>
              <a:buChar char="u"/>
            </a:pPr>
            <a:r>
              <a:rPr kumimoji="1" lang="en-US" altLang="zh-CN" sz="2400">
                <a:solidFill>
                  <a:srgbClr val="FF0000"/>
                </a:solidFill>
                <a:ea typeface="华文楷体" panose="02010600040101010101" pitchFamily="2" charset="-122"/>
                <a:sym typeface="Symbol" panose="05050102010706020507" pitchFamily="18" charset="2"/>
              </a:rPr>
              <a:t> </a:t>
            </a:r>
            <a:r>
              <a:rPr kumimoji="1" lang="zh-CN" altLang="en-US" sz="2400">
                <a:solidFill>
                  <a:schemeClr val="tx1"/>
                </a:solidFill>
                <a:ea typeface="华文楷体" panose="02010600040101010101" pitchFamily="2" charset="-122"/>
              </a:rPr>
              <a:t>派生类可以具有基类的特性</a:t>
            </a:r>
            <a:endParaRPr kumimoji="1" lang="zh-CN" altLang="en-US" sz="2400">
              <a:solidFill>
                <a:schemeClr val="tx1"/>
              </a:solidFill>
              <a:ea typeface="华文楷体" panose="02010600040101010101" pitchFamily="2" charset="-122"/>
            </a:endParaRPr>
          </a:p>
          <a:p>
            <a:pPr algn="l" eaLnBrk="1" hangingPunct="1">
              <a:lnSpc>
                <a:spcPct val="200000"/>
              </a:lnSpc>
              <a:buClr>
                <a:srgbClr val="00B0F0"/>
              </a:buClr>
              <a:buSzPct val="65000"/>
              <a:buFont typeface="Wingdings" panose="05000000000000000000" pitchFamily="2" charset="2"/>
              <a:buChar char="u"/>
            </a:pPr>
            <a:r>
              <a:rPr kumimoji="1" lang="zh-CN" altLang="en-US" sz="2400">
                <a:solidFill>
                  <a:schemeClr val="tx1"/>
                </a:solidFill>
                <a:ea typeface="华文楷体" panose="02010600040101010101" pitchFamily="2" charset="-122"/>
              </a:rPr>
              <a:t> 共享基类的成员函数，使用基类的数据成员</a:t>
            </a:r>
            <a:endParaRPr kumimoji="1" lang="zh-CN" altLang="en-US" sz="2400">
              <a:solidFill>
                <a:schemeClr val="tx1"/>
              </a:solidFill>
              <a:ea typeface="华文楷体" panose="02010600040101010101" pitchFamily="2" charset="-122"/>
            </a:endParaRPr>
          </a:p>
          <a:p>
            <a:pPr algn="l" eaLnBrk="1" hangingPunct="1">
              <a:lnSpc>
                <a:spcPct val="200000"/>
              </a:lnSpc>
              <a:buClr>
                <a:srgbClr val="00B0F0"/>
              </a:buClr>
              <a:buSzPct val="65000"/>
              <a:buFont typeface="Wingdings" panose="05000000000000000000" pitchFamily="2" charset="2"/>
              <a:buChar char="u"/>
            </a:pPr>
            <a:r>
              <a:rPr kumimoji="1" lang="zh-CN" altLang="en-US" sz="2400">
                <a:solidFill>
                  <a:schemeClr val="tx1"/>
                </a:solidFill>
                <a:ea typeface="华文楷体" panose="02010600040101010101" pitchFamily="2" charset="-122"/>
              </a:rPr>
              <a:t> 还可以定义自己的新特性</a:t>
            </a:r>
            <a:endParaRPr kumimoji="1" lang="zh-CN" altLang="en-US" sz="2400">
              <a:solidFill>
                <a:schemeClr val="tx1"/>
              </a:solidFill>
              <a:ea typeface="华文楷体" panose="02010600040101010101" pitchFamily="2" charset="-122"/>
            </a:endParaRPr>
          </a:p>
          <a:p>
            <a:pPr algn="l" eaLnBrk="1" hangingPunct="1">
              <a:lnSpc>
                <a:spcPct val="200000"/>
              </a:lnSpc>
              <a:buClr>
                <a:srgbClr val="00B0F0"/>
              </a:buClr>
              <a:buSzPct val="65000"/>
              <a:buFont typeface="Wingdings" panose="05000000000000000000" pitchFamily="2" charset="2"/>
              <a:buChar char="u"/>
            </a:pPr>
            <a:r>
              <a:rPr kumimoji="1" lang="zh-CN" altLang="en-US" sz="2400">
                <a:solidFill>
                  <a:schemeClr val="tx1"/>
                </a:solidFill>
                <a:ea typeface="华文楷体" panose="02010600040101010101" pitchFamily="2" charset="-122"/>
              </a:rPr>
              <a:t> 定义自己的数据成员和成员函数</a:t>
            </a:r>
            <a:endParaRPr kumimoji="1" lang="zh-CN" altLang="en-US" sz="2400">
              <a:solidFill>
                <a:schemeClr val="tx1"/>
              </a:solidFill>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2000"/>
                                  </p:stCondLst>
                                  <p:iterate type="lt">
                                    <p:tmPct val="100000"/>
                                  </p:iterate>
                                  <p:childTnLst>
                                    <p:set>
                                      <p:cBhvr>
                                        <p:cTn id="6" dur="1" fill="hold">
                                          <p:stCondLst>
                                            <p:cond delay="0"/>
                                          </p:stCondLst>
                                        </p:cTn>
                                        <p:tgtEl>
                                          <p:spTgt spid="124954">
                                            <p:txEl>
                                              <p:pRg st="0" end="0"/>
                                            </p:txEl>
                                          </p:spTgt>
                                        </p:tgtEl>
                                        <p:attrNameLst>
                                          <p:attrName>style.visibility</p:attrName>
                                        </p:attrNameLst>
                                      </p:cBhvr>
                                      <p:to>
                                        <p:strVal val="visible"/>
                                      </p:to>
                                    </p:set>
                                    <p:animEffect transition="in" filter="checkerboard(across)">
                                      <p:cBhvr>
                                        <p:cTn id="7" dur="75"/>
                                        <p:tgtEl>
                                          <p:spTgt spid="124954">
                                            <p:txEl>
                                              <p:pRg st="0" end="0"/>
                                            </p:txEl>
                                          </p:spTgt>
                                        </p:tgtEl>
                                      </p:cBhvr>
                                    </p:animEffect>
                                  </p:childTnLst>
                                </p:cTn>
                              </p:par>
                            </p:childTnLst>
                          </p:cTn>
                        </p:par>
                        <p:par>
                          <p:cTn id="8" fill="hold">
                            <p:stCondLst>
                              <p:cond delay="2974"/>
                            </p:stCondLst>
                            <p:childTnLst>
                              <p:par>
                                <p:cTn id="9" presetID="5" presetClass="entr" presetSubtype="10" fill="hold" grpId="0" nodeType="afterEffect">
                                  <p:stCondLst>
                                    <p:cond delay="2000"/>
                                  </p:stCondLst>
                                  <p:iterate type="lt">
                                    <p:tmPct val="100000"/>
                                  </p:iterate>
                                  <p:childTnLst>
                                    <p:set>
                                      <p:cBhvr>
                                        <p:cTn id="10" dur="1" fill="hold">
                                          <p:stCondLst>
                                            <p:cond delay="0"/>
                                          </p:stCondLst>
                                        </p:cTn>
                                        <p:tgtEl>
                                          <p:spTgt spid="124954">
                                            <p:txEl>
                                              <p:pRg st="1" end="1"/>
                                            </p:txEl>
                                          </p:spTgt>
                                        </p:tgtEl>
                                        <p:attrNameLst>
                                          <p:attrName>style.visibility</p:attrName>
                                        </p:attrNameLst>
                                      </p:cBhvr>
                                      <p:to>
                                        <p:strVal val="visible"/>
                                      </p:to>
                                    </p:set>
                                    <p:animEffect transition="in" filter="checkerboard(across)">
                                      <p:cBhvr>
                                        <p:cTn id="11" dur="75"/>
                                        <p:tgtEl>
                                          <p:spTgt spid="124954">
                                            <p:txEl>
                                              <p:pRg st="1" end="1"/>
                                            </p:txEl>
                                          </p:spTgt>
                                        </p:tgtEl>
                                      </p:cBhvr>
                                    </p:animEffect>
                                  </p:childTnLst>
                                </p:cTn>
                              </p:par>
                            </p:childTnLst>
                          </p:cTn>
                        </p:par>
                        <p:par>
                          <p:cTn id="12" fill="hold">
                            <p:stCondLst>
                              <p:cond delay="6474"/>
                            </p:stCondLst>
                            <p:childTnLst>
                              <p:par>
                                <p:cTn id="13" presetID="5" presetClass="entr" presetSubtype="10" fill="hold" grpId="0" nodeType="afterEffect">
                                  <p:stCondLst>
                                    <p:cond delay="2000"/>
                                  </p:stCondLst>
                                  <p:iterate type="lt">
                                    <p:tmPct val="100000"/>
                                  </p:iterate>
                                  <p:childTnLst>
                                    <p:set>
                                      <p:cBhvr>
                                        <p:cTn id="14" dur="1" fill="hold">
                                          <p:stCondLst>
                                            <p:cond delay="0"/>
                                          </p:stCondLst>
                                        </p:cTn>
                                        <p:tgtEl>
                                          <p:spTgt spid="124954">
                                            <p:txEl>
                                              <p:pRg st="2" end="2"/>
                                            </p:txEl>
                                          </p:spTgt>
                                        </p:tgtEl>
                                        <p:attrNameLst>
                                          <p:attrName>style.visibility</p:attrName>
                                        </p:attrNameLst>
                                      </p:cBhvr>
                                      <p:to>
                                        <p:strVal val="visible"/>
                                      </p:to>
                                    </p:set>
                                    <p:animEffect transition="in" filter="checkerboard(across)">
                                      <p:cBhvr>
                                        <p:cTn id="15" dur="75"/>
                                        <p:tgtEl>
                                          <p:spTgt spid="124954">
                                            <p:txEl>
                                              <p:pRg st="2" end="2"/>
                                            </p:txEl>
                                          </p:spTgt>
                                        </p:tgtEl>
                                      </p:cBhvr>
                                    </p:animEffect>
                                  </p:childTnLst>
                                </p:cTn>
                              </p:par>
                            </p:childTnLst>
                          </p:cTn>
                        </p:par>
                        <p:par>
                          <p:cTn id="16" fill="hold">
                            <p:stCondLst>
                              <p:cond delay="9375"/>
                            </p:stCondLst>
                            <p:childTnLst>
                              <p:par>
                                <p:cTn id="17" presetID="5" presetClass="entr" presetSubtype="10" fill="hold" grpId="0" nodeType="afterEffect">
                                  <p:stCondLst>
                                    <p:cond delay="2000"/>
                                  </p:stCondLst>
                                  <p:iterate type="lt">
                                    <p:tmPct val="100000"/>
                                  </p:iterate>
                                  <p:childTnLst>
                                    <p:set>
                                      <p:cBhvr>
                                        <p:cTn id="18" dur="1" fill="hold">
                                          <p:stCondLst>
                                            <p:cond delay="0"/>
                                          </p:stCondLst>
                                        </p:cTn>
                                        <p:tgtEl>
                                          <p:spTgt spid="124954">
                                            <p:txEl>
                                              <p:pRg st="3" end="3"/>
                                            </p:txEl>
                                          </p:spTgt>
                                        </p:tgtEl>
                                        <p:attrNameLst>
                                          <p:attrName>style.visibility</p:attrName>
                                        </p:attrNameLst>
                                      </p:cBhvr>
                                      <p:to>
                                        <p:strVal val="visible"/>
                                      </p:to>
                                    </p:set>
                                    <p:animEffect transition="in" filter="checkerboard(across)">
                                      <p:cBhvr>
                                        <p:cTn id="19" dur="75"/>
                                        <p:tgtEl>
                                          <p:spTgt spid="12495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54" grpId="0" advAuto="2000" autoUpdateAnimBg="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eaLnBrk="1" hangingPunct="1"/>
            <a:r>
              <a:rPr lang="en-US" altLang="zh-CN" sz="1200" b="0">
                <a:solidFill>
                  <a:schemeClr val="tx1"/>
                </a:solidFill>
                <a:latin typeface="Verdana" panose="020B0604030504040204" pitchFamily="34" charset="0"/>
                <a:ea typeface="宋体" panose="02010600030101010101" pitchFamily="2" charset="-122"/>
              </a:rPr>
              <a:t> </a:t>
            </a:r>
            <a:endParaRPr lang="en-US" altLang="zh-CN" sz="1200" b="0">
              <a:solidFill>
                <a:schemeClr val="tx1"/>
              </a:solidFill>
              <a:latin typeface="Verdana" panose="020B0604030504040204" pitchFamily="34" charset="0"/>
              <a:ea typeface="宋体" panose="02010600030101010101" pitchFamily="2" charset="-122"/>
            </a:endParaRPr>
          </a:p>
        </p:txBody>
      </p:sp>
      <p:sp>
        <p:nvSpPr>
          <p:cNvPr id="1028" name="Rectangle 2"/>
          <p:cNvSpPr>
            <a:spLocks noGrp="1" noChangeArrowheads="1"/>
          </p:cNvSpPr>
          <p:nvPr>
            <p:ph type="title"/>
          </p:nvPr>
        </p:nvSpPr>
        <p:spPr>
          <a:xfrm>
            <a:off x="533400" y="228600"/>
            <a:ext cx="7772400" cy="1143000"/>
          </a:xfrm>
        </p:spPr>
        <p:txBody>
          <a:bodyPr/>
          <a:lstStyle/>
          <a:p>
            <a:pPr algn="ctr" eaLnBrk="1" hangingPunct="1"/>
            <a:r>
              <a:rPr lang="zh-CN" altLang="en-US" sz="4000" b="1" dirty="0" smtClean="0">
                <a:latin typeface="Times New Roman" panose="02020603050405020304" pitchFamily="18" charset="0"/>
                <a:ea typeface="隶书" panose="02010509060101010101" pitchFamily="49" charset="-122"/>
              </a:rPr>
              <a:t>单继承</a:t>
            </a:r>
            <a:endParaRPr lang="zh-CN" altLang="en-US" sz="4000" b="1" dirty="0" smtClean="0">
              <a:latin typeface="Times New Roman" panose="02020603050405020304" pitchFamily="18" charset="0"/>
              <a:ea typeface="隶书" panose="02010509060101010101" pitchFamily="49" charset="-122"/>
            </a:endParaRPr>
          </a:p>
        </p:txBody>
      </p:sp>
      <p:graphicFrame>
        <p:nvGraphicFramePr>
          <p:cNvPr id="1026" name="Object 3"/>
          <p:cNvGraphicFramePr>
            <a:graphicFrameLocks noGrp="1" noChangeAspect="1"/>
          </p:cNvGraphicFramePr>
          <p:nvPr>
            <p:ph type="pic" idx="1"/>
          </p:nvPr>
        </p:nvGraphicFramePr>
        <p:xfrm>
          <a:off x="684213" y="1773238"/>
          <a:ext cx="5270500" cy="4305300"/>
        </p:xfrm>
        <a:graphic>
          <a:graphicData uri="http://schemas.openxmlformats.org/presentationml/2006/ole">
            <mc:AlternateContent xmlns:mc="http://schemas.openxmlformats.org/markup-compatibility/2006">
              <mc:Choice xmlns:v="urn:schemas-microsoft-com:vml" Requires="v">
                <p:oleObj spid="_x0000_s604278" name="MS Org Chart" r:id="rId1" imgW="4535170" imgH="3706495" progId="OrgPlusWOPX.4">
                  <p:embed followColorScheme="full"/>
                </p:oleObj>
              </mc:Choice>
              <mc:Fallback>
                <p:oleObj name="MS Org Chart" r:id="rId1" imgW="4535170" imgH="3706495" progId="OrgPlusWOPX.4">
                  <p:embed followColorScheme="full"/>
                  <p:pic>
                    <p:nvPicPr>
                      <p:cNvPr id="0" name="Picture 66"/>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1773238"/>
                        <a:ext cx="5270500" cy="43053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01" name="Text Box 5"/>
          <p:cNvSpPr txBox="1">
            <a:spLocks noChangeArrowheads="1"/>
          </p:cNvSpPr>
          <p:nvPr/>
        </p:nvSpPr>
        <p:spPr bwMode="auto">
          <a:xfrm>
            <a:off x="6372225" y="1844675"/>
            <a:ext cx="2160588" cy="195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lnSpc>
                <a:spcPct val="170000"/>
              </a:lnSpc>
              <a:buClr>
                <a:srgbClr val="000099"/>
              </a:buClr>
              <a:buSzPct val="65000"/>
            </a:pPr>
            <a:r>
              <a:rPr kumimoji="1" lang="en-US" altLang="zh-CN" sz="2400">
                <a:solidFill>
                  <a:srgbClr val="FFFF00"/>
                </a:solidFill>
                <a:ea typeface="华文楷体" panose="02010600040101010101" pitchFamily="2" charset="-122"/>
                <a:sym typeface="Symbol" panose="05050102010706020507" pitchFamily="18" charset="2"/>
              </a:rPr>
              <a:t> </a:t>
            </a:r>
            <a:r>
              <a:rPr kumimoji="1" lang="zh-CN" altLang="en-US" sz="2400">
                <a:solidFill>
                  <a:srgbClr val="FFFF00"/>
                </a:solidFill>
                <a:ea typeface="华文楷体" panose="02010600040101010101" pitchFamily="2" charset="-122"/>
              </a:rPr>
              <a:t>单继承：从一个基类派生的称为单继承</a:t>
            </a:r>
            <a:endParaRPr kumimoji="1" lang="zh-CN" altLang="en-US" sz="2400">
              <a:solidFill>
                <a:srgbClr val="FFFF00"/>
              </a:solidFill>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2000"/>
                                  </p:stCondLst>
                                  <p:iterate type="lt">
                                    <p:tmPct val="100000"/>
                                  </p:iterate>
                                  <p:childTnLst>
                                    <p:set>
                                      <p:cBhvr>
                                        <p:cTn id="6" dur="1" fill="hold">
                                          <p:stCondLst>
                                            <p:cond delay="0"/>
                                          </p:stCondLst>
                                        </p:cTn>
                                        <p:tgtEl>
                                          <p:spTgt spid="29701">
                                            <p:txEl>
                                              <p:pRg st="0" end="0"/>
                                            </p:txEl>
                                          </p:spTgt>
                                        </p:tgtEl>
                                        <p:attrNameLst>
                                          <p:attrName>style.visibility</p:attrName>
                                        </p:attrNameLst>
                                      </p:cBhvr>
                                      <p:to>
                                        <p:strVal val="visible"/>
                                      </p:to>
                                    </p:set>
                                    <p:animEffect transition="in" filter="checkerboard(across)">
                                      <p:cBhvr>
                                        <p:cTn id="7" dur="75"/>
                                        <p:tgtEl>
                                          <p:spTgt spid="2970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1" grpId="0" advAuto="2000" autoUpdateAnimBg="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4"/>
          <p:cNvSpPr>
            <a:spLocks noGrp="1"/>
          </p:cNvSpPr>
          <p:nvPr>
            <p:ph type="sldNum" sz="quarter" idx="11"/>
          </p:nvPr>
        </p:nvSpPr>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eaLnBrk="1" hangingPunct="1"/>
            <a:r>
              <a:rPr lang="en-US" altLang="zh-CN" sz="1200" b="0">
                <a:solidFill>
                  <a:schemeClr val="tx1"/>
                </a:solidFill>
                <a:latin typeface="Verdana" panose="020B0604030504040204" pitchFamily="34" charset="0"/>
                <a:ea typeface="宋体" panose="02010600030101010101" pitchFamily="2" charset="-122"/>
              </a:rPr>
              <a:t> </a:t>
            </a:r>
            <a:endParaRPr lang="en-US" altLang="zh-CN" sz="1200" b="0">
              <a:solidFill>
                <a:schemeClr val="tx1"/>
              </a:solidFill>
              <a:latin typeface="Verdana" panose="020B0604030504040204" pitchFamily="34" charset="0"/>
              <a:ea typeface="宋体" panose="02010600030101010101" pitchFamily="2" charset="-122"/>
            </a:endParaRPr>
          </a:p>
        </p:txBody>
      </p:sp>
      <p:sp>
        <p:nvSpPr>
          <p:cNvPr id="12291" name="Rectangle 2"/>
          <p:cNvSpPr>
            <a:spLocks noGrp="1" noChangeArrowheads="1"/>
          </p:cNvSpPr>
          <p:nvPr>
            <p:ph type="title"/>
          </p:nvPr>
        </p:nvSpPr>
        <p:spPr>
          <a:xfrm>
            <a:off x="533400" y="228600"/>
            <a:ext cx="7772400" cy="1143000"/>
          </a:xfrm>
        </p:spPr>
        <p:txBody>
          <a:bodyPr/>
          <a:lstStyle/>
          <a:p>
            <a:pPr algn="ctr" eaLnBrk="1" hangingPunct="1"/>
            <a:r>
              <a:rPr lang="zh-CN" altLang="en-US" sz="4000" b="1" dirty="0" smtClean="0">
                <a:latin typeface="Times New Roman" panose="02020603050405020304" pitchFamily="18" charset="0"/>
                <a:ea typeface="隶书" panose="02010509060101010101" pitchFamily="49" charset="-122"/>
              </a:rPr>
              <a:t>多继承</a:t>
            </a:r>
            <a:endParaRPr lang="zh-CN" altLang="en-US" sz="4000" b="1" dirty="0" smtClean="0">
              <a:latin typeface="Times New Roman" panose="02020603050405020304" pitchFamily="18" charset="0"/>
              <a:ea typeface="隶书" panose="02010509060101010101" pitchFamily="49" charset="-122"/>
            </a:endParaRPr>
          </a:p>
        </p:txBody>
      </p:sp>
      <p:sp>
        <p:nvSpPr>
          <p:cNvPr id="187396" name="Text Box 4"/>
          <p:cNvSpPr txBox="1">
            <a:spLocks noChangeArrowheads="1"/>
          </p:cNvSpPr>
          <p:nvPr/>
        </p:nvSpPr>
        <p:spPr bwMode="auto">
          <a:xfrm>
            <a:off x="6227763" y="2149475"/>
            <a:ext cx="2160587" cy="257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spAutoFit/>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lnSpc>
                <a:spcPct val="170000"/>
              </a:lnSpc>
              <a:buClr>
                <a:srgbClr val="000099"/>
              </a:buClr>
              <a:buSzPct val="65000"/>
            </a:pPr>
            <a:r>
              <a:rPr kumimoji="1" lang="en-US" altLang="zh-CN" sz="2400" dirty="0">
                <a:solidFill>
                  <a:srgbClr val="FFFF00"/>
                </a:solidFill>
                <a:ea typeface="华文楷体" panose="02010600040101010101" pitchFamily="2" charset="-122"/>
                <a:sym typeface="Symbol" panose="05050102010706020507" pitchFamily="18" charset="2"/>
              </a:rPr>
              <a:t> </a:t>
            </a:r>
            <a:r>
              <a:rPr kumimoji="1" lang="zh-CN" altLang="en-US" sz="2400" dirty="0">
                <a:solidFill>
                  <a:srgbClr val="FFFF00"/>
                </a:solidFill>
                <a:ea typeface="华文楷体" panose="02010600040101010101" pitchFamily="2" charset="-122"/>
              </a:rPr>
              <a:t>多继承：从两个或多个基类派生的称为多继承</a:t>
            </a:r>
            <a:endParaRPr kumimoji="1" lang="zh-CN" altLang="en-US" sz="2400" dirty="0">
              <a:solidFill>
                <a:srgbClr val="FFFF00"/>
              </a:solidFill>
              <a:ea typeface="华文楷体" panose="02010600040101010101" pitchFamily="2" charset="-122"/>
            </a:endParaRPr>
          </a:p>
        </p:txBody>
      </p:sp>
      <p:sp>
        <p:nvSpPr>
          <p:cNvPr id="12293" name="AutoShape 20"/>
          <p:cNvSpPr>
            <a:spLocks noChangeArrowheads="1"/>
          </p:cNvSpPr>
          <p:nvPr/>
        </p:nvSpPr>
        <p:spPr bwMode="auto">
          <a:xfrm>
            <a:off x="1666875" y="2670175"/>
            <a:ext cx="1524000" cy="722313"/>
          </a:xfrm>
          <a:prstGeom prst="flowChartProcess">
            <a:avLst/>
          </a:prstGeom>
          <a:solidFill>
            <a:schemeClr val="accent1"/>
          </a:solidFill>
          <a:ln w="9525" algn="ctr">
            <a:solidFill>
              <a:schemeClr val="tx1"/>
            </a:solidFill>
            <a:miter lim="800000"/>
          </a:ln>
        </p:spPr>
        <p:txBody>
          <a:bodyPr wrap="none" lIns="90000" tIns="46800" rIns="90000" bIns="46800" anchor="ctr" anchorCtr="1"/>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eaLnBrk="1" hangingPunct="1">
              <a:lnSpc>
                <a:spcPct val="170000"/>
              </a:lnSpc>
              <a:buClr>
                <a:srgbClr val="000099"/>
              </a:buClr>
              <a:buSzPct val="65000"/>
              <a:buFont typeface="Wingdings" panose="05000000000000000000" pitchFamily="2" charset="2"/>
              <a:buNone/>
            </a:pPr>
            <a:r>
              <a:rPr kumimoji="1" lang="zh-CN" altLang="en-US" sz="2400" dirty="0">
                <a:solidFill>
                  <a:schemeClr val="tx1"/>
                </a:solidFill>
                <a:ea typeface="华文楷体" panose="02010600040101010101" pitchFamily="2" charset="-122"/>
              </a:rPr>
              <a:t>研究生</a:t>
            </a:r>
            <a:endParaRPr kumimoji="1" lang="zh-CN" altLang="en-US" sz="2400" dirty="0">
              <a:solidFill>
                <a:schemeClr val="tx1"/>
              </a:solidFill>
              <a:ea typeface="华文楷体" panose="02010600040101010101" pitchFamily="2" charset="-122"/>
            </a:endParaRPr>
          </a:p>
        </p:txBody>
      </p:sp>
      <p:sp>
        <p:nvSpPr>
          <p:cNvPr id="12294" name="AutoShape 21"/>
          <p:cNvSpPr>
            <a:spLocks noChangeArrowheads="1"/>
          </p:cNvSpPr>
          <p:nvPr/>
        </p:nvSpPr>
        <p:spPr bwMode="auto">
          <a:xfrm>
            <a:off x="958850" y="4506913"/>
            <a:ext cx="1524000" cy="722312"/>
          </a:xfrm>
          <a:prstGeom prst="flowChartProcess">
            <a:avLst/>
          </a:prstGeom>
          <a:solidFill>
            <a:schemeClr val="accent1"/>
          </a:solidFill>
          <a:ln w="9525" algn="ctr">
            <a:solidFill>
              <a:schemeClr val="tx1"/>
            </a:solidFill>
            <a:miter lim="800000"/>
          </a:ln>
        </p:spPr>
        <p:txBody>
          <a:bodyPr wrap="none" lIns="90000" tIns="46800" rIns="90000" bIns="46800" anchor="ctr" anchorCtr="1"/>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eaLnBrk="1" hangingPunct="1">
              <a:lnSpc>
                <a:spcPct val="170000"/>
              </a:lnSpc>
              <a:buClr>
                <a:srgbClr val="000099"/>
              </a:buClr>
              <a:buSzPct val="65000"/>
              <a:buFont typeface="Wingdings" panose="05000000000000000000" pitchFamily="2" charset="2"/>
              <a:buNone/>
            </a:pPr>
            <a:r>
              <a:rPr kumimoji="1" lang="zh-CN" altLang="en-US" sz="2400">
                <a:solidFill>
                  <a:schemeClr val="tx1"/>
                </a:solidFill>
                <a:ea typeface="华文楷体" panose="02010600040101010101" pitchFamily="2" charset="-122"/>
              </a:rPr>
              <a:t>在职研究生</a:t>
            </a:r>
            <a:endParaRPr kumimoji="1" lang="zh-CN" altLang="en-US" sz="2400">
              <a:solidFill>
                <a:schemeClr val="tx1"/>
              </a:solidFill>
              <a:ea typeface="华文楷体" panose="02010600040101010101" pitchFamily="2" charset="-122"/>
            </a:endParaRPr>
          </a:p>
        </p:txBody>
      </p:sp>
      <p:sp>
        <p:nvSpPr>
          <p:cNvPr id="12295" name="AutoShape 22"/>
          <p:cNvSpPr>
            <a:spLocks noChangeArrowheads="1"/>
          </p:cNvSpPr>
          <p:nvPr/>
        </p:nvSpPr>
        <p:spPr bwMode="auto">
          <a:xfrm>
            <a:off x="2687638" y="4506913"/>
            <a:ext cx="1524000" cy="722312"/>
          </a:xfrm>
          <a:prstGeom prst="flowChartProcess">
            <a:avLst/>
          </a:prstGeom>
          <a:solidFill>
            <a:schemeClr val="accent1"/>
          </a:solidFill>
          <a:ln w="9525" algn="ctr">
            <a:solidFill>
              <a:schemeClr val="tx1"/>
            </a:solidFill>
            <a:miter lim="800000"/>
          </a:ln>
        </p:spPr>
        <p:txBody>
          <a:bodyPr wrap="none" lIns="90000" tIns="46800" rIns="90000" bIns="46800" anchor="ctr" anchorCtr="1"/>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eaLnBrk="1" hangingPunct="1">
              <a:lnSpc>
                <a:spcPct val="170000"/>
              </a:lnSpc>
              <a:buClr>
                <a:srgbClr val="000099"/>
              </a:buClr>
              <a:buSzPct val="65000"/>
              <a:buFont typeface="Wingdings" panose="05000000000000000000" pitchFamily="2" charset="2"/>
              <a:buNone/>
            </a:pPr>
            <a:r>
              <a:rPr kumimoji="1" lang="zh-CN" altLang="en-US" sz="2400">
                <a:solidFill>
                  <a:schemeClr val="tx1"/>
                </a:solidFill>
                <a:ea typeface="华文楷体" panose="02010600040101010101" pitchFamily="2" charset="-122"/>
              </a:rPr>
              <a:t>教师</a:t>
            </a:r>
            <a:endParaRPr kumimoji="1" lang="zh-CN" altLang="en-US" sz="2400">
              <a:solidFill>
                <a:schemeClr val="tx1"/>
              </a:solidFill>
              <a:ea typeface="华文楷体" panose="02010600040101010101" pitchFamily="2" charset="-122"/>
            </a:endParaRPr>
          </a:p>
        </p:txBody>
      </p:sp>
      <p:sp>
        <p:nvSpPr>
          <p:cNvPr id="12296" name="AutoShape 23"/>
          <p:cNvSpPr>
            <a:spLocks noChangeArrowheads="1"/>
          </p:cNvSpPr>
          <p:nvPr/>
        </p:nvSpPr>
        <p:spPr bwMode="auto">
          <a:xfrm>
            <a:off x="4343400" y="4506913"/>
            <a:ext cx="1524000" cy="722312"/>
          </a:xfrm>
          <a:prstGeom prst="flowChartProcess">
            <a:avLst/>
          </a:prstGeom>
          <a:solidFill>
            <a:schemeClr val="accent1"/>
          </a:solidFill>
          <a:ln w="9525" algn="ctr">
            <a:solidFill>
              <a:schemeClr val="tx1"/>
            </a:solidFill>
            <a:miter lim="800000"/>
          </a:ln>
        </p:spPr>
        <p:txBody>
          <a:bodyPr wrap="none" lIns="90000" tIns="46800" rIns="90000" bIns="46800" anchor="ctr" anchorCtr="1"/>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eaLnBrk="1" hangingPunct="1">
              <a:lnSpc>
                <a:spcPct val="170000"/>
              </a:lnSpc>
              <a:buClr>
                <a:srgbClr val="000099"/>
              </a:buClr>
              <a:buSzPct val="65000"/>
              <a:buFont typeface="Wingdings" panose="05000000000000000000" pitchFamily="2" charset="2"/>
              <a:buNone/>
            </a:pPr>
            <a:r>
              <a:rPr kumimoji="1" lang="zh-CN" altLang="en-US" sz="2400">
                <a:solidFill>
                  <a:schemeClr val="tx1"/>
                </a:solidFill>
                <a:ea typeface="华文楷体" panose="02010600040101010101" pitchFamily="2" charset="-122"/>
              </a:rPr>
              <a:t>职员</a:t>
            </a:r>
            <a:endParaRPr kumimoji="1" lang="zh-CN" altLang="en-US" sz="2400">
              <a:solidFill>
                <a:schemeClr val="tx1"/>
              </a:solidFill>
              <a:ea typeface="华文楷体" panose="02010600040101010101" pitchFamily="2" charset="-122"/>
            </a:endParaRPr>
          </a:p>
        </p:txBody>
      </p:sp>
      <p:sp>
        <p:nvSpPr>
          <p:cNvPr id="12297" name="AutoShape 24"/>
          <p:cNvSpPr>
            <a:spLocks noChangeArrowheads="1"/>
          </p:cNvSpPr>
          <p:nvPr/>
        </p:nvSpPr>
        <p:spPr bwMode="auto">
          <a:xfrm>
            <a:off x="3622675" y="2705100"/>
            <a:ext cx="1524000" cy="722313"/>
          </a:xfrm>
          <a:prstGeom prst="flowChartProcess">
            <a:avLst/>
          </a:prstGeom>
          <a:solidFill>
            <a:schemeClr val="accent1"/>
          </a:solidFill>
          <a:ln w="9525" algn="ctr">
            <a:solidFill>
              <a:schemeClr val="tx1"/>
            </a:solidFill>
            <a:miter lim="800000"/>
          </a:ln>
        </p:spPr>
        <p:txBody>
          <a:bodyPr wrap="none" lIns="90000" tIns="46800" rIns="90000" bIns="46800" anchor="ctr" anchorCtr="1"/>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eaLnBrk="1" hangingPunct="1">
              <a:lnSpc>
                <a:spcPct val="170000"/>
              </a:lnSpc>
              <a:buClr>
                <a:srgbClr val="000099"/>
              </a:buClr>
              <a:buSzPct val="65000"/>
              <a:buFont typeface="Wingdings" panose="05000000000000000000" pitchFamily="2" charset="2"/>
              <a:buNone/>
            </a:pPr>
            <a:r>
              <a:rPr kumimoji="1" lang="zh-CN" altLang="en-US" sz="2400" dirty="0">
                <a:solidFill>
                  <a:schemeClr val="tx1"/>
                </a:solidFill>
                <a:ea typeface="华文楷体" panose="02010600040101010101" pitchFamily="2" charset="-122"/>
              </a:rPr>
              <a:t>在职人员</a:t>
            </a:r>
            <a:endParaRPr kumimoji="1" lang="zh-CN" altLang="en-US" sz="2400" dirty="0">
              <a:solidFill>
                <a:schemeClr val="tx1"/>
              </a:solidFill>
              <a:ea typeface="华文楷体" panose="02010600040101010101" pitchFamily="2" charset="-122"/>
            </a:endParaRPr>
          </a:p>
        </p:txBody>
      </p:sp>
      <p:cxnSp>
        <p:nvCxnSpPr>
          <p:cNvPr id="12298" name="AutoShape 25"/>
          <p:cNvCxnSpPr>
            <a:cxnSpLocks noChangeShapeType="1"/>
            <a:stCxn id="12294" idx="0"/>
            <a:endCxn id="12297" idx="2"/>
          </p:cNvCxnSpPr>
          <p:nvPr/>
        </p:nvCxnSpPr>
        <p:spPr bwMode="auto">
          <a:xfrm rot="-5400000">
            <a:off x="2513013" y="2635250"/>
            <a:ext cx="1079500" cy="2663825"/>
          </a:xfrm>
          <a:prstGeom prst="bentConnector3">
            <a:avLst>
              <a:gd name="adj1" fmla="val 50000"/>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12299" name="AutoShape 30"/>
          <p:cNvCxnSpPr>
            <a:cxnSpLocks noChangeShapeType="1"/>
            <a:stCxn id="12295" idx="0"/>
            <a:endCxn id="12297" idx="2"/>
          </p:cNvCxnSpPr>
          <p:nvPr/>
        </p:nvCxnSpPr>
        <p:spPr bwMode="auto">
          <a:xfrm rot="-5400000">
            <a:off x="3377407" y="3499644"/>
            <a:ext cx="1079500" cy="935037"/>
          </a:xfrm>
          <a:prstGeom prst="bentConnector3">
            <a:avLst>
              <a:gd name="adj1" fmla="val 50000"/>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12300" name="AutoShape 31"/>
          <p:cNvCxnSpPr>
            <a:cxnSpLocks noChangeShapeType="1"/>
            <a:stCxn id="12296" idx="0"/>
            <a:endCxn id="12297" idx="2"/>
          </p:cNvCxnSpPr>
          <p:nvPr/>
        </p:nvCxnSpPr>
        <p:spPr bwMode="auto">
          <a:xfrm rot="5400000" flipH="1">
            <a:off x="4205288" y="3606800"/>
            <a:ext cx="1079500" cy="720725"/>
          </a:xfrm>
          <a:prstGeom prst="bentConnector3">
            <a:avLst>
              <a:gd name="adj1" fmla="val 50000"/>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cxnSp>
        <p:nvCxnSpPr>
          <p:cNvPr id="12301" name="AutoShape 32"/>
          <p:cNvCxnSpPr>
            <a:cxnSpLocks noChangeShapeType="1"/>
            <a:stCxn id="12294" idx="1"/>
            <a:endCxn id="12293" idx="1"/>
          </p:cNvCxnSpPr>
          <p:nvPr/>
        </p:nvCxnSpPr>
        <p:spPr bwMode="auto">
          <a:xfrm rot="10800000" flipH="1">
            <a:off x="958850" y="3032125"/>
            <a:ext cx="708025" cy="1836738"/>
          </a:xfrm>
          <a:prstGeom prst="bentConnector3">
            <a:avLst>
              <a:gd name="adj1" fmla="val -32287"/>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2000"/>
                                  </p:stCondLst>
                                  <p:iterate type="lt">
                                    <p:tmPct val="100000"/>
                                  </p:iterate>
                                  <p:childTnLst>
                                    <p:set>
                                      <p:cBhvr>
                                        <p:cTn id="6" dur="1" fill="hold">
                                          <p:stCondLst>
                                            <p:cond delay="0"/>
                                          </p:stCondLst>
                                        </p:cTn>
                                        <p:tgtEl>
                                          <p:spTgt spid="187396">
                                            <p:txEl>
                                              <p:pRg st="0" end="0"/>
                                            </p:txEl>
                                          </p:spTgt>
                                        </p:tgtEl>
                                        <p:attrNameLst>
                                          <p:attrName>style.visibility</p:attrName>
                                        </p:attrNameLst>
                                      </p:cBhvr>
                                      <p:to>
                                        <p:strVal val="visible"/>
                                      </p:to>
                                    </p:set>
                                    <p:animEffect transition="in" filter="checkerboard(across)">
                                      <p:cBhvr>
                                        <p:cTn id="7" dur="75"/>
                                        <p:tgtEl>
                                          <p:spTgt spid="18739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6" grpId="0" advAuto="2000" autoUpdateAnimBg="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eaLnBrk="1" hangingPunct="1"/>
            <a:r>
              <a:rPr lang="en-US" altLang="zh-CN" sz="1200" b="0">
                <a:solidFill>
                  <a:schemeClr val="tx1"/>
                </a:solidFill>
                <a:latin typeface="Verdana" panose="020B0604030504040204" pitchFamily="34" charset="0"/>
                <a:ea typeface="宋体" panose="02010600030101010101" pitchFamily="2" charset="-122"/>
              </a:rPr>
              <a:t> </a:t>
            </a:r>
            <a:endParaRPr lang="en-US" altLang="zh-CN" sz="1200" b="0">
              <a:solidFill>
                <a:schemeClr val="tx1"/>
              </a:solidFill>
              <a:latin typeface="Verdana" panose="020B0604030504040204" pitchFamily="34" charset="0"/>
              <a:ea typeface="宋体" panose="02010600030101010101" pitchFamily="2" charset="-122"/>
            </a:endParaRPr>
          </a:p>
        </p:txBody>
      </p:sp>
      <p:sp>
        <p:nvSpPr>
          <p:cNvPr id="13315" name="Rectangle 2"/>
          <p:cNvSpPr>
            <a:spLocks noGrp="1" noChangeArrowheads="1"/>
          </p:cNvSpPr>
          <p:nvPr>
            <p:ph type="title"/>
          </p:nvPr>
        </p:nvSpPr>
        <p:spPr>
          <a:xfrm>
            <a:off x="533400" y="228600"/>
            <a:ext cx="7772400" cy="1143000"/>
          </a:xfrm>
        </p:spPr>
        <p:txBody>
          <a:bodyPr/>
          <a:lstStyle/>
          <a:p>
            <a:pPr algn="ctr" eaLnBrk="1" hangingPunct="1"/>
            <a:r>
              <a:rPr lang="zh-CN" altLang="en-US" sz="4000" b="1" dirty="0" smtClean="0">
                <a:latin typeface="Times New Roman" panose="02020603050405020304" pitchFamily="18" charset="0"/>
                <a:ea typeface="隶书" panose="02010509060101010101" pitchFamily="49" charset="-122"/>
              </a:rPr>
              <a:t>类的层次关系</a:t>
            </a:r>
            <a:endParaRPr lang="zh-CN" altLang="en-US" sz="4000" b="1" dirty="0" smtClean="0">
              <a:latin typeface="Times New Roman" panose="02020603050405020304" pitchFamily="18" charset="0"/>
              <a:ea typeface="隶书" panose="02010509060101010101" pitchFamily="49" charset="-122"/>
            </a:endParaRPr>
          </a:p>
        </p:txBody>
      </p:sp>
      <p:sp>
        <p:nvSpPr>
          <p:cNvPr id="188419" name="Text Box 3"/>
          <p:cNvSpPr txBox="1">
            <a:spLocks noChangeArrowheads="1"/>
          </p:cNvSpPr>
          <p:nvPr/>
        </p:nvSpPr>
        <p:spPr bwMode="auto">
          <a:xfrm>
            <a:off x="827584" y="1541299"/>
            <a:ext cx="8136904" cy="3972499"/>
          </a:xfrm>
          <a:prstGeom prst="rect">
            <a:avLst/>
          </a:prstGeom>
          <a:noFill/>
          <a:ln w="9525">
            <a:solidFill>
              <a:schemeClr val="tx1"/>
            </a:solidFill>
            <a:miter lim="800000"/>
          </a:ln>
        </p:spPr>
        <p:txBody>
          <a:bodyPr wrap="square" lIns="90000" tIns="46800" rIns="90000" bIns="46800" anchor="ctr">
            <a:spAutoFit/>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lnSpc>
                <a:spcPct val="150000"/>
              </a:lnSpc>
              <a:buClr>
                <a:srgbClr val="000099"/>
              </a:buClr>
              <a:buSzPct val="65000"/>
              <a:buFont typeface="Wingdings" panose="05000000000000000000" pitchFamily="2" charset="2"/>
              <a:buNone/>
            </a:pPr>
            <a:r>
              <a:rPr kumimoji="1" lang="zh-CN" altLang="en-US" sz="2400" dirty="0">
                <a:solidFill>
                  <a:srgbClr val="FFFF00"/>
                </a:solidFill>
                <a:ea typeface="华文楷体" panose="02010600040101010101" pitchFamily="2" charset="-122"/>
              </a:rPr>
              <a:t>类继承层次结构：</a:t>
            </a:r>
            <a:r>
              <a:rPr kumimoji="1" lang="zh-CN" altLang="en-US" sz="2400" dirty="0">
                <a:solidFill>
                  <a:schemeClr val="tx1"/>
                </a:solidFill>
                <a:ea typeface="华文楷体" panose="02010600040101010101" pitchFamily="2" charset="-122"/>
              </a:rPr>
              <a:t>基类和派生类的实例集合</a:t>
            </a:r>
            <a:endParaRPr kumimoji="1" lang="zh-CN" altLang="en-US" sz="2400" dirty="0">
              <a:solidFill>
                <a:schemeClr val="tx1"/>
              </a:solidFill>
              <a:ea typeface="华文楷体" panose="02010600040101010101" pitchFamily="2" charset="-122"/>
            </a:endParaRPr>
          </a:p>
          <a:p>
            <a:pPr algn="l" eaLnBrk="1" hangingPunct="1">
              <a:lnSpc>
                <a:spcPct val="150000"/>
              </a:lnSpc>
              <a:buClr>
                <a:srgbClr val="000099"/>
              </a:buClr>
              <a:buSzPct val="65000"/>
              <a:buFont typeface="Wingdings" panose="05000000000000000000" pitchFamily="2" charset="2"/>
              <a:buNone/>
            </a:pPr>
            <a:r>
              <a:rPr kumimoji="1" lang="zh-CN" altLang="en-US" sz="2400" dirty="0">
                <a:solidFill>
                  <a:srgbClr val="FFFF00"/>
                </a:solidFill>
                <a:ea typeface="华文楷体" panose="02010600040101010101" pitchFamily="2" charset="-122"/>
              </a:rPr>
              <a:t>类继承：</a:t>
            </a:r>
            <a:r>
              <a:rPr kumimoji="1" lang="zh-CN" altLang="en-US" sz="2400" dirty="0">
                <a:solidFill>
                  <a:schemeClr val="tx1"/>
                </a:solidFill>
                <a:ea typeface="华文楷体" panose="02010600040101010101" pitchFamily="2" charset="-122"/>
              </a:rPr>
              <a:t>从基于对象程序设计扩展到面向对象程序设计</a:t>
            </a:r>
            <a:endParaRPr kumimoji="1" lang="zh-CN" altLang="en-US" sz="2400" dirty="0">
              <a:solidFill>
                <a:schemeClr val="tx1"/>
              </a:solidFill>
              <a:ea typeface="华文楷体" panose="02010600040101010101" pitchFamily="2" charset="-122"/>
            </a:endParaRPr>
          </a:p>
          <a:p>
            <a:pPr algn="l" eaLnBrk="1" hangingPunct="1">
              <a:lnSpc>
                <a:spcPct val="150000"/>
              </a:lnSpc>
              <a:buClr>
                <a:srgbClr val="000099"/>
              </a:buClr>
              <a:buSzPct val="65000"/>
              <a:buFont typeface="Wingdings" panose="05000000000000000000" pitchFamily="2" charset="2"/>
              <a:buNone/>
            </a:pPr>
            <a:r>
              <a:rPr kumimoji="1" lang="zh-CN" altLang="en-US" sz="2400" dirty="0">
                <a:solidFill>
                  <a:srgbClr val="FFFF00"/>
                </a:solidFill>
                <a:ea typeface="华文楷体" panose="02010600040101010101" pitchFamily="2" charset="-122"/>
              </a:rPr>
              <a:t>类继承层次结构好处：</a:t>
            </a:r>
            <a:endParaRPr kumimoji="1" lang="zh-CN" altLang="en-US" sz="2400" dirty="0">
              <a:solidFill>
                <a:srgbClr val="FFFF00"/>
              </a:solidFill>
              <a:ea typeface="华文楷体" panose="02010600040101010101" pitchFamily="2" charset="-122"/>
            </a:endParaRPr>
          </a:p>
          <a:p>
            <a:pPr algn="l" eaLnBrk="1" hangingPunct="1">
              <a:lnSpc>
                <a:spcPct val="150000"/>
              </a:lnSpc>
              <a:buClr>
                <a:srgbClr val="00B0F0"/>
              </a:buClr>
              <a:buSzPct val="65000"/>
              <a:buFont typeface="Wingdings" panose="05000000000000000000" pitchFamily="2" charset="2"/>
              <a:buChar char="u"/>
            </a:pPr>
            <a:r>
              <a:rPr kumimoji="1" lang="zh-CN" altLang="en-US" sz="2400" dirty="0">
                <a:solidFill>
                  <a:schemeClr val="tx1"/>
                </a:solidFill>
                <a:ea typeface="华文楷体" panose="02010600040101010101" pitchFamily="2" charset="-122"/>
              </a:rPr>
              <a:t>对事物进行分类：基类表示了该种类型的一般概念，而子类表示了一个特殊概念</a:t>
            </a:r>
            <a:endParaRPr kumimoji="1" lang="zh-CN" altLang="en-US" sz="2400" dirty="0">
              <a:solidFill>
                <a:schemeClr val="tx1"/>
              </a:solidFill>
              <a:ea typeface="华文楷体" panose="02010600040101010101" pitchFamily="2" charset="-122"/>
            </a:endParaRPr>
          </a:p>
          <a:p>
            <a:pPr algn="l" eaLnBrk="1" hangingPunct="1">
              <a:lnSpc>
                <a:spcPct val="150000"/>
              </a:lnSpc>
              <a:buClr>
                <a:srgbClr val="00B0F0"/>
              </a:buClr>
              <a:buSzPct val="65000"/>
              <a:buFont typeface="Wingdings" panose="05000000000000000000" pitchFamily="2" charset="2"/>
              <a:buChar char="u"/>
            </a:pPr>
            <a:r>
              <a:rPr kumimoji="1" lang="zh-CN" altLang="en-US" sz="2400" dirty="0">
                <a:solidFill>
                  <a:schemeClr val="tx1"/>
                </a:solidFill>
                <a:ea typeface="华文楷体" panose="02010600040101010101" pitchFamily="2" charset="-122"/>
              </a:rPr>
              <a:t>支持软件的增量开发：支持软件开发的逐步升级</a:t>
            </a:r>
            <a:endParaRPr kumimoji="1" lang="zh-CN" altLang="en-US" sz="2400" dirty="0">
              <a:solidFill>
                <a:schemeClr val="tx1"/>
              </a:solidFill>
              <a:ea typeface="华文楷体" panose="02010600040101010101" pitchFamily="2" charset="-122"/>
            </a:endParaRPr>
          </a:p>
          <a:p>
            <a:pPr algn="l" eaLnBrk="1" hangingPunct="1">
              <a:lnSpc>
                <a:spcPct val="150000"/>
              </a:lnSpc>
              <a:buClr>
                <a:srgbClr val="00B0F0"/>
              </a:buClr>
              <a:buSzPct val="65000"/>
              <a:buFont typeface="Wingdings" panose="05000000000000000000" pitchFamily="2" charset="2"/>
              <a:buChar char="u"/>
            </a:pPr>
            <a:r>
              <a:rPr kumimoji="1" lang="zh-CN" altLang="en-US" sz="2400" dirty="0">
                <a:solidFill>
                  <a:schemeClr val="tx1"/>
                </a:solidFill>
                <a:ea typeface="华文楷体" panose="02010600040101010101" pitchFamily="2" charset="-122"/>
              </a:rPr>
              <a:t>对概念进行组合：继承关系中，基类成为派生类的一部分。</a:t>
            </a:r>
            <a:endParaRPr kumimoji="1" lang="zh-CN" altLang="en-US" sz="2400" dirty="0">
              <a:solidFill>
                <a:schemeClr val="tx1"/>
              </a:solidFill>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2000"/>
                                  </p:stCondLst>
                                  <p:iterate type="lt">
                                    <p:tmPct val="100000"/>
                                  </p:iterate>
                                  <p:childTnLst>
                                    <p:set>
                                      <p:cBhvr>
                                        <p:cTn id="6" dur="1" fill="hold">
                                          <p:stCondLst>
                                            <p:cond delay="0"/>
                                          </p:stCondLst>
                                        </p:cTn>
                                        <p:tgtEl>
                                          <p:spTgt spid="188419">
                                            <p:txEl>
                                              <p:pRg st="0" end="0"/>
                                            </p:txEl>
                                          </p:spTgt>
                                        </p:tgtEl>
                                        <p:attrNameLst>
                                          <p:attrName>style.visibility</p:attrName>
                                        </p:attrNameLst>
                                      </p:cBhvr>
                                      <p:to>
                                        <p:strVal val="visible"/>
                                      </p:to>
                                    </p:set>
                                    <p:animEffect transition="in" filter="checkerboard(across)">
                                      <p:cBhvr>
                                        <p:cTn id="7" dur="75"/>
                                        <p:tgtEl>
                                          <p:spTgt spid="188419">
                                            <p:txEl>
                                              <p:pRg st="0" end="0"/>
                                            </p:txEl>
                                          </p:spTgt>
                                        </p:tgtEl>
                                      </p:cBhvr>
                                    </p:animEffect>
                                  </p:childTnLst>
                                </p:cTn>
                              </p:par>
                            </p:childTnLst>
                          </p:cTn>
                        </p:par>
                        <p:par>
                          <p:cTn id="8" fill="hold">
                            <p:stCondLst>
                              <p:cond delay="3425"/>
                            </p:stCondLst>
                            <p:childTnLst>
                              <p:par>
                                <p:cTn id="9" presetID="5" presetClass="entr" presetSubtype="10" fill="hold" grpId="0" nodeType="afterEffect">
                                  <p:stCondLst>
                                    <p:cond delay="2000"/>
                                  </p:stCondLst>
                                  <p:iterate type="lt">
                                    <p:tmPct val="100000"/>
                                  </p:iterate>
                                  <p:childTnLst>
                                    <p:set>
                                      <p:cBhvr>
                                        <p:cTn id="10" dur="1" fill="hold">
                                          <p:stCondLst>
                                            <p:cond delay="0"/>
                                          </p:stCondLst>
                                        </p:cTn>
                                        <p:tgtEl>
                                          <p:spTgt spid="188419">
                                            <p:txEl>
                                              <p:pRg st="1" end="1"/>
                                            </p:txEl>
                                          </p:spTgt>
                                        </p:tgtEl>
                                        <p:attrNameLst>
                                          <p:attrName>style.visibility</p:attrName>
                                        </p:attrNameLst>
                                      </p:cBhvr>
                                      <p:to>
                                        <p:strVal val="visible"/>
                                      </p:to>
                                    </p:set>
                                    <p:animEffect transition="in" filter="checkerboard(across)">
                                      <p:cBhvr>
                                        <p:cTn id="11" dur="75"/>
                                        <p:tgtEl>
                                          <p:spTgt spid="188419">
                                            <p:txEl>
                                              <p:pRg st="1" end="1"/>
                                            </p:txEl>
                                          </p:spTgt>
                                        </p:tgtEl>
                                      </p:cBhvr>
                                    </p:animEffect>
                                  </p:childTnLst>
                                </p:cTn>
                              </p:par>
                            </p:childTnLst>
                          </p:cTn>
                        </p:par>
                        <p:par>
                          <p:cTn id="12" fill="hold">
                            <p:stCondLst>
                              <p:cond delay="7225"/>
                            </p:stCondLst>
                            <p:childTnLst>
                              <p:par>
                                <p:cTn id="13" presetID="5" presetClass="entr" presetSubtype="10" fill="hold" grpId="0" nodeType="afterEffect">
                                  <p:stCondLst>
                                    <p:cond delay="2000"/>
                                  </p:stCondLst>
                                  <p:iterate type="lt">
                                    <p:tmPct val="100000"/>
                                  </p:iterate>
                                  <p:childTnLst>
                                    <p:set>
                                      <p:cBhvr>
                                        <p:cTn id="14" dur="1" fill="hold">
                                          <p:stCondLst>
                                            <p:cond delay="0"/>
                                          </p:stCondLst>
                                        </p:cTn>
                                        <p:tgtEl>
                                          <p:spTgt spid="188419">
                                            <p:txEl>
                                              <p:pRg st="2" end="2"/>
                                            </p:txEl>
                                          </p:spTgt>
                                        </p:tgtEl>
                                        <p:attrNameLst>
                                          <p:attrName>style.visibility</p:attrName>
                                        </p:attrNameLst>
                                      </p:cBhvr>
                                      <p:to>
                                        <p:strVal val="visible"/>
                                      </p:to>
                                    </p:set>
                                    <p:animEffect transition="in" filter="checkerboard(across)">
                                      <p:cBhvr>
                                        <p:cTn id="15" dur="75"/>
                                        <p:tgtEl>
                                          <p:spTgt spid="188419">
                                            <p:txEl>
                                              <p:pRg st="2" end="2"/>
                                            </p:txEl>
                                          </p:spTgt>
                                        </p:tgtEl>
                                      </p:cBhvr>
                                    </p:animEffect>
                                  </p:childTnLst>
                                </p:cTn>
                              </p:par>
                            </p:childTnLst>
                          </p:cTn>
                        </p:par>
                        <p:par>
                          <p:cTn id="16" fill="hold">
                            <p:stCondLst>
                              <p:cond delay="9975"/>
                            </p:stCondLst>
                            <p:childTnLst>
                              <p:par>
                                <p:cTn id="17" presetID="5" presetClass="entr" presetSubtype="10" fill="hold" grpId="0" nodeType="afterEffect">
                                  <p:stCondLst>
                                    <p:cond delay="2000"/>
                                  </p:stCondLst>
                                  <p:iterate type="lt">
                                    <p:tmPct val="100000"/>
                                  </p:iterate>
                                  <p:childTnLst>
                                    <p:set>
                                      <p:cBhvr>
                                        <p:cTn id="18" dur="1" fill="hold">
                                          <p:stCondLst>
                                            <p:cond delay="0"/>
                                          </p:stCondLst>
                                        </p:cTn>
                                        <p:tgtEl>
                                          <p:spTgt spid="188419">
                                            <p:txEl>
                                              <p:pRg st="3" end="3"/>
                                            </p:txEl>
                                          </p:spTgt>
                                        </p:tgtEl>
                                        <p:attrNameLst>
                                          <p:attrName>style.visibility</p:attrName>
                                        </p:attrNameLst>
                                      </p:cBhvr>
                                      <p:to>
                                        <p:strVal val="visible"/>
                                      </p:to>
                                    </p:set>
                                    <p:animEffect transition="in" filter="checkerboard(across)">
                                      <p:cBhvr>
                                        <p:cTn id="19" dur="75"/>
                                        <p:tgtEl>
                                          <p:spTgt spid="188419">
                                            <p:txEl>
                                              <p:pRg st="3" end="3"/>
                                            </p:txEl>
                                          </p:spTgt>
                                        </p:tgtEl>
                                      </p:cBhvr>
                                    </p:animEffect>
                                  </p:childTnLst>
                                </p:cTn>
                              </p:par>
                            </p:childTnLst>
                          </p:cTn>
                        </p:par>
                        <p:par>
                          <p:cTn id="20" fill="hold">
                            <p:stCondLst>
                              <p:cond delay="14600"/>
                            </p:stCondLst>
                            <p:childTnLst>
                              <p:par>
                                <p:cTn id="21" presetID="5" presetClass="entr" presetSubtype="10" fill="hold" grpId="0" nodeType="afterEffect">
                                  <p:stCondLst>
                                    <p:cond delay="2000"/>
                                  </p:stCondLst>
                                  <p:iterate type="lt">
                                    <p:tmPct val="100000"/>
                                  </p:iterate>
                                  <p:childTnLst>
                                    <p:set>
                                      <p:cBhvr>
                                        <p:cTn id="22" dur="1" fill="hold">
                                          <p:stCondLst>
                                            <p:cond delay="0"/>
                                          </p:stCondLst>
                                        </p:cTn>
                                        <p:tgtEl>
                                          <p:spTgt spid="188419">
                                            <p:txEl>
                                              <p:pRg st="4" end="4"/>
                                            </p:txEl>
                                          </p:spTgt>
                                        </p:tgtEl>
                                        <p:attrNameLst>
                                          <p:attrName>style.visibility</p:attrName>
                                        </p:attrNameLst>
                                      </p:cBhvr>
                                      <p:to>
                                        <p:strVal val="visible"/>
                                      </p:to>
                                    </p:set>
                                    <p:animEffect transition="in" filter="checkerboard(across)">
                                      <p:cBhvr>
                                        <p:cTn id="23" dur="75"/>
                                        <p:tgtEl>
                                          <p:spTgt spid="188419">
                                            <p:txEl>
                                              <p:pRg st="4" end="4"/>
                                            </p:txEl>
                                          </p:spTgt>
                                        </p:tgtEl>
                                      </p:cBhvr>
                                    </p:animEffect>
                                  </p:childTnLst>
                                </p:cTn>
                              </p:par>
                            </p:childTnLst>
                          </p:cTn>
                        </p:par>
                        <p:par>
                          <p:cTn id="24" fill="hold">
                            <p:stCondLst>
                              <p:cond delay="18174"/>
                            </p:stCondLst>
                            <p:childTnLst>
                              <p:par>
                                <p:cTn id="25" presetID="5" presetClass="entr" presetSubtype="10" fill="hold" grpId="0" nodeType="afterEffect">
                                  <p:stCondLst>
                                    <p:cond delay="2000"/>
                                  </p:stCondLst>
                                  <p:iterate type="lt">
                                    <p:tmPct val="100000"/>
                                  </p:iterate>
                                  <p:childTnLst>
                                    <p:set>
                                      <p:cBhvr>
                                        <p:cTn id="26" dur="1" fill="hold">
                                          <p:stCondLst>
                                            <p:cond delay="0"/>
                                          </p:stCondLst>
                                        </p:cTn>
                                        <p:tgtEl>
                                          <p:spTgt spid="188419">
                                            <p:txEl>
                                              <p:pRg st="5" end="5"/>
                                            </p:txEl>
                                          </p:spTgt>
                                        </p:tgtEl>
                                        <p:attrNameLst>
                                          <p:attrName>style.visibility</p:attrName>
                                        </p:attrNameLst>
                                      </p:cBhvr>
                                      <p:to>
                                        <p:strVal val="visible"/>
                                      </p:to>
                                    </p:set>
                                    <p:animEffect transition="in" filter="checkerboard(across)">
                                      <p:cBhvr>
                                        <p:cTn id="27" dur="75"/>
                                        <p:tgtEl>
                                          <p:spTgt spid="1884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9" grpId="0" advAuto="2000" autoUpdateAnimBg="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eaLnBrk="1" hangingPunct="1"/>
            <a:r>
              <a:rPr lang="en-US" altLang="zh-CN" sz="1200" b="0">
                <a:solidFill>
                  <a:schemeClr val="tx1"/>
                </a:solidFill>
                <a:latin typeface="Verdana" panose="020B0604030504040204" pitchFamily="34" charset="0"/>
                <a:ea typeface="宋体" panose="02010600030101010101" pitchFamily="2" charset="-122"/>
              </a:rPr>
              <a:t> </a:t>
            </a:r>
            <a:endParaRPr lang="en-US" altLang="zh-CN" sz="1200" b="0">
              <a:solidFill>
                <a:schemeClr val="tx1"/>
              </a:solidFill>
              <a:latin typeface="Verdana" panose="020B0604030504040204" pitchFamily="34" charset="0"/>
              <a:ea typeface="宋体" panose="02010600030101010101" pitchFamily="2" charset="-122"/>
            </a:endParaRPr>
          </a:p>
        </p:txBody>
      </p:sp>
      <p:sp>
        <p:nvSpPr>
          <p:cNvPr id="14339" name="Rectangle 2"/>
          <p:cNvSpPr>
            <a:spLocks noGrp="1" noChangeArrowheads="1"/>
          </p:cNvSpPr>
          <p:nvPr>
            <p:ph type="title"/>
          </p:nvPr>
        </p:nvSpPr>
        <p:spPr>
          <a:xfrm>
            <a:off x="533400" y="228600"/>
            <a:ext cx="7772400" cy="1143000"/>
          </a:xfrm>
        </p:spPr>
        <p:txBody>
          <a:bodyPr/>
          <a:lstStyle/>
          <a:p>
            <a:pPr algn="ctr" eaLnBrk="1" hangingPunct="1"/>
            <a:r>
              <a:rPr lang="zh-CN" altLang="en-US" sz="4000" b="1" dirty="0" smtClean="0">
                <a:latin typeface="Times New Roman" panose="02020603050405020304" pitchFamily="18" charset="0"/>
                <a:ea typeface="隶书" panose="02010509060101010101" pitchFamily="49" charset="-122"/>
              </a:rPr>
              <a:t>类的层次关系</a:t>
            </a:r>
            <a:endParaRPr lang="zh-CN" altLang="en-US" sz="4000" b="1" dirty="0" smtClean="0">
              <a:latin typeface="Times New Roman" panose="02020603050405020304" pitchFamily="18" charset="0"/>
              <a:ea typeface="隶书" panose="02010509060101010101" pitchFamily="49" charset="-122"/>
            </a:endParaRPr>
          </a:p>
        </p:txBody>
      </p:sp>
      <p:sp>
        <p:nvSpPr>
          <p:cNvPr id="189443" name="Text Box 3"/>
          <p:cNvSpPr txBox="1">
            <a:spLocks noChangeArrowheads="1"/>
          </p:cNvSpPr>
          <p:nvPr/>
        </p:nvSpPr>
        <p:spPr bwMode="auto">
          <a:xfrm>
            <a:off x="1331913" y="1803967"/>
            <a:ext cx="7488237" cy="3172280"/>
          </a:xfrm>
          <a:prstGeom prst="rect">
            <a:avLst/>
          </a:prstGeom>
          <a:noFill/>
          <a:ln w="9525">
            <a:solidFill>
              <a:schemeClr val="tx1"/>
            </a:solidFill>
            <a:miter lim="800000"/>
          </a:ln>
        </p:spPr>
        <p:txBody>
          <a:bodyPr lIns="90000" tIns="46800" rIns="90000" bIns="46800" anchor="ctr">
            <a:spAutoFit/>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lnSpc>
                <a:spcPct val="200000"/>
              </a:lnSpc>
              <a:buClr>
                <a:srgbClr val="000099"/>
              </a:buClr>
              <a:buSzPct val="65000"/>
              <a:buFont typeface="Wingdings" panose="05000000000000000000" pitchFamily="2" charset="2"/>
              <a:buNone/>
            </a:pPr>
            <a:r>
              <a:rPr kumimoji="1" lang="zh-CN" altLang="en-US" sz="2800" dirty="0">
                <a:solidFill>
                  <a:srgbClr val="FFFF00"/>
                </a:solidFill>
                <a:ea typeface="华文楷体" panose="02010600040101010101" pitchFamily="2" charset="-122"/>
              </a:rPr>
              <a:t>类继承层次结构的好处：</a:t>
            </a:r>
            <a:endParaRPr kumimoji="1" lang="zh-CN" altLang="en-US" sz="2800" dirty="0">
              <a:solidFill>
                <a:srgbClr val="FFFF00"/>
              </a:solidFill>
              <a:ea typeface="华文楷体" panose="02010600040101010101" pitchFamily="2" charset="-122"/>
            </a:endParaRPr>
          </a:p>
          <a:p>
            <a:pPr algn="l" eaLnBrk="1" hangingPunct="1">
              <a:lnSpc>
                <a:spcPct val="200000"/>
              </a:lnSpc>
              <a:buClr>
                <a:srgbClr val="00B0F0"/>
              </a:buClr>
              <a:buSzPct val="65000"/>
            </a:pPr>
            <a:r>
              <a:rPr kumimoji="1" lang="zh-CN" altLang="en-US" sz="2400" dirty="0">
                <a:solidFill>
                  <a:schemeClr val="tx1"/>
                </a:solidFill>
                <a:ea typeface="华文楷体" panose="02010600040101010101" pitchFamily="2" charset="-122"/>
              </a:rPr>
              <a:t>继承层次结构的主要好处是可以针对基类的公有接口进行编程而不是针对组成继承层次的个别类型。通过这种方式，代码可以不受层次结构变化的影响。</a:t>
            </a:r>
            <a:endParaRPr kumimoji="1" lang="zh-CN" altLang="en-US" sz="2400" dirty="0">
              <a:solidFill>
                <a:schemeClr val="tx1"/>
              </a:solidFill>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2000"/>
                                  </p:stCondLst>
                                  <p:iterate type="lt">
                                    <p:tmPct val="100000"/>
                                  </p:iterate>
                                  <p:childTnLst>
                                    <p:set>
                                      <p:cBhvr>
                                        <p:cTn id="6" dur="1" fill="hold">
                                          <p:stCondLst>
                                            <p:cond delay="0"/>
                                          </p:stCondLst>
                                        </p:cTn>
                                        <p:tgtEl>
                                          <p:spTgt spid="189443">
                                            <p:txEl>
                                              <p:pRg st="0" end="0"/>
                                            </p:txEl>
                                          </p:spTgt>
                                        </p:tgtEl>
                                        <p:attrNameLst>
                                          <p:attrName>style.visibility</p:attrName>
                                        </p:attrNameLst>
                                      </p:cBhvr>
                                      <p:to>
                                        <p:strVal val="visible"/>
                                      </p:to>
                                    </p:set>
                                    <p:animEffect transition="in" filter="checkerboard(across)">
                                      <p:cBhvr>
                                        <p:cTn id="7" dur="75"/>
                                        <p:tgtEl>
                                          <p:spTgt spid="189443">
                                            <p:txEl>
                                              <p:pRg st="0" end="0"/>
                                            </p:txEl>
                                          </p:spTgt>
                                        </p:tgtEl>
                                      </p:cBhvr>
                                    </p:animEffect>
                                  </p:childTnLst>
                                </p:cTn>
                              </p:par>
                            </p:childTnLst>
                          </p:cTn>
                        </p:par>
                        <p:par>
                          <p:cTn id="8" fill="hold">
                            <p:stCondLst>
                              <p:cond delay="2825"/>
                            </p:stCondLst>
                            <p:childTnLst>
                              <p:par>
                                <p:cTn id="9" presetID="5" presetClass="entr" presetSubtype="10" fill="hold" grpId="0" nodeType="afterEffect">
                                  <p:stCondLst>
                                    <p:cond delay="2000"/>
                                  </p:stCondLst>
                                  <p:iterate type="lt">
                                    <p:tmPct val="100000"/>
                                  </p:iterate>
                                  <p:childTnLst>
                                    <p:set>
                                      <p:cBhvr>
                                        <p:cTn id="10" dur="1" fill="hold">
                                          <p:stCondLst>
                                            <p:cond delay="0"/>
                                          </p:stCondLst>
                                        </p:cTn>
                                        <p:tgtEl>
                                          <p:spTgt spid="189443">
                                            <p:txEl>
                                              <p:pRg st="1" end="1"/>
                                            </p:txEl>
                                          </p:spTgt>
                                        </p:tgtEl>
                                        <p:attrNameLst>
                                          <p:attrName>style.visibility</p:attrName>
                                        </p:attrNameLst>
                                      </p:cBhvr>
                                      <p:to>
                                        <p:strVal val="visible"/>
                                      </p:to>
                                    </p:set>
                                    <p:animEffect transition="in" filter="checkerboard(across)">
                                      <p:cBhvr>
                                        <p:cTn id="11" dur="75"/>
                                        <p:tgtEl>
                                          <p:spTgt spid="18944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3" grpId="0" advAuto="2000" autoUpdateAnimBg="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eaLnBrk="1" hangingPunct="1"/>
            <a:r>
              <a:rPr lang="en-US" altLang="zh-CN" sz="1200" b="0">
                <a:solidFill>
                  <a:schemeClr val="tx1"/>
                </a:solidFill>
                <a:latin typeface="Verdana" panose="020B0604030504040204" pitchFamily="34" charset="0"/>
                <a:ea typeface="宋体" panose="02010600030101010101" pitchFamily="2" charset="-122"/>
              </a:rPr>
              <a:t> </a:t>
            </a:r>
            <a:endParaRPr lang="en-US" altLang="zh-CN" sz="1200" b="0">
              <a:solidFill>
                <a:schemeClr val="tx1"/>
              </a:solidFill>
              <a:latin typeface="Verdana" panose="020B0604030504040204" pitchFamily="34" charset="0"/>
              <a:ea typeface="宋体" panose="02010600030101010101" pitchFamily="2" charset="-122"/>
            </a:endParaRPr>
          </a:p>
        </p:txBody>
      </p:sp>
      <p:sp>
        <p:nvSpPr>
          <p:cNvPr id="15363" name="Rectangle 2"/>
          <p:cNvSpPr>
            <a:spLocks noGrp="1" noChangeArrowheads="1"/>
          </p:cNvSpPr>
          <p:nvPr>
            <p:ph type="title"/>
          </p:nvPr>
        </p:nvSpPr>
        <p:spPr>
          <a:xfrm>
            <a:off x="1116013" y="260350"/>
            <a:ext cx="7772400" cy="1143000"/>
          </a:xfrm>
        </p:spPr>
        <p:txBody>
          <a:bodyPr/>
          <a:lstStyle/>
          <a:p>
            <a:pPr algn="ctr" eaLnBrk="1" hangingPunct="1"/>
            <a:r>
              <a:rPr lang="zh-CN" altLang="en-US" sz="4000" b="1" dirty="0" smtClean="0">
                <a:latin typeface="Times New Roman" panose="02020603050405020304" pitchFamily="18" charset="0"/>
                <a:ea typeface="隶书" panose="02010509060101010101" pitchFamily="49" charset="-122"/>
              </a:rPr>
              <a:t>类的层次关系</a:t>
            </a:r>
            <a:endParaRPr lang="zh-CN" altLang="en-US" sz="4000" b="1" dirty="0" smtClean="0">
              <a:latin typeface="Times New Roman" panose="02020603050405020304" pitchFamily="18" charset="0"/>
              <a:ea typeface="隶书" panose="02010509060101010101" pitchFamily="49" charset="-122"/>
            </a:endParaRPr>
          </a:p>
        </p:txBody>
      </p:sp>
      <p:sp>
        <p:nvSpPr>
          <p:cNvPr id="15364" name="Rectangle 4"/>
          <p:cNvSpPr>
            <a:spLocks noChangeArrowheads="1"/>
          </p:cNvSpPr>
          <p:nvPr/>
        </p:nvSpPr>
        <p:spPr bwMode="auto">
          <a:xfrm>
            <a:off x="1331913" y="1557338"/>
            <a:ext cx="7343775" cy="1990725"/>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buClr>
                <a:srgbClr val="000099"/>
              </a:buClr>
              <a:buSzPct val="65000"/>
              <a:buFont typeface="Wingdings" panose="05000000000000000000" pitchFamily="2" charset="2"/>
              <a:buNone/>
            </a:pPr>
            <a:r>
              <a:rPr lang="zh-CN" altLang="zh-CN" sz="2000" noProof="1">
                <a:solidFill>
                  <a:schemeClr val="hlink"/>
                </a:solidFill>
                <a:ea typeface="华文楷体" panose="02010600040101010101" pitchFamily="2" charset="-122"/>
              </a:rPr>
              <a:t>//</a:t>
            </a:r>
            <a:r>
              <a:rPr lang="zh-CN" altLang="en-US" sz="2000" noProof="1">
                <a:solidFill>
                  <a:schemeClr val="hlink"/>
                </a:solidFill>
                <a:ea typeface="华文楷体" panose="02010600040101010101" pitchFamily="2" charset="-122"/>
              </a:rPr>
              <a:t>运算基类</a:t>
            </a:r>
            <a:endParaRPr lang="zh-CN" altLang="en-US" sz="2000" noProof="1">
              <a:solidFill>
                <a:schemeClr val="hlink"/>
              </a:solidFill>
              <a:ea typeface="华文楷体" panose="02010600040101010101" pitchFamily="2" charset="-122"/>
            </a:endParaRPr>
          </a:p>
          <a:p>
            <a:pPr algn="l" eaLnBrk="1" hangingPunct="1">
              <a:buClr>
                <a:srgbClr val="000099"/>
              </a:buClr>
              <a:buSzPct val="65000"/>
              <a:buFont typeface="Wingdings" panose="05000000000000000000" pitchFamily="2" charset="2"/>
              <a:buNone/>
            </a:pPr>
            <a:r>
              <a:rPr lang="en-US" altLang="zh-CN" sz="2000" noProof="1">
                <a:solidFill>
                  <a:srgbClr val="FFFF00"/>
                </a:solidFill>
                <a:ea typeface="华文楷体" panose="02010600040101010101" pitchFamily="2" charset="-122"/>
              </a:rPr>
              <a:t>class </a:t>
            </a:r>
            <a:r>
              <a:rPr lang="en-US" altLang="zh-CN" sz="2000" noProof="1">
                <a:solidFill>
                  <a:schemeClr val="tx1"/>
                </a:solidFill>
                <a:ea typeface="华文楷体" panose="02010600040101010101" pitchFamily="2" charset="-122"/>
              </a:rPr>
              <a:t>Operation </a:t>
            </a:r>
            <a:endParaRPr lang="en-US" altLang="zh-CN" sz="2000" noProof="1">
              <a:solidFill>
                <a:schemeClr val="tx1"/>
              </a:solidFill>
              <a:ea typeface="华文楷体" panose="02010600040101010101" pitchFamily="2" charset="-122"/>
            </a:endParaRPr>
          </a:p>
          <a:p>
            <a:pPr algn="l" eaLnBrk="1" hangingPunct="1">
              <a:buClr>
                <a:srgbClr val="000099"/>
              </a:buClr>
              <a:buSzPct val="65000"/>
              <a:buFont typeface="Wingdings" panose="05000000000000000000" pitchFamily="2" charset="2"/>
              <a:buNone/>
            </a:pPr>
            <a:r>
              <a:rPr lang="en-US" altLang="zh-CN" sz="2000" noProof="1">
                <a:solidFill>
                  <a:schemeClr val="tx1"/>
                </a:solidFill>
                <a:ea typeface="华文楷体" panose="02010600040101010101" pitchFamily="2" charset="-122"/>
              </a:rPr>
              <a:t>{</a:t>
            </a:r>
            <a:r>
              <a:rPr lang="en-US" altLang="zh-CN" sz="2000" dirty="0">
                <a:solidFill>
                  <a:schemeClr val="tx1"/>
                </a:solidFill>
                <a:ea typeface="华文楷体" panose="02010600040101010101" pitchFamily="2" charset="-122"/>
              </a:rPr>
              <a:t> </a:t>
            </a:r>
            <a:r>
              <a:rPr lang="en-US" altLang="zh-CN" sz="2000" noProof="1">
                <a:solidFill>
                  <a:srgbClr val="FFFF00"/>
                </a:solidFill>
                <a:ea typeface="华文楷体" panose="02010600040101010101" pitchFamily="2" charset="-122"/>
              </a:rPr>
              <a:t>public:</a:t>
            </a:r>
            <a:r>
              <a:rPr lang="en-US" altLang="zh-CN" sz="2000" dirty="0">
                <a:solidFill>
                  <a:srgbClr val="FFFF00"/>
                </a:solidFill>
                <a:ea typeface="华文楷体" panose="02010600040101010101" pitchFamily="2" charset="-122"/>
              </a:rPr>
              <a:t> </a:t>
            </a:r>
            <a:endParaRPr lang="en-US" altLang="zh-CN" sz="2000" dirty="0">
              <a:solidFill>
                <a:srgbClr val="FFFF00"/>
              </a:solidFill>
              <a:ea typeface="华文楷体" panose="02010600040101010101" pitchFamily="2" charset="-122"/>
            </a:endParaRPr>
          </a:p>
          <a:p>
            <a:pPr algn="l" eaLnBrk="1" hangingPunct="1">
              <a:buClr>
                <a:srgbClr val="000099"/>
              </a:buClr>
              <a:buSzPct val="65000"/>
              <a:buFont typeface="Wingdings" panose="05000000000000000000" pitchFamily="2" charset="2"/>
              <a:buNone/>
            </a:pPr>
            <a:r>
              <a:rPr lang="en-US" altLang="zh-CN" sz="2000" dirty="0">
                <a:solidFill>
                  <a:srgbClr val="FFFF00"/>
                </a:solidFill>
                <a:ea typeface="华文楷体" panose="02010600040101010101" pitchFamily="2" charset="-122"/>
              </a:rPr>
              <a:t>       ……</a:t>
            </a:r>
            <a:endParaRPr lang="en-US" altLang="zh-CN" sz="2000" dirty="0">
              <a:solidFill>
                <a:srgbClr val="FFFF00"/>
              </a:solidFill>
              <a:ea typeface="华文楷体" panose="02010600040101010101" pitchFamily="2" charset="-122"/>
            </a:endParaRPr>
          </a:p>
          <a:p>
            <a:pPr algn="l" eaLnBrk="1" hangingPunct="1">
              <a:buClr>
                <a:srgbClr val="000099"/>
              </a:buClr>
              <a:buSzPct val="65000"/>
              <a:buFont typeface="Wingdings" panose="05000000000000000000" pitchFamily="2" charset="2"/>
              <a:buNone/>
            </a:pPr>
            <a:r>
              <a:rPr lang="en-US" altLang="zh-CN" sz="2400" dirty="0">
                <a:solidFill>
                  <a:srgbClr val="FFFF00"/>
                </a:solidFill>
                <a:ea typeface="华文楷体" panose="02010600040101010101" pitchFamily="2" charset="-122"/>
              </a:rPr>
              <a:t>      </a:t>
            </a:r>
            <a:r>
              <a:rPr lang="en-US" altLang="zh-CN" sz="2000" noProof="1">
                <a:solidFill>
                  <a:srgbClr val="FFFF00"/>
                </a:solidFill>
                <a:ea typeface="华文楷体" panose="02010600040101010101" pitchFamily="2" charset="-122"/>
              </a:rPr>
              <a:t>virtual double</a:t>
            </a:r>
            <a:r>
              <a:rPr lang="en-US" altLang="zh-CN" sz="2000" noProof="1">
                <a:solidFill>
                  <a:schemeClr val="tx1"/>
                </a:solidFill>
                <a:ea typeface="华文楷体" panose="02010600040101010101" pitchFamily="2" charset="-122"/>
              </a:rPr>
              <a:t> GetResult( )</a:t>
            </a:r>
            <a:r>
              <a:rPr lang="en-US" altLang="zh-CN" sz="2000" dirty="0">
                <a:solidFill>
                  <a:schemeClr val="tx1"/>
                </a:solidFill>
                <a:ea typeface="华文楷体" panose="02010600040101010101" pitchFamily="2" charset="-122"/>
              </a:rPr>
              <a:t>;</a:t>
            </a:r>
            <a:endParaRPr lang="en-US" altLang="zh-CN" sz="2000" dirty="0">
              <a:solidFill>
                <a:schemeClr val="tx1"/>
              </a:solidFill>
              <a:ea typeface="华文楷体" panose="02010600040101010101" pitchFamily="2" charset="-122"/>
            </a:endParaRPr>
          </a:p>
          <a:p>
            <a:pPr algn="l" eaLnBrk="1" hangingPunct="1">
              <a:buClr>
                <a:srgbClr val="000099"/>
              </a:buClr>
              <a:buSzPct val="65000"/>
              <a:buFont typeface="Wingdings" panose="05000000000000000000" pitchFamily="2" charset="2"/>
              <a:buNone/>
            </a:pPr>
            <a:r>
              <a:rPr lang="en-US" altLang="zh-CN" sz="2000" dirty="0">
                <a:solidFill>
                  <a:schemeClr val="tx1"/>
                </a:solidFill>
                <a:ea typeface="华文楷体" panose="02010600040101010101" pitchFamily="2" charset="-122"/>
              </a:rPr>
              <a:t>};</a:t>
            </a:r>
            <a:endParaRPr lang="zh-CN" altLang="zh-CN" sz="2000" dirty="0">
              <a:solidFill>
                <a:schemeClr val="tx1"/>
              </a:solidFill>
              <a:ea typeface="华文楷体" panose="02010600040101010101" pitchFamily="2" charset="-122"/>
            </a:endParaRPr>
          </a:p>
        </p:txBody>
      </p:sp>
      <p:sp>
        <p:nvSpPr>
          <p:cNvPr id="15365" name="Rectangle 5"/>
          <p:cNvSpPr>
            <a:spLocks noChangeArrowheads="1"/>
          </p:cNvSpPr>
          <p:nvPr/>
        </p:nvSpPr>
        <p:spPr bwMode="auto">
          <a:xfrm>
            <a:off x="1331913" y="3519488"/>
            <a:ext cx="7343775" cy="3149600"/>
          </a:xfrm>
          <a:prstGeom prst="rect">
            <a:avLst/>
          </a:prstGeom>
          <a:solidFill>
            <a:schemeClr val="bg1"/>
          </a:solidFill>
          <a:ln w="9525" algn="ctr">
            <a:solidFill>
              <a:schemeClr val="tx1"/>
            </a:solidFill>
            <a:miter lim="800000"/>
          </a:ln>
        </p:spPr>
        <p:txBody>
          <a:bodyPr lIns="90000" tIns="46800" rIns="90000" bIns="46800">
            <a:spAutoFit/>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buClr>
                <a:srgbClr val="000099"/>
              </a:buClr>
              <a:buSzPct val="65000"/>
              <a:buFont typeface="Wingdings" panose="05000000000000000000" pitchFamily="2" charset="2"/>
              <a:buNone/>
            </a:pPr>
            <a:r>
              <a:rPr lang="zh-CN" altLang="zh-CN" sz="2000" noProof="1">
                <a:solidFill>
                  <a:schemeClr val="hlink"/>
                </a:solidFill>
                <a:ea typeface="华文楷体" panose="02010600040101010101" pitchFamily="2" charset="-122"/>
              </a:rPr>
              <a:t>//</a:t>
            </a:r>
            <a:r>
              <a:rPr lang="zh-CN" altLang="en-US" sz="2000" noProof="1">
                <a:solidFill>
                  <a:schemeClr val="hlink"/>
                </a:solidFill>
                <a:ea typeface="华文楷体" panose="02010600040101010101" pitchFamily="2" charset="-122"/>
              </a:rPr>
              <a:t>运算类</a:t>
            </a:r>
            <a:endParaRPr lang="zh-CN" altLang="en-US" sz="2000" noProof="1">
              <a:solidFill>
                <a:schemeClr val="hlink"/>
              </a:solidFill>
              <a:ea typeface="华文楷体" panose="02010600040101010101" pitchFamily="2" charset="-122"/>
            </a:endParaRPr>
          </a:p>
          <a:p>
            <a:pPr algn="l" eaLnBrk="1" hangingPunct="1">
              <a:buClr>
                <a:srgbClr val="000099"/>
              </a:buClr>
              <a:buSzPct val="65000"/>
              <a:buFont typeface="Wingdings" panose="05000000000000000000" pitchFamily="2" charset="2"/>
              <a:buNone/>
            </a:pPr>
            <a:r>
              <a:rPr lang="en-US" altLang="zh-CN" sz="2000" noProof="1">
                <a:solidFill>
                  <a:srgbClr val="FFFF00"/>
                </a:solidFill>
                <a:ea typeface="华文楷体" panose="02010600040101010101" pitchFamily="2" charset="-122"/>
              </a:rPr>
              <a:t>class </a:t>
            </a:r>
            <a:r>
              <a:rPr lang="en-US" altLang="zh-CN" sz="2000" noProof="1">
                <a:solidFill>
                  <a:schemeClr val="tx1"/>
                </a:solidFill>
                <a:ea typeface="华文楷体" panose="02010600040101010101" pitchFamily="2" charset="-122"/>
              </a:rPr>
              <a:t>OperationAdd</a:t>
            </a:r>
            <a:r>
              <a:rPr lang="en-US" altLang="zh-CN" sz="2000" noProof="1">
                <a:solidFill>
                  <a:srgbClr val="FFFF00"/>
                </a:solidFill>
                <a:ea typeface="华文楷体" panose="02010600040101010101" pitchFamily="2" charset="-122"/>
              </a:rPr>
              <a:t>: public </a:t>
            </a:r>
            <a:r>
              <a:rPr lang="en-US" altLang="zh-CN" sz="2000" noProof="1">
                <a:solidFill>
                  <a:schemeClr val="tx1"/>
                </a:solidFill>
                <a:ea typeface="华文楷体" panose="02010600040101010101" pitchFamily="2" charset="-122"/>
              </a:rPr>
              <a:t>Operation</a:t>
            </a:r>
            <a:endParaRPr lang="en-US" altLang="zh-CN" sz="2000" noProof="1">
              <a:solidFill>
                <a:schemeClr val="tx1"/>
              </a:solidFill>
              <a:ea typeface="华文楷体" panose="02010600040101010101" pitchFamily="2" charset="-122"/>
            </a:endParaRPr>
          </a:p>
          <a:p>
            <a:pPr algn="l" eaLnBrk="1" hangingPunct="1">
              <a:buClr>
                <a:srgbClr val="000099"/>
              </a:buClr>
              <a:buSzPct val="65000"/>
              <a:buFont typeface="Wingdings" panose="05000000000000000000" pitchFamily="2" charset="2"/>
              <a:buNone/>
            </a:pPr>
            <a:r>
              <a:rPr lang="en-US" altLang="zh-CN" sz="2000" noProof="1">
                <a:solidFill>
                  <a:srgbClr val="FFFF00"/>
                </a:solidFill>
                <a:ea typeface="华文楷体" panose="02010600040101010101" pitchFamily="2" charset="-122"/>
              </a:rPr>
              <a:t>{</a:t>
            </a:r>
            <a:r>
              <a:rPr lang="en-US" altLang="zh-CN" sz="2000" dirty="0">
                <a:solidFill>
                  <a:srgbClr val="FFFF00"/>
                </a:solidFill>
                <a:ea typeface="华文楷体" panose="02010600040101010101" pitchFamily="2" charset="-122"/>
              </a:rPr>
              <a:t>  </a:t>
            </a:r>
            <a:r>
              <a:rPr lang="en-US" altLang="zh-CN" sz="2000" noProof="1">
                <a:solidFill>
                  <a:srgbClr val="FFFF00"/>
                </a:solidFill>
                <a:ea typeface="华文楷体" panose="02010600040101010101" pitchFamily="2" charset="-122"/>
              </a:rPr>
              <a:t>public:</a:t>
            </a:r>
            <a:endParaRPr lang="en-US" altLang="zh-CN" sz="2000" noProof="1">
              <a:solidFill>
                <a:srgbClr val="FFFF00"/>
              </a:solidFill>
              <a:ea typeface="华文楷体" panose="02010600040101010101" pitchFamily="2" charset="-122"/>
            </a:endParaRPr>
          </a:p>
          <a:p>
            <a:pPr algn="l" eaLnBrk="1" hangingPunct="1">
              <a:buClr>
                <a:srgbClr val="000099"/>
              </a:buClr>
              <a:buSzPct val="65000"/>
              <a:buFont typeface="Wingdings" panose="05000000000000000000" pitchFamily="2" charset="2"/>
              <a:buNone/>
            </a:pPr>
            <a:r>
              <a:rPr lang="en-US" altLang="zh-CN" sz="2000" noProof="1">
                <a:solidFill>
                  <a:srgbClr val="FFFF00"/>
                </a:solidFill>
                <a:ea typeface="华文楷体" panose="02010600040101010101" pitchFamily="2" charset="-122"/>
              </a:rPr>
              <a:t>	double</a:t>
            </a:r>
            <a:r>
              <a:rPr lang="en-US" altLang="zh-CN" sz="2000" noProof="1">
                <a:solidFill>
                  <a:srgbClr val="000099"/>
                </a:solidFill>
                <a:ea typeface="华文楷体" panose="02010600040101010101" pitchFamily="2" charset="-122"/>
              </a:rPr>
              <a:t> </a:t>
            </a:r>
            <a:r>
              <a:rPr lang="en-US" altLang="zh-CN" sz="2000" noProof="1">
                <a:solidFill>
                  <a:schemeClr val="tx1"/>
                </a:solidFill>
                <a:ea typeface="华文楷体" panose="02010600040101010101" pitchFamily="2" charset="-122"/>
              </a:rPr>
              <a:t>GetResult()</a:t>
            </a:r>
            <a:endParaRPr lang="en-US" altLang="zh-CN" sz="2000" noProof="1">
              <a:solidFill>
                <a:schemeClr val="tx1"/>
              </a:solidFill>
              <a:ea typeface="华文楷体" panose="02010600040101010101" pitchFamily="2" charset="-122"/>
            </a:endParaRPr>
          </a:p>
          <a:p>
            <a:pPr algn="l" eaLnBrk="1" hangingPunct="1">
              <a:buClr>
                <a:srgbClr val="000099"/>
              </a:buClr>
              <a:buSzPct val="65000"/>
              <a:buFont typeface="Wingdings" panose="05000000000000000000" pitchFamily="2" charset="2"/>
              <a:buNone/>
            </a:pPr>
            <a:r>
              <a:rPr lang="en-US" altLang="zh-CN" sz="2000" noProof="1">
                <a:solidFill>
                  <a:schemeClr val="tx1"/>
                </a:solidFill>
                <a:ea typeface="华文楷体" panose="02010600040101010101" pitchFamily="2" charset="-122"/>
              </a:rPr>
              <a:t>	{</a:t>
            </a:r>
            <a:endParaRPr lang="en-US" altLang="zh-CN" sz="2000" noProof="1">
              <a:solidFill>
                <a:schemeClr val="tx1"/>
              </a:solidFill>
              <a:ea typeface="华文楷体" panose="02010600040101010101" pitchFamily="2" charset="-122"/>
            </a:endParaRPr>
          </a:p>
          <a:p>
            <a:pPr algn="l" eaLnBrk="1" hangingPunct="1">
              <a:buClr>
                <a:srgbClr val="000099"/>
              </a:buClr>
              <a:buSzPct val="65000"/>
              <a:buFont typeface="Wingdings" panose="05000000000000000000" pitchFamily="2" charset="2"/>
              <a:buNone/>
            </a:pPr>
            <a:r>
              <a:rPr lang="en-US" altLang="zh-CN" sz="2000" noProof="1">
                <a:solidFill>
                  <a:schemeClr val="tx1"/>
                </a:solidFill>
                <a:ea typeface="华文楷体" panose="02010600040101010101" pitchFamily="2" charset="-122"/>
              </a:rPr>
              <a:t>	</a:t>
            </a:r>
            <a:r>
              <a:rPr lang="en-US" altLang="zh-CN" sz="2000" noProof="1">
                <a:solidFill>
                  <a:srgbClr val="FFFF00"/>
                </a:solidFill>
                <a:ea typeface="华文楷体" panose="02010600040101010101" pitchFamily="2" charset="-122"/>
              </a:rPr>
              <a:t>	double </a:t>
            </a:r>
            <a:r>
              <a:rPr lang="en-US" altLang="zh-CN" sz="2000" noProof="1">
                <a:solidFill>
                  <a:schemeClr val="tx1"/>
                </a:solidFill>
                <a:ea typeface="华文楷体" panose="02010600040101010101" pitchFamily="2" charset="-122"/>
              </a:rPr>
              <a:t>result = 0;</a:t>
            </a:r>
            <a:endParaRPr lang="en-US" altLang="zh-CN" sz="2000" noProof="1">
              <a:solidFill>
                <a:schemeClr val="tx1"/>
              </a:solidFill>
              <a:ea typeface="华文楷体" panose="02010600040101010101" pitchFamily="2" charset="-122"/>
            </a:endParaRPr>
          </a:p>
          <a:p>
            <a:pPr algn="l" eaLnBrk="1" hangingPunct="1">
              <a:buClr>
                <a:srgbClr val="000099"/>
              </a:buClr>
              <a:buSzPct val="65000"/>
              <a:buFont typeface="Wingdings" panose="05000000000000000000" pitchFamily="2" charset="2"/>
              <a:buNone/>
            </a:pPr>
            <a:r>
              <a:rPr lang="en-US" altLang="zh-CN" sz="2000" noProof="1">
                <a:solidFill>
                  <a:schemeClr val="tx1"/>
                </a:solidFill>
                <a:ea typeface="华文楷体" panose="02010600040101010101" pitchFamily="2" charset="-122"/>
              </a:rPr>
              <a:t>		result = numbera + numberb;</a:t>
            </a:r>
            <a:endParaRPr lang="en-US" altLang="zh-CN" sz="2000" noProof="1">
              <a:solidFill>
                <a:schemeClr val="tx1"/>
              </a:solidFill>
              <a:ea typeface="华文楷体" panose="02010600040101010101" pitchFamily="2" charset="-122"/>
            </a:endParaRPr>
          </a:p>
          <a:p>
            <a:pPr algn="l" eaLnBrk="1" hangingPunct="1">
              <a:buClr>
                <a:srgbClr val="000099"/>
              </a:buClr>
              <a:buSzPct val="65000"/>
              <a:buFont typeface="Wingdings" panose="05000000000000000000" pitchFamily="2" charset="2"/>
              <a:buNone/>
            </a:pPr>
            <a:r>
              <a:rPr lang="en-US" altLang="zh-CN" sz="2000" noProof="1">
                <a:solidFill>
                  <a:schemeClr val="tx1"/>
                </a:solidFill>
                <a:ea typeface="华文楷体" panose="02010600040101010101" pitchFamily="2" charset="-122"/>
              </a:rPr>
              <a:t>		</a:t>
            </a:r>
            <a:r>
              <a:rPr lang="en-US" altLang="zh-CN" sz="2000" noProof="1">
                <a:solidFill>
                  <a:srgbClr val="FFFF00"/>
                </a:solidFill>
                <a:ea typeface="华文楷体" panose="02010600040101010101" pitchFamily="2" charset="-122"/>
              </a:rPr>
              <a:t>return</a:t>
            </a:r>
            <a:r>
              <a:rPr lang="en-US" altLang="zh-CN" sz="2000" noProof="1">
                <a:solidFill>
                  <a:srgbClr val="000099"/>
                </a:solidFill>
                <a:ea typeface="华文楷体" panose="02010600040101010101" pitchFamily="2" charset="-122"/>
              </a:rPr>
              <a:t> </a:t>
            </a:r>
            <a:r>
              <a:rPr lang="en-US" altLang="zh-CN" sz="2000" noProof="1">
                <a:solidFill>
                  <a:schemeClr val="tx1"/>
                </a:solidFill>
                <a:ea typeface="华文楷体" panose="02010600040101010101" pitchFamily="2" charset="-122"/>
              </a:rPr>
              <a:t>result;</a:t>
            </a:r>
            <a:endParaRPr lang="en-US" altLang="zh-CN" sz="2000" noProof="1">
              <a:solidFill>
                <a:schemeClr val="tx1"/>
              </a:solidFill>
              <a:ea typeface="华文楷体" panose="02010600040101010101" pitchFamily="2" charset="-122"/>
            </a:endParaRPr>
          </a:p>
          <a:p>
            <a:pPr algn="l" eaLnBrk="1" hangingPunct="1">
              <a:buClr>
                <a:srgbClr val="000099"/>
              </a:buClr>
              <a:buSzPct val="65000"/>
              <a:buFont typeface="Wingdings" panose="05000000000000000000" pitchFamily="2" charset="2"/>
              <a:buNone/>
            </a:pPr>
            <a:r>
              <a:rPr lang="en-US" altLang="zh-CN" sz="2000" noProof="1">
                <a:solidFill>
                  <a:schemeClr val="tx1"/>
                </a:solidFill>
                <a:ea typeface="华文楷体" panose="02010600040101010101" pitchFamily="2" charset="-122"/>
              </a:rPr>
              <a:t>	}</a:t>
            </a:r>
            <a:endParaRPr lang="en-US" altLang="zh-CN" sz="2000" noProof="1">
              <a:solidFill>
                <a:schemeClr val="tx1"/>
              </a:solidFill>
              <a:ea typeface="华文楷体" panose="02010600040101010101" pitchFamily="2" charset="-122"/>
            </a:endParaRPr>
          </a:p>
          <a:p>
            <a:pPr algn="l" eaLnBrk="1" hangingPunct="1">
              <a:buClr>
                <a:srgbClr val="000099"/>
              </a:buClr>
              <a:buSzPct val="65000"/>
              <a:buFont typeface="Wingdings" panose="05000000000000000000" pitchFamily="2" charset="2"/>
              <a:buNone/>
            </a:pPr>
            <a:r>
              <a:rPr lang="en-US" altLang="zh-CN" sz="2000" noProof="1">
                <a:solidFill>
                  <a:schemeClr val="tx1"/>
                </a:solidFill>
                <a:ea typeface="华文楷体" panose="02010600040101010101" pitchFamily="2" charset="-122"/>
              </a:rPr>
              <a:t>};</a:t>
            </a:r>
            <a:endParaRPr lang="en-US" altLang="zh-CN" sz="2000" dirty="0">
              <a:solidFill>
                <a:schemeClr val="tx1"/>
              </a:solidFill>
              <a:ea typeface="华文楷体" panose="02010600040101010101" pitchFamily="2" charset="-122"/>
            </a:endParaRPr>
          </a:p>
        </p:txBody>
      </p:sp>
      <p:sp>
        <p:nvSpPr>
          <p:cNvPr id="15366" name="AutoShape 6"/>
          <p:cNvSpPr>
            <a:spLocks noChangeArrowheads="1"/>
          </p:cNvSpPr>
          <p:nvPr/>
        </p:nvSpPr>
        <p:spPr bwMode="auto">
          <a:xfrm>
            <a:off x="5724525" y="1989138"/>
            <a:ext cx="3168650" cy="2016125"/>
          </a:xfrm>
          <a:prstGeom prst="wedgeRoundRectCallout">
            <a:avLst>
              <a:gd name="adj1" fmla="val -75000"/>
              <a:gd name="adj2" fmla="val 1810"/>
              <a:gd name="adj3" fmla="val 16667"/>
            </a:avLst>
          </a:prstGeom>
          <a:solidFill>
            <a:srgbClr val="000099"/>
          </a:solidFill>
          <a:ln w="9525" algn="ctr">
            <a:solidFill>
              <a:schemeClr val="tx1"/>
            </a:solidFill>
            <a:miter lim="800000"/>
          </a:ln>
        </p:spPr>
        <p:txBody>
          <a:bodyPr lIns="90000" tIns="46800" rIns="90000" bIns="46800" anchor="ct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buClr>
                <a:srgbClr val="000099"/>
              </a:buClr>
              <a:buSzPct val="65000"/>
              <a:buFont typeface="Wingdings" panose="05000000000000000000" pitchFamily="2" charset="2"/>
              <a:buNone/>
            </a:pPr>
            <a:r>
              <a:rPr kumimoji="1" lang="zh-CN" altLang="en-US" sz="2000" dirty="0">
                <a:solidFill>
                  <a:schemeClr val="tx1"/>
                </a:solidFill>
                <a:ea typeface="华文楷体" panose="02010600040101010101" pitchFamily="2" charset="-122"/>
              </a:rPr>
              <a:t>虚函数：用于支持动态绑定</a:t>
            </a:r>
            <a:endParaRPr kumimoji="1" lang="zh-CN" altLang="en-US" sz="2000" dirty="0">
              <a:solidFill>
                <a:schemeClr val="tx1"/>
              </a:solidFill>
              <a:ea typeface="华文楷体" panose="02010600040101010101" pitchFamily="2" charset="-122"/>
            </a:endParaRPr>
          </a:p>
          <a:p>
            <a:pPr algn="l" eaLnBrk="1" hangingPunct="1">
              <a:buClr>
                <a:srgbClr val="000099"/>
              </a:buClr>
              <a:buSzPct val="65000"/>
              <a:buFont typeface="Wingdings" panose="05000000000000000000" pitchFamily="2" charset="2"/>
              <a:buNone/>
            </a:pPr>
            <a:endParaRPr kumimoji="1" lang="zh-CN" altLang="en-US" sz="2000" dirty="0">
              <a:solidFill>
                <a:schemeClr val="tx1"/>
              </a:solidFill>
              <a:ea typeface="华文楷体" panose="02010600040101010101" pitchFamily="2" charset="-122"/>
            </a:endParaRPr>
          </a:p>
          <a:p>
            <a:pPr algn="l" eaLnBrk="1" hangingPunct="1">
              <a:buClr>
                <a:srgbClr val="000099"/>
              </a:buClr>
              <a:buSzPct val="65000"/>
              <a:buFont typeface="Wingdings" panose="05000000000000000000" pitchFamily="2" charset="2"/>
              <a:buNone/>
            </a:pPr>
            <a:r>
              <a:rPr kumimoji="1" lang="zh-CN" altLang="en-US" sz="2000" dirty="0">
                <a:solidFill>
                  <a:schemeClr val="tx1"/>
                </a:solidFill>
                <a:ea typeface="华文楷体" panose="02010600040101010101" pitchFamily="2" charset="-122"/>
              </a:rPr>
              <a:t>继承和动态绑定：子类型多态性，为面向对象提供基础</a:t>
            </a:r>
            <a:endParaRPr kumimoji="1" lang="zh-CN" altLang="en-US" sz="2000" dirty="0">
              <a:solidFill>
                <a:schemeClr val="tx1"/>
              </a:solidFill>
              <a:ea typeface="华文楷体" panose="02010600040101010101" pitchFamily="2" charset="-122"/>
            </a:endParaRPr>
          </a:p>
        </p:txBody>
      </p:sp>
    </p:spTree>
  </p:cSld>
  <p:clrMapOvr>
    <a:masterClrMapping/>
  </p:clrMapOvr>
  <p:transition>
    <p:rand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eaLnBrk="1" hangingPunct="1"/>
            <a:r>
              <a:rPr lang="en-US" altLang="zh-CN" sz="1200" b="0">
                <a:solidFill>
                  <a:schemeClr val="tx1"/>
                </a:solidFill>
                <a:latin typeface="Verdana" panose="020B0604030504040204" pitchFamily="34" charset="0"/>
                <a:ea typeface="宋体" panose="02010600030101010101" pitchFamily="2" charset="-122"/>
              </a:rPr>
              <a:t> </a:t>
            </a:r>
            <a:endParaRPr lang="en-US" altLang="zh-CN" sz="1200" b="0">
              <a:solidFill>
                <a:schemeClr val="tx1"/>
              </a:solidFill>
              <a:latin typeface="Verdana" panose="020B0604030504040204" pitchFamily="34" charset="0"/>
              <a:ea typeface="宋体" panose="02010600030101010101" pitchFamily="2" charset="-122"/>
            </a:endParaRPr>
          </a:p>
        </p:txBody>
      </p:sp>
      <p:sp>
        <p:nvSpPr>
          <p:cNvPr id="16387" name="Rectangle 2"/>
          <p:cNvSpPr>
            <a:spLocks noGrp="1" noChangeArrowheads="1"/>
          </p:cNvSpPr>
          <p:nvPr>
            <p:ph type="title"/>
          </p:nvPr>
        </p:nvSpPr>
        <p:spPr>
          <a:xfrm>
            <a:off x="533400" y="228600"/>
            <a:ext cx="7772400" cy="1143000"/>
          </a:xfrm>
        </p:spPr>
        <p:txBody>
          <a:bodyPr/>
          <a:lstStyle/>
          <a:p>
            <a:pPr algn="ctr" eaLnBrk="1" hangingPunct="1"/>
            <a:r>
              <a:rPr lang="zh-CN" altLang="en-US" sz="4000" b="1" dirty="0" smtClean="0">
                <a:latin typeface="Times New Roman" panose="02020603050405020304" pitchFamily="18" charset="0"/>
                <a:ea typeface="隶书" panose="02010509060101010101" pitchFamily="49" charset="-122"/>
              </a:rPr>
              <a:t>类的层次关系</a:t>
            </a:r>
            <a:endParaRPr lang="zh-CN" altLang="en-US" sz="4000" b="1" dirty="0" smtClean="0">
              <a:latin typeface="Times New Roman" panose="02020603050405020304" pitchFamily="18" charset="0"/>
              <a:ea typeface="隶书" panose="02010509060101010101" pitchFamily="49" charset="-122"/>
            </a:endParaRPr>
          </a:p>
        </p:txBody>
      </p:sp>
      <p:sp>
        <p:nvSpPr>
          <p:cNvPr id="191491" name="Text Box 3"/>
          <p:cNvSpPr txBox="1">
            <a:spLocks noChangeArrowheads="1"/>
          </p:cNvSpPr>
          <p:nvPr/>
        </p:nvSpPr>
        <p:spPr bwMode="auto">
          <a:xfrm>
            <a:off x="1187624" y="1196752"/>
            <a:ext cx="7488237" cy="5511382"/>
          </a:xfrm>
          <a:prstGeom prst="rect">
            <a:avLst/>
          </a:prstGeom>
          <a:noFill/>
          <a:ln w="9525">
            <a:solidFill>
              <a:schemeClr val="tx1"/>
            </a:solidFill>
            <a:miter lim="800000"/>
          </a:ln>
        </p:spPr>
        <p:txBody>
          <a:bodyPr lIns="90000" tIns="46800" rIns="90000" bIns="46800" anchor="ctr">
            <a:spAutoFit/>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lnSpc>
                <a:spcPct val="200000"/>
              </a:lnSpc>
              <a:buClr>
                <a:srgbClr val="000099"/>
              </a:buClr>
              <a:buSzPct val="65000"/>
              <a:buFont typeface="Wingdings" panose="05000000000000000000" pitchFamily="2" charset="2"/>
              <a:buNone/>
            </a:pPr>
            <a:r>
              <a:rPr kumimoji="1" lang="zh-CN" altLang="en-US" sz="2800" dirty="0">
                <a:solidFill>
                  <a:srgbClr val="FFFF00"/>
                </a:solidFill>
                <a:ea typeface="华文楷体" panose="02010600040101010101" pitchFamily="2" charset="-122"/>
              </a:rPr>
              <a:t>如何确定类层次结构的成员，通常是以下步骤反复迭代的过程：</a:t>
            </a:r>
            <a:endParaRPr kumimoji="1" lang="zh-CN" altLang="en-US" sz="2800" dirty="0">
              <a:solidFill>
                <a:srgbClr val="FFFF00"/>
              </a:solidFill>
              <a:ea typeface="华文楷体" panose="02010600040101010101" pitchFamily="2" charset="-122"/>
            </a:endParaRPr>
          </a:p>
          <a:p>
            <a:pPr algn="l" eaLnBrk="1" hangingPunct="1">
              <a:lnSpc>
                <a:spcPct val="200000"/>
              </a:lnSpc>
              <a:buClr>
                <a:srgbClr val="00B0F0"/>
              </a:buClr>
              <a:buSzPct val="65000"/>
              <a:buFont typeface="Wingdings" panose="05000000000000000000" pitchFamily="2" charset="2"/>
              <a:buChar char="u"/>
            </a:pPr>
            <a:r>
              <a:rPr kumimoji="1" lang="zh-CN" altLang="en-US" sz="2400" dirty="0">
                <a:solidFill>
                  <a:schemeClr val="tx1"/>
                </a:solidFill>
                <a:ea typeface="华文楷体" panose="02010600040101010101" pitchFamily="2" charset="-122"/>
              </a:rPr>
              <a:t>类层次结构的公有接口应该提供哪些操作</a:t>
            </a:r>
            <a:endParaRPr kumimoji="1" lang="zh-CN" altLang="en-US" sz="2400" dirty="0">
              <a:solidFill>
                <a:schemeClr val="tx1"/>
              </a:solidFill>
              <a:ea typeface="华文楷体" panose="02010600040101010101" pitchFamily="2" charset="-122"/>
            </a:endParaRPr>
          </a:p>
          <a:p>
            <a:pPr algn="l" eaLnBrk="1" hangingPunct="1">
              <a:lnSpc>
                <a:spcPct val="200000"/>
              </a:lnSpc>
              <a:buClr>
                <a:srgbClr val="00B0F0"/>
              </a:buClr>
              <a:buSzPct val="65000"/>
              <a:buFont typeface="Wingdings" panose="05000000000000000000" pitchFamily="2" charset="2"/>
              <a:buChar char="u"/>
            </a:pPr>
            <a:r>
              <a:rPr kumimoji="1" lang="zh-CN" altLang="en-US" sz="2400" dirty="0">
                <a:solidFill>
                  <a:schemeClr val="tx1"/>
                </a:solidFill>
                <a:ea typeface="华文楷体" panose="02010600040101010101" pitchFamily="2" charset="-122"/>
              </a:rPr>
              <a:t>这些操作之中哪些应该被声明为虚拟的</a:t>
            </a:r>
            <a:endParaRPr kumimoji="1" lang="zh-CN" altLang="en-US" sz="2400" dirty="0">
              <a:solidFill>
                <a:schemeClr val="tx1"/>
              </a:solidFill>
              <a:ea typeface="华文楷体" panose="02010600040101010101" pitchFamily="2" charset="-122"/>
            </a:endParaRPr>
          </a:p>
          <a:p>
            <a:pPr algn="l" eaLnBrk="1" hangingPunct="1">
              <a:lnSpc>
                <a:spcPct val="200000"/>
              </a:lnSpc>
              <a:buClr>
                <a:srgbClr val="00B0F0"/>
              </a:buClr>
              <a:buSzPct val="65000"/>
              <a:buFont typeface="Wingdings" panose="05000000000000000000" pitchFamily="2" charset="2"/>
              <a:buChar char="u"/>
            </a:pPr>
            <a:r>
              <a:rPr kumimoji="1" lang="zh-CN" altLang="en-US" sz="2400" dirty="0">
                <a:solidFill>
                  <a:schemeClr val="tx1"/>
                </a:solidFill>
                <a:ea typeface="华文楷体" panose="02010600040101010101" pitchFamily="2" charset="-122"/>
              </a:rPr>
              <a:t>单个的派生类需要哪些其他的操作</a:t>
            </a:r>
            <a:endParaRPr kumimoji="1" lang="zh-CN" altLang="en-US" sz="2400" dirty="0">
              <a:solidFill>
                <a:schemeClr val="tx1"/>
              </a:solidFill>
              <a:ea typeface="华文楷体" panose="02010600040101010101" pitchFamily="2" charset="-122"/>
            </a:endParaRPr>
          </a:p>
          <a:p>
            <a:pPr algn="l" eaLnBrk="1" hangingPunct="1">
              <a:lnSpc>
                <a:spcPct val="200000"/>
              </a:lnSpc>
              <a:buClr>
                <a:srgbClr val="00B0F0"/>
              </a:buClr>
              <a:buSzPct val="65000"/>
              <a:buFont typeface="Wingdings" panose="05000000000000000000" pitchFamily="2" charset="2"/>
              <a:buChar char="u"/>
            </a:pPr>
            <a:r>
              <a:rPr kumimoji="1" lang="zh-CN" altLang="en-US" sz="2400" dirty="0">
                <a:solidFill>
                  <a:schemeClr val="tx1"/>
                </a:solidFill>
                <a:ea typeface="华文楷体" panose="02010600040101010101" pitchFamily="2" charset="-122"/>
              </a:rPr>
              <a:t>在抽象基类中应该声明哪些数据成员</a:t>
            </a:r>
            <a:endParaRPr kumimoji="1" lang="zh-CN" altLang="en-US" sz="2400" dirty="0">
              <a:solidFill>
                <a:schemeClr val="tx1"/>
              </a:solidFill>
              <a:ea typeface="华文楷体" panose="02010600040101010101" pitchFamily="2" charset="-122"/>
            </a:endParaRPr>
          </a:p>
          <a:p>
            <a:pPr algn="l" eaLnBrk="1" hangingPunct="1">
              <a:lnSpc>
                <a:spcPct val="200000"/>
              </a:lnSpc>
              <a:buClr>
                <a:srgbClr val="00B0F0"/>
              </a:buClr>
              <a:buSzPct val="65000"/>
              <a:buFont typeface="Wingdings" panose="05000000000000000000" pitchFamily="2" charset="2"/>
              <a:buChar char="u"/>
            </a:pPr>
            <a:r>
              <a:rPr kumimoji="1" lang="zh-CN" altLang="en-US" sz="2400" dirty="0">
                <a:solidFill>
                  <a:schemeClr val="tx1"/>
                </a:solidFill>
                <a:ea typeface="华文楷体" panose="02010600040101010101" pitchFamily="2" charset="-122"/>
              </a:rPr>
              <a:t>单个的派生类要求哪些数据成员</a:t>
            </a:r>
            <a:endParaRPr kumimoji="1" lang="zh-CN" altLang="en-US" sz="2400" dirty="0">
              <a:solidFill>
                <a:schemeClr val="tx1"/>
              </a:solidFill>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2000"/>
                                  </p:stCondLst>
                                  <p:iterate type="lt">
                                    <p:tmPct val="100000"/>
                                  </p:iterate>
                                  <p:childTnLst>
                                    <p:set>
                                      <p:cBhvr>
                                        <p:cTn id="6" dur="1" fill="hold">
                                          <p:stCondLst>
                                            <p:cond delay="0"/>
                                          </p:stCondLst>
                                        </p:cTn>
                                        <p:tgtEl>
                                          <p:spTgt spid="191491">
                                            <p:txEl>
                                              <p:pRg st="0" end="0"/>
                                            </p:txEl>
                                          </p:spTgt>
                                        </p:tgtEl>
                                        <p:attrNameLst>
                                          <p:attrName>style.visibility</p:attrName>
                                        </p:attrNameLst>
                                      </p:cBhvr>
                                      <p:to>
                                        <p:strVal val="visible"/>
                                      </p:to>
                                    </p:set>
                                    <p:animEffect transition="in" filter="checkerboard(across)">
                                      <p:cBhvr>
                                        <p:cTn id="7" dur="75"/>
                                        <p:tgtEl>
                                          <p:spTgt spid="191491">
                                            <p:txEl>
                                              <p:pRg st="0" end="0"/>
                                            </p:txEl>
                                          </p:spTgt>
                                        </p:tgtEl>
                                      </p:cBhvr>
                                    </p:animEffect>
                                  </p:childTnLst>
                                </p:cTn>
                              </p:par>
                            </p:childTnLst>
                          </p:cTn>
                        </p:par>
                        <p:par>
                          <p:cTn id="8" fill="hold">
                            <p:stCondLst>
                              <p:cond delay="4100"/>
                            </p:stCondLst>
                            <p:childTnLst>
                              <p:par>
                                <p:cTn id="9" presetID="5" presetClass="entr" presetSubtype="10" fill="hold" grpId="0" nodeType="afterEffect">
                                  <p:stCondLst>
                                    <p:cond delay="2000"/>
                                  </p:stCondLst>
                                  <p:iterate type="lt">
                                    <p:tmPct val="100000"/>
                                  </p:iterate>
                                  <p:childTnLst>
                                    <p:set>
                                      <p:cBhvr>
                                        <p:cTn id="10" dur="1" fill="hold">
                                          <p:stCondLst>
                                            <p:cond delay="0"/>
                                          </p:stCondLst>
                                        </p:cTn>
                                        <p:tgtEl>
                                          <p:spTgt spid="191491">
                                            <p:txEl>
                                              <p:pRg st="1" end="1"/>
                                            </p:txEl>
                                          </p:spTgt>
                                        </p:tgtEl>
                                        <p:attrNameLst>
                                          <p:attrName>style.visibility</p:attrName>
                                        </p:attrNameLst>
                                      </p:cBhvr>
                                      <p:to>
                                        <p:strVal val="visible"/>
                                      </p:to>
                                    </p:set>
                                    <p:animEffect transition="in" filter="checkerboard(across)">
                                      <p:cBhvr>
                                        <p:cTn id="11" dur="75"/>
                                        <p:tgtEl>
                                          <p:spTgt spid="191491">
                                            <p:txEl>
                                              <p:pRg st="1" end="1"/>
                                            </p:txEl>
                                          </p:spTgt>
                                        </p:tgtEl>
                                      </p:cBhvr>
                                    </p:animEffect>
                                  </p:childTnLst>
                                </p:cTn>
                              </p:par>
                            </p:childTnLst>
                          </p:cTn>
                        </p:par>
                        <p:par>
                          <p:cTn id="12" fill="hold">
                            <p:stCondLst>
                              <p:cond delay="7450"/>
                            </p:stCondLst>
                            <p:childTnLst>
                              <p:par>
                                <p:cTn id="13" presetID="5" presetClass="entr" presetSubtype="10" fill="hold" grpId="0" nodeType="afterEffect">
                                  <p:stCondLst>
                                    <p:cond delay="2000"/>
                                  </p:stCondLst>
                                  <p:iterate type="lt">
                                    <p:tmPct val="100000"/>
                                  </p:iterate>
                                  <p:childTnLst>
                                    <p:set>
                                      <p:cBhvr>
                                        <p:cTn id="14" dur="1" fill="hold">
                                          <p:stCondLst>
                                            <p:cond delay="0"/>
                                          </p:stCondLst>
                                        </p:cTn>
                                        <p:tgtEl>
                                          <p:spTgt spid="191491">
                                            <p:txEl>
                                              <p:pRg st="2" end="2"/>
                                            </p:txEl>
                                          </p:spTgt>
                                        </p:tgtEl>
                                        <p:attrNameLst>
                                          <p:attrName>style.visibility</p:attrName>
                                        </p:attrNameLst>
                                      </p:cBhvr>
                                      <p:to>
                                        <p:strVal val="visible"/>
                                      </p:to>
                                    </p:set>
                                    <p:animEffect transition="in" filter="checkerboard(across)">
                                      <p:cBhvr>
                                        <p:cTn id="15" dur="75"/>
                                        <p:tgtEl>
                                          <p:spTgt spid="191491">
                                            <p:txEl>
                                              <p:pRg st="2" end="2"/>
                                            </p:txEl>
                                          </p:spTgt>
                                        </p:tgtEl>
                                      </p:cBhvr>
                                    </p:animEffect>
                                  </p:childTnLst>
                                </p:cTn>
                              </p:par>
                            </p:childTnLst>
                          </p:cTn>
                        </p:par>
                        <p:par>
                          <p:cTn id="16" fill="hold">
                            <p:stCondLst>
                              <p:cond delay="10725"/>
                            </p:stCondLst>
                            <p:childTnLst>
                              <p:par>
                                <p:cTn id="17" presetID="5" presetClass="entr" presetSubtype="10" fill="hold" grpId="0" nodeType="afterEffect">
                                  <p:stCondLst>
                                    <p:cond delay="2000"/>
                                  </p:stCondLst>
                                  <p:iterate type="lt">
                                    <p:tmPct val="100000"/>
                                  </p:iterate>
                                  <p:childTnLst>
                                    <p:set>
                                      <p:cBhvr>
                                        <p:cTn id="18" dur="1" fill="hold">
                                          <p:stCondLst>
                                            <p:cond delay="0"/>
                                          </p:stCondLst>
                                        </p:cTn>
                                        <p:tgtEl>
                                          <p:spTgt spid="191491">
                                            <p:txEl>
                                              <p:pRg st="3" end="3"/>
                                            </p:txEl>
                                          </p:spTgt>
                                        </p:tgtEl>
                                        <p:attrNameLst>
                                          <p:attrName>style.visibility</p:attrName>
                                        </p:attrNameLst>
                                      </p:cBhvr>
                                      <p:to>
                                        <p:strVal val="visible"/>
                                      </p:to>
                                    </p:set>
                                    <p:animEffect transition="in" filter="checkerboard(across)">
                                      <p:cBhvr>
                                        <p:cTn id="19" dur="75"/>
                                        <p:tgtEl>
                                          <p:spTgt spid="191491">
                                            <p:txEl>
                                              <p:pRg st="3" end="3"/>
                                            </p:txEl>
                                          </p:spTgt>
                                        </p:tgtEl>
                                      </p:cBhvr>
                                    </p:animEffect>
                                  </p:childTnLst>
                                </p:cTn>
                              </p:par>
                            </p:childTnLst>
                          </p:cTn>
                        </p:par>
                        <p:par>
                          <p:cTn id="20" fill="hold">
                            <p:stCondLst>
                              <p:cond delay="13850"/>
                            </p:stCondLst>
                            <p:childTnLst>
                              <p:par>
                                <p:cTn id="21" presetID="5" presetClass="entr" presetSubtype="10" fill="hold" grpId="0" nodeType="afterEffect">
                                  <p:stCondLst>
                                    <p:cond delay="2000"/>
                                  </p:stCondLst>
                                  <p:iterate type="lt">
                                    <p:tmPct val="100000"/>
                                  </p:iterate>
                                  <p:childTnLst>
                                    <p:set>
                                      <p:cBhvr>
                                        <p:cTn id="22" dur="1" fill="hold">
                                          <p:stCondLst>
                                            <p:cond delay="0"/>
                                          </p:stCondLst>
                                        </p:cTn>
                                        <p:tgtEl>
                                          <p:spTgt spid="191491">
                                            <p:txEl>
                                              <p:pRg st="4" end="4"/>
                                            </p:txEl>
                                          </p:spTgt>
                                        </p:tgtEl>
                                        <p:attrNameLst>
                                          <p:attrName>style.visibility</p:attrName>
                                        </p:attrNameLst>
                                      </p:cBhvr>
                                      <p:to>
                                        <p:strVal val="visible"/>
                                      </p:to>
                                    </p:set>
                                    <p:animEffect transition="in" filter="checkerboard(across)">
                                      <p:cBhvr>
                                        <p:cTn id="23" dur="75"/>
                                        <p:tgtEl>
                                          <p:spTgt spid="191491">
                                            <p:txEl>
                                              <p:pRg st="4" end="4"/>
                                            </p:txEl>
                                          </p:spTgt>
                                        </p:tgtEl>
                                      </p:cBhvr>
                                    </p:animEffect>
                                  </p:childTnLst>
                                </p:cTn>
                              </p:par>
                            </p:childTnLst>
                          </p:cTn>
                        </p:par>
                        <p:par>
                          <p:cTn id="24" fill="hold">
                            <p:stCondLst>
                              <p:cond delay="17050"/>
                            </p:stCondLst>
                            <p:childTnLst>
                              <p:par>
                                <p:cTn id="25" presetID="5" presetClass="entr" presetSubtype="10" fill="hold" grpId="0" nodeType="afterEffect">
                                  <p:stCondLst>
                                    <p:cond delay="2000"/>
                                  </p:stCondLst>
                                  <p:iterate type="lt">
                                    <p:tmPct val="100000"/>
                                  </p:iterate>
                                  <p:childTnLst>
                                    <p:set>
                                      <p:cBhvr>
                                        <p:cTn id="26" dur="1" fill="hold">
                                          <p:stCondLst>
                                            <p:cond delay="0"/>
                                          </p:stCondLst>
                                        </p:cTn>
                                        <p:tgtEl>
                                          <p:spTgt spid="191491">
                                            <p:txEl>
                                              <p:pRg st="5" end="5"/>
                                            </p:txEl>
                                          </p:spTgt>
                                        </p:tgtEl>
                                        <p:attrNameLst>
                                          <p:attrName>style.visibility</p:attrName>
                                        </p:attrNameLst>
                                      </p:cBhvr>
                                      <p:to>
                                        <p:strVal val="visible"/>
                                      </p:to>
                                    </p:set>
                                    <p:animEffect transition="in" filter="checkerboard(across)">
                                      <p:cBhvr>
                                        <p:cTn id="27" dur="75"/>
                                        <p:tgtEl>
                                          <p:spTgt spid="19149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1" grpId="0" advAuto="2000" autoUpdateAnimBg="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继承与派生的目的</a:t>
            </a:r>
            <a:endParaRPr lang="zh-CN" altLang="en-US" sz="4400" b="1">
              <a:latin typeface="Times New Roman" panose="02020603050405020304" pitchFamily="18" charset="0"/>
              <a:ea typeface="隶书" panose="02010509060101010101" pitchFamily="49" charset="-122"/>
            </a:endParaRPr>
          </a:p>
        </p:txBody>
      </p:sp>
      <p:sp>
        <p:nvSpPr>
          <p:cNvPr id="17411" name="内容占位符 2"/>
          <p:cNvSpPr>
            <a:spLocks noGrp="1"/>
          </p:cNvSpPr>
          <p:nvPr>
            <p:ph idx="1"/>
          </p:nvPr>
        </p:nvSpPr>
        <p:spPr>
          <a:xfrm>
            <a:off x="611560" y="2276872"/>
            <a:ext cx="7886700" cy="2323455"/>
          </a:xfrm>
        </p:spPr>
        <p:txBody>
          <a:bodyPr/>
          <a:lstStyle/>
          <a:p>
            <a:pPr>
              <a:lnSpc>
                <a:spcPct val="150000"/>
              </a:lnSpc>
              <a:spcAft>
                <a:spcPct val="25000"/>
              </a:spcAft>
            </a:pPr>
            <a:r>
              <a:rPr lang="zh-CN" altLang="en-US" sz="2400" b="1">
                <a:ea typeface="华文楷体" panose="02010600040101010101" pitchFamily="2" charset="-122"/>
              </a:rPr>
              <a:t>继承的目的：实现代码重用。</a:t>
            </a:r>
            <a:endParaRPr lang="zh-CN" altLang="en-US" sz="2400" b="1">
              <a:ea typeface="华文楷体" panose="02010600040101010101" pitchFamily="2" charset="-122"/>
            </a:endParaRPr>
          </a:p>
          <a:p>
            <a:pPr>
              <a:lnSpc>
                <a:spcPct val="150000"/>
              </a:lnSpc>
              <a:spcAft>
                <a:spcPct val="25000"/>
              </a:spcAft>
            </a:pPr>
            <a:r>
              <a:rPr lang="zh-CN" altLang="en-US" sz="2400" b="1">
                <a:ea typeface="华文楷体" panose="02010600040101010101" pitchFamily="2" charset="-122"/>
              </a:rPr>
              <a:t>派生的目的：当新的问题出现，原有程序无法解决（或不能完全解决）时，需要对原有程序进行改造。</a:t>
            </a:r>
            <a:endParaRPr lang="zh-CN" altLang="en-US" sz="2400" b="1">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4294967295"/>
          </p:nvPr>
        </p:nvSpPr>
        <p:spPr>
          <a:xfrm>
            <a:off x="6553200" y="6248400"/>
            <a:ext cx="2133600" cy="457200"/>
          </a:xfrm>
          <a:prstGeom prst="rect">
            <a:avLst/>
          </a:prstGeom>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eaLnBrk="1" hangingPunct="1"/>
            <a:r>
              <a:rPr lang="en-US" altLang="zh-CN" sz="1200" b="0">
                <a:solidFill>
                  <a:schemeClr val="tx1"/>
                </a:solidFill>
                <a:latin typeface="Verdana" panose="020B0604030504040204" pitchFamily="34" charset="0"/>
                <a:ea typeface="宋体" panose="02010600030101010101" pitchFamily="2" charset="-122"/>
              </a:rPr>
              <a:t> </a:t>
            </a:r>
            <a:endParaRPr lang="en-US" altLang="zh-CN" sz="1200" b="0">
              <a:solidFill>
                <a:schemeClr val="tx1"/>
              </a:solidFill>
              <a:latin typeface="Verdana" panose="020B0604030504040204" pitchFamily="34" charset="0"/>
              <a:ea typeface="宋体" panose="02010600030101010101" pitchFamily="2" charset="-122"/>
            </a:endParaRPr>
          </a:p>
        </p:txBody>
      </p:sp>
      <p:sp>
        <p:nvSpPr>
          <p:cNvPr id="19459" name="Rectangle 2"/>
          <p:cNvSpPr>
            <a:spLocks noGrp="1" noChangeArrowheads="1"/>
          </p:cNvSpPr>
          <p:nvPr>
            <p:ph type="title"/>
          </p:nvPr>
        </p:nvSpPr>
        <p:spPr>
          <a:xfrm>
            <a:off x="609600" y="152400"/>
            <a:ext cx="7772400" cy="1143000"/>
          </a:xfrm>
        </p:spPr>
        <p:txBody>
          <a:bodyPr/>
          <a:lstStyle/>
          <a:p>
            <a:pPr algn="ctr" eaLnBrk="1" hangingPunct="1"/>
            <a:r>
              <a:rPr lang="en-US" altLang="zh-CN" sz="4000" b="1" dirty="0">
                <a:latin typeface="Times New Roman" panose="02020603050405020304" pitchFamily="18" charset="0"/>
                <a:ea typeface="隶书" panose="02010509060101010101" pitchFamily="49" charset="-122"/>
              </a:rPr>
              <a:t>7.1.2</a:t>
            </a:r>
            <a:r>
              <a:rPr lang="zh-CN" altLang="en-US" sz="4000" b="1" dirty="0">
                <a:latin typeface="Times New Roman" panose="02020603050405020304" pitchFamily="18" charset="0"/>
                <a:ea typeface="隶书" panose="02010509060101010101" pitchFamily="49" charset="-122"/>
              </a:rPr>
              <a:t>派生类</a:t>
            </a:r>
            <a:r>
              <a:rPr lang="zh-CN" altLang="en-US" sz="4000" b="1" dirty="0" smtClean="0">
                <a:latin typeface="Times New Roman" panose="02020603050405020304" pitchFamily="18" charset="0"/>
                <a:ea typeface="隶书" panose="02010509060101010101" pitchFamily="49" charset="-122"/>
              </a:rPr>
              <a:t>的定义</a:t>
            </a:r>
            <a:r>
              <a:rPr lang="en-US" altLang="zh-CN" sz="4000" b="1" dirty="0" smtClean="0">
                <a:solidFill>
                  <a:srgbClr val="FFFF00"/>
                </a:solidFill>
                <a:latin typeface="Times New Roman" panose="02020603050405020304" pitchFamily="18" charset="0"/>
                <a:ea typeface="隶书" panose="02010509060101010101" pitchFamily="49" charset="-122"/>
              </a:rPr>
              <a:t>(</a:t>
            </a:r>
            <a:r>
              <a:rPr lang="zh-CN" altLang="en-US" sz="4000" b="1" dirty="0" smtClean="0">
                <a:solidFill>
                  <a:srgbClr val="FFFF00"/>
                </a:solidFill>
                <a:latin typeface="Times New Roman" panose="02020603050405020304" pitchFamily="18" charset="0"/>
                <a:ea typeface="隶书" panose="02010509060101010101" pitchFamily="49" charset="-122"/>
              </a:rPr>
              <a:t>单继承</a:t>
            </a:r>
            <a:r>
              <a:rPr lang="en-US" altLang="zh-CN" sz="4000" b="1" dirty="0" smtClean="0">
                <a:solidFill>
                  <a:srgbClr val="FFFF00"/>
                </a:solidFill>
                <a:latin typeface="Times New Roman" panose="02020603050405020304" pitchFamily="18" charset="0"/>
                <a:ea typeface="隶书" panose="02010509060101010101" pitchFamily="49" charset="-122"/>
              </a:rPr>
              <a:t>)</a:t>
            </a:r>
            <a:r>
              <a:rPr lang="zh-CN" altLang="en-US" sz="4000" b="1" dirty="0" smtClean="0">
                <a:solidFill>
                  <a:srgbClr val="FFFF00"/>
                </a:solidFill>
                <a:latin typeface="Times New Roman" panose="02020603050405020304" pitchFamily="18" charset="0"/>
                <a:ea typeface="隶书" panose="02010509060101010101" pitchFamily="49" charset="-122"/>
              </a:rPr>
              <a:t> </a:t>
            </a:r>
            <a:endParaRPr lang="zh-CN" altLang="en-US" sz="4000" b="1" dirty="0" smtClean="0">
              <a:solidFill>
                <a:srgbClr val="FFFF00"/>
              </a:solidFill>
              <a:latin typeface="Times New Roman" panose="02020603050405020304" pitchFamily="18" charset="0"/>
              <a:ea typeface="隶书" panose="02010509060101010101" pitchFamily="49" charset="-122"/>
            </a:endParaRPr>
          </a:p>
        </p:txBody>
      </p:sp>
      <p:sp>
        <p:nvSpPr>
          <p:cNvPr id="19460" name="Rectangle 3"/>
          <p:cNvSpPr>
            <a:spLocks noGrp="1" noChangeArrowheads="1"/>
          </p:cNvSpPr>
          <p:nvPr>
            <p:ph type="body" idx="1"/>
          </p:nvPr>
        </p:nvSpPr>
        <p:spPr>
          <a:xfrm>
            <a:off x="1331913" y="1052735"/>
            <a:ext cx="7354887" cy="2015679"/>
          </a:xfrm>
          <a:solidFill>
            <a:srgbClr val="DDDDDD"/>
          </a:solidFill>
          <a:ln>
            <a:solidFill>
              <a:schemeClr val="tx1"/>
            </a:solidFill>
            <a:miter lim="800000"/>
          </a:ln>
        </p:spPr>
        <p:txBody>
          <a:bodyPr/>
          <a:lstStyle/>
          <a:p>
            <a:pPr marL="0" indent="0" eaLnBrk="1" hangingPunct="1">
              <a:lnSpc>
                <a:spcPct val="125000"/>
              </a:lnSpc>
              <a:spcBef>
                <a:spcPct val="0"/>
              </a:spcBef>
              <a:buFont typeface="Wingdings" panose="05000000000000000000" pitchFamily="2" charset="2"/>
              <a:buNone/>
            </a:pPr>
            <a:r>
              <a:rPr lang="en-US" altLang="zh-CN" sz="2400" b="1" dirty="0" smtClean="0">
                <a:solidFill>
                  <a:srgbClr val="800000"/>
                </a:solidFill>
                <a:latin typeface="Times New Roman" panose="02020603050405020304" pitchFamily="18" charset="0"/>
                <a:ea typeface="华文楷体" panose="02010600040101010101" pitchFamily="2" charset="-122"/>
              </a:rPr>
              <a:t>class </a:t>
            </a:r>
            <a:r>
              <a:rPr lang="zh-CN" altLang="en-US" sz="2400" b="1" dirty="0" smtClean="0">
                <a:solidFill>
                  <a:srgbClr val="800000"/>
                </a:solidFill>
                <a:latin typeface="Times New Roman" panose="02020603050405020304" pitchFamily="18" charset="0"/>
                <a:ea typeface="华文楷体" panose="02010600040101010101" pitchFamily="2" charset="-122"/>
              </a:rPr>
              <a:t>派生类名</a:t>
            </a:r>
            <a:r>
              <a:rPr lang="en-US" altLang="zh-CN" sz="2400" b="1" dirty="0" smtClean="0">
                <a:solidFill>
                  <a:srgbClr val="800000"/>
                </a:solidFill>
                <a:latin typeface="Times New Roman" panose="02020603050405020304" pitchFamily="18" charset="0"/>
                <a:ea typeface="华文楷体" panose="02010600040101010101" pitchFamily="2" charset="-122"/>
              </a:rPr>
              <a:t>:[public/private/protected] </a:t>
            </a:r>
            <a:r>
              <a:rPr lang="zh-CN" altLang="en-US" sz="2400" b="1" dirty="0" smtClean="0">
                <a:solidFill>
                  <a:srgbClr val="800000"/>
                </a:solidFill>
                <a:latin typeface="Times New Roman" panose="02020603050405020304" pitchFamily="18" charset="0"/>
                <a:ea typeface="华文楷体" panose="02010600040101010101" pitchFamily="2" charset="-122"/>
              </a:rPr>
              <a:t>基类名</a:t>
            </a:r>
            <a:endParaRPr lang="zh-CN" altLang="en-US" sz="2400" b="1" dirty="0" smtClean="0">
              <a:solidFill>
                <a:srgbClr val="800000"/>
              </a:solidFill>
              <a:latin typeface="Times New Roman" panose="02020603050405020304" pitchFamily="18" charset="0"/>
              <a:ea typeface="华文楷体" panose="02010600040101010101" pitchFamily="2" charset="-122"/>
            </a:endParaRPr>
          </a:p>
          <a:p>
            <a:pPr marL="0" indent="0" eaLnBrk="1" hangingPunct="1">
              <a:lnSpc>
                <a:spcPct val="125000"/>
              </a:lnSpc>
              <a:spcBef>
                <a:spcPct val="0"/>
              </a:spcBef>
              <a:buFont typeface="Wingdings" panose="05000000000000000000" pitchFamily="2" charset="2"/>
              <a:buNone/>
            </a:pPr>
            <a:r>
              <a:rPr lang="en-US" altLang="zh-CN" sz="2400" b="1" dirty="0" smtClean="0">
                <a:solidFill>
                  <a:srgbClr val="800000"/>
                </a:solidFill>
                <a:latin typeface="Times New Roman" panose="02020603050405020304" pitchFamily="18" charset="0"/>
                <a:ea typeface="华文楷体" panose="02010600040101010101" pitchFamily="2" charset="-122"/>
              </a:rPr>
              <a:t>{</a:t>
            </a:r>
            <a:endParaRPr lang="en-US" altLang="zh-CN" sz="2400" b="1" dirty="0" smtClean="0">
              <a:solidFill>
                <a:srgbClr val="800000"/>
              </a:solidFill>
              <a:latin typeface="Times New Roman" panose="02020603050405020304" pitchFamily="18" charset="0"/>
              <a:ea typeface="华文楷体" panose="02010600040101010101" pitchFamily="2" charset="-122"/>
            </a:endParaRPr>
          </a:p>
          <a:p>
            <a:pPr marL="0" indent="0" eaLnBrk="1" hangingPunct="1">
              <a:lnSpc>
                <a:spcPct val="125000"/>
              </a:lnSpc>
              <a:spcBef>
                <a:spcPct val="0"/>
              </a:spcBef>
              <a:buFont typeface="Wingdings" panose="05000000000000000000" pitchFamily="2" charset="2"/>
              <a:buNone/>
            </a:pPr>
            <a:r>
              <a:rPr lang="en-US" altLang="zh-CN" sz="2400" b="1" dirty="0" smtClean="0">
                <a:solidFill>
                  <a:srgbClr val="800000"/>
                </a:solidFill>
                <a:latin typeface="Times New Roman" panose="02020603050405020304" pitchFamily="18" charset="0"/>
                <a:ea typeface="华文楷体" panose="02010600040101010101" pitchFamily="2" charset="-122"/>
              </a:rPr>
              <a:t>	</a:t>
            </a:r>
            <a:r>
              <a:rPr lang="zh-CN" altLang="en-US" sz="2400" b="1" dirty="0" smtClean="0">
                <a:solidFill>
                  <a:srgbClr val="800000"/>
                </a:solidFill>
                <a:latin typeface="Times New Roman" panose="02020603050405020304" pitchFamily="18" charset="0"/>
                <a:ea typeface="华文楷体" panose="02010600040101010101" pitchFamily="2" charset="-122"/>
              </a:rPr>
              <a:t>派生类数据成员和函数成员定义</a:t>
            </a:r>
            <a:endParaRPr lang="zh-CN" altLang="en-US" sz="2400" b="1" dirty="0" smtClean="0">
              <a:solidFill>
                <a:srgbClr val="800000"/>
              </a:solidFill>
              <a:latin typeface="Times New Roman" panose="02020603050405020304" pitchFamily="18" charset="0"/>
              <a:ea typeface="华文楷体" panose="02010600040101010101" pitchFamily="2" charset="-122"/>
            </a:endParaRPr>
          </a:p>
          <a:p>
            <a:pPr marL="0" indent="0" eaLnBrk="1" hangingPunct="1">
              <a:lnSpc>
                <a:spcPct val="125000"/>
              </a:lnSpc>
              <a:spcBef>
                <a:spcPct val="0"/>
              </a:spcBef>
              <a:buFont typeface="Wingdings" panose="05000000000000000000" pitchFamily="2" charset="2"/>
              <a:buNone/>
            </a:pPr>
            <a:r>
              <a:rPr lang="en-US" altLang="zh-CN" sz="2400" b="1" dirty="0" smtClean="0">
                <a:solidFill>
                  <a:srgbClr val="800000"/>
                </a:solidFill>
                <a:latin typeface="Times New Roman" panose="02020603050405020304" pitchFamily="18" charset="0"/>
                <a:ea typeface="华文楷体" panose="02010600040101010101" pitchFamily="2" charset="-122"/>
              </a:rPr>
              <a:t>};</a:t>
            </a:r>
            <a:endParaRPr lang="en-US" altLang="zh-CN" sz="2400" b="1" dirty="0" smtClean="0">
              <a:solidFill>
                <a:srgbClr val="800000"/>
              </a:solidFill>
              <a:latin typeface="Times New Roman" panose="02020603050405020304" pitchFamily="18" charset="0"/>
              <a:ea typeface="华文楷体" panose="02010600040101010101" pitchFamily="2" charset="-122"/>
            </a:endParaRPr>
          </a:p>
          <a:p>
            <a:pPr marL="0" indent="0" eaLnBrk="1" hangingPunct="1">
              <a:lnSpc>
                <a:spcPct val="125000"/>
              </a:lnSpc>
              <a:spcBef>
                <a:spcPct val="0"/>
              </a:spcBef>
              <a:buFont typeface="Wingdings" panose="05000000000000000000" pitchFamily="2" charset="2"/>
              <a:buNone/>
            </a:pPr>
            <a:endParaRPr lang="en-US" altLang="zh-CN" sz="2400" b="1" dirty="0" smtClean="0">
              <a:solidFill>
                <a:srgbClr val="800000"/>
              </a:solidFill>
              <a:latin typeface="Times New Roman" panose="02020603050405020304" pitchFamily="18" charset="0"/>
              <a:ea typeface="华文楷体" panose="02010600040101010101" pitchFamily="2" charset="-122"/>
            </a:endParaRPr>
          </a:p>
        </p:txBody>
      </p:sp>
      <p:sp>
        <p:nvSpPr>
          <p:cNvPr id="19461" name="Rectangle 19"/>
          <p:cNvSpPr>
            <a:spLocks noChangeArrowheads="1"/>
          </p:cNvSpPr>
          <p:nvPr/>
        </p:nvSpPr>
        <p:spPr bwMode="auto">
          <a:xfrm>
            <a:off x="1331913" y="3068414"/>
            <a:ext cx="7354887" cy="3789586"/>
          </a:xfrm>
          <a:prstGeom prst="rect">
            <a:avLst/>
          </a:prstGeom>
          <a:solidFill>
            <a:schemeClr val="bg1"/>
          </a:solid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spcBef>
                <a:spcPct val="20000"/>
              </a:spcBef>
              <a:buClr>
                <a:srgbClr val="000099"/>
              </a:buClr>
              <a:buSzPct val="65000"/>
              <a:buFont typeface="Wingdings" panose="05000000000000000000" pitchFamily="2" charset="2"/>
              <a:buChar char="u"/>
            </a:pPr>
            <a:r>
              <a:rPr lang="zh-CN" altLang="en-US" sz="2400" dirty="0">
                <a:solidFill>
                  <a:srgbClr val="FFFF00"/>
                </a:solidFill>
                <a:ea typeface="华文楷体" panose="02010600040101010101" pitchFamily="2" charset="-122"/>
              </a:rPr>
              <a:t>基类名：</a:t>
            </a:r>
            <a:r>
              <a:rPr lang="zh-CN" altLang="en-US" sz="2000" dirty="0">
                <a:solidFill>
                  <a:schemeClr val="tx1"/>
                </a:solidFill>
                <a:ea typeface="华文楷体" panose="02010600040101010101" pitchFamily="2" charset="-122"/>
              </a:rPr>
              <a:t>已有的类的名称；</a:t>
            </a:r>
            <a:endParaRPr lang="zh-CN" altLang="en-US" sz="2000" dirty="0">
              <a:solidFill>
                <a:schemeClr val="tx1"/>
              </a:solidFill>
              <a:ea typeface="华文楷体" panose="02010600040101010101" pitchFamily="2" charset="-122"/>
            </a:endParaRPr>
          </a:p>
          <a:p>
            <a:pPr algn="l" eaLnBrk="1" hangingPunct="1">
              <a:spcBef>
                <a:spcPct val="20000"/>
              </a:spcBef>
              <a:buClr>
                <a:srgbClr val="000099"/>
              </a:buClr>
              <a:buSzPct val="65000"/>
              <a:buFont typeface="Wingdings" panose="05000000000000000000" pitchFamily="2" charset="2"/>
              <a:buChar char="u"/>
            </a:pPr>
            <a:r>
              <a:rPr lang="zh-CN" altLang="en-US" sz="2400" dirty="0">
                <a:solidFill>
                  <a:srgbClr val="FFFF00"/>
                </a:solidFill>
                <a:ea typeface="华文楷体" panose="02010600040101010101" pitchFamily="2" charset="-122"/>
              </a:rPr>
              <a:t>派生类名：</a:t>
            </a:r>
            <a:r>
              <a:rPr lang="zh-CN" altLang="en-US" sz="2000" dirty="0">
                <a:solidFill>
                  <a:schemeClr val="tx1"/>
                </a:solidFill>
                <a:ea typeface="华文楷体" panose="02010600040101010101" pitchFamily="2" charset="-122"/>
              </a:rPr>
              <a:t>基础原有类的特性而生成的新类的名称；</a:t>
            </a:r>
            <a:endParaRPr lang="zh-CN" altLang="en-US" sz="2000" dirty="0">
              <a:solidFill>
                <a:schemeClr val="tx1"/>
              </a:solidFill>
              <a:ea typeface="华文楷体" panose="02010600040101010101" pitchFamily="2" charset="-122"/>
            </a:endParaRPr>
          </a:p>
          <a:p>
            <a:pPr algn="l" eaLnBrk="1" hangingPunct="1">
              <a:spcBef>
                <a:spcPct val="20000"/>
              </a:spcBef>
              <a:buClr>
                <a:srgbClr val="000099"/>
              </a:buClr>
              <a:buSzPct val="65000"/>
              <a:buFont typeface="Wingdings" panose="05000000000000000000" pitchFamily="2" charset="2"/>
              <a:buChar char="u"/>
            </a:pPr>
            <a:r>
              <a:rPr lang="zh-CN" altLang="en-US" sz="2400" dirty="0">
                <a:solidFill>
                  <a:srgbClr val="FFFF00"/>
                </a:solidFill>
                <a:ea typeface="华文楷体" panose="02010600040101010101" pitchFamily="2" charset="-122"/>
              </a:rPr>
              <a:t>派生方式：</a:t>
            </a:r>
            <a:r>
              <a:rPr lang="zh-CN" altLang="en-US" sz="2000" u="sng" dirty="0">
                <a:solidFill>
                  <a:srgbClr val="FFFF00"/>
                </a:solidFill>
                <a:ea typeface="华文楷体" panose="02010600040101010101" pitchFamily="2" charset="-122"/>
              </a:rPr>
              <a:t>默认为私有继承</a:t>
            </a:r>
            <a:br>
              <a:rPr lang="zh-CN" altLang="en-US" sz="2000" u="sng" dirty="0">
                <a:solidFill>
                  <a:srgbClr val="800000"/>
                </a:solidFill>
                <a:ea typeface="华文楷体" panose="02010600040101010101" pitchFamily="2" charset="-122"/>
              </a:rPr>
            </a:br>
            <a:r>
              <a:rPr lang="zh-CN" altLang="en-US" sz="2000" dirty="0">
                <a:solidFill>
                  <a:schemeClr val="tx1"/>
                </a:solidFill>
                <a:ea typeface="华文楷体" panose="02010600040101010101" pitchFamily="2" charset="-122"/>
              </a:rPr>
              <a:t>    </a:t>
            </a:r>
            <a:r>
              <a:rPr lang="en-US" altLang="zh-CN" sz="2000" dirty="0">
                <a:solidFill>
                  <a:schemeClr val="tx1"/>
                </a:solidFill>
                <a:ea typeface="华文楷体" panose="02010600040101010101" pitchFamily="2" charset="-122"/>
              </a:rPr>
              <a:t>public     </a:t>
            </a:r>
            <a:r>
              <a:rPr lang="zh-CN" altLang="en-US" sz="2000" dirty="0">
                <a:solidFill>
                  <a:schemeClr val="tx1"/>
                </a:solidFill>
                <a:ea typeface="华文楷体" panose="02010600040101010101" pitchFamily="2" charset="-122"/>
              </a:rPr>
              <a:t>公有继承</a:t>
            </a:r>
            <a:br>
              <a:rPr lang="zh-CN" altLang="en-US" sz="2000" dirty="0">
                <a:solidFill>
                  <a:schemeClr val="tx1"/>
                </a:solidFill>
                <a:ea typeface="华文楷体" panose="02010600040101010101" pitchFamily="2" charset="-122"/>
              </a:rPr>
            </a:br>
            <a:r>
              <a:rPr lang="zh-CN" altLang="en-US" sz="2000" dirty="0">
                <a:solidFill>
                  <a:schemeClr val="tx1"/>
                </a:solidFill>
                <a:ea typeface="华文楷体" panose="02010600040101010101" pitchFamily="2" charset="-122"/>
              </a:rPr>
              <a:t>    </a:t>
            </a:r>
            <a:r>
              <a:rPr lang="en-US" altLang="zh-CN" sz="2000" dirty="0">
                <a:solidFill>
                  <a:schemeClr val="tx1"/>
                </a:solidFill>
                <a:ea typeface="华文楷体" panose="02010600040101010101" pitchFamily="2" charset="-122"/>
              </a:rPr>
              <a:t>private    </a:t>
            </a:r>
            <a:r>
              <a:rPr lang="zh-CN" altLang="en-US" sz="2000" dirty="0">
                <a:solidFill>
                  <a:schemeClr val="tx1"/>
                </a:solidFill>
                <a:ea typeface="华文楷体" panose="02010600040101010101" pitchFamily="2" charset="-122"/>
              </a:rPr>
              <a:t>私有继承</a:t>
            </a:r>
            <a:br>
              <a:rPr lang="zh-CN" altLang="en-US" sz="2000" dirty="0">
                <a:solidFill>
                  <a:schemeClr val="tx1"/>
                </a:solidFill>
                <a:ea typeface="华文楷体" panose="02010600040101010101" pitchFamily="2" charset="-122"/>
              </a:rPr>
            </a:br>
            <a:r>
              <a:rPr lang="zh-CN" altLang="en-US" sz="2000" dirty="0">
                <a:solidFill>
                  <a:schemeClr val="tx1"/>
                </a:solidFill>
                <a:ea typeface="华文楷体" panose="02010600040101010101" pitchFamily="2" charset="-122"/>
              </a:rPr>
              <a:t>    </a:t>
            </a:r>
            <a:r>
              <a:rPr lang="en-US" altLang="zh-CN" sz="2000" dirty="0">
                <a:solidFill>
                  <a:schemeClr val="tx1"/>
                </a:solidFill>
                <a:ea typeface="华文楷体" panose="02010600040101010101" pitchFamily="2" charset="-122"/>
              </a:rPr>
              <a:t>protected </a:t>
            </a:r>
            <a:r>
              <a:rPr lang="zh-CN" altLang="en-US" sz="2000" dirty="0">
                <a:solidFill>
                  <a:schemeClr val="tx1"/>
                </a:solidFill>
                <a:ea typeface="华文楷体" panose="02010600040101010101" pitchFamily="2" charset="-122"/>
              </a:rPr>
              <a:t>保护</a:t>
            </a:r>
            <a:r>
              <a:rPr lang="zh-CN" altLang="en-US" sz="2000" dirty="0" smtClean="0">
                <a:solidFill>
                  <a:schemeClr val="tx1"/>
                </a:solidFill>
                <a:ea typeface="华文楷体" panose="02010600040101010101" pitchFamily="2" charset="-122"/>
              </a:rPr>
              <a:t>继承</a:t>
            </a:r>
            <a:endParaRPr lang="en-US" altLang="zh-CN" sz="2000" dirty="0" smtClean="0">
              <a:solidFill>
                <a:schemeClr val="tx1"/>
              </a:solidFill>
              <a:ea typeface="华文楷体" panose="02010600040101010101" pitchFamily="2" charset="-122"/>
            </a:endParaRPr>
          </a:p>
          <a:p>
            <a:pPr algn="l" eaLnBrk="1" hangingPunct="1">
              <a:spcBef>
                <a:spcPct val="20000"/>
              </a:spcBef>
              <a:buClr>
                <a:srgbClr val="000099"/>
              </a:buClr>
              <a:buSzPct val="65000"/>
              <a:buFont typeface="Wingdings" panose="05000000000000000000" pitchFamily="2" charset="2"/>
              <a:buChar char="u"/>
            </a:pPr>
            <a:r>
              <a:rPr lang="zh-CN" altLang="en-US" sz="2400" dirty="0">
                <a:solidFill>
                  <a:srgbClr val="FFFF00"/>
                </a:solidFill>
                <a:ea typeface="华文楷体" panose="02010600040101010101" pitchFamily="2" charset="-122"/>
              </a:rPr>
              <a:t>派生方式的不同：</a:t>
            </a:r>
            <a:br>
              <a:rPr lang="zh-CN" altLang="en-US" sz="2000" dirty="0">
                <a:solidFill>
                  <a:srgbClr val="000099"/>
                </a:solidFill>
                <a:ea typeface="华文楷体" panose="02010600040101010101" pitchFamily="2" charset="-122"/>
              </a:rPr>
            </a:br>
            <a:r>
              <a:rPr lang="zh-CN" altLang="en-US" sz="2000" dirty="0">
                <a:solidFill>
                  <a:srgbClr val="000099"/>
                </a:solidFill>
                <a:ea typeface="华文楷体" panose="02010600040101010101" pitchFamily="2" charset="-122"/>
              </a:rPr>
              <a:t>   </a:t>
            </a:r>
            <a:r>
              <a:rPr lang="zh-CN" altLang="en-US" sz="2000" dirty="0">
                <a:solidFill>
                  <a:schemeClr val="tx1"/>
                </a:solidFill>
                <a:ea typeface="华文楷体" panose="02010600040101010101" pitchFamily="2" charset="-122"/>
              </a:rPr>
              <a:t>派生类中新增成员对基类成员的访问控制；</a:t>
            </a:r>
            <a:br>
              <a:rPr lang="zh-CN" altLang="en-US" sz="2000" dirty="0">
                <a:solidFill>
                  <a:schemeClr val="tx1"/>
                </a:solidFill>
                <a:ea typeface="华文楷体" panose="02010600040101010101" pitchFamily="2" charset="-122"/>
              </a:rPr>
            </a:br>
            <a:r>
              <a:rPr lang="zh-CN" altLang="en-US" sz="2000" dirty="0">
                <a:solidFill>
                  <a:schemeClr val="tx1"/>
                </a:solidFill>
                <a:ea typeface="华文楷体" panose="02010600040101010101" pitchFamily="2" charset="-122"/>
              </a:rPr>
              <a:t>   派生类外部，通过派生类对象对基类成员的访问控制。</a:t>
            </a:r>
            <a:endParaRPr lang="zh-CN" altLang="en-US" sz="2000" dirty="0">
              <a:solidFill>
                <a:schemeClr val="tx1"/>
              </a:solidFill>
              <a:ea typeface="华文楷体" panose="02010600040101010101" pitchFamily="2" charset="-122"/>
            </a:endParaRPr>
          </a:p>
          <a:p>
            <a:pPr algn="l" eaLnBrk="1" hangingPunct="1">
              <a:spcBef>
                <a:spcPct val="20000"/>
              </a:spcBef>
              <a:buClr>
                <a:srgbClr val="000099"/>
              </a:buClr>
              <a:buSzPct val="65000"/>
              <a:buFont typeface="Wingdings" panose="05000000000000000000" pitchFamily="2" charset="2"/>
              <a:buChar char="u"/>
            </a:pPr>
            <a:r>
              <a:rPr lang="zh-CN" altLang="en-US" sz="2400" dirty="0">
                <a:solidFill>
                  <a:srgbClr val="FFFF00"/>
                </a:solidFill>
                <a:ea typeface="华文楷体" panose="02010600040101010101" pitchFamily="2" charset="-122"/>
              </a:rPr>
              <a:t>派生类不能继承基类的构造函数和析构函数</a:t>
            </a:r>
            <a:endParaRPr lang="zh-CN" altLang="en-US" sz="2400" dirty="0">
              <a:solidFill>
                <a:srgbClr val="FFFF00"/>
              </a:solidFill>
              <a:ea typeface="华文楷体" panose="02010600040101010101" pitchFamily="2" charset="-122"/>
            </a:endParaRPr>
          </a:p>
          <a:p>
            <a:pPr algn="l" eaLnBrk="1" hangingPunct="1">
              <a:spcBef>
                <a:spcPct val="20000"/>
              </a:spcBef>
              <a:buClr>
                <a:srgbClr val="000099"/>
              </a:buClr>
              <a:buSzPct val="65000"/>
              <a:buFont typeface="Wingdings" panose="05000000000000000000" pitchFamily="2" charset="2"/>
              <a:buChar char="u"/>
            </a:pPr>
            <a:endParaRPr lang="zh-CN" altLang="en-US" sz="2000" dirty="0">
              <a:solidFill>
                <a:schemeClr val="tx1"/>
              </a:solidFill>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灯片编号占位符 4"/>
          <p:cNvSpPr>
            <a:spLocks noGrp="1"/>
          </p:cNvSpPr>
          <p:nvPr>
            <p:ph type="sldNum" sz="quarter" idx="4294967295"/>
          </p:nvPr>
        </p:nvSpPr>
        <p:spPr>
          <a:xfrm>
            <a:off x="6553200" y="6248400"/>
            <a:ext cx="2133600" cy="457200"/>
          </a:xfrm>
          <a:prstGeom prst="rect">
            <a:avLst/>
          </a:prstGeom>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eaLnBrk="1" hangingPunct="1"/>
            <a:r>
              <a:rPr lang="en-US" altLang="zh-CN" sz="1200" b="0">
                <a:solidFill>
                  <a:schemeClr val="tx1"/>
                </a:solidFill>
                <a:latin typeface="Verdana" panose="020B0604030504040204" pitchFamily="34" charset="0"/>
                <a:ea typeface="宋体" panose="02010600030101010101" pitchFamily="2" charset="-122"/>
              </a:rPr>
              <a:t> </a:t>
            </a:r>
            <a:endParaRPr lang="en-US" altLang="zh-CN" sz="1200" b="0">
              <a:solidFill>
                <a:schemeClr val="tx1"/>
              </a:solidFill>
              <a:latin typeface="Verdana" panose="020B0604030504040204" pitchFamily="34" charset="0"/>
              <a:ea typeface="宋体" panose="02010600030101010101" pitchFamily="2" charset="-122"/>
            </a:endParaRPr>
          </a:p>
        </p:txBody>
      </p:sp>
      <p:sp>
        <p:nvSpPr>
          <p:cNvPr id="21507" name="Rectangle 2"/>
          <p:cNvSpPr>
            <a:spLocks noGrp="1" noChangeArrowheads="1"/>
          </p:cNvSpPr>
          <p:nvPr>
            <p:ph type="title"/>
          </p:nvPr>
        </p:nvSpPr>
        <p:spPr>
          <a:xfrm>
            <a:off x="609600" y="152400"/>
            <a:ext cx="7772400" cy="1143000"/>
          </a:xfrm>
        </p:spPr>
        <p:txBody>
          <a:bodyPr/>
          <a:lstStyle/>
          <a:p>
            <a:pPr algn="ctr" eaLnBrk="1" hangingPunct="1"/>
            <a:r>
              <a:rPr lang="zh-CN" altLang="en-US" sz="4000" b="1" dirty="0" smtClean="0">
                <a:latin typeface="Times New Roman" panose="02020603050405020304" pitchFamily="18" charset="0"/>
                <a:ea typeface="隶书" panose="02010509060101010101" pitchFamily="49" charset="-122"/>
              </a:rPr>
              <a:t>单继承范例 </a:t>
            </a:r>
            <a:endParaRPr lang="zh-CN" altLang="en-US" sz="4000" b="1" dirty="0" smtClean="0">
              <a:latin typeface="Times New Roman" panose="02020603050405020304" pitchFamily="18" charset="0"/>
              <a:ea typeface="隶书" panose="02010509060101010101" pitchFamily="49" charset="-122"/>
            </a:endParaRPr>
          </a:p>
        </p:txBody>
      </p:sp>
      <p:grpSp>
        <p:nvGrpSpPr>
          <p:cNvPr id="21508" name="Group 3"/>
          <p:cNvGrpSpPr/>
          <p:nvPr/>
        </p:nvGrpSpPr>
        <p:grpSpPr bwMode="auto">
          <a:xfrm>
            <a:off x="539552" y="1630363"/>
            <a:ext cx="3095823" cy="3529012"/>
            <a:chOff x="1020" y="1026"/>
            <a:chExt cx="1950" cy="1814"/>
          </a:xfrm>
          <a:noFill/>
        </p:grpSpPr>
        <p:sp>
          <p:nvSpPr>
            <p:cNvPr id="21520" name="Rectangle 4"/>
            <p:cNvSpPr>
              <a:spLocks noChangeArrowheads="1"/>
            </p:cNvSpPr>
            <p:nvPr/>
          </p:nvSpPr>
          <p:spPr bwMode="auto">
            <a:xfrm>
              <a:off x="1020" y="1026"/>
              <a:ext cx="1950" cy="363"/>
            </a:xfrm>
            <a:prstGeom prst="rect">
              <a:avLst/>
            </a:prstGeom>
            <a:grp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eaLnBrk="1" hangingPunct="1">
                <a:lnSpc>
                  <a:spcPct val="125000"/>
                </a:lnSpc>
                <a:buClr>
                  <a:schemeClr val="tx2"/>
                </a:buClr>
                <a:buSzPct val="70000"/>
                <a:buFont typeface="Wingdings" panose="05000000000000000000" pitchFamily="2" charset="2"/>
                <a:buNone/>
              </a:pPr>
              <a:r>
                <a:rPr lang="en-US" altLang="zh-CN" sz="2400" dirty="0">
                  <a:solidFill>
                    <a:srgbClr val="FFFF00"/>
                  </a:solidFill>
                  <a:ea typeface="华文楷体" panose="02010600040101010101" pitchFamily="2" charset="-122"/>
                </a:rPr>
                <a:t>Student</a:t>
              </a:r>
              <a:endParaRPr lang="en-US" altLang="zh-CN" sz="2400" dirty="0">
                <a:solidFill>
                  <a:srgbClr val="FFFF00"/>
                </a:solidFill>
                <a:ea typeface="华文楷体" panose="02010600040101010101" pitchFamily="2" charset="-122"/>
              </a:endParaRPr>
            </a:p>
          </p:txBody>
        </p:sp>
        <p:sp>
          <p:nvSpPr>
            <p:cNvPr id="21521" name="Rectangle 5"/>
            <p:cNvSpPr>
              <a:spLocks noChangeArrowheads="1"/>
            </p:cNvSpPr>
            <p:nvPr/>
          </p:nvSpPr>
          <p:spPr bwMode="auto">
            <a:xfrm>
              <a:off x="1020" y="1389"/>
              <a:ext cx="1950" cy="635"/>
            </a:xfrm>
            <a:prstGeom prst="rect">
              <a:avLst/>
            </a:prstGeom>
            <a:grp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lnSpc>
                  <a:spcPct val="125000"/>
                </a:lnSpc>
                <a:buClr>
                  <a:schemeClr val="tx2"/>
                </a:buClr>
                <a:buSzPct val="70000"/>
                <a:buFont typeface="Wingdings" panose="05000000000000000000" pitchFamily="2" charset="2"/>
                <a:buNone/>
              </a:pPr>
              <a:r>
                <a:rPr lang="en-US" altLang="zh-CN" sz="2000">
                  <a:solidFill>
                    <a:schemeClr val="tx1"/>
                  </a:solidFill>
                  <a:ea typeface="华文楷体" panose="02010600040101010101" pitchFamily="2" charset="-122"/>
                </a:rPr>
                <a:t>-number:int</a:t>
              </a:r>
              <a:endParaRPr lang="en-US" altLang="zh-CN" sz="2000">
                <a:solidFill>
                  <a:schemeClr val="tx1"/>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2000">
                  <a:solidFill>
                    <a:schemeClr val="tx1"/>
                  </a:solidFill>
                  <a:ea typeface="华文楷体" panose="02010600040101010101" pitchFamily="2" charset="-122"/>
                </a:rPr>
                <a:t>-name:char *</a:t>
              </a:r>
              <a:endParaRPr lang="en-US" altLang="zh-CN" sz="2000">
                <a:solidFill>
                  <a:schemeClr val="tx1"/>
                </a:solidFill>
                <a:ea typeface="华文楷体" panose="02010600040101010101" pitchFamily="2" charset="-122"/>
              </a:endParaRPr>
            </a:p>
          </p:txBody>
        </p:sp>
        <p:sp>
          <p:nvSpPr>
            <p:cNvPr id="21522" name="Rectangle 6"/>
            <p:cNvSpPr>
              <a:spLocks noChangeArrowheads="1"/>
            </p:cNvSpPr>
            <p:nvPr/>
          </p:nvSpPr>
          <p:spPr bwMode="auto">
            <a:xfrm>
              <a:off x="1020" y="2024"/>
              <a:ext cx="1950" cy="816"/>
            </a:xfrm>
            <a:prstGeom prst="rect">
              <a:avLst/>
            </a:prstGeom>
            <a:grp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lnSpc>
                  <a:spcPct val="125000"/>
                </a:lnSpc>
                <a:buClr>
                  <a:schemeClr val="tx2"/>
                </a:buClr>
                <a:buSzPct val="70000"/>
                <a:buFont typeface="Wingdings" panose="05000000000000000000" pitchFamily="2" charset="2"/>
                <a:buNone/>
              </a:pPr>
              <a:r>
                <a:rPr lang="en-US" altLang="zh-CN" sz="2000" dirty="0">
                  <a:solidFill>
                    <a:srgbClr val="FFFF00"/>
                  </a:solidFill>
                  <a:ea typeface="华文楷体" panose="02010600040101010101" pitchFamily="2" charset="-122"/>
                </a:rPr>
                <a:t>+Student()</a:t>
              </a:r>
              <a:endParaRPr lang="en-US" altLang="zh-CN" sz="2000" dirty="0">
                <a:solidFill>
                  <a:srgbClr val="FFFF00"/>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2000" dirty="0">
                  <a:solidFill>
                    <a:srgbClr val="FFFF00"/>
                  </a:solidFill>
                  <a:ea typeface="华文楷体" panose="02010600040101010101" pitchFamily="2" charset="-122"/>
                </a:rPr>
                <a:t>+</a:t>
              </a:r>
              <a:r>
                <a:rPr lang="en-US" altLang="zh-CN" sz="2000" dirty="0" err="1">
                  <a:solidFill>
                    <a:srgbClr val="FFFF00"/>
                  </a:solidFill>
                  <a:ea typeface="华文楷体" panose="02010600040101010101" pitchFamily="2" charset="-122"/>
                </a:rPr>
                <a:t>SetValue</a:t>
              </a:r>
              <a:r>
                <a:rPr lang="en-US" altLang="zh-CN" sz="2000" dirty="0">
                  <a:solidFill>
                    <a:srgbClr val="FFFF00"/>
                  </a:solidFill>
                  <a:ea typeface="华文楷体" panose="02010600040101010101" pitchFamily="2" charset="-122"/>
                </a:rPr>
                <a:t>(</a:t>
              </a:r>
              <a:r>
                <a:rPr lang="en-US" altLang="zh-CN" sz="2000" dirty="0" err="1">
                  <a:solidFill>
                    <a:srgbClr val="FFFF00"/>
                  </a:solidFill>
                  <a:ea typeface="华文楷体" panose="02010600040101010101" pitchFamily="2" charset="-122"/>
                </a:rPr>
                <a:t>int</a:t>
              </a:r>
              <a:r>
                <a:rPr lang="en-US" altLang="zh-CN" sz="2000" dirty="0">
                  <a:solidFill>
                    <a:srgbClr val="FFFF00"/>
                  </a:solidFill>
                  <a:ea typeface="华文楷体" panose="02010600040101010101" pitchFamily="2" charset="-122"/>
                </a:rPr>
                <a:t> </a:t>
              </a:r>
              <a:r>
                <a:rPr lang="en-US" altLang="zh-CN" sz="2000" dirty="0" err="1">
                  <a:solidFill>
                    <a:srgbClr val="FFFF00"/>
                  </a:solidFill>
                  <a:ea typeface="华文楷体" panose="02010600040101010101" pitchFamily="2" charset="-122"/>
                </a:rPr>
                <a:t>n,char</a:t>
              </a:r>
              <a:r>
                <a:rPr lang="en-US" altLang="zh-CN" sz="2000" dirty="0">
                  <a:solidFill>
                    <a:srgbClr val="FFFF00"/>
                  </a:solidFill>
                  <a:ea typeface="华文楷体" panose="02010600040101010101" pitchFamily="2" charset="-122"/>
                </a:rPr>
                <a:t> *s);</a:t>
              </a:r>
              <a:endParaRPr lang="en-US" altLang="zh-CN" sz="2000" dirty="0">
                <a:solidFill>
                  <a:srgbClr val="FFFF00"/>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2000" dirty="0">
                  <a:solidFill>
                    <a:srgbClr val="FFFF00"/>
                  </a:solidFill>
                  <a:ea typeface="华文楷体" panose="02010600040101010101" pitchFamily="2" charset="-122"/>
                </a:rPr>
                <a:t>+Print()</a:t>
              </a:r>
              <a:endParaRPr lang="en-US" altLang="zh-CN" sz="2000" dirty="0">
                <a:solidFill>
                  <a:srgbClr val="FFFF00"/>
                </a:solidFill>
                <a:ea typeface="华文楷体" panose="02010600040101010101" pitchFamily="2" charset="-122"/>
              </a:endParaRPr>
            </a:p>
          </p:txBody>
        </p:sp>
      </p:grpSp>
      <p:sp>
        <p:nvSpPr>
          <p:cNvPr id="21509" name="Rectangle 18"/>
          <p:cNvSpPr>
            <a:spLocks noGrp="1" noChangeArrowheads="1"/>
          </p:cNvSpPr>
          <p:nvPr>
            <p:ph type="body" idx="1"/>
          </p:nvPr>
        </p:nvSpPr>
        <p:spPr>
          <a:xfrm>
            <a:off x="4932363" y="1198563"/>
            <a:ext cx="3384550" cy="576262"/>
          </a:xfrm>
          <a:noFill/>
          <a:ln>
            <a:solidFill>
              <a:schemeClr val="tx1"/>
            </a:solidFill>
            <a:miter lim="800000"/>
          </a:ln>
        </p:spPr>
        <p:txBody>
          <a:bodyPr/>
          <a:lstStyle/>
          <a:p>
            <a:pPr marL="0" indent="0" algn="ctr" eaLnBrk="1" hangingPunct="1">
              <a:lnSpc>
                <a:spcPct val="125000"/>
              </a:lnSpc>
              <a:spcBef>
                <a:spcPct val="0"/>
              </a:spcBef>
              <a:buFont typeface="Wingdings" panose="05000000000000000000" pitchFamily="2" charset="2"/>
              <a:buNone/>
            </a:pPr>
            <a:r>
              <a:rPr lang="en-US" altLang="zh-CN" sz="2400" b="1" dirty="0" err="1" smtClean="0">
                <a:solidFill>
                  <a:srgbClr val="FFFF00"/>
                </a:solidFill>
                <a:latin typeface="Times New Roman" panose="02020603050405020304" pitchFamily="18" charset="0"/>
                <a:ea typeface="华文楷体" panose="02010600040101010101" pitchFamily="2" charset="-122"/>
              </a:rPr>
              <a:t>WHUStudent</a:t>
            </a:r>
            <a:endParaRPr lang="en-US" altLang="zh-CN" sz="2400" b="1" dirty="0" smtClean="0">
              <a:solidFill>
                <a:srgbClr val="FFFF00"/>
              </a:solidFill>
              <a:latin typeface="Times New Roman" panose="02020603050405020304" pitchFamily="18" charset="0"/>
              <a:ea typeface="华文楷体" panose="02010600040101010101" pitchFamily="2" charset="-122"/>
            </a:endParaRPr>
          </a:p>
        </p:txBody>
      </p:sp>
      <p:grpSp>
        <p:nvGrpSpPr>
          <p:cNvPr id="21510" name="Group 19"/>
          <p:cNvGrpSpPr/>
          <p:nvPr/>
        </p:nvGrpSpPr>
        <p:grpSpPr bwMode="auto">
          <a:xfrm>
            <a:off x="4932363" y="1774825"/>
            <a:ext cx="3384550" cy="4319588"/>
            <a:chOff x="3969" y="1344"/>
            <a:chExt cx="1769" cy="2812"/>
          </a:xfrm>
          <a:noFill/>
        </p:grpSpPr>
        <p:sp>
          <p:nvSpPr>
            <p:cNvPr id="21516" name="Rectangle 20"/>
            <p:cNvSpPr>
              <a:spLocks noChangeArrowheads="1"/>
            </p:cNvSpPr>
            <p:nvPr/>
          </p:nvSpPr>
          <p:spPr bwMode="auto">
            <a:xfrm>
              <a:off x="3969" y="1344"/>
              <a:ext cx="1769" cy="635"/>
            </a:xfrm>
            <a:prstGeom prst="rect">
              <a:avLst/>
            </a:prstGeom>
            <a:grp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lnSpc>
                  <a:spcPct val="125000"/>
                </a:lnSpc>
                <a:buClr>
                  <a:schemeClr val="tx2"/>
                </a:buClr>
                <a:buSzPct val="70000"/>
                <a:buFont typeface="Wingdings" panose="05000000000000000000" pitchFamily="2" charset="2"/>
                <a:buNone/>
              </a:pPr>
              <a:r>
                <a:rPr lang="en-US" altLang="zh-CN" sz="2000">
                  <a:solidFill>
                    <a:schemeClr val="tx1"/>
                  </a:solidFill>
                  <a:ea typeface="华文楷体" panose="02010600040101010101" pitchFamily="2" charset="-122"/>
                </a:rPr>
                <a:t>-number:int</a:t>
              </a:r>
              <a:endParaRPr lang="en-US" altLang="zh-CN" sz="2000">
                <a:solidFill>
                  <a:schemeClr val="tx1"/>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2000">
                  <a:solidFill>
                    <a:schemeClr val="tx1"/>
                  </a:solidFill>
                  <a:ea typeface="华文楷体" panose="02010600040101010101" pitchFamily="2" charset="-122"/>
                </a:rPr>
                <a:t>-name:char *</a:t>
              </a:r>
              <a:endParaRPr lang="en-US" altLang="zh-CN" sz="2000">
                <a:solidFill>
                  <a:schemeClr val="tx1"/>
                </a:solidFill>
                <a:ea typeface="华文楷体" panose="02010600040101010101" pitchFamily="2" charset="-122"/>
              </a:endParaRPr>
            </a:p>
          </p:txBody>
        </p:sp>
        <p:sp>
          <p:nvSpPr>
            <p:cNvPr id="21517" name="Rectangle 21"/>
            <p:cNvSpPr>
              <a:spLocks noChangeArrowheads="1"/>
            </p:cNvSpPr>
            <p:nvPr/>
          </p:nvSpPr>
          <p:spPr bwMode="auto">
            <a:xfrm>
              <a:off x="3969" y="1979"/>
              <a:ext cx="1769" cy="771"/>
            </a:xfrm>
            <a:prstGeom prst="rect">
              <a:avLst/>
            </a:prstGeom>
            <a:grp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lnSpc>
                  <a:spcPct val="125000"/>
                </a:lnSpc>
                <a:buClr>
                  <a:schemeClr val="tx2"/>
                </a:buClr>
                <a:buSzPct val="70000"/>
                <a:buFont typeface="Wingdings" panose="05000000000000000000" pitchFamily="2" charset="2"/>
                <a:buNone/>
              </a:pPr>
              <a:r>
                <a:rPr lang="en-US" altLang="zh-CN" sz="2000" dirty="0">
                  <a:solidFill>
                    <a:srgbClr val="FFFF00"/>
                  </a:solidFill>
                  <a:ea typeface="华文楷体" panose="02010600040101010101" pitchFamily="2" charset="-122"/>
                </a:rPr>
                <a:t>+Student()</a:t>
              </a:r>
              <a:endParaRPr lang="en-US" altLang="zh-CN" sz="2000" dirty="0">
                <a:solidFill>
                  <a:srgbClr val="FFFF00"/>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2000" dirty="0">
                  <a:solidFill>
                    <a:srgbClr val="FFFF00"/>
                  </a:solidFill>
                  <a:ea typeface="华文楷体" panose="02010600040101010101" pitchFamily="2" charset="-122"/>
                </a:rPr>
                <a:t>+</a:t>
              </a:r>
              <a:r>
                <a:rPr lang="en-US" altLang="zh-CN" sz="2000" dirty="0" err="1" smtClean="0">
                  <a:solidFill>
                    <a:srgbClr val="FFFF00"/>
                  </a:solidFill>
                  <a:ea typeface="华文楷体" panose="02010600040101010101" pitchFamily="2" charset="-122"/>
                </a:rPr>
                <a:t>SetValue</a:t>
              </a:r>
              <a:r>
                <a:rPr lang="en-US" altLang="zh-CN" sz="2000" dirty="0" smtClean="0">
                  <a:solidFill>
                    <a:srgbClr val="FFFF00"/>
                  </a:solidFill>
                  <a:ea typeface="华文楷体" panose="02010600040101010101" pitchFamily="2" charset="-122"/>
                </a:rPr>
                <a:t>(</a:t>
              </a:r>
              <a:r>
                <a:rPr lang="en-US" altLang="zh-CN" sz="2000" dirty="0" err="1" smtClean="0">
                  <a:solidFill>
                    <a:srgbClr val="FFFF00"/>
                  </a:solidFill>
                  <a:ea typeface="华文楷体" panose="02010600040101010101" pitchFamily="2" charset="-122"/>
                </a:rPr>
                <a:t>int</a:t>
              </a:r>
              <a:r>
                <a:rPr lang="en-US" altLang="zh-CN" sz="2000" dirty="0" smtClean="0">
                  <a:solidFill>
                    <a:srgbClr val="FFFF00"/>
                  </a:solidFill>
                  <a:ea typeface="华文楷体" panose="02010600040101010101" pitchFamily="2" charset="-122"/>
                </a:rPr>
                <a:t> </a:t>
              </a:r>
              <a:r>
                <a:rPr lang="en-US" altLang="zh-CN" sz="2000" dirty="0" err="1" smtClean="0">
                  <a:solidFill>
                    <a:srgbClr val="FFFF00"/>
                  </a:solidFill>
                  <a:ea typeface="华文楷体" panose="02010600040101010101" pitchFamily="2" charset="-122"/>
                </a:rPr>
                <a:t>n,char</a:t>
              </a:r>
              <a:r>
                <a:rPr lang="en-US" altLang="zh-CN" sz="2000" dirty="0" smtClean="0">
                  <a:solidFill>
                    <a:srgbClr val="FFFF00"/>
                  </a:solidFill>
                  <a:ea typeface="华文楷体" panose="02010600040101010101" pitchFamily="2" charset="-122"/>
                </a:rPr>
                <a:t> </a:t>
              </a:r>
              <a:r>
                <a:rPr lang="en-US" altLang="zh-CN" sz="2000" dirty="0">
                  <a:solidFill>
                    <a:srgbClr val="FFFF00"/>
                  </a:solidFill>
                  <a:ea typeface="华文楷体" panose="02010600040101010101" pitchFamily="2" charset="-122"/>
                </a:rPr>
                <a:t>*s);</a:t>
              </a:r>
              <a:endParaRPr lang="en-US" altLang="zh-CN" sz="2000" dirty="0">
                <a:solidFill>
                  <a:srgbClr val="FFFF00"/>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2000" dirty="0">
                  <a:solidFill>
                    <a:srgbClr val="FFFF00"/>
                  </a:solidFill>
                  <a:ea typeface="华文楷体" panose="02010600040101010101" pitchFamily="2" charset="-122"/>
                </a:rPr>
                <a:t>+Print()</a:t>
              </a:r>
              <a:endParaRPr lang="en-US" altLang="zh-CN" sz="2000" dirty="0">
                <a:solidFill>
                  <a:srgbClr val="FFFF00"/>
                </a:solidFill>
                <a:ea typeface="华文楷体" panose="02010600040101010101" pitchFamily="2" charset="-122"/>
              </a:endParaRPr>
            </a:p>
          </p:txBody>
        </p:sp>
        <p:sp>
          <p:nvSpPr>
            <p:cNvPr id="21518" name="Rectangle 22"/>
            <p:cNvSpPr>
              <a:spLocks noChangeArrowheads="1"/>
            </p:cNvSpPr>
            <p:nvPr/>
          </p:nvSpPr>
          <p:spPr bwMode="auto">
            <a:xfrm>
              <a:off x="3969" y="2750"/>
              <a:ext cx="1769" cy="635"/>
            </a:xfrm>
            <a:prstGeom prst="rect">
              <a:avLst/>
            </a:prstGeom>
            <a:grp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lnSpc>
                  <a:spcPct val="125000"/>
                </a:lnSpc>
                <a:buClr>
                  <a:schemeClr val="tx2"/>
                </a:buClr>
                <a:buSzPct val="70000"/>
                <a:buFont typeface="Wingdings" panose="05000000000000000000" pitchFamily="2" charset="2"/>
                <a:buNone/>
              </a:pPr>
              <a:r>
                <a:rPr lang="en-US" altLang="zh-CN" sz="2000">
                  <a:solidFill>
                    <a:schemeClr val="tx1"/>
                  </a:solidFill>
                  <a:ea typeface="华文楷体" panose="02010600040101010101" pitchFamily="2" charset="-122"/>
                </a:rPr>
                <a:t>-address:string</a:t>
              </a:r>
              <a:endParaRPr lang="en-US" altLang="zh-CN" sz="2000">
                <a:solidFill>
                  <a:schemeClr val="tx1"/>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2000">
                  <a:solidFill>
                    <a:schemeClr val="tx1"/>
                  </a:solidFill>
                  <a:ea typeface="华文楷体" panose="02010600040101010101" pitchFamily="2" charset="-122"/>
                </a:rPr>
                <a:t>-attitude:string</a:t>
              </a:r>
              <a:endParaRPr lang="en-US" altLang="zh-CN" sz="2000">
                <a:solidFill>
                  <a:schemeClr val="tx1"/>
                </a:solidFill>
                <a:ea typeface="华文楷体" panose="02010600040101010101" pitchFamily="2" charset="-122"/>
              </a:endParaRPr>
            </a:p>
          </p:txBody>
        </p:sp>
        <p:sp>
          <p:nvSpPr>
            <p:cNvPr id="21519" name="Rectangle 23"/>
            <p:cNvSpPr>
              <a:spLocks noChangeArrowheads="1"/>
            </p:cNvSpPr>
            <p:nvPr/>
          </p:nvSpPr>
          <p:spPr bwMode="auto">
            <a:xfrm>
              <a:off x="3969" y="3385"/>
              <a:ext cx="1769" cy="771"/>
            </a:xfrm>
            <a:prstGeom prst="rect">
              <a:avLst/>
            </a:prstGeom>
            <a:grp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lnSpc>
                  <a:spcPct val="125000"/>
                </a:lnSpc>
                <a:buClr>
                  <a:schemeClr val="tx2"/>
                </a:buClr>
                <a:buSzPct val="70000"/>
                <a:buFont typeface="Wingdings" panose="05000000000000000000" pitchFamily="2" charset="2"/>
                <a:buNone/>
              </a:pPr>
              <a:r>
                <a:rPr lang="en-US" altLang="zh-CN" sz="2000" dirty="0">
                  <a:solidFill>
                    <a:srgbClr val="FFFF00"/>
                  </a:solidFill>
                  <a:ea typeface="华文楷体" panose="02010600040101010101" pitchFamily="2" charset="-122"/>
                </a:rPr>
                <a:t>+</a:t>
              </a:r>
              <a:r>
                <a:rPr lang="en-US" altLang="zh-CN" sz="2000" dirty="0" err="1">
                  <a:solidFill>
                    <a:srgbClr val="FFFF00"/>
                  </a:solidFill>
                  <a:ea typeface="华文楷体" panose="02010600040101010101" pitchFamily="2" charset="-122"/>
                </a:rPr>
                <a:t>WHUStudent</a:t>
              </a:r>
              <a:r>
                <a:rPr lang="en-US" altLang="zh-CN" sz="2000" dirty="0">
                  <a:solidFill>
                    <a:srgbClr val="FFFF00"/>
                  </a:solidFill>
                  <a:ea typeface="华文楷体" panose="02010600040101010101" pitchFamily="2" charset="-122"/>
                </a:rPr>
                <a:t>()</a:t>
              </a:r>
              <a:endParaRPr lang="en-US" altLang="zh-CN" sz="2000" dirty="0">
                <a:solidFill>
                  <a:srgbClr val="FFFF00"/>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2000" dirty="0">
                  <a:solidFill>
                    <a:srgbClr val="FFFF00"/>
                  </a:solidFill>
                  <a:ea typeface="华文楷体" panose="02010600040101010101" pitchFamily="2" charset="-122"/>
                </a:rPr>
                <a:t>(</a:t>
              </a:r>
              <a:r>
                <a:rPr lang="en-US" altLang="zh-CN" sz="2000" dirty="0" err="1">
                  <a:solidFill>
                    <a:srgbClr val="FFFF00"/>
                  </a:solidFill>
                  <a:ea typeface="华文楷体" panose="02010600040101010101" pitchFamily="2" charset="-122"/>
                </a:rPr>
                <a:t>int</a:t>
              </a:r>
              <a:r>
                <a:rPr lang="en-US" altLang="zh-CN" sz="2000" dirty="0">
                  <a:solidFill>
                    <a:srgbClr val="FFFF00"/>
                  </a:solidFill>
                  <a:ea typeface="华文楷体" panose="02010600040101010101" pitchFamily="2" charset="-122"/>
                </a:rPr>
                <a:t> </a:t>
              </a:r>
              <a:r>
                <a:rPr lang="en-US" altLang="zh-CN" sz="2000" dirty="0" err="1">
                  <a:solidFill>
                    <a:srgbClr val="FFFF00"/>
                  </a:solidFill>
                  <a:ea typeface="华文楷体" panose="02010600040101010101" pitchFamily="2" charset="-122"/>
                </a:rPr>
                <a:t>n,char</a:t>
              </a:r>
              <a:r>
                <a:rPr lang="en-US" altLang="zh-CN" sz="2000" dirty="0">
                  <a:solidFill>
                    <a:srgbClr val="FFFF00"/>
                  </a:solidFill>
                  <a:ea typeface="华文楷体" panose="02010600040101010101" pitchFamily="2" charset="-122"/>
                </a:rPr>
                <a:t> *</a:t>
              </a:r>
              <a:r>
                <a:rPr lang="en-US" altLang="zh-CN" sz="2000" dirty="0" err="1">
                  <a:solidFill>
                    <a:srgbClr val="FFFF00"/>
                  </a:solidFill>
                  <a:ea typeface="华文楷体" panose="02010600040101010101" pitchFamily="2" charset="-122"/>
                </a:rPr>
                <a:t>s,string </a:t>
              </a:r>
              <a:r>
                <a:rPr lang="en-US" altLang="zh-CN" sz="2000" dirty="0">
                  <a:solidFill>
                    <a:srgbClr val="FFFF00"/>
                  </a:solidFill>
                  <a:ea typeface="华文楷体" panose="02010600040101010101" pitchFamily="2" charset="-122"/>
                </a:rPr>
                <a:t>a, </a:t>
              </a:r>
              <a:r>
                <a:rPr lang="en-US" altLang="zh-CN" sz="2000" dirty="0" err="1">
                  <a:solidFill>
                    <a:srgbClr val="FFFF00"/>
                  </a:solidFill>
                  <a:ea typeface="华文楷体" panose="02010600040101010101" pitchFamily="2" charset="-122"/>
                </a:rPr>
                <a:t>string </a:t>
              </a:r>
              <a:r>
                <a:rPr lang="en-US" altLang="zh-CN" sz="2000" dirty="0">
                  <a:solidFill>
                    <a:srgbClr val="FFFF00"/>
                  </a:solidFill>
                  <a:ea typeface="华文楷体" panose="02010600040101010101" pitchFamily="2" charset="-122"/>
                </a:rPr>
                <a:t>g);</a:t>
              </a:r>
              <a:endParaRPr lang="en-US" altLang="zh-CN" sz="2000" dirty="0">
                <a:solidFill>
                  <a:srgbClr val="FFFF00"/>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2000" dirty="0">
                  <a:solidFill>
                    <a:srgbClr val="FFFF00"/>
                  </a:solidFill>
                  <a:ea typeface="华文楷体" panose="02010600040101010101" pitchFamily="2" charset="-122"/>
                </a:rPr>
                <a:t>+</a:t>
              </a:r>
              <a:r>
                <a:rPr lang="en-US" altLang="zh-CN" sz="2000" dirty="0" err="1">
                  <a:solidFill>
                    <a:srgbClr val="FFFF00"/>
                  </a:solidFill>
                  <a:ea typeface="华文楷体" panose="02010600040101010101" pitchFamily="2" charset="-122"/>
                </a:rPr>
                <a:t>PrintExtra</a:t>
              </a:r>
              <a:r>
                <a:rPr lang="en-US" altLang="zh-CN" sz="2000" dirty="0">
                  <a:solidFill>
                    <a:srgbClr val="FFFF00"/>
                  </a:solidFill>
                  <a:ea typeface="华文楷体" panose="02010600040101010101" pitchFamily="2" charset="-122"/>
                </a:rPr>
                <a:t>()</a:t>
              </a:r>
              <a:endParaRPr lang="en-US" altLang="zh-CN" sz="2000" dirty="0">
                <a:solidFill>
                  <a:srgbClr val="FFFF00"/>
                </a:solidFill>
                <a:ea typeface="华文楷体" panose="02010600040101010101" pitchFamily="2" charset="-122"/>
              </a:endParaRPr>
            </a:p>
          </p:txBody>
        </p:sp>
      </p:grpSp>
      <p:sp>
        <p:nvSpPr>
          <p:cNvPr id="21511" name="Line 24"/>
          <p:cNvSpPr>
            <a:spLocks noChangeShapeType="1"/>
          </p:cNvSpPr>
          <p:nvPr/>
        </p:nvSpPr>
        <p:spPr bwMode="auto">
          <a:xfrm flipH="1">
            <a:off x="3635375" y="3430588"/>
            <a:ext cx="1296988" cy="0"/>
          </a:xfrm>
          <a:prstGeom prst="line">
            <a:avLst/>
          </a:prstGeom>
          <a:noFill/>
          <a:ln w="9525">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1512" name="AutoShape 25"/>
          <p:cNvSpPr/>
          <p:nvPr/>
        </p:nvSpPr>
        <p:spPr bwMode="auto">
          <a:xfrm>
            <a:off x="8316913" y="1774825"/>
            <a:ext cx="215900" cy="2159000"/>
          </a:xfrm>
          <a:prstGeom prst="rightBracket">
            <a:avLst>
              <a:gd name="adj" fmla="val 83333"/>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eaLnBrk="1" hangingPunct="1"/>
            <a:endParaRPr lang="zh-CN" altLang="en-US"/>
          </a:p>
        </p:txBody>
      </p:sp>
      <p:sp>
        <p:nvSpPr>
          <p:cNvPr id="21513" name="AutoShape 26"/>
          <p:cNvSpPr/>
          <p:nvPr/>
        </p:nvSpPr>
        <p:spPr bwMode="auto">
          <a:xfrm>
            <a:off x="8316913" y="3933825"/>
            <a:ext cx="215900" cy="2159000"/>
          </a:xfrm>
          <a:prstGeom prst="rightBracket">
            <a:avLst>
              <a:gd name="adj" fmla="val 83333"/>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eaLnBrk="1" hangingPunct="1"/>
            <a:endParaRPr lang="zh-CN" altLang="en-US"/>
          </a:p>
        </p:txBody>
      </p:sp>
      <p:sp>
        <p:nvSpPr>
          <p:cNvPr id="21514" name="Text Box 27"/>
          <p:cNvSpPr txBox="1">
            <a:spLocks noChangeArrowheads="1"/>
          </p:cNvSpPr>
          <p:nvPr/>
        </p:nvSpPr>
        <p:spPr bwMode="auto">
          <a:xfrm>
            <a:off x="8532813" y="2036763"/>
            <a:ext cx="611187"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spcBef>
                <a:spcPct val="50000"/>
              </a:spcBef>
              <a:buClr>
                <a:schemeClr val="tx2"/>
              </a:buClr>
              <a:buSzPct val="70000"/>
              <a:buFont typeface="Wingdings" panose="05000000000000000000" pitchFamily="2" charset="2"/>
              <a:buNone/>
            </a:pPr>
            <a:r>
              <a:rPr lang="zh-CN" altLang="en-US" sz="1800">
                <a:solidFill>
                  <a:schemeClr val="tx1"/>
                </a:solidFill>
                <a:ea typeface="华文楷体" panose="02010600040101010101" pitchFamily="2" charset="-122"/>
              </a:rPr>
              <a:t>继承自基类</a:t>
            </a:r>
            <a:endParaRPr lang="zh-CN" altLang="en-US" sz="1800">
              <a:solidFill>
                <a:schemeClr val="tx1"/>
              </a:solidFill>
              <a:ea typeface="华文楷体" panose="02010600040101010101" pitchFamily="2" charset="-122"/>
            </a:endParaRPr>
          </a:p>
        </p:txBody>
      </p:sp>
      <p:sp>
        <p:nvSpPr>
          <p:cNvPr id="21515" name="Text Box 28"/>
          <p:cNvSpPr txBox="1">
            <a:spLocks noChangeArrowheads="1"/>
          </p:cNvSpPr>
          <p:nvPr/>
        </p:nvSpPr>
        <p:spPr bwMode="auto">
          <a:xfrm>
            <a:off x="8532813" y="4366260"/>
            <a:ext cx="611187"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spcBef>
                <a:spcPct val="50000"/>
              </a:spcBef>
              <a:buClr>
                <a:schemeClr val="tx2"/>
              </a:buClr>
              <a:buSzPct val="70000"/>
              <a:buFont typeface="Wingdings" panose="05000000000000000000" pitchFamily="2" charset="2"/>
              <a:buNone/>
            </a:pPr>
            <a:r>
              <a:rPr lang="zh-CN" altLang="en-US" sz="1800">
                <a:solidFill>
                  <a:schemeClr val="tx1"/>
                </a:solidFill>
                <a:ea typeface="华文楷体" panose="02010600040101010101" pitchFamily="2" charset="-122"/>
              </a:rPr>
              <a:t>新增成员</a:t>
            </a:r>
            <a:endParaRPr lang="zh-CN" altLang="en-US" sz="1800">
              <a:solidFill>
                <a:schemeClr val="tx1"/>
              </a:solidFill>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4"/>
          <p:cNvSpPr>
            <a:spLocks noGrp="1"/>
          </p:cNvSpPr>
          <p:nvPr>
            <p:ph type="sldNum" sz="quarter" idx="4294967295"/>
          </p:nvPr>
        </p:nvSpPr>
        <p:spPr>
          <a:xfrm>
            <a:off x="6553200" y="6248400"/>
            <a:ext cx="2133600" cy="457200"/>
          </a:xfrm>
          <a:prstGeom prst="rect">
            <a:avLst/>
          </a:prstGeom>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eaLnBrk="1" hangingPunct="1"/>
            <a:r>
              <a:rPr lang="en-US" altLang="zh-CN" sz="1200" b="0">
                <a:solidFill>
                  <a:schemeClr val="tx1"/>
                </a:solidFill>
                <a:latin typeface="Verdana" panose="020B0604030504040204" pitchFamily="34" charset="0"/>
                <a:ea typeface="宋体" panose="02010600030101010101" pitchFamily="2" charset="-122"/>
              </a:rPr>
              <a:t> </a:t>
            </a:r>
            <a:endParaRPr lang="en-US" altLang="zh-CN" sz="1200" b="0">
              <a:solidFill>
                <a:schemeClr val="tx1"/>
              </a:solidFill>
              <a:latin typeface="Verdana" panose="020B0604030504040204" pitchFamily="34" charset="0"/>
              <a:ea typeface="宋体" panose="02010600030101010101" pitchFamily="2" charset="-122"/>
            </a:endParaRPr>
          </a:p>
        </p:txBody>
      </p:sp>
      <p:sp>
        <p:nvSpPr>
          <p:cNvPr id="22531" name="Rectangle 2"/>
          <p:cNvSpPr>
            <a:spLocks noChangeArrowheads="1"/>
          </p:cNvSpPr>
          <p:nvPr/>
        </p:nvSpPr>
        <p:spPr bwMode="auto">
          <a:xfrm>
            <a:off x="605334" y="594341"/>
            <a:ext cx="7776666" cy="6191904"/>
          </a:xfrm>
          <a:prstGeom prst="rect">
            <a:avLst/>
          </a:prstGeom>
          <a:solidFill>
            <a:schemeClr val="tx1"/>
          </a:solid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buClr>
                <a:schemeClr val="tx2"/>
              </a:buClr>
              <a:buSzPct val="70000"/>
              <a:buFont typeface="Wingdings" panose="05000000000000000000" pitchFamily="2" charset="2"/>
              <a:buNone/>
            </a:pPr>
            <a:r>
              <a:rPr lang="en-US" altLang="zh-CN" sz="2000">
                <a:solidFill>
                  <a:srgbClr val="000000"/>
                </a:solidFill>
                <a:ea typeface="华文楷体" panose="02010600040101010101" pitchFamily="2" charset="-122"/>
              </a:rPr>
              <a:t>class Student {</a:t>
            </a:r>
            <a:endParaRPr lang="en-US" altLang="zh-CN" sz="2000">
              <a:solidFill>
                <a:srgbClr val="000000"/>
              </a:solidFill>
              <a:ea typeface="华文楷体" panose="02010600040101010101" pitchFamily="2" charset="-122"/>
            </a:endParaRPr>
          </a:p>
          <a:p>
            <a:pPr algn="l" eaLnBrk="1" hangingPunct="1">
              <a:buClr>
                <a:schemeClr val="tx2"/>
              </a:buClr>
              <a:buSzPct val="70000"/>
              <a:buFont typeface="Wingdings" panose="05000000000000000000" pitchFamily="2" charset="2"/>
              <a:buNone/>
            </a:pPr>
            <a:r>
              <a:rPr lang="en-US" altLang="zh-CN" sz="2000">
                <a:solidFill>
                  <a:srgbClr val="000000"/>
                </a:solidFill>
                <a:ea typeface="华文楷体" panose="02010600040101010101" pitchFamily="2" charset="-122"/>
              </a:rPr>
              <a:t>private:</a:t>
            </a:r>
            <a:endParaRPr lang="en-US" altLang="zh-CN" sz="2000">
              <a:solidFill>
                <a:srgbClr val="000000"/>
              </a:solidFill>
              <a:ea typeface="华文楷体" panose="02010600040101010101" pitchFamily="2" charset="-122"/>
            </a:endParaRPr>
          </a:p>
          <a:p>
            <a:pPr algn="l" eaLnBrk="1" hangingPunct="1">
              <a:buClr>
                <a:schemeClr val="tx2"/>
              </a:buClr>
              <a:buSzPct val="70000"/>
              <a:buFont typeface="Wingdings" panose="05000000000000000000" pitchFamily="2" charset="2"/>
              <a:buNone/>
            </a:pPr>
            <a:r>
              <a:rPr lang="en-US" altLang="zh-CN" sz="2000">
                <a:solidFill>
                  <a:srgbClr val="000000"/>
                </a:solidFill>
                <a:ea typeface="华文楷体" panose="02010600040101010101" pitchFamily="2" charset="-122"/>
              </a:rPr>
              <a:t>	int number;	</a:t>
            </a:r>
            <a:endParaRPr lang="en-US" altLang="zh-CN" sz="2000">
              <a:solidFill>
                <a:srgbClr val="000000"/>
              </a:solidFill>
              <a:ea typeface="华文楷体" panose="02010600040101010101" pitchFamily="2" charset="-122"/>
            </a:endParaRPr>
          </a:p>
          <a:p>
            <a:pPr algn="l" eaLnBrk="1" hangingPunct="1">
              <a:buClr>
                <a:schemeClr val="tx2"/>
              </a:buClr>
              <a:buSzPct val="70000"/>
              <a:buFont typeface="Wingdings" panose="05000000000000000000" pitchFamily="2" charset="2"/>
              <a:buNone/>
            </a:pPr>
            <a:r>
              <a:rPr lang="en-US" altLang="zh-CN" sz="2000">
                <a:solidFill>
                  <a:srgbClr val="000000"/>
                </a:solidFill>
                <a:ea typeface="华文楷体" panose="02010600040101010101" pitchFamily="2" charset="-122"/>
              </a:rPr>
              <a:t>              char * name;</a:t>
            </a:r>
            <a:endParaRPr lang="en-US" altLang="zh-CN" sz="2000">
              <a:solidFill>
                <a:srgbClr val="000000"/>
              </a:solidFill>
              <a:ea typeface="华文楷体" panose="02010600040101010101" pitchFamily="2" charset="-122"/>
            </a:endParaRPr>
          </a:p>
          <a:p>
            <a:pPr algn="l" eaLnBrk="1" hangingPunct="1">
              <a:buClr>
                <a:schemeClr val="tx2"/>
              </a:buClr>
              <a:buSzPct val="70000"/>
              <a:buFont typeface="Wingdings" panose="05000000000000000000" pitchFamily="2" charset="2"/>
              <a:buNone/>
            </a:pPr>
            <a:r>
              <a:rPr lang="en-US" altLang="zh-CN" sz="2000">
                <a:solidFill>
                  <a:srgbClr val="000000"/>
                </a:solidFill>
                <a:ea typeface="华文楷体" panose="02010600040101010101" pitchFamily="2" charset="-122"/>
              </a:rPr>
              <a:t>public:</a:t>
            </a:r>
            <a:endParaRPr lang="en-US" altLang="zh-CN" sz="2000">
              <a:solidFill>
                <a:srgbClr val="000000"/>
              </a:solidFill>
              <a:ea typeface="华文楷体" panose="02010600040101010101" pitchFamily="2" charset="-122"/>
            </a:endParaRPr>
          </a:p>
          <a:p>
            <a:pPr algn="l" eaLnBrk="1" hangingPunct="1">
              <a:buClr>
                <a:schemeClr val="tx2"/>
              </a:buClr>
              <a:buSzPct val="70000"/>
              <a:buFont typeface="Wingdings" panose="05000000000000000000" pitchFamily="2" charset="2"/>
              <a:buNone/>
            </a:pPr>
            <a:r>
              <a:rPr lang="en-US" altLang="zh-CN" sz="2000">
                <a:solidFill>
                  <a:srgbClr val="000000"/>
                </a:solidFill>
                <a:ea typeface="华文楷体" panose="02010600040101010101" pitchFamily="2" charset="-122"/>
              </a:rPr>
              <a:t>	Student() {</a:t>
            </a:r>
            <a:endParaRPr lang="en-US" altLang="zh-CN" sz="2000">
              <a:solidFill>
                <a:srgbClr val="000000"/>
              </a:solidFill>
              <a:ea typeface="华文楷体" panose="02010600040101010101" pitchFamily="2" charset="-122"/>
            </a:endParaRPr>
          </a:p>
          <a:p>
            <a:pPr algn="l" eaLnBrk="1" hangingPunct="1">
              <a:buClr>
                <a:schemeClr val="tx2"/>
              </a:buClr>
              <a:buSzPct val="70000"/>
              <a:buFont typeface="Wingdings" panose="05000000000000000000" pitchFamily="2" charset="2"/>
              <a:buNone/>
            </a:pPr>
            <a:r>
              <a:rPr lang="en-US" altLang="zh-CN" sz="2000">
                <a:solidFill>
                  <a:srgbClr val="000000"/>
                </a:solidFill>
                <a:ea typeface="华文楷体" panose="02010600040101010101" pitchFamily="2" charset="-122"/>
              </a:rPr>
              <a:t>		cout &lt;&lt; "构造student对象" &lt;&lt; endl;</a:t>
            </a:r>
            <a:endParaRPr lang="en-US" altLang="zh-CN" sz="2000">
              <a:solidFill>
                <a:srgbClr val="000000"/>
              </a:solidFill>
              <a:ea typeface="华文楷体" panose="02010600040101010101" pitchFamily="2" charset="-122"/>
            </a:endParaRPr>
          </a:p>
          <a:p>
            <a:pPr algn="l" eaLnBrk="1" hangingPunct="1">
              <a:buClr>
                <a:schemeClr val="tx2"/>
              </a:buClr>
              <a:buSzPct val="70000"/>
              <a:buFont typeface="Wingdings" panose="05000000000000000000" pitchFamily="2" charset="2"/>
              <a:buNone/>
            </a:pPr>
            <a:r>
              <a:rPr lang="en-US" altLang="zh-CN" sz="2000">
                <a:solidFill>
                  <a:srgbClr val="000000"/>
                </a:solidFill>
                <a:ea typeface="华文楷体" panose="02010600040101010101" pitchFamily="2" charset="-122"/>
              </a:rPr>
              <a:t>		number = 0;</a:t>
            </a:r>
            <a:endParaRPr lang="en-US" altLang="zh-CN" sz="2000">
              <a:solidFill>
                <a:srgbClr val="000000"/>
              </a:solidFill>
              <a:ea typeface="华文楷体" panose="02010600040101010101" pitchFamily="2" charset="-122"/>
            </a:endParaRPr>
          </a:p>
          <a:p>
            <a:pPr algn="l" eaLnBrk="1" hangingPunct="1">
              <a:buClr>
                <a:schemeClr val="tx2"/>
              </a:buClr>
              <a:buSzPct val="70000"/>
              <a:buFont typeface="Wingdings" panose="05000000000000000000" pitchFamily="2" charset="2"/>
              <a:buNone/>
            </a:pPr>
            <a:r>
              <a:rPr lang="en-US" altLang="zh-CN" sz="2000">
                <a:solidFill>
                  <a:srgbClr val="000000"/>
                </a:solidFill>
                <a:ea typeface="华文楷体" panose="02010600040101010101" pitchFamily="2" charset="-122"/>
              </a:rPr>
              <a:t>		name = NULL;</a:t>
            </a:r>
            <a:endParaRPr lang="en-US" altLang="zh-CN" sz="2000">
              <a:solidFill>
                <a:srgbClr val="000000"/>
              </a:solidFill>
              <a:ea typeface="华文楷体" panose="02010600040101010101" pitchFamily="2" charset="-122"/>
            </a:endParaRPr>
          </a:p>
          <a:p>
            <a:pPr algn="l" eaLnBrk="1" hangingPunct="1">
              <a:buClr>
                <a:schemeClr val="tx2"/>
              </a:buClr>
              <a:buSzPct val="70000"/>
              <a:buFont typeface="Wingdings" panose="05000000000000000000" pitchFamily="2" charset="2"/>
              <a:buNone/>
            </a:pPr>
            <a:r>
              <a:rPr lang="en-US" altLang="zh-CN" sz="2000">
                <a:solidFill>
                  <a:srgbClr val="000000"/>
                </a:solidFill>
                <a:ea typeface="华文楷体" panose="02010600040101010101" pitchFamily="2" charset="-122"/>
              </a:rPr>
              <a:t>	}</a:t>
            </a:r>
            <a:endParaRPr lang="en-US" altLang="zh-CN" sz="2000">
              <a:solidFill>
                <a:srgbClr val="000000"/>
              </a:solidFill>
              <a:ea typeface="华文楷体" panose="02010600040101010101" pitchFamily="2" charset="-122"/>
            </a:endParaRPr>
          </a:p>
          <a:p>
            <a:pPr algn="l" eaLnBrk="1" hangingPunct="1">
              <a:buClr>
                <a:schemeClr val="tx2"/>
              </a:buClr>
              <a:buSzPct val="70000"/>
              <a:buFont typeface="Wingdings" panose="05000000000000000000" pitchFamily="2" charset="2"/>
              <a:buNone/>
            </a:pPr>
            <a:r>
              <a:rPr lang="en-US" altLang="zh-CN" sz="2000">
                <a:solidFill>
                  <a:srgbClr val="000000"/>
                </a:solidFill>
                <a:ea typeface="华文楷体" panose="02010600040101010101" pitchFamily="2" charset="-122"/>
              </a:rPr>
              <a:t>	void setValue(int n, const char *s1) {</a:t>
            </a:r>
            <a:endParaRPr lang="en-US" altLang="zh-CN" sz="2000">
              <a:solidFill>
                <a:srgbClr val="000000"/>
              </a:solidFill>
              <a:ea typeface="华文楷体" panose="02010600040101010101" pitchFamily="2" charset="-122"/>
            </a:endParaRPr>
          </a:p>
          <a:p>
            <a:pPr algn="l" eaLnBrk="1" hangingPunct="1">
              <a:buClr>
                <a:schemeClr val="tx2"/>
              </a:buClr>
              <a:buSzPct val="70000"/>
              <a:buFont typeface="Wingdings" panose="05000000000000000000" pitchFamily="2" charset="2"/>
              <a:buNone/>
            </a:pPr>
            <a:r>
              <a:rPr lang="en-US" altLang="zh-CN" sz="2000">
                <a:solidFill>
                  <a:srgbClr val="000000"/>
                </a:solidFill>
                <a:ea typeface="华文楷体" panose="02010600040101010101" pitchFamily="2" charset="-122"/>
              </a:rPr>
              <a:t>		cout &lt;&lt; "student类中的setValue()函数" &lt;&lt; endl;</a:t>
            </a:r>
            <a:endParaRPr lang="en-US" altLang="zh-CN" sz="2000">
              <a:solidFill>
                <a:srgbClr val="000000"/>
              </a:solidFill>
              <a:ea typeface="华文楷体" panose="02010600040101010101" pitchFamily="2" charset="-122"/>
            </a:endParaRPr>
          </a:p>
          <a:p>
            <a:pPr algn="l" eaLnBrk="1" hangingPunct="1">
              <a:buClr>
                <a:schemeClr val="tx2"/>
              </a:buClr>
              <a:buSzPct val="70000"/>
              <a:buFont typeface="Wingdings" panose="05000000000000000000" pitchFamily="2" charset="2"/>
              <a:buNone/>
            </a:pPr>
            <a:r>
              <a:rPr lang="en-US" altLang="zh-CN" sz="2000">
                <a:solidFill>
                  <a:srgbClr val="000000"/>
                </a:solidFill>
                <a:ea typeface="华文楷体" panose="02010600040101010101" pitchFamily="2" charset="-122"/>
              </a:rPr>
              <a:t>		number = n;</a:t>
            </a:r>
            <a:endParaRPr lang="en-US" altLang="zh-CN" sz="2000">
              <a:solidFill>
                <a:srgbClr val="000000"/>
              </a:solidFill>
              <a:ea typeface="华文楷体" panose="02010600040101010101" pitchFamily="2" charset="-122"/>
            </a:endParaRPr>
          </a:p>
          <a:p>
            <a:pPr algn="l" eaLnBrk="1" hangingPunct="1">
              <a:buClr>
                <a:schemeClr val="tx2"/>
              </a:buClr>
              <a:buSzPct val="70000"/>
              <a:buFont typeface="Wingdings" panose="05000000000000000000" pitchFamily="2" charset="2"/>
              <a:buNone/>
            </a:pPr>
            <a:r>
              <a:rPr lang="en-US" altLang="zh-CN" sz="2000">
                <a:solidFill>
                  <a:srgbClr val="000000"/>
                </a:solidFill>
                <a:ea typeface="华文楷体" panose="02010600040101010101" pitchFamily="2" charset="-122"/>
              </a:rPr>
              <a:t>		if (name != NULL) delete[]name;</a:t>
            </a:r>
            <a:endParaRPr lang="en-US" altLang="zh-CN" sz="2000">
              <a:solidFill>
                <a:srgbClr val="000000"/>
              </a:solidFill>
              <a:ea typeface="华文楷体" panose="02010600040101010101" pitchFamily="2" charset="-122"/>
            </a:endParaRPr>
          </a:p>
          <a:p>
            <a:pPr algn="l" eaLnBrk="1" hangingPunct="1">
              <a:buClr>
                <a:schemeClr val="tx2"/>
              </a:buClr>
              <a:buSzPct val="70000"/>
              <a:buFont typeface="Wingdings" panose="05000000000000000000" pitchFamily="2" charset="2"/>
              <a:buNone/>
            </a:pPr>
            <a:r>
              <a:rPr lang="en-US" altLang="zh-CN" sz="2000">
                <a:solidFill>
                  <a:srgbClr val="000000"/>
                </a:solidFill>
                <a:ea typeface="华文楷体" panose="02010600040101010101" pitchFamily="2" charset="-122"/>
              </a:rPr>
              <a:t>		name = new char[n];</a:t>
            </a:r>
            <a:endParaRPr lang="en-US" altLang="zh-CN" sz="2000">
              <a:solidFill>
                <a:srgbClr val="000000"/>
              </a:solidFill>
              <a:ea typeface="华文楷体" panose="02010600040101010101" pitchFamily="2" charset="-122"/>
            </a:endParaRPr>
          </a:p>
          <a:p>
            <a:pPr algn="l" eaLnBrk="1" hangingPunct="1">
              <a:buClr>
                <a:schemeClr val="tx2"/>
              </a:buClr>
              <a:buSzPct val="70000"/>
              <a:buFont typeface="Wingdings" panose="05000000000000000000" pitchFamily="2" charset="2"/>
              <a:buNone/>
            </a:pPr>
            <a:r>
              <a:rPr lang="en-US" altLang="zh-CN" sz="2000">
                <a:solidFill>
                  <a:srgbClr val="000000"/>
                </a:solidFill>
                <a:ea typeface="华文楷体" panose="02010600040101010101" pitchFamily="2" charset="-122"/>
              </a:rPr>
              <a:t>		strcpy_s(name,n, s1);</a:t>
            </a:r>
            <a:endParaRPr lang="en-US" altLang="zh-CN" sz="2000">
              <a:solidFill>
                <a:srgbClr val="000000"/>
              </a:solidFill>
              <a:ea typeface="华文楷体" panose="02010600040101010101" pitchFamily="2" charset="-122"/>
            </a:endParaRPr>
          </a:p>
          <a:p>
            <a:pPr algn="l" eaLnBrk="1" hangingPunct="1">
              <a:buClr>
                <a:schemeClr val="tx2"/>
              </a:buClr>
              <a:buSzPct val="70000"/>
              <a:buFont typeface="Wingdings" panose="05000000000000000000" pitchFamily="2" charset="2"/>
              <a:buNone/>
            </a:pPr>
            <a:r>
              <a:rPr lang="en-US" altLang="zh-CN" sz="2000">
                <a:solidFill>
                  <a:srgbClr val="000000"/>
                </a:solidFill>
                <a:ea typeface="华文楷体" panose="02010600040101010101" pitchFamily="2" charset="-122"/>
              </a:rPr>
              <a:t>	}</a:t>
            </a:r>
            <a:endParaRPr lang="en-US" altLang="zh-CN" sz="2000">
              <a:solidFill>
                <a:srgbClr val="000000"/>
              </a:solidFill>
              <a:ea typeface="华文楷体" panose="02010600040101010101" pitchFamily="2" charset="-122"/>
            </a:endParaRPr>
          </a:p>
          <a:p>
            <a:pPr algn="l" eaLnBrk="1" hangingPunct="1">
              <a:buClr>
                <a:schemeClr val="tx2"/>
              </a:buClr>
              <a:buSzPct val="70000"/>
              <a:buFont typeface="Wingdings" panose="05000000000000000000" pitchFamily="2" charset="2"/>
              <a:buNone/>
            </a:pPr>
            <a:r>
              <a:rPr lang="en-US" altLang="zh-CN" sz="2000">
                <a:solidFill>
                  <a:srgbClr val="000000"/>
                </a:solidFill>
                <a:ea typeface="华文楷体" panose="02010600040101010101" pitchFamily="2" charset="-122"/>
              </a:rPr>
              <a:t>	</a:t>
            </a:r>
            <a:endParaRPr lang="en-US" altLang="zh-CN" sz="2000">
              <a:solidFill>
                <a:srgbClr val="000000"/>
              </a:solidFill>
              <a:ea typeface="华文楷体" panose="02010600040101010101" pitchFamily="2" charset="-122"/>
            </a:endParaRPr>
          </a:p>
        </p:txBody>
      </p:sp>
      <p:sp>
        <p:nvSpPr>
          <p:cNvPr id="22532" name="Rectangle 3"/>
          <p:cNvSpPr>
            <a:spLocks noGrp="1" noChangeArrowheads="1"/>
          </p:cNvSpPr>
          <p:nvPr>
            <p:ph type="title"/>
          </p:nvPr>
        </p:nvSpPr>
        <p:spPr>
          <a:xfrm>
            <a:off x="609600" y="76585"/>
            <a:ext cx="7772400" cy="1143000"/>
          </a:xfrm>
        </p:spPr>
        <p:txBody>
          <a:bodyPr/>
          <a:lstStyle/>
          <a:p>
            <a:pPr algn="ctr" eaLnBrk="1" hangingPunct="1"/>
            <a:r>
              <a:rPr lang="zh-CN" altLang="en-US" sz="4000" b="1" dirty="0" smtClean="0">
                <a:latin typeface="Times New Roman" panose="02020603050405020304" pitchFamily="18" charset="0"/>
                <a:ea typeface="隶书" panose="02010509060101010101" pitchFamily="49" charset="-122"/>
              </a:rPr>
              <a:t>单继承范例 </a:t>
            </a:r>
            <a:endParaRPr lang="zh-CN" altLang="en-US" sz="4000" b="1" dirty="0" smtClean="0">
              <a:latin typeface="Times New Roman" panose="02020603050405020304" pitchFamily="18" charset="0"/>
              <a:ea typeface="隶书" panose="02010509060101010101" pitchFamily="49" charset="-122"/>
            </a:endParaRPr>
          </a:p>
        </p:txBody>
      </p:sp>
      <p:grpSp>
        <p:nvGrpSpPr>
          <p:cNvPr id="22533" name="Group 4"/>
          <p:cNvGrpSpPr/>
          <p:nvPr/>
        </p:nvGrpSpPr>
        <p:grpSpPr bwMode="auto">
          <a:xfrm>
            <a:off x="6443980" y="4293235"/>
            <a:ext cx="2713355" cy="2665095"/>
            <a:chOff x="1020" y="1026"/>
            <a:chExt cx="1950" cy="1814"/>
          </a:xfrm>
        </p:grpSpPr>
        <p:sp>
          <p:nvSpPr>
            <p:cNvPr id="22534" name="Rectangle 5"/>
            <p:cNvSpPr>
              <a:spLocks noChangeArrowheads="1"/>
            </p:cNvSpPr>
            <p:nvPr/>
          </p:nvSpPr>
          <p:spPr bwMode="auto">
            <a:xfrm>
              <a:off x="1020" y="1026"/>
              <a:ext cx="1950" cy="363"/>
            </a:xfrm>
            <a:prstGeom prst="rect">
              <a:avLst/>
            </a:prstGeom>
            <a:solidFill>
              <a:schemeClr val="bg1"/>
            </a:solid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eaLnBrk="1" hangingPunct="1">
                <a:lnSpc>
                  <a:spcPct val="125000"/>
                </a:lnSpc>
                <a:buClr>
                  <a:schemeClr val="tx2"/>
                </a:buClr>
                <a:buSzPct val="70000"/>
                <a:buFont typeface="Wingdings" panose="05000000000000000000" pitchFamily="2" charset="2"/>
                <a:buNone/>
              </a:pPr>
              <a:r>
                <a:rPr lang="en-US" altLang="zh-CN" sz="2000">
                  <a:solidFill>
                    <a:schemeClr val="tx1"/>
                  </a:solidFill>
                  <a:ea typeface="华文楷体" panose="02010600040101010101" pitchFamily="2" charset="-122"/>
                </a:rPr>
                <a:t>Student</a:t>
              </a:r>
              <a:endParaRPr lang="en-US" altLang="zh-CN" sz="2000">
                <a:solidFill>
                  <a:schemeClr val="tx1"/>
                </a:solidFill>
                <a:ea typeface="华文楷体" panose="02010600040101010101" pitchFamily="2" charset="-122"/>
              </a:endParaRPr>
            </a:p>
          </p:txBody>
        </p:sp>
        <p:sp>
          <p:nvSpPr>
            <p:cNvPr id="22535" name="Rectangle 6"/>
            <p:cNvSpPr>
              <a:spLocks noChangeArrowheads="1"/>
            </p:cNvSpPr>
            <p:nvPr/>
          </p:nvSpPr>
          <p:spPr bwMode="auto">
            <a:xfrm>
              <a:off x="1020" y="1389"/>
              <a:ext cx="1950" cy="635"/>
            </a:xfrm>
            <a:prstGeom prst="rect">
              <a:avLst/>
            </a:prstGeom>
            <a:solidFill>
              <a:schemeClr val="bg1"/>
            </a:solid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lnSpc>
                  <a:spcPct val="125000"/>
                </a:lnSpc>
                <a:buClr>
                  <a:schemeClr val="tx2"/>
                </a:buClr>
                <a:buSzPct val="70000"/>
                <a:buFont typeface="Wingdings" panose="05000000000000000000" pitchFamily="2" charset="2"/>
                <a:buNone/>
              </a:pPr>
              <a:r>
                <a:rPr lang="en-US" altLang="zh-CN" sz="1800">
                  <a:solidFill>
                    <a:schemeClr val="tx1"/>
                  </a:solidFill>
                  <a:ea typeface="华文楷体" panose="02010600040101010101" pitchFamily="2" charset="-122"/>
                </a:rPr>
                <a:t>-number:int</a:t>
              </a:r>
              <a:endParaRPr lang="en-US" altLang="zh-CN" sz="1800">
                <a:solidFill>
                  <a:schemeClr val="tx1"/>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1800">
                  <a:solidFill>
                    <a:schemeClr val="tx1"/>
                  </a:solidFill>
                  <a:ea typeface="华文楷体" panose="02010600040101010101" pitchFamily="2" charset="-122"/>
                </a:rPr>
                <a:t>-name:char *</a:t>
              </a:r>
              <a:endParaRPr lang="en-US" altLang="zh-CN" sz="1800">
                <a:solidFill>
                  <a:schemeClr val="tx1"/>
                </a:solidFill>
                <a:ea typeface="华文楷体" panose="02010600040101010101" pitchFamily="2" charset="-122"/>
              </a:endParaRPr>
            </a:p>
          </p:txBody>
        </p:sp>
        <p:sp>
          <p:nvSpPr>
            <p:cNvPr id="22536" name="Rectangle 7"/>
            <p:cNvSpPr>
              <a:spLocks noChangeArrowheads="1"/>
            </p:cNvSpPr>
            <p:nvPr/>
          </p:nvSpPr>
          <p:spPr bwMode="auto">
            <a:xfrm>
              <a:off x="1020" y="2024"/>
              <a:ext cx="1950" cy="816"/>
            </a:xfrm>
            <a:prstGeom prst="rect">
              <a:avLst/>
            </a:prstGeom>
            <a:solidFill>
              <a:schemeClr val="bg1"/>
            </a:solid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lnSpc>
                  <a:spcPct val="125000"/>
                </a:lnSpc>
                <a:buClr>
                  <a:schemeClr val="tx2"/>
                </a:buClr>
                <a:buSzPct val="70000"/>
                <a:buFont typeface="Wingdings" panose="05000000000000000000" pitchFamily="2" charset="2"/>
                <a:buNone/>
              </a:pPr>
              <a:r>
                <a:rPr lang="en-US" altLang="zh-CN" sz="1800">
                  <a:solidFill>
                    <a:schemeClr val="tx1"/>
                  </a:solidFill>
                  <a:ea typeface="华文楷体" panose="02010600040101010101" pitchFamily="2" charset="-122"/>
                </a:rPr>
                <a:t>+Student()</a:t>
              </a:r>
              <a:endParaRPr lang="en-US" altLang="zh-CN" sz="1800">
                <a:solidFill>
                  <a:schemeClr val="tx1"/>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1800">
                  <a:solidFill>
                    <a:schemeClr val="tx1"/>
                  </a:solidFill>
                  <a:ea typeface="华文楷体" panose="02010600040101010101" pitchFamily="2" charset="-122"/>
                </a:rPr>
                <a:t>+SetValue(int n,char *s);</a:t>
              </a:r>
              <a:endParaRPr lang="en-US" altLang="zh-CN" sz="1800">
                <a:solidFill>
                  <a:schemeClr val="tx1"/>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1800">
                  <a:solidFill>
                    <a:schemeClr val="tx1"/>
                  </a:solidFill>
                  <a:ea typeface="华文楷体" panose="02010600040101010101" pitchFamily="2" charset="-122"/>
                </a:rPr>
                <a:t>+Print()</a:t>
              </a:r>
              <a:endParaRPr lang="en-US" altLang="zh-CN" sz="1800">
                <a:solidFill>
                  <a:schemeClr val="tx1"/>
                </a:solidFill>
                <a:ea typeface="华文楷体" panose="02010600040101010101" pitchFamily="2" charset="-122"/>
              </a:endParaRPr>
            </a:p>
          </p:txBody>
        </p:sp>
      </p:gr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4"/>
          <p:cNvSpPr>
            <a:spLocks noGrp="1"/>
          </p:cNvSpPr>
          <p:nvPr>
            <p:ph type="sldNum" sz="quarter" idx="4294967295"/>
          </p:nvPr>
        </p:nvSpPr>
        <p:spPr>
          <a:xfrm>
            <a:off x="6553200" y="6248400"/>
            <a:ext cx="2133600" cy="457200"/>
          </a:xfrm>
          <a:prstGeom prst="rect">
            <a:avLst/>
          </a:prstGeom>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eaLnBrk="1" hangingPunct="1"/>
            <a:r>
              <a:rPr lang="en-US" altLang="zh-CN" sz="1200" b="0">
                <a:solidFill>
                  <a:schemeClr val="tx1"/>
                </a:solidFill>
                <a:latin typeface="Verdana" panose="020B0604030504040204" pitchFamily="34" charset="0"/>
                <a:ea typeface="宋体" panose="02010600030101010101" pitchFamily="2" charset="-122"/>
              </a:rPr>
              <a:t> </a:t>
            </a:r>
            <a:endParaRPr lang="en-US" altLang="zh-CN" sz="1200" b="0">
              <a:solidFill>
                <a:schemeClr val="tx1"/>
              </a:solidFill>
              <a:latin typeface="Verdana" panose="020B0604030504040204" pitchFamily="34" charset="0"/>
              <a:ea typeface="宋体" panose="02010600030101010101" pitchFamily="2" charset="-122"/>
            </a:endParaRPr>
          </a:p>
        </p:txBody>
      </p:sp>
      <p:sp>
        <p:nvSpPr>
          <p:cNvPr id="22531" name="Rectangle 2"/>
          <p:cNvSpPr>
            <a:spLocks noChangeArrowheads="1"/>
          </p:cNvSpPr>
          <p:nvPr/>
        </p:nvSpPr>
        <p:spPr bwMode="auto">
          <a:xfrm>
            <a:off x="605334" y="666096"/>
            <a:ext cx="7776666" cy="6191904"/>
          </a:xfrm>
          <a:prstGeom prst="rect">
            <a:avLst/>
          </a:prstGeom>
          <a:solidFill>
            <a:schemeClr val="tx1"/>
          </a:solid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buClr>
                <a:schemeClr val="tx2"/>
              </a:buClr>
              <a:buSzPct val="70000"/>
              <a:buFont typeface="Wingdings" panose="05000000000000000000" pitchFamily="2" charset="2"/>
              <a:buNone/>
            </a:pPr>
            <a:r>
              <a:rPr lang="en-US" altLang="zh-CN" sz="2000">
                <a:solidFill>
                  <a:srgbClr val="000000"/>
                </a:solidFill>
                <a:ea typeface="华文楷体" panose="02010600040101010101" pitchFamily="2" charset="-122"/>
              </a:rPr>
              <a:t>	void Print() {</a:t>
            </a:r>
            <a:endParaRPr lang="en-US" altLang="zh-CN" sz="2000">
              <a:solidFill>
                <a:srgbClr val="000000"/>
              </a:solidFill>
              <a:ea typeface="华文楷体" panose="02010600040101010101" pitchFamily="2" charset="-122"/>
            </a:endParaRPr>
          </a:p>
          <a:p>
            <a:pPr algn="l" eaLnBrk="1" hangingPunct="1">
              <a:buClr>
                <a:schemeClr val="tx2"/>
              </a:buClr>
              <a:buSzPct val="70000"/>
              <a:buFont typeface="Wingdings" panose="05000000000000000000" pitchFamily="2" charset="2"/>
              <a:buNone/>
            </a:pPr>
            <a:r>
              <a:rPr lang="en-US" altLang="zh-CN" sz="2000">
                <a:solidFill>
                  <a:srgbClr val="000000"/>
                </a:solidFill>
                <a:ea typeface="华文楷体" panose="02010600040101010101" pitchFamily="2" charset="-122"/>
              </a:rPr>
              <a:t>		cout &lt;&lt; "student类中的print()函数" &lt;&lt; endl;</a:t>
            </a:r>
            <a:endParaRPr lang="en-US" altLang="zh-CN" sz="2000">
              <a:solidFill>
                <a:srgbClr val="000000"/>
              </a:solidFill>
              <a:ea typeface="华文楷体" panose="02010600040101010101" pitchFamily="2" charset="-122"/>
            </a:endParaRPr>
          </a:p>
          <a:p>
            <a:pPr algn="l" eaLnBrk="1" hangingPunct="1">
              <a:buClr>
                <a:schemeClr val="tx2"/>
              </a:buClr>
              <a:buSzPct val="70000"/>
              <a:buFont typeface="Wingdings" panose="05000000000000000000" pitchFamily="2" charset="2"/>
              <a:buNone/>
            </a:pPr>
            <a:r>
              <a:rPr lang="en-US" altLang="zh-CN" sz="2000">
                <a:solidFill>
                  <a:srgbClr val="000000"/>
                </a:solidFill>
                <a:ea typeface="华文楷体" panose="02010600040101010101" pitchFamily="2" charset="-122"/>
              </a:rPr>
              <a:t>		cout &lt;&lt; "Number:" &lt;&lt; number &lt;&lt; endl;</a:t>
            </a:r>
            <a:endParaRPr lang="en-US" altLang="zh-CN" sz="2000">
              <a:solidFill>
                <a:srgbClr val="000000"/>
              </a:solidFill>
              <a:ea typeface="华文楷体" panose="02010600040101010101" pitchFamily="2" charset="-122"/>
            </a:endParaRPr>
          </a:p>
          <a:p>
            <a:pPr algn="l" eaLnBrk="1" hangingPunct="1">
              <a:buClr>
                <a:schemeClr val="tx2"/>
              </a:buClr>
              <a:buSzPct val="70000"/>
              <a:buFont typeface="Wingdings" panose="05000000000000000000" pitchFamily="2" charset="2"/>
              <a:buNone/>
            </a:pPr>
            <a:r>
              <a:rPr lang="en-US" altLang="zh-CN" sz="2000">
                <a:solidFill>
                  <a:srgbClr val="000000"/>
                </a:solidFill>
                <a:ea typeface="华文楷体" panose="02010600040101010101" pitchFamily="2" charset="-122"/>
              </a:rPr>
              <a:t>		cout &lt;&lt; "Name:" &lt;&lt; name &lt;&lt; endl;</a:t>
            </a:r>
            <a:endParaRPr lang="en-US" altLang="zh-CN" sz="2000">
              <a:solidFill>
                <a:srgbClr val="000000"/>
              </a:solidFill>
              <a:ea typeface="华文楷体" panose="02010600040101010101" pitchFamily="2" charset="-122"/>
            </a:endParaRPr>
          </a:p>
          <a:p>
            <a:pPr algn="l" eaLnBrk="1" hangingPunct="1">
              <a:buClr>
                <a:schemeClr val="tx2"/>
              </a:buClr>
              <a:buSzPct val="70000"/>
              <a:buFont typeface="Wingdings" panose="05000000000000000000" pitchFamily="2" charset="2"/>
              <a:buNone/>
            </a:pPr>
            <a:r>
              <a:rPr lang="en-US" altLang="zh-CN" sz="2000">
                <a:solidFill>
                  <a:srgbClr val="000000"/>
                </a:solidFill>
                <a:ea typeface="华文楷体" panose="02010600040101010101" pitchFamily="2" charset="-122"/>
              </a:rPr>
              <a:t>	}</a:t>
            </a:r>
            <a:endParaRPr lang="en-US" altLang="zh-CN" sz="2000">
              <a:solidFill>
                <a:srgbClr val="000000"/>
              </a:solidFill>
              <a:ea typeface="华文楷体" panose="02010600040101010101" pitchFamily="2" charset="-122"/>
            </a:endParaRPr>
          </a:p>
          <a:p>
            <a:pPr algn="l" eaLnBrk="1" hangingPunct="1">
              <a:buClr>
                <a:schemeClr val="tx2"/>
              </a:buClr>
              <a:buSzPct val="70000"/>
              <a:buFont typeface="Wingdings" panose="05000000000000000000" pitchFamily="2" charset="2"/>
              <a:buNone/>
            </a:pPr>
            <a:r>
              <a:rPr lang="en-US" altLang="zh-CN" sz="2000">
                <a:solidFill>
                  <a:srgbClr val="000000"/>
                </a:solidFill>
                <a:ea typeface="华文楷体" panose="02010600040101010101" pitchFamily="2" charset="-122"/>
              </a:rPr>
              <a:t>	~Student(){</a:t>
            </a:r>
            <a:endParaRPr lang="en-US" altLang="zh-CN" sz="2000">
              <a:solidFill>
                <a:srgbClr val="000000"/>
              </a:solidFill>
              <a:ea typeface="华文楷体" panose="02010600040101010101" pitchFamily="2" charset="-122"/>
            </a:endParaRPr>
          </a:p>
          <a:p>
            <a:pPr algn="l" eaLnBrk="1" hangingPunct="1">
              <a:buClr>
                <a:schemeClr val="tx2"/>
              </a:buClr>
              <a:buSzPct val="70000"/>
              <a:buFont typeface="Wingdings" panose="05000000000000000000" pitchFamily="2" charset="2"/>
              <a:buNone/>
            </a:pPr>
            <a:r>
              <a:rPr lang="en-US" altLang="zh-CN" sz="2000">
                <a:solidFill>
                  <a:srgbClr val="000000"/>
                </a:solidFill>
                <a:ea typeface="华文楷体" panose="02010600040101010101" pitchFamily="2" charset="-122"/>
              </a:rPr>
              <a:t>		cout &lt;&lt; "析构student对象" &lt;&lt; endl;</a:t>
            </a:r>
            <a:endParaRPr lang="en-US" altLang="zh-CN" sz="2000">
              <a:solidFill>
                <a:srgbClr val="000000"/>
              </a:solidFill>
              <a:ea typeface="华文楷体" panose="02010600040101010101" pitchFamily="2" charset="-122"/>
            </a:endParaRPr>
          </a:p>
          <a:p>
            <a:pPr algn="l" eaLnBrk="1" hangingPunct="1">
              <a:buClr>
                <a:schemeClr val="tx2"/>
              </a:buClr>
              <a:buSzPct val="70000"/>
              <a:buFont typeface="Wingdings" panose="05000000000000000000" pitchFamily="2" charset="2"/>
              <a:buNone/>
            </a:pPr>
            <a:r>
              <a:rPr lang="en-US" altLang="zh-CN" sz="2000">
                <a:solidFill>
                  <a:srgbClr val="000000"/>
                </a:solidFill>
                <a:ea typeface="华文楷体" panose="02010600040101010101" pitchFamily="2" charset="-122"/>
              </a:rPr>
              <a:t>	   delete[] name;</a:t>
            </a:r>
            <a:endParaRPr lang="en-US" altLang="zh-CN" sz="2000">
              <a:solidFill>
                <a:srgbClr val="000000"/>
              </a:solidFill>
              <a:ea typeface="华文楷体" panose="02010600040101010101" pitchFamily="2" charset="-122"/>
            </a:endParaRPr>
          </a:p>
          <a:p>
            <a:pPr algn="l" eaLnBrk="1" hangingPunct="1">
              <a:buClr>
                <a:schemeClr val="tx2"/>
              </a:buClr>
              <a:buSzPct val="70000"/>
              <a:buFont typeface="Wingdings" panose="05000000000000000000" pitchFamily="2" charset="2"/>
              <a:buNone/>
            </a:pPr>
            <a:r>
              <a:rPr lang="en-US" altLang="zh-CN" sz="2000">
                <a:solidFill>
                  <a:srgbClr val="000000"/>
                </a:solidFill>
                <a:ea typeface="华文楷体" panose="02010600040101010101" pitchFamily="2" charset="-122"/>
              </a:rPr>
              <a:t>    }</a:t>
            </a:r>
            <a:endParaRPr lang="en-US" altLang="zh-CN" sz="2000">
              <a:solidFill>
                <a:srgbClr val="000000"/>
              </a:solidFill>
              <a:ea typeface="华文楷体" panose="02010600040101010101" pitchFamily="2" charset="-122"/>
            </a:endParaRPr>
          </a:p>
          <a:p>
            <a:pPr algn="l" eaLnBrk="1" hangingPunct="1">
              <a:buClr>
                <a:schemeClr val="tx2"/>
              </a:buClr>
              <a:buSzPct val="70000"/>
              <a:buFont typeface="Wingdings" panose="05000000000000000000" pitchFamily="2" charset="2"/>
              <a:buNone/>
            </a:pPr>
            <a:r>
              <a:rPr lang="en-US" altLang="zh-CN" sz="2000">
                <a:solidFill>
                  <a:srgbClr val="000000"/>
                </a:solidFill>
                <a:ea typeface="华文楷体" panose="02010600040101010101" pitchFamily="2" charset="-122"/>
              </a:rPr>
              <a:t>};</a:t>
            </a:r>
            <a:endParaRPr lang="en-US" altLang="zh-CN" sz="2000">
              <a:solidFill>
                <a:srgbClr val="000000"/>
              </a:solidFill>
              <a:ea typeface="华文楷体" panose="02010600040101010101" pitchFamily="2" charset="-122"/>
            </a:endParaRPr>
          </a:p>
        </p:txBody>
      </p:sp>
      <p:sp>
        <p:nvSpPr>
          <p:cNvPr id="22532" name="Rectangle 3"/>
          <p:cNvSpPr>
            <a:spLocks noGrp="1" noChangeArrowheads="1"/>
          </p:cNvSpPr>
          <p:nvPr>
            <p:ph type="title"/>
          </p:nvPr>
        </p:nvSpPr>
        <p:spPr>
          <a:xfrm>
            <a:off x="609600" y="76585"/>
            <a:ext cx="7772400" cy="1143000"/>
          </a:xfrm>
        </p:spPr>
        <p:txBody>
          <a:bodyPr/>
          <a:lstStyle/>
          <a:p>
            <a:pPr algn="ctr" eaLnBrk="1" hangingPunct="1"/>
            <a:r>
              <a:rPr lang="zh-CN" altLang="en-US" sz="4000" b="1" dirty="0" smtClean="0">
                <a:latin typeface="Times New Roman" panose="02020603050405020304" pitchFamily="18" charset="0"/>
                <a:ea typeface="隶书" panose="02010509060101010101" pitchFamily="49" charset="-122"/>
              </a:rPr>
              <a:t>单继承范例 </a:t>
            </a:r>
            <a:endParaRPr lang="zh-CN" altLang="en-US" sz="4000" b="1" dirty="0" smtClean="0">
              <a:latin typeface="Times New Roman" panose="02020603050405020304" pitchFamily="18" charset="0"/>
              <a:ea typeface="隶书" panose="02010509060101010101" pitchFamily="49" charset="-122"/>
            </a:endParaRPr>
          </a:p>
        </p:txBody>
      </p:sp>
      <p:grpSp>
        <p:nvGrpSpPr>
          <p:cNvPr id="22533" name="Group 4"/>
          <p:cNvGrpSpPr/>
          <p:nvPr/>
        </p:nvGrpSpPr>
        <p:grpSpPr bwMode="auto">
          <a:xfrm>
            <a:off x="3215640" y="3573145"/>
            <a:ext cx="2713355" cy="2665095"/>
            <a:chOff x="1020" y="1026"/>
            <a:chExt cx="1950" cy="1814"/>
          </a:xfrm>
        </p:grpSpPr>
        <p:sp>
          <p:nvSpPr>
            <p:cNvPr id="22534" name="Rectangle 5"/>
            <p:cNvSpPr>
              <a:spLocks noChangeArrowheads="1"/>
            </p:cNvSpPr>
            <p:nvPr/>
          </p:nvSpPr>
          <p:spPr bwMode="auto">
            <a:xfrm>
              <a:off x="1020" y="1026"/>
              <a:ext cx="1950" cy="363"/>
            </a:xfrm>
            <a:prstGeom prst="rect">
              <a:avLst/>
            </a:prstGeom>
            <a:solidFill>
              <a:schemeClr val="bg1"/>
            </a:solid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eaLnBrk="1" hangingPunct="1">
                <a:lnSpc>
                  <a:spcPct val="125000"/>
                </a:lnSpc>
                <a:buClr>
                  <a:schemeClr val="tx2"/>
                </a:buClr>
                <a:buSzPct val="70000"/>
                <a:buFont typeface="Wingdings" panose="05000000000000000000" pitchFamily="2" charset="2"/>
                <a:buNone/>
              </a:pPr>
              <a:r>
                <a:rPr lang="en-US" altLang="zh-CN" sz="2000">
                  <a:solidFill>
                    <a:schemeClr val="tx1"/>
                  </a:solidFill>
                  <a:ea typeface="华文楷体" panose="02010600040101010101" pitchFamily="2" charset="-122"/>
                </a:rPr>
                <a:t>Student</a:t>
              </a:r>
              <a:endParaRPr lang="en-US" altLang="zh-CN" sz="2000">
                <a:solidFill>
                  <a:schemeClr val="tx1"/>
                </a:solidFill>
                <a:ea typeface="华文楷体" panose="02010600040101010101" pitchFamily="2" charset="-122"/>
              </a:endParaRPr>
            </a:p>
          </p:txBody>
        </p:sp>
        <p:sp>
          <p:nvSpPr>
            <p:cNvPr id="22535" name="Rectangle 6"/>
            <p:cNvSpPr>
              <a:spLocks noChangeArrowheads="1"/>
            </p:cNvSpPr>
            <p:nvPr/>
          </p:nvSpPr>
          <p:spPr bwMode="auto">
            <a:xfrm>
              <a:off x="1020" y="1389"/>
              <a:ext cx="1950" cy="635"/>
            </a:xfrm>
            <a:prstGeom prst="rect">
              <a:avLst/>
            </a:prstGeom>
            <a:solidFill>
              <a:schemeClr val="bg1"/>
            </a:solid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lnSpc>
                  <a:spcPct val="125000"/>
                </a:lnSpc>
                <a:buClr>
                  <a:schemeClr val="tx2"/>
                </a:buClr>
                <a:buSzPct val="70000"/>
                <a:buFont typeface="Wingdings" panose="05000000000000000000" pitchFamily="2" charset="2"/>
                <a:buNone/>
              </a:pPr>
              <a:r>
                <a:rPr lang="en-US" altLang="zh-CN" sz="1800">
                  <a:solidFill>
                    <a:schemeClr val="tx1"/>
                  </a:solidFill>
                  <a:ea typeface="华文楷体" panose="02010600040101010101" pitchFamily="2" charset="-122"/>
                </a:rPr>
                <a:t>-number:int</a:t>
              </a:r>
              <a:endParaRPr lang="en-US" altLang="zh-CN" sz="1800">
                <a:solidFill>
                  <a:schemeClr val="tx1"/>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1800">
                  <a:solidFill>
                    <a:schemeClr val="tx1"/>
                  </a:solidFill>
                  <a:ea typeface="华文楷体" panose="02010600040101010101" pitchFamily="2" charset="-122"/>
                </a:rPr>
                <a:t>-name:char *</a:t>
              </a:r>
              <a:endParaRPr lang="en-US" altLang="zh-CN" sz="1800">
                <a:solidFill>
                  <a:schemeClr val="tx1"/>
                </a:solidFill>
                <a:ea typeface="华文楷体" panose="02010600040101010101" pitchFamily="2" charset="-122"/>
              </a:endParaRPr>
            </a:p>
          </p:txBody>
        </p:sp>
        <p:sp>
          <p:nvSpPr>
            <p:cNvPr id="22536" name="Rectangle 7"/>
            <p:cNvSpPr>
              <a:spLocks noChangeArrowheads="1"/>
            </p:cNvSpPr>
            <p:nvPr/>
          </p:nvSpPr>
          <p:spPr bwMode="auto">
            <a:xfrm>
              <a:off x="1020" y="2024"/>
              <a:ext cx="1950" cy="816"/>
            </a:xfrm>
            <a:prstGeom prst="rect">
              <a:avLst/>
            </a:prstGeom>
            <a:solidFill>
              <a:schemeClr val="bg1"/>
            </a:solid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lnSpc>
                  <a:spcPct val="125000"/>
                </a:lnSpc>
                <a:buClr>
                  <a:schemeClr val="tx2"/>
                </a:buClr>
                <a:buSzPct val="70000"/>
                <a:buFont typeface="Wingdings" panose="05000000000000000000" pitchFamily="2" charset="2"/>
                <a:buNone/>
              </a:pPr>
              <a:r>
                <a:rPr lang="en-US" altLang="zh-CN" sz="1800">
                  <a:solidFill>
                    <a:schemeClr val="tx1"/>
                  </a:solidFill>
                  <a:ea typeface="华文楷体" panose="02010600040101010101" pitchFamily="2" charset="-122"/>
                </a:rPr>
                <a:t>+Student()</a:t>
              </a:r>
              <a:endParaRPr lang="en-US" altLang="zh-CN" sz="1800">
                <a:solidFill>
                  <a:schemeClr val="tx1"/>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1800">
                  <a:solidFill>
                    <a:schemeClr val="tx1"/>
                  </a:solidFill>
                  <a:ea typeface="华文楷体" panose="02010600040101010101" pitchFamily="2" charset="-122"/>
                </a:rPr>
                <a:t>+SetValue(int n,char *s);</a:t>
              </a:r>
              <a:endParaRPr lang="en-US" altLang="zh-CN" sz="1800">
                <a:solidFill>
                  <a:schemeClr val="tx1"/>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1800">
                  <a:solidFill>
                    <a:schemeClr val="tx1"/>
                  </a:solidFill>
                  <a:ea typeface="华文楷体" panose="02010600040101010101" pitchFamily="2" charset="-122"/>
                </a:rPr>
                <a:t>+Print()</a:t>
              </a:r>
              <a:endParaRPr lang="en-US" altLang="zh-CN" sz="1800">
                <a:solidFill>
                  <a:schemeClr val="tx1"/>
                </a:solidFill>
                <a:ea typeface="华文楷体" panose="02010600040101010101" pitchFamily="2" charset="-122"/>
              </a:endParaRPr>
            </a:p>
          </p:txBody>
        </p:sp>
      </p:gr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4"/>
          <p:cNvSpPr>
            <a:spLocks noGrp="1"/>
          </p:cNvSpPr>
          <p:nvPr>
            <p:ph type="sldNum" sz="quarter" idx="4294967295"/>
          </p:nvPr>
        </p:nvSpPr>
        <p:spPr>
          <a:xfrm>
            <a:off x="6553200" y="6248400"/>
            <a:ext cx="2133600" cy="457200"/>
          </a:xfrm>
          <a:prstGeom prst="rect">
            <a:avLst/>
          </a:prstGeom>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eaLnBrk="1" hangingPunct="1"/>
            <a:r>
              <a:rPr lang="en-US" altLang="zh-CN" sz="1200" b="0">
                <a:solidFill>
                  <a:schemeClr val="tx1"/>
                </a:solidFill>
                <a:latin typeface="Verdana" panose="020B0604030504040204" pitchFamily="34" charset="0"/>
                <a:ea typeface="宋体" panose="02010600030101010101" pitchFamily="2" charset="-122"/>
              </a:rPr>
              <a:t> </a:t>
            </a:r>
            <a:endParaRPr lang="en-US" altLang="zh-CN" sz="1200" b="0">
              <a:solidFill>
                <a:schemeClr val="tx1"/>
              </a:solidFill>
              <a:latin typeface="Verdana" panose="020B0604030504040204" pitchFamily="34" charset="0"/>
              <a:ea typeface="宋体" panose="02010600030101010101" pitchFamily="2" charset="-122"/>
            </a:endParaRPr>
          </a:p>
        </p:txBody>
      </p:sp>
      <p:sp>
        <p:nvSpPr>
          <p:cNvPr id="23555" name="Rectangle 18"/>
          <p:cNvSpPr>
            <a:spLocks noChangeArrowheads="1"/>
          </p:cNvSpPr>
          <p:nvPr/>
        </p:nvSpPr>
        <p:spPr bwMode="auto">
          <a:xfrm>
            <a:off x="179388" y="1557338"/>
            <a:ext cx="7561262" cy="5300662"/>
          </a:xfrm>
          <a:prstGeom prst="rect">
            <a:avLst/>
          </a:prstGeom>
          <a:solidFill>
            <a:schemeClr val="tx1"/>
          </a:solidFill>
          <a:ln w="9525">
            <a:solidFill>
              <a:schemeClr val="tx1"/>
            </a:solidFill>
            <a:miter lim="800000"/>
          </a:ln>
        </p:spPr>
        <p:txBody>
          <a:bodyPr/>
          <a:lstStyle/>
          <a:p>
            <a:pPr algn="l">
              <a:buClr>
                <a:schemeClr val="tx2"/>
              </a:buClr>
              <a:buSzPct val="70000"/>
              <a:buFont typeface="Wingdings" panose="05000000000000000000" pitchFamily="2" charset="2"/>
              <a:buNone/>
            </a:pPr>
            <a:r>
              <a:rPr lang="en-US" altLang="zh-CN" sz="2000" b="1" dirty="0">
                <a:solidFill>
                  <a:srgbClr val="000000"/>
                </a:solidFill>
                <a:ea typeface="华文楷体" panose="02010600040101010101" pitchFamily="2" charset="-122"/>
              </a:rPr>
              <a:t>class </a:t>
            </a:r>
            <a:r>
              <a:rPr lang="en-US" altLang="zh-CN" sz="2000" b="1" dirty="0" err="1">
                <a:solidFill>
                  <a:srgbClr val="000000"/>
                </a:solidFill>
                <a:ea typeface="华文楷体" panose="02010600040101010101" pitchFamily="2" charset="-122"/>
              </a:rPr>
              <a:t>WHUStudent:public</a:t>
            </a:r>
            <a:r>
              <a:rPr lang="en-US" altLang="zh-CN" sz="2000" b="1" dirty="0">
                <a:solidFill>
                  <a:srgbClr val="000000"/>
                </a:solidFill>
                <a:ea typeface="华文楷体" panose="02010600040101010101" pitchFamily="2" charset="-122"/>
              </a:rPr>
              <a:t> Student</a:t>
            </a:r>
            <a:endParaRPr lang="en-US" altLang="zh-CN" sz="2000" b="1" dirty="0">
              <a:solidFill>
                <a:srgbClr val="000000"/>
              </a:solidFill>
              <a:ea typeface="华文楷体" panose="02010600040101010101" pitchFamily="2" charset="-122"/>
            </a:endParaRPr>
          </a:p>
          <a:p>
            <a:pPr algn="l">
              <a:buClr>
                <a:schemeClr val="tx2"/>
              </a:buClr>
              <a:buSzPct val="70000"/>
              <a:buFont typeface="Wingdings" panose="05000000000000000000" pitchFamily="2" charset="2"/>
              <a:buNone/>
            </a:pPr>
            <a:r>
              <a:rPr lang="en-US" altLang="zh-CN" sz="2000" b="1" dirty="0">
                <a:solidFill>
                  <a:srgbClr val="000000"/>
                </a:solidFill>
                <a:ea typeface="华文楷体" panose="02010600040101010101" pitchFamily="2" charset="-122"/>
              </a:rPr>
              <a:t>{</a:t>
            </a:r>
            <a:endParaRPr lang="en-US" altLang="zh-CN" sz="2000" b="1" dirty="0">
              <a:solidFill>
                <a:srgbClr val="000000"/>
              </a:solidFill>
              <a:ea typeface="华文楷体" panose="02010600040101010101" pitchFamily="2" charset="-122"/>
            </a:endParaRPr>
          </a:p>
          <a:p>
            <a:pPr algn="l">
              <a:buClr>
                <a:schemeClr val="tx2"/>
              </a:buClr>
              <a:buSzPct val="70000"/>
              <a:buFont typeface="Wingdings" panose="05000000000000000000" pitchFamily="2" charset="2"/>
              <a:buNone/>
            </a:pPr>
            <a:r>
              <a:rPr lang="en-US" altLang="zh-CN" sz="2000" b="1" dirty="0">
                <a:solidFill>
                  <a:srgbClr val="000000"/>
                </a:solidFill>
                <a:ea typeface="华文楷体" panose="02010600040101010101" pitchFamily="2" charset="-122"/>
              </a:rPr>
              <a:t>   private:</a:t>
            </a:r>
            <a:endParaRPr lang="en-US" altLang="zh-CN" sz="2000" b="1" dirty="0">
              <a:solidFill>
                <a:srgbClr val="000000"/>
              </a:solidFill>
              <a:ea typeface="华文楷体" panose="02010600040101010101" pitchFamily="2" charset="-122"/>
            </a:endParaRPr>
          </a:p>
          <a:p>
            <a:pPr algn="l">
              <a:buClr>
                <a:schemeClr val="tx2"/>
              </a:buClr>
              <a:buSzPct val="70000"/>
              <a:buFont typeface="Wingdings" panose="05000000000000000000" pitchFamily="2" charset="2"/>
              <a:buNone/>
            </a:pPr>
            <a:r>
              <a:rPr lang="en-US" altLang="zh-CN" sz="2000" b="1" dirty="0">
                <a:solidFill>
                  <a:srgbClr val="000000"/>
                </a:solidFill>
                <a:ea typeface="华文楷体" panose="02010600040101010101" pitchFamily="2" charset="-122"/>
              </a:rPr>
              <a:t>        </a:t>
            </a:r>
            <a:r>
              <a:rPr lang="en-US" altLang="zh-CN" sz="2000" b="1">
                <a:solidFill>
                  <a:srgbClr val="000000"/>
                </a:solidFill>
                <a:ea typeface="华文楷体" panose="02010600040101010101" pitchFamily="2" charset="-122"/>
              </a:rPr>
              <a:t>string address;  string attitude;</a:t>
            </a:r>
            <a:endParaRPr lang="en-US" altLang="zh-CN" sz="2000" b="1">
              <a:solidFill>
                <a:srgbClr val="000000"/>
              </a:solidFill>
              <a:ea typeface="华文楷体" panose="02010600040101010101" pitchFamily="2" charset="-122"/>
            </a:endParaRPr>
          </a:p>
          <a:p>
            <a:pPr algn="l">
              <a:buClr>
                <a:schemeClr val="tx2"/>
              </a:buClr>
              <a:buSzPct val="70000"/>
              <a:buFont typeface="Wingdings" panose="05000000000000000000" pitchFamily="2" charset="2"/>
              <a:buNone/>
            </a:pPr>
            <a:r>
              <a:rPr lang="en-US" altLang="zh-CN" sz="2000" b="1" dirty="0">
                <a:solidFill>
                  <a:srgbClr val="000000"/>
                </a:solidFill>
                <a:ea typeface="华文楷体" panose="02010600040101010101" pitchFamily="2" charset="-122"/>
              </a:rPr>
              <a:t>   public:</a:t>
            </a:r>
            <a:endParaRPr lang="en-US" altLang="zh-CN" sz="2000" b="1" dirty="0">
              <a:solidFill>
                <a:srgbClr val="000000"/>
              </a:solidFill>
              <a:ea typeface="华文楷体" panose="02010600040101010101" pitchFamily="2" charset="-122"/>
            </a:endParaRPr>
          </a:p>
          <a:p>
            <a:pPr algn="l">
              <a:buClr>
                <a:schemeClr val="tx2"/>
              </a:buClr>
              <a:buSzPct val="70000"/>
              <a:buFont typeface="Wingdings" panose="05000000000000000000" pitchFamily="2" charset="2"/>
              <a:buNone/>
            </a:pPr>
            <a:r>
              <a:rPr lang="en-US" altLang="zh-CN" sz="2000" b="1" dirty="0">
                <a:solidFill>
                  <a:srgbClr val="000000"/>
                </a:solidFill>
                <a:ea typeface="华文楷体" panose="02010600040101010101" pitchFamily="2" charset="-122"/>
              </a:rPr>
              <a:t>        </a:t>
            </a:r>
            <a:r>
              <a:rPr lang="en-US" altLang="zh-CN" sz="2000" b="1">
                <a:solidFill>
                  <a:srgbClr val="000000"/>
                </a:solidFill>
                <a:ea typeface="华文楷体" panose="02010600040101010101" pitchFamily="2" charset="-122"/>
              </a:rPr>
              <a:t>WHUStudent(int n, const char *s, string address, string attitue)  {setValue(n, s);this-&gt;address = address;</a:t>
            </a:r>
            <a:endParaRPr lang="en-US" altLang="zh-CN" sz="2000" b="1">
              <a:solidFill>
                <a:srgbClr val="000000"/>
              </a:solidFill>
              <a:ea typeface="华文楷体" panose="02010600040101010101" pitchFamily="2" charset="-122"/>
            </a:endParaRPr>
          </a:p>
          <a:p>
            <a:pPr algn="l">
              <a:buClr>
                <a:schemeClr val="tx2"/>
              </a:buClr>
              <a:buSzPct val="70000"/>
              <a:buFont typeface="Wingdings" panose="05000000000000000000" pitchFamily="2" charset="2"/>
              <a:buNone/>
            </a:pPr>
            <a:r>
              <a:rPr lang="en-US" altLang="zh-CN" sz="2000" b="1">
                <a:solidFill>
                  <a:srgbClr val="000000"/>
                </a:solidFill>
                <a:ea typeface="华文楷体" panose="02010600040101010101" pitchFamily="2" charset="-122"/>
              </a:rPr>
              <a:t>this-&gt;attitude = attitude;	}</a:t>
            </a:r>
            <a:r>
              <a:rPr lang="en-US" altLang="zh-CN" sz="2000" b="1" dirty="0">
                <a:solidFill>
                  <a:srgbClr val="000000"/>
                </a:solidFill>
                <a:ea typeface="华文楷体" panose="02010600040101010101" pitchFamily="2" charset="-122"/>
              </a:rPr>
              <a:t>       </a:t>
            </a:r>
            <a:endParaRPr lang="en-US" altLang="zh-CN" sz="2000" b="1" dirty="0">
              <a:solidFill>
                <a:srgbClr val="000000"/>
              </a:solidFill>
              <a:ea typeface="华文楷体" panose="02010600040101010101" pitchFamily="2" charset="-122"/>
            </a:endParaRPr>
          </a:p>
          <a:p>
            <a:pPr algn="l">
              <a:buClr>
                <a:schemeClr val="tx2"/>
              </a:buClr>
              <a:buSzPct val="70000"/>
              <a:buFont typeface="Wingdings" panose="05000000000000000000" pitchFamily="2" charset="2"/>
              <a:buNone/>
            </a:pPr>
            <a:endParaRPr lang="en-US" altLang="zh-CN" sz="2000" b="1" dirty="0">
              <a:solidFill>
                <a:srgbClr val="000000"/>
              </a:solidFill>
              <a:ea typeface="华文楷体" panose="02010600040101010101" pitchFamily="2" charset="-122"/>
            </a:endParaRPr>
          </a:p>
          <a:p>
            <a:pPr algn="l">
              <a:buClr>
                <a:schemeClr val="tx2"/>
              </a:buClr>
              <a:buSzPct val="70000"/>
              <a:buFont typeface="Wingdings" panose="05000000000000000000" pitchFamily="2" charset="2"/>
              <a:buNone/>
            </a:pPr>
            <a:r>
              <a:rPr lang="en-US" altLang="zh-CN" sz="2000" b="1" dirty="0">
                <a:solidFill>
                  <a:srgbClr val="000000"/>
                </a:solidFill>
                <a:ea typeface="华文楷体" panose="02010600040101010101" pitchFamily="2" charset="-122"/>
              </a:rPr>
              <a:t> void </a:t>
            </a:r>
            <a:r>
              <a:rPr lang="en-US" altLang="zh-CN" sz="2000" b="1" dirty="0" err="1">
                <a:solidFill>
                  <a:srgbClr val="000000"/>
                </a:solidFill>
                <a:ea typeface="华文楷体" panose="02010600040101010101" pitchFamily="2" charset="-122"/>
              </a:rPr>
              <a:t>PrintExtra</a:t>
            </a:r>
            <a:r>
              <a:rPr lang="en-US" altLang="zh-CN" sz="2000" b="1" dirty="0">
                <a:solidFill>
                  <a:srgbClr val="000000"/>
                </a:solidFill>
                <a:ea typeface="华文楷体" panose="02010600040101010101" pitchFamily="2" charset="-122"/>
              </a:rPr>
              <a:t>()</a:t>
            </a:r>
            <a:endParaRPr lang="en-US" altLang="zh-CN" sz="2000" b="1" dirty="0">
              <a:solidFill>
                <a:srgbClr val="000000"/>
              </a:solidFill>
              <a:ea typeface="华文楷体" panose="02010600040101010101" pitchFamily="2" charset="-122"/>
            </a:endParaRPr>
          </a:p>
          <a:p>
            <a:pPr algn="l">
              <a:buClr>
                <a:schemeClr val="tx2"/>
              </a:buClr>
              <a:buSzPct val="70000"/>
              <a:buFont typeface="Wingdings" panose="05000000000000000000" pitchFamily="2" charset="2"/>
              <a:buNone/>
            </a:pPr>
            <a:r>
              <a:rPr lang="en-US" altLang="zh-CN" sz="2000" b="1" dirty="0">
                <a:solidFill>
                  <a:srgbClr val="000000"/>
                </a:solidFill>
                <a:ea typeface="华文楷体" panose="02010600040101010101" pitchFamily="2" charset="-122"/>
              </a:rPr>
              <a:t>        {</a:t>
            </a:r>
            <a:endParaRPr lang="en-US" altLang="zh-CN" sz="2000" b="1" dirty="0">
              <a:solidFill>
                <a:srgbClr val="000000"/>
              </a:solidFill>
              <a:ea typeface="华文楷体" panose="02010600040101010101" pitchFamily="2" charset="-122"/>
            </a:endParaRPr>
          </a:p>
          <a:p>
            <a:pPr algn="l">
              <a:buClr>
                <a:schemeClr val="tx2"/>
              </a:buClr>
              <a:buSzPct val="70000"/>
              <a:buFont typeface="Wingdings" panose="05000000000000000000" pitchFamily="2" charset="2"/>
              <a:buNone/>
            </a:pPr>
            <a:r>
              <a:rPr lang="en-US" altLang="zh-CN" sz="2000" b="1" dirty="0">
                <a:solidFill>
                  <a:srgbClr val="000000"/>
                </a:solidFill>
                <a:ea typeface="华文楷体" panose="02010600040101010101" pitchFamily="2" charset="-122"/>
              </a:rPr>
              <a:t>           </a:t>
            </a:r>
            <a:r>
              <a:rPr lang="en-US" altLang="zh-CN" sz="2000" b="1" dirty="0" err="1">
                <a:solidFill>
                  <a:srgbClr val="000000"/>
                </a:solidFill>
                <a:ea typeface="华文楷体" panose="02010600040101010101" pitchFamily="2" charset="-122"/>
              </a:rPr>
              <a:t>cout</a:t>
            </a:r>
            <a:r>
              <a:rPr lang="en-US" altLang="zh-CN" sz="2000" b="1" dirty="0">
                <a:solidFill>
                  <a:srgbClr val="000000"/>
                </a:solidFill>
                <a:ea typeface="华文楷体" panose="02010600040101010101" pitchFamily="2" charset="-122"/>
              </a:rPr>
              <a:t>&lt;&lt;"Age:"&lt;&lt;age&lt;&lt;</a:t>
            </a:r>
            <a:r>
              <a:rPr lang="en-US" altLang="zh-CN" sz="2000" b="1" dirty="0" err="1">
                <a:solidFill>
                  <a:srgbClr val="000000"/>
                </a:solidFill>
                <a:ea typeface="华文楷体" panose="02010600040101010101" pitchFamily="2" charset="-122"/>
              </a:rPr>
              <a:t>endl</a:t>
            </a:r>
            <a:r>
              <a:rPr lang="en-US" altLang="zh-CN" sz="2000" b="1" dirty="0">
                <a:solidFill>
                  <a:srgbClr val="000000"/>
                </a:solidFill>
                <a:ea typeface="华文楷体" panose="02010600040101010101" pitchFamily="2" charset="-122"/>
              </a:rPr>
              <a:t>;</a:t>
            </a:r>
            <a:endParaRPr lang="en-US" altLang="zh-CN" sz="2000" b="1" dirty="0">
              <a:solidFill>
                <a:srgbClr val="000000"/>
              </a:solidFill>
              <a:ea typeface="华文楷体" panose="02010600040101010101" pitchFamily="2" charset="-122"/>
            </a:endParaRPr>
          </a:p>
          <a:p>
            <a:pPr algn="l">
              <a:buClr>
                <a:schemeClr val="tx2"/>
              </a:buClr>
              <a:buSzPct val="70000"/>
              <a:buFont typeface="Wingdings" panose="05000000000000000000" pitchFamily="2" charset="2"/>
              <a:buNone/>
            </a:pPr>
            <a:r>
              <a:rPr lang="en-US" altLang="zh-CN" sz="2000" b="1" dirty="0">
                <a:solidFill>
                  <a:srgbClr val="000000"/>
                </a:solidFill>
                <a:ea typeface="华文楷体" panose="02010600040101010101" pitchFamily="2" charset="-122"/>
              </a:rPr>
              <a:t>           </a:t>
            </a:r>
            <a:r>
              <a:rPr lang="en-US" altLang="zh-CN" sz="2000" b="1" dirty="0" err="1">
                <a:solidFill>
                  <a:srgbClr val="000000"/>
                </a:solidFill>
                <a:ea typeface="华文楷体" panose="02010600040101010101" pitchFamily="2" charset="-122"/>
              </a:rPr>
              <a:t>cout</a:t>
            </a:r>
            <a:r>
              <a:rPr lang="en-US" altLang="zh-CN" sz="2000" b="1" dirty="0">
                <a:solidFill>
                  <a:srgbClr val="000000"/>
                </a:solidFill>
                <a:ea typeface="华文楷体" panose="02010600040101010101" pitchFamily="2" charset="-122"/>
              </a:rPr>
              <a:t>&lt;&lt;"Grade:"&lt;&lt;grade&lt;&lt;</a:t>
            </a:r>
            <a:r>
              <a:rPr lang="en-US" altLang="zh-CN" sz="2000" b="1" dirty="0" err="1">
                <a:solidFill>
                  <a:srgbClr val="000000"/>
                </a:solidFill>
                <a:ea typeface="华文楷体" panose="02010600040101010101" pitchFamily="2" charset="-122"/>
              </a:rPr>
              <a:t>endl</a:t>
            </a:r>
            <a:r>
              <a:rPr lang="en-US" altLang="zh-CN" sz="2000" b="1" dirty="0">
                <a:solidFill>
                  <a:srgbClr val="000000"/>
                </a:solidFill>
                <a:ea typeface="华文楷体" panose="02010600040101010101" pitchFamily="2" charset="-122"/>
              </a:rPr>
              <a:t>;</a:t>
            </a:r>
            <a:endParaRPr lang="en-US" altLang="zh-CN" sz="2000" b="1" dirty="0">
              <a:solidFill>
                <a:srgbClr val="000000"/>
              </a:solidFill>
              <a:ea typeface="华文楷体" panose="02010600040101010101" pitchFamily="2" charset="-122"/>
            </a:endParaRPr>
          </a:p>
          <a:p>
            <a:pPr algn="l">
              <a:buClr>
                <a:schemeClr val="tx2"/>
              </a:buClr>
              <a:buSzPct val="70000"/>
              <a:buFont typeface="Wingdings" panose="05000000000000000000" pitchFamily="2" charset="2"/>
              <a:buNone/>
            </a:pPr>
            <a:r>
              <a:rPr lang="en-US" altLang="zh-CN" sz="2000" b="1" dirty="0">
                <a:solidFill>
                  <a:srgbClr val="000000"/>
                </a:solidFill>
                <a:ea typeface="华文楷体" panose="02010600040101010101" pitchFamily="2" charset="-122"/>
              </a:rPr>
              <a:t>        }</a:t>
            </a:r>
            <a:endParaRPr lang="en-US" altLang="zh-CN" sz="2000" b="1" dirty="0">
              <a:solidFill>
                <a:srgbClr val="000000"/>
              </a:solidFill>
              <a:ea typeface="华文楷体" panose="02010600040101010101" pitchFamily="2" charset="-122"/>
            </a:endParaRPr>
          </a:p>
          <a:p>
            <a:pPr algn="l">
              <a:buClr>
                <a:schemeClr val="tx2"/>
              </a:buClr>
              <a:buSzPct val="70000"/>
              <a:buFont typeface="Wingdings" panose="05000000000000000000" pitchFamily="2" charset="2"/>
              <a:buNone/>
            </a:pPr>
            <a:r>
              <a:rPr lang="en-US" altLang="zh-CN" sz="2000" b="1" dirty="0">
                <a:solidFill>
                  <a:srgbClr val="000000"/>
                </a:solidFill>
                <a:ea typeface="华文楷体" panose="02010600040101010101" pitchFamily="2" charset="-122"/>
              </a:rPr>
              <a:t>};</a:t>
            </a:r>
            <a:endParaRPr lang="en-US" altLang="zh-CN" sz="2000" b="1" dirty="0">
              <a:solidFill>
                <a:srgbClr val="000000"/>
              </a:solidFill>
              <a:ea typeface="华文楷体" panose="02010600040101010101" pitchFamily="2" charset="-122"/>
            </a:endParaRPr>
          </a:p>
        </p:txBody>
      </p:sp>
      <p:sp>
        <p:nvSpPr>
          <p:cNvPr id="23556" name="Rectangle 2"/>
          <p:cNvSpPr>
            <a:spLocks noGrp="1" noChangeArrowheads="1"/>
          </p:cNvSpPr>
          <p:nvPr>
            <p:ph type="title"/>
          </p:nvPr>
        </p:nvSpPr>
        <p:spPr>
          <a:xfrm>
            <a:off x="609600" y="152400"/>
            <a:ext cx="7772400" cy="1143000"/>
          </a:xfrm>
        </p:spPr>
        <p:txBody>
          <a:bodyPr/>
          <a:lstStyle/>
          <a:p>
            <a:pPr algn="ctr" eaLnBrk="1" hangingPunct="1"/>
            <a:r>
              <a:rPr lang="zh-CN" altLang="en-US" sz="4000" b="1" dirty="0" smtClean="0">
                <a:latin typeface="Times New Roman" panose="02020603050405020304" pitchFamily="18" charset="0"/>
                <a:ea typeface="隶书" panose="02010509060101010101" pitchFamily="49" charset="-122"/>
              </a:rPr>
              <a:t>单继承范例 </a:t>
            </a:r>
            <a:endParaRPr lang="zh-CN" altLang="en-US" sz="4000" b="1" dirty="0" smtClean="0">
              <a:latin typeface="Times New Roman" panose="02020603050405020304" pitchFamily="18" charset="0"/>
              <a:ea typeface="隶书" panose="02010509060101010101" pitchFamily="49" charset="-122"/>
            </a:endParaRPr>
          </a:p>
        </p:txBody>
      </p:sp>
      <p:sp>
        <p:nvSpPr>
          <p:cNvPr id="23557" name="Rectangle 3"/>
          <p:cNvSpPr>
            <a:spLocks noGrp="1" noChangeArrowheads="1"/>
          </p:cNvSpPr>
          <p:nvPr>
            <p:ph type="body" idx="1"/>
          </p:nvPr>
        </p:nvSpPr>
        <p:spPr>
          <a:xfrm>
            <a:off x="6300788" y="1557338"/>
            <a:ext cx="2808287" cy="576262"/>
          </a:xfrm>
          <a:solidFill>
            <a:schemeClr val="bg1"/>
          </a:solidFill>
          <a:ln>
            <a:solidFill>
              <a:schemeClr val="tx1"/>
            </a:solidFill>
            <a:miter lim="800000"/>
          </a:ln>
        </p:spPr>
        <p:txBody>
          <a:bodyPr/>
          <a:lstStyle/>
          <a:p>
            <a:pPr marL="0" indent="0" algn="ctr" eaLnBrk="1" hangingPunct="1">
              <a:lnSpc>
                <a:spcPct val="125000"/>
              </a:lnSpc>
              <a:spcBef>
                <a:spcPct val="0"/>
              </a:spcBef>
              <a:buFont typeface="Wingdings" panose="05000000000000000000" pitchFamily="2" charset="2"/>
              <a:buNone/>
            </a:pPr>
            <a:r>
              <a:rPr lang="en-US" altLang="zh-CN" sz="2400" b="1" smtClean="0">
                <a:latin typeface="Times New Roman" panose="02020603050405020304" pitchFamily="18" charset="0"/>
                <a:ea typeface="华文楷体" panose="02010600040101010101" pitchFamily="2" charset="-122"/>
              </a:rPr>
              <a:t>WHUStudent</a:t>
            </a:r>
            <a:endParaRPr lang="en-US" altLang="zh-CN" sz="2400" b="1" smtClean="0">
              <a:latin typeface="Times New Roman" panose="02020603050405020304" pitchFamily="18" charset="0"/>
              <a:ea typeface="华文楷体" panose="02010600040101010101" pitchFamily="2" charset="-122"/>
            </a:endParaRPr>
          </a:p>
        </p:txBody>
      </p:sp>
      <p:grpSp>
        <p:nvGrpSpPr>
          <p:cNvPr id="23558" name="Group 19"/>
          <p:cNvGrpSpPr/>
          <p:nvPr/>
        </p:nvGrpSpPr>
        <p:grpSpPr bwMode="auto">
          <a:xfrm>
            <a:off x="6300788" y="2133600"/>
            <a:ext cx="2808287" cy="4464050"/>
            <a:chOff x="3969" y="1344"/>
            <a:chExt cx="1769" cy="2812"/>
          </a:xfrm>
        </p:grpSpPr>
        <p:sp>
          <p:nvSpPr>
            <p:cNvPr id="23559" name="Rectangle 5"/>
            <p:cNvSpPr>
              <a:spLocks noChangeArrowheads="1"/>
            </p:cNvSpPr>
            <p:nvPr/>
          </p:nvSpPr>
          <p:spPr bwMode="auto">
            <a:xfrm>
              <a:off x="3969" y="1344"/>
              <a:ext cx="1769" cy="635"/>
            </a:xfrm>
            <a:prstGeom prst="rect">
              <a:avLst/>
            </a:prstGeom>
            <a:solidFill>
              <a:schemeClr val="bg1"/>
            </a:solid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lnSpc>
                  <a:spcPct val="125000"/>
                </a:lnSpc>
                <a:buClr>
                  <a:schemeClr val="tx2"/>
                </a:buClr>
                <a:buSzPct val="70000"/>
                <a:buFont typeface="Wingdings" panose="05000000000000000000" pitchFamily="2" charset="2"/>
                <a:buNone/>
              </a:pPr>
              <a:r>
                <a:rPr lang="en-US" altLang="zh-CN" sz="1800">
                  <a:solidFill>
                    <a:schemeClr val="tx1"/>
                  </a:solidFill>
                  <a:ea typeface="华文楷体" panose="02010600040101010101" pitchFamily="2" charset="-122"/>
                </a:rPr>
                <a:t>-number:int</a:t>
              </a:r>
              <a:endParaRPr lang="en-US" altLang="zh-CN" sz="1800">
                <a:solidFill>
                  <a:schemeClr val="tx1"/>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1800">
                  <a:solidFill>
                    <a:schemeClr val="tx1"/>
                  </a:solidFill>
                  <a:ea typeface="华文楷体" panose="02010600040101010101" pitchFamily="2" charset="-122"/>
                </a:rPr>
                <a:t>-name:char *</a:t>
              </a:r>
              <a:endParaRPr lang="en-US" altLang="zh-CN" sz="1800">
                <a:solidFill>
                  <a:schemeClr val="tx1"/>
                </a:solidFill>
                <a:ea typeface="华文楷体" panose="02010600040101010101" pitchFamily="2" charset="-122"/>
              </a:endParaRPr>
            </a:p>
          </p:txBody>
        </p:sp>
        <p:sp>
          <p:nvSpPr>
            <p:cNvPr id="23560" name="Rectangle 6"/>
            <p:cNvSpPr>
              <a:spLocks noChangeArrowheads="1"/>
            </p:cNvSpPr>
            <p:nvPr/>
          </p:nvSpPr>
          <p:spPr bwMode="auto">
            <a:xfrm>
              <a:off x="3969" y="1979"/>
              <a:ext cx="1769" cy="771"/>
            </a:xfrm>
            <a:prstGeom prst="rect">
              <a:avLst/>
            </a:prstGeom>
            <a:solidFill>
              <a:schemeClr val="bg1"/>
            </a:solid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lnSpc>
                  <a:spcPct val="125000"/>
                </a:lnSpc>
                <a:buClr>
                  <a:schemeClr val="tx2"/>
                </a:buClr>
                <a:buSzPct val="70000"/>
                <a:buFont typeface="Wingdings" panose="05000000000000000000" pitchFamily="2" charset="2"/>
                <a:buNone/>
              </a:pPr>
              <a:r>
                <a:rPr lang="en-US" altLang="zh-CN" sz="1800">
                  <a:solidFill>
                    <a:schemeClr val="tx1"/>
                  </a:solidFill>
                  <a:ea typeface="华文楷体" panose="02010600040101010101" pitchFamily="2" charset="-122"/>
                </a:rPr>
                <a:t>+Student()</a:t>
              </a:r>
              <a:endParaRPr lang="en-US" altLang="zh-CN" sz="1800">
                <a:solidFill>
                  <a:schemeClr val="tx1"/>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1800">
                  <a:solidFill>
                    <a:schemeClr val="tx1"/>
                  </a:solidFill>
                  <a:ea typeface="华文楷体" panose="02010600040101010101" pitchFamily="2" charset="-122"/>
                </a:rPr>
                <a:t>+SetValue(intn,char *s);</a:t>
              </a:r>
              <a:endParaRPr lang="en-US" altLang="zh-CN" sz="1800">
                <a:solidFill>
                  <a:schemeClr val="tx1"/>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1800">
                  <a:solidFill>
                    <a:schemeClr val="tx1"/>
                  </a:solidFill>
                  <a:ea typeface="华文楷体" panose="02010600040101010101" pitchFamily="2" charset="-122"/>
                </a:rPr>
                <a:t>+Print()</a:t>
              </a:r>
              <a:endParaRPr lang="en-US" altLang="zh-CN" sz="1800">
                <a:solidFill>
                  <a:schemeClr val="tx1"/>
                </a:solidFill>
                <a:ea typeface="华文楷体" panose="02010600040101010101" pitchFamily="2" charset="-122"/>
              </a:endParaRPr>
            </a:p>
          </p:txBody>
        </p:sp>
        <p:sp>
          <p:nvSpPr>
            <p:cNvPr id="23561" name="Rectangle 11"/>
            <p:cNvSpPr>
              <a:spLocks noChangeArrowheads="1"/>
            </p:cNvSpPr>
            <p:nvPr/>
          </p:nvSpPr>
          <p:spPr bwMode="auto">
            <a:xfrm>
              <a:off x="3969" y="2750"/>
              <a:ext cx="1769" cy="635"/>
            </a:xfrm>
            <a:prstGeom prst="rect">
              <a:avLst/>
            </a:prstGeom>
            <a:solidFill>
              <a:schemeClr val="bg1"/>
            </a:solid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lnSpc>
                  <a:spcPct val="125000"/>
                </a:lnSpc>
                <a:buClr>
                  <a:schemeClr val="tx2"/>
                </a:buClr>
                <a:buSzPct val="70000"/>
                <a:buFont typeface="Wingdings" panose="05000000000000000000" pitchFamily="2" charset="2"/>
                <a:buNone/>
              </a:pPr>
              <a:r>
                <a:rPr lang="en-US" altLang="zh-CN" sz="1800">
                  <a:solidFill>
                    <a:schemeClr val="tx1"/>
                  </a:solidFill>
                  <a:ea typeface="华文楷体" panose="02010600040101010101" pitchFamily="2" charset="-122"/>
                </a:rPr>
                <a:t>-address:string</a:t>
              </a:r>
              <a:endParaRPr lang="en-US" altLang="zh-CN" sz="1800">
                <a:solidFill>
                  <a:schemeClr val="tx1"/>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1800">
                  <a:solidFill>
                    <a:schemeClr val="tx1"/>
                  </a:solidFill>
                  <a:ea typeface="华文楷体" panose="02010600040101010101" pitchFamily="2" charset="-122"/>
                </a:rPr>
                <a:t>-attitude:string</a:t>
              </a:r>
              <a:endParaRPr lang="en-US" altLang="zh-CN" sz="1800">
                <a:solidFill>
                  <a:schemeClr val="tx1"/>
                </a:solidFill>
                <a:ea typeface="华文楷体" panose="02010600040101010101" pitchFamily="2" charset="-122"/>
              </a:endParaRPr>
            </a:p>
          </p:txBody>
        </p:sp>
        <p:sp>
          <p:nvSpPr>
            <p:cNvPr id="23562" name="Rectangle 12"/>
            <p:cNvSpPr>
              <a:spLocks noChangeArrowheads="1"/>
            </p:cNvSpPr>
            <p:nvPr/>
          </p:nvSpPr>
          <p:spPr bwMode="auto">
            <a:xfrm>
              <a:off x="3969" y="3385"/>
              <a:ext cx="1769" cy="771"/>
            </a:xfrm>
            <a:prstGeom prst="rect">
              <a:avLst/>
            </a:prstGeom>
            <a:solidFill>
              <a:schemeClr val="bg1"/>
            </a:solid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lnSpc>
                  <a:spcPct val="125000"/>
                </a:lnSpc>
                <a:buClr>
                  <a:schemeClr val="tx2"/>
                </a:buClr>
                <a:buSzPct val="70000"/>
                <a:buFont typeface="Wingdings" panose="05000000000000000000" pitchFamily="2" charset="2"/>
                <a:buNone/>
              </a:pPr>
              <a:r>
                <a:rPr lang="en-US" altLang="zh-CN" sz="1800">
                  <a:solidFill>
                    <a:schemeClr val="tx1"/>
                  </a:solidFill>
                  <a:ea typeface="华文楷体" panose="02010600040101010101" pitchFamily="2" charset="-122"/>
                </a:rPr>
                <a:t>+</a:t>
              </a:r>
              <a:r>
                <a:rPr lang="en-US" altLang="zh-CN" sz="1800" smtClean="0">
                  <a:ea typeface="华文楷体" panose="02010600040101010101" pitchFamily="2" charset="-122"/>
                  <a:sym typeface="+mn-ea"/>
                </a:rPr>
                <a:t>WHU</a:t>
              </a:r>
              <a:r>
                <a:rPr lang="en-US" altLang="zh-CN" sz="1800">
                  <a:solidFill>
                    <a:schemeClr val="tx1"/>
                  </a:solidFill>
                  <a:ea typeface="华文楷体" panose="02010600040101010101" pitchFamily="2" charset="-122"/>
                </a:rPr>
                <a:t>Student()</a:t>
              </a:r>
              <a:endParaRPr lang="en-US" altLang="zh-CN" sz="1800">
                <a:solidFill>
                  <a:schemeClr val="tx1"/>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1800">
                  <a:solidFill>
                    <a:schemeClr val="tx1"/>
                  </a:solidFill>
                  <a:ea typeface="华文楷体" panose="02010600040101010101" pitchFamily="2" charset="-122"/>
                </a:rPr>
                <a:t>(int n,char *s,int a, int g);</a:t>
              </a:r>
              <a:endParaRPr lang="en-US" altLang="zh-CN" sz="1800">
                <a:solidFill>
                  <a:schemeClr val="tx1"/>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1800">
                  <a:solidFill>
                    <a:schemeClr val="tx1"/>
                  </a:solidFill>
                  <a:ea typeface="华文楷体" panose="02010600040101010101" pitchFamily="2" charset="-122"/>
                </a:rPr>
                <a:t>+PrintExtra()</a:t>
              </a:r>
              <a:endParaRPr lang="en-US" altLang="zh-CN" sz="1800">
                <a:solidFill>
                  <a:schemeClr val="tx1"/>
                </a:solidFill>
                <a:ea typeface="华文楷体" panose="02010600040101010101" pitchFamily="2" charset="-122"/>
              </a:endParaRPr>
            </a:p>
          </p:txBody>
        </p:sp>
      </p:gr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4294967295"/>
          </p:nvPr>
        </p:nvSpPr>
        <p:spPr>
          <a:xfrm>
            <a:off x="6553200" y="6248400"/>
            <a:ext cx="2133600" cy="457200"/>
          </a:xfrm>
          <a:prstGeom prst="rect">
            <a:avLst/>
          </a:prstGeom>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eaLnBrk="1" hangingPunct="1"/>
            <a:r>
              <a:rPr lang="en-US" altLang="zh-CN" sz="1200" b="0">
                <a:solidFill>
                  <a:schemeClr val="tx1"/>
                </a:solidFill>
                <a:latin typeface="Verdana" panose="020B0604030504040204" pitchFamily="34" charset="0"/>
                <a:ea typeface="宋体" panose="02010600030101010101" pitchFamily="2" charset="-122"/>
              </a:rPr>
              <a:t> </a:t>
            </a:r>
            <a:endParaRPr lang="en-US" altLang="zh-CN" sz="1200" b="0">
              <a:solidFill>
                <a:schemeClr val="tx1"/>
              </a:solidFill>
              <a:latin typeface="Verdana" panose="020B0604030504040204" pitchFamily="34" charset="0"/>
              <a:ea typeface="宋体" panose="02010600030101010101" pitchFamily="2" charset="-122"/>
            </a:endParaRPr>
          </a:p>
        </p:txBody>
      </p:sp>
      <p:sp>
        <p:nvSpPr>
          <p:cNvPr id="24579" name="Rectangle 2"/>
          <p:cNvSpPr>
            <a:spLocks noChangeArrowheads="1"/>
          </p:cNvSpPr>
          <p:nvPr/>
        </p:nvSpPr>
        <p:spPr bwMode="auto">
          <a:xfrm>
            <a:off x="1114743" y="1268413"/>
            <a:ext cx="7561262" cy="4895998"/>
          </a:xfrm>
          <a:prstGeom prst="rect">
            <a:avLst/>
          </a:prstGeom>
          <a:solidFill>
            <a:schemeClr val="tx1"/>
          </a:solidFill>
          <a:ln w="9525">
            <a:solidFill>
              <a:schemeClr val="tx1"/>
            </a:solidFill>
            <a:miter lim="800000"/>
          </a:ln>
        </p:spPr>
        <p:txBody>
          <a:bodyPr/>
          <a:lstStyle/>
          <a:p>
            <a:pPr algn="l">
              <a:buClr>
                <a:schemeClr val="tx2"/>
              </a:buClr>
              <a:buSzPct val="70000"/>
              <a:buFont typeface="Wingdings" panose="05000000000000000000" pitchFamily="2" charset="2"/>
              <a:buNone/>
            </a:pPr>
            <a:endParaRPr lang="en-US" altLang="zh-CN" sz="2000" b="1">
              <a:solidFill>
                <a:srgbClr val="000000"/>
              </a:solidFill>
              <a:ea typeface="华文楷体" panose="02010600040101010101" pitchFamily="2" charset="-122"/>
            </a:endParaRPr>
          </a:p>
          <a:p>
            <a:pPr algn="l">
              <a:buClr>
                <a:schemeClr val="tx2"/>
              </a:buClr>
              <a:buSzPct val="70000"/>
              <a:buFont typeface="Wingdings" panose="05000000000000000000" pitchFamily="2" charset="2"/>
              <a:buNone/>
            </a:pPr>
            <a:r>
              <a:rPr lang="en-US" altLang="zh-CN" sz="2000" b="1">
                <a:solidFill>
                  <a:srgbClr val="000000"/>
                </a:solidFill>
                <a:ea typeface="华文楷体" panose="02010600040101010101" pitchFamily="2" charset="-122"/>
              </a:rPr>
              <a:t>int main() {</a:t>
            </a:r>
            <a:endParaRPr lang="en-US" altLang="zh-CN" sz="2000" b="1">
              <a:solidFill>
                <a:srgbClr val="000000"/>
              </a:solidFill>
              <a:ea typeface="华文楷体" panose="02010600040101010101" pitchFamily="2" charset="-122"/>
            </a:endParaRPr>
          </a:p>
          <a:p>
            <a:pPr algn="l">
              <a:buClr>
                <a:schemeClr val="tx2"/>
              </a:buClr>
              <a:buSzPct val="70000"/>
              <a:buFont typeface="Wingdings" panose="05000000000000000000" pitchFamily="2" charset="2"/>
              <a:buNone/>
            </a:pPr>
            <a:r>
              <a:rPr lang="en-US" altLang="zh-CN" sz="2000" b="1">
                <a:solidFill>
                  <a:srgbClr val="000000"/>
                </a:solidFill>
                <a:ea typeface="华文楷体" panose="02010600040101010101" pitchFamily="2" charset="-122"/>
              </a:rPr>
              <a:t>	WHUStudent zhang(100, "zhang", "枫园三舍401", "我真的喜欢武汉大学");</a:t>
            </a:r>
            <a:endParaRPr lang="en-US" altLang="zh-CN" sz="2000" b="1">
              <a:solidFill>
                <a:srgbClr val="000000"/>
              </a:solidFill>
              <a:ea typeface="华文楷体" panose="02010600040101010101" pitchFamily="2" charset="-122"/>
            </a:endParaRPr>
          </a:p>
          <a:p>
            <a:pPr algn="l">
              <a:buClr>
                <a:schemeClr val="tx2"/>
              </a:buClr>
              <a:buSzPct val="70000"/>
              <a:buFont typeface="Wingdings" panose="05000000000000000000" pitchFamily="2" charset="2"/>
              <a:buNone/>
            </a:pPr>
            <a:r>
              <a:rPr lang="en-US" altLang="zh-CN" sz="2000" b="1">
                <a:solidFill>
                  <a:srgbClr val="000000"/>
                </a:solidFill>
                <a:ea typeface="华文楷体" panose="02010600040101010101" pitchFamily="2" charset="-122"/>
              </a:rPr>
              <a:t>	zhang.PrintExtra();</a:t>
            </a:r>
            <a:endParaRPr lang="en-US" altLang="zh-CN" sz="2000" b="1">
              <a:solidFill>
                <a:srgbClr val="000000"/>
              </a:solidFill>
              <a:ea typeface="华文楷体" panose="02010600040101010101" pitchFamily="2" charset="-122"/>
            </a:endParaRPr>
          </a:p>
          <a:p>
            <a:pPr algn="l">
              <a:buClr>
                <a:schemeClr val="tx2"/>
              </a:buClr>
              <a:buSzPct val="70000"/>
              <a:buFont typeface="Wingdings" panose="05000000000000000000" pitchFamily="2" charset="2"/>
              <a:buNone/>
            </a:pPr>
            <a:r>
              <a:rPr lang="en-US" altLang="zh-CN" sz="2000" b="1">
                <a:solidFill>
                  <a:srgbClr val="000000"/>
                </a:solidFill>
                <a:ea typeface="华文楷体" panose="02010600040101010101" pitchFamily="2" charset="-122"/>
              </a:rPr>
              <a:t>	return 0;</a:t>
            </a:r>
            <a:endParaRPr lang="en-US" altLang="zh-CN" sz="2000" b="1">
              <a:solidFill>
                <a:srgbClr val="000000"/>
              </a:solidFill>
              <a:ea typeface="华文楷体" panose="02010600040101010101" pitchFamily="2" charset="-122"/>
            </a:endParaRPr>
          </a:p>
          <a:p>
            <a:pPr algn="l">
              <a:buClr>
                <a:schemeClr val="tx2"/>
              </a:buClr>
              <a:buSzPct val="70000"/>
              <a:buFont typeface="Wingdings" panose="05000000000000000000" pitchFamily="2" charset="2"/>
              <a:buNone/>
            </a:pPr>
            <a:r>
              <a:rPr lang="en-US" altLang="zh-CN" sz="2000" b="1">
                <a:solidFill>
                  <a:srgbClr val="000000"/>
                </a:solidFill>
                <a:ea typeface="华文楷体" panose="02010600040101010101" pitchFamily="2" charset="-122"/>
              </a:rPr>
              <a:t>}</a:t>
            </a:r>
            <a:endParaRPr lang="en-US" altLang="zh-CN" sz="2000" b="1">
              <a:solidFill>
                <a:srgbClr val="000000"/>
              </a:solidFill>
              <a:ea typeface="华文楷体" panose="02010600040101010101" pitchFamily="2" charset="-122"/>
            </a:endParaRPr>
          </a:p>
        </p:txBody>
      </p:sp>
      <p:sp>
        <p:nvSpPr>
          <p:cNvPr id="24580" name="Rectangle 3"/>
          <p:cNvSpPr>
            <a:spLocks noGrp="1" noChangeArrowheads="1"/>
          </p:cNvSpPr>
          <p:nvPr>
            <p:ph type="title"/>
          </p:nvPr>
        </p:nvSpPr>
        <p:spPr>
          <a:xfrm>
            <a:off x="609600" y="152400"/>
            <a:ext cx="7772400" cy="1143000"/>
          </a:xfrm>
        </p:spPr>
        <p:txBody>
          <a:bodyPr/>
          <a:lstStyle/>
          <a:p>
            <a:pPr algn="ctr" eaLnBrk="1" hangingPunct="1"/>
            <a:r>
              <a:rPr lang="zh-CN" altLang="en-US" sz="4000" b="1" dirty="0" smtClean="0">
                <a:latin typeface="Times New Roman" panose="02020603050405020304" pitchFamily="18" charset="0"/>
                <a:ea typeface="隶书" panose="02010509060101010101" pitchFamily="49" charset="-122"/>
              </a:rPr>
              <a:t>单继承范例 </a:t>
            </a:r>
            <a:endParaRPr lang="zh-CN" altLang="en-US" sz="4000" b="1" dirty="0" smtClean="0">
              <a:latin typeface="Times New Roman" panose="02020603050405020304" pitchFamily="18" charset="0"/>
              <a:ea typeface="隶书" panose="02010509060101010101" pitchFamily="49" charset="-122"/>
            </a:endParaRPr>
          </a:p>
        </p:txBody>
      </p:sp>
      <p:sp>
        <p:nvSpPr>
          <p:cNvPr id="24581" name="Rectangle 10"/>
          <p:cNvSpPr>
            <a:spLocks noChangeArrowheads="1"/>
          </p:cNvSpPr>
          <p:nvPr/>
        </p:nvSpPr>
        <p:spPr bwMode="auto">
          <a:xfrm>
            <a:off x="1188085" y="3716655"/>
            <a:ext cx="7473950" cy="2078355"/>
          </a:xfrm>
          <a:prstGeom prst="rect">
            <a:avLst/>
          </a:prstGeom>
          <a:solidFill>
            <a:srgbClr val="000000"/>
          </a:solid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buClr>
                <a:schemeClr val="tx2"/>
              </a:buClr>
              <a:buSzPct val="70000"/>
              <a:buFont typeface="Wingdings" panose="05000000000000000000" pitchFamily="2" charset="2"/>
              <a:buNone/>
            </a:pPr>
            <a:r>
              <a:rPr sz="1600" dirty="0" smtClean="0">
                <a:solidFill>
                  <a:schemeClr val="tx1"/>
                </a:solidFill>
                <a:ea typeface="华文楷体" panose="02010600040101010101" pitchFamily="2" charset="-122"/>
              </a:rPr>
              <a:t>构造student对象</a:t>
            </a:r>
            <a:endParaRPr sz="1600" dirty="0" smtClean="0">
              <a:solidFill>
                <a:schemeClr val="tx1"/>
              </a:solidFill>
              <a:ea typeface="华文楷体" panose="02010600040101010101" pitchFamily="2" charset="-122"/>
            </a:endParaRPr>
          </a:p>
          <a:p>
            <a:pPr algn="l" eaLnBrk="1" hangingPunct="1">
              <a:buClr>
                <a:schemeClr val="tx2"/>
              </a:buClr>
              <a:buSzPct val="70000"/>
              <a:buFont typeface="Wingdings" panose="05000000000000000000" pitchFamily="2" charset="2"/>
              <a:buNone/>
            </a:pPr>
            <a:r>
              <a:rPr sz="1600" dirty="0" smtClean="0">
                <a:solidFill>
                  <a:schemeClr val="tx1"/>
                </a:solidFill>
                <a:ea typeface="华文楷体" panose="02010600040101010101" pitchFamily="2" charset="-122"/>
              </a:rPr>
              <a:t>student类中的setValue()函数</a:t>
            </a:r>
            <a:endParaRPr sz="1600" dirty="0" smtClean="0">
              <a:solidFill>
                <a:schemeClr val="tx1"/>
              </a:solidFill>
              <a:ea typeface="华文楷体" panose="02010600040101010101" pitchFamily="2" charset="-122"/>
            </a:endParaRPr>
          </a:p>
          <a:p>
            <a:pPr algn="l" eaLnBrk="1" hangingPunct="1">
              <a:buClr>
                <a:schemeClr val="tx2"/>
              </a:buClr>
              <a:buSzPct val="70000"/>
              <a:buFont typeface="Wingdings" panose="05000000000000000000" pitchFamily="2" charset="2"/>
              <a:buNone/>
            </a:pPr>
            <a:r>
              <a:rPr sz="1600" dirty="0" smtClean="0">
                <a:solidFill>
                  <a:schemeClr val="tx1"/>
                </a:solidFill>
                <a:ea typeface="华文楷体" panose="02010600040101010101" pitchFamily="2" charset="-122"/>
              </a:rPr>
              <a:t>进入WHUStudent类的printExtra函数</a:t>
            </a:r>
            <a:endParaRPr sz="1600" dirty="0" smtClean="0">
              <a:solidFill>
                <a:schemeClr val="tx1"/>
              </a:solidFill>
              <a:ea typeface="华文楷体" panose="02010600040101010101" pitchFamily="2" charset="-122"/>
            </a:endParaRPr>
          </a:p>
          <a:p>
            <a:pPr algn="l" eaLnBrk="1" hangingPunct="1">
              <a:buClr>
                <a:schemeClr val="tx2"/>
              </a:buClr>
              <a:buSzPct val="70000"/>
              <a:buFont typeface="Wingdings" panose="05000000000000000000" pitchFamily="2" charset="2"/>
              <a:buNone/>
            </a:pPr>
            <a:r>
              <a:rPr sz="1600" dirty="0" smtClean="0">
                <a:solidFill>
                  <a:schemeClr val="tx1"/>
                </a:solidFill>
                <a:ea typeface="华文楷体" panose="02010600040101010101" pitchFamily="2" charset="-122"/>
              </a:rPr>
              <a:t>学生信息如下：</a:t>
            </a:r>
            <a:endParaRPr sz="1600" dirty="0" smtClean="0">
              <a:solidFill>
                <a:schemeClr val="tx1"/>
              </a:solidFill>
              <a:ea typeface="华文楷体" panose="02010600040101010101" pitchFamily="2" charset="-122"/>
            </a:endParaRPr>
          </a:p>
          <a:p>
            <a:pPr algn="l" eaLnBrk="1" hangingPunct="1">
              <a:buClr>
                <a:schemeClr val="tx2"/>
              </a:buClr>
              <a:buSzPct val="70000"/>
              <a:buFont typeface="Wingdings" panose="05000000000000000000" pitchFamily="2" charset="2"/>
              <a:buNone/>
            </a:pPr>
            <a:r>
              <a:rPr sz="1600" dirty="0" smtClean="0">
                <a:solidFill>
                  <a:schemeClr val="tx1"/>
                </a:solidFill>
                <a:ea typeface="华文楷体" panose="02010600040101010101" pitchFamily="2" charset="-122"/>
              </a:rPr>
              <a:t>Name:zhang      地点：枫园三舍401       对武汉大学印象：我真的喜欢武汉大学</a:t>
            </a:r>
            <a:endParaRPr sz="1600" dirty="0" smtClean="0">
              <a:solidFill>
                <a:schemeClr val="tx1"/>
              </a:solidFill>
              <a:ea typeface="华文楷体" panose="02010600040101010101" pitchFamily="2" charset="-122"/>
            </a:endParaRPr>
          </a:p>
          <a:p>
            <a:pPr algn="l" eaLnBrk="1" hangingPunct="1">
              <a:buClr>
                <a:schemeClr val="tx2"/>
              </a:buClr>
              <a:buSzPct val="70000"/>
              <a:buFont typeface="Wingdings" panose="05000000000000000000" pitchFamily="2" charset="2"/>
              <a:buNone/>
            </a:pPr>
            <a:r>
              <a:rPr sz="1600" dirty="0" smtClean="0">
                <a:solidFill>
                  <a:schemeClr val="tx1"/>
                </a:solidFill>
                <a:ea typeface="华文楷体" panose="02010600040101010101" pitchFamily="2" charset="-122"/>
              </a:rPr>
              <a:t>析构student对象</a:t>
            </a:r>
            <a:endParaRPr sz="1600" dirty="0" smtClean="0">
              <a:solidFill>
                <a:schemeClr val="tx1"/>
              </a:solidFill>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灯片编号占位符 4"/>
          <p:cNvSpPr>
            <a:spLocks noGrp="1"/>
          </p:cNvSpPr>
          <p:nvPr>
            <p:ph type="sldNum" sz="quarter" idx="4294967295"/>
          </p:nvPr>
        </p:nvSpPr>
        <p:spPr>
          <a:xfrm>
            <a:off x="6553200" y="6248400"/>
            <a:ext cx="2133600" cy="457200"/>
          </a:xfrm>
          <a:prstGeom prst="rect">
            <a:avLst/>
          </a:prstGeom>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eaLnBrk="1" hangingPunct="1"/>
            <a:r>
              <a:rPr lang="en-US" altLang="zh-CN" sz="1200" b="0">
                <a:solidFill>
                  <a:schemeClr val="tx1"/>
                </a:solidFill>
                <a:latin typeface="Verdana" panose="020B0604030504040204" pitchFamily="34" charset="0"/>
                <a:ea typeface="宋体" panose="02010600030101010101" pitchFamily="2" charset="-122"/>
              </a:rPr>
              <a:t> </a:t>
            </a:r>
            <a:endParaRPr lang="en-US" altLang="zh-CN" sz="1200" b="0">
              <a:solidFill>
                <a:schemeClr val="tx1"/>
              </a:solidFill>
              <a:latin typeface="Verdana" panose="020B0604030504040204" pitchFamily="34" charset="0"/>
              <a:ea typeface="宋体" panose="02010600030101010101" pitchFamily="2" charset="-122"/>
            </a:endParaRPr>
          </a:p>
        </p:txBody>
      </p:sp>
      <p:sp>
        <p:nvSpPr>
          <p:cNvPr id="25603" name="Rectangle 2"/>
          <p:cNvSpPr>
            <a:spLocks noGrp="1" noChangeArrowheads="1"/>
          </p:cNvSpPr>
          <p:nvPr>
            <p:ph type="title"/>
          </p:nvPr>
        </p:nvSpPr>
        <p:spPr>
          <a:xfrm>
            <a:off x="609600" y="152400"/>
            <a:ext cx="7772400" cy="1143000"/>
          </a:xfrm>
        </p:spPr>
        <p:txBody>
          <a:bodyPr/>
          <a:lstStyle/>
          <a:p>
            <a:pPr algn="ctr" eaLnBrk="1" hangingPunct="1"/>
            <a:r>
              <a:rPr lang="en-US" altLang="zh-CN" sz="4000" b="1" dirty="0" smtClean="0">
                <a:latin typeface="Times New Roman" panose="02020603050405020304" pitchFamily="18" charset="0"/>
                <a:ea typeface="隶书" panose="02010509060101010101" pitchFamily="49" charset="-122"/>
              </a:rPr>
              <a:t> </a:t>
            </a:r>
            <a:r>
              <a:rPr lang="zh-CN" altLang="en-US" sz="4000" b="1" dirty="0" smtClean="0">
                <a:latin typeface="Times New Roman" panose="02020603050405020304" pitchFamily="18" charset="0"/>
                <a:ea typeface="隶书" panose="02010509060101010101" pitchFamily="49" charset="-122"/>
              </a:rPr>
              <a:t>单继承范例 </a:t>
            </a:r>
            <a:endParaRPr lang="zh-CN" altLang="en-US" sz="4000" b="1" dirty="0" smtClean="0">
              <a:latin typeface="Times New Roman" panose="02020603050405020304" pitchFamily="18" charset="0"/>
              <a:ea typeface="隶书" panose="02010509060101010101" pitchFamily="49" charset="-122"/>
            </a:endParaRPr>
          </a:p>
        </p:txBody>
      </p:sp>
      <p:grpSp>
        <p:nvGrpSpPr>
          <p:cNvPr id="25604" name="Group 3"/>
          <p:cNvGrpSpPr/>
          <p:nvPr/>
        </p:nvGrpSpPr>
        <p:grpSpPr bwMode="auto">
          <a:xfrm>
            <a:off x="900113" y="1557338"/>
            <a:ext cx="2735262" cy="2592387"/>
            <a:chOff x="1020" y="1026"/>
            <a:chExt cx="1950" cy="1814"/>
          </a:xfrm>
          <a:noFill/>
        </p:grpSpPr>
        <p:sp>
          <p:nvSpPr>
            <p:cNvPr id="25616" name="Rectangle 4"/>
            <p:cNvSpPr>
              <a:spLocks noChangeArrowheads="1"/>
            </p:cNvSpPr>
            <p:nvPr/>
          </p:nvSpPr>
          <p:spPr bwMode="auto">
            <a:xfrm>
              <a:off x="1020" y="1026"/>
              <a:ext cx="1950" cy="363"/>
            </a:xfrm>
            <a:prstGeom prst="rect">
              <a:avLst/>
            </a:prstGeom>
            <a:grp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eaLnBrk="1" hangingPunct="1">
                <a:lnSpc>
                  <a:spcPct val="125000"/>
                </a:lnSpc>
                <a:buClr>
                  <a:schemeClr val="tx2"/>
                </a:buClr>
                <a:buSzPct val="70000"/>
                <a:buFont typeface="Wingdings" panose="05000000000000000000" pitchFamily="2" charset="2"/>
                <a:buNone/>
              </a:pPr>
              <a:r>
                <a:rPr lang="en-US" altLang="zh-CN" sz="2000" dirty="0">
                  <a:solidFill>
                    <a:srgbClr val="FFFF00"/>
                  </a:solidFill>
                  <a:ea typeface="华文楷体" panose="02010600040101010101" pitchFamily="2" charset="-122"/>
                </a:rPr>
                <a:t>Student</a:t>
              </a:r>
              <a:endParaRPr lang="en-US" altLang="zh-CN" sz="2000" dirty="0">
                <a:solidFill>
                  <a:srgbClr val="FFFF00"/>
                </a:solidFill>
                <a:ea typeface="华文楷体" panose="02010600040101010101" pitchFamily="2" charset="-122"/>
              </a:endParaRPr>
            </a:p>
          </p:txBody>
        </p:sp>
        <p:sp>
          <p:nvSpPr>
            <p:cNvPr id="25617" name="Rectangle 5"/>
            <p:cNvSpPr>
              <a:spLocks noChangeArrowheads="1"/>
            </p:cNvSpPr>
            <p:nvPr/>
          </p:nvSpPr>
          <p:spPr bwMode="auto">
            <a:xfrm>
              <a:off x="1020" y="1389"/>
              <a:ext cx="1950" cy="635"/>
            </a:xfrm>
            <a:prstGeom prst="rect">
              <a:avLst/>
            </a:prstGeom>
            <a:grp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lnSpc>
                  <a:spcPct val="125000"/>
                </a:lnSpc>
                <a:buClr>
                  <a:schemeClr val="tx2"/>
                </a:buClr>
                <a:buSzPct val="70000"/>
                <a:buFont typeface="Wingdings" panose="05000000000000000000" pitchFamily="2" charset="2"/>
                <a:buNone/>
              </a:pPr>
              <a:r>
                <a:rPr lang="en-US" altLang="zh-CN" sz="1800">
                  <a:solidFill>
                    <a:schemeClr val="tx1"/>
                  </a:solidFill>
                  <a:ea typeface="华文楷体" panose="02010600040101010101" pitchFamily="2" charset="-122"/>
                </a:rPr>
                <a:t>-number:int</a:t>
              </a:r>
              <a:endParaRPr lang="en-US" altLang="zh-CN" sz="1800">
                <a:solidFill>
                  <a:schemeClr val="tx1"/>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1800">
                  <a:solidFill>
                    <a:schemeClr val="tx1"/>
                  </a:solidFill>
                  <a:ea typeface="华文楷体" panose="02010600040101010101" pitchFamily="2" charset="-122"/>
                </a:rPr>
                <a:t>-name:char *</a:t>
              </a:r>
              <a:endParaRPr lang="en-US" altLang="zh-CN" sz="1800">
                <a:solidFill>
                  <a:schemeClr val="tx1"/>
                </a:solidFill>
                <a:ea typeface="华文楷体" panose="02010600040101010101" pitchFamily="2" charset="-122"/>
              </a:endParaRPr>
            </a:p>
          </p:txBody>
        </p:sp>
        <p:sp>
          <p:nvSpPr>
            <p:cNvPr id="25618" name="Rectangle 6"/>
            <p:cNvSpPr>
              <a:spLocks noChangeArrowheads="1"/>
            </p:cNvSpPr>
            <p:nvPr/>
          </p:nvSpPr>
          <p:spPr bwMode="auto">
            <a:xfrm>
              <a:off x="1020" y="2024"/>
              <a:ext cx="1950" cy="816"/>
            </a:xfrm>
            <a:prstGeom prst="rect">
              <a:avLst/>
            </a:prstGeom>
            <a:grp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lnSpc>
                  <a:spcPct val="125000"/>
                </a:lnSpc>
                <a:buClr>
                  <a:schemeClr val="tx2"/>
                </a:buClr>
                <a:buSzPct val="70000"/>
                <a:buFont typeface="Wingdings" panose="05000000000000000000" pitchFamily="2" charset="2"/>
                <a:buNone/>
              </a:pPr>
              <a:r>
                <a:rPr lang="en-US" altLang="zh-CN" sz="1800" dirty="0">
                  <a:solidFill>
                    <a:srgbClr val="FFFF00"/>
                  </a:solidFill>
                  <a:ea typeface="华文楷体" panose="02010600040101010101" pitchFamily="2" charset="-122"/>
                </a:rPr>
                <a:t>+Student()</a:t>
              </a:r>
              <a:endParaRPr lang="en-US" altLang="zh-CN" sz="1800" dirty="0">
                <a:solidFill>
                  <a:srgbClr val="FFFF00"/>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1800" dirty="0">
                  <a:solidFill>
                    <a:srgbClr val="FFFF00"/>
                  </a:solidFill>
                  <a:ea typeface="华文楷体" panose="02010600040101010101" pitchFamily="2" charset="-122"/>
                </a:rPr>
                <a:t>+</a:t>
              </a:r>
              <a:r>
                <a:rPr lang="en-US" altLang="zh-CN" sz="1800" dirty="0" err="1">
                  <a:solidFill>
                    <a:srgbClr val="FFFF00"/>
                  </a:solidFill>
                  <a:ea typeface="华文楷体" panose="02010600040101010101" pitchFamily="2" charset="-122"/>
                </a:rPr>
                <a:t>SetValue</a:t>
              </a:r>
              <a:r>
                <a:rPr lang="en-US" altLang="zh-CN" sz="1800" dirty="0">
                  <a:solidFill>
                    <a:srgbClr val="FFFF00"/>
                  </a:solidFill>
                  <a:ea typeface="华文楷体" panose="02010600040101010101" pitchFamily="2" charset="-122"/>
                </a:rPr>
                <a:t>(</a:t>
              </a:r>
              <a:r>
                <a:rPr lang="en-US" altLang="zh-CN" sz="1800" dirty="0" err="1">
                  <a:solidFill>
                    <a:srgbClr val="FFFF00"/>
                  </a:solidFill>
                  <a:ea typeface="华文楷体" panose="02010600040101010101" pitchFamily="2" charset="-122"/>
                </a:rPr>
                <a:t>int</a:t>
              </a:r>
              <a:r>
                <a:rPr lang="en-US" altLang="zh-CN" sz="1800" dirty="0">
                  <a:solidFill>
                    <a:srgbClr val="FFFF00"/>
                  </a:solidFill>
                  <a:ea typeface="华文楷体" panose="02010600040101010101" pitchFamily="2" charset="-122"/>
                </a:rPr>
                <a:t> </a:t>
              </a:r>
              <a:r>
                <a:rPr lang="en-US" altLang="zh-CN" sz="1800" dirty="0" err="1">
                  <a:solidFill>
                    <a:srgbClr val="FFFF00"/>
                  </a:solidFill>
                  <a:ea typeface="华文楷体" panose="02010600040101010101" pitchFamily="2" charset="-122"/>
                </a:rPr>
                <a:t>n,char</a:t>
              </a:r>
              <a:r>
                <a:rPr lang="en-US" altLang="zh-CN" sz="1800" dirty="0">
                  <a:solidFill>
                    <a:srgbClr val="FFFF00"/>
                  </a:solidFill>
                  <a:ea typeface="华文楷体" panose="02010600040101010101" pitchFamily="2" charset="-122"/>
                </a:rPr>
                <a:t> *s);</a:t>
              </a:r>
              <a:endParaRPr lang="en-US" altLang="zh-CN" sz="1800" dirty="0">
                <a:solidFill>
                  <a:srgbClr val="FFFF00"/>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1800" dirty="0">
                  <a:solidFill>
                    <a:srgbClr val="FFFF00"/>
                  </a:solidFill>
                  <a:ea typeface="华文楷体" panose="02010600040101010101" pitchFamily="2" charset="-122"/>
                </a:rPr>
                <a:t>+Print()</a:t>
              </a:r>
              <a:endParaRPr lang="en-US" altLang="zh-CN" sz="1800" dirty="0">
                <a:solidFill>
                  <a:srgbClr val="FFFF00"/>
                </a:solidFill>
                <a:ea typeface="华文楷体" panose="02010600040101010101" pitchFamily="2" charset="-122"/>
              </a:endParaRPr>
            </a:p>
          </p:txBody>
        </p:sp>
      </p:grpSp>
      <p:sp>
        <p:nvSpPr>
          <p:cNvPr id="25605" name="Rectangle 7"/>
          <p:cNvSpPr>
            <a:spLocks noGrp="1" noChangeArrowheads="1"/>
          </p:cNvSpPr>
          <p:nvPr>
            <p:ph type="body" idx="1"/>
          </p:nvPr>
        </p:nvSpPr>
        <p:spPr>
          <a:xfrm>
            <a:off x="4932363" y="2498725"/>
            <a:ext cx="3384550" cy="576263"/>
          </a:xfrm>
          <a:noFill/>
          <a:ln>
            <a:solidFill>
              <a:schemeClr val="tx1"/>
            </a:solidFill>
            <a:miter lim="800000"/>
          </a:ln>
        </p:spPr>
        <p:txBody>
          <a:bodyPr/>
          <a:lstStyle/>
          <a:p>
            <a:pPr marL="0" indent="0" algn="ctr" eaLnBrk="1" hangingPunct="1">
              <a:lnSpc>
                <a:spcPct val="125000"/>
              </a:lnSpc>
              <a:spcBef>
                <a:spcPct val="0"/>
              </a:spcBef>
              <a:buFont typeface="Wingdings" panose="05000000000000000000" pitchFamily="2" charset="2"/>
              <a:buNone/>
            </a:pPr>
            <a:r>
              <a:rPr lang="en-US" altLang="zh-CN" sz="2400" b="1" dirty="0" err="1" smtClean="0">
                <a:solidFill>
                  <a:srgbClr val="FFFF00"/>
                </a:solidFill>
                <a:latin typeface="Times New Roman" panose="02020603050405020304" pitchFamily="18" charset="0"/>
                <a:ea typeface="华文楷体" panose="02010600040101010101" pitchFamily="2" charset="-122"/>
              </a:rPr>
              <a:t>WHUStudent</a:t>
            </a:r>
            <a:endParaRPr lang="en-US" altLang="zh-CN" sz="2400" b="1" dirty="0" smtClean="0">
              <a:solidFill>
                <a:srgbClr val="FFFF00"/>
              </a:solidFill>
              <a:latin typeface="Times New Roman" panose="02020603050405020304" pitchFamily="18" charset="0"/>
              <a:ea typeface="华文楷体" panose="02010600040101010101" pitchFamily="2" charset="-122"/>
            </a:endParaRPr>
          </a:p>
        </p:txBody>
      </p:sp>
      <p:sp>
        <p:nvSpPr>
          <p:cNvPr id="25606" name="Rectangle 11"/>
          <p:cNvSpPr>
            <a:spLocks noChangeArrowheads="1"/>
          </p:cNvSpPr>
          <p:nvPr/>
        </p:nvSpPr>
        <p:spPr bwMode="auto">
          <a:xfrm>
            <a:off x="4932363" y="3084200"/>
            <a:ext cx="3384550" cy="893762"/>
          </a:xfrm>
          <a:prstGeom prst="rect">
            <a:avLst/>
          </a:prstGeom>
          <a:no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lnSpc>
                <a:spcPct val="125000"/>
              </a:lnSpc>
              <a:buClr>
                <a:schemeClr val="tx2"/>
              </a:buClr>
              <a:buSzPct val="70000"/>
              <a:buFont typeface="Wingdings" panose="05000000000000000000" pitchFamily="2" charset="2"/>
              <a:buNone/>
            </a:pPr>
            <a:r>
              <a:rPr lang="en-US" altLang="zh-CN" sz="1800">
                <a:solidFill>
                  <a:schemeClr val="tx1"/>
                </a:solidFill>
                <a:ea typeface="华文楷体" panose="02010600040101010101" pitchFamily="2" charset="-122"/>
              </a:rPr>
              <a:t>-age:int</a:t>
            </a:r>
            <a:endParaRPr lang="en-US" altLang="zh-CN" sz="1800">
              <a:solidFill>
                <a:schemeClr val="tx1"/>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1800">
                <a:solidFill>
                  <a:schemeClr val="tx1"/>
                </a:solidFill>
                <a:ea typeface="华文楷体" panose="02010600040101010101" pitchFamily="2" charset="-122"/>
              </a:rPr>
              <a:t>-grade:int</a:t>
            </a:r>
            <a:endParaRPr lang="en-US" altLang="zh-CN" sz="1800">
              <a:solidFill>
                <a:schemeClr val="tx1"/>
              </a:solidFill>
              <a:ea typeface="华文楷体" panose="02010600040101010101" pitchFamily="2" charset="-122"/>
            </a:endParaRPr>
          </a:p>
        </p:txBody>
      </p:sp>
      <p:sp>
        <p:nvSpPr>
          <p:cNvPr id="25607" name="Rectangle 12"/>
          <p:cNvSpPr>
            <a:spLocks noChangeArrowheads="1"/>
          </p:cNvSpPr>
          <p:nvPr/>
        </p:nvSpPr>
        <p:spPr bwMode="auto">
          <a:xfrm>
            <a:off x="4932363" y="3984308"/>
            <a:ext cx="3384550" cy="1085850"/>
          </a:xfrm>
          <a:prstGeom prst="rect">
            <a:avLst/>
          </a:prstGeom>
          <a:no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lnSpc>
                <a:spcPct val="125000"/>
              </a:lnSpc>
              <a:buClr>
                <a:schemeClr val="tx2"/>
              </a:buClr>
              <a:buSzPct val="70000"/>
              <a:buFont typeface="Wingdings" panose="05000000000000000000" pitchFamily="2" charset="2"/>
              <a:buNone/>
            </a:pPr>
            <a:r>
              <a:rPr lang="en-US" altLang="zh-CN" sz="1800">
                <a:solidFill>
                  <a:srgbClr val="FFFF00"/>
                </a:solidFill>
                <a:ea typeface="华文楷体" panose="02010600040101010101" pitchFamily="2" charset="-122"/>
              </a:rPr>
              <a:t>+WHUStudent()</a:t>
            </a:r>
            <a:endParaRPr lang="en-US" altLang="zh-CN" sz="1800">
              <a:solidFill>
                <a:srgbClr val="FFFF00"/>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1800">
                <a:solidFill>
                  <a:srgbClr val="FFFF00"/>
                </a:solidFill>
                <a:ea typeface="华文楷体" panose="02010600040101010101" pitchFamily="2" charset="-122"/>
              </a:rPr>
              <a:t>(int n,char *s,string a, string g);</a:t>
            </a:r>
            <a:endParaRPr lang="en-US" altLang="zh-CN" sz="1800">
              <a:solidFill>
                <a:srgbClr val="FFFF00"/>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1800">
                <a:solidFill>
                  <a:srgbClr val="FFFF00"/>
                </a:solidFill>
                <a:ea typeface="华文楷体" panose="02010600040101010101" pitchFamily="2" charset="-122"/>
              </a:rPr>
              <a:t>+PrintExtra()</a:t>
            </a:r>
            <a:endParaRPr lang="en-US" altLang="zh-CN" sz="1800">
              <a:solidFill>
                <a:srgbClr val="FFFF00"/>
              </a:solidFill>
              <a:ea typeface="华文楷体" panose="02010600040101010101" pitchFamily="2" charset="-122"/>
            </a:endParaRPr>
          </a:p>
        </p:txBody>
      </p:sp>
      <p:sp>
        <p:nvSpPr>
          <p:cNvPr id="25608" name="Line 13"/>
          <p:cNvSpPr>
            <a:spLocks noChangeShapeType="1"/>
          </p:cNvSpPr>
          <p:nvPr/>
        </p:nvSpPr>
        <p:spPr bwMode="auto">
          <a:xfrm flipH="1">
            <a:off x="3635375" y="2781300"/>
            <a:ext cx="1296988" cy="0"/>
          </a:xfrm>
          <a:prstGeom prst="line">
            <a:avLst/>
          </a:prstGeom>
          <a:noFill/>
          <a:ln w="9525">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grpSp>
        <p:nvGrpSpPr>
          <p:cNvPr id="25609" name="Group 18"/>
          <p:cNvGrpSpPr/>
          <p:nvPr/>
        </p:nvGrpSpPr>
        <p:grpSpPr bwMode="auto">
          <a:xfrm>
            <a:off x="900113" y="4481513"/>
            <a:ext cx="2879725" cy="2187575"/>
            <a:chOff x="1020" y="1026"/>
            <a:chExt cx="1950" cy="1814"/>
          </a:xfrm>
          <a:noFill/>
        </p:grpSpPr>
        <p:sp>
          <p:nvSpPr>
            <p:cNvPr id="25613" name="Rectangle 19"/>
            <p:cNvSpPr>
              <a:spLocks noChangeArrowheads="1"/>
            </p:cNvSpPr>
            <p:nvPr/>
          </p:nvSpPr>
          <p:spPr bwMode="auto">
            <a:xfrm>
              <a:off x="1020" y="1026"/>
              <a:ext cx="1950" cy="363"/>
            </a:xfrm>
            <a:prstGeom prst="rect">
              <a:avLst/>
            </a:prstGeom>
            <a:grp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eaLnBrk="1" hangingPunct="1">
                <a:lnSpc>
                  <a:spcPct val="125000"/>
                </a:lnSpc>
                <a:buClr>
                  <a:schemeClr val="tx2"/>
                </a:buClr>
                <a:buSzPct val="70000"/>
                <a:buFont typeface="Wingdings" panose="05000000000000000000" pitchFamily="2" charset="2"/>
                <a:buNone/>
              </a:pPr>
              <a:r>
                <a:rPr lang="en-US" altLang="zh-CN" sz="2000" dirty="0" err="1">
                  <a:solidFill>
                    <a:srgbClr val="FFFF00"/>
                  </a:solidFill>
                  <a:ea typeface="华文楷体" panose="02010600040101010101" pitchFamily="2" charset="-122"/>
                </a:rPr>
                <a:t>GraduateStudent</a:t>
              </a:r>
              <a:endParaRPr lang="en-US" altLang="zh-CN" sz="2000" dirty="0">
                <a:solidFill>
                  <a:srgbClr val="FFFF00"/>
                </a:solidFill>
                <a:ea typeface="华文楷体" panose="02010600040101010101" pitchFamily="2" charset="-122"/>
              </a:endParaRPr>
            </a:p>
          </p:txBody>
        </p:sp>
        <p:sp>
          <p:nvSpPr>
            <p:cNvPr id="25614" name="Rectangle 20"/>
            <p:cNvSpPr>
              <a:spLocks noChangeArrowheads="1"/>
            </p:cNvSpPr>
            <p:nvPr/>
          </p:nvSpPr>
          <p:spPr bwMode="auto">
            <a:xfrm>
              <a:off x="1020" y="1389"/>
              <a:ext cx="1950" cy="635"/>
            </a:xfrm>
            <a:prstGeom prst="rect">
              <a:avLst/>
            </a:prstGeom>
            <a:grp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lnSpc>
                  <a:spcPct val="125000"/>
                </a:lnSpc>
                <a:buClr>
                  <a:schemeClr val="tx2"/>
                </a:buClr>
                <a:buSzPct val="70000"/>
                <a:buFont typeface="Wingdings" panose="05000000000000000000" pitchFamily="2" charset="2"/>
                <a:buNone/>
              </a:pPr>
              <a:r>
                <a:rPr lang="en-US" altLang="zh-CN" sz="1800">
                  <a:solidFill>
                    <a:schemeClr val="tx1"/>
                  </a:solidFill>
                  <a:ea typeface="华文楷体" panose="02010600040101010101" pitchFamily="2" charset="-122"/>
                </a:rPr>
                <a:t>#researchField:char [40]</a:t>
              </a:r>
              <a:endParaRPr lang="en-US" altLang="zh-CN" sz="1800">
                <a:solidFill>
                  <a:schemeClr val="tx1"/>
                </a:solidFill>
                <a:ea typeface="华文楷体" panose="02010600040101010101" pitchFamily="2" charset="-122"/>
              </a:endParaRPr>
            </a:p>
          </p:txBody>
        </p:sp>
        <p:sp>
          <p:nvSpPr>
            <p:cNvPr id="25615" name="Rectangle 21"/>
            <p:cNvSpPr>
              <a:spLocks noChangeArrowheads="1"/>
            </p:cNvSpPr>
            <p:nvPr/>
          </p:nvSpPr>
          <p:spPr bwMode="auto">
            <a:xfrm>
              <a:off x="1020" y="2024"/>
              <a:ext cx="1950" cy="816"/>
            </a:xfrm>
            <a:prstGeom prst="rect">
              <a:avLst/>
            </a:prstGeom>
            <a:grp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lnSpc>
                  <a:spcPct val="125000"/>
                </a:lnSpc>
                <a:buClr>
                  <a:schemeClr val="tx2"/>
                </a:buClr>
                <a:buSzPct val="70000"/>
                <a:buFont typeface="Wingdings" panose="05000000000000000000" pitchFamily="2" charset="2"/>
                <a:buNone/>
              </a:pPr>
              <a:r>
                <a:rPr lang="en-US" altLang="zh-CN" sz="1800">
                  <a:solidFill>
                    <a:srgbClr val="FFFF00"/>
                  </a:solidFill>
                  <a:ea typeface="华文楷体" panose="02010600040101010101" pitchFamily="2" charset="-122"/>
                </a:rPr>
                <a:t>+GraduateStudent(char *s)</a:t>
              </a:r>
              <a:endParaRPr lang="en-US" altLang="zh-CN" sz="1800">
                <a:solidFill>
                  <a:srgbClr val="FFFF00"/>
                </a:solidFill>
                <a:ea typeface="华文楷体" panose="02010600040101010101" pitchFamily="2" charset="-122"/>
              </a:endParaRPr>
            </a:p>
          </p:txBody>
        </p:sp>
      </p:grpSp>
      <p:sp>
        <p:nvSpPr>
          <p:cNvPr id="25610" name="Line 22"/>
          <p:cNvSpPr>
            <a:spLocks noChangeShapeType="1"/>
          </p:cNvSpPr>
          <p:nvPr/>
        </p:nvSpPr>
        <p:spPr bwMode="auto">
          <a:xfrm>
            <a:off x="3779838" y="4724400"/>
            <a:ext cx="1152525" cy="0"/>
          </a:xfrm>
          <a:prstGeom prst="line">
            <a:avLst/>
          </a:prstGeom>
          <a:noFill/>
          <a:ln w="9525">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5611" name="Rectangle 23"/>
          <p:cNvSpPr>
            <a:spLocks noChangeArrowheads="1"/>
          </p:cNvSpPr>
          <p:nvPr/>
        </p:nvSpPr>
        <p:spPr bwMode="auto">
          <a:xfrm>
            <a:off x="5364163" y="5300663"/>
            <a:ext cx="23050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eaLnBrk="1" hangingPunct="1">
              <a:buClr>
                <a:schemeClr val="tx2"/>
              </a:buClr>
              <a:buSzPct val="70000"/>
              <a:buFont typeface="Wingdings" panose="05000000000000000000" pitchFamily="2" charset="2"/>
              <a:buNone/>
            </a:pPr>
            <a:r>
              <a:rPr lang="en-US" altLang="zh-CN" sz="2000">
                <a:solidFill>
                  <a:schemeClr val="tx1"/>
                </a:solidFill>
                <a:ea typeface="华文楷体" panose="02010600040101010101" pitchFamily="2" charset="-122"/>
              </a:rPr>
              <a:t>GraduateStudent</a:t>
            </a:r>
            <a:r>
              <a:rPr lang="zh-CN" altLang="en-US" sz="2000">
                <a:solidFill>
                  <a:schemeClr val="tx1"/>
                </a:solidFill>
                <a:ea typeface="华文楷体" panose="02010600040101010101" pitchFamily="2" charset="-122"/>
              </a:rPr>
              <a:t>的直接基类</a:t>
            </a:r>
            <a:endParaRPr lang="zh-CN" altLang="en-US" sz="2000">
              <a:solidFill>
                <a:schemeClr val="tx1"/>
              </a:solidFill>
              <a:ea typeface="华文楷体" panose="02010600040101010101" pitchFamily="2" charset="-122"/>
            </a:endParaRPr>
          </a:p>
        </p:txBody>
      </p:sp>
      <p:sp>
        <p:nvSpPr>
          <p:cNvPr id="25612" name="Rectangle 24"/>
          <p:cNvSpPr>
            <a:spLocks noChangeArrowheads="1"/>
          </p:cNvSpPr>
          <p:nvPr/>
        </p:nvSpPr>
        <p:spPr bwMode="auto">
          <a:xfrm>
            <a:off x="3779838" y="1628775"/>
            <a:ext cx="4537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buClr>
                <a:schemeClr val="tx2"/>
              </a:buClr>
              <a:buSzPct val="70000"/>
              <a:buFont typeface="Wingdings" panose="05000000000000000000" pitchFamily="2" charset="2"/>
              <a:buNone/>
            </a:pPr>
            <a:r>
              <a:rPr lang="en-US" altLang="zh-CN" sz="2000" dirty="0" err="1">
                <a:solidFill>
                  <a:schemeClr val="tx1"/>
                </a:solidFill>
                <a:ea typeface="华文楷体" panose="02010600040101010101" pitchFamily="2" charset="-122"/>
              </a:rPr>
              <a:t>GraduateStudent</a:t>
            </a:r>
            <a:r>
              <a:rPr lang="zh-CN" altLang="en-US" sz="2000" dirty="0">
                <a:solidFill>
                  <a:schemeClr val="tx1"/>
                </a:solidFill>
                <a:ea typeface="华文楷体" panose="02010600040101010101" pitchFamily="2" charset="-122"/>
              </a:rPr>
              <a:t>的间接基类</a:t>
            </a:r>
            <a:endParaRPr lang="zh-CN" altLang="en-US" sz="2000" dirty="0">
              <a:solidFill>
                <a:schemeClr val="tx1"/>
              </a:solidFill>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4294967295"/>
          </p:nvPr>
        </p:nvSpPr>
        <p:spPr>
          <a:xfrm>
            <a:off x="6553200" y="6248400"/>
            <a:ext cx="2133600" cy="457200"/>
          </a:xfrm>
          <a:prstGeom prst="rect">
            <a:avLst/>
          </a:prstGeom>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eaLnBrk="1" hangingPunct="1"/>
            <a:r>
              <a:rPr lang="en-US" altLang="zh-CN" sz="1200" b="0">
                <a:solidFill>
                  <a:schemeClr val="tx1"/>
                </a:solidFill>
                <a:latin typeface="Verdana" panose="020B0604030504040204" pitchFamily="34" charset="0"/>
                <a:ea typeface="宋体" panose="02010600030101010101" pitchFamily="2" charset="-122"/>
              </a:rPr>
              <a:t> </a:t>
            </a:r>
            <a:endParaRPr lang="en-US" altLang="zh-CN" sz="1200" b="0">
              <a:solidFill>
                <a:schemeClr val="tx1"/>
              </a:solidFill>
              <a:latin typeface="Verdana" panose="020B0604030504040204" pitchFamily="34" charset="0"/>
              <a:ea typeface="宋体" panose="02010600030101010101" pitchFamily="2" charset="-122"/>
            </a:endParaRPr>
          </a:p>
        </p:txBody>
      </p:sp>
      <p:sp>
        <p:nvSpPr>
          <p:cNvPr id="75779" name="Rectangle 2"/>
          <p:cNvSpPr>
            <a:spLocks noGrp="1" noChangeArrowheads="1"/>
          </p:cNvSpPr>
          <p:nvPr>
            <p:ph type="title"/>
          </p:nvPr>
        </p:nvSpPr>
        <p:spPr>
          <a:xfrm>
            <a:off x="684213" y="476250"/>
            <a:ext cx="8229600" cy="762000"/>
          </a:xfrm>
        </p:spPr>
        <p:txBody>
          <a:bodyPr/>
          <a:lstStyle/>
          <a:p>
            <a:pPr algn="ctr" eaLnBrk="1" hangingPunct="1"/>
            <a:r>
              <a:rPr lang="en-US" altLang="zh-CN" sz="4000" b="1" dirty="0">
                <a:latin typeface="Times New Roman" panose="02020603050405020304" pitchFamily="18" charset="0"/>
                <a:ea typeface="隶书" panose="02010509060101010101" pitchFamily="49" charset="-122"/>
              </a:rPr>
              <a:t>7.1.2</a:t>
            </a:r>
            <a:r>
              <a:rPr lang="zh-CN" altLang="en-US" sz="4000" b="1" dirty="0">
                <a:latin typeface="Times New Roman" panose="02020603050405020304" pitchFamily="18" charset="0"/>
                <a:ea typeface="隶书" panose="02010509060101010101" pitchFamily="49" charset="-122"/>
              </a:rPr>
              <a:t>派生类</a:t>
            </a:r>
            <a:r>
              <a:rPr lang="zh-CN" altLang="en-US" sz="4000" b="1" dirty="0" smtClean="0">
                <a:latin typeface="Times New Roman" panose="02020603050405020304" pitchFamily="18" charset="0"/>
                <a:ea typeface="隶书" panose="02010509060101010101" pitchFamily="49" charset="-122"/>
              </a:rPr>
              <a:t>的定义</a:t>
            </a:r>
            <a:r>
              <a:rPr lang="zh-CN" altLang="en-US" sz="4000" b="1" dirty="0" smtClean="0">
                <a:solidFill>
                  <a:srgbClr val="FFFF00"/>
                </a:solidFill>
                <a:latin typeface="Times New Roman" panose="02020603050405020304" pitchFamily="18" charset="0"/>
                <a:ea typeface="隶书" panose="02010509060101010101" pitchFamily="49" charset="-122"/>
              </a:rPr>
              <a:t>（多继承）</a:t>
            </a:r>
            <a:r>
              <a:rPr lang="zh-CN" altLang="en-US" sz="4000" dirty="0" smtClean="0">
                <a:solidFill>
                  <a:srgbClr val="FFFF00"/>
                </a:solidFill>
                <a:latin typeface="Times New Roman" panose="02020603050405020304" pitchFamily="18" charset="0"/>
                <a:ea typeface="隶书" panose="02010509060101010101" pitchFamily="49" charset="-122"/>
              </a:rPr>
              <a:t> </a:t>
            </a:r>
            <a:endParaRPr lang="zh-CN" altLang="en-US" sz="4000" dirty="0" smtClean="0">
              <a:solidFill>
                <a:srgbClr val="FFFF00"/>
              </a:solidFill>
              <a:latin typeface="Times New Roman" panose="02020603050405020304" pitchFamily="18" charset="0"/>
              <a:ea typeface="隶书" panose="02010509060101010101" pitchFamily="49" charset="-122"/>
            </a:endParaRPr>
          </a:p>
        </p:txBody>
      </p:sp>
      <p:sp>
        <p:nvSpPr>
          <p:cNvPr id="75780" name="Rectangle 3"/>
          <p:cNvSpPr>
            <a:spLocks noGrp="1" noChangeArrowheads="1"/>
          </p:cNvSpPr>
          <p:nvPr>
            <p:ph type="body" idx="1"/>
          </p:nvPr>
        </p:nvSpPr>
        <p:spPr>
          <a:xfrm>
            <a:off x="1116013" y="1700213"/>
            <a:ext cx="7724775" cy="1512887"/>
          </a:xfrm>
          <a:ln>
            <a:solidFill>
              <a:schemeClr val="tx1"/>
            </a:solidFill>
            <a:miter lim="800000"/>
          </a:ln>
        </p:spPr>
        <p:txBody>
          <a:bodyPr/>
          <a:lstStyle/>
          <a:p>
            <a:pPr marL="0" indent="0" eaLnBrk="1" hangingPunct="1">
              <a:lnSpc>
                <a:spcPct val="120000"/>
              </a:lnSpc>
              <a:buClr>
                <a:srgbClr val="000099"/>
              </a:buClr>
              <a:buSzPct val="65000"/>
              <a:buNone/>
            </a:pPr>
            <a:r>
              <a:rPr lang="zh-CN" altLang="en-US" sz="2400" b="1" dirty="0" smtClean="0">
                <a:latin typeface="Times New Roman" panose="02020603050405020304" pitchFamily="18" charset="0"/>
                <a:ea typeface="华文楷体" panose="02010600040101010101" pitchFamily="2" charset="-122"/>
              </a:rPr>
              <a:t>多继承可以看作是单继承的扩展，派生类与每个基类之间的关系可以看作是一个单继承。在</a:t>
            </a:r>
            <a:r>
              <a:rPr lang="en-US" altLang="zh-CN" sz="2400" b="1" dirty="0" smtClean="0">
                <a:latin typeface="Times New Roman" panose="02020603050405020304" pitchFamily="18" charset="0"/>
                <a:ea typeface="华文楷体" panose="02010600040101010101" pitchFamily="2" charset="-122"/>
              </a:rPr>
              <a:t>C++</a:t>
            </a:r>
            <a:r>
              <a:rPr lang="zh-CN" altLang="en-US" sz="2400" b="1" dirty="0" smtClean="0">
                <a:latin typeface="Times New Roman" panose="02020603050405020304" pitchFamily="18" charset="0"/>
                <a:ea typeface="华文楷体" panose="02010600040101010101" pitchFamily="2" charset="-122"/>
              </a:rPr>
              <a:t>中，多继承的定义格式如下</a:t>
            </a:r>
            <a:r>
              <a:rPr lang="zh-CN" altLang="en-US" sz="2400" dirty="0" smtClean="0">
                <a:latin typeface="Times New Roman" panose="02020603050405020304" pitchFamily="18" charset="0"/>
                <a:ea typeface="华文楷体" panose="02010600040101010101" pitchFamily="2" charset="-122"/>
              </a:rPr>
              <a:t>： </a:t>
            </a:r>
            <a:endParaRPr lang="zh-CN" altLang="en-US" sz="2400" dirty="0" smtClean="0">
              <a:latin typeface="Times New Roman" panose="02020603050405020304" pitchFamily="18" charset="0"/>
              <a:ea typeface="华文楷体" panose="02010600040101010101" pitchFamily="2" charset="-122"/>
            </a:endParaRPr>
          </a:p>
        </p:txBody>
      </p:sp>
      <p:sp>
        <p:nvSpPr>
          <p:cNvPr id="75781" name="Rectangle 6"/>
          <p:cNvSpPr>
            <a:spLocks noChangeArrowheads="1"/>
          </p:cNvSpPr>
          <p:nvPr/>
        </p:nvSpPr>
        <p:spPr bwMode="auto">
          <a:xfrm>
            <a:off x="900113" y="3500438"/>
            <a:ext cx="7920037" cy="2112962"/>
          </a:xfrm>
          <a:prstGeom prst="rect">
            <a:avLst/>
          </a:prstGeom>
          <a:solidFill>
            <a:srgbClr val="DDDDDD"/>
          </a:solidFill>
          <a:ln w="12700" cap="sq">
            <a:solidFill>
              <a:schemeClr val="tx1"/>
            </a:solidFill>
            <a:miter lim="800000"/>
            <a:headEnd type="none" w="sm" len="sm"/>
            <a:tailEnd type="none" w="sm" len="sm"/>
          </a:ln>
        </p:spPr>
        <p:txBody>
          <a:bodyPr>
            <a:spAutoFit/>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spcBef>
                <a:spcPct val="50000"/>
              </a:spcBef>
            </a:pPr>
            <a:r>
              <a:rPr lang="en-US" altLang="zh-CN" sz="2400">
                <a:solidFill>
                  <a:srgbClr val="800000"/>
                </a:solidFill>
                <a:ea typeface="华文楷体" panose="02010600040101010101" pitchFamily="2" charset="-122"/>
              </a:rPr>
              <a:t>class  </a:t>
            </a:r>
            <a:r>
              <a:rPr lang="zh-CN" altLang="en-US" sz="2400">
                <a:solidFill>
                  <a:srgbClr val="800000"/>
                </a:solidFill>
                <a:ea typeface="华文楷体" panose="02010600040101010101" pitchFamily="2" charset="-122"/>
              </a:rPr>
              <a:t>派生类名</a:t>
            </a:r>
            <a:r>
              <a:rPr lang="en-US" altLang="zh-CN" sz="2400">
                <a:solidFill>
                  <a:srgbClr val="800000"/>
                </a:solidFill>
                <a:ea typeface="华文楷体" panose="02010600040101010101" pitchFamily="2" charset="-122"/>
              </a:rPr>
              <a:t>:</a:t>
            </a:r>
            <a:r>
              <a:rPr lang="zh-CN" altLang="en-US" sz="2400">
                <a:solidFill>
                  <a:srgbClr val="800000"/>
                </a:solidFill>
                <a:ea typeface="华文楷体" panose="02010600040101010101" pitchFamily="2" charset="-122"/>
              </a:rPr>
              <a:t>继承方式</a:t>
            </a:r>
            <a:r>
              <a:rPr lang="en-US" altLang="zh-CN" sz="2400">
                <a:solidFill>
                  <a:srgbClr val="800000"/>
                </a:solidFill>
                <a:ea typeface="华文楷体" panose="02010600040101010101" pitchFamily="2" charset="-122"/>
              </a:rPr>
              <a:t>1 </a:t>
            </a:r>
            <a:r>
              <a:rPr lang="zh-CN" altLang="en-US" sz="2400">
                <a:solidFill>
                  <a:srgbClr val="800000"/>
                </a:solidFill>
                <a:ea typeface="华文楷体" panose="02010600040101010101" pitchFamily="2" charset="-122"/>
              </a:rPr>
              <a:t>基类名</a:t>
            </a:r>
            <a:r>
              <a:rPr lang="en-US" altLang="zh-CN" sz="2400">
                <a:solidFill>
                  <a:srgbClr val="800000"/>
                </a:solidFill>
                <a:ea typeface="华文楷体" panose="02010600040101010101" pitchFamily="2" charset="-122"/>
              </a:rPr>
              <a:t>1,…,</a:t>
            </a:r>
            <a:r>
              <a:rPr lang="zh-CN" altLang="en-US" sz="2400">
                <a:solidFill>
                  <a:srgbClr val="800000"/>
                </a:solidFill>
                <a:ea typeface="华文楷体" panose="02010600040101010101" pitchFamily="2" charset="-122"/>
              </a:rPr>
              <a:t>继承方式</a:t>
            </a:r>
            <a:r>
              <a:rPr lang="en-US" altLang="zh-CN" sz="2400">
                <a:solidFill>
                  <a:srgbClr val="800000"/>
                </a:solidFill>
                <a:ea typeface="华文楷体" panose="02010600040101010101" pitchFamily="2" charset="-122"/>
              </a:rPr>
              <a:t>n </a:t>
            </a:r>
            <a:r>
              <a:rPr lang="zh-CN" altLang="en-US" sz="2400">
                <a:solidFill>
                  <a:srgbClr val="800000"/>
                </a:solidFill>
                <a:ea typeface="华文楷体" panose="02010600040101010101" pitchFamily="2" charset="-122"/>
              </a:rPr>
              <a:t>基类名</a:t>
            </a:r>
            <a:r>
              <a:rPr lang="en-US" altLang="zh-CN" sz="2400">
                <a:solidFill>
                  <a:srgbClr val="800000"/>
                </a:solidFill>
                <a:ea typeface="华文楷体" panose="02010600040101010101" pitchFamily="2" charset="-122"/>
              </a:rPr>
              <a:t>n</a:t>
            </a:r>
            <a:endParaRPr lang="en-US" altLang="zh-CN" sz="2400">
              <a:solidFill>
                <a:srgbClr val="800000"/>
              </a:solidFill>
              <a:ea typeface="华文楷体" panose="02010600040101010101" pitchFamily="2" charset="-122"/>
            </a:endParaRPr>
          </a:p>
          <a:p>
            <a:pPr algn="l" eaLnBrk="1" hangingPunct="1">
              <a:spcBef>
                <a:spcPct val="50000"/>
              </a:spcBef>
            </a:pPr>
            <a:r>
              <a:rPr lang="en-US" altLang="zh-CN" sz="2400">
                <a:solidFill>
                  <a:srgbClr val="800000"/>
                </a:solidFill>
                <a:ea typeface="华文楷体" panose="02010600040101010101" pitchFamily="2" charset="-122"/>
              </a:rPr>
              <a:t>{</a:t>
            </a:r>
            <a:endParaRPr lang="en-US" altLang="zh-CN" sz="2400">
              <a:solidFill>
                <a:srgbClr val="800000"/>
              </a:solidFill>
              <a:ea typeface="华文楷体" panose="02010600040101010101" pitchFamily="2" charset="-122"/>
            </a:endParaRPr>
          </a:p>
          <a:p>
            <a:pPr algn="l" eaLnBrk="1" hangingPunct="1">
              <a:spcBef>
                <a:spcPct val="50000"/>
              </a:spcBef>
            </a:pPr>
            <a:r>
              <a:rPr lang="en-US" altLang="zh-CN" sz="2400">
                <a:solidFill>
                  <a:srgbClr val="800000"/>
                </a:solidFill>
                <a:ea typeface="华文楷体" panose="02010600040101010101" pitchFamily="2" charset="-122"/>
              </a:rPr>
              <a:t>    </a:t>
            </a:r>
            <a:r>
              <a:rPr lang="zh-CN" altLang="en-US" sz="2400">
                <a:solidFill>
                  <a:srgbClr val="800000"/>
                </a:solidFill>
                <a:ea typeface="华文楷体" panose="02010600040101010101" pitchFamily="2" charset="-122"/>
              </a:rPr>
              <a:t>派生类新定义成员</a:t>
            </a:r>
            <a:endParaRPr lang="zh-CN" altLang="en-US" sz="2400">
              <a:solidFill>
                <a:srgbClr val="800000"/>
              </a:solidFill>
              <a:ea typeface="华文楷体" panose="02010600040101010101" pitchFamily="2" charset="-122"/>
            </a:endParaRPr>
          </a:p>
          <a:p>
            <a:pPr algn="l" eaLnBrk="1" hangingPunct="1">
              <a:spcBef>
                <a:spcPct val="50000"/>
              </a:spcBef>
            </a:pPr>
            <a:r>
              <a:rPr lang="en-US" altLang="zh-CN" sz="2400">
                <a:solidFill>
                  <a:srgbClr val="800000"/>
                </a:solidFill>
                <a:ea typeface="华文楷体" panose="02010600040101010101" pitchFamily="2" charset="-122"/>
              </a:rPr>
              <a:t>};</a:t>
            </a:r>
            <a:endParaRPr lang="en-US" altLang="zh-CN" sz="2400">
              <a:solidFill>
                <a:srgbClr val="800000"/>
              </a:solidFill>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dirty="0" smtClean="0">
                <a:latin typeface="Times New Roman" panose="02020603050405020304" pitchFamily="18" charset="0"/>
                <a:ea typeface="隶书" panose="02010509060101010101" pitchFamily="49" charset="-122"/>
              </a:rPr>
              <a:t>多继承范例</a:t>
            </a:r>
            <a:endParaRPr lang="zh-CN" altLang="en-US" sz="4400" b="1" dirty="0">
              <a:latin typeface="Times New Roman" panose="02020603050405020304" pitchFamily="18" charset="0"/>
              <a:ea typeface="隶书" panose="02010509060101010101" pitchFamily="49" charset="-122"/>
            </a:endParaRPr>
          </a:p>
        </p:txBody>
      </p:sp>
      <p:sp>
        <p:nvSpPr>
          <p:cNvPr id="18435" name="内容占位符 2"/>
          <p:cNvSpPr>
            <a:spLocks noGrp="1"/>
          </p:cNvSpPr>
          <p:nvPr>
            <p:ph idx="1"/>
          </p:nvPr>
        </p:nvSpPr>
        <p:spPr>
          <a:xfrm>
            <a:off x="683568" y="1340768"/>
            <a:ext cx="7886700" cy="4351338"/>
          </a:xfrm>
        </p:spPr>
        <p:txBody>
          <a:bodyPr/>
          <a:lstStyle/>
          <a:p>
            <a:pPr marL="0" indent="0">
              <a:spcBef>
                <a:spcPts val="0"/>
              </a:spcBef>
              <a:spcAft>
                <a:spcPts val="600"/>
              </a:spcAft>
              <a:buNone/>
            </a:pPr>
            <a:r>
              <a:rPr lang="zh-CN" altLang="en-US" sz="2400" b="1" dirty="0" smtClean="0">
                <a:ea typeface="华文楷体" panose="02010600040101010101" pitchFamily="2" charset="-122"/>
              </a:rPr>
              <a:t>例如</a:t>
            </a:r>
            <a:r>
              <a:rPr lang="zh-CN" altLang="en-US" sz="2400" b="1" dirty="0">
                <a:ea typeface="华文楷体" panose="02010600040101010101" pitchFamily="2" charset="-122"/>
              </a:rPr>
              <a:t>：</a:t>
            </a:r>
            <a:endParaRPr lang="en-US" altLang="zh-CN" sz="2400" b="1" dirty="0">
              <a:ea typeface="华文楷体" panose="02010600040101010101" pitchFamily="2" charset="-122"/>
            </a:endParaRPr>
          </a:p>
          <a:p>
            <a:pPr marL="0" indent="0">
              <a:spcBef>
                <a:spcPts val="0"/>
              </a:spcBef>
              <a:spcAft>
                <a:spcPts val="600"/>
              </a:spcAft>
              <a:buNone/>
            </a:pPr>
            <a:r>
              <a:rPr lang="en-US" altLang="zh-CN" sz="2400" b="1" dirty="0">
                <a:ea typeface="华文楷体" panose="02010600040101010101" pitchFamily="2" charset="-122"/>
              </a:rPr>
              <a:t>class Derived: public Base1, private Base2</a:t>
            </a:r>
            <a:endParaRPr lang="en-US" altLang="zh-CN" sz="2400" b="1" dirty="0">
              <a:ea typeface="华文楷体" panose="02010600040101010101" pitchFamily="2" charset="-122"/>
            </a:endParaRPr>
          </a:p>
          <a:p>
            <a:pPr marL="0" indent="0">
              <a:spcBef>
                <a:spcPts val="0"/>
              </a:spcBef>
              <a:spcAft>
                <a:spcPts val="600"/>
              </a:spcAft>
              <a:buNone/>
            </a:pPr>
            <a:r>
              <a:rPr lang="en-US" altLang="zh-CN" sz="2400" b="1" dirty="0">
                <a:ea typeface="华文楷体" panose="02010600040101010101" pitchFamily="2" charset="-122"/>
              </a:rPr>
              <a:t>{</a:t>
            </a:r>
            <a:endParaRPr lang="en-US" altLang="zh-CN" sz="2400" b="1" dirty="0">
              <a:ea typeface="华文楷体" panose="02010600040101010101" pitchFamily="2" charset="-122"/>
            </a:endParaRPr>
          </a:p>
          <a:p>
            <a:pPr marL="0" indent="0">
              <a:spcBef>
                <a:spcPts val="0"/>
              </a:spcBef>
              <a:spcAft>
                <a:spcPts val="600"/>
              </a:spcAft>
              <a:buNone/>
            </a:pPr>
            <a:r>
              <a:rPr lang="en-US" altLang="zh-CN" sz="2400" b="1" dirty="0">
                <a:ea typeface="华文楷体" panose="02010600040101010101" pitchFamily="2" charset="-122"/>
              </a:rPr>
              <a:t>public:</a:t>
            </a:r>
            <a:endParaRPr lang="en-US" altLang="zh-CN" sz="2400" b="1" dirty="0">
              <a:ea typeface="华文楷体" panose="02010600040101010101" pitchFamily="2" charset="-122"/>
            </a:endParaRPr>
          </a:p>
          <a:p>
            <a:pPr marL="0" indent="0">
              <a:spcBef>
                <a:spcPts val="0"/>
              </a:spcBef>
              <a:spcAft>
                <a:spcPts val="600"/>
              </a:spcAft>
              <a:buNone/>
            </a:pPr>
            <a:r>
              <a:rPr lang="en-US" altLang="zh-CN" sz="2400" b="1" dirty="0">
                <a:ea typeface="华文楷体" panose="02010600040101010101" pitchFamily="2" charset="-122"/>
              </a:rPr>
              <a:t>	Derived ();</a:t>
            </a:r>
            <a:endParaRPr lang="en-US" altLang="zh-CN" sz="2400" b="1" dirty="0">
              <a:ea typeface="华文楷体" panose="02010600040101010101" pitchFamily="2" charset="-122"/>
            </a:endParaRPr>
          </a:p>
          <a:p>
            <a:pPr marL="0" indent="0">
              <a:spcBef>
                <a:spcPts val="0"/>
              </a:spcBef>
              <a:spcAft>
                <a:spcPts val="600"/>
              </a:spcAft>
              <a:buNone/>
            </a:pPr>
            <a:r>
              <a:rPr lang="en-US" altLang="zh-CN" sz="2400" b="1" dirty="0">
                <a:ea typeface="华文楷体" panose="02010600040101010101" pitchFamily="2" charset="-122"/>
              </a:rPr>
              <a:t>	~Derived ();</a:t>
            </a:r>
            <a:endParaRPr lang="en-US" altLang="zh-CN" sz="2400" b="1" dirty="0">
              <a:ea typeface="华文楷体" panose="02010600040101010101" pitchFamily="2" charset="-122"/>
            </a:endParaRPr>
          </a:p>
          <a:p>
            <a:pPr marL="0" indent="0">
              <a:spcBef>
                <a:spcPts val="0"/>
              </a:spcBef>
              <a:spcAft>
                <a:spcPts val="600"/>
              </a:spcAft>
              <a:buNone/>
            </a:pPr>
            <a:r>
              <a:rPr lang="en-US" altLang="zh-CN" sz="2400" b="1" dirty="0">
                <a:ea typeface="华文楷体" panose="02010600040101010101" pitchFamily="2" charset="-122"/>
              </a:rPr>
              <a:t>};</a:t>
            </a:r>
            <a:endParaRPr lang="en-US" altLang="zh-CN" sz="2400" b="1" dirty="0">
              <a:ea typeface="华文楷体" panose="02010600040101010101" pitchFamily="2" charset="-122"/>
            </a:endParaRPr>
          </a:p>
          <a:p>
            <a:pPr marL="0" indent="0">
              <a:spcBef>
                <a:spcPts val="0"/>
              </a:spcBef>
              <a:spcAft>
                <a:spcPts val="600"/>
              </a:spcAft>
              <a:buNone/>
            </a:pPr>
            <a:endParaRPr lang="en-US" altLang="zh-CN" sz="2400" b="1" dirty="0">
              <a:solidFill>
                <a:srgbClr val="FFFF00"/>
              </a:solidFill>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7.1.3 </a:t>
            </a:r>
            <a:r>
              <a:rPr lang="zh-CN" altLang="en-US" sz="4400" b="1">
                <a:latin typeface="Times New Roman" panose="02020603050405020304" pitchFamily="18" charset="0"/>
                <a:ea typeface="隶书" panose="02010509060101010101" pitchFamily="49" charset="-122"/>
              </a:rPr>
              <a:t>派生类生成过程</a:t>
            </a:r>
            <a:endParaRPr lang="zh-CN" altLang="en-US" sz="4400" b="1">
              <a:latin typeface="Times New Roman" panose="02020603050405020304" pitchFamily="18" charset="0"/>
              <a:ea typeface="隶书" panose="02010509060101010101" pitchFamily="49" charset="-122"/>
            </a:endParaRPr>
          </a:p>
        </p:txBody>
      </p:sp>
      <p:sp>
        <p:nvSpPr>
          <p:cNvPr id="20483" name="内容占位符 2"/>
          <p:cNvSpPr>
            <a:spLocks noGrp="1"/>
          </p:cNvSpPr>
          <p:nvPr>
            <p:ph idx="1"/>
          </p:nvPr>
        </p:nvSpPr>
        <p:spPr>
          <a:xfrm>
            <a:off x="611560" y="1556792"/>
            <a:ext cx="7886700" cy="4351338"/>
          </a:xfrm>
        </p:spPr>
        <p:txBody>
          <a:bodyPr/>
          <a:lstStyle/>
          <a:p>
            <a:pPr>
              <a:spcAft>
                <a:spcPct val="25000"/>
              </a:spcAft>
            </a:pPr>
            <a:r>
              <a:rPr lang="zh-CN" altLang="en-US" sz="2400" b="1" dirty="0">
                <a:solidFill>
                  <a:srgbClr val="FFFF00"/>
                </a:solidFill>
                <a:ea typeface="华文楷体" panose="02010600040101010101" pitchFamily="2" charset="-122"/>
              </a:rPr>
              <a:t>吸收基类成员</a:t>
            </a:r>
            <a:endParaRPr lang="en-US" altLang="zh-CN" sz="2400" b="1" dirty="0">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吸收基类成员之后，派生类实际上就</a:t>
            </a:r>
            <a:r>
              <a:rPr lang="zh-CN" altLang="en-US" sz="2400" b="1" dirty="0">
                <a:solidFill>
                  <a:srgbClr val="FFFF00"/>
                </a:solidFill>
                <a:ea typeface="华文楷体" panose="02010600040101010101" pitchFamily="2" charset="-122"/>
              </a:rPr>
              <a:t>包含了它的全部基类中除</a:t>
            </a:r>
            <a:r>
              <a:rPr lang="zh-CN" altLang="en-US" sz="2400" b="1" dirty="0" smtClean="0">
                <a:solidFill>
                  <a:srgbClr val="FFFF00"/>
                </a:solidFill>
                <a:ea typeface="华文楷体" panose="02010600040101010101" pitchFamily="2" charset="-122"/>
              </a:rPr>
              <a:t>构造</a:t>
            </a:r>
            <a:r>
              <a:rPr lang="zh-CN" altLang="en-US" sz="2400" b="1" dirty="0">
                <a:solidFill>
                  <a:srgbClr val="FFFF00"/>
                </a:solidFill>
                <a:ea typeface="华文楷体" panose="02010600040101010101" pitchFamily="2" charset="-122"/>
              </a:rPr>
              <a:t>函数</a:t>
            </a:r>
            <a:r>
              <a:rPr lang="zh-CN" altLang="en-US" sz="2400" b="1" dirty="0" smtClean="0">
                <a:solidFill>
                  <a:srgbClr val="FFFF00"/>
                </a:solidFill>
                <a:ea typeface="华文楷体" panose="02010600040101010101" pitchFamily="2" charset="-122"/>
              </a:rPr>
              <a:t>和</a:t>
            </a:r>
            <a:r>
              <a:rPr lang="zh-CN" altLang="en-US" sz="2400" b="1" dirty="0">
                <a:solidFill>
                  <a:srgbClr val="FFFF00"/>
                </a:solidFill>
                <a:ea typeface="华文楷体" panose="02010600040101010101" pitchFamily="2" charset="-122"/>
              </a:rPr>
              <a:t>析构函数之外的所有成员</a:t>
            </a:r>
            <a:r>
              <a:rPr lang="zh-CN" altLang="en-US" sz="2400" b="1" dirty="0">
                <a:ea typeface="华文楷体" panose="02010600040101010101" pitchFamily="2" charset="-122"/>
              </a:rPr>
              <a:t>。</a:t>
            </a:r>
            <a:endParaRPr lang="en-US" altLang="zh-CN" sz="2400" b="1" dirty="0">
              <a:ea typeface="华文楷体" panose="02010600040101010101" pitchFamily="2" charset="-122"/>
            </a:endParaRPr>
          </a:p>
          <a:p>
            <a:pPr>
              <a:spcAft>
                <a:spcPct val="25000"/>
              </a:spcAft>
            </a:pPr>
            <a:r>
              <a:rPr lang="zh-CN" altLang="en-US" sz="2400" b="1" dirty="0">
                <a:solidFill>
                  <a:srgbClr val="FFFF00"/>
                </a:solidFill>
                <a:ea typeface="华文楷体" panose="02010600040101010101" pitchFamily="2" charset="-122"/>
              </a:rPr>
              <a:t>改造基类成员</a:t>
            </a:r>
            <a:endParaRPr lang="en-US" altLang="zh-CN" sz="2400" b="1" dirty="0">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如果</a:t>
            </a:r>
            <a:r>
              <a:rPr lang="zh-CN" altLang="en-US" sz="2400" b="1" dirty="0">
                <a:solidFill>
                  <a:srgbClr val="FFFF00"/>
                </a:solidFill>
                <a:ea typeface="华文楷体" panose="02010600040101010101" pitchFamily="2" charset="-122"/>
              </a:rPr>
              <a:t>派生类声明了一个和某基类成员同名的新成员</a:t>
            </a:r>
            <a:r>
              <a:rPr lang="zh-CN" altLang="en-US" sz="2400" b="1" dirty="0">
                <a:ea typeface="华文楷体" panose="02010600040101010101" pitchFamily="2" charset="-122"/>
              </a:rPr>
              <a:t>（如果是成员函数，则参数表也要相同，参数不同的情况属于重载），派生的新成员就覆盖了外层</a:t>
            </a:r>
            <a:r>
              <a:rPr lang="zh-CN" altLang="en-US" sz="2400" b="1" dirty="0">
                <a:ea typeface="华文楷体" panose="02010600040101010101" pitchFamily="2" charset="-122"/>
              </a:rPr>
              <a:t>所有同名成员</a:t>
            </a:r>
            <a:endParaRPr lang="en-US" altLang="zh-CN" sz="2400" b="1" dirty="0">
              <a:ea typeface="华文楷体" panose="02010600040101010101" pitchFamily="2" charset="-122"/>
            </a:endParaRPr>
          </a:p>
          <a:p>
            <a:pPr>
              <a:spcAft>
                <a:spcPct val="25000"/>
              </a:spcAft>
            </a:pPr>
            <a:r>
              <a:rPr lang="zh-CN" altLang="en-US" sz="2400" b="1" dirty="0">
                <a:solidFill>
                  <a:srgbClr val="FFFF00"/>
                </a:solidFill>
                <a:ea typeface="华文楷体" panose="02010600040101010101" pitchFamily="2" charset="-122"/>
              </a:rPr>
              <a:t>添加新的成员</a:t>
            </a:r>
            <a:endParaRPr lang="en-US" altLang="zh-CN" sz="2400" b="1" dirty="0">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dirty="0">
                <a:solidFill>
                  <a:srgbClr val="FFFF00"/>
                </a:solidFill>
                <a:ea typeface="华文楷体" panose="02010600040101010101" pitchFamily="2" charset="-122"/>
              </a:rPr>
              <a:t>派生类新成员的加入</a:t>
            </a:r>
            <a:r>
              <a:rPr lang="zh-CN" altLang="en-US" sz="2400" b="1" dirty="0">
                <a:ea typeface="华文楷体" panose="02010600040101010101" pitchFamily="2" charset="-122"/>
              </a:rPr>
              <a:t>是继承与派生机制的核心，是保证派生类在功能上有所发展</a:t>
            </a:r>
            <a:endParaRPr lang="zh-CN" altLang="en-US" sz="2400" b="1" dirty="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txBox="1"/>
          <p:nvPr/>
        </p:nvSpPr>
        <p:spPr>
          <a:xfrm>
            <a:off x="544530" y="1013985"/>
            <a:ext cx="498903" cy="4646663"/>
          </a:xfrm>
          <a:prstGeom prst="rect">
            <a:avLst/>
          </a:prstGeom>
        </p:spPr>
        <p:txBody>
          <a:bodyPr anchor="ctr">
            <a:noAutofit/>
          </a:bodyPr>
          <a:lstStyle/>
          <a:p>
            <a:pPr fontAlgn="auto">
              <a:spcAft>
                <a:spcPts val="0"/>
              </a:spcAft>
              <a:defRPr/>
            </a:pPr>
            <a:r>
              <a:rPr kumimoji="0" lang="en-US" altLang="zh-CN" b="1" dirty="0" smtClean="0">
                <a:solidFill>
                  <a:srgbClr val="FFFF00"/>
                </a:solidFill>
                <a:latin typeface="+mn-lt"/>
                <a:ea typeface="华文楷体" panose="02010600040101010101" pitchFamily="2" charset="-122"/>
              </a:rPr>
              <a:t> </a:t>
            </a:r>
            <a:r>
              <a:rPr kumimoji="0" lang="zh-CN" altLang="en-US" b="1" dirty="0" smtClean="0">
                <a:solidFill>
                  <a:srgbClr val="FFFF00"/>
                </a:solidFill>
                <a:latin typeface="+mn-lt"/>
                <a:ea typeface="华文楷体" panose="02010600040101010101" pitchFamily="2" charset="-122"/>
              </a:rPr>
              <a:t>账户类</a:t>
            </a:r>
            <a:r>
              <a:rPr kumimoji="0" lang="en-US" altLang="zh-CN" b="1" dirty="0" smtClean="0">
                <a:solidFill>
                  <a:srgbClr val="FFFF00"/>
                </a:solidFill>
                <a:latin typeface="+mn-lt"/>
                <a:ea typeface="华文楷体" panose="02010600040101010101" pitchFamily="2" charset="-122"/>
              </a:rPr>
              <a:t>VS</a:t>
            </a:r>
            <a:r>
              <a:rPr kumimoji="0" lang="zh-CN" altLang="en-US" b="1" dirty="0" smtClean="0">
                <a:solidFill>
                  <a:srgbClr val="FFFF00"/>
                </a:solidFill>
                <a:latin typeface="+mn-lt"/>
                <a:ea typeface="华文楷体" panose="02010600040101010101" pitchFamily="2" charset="-122"/>
              </a:rPr>
              <a:t>信用账户类</a:t>
            </a:r>
            <a:endParaRPr kumimoji="0" lang="zh-CN" altLang="en-US" sz="3600" b="1" dirty="0">
              <a:solidFill>
                <a:srgbClr val="FFFF00"/>
              </a:solidFill>
              <a:latin typeface="+mn-lt"/>
              <a:ea typeface="华文楷体" panose="02010600040101010101" pitchFamily="2" charset="-122"/>
              <a:cs typeface="+mj-cs"/>
            </a:endParaRPr>
          </a:p>
        </p:txBody>
      </p:sp>
      <p:sp>
        <p:nvSpPr>
          <p:cNvPr id="87044" name="Rectangle 58"/>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7046" name="Rectangle 77"/>
          <p:cNvSpPr>
            <a:spLocks noChangeArrowheads="1"/>
          </p:cNvSpPr>
          <p:nvPr/>
        </p:nvSpPr>
        <p:spPr bwMode="auto">
          <a:xfrm>
            <a:off x="0" y="67976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zh-CN"/>
          </a:p>
        </p:txBody>
      </p:sp>
      <p:grpSp>
        <p:nvGrpSpPr>
          <p:cNvPr id="7" name="组合 6"/>
          <p:cNvGrpSpPr/>
          <p:nvPr/>
        </p:nvGrpSpPr>
        <p:grpSpPr>
          <a:xfrm>
            <a:off x="285750" y="44624"/>
            <a:ext cx="8102198" cy="6774904"/>
            <a:chOff x="285750" y="44624"/>
            <a:chExt cx="8102198" cy="6774904"/>
          </a:xfrm>
        </p:grpSpPr>
        <p:grpSp>
          <p:nvGrpSpPr>
            <p:cNvPr id="3" name="组合 2"/>
            <p:cNvGrpSpPr/>
            <p:nvPr/>
          </p:nvGrpSpPr>
          <p:grpSpPr>
            <a:xfrm>
              <a:off x="285750" y="479053"/>
              <a:ext cx="8102198" cy="6340475"/>
              <a:chOff x="285750" y="428625"/>
              <a:chExt cx="8102198" cy="6340475"/>
            </a:xfrm>
          </p:grpSpPr>
          <p:sp>
            <p:nvSpPr>
              <p:cNvPr id="87048" name="AutoShape 57"/>
              <p:cNvSpPr>
                <a:spLocks noChangeAspect="1" noChangeArrowheads="1" noTextEdit="1"/>
              </p:cNvSpPr>
              <p:nvPr/>
            </p:nvSpPr>
            <p:spPr bwMode="auto">
              <a:xfrm>
                <a:off x="285750" y="428625"/>
                <a:ext cx="6429375" cy="634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87054" name="Group 37"/>
              <p:cNvGrpSpPr/>
              <p:nvPr/>
            </p:nvGrpSpPr>
            <p:grpSpPr bwMode="auto">
              <a:xfrm>
                <a:off x="1187625" y="3246059"/>
                <a:ext cx="7200323" cy="3463777"/>
                <a:chOff x="-429" y="2697"/>
                <a:chExt cx="4820" cy="4072"/>
              </a:xfrm>
            </p:grpSpPr>
            <p:sp>
              <p:nvSpPr>
                <p:cNvPr id="87089" name="Rectangle 44"/>
                <p:cNvSpPr>
                  <a:spLocks noChangeArrowheads="1"/>
                </p:cNvSpPr>
                <p:nvPr/>
              </p:nvSpPr>
              <p:spPr bwMode="auto">
                <a:xfrm>
                  <a:off x="-428" y="2697"/>
                  <a:ext cx="4755" cy="4008"/>
                </a:xfrm>
                <a:prstGeom prst="rect">
                  <a:avLst/>
                </a:prstGeom>
                <a:noFill/>
                <a:ln w="4">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endParaRPr lang="zh-CN" altLang="en-US" sz="4000"/>
                </a:p>
              </p:txBody>
            </p:sp>
            <p:sp>
              <p:nvSpPr>
                <p:cNvPr id="87090" name="Rectangle 43"/>
                <p:cNvSpPr>
                  <a:spLocks noChangeArrowheads="1"/>
                </p:cNvSpPr>
                <p:nvPr/>
              </p:nvSpPr>
              <p:spPr bwMode="auto">
                <a:xfrm>
                  <a:off x="-341" y="3119"/>
                  <a:ext cx="4347"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1400" b="1" dirty="0">
                      <a:latin typeface="+mn-lt"/>
                      <a:cs typeface="Arial" panose="020B0604020202020204" pitchFamily="34" charset="0"/>
                    </a:rPr>
                    <a:t>-	</a:t>
                  </a:r>
                  <a:r>
                    <a:rPr lang="en-US" altLang="zh-CN" sz="1400" b="1" dirty="0" err="1">
                      <a:latin typeface="+mn-lt"/>
                      <a:cs typeface="Arial" panose="020B0604020202020204" pitchFamily="34" charset="0"/>
                    </a:rPr>
                    <a:t>acc</a:t>
                  </a:r>
                  <a:r>
                    <a:rPr lang="en-US" altLang="zh-CN" sz="1400" b="1" dirty="0">
                      <a:latin typeface="+mn-lt"/>
                      <a:cs typeface="Arial" panose="020B0604020202020204" pitchFamily="34" charset="0"/>
                    </a:rPr>
                    <a:t> : Accumulator</a:t>
                  </a:r>
                  <a:endParaRPr lang="en-US" altLang="zh-CN" sz="1400" b="1" dirty="0">
                    <a:latin typeface="+mn-lt"/>
                  </a:endParaRPr>
                </a:p>
                <a:p>
                  <a:pPr algn="l"/>
                  <a:r>
                    <a:rPr lang="en-US" altLang="zh-CN" sz="1400" b="1" dirty="0">
                      <a:latin typeface="+mn-lt"/>
                      <a:cs typeface="Arial" panose="020B0604020202020204" pitchFamily="34" charset="0"/>
                    </a:rPr>
                    <a:t>-	credit : double</a:t>
                  </a:r>
                  <a:endParaRPr lang="en-US" altLang="zh-CN" sz="1400" b="1" dirty="0">
                    <a:latin typeface="+mn-lt"/>
                  </a:endParaRPr>
                </a:p>
                <a:p>
                  <a:pPr algn="l"/>
                  <a:r>
                    <a:rPr lang="en-US" altLang="zh-CN" sz="1400" b="1" dirty="0">
                      <a:latin typeface="+mn-lt"/>
                      <a:cs typeface="Arial" panose="020B0604020202020204" pitchFamily="34" charset="0"/>
                    </a:rPr>
                    <a:t>-	rate : double</a:t>
                  </a:r>
                  <a:endParaRPr lang="en-US" altLang="zh-CN" sz="1400" b="1" dirty="0">
                    <a:latin typeface="+mn-lt"/>
                  </a:endParaRPr>
                </a:p>
                <a:p>
                  <a:pPr algn="l"/>
                  <a:r>
                    <a:rPr lang="en-US" altLang="zh-CN" sz="1400" b="1" dirty="0">
                      <a:latin typeface="+mn-lt"/>
                      <a:cs typeface="Arial" panose="020B0604020202020204" pitchFamily="34" charset="0"/>
                    </a:rPr>
                    <a:t>-	fee : double</a:t>
                  </a:r>
                  <a:endParaRPr lang="en-US" altLang="zh-CN" sz="1400" b="1" dirty="0">
                    <a:latin typeface="+mn-lt"/>
                  </a:endParaRPr>
                </a:p>
              </p:txBody>
            </p:sp>
            <p:sp>
              <p:nvSpPr>
                <p:cNvPr id="87091" name="Rectangle 42"/>
                <p:cNvSpPr>
                  <a:spLocks noChangeArrowheads="1"/>
                </p:cNvSpPr>
                <p:nvPr/>
              </p:nvSpPr>
              <p:spPr bwMode="auto">
                <a:xfrm>
                  <a:off x="-428" y="2745"/>
                  <a:ext cx="4755"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1800" b="1" dirty="0" err="1">
                      <a:latin typeface="Arial" panose="020B0604020202020204" pitchFamily="34" charset="0"/>
                      <a:cs typeface="Arial" panose="020B0604020202020204" pitchFamily="34" charset="0"/>
                    </a:rPr>
                    <a:t>CreditAccount</a:t>
                  </a:r>
                  <a:endParaRPr lang="en-US" altLang="zh-CN" sz="4000" b="1" dirty="0"/>
                </a:p>
              </p:txBody>
            </p:sp>
            <p:sp>
              <p:nvSpPr>
                <p:cNvPr id="87092" name="Rectangle 41"/>
                <p:cNvSpPr>
                  <a:spLocks noChangeArrowheads="1"/>
                </p:cNvSpPr>
                <p:nvPr/>
              </p:nvSpPr>
              <p:spPr bwMode="auto">
                <a:xfrm>
                  <a:off x="-345" y="4217"/>
                  <a:ext cx="4736" cy="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1400" b="1" dirty="0">
                      <a:latin typeface="+mn-lt"/>
                      <a:cs typeface="Arial" panose="020B0604020202020204" pitchFamily="34" charset="0"/>
                    </a:rPr>
                    <a:t>&lt;&lt;</a:t>
                  </a:r>
                  <a:r>
                    <a:rPr lang="en-US" altLang="zh-CN" sz="1400" b="1" dirty="0" err="1">
                      <a:latin typeface="+mn-lt"/>
                      <a:cs typeface="Arial" panose="020B0604020202020204" pitchFamily="34" charset="0"/>
                    </a:rPr>
                    <a:t>const</a:t>
                  </a:r>
                  <a:r>
                    <a:rPr lang="en-US" altLang="zh-CN" sz="1400" b="1" dirty="0">
                      <a:latin typeface="+mn-lt"/>
                      <a:cs typeface="Arial" panose="020B0604020202020204" pitchFamily="34" charset="0"/>
                    </a:rPr>
                    <a:t>&gt;&gt; -	</a:t>
                  </a:r>
                  <a:r>
                    <a:rPr lang="en-US" altLang="zh-CN" sz="1400" b="1" dirty="0" err="1">
                      <a:latin typeface="+mn-lt"/>
                      <a:cs typeface="Arial" panose="020B0604020202020204" pitchFamily="34" charset="0"/>
                    </a:rPr>
                    <a:t>getDebt</a:t>
                  </a:r>
                  <a:r>
                    <a:rPr lang="en-US" altLang="zh-CN" sz="1400" b="1" dirty="0">
                      <a:latin typeface="+mn-lt"/>
                      <a:cs typeface="Arial" panose="020B0604020202020204" pitchFamily="34" charset="0"/>
                    </a:rPr>
                    <a:t>() : double</a:t>
                  </a:r>
                  <a:endParaRPr lang="en-US" altLang="zh-CN" sz="1400" b="1" dirty="0">
                    <a:latin typeface="+mn-lt"/>
                  </a:endParaRPr>
                </a:p>
                <a:p>
                  <a:pPr algn="l"/>
                  <a:r>
                    <a:rPr lang="en-US" altLang="zh-CN" sz="1400" b="1" dirty="0">
                      <a:latin typeface="+mn-lt"/>
                      <a:cs typeface="Arial" panose="020B0604020202020204" pitchFamily="34" charset="0"/>
                    </a:rPr>
                    <a:t>+	</a:t>
                  </a:r>
                  <a:r>
                    <a:rPr lang="en-US" altLang="zh-CN" sz="1400" b="1" dirty="0" err="1">
                      <a:latin typeface="+mn-lt"/>
                      <a:cs typeface="Arial" panose="020B0604020202020204" pitchFamily="34" charset="0"/>
                    </a:rPr>
                    <a:t>CreditAccount</a:t>
                  </a:r>
                  <a:r>
                    <a:rPr lang="en-US" altLang="zh-CN" sz="1400" b="1" dirty="0">
                      <a:latin typeface="+mn-lt"/>
                      <a:cs typeface="Arial" panose="020B0604020202020204" pitchFamily="34" charset="0"/>
                    </a:rPr>
                    <a:t>(date : Date, id : </a:t>
                  </a:r>
                  <a:r>
                    <a:rPr lang="en-US" altLang="zh-CN" sz="1400" b="1" dirty="0" err="1">
                      <a:latin typeface="+mn-lt"/>
                      <a:cs typeface="Arial" panose="020B0604020202020204" pitchFamily="34" charset="0"/>
                    </a:rPr>
                    <a:t>int</a:t>
                  </a:r>
                  <a:r>
                    <a:rPr lang="en-US" altLang="zh-CN" sz="1400" b="1" dirty="0">
                      <a:latin typeface="+mn-lt"/>
                      <a:cs typeface="Arial" panose="020B0604020202020204" pitchFamily="34" charset="0"/>
                    </a:rPr>
                    <a:t>, credit : double, rate : double, fee : double)</a:t>
                  </a:r>
                  <a:endParaRPr lang="en-US" altLang="zh-CN" sz="1400" b="1" dirty="0">
                    <a:latin typeface="+mn-lt"/>
                  </a:endParaRPr>
                </a:p>
                <a:p>
                  <a:pPr algn="l"/>
                  <a:r>
                    <a:rPr lang="en-US" altLang="zh-CN" sz="1400" b="1" dirty="0">
                      <a:latin typeface="+mn-lt"/>
                      <a:cs typeface="Arial" panose="020B0604020202020204" pitchFamily="34" charset="0"/>
                    </a:rPr>
                    <a:t>&lt;&lt;</a:t>
                  </a:r>
                  <a:r>
                    <a:rPr lang="en-US" altLang="zh-CN" sz="1400" b="1" dirty="0" err="1">
                      <a:latin typeface="+mn-lt"/>
                      <a:cs typeface="Arial" panose="020B0604020202020204" pitchFamily="34" charset="0"/>
                    </a:rPr>
                    <a:t>const</a:t>
                  </a:r>
                  <a:r>
                    <a:rPr lang="en-US" altLang="zh-CN" sz="1400" b="1" dirty="0">
                      <a:latin typeface="+mn-lt"/>
                      <a:cs typeface="Arial" panose="020B0604020202020204" pitchFamily="34" charset="0"/>
                    </a:rPr>
                    <a:t>&gt;&gt; +	</a:t>
                  </a:r>
                  <a:r>
                    <a:rPr lang="en-US" altLang="zh-CN" sz="1400" b="1" dirty="0" err="1">
                      <a:latin typeface="+mn-lt"/>
                      <a:cs typeface="Arial" panose="020B0604020202020204" pitchFamily="34" charset="0"/>
                    </a:rPr>
                    <a:t>getCredit</a:t>
                  </a:r>
                  <a:r>
                    <a:rPr lang="en-US" altLang="zh-CN" sz="1400" b="1" dirty="0">
                      <a:latin typeface="+mn-lt"/>
                      <a:cs typeface="Arial" panose="020B0604020202020204" pitchFamily="34" charset="0"/>
                    </a:rPr>
                    <a:t>() : double</a:t>
                  </a:r>
                  <a:endParaRPr lang="en-US" altLang="zh-CN" sz="1400" b="1" dirty="0">
                    <a:latin typeface="+mn-lt"/>
                  </a:endParaRPr>
                </a:p>
                <a:p>
                  <a:pPr algn="l"/>
                  <a:r>
                    <a:rPr lang="en-US" altLang="zh-CN" sz="1400" b="1" dirty="0">
                      <a:latin typeface="+mn-lt"/>
                      <a:cs typeface="Arial" panose="020B0604020202020204" pitchFamily="34" charset="0"/>
                    </a:rPr>
                    <a:t>&lt;&lt;</a:t>
                  </a:r>
                  <a:r>
                    <a:rPr lang="en-US" altLang="zh-CN" sz="1400" b="1" dirty="0" err="1">
                      <a:latin typeface="+mn-lt"/>
                      <a:cs typeface="Arial" panose="020B0604020202020204" pitchFamily="34" charset="0"/>
                    </a:rPr>
                    <a:t>const</a:t>
                  </a:r>
                  <a:r>
                    <a:rPr lang="en-US" altLang="zh-CN" sz="1400" b="1" dirty="0">
                      <a:latin typeface="+mn-lt"/>
                      <a:cs typeface="Arial" panose="020B0604020202020204" pitchFamily="34" charset="0"/>
                    </a:rPr>
                    <a:t>&gt;&gt; +	</a:t>
                  </a:r>
                  <a:r>
                    <a:rPr lang="en-US" altLang="zh-CN" sz="1400" b="1" dirty="0" err="1">
                      <a:latin typeface="+mn-lt"/>
                      <a:cs typeface="Arial" panose="020B0604020202020204" pitchFamily="34" charset="0"/>
                    </a:rPr>
                    <a:t>getRate</a:t>
                  </a:r>
                  <a:r>
                    <a:rPr lang="en-US" altLang="zh-CN" sz="1400" b="1" dirty="0">
                      <a:latin typeface="+mn-lt"/>
                      <a:cs typeface="Arial" panose="020B0604020202020204" pitchFamily="34" charset="0"/>
                    </a:rPr>
                    <a:t>() : double</a:t>
                  </a:r>
                  <a:endParaRPr lang="en-US" altLang="zh-CN" sz="1400" b="1" dirty="0">
                    <a:latin typeface="+mn-lt"/>
                  </a:endParaRPr>
                </a:p>
                <a:p>
                  <a:pPr algn="l"/>
                  <a:r>
                    <a:rPr lang="en-US" altLang="zh-CN" sz="1400" b="1" dirty="0">
                      <a:latin typeface="+mn-lt"/>
                      <a:cs typeface="Arial" panose="020B0604020202020204" pitchFamily="34" charset="0"/>
                    </a:rPr>
                    <a:t>&lt;&lt;</a:t>
                  </a:r>
                  <a:r>
                    <a:rPr lang="en-US" altLang="zh-CN" sz="1400" b="1" dirty="0" err="1">
                      <a:latin typeface="+mn-lt"/>
                      <a:cs typeface="Arial" panose="020B0604020202020204" pitchFamily="34" charset="0"/>
                    </a:rPr>
                    <a:t>const</a:t>
                  </a:r>
                  <a:r>
                    <a:rPr lang="en-US" altLang="zh-CN" sz="1400" b="1" dirty="0">
                      <a:latin typeface="+mn-lt"/>
                      <a:cs typeface="Arial" panose="020B0604020202020204" pitchFamily="34" charset="0"/>
                    </a:rPr>
                    <a:t>&gt;&gt; +	</a:t>
                  </a:r>
                  <a:r>
                    <a:rPr lang="en-US" altLang="zh-CN" sz="1400" b="1" dirty="0" err="1">
                      <a:latin typeface="+mn-lt"/>
                      <a:cs typeface="Arial" panose="020B0604020202020204" pitchFamily="34" charset="0"/>
                    </a:rPr>
                    <a:t>getFee</a:t>
                  </a:r>
                  <a:r>
                    <a:rPr lang="en-US" altLang="zh-CN" sz="1400" b="1" dirty="0">
                      <a:latin typeface="+mn-lt"/>
                      <a:cs typeface="Arial" panose="020B0604020202020204" pitchFamily="34" charset="0"/>
                    </a:rPr>
                    <a:t>() : double</a:t>
                  </a:r>
                  <a:endParaRPr lang="en-US" altLang="zh-CN" sz="1400" b="1" dirty="0">
                    <a:latin typeface="+mn-lt"/>
                  </a:endParaRPr>
                </a:p>
                <a:p>
                  <a:pPr algn="l"/>
                  <a:r>
                    <a:rPr lang="en-US" altLang="zh-CN" sz="1400" b="1" dirty="0">
                      <a:latin typeface="+mn-lt"/>
                      <a:cs typeface="Arial" panose="020B0604020202020204" pitchFamily="34" charset="0"/>
                    </a:rPr>
                    <a:t>&lt;&lt;</a:t>
                  </a:r>
                  <a:r>
                    <a:rPr lang="en-US" altLang="zh-CN" sz="1400" b="1" dirty="0" err="1">
                      <a:latin typeface="+mn-lt"/>
                      <a:cs typeface="Arial" panose="020B0604020202020204" pitchFamily="34" charset="0"/>
                    </a:rPr>
                    <a:t>const</a:t>
                  </a:r>
                  <a:r>
                    <a:rPr lang="en-US" altLang="zh-CN" sz="1400" b="1" dirty="0">
                      <a:latin typeface="+mn-lt"/>
                      <a:cs typeface="Arial" panose="020B0604020202020204" pitchFamily="34" charset="0"/>
                    </a:rPr>
                    <a:t>&gt;&gt; +	</a:t>
                  </a:r>
                  <a:r>
                    <a:rPr lang="en-US" altLang="zh-CN" sz="1400" b="1" dirty="0" err="1">
                      <a:latin typeface="+mn-lt"/>
                      <a:cs typeface="Arial" panose="020B0604020202020204" pitchFamily="34" charset="0"/>
                    </a:rPr>
                    <a:t>getAvailableCredit</a:t>
                  </a:r>
                  <a:r>
                    <a:rPr lang="en-US" altLang="zh-CN" sz="1400" b="1" dirty="0">
                      <a:latin typeface="+mn-lt"/>
                      <a:cs typeface="Arial" panose="020B0604020202020204" pitchFamily="34" charset="0"/>
                    </a:rPr>
                    <a:t>() : double</a:t>
                  </a:r>
                  <a:endParaRPr lang="en-US" altLang="zh-CN" sz="1400" b="1" dirty="0">
                    <a:latin typeface="+mn-lt"/>
                  </a:endParaRPr>
                </a:p>
                <a:p>
                  <a:pPr algn="l"/>
                  <a:r>
                    <a:rPr lang="en-US" altLang="zh-CN" sz="1400" b="1" dirty="0">
                      <a:latin typeface="+mn-lt"/>
                      <a:cs typeface="Arial" panose="020B0604020202020204" pitchFamily="34" charset="0"/>
                    </a:rPr>
                    <a:t>+	deposit(date : Date, amount : double, </a:t>
                  </a:r>
                  <a:r>
                    <a:rPr lang="en-US" altLang="zh-CN" sz="1400" b="1" dirty="0" err="1">
                      <a:latin typeface="+mn-lt"/>
                      <a:cs typeface="Arial" panose="020B0604020202020204" pitchFamily="34" charset="0"/>
                    </a:rPr>
                    <a:t>desc</a:t>
                  </a:r>
                  <a:r>
                    <a:rPr lang="en-US" altLang="zh-CN" sz="1400" b="1" dirty="0">
                      <a:latin typeface="+mn-lt"/>
                      <a:cs typeface="Arial" panose="020B0604020202020204" pitchFamily="34" charset="0"/>
                    </a:rPr>
                    <a:t> : string)</a:t>
                  </a:r>
                  <a:endParaRPr lang="en-US" altLang="zh-CN" sz="1400" b="1" dirty="0">
                    <a:latin typeface="+mn-lt"/>
                  </a:endParaRPr>
                </a:p>
                <a:p>
                  <a:pPr algn="l"/>
                  <a:r>
                    <a:rPr lang="en-US" altLang="zh-CN" sz="1400" b="1" dirty="0">
                      <a:latin typeface="+mn-lt"/>
                      <a:cs typeface="Arial" panose="020B0604020202020204" pitchFamily="34" charset="0"/>
                    </a:rPr>
                    <a:t>+	withdraw(date : Date, amount : double, </a:t>
                  </a:r>
                  <a:r>
                    <a:rPr lang="en-US" altLang="zh-CN" sz="1400" b="1" dirty="0" err="1">
                      <a:latin typeface="+mn-lt"/>
                      <a:cs typeface="Arial" panose="020B0604020202020204" pitchFamily="34" charset="0"/>
                    </a:rPr>
                    <a:t>desc</a:t>
                  </a:r>
                  <a:r>
                    <a:rPr lang="en-US" altLang="zh-CN" sz="1400" b="1" dirty="0">
                      <a:latin typeface="+mn-lt"/>
                      <a:cs typeface="Arial" panose="020B0604020202020204" pitchFamily="34" charset="0"/>
                    </a:rPr>
                    <a:t> : string)</a:t>
                  </a:r>
                  <a:endParaRPr lang="en-US" altLang="zh-CN" sz="1400" b="1" dirty="0">
                    <a:latin typeface="+mn-lt"/>
                  </a:endParaRPr>
                </a:p>
                <a:p>
                  <a:pPr algn="l"/>
                  <a:r>
                    <a:rPr lang="en-US" altLang="zh-CN" sz="1400" b="1" dirty="0">
                      <a:latin typeface="+mn-lt"/>
                      <a:cs typeface="Arial" panose="020B0604020202020204" pitchFamily="34" charset="0"/>
                    </a:rPr>
                    <a:t>+	settle(date : Date)</a:t>
                  </a:r>
                  <a:endParaRPr lang="en-US" altLang="zh-CN" sz="1400" b="1" dirty="0">
                    <a:latin typeface="+mn-lt"/>
                  </a:endParaRPr>
                </a:p>
                <a:p>
                  <a:pPr algn="l"/>
                  <a:r>
                    <a:rPr lang="en-US" altLang="zh-CN" sz="1400" b="1" dirty="0">
                      <a:latin typeface="+mn-lt"/>
                      <a:cs typeface="Arial" panose="020B0604020202020204" pitchFamily="34" charset="0"/>
                    </a:rPr>
                    <a:t>&lt;&lt;</a:t>
                  </a:r>
                  <a:r>
                    <a:rPr lang="en-US" altLang="zh-CN" sz="1400" b="1" dirty="0" err="1">
                      <a:latin typeface="+mn-lt"/>
                      <a:cs typeface="Arial" panose="020B0604020202020204" pitchFamily="34" charset="0"/>
                    </a:rPr>
                    <a:t>const</a:t>
                  </a:r>
                  <a:r>
                    <a:rPr lang="en-US" altLang="zh-CN" sz="1400" b="1" dirty="0">
                      <a:latin typeface="+mn-lt"/>
                      <a:cs typeface="Arial" panose="020B0604020202020204" pitchFamily="34" charset="0"/>
                    </a:rPr>
                    <a:t>&gt;&gt; +	show()</a:t>
                  </a:r>
                  <a:endParaRPr lang="en-US" altLang="zh-CN" sz="1400" b="1" dirty="0">
                    <a:latin typeface="+mn-lt"/>
                  </a:endParaRPr>
                </a:p>
              </p:txBody>
            </p:sp>
            <p:grpSp>
              <p:nvGrpSpPr>
                <p:cNvPr id="87093" name="Group 38"/>
                <p:cNvGrpSpPr/>
                <p:nvPr/>
              </p:nvGrpSpPr>
              <p:grpSpPr bwMode="auto">
                <a:xfrm>
                  <a:off x="-429" y="3116"/>
                  <a:ext cx="4755" cy="1016"/>
                  <a:chOff x="620" y="1978"/>
                  <a:chExt cx="4919" cy="1016"/>
                </a:xfrm>
              </p:grpSpPr>
              <p:cxnSp>
                <p:nvCxnSpPr>
                  <p:cNvPr id="87094" name="AutoShape 40"/>
                  <p:cNvCxnSpPr>
                    <a:cxnSpLocks noChangeShapeType="1"/>
                  </p:cNvCxnSpPr>
                  <p:nvPr/>
                </p:nvCxnSpPr>
                <p:spPr bwMode="auto">
                  <a:xfrm>
                    <a:off x="620" y="1978"/>
                    <a:ext cx="4918" cy="1"/>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cxnSp>
                <p:nvCxnSpPr>
                  <p:cNvPr id="87095" name="AutoShape 39"/>
                  <p:cNvCxnSpPr>
                    <a:cxnSpLocks noChangeShapeType="1"/>
                  </p:cNvCxnSpPr>
                  <p:nvPr/>
                </p:nvCxnSpPr>
                <p:spPr bwMode="auto">
                  <a:xfrm>
                    <a:off x="621" y="2993"/>
                    <a:ext cx="4918" cy="1"/>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grpSp>
          </p:grpSp>
          <p:sp>
            <p:nvSpPr>
              <p:cNvPr id="87059" name="Freeform 17"/>
              <p:cNvSpPr/>
              <p:nvPr/>
            </p:nvSpPr>
            <p:spPr bwMode="auto">
              <a:xfrm>
                <a:off x="4586719" y="2874516"/>
                <a:ext cx="338626" cy="120744"/>
              </a:xfrm>
              <a:custGeom>
                <a:avLst/>
                <a:gdLst>
                  <a:gd name="T0" fmla="*/ 106 w 211"/>
                  <a:gd name="T1" fmla="*/ 0 h 287"/>
                  <a:gd name="T2" fmla="*/ 211 w 211"/>
                  <a:gd name="T3" fmla="*/ 1 h 287"/>
                  <a:gd name="T4" fmla="*/ 0 w 211"/>
                  <a:gd name="T5" fmla="*/ 1 h 287"/>
                  <a:gd name="T6" fmla="*/ 106 w 211"/>
                  <a:gd name="T7" fmla="*/ 0 h 287"/>
                  <a:gd name="T8" fmla="*/ 0 60000 65536"/>
                  <a:gd name="T9" fmla="*/ 0 60000 65536"/>
                  <a:gd name="T10" fmla="*/ 0 60000 65536"/>
                  <a:gd name="T11" fmla="*/ 0 60000 65536"/>
                  <a:gd name="T12" fmla="*/ 0 w 211"/>
                  <a:gd name="T13" fmla="*/ 0 h 287"/>
                  <a:gd name="T14" fmla="*/ 211 w 211"/>
                  <a:gd name="T15" fmla="*/ 287 h 287"/>
                </a:gdLst>
                <a:ahLst/>
                <a:cxnLst>
                  <a:cxn ang="T8">
                    <a:pos x="T0" y="T1"/>
                  </a:cxn>
                  <a:cxn ang="T9">
                    <a:pos x="T2" y="T3"/>
                  </a:cxn>
                  <a:cxn ang="T10">
                    <a:pos x="T4" y="T5"/>
                  </a:cxn>
                  <a:cxn ang="T11">
                    <a:pos x="T6" y="T7"/>
                  </a:cxn>
                </a:cxnLst>
                <a:rect l="T12" t="T13" r="T14" b="T15"/>
                <a:pathLst>
                  <a:path w="211" h="287">
                    <a:moveTo>
                      <a:pt x="106" y="0"/>
                    </a:moveTo>
                    <a:lnTo>
                      <a:pt x="211" y="287"/>
                    </a:lnTo>
                    <a:lnTo>
                      <a:pt x="0" y="287"/>
                    </a:lnTo>
                    <a:lnTo>
                      <a:pt x="106" y="0"/>
                    </a:lnTo>
                    <a:close/>
                  </a:path>
                </a:pathLst>
              </a:custGeom>
              <a:noFill/>
              <a:ln w="4">
                <a:solidFill>
                  <a:srgbClr val="000000"/>
                </a:solidFill>
                <a:round/>
              </a:ln>
              <a:extLst>
                <a:ext uri="{909E8E84-426E-40DD-AFC4-6F175D3DCCD1}">
                  <a14:hiddenFill xmlns:a14="http://schemas.microsoft.com/office/drawing/2010/main">
                    <a:solidFill>
                      <a:srgbClr val="FFFFFF"/>
                    </a:solidFill>
                  </a14:hiddenFill>
                </a:ext>
              </a:extLst>
            </p:spPr>
            <p:txBody>
              <a:bodyPr/>
              <a:lstStyle/>
              <a:p>
                <a:pPr algn="l"/>
                <a:endParaRPr lang="zh-CN" altLang="en-US" sz="4000" b="1"/>
              </a:p>
            </p:txBody>
          </p:sp>
        </p:grpSp>
        <p:grpSp>
          <p:nvGrpSpPr>
            <p:cNvPr id="2" name="组合 1"/>
            <p:cNvGrpSpPr/>
            <p:nvPr/>
          </p:nvGrpSpPr>
          <p:grpSpPr>
            <a:xfrm>
              <a:off x="1187624" y="44624"/>
              <a:ext cx="7128792" cy="2880320"/>
              <a:chOff x="1187624" y="980728"/>
              <a:chExt cx="7128792" cy="2880320"/>
            </a:xfrm>
          </p:grpSpPr>
          <p:cxnSp>
            <p:nvCxnSpPr>
              <p:cNvPr id="87069" name="AutoShape 16"/>
              <p:cNvCxnSpPr>
                <a:cxnSpLocks noChangeShapeType="1"/>
              </p:cNvCxnSpPr>
              <p:nvPr/>
            </p:nvCxnSpPr>
            <p:spPr bwMode="auto">
              <a:xfrm>
                <a:off x="1194043" y="2128182"/>
                <a:ext cx="7104719" cy="4674"/>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sp>
            <p:nvSpPr>
              <p:cNvPr id="87070" name="Rectangle 15"/>
              <p:cNvSpPr>
                <a:spLocks noChangeArrowheads="1"/>
              </p:cNvSpPr>
              <p:nvPr/>
            </p:nvSpPr>
            <p:spPr bwMode="auto">
              <a:xfrm>
                <a:off x="1341691" y="2269666"/>
                <a:ext cx="6974725" cy="1447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1400" b="1" dirty="0">
                    <a:latin typeface="+mn-lt"/>
                    <a:cs typeface="Arial" panose="020B0604020202020204" pitchFamily="34" charset="0"/>
                  </a:rPr>
                  <a:t>#	Account(date : Date, id : </a:t>
                </a:r>
                <a:r>
                  <a:rPr lang="en-US" altLang="zh-CN" sz="1400" b="1" dirty="0" err="1">
                    <a:latin typeface="+mn-lt"/>
                    <a:cs typeface="Arial" panose="020B0604020202020204" pitchFamily="34" charset="0"/>
                  </a:rPr>
                  <a:t>int</a:t>
                </a:r>
                <a:r>
                  <a:rPr lang="en-US" altLang="zh-CN" sz="1400" b="1" dirty="0">
                    <a:latin typeface="+mn-lt"/>
                    <a:cs typeface="Arial" panose="020B0604020202020204" pitchFamily="34" charset="0"/>
                  </a:rPr>
                  <a:t>)</a:t>
                </a:r>
                <a:endParaRPr lang="en-US" altLang="zh-CN" sz="1000" b="1" dirty="0">
                  <a:latin typeface="+mn-lt"/>
                </a:endParaRPr>
              </a:p>
              <a:p>
                <a:pPr algn="l"/>
                <a:r>
                  <a:rPr lang="en-US" altLang="zh-CN" sz="1400" b="1" dirty="0">
                    <a:latin typeface="+mn-lt"/>
                    <a:cs typeface="Arial" panose="020B0604020202020204" pitchFamily="34" charset="0"/>
                  </a:rPr>
                  <a:t>#	record(date: Date, amount : double, </a:t>
                </a:r>
                <a:r>
                  <a:rPr lang="en-US" altLang="zh-CN" sz="1400" b="1" dirty="0" err="1">
                    <a:latin typeface="+mn-lt"/>
                    <a:cs typeface="Arial" panose="020B0604020202020204" pitchFamily="34" charset="0"/>
                  </a:rPr>
                  <a:t>desc</a:t>
                </a:r>
                <a:r>
                  <a:rPr lang="en-US" altLang="zh-CN" sz="1400" b="1" dirty="0">
                    <a:latin typeface="+mn-lt"/>
                    <a:cs typeface="Arial" panose="020B0604020202020204" pitchFamily="34" charset="0"/>
                  </a:rPr>
                  <a:t> : string)</a:t>
                </a:r>
                <a:endParaRPr lang="en-US" altLang="zh-CN" sz="1000" b="1" dirty="0">
                  <a:latin typeface="+mn-lt"/>
                </a:endParaRPr>
              </a:p>
              <a:p>
                <a:pPr algn="l"/>
                <a:r>
                  <a:rPr lang="en-US" altLang="zh-CN" sz="1400" b="1" dirty="0">
                    <a:latin typeface="+mn-lt"/>
                    <a:cs typeface="Arial" panose="020B0604020202020204" pitchFamily="34" charset="0"/>
                  </a:rPr>
                  <a:t>&lt;&lt;</a:t>
                </a:r>
                <a:r>
                  <a:rPr lang="en-US" altLang="zh-CN" sz="1400" b="1" dirty="0" err="1">
                    <a:latin typeface="+mn-lt"/>
                    <a:cs typeface="Arial" panose="020B0604020202020204" pitchFamily="34" charset="0"/>
                  </a:rPr>
                  <a:t>const</a:t>
                </a:r>
                <a:r>
                  <a:rPr lang="en-US" altLang="zh-CN" sz="1400" b="1" dirty="0">
                    <a:latin typeface="+mn-lt"/>
                    <a:cs typeface="Arial" panose="020B0604020202020204" pitchFamily="34" charset="0"/>
                  </a:rPr>
                  <a:t>&gt;&gt; # error (</a:t>
                </a:r>
                <a:r>
                  <a:rPr lang="en-US" altLang="zh-CN" sz="1400" b="1" dirty="0" err="1">
                    <a:latin typeface="+mn-lt"/>
                    <a:cs typeface="Arial" panose="020B0604020202020204" pitchFamily="34" charset="0"/>
                  </a:rPr>
                  <a:t>msg</a:t>
                </a:r>
                <a:r>
                  <a:rPr lang="en-US" altLang="zh-CN" sz="1400" b="1" dirty="0">
                    <a:latin typeface="+mn-lt"/>
                    <a:cs typeface="Arial" panose="020B0604020202020204" pitchFamily="34" charset="0"/>
                  </a:rPr>
                  <a:t> : string)	</a:t>
                </a:r>
                <a:endParaRPr lang="en-US" altLang="zh-CN" sz="1000" b="1" dirty="0">
                  <a:latin typeface="+mn-lt"/>
                </a:endParaRPr>
              </a:p>
              <a:p>
                <a:pPr algn="l"/>
                <a:r>
                  <a:rPr lang="en-US" altLang="zh-CN" sz="1400" b="1" dirty="0">
                    <a:latin typeface="+mn-lt"/>
                    <a:cs typeface="Arial" panose="020B0604020202020204" pitchFamily="34" charset="0"/>
                  </a:rPr>
                  <a:t>&lt;&lt;</a:t>
                </a:r>
                <a:r>
                  <a:rPr lang="en-US" altLang="zh-CN" sz="1400" b="1" dirty="0" err="1">
                    <a:latin typeface="+mn-lt"/>
                    <a:cs typeface="Arial" panose="020B0604020202020204" pitchFamily="34" charset="0"/>
                  </a:rPr>
                  <a:t>const</a:t>
                </a:r>
                <a:r>
                  <a:rPr lang="en-US" altLang="zh-CN" sz="1400" b="1" dirty="0">
                    <a:latin typeface="+mn-lt"/>
                    <a:cs typeface="Arial" panose="020B0604020202020204" pitchFamily="34" charset="0"/>
                  </a:rPr>
                  <a:t>&gt;&gt; +	</a:t>
                </a:r>
                <a:r>
                  <a:rPr lang="en-US" altLang="zh-CN" sz="1400" b="1" dirty="0" err="1">
                    <a:latin typeface="+mn-lt"/>
                    <a:cs typeface="Arial" panose="020B0604020202020204" pitchFamily="34" charset="0"/>
                  </a:rPr>
                  <a:t>getId</a:t>
                </a:r>
                <a:r>
                  <a:rPr lang="en-US" altLang="zh-CN" sz="1400" b="1" dirty="0">
                    <a:latin typeface="+mn-lt"/>
                    <a:cs typeface="Arial" panose="020B0604020202020204" pitchFamily="34" charset="0"/>
                  </a:rPr>
                  <a:t>() : </a:t>
                </a:r>
                <a:r>
                  <a:rPr lang="en-US" altLang="zh-CN" sz="1400" b="1" dirty="0" err="1">
                    <a:latin typeface="+mn-lt"/>
                    <a:cs typeface="Arial" panose="020B0604020202020204" pitchFamily="34" charset="0"/>
                  </a:rPr>
                  <a:t>int</a:t>
                </a:r>
                <a:endParaRPr lang="en-US" altLang="zh-CN" sz="1000" b="1" dirty="0">
                  <a:latin typeface="+mn-lt"/>
                </a:endParaRPr>
              </a:p>
              <a:p>
                <a:pPr algn="l"/>
                <a:r>
                  <a:rPr lang="en-US" altLang="zh-CN" sz="1400" b="1" dirty="0">
                    <a:latin typeface="+mn-lt"/>
                    <a:cs typeface="Arial" panose="020B0604020202020204" pitchFamily="34" charset="0"/>
                  </a:rPr>
                  <a:t>&lt;&lt;</a:t>
                </a:r>
                <a:r>
                  <a:rPr lang="en-US" altLang="zh-CN" sz="1400" b="1" dirty="0" err="1">
                    <a:latin typeface="+mn-lt"/>
                    <a:cs typeface="Arial" panose="020B0604020202020204" pitchFamily="34" charset="0"/>
                  </a:rPr>
                  <a:t>const</a:t>
                </a:r>
                <a:r>
                  <a:rPr lang="en-US" altLang="zh-CN" sz="1400" b="1" dirty="0">
                    <a:latin typeface="+mn-lt"/>
                    <a:cs typeface="Arial" panose="020B0604020202020204" pitchFamily="34" charset="0"/>
                  </a:rPr>
                  <a:t>&gt;&gt; +	</a:t>
                </a:r>
                <a:r>
                  <a:rPr lang="en-US" altLang="zh-CN" sz="1400" b="1" dirty="0" err="1">
                    <a:latin typeface="+mn-lt"/>
                    <a:cs typeface="Arial" panose="020B0604020202020204" pitchFamily="34" charset="0"/>
                  </a:rPr>
                  <a:t>getBalance</a:t>
                </a:r>
                <a:r>
                  <a:rPr lang="en-US" altLang="zh-CN" sz="1400" b="1" dirty="0">
                    <a:latin typeface="+mn-lt"/>
                    <a:cs typeface="Arial" panose="020B0604020202020204" pitchFamily="34" charset="0"/>
                  </a:rPr>
                  <a:t>() : double</a:t>
                </a:r>
                <a:endParaRPr lang="en-US" altLang="zh-CN" sz="1000" b="1" dirty="0">
                  <a:latin typeface="+mn-lt"/>
                </a:endParaRPr>
              </a:p>
              <a:p>
                <a:pPr algn="l"/>
                <a:r>
                  <a:rPr lang="en-US" altLang="zh-CN" sz="1400" b="1" dirty="0">
                    <a:latin typeface="+mn-lt"/>
                    <a:cs typeface="Arial" panose="020B0604020202020204" pitchFamily="34" charset="0"/>
                  </a:rPr>
                  <a:t>&lt;&lt;</a:t>
                </a:r>
                <a:r>
                  <a:rPr lang="en-US" altLang="zh-CN" sz="1400" b="1" dirty="0" err="1">
                    <a:latin typeface="+mn-lt"/>
                    <a:cs typeface="Arial" panose="020B0604020202020204" pitchFamily="34" charset="0"/>
                  </a:rPr>
                  <a:t>const</a:t>
                </a:r>
                <a:r>
                  <a:rPr lang="en-US" altLang="zh-CN" sz="1400" b="1" dirty="0">
                    <a:latin typeface="+mn-lt"/>
                    <a:cs typeface="Arial" panose="020B0604020202020204" pitchFamily="34" charset="0"/>
                  </a:rPr>
                  <a:t>&gt;&gt; +	show()</a:t>
                </a:r>
                <a:endParaRPr lang="en-US" altLang="zh-CN" sz="1000" b="1" dirty="0">
                  <a:latin typeface="+mn-lt"/>
                </a:endParaRPr>
              </a:p>
              <a:p>
                <a:pPr algn="l"/>
                <a:r>
                  <a:rPr lang="en-US" altLang="zh-CN" sz="1400" b="1" dirty="0">
                    <a:latin typeface="+mn-lt"/>
                    <a:cs typeface="Arial" panose="020B0604020202020204" pitchFamily="34" charset="0"/>
                  </a:rPr>
                  <a:t>&lt;&lt;static&gt;&gt; +	</a:t>
                </a:r>
                <a:r>
                  <a:rPr lang="en-US" altLang="zh-CN" sz="1400" b="1" dirty="0" err="1">
                    <a:latin typeface="+mn-lt"/>
                    <a:cs typeface="Arial" panose="020B0604020202020204" pitchFamily="34" charset="0"/>
                  </a:rPr>
                  <a:t>getTotal</a:t>
                </a:r>
                <a:r>
                  <a:rPr lang="en-US" altLang="zh-CN" sz="1400" b="1" dirty="0">
                    <a:latin typeface="+mn-lt"/>
                    <a:cs typeface="Arial" panose="020B0604020202020204" pitchFamily="34" charset="0"/>
                  </a:rPr>
                  <a:t>() : double</a:t>
                </a:r>
                <a:endParaRPr lang="en-US" altLang="zh-CN" sz="4000" b="1" dirty="0">
                  <a:latin typeface="+mn-lt"/>
                </a:endParaRPr>
              </a:p>
            </p:txBody>
          </p:sp>
          <p:cxnSp>
            <p:nvCxnSpPr>
              <p:cNvPr id="87071" name="AutoShape 14"/>
              <p:cNvCxnSpPr>
                <a:cxnSpLocks noChangeShapeType="1"/>
              </p:cNvCxnSpPr>
              <p:nvPr/>
            </p:nvCxnSpPr>
            <p:spPr bwMode="auto">
              <a:xfrm>
                <a:off x="1195648" y="1340768"/>
                <a:ext cx="7120768" cy="779"/>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sp>
            <p:nvSpPr>
              <p:cNvPr id="87072" name="Rectangle 13"/>
              <p:cNvSpPr>
                <a:spLocks noChangeArrowheads="1"/>
              </p:cNvSpPr>
              <p:nvPr/>
            </p:nvSpPr>
            <p:spPr bwMode="auto">
              <a:xfrm>
                <a:off x="1187624" y="1021236"/>
                <a:ext cx="7104719" cy="223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1800" b="1" dirty="0" smtClean="0">
                    <a:latin typeface="+mn-lt"/>
                    <a:cs typeface="Arial" panose="020B0604020202020204" pitchFamily="34" charset="0"/>
                  </a:rPr>
                  <a:t>Account</a:t>
                </a:r>
                <a:endParaRPr lang="en-US" altLang="zh-CN" sz="1800" b="1" dirty="0" smtClean="0">
                  <a:latin typeface="+mn-lt"/>
                  <a:cs typeface="Arial" panose="020B0604020202020204" pitchFamily="34" charset="0"/>
                </a:endParaRPr>
              </a:p>
              <a:p>
                <a:pPr algn="l"/>
                <a:endParaRPr lang="en-US" altLang="zh-CN" sz="4000" b="1" dirty="0">
                  <a:latin typeface="+mn-lt"/>
                </a:endParaRPr>
              </a:p>
            </p:txBody>
          </p:sp>
          <p:sp>
            <p:nvSpPr>
              <p:cNvPr id="87073" name="Rectangle 12"/>
              <p:cNvSpPr>
                <a:spLocks noChangeArrowheads="1"/>
              </p:cNvSpPr>
              <p:nvPr/>
            </p:nvSpPr>
            <p:spPr bwMode="auto">
              <a:xfrm>
                <a:off x="1187624" y="980728"/>
                <a:ext cx="7122373" cy="2880320"/>
              </a:xfrm>
              <a:prstGeom prst="rect">
                <a:avLst/>
              </a:prstGeom>
              <a:noFill/>
              <a:ln w="4">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endParaRPr lang="zh-CN" altLang="en-US" sz="4000" b="1"/>
              </a:p>
            </p:txBody>
          </p:sp>
          <p:sp>
            <p:nvSpPr>
              <p:cNvPr id="87074" name="Rectangle 11"/>
              <p:cNvSpPr>
                <a:spLocks noChangeArrowheads="1"/>
              </p:cNvSpPr>
              <p:nvPr/>
            </p:nvSpPr>
            <p:spPr bwMode="auto">
              <a:xfrm>
                <a:off x="1333666" y="1414285"/>
                <a:ext cx="6976330" cy="64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1400" b="1" dirty="0">
                    <a:latin typeface="+mn-lt"/>
                    <a:cs typeface="Arial" panose="020B0604020202020204" pitchFamily="34" charset="0"/>
                  </a:rPr>
                  <a:t>-	id : string</a:t>
                </a:r>
                <a:endParaRPr lang="en-US" altLang="zh-CN" sz="1000" b="1" dirty="0">
                  <a:latin typeface="+mn-lt"/>
                </a:endParaRPr>
              </a:p>
              <a:p>
                <a:pPr algn="l"/>
                <a:r>
                  <a:rPr lang="en-US" altLang="zh-CN" sz="1400" b="1" dirty="0">
                    <a:latin typeface="+mn-lt"/>
                    <a:cs typeface="Arial" panose="020B0604020202020204" pitchFamily="34" charset="0"/>
                  </a:rPr>
                  <a:t>-	balance : double</a:t>
                </a:r>
                <a:endParaRPr lang="en-US" altLang="zh-CN" sz="1000" b="1" dirty="0">
                  <a:latin typeface="+mn-lt"/>
                </a:endParaRPr>
              </a:p>
              <a:p>
                <a:pPr algn="l"/>
                <a:r>
                  <a:rPr lang="en-US" altLang="zh-CN" sz="1400" b="1" u="sng" dirty="0">
                    <a:latin typeface="+mn-lt"/>
                    <a:cs typeface="Arial" panose="020B0604020202020204" pitchFamily="34" charset="0"/>
                  </a:rPr>
                  <a:t>-	total : double</a:t>
                </a:r>
                <a:endParaRPr lang="en-US" altLang="zh-CN" sz="4000" b="1" dirty="0">
                  <a:latin typeface="+mn-lt"/>
                </a:endParaRPr>
              </a:p>
            </p:txBody>
          </p:sp>
        </p:grpSp>
        <p:sp>
          <p:nvSpPr>
            <p:cNvPr id="87047" name="Line 19"/>
            <p:cNvSpPr>
              <a:spLocks noChangeShapeType="1"/>
            </p:cNvSpPr>
            <p:nvPr/>
          </p:nvSpPr>
          <p:spPr bwMode="auto">
            <a:xfrm flipV="1">
              <a:off x="4748212" y="3045688"/>
              <a:ext cx="7819" cy="239296"/>
            </a:xfrm>
            <a:prstGeom prst="line">
              <a:avLst/>
            </a:prstGeom>
            <a:noFill/>
            <a:ln w="4">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 name="TextBox 3"/>
          <p:cNvSpPr txBox="1"/>
          <p:nvPr/>
        </p:nvSpPr>
        <p:spPr bwMode="auto">
          <a:xfrm>
            <a:off x="-738664" y="1114292"/>
            <a:ext cx="738664" cy="5051011"/>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vert="eaVert" wrap="square" rtlCol="0" anchor="ctr">
            <a:spAutoFit/>
          </a:bodyPr>
          <a:lstStyle/>
          <a:p>
            <a:pPr algn="l" eaLnBrk="1" hangingPunct="1">
              <a:lnSpc>
                <a:spcPct val="150000"/>
              </a:lnSpc>
              <a:spcBef>
                <a:spcPct val="50000"/>
              </a:spcBef>
            </a:pPr>
            <a:r>
              <a:rPr lang="en-US" altLang="zh-CN" sz="2400" dirty="0" smtClean="0">
                <a:solidFill>
                  <a:srgbClr val="FFFF00"/>
                </a:solidFill>
              </a:rPr>
              <a:t> </a:t>
            </a:r>
            <a:endParaRPr lang="zh-CN" altLang="en-US" sz="2400" dirty="0" smtClean="0">
              <a:solidFill>
                <a:srgbClr val="FFFF00"/>
              </a:solidFill>
            </a:endParaRP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Rectangle 2"/>
          <p:cNvSpPr>
            <a:spLocks noGrp="1" noChangeArrowheads="1"/>
          </p:cNvSpPr>
          <p:nvPr>
            <p:ph type="title"/>
          </p:nvPr>
        </p:nvSpPr>
        <p:spPr bwMode="auto">
          <a:xfrm>
            <a:off x="539552" y="2819400"/>
            <a:ext cx="8352928" cy="12954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startAt="2"/>
            </a:pPr>
            <a:r>
              <a:rPr lang="en-US" altLang="zh-CN" sz="6600" b="1" dirty="0" smtClean="0">
                <a:ea typeface="华文彩云" panose="02010800040101010101" pitchFamily="2" charset="-122"/>
              </a:rPr>
              <a:t>   </a:t>
            </a:r>
            <a:r>
              <a:rPr lang="zh-CN" altLang="en-US" sz="6600" b="1" dirty="0" smtClean="0">
                <a:ea typeface="华文彩云" panose="02010800040101010101" pitchFamily="2" charset="-122"/>
              </a:rPr>
              <a:t>访问控制</a:t>
            </a:r>
            <a:endParaRPr lang="zh-CN" altLang="en-US" sz="6600" dirty="0">
              <a:solidFill>
                <a:srgbClr val="FFFF00"/>
              </a:solidFill>
            </a:endParaRPr>
          </a:p>
        </p:txBody>
      </p:sp>
      <p:grpSp>
        <p:nvGrpSpPr>
          <p:cNvPr id="689168" name="Group 16"/>
          <p:cNvGrpSpPr/>
          <p:nvPr/>
        </p:nvGrpSpPr>
        <p:grpSpPr bwMode="auto">
          <a:xfrm>
            <a:off x="4419600" y="609600"/>
            <a:ext cx="2438400" cy="1752600"/>
            <a:chOff x="2208" y="384"/>
            <a:chExt cx="1536" cy="1104"/>
          </a:xfrm>
        </p:grpSpPr>
        <p:sp>
          <p:nvSpPr>
            <p:cNvPr id="689157" name="Oval 5"/>
            <p:cNvSpPr>
              <a:spLocks noChangeArrowheads="1"/>
            </p:cNvSpPr>
            <p:nvPr/>
          </p:nvSpPr>
          <p:spPr bwMode="auto">
            <a:xfrm>
              <a:off x="2208" y="576"/>
              <a:ext cx="1536" cy="912"/>
            </a:xfrm>
            <a:prstGeom prst="ellipse">
              <a:avLst/>
            </a:prstGeom>
            <a:solidFill>
              <a:schemeClr val="bg1"/>
            </a:solidFill>
            <a:ln w="38100">
              <a:solidFill>
                <a:schemeClr val="hlink"/>
              </a:solidFill>
              <a:round/>
            </a:ln>
            <a:effectLst>
              <a:outerShdw dist="53882" dir="2700000" algn="ctr" rotWithShape="0">
                <a:srgbClr val="DDDDDD"/>
              </a:outerShdw>
            </a:effectLst>
          </p:spPr>
          <p:txBody>
            <a:bodyPr wrap="none" anchor="ctr"/>
            <a:lstStyle/>
            <a:p>
              <a:endParaRPr lang="zh-CN" altLang="en-US"/>
            </a:p>
          </p:txBody>
        </p:sp>
        <p:grpSp>
          <p:nvGrpSpPr>
            <p:cNvPr id="689158" name="Group 6"/>
            <p:cNvGrpSpPr/>
            <p:nvPr/>
          </p:nvGrpSpPr>
          <p:grpSpPr bwMode="auto">
            <a:xfrm>
              <a:off x="2592" y="384"/>
              <a:ext cx="820" cy="734"/>
              <a:chOff x="613" y="1858"/>
              <a:chExt cx="672" cy="686"/>
            </a:xfrm>
          </p:grpSpPr>
          <p:grpSp>
            <p:nvGrpSpPr>
              <p:cNvPr id="689159" name="Group 7"/>
              <p:cNvGrpSpPr/>
              <p:nvPr/>
            </p:nvGrpSpPr>
            <p:grpSpPr bwMode="auto">
              <a:xfrm>
                <a:off x="613" y="2062"/>
                <a:ext cx="216" cy="482"/>
                <a:chOff x="3064" y="2792"/>
                <a:chExt cx="281" cy="626"/>
              </a:xfrm>
            </p:grpSpPr>
            <p:sp>
              <p:nvSpPr>
                <p:cNvPr id="689160" name="Oval 8"/>
                <p:cNvSpPr>
                  <a:spLocks noChangeArrowheads="1"/>
                </p:cNvSpPr>
                <p:nvPr/>
              </p:nvSpPr>
              <p:spPr bwMode="auto">
                <a:xfrm>
                  <a:off x="3156" y="2792"/>
                  <a:ext cx="95" cy="102"/>
                </a:xfrm>
                <a:prstGeom prst="ellipse">
                  <a:avLst/>
                </a:prstGeom>
                <a:gradFill rotWithShape="0">
                  <a:gsLst>
                    <a:gs pos="0">
                      <a:srgbClr val="9234DB">
                        <a:gamma/>
                        <a:tint val="33333"/>
                        <a:invGamma/>
                      </a:srgbClr>
                    </a:gs>
                    <a:gs pos="100000">
                      <a:srgbClr val="9234DB"/>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689161" name="Freeform 9"/>
                <p:cNvSpPr/>
                <p:nvPr/>
              </p:nvSpPr>
              <p:spPr bwMode="auto">
                <a:xfrm>
                  <a:off x="3064" y="2914"/>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9234DB">
                        <a:gamma/>
                        <a:tint val="33333"/>
                        <a:invGamma/>
                      </a:srgbClr>
                    </a:gs>
                    <a:gs pos="100000">
                      <a:srgbClr val="9234DB"/>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689162" name="Group 10"/>
              <p:cNvGrpSpPr/>
              <p:nvPr/>
            </p:nvGrpSpPr>
            <p:grpSpPr bwMode="auto">
              <a:xfrm>
                <a:off x="850" y="1858"/>
                <a:ext cx="183" cy="470"/>
                <a:chOff x="2073" y="2933"/>
                <a:chExt cx="238" cy="611"/>
              </a:xfrm>
            </p:grpSpPr>
            <p:sp>
              <p:nvSpPr>
                <p:cNvPr id="689163" name="Oval 11"/>
                <p:cNvSpPr>
                  <a:spLocks noChangeArrowheads="1"/>
                </p:cNvSpPr>
                <p:nvPr/>
              </p:nvSpPr>
              <p:spPr bwMode="auto">
                <a:xfrm>
                  <a:off x="2139" y="2933"/>
                  <a:ext cx="99" cy="101"/>
                </a:xfrm>
                <a:prstGeom prst="ellipse">
                  <a:avLst/>
                </a:prstGeom>
                <a:gradFill rotWithShape="0">
                  <a:gsLst>
                    <a:gs pos="0">
                      <a:srgbClr val="F95AB7">
                        <a:gamma/>
                        <a:tint val="52549"/>
                        <a:invGamma/>
                      </a:srgbClr>
                    </a:gs>
                    <a:gs pos="100000">
                      <a:srgbClr val="F95AB7"/>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689164" name="Freeform 12"/>
                <p:cNvSpPr/>
                <p:nvPr/>
              </p:nvSpPr>
              <p:spPr bwMode="auto">
                <a:xfrm>
                  <a:off x="2073" y="3048"/>
                  <a:ext cx="238" cy="496"/>
                </a:xfrm>
                <a:custGeom>
                  <a:avLst/>
                  <a:gdLst>
                    <a:gd name="T0" fmla="*/ 186 w 238"/>
                    <a:gd name="T1" fmla="*/ 0 h 496"/>
                    <a:gd name="T2" fmla="*/ 195 w 238"/>
                    <a:gd name="T3" fmla="*/ 3 h 496"/>
                    <a:gd name="T4" fmla="*/ 204 w 238"/>
                    <a:gd name="T5" fmla="*/ 4 h 496"/>
                    <a:gd name="T6" fmla="*/ 212 w 238"/>
                    <a:gd name="T7" fmla="*/ 9 h 496"/>
                    <a:gd name="T8" fmla="*/ 224 w 238"/>
                    <a:gd name="T9" fmla="*/ 13 h 496"/>
                    <a:gd name="T10" fmla="*/ 230 w 238"/>
                    <a:gd name="T11" fmla="*/ 24 h 496"/>
                    <a:gd name="T12" fmla="*/ 237 w 238"/>
                    <a:gd name="T13" fmla="*/ 34 h 496"/>
                    <a:gd name="T14" fmla="*/ 237 w 238"/>
                    <a:gd name="T15" fmla="*/ 226 h 496"/>
                    <a:gd name="T16" fmla="*/ 234 w 238"/>
                    <a:gd name="T17" fmla="*/ 232 h 496"/>
                    <a:gd name="T18" fmla="*/ 230 w 238"/>
                    <a:gd name="T19" fmla="*/ 239 h 496"/>
                    <a:gd name="T20" fmla="*/ 221 w 238"/>
                    <a:gd name="T21" fmla="*/ 242 h 496"/>
                    <a:gd name="T22" fmla="*/ 212 w 238"/>
                    <a:gd name="T23" fmla="*/ 244 h 496"/>
                    <a:gd name="T24" fmla="*/ 204 w 238"/>
                    <a:gd name="T25" fmla="*/ 242 h 496"/>
                    <a:gd name="T26" fmla="*/ 200 w 238"/>
                    <a:gd name="T27" fmla="*/ 235 h 496"/>
                    <a:gd name="T28" fmla="*/ 195 w 238"/>
                    <a:gd name="T29" fmla="*/ 230 h 496"/>
                    <a:gd name="T30" fmla="*/ 195 w 238"/>
                    <a:gd name="T31" fmla="*/ 84 h 496"/>
                    <a:gd name="T32" fmla="*/ 182 w 238"/>
                    <a:gd name="T33" fmla="*/ 471 h 496"/>
                    <a:gd name="T34" fmla="*/ 177 w 238"/>
                    <a:gd name="T35" fmla="*/ 483 h 496"/>
                    <a:gd name="T36" fmla="*/ 170 w 238"/>
                    <a:gd name="T37" fmla="*/ 491 h 496"/>
                    <a:gd name="T38" fmla="*/ 161 w 238"/>
                    <a:gd name="T39" fmla="*/ 495 h 496"/>
                    <a:gd name="T40" fmla="*/ 152 w 238"/>
                    <a:gd name="T41" fmla="*/ 495 h 496"/>
                    <a:gd name="T42" fmla="*/ 140 w 238"/>
                    <a:gd name="T43" fmla="*/ 492 h 496"/>
                    <a:gd name="T44" fmla="*/ 132 w 238"/>
                    <a:gd name="T45" fmla="*/ 486 h 496"/>
                    <a:gd name="T46" fmla="*/ 128 w 238"/>
                    <a:gd name="T47" fmla="*/ 479 h 496"/>
                    <a:gd name="T48" fmla="*/ 126 w 238"/>
                    <a:gd name="T49" fmla="*/ 470 h 496"/>
                    <a:gd name="T50" fmla="*/ 111 w 238"/>
                    <a:gd name="T51" fmla="*/ 470 h 496"/>
                    <a:gd name="T52" fmla="*/ 107 w 238"/>
                    <a:gd name="T53" fmla="*/ 479 h 496"/>
                    <a:gd name="T54" fmla="*/ 101 w 238"/>
                    <a:gd name="T55" fmla="*/ 491 h 496"/>
                    <a:gd name="T56" fmla="*/ 89 w 238"/>
                    <a:gd name="T57" fmla="*/ 495 h 496"/>
                    <a:gd name="T58" fmla="*/ 77 w 238"/>
                    <a:gd name="T59" fmla="*/ 495 h 496"/>
                    <a:gd name="T60" fmla="*/ 69 w 238"/>
                    <a:gd name="T61" fmla="*/ 491 h 496"/>
                    <a:gd name="T62" fmla="*/ 60 w 238"/>
                    <a:gd name="T63" fmla="*/ 486 h 496"/>
                    <a:gd name="T64" fmla="*/ 56 w 238"/>
                    <a:gd name="T65" fmla="*/ 477 h 496"/>
                    <a:gd name="T66" fmla="*/ 56 w 238"/>
                    <a:gd name="T67" fmla="*/ 84 h 496"/>
                    <a:gd name="T68" fmla="*/ 42 w 238"/>
                    <a:gd name="T69" fmla="*/ 227 h 496"/>
                    <a:gd name="T70" fmla="*/ 38 w 238"/>
                    <a:gd name="T71" fmla="*/ 235 h 496"/>
                    <a:gd name="T72" fmla="*/ 33 w 238"/>
                    <a:gd name="T73" fmla="*/ 239 h 496"/>
                    <a:gd name="T74" fmla="*/ 26 w 238"/>
                    <a:gd name="T75" fmla="*/ 244 h 496"/>
                    <a:gd name="T76" fmla="*/ 17 w 238"/>
                    <a:gd name="T77" fmla="*/ 244 h 496"/>
                    <a:gd name="T78" fmla="*/ 9 w 238"/>
                    <a:gd name="T79" fmla="*/ 239 h 496"/>
                    <a:gd name="T80" fmla="*/ 5 w 238"/>
                    <a:gd name="T81" fmla="*/ 238 h 496"/>
                    <a:gd name="T82" fmla="*/ 0 w 238"/>
                    <a:gd name="T83" fmla="*/ 230 h 496"/>
                    <a:gd name="T84" fmla="*/ 0 w 238"/>
                    <a:gd name="T85" fmla="*/ 39 h 496"/>
                    <a:gd name="T86" fmla="*/ 5 w 238"/>
                    <a:gd name="T87" fmla="*/ 25 h 496"/>
                    <a:gd name="T88" fmla="*/ 14 w 238"/>
                    <a:gd name="T89" fmla="*/ 13 h 496"/>
                    <a:gd name="T90" fmla="*/ 30 w 238"/>
                    <a:gd name="T91" fmla="*/ 7 h 496"/>
                    <a:gd name="T92" fmla="*/ 44 w 238"/>
                    <a:gd name="T93" fmla="*/ 3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8" h="496">
                      <a:moveTo>
                        <a:pt x="56" y="0"/>
                      </a:moveTo>
                      <a:lnTo>
                        <a:pt x="182" y="0"/>
                      </a:lnTo>
                      <a:lnTo>
                        <a:pt x="186" y="0"/>
                      </a:lnTo>
                      <a:lnTo>
                        <a:pt x="188" y="0"/>
                      </a:lnTo>
                      <a:lnTo>
                        <a:pt x="191" y="0"/>
                      </a:lnTo>
                      <a:lnTo>
                        <a:pt x="195" y="3"/>
                      </a:lnTo>
                      <a:lnTo>
                        <a:pt x="198" y="3"/>
                      </a:lnTo>
                      <a:lnTo>
                        <a:pt x="200" y="3"/>
                      </a:lnTo>
                      <a:lnTo>
                        <a:pt x="204" y="4"/>
                      </a:lnTo>
                      <a:lnTo>
                        <a:pt x="207" y="4"/>
                      </a:lnTo>
                      <a:lnTo>
                        <a:pt x="209" y="7"/>
                      </a:lnTo>
                      <a:lnTo>
                        <a:pt x="212" y="9"/>
                      </a:lnTo>
                      <a:lnTo>
                        <a:pt x="216" y="9"/>
                      </a:lnTo>
                      <a:lnTo>
                        <a:pt x="219" y="12"/>
                      </a:lnTo>
                      <a:lnTo>
                        <a:pt x="224" y="13"/>
                      </a:lnTo>
                      <a:lnTo>
                        <a:pt x="225" y="18"/>
                      </a:lnTo>
                      <a:lnTo>
                        <a:pt x="228" y="21"/>
                      </a:lnTo>
                      <a:lnTo>
                        <a:pt x="230" y="24"/>
                      </a:lnTo>
                      <a:lnTo>
                        <a:pt x="234" y="28"/>
                      </a:lnTo>
                      <a:lnTo>
                        <a:pt x="234" y="30"/>
                      </a:lnTo>
                      <a:lnTo>
                        <a:pt x="237" y="34"/>
                      </a:lnTo>
                      <a:lnTo>
                        <a:pt x="237" y="39"/>
                      </a:lnTo>
                      <a:lnTo>
                        <a:pt x="237" y="42"/>
                      </a:lnTo>
                      <a:lnTo>
                        <a:pt x="237" y="226"/>
                      </a:lnTo>
                      <a:lnTo>
                        <a:pt x="237" y="227"/>
                      </a:lnTo>
                      <a:lnTo>
                        <a:pt x="234" y="230"/>
                      </a:lnTo>
                      <a:lnTo>
                        <a:pt x="234" y="232"/>
                      </a:lnTo>
                      <a:lnTo>
                        <a:pt x="234" y="235"/>
                      </a:lnTo>
                      <a:lnTo>
                        <a:pt x="233" y="238"/>
                      </a:lnTo>
                      <a:lnTo>
                        <a:pt x="230" y="239"/>
                      </a:lnTo>
                      <a:lnTo>
                        <a:pt x="228" y="239"/>
                      </a:lnTo>
                      <a:lnTo>
                        <a:pt x="224" y="242"/>
                      </a:lnTo>
                      <a:lnTo>
                        <a:pt x="221" y="242"/>
                      </a:lnTo>
                      <a:lnTo>
                        <a:pt x="219" y="244"/>
                      </a:lnTo>
                      <a:lnTo>
                        <a:pt x="216" y="244"/>
                      </a:lnTo>
                      <a:lnTo>
                        <a:pt x="212" y="244"/>
                      </a:lnTo>
                      <a:lnTo>
                        <a:pt x="209" y="242"/>
                      </a:lnTo>
                      <a:lnTo>
                        <a:pt x="207" y="242"/>
                      </a:lnTo>
                      <a:lnTo>
                        <a:pt x="204" y="242"/>
                      </a:lnTo>
                      <a:lnTo>
                        <a:pt x="203" y="239"/>
                      </a:lnTo>
                      <a:lnTo>
                        <a:pt x="200" y="238"/>
                      </a:lnTo>
                      <a:lnTo>
                        <a:pt x="200" y="235"/>
                      </a:lnTo>
                      <a:lnTo>
                        <a:pt x="198" y="235"/>
                      </a:lnTo>
                      <a:lnTo>
                        <a:pt x="195" y="232"/>
                      </a:lnTo>
                      <a:lnTo>
                        <a:pt x="195" y="230"/>
                      </a:lnTo>
                      <a:lnTo>
                        <a:pt x="195" y="227"/>
                      </a:lnTo>
                      <a:lnTo>
                        <a:pt x="195" y="226"/>
                      </a:lnTo>
                      <a:lnTo>
                        <a:pt x="195" y="84"/>
                      </a:lnTo>
                      <a:lnTo>
                        <a:pt x="182" y="84"/>
                      </a:lnTo>
                      <a:lnTo>
                        <a:pt x="182" y="467"/>
                      </a:lnTo>
                      <a:lnTo>
                        <a:pt x="182" y="471"/>
                      </a:lnTo>
                      <a:lnTo>
                        <a:pt x="182" y="474"/>
                      </a:lnTo>
                      <a:lnTo>
                        <a:pt x="179" y="479"/>
                      </a:lnTo>
                      <a:lnTo>
                        <a:pt x="177" y="483"/>
                      </a:lnTo>
                      <a:lnTo>
                        <a:pt x="174" y="486"/>
                      </a:lnTo>
                      <a:lnTo>
                        <a:pt x="173" y="488"/>
                      </a:lnTo>
                      <a:lnTo>
                        <a:pt x="170" y="491"/>
                      </a:lnTo>
                      <a:lnTo>
                        <a:pt x="165" y="492"/>
                      </a:lnTo>
                      <a:lnTo>
                        <a:pt x="162" y="492"/>
                      </a:lnTo>
                      <a:lnTo>
                        <a:pt x="161" y="495"/>
                      </a:lnTo>
                      <a:lnTo>
                        <a:pt x="156" y="495"/>
                      </a:lnTo>
                      <a:lnTo>
                        <a:pt x="153" y="495"/>
                      </a:lnTo>
                      <a:lnTo>
                        <a:pt x="152" y="495"/>
                      </a:lnTo>
                      <a:lnTo>
                        <a:pt x="147" y="495"/>
                      </a:lnTo>
                      <a:lnTo>
                        <a:pt x="144" y="492"/>
                      </a:lnTo>
                      <a:lnTo>
                        <a:pt x="140" y="492"/>
                      </a:lnTo>
                      <a:lnTo>
                        <a:pt x="137" y="491"/>
                      </a:lnTo>
                      <a:lnTo>
                        <a:pt x="135" y="488"/>
                      </a:lnTo>
                      <a:lnTo>
                        <a:pt x="132" y="486"/>
                      </a:lnTo>
                      <a:lnTo>
                        <a:pt x="131" y="483"/>
                      </a:lnTo>
                      <a:lnTo>
                        <a:pt x="128" y="482"/>
                      </a:lnTo>
                      <a:lnTo>
                        <a:pt x="128" y="479"/>
                      </a:lnTo>
                      <a:lnTo>
                        <a:pt x="126" y="477"/>
                      </a:lnTo>
                      <a:lnTo>
                        <a:pt x="126" y="474"/>
                      </a:lnTo>
                      <a:lnTo>
                        <a:pt x="126" y="470"/>
                      </a:lnTo>
                      <a:lnTo>
                        <a:pt x="126" y="238"/>
                      </a:lnTo>
                      <a:lnTo>
                        <a:pt x="111" y="238"/>
                      </a:lnTo>
                      <a:lnTo>
                        <a:pt x="111" y="470"/>
                      </a:lnTo>
                      <a:lnTo>
                        <a:pt x="111" y="471"/>
                      </a:lnTo>
                      <a:lnTo>
                        <a:pt x="110" y="477"/>
                      </a:lnTo>
                      <a:lnTo>
                        <a:pt x="107" y="479"/>
                      </a:lnTo>
                      <a:lnTo>
                        <a:pt x="107" y="483"/>
                      </a:lnTo>
                      <a:lnTo>
                        <a:pt x="105" y="486"/>
                      </a:lnTo>
                      <a:lnTo>
                        <a:pt x="101" y="491"/>
                      </a:lnTo>
                      <a:lnTo>
                        <a:pt x="98" y="491"/>
                      </a:lnTo>
                      <a:lnTo>
                        <a:pt x="93" y="492"/>
                      </a:lnTo>
                      <a:lnTo>
                        <a:pt x="89" y="495"/>
                      </a:lnTo>
                      <a:lnTo>
                        <a:pt x="86" y="495"/>
                      </a:lnTo>
                      <a:lnTo>
                        <a:pt x="81" y="495"/>
                      </a:lnTo>
                      <a:lnTo>
                        <a:pt x="77" y="495"/>
                      </a:lnTo>
                      <a:lnTo>
                        <a:pt x="75" y="495"/>
                      </a:lnTo>
                      <a:lnTo>
                        <a:pt x="72" y="492"/>
                      </a:lnTo>
                      <a:lnTo>
                        <a:pt x="69" y="491"/>
                      </a:lnTo>
                      <a:lnTo>
                        <a:pt x="65" y="491"/>
                      </a:lnTo>
                      <a:lnTo>
                        <a:pt x="63" y="486"/>
                      </a:lnTo>
                      <a:lnTo>
                        <a:pt x="60" y="486"/>
                      </a:lnTo>
                      <a:lnTo>
                        <a:pt x="59" y="482"/>
                      </a:lnTo>
                      <a:lnTo>
                        <a:pt x="59" y="479"/>
                      </a:lnTo>
                      <a:lnTo>
                        <a:pt x="56" y="477"/>
                      </a:lnTo>
                      <a:lnTo>
                        <a:pt x="56" y="474"/>
                      </a:lnTo>
                      <a:lnTo>
                        <a:pt x="56" y="470"/>
                      </a:lnTo>
                      <a:lnTo>
                        <a:pt x="56" y="84"/>
                      </a:lnTo>
                      <a:lnTo>
                        <a:pt x="42" y="84"/>
                      </a:lnTo>
                      <a:lnTo>
                        <a:pt x="42" y="226"/>
                      </a:lnTo>
                      <a:lnTo>
                        <a:pt x="42" y="227"/>
                      </a:lnTo>
                      <a:lnTo>
                        <a:pt x="39" y="230"/>
                      </a:lnTo>
                      <a:lnTo>
                        <a:pt x="39" y="232"/>
                      </a:lnTo>
                      <a:lnTo>
                        <a:pt x="38" y="235"/>
                      </a:lnTo>
                      <a:lnTo>
                        <a:pt x="35" y="238"/>
                      </a:lnTo>
                      <a:lnTo>
                        <a:pt x="35" y="239"/>
                      </a:lnTo>
                      <a:lnTo>
                        <a:pt x="33" y="239"/>
                      </a:lnTo>
                      <a:lnTo>
                        <a:pt x="30" y="242"/>
                      </a:lnTo>
                      <a:lnTo>
                        <a:pt x="29" y="242"/>
                      </a:lnTo>
                      <a:lnTo>
                        <a:pt x="26" y="244"/>
                      </a:lnTo>
                      <a:lnTo>
                        <a:pt x="23" y="244"/>
                      </a:lnTo>
                      <a:lnTo>
                        <a:pt x="18" y="244"/>
                      </a:lnTo>
                      <a:lnTo>
                        <a:pt x="17" y="244"/>
                      </a:lnTo>
                      <a:lnTo>
                        <a:pt x="14" y="242"/>
                      </a:lnTo>
                      <a:lnTo>
                        <a:pt x="12" y="242"/>
                      </a:lnTo>
                      <a:lnTo>
                        <a:pt x="9" y="239"/>
                      </a:lnTo>
                      <a:lnTo>
                        <a:pt x="8" y="239"/>
                      </a:lnTo>
                      <a:lnTo>
                        <a:pt x="8" y="238"/>
                      </a:lnTo>
                      <a:lnTo>
                        <a:pt x="5" y="238"/>
                      </a:lnTo>
                      <a:lnTo>
                        <a:pt x="3" y="235"/>
                      </a:lnTo>
                      <a:lnTo>
                        <a:pt x="3" y="232"/>
                      </a:lnTo>
                      <a:lnTo>
                        <a:pt x="0" y="230"/>
                      </a:lnTo>
                      <a:lnTo>
                        <a:pt x="0" y="227"/>
                      </a:lnTo>
                      <a:lnTo>
                        <a:pt x="0" y="226"/>
                      </a:lnTo>
                      <a:lnTo>
                        <a:pt x="0" y="39"/>
                      </a:lnTo>
                      <a:lnTo>
                        <a:pt x="0" y="34"/>
                      </a:lnTo>
                      <a:lnTo>
                        <a:pt x="3" y="30"/>
                      </a:lnTo>
                      <a:lnTo>
                        <a:pt x="5" y="25"/>
                      </a:lnTo>
                      <a:lnTo>
                        <a:pt x="8" y="21"/>
                      </a:lnTo>
                      <a:lnTo>
                        <a:pt x="12" y="18"/>
                      </a:lnTo>
                      <a:lnTo>
                        <a:pt x="14" y="13"/>
                      </a:lnTo>
                      <a:lnTo>
                        <a:pt x="18" y="12"/>
                      </a:lnTo>
                      <a:lnTo>
                        <a:pt x="26" y="9"/>
                      </a:lnTo>
                      <a:lnTo>
                        <a:pt x="30" y="7"/>
                      </a:lnTo>
                      <a:lnTo>
                        <a:pt x="33" y="4"/>
                      </a:lnTo>
                      <a:lnTo>
                        <a:pt x="39" y="3"/>
                      </a:lnTo>
                      <a:lnTo>
                        <a:pt x="44" y="3"/>
                      </a:lnTo>
                      <a:lnTo>
                        <a:pt x="51" y="0"/>
                      </a:lnTo>
                      <a:lnTo>
                        <a:pt x="56" y="0"/>
                      </a:lnTo>
                    </a:path>
                  </a:pathLst>
                </a:custGeom>
                <a:gradFill rotWithShape="0">
                  <a:gsLst>
                    <a:gs pos="0">
                      <a:srgbClr val="F95AB7">
                        <a:gamma/>
                        <a:tint val="52549"/>
                        <a:invGamma/>
                      </a:srgbClr>
                    </a:gs>
                    <a:gs pos="100000">
                      <a:srgbClr val="F95AB7"/>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689165" name="Group 13"/>
              <p:cNvGrpSpPr/>
              <p:nvPr/>
            </p:nvGrpSpPr>
            <p:grpSpPr bwMode="auto">
              <a:xfrm>
                <a:off x="1069" y="1987"/>
                <a:ext cx="216" cy="482"/>
                <a:chOff x="2326" y="3101"/>
                <a:chExt cx="281" cy="626"/>
              </a:xfrm>
            </p:grpSpPr>
            <p:sp>
              <p:nvSpPr>
                <p:cNvPr id="689166" name="Oval 14"/>
                <p:cNvSpPr>
                  <a:spLocks noChangeArrowheads="1"/>
                </p:cNvSpPr>
                <p:nvPr/>
              </p:nvSpPr>
              <p:spPr bwMode="auto">
                <a:xfrm>
                  <a:off x="2418" y="3101"/>
                  <a:ext cx="95" cy="101"/>
                </a:xfrm>
                <a:prstGeom prst="ellipse">
                  <a:avLst/>
                </a:prstGeom>
                <a:gradFill rotWithShape="0">
                  <a:gsLst>
                    <a:gs pos="0">
                      <a:srgbClr val="FF9900">
                        <a:gamma/>
                        <a:tint val="54902"/>
                        <a:invGamma/>
                      </a:srgbClr>
                    </a:gs>
                    <a:gs pos="100000">
                      <a:srgbClr val="FF9900"/>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689167" name="Freeform 15"/>
                <p:cNvSpPr/>
                <p:nvPr/>
              </p:nvSpPr>
              <p:spPr bwMode="auto">
                <a:xfrm>
                  <a:off x="2326" y="3223"/>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FF9900">
                        <a:gamma/>
                        <a:tint val="54902"/>
                        <a:invGamma/>
                      </a:srgbClr>
                    </a:gs>
                    <a:gs pos="100000">
                      <a:srgbClr val="FF9900"/>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gr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7.2 </a:t>
            </a:r>
            <a:r>
              <a:rPr lang="zh-CN" altLang="en-US" sz="4400" b="1">
                <a:latin typeface="Times New Roman" panose="02020603050405020304" pitchFamily="18" charset="0"/>
                <a:ea typeface="隶书" panose="02010509060101010101" pitchFamily="49" charset="-122"/>
              </a:rPr>
              <a:t>访问控制</a:t>
            </a:r>
            <a:endParaRPr lang="zh-CN" altLang="en-US" sz="4400" b="1">
              <a:latin typeface="Times New Roman" panose="02020603050405020304" pitchFamily="18" charset="0"/>
              <a:ea typeface="隶书" panose="02010509060101010101" pitchFamily="49" charset="-122"/>
            </a:endParaRPr>
          </a:p>
        </p:txBody>
      </p:sp>
      <p:sp>
        <p:nvSpPr>
          <p:cNvPr id="18435" name="内容占位符 2"/>
          <p:cNvSpPr>
            <a:spLocks noGrp="1"/>
          </p:cNvSpPr>
          <p:nvPr>
            <p:ph idx="1"/>
          </p:nvPr>
        </p:nvSpPr>
        <p:spPr/>
        <p:txBody>
          <a:bodyPr/>
          <a:lstStyle/>
          <a:p>
            <a:pPr>
              <a:spcAft>
                <a:spcPct val="25000"/>
              </a:spcAft>
            </a:pPr>
            <a:r>
              <a:rPr lang="zh-CN" altLang="en-US" sz="2400" b="1" dirty="0">
                <a:solidFill>
                  <a:srgbClr val="FFFF00"/>
                </a:solidFill>
                <a:ea typeface="华文楷体" panose="02010600040101010101" pitchFamily="2" charset="-122"/>
              </a:rPr>
              <a:t>不同继承方式的影响主要体现在：</a:t>
            </a:r>
            <a:endParaRPr lang="zh-CN" altLang="en-US" sz="2400" b="1" dirty="0">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派生类成员对基类成员的访问权限</a:t>
            </a:r>
            <a:endParaRPr lang="zh-CN" altLang="en-US"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通过派生类对象对基类成员的访问权限</a:t>
            </a:r>
            <a:endParaRPr lang="zh-CN" altLang="en-US" sz="2400" b="1" dirty="0">
              <a:ea typeface="华文楷体" panose="02010600040101010101" pitchFamily="2" charset="-122"/>
            </a:endParaRPr>
          </a:p>
          <a:p>
            <a:pPr>
              <a:spcAft>
                <a:spcPct val="25000"/>
              </a:spcAft>
            </a:pPr>
            <a:r>
              <a:rPr lang="zh-CN" altLang="en-US" sz="2400" b="1" dirty="0">
                <a:solidFill>
                  <a:srgbClr val="FFFF00"/>
                </a:solidFill>
                <a:ea typeface="华文楷体" panose="02010600040101010101" pitchFamily="2" charset="-122"/>
              </a:rPr>
              <a:t>三种继承方式</a:t>
            </a:r>
            <a:endParaRPr lang="zh-CN" altLang="en-US" sz="2400" b="1" dirty="0">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公有继承</a:t>
            </a:r>
            <a:endParaRPr lang="zh-CN" altLang="en-US"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私有继承</a:t>
            </a:r>
            <a:endParaRPr lang="zh-CN" altLang="en-US"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保护继承</a:t>
            </a:r>
            <a:endParaRPr lang="zh-CN" altLang="en-US" sz="2400" b="1" dirty="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7.2.1 </a:t>
            </a:r>
            <a:r>
              <a:rPr lang="zh-CN" altLang="en-US" sz="4400" b="1">
                <a:latin typeface="Times New Roman" panose="02020603050405020304" pitchFamily="18" charset="0"/>
                <a:ea typeface="隶书" panose="02010509060101010101" pitchFamily="49" charset="-122"/>
              </a:rPr>
              <a:t>公有继承</a:t>
            </a:r>
            <a:r>
              <a:rPr lang="en-US" altLang="zh-CN" sz="4400" b="1">
                <a:latin typeface="Times New Roman" panose="02020603050405020304" pitchFamily="18" charset="0"/>
                <a:ea typeface="隶书" panose="02010509060101010101" pitchFamily="49" charset="-122"/>
              </a:rPr>
              <a:t>(public)</a:t>
            </a:r>
            <a:endParaRPr lang="zh-CN" altLang="en-US" sz="4400" b="1">
              <a:latin typeface="Times New Roman" panose="02020603050405020304" pitchFamily="18" charset="0"/>
              <a:ea typeface="隶书" panose="02010509060101010101" pitchFamily="49" charset="-122"/>
            </a:endParaRPr>
          </a:p>
        </p:txBody>
      </p:sp>
      <p:sp>
        <p:nvSpPr>
          <p:cNvPr id="22531" name="内容占位符 2"/>
          <p:cNvSpPr>
            <a:spLocks noGrp="1"/>
          </p:cNvSpPr>
          <p:nvPr>
            <p:ph idx="1"/>
          </p:nvPr>
        </p:nvSpPr>
        <p:spPr>
          <a:xfrm>
            <a:off x="628650" y="1825625"/>
            <a:ext cx="7886700" cy="3475583"/>
          </a:xfrm>
        </p:spPr>
        <p:txBody>
          <a:bodyPr/>
          <a:lstStyle/>
          <a:p>
            <a:pPr>
              <a:lnSpc>
                <a:spcPct val="150000"/>
              </a:lnSpc>
              <a:spcAft>
                <a:spcPct val="25000"/>
              </a:spcAft>
            </a:pPr>
            <a:r>
              <a:rPr lang="zh-CN" altLang="en-US" sz="2400" b="1" dirty="0">
                <a:ea typeface="华文楷体" panose="02010600040101010101" pitchFamily="2" charset="-122"/>
              </a:rPr>
              <a:t>基类的</a:t>
            </a:r>
            <a:r>
              <a:rPr lang="en-US" altLang="zh-CN" sz="2400" b="1" dirty="0">
                <a:ea typeface="华文楷体" panose="02010600040101010101" pitchFamily="2" charset="-122"/>
              </a:rPr>
              <a:t>public</a:t>
            </a:r>
            <a:r>
              <a:rPr lang="zh-CN" altLang="en-US" sz="2400" b="1" dirty="0">
                <a:ea typeface="华文楷体" panose="02010600040101010101" pitchFamily="2" charset="-122"/>
              </a:rPr>
              <a:t>和</a:t>
            </a:r>
            <a:r>
              <a:rPr lang="en-US" altLang="zh-CN" sz="2400" b="1" dirty="0">
                <a:ea typeface="华文楷体" panose="02010600040101010101" pitchFamily="2" charset="-122"/>
              </a:rPr>
              <a:t>protected</a:t>
            </a:r>
            <a:r>
              <a:rPr lang="zh-CN" altLang="en-US" sz="2400" b="1" dirty="0">
                <a:ea typeface="华文楷体" panose="02010600040101010101" pitchFamily="2" charset="-122"/>
              </a:rPr>
              <a:t>成员的访问属性在派生类中保持不变，但基类的</a:t>
            </a:r>
            <a:r>
              <a:rPr lang="en-US" altLang="zh-CN" sz="2400" b="1" dirty="0">
                <a:ea typeface="华文楷体" panose="02010600040101010101" pitchFamily="2" charset="-122"/>
              </a:rPr>
              <a:t>private</a:t>
            </a:r>
            <a:r>
              <a:rPr lang="zh-CN" altLang="en-US" sz="2400" b="1" dirty="0">
                <a:ea typeface="华文楷体" panose="02010600040101010101" pitchFamily="2" charset="-122"/>
              </a:rPr>
              <a:t>成员不可直接访问。</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派生类中的成员函数可以直接访问基类中的</a:t>
            </a:r>
            <a:r>
              <a:rPr lang="en-US" altLang="zh-CN" sz="2400" b="1" dirty="0">
                <a:ea typeface="华文楷体" panose="02010600040101010101" pitchFamily="2" charset="-122"/>
              </a:rPr>
              <a:t>public</a:t>
            </a:r>
            <a:r>
              <a:rPr lang="zh-CN" altLang="en-US" sz="2400" b="1" dirty="0">
                <a:ea typeface="华文楷体" panose="02010600040101010101" pitchFamily="2" charset="-122"/>
              </a:rPr>
              <a:t>和</a:t>
            </a:r>
            <a:r>
              <a:rPr lang="en-US" altLang="zh-CN" sz="2400" b="1" dirty="0">
                <a:ea typeface="华文楷体" panose="02010600040101010101" pitchFamily="2" charset="-122"/>
              </a:rPr>
              <a:t>protected</a:t>
            </a:r>
            <a:r>
              <a:rPr lang="zh-CN" altLang="en-US" sz="2400" b="1" dirty="0">
                <a:ea typeface="华文楷体" panose="02010600040101010101" pitchFamily="2" charset="-122"/>
              </a:rPr>
              <a:t>成员，但不能直接访问基类的</a:t>
            </a:r>
            <a:r>
              <a:rPr lang="en-US" altLang="zh-CN" sz="2400" b="1" dirty="0">
                <a:ea typeface="华文楷体" panose="02010600040101010101" pitchFamily="2" charset="-122"/>
              </a:rPr>
              <a:t>private</a:t>
            </a:r>
            <a:r>
              <a:rPr lang="zh-CN" altLang="en-US" sz="2400" b="1" dirty="0">
                <a:ea typeface="华文楷体" panose="02010600040101010101" pitchFamily="2" charset="-122"/>
              </a:rPr>
              <a:t>成员。</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通过派生类的对象只能访问基类的</a:t>
            </a:r>
            <a:r>
              <a:rPr lang="en-US" altLang="zh-CN" sz="2400" b="1" dirty="0">
                <a:ea typeface="华文楷体" panose="02010600040101010101" pitchFamily="2" charset="-122"/>
              </a:rPr>
              <a:t>public</a:t>
            </a:r>
            <a:r>
              <a:rPr lang="zh-CN" altLang="en-US" sz="2400" b="1" dirty="0">
                <a:ea typeface="华文楷体" panose="02010600040101010101" pitchFamily="2" charset="-122"/>
              </a:rPr>
              <a:t>成员。</a:t>
            </a:r>
            <a:endParaRPr lang="zh-CN" altLang="en-US" sz="2400" b="1" dirty="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灯片编号占位符 4"/>
          <p:cNvSpPr>
            <a:spLocks noGrp="1"/>
          </p:cNvSpPr>
          <p:nvPr>
            <p:ph type="sldNum" sz="quarter" idx="4294967295"/>
          </p:nvPr>
        </p:nvSpPr>
        <p:spPr>
          <a:xfrm>
            <a:off x="6553199" y="6248400"/>
            <a:ext cx="2303183" cy="457200"/>
          </a:xfrm>
          <a:prstGeom prst="rect">
            <a:avLst/>
          </a:prstGeom>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eaLnBrk="1" hangingPunct="1"/>
            <a:r>
              <a:rPr lang="en-US" altLang="zh-CN" sz="1200" b="0">
                <a:solidFill>
                  <a:schemeClr val="tx1"/>
                </a:solidFill>
                <a:latin typeface="Verdana" panose="020B0604030504040204" pitchFamily="34" charset="0"/>
                <a:ea typeface="宋体" panose="02010600030101010101" pitchFamily="2" charset="-122"/>
              </a:rPr>
              <a:t> </a:t>
            </a:r>
            <a:endParaRPr lang="en-US" altLang="zh-CN" sz="1200" b="0">
              <a:solidFill>
                <a:schemeClr val="tx1"/>
              </a:solidFill>
              <a:latin typeface="Verdana" panose="020B0604030504040204" pitchFamily="34" charset="0"/>
              <a:ea typeface="宋体" panose="02010600030101010101" pitchFamily="2" charset="-122"/>
            </a:endParaRPr>
          </a:p>
        </p:txBody>
      </p:sp>
      <p:sp>
        <p:nvSpPr>
          <p:cNvPr id="21507" name="Rectangle 2"/>
          <p:cNvSpPr>
            <a:spLocks noGrp="1" noChangeArrowheads="1"/>
          </p:cNvSpPr>
          <p:nvPr>
            <p:ph type="title"/>
          </p:nvPr>
        </p:nvSpPr>
        <p:spPr>
          <a:xfrm>
            <a:off x="609600" y="152400"/>
            <a:ext cx="7772400" cy="1143000"/>
          </a:xfrm>
        </p:spPr>
        <p:txBody>
          <a:bodyPr/>
          <a:lstStyle/>
          <a:p>
            <a:pPr eaLnBrk="1" hangingPunct="1"/>
            <a:r>
              <a:rPr lang="zh-CN" altLang="en-US" sz="4000" b="1" dirty="0" smtClean="0">
                <a:latin typeface="Times New Roman" panose="02020603050405020304" pitchFamily="18" charset="0"/>
                <a:ea typeface="隶书" panose="02010509060101010101" pitchFamily="49" charset="-122"/>
              </a:rPr>
              <a:t>例</a:t>
            </a:r>
            <a:r>
              <a:rPr lang="en-US" altLang="zh-CN" sz="4000" b="1" dirty="0" smtClean="0">
                <a:latin typeface="Times New Roman" panose="02020603050405020304" pitchFamily="18" charset="0"/>
                <a:ea typeface="隶书" panose="02010509060101010101" pitchFamily="49" charset="-122"/>
              </a:rPr>
              <a:t>7-1 </a:t>
            </a:r>
            <a:br>
              <a:rPr lang="en-US" altLang="zh-CN" sz="4000" b="1" dirty="0" smtClean="0">
                <a:latin typeface="Times New Roman" panose="02020603050405020304" pitchFamily="18" charset="0"/>
                <a:ea typeface="隶书" panose="02010509060101010101" pitchFamily="49" charset="-122"/>
              </a:rPr>
            </a:br>
            <a:r>
              <a:rPr lang="zh-CN" altLang="en-US" sz="4000" b="1" dirty="0" smtClean="0">
                <a:latin typeface="Times New Roman" panose="02020603050405020304" pitchFamily="18" charset="0"/>
                <a:ea typeface="隶书" panose="02010509060101010101" pitchFamily="49" charset="-122"/>
              </a:rPr>
              <a:t>公有继承举例</a:t>
            </a:r>
            <a:br>
              <a:rPr lang="en-US" altLang="zh-CN" sz="4000" b="1" dirty="0">
                <a:latin typeface="Times New Roman" panose="02020603050405020304" pitchFamily="18" charset="0"/>
                <a:ea typeface="隶书" panose="02010509060101010101" pitchFamily="49" charset="-122"/>
              </a:rPr>
            </a:br>
            <a:r>
              <a:rPr lang="zh-CN" altLang="en-US" sz="4000" b="1" dirty="0" smtClean="0">
                <a:latin typeface="Times New Roman" panose="02020603050405020304" pitchFamily="18" charset="0"/>
                <a:ea typeface="隶书" panose="02010509060101010101" pitchFamily="49" charset="-122"/>
              </a:rPr>
              <a:t>类图</a:t>
            </a:r>
            <a:endParaRPr lang="zh-CN" altLang="en-US" sz="4000" b="1" dirty="0" smtClean="0">
              <a:latin typeface="Times New Roman" panose="02020603050405020304" pitchFamily="18" charset="0"/>
              <a:ea typeface="隶书" panose="02010509060101010101" pitchFamily="49" charset="-122"/>
            </a:endParaRPr>
          </a:p>
        </p:txBody>
      </p:sp>
      <p:grpSp>
        <p:nvGrpSpPr>
          <p:cNvPr id="3" name="组合 2"/>
          <p:cNvGrpSpPr/>
          <p:nvPr/>
        </p:nvGrpSpPr>
        <p:grpSpPr>
          <a:xfrm>
            <a:off x="3923928" y="113066"/>
            <a:ext cx="4680520" cy="3129324"/>
            <a:chOff x="2555776" y="58709"/>
            <a:chExt cx="6479630" cy="3129324"/>
          </a:xfrm>
        </p:grpSpPr>
        <p:sp>
          <p:nvSpPr>
            <p:cNvPr id="21520" name="Rectangle 4"/>
            <p:cNvSpPr>
              <a:spLocks noChangeArrowheads="1"/>
            </p:cNvSpPr>
            <p:nvPr/>
          </p:nvSpPr>
          <p:spPr bwMode="auto">
            <a:xfrm>
              <a:off x="2555776" y="58709"/>
              <a:ext cx="6479630" cy="526011"/>
            </a:xfrm>
            <a:prstGeom prst="rect">
              <a:avLst/>
            </a:prstGeom>
            <a:no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eaLnBrk="1" hangingPunct="1">
                <a:lnSpc>
                  <a:spcPct val="125000"/>
                </a:lnSpc>
                <a:buClr>
                  <a:schemeClr val="tx2"/>
                </a:buClr>
                <a:buSzPct val="70000"/>
                <a:buFont typeface="Wingdings" panose="05000000000000000000" pitchFamily="2" charset="2"/>
                <a:buNone/>
              </a:pPr>
              <a:r>
                <a:rPr lang="en-US" altLang="zh-CN" sz="2400" dirty="0" smtClean="0">
                  <a:solidFill>
                    <a:srgbClr val="FFFF00"/>
                  </a:solidFill>
                  <a:ea typeface="华文楷体" panose="02010600040101010101" pitchFamily="2" charset="-122"/>
                </a:rPr>
                <a:t>Point</a:t>
              </a:r>
              <a:endParaRPr lang="en-US" altLang="zh-CN" sz="2400" dirty="0">
                <a:solidFill>
                  <a:srgbClr val="FFFF00"/>
                </a:solidFill>
                <a:ea typeface="华文楷体" panose="02010600040101010101" pitchFamily="2" charset="-122"/>
              </a:endParaRPr>
            </a:p>
          </p:txBody>
        </p:sp>
        <p:sp>
          <p:nvSpPr>
            <p:cNvPr id="21521" name="Rectangle 5"/>
            <p:cNvSpPr>
              <a:spLocks noChangeArrowheads="1"/>
            </p:cNvSpPr>
            <p:nvPr/>
          </p:nvSpPr>
          <p:spPr bwMode="auto">
            <a:xfrm>
              <a:off x="2555776" y="584199"/>
              <a:ext cx="6479630" cy="901239"/>
            </a:xfrm>
            <a:prstGeom prst="rect">
              <a:avLst/>
            </a:prstGeom>
            <a:no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lnSpc>
                  <a:spcPct val="125000"/>
                </a:lnSpc>
                <a:buClr>
                  <a:schemeClr val="tx2"/>
                </a:buClr>
                <a:buSzPct val="70000"/>
                <a:buFont typeface="Wingdings" panose="05000000000000000000" pitchFamily="2" charset="2"/>
                <a:buNone/>
              </a:pPr>
              <a:r>
                <a:rPr lang="en-US" altLang="zh-CN" sz="2000" dirty="0" smtClean="0">
                  <a:solidFill>
                    <a:schemeClr val="tx1"/>
                  </a:solidFill>
                  <a:ea typeface="华文楷体" panose="02010600040101010101" pitchFamily="2" charset="-122"/>
                </a:rPr>
                <a:t>-</a:t>
              </a:r>
              <a:r>
                <a:rPr lang="en-US" altLang="zh-CN" sz="2000" dirty="0" err="1" smtClean="0">
                  <a:solidFill>
                    <a:schemeClr val="tx1"/>
                  </a:solidFill>
                  <a:ea typeface="华文楷体" panose="02010600040101010101" pitchFamily="2" charset="-122"/>
                </a:rPr>
                <a:t>x:float</a:t>
              </a:r>
              <a:endParaRPr lang="en-US" altLang="zh-CN" sz="2000" dirty="0">
                <a:solidFill>
                  <a:schemeClr val="tx1"/>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2000" dirty="0" smtClean="0">
                  <a:solidFill>
                    <a:schemeClr val="tx1"/>
                  </a:solidFill>
                  <a:ea typeface="华文楷体" panose="02010600040101010101" pitchFamily="2" charset="-122"/>
                </a:rPr>
                <a:t>-</a:t>
              </a:r>
              <a:r>
                <a:rPr lang="en-US" altLang="zh-CN" sz="2000" dirty="0" err="1" smtClean="0">
                  <a:solidFill>
                    <a:schemeClr val="tx1"/>
                  </a:solidFill>
                  <a:ea typeface="华文楷体" panose="02010600040101010101" pitchFamily="2" charset="-122"/>
                </a:rPr>
                <a:t>y:float</a:t>
              </a:r>
              <a:endParaRPr lang="en-US" altLang="zh-CN" sz="2000" dirty="0">
                <a:solidFill>
                  <a:schemeClr val="tx1"/>
                </a:solidFill>
                <a:ea typeface="华文楷体" panose="02010600040101010101" pitchFamily="2" charset="-122"/>
              </a:endParaRPr>
            </a:p>
          </p:txBody>
        </p:sp>
        <p:sp>
          <p:nvSpPr>
            <p:cNvPr id="21522" name="Rectangle 6"/>
            <p:cNvSpPr>
              <a:spLocks noChangeArrowheads="1"/>
            </p:cNvSpPr>
            <p:nvPr/>
          </p:nvSpPr>
          <p:spPr bwMode="auto">
            <a:xfrm>
              <a:off x="2555776" y="1485439"/>
              <a:ext cx="6479630" cy="1702594"/>
            </a:xfrm>
            <a:prstGeom prst="rect">
              <a:avLst/>
            </a:prstGeom>
            <a:no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lnSpc>
                  <a:spcPct val="125000"/>
                </a:lnSpc>
                <a:buClr>
                  <a:schemeClr val="tx2"/>
                </a:buClr>
                <a:buSzPct val="70000"/>
                <a:buFont typeface="Wingdings" panose="05000000000000000000" pitchFamily="2" charset="2"/>
                <a:buNone/>
              </a:pPr>
              <a:r>
                <a:rPr lang="en-US" altLang="zh-CN" sz="2000" dirty="0" smtClean="0">
                  <a:solidFill>
                    <a:srgbClr val="FFFF00"/>
                  </a:solidFill>
                  <a:ea typeface="华文楷体" panose="02010600040101010101" pitchFamily="2" charset="-122"/>
                </a:rPr>
                <a:t>+</a:t>
              </a:r>
              <a:r>
                <a:rPr lang="en-US" altLang="zh-CN" sz="2000" dirty="0" err="1" smtClean="0">
                  <a:solidFill>
                    <a:srgbClr val="FFFF00"/>
                  </a:solidFill>
                  <a:ea typeface="华文楷体" panose="02010600040101010101" pitchFamily="2" charset="-122"/>
                </a:rPr>
                <a:t>initPoint</a:t>
              </a:r>
              <a:r>
                <a:rPr lang="en-US" altLang="zh-CN" sz="2000" dirty="0" smtClean="0">
                  <a:solidFill>
                    <a:srgbClr val="FFFF00"/>
                  </a:solidFill>
                  <a:ea typeface="华文楷体" panose="02010600040101010101" pitchFamily="2" charset="-122"/>
                </a:rPr>
                <a:t>(</a:t>
              </a:r>
              <a:r>
                <a:rPr lang="en-US" altLang="zh-CN" sz="2000" dirty="0" err="1" smtClean="0">
                  <a:solidFill>
                    <a:srgbClr val="FFFF00"/>
                  </a:solidFill>
                  <a:ea typeface="华文楷体" panose="02010600040101010101" pitchFamily="2" charset="-122"/>
                </a:rPr>
                <a:t>x:float</a:t>
              </a:r>
              <a:r>
                <a:rPr lang="en-US" altLang="zh-CN" sz="2000" dirty="0" smtClean="0">
                  <a:solidFill>
                    <a:srgbClr val="FFFF00"/>
                  </a:solidFill>
                  <a:ea typeface="华文楷体" panose="02010600040101010101" pitchFamily="2" charset="-122"/>
                </a:rPr>
                <a:t>=0, y:float=0):void</a:t>
              </a:r>
              <a:endParaRPr lang="en-US" altLang="zh-CN" sz="2000" dirty="0">
                <a:solidFill>
                  <a:srgbClr val="FFFF00"/>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2000" dirty="0" smtClean="0">
                  <a:solidFill>
                    <a:srgbClr val="FFFF00"/>
                  </a:solidFill>
                  <a:ea typeface="华文楷体" panose="02010600040101010101" pitchFamily="2" charset="-122"/>
                </a:rPr>
                <a:t>+move(</a:t>
              </a:r>
              <a:r>
                <a:rPr lang="en-US" altLang="zh-CN" sz="2000" dirty="0" err="1" smtClean="0">
                  <a:solidFill>
                    <a:srgbClr val="FFFF00"/>
                  </a:solidFill>
                  <a:ea typeface="华文楷体" panose="02010600040101010101" pitchFamily="2" charset="-122"/>
                </a:rPr>
                <a:t>offX:float</a:t>
              </a:r>
              <a:r>
                <a:rPr lang="en-US" altLang="zh-CN" sz="2000" dirty="0" smtClean="0">
                  <a:solidFill>
                    <a:srgbClr val="FFFF00"/>
                  </a:solidFill>
                  <a:ea typeface="华文楷体" panose="02010600040101010101" pitchFamily="2" charset="-122"/>
                </a:rPr>
                <a:t>, </a:t>
              </a:r>
              <a:r>
                <a:rPr lang="en-US" altLang="zh-CN" sz="2000" dirty="0" err="1" smtClean="0">
                  <a:solidFill>
                    <a:srgbClr val="FFFF00"/>
                  </a:solidFill>
                  <a:ea typeface="华文楷体" panose="02010600040101010101" pitchFamily="2" charset="-122"/>
                </a:rPr>
                <a:t>offY:float</a:t>
              </a:r>
              <a:r>
                <a:rPr lang="en-US" altLang="zh-CN" sz="2000" dirty="0" smtClean="0">
                  <a:solidFill>
                    <a:srgbClr val="FFFF00"/>
                  </a:solidFill>
                  <a:ea typeface="华文楷体" panose="02010600040101010101" pitchFamily="2" charset="-122"/>
                </a:rPr>
                <a:t>):void</a:t>
              </a:r>
              <a:endParaRPr lang="en-US" altLang="zh-CN" sz="2000" dirty="0">
                <a:solidFill>
                  <a:srgbClr val="FFFF00"/>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2000" dirty="0" smtClean="0">
                  <a:solidFill>
                    <a:srgbClr val="FFFF00"/>
                  </a:solidFill>
                  <a:ea typeface="华文楷体" panose="02010600040101010101" pitchFamily="2" charset="-122"/>
                </a:rPr>
                <a:t>&lt;&lt;</a:t>
              </a:r>
              <a:r>
                <a:rPr lang="en-US" altLang="zh-CN" sz="2000" dirty="0" err="1" smtClean="0">
                  <a:solidFill>
                    <a:srgbClr val="FFFF00"/>
                  </a:solidFill>
                  <a:ea typeface="华文楷体" panose="02010600040101010101" pitchFamily="2" charset="-122"/>
                </a:rPr>
                <a:t>const</a:t>
              </a:r>
              <a:r>
                <a:rPr lang="en-US" altLang="zh-CN" sz="2000" dirty="0" smtClean="0">
                  <a:solidFill>
                    <a:srgbClr val="FFFF00"/>
                  </a:solidFill>
                  <a:ea typeface="华文楷体" panose="02010600040101010101" pitchFamily="2" charset="-122"/>
                </a:rPr>
                <a:t>&gt;&gt;+</a:t>
              </a:r>
              <a:r>
                <a:rPr lang="en-US" altLang="zh-CN" sz="2000" dirty="0" err="1" smtClean="0">
                  <a:solidFill>
                    <a:srgbClr val="FFFF00"/>
                  </a:solidFill>
                  <a:ea typeface="华文楷体" panose="02010600040101010101" pitchFamily="2" charset="-122"/>
                </a:rPr>
                <a:t>getX</a:t>
              </a:r>
              <a:r>
                <a:rPr lang="en-US" altLang="zh-CN" sz="2000" dirty="0" smtClean="0">
                  <a:solidFill>
                    <a:srgbClr val="FFFF00"/>
                  </a:solidFill>
                  <a:ea typeface="华文楷体" panose="02010600040101010101" pitchFamily="2" charset="-122"/>
                </a:rPr>
                <a:t>():float</a:t>
              </a:r>
              <a:endParaRPr lang="en-US" altLang="zh-CN" sz="2000" dirty="0" smtClean="0">
                <a:solidFill>
                  <a:srgbClr val="FFFF00"/>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2000" dirty="0" smtClean="0">
                  <a:solidFill>
                    <a:srgbClr val="FFFF00"/>
                  </a:solidFill>
                  <a:ea typeface="华文楷体" panose="02010600040101010101" pitchFamily="2" charset="-122"/>
                </a:rPr>
                <a:t>&lt;&lt;</a:t>
              </a:r>
              <a:r>
                <a:rPr lang="en-US" altLang="zh-CN" sz="2000" dirty="0" err="1" smtClean="0">
                  <a:solidFill>
                    <a:srgbClr val="FFFF00"/>
                  </a:solidFill>
                  <a:ea typeface="华文楷体" panose="02010600040101010101" pitchFamily="2" charset="-122"/>
                </a:rPr>
                <a:t>const</a:t>
              </a:r>
              <a:r>
                <a:rPr lang="en-US" altLang="zh-CN" sz="2000" dirty="0" smtClean="0">
                  <a:solidFill>
                    <a:srgbClr val="FFFF00"/>
                  </a:solidFill>
                  <a:ea typeface="华文楷体" panose="02010600040101010101" pitchFamily="2" charset="-122"/>
                </a:rPr>
                <a:t>&gt;&gt;+</a:t>
              </a:r>
              <a:r>
                <a:rPr lang="en-US" altLang="zh-CN" sz="2000" dirty="0" err="1" smtClean="0">
                  <a:solidFill>
                    <a:srgbClr val="FFFF00"/>
                  </a:solidFill>
                  <a:ea typeface="华文楷体" panose="02010600040101010101" pitchFamily="2" charset="-122"/>
                </a:rPr>
                <a:t>getY</a:t>
              </a:r>
              <a:r>
                <a:rPr lang="en-US" altLang="zh-CN" sz="2000" dirty="0" smtClean="0">
                  <a:solidFill>
                    <a:srgbClr val="FFFF00"/>
                  </a:solidFill>
                  <a:ea typeface="华文楷体" panose="02010600040101010101" pitchFamily="2" charset="-122"/>
                </a:rPr>
                <a:t>():float</a:t>
              </a:r>
              <a:endParaRPr lang="en-US" altLang="zh-CN" sz="2000" dirty="0">
                <a:solidFill>
                  <a:srgbClr val="FFFF00"/>
                </a:solidFill>
                <a:ea typeface="华文楷体" panose="02010600040101010101" pitchFamily="2" charset="-122"/>
              </a:endParaRPr>
            </a:p>
          </p:txBody>
        </p:sp>
      </p:grpSp>
      <p:sp>
        <p:nvSpPr>
          <p:cNvPr id="21509" name="Rectangle 18"/>
          <p:cNvSpPr>
            <a:spLocks noGrp="1" noChangeArrowheads="1"/>
          </p:cNvSpPr>
          <p:nvPr>
            <p:ph type="body" idx="1"/>
          </p:nvPr>
        </p:nvSpPr>
        <p:spPr>
          <a:xfrm>
            <a:off x="3168650" y="3969544"/>
            <a:ext cx="5867846" cy="576262"/>
          </a:xfrm>
          <a:noFill/>
          <a:ln>
            <a:solidFill>
              <a:schemeClr val="tx1"/>
            </a:solidFill>
            <a:miter lim="800000"/>
          </a:ln>
        </p:spPr>
        <p:txBody>
          <a:bodyPr/>
          <a:lstStyle/>
          <a:p>
            <a:pPr marL="0" indent="0" algn="ctr" eaLnBrk="1" hangingPunct="1">
              <a:lnSpc>
                <a:spcPct val="125000"/>
              </a:lnSpc>
              <a:spcBef>
                <a:spcPct val="0"/>
              </a:spcBef>
              <a:buFont typeface="Wingdings" panose="05000000000000000000" pitchFamily="2" charset="2"/>
              <a:buNone/>
            </a:pPr>
            <a:r>
              <a:rPr lang="en-US" altLang="zh-CN" sz="2400" b="1" dirty="0" smtClean="0">
                <a:solidFill>
                  <a:srgbClr val="FFFF00"/>
                </a:solidFill>
                <a:latin typeface="Times New Roman" panose="02020603050405020304" pitchFamily="18" charset="0"/>
                <a:ea typeface="华文楷体" panose="02010600040101010101" pitchFamily="2" charset="-122"/>
              </a:rPr>
              <a:t>Rectangle</a:t>
            </a:r>
            <a:endParaRPr lang="en-US" altLang="zh-CN" sz="2400" b="1" dirty="0" smtClean="0">
              <a:solidFill>
                <a:srgbClr val="FFFF00"/>
              </a:solidFill>
              <a:latin typeface="Times New Roman" panose="02020603050405020304" pitchFamily="18" charset="0"/>
              <a:ea typeface="华文楷体" panose="02010600040101010101" pitchFamily="2" charset="-122"/>
            </a:endParaRPr>
          </a:p>
        </p:txBody>
      </p:sp>
      <p:grpSp>
        <p:nvGrpSpPr>
          <p:cNvPr id="4" name="组合 3"/>
          <p:cNvGrpSpPr/>
          <p:nvPr/>
        </p:nvGrpSpPr>
        <p:grpSpPr>
          <a:xfrm>
            <a:off x="3168650" y="4545806"/>
            <a:ext cx="5867846" cy="2159794"/>
            <a:chOff x="3168650" y="4545806"/>
            <a:chExt cx="5867846" cy="2159794"/>
          </a:xfrm>
        </p:grpSpPr>
        <p:sp>
          <p:nvSpPr>
            <p:cNvPr id="21516" name="Rectangle 20"/>
            <p:cNvSpPr>
              <a:spLocks noChangeArrowheads="1"/>
            </p:cNvSpPr>
            <p:nvPr/>
          </p:nvSpPr>
          <p:spPr bwMode="auto">
            <a:xfrm>
              <a:off x="3168650" y="4545806"/>
              <a:ext cx="5867846" cy="801876"/>
            </a:xfrm>
            <a:prstGeom prst="rect">
              <a:avLst/>
            </a:prstGeom>
            <a:no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lnSpc>
                  <a:spcPct val="125000"/>
                </a:lnSpc>
                <a:buClr>
                  <a:schemeClr val="tx2"/>
                </a:buClr>
                <a:buSzPct val="70000"/>
                <a:buFont typeface="Wingdings" panose="05000000000000000000" pitchFamily="2" charset="2"/>
                <a:buNone/>
              </a:pPr>
              <a:r>
                <a:rPr lang="en-US" altLang="zh-CN" sz="2000" dirty="0" smtClean="0">
                  <a:solidFill>
                    <a:schemeClr val="tx1"/>
                  </a:solidFill>
                  <a:ea typeface="华文楷体" panose="02010600040101010101" pitchFamily="2" charset="-122"/>
                </a:rPr>
                <a:t>-</a:t>
              </a:r>
              <a:r>
                <a:rPr lang="en-US" altLang="zh-CN" sz="2000" dirty="0" err="1" smtClean="0">
                  <a:solidFill>
                    <a:schemeClr val="tx1"/>
                  </a:solidFill>
                  <a:ea typeface="华文楷体" panose="02010600040101010101" pitchFamily="2" charset="-122"/>
                </a:rPr>
                <a:t>w:float</a:t>
              </a:r>
              <a:endParaRPr lang="en-US" altLang="zh-CN" sz="2000" dirty="0">
                <a:solidFill>
                  <a:schemeClr val="tx1"/>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2000" dirty="0" smtClean="0">
                  <a:solidFill>
                    <a:schemeClr val="tx1"/>
                  </a:solidFill>
                  <a:ea typeface="华文楷体" panose="02010600040101010101" pitchFamily="2" charset="-122"/>
                </a:rPr>
                <a:t>-</a:t>
              </a:r>
              <a:r>
                <a:rPr lang="en-US" altLang="zh-CN" sz="2000" dirty="0" err="1" smtClean="0">
                  <a:solidFill>
                    <a:schemeClr val="tx1"/>
                  </a:solidFill>
                  <a:ea typeface="华文楷体" panose="02010600040101010101" pitchFamily="2" charset="-122"/>
                </a:rPr>
                <a:t>h:float</a:t>
              </a:r>
              <a:endParaRPr lang="en-US" altLang="zh-CN" sz="2000" dirty="0">
                <a:solidFill>
                  <a:schemeClr val="tx1"/>
                </a:solidFill>
                <a:ea typeface="华文楷体" panose="02010600040101010101" pitchFamily="2" charset="-122"/>
              </a:endParaRPr>
            </a:p>
          </p:txBody>
        </p:sp>
        <p:sp>
          <p:nvSpPr>
            <p:cNvPr id="21517" name="Rectangle 21"/>
            <p:cNvSpPr>
              <a:spLocks noChangeArrowheads="1"/>
            </p:cNvSpPr>
            <p:nvPr/>
          </p:nvSpPr>
          <p:spPr bwMode="auto">
            <a:xfrm>
              <a:off x="3168650" y="5347682"/>
              <a:ext cx="5867846" cy="1357918"/>
            </a:xfrm>
            <a:prstGeom prst="rect">
              <a:avLst/>
            </a:prstGeom>
            <a:noFill/>
            <a:ln w="9525">
              <a:solidFill>
                <a:schemeClr val="tx1"/>
              </a:solidFill>
              <a:miter lim="800000"/>
            </a:ln>
          </p:spPr>
          <p:txBody>
            <a:bodyPr/>
            <a:lstStyle>
              <a:lvl1pPr eaLnBrk="0" hangingPunct="0">
                <a:defRPr sz="4000" b="1">
                  <a:solidFill>
                    <a:schemeClr val="tx2"/>
                  </a:solidFill>
                  <a:latin typeface="Times New Roman" panose="02020603050405020304" pitchFamily="18" charset="0"/>
                  <a:ea typeface="隶书" panose="02010509060101010101" pitchFamily="49" charset="-122"/>
                </a:defRPr>
              </a:lvl1pPr>
              <a:lvl2pPr marL="742950" indent="-285750" eaLnBrk="0" hangingPunct="0">
                <a:defRPr sz="4000" b="1">
                  <a:solidFill>
                    <a:schemeClr val="tx2"/>
                  </a:solidFill>
                  <a:latin typeface="Times New Roman" panose="02020603050405020304" pitchFamily="18" charset="0"/>
                  <a:ea typeface="隶书" panose="02010509060101010101" pitchFamily="49" charset="-122"/>
                </a:defRPr>
              </a:lvl2pPr>
              <a:lvl3pPr marL="1143000" indent="-228600" eaLnBrk="0" hangingPunct="0">
                <a:defRPr sz="4000" b="1">
                  <a:solidFill>
                    <a:schemeClr val="tx2"/>
                  </a:solidFill>
                  <a:latin typeface="Times New Roman" panose="02020603050405020304" pitchFamily="18" charset="0"/>
                  <a:ea typeface="隶书" panose="02010509060101010101" pitchFamily="49" charset="-122"/>
                </a:defRPr>
              </a:lvl3pPr>
              <a:lvl4pPr marL="1600200" indent="-228600" eaLnBrk="0" hangingPunct="0">
                <a:defRPr sz="4000" b="1">
                  <a:solidFill>
                    <a:schemeClr val="tx2"/>
                  </a:solidFill>
                  <a:latin typeface="Times New Roman" panose="02020603050405020304" pitchFamily="18" charset="0"/>
                  <a:ea typeface="隶书" panose="02010509060101010101" pitchFamily="49" charset="-122"/>
                </a:defRPr>
              </a:lvl4pPr>
              <a:lvl5pPr marL="2057400" indent="-228600" eaLnBrk="0" hangingPunct="0">
                <a:defRPr sz="4000" b="1">
                  <a:solidFill>
                    <a:schemeClr val="tx2"/>
                  </a:solidFill>
                  <a:latin typeface="Times New Roman" panose="02020603050405020304" pitchFamily="18" charset="0"/>
                  <a:ea typeface="隶书" panose="02010509060101010101" pitchFamily="49" charset="-122"/>
                </a:defRPr>
              </a:lvl5pPr>
              <a:lvl6pPr marL="25146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6pPr>
              <a:lvl7pPr marL="29718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7pPr>
              <a:lvl8pPr marL="34290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8pPr>
              <a:lvl9pPr marL="3886200" indent="-228600" algn="ctr" eaLnBrk="0" fontAlgn="base" hangingPunct="0">
                <a:spcBef>
                  <a:spcPct val="0"/>
                </a:spcBef>
                <a:spcAft>
                  <a:spcPct val="0"/>
                </a:spcAft>
                <a:defRPr sz="4000" b="1">
                  <a:solidFill>
                    <a:schemeClr val="tx2"/>
                  </a:solidFill>
                  <a:latin typeface="Times New Roman" panose="02020603050405020304" pitchFamily="18" charset="0"/>
                  <a:ea typeface="隶书" panose="02010509060101010101" pitchFamily="49" charset="-122"/>
                </a:defRPr>
              </a:lvl9pPr>
            </a:lstStyle>
            <a:p>
              <a:pPr algn="l" eaLnBrk="1" hangingPunct="1">
                <a:lnSpc>
                  <a:spcPct val="125000"/>
                </a:lnSpc>
                <a:buClr>
                  <a:schemeClr val="tx2"/>
                </a:buClr>
                <a:buSzPct val="70000"/>
                <a:buFont typeface="Wingdings" panose="05000000000000000000" pitchFamily="2" charset="2"/>
                <a:buNone/>
              </a:pPr>
              <a:r>
                <a:rPr lang="en-US" altLang="zh-CN" sz="2000" dirty="0" smtClean="0">
                  <a:solidFill>
                    <a:srgbClr val="FFFF00"/>
                  </a:solidFill>
                  <a:ea typeface="华文楷体" panose="02010600040101010101" pitchFamily="2" charset="-122"/>
                </a:rPr>
                <a:t>+</a:t>
              </a:r>
              <a:r>
                <a:rPr lang="en-US" altLang="zh-CN" sz="2000" dirty="0" err="1" smtClean="0">
                  <a:solidFill>
                    <a:srgbClr val="FFFF00"/>
                  </a:solidFill>
                  <a:ea typeface="华文楷体" panose="02010600040101010101" pitchFamily="2" charset="-122"/>
                </a:rPr>
                <a:t>initRectangle</a:t>
              </a:r>
              <a:r>
                <a:rPr lang="en-US" altLang="zh-CN" sz="2000" dirty="0" smtClean="0">
                  <a:solidFill>
                    <a:srgbClr val="FFFF00"/>
                  </a:solidFill>
                  <a:ea typeface="华文楷体" panose="02010600040101010101" pitchFamily="2" charset="-122"/>
                </a:rPr>
                <a:t>(</a:t>
              </a:r>
              <a:r>
                <a:rPr lang="en-US" altLang="zh-CN" sz="2000" dirty="0" err="1" smtClean="0">
                  <a:solidFill>
                    <a:srgbClr val="FFFF00"/>
                  </a:solidFill>
                  <a:ea typeface="华文楷体" panose="02010600040101010101" pitchFamily="2" charset="-122"/>
                </a:rPr>
                <a:t>x:float</a:t>
              </a:r>
              <a:r>
                <a:rPr lang="en-US" altLang="zh-CN" sz="2000" dirty="0" smtClean="0">
                  <a:solidFill>
                    <a:srgbClr val="FFFF00"/>
                  </a:solidFill>
                  <a:ea typeface="华文楷体" panose="02010600040101010101" pitchFamily="2" charset="-122"/>
                </a:rPr>
                <a:t>, y:float, w:float, h:float):void</a:t>
              </a:r>
              <a:endParaRPr lang="en-US" altLang="zh-CN" sz="2000" dirty="0">
                <a:solidFill>
                  <a:srgbClr val="FFFF00"/>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2000" dirty="0" smtClean="0">
                  <a:solidFill>
                    <a:srgbClr val="FFFF00"/>
                  </a:solidFill>
                  <a:ea typeface="华文楷体" panose="02010600040101010101" pitchFamily="2" charset="-122"/>
                </a:rPr>
                <a:t>&lt;&lt;</a:t>
              </a:r>
              <a:r>
                <a:rPr lang="en-US" altLang="zh-CN" sz="2000" dirty="0" err="1" smtClean="0">
                  <a:solidFill>
                    <a:srgbClr val="FFFF00"/>
                  </a:solidFill>
                  <a:ea typeface="华文楷体" panose="02010600040101010101" pitchFamily="2" charset="-122"/>
                </a:rPr>
                <a:t>const</a:t>
              </a:r>
              <a:r>
                <a:rPr lang="en-US" altLang="zh-CN" sz="2000" dirty="0" smtClean="0">
                  <a:solidFill>
                    <a:srgbClr val="FFFF00"/>
                  </a:solidFill>
                  <a:ea typeface="华文楷体" panose="02010600040101010101" pitchFamily="2" charset="-122"/>
                </a:rPr>
                <a:t>&gt;&gt;+</a:t>
              </a:r>
              <a:r>
                <a:rPr lang="en-US" altLang="zh-CN" sz="2000" dirty="0" err="1" smtClean="0">
                  <a:solidFill>
                    <a:srgbClr val="FFFF00"/>
                  </a:solidFill>
                  <a:ea typeface="华文楷体" panose="02010600040101010101" pitchFamily="2" charset="-122"/>
                </a:rPr>
                <a:t>getW</a:t>
              </a:r>
              <a:r>
                <a:rPr lang="en-US" altLang="zh-CN" sz="2000" dirty="0" smtClean="0">
                  <a:solidFill>
                    <a:srgbClr val="FFFF00"/>
                  </a:solidFill>
                  <a:ea typeface="华文楷体" panose="02010600040101010101" pitchFamily="2" charset="-122"/>
                </a:rPr>
                <a:t>():float</a:t>
              </a:r>
              <a:endParaRPr lang="en-US" altLang="zh-CN" sz="2000" dirty="0">
                <a:solidFill>
                  <a:srgbClr val="FFFF00"/>
                </a:solidFill>
                <a:ea typeface="华文楷体" panose="02010600040101010101" pitchFamily="2" charset="-122"/>
              </a:endParaRPr>
            </a:p>
            <a:p>
              <a:pPr algn="l" eaLnBrk="1" hangingPunct="1">
                <a:lnSpc>
                  <a:spcPct val="125000"/>
                </a:lnSpc>
                <a:buClr>
                  <a:schemeClr val="tx2"/>
                </a:buClr>
                <a:buSzPct val="70000"/>
                <a:buFont typeface="Wingdings" panose="05000000000000000000" pitchFamily="2" charset="2"/>
                <a:buNone/>
              </a:pPr>
              <a:r>
                <a:rPr lang="en-US" altLang="zh-CN" sz="2000" dirty="0" smtClean="0">
                  <a:solidFill>
                    <a:srgbClr val="FFFF00"/>
                  </a:solidFill>
                  <a:ea typeface="华文楷体" panose="02010600040101010101" pitchFamily="2" charset="-122"/>
                </a:rPr>
                <a:t>&lt;&lt;</a:t>
              </a:r>
              <a:r>
                <a:rPr lang="en-US" altLang="zh-CN" sz="2000" dirty="0" err="1" smtClean="0">
                  <a:solidFill>
                    <a:srgbClr val="FFFF00"/>
                  </a:solidFill>
                  <a:ea typeface="华文楷体" panose="02010600040101010101" pitchFamily="2" charset="-122"/>
                </a:rPr>
                <a:t>const</a:t>
              </a:r>
              <a:r>
                <a:rPr lang="en-US" altLang="zh-CN" sz="2000" dirty="0" smtClean="0">
                  <a:solidFill>
                    <a:srgbClr val="FFFF00"/>
                  </a:solidFill>
                  <a:ea typeface="华文楷体" panose="02010600040101010101" pitchFamily="2" charset="-122"/>
                </a:rPr>
                <a:t>&gt;&gt;+</a:t>
              </a:r>
              <a:r>
                <a:rPr lang="en-US" altLang="zh-CN" sz="2000" dirty="0" err="1" smtClean="0">
                  <a:solidFill>
                    <a:srgbClr val="FFFF00"/>
                  </a:solidFill>
                  <a:ea typeface="华文楷体" panose="02010600040101010101" pitchFamily="2" charset="-122"/>
                </a:rPr>
                <a:t>getH</a:t>
              </a:r>
              <a:r>
                <a:rPr lang="en-US" altLang="zh-CN" sz="2000" dirty="0" smtClean="0">
                  <a:solidFill>
                    <a:srgbClr val="FFFF00"/>
                  </a:solidFill>
                  <a:ea typeface="华文楷体" panose="02010600040101010101" pitchFamily="2" charset="-122"/>
                </a:rPr>
                <a:t>():float</a:t>
              </a:r>
              <a:endParaRPr lang="en-US" altLang="zh-CN" sz="2000" dirty="0">
                <a:solidFill>
                  <a:srgbClr val="FFFF00"/>
                </a:solidFill>
                <a:ea typeface="华文楷体" panose="02010600040101010101" pitchFamily="2" charset="-122"/>
              </a:endParaRPr>
            </a:p>
          </p:txBody>
        </p:sp>
      </p:grpSp>
      <p:sp>
        <p:nvSpPr>
          <p:cNvPr id="21511" name="Line 24"/>
          <p:cNvSpPr>
            <a:spLocks noChangeShapeType="1"/>
          </p:cNvSpPr>
          <p:nvPr/>
        </p:nvSpPr>
        <p:spPr bwMode="auto">
          <a:xfrm flipH="1" flipV="1">
            <a:off x="5940151" y="3242389"/>
            <a:ext cx="1" cy="727154"/>
          </a:xfrm>
          <a:prstGeom prst="line">
            <a:avLst/>
          </a:prstGeom>
          <a:noFill/>
          <a:ln w="9525">
            <a:solidFill>
              <a:schemeClr val="tx1"/>
            </a:solidFill>
            <a:rou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5" name="文本框 4"/>
          <p:cNvSpPr txBox="1"/>
          <p:nvPr/>
        </p:nvSpPr>
        <p:spPr bwMode="auto">
          <a:xfrm>
            <a:off x="4644008" y="3397395"/>
            <a:ext cx="1080120" cy="41549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en-US" altLang="zh-CN" sz="1400" dirty="0" smtClean="0"/>
              <a:t>&lt;&lt;Public&gt;&gt;</a:t>
            </a:r>
            <a:endParaRPr lang="zh-CN" altLang="en-US" sz="1400" dirty="0" smtClean="0"/>
          </a:p>
        </p:txBody>
      </p:sp>
      <p:grpSp>
        <p:nvGrpSpPr>
          <p:cNvPr id="7" name="组合 6"/>
          <p:cNvGrpSpPr/>
          <p:nvPr/>
        </p:nvGrpSpPr>
        <p:grpSpPr>
          <a:xfrm>
            <a:off x="1655676" y="2297356"/>
            <a:ext cx="1080120" cy="437655"/>
            <a:chOff x="1655676" y="2297356"/>
            <a:chExt cx="1080120" cy="437655"/>
          </a:xfrm>
        </p:grpSpPr>
        <p:sp>
          <p:nvSpPr>
            <p:cNvPr id="6" name="剪去单角的矩形 5"/>
            <p:cNvSpPr/>
            <p:nvPr/>
          </p:nvSpPr>
          <p:spPr bwMode="auto">
            <a:xfrm>
              <a:off x="1655676" y="2363828"/>
              <a:ext cx="900100" cy="371183"/>
            </a:xfrm>
            <a:prstGeom prst="snip1Rect">
              <a:avLst/>
            </a:prstGeom>
            <a:noFill/>
            <a:ln w="9525" cap="flat" cmpd="sng" algn="ctr">
              <a:solidFill>
                <a:schemeClr val="tx1"/>
              </a:solidFill>
              <a:prstDash val="solid"/>
              <a:round/>
              <a:headEnd type="none" w="med" len="med"/>
              <a:tailEnd type="none" w="med" len="med"/>
            </a:ln>
            <a:effectLst/>
          </p:spPr>
          <p:txBody>
            <a:bodyPr vert="horz" wrap="none" lIns="36000" tIns="0" rIns="36000" bIns="0" numCol="1" rtlCol="0" anchor="ctr" anchorCtr="1"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1800" b="0" i="0" u="none" strike="noStrike" cap="none" normalizeH="0" baseline="0" smtClean="0">
                <a:ln>
                  <a:noFill/>
                </a:ln>
                <a:effectLst/>
                <a:latin typeface="Times New Roman" panose="02020603050405020304" pitchFamily="18" charset="0"/>
                <a:ea typeface="幼圆" panose="02010509060101010101" pitchFamily="49" charset="-122"/>
              </a:endParaRPr>
            </a:p>
          </p:txBody>
        </p:sp>
        <p:sp>
          <p:nvSpPr>
            <p:cNvPr id="24" name="文本框 23"/>
            <p:cNvSpPr txBox="1"/>
            <p:nvPr/>
          </p:nvSpPr>
          <p:spPr bwMode="auto">
            <a:xfrm>
              <a:off x="1655676" y="2297356"/>
              <a:ext cx="1080120" cy="415498"/>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zh-CN" altLang="en-US" sz="1400" dirty="0"/>
                <a:t>基</a:t>
              </a:r>
              <a:r>
                <a:rPr lang="zh-CN" altLang="en-US" sz="1400" dirty="0" smtClean="0"/>
                <a:t>类</a:t>
              </a:r>
              <a:r>
                <a:rPr lang="en-US" altLang="zh-CN" sz="1400" dirty="0" smtClean="0"/>
                <a:t>Point</a:t>
              </a:r>
              <a:endParaRPr lang="zh-CN" altLang="en-US" sz="1400" dirty="0" smtClean="0"/>
            </a:p>
          </p:txBody>
        </p:sp>
      </p:grpSp>
      <p:grpSp>
        <p:nvGrpSpPr>
          <p:cNvPr id="26" name="组合 25"/>
          <p:cNvGrpSpPr/>
          <p:nvPr/>
        </p:nvGrpSpPr>
        <p:grpSpPr>
          <a:xfrm>
            <a:off x="1419737" y="3658436"/>
            <a:ext cx="1080120" cy="1426747"/>
            <a:chOff x="1655676" y="2135773"/>
            <a:chExt cx="1080120" cy="738664"/>
          </a:xfrm>
        </p:grpSpPr>
        <p:sp>
          <p:nvSpPr>
            <p:cNvPr id="27" name="剪去单角的矩形 26"/>
            <p:cNvSpPr/>
            <p:nvPr/>
          </p:nvSpPr>
          <p:spPr bwMode="auto">
            <a:xfrm>
              <a:off x="1655676" y="2363828"/>
              <a:ext cx="900100" cy="371183"/>
            </a:xfrm>
            <a:prstGeom prst="snip1Rect">
              <a:avLst/>
            </a:prstGeom>
            <a:noFill/>
            <a:ln w="9525" cap="flat" cmpd="sng" algn="ctr">
              <a:solidFill>
                <a:schemeClr val="tx1"/>
              </a:solidFill>
              <a:prstDash val="solid"/>
              <a:round/>
              <a:headEnd type="none" w="med" len="med"/>
              <a:tailEnd type="none" w="med" len="med"/>
            </a:ln>
            <a:effectLst/>
          </p:spPr>
          <p:txBody>
            <a:bodyPr vert="horz" wrap="none" lIns="36000" tIns="0" rIns="36000" bIns="0" numCol="1" rtlCol="0" anchor="ctr" anchorCtr="1" compatLnSpc="1"/>
            <a:lstStyle/>
            <a:p>
              <a:pPr marL="0" marR="0" indent="0" algn="ctr" defTabSz="914400" rtl="0" eaLnBrk="1" fontAlgn="base" latinLnBrk="0" hangingPunct="1">
                <a:lnSpc>
                  <a:spcPct val="100000"/>
                </a:lnSpc>
                <a:spcBef>
                  <a:spcPct val="0"/>
                </a:spcBef>
                <a:spcAft>
                  <a:spcPct val="0"/>
                </a:spcAft>
                <a:buClrTx/>
                <a:buSzTx/>
                <a:buFontTx/>
                <a:buNone/>
              </a:pPr>
              <a:endParaRPr kumimoji="1" lang="zh-CN" altLang="en-US" sz="1800" b="0" i="0" u="none" strike="noStrike" cap="none" normalizeH="0" baseline="0" smtClean="0">
                <a:ln>
                  <a:noFill/>
                </a:ln>
                <a:effectLst/>
                <a:latin typeface="Times New Roman" panose="02020603050405020304" pitchFamily="18" charset="0"/>
                <a:ea typeface="幼圆" panose="02010509060101010101" pitchFamily="49" charset="-122"/>
              </a:endParaRPr>
            </a:p>
          </p:txBody>
        </p:sp>
        <p:sp>
          <p:nvSpPr>
            <p:cNvPr id="28" name="文本框 27"/>
            <p:cNvSpPr txBox="1"/>
            <p:nvPr/>
          </p:nvSpPr>
          <p:spPr bwMode="auto">
            <a:xfrm>
              <a:off x="1655676" y="2135773"/>
              <a:ext cx="1080120" cy="738664"/>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wrap="square" rtlCol="0" anchor="ctr">
              <a:spAutoFit/>
            </a:bodyPr>
            <a:lstStyle/>
            <a:p>
              <a:pPr algn="l" eaLnBrk="1" hangingPunct="1">
                <a:lnSpc>
                  <a:spcPct val="150000"/>
                </a:lnSpc>
                <a:spcBef>
                  <a:spcPct val="50000"/>
                </a:spcBef>
              </a:pPr>
              <a:r>
                <a:rPr lang="zh-CN" altLang="en-US" sz="1400" dirty="0"/>
                <a:t>派生</a:t>
              </a:r>
              <a:r>
                <a:rPr lang="zh-CN" altLang="en-US" sz="1400" dirty="0" smtClean="0"/>
                <a:t>类</a:t>
              </a:r>
              <a:r>
                <a:rPr lang="en-US" altLang="zh-CN" sz="1400" dirty="0" smtClean="0"/>
                <a:t>Rectangle</a:t>
              </a:r>
              <a:endParaRPr lang="zh-CN" altLang="en-US" sz="1400" dirty="0" smtClean="0"/>
            </a:p>
          </p:txBody>
        </p:sp>
      </p:grpSp>
      <p:cxnSp>
        <p:nvCxnSpPr>
          <p:cNvPr id="9" name="直接连接符 8"/>
          <p:cNvCxnSpPr>
            <a:endCxn id="24" idx="0"/>
          </p:cNvCxnSpPr>
          <p:nvPr/>
        </p:nvCxnSpPr>
        <p:spPr bwMode="auto">
          <a:xfrm flipH="1">
            <a:off x="2195736" y="1988840"/>
            <a:ext cx="1800200" cy="308516"/>
          </a:xfrm>
          <a:prstGeom prst="line">
            <a:avLst/>
          </a:prstGeom>
          <a:solidFill>
            <a:schemeClr val="accent1"/>
          </a:solidFill>
          <a:ln w="9525"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接连接符 30"/>
          <p:cNvCxnSpPr>
            <a:endCxn id="28" idx="3"/>
          </p:cNvCxnSpPr>
          <p:nvPr/>
        </p:nvCxnSpPr>
        <p:spPr bwMode="auto">
          <a:xfrm flipH="1" flipV="1">
            <a:off x="2499857" y="4371810"/>
            <a:ext cx="900100" cy="638692"/>
          </a:xfrm>
          <a:prstGeom prst="line">
            <a:avLst/>
          </a:prstGeom>
          <a:solidFill>
            <a:schemeClr val="accent1"/>
          </a:solidFill>
          <a:ln w="9525"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5" name="标题 1"/>
          <p:cNvSpPr>
            <a:spLocks noGrp="1"/>
          </p:cNvSpPr>
          <p:nvPr>
            <p:ph type="title"/>
          </p:nvPr>
        </p:nvSpPr>
        <p:spPr/>
        <p:txBody>
          <a:bodyPr/>
          <a:lstStyle/>
          <a:p>
            <a:pPr eaLnBrk="1" hangingPunct="1"/>
            <a:r>
              <a:rPr lang="zh-CN" altLang="en-US" b="1" dirty="0" smtClean="0"/>
              <a:t>例</a:t>
            </a:r>
            <a:r>
              <a:rPr lang="en-US" altLang="zh-CN" b="1" dirty="0" smtClean="0"/>
              <a:t>7-1 </a:t>
            </a:r>
            <a:r>
              <a:rPr lang="zh-CN" altLang="en-US" b="1" dirty="0" smtClean="0"/>
              <a:t>公有继承举例</a:t>
            </a:r>
            <a:endParaRPr kumimoji="1" lang="zh-CN" altLang="en-US" b="1" dirty="0" smtClean="0"/>
          </a:p>
        </p:txBody>
      </p:sp>
      <p:sp>
        <p:nvSpPr>
          <p:cNvPr id="23556" name="内容占位符 2"/>
          <p:cNvSpPr>
            <a:spLocks noGrp="1"/>
          </p:cNvSpPr>
          <p:nvPr>
            <p:ph idx="1"/>
          </p:nvPr>
        </p:nvSpPr>
        <p:spPr>
          <a:xfrm>
            <a:off x="611560" y="1124744"/>
            <a:ext cx="7886700" cy="5324535"/>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Point.h</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ifndef</a:t>
            </a:r>
            <a:r>
              <a:rPr kumimoji="0" lang="en-US" altLang="zh-CN" sz="2000" b="1" dirty="0">
                <a:solidFill>
                  <a:srgbClr val="000000"/>
                </a:solidFill>
                <a:latin typeface="Times New Roman" panose="02020603050405020304" pitchFamily="18" charset="0"/>
                <a:ea typeface="华文楷体" panose="02010600040101010101" pitchFamily="2" charset="-122"/>
              </a:rPr>
              <a:t> _POINT_H</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#define _</a:t>
            </a:r>
            <a:r>
              <a:rPr kumimoji="0" lang="en-US" altLang="zh-CN" sz="2000" b="1" dirty="0" smtClean="0">
                <a:solidFill>
                  <a:srgbClr val="000000"/>
                </a:solidFill>
                <a:latin typeface="Times New Roman" panose="02020603050405020304" pitchFamily="18" charset="0"/>
                <a:ea typeface="华文楷体" panose="02010600040101010101" pitchFamily="2" charset="-122"/>
              </a:rPr>
              <a:t>POINT_H</a:t>
            </a:r>
            <a:endParaRPr kumimoji="0" lang="en-US" altLang="zh-CN" sz="2000" b="1" dirty="0" smtClean="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Point {	//</a:t>
            </a:r>
            <a:r>
              <a:rPr kumimoji="0" lang="zh-CN" altLang="en-US" sz="2000" b="1" dirty="0">
                <a:solidFill>
                  <a:srgbClr val="000000"/>
                </a:solidFill>
                <a:latin typeface="Times New Roman" panose="02020603050405020304" pitchFamily="18" charset="0"/>
                <a:ea typeface="华文楷体" panose="02010600040101010101" pitchFamily="2" charset="-122"/>
              </a:rPr>
              <a:t>基类</a:t>
            </a:r>
            <a:r>
              <a:rPr kumimoji="0" lang="en-US" altLang="zh-CN" sz="2000" b="1" dirty="0">
                <a:solidFill>
                  <a:srgbClr val="000000"/>
                </a:solidFill>
                <a:latin typeface="Times New Roman" panose="02020603050405020304" pitchFamily="18" charset="0"/>
                <a:ea typeface="华文楷体" panose="02010600040101010101" pitchFamily="2" charset="-122"/>
              </a:rPr>
              <a:t>Point</a:t>
            </a:r>
            <a:r>
              <a:rPr kumimoji="0" lang="zh-CN" altLang="en-US" sz="2000" b="1" dirty="0">
                <a:solidFill>
                  <a:srgbClr val="000000"/>
                </a:solidFill>
                <a:latin typeface="Times New Roman" panose="02020603050405020304" pitchFamily="18" charset="0"/>
                <a:ea typeface="华文楷体" panose="02010600040101010101" pitchFamily="2" charset="-122"/>
              </a:rPr>
              <a:t>类的定义</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		//</a:t>
            </a:r>
            <a:r>
              <a:rPr kumimoji="0" lang="zh-CN" altLang="en-US" sz="2000" b="1" dirty="0">
                <a:solidFill>
                  <a:srgbClr val="000000"/>
                </a:solidFill>
                <a:latin typeface="Times New Roman" panose="02020603050405020304" pitchFamily="18" charset="0"/>
                <a:ea typeface="华文楷体" panose="02010600040101010101" pitchFamily="2" charset="-122"/>
              </a:rPr>
              <a:t>公有函数成员</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void </a:t>
            </a:r>
            <a:r>
              <a:rPr kumimoji="0" lang="en-US" altLang="zh-CN" sz="2000" b="1" dirty="0" err="1">
                <a:solidFill>
                  <a:srgbClr val="000000"/>
                </a:solidFill>
                <a:latin typeface="Times New Roman" panose="02020603050405020304" pitchFamily="18" charset="0"/>
                <a:ea typeface="华文楷体" panose="02010600040101010101" pitchFamily="2" charset="-122"/>
              </a:rPr>
              <a:t>initPoint</a:t>
            </a:r>
            <a:r>
              <a:rPr kumimoji="0" lang="en-US" altLang="zh-CN" sz="2000" b="1" dirty="0">
                <a:solidFill>
                  <a:srgbClr val="000000"/>
                </a:solidFill>
                <a:latin typeface="Times New Roman" panose="02020603050405020304" pitchFamily="18" charset="0"/>
                <a:ea typeface="华文楷体" panose="02010600040101010101" pitchFamily="2" charset="-122"/>
              </a:rPr>
              <a:t>(float x = 0, float y = 0)</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	{ </a:t>
            </a:r>
            <a:r>
              <a:rPr kumimoji="0" lang="en-US" altLang="zh-CN" sz="2000" b="1" dirty="0">
                <a:solidFill>
                  <a:srgbClr val="000000"/>
                </a:solidFill>
                <a:latin typeface="Times New Roman" panose="02020603050405020304" pitchFamily="18" charset="0"/>
                <a:ea typeface="华文楷体" panose="02010600040101010101" pitchFamily="2" charset="-122"/>
              </a:rPr>
              <a:t>this-&gt;x = x; this-&gt;y = y;}</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move(float </a:t>
            </a:r>
            <a:r>
              <a:rPr kumimoji="0" lang="en-US" altLang="zh-CN" sz="2000" b="1" dirty="0" err="1">
                <a:solidFill>
                  <a:srgbClr val="000000"/>
                </a:solidFill>
                <a:latin typeface="Times New Roman" panose="02020603050405020304" pitchFamily="18" charset="0"/>
                <a:ea typeface="华文楷体" panose="02010600040101010101" pitchFamily="2" charset="-122"/>
              </a:rPr>
              <a:t>offX</a:t>
            </a:r>
            <a:r>
              <a:rPr kumimoji="0" lang="en-US" altLang="zh-CN" sz="2000" b="1" dirty="0">
                <a:solidFill>
                  <a:srgbClr val="000000"/>
                </a:solidFill>
                <a:latin typeface="Times New Roman" panose="02020603050405020304" pitchFamily="18" charset="0"/>
                <a:ea typeface="华文楷体" panose="02010600040101010101" pitchFamily="2" charset="-122"/>
              </a:rPr>
              <a:t>, float </a:t>
            </a:r>
            <a:r>
              <a:rPr kumimoji="0" lang="en-US" altLang="zh-CN" sz="2000" b="1" dirty="0" err="1">
                <a:solidFill>
                  <a:srgbClr val="000000"/>
                </a:solidFill>
                <a:latin typeface="Times New Roman" panose="02020603050405020304" pitchFamily="18" charset="0"/>
                <a:ea typeface="华文楷体" panose="02010600040101010101" pitchFamily="2" charset="-122"/>
              </a:rPr>
              <a:t>offY</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	{ </a:t>
            </a:r>
            <a:r>
              <a:rPr kumimoji="0" lang="en-US" altLang="zh-CN" sz="2000" b="1" dirty="0">
                <a:solidFill>
                  <a:srgbClr val="000000"/>
                </a:solidFill>
                <a:latin typeface="Times New Roman" panose="02020603050405020304" pitchFamily="18" charset="0"/>
                <a:ea typeface="华文楷体" panose="02010600040101010101" pitchFamily="2" charset="-122"/>
              </a:rPr>
              <a:t>x += </a:t>
            </a:r>
            <a:r>
              <a:rPr kumimoji="0" lang="en-US" altLang="zh-CN" sz="2000" b="1" dirty="0" err="1">
                <a:solidFill>
                  <a:srgbClr val="000000"/>
                </a:solidFill>
                <a:latin typeface="Times New Roman" panose="02020603050405020304" pitchFamily="18" charset="0"/>
                <a:ea typeface="华文楷体" panose="02010600040101010101" pitchFamily="2" charset="-122"/>
              </a:rPr>
              <a:t>offX</a:t>
            </a:r>
            <a:r>
              <a:rPr kumimoji="0" lang="en-US" altLang="zh-CN" sz="2000" b="1" dirty="0">
                <a:solidFill>
                  <a:srgbClr val="000000"/>
                </a:solidFill>
                <a:latin typeface="Times New Roman" panose="02020603050405020304" pitchFamily="18" charset="0"/>
                <a:ea typeface="华文楷体" panose="02010600040101010101" pitchFamily="2" charset="-122"/>
              </a:rPr>
              <a:t>; y += </a:t>
            </a:r>
            <a:r>
              <a:rPr kumimoji="0" lang="en-US" altLang="zh-CN" sz="2000" b="1" dirty="0" err="1">
                <a:solidFill>
                  <a:srgbClr val="000000"/>
                </a:solidFill>
                <a:latin typeface="Times New Roman" panose="02020603050405020304" pitchFamily="18" charset="0"/>
                <a:ea typeface="华文楷体" panose="02010600040101010101" pitchFamily="2" charset="-122"/>
              </a:rPr>
              <a:t>offY</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float </a:t>
            </a:r>
            <a:r>
              <a:rPr kumimoji="0" lang="en-US" altLang="zh-CN" sz="2000" b="1" dirty="0" err="1">
                <a:solidFill>
                  <a:srgbClr val="000000"/>
                </a:solidFill>
                <a:latin typeface="Times New Roman" panose="02020603050405020304" pitchFamily="18" charset="0"/>
                <a:ea typeface="华文楷体" panose="02010600040101010101" pitchFamily="2" charset="-122"/>
              </a:rPr>
              <a:t>getX</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 return x;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float </a:t>
            </a:r>
            <a:r>
              <a:rPr kumimoji="0" lang="en-US" altLang="zh-CN" sz="2000" b="1" dirty="0" err="1">
                <a:solidFill>
                  <a:srgbClr val="000000"/>
                </a:solidFill>
                <a:latin typeface="Times New Roman" panose="02020603050405020304" pitchFamily="18" charset="0"/>
                <a:ea typeface="华文楷体" panose="02010600040101010101" pitchFamily="2" charset="-122"/>
              </a:rPr>
              <a:t>getY</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 return y;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private:		//</a:t>
            </a:r>
            <a:r>
              <a:rPr kumimoji="0" lang="zh-CN" altLang="en-US" sz="2000" b="1" dirty="0">
                <a:solidFill>
                  <a:srgbClr val="000000"/>
                </a:solidFill>
                <a:latin typeface="Times New Roman" panose="02020603050405020304" pitchFamily="18" charset="0"/>
                <a:ea typeface="华文楷体" panose="02010600040101010101" pitchFamily="2" charset="-122"/>
              </a:rPr>
              <a:t>私有数据成员</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float x, y;</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endParaRPr kumimoji="0" lang="en-US" altLang="zh-CN" sz="2000" b="1" dirty="0" smtClean="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endif</a:t>
            </a:r>
            <a:r>
              <a:rPr kumimoji="0" lang="en-US" altLang="zh-CN" sz="2000" b="1" dirty="0">
                <a:solidFill>
                  <a:srgbClr val="000000"/>
                </a:solidFill>
                <a:latin typeface="Times New Roman" panose="02020603050405020304" pitchFamily="18" charset="0"/>
                <a:ea typeface="华文楷体" panose="02010600040101010101" pitchFamily="2" charset="-122"/>
              </a:rPr>
              <a:t> //_POINT_H</a:t>
            </a:r>
            <a:endParaRPr kumimoji="0" lang="zh-CN" altLang="en-US"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9" name="标题 1"/>
          <p:cNvSpPr>
            <a:spLocks noGrp="1"/>
          </p:cNvSpPr>
          <p:nvPr>
            <p:ph type="title"/>
          </p:nvPr>
        </p:nvSpPr>
        <p:spPr>
          <a:xfrm>
            <a:off x="428625" y="357188"/>
            <a:ext cx="8229600" cy="1000125"/>
          </a:xfrm>
        </p:spPr>
        <p:txBody>
          <a:bodyPr/>
          <a:lstStyle/>
          <a:p>
            <a:r>
              <a:rPr lang="zh-CN" altLang="en-US" b="1"/>
              <a:t>例</a:t>
            </a:r>
            <a:r>
              <a:rPr lang="en-US" altLang="zh-CN" b="1"/>
              <a:t>7-1 (</a:t>
            </a:r>
            <a:r>
              <a:rPr lang="zh-CN" altLang="en-US" b="1"/>
              <a:t>续</a:t>
            </a:r>
            <a:r>
              <a:rPr lang="en-US" altLang="zh-CN" b="1"/>
              <a:t>)</a:t>
            </a:r>
            <a:endParaRPr lang="zh-CN" altLang="en-US" b="1"/>
          </a:p>
        </p:txBody>
      </p:sp>
      <p:sp>
        <p:nvSpPr>
          <p:cNvPr id="24580" name="内容占位符 2"/>
          <p:cNvSpPr>
            <a:spLocks noGrp="1"/>
          </p:cNvSpPr>
          <p:nvPr>
            <p:ph idx="1"/>
          </p:nvPr>
        </p:nvSpPr>
        <p:spPr>
          <a:xfrm>
            <a:off x="457200" y="1143000"/>
            <a:ext cx="8229600" cy="5500688"/>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Rectangle.h</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ifndef</a:t>
            </a:r>
            <a:r>
              <a:rPr kumimoji="0" lang="en-US" altLang="zh-CN" sz="2000" b="1" dirty="0">
                <a:solidFill>
                  <a:srgbClr val="000000"/>
                </a:solidFill>
                <a:latin typeface="Times New Roman" panose="02020603050405020304" pitchFamily="18" charset="0"/>
                <a:ea typeface="华文楷体" panose="02010600040101010101" pitchFamily="2" charset="-122"/>
              </a:rPr>
              <a:t> _RECTANGLE_H</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#define _RECTANGLE_H</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a:t>
            </a:r>
            <a:r>
              <a:rPr kumimoji="0" lang="en-US" altLang="zh-CN" sz="2000" b="1" dirty="0" err="1">
                <a:solidFill>
                  <a:srgbClr val="000000"/>
                </a:solidFill>
                <a:latin typeface="Times New Roman" panose="02020603050405020304" pitchFamily="18" charset="0"/>
                <a:ea typeface="华文楷体" panose="02010600040101010101" pitchFamily="2" charset="-122"/>
              </a:rPr>
              <a:t>Point.h</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Rectangle: public Point {	//</a:t>
            </a:r>
            <a:r>
              <a:rPr kumimoji="0" lang="zh-CN" altLang="en-US" sz="2000" b="1" dirty="0">
                <a:solidFill>
                  <a:srgbClr val="000000"/>
                </a:solidFill>
                <a:latin typeface="Times New Roman" panose="02020603050405020304" pitchFamily="18" charset="0"/>
                <a:ea typeface="华文楷体" panose="02010600040101010101" pitchFamily="2" charset="-122"/>
              </a:rPr>
              <a:t>派生类定义部分</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新增公有函数成员</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void </a:t>
            </a:r>
            <a:r>
              <a:rPr kumimoji="0" lang="en-US" altLang="zh-CN" sz="2000" b="1" dirty="0" err="1">
                <a:solidFill>
                  <a:srgbClr val="000000"/>
                </a:solidFill>
                <a:latin typeface="Times New Roman" panose="02020603050405020304" pitchFamily="18" charset="0"/>
                <a:ea typeface="华文楷体" panose="02010600040101010101" pitchFamily="2" charset="-122"/>
              </a:rPr>
              <a:t>initRectangle</a:t>
            </a:r>
            <a:r>
              <a:rPr kumimoji="0" lang="en-US" altLang="zh-CN" sz="2000" b="1" dirty="0">
                <a:solidFill>
                  <a:srgbClr val="000000"/>
                </a:solidFill>
                <a:latin typeface="Times New Roman" panose="02020603050405020304" pitchFamily="18" charset="0"/>
                <a:ea typeface="华文楷体" panose="02010600040101010101" pitchFamily="2" charset="-122"/>
              </a:rPr>
              <a:t>(float x, float y, float w, float h)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initPoint</a:t>
            </a:r>
            <a:r>
              <a:rPr kumimoji="0" lang="en-US" altLang="zh-CN" sz="2000" b="1" dirty="0">
                <a:solidFill>
                  <a:srgbClr val="000000"/>
                </a:solidFill>
                <a:latin typeface="Times New Roman" panose="02020603050405020304" pitchFamily="18" charset="0"/>
                <a:ea typeface="华文楷体" panose="02010600040101010101" pitchFamily="2" charset="-122"/>
              </a:rPr>
              <a:t>(x, y);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调用基类公有成员函数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this-&gt;w = w;</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this-&gt;h = h;</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float </a:t>
            </a:r>
            <a:r>
              <a:rPr kumimoji="0" lang="en-US" altLang="zh-CN" sz="2000" b="1" dirty="0" err="1">
                <a:solidFill>
                  <a:srgbClr val="000000"/>
                </a:solidFill>
                <a:latin typeface="Times New Roman" panose="02020603050405020304" pitchFamily="18" charset="0"/>
                <a:ea typeface="华文楷体" panose="02010600040101010101" pitchFamily="2" charset="-122"/>
              </a:rPr>
              <a:t>getH</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 return h;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float </a:t>
            </a:r>
            <a:r>
              <a:rPr kumimoji="0" lang="en-US" altLang="zh-CN" sz="2000" b="1" dirty="0" err="1">
                <a:solidFill>
                  <a:srgbClr val="000000"/>
                </a:solidFill>
                <a:latin typeface="Times New Roman" panose="02020603050405020304" pitchFamily="18" charset="0"/>
                <a:ea typeface="华文楷体" panose="02010600040101010101" pitchFamily="2" charset="-122"/>
              </a:rPr>
              <a:t>getW</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 return w;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private: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新增私有数据成员</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float w, h;</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endif</a:t>
            </a:r>
            <a:r>
              <a:rPr kumimoji="0" lang="en-US" altLang="zh-CN" sz="2000" b="1" dirty="0">
                <a:solidFill>
                  <a:srgbClr val="000000"/>
                </a:solidFill>
                <a:latin typeface="Times New Roman" panose="02020603050405020304" pitchFamily="18" charset="0"/>
                <a:ea typeface="华文楷体" panose="02010600040101010101" pitchFamily="2" charset="-122"/>
              </a:rPr>
              <a:t> //_RECTANGLE_H</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3" name="标题 1"/>
          <p:cNvSpPr>
            <a:spLocks noGrp="1"/>
          </p:cNvSpPr>
          <p:nvPr>
            <p:ph type="title"/>
          </p:nvPr>
        </p:nvSpPr>
        <p:spPr/>
        <p:txBody>
          <a:bodyPr/>
          <a:lstStyle/>
          <a:p>
            <a:r>
              <a:rPr lang="zh-CN" altLang="en-US" b="1"/>
              <a:t>例</a:t>
            </a:r>
            <a:r>
              <a:rPr lang="en-US" altLang="zh-CN" b="1"/>
              <a:t>7-1 (</a:t>
            </a:r>
            <a:r>
              <a:rPr lang="zh-CN" altLang="en-US" b="1"/>
              <a:t>续</a:t>
            </a:r>
            <a:r>
              <a:rPr lang="en-US" altLang="zh-CN" b="1"/>
              <a:t>)</a:t>
            </a:r>
            <a:endParaRPr lang="zh-CN" altLang="en-US" b="1"/>
          </a:p>
        </p:txBody>
      </p:sp>
      <p:sp>
        <p:nvSpPr>
          <p:cNvPr id="25604" name="内容占位符 2"/>
          <p:cNvSpPr>
            <a:spLocks noGrp="1"/>
          </p:cNvSpPr>
          <p:nvPr>
            <p:ph idx="1"/>
          </p:nvPr>
        </p:nvSpPr>
        <p:spPr>
          <a:xfrm>
            <a:off x="683568" y="980728"/>
            <a:ext cx="7886700" cy="5632311"/>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&lt;</a:t>
            </a:r>
            <a:r>
              <a:rPr kumimoji="0" lang="en-US" altLang="zh-CN" sz="2000" b="1" dirty="0" err="1">
                <a:solidFill>
                  <a:srgbClr val="000000"/>
                </a:solidFill>
                <a:latin typeface="Times New Roman" panose="02020603050405020304" pitchFamily="18" charset="0"/>
                <a:ea typeface="华文楷体" panose="02010600040101010101" pitchFamily="2" charset="-122"/>
              </a:rPr>
              <a:t>iostream</a:t>
            </a:r>
            <a:r>
              <a:rPr kumimoji="0" lang="en-US" altLang="zh-CN" sz="2000" b="1" dirty="0">
                <a:solidFill>
                  <a:srgbClr val="000000"/>
                </a:solidFill>
                <a:latin typeface="Times New Roman" panose="02020603050405020304" pitchFamily="18" charset="0"/>
                <a:ea typeface="华文楷体" panose="02010600040101010101" pitchFamily="2" charset="-122"/>
              </a:rPr>
              <a:t>&gt;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&lt;</a:t>
            </a:r>
            <a:r>
              <a:rPr kumimoji="0" lang="en-US" altLang="zh-CN" sz="2000" b="1" dirty="0" err="1">
                <a:solidFill>
                  <a:srgbClr val="000000"/>
                </a:solidFill>
                <a:latin typeface="Times New Roman" panose="02020603050405020304" pitchFamily="18" charset="0"/>
                <a:ea typeface="华文楷体" panose="02010600040101010101" pitchFamily="2" charset="-122"/>
              </a:rPr>
              <a:t>cmath</a:t>
            </a:r>
            <a:r>
              <a:rPr kumimoji="0" lang="en-US" altLang="zh-CN" sz="2000" b="1" dirty="0">
                <a:solidFill>
                  <a:srgbClr val="000000"/>
                </a:solidFill>
                <a:latin typeface="Times New Roman" panose="02020603050405020304" pitchFamily="18" charset="0"/>
                <a:ea typeface="华文楷体" panose="02010600040101010101" pitchFamily="2" charset="-122"/>
              </a:rPr>
              <a:t>&gt;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using namespace </a:t>
            </a:r>
            <a:r>
              <a:rPr kumimoji="0" lang="en-US" altLang="zh-CN" sz="2000" b="1" dirty="0" err="1">
                <a:solidFill>
                  <a:srgbClr val="000000"/>
                </a:solidFill>
                <a:latin typeface="Times New Roman" panose="02020603050405020304" pitchFamily="18" charset="0"/>
                <a:ea typeface="华文楷体" panose="02010600040101010101" pitchFamily="2" charset="-122"/>
              </a:rPr>
              <a:t>std</a:t>
            </a: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endParaRPr kumimoji="0" lang="en-US" altLang="zh-CN" sz="2000" b="1" dirty="0" smtClean="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main()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Rectangle </a:t>
            </a:r>
            <a:r>
              <a:rPr kumimoji="0" lang="en-US" altLang="zh-CN" sz="2000" b="1" dirty="0" err="1">
                <a:solidFill>
                  <a:srgbClr val="000000"/>
                </a:solidFill>
                <a:latin typeface="Times New Roman" panose="02020603050405020304" pitchFamily="18" charset="0"/>
                <a:ea typeface="华文楷体" panose="02010600040101010101" pitchFamily="2" charset="-122"/>
              </a:rPr>
              <a:t>rect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定义</a:t>
            </a:r>
            <a:r>
              <a:rPr kumimoji="0" lang="en-US" altLang="zh-CN" sz="2000" b="1" dirty="0">
                <a:solidFill>
                  <a:srgbClr val="000000"/>
                </a:solidFill>
                <a:latin typeface="Times New Roman" panose="02020603050405020304" pitchFamily="18" charset="0"/>
                <a:ea typeface="华文楷体" panose="02010600040101010101" pitchFamily="2" charset="-122"/>
              </a:rPr>
              <a:t>Rectangle</a:t>
            </a:r>
            <a:r>
              <a:rPr kumimoji="0" lang="zh-CN" altLang="en-US" sz="2000" b="1" dirty="0">
                <a:solidFill>
                  <a:srgbClr val="000000"/>
                </a:solidFill>
                <a:latin typeface="Times New Roman" panose="02020603050405020304" pitchFamily="18" charset="0"/>
                <a:ea typeface="华文楷体" panose="02010600040101010101" pitchFamily="2" charset="-122"/>
              </a:rPr>
              <a:t>类的</a:t>
            </a:r>
            <a:r>
              <a:rPr kumimoji="0" lang="zh-CN" altLang="en-US" sz="2000" b="1" dirty="0" smtClean="0">
                <a:solidFill>
                  <a:srgbClr val="000000"/>
                </a:solidFill>
                <a:latin typeface="Times New Roman" panose="02020603050405020304" pitchFamily="18" charset="0"/>
                <a:ea typeface="华文楷体" panose="02010600040101010101" pitchFamily="2" charset="-122"/>
              </a:rPr>
              <a:t>对象</a:t>
            </a:r>
            <a:endParaRPr kumimoji="0" lang="en-US" altLang="zh-CN" sz="2000" b="1" dirty="0" smtClean="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zh-CN" altLang="en-US" sz="2000" b="1" dirty="0">
                <a:solidFill>
                  <a:srgbClr val="000000"/>
                </a:solidFill>
                <a:latin typeface="Times New Roman" panose="02020603050405020304" pitchFamily="18" charset="0"/>
                <a:ea typeface="华文楷体" panose="02010600040101010101" pitchFamily="2" charset="-122"/>
              </a:rPr>
              <a:t>设置矩形的数据</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rect.initRectangle</a:t>
            </a:r>
            <a:r>
              <a:rPr kumimoji="0" lang="en-US" altLang="zh-CN" sz="2000" b="1" dirty="0">
                <a:solidFill>
                  <a:srgbClr val="000000"/>
                </a:solidFill>
                <a:latin typeface="Times New Roman" panose="02020603050405020304" pitchFamily="18" charset="0"/>
                <a:ea typeface="华文楷体" panose="02010600040101010101" pitchFamily="2" charset="-122"/>
              </a:rPr>
              <a:t>(2, 3, 20, 10);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rect.move</a:t>
            </a:r>
            <a:r>
              <a:rPr kumimoji="0" lang="en-US" altLang="zh-CN" sz="2000" b="1" dirty="0">
                <a:solidFill>
                  <a:srgbClr val="000000"/>
                </a:solidFill>
                <a:latin typeface="Times New Roman" panose="02020603050405020304" pitchFamily="18" charset="0"/>
                <a:ea typeface="华文楷体" panose="02010600040101010101" pitchFamily="2" charset="-122"/>
              </a:rPr>
              <a:t>(3,2);	//</a:t>
            </a:r>
            <a:r>
              <a:rPr kumimoji="0" lang="zh-CN" altLang="en-US" sz="2000" b="1" dirty="0">
                <a:solidFill>
                  <a:srgbClr val="000000"/>
                </a:solidFill>
                <a:latin typeface="Times New Roman" panose="02020603050405020304" pitchFamily="18" charset="0"/>
                <a:ea typeface="华文楷体" panose="02010600040101010101" pitchFamily="2" charset="-122"/>
              </a:rPr>
              <a:t>移动矩形位置</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"The data of </a:t>
            </a:r>
            <a:r>
              <a:rPr kumimoji="0" lang="en-US" altLang="zh-CN" sz="2000" b="1" dirty="0" err="1">
                <a:solidFill>
                  <a:srgbClr val="000000"/>
                </a:solidFill>
                <a:latin typeface="Times New Roman" panose="02020603050405020304" pitchFamily="18" charset="0"/>
                <a:ea typeface="华文楷体" panose="02010600040101010101" pitchFamily="2" charset="-122"/>
              </a:rPr>
              <a:t>rect</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x,y,w,h</a:t>
            </a:r>
            <a:r>
              <a:rPr kumimoji="0" lang="en-US" altLang="zh-CN" sz="2000" b="1" dirty="0">
                <a:solidFill>
                  <a:srgbClr val="000000"/>
                </a:solidFill>
                <a:latin typeface="Times New Roman" panose="02020603050405020304" pitchFamily="18" charset="0"/>
                <a:ea typeface="华文楷体" panose="02010600040101010101" pitchFamily="2" charset="-122"/>
              </a:rPr>
              <a:t>): "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输出矩形的特征参数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a:t>
            </a:r>
            <a:r>
              <a:rPr kumimoji="0" lang="en-US" altLang="zh-CN" sz="2000" b="1" dirty="0" err="1">
                <a:solidFill>
                  <a:srgbClr val="000000"/>
                </a:solidFill>
                <a:latin typeface="Times New Roman" panose="02020603050405020304" pitchFamily="18" charset="0"/>
                <a:ea typeface="华文楷体" panose="02010600040101010101" pitchFamily="2" charset="-122"/>
              </a:rPr>
              <a:t>rect.getX</a:t>
            </a:r>
            <a:r>
              <a:rPr kumimoji="0" lang="en-US" altLang="zh-CN" sz="2000" b="1" dirty="0">
                <a:solidFill>
                  <a:srgbClr val="000000"/>
                </a:solidFill>
                <a:latin typeface="Times New Roman" panose="02020603050405020304" pitchFamily="18" charset="0"/>
                <a:ea typeface="华文楷体" panose="02010600040101010101" pitchFamily="2" charset="-122"/>
              </a:rPr>
              <a:t>() &lt;&lt;",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&lt;&lt; </a:t>
            </a:r>
            <a:r>
              <a:rPr kumimoji="0" lang="en-US" altLang="zh-CN" sz="2000" b="1" dirty="0" err="1">
                <a:solidFill>
                  <a:srgbClr val="000000"/>
                </a:solidFill>
                <a:latin typeface="Times New Roman" panose="02020603050405020304" pitchFamily="18" charset="0"/>
                <a:ea typeface="华文楷体" panose="02010600040101010101" pitchFamily="2" charset="-122"/>
              </a:rPr>
              <a:t>rect.getY</a:t>
            </a:r>
            <a:r>
              <a:rPr kumimoji="0" lang="en-US" altLang="zh-CN" sz="2000" b="1" dirty="0">
                <a:solidFill>
                  <a:srgbClr val="000000"/>
                </a:solidFill>
                <a:latin typeface="Times New Roman" panose="02020603050405020304" pitchFamily="18" charset="0"/>
                <a:ea typeface="华文楷体" panose="02010600040101010101" pitchFamily="2" charset="-122"/>
              </a:rPr>
              <a:t>() &lt;&lt; ",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&lt;&lt; </a:t>
            </a:r>
            <a:r>
              <a:rPr kumimoji="0" lang="en-US" altLang="zh-CN" sz="2000" b="1" dirty="0" err="1">
                <a:solidFill>
                  <a:srgbClr val="000000"/>
                </a:solidFill>
                <a:latin typeface="Times New Roman" panose="02020603050405020304" pitchFamily="18" charset="0"/>
                <a:ea typeface="华文楷体" panose="02010600040101010101" pitchFamily="2" charset="-122"/>
              </a:rPr>
              <a:t>rect.getW</a:t>
            </a:r>
            <a:r>
              <a:rPr kumimoji="0" lang="en-US" altLang="zh-CN" sz="2000" b="1" dirty="0">
                <a:solidFill>
                  <a:srgbClr val="000000"/>
                </a:solidFill>
                <a:latin typeface="Times New Roman" panose="02020603050405020304" pitchFamily="18" charset="0"/>
                <a:ea typeface="华文楷体" panose="02010600040101010101" pitchFamily="2" charset="-122"/>
              </a:rPr>
              <a:t>() &lt;&lt; ",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&lt;&lt; </a:t>
            </a:r>
            <a:r>
              <a:rPr kumimoji="0" lang="en-US" altLang="zh-CN" sz="2000" b="1" dirty="0" err="1">
                <a:solidFill>
                  <a:srgbClr val="000000"/>
                </a:solidFill>
                <a:latin typeface="Times New Roman" panose="02020603050405020304" pitchFamily="18" charset="0"/>
                <a:ea typeface="华文楷体" panose="02010600040101010101" pitchFamily="2" charset="-122"/>
              </a:rPr>
              <a:t>rect.getH</a:t>
            </a:r>
            <a:r>
              <a:rPr kumimoji="0" lang="en-US" altLang="zh-CN" sz="2000" b="1" dirty="0">
                <a:solidFill>
                  <a:srgbClr val="000000"/>
                </a:solidFill>
                <a:latin typeface="Times New Roman" panose="02020603050405020304" pitchFamily="18" charset="0"/>
                <a:ea typeface="华文楷体" panose="02010600040101010101" pitchFamily="2" charset="-122"/>
              </a:rPr>
              <a:t>()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return 0;</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7.2.2 </a:t>
            </a:r>
            <a:r>
              <a:rPr lang="zh-CN" altLang="en-US" sz="4400" b="1">
                <a:latin typeface="Times New Roman" panose="02020603050405020304" pitchFamily="18" charset="0"/>
                <a:ea typeface="隶书" panose="02010509060101010101" pitchFamily="49" charset="-122"/>
              </a:rPr>
              <a:t>私有继承</a:t>
            </a:r>
            <a:r>
              <a:rPr lang="en-US" altLang="zh-CN" sz="4400" b="1">
                <a:latin typeface="Times New Roman" panose="02020603050405020304" pitchFamily="18" charset="0"/>
                <a:ea typeface="隶书" panose="02010509060101010101" pitchFamily="49" charset="-122"/>
              </a:rPr>
              <a:t>(private)</a:t>
            </a:r>
            <a:endParaRPr lang="zh-CN" altLang="en-US" sz="4400" b="1">
              <a:latin typeface="Times New Roman" panose="02020603050405020304" pitchFamily="18" charset="0"/>
              <a:ea typeface="隶书" panose="02010509060101010101" pitchFamily="49" charset="-122"/>
            </a:endParaRPr>
          </a:p>
        </p:txBody>
      </p:sp>
      <p:sp>
        <p:nvSpPr>
          <p:cNvPr id="26627" name="内容占位符 2"/>
          <p:cNvSpPr>
            <a:spLocks noGrp="1"/>
          </p:cNvSpPr>
          <p:nvPr>
            <p:ph idx="1"/>
          </p:nvPr>
        </p:nvSpPr>
        <p:spPr/>
        <p:txBody>
          <a:bodyPr/>
          <a:lstStyle/>
          <a:p>
            <a:pPr>
              <a:lnSpc>
                <a:spcPct val="150000"/>
              </a:lnSpc>
              <a:spcAft>
                <a:spcPct val="25000"/>
              </a:spcAft>
            </a:pPr>
            <a:r>
              <a:rPr lang="zh-CN" altLang="en-US" sz="2400" b="1">
                <a:ea typeface="华文楷体" panose="02010600040101010101" pitchFamily="2" charset="-122"/>
              </a:rPr>
              <a:t>基类的</a:t>
            </a:r>
            <a:r>
              <a:rPr lang="en-US" altLang="zh-CN" sz="2400" b="1">
                <a:ea typeface="华文楷体" panose="02010600040101010101" pitchFamily="2" charset="-122"/>
              </a:rPr>
              <a:t>public</a:t>
            </a:r>
            <a:r>
              <a:rPr lang="zh-CN" altLang="en-US" sz="2400" b="1">
                <a:ea typeface="华文楷体" panose="02010600040101010101" pitchFamily="2" charset="-122"/>
              </a:rPr>
              <a:t>和</a:t>
            </a:r>
            <a:r>
              <a:rPr lang="en-US" altLang="zh-CN" sz="2400" b="1">
                <a:ea typeface="华文楷体" panose="02010600040101010101" pitchFamily="2" charset="-122"/>
              </a:rPr>
              <a:t>protected</a:t>
            </a:r>
            <a:r>
              <a:rPr lang="zh-CN" altLang="en-US" sz="2400" b="1">
                <a:ea typeface="华文楷体" panose="02010600040101010101" pitchFamily="2" charset="-122"/>
              </a:rPr>
              <a:t>成员都以</a:t>
            </a:r>
            <a:r>
              <a:rPr lang="en-US" altLang="zh-CN" sz="2400" b="1">
                <a:ea typeface="华文楷体" panose="02010600040101010101" pitchFamily="2" charset="-122"/>
              </a:rPr>
              <a:t>private</a:t>
            </a:r>
            <a:r>
              <a:rPr lang="zh-CN" altLang="en-US" sz="2400" b="1">
                <a:ea typeface="华文楷体" panose="02010600040101010101" pitchFamily="2" charset="-122"/>
              </a:rPr>
              <a:t>身份出现在派生类中，但基类的</a:t>
            </a:r>
            <a:r>
              <a:rPr lang="en-US" altLang="zh-CN" sz="2400" b="1">
                <a:ea typeface="华文楷体" panose="02010600040101010101" pitchFamily="2" charset="-122"/>
              </a:rPr>
              <a:t>private</a:t>
            </a:r>
            <a:r>
              <a:rPr lang="zh-CN" altLang="en-US" sz="2400" b="1">
                <a:ea typeface="华文楷体" panose="02010600040101010101" pitchFamily="2" charset="-122"/>
              </a:rPr>
              <a:t>成员不可直接访问。</a:t>
            </a:r>
            <a:endParaRPr lang="zh-CN" altLang="en-US" sz="2400" b="1">
              <a:ea typeface="华文楷体" panose="02010600040101010101" pitchFamily="2" charset="-122"/>
            </a:endParaRPr>
          </a:p>
          <a:p>
            <a:pPr>
              <a:lnSpc>
                <a:spcPct val="150000"/>
              </a:lnSpc>
              <a:spcAft>
                <a:spcPct val="25000"/>
              </a:spcAft>
            </a:pPr>
            <a:r>
              <a:rPr lang="zh-CN" altLang="en-US" sz="2400" b="1">
                <a:ea typeface="华文楷体" panose="02010600040101010101" pitchFamily="2" charset="-122"/>
              </a:rPr>
              <a:t>派生类中的成员函数可以直接访问基类中的</a:t>
            </a:r>
            <a:r>
              <a:rPr lang="en-US" altLang="zh-CN" sz="2400" b="1">
                <a:ea typeface="华文楷体" panose="02010600040101010101" pitchFamily="2" charset="-122"/>
              </a:rPr>
              <a:t>public</a:t>
            </a:r>
            <a:r>
              <a:rPr lang="zh-CN" altLang="en-US" sz="2400" b="1">
                <a:ea typeface="华文楷体" panose="02010600040101010101" pitchFamily="2" charset="-122"/>
              </a:rPr>
              <a:t>和</a:t>
            </a:r>
            <a:r>
              <a:rPr lang="en-US" altLang="zh-CN" sz="2400" b="1">
                <a:ea typeface="华文楷体" panose="02010600040101010101" pitchFamily="2" charset="-122"/>
              </a:rPr>
              <a:t>protected</a:t>
            </a:r>
            <a:r>
              <a:rPr lang="zh-CN" altLang="en-US" sz="2400" b="1">
                <a:ea typeface="华文楷体" panose="02010600040101010101" pitchFamily="2" charset="-122"/>
              </a:rPr>
              <a:t>成员，但不能直接访问基类的</a:t>
            </a:r>
            <a:r>
              <a:rPr lang="en-US" altLang="zh-CN" sz="2400" b="1">
                <a:ea typeface="华文楷体" panose="02010600040101010101" pitchFamily="2" charset="-122"/>
              </a:rPr>
              <a:t>private</a:t>
            </a:r>
            <a:r>
              <a:rPr lang="zh-CN" altLang="en-US" sz="2400" b="1">
                <a:ea typeface="华文楷体" panose="02010600040101010101" pitchFamily="2" charset="-122"/>
              </a:rPr>
              <a:t>成员。</a:t>
            </a:r>
            <a:endParaRPr lang="zh-CN" altLang="en-US" sz="2400" b="1">
              <a:ea typeface="华文楷体" panose="02010600040101010101" pitchFamily="2" charset="-122"/>
            </a:endParaRPr>
          </a:p>
          <a:p>
            <a:pPr>
              <a:lnSpc>
                <a:spcPct val="150000"/>
              </a:lnSpc>
              <a:spcAft>
                <a:spcPct val="25000"/>
              </a:spcAft>
            </a:pPr>
            <a:r>
              <a:rPr lang="zh-CN" altLang="en-US" sz="2400" b="1">
                <a:ea typeface="华文楷体" panose="02010600040101010101" pitchFamily="2" charset="-122"/>
              </a:rPr>
              <a:t>通过派生类的对象不能直接访问基类中的任何成员。</a:t>
            </a:r>
            <a:endParaRPr lang="zh-CN" altLang="en-US" sz="2400" b="1">
              <a:ea typeface="华文楷体" panose="02010600040101010101" pitchFamily="2" charset="-122"/>
            </a:endParaRPr>
          </a:p>
          <a:p>
            <a:pPr>
              <a:lnSpc>
                <a:spcPct val="150000"/>
              </a:lnSpc>
              <a:spcAft>
                <a:spcPct val="25000"/>
              </a:spcAft>
            </a:pPr>
            <a:endParaRPr lang="zh-CN" altLang="en-US" sz="2400" b="1">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1" name="标题 1"/>
          <p:cNvSpPr>
            <a:spLocks noGrp="1"/>
          </p:cNvSpPr>
          <p:nvPr>
            <p:ph type="title"/>
          </p:nvPr>
        </p:nvSpPr>
        <p:spPr>
          <a:xfrm>
            <a:off x="428625" y="428625"/>
            <a:ext cx="8229600" cy="785813"/>
          </a:xfrm>
        </p:spPr>
        <p:txBody>
          <a:bodyPr/>
          <a:lstStyle/>
          <a:p>
            <a:pPr eaLnBrk="1" hangingPunct="1"/>
            <a:r>
              <a:rPr lang="zh-CN" altLang="en-US" b="1" dirty="0" smtClean="0"/>
              <a:t>例</a:t>
            </a:r>
            <a:r>
              <a:rPr lang="en-US" altLang="zh-CN" b="1" dirty="0" smtClean="0"/>
              <a:t>7-2 </a:t>
            </a:r>
            <a:r>
              <a:rPr lang="zh-CN" altLang="en-US" b="1" dirty="0" smtClean="0"/>
              <a:t>私有继承举例</a:t>
            </a:r>
            <a:endParaRPr kumimoji="1" lang="zh-CN" altLang="en-US" b="1" dirty="0" smtClean="0"/>
          </a:p>
        </p:txBody>
      </p:sp>
      <p:sp>
        <p:nvSpPr>
          <p:cNvPr id="27652" name="内容占位符 2"/>
          <p:cNvSpPr>
            <a:spLocks noGrp="1"/>
          </p:cNvSpPr>
          <p:nvPr>
            <p:ph idx="1"/>
          </p:nvPr>
        </p:nvSpPr>
        <p:spPr>
          <a:xfrm>
            <a:off x="457200" y="1071563"/>
            <a:ext cx="8229600" cy="5324535"/>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Point.h</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ifndef</a:t>
            </a:r>
            <a:r>
              <a:rPr kumimoji="0" lang="en-US" altLang="zh-CN" sz="2000" b="1" dirty="0">
                <a:solidFill>
                  <a:srgbClr val="000000"/>
                </a:solidFill>
                <a:latin typeface="Times New Roman" panose="02020603050405020304" pitchFamily="18" charset="0"/>
                <a:ea typeface="华文楷体" panose="02010600040101010101" pitchFamily="2" charset="-122"/>
              </a:rPr>
              <a:t> _POINT_H</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#define _</a:t>
            </a:r>
            <a:r>
              <a:rPr kumimoji="0" lang="en-US" altLang="zh-CN" sz="2000" b="1" dirty="0" smtClean="0">
                <a:solidFill>
                  <a:srgbClr val="000000"/>
                </a:solidFill>
                <a:latin typeface="Times New Roman" panose="02020603050405020304" pitchFamily="18" charset="0"/>
                <a:ea typeface="华文楷体" panose="02010600040101010101" pitchFamily="2" charset="-122"/>
              </a:rPr>
              <a:t>POINT_H</a:t>
            </a:r>
            <a:endParaRPr kumimoji="0" lang="en-US" altLang="zh-CN" sz="2000" b="1" dirty="0" smtClean="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Point {	//</a:t>
            </a:r>
            <a:r>
              <a:rPr kumimoji="0" lang="zh-CN" altLang="en-US" sz="2000" b="1" dirty="0">
                <a:solidFill>
                  <a:srgbClr val="000000"/>
                </a:solidFill>
                <a:latin typeface="Times New Roman" panose="02020603050405020304" pitchFamily="18" charset="0"/>
                <a:ea typeface="华文楷体" panose="02010600040101010101" pitchFamily="2" charset="-122"/>
              </a:rPr>
              <a:t>基类</a:t>
            </a:r>
            <a:r>
              <a:rPr kumimoji="0" lang="en-US" altLang="zh-CN" sz="2000" b="1" dirty="0">
                <a:solidFill>
                  <a:srgbClr val="000000"/>
                </a:solidFill>
                <a:latin typeface="Times New Roman" panose="02020603050405020304" pitchFamily="18" charset="0"/>
                <a:ea typeface="华文楷体" panose="02010600040101010101" pitchFamily="2" charset="-122"/>
              </a:rPr>
              <a:t>Point</a:t>
            </a:r>
            <a:r>
              <a:rPr kumimoji="0" lang="zh-CN" altLang="en-US" sz="2000" b="1" dirty="0">
                <a:solidFill>
                  <a:srgbClr val="000000"/>
                </a:solidFill>
                <a:latin typeface="Times New Roman" panose="02020603050405020304" pitchFamily="18" charset="0"/>
                <a:ea typeface="华文楷体" panose="02010600040101010101" pitchFamily="2" charset="-122"/>
              </a:rPr>
              <a:t>类的定义</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公有函数成员</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void </a:t>
            </a:r>
            <a:r>
              <a:rPr kumimoji="0" lang="en-US" altLang="zh-CN" sz="2000" b="1" dirty="0" err="1">
                <a:solidFill>
                  <a:srgbClr val="000000"/>
                </a:solidFill>
                <a:latin typeface="Times New Roman" panose="02020603050405020304" pitchFamily="18" charset="0"/>
                <a:ea typeface="华文楷体" panose="02010600040101010101" pitchFamily="2" charset="-122"/>
              </a:rPr>
              <a:t>initPoint</a:t>
            </a:r>
            <a:r>
              <a:rPr kumimoji="0" lang="en-US" altLang="zh-CN" sz="2000" b="1" dirty="0">
                <a:solidFill>
                  <a:srgbClr val="000000"/>
                </a:solidFill>
                <a:latin typeface="Times New Roman" panose="02020603050405020304" pitchFamily="18" charset="0"/>
                <a:ea typeface="华文楷体" panose="02010600040101010101" pitchFamily="2" charset="-122"/>
              </a:rPr>
              <a:t>(float x = 0, float y = 0)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	{ </a:t>
            </a:r>
            <a:r>
              <a:rPr kumimoji="0" lang="en-US" altLang="zh-CN" sz="2000" b="1" dirty="0">
                <a:solidFill>
                  <a:srgbClr val="000000"/>
                </a:solidFill>
                <a:latin typeface="Times New Roman" panose="02020603050405020304" pitchFamily="18" charset="0"/>
                <a:ea typeface="华文楷体" panose="02010600040101010101" pitchFamily="2" charset="-122"/>
              </a:rPr>
              <a:t>this-&gt;x = x; this-&gt;y = y;}</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move(float </a:t>
            </a:r>
            <a:r>
              <a:rPr kumimoji="0" lang="en-US" altLang="zh-CN" sz="2000" b="1" dirty="0" err="1">
                <a:solidFill>
                  <a:srgbClr val="000000"/>
                </a:solidFill>
                <a:latin typeface="Times New Roman" panose="02020603050405020304" pitchFamily="18" charset="0"/>
                <a:ea typeface="华文楷体" panose="02010600040101010101" pitchFamily="2" charset="-122"/>
              </a:rPr>
              <a:t>offX</a:t>
            </a:r>
            <a:r>
              <a:rPr kumimoji="0" lang="en-US" altLang="zh-CN" sz="2000" b="1" dirty="0">
                <a:solidFill>
                  <a:srgbClr val="000000"/>
                </a:solidFill>
                <a:latin typeface="Times New Roman" panose="02020603050405020304" pitchFamily="18" charset="0"/>
                <a:ea typeface="华文楷体" panose="02010600040101010101" pitchFamily="2" charset="-122"/>
              </a:rPr>
              <a:t>, float </a:t>
            </a:r>
            <a:r>
              <a:rPr kumimoji="0" lang="en-US" altLang="zh-CN" sz="2000" b="1" dirty="0" err="1">
                <a:solidFill>
                  <a:srgbClr val="000000"/>
                </a:solidFill>
                <a:latin typeface="Times New Roman" panose="02020603050405020304" pitchFamily="18" charset="0"/>
                <a:ea typeface="华文楷体" panose="02010600040101010101" pitchFamily="2" charset="-122"/>
              </a:rPr>
              <a:t>offY</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	{ </a:t>
            </a:r>
            <a:r>
              <a:rPr kumimoji="0" lang="en-US" altLang="zh-CN" sz="2000" b="1" dirty="0">
                <a:solidFill>
                  <a:srgbClr val="000000"/>
                </a:solidFill>
                <a:latin typeface="Times New Roman" panose="02020603050405020304" pitchFamily="18" charset="0"/>
                <a:ea typeface="华文楷体" panose="02010600040101010101" pitchFamily="2" charset="-122"/>
              </a:rPr>
              <a:t>x += </a:t>
            </a:r>
            <a:r>
              <a:rPr kumimoji="0" lang="en-US" altLang="zh-CN" sz="2000" b="1" dirty="0" err="1">
                <a:solidFill>
                  <a:srgbClr val="000000"/>
                </a:solidFill>
                <a:latin typeface="Times New Roman" panose="02020603050405020304" pitchFamily="18" charset="0"/>
                <a:ea typeface="华文楷体" panose="02010600040101010101" pitchFamily="2" charset="-122"/>
              </a:rPr>
              <a:t>offX</a:t>
            </a:r>
            <a:r>
              <a:rPr kumimoji="0" lang="en-US" altLang="zh-CN" sz="2000" b="1" dirty="0">
                <a:solidFill>
                  <a:srgbClr val="000000"/>
                </a:solidFill>
                <a:latin typeface="Times New Roman" panose="02020603050405020304" pitchFamily="18" charset="0"/>
                <a:ea typeface="华文楷体" panose="02010600040101010101" pitchFamily="2" charset="-122"/>
              </a:rPr>
              <a:t>; y += </a:t>
            </a:r>
            <a:r>
              <a:rPr kumimoji="0" lang="en-US" altLang="zh-CN" sz="2000" b="1" dirty="0" err="1">
                <a:solidFill>
                  <a:srgbClr val="000000"/>
                </a:solidFill>
                <a:latin typeface="Times New Roman" panose="02020603050405020304" pitchFamily="18" charset="0"/>
                <a:ea typeface="华文楷体" panose="02010600040101010101" pitchFamily="2" charset="-122"/>
              </a:rPr>
              <a:t>offY</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float </a:t>
            </a:r>
            <a:r>
              <a:rPr kumimoji="0" lang="en-US" altLang="zh-CN" sz="2000" b="1" dirty="0" err="1">
                <a:solidFill>
                  <a:srgbClr val="000000"/>
                </a:solidFill>
                <a:latin typeface="Times New Roman" panose="02020603050405020304" pitchFamily="18" charset="0"/>
                <a:ea typeface="华文楷体" panose="02010600040101010101" pitchFamily="2" charset="-122"/>
              </a:rPr>
              <a:t>getX</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 return x;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float </a:t>
            </a:r>
            <a:r>
              <a:rPr kumimoji="0" lang="en-US" altLang="zh-CN" sz="2000" b="1" dirty="0" err="1">
                <a:solidFill>
                  <a:srgbClr val="000000"/>
                </a:solidFill>
                <a:latin typeface="Times New Roman" panose="02020603050405020304" pitchFamily="18" charset="0"/>
                <a:ea typeface="华文楷体" panose="02010600040101010101" pitchFamily="2" charset="-122"/>
              </a:rPr>
              <a:t>getY</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 return y;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private: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私有数据成员</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float x, y;</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smtClean="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endif</a:t>
            </a:r>
            <a:r>
              <a:rPr kumimoji="0" lang="en-US" altLang="zh-CN" sz="2000" b="1" dirty="0">
                <a:solidFill>
                  <a:srgbClr val="000000"/>
                </a:solidFill>
                <a:latin typeface="Times New Roman" panose="02020603050405020304" pitchFamily="18" charset="0"/>
                <a:ea typeface="华文楷体" panose="02010600040101010101" pitchFamily="2" charset="-122"/>
              </a:rPr>
              <a:t> //_POINT_H</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5" name="标题 1"/>
          <p:cNvSpPr>
            <a:spLocks noGrp="1"/>
          </p:cNvSpPr>
          <p:nvPr>
            <p:ph type="title"/>
          </p:nvPr>
        </p:nvSpPr>
        <p:spPr>
          <a:xfrm>
            <a:off x="428625" y="-99392"/>
            <a:ext cx="8229600" cy="785813"/>
          </a:xfrm>
        </p:spPr>
        <p:txBody>
          <a:bodyPr/>
          <a:lstStyle/>
          <a:p>
            <a:pPr eaLnBrk="1" hangingPunct="1"/>
            <a:r>
              <a:rPr lang="zh-CN" altLang="en-US" b="1" dirty="0" smtClean="0"/>
              <a:t>例</a:t>
            </a:r>
            <a:r>
              <a:rPr lang="en-US" altLang="zh-CN" b="1" dirty="0" smtClean="0"/>
              <a:t>7-2 </a:t>
            </a:r>
            <a:r>
              <a:rPr lang="zh-CN" altLang="en-US" b="1" dirty="0" smtClean="0"/>
              <a:t>（续）</a:t>
            </a:r>
            <a:endParaRPr kumimoji="1" lang="zh-CN" altLang="en-US" b="1" dirty="0" smtClean="0"/>
          </a:p>
        </p:txBody>
      </p:sp>
      <p:sp>
        <p:nvSpPr>
          <p:cNvPr id="28676" name="内容占位符 2"/>
          <p:cNvSpPr>
            <a:spLocks noGrp="1"/>
          </p:cNvSpPr>
          <p:nvPr>
            <p:ph idx="1"/>
          </p:nvPr>
        </p:nvSpPr>
        <p:spPr>
          <a:xfrm>
            <a:off x="457200" y="565512"/>
            <a:ext cx="8229600" cy="6247864"/>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Rectangle.h</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ifndef</a:t>
            </a:r>
            <a:r>
              <a:rPr kumimoji="0" lang="en-US" altLang="zh-CN" sz="2000" b="1" dirty="0">
                <a:solidFill>
                  <a:srgbClr val="000000"/>
                </a:solidFill>
                <a:latin typeface="Times New Roman" panose="02020603050405020304" pitchFamily="18" charset="0"/>
                <a:ea typeface="华文楷体" panose="02010600040101010101" pitchFamily="2" charset="-122"/>
              </a:rPr>
              <a:t> _RECTANGLE_H</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#define _RECTANGLE_H</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a:t>
            </a:r>
            <a:r>
              <a:rPr kumimoji="0" lang="en-US" altLang="zh-CN" sz="2000" b="1" dirty="0" err="1">
                <a:solidFill>
                  <a:srgbClr val="000000"/>
                </a:solidFill>
                <a:latin typeface="Times New Roman" panose="02020603050405020304" pitchFamily="18" charset="0"/>
                <a:ea typeface="华文楷体" panose="02010600040101010101" pitchFamily="2" charset="-122"/>
              </a:rPr>
              <a:t>Point.h</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Rectangle: private Point {	//</a:t>
            </a:r>
            <a:r>
              <a:rPr kumimoji="0" lang="zh-CN" altLang="en-US" sz="2000" b="1" dirty="0">
                <a:solidFill>
                  <a:srgbClr val="000000"/>
                </a:solidFill>
                <a:latin typeface="Times New Roman" panose="02020603050405020304" pitchFamily="18" charset="0"/>
                <a:ea typeface="华文楷体" panose="02010600040101010101" pitchFamily="2" charset="-122"/>
              </a:rPr>
              <a:t>派生类定义部分</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新增公有函数成员</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void </a:t>
            </a:r>
            <a:r>
              <a:rPr kumimoji="0" lang="en-US" altLang="zh-CN" sz="2000" b="1" dirty="0" err="1">
                <a:solidFill>
                  <a:srgbClr val="000000"/>
                </a:solidFill>
                <a:latin typeface="Times New Roman" panose="02020603050405020304" pitchFamily="18" charset="0"/>
                <a:ea typeface="华文楷体" panose="02010600040101010101" pitchFamily="2" charset="-122"/>
              </a:rPr>
              <a:t>initRectangle</a:t>
            </a:r>
            <a:r>
              <a:rPr kumimoji="0" lang="en-US" altLang="zh-CN" sz="2000" b="1" dirty="0">
                <a:solidFill>
                  <a:srgbClr val="000000"/>
                </a:solidFill>
                <a:latin typeface="Times New Roman" panose="02020603050405020304" pitchFamily="18" charset="0"/>
                <a:ea typeface="华文楷体" panose="02010600040101010101" pitchFamily="2" charset="-122"/>
              </a:rPr>
              <a:t>(float x, float y, float w, float h)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initPoint</a:t>
            </a:r>
            <a:r>
              <a:rPr kumimoji="0" lang="en-US" altLang="zh-CN" sz="2000" b="1" dirty="0">
                <a:solidFill>
                  <a:srgbClr val="000000"/>
                </a:solidFill>
                <a:latin typeface="Times New Roman" panose="02020603050405020304" pitchFamily="18" charset="0"/>
                <a:ea typeface="华文楷体" panose="02010600040101010101" pitchFamily="2" charset="-122"/>
              </a:rPr>
              <a:t>(x, y);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调用基类公有成员函数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this-&gt;w = w;</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this-&gt;h = h</a:t>
            </a: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move(float </a:t>
            </a:r>
            <a:r>
              <a:rPr kumimoji="0" lang="en-US" altLang="zh-CN" sz="2000" b="1" dirty="0" err="1">
                <a:solidFill>
                  <a:srgbClr val="000000"/>
                </a:solidFill>
                <a:latin typeface="Times New Roman" panose="02020603050405020304" pitchFamily="18" charset="0"/>
                <a:ea typeface="华文楷体" panose="02010600040101010101" pitchFamily="2" charset="-122"/>
              </a:rPr>
              <a:t>offX</a:t>
            </a:r>
            <a:r>
              <a:rPr kumimoji="0" lang="en-US" altLang="zh-CN" sz="2000" b="1" dirty="0">
                <a:solidFill>
                  <a:srgbClr val="000000"/>
                </a:solidFill>
                <a:latin typeface="Times New Roman" panose="02020603050405020304" pitchFamily="18" charset="0"/>
                <a:ea typeface="华文楷体" panose="02010600040101010101" pitchFamily="2" charset="-122"/>
              </a:rPr>
              <a:t>, float </a:t>
            </a:r>
            <a:r>
              <a:rPr kumimoji="0" lang="en-US" altLang="zh-CN" sz="2000" b="1" dirty="0" err="1">
                <a:solidFill>
                  <a:srgbClr val="000000"/>
                </a:solidFill>
                <a:latin typeface="Times New Roman" panose="02020603050405020304" pitchFamily="18" charset="0"/>
                <a:ea typeface="华文楷体" panose="02010600040101010101" pitchFamily="2" charset="-122"/>
              </a:rPr>
              <a:t>offY</a:t>
            </a:r>
            <a:r>
              <a:rPr kumimoji="0" lang="en-US" altLang="zh-CN" sz="2000" b="1" dirty="0">
                <a:solidFill>
                  <a:srgbClr val="000000"/>
                </a:solidFill>
                <a:latin typeface="Times New Roman" panose="02020603050405020304" pitchFamily="18" charset="0"/>
                <a:ea typeface="华文楷体" panose="02010600040101010101" pitchFamily="2" charset="-122"/>
              </a:rPr>
              <a:t>) {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Point::move(</a:t>
            </a:r>
            <a:r>
              <a:rPr kumimoji="0" lang="en-US" altLang="zh-CN" sz="2000" b="1" dirty="0" err="1">
                <a:solidFill>
                  <a:srgbClr val="000000"/>
                </a:solidFill>
                <a:latin typeface="Times New Roman" panose="02020603050405020304" pitchFamily="18" charset="0"/>
                <a:ea typeface="华文楷体" panose="02010600040101010101" pitchFamily="2" charset="-122"/>
              </a:rPr>
              <a:t>offX</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offY</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float </a:t>
            </a:r>
            <a:r>
              <a:rPr kumimoji="0" lang="en-US" altLang="zh-CN" sz="2000" b="1" dirty="0" err="1">
                <a:solidFill>
                  <a:srgbClr val="000000"/>
                </a:solidFill>
                <a:latin typeface="Times New Roman" panose="02020603050405020304" pitchFamily="18" charset="0"/>
                <a:ea typeface="华文楷体" panose="02010600040101010101" pitchFamily="2" charset="-122"/>
              </a:rPr>
              <a:t>getX</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 return Point::</a:t>
            </a:r>
            <a:r>
              <a:rPr kumimoji="0" lang="en-US" altLang="zh-CN" sz="2000" b="1" dirty="0" err="1">
                <a:solidFill>
                  <a:srgbClr val="000000"/>
                </a:solidFill>
                <a:latin typeface="Times New Roman" panose="02020603050405020304" pitchFamily="18" charset="0"/>
                <a:ea typeface="华文楷体" panose="02010600040101010101" pitchFamily="2" charset="-122"/>
              </a:rPr>
              <a:t>getX</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float </a:t>
            </a:r>
            <a:r>
              <a:rPr kumimoji="0" lang="en-US" altLang="zh-CN" sz="2000" b="1" dirty="0" err="1">
                <a:solidFill>
                  <a:srgbClr val="000000"/>
                </a:solidFill>
                <a:latin typeface="Times New Roman" panose="02020603050405020304" pitchFamily="18" charset="0"/>
                <a:ea typeface="华文楷体" panose="02010600040101010101" pitchFamily="2" charset="-122"/>
              </a:rPr>
              <a:t>getY</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 return Point::</a:t>
            </a:r>
            <a:r>
              <a:rPr kumimoji="0" lang="en-US" altLang="zh-CN" sz="2000" b="1" dirty="0" err="1">
                <a:solidFill>
                  <a:srgbClr val="000000"/>
                </a:solidFill>
                <a:latin typeface="Times New Roman" panose="02020603050405020304" pitchFamily="18" charset="0"/>
                <a:ea typeface="华文楷体" panose="02010600040101010101" pitchFamily="2" charset="-122"/>
              </a:rPr>
              <a:t>getY</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float </a:t>
            </a:r>
            <a:r>
              <a:rPr kumimoji="0" lang="en-US" altLang="zh-CN" sz="2000" b="1" dirty="0" err="1">
                <a:solidFill>
                  <a:srgbClr val="000000"/>
                </a:solidFill>
                <a:latin typeface="Times New Roman" panose="02020603050405020304" pitchFamily="18" charset="0"/>
                <a:ea typeface="华文楷体" panose="02010600040101010101" pitchFamily="2" charset="-122"/>
              </a:rPr>
              <a:t>getH</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 return h;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float </a:t>
            </a:r>
            <a:r>
              <a:rPr kumimoji="0" lang="en-US" altLang="zh-CN" sz="2000" b="1" dirty="0" err="1">
                <a:solidFill>
                  <a:srgbClr val="000000"/>
                </a:solidFill>
                <a:latin typeface="Times New Roman" panose="02020603050405020304" pitchFamily="18" charset="0"/>
                <a:ea typeface="华文楷体" panose="02010600040101010101" pitchFamily="2" charset="-122"/>
              </a:rPr>
              <a:t>getW</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 return w;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private</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新增私有数据成员</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float w, h;</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endif</a:t>
            </a:r>
            <a:r>
              <a:rPr kumimoji="0" lang="en-US" altLang="zh-CN" sz="2000" b="1" dirty="0">
                <a:solidFill>
                  <a:srgbClr val="000000"/>
                </a:solidFill>
                <a:latin typeface="Times New Roman" panose="02020603050405020304" pitchFamily="18" charset="0"/>
                <a:ea typeface="华文楷体" panose="02010600040101010101" pitchFamily="2" charset="-122"/>
              </a:rPr>
              <a:t> //_</a:t>
            </a:r>
            <a:r>
              <a:rPr kumimoji="0" lang="en-US" altLang="zh-CN" sz="2000" b="1" dirty="0" smtClean="0">
                <a:solidFill>
                  <a:srgbClr val="000000"/>
                </a:solidFill>
                <a:latin typeface="Times New Roman" panose="02020603050405020304" pitchFamily="18" charset="0"/>
                <a:ea typeface="华文楷体" panose="02010600040101010101" pitchFamily="2" charset="-122"/>
              </a:rPr>
              <a:t>RECTANGLE_H</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9" name="标题 1"/>
          <p:cNvSpPr>
            <a:spLocks noGrp="1"/>
          </p:cNvSpPr>
          <p:nvPr>
            <p:ph type="title"/>
          </p:nvPr>
        </p:nvSpPr>
        <p:spPr/>
        <p:txBody>
          <a:bodyPr/>
          <a:lstStyle/>
          <a:p>
            <a:pPr eaLnBrk="1" hangingPunct="1"/>
            <a:r>
              <a:rPr lang="zh-CN" altLang="en-US" b="1" smtClean="0"/>
              <a:t>例</a:t>
            </a:r>
            <a:r>
              <a:rPr lang="en-US" altLang="zh-CN" b="1" smtClean="0"/>
              <a:t>7-2 (</a:t>
            </a:r>
            <a:r>
              <a:rPr lang="zh-CN" altLang="en-US" b="1" smtClean="0"/>
              <a:t>续</a:t>
            </a:r>
            <a:r>
              <a:rPr lang="en-US" altLang="zh-CN" b="1" smtClean="0"/>
              <a:t>)</a:t>
            </a:r>
            <a:endParaRPr kumimoji="1" lang="zh-CN" altLang="en-US" b="1" smtClean="0"/>
          </a:p>
        </p:txBody>
      </p:sp>
      <p:sp>
        <p:nvSpPr>
          <p:cNvPr id="29700" name="内容占位符 2"/>
          <p:cNvSpPr>
            <a:spLocks noGrp="1"/>
          </p:cNvSpPr>
          <p:nvPr>
            <p:ph idx="1"/>
          </p:nvPr>
        </p:nvSpPr>
        <p:spPr>
          <a:xfrm>
            <a:off x="683568" y="1340768"/>
            <a:ext cx="7886700" cy="5016758"/>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&lt;</a:t>
            </a:r>
            <a:r>
              <a:rPr kumimoji="0" lang="en-US" altLang="zh-CN" sz="2000" b="1" dirty="0" err="1">
                <a:solidFill>
                  <a:srgbClr val="000000"/>
                </a:solidFill>
                <a:latin typeface="Times New Roman" panose="02020603050405020304" pitchFamily="18" charset="0"/>
                <a:ea typeface="华文楷体" panose="02010600040101010101" pitchFamily="2" charset="-122"/>
              </a:rPr>
              <a:t>iostream</a:t>
            </a:r>
            <a:r>
              <a:rPr kumimoji="0" lang="en-US" altLang="zh-CN" sz="2000" b="1" dirty="0">
                <a:solidFill>
                  <a:srgbClr val="000000"/>
                </a:solidFill>
                <a:latin typeface="Times New Roman" panose="02020603050405020304" pitchFamily="18" charset="0"/>
                <a:ea typeface="华文楷体" panose="02010600040101010101" pitchFamily="2" charset="-122"/>
              </a:rPr>
              <a:t>&gt;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&lt;</a:t>
            </a:r>
            <a:r>
              <a:rPr kumimoji="0" lang="en-US" altLang="zh-CN" sz="2000" b="1" dirty="0" err="1">
                <a:solidFill>
                  <a:srgbClr val="000000"/>
                </a:solidFill>
                <a:latin typeface="Times New Roman" panose="02020603050405020304" pitchFamily="18" charset="0"/>
                <a:ea typeface="华文楷体" panose="02010600040101010101" pitchFamily="2" charset="-122"/>
              </a:rPr>
              <a:t>cmath</a:t>
            </a:r>
            <a:r>
              <a:rPr kumimoji="0" lang="en-US" altLang="zh-CN" sz="2000" b="1" dirty="0">
                <a:solidFill>
                  <a:srgbClr val="000000"/>
                </a:solidFill>
                <a:latin typeface="Times New Roman" panose="02020603050405020304" pitchFamily="18" charset="0"/>
                <a:ea typeface="华文楷体" panose="02010600040101010101" pitchFamily="2" charset="-122"/>
              </a:rPr>
              <a:t>&gt;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using namespace </a:t>
            </a:r>
            <a:r>
              <a:rPr kumimoji="0" lang="en-US" altLang="zh-CN" sz="2000" b="1" dirty="0" err="1">
                <a:solidFill>
                  <a:srgbClr val="000000"/>
                </a:solidFill>
                <a:latin typeface="Times New Roman" panose="02020603050405020304" pitchFamily="18" charset="0"/>
                <a:ea typeface="华文楷体" panose="02010600040101010101" pitchFamily="2" charset="-122"/>
              </a:rPr>
              <a:t>std</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main()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Rectangle </a:t>
            </a:r>
            <a:r>
              <a:rPr kumimoji="0" lang="en-US" altLang="zh-CN" sz="2000" b="1" dirty="0" err="1">
                <a:solidFill>
                  <a:srgbClr val="000000"/>
                </a:solidFill>
                <a:latin typeface="Times New Roman" panose="02020603050405020304" pitchFamily="18" charset="0"/>
                <a:ea typeface="华文楷体" panose="02010600040101010101" pitchFamily="2" charset="-122"/>
              </a:rPr>
              <a:t>rect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定义</a:t>
            </a:r>
            <a:r>
              <a:rPr kumimoji="0" lang="en-US" altLang="zh-CN" sz="2000" b="1" dirty="0">
                <a:solidFill>
                  <a:srgbClr val="000000"/>
                </a:solidFill>
                <a:latin typeface="Times New Roman" panose="02020603050405020304" pitchFamily="18" charset="0"/>
                <a:ea typeface="华文楷体" panose="02010600040101010101" pitchFamily="2" charset="-122"/>
              </a:rPr>
              <a:t>Rectangle</a:t>
            </a:r>
            <a:r>
              <a:rPr kumimoji="0" lang="zh-CN" altLang="en-US" sz="2000" b="1" dirty="0">
                <a:solidFill>
                  <a:srgbClr val="000000"/>
                </a:solidFill>
                <a:latin typeface="Times New Roman" panose="02020603050405020304" pitchFamily="18" charset="0"/>
                <a:ea typeface="华文楷体" panose="02010600040101010101" pitchFamily="2" charset="-122"/>
              </a:rPr>
              <a:t>类的</a:t>
            </a:r>
            <a:r>
              <a:rPr kumimoji="0" lang="zh-CN" altLang="en-US" sz="2000" b="1" dirty="0" smtClean="0">
                <a:solidFill>
                  <a:srgbClr val="000000"/>
                </a:solidFill>
                <a:latin typeface="Times New Roman" panose="02020603050405020304" pitchFamily="18" charset="0"/>
                <a:ea typeface="华文楷体" panose="02010600040101010101" pitchFamily="2" charset="-122"/>
              </a:rPr>
              <a:t>对象</a:t>
            </a:r>
            <a:endParaRPr kumimoji="0" lang="en-US" altLang="zh-CN" sz="2000" b="1" dirty="0" smtClean="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rect.initRectangle</a:t>
            </a:r>
            <a:r>
              <a:rPr kumimoji="0" lang="en-US" altLang="zh-CN" sz="2000" b="1" dirty="0">
                <a:solidFill>
                  <a:srgbClr val="000000"/>
                </a:solidFill>
                <a:latin typeface="Times New Roman" panose="02020603050405020304" pitchFamily="18" charset="0"/>
                <a:ea typeface="华文楷体" panose="02010600040101010101" pitchFamily="2" charset="-122"/>
              </a:rPr>
              <a:t>(2, 3, 20, 10);	//</a:t>
            </a:r>
            <a:r>
              <a:rPr kumimoji="0" lang="zh-CN" altLang="en-US" sz="2000" b="1" dirty="0">
                <a:solidFill>
                  <a:srgbClr val="000000"/>
                </a:solidFill>
                <a:latin typeface="Times New Roman" panose="02020603050405020304" pitchFamily="18" charset="0"/>
                <a:ea typeface="华文楷体" panose="02010600040101010101" pitchFamily="2" charset="-122"/>
              </a:rPr>
              <a:t>设置矩形的数据</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rect.move</a:t>
            </a:r>
            <a:r>
              <a:rPr kumimoji="0" lang="en-US" altLang="zh-CN" sz="2000" b="1" dirty="0">
                <a:solidFill>
                  <a:srgbClr val="000000"/>
                </a:solidFill>
                <a:latin typeface="Times New Roman" panose="02020603050405020304" pitchFamily="18" charset="0"/>
                <a:ea typeface="华文楷体" panose="02010600040101010101" pitchFamily="2" charset="-122"/>
              </a:rPr>
              <a:t>(3,2);	//</a:t>
            </a:r>
            <a:r>
              <a:rPr kumimoji="0" lang="zh-CN" altLang="en-US" sz="2000" b="1" dirty="0">
                <a:solidFill>
                  <a:srgbClr val="000000"/>
                </a:solidFill>
                <a:latin typeface="Times New Roman" panose="02020603050405020304" pitchFamily="18" charset="0"/>
                <a:ea typeface="华文楷体" panose="02010600040101010101" pitchFamily="2" charset="-122"/>
              </a:rPr>
              <a:t>移动矩形位置</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"The data of </a:t>
            </a:r>
            <a:r>
              <a:rPr kumimoji="0" lang="en-US" altLang="zh-CN" sz="2000" b="1" dirty="0" err="1">
                <a:solidFill>
                  <a:srgbClr val="000000"/>
                </a:solidFill>
                <a:latin typeface="Times New Roman" panose="02020603050405020304" pitchFamily="18" charset="0"/>
                <a:ea typeface="华文楷体" panose="02010600040101010101" pitchFamily="2" charset="-122"/>
              </a:rPr>
              <a:t>rect</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x,y,w,h</a:t>
            </a:r>
            <a:r>
              <a:rPr kumimoji="0" lang="en-US" altLang="zh-CN" sz="2000" b="1" dirty="0">
                <a:solidFill>
                  <a:srgbClr val="000000"/>
                </a:solidFill>
                <a:latin typeface="Times New Roman" panose="02020603050405020304" pitchFamily="18" charset="0"/>
                <a:ea typeface="华文楷体" panose="02010600040101010101" pitchFamily="2" charset="-122"/>
              </a:rPr>
              <a:t>): "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a:t>
            </a:r>
            <a:r>
              <a:rPr kumimoji="0" lang="en-US" altLang="zh-CN" sz="2000" b="1" dirty="0" err="1">
                <a:solidFill>
                  <a:srgbClr val="000000"/>
                </a:solidFill>
                <a:latin typeface="Times New Roman" panose="02020603050405020304" pitchFamily="18" charset="0"/>
                <a:ea typeface="华文楷体" panose="02010600040101010101" pitchFamily="2" charset="-122"/>
              </a:rPr>
              <a:t>rect.getX</a:t>
            </a:r>
            <a:r>
              <a:rPr kumimoji="0" lang="en-US" altLang="zh-CN" sz="2000" b="1" dirty="0">
                <a:solidFill>
                  <a:srgbClr val="000000"/>
                </a:solidFill>
                <a:latin typeface="Times New Roman" panose="02020603050405020304" pitchFamily="18" charset="0"/>
                <a:ea typeface="华文楷体" panose="02010600040101010101" pitchFamily="2" charset="-122"/>
              </a:rPr>
              <a:t>() &lt;&lt;", "	//</a:t>
            </a:r>
            <a:r>
              <a:rPr kumimoji="0" lang="zh-CN" altLang="en-US" sz="2000" b="1" dirty="0">
                <a:solidFill>
                  <a:srgbClr val="000000"/>
                </a:solidFill>
                <a:latin typeface="Times New Roman" panose="02020603050405020304" pitchFamily="18" charset="0"/>
                <a:ea typeface="华文楷体" panose="02010600040101010101" pitchFamily="2" charset="-122"/>
              </a:rPr>
              <a:t>输出矩形的特征参数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&lt;&lt; </a:t>
            </a:r>
            <a:r>
              <a:rPr kumimoji="0" lang="en-US" altLang="zh-CN" sz="2000" b="1" dirty="0" err="1">
                <a:solidFill>
                  <a:srgbClr val="000000"/>
                </a:solidFill>
                <a:latin typeface="Times New Roman" panose="02020603050405020304" pitchFamily="18" charset="0"/>
                <a:ea typeface="华文楷体" panose="02010600040101010101" pitchFamily="2" charset="-122"/>
              </a:rPr>
              <a:t>rect.getY</a:t>
            </a:r>
            <a:r>
              <a:rPr kumimoji="0" lang="en-US" altLang="zh-CN" sz="2000" b="1" dirty="0">
                <a:solidFill>
                  <a:srgbClr val="000000"/>
                </a:solidFill>
                <a:latin typeface="Times New Roman" panose="02020603050405020304" pitchFamily="18" charset="0"/>
                <a:ea typeface="华文楷体" panose="02010600040101010101" pitchFamily="2" charset="-122"/>
              </a:rPr>
              <a:t>() &lt;&lt; ",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&lt;&lt; </a:t>
            </a:r>
            <a:r>
              <a:rPr kumimoji="0" lang="en-US" altLang="zh-CN" sz="2000" b="1" dirty="0" err="1">
                <a:solidFill>
                  <a:srgbClr val="000000"/>
                </a:solidFill>
                <a:latin typeface="Times New Roman" panose="02020603050405020304" pitchFamily="18" charset="0"/>
                <a:ea typeface="华文楷体" panose="02010600040101010101" pitchFamily="2" charset="-122"/>
              </a:rPr>
              <a:t>rect.getW</a:t>
            </a:r>
            <a:r>
              <a:rPr kumimoji="0" lang="en-US" altLang="zh-CN" sz="2000" b="1" dirty="0">
                <a:solidFill>
                  <a:srgbClr val="000000"/>
                </a:solidFill>
                <a:latin typeface="Times New Roman" panose="02020603050405020304" pitchFamily="18" charset="0"/>
                <a:ea typeface="华文楷体" panose="02010600040101010101" pitchFamily="2" charset="-122"/>
              </a:rPr>
              <a:t>() &lt;&lt; ",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&lt;&lt; </a:t>
            </a:r>
            <a:r>
              <a:rPr kumimoji="0" lang="en-US" altLang="zh-CN" sz="2000" b="1" dirty="0" err="1">
                <a:solidFill>
                  <a:srgbClr val="000000"/>
                </a:solidFill>
                <a:latin typeface="Times New Roman" panose="02020603050405020304" pitchFamily="18" charset="0"/>
                <a:ea typeface="华文楷体" panose="02010600040101010101" pitchFamily="2" charset="-122"/>
              </a:rPr>
              <a:t>rect.getH</a:t>
            </a:r>
            <a:r>
              <a:rPr kumimoji="0" lang="en-US" altLang="zh-CN" sz="2000" b="1" dirty="0">
                <a:solidFill>
                  <a:srgbClr val="000000"/>
                </a:solidFill>
                <a:latin typeface="Times New Roman" panose="02020603050405020304" pitchFamily="18" charset="0"/>
                <a:ea typeface="华文楷体" panose="02010600040101010101" pitchFamily="2" charset="-122"/>
              </a:rPr>
              <a:t>()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return 0;</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7.2.3 </a:t>
            </a:r>
            <a:r>
              <a:rPr lang="zh-CN" altLang="en-US" sz="4400" b="1">
                <a:latin typeface="Times New Roman" panose="02020603050405020304" pitchFamily="18" charset="0"/>
                <a:ea typeface="隶书" panose="02010509060101010101" pitchFamily="49" charset="-122"/>
              </a:rPr>
              <a:t>保护继承</a:t>
            </a:r>
            <a:r>
              <a:rPr lang="en-US" altLang="zh-CN" sz="4400" b="1">
                <a:latin typeface="Times New Roman" panose="02020603050405020304" pitchFamily="18" charset="0"/>
                <a:ea typeface="隶书" panose="02010509060101010101" pitchFamily="49" charset="-122"/>
              </a:rPr>
              <a:t>(protected)</a:t>
            </a:r>
            <a:endParaRPr lang="zh-CN" altLang="en-US" sz="4400" b="1">
              <a:latin typeface="Times New Roman" panose="02020603050405020304" pitchFamily="18" charset="0"/>
              <a:ea typeface="隶书" panose="02010509060101010101" pitchFamily="49" charset="-122"/>
            </a:endParaRPr>
          </a:p>
        </p:txBody>
      </p:sp>
      <p:sp>
        <p:nvSpPr>
          <p:cNvPr id="30723" name="内容占位符 2"/>
          <p:cNvSpPr>
            <a:spLocks noGrp="1"/>
          </p:cNvSpPr>
          <p:nvPr>
            <p:ph idx="1"/>
          </p:nvPr>
        </p:nvSpPr>
        <p:spPr>
          <a:xfrm>
            <a:off x="628650" y="1825625"/>
            <a:ext cx="7886700" cy="3403575"/>
          </a:xfrm>
        </p:spPr>
        <p:txBody>
          <a:bodyPr/>
          <a:lstStyle/>
          <a:p>
            <a:pPr>
              <a:lnSpc>
                <a:spcPct val="150000"/>
              </a:lnSpc>
              <a:spcAft>
                <a:spcPct val="25000"/>
              </a:spcAft>
            </a:pPr>
            <a:r>
              <a:rPr lang="zh-CN" altLang="en-US" sz="2400" b="1" dirty="0">
                <a:ea typeface="华文楷体" panose="02010600040101010101" pitchFamily="2" charset="-122"/>
              </a:rPr>
              <a:t>基类的</a:t>
            </a:r>
            <a:r>
              <a:rPr lang="en-US" altLang="zh-CN" sz="2400" b="1" dirty="0">
                <a:ea typeface="华文楷体" panose="02010600040101010101" pitchFamily="2" charset="-122"/>
              </a:rPr>
              <a:t>public</a:t>
            </a:r>
            <a:r>
              <a:rPr lang="zh-CN" altLang="en-US" sz="2400" b="1" dirty="0">
                <a:ea typeface="华文楷体" panose="02010600040101010101" pitchFamily="2" charset="-122"/>
              </a:rPr>
              <a:t>和</a:t>
            </a:r>
            <a:r>
              <a:rPr lang="en-US" altLang="zh-CN" sz="2400" b="1" dirty="0">
                <a:ea typeface="华文楷体" panose="02010600040101010101" pitchFamily="2" charset="-122"/>
              </a:rPr>
              <a:t>protected</a:t>
            </a:r>
            <a:r>
              <a:rPr lang="zh-CN" altLang="en-US" sz="2400" b="1" dirty="0">
                <a:ea typeface="华文楷体" panose="02010600040101010101" pitchFamily="2" charset="-122"/>
              </a:rPr>
              <a:t>成员都以</a:t>
            </a:r>
            <a:r>
              <a:rPr lang="en-US" altLang="zh-CN" sz="2400" b="1" dirty="0">
                <a:ea typeface="华文楷体" panose="02010600040101010101" pitchFamily="2" charset="-122"/>
              </a:rPr>
              <a:t>protected</a:t>
            </a:r>
            <a:r>
              <a:rPr lang="zh-CN" altLang="en-US" sz="2400" b="1" dirty="0">
                <a:ea typeface="华文楷体" panose="02010600040101010101" pitchFamily="2" charset="-122"/>
              </a:rPr>
              <a:t>身份出现在派生类中，但基类的</a:t>
            </a:r>
            <a:r>
              <a:rPr lang="en-US" altLang="zh-CN" sz="2400" b="1" dirty="0">
                <a:ea typeface="华文楷体" panose="02010600040101010101" pitchFamily="2" charset="-122"/>
              </a:rPr>
              <a:t>private</a:t>
            </a:r>
            <a:r>
              <a:rPr lang="zh-CN" altLang="en-US" sz="2400" b="1" dirty="0">
                <a:ea typeface="华文楷体" panose="02010600040101010101" pitchFamily="2" charset="-122"/>
              </a:rPr>
              <a:t>成员不可直接访问。</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派生类中的成员函数可以直接访问基类中的</a:t>
            </a:r>
            <a:r>
              <a:rPr lang="en-US" altLang="zh-CN" sz="2400" b="1" dirty="0">
                <a:ea typeface="华文楷体" panose="02010600040101010101" pitchFamily="2" charset="-122"/>
              </a:rPr>
              <a:t>public</a:t>
            </a:r>
            <a:r>
              <a:rPr lang="zh-CN" altLang="en-US" sz="2400" b="1" dirty="0">
                <a:ea typeface="华文楷体" panose="02010600040101010101" pitchFamily="2" charset="-122"/>
              </a:rPr>
              <a:t>和</a:t>
            </a:r>
            <a:r>
              <a:rPr lang="en-US" altLang="zh-CN" sz="2400" b="1" dirty="0">
                <a:ea typeface="华文楷体" panose="02010600040101010101" pitchFamily="2" charset="-122"/>
              </a:rPr>
              <a:t>protected</a:t>
            </a:r>
            <a:r>
              <a:rPr lang="zh-CN" altLang="en-US" sz="2400" b="1" dirty="0">
                <a:ea typeface="华文楷体" panose="02010600040101010101" pitchFamily="2" charset="-122"/>
              </a:rPr>
              <a:t>成员，但不能直接访问基类的</a:t>
            </a:r>
            <a:r>
              <a:rPr lang="en-US" altLang="zh-CN" sz="2400" b="1" dirty="0">
                <a:ea typeface="华文楷体" panose="02010600040101010101" pitchFamily="2" charset="-122"/>
              </a:rPr>
              <a:t>private</a:t>
            </a:r>
            <a:r>
              <a:rPr lang="zh-CN" altLang="en-US" sz="2400" b="1" dirty="0">
                <a:ea typeface="华文楷体" panose="02010600040101010101" pitchFamily="2" charset="-122"/>
              </a:rPr>
              <a:t>成员。</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通过派生类的对象不能直接访问基类中的任何成员</a:t>
            </a:r>
            <a:endParaRPr lang="zh-CN" altLang="en-US" sz="2400" b="1" dirty="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protected </a:t>
            </a:r>
            <a:r>
              <a:rPr lang="zh-CN" altLang="en-US" sz="4400" b="1">
                <a:latin typeface="Times New Roman" panose="02020603050405020304" pitchFamily="18" charset="0"/>
                <a:ea typeface="隶书" panose="02010509060101010101" pitchFamily="49" charset="-122"/>
              </a:rPr>
              <a:t>成员的特点与作用</a:t>
            </a:r>
            <a:endParaRPr lang="zh-CN" altLang="en-US" sz="4400" b="1">
              <a:latin typeface="Times New Roman" panose="02020603050405020304" pitchFamily="18" charset="0"/>
              <a:ea typeface="隶书" panose="02010509060101010101" pitchFamily="49" charset="-122"/>
            </a:endParaRPr>
          </a:p>
        </p:txBody>
      </p:sp>
      <p:sp>
        <p:nvSpPr>
          <p:cNvPr id="31747" name="内容占位符 2"/>
          <p:cNvSpPr>
            <a:spLocks noGrp="1"/>
          </p:cNvSpPr>
          <p:nvPr>
            <p:ph idx="1"/>
          </p:nvPr>
        </p:nvSpPr>
        <p:spPr>
          <a:xfrm>
            <a:off x="611560" y="2132856"/>
            <a:ext cx="7886700" cy="2971527"/>
          </a:xfrm>
        </p:spPr>
        <p:txBody>
          <a:bodyPr/>
          <a:lstStyle/>
          <a:p>
            <a:pPr>
              <a:lnSpc>
                <a:spcPct val="150000"/>
              </a:lnSpc>
              <a:spcAft>
                <a:spcPct val="25000"/>
              </a:spcAft>
            </a:pPr>
            <a:r>
              <a:rPr lang="zh-CN" altLang="en-US" sz="2400" b="1" dirty="0">
                <a:ea typeface="华文楷体" panose="02010600040101010101" pitchFamily="2" charset="-122"/>
              </a:rPr>
              <a:t>对建立其所在类对象的模块来说，它与 </a:t>
            </a:r>
            <a:r>
              <a:rPr lang="en-US" altLang="zh-CN" sz="2400" b="1" dirty="0">
                <a:ea typeface="华文楷体" panose="02010600040101010101" pitchFamily="2" charset="-122"/>
              </a:rPr>
              <a:t>private </a:t>
            </a:r>
            <a:r>
              <a:rPr lang="zh-CN" altLang="en-US" sz="2400" b="1" dirty="0">
                <a:ea typeface="华文楷体" panose="02010600040101010101" pitchFamily="2" charset="-122"/>
              </a:rPr>
              <a:t>成员的性质相同。</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对于其派生类来说，它与 </a:t>
            </a:r>
            <a:r>
              <a:rPr lang="en-US" altLang="zh-CN" sz="2400" b="1" dirty="0">
                <a:ea typeface="华文楷体" panose="02010600040101010101" pitchFamily="2" charset="-122"/>
              </a:rPr>
              <a:t>public </a:t>
            </a:r>
            <a:r>
              <a:rPr lang="zh-CN" altLang="en-US" sz="2400" b="1" dirty="0">
                <a:ea typeface="华文楷体" panose="02010600040101010101" pitchFamily="2" charset="-122"/>
              </a:rPr>
              <a:t>成员的性质相同。</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既实现了数据隐藏，又方便继承，实现代码重用。</a:t>
            </a:r>
            <a:endParaRPr lang="zh-CN" altLang="en-US" sz="2400" b="1" dirty="0">
              <a:ea typeface="华文楷体" panose="02010600040101010101" pitchFamily="2" charset="-122"/>
            </a:endParaRPr>
          </a:p>
          <a:p>
            <a:pPr>
              <a:lnSpc>
                <a:spcPct val="150000"/>
              </a:lnSpc>
              <a:spcAft>
                <a:spcPct val="25000"/>
              </a:spcAft>
            </a:pPr>
            <a:endParaRPr lang="zh-CN" altLang="en-US" sz="2400" b="1" dirty="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1"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例：</a:t>
            </a:r>
            <a:r>
              <a:rPr lang="en-US" altLang="zh-CN" sz="4400" b="1">
                <a:latin typeface="Times New Roman" panose="02020603050405020304" pitchFamily="18" charset="0"/>
                <a:ea typeface="隶书" panose="02010509060101010101" pitchFamily="49" charset="-122"/>
              </a:rPr>
              <a:t> protected </a:t>
            </a:r>
            <a:r>
              <a:rPr lang="zh-CN" altLang="en-US" sz="4400" b="1">
                <a:latin typeface="Times New Roman" panose="02020603050405020304" pitchFamily="18" charset="0"/>
                <a:ea typeface="隶书" panose="02010509060101010101" pitchFamily="49" charset="-122"/>
              </a:rPr>
              <a:t>成员举例</a:t>
            </a:r>
            <a:endParaRPr lang="zh-CN" altLang="en-US" sz="4400" b="1">
              <a:latin typeface="Times New Roman" panose="02020603050405020304" pitchFamily="18" charset="0"/>
              <a:ea typeface="隶书" panose="02010509060101010101" pitchFamily="49" charset="-122"/>
            </a:endParaRPr>
          </a:p>
        </p:txBody>
      </p:sp>
      <p:sp>
        <p:nvSpPr>
          <p:cNvPr id="32772" name="内容占位符 2"/>
          <p:cNvSpPr>
            <a:spLocks noGrp="1"/>
          </p:cNvSpPr>
          <p:nvPr>
            <p:ph idx="1"/>
          </p:nvPr>
        </p:nvSpPr>
        <p:spPr>
          <a:xfrm>
            <a:off x="628650" y="1825625"/>
            <a:ext cx="7886700" cy="2862322"/>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A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protected:</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x;</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main()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 </a:t>
            </a:r>
            <a:r>
              <a:rPr kumimoji="0" lang="en-US" altLang="zh-CN" sz="2000" b="1" dirty="0" err="1">
                <a:solidFill>
                  <a:srgbClr val="000000"/>
                </a:solidFill>
                <a:latin typeface="Times New Roman" panose="02020603050405020304" pitchFamily="18" charset="0"/>
                <a:ea typeface="华文楷体" panose="02010600040101010101" pitchFamily="2" charset="-122"/>
              </a:rPr>
              <a:t>a</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FF0000"/>
                </a:solidFill>
                <a:latin typeface="Times New Roman" panose="02020603050405020304" pitchFamily="18" charset="0"/>
                <a:ea typeface="华文楷体" panose="02010600040101010101" pitchFamily="2" charset="-122"/>
              </a:rPr>
              <a:t>a.x</a:t>
            </a:r>
            <a:r>
              <a:rPr kumimoji="0" lang="en-US" altLang="zh-CN" sz="2000" b="1" dirty="0">
                <a:solidFill>
                  <a:srgbClr val="FF0000"/>
                </a:solidFill>
                <a:latin typeface="Times New Roman" panose="02020603050405020304" pitchFamily="18" charset="0"/>
                <a:ea typeface="华文楷体" panose="02010600040101010101" pitchFamily="2" charset="-122"/>
              </a:rPr>
              <a:t> = 5;    //</a:t>
            </a:r>
            <a:r>
              <a:rPr kumimoji="0" lang="zh-CN" altLang="en-US" sz="2000" b="1" dirty="0">
                <a:solidFill>
                  <a:srgbClr val="FF0000"/>
                </a:solidFill>
                <a:latin typeface="Times New Roman" panose="02020603050405020304" pitchFamily="18" charset="0"/>
                <a:ea typeface="华文楷体" panose="02010600040101010101" pitchFamily="2" charset="-122"/>
              </a:rPr>
              <a:t>错误</a:t>
            </a:r>
            <a:endParaRPr kumimoji="0" lang="zh-CN" altLang="en-US"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5" name="标题 1"/>
          <p:cNvSpPr>
            <a:spLocks noGrp="1"/>
          </p:cNvSpPr>
          <p:nvPr>
            <p:ph type="title"/>
          </p:nvPr>
        </p:nvSpPr>
        <p:spPr/>
        <p:txBody>
          <a:bodyPr/>
          <a:lstStyle/>
          <a:p>
            <a:pPr eaLnBrk="1" hangingPunct="1"/>
            <a:r>
              <a:rPr lang="zh-CN" altLang="en-US" b="1" dirty="0" smtClean="0"/>
              <a:t>例</a:t>
            </a:r>
            <a:r>
              <a:rPr lang="en-US" altLang="zh-CN" b="1" dirty="0" smtClean="0"/>
              <a:t> (</a:t>
            </a:r>
            <a:r>
              <a:rPr lang="zh-CN" altLang="en-US" b="1" dirty="0" smtClean="0"/>
              <a:t>续</a:t>
            </a:r>
            <a:r>
              <a:rPr lang="en-US" altLang="zh-CN" b="1" dirty="0" smtClean="0"/>
              <a:t>)</a:t>
            </a:r>
            <a:endParaRPr kumimoji="1" lang="zh-CN" altLang="en-US" b="1" dirty="0" smtClean="0"/>
          </a:p>
        </p:txBody>
      </p:sp>
      <p:sp>
        <p:nvSpPr>
          <p:cNvPr id="33796" name="内容占位符 2"/>
          <p:cNvSpPr>
            <a:spLocks noGrp="1"/>
          </p:cNvSpPr>
          <p:nvPr>
            <p:ph idx="1"/>
          </p:nvPr>
        </p:nvSpPr>
        <p:spPr>
          <a:xfrm>
            <a:off x="628650" y="1825625"/>
            <a:ext cx="7886700" cy="4093428"/>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A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protected:</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x;</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endParaRPr kumimoji="0" lang="en-US" altLang="zh-CN" sz="2000" b="1" dirty="0" smtClean="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B: public A{</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function();</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endParaRPr kumimoji="0" lang="en-US" altLang="zh-CN" sz="2000" b="1" dirty="0" smtClean="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void B:function()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x = 5;   //</a:t>
            </a:r>
            <a:r>
              <a:rPr kumimoji="0" lang="zh-CN" altLang="en-US" sz="2000" b="1" dirty="0">
                <a:solidFill>
                  <a:srgbClr val="000000"/>
                </a:solidFill>
                <a:latin typeface="Times New Roman" panose="02020603050405020304" pitchFamily="18" charset="0"/>
                <a:ea typeface="华文楷体" panose="02010600040101010101" pitchFamily="2" charset="-122"/>
              </a:rPr>
              <a:t>正确</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多继承举例</a:t>
            </a:r>
            <a:endParaRPr lang="zh-CN" altLang="en-US" sz="4400" b="1">
              <a:latin typeface="Times New Roman" panose="02020603050405020304" pitchFamily="18" charset="0"/>
              <a:ea typeface="隶书" panose="02010509060101010101" pitchFamily="49" charset="-122"/>
            </a:endParaRPr>
          </a:p>
        </p:txBody>
      </p:sp>
      <p:sp>
        <p:nvSpPr>
          <p:cNvPr id="34819" name="内容占位符 2"/>
          <p:cNvSpPr>
            <a:spLocks noGrp="1"/>
          </p:cNvSpPr>
          <p:nvPr>
            <p:ph sz="half" idx="1"/>
          </p:nvPr>
        </p:nvSpPr>
        <p:spPr>
          <a:xfrm>
            <a:off x="457200" y="1785938"/>
            <a:ext cx="4038600" cy="4401205"/>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A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a:t>
            </a:r>
            <a:r>
              <a:rPr kumimoji="0" lang="en-US" altLang="zh-CN" sz="2000" b="1" dirty="0" err="1">
                <a:solidFill>
                  <a:srgbClr val="000000"/>
                </a:solidFill>
                <a:latin typeface="Times New Roman" panose="02020603050405020304" pitchFamily="18" charset="0"/>
                <a:ea typeface="华文楷体" panose="02010600040101010101" pitchFamily="2" charset="-122"/>
              </a:rPr>
              <a:t>setA</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a:t>
            </a:r>
            <a:r>
              <a:rPr kumimoji="0" lang="en-US" altLang="zh-CN" sz="2000" b="1" dirty="0" err="1">
                <a:solidFill>
                  <a:srgbClr val="000000"/>
                </a:solidFill>
                <a:latin typeface="Times New Roman" panose="02020603050405020304" pitchFamily="18" charset="0"/>
                <a:ea typeface="华文楷体" panose="02010600040101010101" pitchFamily="2" charset="-122"/>
              </a:rPr>
              <a:t>showA</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private:</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a;</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B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a:t>
            </a:r>
            <a:r>
              <a:rPr kumimoji="0" lang="en-US" altLang="zh-CN" sz="2000" b="1" dirty="0" err="1">
                <a:solidFill>
                  <a:srgbClr val="000000"/>
                </a:solidFill>
                <a:latin typeface="Times New Roman" panose="02020603050405020304" pitchFamily="18" charset="0"/>
                <a:ea typeface="华文楷体" panose="02010600040101010101" pitchFamily="2" charset="-122"/>
              </a:rPr>
              <a:t>setB</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a:t>
            </a:r>
            <a:r>
              <a:rPr kumimoji="0" lang="en-US" altLang="zh-CN" sz="2000" b="1" dirty="0" err="1">
                <a:solidFill>
                  <a:srgbClr val="000000"/>
                </a:solidFill>
                <a:latin typeface="Times New Roman" panose="02020603050405020304" pitchFamily="18" charset="0"/>
                <a:ea typeface="华文楷体" panose="02010600040101010101" pitchFamily="2" charset="-122"/>
              </a:rPr>
              <a:t>showB</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endParaRPr kumimoji="0" lang="en-US" altLang="zh-CN" sz="2000" b="1" dirty="0" smtClean="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private:</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b;</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34820" name="内容占位符 3"/>
          <p:cNvSpPr>
            <a:spLocks noGrp="1"/>
          </p:cNvSpPr>
          <p:nvPr>
            <p:ph sz="half" idx="2"/>
          </p:nvPr>
        </p:nvSpPr>
        <p:spPr>
          <a:xfrm>
            <a:off x="4648200" y="1785938"/>
            <a:ext cx="4038600" cy="2246769"/>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smtClean="0">
                <a:solidFill>
                  <a:srgbClr val="000000"/>
                </a:solidFill>
                <a:latin typeface="Times New Roman" panose="02020603050405020304" pitchFamily="18" charset="0"/>
                <a:ea typeface="华文楷体" panose="02010600040101010101" pitchFamily="2" charset="-122"/>
              </a:rPr>
              <a:t>class </a:t>
            </a:r>
            <a:r>
              <a:rPr kumimoji="0" lang="en-US" altLang="zh-CN" sz="2000" b="1" dirty="0">
                <a:solidFill>
                  <a:srgbClr val="000000"/>
                </a:solidFill>
                <a:latin typeface="Times New Roman" panose="02020603050405020304" pitchFamily="18" charset="0"/>
                <a:ea typeface="华文楷体" panose="02010600040101010101" pitchFamily="2" charset="-122"/>
              </a:rPr>
              <a:t>C : public A, private B {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a:t>
            </a:r>
            <a:r>
              <a:rPr kumimoji="0" lang="en-US" altLang="zh-CN" sz="2000" b="1" dirty="0" err="1">
                <a:solidFill>
                  <a:srgbClr val="000000"/>
                </a:solidFill>
                <a:latin typeface="Times New Roman" panose="02020603050405020304" pitchFamily="18" charset="0"/>
                <a:ea typeface="华文楷体" panose="02010600040101010101" pitchFamily="2" charset="-122"/>
              </a:rPr>
              <a:t>setC</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a:t>
            </a:r>
            <a:r>
              <a:rPr kumimoji="0" lang="en-US" altLang="zh-CN" sz="2000" b="1" dirty="0" err="1">
                <a:solidFill>
                  <a:srgbClr val="000000"/>
                </a:solidFill>
                <a:latin typeface="Times New Roman" panose="02020603050405020304" pitchFamily="18" charset="0"/>
                <a:ea typeface="华文楷体" panose="02010600040101010101" pitchFamily="2" charset="-122"/>
              </a:rPr>
              <a:t>showC</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private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34822" name="Line 5"/>
          <p:cNvSpPr>
            <a:spLocks noChangeShapeType="1"/>
          </p:cNvSpPr>
          <p:nvPr/>
        </p:nvSpPr>
        <p:spPr bwMode="auto">
          <a:xfrm>
            <a:off x="4572000" y="1700213"/>
            <a:ext cx="0" cy="4608512"/>
          </a:xfrm>
          <a:prstGeom prst="line">
            <a:avLst/>
          </a:prstGeom>
          <a:noFill/>
          <a:ln w="9525">
            <a:solidFill>
              <a:schemeClr val="tx1"/>
            </a:solidFill>
            <a:prstDash val="dashDot"/>
            <a:roun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多继承举例 </a:t>
            </a:r>
            <a:r>
              <a:rPr lang="en-US" altLang="zh-CN" sz="4400" b="1">
                <a:latin typeface="Times New Roman" panose="02020603050405020304" pitchFamily="18" charset="0"/>
                <a:ea typeface="隶书" panose="02010509060101010101" pitchFamily="49" charset="-122"/>
              </a:rPr>
              <a:t>(</a:t>
            </a:r>
            <a:r>
              <a:rPr lang="zh-CN" altLang="en-US" sz="4400" b="1">
                <a:latin typeface="Times New Roman" panose="02020603050405020304" pitchFamily="18" charset="0"/>
                <a:ea typeface="隶书" panose="02010509060101010101" pitchFamily="49" charset="-122"/>
              </a:rPr>
              <a:t>续</a:t>
            </a:r>
            <a:r>
              <a:rPr lang="en-US" altLang="zh-CN" sz="4400" b="1">
                <a:latin typeface="Times New Roman" panose="02020603050405020304" pitchFamily="18" charset="0"/>
                <a:ea typeface="隶书" panose="02010509060101010101" pitchFamily="49" charset="-122"/>
              </a:rPr>
              <a:t>)</a:t>
            </a:r>
            <a:endParaRPr lang="zh-CN" altLang="en-US" sz="4400" b="1">
              <a:latin typeface="Times New Roman" panose="02020603050405020304" pitchFamily="18" charset="0"/>
              <a:ea typeface="隶书" panose="02010509060101010101" pitchFamily="49" charset="-122"/>
            </a:endParaRPr>
          </a:p>
        </p:txBody>
      </p:sp>
      <p:sp>
        <p:nvSpPr>
          <p:cNvPr id="35843" name="内容占位符 2"/>
          <p:cNvSpPr>
            <a:spLocks noGrp="1"/>
          </p:cNvSpPr>
          <p:nvPr>
            <p:ph sz="half" idx="1"/>
          </p:nvPr>
        </p:nvSpPr>
        <p:spPr>
          <a:xfrm>
            <a:off x="457200" y="1785938"/>
            <a:ext cx="4038600" cy="4401205"/>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void  A::setA(int x)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a=x;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void B::setB(int x)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b=x;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void C::setC(int x, int y, int z)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a:t>
            </a:r>
            <a:r>
              <a:rPr kumimoji="0" lang="zh-CN" altLang="en-US" sz="2000" b="1">
                <a:solidFill>
                  <a:srgbClr val="000000"/>
                </a:solidFill>
                <a:latin typeface="Times New Roman" panose="02020603050405020304" pitchFamily="18" charset="0"/>
                <a:ea typeface="华文楷体" panose="02010600040101010101" pitchFamily="2" charset="-122"/>
              </a:rPr>
              <a:t>派生类成员直接访问基类的</a:t>
            </a:r>
            <a:endParaRPr kumimoji="0" lang="zh-CN" altLang="en-US"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a:solidFill>
                  <a:srgbClr val="000000"/>
                </a:solidFill>
                <a:latin typeface="Times New Roman" panose="02020603050405020304" pitchFamily="18" charset="0"/>
                <a:ea typeface="华文楷体" panose="02010600040101010101" pitchFamily="2" charset="-122"/>
              </a:rPr>
              <a:t>	</a:t>
            </a:r>
            <a:r>
              <a:rPr kumimoji="0" lang="en-US" altLang="zh-CN" sz="2000" b="1">
                <a:solidFill>
                  <a:srgbClr val="000000"/>
                </a:solidFill>
                <a:latin typeface="Times New Roman" panose="02020603050405020304" pitchFamily="18" charset="0"/>
                <a:ea typeface="华文楷体" panose="02010600040101010101" pitchFamily="2" charset="-122"/>
              </a:rPr>
              <a:t>//</a:t>
            </a:r>
            <a:r>
              <a:rPr kumimoji="0" lang="zh-CN" altLang="en-US" sz="2000" b="1">
                <a:solidFill>
                  <a:srgbClr val="000000"/>
                </a:solidFill>
                <a:latin typeface="Times New Roman" panose="02020603050405020304" pitchFamily="18" charset="0"/>
                <a:ea typeface="华文楷体" panose="02010600040101010101" pitchFamily="2" charset="-122"/>
              </a:rPr>
              <a:t>公有成员</a:t>
            </a:r>
            <a:endParaRPr kumimoji="0" lang="zh-CN" altLang="en-US"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a:solidFill>
                  <a:srgbClr val="000000"/>
                </a:solidFill>
                <a:latin typeface="Times New Roman" panose="02020603050405020304" pitchFamily="18" charset="0"/>
                <a:ea typeface="华文楷体" panose="02010600040101010101" pitchFamily="2" charset="-122"/>
              </a:rPr>
              <a:t>	</a:t>
            </a:r>
            <a:r>
              <a:rPr kumimoji="0" lang="en-US" altLang="zh-CN" sz="2000" b="1">
                <a:solidFill>
                  <a:srgbClr val="000000"/>
                </a:solidFill>
                <a:latin typeface="Times New Roman" panose="02020603050405020304" pitchFamily="18" charset="0"/>
                <a:ea typeface="华文楷体" panose="02010600040101010101" pitchFamily="2" charset="-122"/>
              </a:rPr>
              <a:t>setA(x);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setB(y);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c = z;</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a:t>
            </a:r>
            <a:r>
              <a:rPr kumimoji="0" lang="zh-CN" altLang="en-US" sz="2000" b="1">
                <a:solidFill>
                  <a:srgbClr val="000000"/>
                </a:solidFill>
                <a:latin typeface="Times New Roman" panose="02020603050405020304" pitchFamily="18" charset="0"/>
                <a:ea typeface="华文楷体" panose="02010600040101010101" pitchFamily="2" charset="-122"/>
              </a:rPr>
              <a:t>其他函数实现略</a:t>
            </a:r>
            <a:endParaRPr kumimoji="0" lang="zh-CN" altLang="en-US" sz="2000" b="1">
              <a:solidFill>
                <a:srgbClr val="000000"/>
              </a:solidFill>
              <a:latin typeface="Times New Roman" panose="02020603050405020304" pitchFamily="18" charset="0"/>
              <a:ea typeface="华文楷体" panose="02010600040101010101" pitchFamily="2" charset="-122"/>
            </a:endParaRPr>
          </a:p>
        </p:txBody>
      </p:sp>
      <p:sp>
        <p:nvSpPr>
          <p:cNvPr id="35844" name="内容占位符 3"/>
          <p:cNvSpPr>
            <a:spLocks noGrp="1"/>
          </p:cNvSpPr>
          <p:nvPr>
            <p:ph sz="half" idx="2"/>
          </p:nvPr>
        </p:nvSpPr>
        <p:spPr>
          <a:xfrm>
            <a:off x="4648200" y="1785938"/>
            <a:ext cx="4038600" cy="3170099"/>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main()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C </a:t>
            </a:r>
            <a:r>
              <a:rPr kumimoji="0" lang="en-US" altLang="zh-CN" sz="2000" b="1" dirty="0" err="1">
                <a:solidFill>
                  <a:srgbClr val="000000"/>
                </a:solidFill>
                <a:latin typeface="Times New Roman" panose="02020603050405020304" pitchFamily="18" charset="0"/>
                <a:ea typeface="华文楷体" panose="02010600040101010101" pitchFamily="2" charset="-122"/>
              </a:rPr>
              <a:t>obj</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obj.setA</a:t>
            </a:r>
            <a:r>
              <a:rPr kumimoji="0" lang="en-US" altLang="zh-CN" sz="2000" b="1" dirty="0">
                <a:solidFill>
                  <a:srgbClr val="000000"/>
                </a:solidFill>
                <a:latin typeface="Times New Roman" panose="02020603050405020304" pitchFamily="18" charset="0"/>
                <a:ea typeface="华文楷体" panose="02010600040101010101" pitchFamily="2" charset="-122"/>
              </a:rPr>
              <a:t>(5);</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obj.showA</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obj.setC</a:t>
            </a:r>
            <a:r>
              <a:rPr kumimoji="0" lang="en-US" altLang="zh-CN" sz="2000" b="1" dirty="0">
                <a:solidFill>
                  <a:srgbClr val="000000"/>
                </a:solidFill>
                <a:latin typeface="Times New Roman" panose="02020603050405020304" pitchFamily="18" charset="0"/>
                <a:ea typeface="华文楷体" panose="02010600040101010101" pitchFamily="2" charset="-122"/>
              </a:rPr>
              <a:t>(6,7,9);</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obj.showC</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FF0000"/>
                </a:solidFill>
                <a:latin typeface="Times New Roman" panose="02020603050405020304" pitchFamily="18" charset="0"/>
                <a:ea typeface="华文楷体" panose="02010600040101010101" pitchFamily="2" charset="-122"/>
              </a:rPr>
              <a:t>// </a:t>
            </a:r>
            <a:r>
              <a:rPr kumimoji="0" lang="en-US" altLang="zh-CN" sz="2000" b="1" dirty="0" err="1">
                <a:solidFill>
                  <a:srgbClr val="FF0000"/>
                </a:solidFill>
                <a:latin typeface="Times New Roman" panose="02020603050405020304" pitchFamily="18" charset="0"/>
                <a:ea typeface="华文楷体" panose="02010600040101010101" pitchFamily="2" charset="-122"/>
              </a:rPr>
              <a:t>obj.setB</a:t>
            </a:r>
            <a:r>
              <a:rPr kumimoji="0" lang="en-US" altLang="zh-CN" sz="2000" b="1" dirty="0">
                <a:solidFill>
                  <a:srgbClr val="FF0000"/>
                </a:solidFill>
                <a:latin typeface="Times New Roman" panose="02020603050405020304" pitchFamily="18" charset="0"/>
                <a:ea typeface="华文楷体" panose="02010600040101010101" pitchFamily="2" charset="-122"/>
              </a:rPr>
              <a:t>(6);  </a:t>
            </a:r>
            <a:r>
              <a:rPr kumimoji="0" lang="zh-CN" altLang="en-US" sz="2000" b="1" dirty="0">
                <a:solidFill>
                  <a:srgbClr val="FF0000"/>
                </a:solidFill>
                <a:latin typeface="Times New Roman" panose="02020603050405020304" pitchFamily="18" charset="0"/>
                <a:ea typeface="华文楷体" panose="02010600040101010101" pitchFamily="2" charset="-122"/>
              </a:rPr>
              <a:t>错误</a:t>
            </a:r>
            <a:endParaRPr kumimoji="0" lang="zh-CN" altLang="en-US"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smtClean="0">
                <a:solidFill>
                  <a:srgbClr val="FF0000"/>
                </a:solidFill>
                <a:latin typeface="Times New Roman" panose="02020603050405020304" pitchFamily="18" charset="0"/>
                <a:ea typeface="华文楷体" panose="02010600040101010101" pitchFamily="2" charset="-122"/>
              </a:rPr>
              <a:t>	// </a:t>
            </a:r>
            <a:r>
              <a:rPr kumimoji="0" lang="en-US" altLang="zh-CN" sz="2000" b="1" dirty="0" err="1">
                <a:solidFill>
                  <a:srgbClr val="FF0000"/>
                </a:solidFill>
                <a:latin typeface="Times New Roman" panose="02020603050405020304" pitchFamily="18" charset="0"/>
                <a:ea typeface="华文楷体" panose="02010600040101010101" pitchFamily="2" charset="-122"/>
              </a:rPr>
              <a:t>obj.showB</a:t>
            </a:r>
            <a:r>
              <a:rPr kumimoji="0" lang="en-US" altLang="zh-CN" sz="2000" b="1" dirty="0">
                <a:solidFill>
                  <a:srgbClr val="FF0000"/>
                </a:solidFill>
                <a:latin typeface="Times New Roman" panose="02020603050405020304" pitchFamily="18" charset="0"/>
                <a:ea typeface="华文楷体" panose="02010600040101010101" pitchFamily="2" charset="-122"/>
              </a:rPr>
              <a:t>(); </a:t>
            </a:r>
            <a:r>
              <a:rPr kumimoji="0" lang="zh-CN" altLang="en-US" sz="2000" b="1" dirty="0">
                <a:solidFill>
                  <a:srgbClr val="FF0000"/>
                </a:solidFill>
                <a:latin typeface="Times New Roman" panose="02020603050405020304" pitchFamily="18" charset="0"/>
                <a:ea typeface="华文楷体" panose="02010600040101010101" pitchFamily="2" charset="-122"/>
              </a:rPr>
              <a:t>错误</a:t>
            </a:r>
            <a:endParaRPr kumimoji="0" lang="zh-CN" altLang="en-US"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return 0;</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35846" name="Line 5"/>
          <p:cNvSpPr>
            <a:spLocks noChangeShapeType="1"/>
          </p:cNvSpPr>
          <p:nvPr/>
        </p:nvSpPr>
        <p:spPr bwMode="auto">
          <a:xfrm>
            <a:off x="4572000" y="1700213"/>
            <a:ext cx="0" cy="4608512"/>
          </a:xfrm>
          <a:prstGeom prst="line">
            <a:avLst/>
          </a:prstGeom>
          <a:noFill/>
          <a:ln w="9525">
            <a:solidFill>
              <a:schemeClr val="tx1"/>
            </a:solidFill>
            <a:prstDash val="dashDot"/>
            <a:roun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bwMode="auto">
          <a:xfrm>
            <a:off x="251520" y="2057400"/>
            <a:ext cx="8712968" cy="1143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startAt="3"/>
            </a:pPr>
            <a:r>
              <a:rPr lang="zh-CN" altLang="en-US" sz="6000" b="1" dirty="0" smtClean="0">
                <a:ea typeface="华文彩云" panose="02010800040101010101" pitchFamily="2" charset="-122"/>
              </a:rPr>
              <a:t>类型兼容规则</a:t>
            </a:r>
            <a:endParaRPr lang="zh-CN" altLang="en-US" sz="6000" dirty="0"/>
          </a:p>
        </p:txBody>
      </p:sp>
      <p:grpSp>
        <p:nvGrpSpPr>
          <p:cNvPr id="642052" name="Group 4"/>
          <p:cNvGrpSpPr/>
          <p:nvPr/>
        </p:nvGrpSpPr>
        <p:grpSpPr bwMode="auto">
          <a:xfrm>
            <a:off x="5181600" y="4800600"/>
            <a:ext cx="2438400" cy="1219200"/>
            <a:chOff x="2358" y="2934"/>
            <a:chExt cx="450" cy="283"/>
          </a:xfrm>
        </p:grpSpPr>
        <p:grpSp>
          <p:nvGrpSpPr>
            <p:cNvPr id="642053" name="Group 5"/>
            <p:cNvGrpSpPr/>
            <p:nvPr/>
          </p:nvGrpSpPr>
          <p:grpSpPr bwMode="auto">
            <a:xfrm>
              <a:off x="2401" y="2996"/>
              <a:ext cx="407" cy="221"/>
              <a:chOff x="2401" y="2996"/>
              <a:chExt cx="407" cy="221"/>
            </a:xfrm>
          </p:grpSpPr>
          <p:grpSp>
            <p:nvGrpSpPr>
              <p:cNvPr id="642054" name="Group 6"/>
              <p:cNvGrpSpPr/>
              <p:nvPr/>
            </p:nvGrpSpPr>
            <p:grpSpPr bwMode="auto">
              <a:xfrm>
                <a:off x="2733" y="3096"/>
                <a:ext cx="75" cy="121"/>
                <a:chOff x="2733" y="3096"/>
                <a:chExt cx="75" cy="121"/>
              </a:xfrm>
            </p:grpSpPr>
            <p:sp>
              <p:nvSpPr>
                <p:cNvPr id="642055" name="Freeform 7"/>
                <p:cNvSpPr/>
                <p:nvPr/>
              </p:nvSpPr>
              <p:spPr bwMode="auto">
                <a:xfrm>
                  <a:off x="2733" y="3096"/>
                  <a:ext cx="75" cy="121"/>
                </a:xfrm>
                <a:custGeom>
                  <a:avLst/>
                  <a:gdLst>
                    <a:gd name="T0" fmla="*/ 531 w 531"/>
                    <a:gd name="T1" fmla="*/ 54 h 967"/>
                    <a:gd name="T2" fmla="*/ 531 w 531"/>
                    <a:gd name="T3" fmla="*/ 967 h 967"/>
                    <a:gd name="T4" fmla="*/ 154 w 531"/>
                    <a:gd name="T5" fmla="*/ 967 h 967"/>
                    <a:gd name="T6" fmla="*/ 0 w 531"/>
                    <a:gd name="T7" fmla="*/ 330 h 967"/>
                    <a:gd name="T8" fmla="*/ 120 w 531"/>
                    <a:gd name="T9" fmla="*/ 0 h 967"/>
                    <a:gd name="T10" fmla="*/ 531 w 531"/>
                    <a:gd name="T11" fmla="*/ 54 h 967"/>
                  </a:gdLst>
                  <a:ahLst/>
                  <a:cxnLst>
                    <a:cxn ang="0">
                      <a:pos x="T0" y="T1"/>
                    </a:cxn>
                    <a:cxn ang="0">
                      <a:pos x="T2" y="T3"/>
                    </a:cxn>
                    <a:cxn ang="0">
                      <a:pos x="T4" y="T5"/>
                    </a:cxn>
                    <a:cxn ang="0">
                      <a:pos x="T6" y="T7"/>
                    </a:cxn>
                    <a:cxn ang="0">
                      <a:pos x="T8" y="T9"/>
                    </a:cxn>
                    <a:cxn ang="0">
                      <a:pos x="T10" y="T11"/>
                    </a:cxn>
                  </a:cxnLst>
                  <a:rect l="0" t="0" r="r" b="b"/>
                  <a:pathLst>
                    <a:path w="531" h="967">
                      <a:moveTo>
                        <a:pt x="531" y="54"/>
                      </a:moveTo>
                      <a:lnTo>
                        <a:pt x="531" y="967"/>
                      </a:lnTo>
                      <a:lnTo>
                        <a:pt x="154" y="967"/>
                      </a:lnTo>
                      <a:lnTo>
                        <a:pt x="0" y="330"/>
                      </a:lnTo>
                      <a:lnTo>
                        <a:pt x="120" y="0"/>
                      </a:lnTo>
                      <a:lnTo>
                        <a:pt x="531" y="54"/>
                      </a:lnTo>
                      <a:close/>
                    </a:path>
                  </a:pathLst>
                </a:custGeom>
                <a:solidFill>
                  <a:srgbClr val="A04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6" name="Freeform 8"/>
                <p:cNvSpPr/>
                <p:nvPr/>
              </p:nvSpPr>
              <p:spPr bwMode="auto">
                <a:xfrm>
                  <a:off x="2739" y="3106"/>
                  <a:ext cx="36" cy="111"/>
                </a:xfrm>
                <a:custGeom>
                  <a:avLst/>
                  <a:gdLst>
                    <a:gd name="T0" fmla="*/ 55 w 253"/>
                    <a:gd name="T1" fmla="*/ 142 h 889"/>
                    <a:gd name="T2" fmla="*/ 121 w 253"/>
                    <a:gd name="T3" fmla="*/ 209 h 889"/>
                    <a:gd name="T4" fmla="*/ 146 w 253"/>
                    <a:gd name="T5" fmla="*/ 232 h 889"/>
                    <a:gd name="T6" fmla="*/ 181 w 253"/>
                    <a:gd name="T7" fmla="*/ 0 h 889"/>
                    <a:gd name="T8" fmla="*/ 175 w 253"/>
                    <a:gd name="T9" fmla="*/ 256 h 889"/>
                    <a:gd name="T10" fmla="*/ 242 w 253"/>
                    <a:gd name="T11" fmla="*/ 360 h 889"/>
                    <a:gd name="T12" fmla="*/ 235 w 253"/>
                    <a:gd name="T13" fmla="*/ 683 h 889"/>
                    <a:gd name="T14" fmla="*/ 253 w 253"/>
                    <a:gd name="T15" fmla="*/ 889 h 889"/>
                    <a:gd name="T16" fmla="*/ 36 w 253"/>
                    <a:gd name="T17" fmla="*/ 889 h 889"/>
                    <a:gd name="T18" fmla="*/ 0 w 253"/>
                    <a:gd name="T19" fmla="*/ 383 h 889"/>
                    <a:gd name="T20" fmla="*/ 55 w 253"/>
                    <a:gd name="T21" fmla="*/ 142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3" h="889">
                      <a:moveTo>
                        <a:pt x="55" y="142"/>
                      </a:moveTo>
                      <a:lnTo>
                        <a:pt x="121" y="209"/>
                      </a:lnTo>
                      <a:lnTo>
                        <a:pt x="146" y="232"/>
                      </a:lnTo>
                      <a:lnTo>
                        <a:pt x="181" y="0"/>
                      </a:lnTo>
                      <a:lnTo>
                        <a:pt x="175" y="256"/>
                      </a:lnTo>
                      <a:lnTo>
                        <a:pt x="242" y="360"/>
                      </a:lnTo>
                      <a:lnTo>
                        <a:pt x="235" y="683"/>
                      </a:lnTo>
                      <a:lnTo>
                        <a:pt x="253" y="889"/>
                      </a:lnTo>
                      <a:lnTo>
                        <a:pt x="36" y="889"/>
                      </a:lnTo>
                      <a:lnTo>
                        <a:pt x="0" y="383"/>
                      </a:lnTo>
                      <a:lnTo>
                        <a:pt x="55" y="142"/>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7" name="Freeform 9"/>
                <p:cNvSpPr/>
                <p:nvPr/>
              </p:nvSpPr>
              <p:spPr bwMode="auto">
                <a:xfrm>
                  <a:off x="2785" y="3107"/>
                  <a:ext cx="22" cy="110"/>
                </a:xfrm>
                <a:custGeom>
                  <a:avLst/>
                  <a:gdLst>
                    <a:gd name="T0" fmla="*/ 18 w 152"/>
                    <a:gd name="T1" fmla="*/ 0 h 883"/>
                    <a:gd name="T2" fmla="*/ 6 w 152"/>
                    <a:gd name="T3" fmla="*/ 179 h 883"/>
                    <a:gd name="T4" fmla="*/ 0 w 152"/>
                    <a:gd name="T5" fmla="*/ 287 h 883"/>
                    <a:gd name="T6" fmla="*/ 29 w 152"/>
                    <a:gd name="T7" fmla="*/ 305 h 883"/>
                    <a:gd name="T8" fmla="*/ 40 w 152"/>
                    <a:gd name="T9" fmla="*/ 546 h 883"/>
                    <a:gd name="T10" fmla="*/ 90 w 152"/>
                    <a:gd name="T11" fmla="*/ 768 h 883"/>
                    <a:gd name="T12" fmla="*/ 109 w 152"/>
                    <a:gd name="T13" fmla="*/ 883 h 883"/>
                    <a:gd name="T14" fmla="*/ 136 w 152"/>
                    <a:gd name="T15" fmla="*/ 883 h 883"/>
                    <a:gd name="T16" fmla="*/ 138 w 152"/>
                    <a:gd name="T17" fmla="*/ 762 h 883"/>
                    <a:gd name="T18" fmla="*/ 152 w 152"/>
                    <a:gd name="T19" fmla="*/ 647 h 883"/>
                    <a:gd name="T20" fmla="*/ 133 w 152"/>
                    <a:gd name="T21" fmla="*/ 510 h 883"/>
                    <a:gd name="T22" fmla="*/ 102 w 152"/>
                    <a:gd name="T23" fmla="*/ 445 h 883"/>
                    <a:gd name="T24" fmla="*/ 78 w 152"/>
                    <a:gd name="T25" fmla="*/ 402 h 883"/>
                    <a:gd name="T26" fmla="*/ 53 w 152"/>
                    <a:gd name="T27" fmla="*/ 239 h 883"/>
                    <a:gd name="T28" fmla="*/ 18 w 152"/>
                    <a:gd name="T29" fmla="*/ 0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2" h="883">
                      <a:moveTo>
                        <a:pt x="18" y="0"/>
                      </a:moveTo>
                      <a:lnTo>
                        <a:pt x="6" y="179"/>
                      </a:lnTo>
                      <a:lnTo>
                        <a:pt x="0" y="287"/>
                      </a:lnTo>
                      <a:lnTo>
                        <a:pt x="29" y="305"/>
                      </a:lnTo>
                      <a:lnTo>
                        <a:pt x="40" y="546"/>
                      </a:lnTo>
                      <a:lnTo>
                        <a:pt x="90" y="768"/>
                      </a:lnTo>
                      <a:lnTo>
                        <a:pt x="109" y="883"/>
                      </a:lnTo>
                      <a:lnTo>
                        <a:pt x="136" y="883"/>
                      </a:lnTo>
                      <a:lnTo>
                        <a:pt x="138" y="762"/>
                      </a:lnTo>
                      <a:lnTo>
                        <a:pt x="152" y="647"/>
                      </a:lnTo>
                      <a:lnTo>
                        <a:pt x="133" y="510"/>
                      </a:lnTo>
                      <a:lnTo>
                        <a:pt x="102" y="445"/>
                      </a:lnTo>
                      <a:lnTo>
                        <a:pt x="78" y="402"/>
                      </a:lnTo>
                      <a:lnTo>
                        <a:pt x="53" y="239"/>
                      </a:lnTo>
                      <a:lnTo>
                        <a:pt x="18" y="0"/>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8" name="Freeform 10"/>
                <p:cNvSpPr/>
                <p:nvPr/>
              </p:nvSpPr>
              <p:spPr bwMode="auto">
                <a:xfrm>
                  <a:off x="2791" y="3100"/>
                  <a:ext cx="13" cy="53"/>
                </a:xfrm>
                <a:custGeom>
                  <a:avLst/>
                  <a:gdLst>
                    <a:gd name="T0" fmla="*/ 0 w 90"/>
                    <a:gd name="T1" fmla="*/ 79 h 425"/>
                    <a:gd name="T2" fmla="*/ 90 w 90"/>
                    <a:gd name="T3" fmla="*/ 425 h 425"/>
                    <a:gd name="T4" fmla="*/ 13 w 90"/>
                    <a:gd name="T5" fmla="*/ 0 h 425"/>
                    <a:gd name="T6" fmla="*/ 0 w 90"/>
                    <a:gd name="T7" fmla="*/ 79 h 425"/>
                  </a:gdLst>
                  <a:ahLst/>
                  <a:cxnLst>
                    <a:cxn ang="0">
                      <a:pos x="T0" y="T1"/>
                    </a:cxn>
                    <a:cxn ang="0">
                      <a:pos x="T2" y="T3"/>
                    </a:cxn>
                    <a:cxn ang="0">
                      <a:pos x="T4" y="T5"/>
                    </a:cxn>
                    <a:cxn ang="0">
                      <a:pos x="T6" y="T7"/>
                    </a:cxn>
                  </a:cxnLst>
                  <a:rect l="0" t="0" r="r" b="b"/>
                  <a:pathLst>
                    <a:path w="90" h="425">
                      <a:moveTo>
                        <a:pt x="0" y="79"/>
                      </a:moveTo>
                      <a:lnTo>
                        <a:pt x="90" y="425"/>
                      </a:lnTo>
                      <a:lnTo>
                        <a:pt x="13" y="0"/>
                      </a:lnTo>
                      <a:lnTo>
                        <a:pt x="0" y="79"/>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9" name="Freeform 11"/>
                <p:cNvSpPr/>
                <p:nvPr/>
              </p:nvSpPr>
              <p:spPr bwMode="auto">
                <a:xfrm>
                  <a:off x="2775" y="3110"/>
                  <a:ext cx="20" cy="107"/>
                </a:xfrm>
                <a:custGeom>
                  <a:avLst/>
                  <a:gdLst>
                    <a:gd name="T0" fmla="*/ 18 w 140"/>
                    <a:gd name="T1" fmla="*/ 0 h 859"/>
                    <a:gd name="T2" fmla="*/ 31 w 140"/>
                    <a:gd name="T3" fmla="*/ 232 h 859"/>
                    <a:gd name="T4" fmla="*/ 42 w 140"/>
                    <a:gd name="T5" fmla="*/ 366 h 859"/>
                    <a:gd name="T6" fmla="*/ 74 w 140"/>
                    <a:gd name="T7" fmla="*/ 402 h 859"/>
                    <a:gd name="T8" fmla="*/ 87 w 140"/>
                    <a:gd name="T9" fmla="*/ 462 h 859"/>
                    <a:gd name="T10" fmla="*/ 140 w 140"/>
                    <a:gd name="T11" fmla="*/ 859 h 859"/>
                    <a:gd name="T12" fmla="*/ 37 w 140"/>
                    <a:gd name="T13" fmla="*/ 856 h 859"/>
                    <a:gd name="T14" fmla="*/ 0 w 140"/>
                    <a:gd name="T15" fmla="*/ 421 h 859"/>
                    <a:gd name="T16" fmla="*/ 6 w 140"/>
                    <a:gd name="T17" fmla="*/ 179 h 859"/>
                    <a:gd name="T18" fmla="*/ 18 w 140"/>
                    <a:gd name="T19" fmla="*/ 0 h 8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0" h="859">
                      <a:moveTo>
                        <a:pt x="18" y="0"/>
                      </a:moveTo>
                      <a:lnTo>
                        <a:pt x="31" y="232"/>
                      </a:lnTo>
                      <a:lnTo>
                        <a:pt x="42" y="366"/>
                      </a:lnTo>
                      <a:lnTo>
                        <a:pt x="74" y="402"/>
                      </a:lnTo>
                      <a:lnTo>
                        <a:pt x="87" y="462"/>
                      </a:lnTo>
                      <a:lnTo>
                        <a:pt x="140" y="859"/>
                      </a:lnTo>
                      <a:lnTo>
                        <a:pt x="37" y="856"/>
                      </a:lnTo>
                      <a:lnTo>
                        <a:pt x="0" y="421"/>
                      </a:lnTo>
                      <a:lnTo>
                        <a:pt x="6" y="179"/>
                      </a:lnTo>
                      <a:lnTo>
                        <a:pt x="18" y="0"/>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0" name="Freeform 12"/>
                <p:cNvSpPr/>
                <p:nvPr/>
              </p:nvSpPr>
              <p:spPr bwMode="auto">
                <a:xfrm>
                  <a:off x="2794" y="3105"/>
                  <a:ext cx="13" cy="51"/>
                </a:xfrm>
                <a:custGeom>
                  <a:avLst/>
                  <a:gdLst>
                    <a:gd name="T0" fmla="*/ 0 w 90"/>
                    <a:gd name="T1" fmla="*/ 17 h 407"/>
                    <a:gd name="T2" fmla="*/ 45 w 90"/>
                    <a:gd name="T3" fmla="*/ 217 h 407"/>
                    <a:gd name="T4" fmla="*/ 90 w 90"/>
                    <a:gd name="T5" fmla="*/ 407 h 407"/>
                    <a:gd name="T6" fmla="*/ 70 w 90"/>
                    <a:gd name="T7" fmla="*/ 0 h 407"/>
                    <a:gd name="T8" fmla="*/ 0 w 90"/>
                    <a:gd name="T9" fmla="*/ 17 h 407"/>
                  </a:gdLst>
                  <a:ahLst/>
                  <a:cxnLst>
                    <a:cxn ang="0">
                      <a:pos x="T0" y="T1"/>
                    </a:cxn>
                    <a:cxn ang="0">
                      <a:pos x="T2" y="T3"/>
                    </a:cxn>
                    <a:cxn ang="0">
                      <a:pos x="T4" y="T5"/>
                    </a:cxn>
                    <a:cxn ang="0">
                      <a:pos x="T6" y="T7"/>
                    </a:cxn>
                    <a:cxn ang="0">
                      <a:pos x="T8" y="T9"/>
                    </a:cxn>
                  </a:cxnLst>
                  <a:rect l="0" t="0" r="r" b="b"/>
                  <a:pathLst>
                    <a:path w="90" h="407">
                      <a:moveTo>
                        <a:pt x="0" y="17"/>
                      </a:moveTo>
                      <a:lnTo>
                        <a:pt x="45" y="217"/>
                      </a:lnTo>
                      <a:lnTo>
                        <a:pt x="90" y="407"/>
                      </a:lnTo>
                      <a:lnTo>
                        <a:pt x="70" y="0"/>
                      </a:lnTo>
                      <a:lnTo>
                        <a:pt x="0" y="17"/>
                      </a:lnTo>
                      <a:close/>
                    </a:path>
                  </a:pathLst>
                </a:custGeom>
                <a:solidFill>
                  <a:srgbClr val="C06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1" name="Freeform 13"/>
                <p:cNvSpPr/>
                <p:nvPr/>
              </p:nvSpPr>
              <p:spPr bwMode="auto">
                <a:xfrm>
                  <a:off x="2796" y="3163"/>
                  <a:ext cx="9" cy="54"/>
                </a:xfrm>
                <a:custGeom>
                  <a:avLst/>
                  <a:gdLst>
                    <a:gd name="T0" fmla="*/ 0 w 65"/>
                    <a:gd name="T1" fmla="*/ 0 h 431"/>
                    <a:gd name="T2" fmla="*/ 26 w 65"/>
                    <a:gd name="T3" fmla="*/ 187 h 431"/>
                    <a:gd name="T4" fmla="*/ 52 w 65"/>
                    <a:gd name="T5" fmla="*/ 393 h 431"/>
                    <a:gd name="T6" fmla="*/ 65 w 65"/>
                    <a:gd name="T7" fmla="*/ 431 h 431"/>
                    <a:gd name="T8" fmla="*/ 65 w 65"/>
                    <a:gd name="T9" fmla="*/ 296 h 431"/>
                    <a:gd name="T10" fmla="*/ 59 w 65"/>
                    <a:gd name="T11" fmla="*/ 175 h 431"/>
                    <a:gd name="T12" fmla="*/ 39 w 65"/>
                    <a:gd name="T13" fmla="*/ 91 h 431"/>
                    <a:gd name="T14" fmla="*/ 0 w 65"/>
                    <a:gd name="T15" fmla="*/ 0 h 4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5" h="431">
                      <a:moveTo>
                        <a:pt x="0" y="0"/>
                      </a:moveTo>
                      <a:lnTo>
                        <a:pt x="26" y="187"/>
                      </a:lnTo>
                      <a:lnTo>
                        <a:pt x="52" y="393"/>
                      </a:lnTo>
                      <a:lnTo>
                        <a:pt x="65" y="431"/>
                      </a:lnTo>
                      <a:lnTo>
                        <a:pt x="65" y="296"/>
                      </a:lnTo>
                      <a:lnTo>
                        <a:pt x="59" y="175"/>
                      </a:lnTo>
                      <a:lnTo>
                        <a:pt x="39" y="91"/>
                      </a:lnTo>
                      <a:lnTo>
                        <a:pt x="0"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2" name="Freeform 14"/>
                <p:cNvSpPr/>
                <p:nvPr/>
              </p:nvSpPr>
              <p:spPr bwMode="auto">
                <a:xfrm>
                  <a:off x="2773" y="3108"/>
                  <a:ext cx="6" cy="47"/>
                </a:xfrm>
                <a:custGeom>
                  <a:avLst/>
                  <a:gdLst>
                    <a:gd name="T0" fmla="*/ 42 w 42"/>
                    <a:gd name="T1" fmla="*/ 0 h 372"/>
                    <a:gd name="T2" fmla="*/ 28 w 42"/>
                    <a:gd name="T3" fmla="*/ 206 h 372"/>
                    <a:gd name="T4" fmla="*/ 28 w 42"/>
                    <a:gd name="T5" fmla="*/ 372 h 372"/>
                    <a:gd name="T6" fmla="*/ 0 w 42"/>
                    <a:gd name="T7" fmla="*/ 262 h 372"/>
                    <a:gd name="T8" fmla="*/ 42 w 42"/>
                    <a:gd name="T9" fmla="*/ 0 h 372"/>
                  </a:gdLst>
                  <a:ahLst/>
                  <a:cxnLst>
                    <a:cxn ang="0">
                      <a:pos x="T0" y="T1"/>
                    </a:cxn>
                    <a:cxn ang="0">
                      <a:pos x="T2" y="T3"/>
                    </a:cxn>
                    <a:cxn ang="0">
                      <a:pos x="T4" y="T5"/>
                    </a:cxn>
                    <a:cxn ang="0">
                      <a:pos x="T6" y="T7"/>
                    </a:cxn>
                    <a:cxn ang="0">
                      <a:pos x="T8" y="T9"/>
                    </a:cxn>
                  </a:cxnLst>
                  <a:rect l="0" t="0" r="r" b="b"/>
                  <a:pathLst>
                    <a:path w="42" h="372">
                      <a:moveTo>
                        <a:pt x="42" y="0"/>
                      </a:moveTo>
                      <a:lnTo>
                        <a:pt x="28" y="206"/>
                      </a:lnTo>
                      <a:lnTo>
                        <a:pt x="28" y="372"/>
                      </a:lnTo>
                      <a:lnTo>
                        <a:pt x="0" y="262"/>
                      </a:lnTo>
                      <a:lnTo>
                        <a:pt x="42"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3" name="Freeform 15"/>
                <p:cNvSpPr/>
                <p:nvPr/>
              </p:nvSpPr>
              <p:spPr bwMode="auto">
                <a:xfrm>
                  <a:off x="2774" y="3161"/>
                  <a:ext cx="11" cy="56"/>
                </a:xfrm>
                <a:custGeom>
                  <a:avLst/>
                  <a:gdLst>
                    <a:gd name="T0" fmla="*/ 13 w 78"/>
                    <a:gd name="T1" fmla="*/ 0 h 449"/>
                    <a:gd name="T2" fmla="*/ 32 w 78"/>
                    <a:gd name="T3" fmla="*/ 181 h 449"/>
                    <a:gd name="T4" fmla="*/ 46 w 78"/>
                    <a:gd name="T5" fmla="*/ 309 h 449"/>
                    <a:gd name="T6" fmla="*/ 78 w 78"/>
                    <a:gd name="T7" fmla="*/ 449 h 449"/>
                    <a:gd name="T8" fmla="*/ 39 w 78"/>
                    <a:gd name="T9" fmla="*/ 449 h 449"/>
                    <a:gd name="T10" fmla="*/ 7 w 78"/>
                    <a:gd name="T11" fmla="*/ 255 h 449"/>
                    <a:gd name="T12" fmla="*/ 0 w 78"/>
                    <a:gd name="T13" fmla="*/ 120 h 449"/>
                    <a:gd name="T14" fmla="*/ 13 w 78"/>
                    <a:gd name="T15" fmla="*/ 0 h 4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449">
                      <a:moveTo>
                        <a:pt x="13" y="0"/>
                      </a:moveTo>
                      <a:lnTo>
                        <a:pt x="32" y="181"/>
                      </a:lnTo>
                      <a:lnTo>
                        <a:pt x="46" y="309"/>
                      </a:lnTo>
                      <a:lnTo>
                        <a:pt x="78" y="449"/>
                      </a:lnTo>
                      <a:lnTo>
                        <a:pt x="39" y="449"/>
                      </a:lnTo>
                      <a:lnTo>
                        <a:pt x="7" y="255"/>
                      </a:lnTo>
                      <a:lnTo>
                        <a:pt x="0" y="120"/>
                      </a:lnTo>
                      <a:lnTo>
                        <a:pt x="13"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4" name="Freeform 16"/>
                <p:cNvSpPr/>
                <p:nvPr/>
              </p:nvSpPr>
              <p:spPr bwMode="auto">
                <a:xfrm>
                  <a:off x="2755" y="3172"/>
                  <a:ext cx="12" cy="45"/>
                </a:xfrm>
                <a:custGeom>
                  <a:avLst/>
                  <a:gdLst>
                    <a:gd name="T0" fmla="*/ 0 w 84"/>
                    <a:gd name="T1" fmla="*/ 0 h 359"/>
                    <a:gd name="T2" fmla="*/ 59 w 84"/>
                    <a:gd name="T3" fmla="*/ 221 h 359"/>
                    <a:gd name="T4" fmla="*/ 84 w 84"/>
                    <a:gd name="T5" fmla="*/ 359 h 359"/>
                    <a:gd name="T6" fmla="*/ 0 w 84"/>
                    <a:gd name="T7" fmla="*/ 0 h 359"/>
                  </a:gdLst>
                  <a:ahLst/>
                  <a:cxnLst>
                    <a:cxn ang="0">
                      <a:pos x="T0" y="T1"/>
                    </a:cxn>
                    <a:cxn ang="0">
                      <a:pos x="T2" y="T3"/>
                    </a:cxn>
                    <a:cxn ang="0">
                      <a:pos x="T4" y="T5"/>
                    </a:cxn>
                    <a:cxn ang="0">
                      <a:pos x="T6" y="T7"/>
                    </a:cxn>
                  </a:cxnLst>
                  <a:rect l="0" t="0" r="r" b="b"/>
                  <a:pathLst>
                    <a:path w="84" h="359">
                      <a:moveTo>
                        <a:pt x="0" y="0"/>
                      </a:moveTo>
                      <a:lnTo>
                        <a:pt x="59" y="221"/>
                      </a:lnTo>
                      <a:lnTo>
                        <a:pt x="84" y="359"/>
                      </a:lnTo>
                      <a:lnTo>
                        <a:pt x="0"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5" name="Freeform 17"/>
                <p:cNvSpPr/>
                <p:nvPr/>
              </p:nvSpPr>
              <p:spPr bwMode="auto">
                <a:xfrm>
                  <a:off x="2789" y="3113"/>
                  <a:ext cx="9" cy="49"/>
                </a:xfrm>
                <a:custGeom>
                  <a:avLst/>
                  <a:gdLst>
                    <a:gd name="T0" fmla="*/ 0 w 61"/>
                    <a:gd name="T1" fmla="*/ 0 h 390"/>
                    <a:gd name="T2" fmla="*/ 13 w 61"/>
                    <a:gd name="T3" fmla="*/ 163 h 390"/>
                    <a:gd name="T4" fmla="*/ 40 w 61"/>
                    <a:gd name="T5" fmla="*/ 292 h 390"/>
                    <a:gd name="T6" fmla="*/ 61 w 61"/>
                    <a:gd name="T7" fmla="*/ 390 h 390"/>
                    <a:gd name="T8" fmla="*/ 54 w 61"/>
                    <a:gd name="T9" fmla="*/ 219 h 390"/>
                    <a:gd name="T10" fmla="*/ 40 w 61"/>
                    <a:gd name="T11" fmla="*/ 127 h 390"/>
                    <a:gd name="T12" fmla="*/ 0 w 61"/>
                    <a:gd name="T13" fmla="*/ 0 h 390"/>
                  </a:gdLst>
                  <a:ahLst/>
                  <a:cxnLst>
                    <a:cxn ang="0">
                      <a:pos x="T0" y="T1"/>
                    </a:cxn>
                    <a:cxn ang="0">
                      <a:pos x="T2" y="T3"/>
                    </a:cxn>
                    <a:cxn ang="0">
                      <a:pos x="T4" y="T5"/>
                    </a:cxn>
                    <a:cxn ang="0">
                      <a:pos x="T6" y="T7"/>
                    </a:cxn>
                    <a:cxn ang="0">
                      <a:pos x="T8" y="T9"/>
                    </a:cxn>
                    <a:cxn ang="0">
                      <a:pos x="T10" y="T11"/>
                    </a:cxn>
                    <a:cxn ang="0">
                      <a:pos x="T12" y="T13"/>
                    </a:cxn>
                  </a:cxnLst>
                  <a:rect l="0" t="0" r="r" b="b"/>
                  <a:pathLst>
                    <a:path w="61" h="390">
                      <a:moveTo>
                        <a:pt x="0" y="0"/>
                      </a:moveTo>
                      <a:lnTo>
                        <a:pt x="13" y="163"/>
                      </a:lnTo>
                      <a:lnTo>
                        <a:pt x="40" y="292"/>
                      </a:lnTo>
                      <a:lnTo>
                        <a:pt x="61" y="390"/>
                      </a:lnTo>
                      <a:lnTo>
                        <a:pt x="54" y="219"/>
                      </a:lnTo>
                      <a:lnTo>
                        <a:pt x="40" y="127"/>
                      </a:lnTo>
                      <a:lnTo>
                        <a:pt x="0" y="0"/>
                      </a:lnTo>
                      <a:close/>
                    </a:path>
                  </a:pathLst>
                </a:custGeom>
                <a:solidFill>
                  <a:srgbClr val="C06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6" name="Freeform 18"/>
                <p:cNvSpPr/>
                <p:nvPr/>
              </p:nvSpPr>
              <p:spPr bwMode="auto">
                <a:xfrm>
                  <a:off x="2754" y="3108"/>
                  <a:ext cx="11" cy="56"/>
                </a:xfrm>
                <a:custGeom>
                  <a:avLst/>
                  <a:gdLst>
                    <a:gd name="T0" fmla="*/ 72 w 72"/>
                    <a:gd name="T1" fmla="*/ 0 h 449"/>
                    <a:gd name="T2" fmla="*/ 53 w 72"/>
                    <a:gd name="T3" fmla="*/ 133 h 449"/>
                    <a:gd name="T4" fmla="*/ 46 w 72"/>
                    <a:gd name="T5" fmla="*/ 247 h 449"/>
                    <a:gd name="T6" fmla="*/ 34 w 72"/>
                    <a:gd name="T7" fmla="*/ 371 h 449"/>
                    <a:gd name="T8" fmla="*/ 34 w 72"/>
                    <a:gd name="T9" fmla="*/ 449 h 449"/>
                    <a:gd name="T10" fmla="*/ 0 w 72"/>
                    <a:gd name="T11" fmla="*/ 279 h 449"/>
                    <a:gd name="T12" fmla="*/ 14 w 72"/>
                    <a:gd name="T13" fmla="*/ 151 h 449"/>
                    <a:gd name="T14" fmla="*/ 72 w 72"/>
                    <a:gd name="T15" fmla="*/ 0 h 4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449">
                      <a:moveTo>
                        <a:pt x="72" y="0"/>
                      </a:moveTo>
                      <a:lnTo>
                        <a:pt x="53" y="133"/>
                      </a:lnTo>
                      <a:lnTo>
                        <a:pt x="46" y="247"/>
                      </a:lnTo>
                      <a:lnTo>
                        <a:pt x="34" y="371"/>
                      </a:lnTo>
                      <a:lnTo>
                        <a:pt x="34" y="449"/>
                      </a:lnTo>
                      <a:lnTo>
                        <a:pt x="0" y="279"/>
                      </a:lnTo>
                      <a:lnTo>
                        <a:pt x="14" y="151"/>
                      </a:lnTo>
                      <a:lnTo>
                        <a:pt x="72" y="0"/>
                      </a:lnTo>
                      <a:close/>
                    </a:path>
                  </a:pathLst>
                </a:custGeom>
                <a:solidFill>
                  <a:srgbClr val="C06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067" name="Group 19"/>
              <p:cNvGrpSpPr/>
              <p:nvPr/>
            </p:nvGrpSpPr>
            <p:grpSpPr bwMode="auto">
              <a:xfrm>
                <a:off x="2401" y="2996"/>
                <a:ext cx="365" cy="221"/>
                <a:chOff x="2401" y="2996"/>
                <a:chExt cx="365" cy="221"/>
              </a:xfrm>
            </p:grpSpPr>
            <p:sp>
              <p:nvSpPr>
                <p:cNvPr id="642068" name="Freeform 20"/>
                <p:cNvSpPr/>
                <p:nvPr/>
              </p:nvSpPr>
              <p:spPr bwMode="auto">
                <a:xfrm>
                  <a:off x="2401" y="3053"/>
                  <a:ext cx="365" cy="164"/>
                </a:xfrm>
                <a:custGeom>
                  <a:avLst/>
                  <a:gdLst>
                    <a:gd name="T0" fmla="*/ 0 w 2559"/>
                    <a:gd name="T1" fmla="*/ 1310 h 1310"/>
                    <a:gd name="T2" fmla="*/ 1081 w 2559"/>
                    <a:gd name="T3" fmla="*/ 0 h 1310"/>
                    <a:gd name="T4" fmla="*/ 2308 w 2559"/>
                    <a:gd name="T5" fmla="*/ 0 h 1310"/>
                    <a:gd name="T6" fmla="*/ 2559 w 2559"/>
                    <a:gd name="T7" fmla="*/ 1310 h 1310"/>
                    <a:gd name="T8" fmla="*/ 0 w 2559"/>
                    <a:gd name="T9" fmla="*/ 1310 h 1310"/>
                  </a:gdLst>
                  <a:ahLst/>
                  <a:cxnLst>
                    <a:cxn ang="0">
                      <a:pos x="T0" y="T1"/>
                    </a:cxn>
                    <a:cxn ang="0">
                      <a:pos x="T2" y="T3"/>
                    </a:cxn>
                    <a:cxn ang="0">
                      <a:pos x="T4" y="T5"/>
                    </a:cxn>
                    <a:cxn ang="0">
                      <a:pos x="T6" y="T7"/>
                    </a:cxn>
                    <a:cxn ang="0">
                      <a:pos x="T8" y="T9"/>
                    </a:cxn>
                  </a:cxnLst>
                  <a:rect l="0" t="0" r="r" b="b"/>
                  <a:pathLst>
                    <a:path w="2559" h="1310">
                      <a:moveTo>
                        <a:pt x="0" y="1310"/>
                      </a:moveTo>
                      <a:lnTo>
                        <a:pt x="1081" y="0"/>
                      </a:lnTo>
                      <a:lnTo>
                        <a:pt x="2308" y="0"/>
                      </a:lnTo>
                      <a:lnTo>
                        <a:pt x="2559" y="1310"/>
                      </a:lnTo>
                      <a:lnTo>
                        <a:pt x="0" y="1310"/>
                      </a:lnTo>
                      <a:close/>
                    </a:path>
                  </a:pathLst>
                </a:custGeom>
                <a:solidFill>
                  <a:srgbClr val="A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069" name="Group 21"/>
                <p:cNvGrpSpPr/>
                <p:nvPr/>
              </p:nvGrpSpPr>
              <p:grpSpPr bwMode="auto">
                <a:xfrm>
                  <a:off x="2506" y="2996"/>
                  <a:ext cx="212" cy="221"/>
                  <a:chOff x="2506" y="2996"/>
                  <a:chExt cx="212" cy="221"/>
                </a:xfrm>
              </p:grpSpPr>
              <p:grpSp>
                <p:nvGrpSpPr>
                  <p:cNvPr id="642070" name="Group 22"/>
                  <p:cNvGrpSpPr/>
                  <p:nvPr/>
                </p:nvGrpSpPr>
                <p:grpSpPr bwMode="auto">
                  <a:xfrm>
                    <a:off x="2509" y="3148"/>
                    <a:ext cx="118" cy="69"/>
                    <a:chOff x="2509" y="3148"/>
                    <a:chExt cx="118" cy="69"/>
                  </a:xfrm>
                </p:grpSpPr>
                <p:sp>
                  <p:nvSpPr>
                    <p:cNvPr id="642071" name="Freeform 23"/>
                    <p:cNvSpPr/>
                    <p:nvPr/>
                  </p:nvSpPr>
                  <p:spPr bwMode="auto">
                    <a:xfrm>
                      <a:off x="2509" y="3148"/>
                      <a:ext cx="118" cy="69"/>
                    </a:xfrm>
                    <a:custGeom>
                      <a:avLst/>
                      <a:gdLst>
                        <a:gd name="T0" fmla="*/ 183 w 824"/>
                        <a:gd name="T1" fmla="*/ 0 h 550"/>
                        <a:gd name="T2" fmla="*/ 824 w 824"/>
                        <a:gd name="T3" fmla="*/ 0 h 550"/>
                        <a:gd name="T4" fmla="*/ 801 w 824"/>
                        <a:gd name="T5" fmla="*/ 550 h 550"/>
                        <a:gd name="T6" fmla="*/ 0 w 824"/>
                        <a:gd name="T7" fmla="*/ 550 h 550"/>
                        <a:gd name="T8" fmla="*/ 183 w 824"/>
                        <a:gd name="T9" fmla="*/ 0 h 550"/>
                      </a:gdLst>
                      <a:ahLst/>
                      <a:cxnLst>
                        <a:cxn ang="0">
                          <a:pos x="T0" y="T1"/>
                        </a:cxn>
                        <a:cxn ang="0">
                          <a:pos x="T2" y="T3"/>
                        </a:cxn>
                        <a:cxn ang="0">
                          <a:pos x="T4" y="T5"/>
                        </a:cxn>
                        <a:cxn ang="0">
                          <a:pos x="T6" y="T7"/>
                        </a:cxn>
                        <a:cxn ang="0">
                          <a:pos x="T8" y="T9"/>
                        </a:cxn>
                      </a:cxnLst>
                      <a:rect l="0" t="0" r="r" b="b"/>
                      <a:pathLst>
                        <a:path w="824" h="550">
                          <a:moveTo>
                            <a:pt x="183" y="0"/>
                          </a:moveTo>
                          <a:lnTo>
                            <a:pt x="824" y="0"/>
                          </a:lnTo>
                          <a:lnTo>
                            <a:pt x="801" y="550"/>
                          </a:lnTo>
                          <a:lnTo>
                            <a:pt x="0" y="550"/>
                          </a:lnTo>
                          <a:lnTo>
                            <a:pt x="183" y="0"/>
                          </a:lnTo>
                          <a:close/>
                        </a:path>
                      </a:pathLst>
                    </a:custGeom>
                    <a:solidFill>
                      <a:srgbClr val="C0E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72" name="Freeform 24"/>
                    <p:cNvSpPr/>
                    <p:nvPr/>
                  </p:nvSpPr>
                  <p:spPr bwMode="auto">
                    <a:xfrm>
                      <a:off x="2532" y="3148"/>
                      <a:ext cx="95" cy="8"/>
                    </a:xfrm>
                    <a:custGeom>
                      <a:avLst/>
                      <a:gdLst>
                        <a:gd name="T0" fmla="*/ 17 w 661"/>
                        <a:gd name="T1" fmla="*/ 0 h 63"/>
                        <a:gd name="T2" fmla="*/ 0 w 661"/>
                        <a:gd name="T3" fmla="*/ 63 h 63"/>
                        <a:gd name="T4" fmla="*/ 659 w 661"/>
                        <a:gd name="T5" fmla="*/ 63 h 63"/>
                        <a:gd name="T6" fmla="*/ 661 w 661"/>
                        <a:gd name="T7" fmla="*/ 0 h 63"/>
                        <a:gd name="T8" fmla="*/ 17 w 661"/>
                        <a:gd name="T9" fmla="*/ 0 h 63"/>
                      </a:gdLst>
                      <a:ahLst/>
                      <a:cxnLst>
                        <a:cxn ang="0">
                          <a:pos x="T0" y="T1"/>
                        </a:cxn>
                        <a:cxn ang="0">
                          <a:pos x="T2" y="T3"/>
                        </a:cxn>
                        <a:cxn ang="0">
                          <a:pos x="T4" y="T5"/>
                        </a:cxn>
                        <a:cxn ang="0">
                          <a:pos x="T6" y="T7"/>
                        </a:cxn>
                        <a:cxn ang="0">
                          <a:pos x="T8" y="T9"/>
                        </a:cxn>
                      </a:cxnLst>
                      <a:rect l="0" t="0" r="r" b="b"/>
                      <a:pathLst>
                        <a:path w="661" h="63">
                          <a:moveTo>
                            <a:pt x="17" y="0"/>
                          </a:moveTo>
                          <a:lnTo>
                            <a:pt x="0" y="63"/>
                          </a:lnTo>
                          <a:lnTo>
                            <a:pt x="659" y="63"/>
                          </a:lnTo>
                          <a:lnTo>
                            <a:pt x="661" y="0"/>
                          </a:lnTo>
                          <a:lnTo>
                            <a:pt x="17"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073" name="Group 25"/>
                  <p:cNvGrpSpPr/>
                  <p:nvPr/>
                </p:nvGrpSpPr>
                <p:grpSpPr bwMode="auto">
                  <a:xfrm>
                    <a:off x="2506" y="2996"/>
                    <a:ext cx="212" cy="148"/>
                    <a:chOff x="2506" y="2996"/>
                    <a:chExt cx="212" cy="148"/>
                  </a:xfrm>
                </p:grpSpPr>
                <p:grpSp>
                  <p:nvGrpSpPr>
                    <p:cNvPr id="642074" name="Group 26"/>
                    <p:cNvGrpSpPr/>
                    <p:nvPr/>
                  </p:nvGrpSpPr>
                  <p:grpSpPr bwMode="auto">
                    <a:xfrm>
                      <a:off x="2506" y="2996"/>
                      <a:ext cx="203" cy="135"/>
                      <a:chOff x="2506" y="2996"/>
                      <a:chExt cx="203" cy="135"/>
                    </a:xfrm>
                  </p:grpSpPr>
                  <p:grpSp>
                    <p:nvGrpSpPr>
                      <p:cNvPr id="642075" name="Group 27"/>
                      <p:cNvGrpSpPr/>
                      <p:nvPr/>
                    </p:nvGrpSpPr>
                    <p:grpSpPr bwMode="auto">
                      <a:xfrm>
                        <a:off x="2506" y="3042"/>
                        <a:ext cx="203" cy="89"/>
                        <a:chOff x="2506" y="3042"/>
                        <a:chExt cx="203" cy="89"/>
                      </a:xfrm>
                    </p:grpSpPr>
                    <p:grpSp>
                      <p:nvGrpSpPr>
                        <p:cNvPr id="642076" name="Group 28"/>
                        <p:cNvGrpSpPr/>
                        <p:nvPr/>
                      </p:nvGrpSpPr>
                      <p:grpSpPr bwMode="auto">
                        <a:xfrm>
                          <a:off x="2508" y="3042"/>
                          <a:ext cx="201" cy="89"/>
                          <a:chOff x="2508" y="3042"/>
                          <a:chExt cx="201" cy="89"/>
                        </a:xfrm>
                      </p:grpSpPr>
                      <p:sp>
                        <p:nvSpPr>
                          <p:cNvPr id="642077" name="Freeform 29"/>
                          <p:cNvSpPr/>
                          <p:nvPr/>
                        </p:nvSpPr>
                        <p:spPr bwMode="auto">
                          <a:xfrm>
                            <a:off x="2508" y="3061"/>
                            <a:ext cx="71" cy="25"/>
                          </a:xfrm>
                          <a:custGeom>
                            <a:avLst/>
                            <a:gdLst>
                              <a:gd name="T0" fmla="*/ 0 w 501"/>
                              <a:gd name="T1" fmla="*/ 194 h 194"/>
                              <a:gd name="T2" fmla="*/ 33 w 501"/>
                              <a:gd name="T3" fmla="*/ 194 h 194"/>
                              <a:gd name="T4" fmla="*/ 501 w 501"/>
                              <a:gd name="T5" fmla="*/ 7 h 194"/>
                              <a:gd name="T6" fmla="*/ 486 w 501"/>
                              <a:gd name="T7" fmla="*/ 0 h 194"/>
                              <a:gd name="T8" fmla="*/ 0 w 501"/>
                              <a:gd name="T9" fmla="*/ 194 h 194"/>
                            </a:gdLst>
                            <a:ahLst/>
                            <a:cxnLst>
                              <a:cxn ang="0">
                                <a:pos x="T0" y="T1"/>
                              </a:cxn>
                              <a:cxn ang="0">
                                <a:pos x="T2" y="T3"/>
                              </a:cxn>
                              <a:cxn ang="0">
                                <a:pos x="T4" y="T5"/>
                              </a:cxn>
                              <a:cxn ang="0">
                                <a:pos x="T6" y="T7"/>
                              </a:cxn>
                              <a:cxn ang="0">
                                <a:pos x="T8" y="T9"/>
                              </a:cxn>
                            </a:cxnLst>
                            <a:rect l="0" t="0" r="r" b="b"/>
                            <a:pathLst>
                              <a:path w="501" h="194">
                                <a:moveTo>
                                  <a:pt x="0" y="194"/>
                                </a:moveTo>
                                <a:lnTo>
                                  <a:pt x="33" y="194"/>
                                </a:lnTo>
                                <a:lnTo>
                                  <a:pt x="501" y="7"/>
                                </a:lnTo>
                                <a:lnTo>
                                  <a:pt x="486" y="0"/>
                                </a:lnTo>
                                <a:lnTo>
                                  <a:pt x="0" y="194"/>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078" name="Group 30"/>
                          <p:cNvGrpSpPr/>
                          <p:nvPr/>
                        </p:nvGrpSpPr>
                        <p:grpSpPr bwMode="auto">
                          <a:xfrm>
                            <a:off x="2525" y="3042"/>
                            <a:ext cx="184" cy="89"/>
                            <a:chOff x="2525" y="3042"/>
                            <a:chExt cx="184" cy="89"/>
                          </a:xfrm>
                        </p:grpSpPr>
                        <p:sp>
                          <p:nvSpPr>
                            <p:cNvPr id="642079" name="Freeform 31"/>
                            <p:cNvSpPr/>
                            <p:nvPr/>
                          </p:nvSpPr>
                          <p:spPr bwMode="auto">
                            <a:xfrm>
                              <a:off x="2598" y="3078"/>
                              <a:ext cx="109" cy="53"/>
                            </a:xfrm>
                            <a:custGeom>
                              <a:avLst/>
                              <a:gdLst>
                                <a:gd name="T0" fmla="*/ 759 w 759"/>
                                <a:gd name="T1" fmla="*/ 0 h 424"/>
                                <a:gd name="T2" fmla="*/ 332 w 759"/>
                                <a:gd name="T3" fmla="*/ 171 h 424"/>
                                <a:gd name="T4" fmla="*/ 332 w 759"/>
                                <a:gd name="T5" fmla="*/ 192 h 424"/>
                                <a:gd name="T6" fmla="*/ 328 w 759"/>
                                <a:gd name="T7" fmla="*/ 204 h 424"/>
                                <a:gd name="T8" fmla="*/ 326 w 759"/>
                                <a:gd name="T9" fmla="*/ 209 h 424"/>
                                <a:gd name="T10" fmla="*/ 320 w 759"/>
                                <a:gd name="T11" fmla="*/ 218 h 424"/>
                                <a:gd name="T12" fmla="*/ 239 w 759"/>
                                <a:gd name="T13" fmla="*/ 256 h 424"/>
                                <a:gd name="T14" fmla="*/ 235 w 759"/>
                                <a:gd name="T15" fmla="*/ 267 h 424"/>
                                <a:gd name="T16" fmla="*/ 0 w 759"/>
                                <a:gd name="T17" fmla="*/ 369 h 424"/>
                                <a:gd name="T18" fmla="*/ 0 w 759"/>
                                <a:gd name="T19" fmla="*/ 424 h 424"/>
                                <a:gd name="T20" fmla="*/ 9 w 759"/>
                                <a:gd name="T21" fmla="*/ 424 h 424"/>
                                <a:gd name="T22" fmla="*/ 751 w 759"/>
                                <a:gd name="T23" fmla="*/ 93 h 424"/>
                                <a:gd name="T24" fmla="*/ 754 w 759"/>
                                <a:gd name="T25" fmla="*/ 91 h 424"/>
                                <a:gd name="T26" fmla="*/ 757 w 759"/>
                                <a:gd name="T27" fmla="*/ 87 h 424"/>
                                <a:gd name="T28" fmla="*/ 759 w 759"/>
                                <a:gd name="T29" fmla="*/ 79 h 424"/>
                                <a:gd name="T30" fmla="*/ 759 w 759"/>
                                <a:gd name="T3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9" h="424">
                                  <a:moveTo>
                                    <a:pt x="759" y="0"/>
                                  </a:moveTo>
                                  <a:lnTo>
                                    <a:pt x="332" y="171"/>
                                  </a:lnTo>
                                  <a:lnTo>
                                    <a:pt x="332" y="192"/>
                                  </a:lnTo>
                                  <a:lnTo>
                                    <a:pt x="328" y="204"/>
                                  </a:lnTo>
                                  <a:lnTo>
                                    <a:pt x="326" y="209"/>
                                  </a:lnTo>
                                  <a:lnTo>
                                    <a:pt x="320" y="218"/>
                                  </a:lnTo>
                                  <a:lnTo>
                                    <a:pt x="239" y="256"/>
                                  </a:lnTo>
                                  <a:lnTo>
                                    <a:pt x="235" y="267"/>
                                  </a:lnTo>
                                  <a:lnTo>
                                    <a:pt x="0" y="369"/>
                                  </a:lnTo>
                                  <a:lnTo>
                                    <a:pt x="0" y="424"/>
                                  </a:lnTo>
                                  <a:lnTo>
                                    <a:pt x="9" y="424"/>
                                  </a:lnTo>
                                  <a:lnTo>
                                    <a:pt x="751" y="93"/>
                                  </a:lnTo>
                                  <a:lnTo>
                                    <a:pt x="754" y="91"/>
                                  </a:lnTo>
                                  <a:lnTo>
                                    <a:pt x="757" y="87"/>
                                  </a:lnTo>
                                  <a:lnTo>
                                    <a:pt x="759" y="79"/>
                                  </a:lnTo>
                                  <a:lnTo>
                                    <a:pt x="759"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0" name="Freeform 32"/>
                            <p:cNvSpPr/>
                            <p:nvPr/>
                          </p:nvSpPr>
                          <p:spPr bwMode="auto">
                            <a:xfrm>
                              <a:off x="2694" y="3082"/>
                              <a:ext cx="7" cy="7"/>
                            </a:xfrm>
                            <a:custGeom>
                              <a:avLst/>
                              <a:gdLst>
                                <a:gd name="T0" fmla="*/ 0 w 53"/>
                                <a:gd name="T1" fmla="*/ 23 h 57"/>
                                <a:gd name="T2" fmla="*/ 53 w 53"/>
                                <a:gd name="T3" fmla="*/ 0 h 57"/>
                                <a:gd name="T4" fmla="*/ 53 w 53"/>
                                <a:gd name="T5" fmla="*/ 33 h 57"/>
                                <a:gd name="T6" fmla="*/ 0 w 53"/>
                                <a:gd name="T7" fmla="*/ 57 h 57"/>
                                <a:gd name="T8" fmla="*/ 0 w 53"/>
                                <a:gd name="T9" fmla="*/ 23 h 57"/>
                              </a:gdLst>
                              <a:ahLst/>
                              <a:cxnLst>
                                <a:cxn ang="0">
                                  <a:pos x="T0" y="T1"/>
                                </a:cxn>
                                <a:cxn ang="0">
                                  <a:pos x="T2" y="T3"/>
                                </a:cxn>
                                <a:cxn ang="0">
                                  <a:pos x="T4" y="T5"/>
                                </a:cxn>
                                <a:cxn ang="0">
                                  <a:pos x="T6" y="T7"/>
                                </a:cxn>
                                <a:cxn ang="0">
                                  <a:pos x="T8" y="T9"/>
                                </a:cxn>
                              </a:cxnLst>
                              <a:rect l="0" t="0" r="r" b="b"/>
                              <a:pathLst>
                                <a:path w="53" h="57">
                                  <a:moveTo>
                                    <a:pt x="0" y="23"/>
                                  </a:moveTo>
                                  <a:lnTo>
                                    <a:pt x="53" y="0"/>
                                  </a:lnTo>
                                  <a:lnTo>
                                    <a:pt x="53" y="33"/>
                                  </a:lnTo>
                                  <a:lnTo>
                                    <a:pt x="0" y="57"/>
                                  </a:lnTo>
                                  <a:lnTo>
                                    <a:pt x="0" y="23"/>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081" name="Group 33"/>
                            <p:cNvGrpSpPr/>
                            <p:nvPr/>
                          </p:nvGrpSpPr>
                          <p:grpSpPr bwMode="auto">
                            <a:xfrm>
                              <a:off x="2525" y="3042"/>
                              <a:ext cx="184" cy="89"/>
                              <a:chOff x="2525" y="3042"/>
                              <a:chExt cx="184" cy="89"/>
                            </a:xfrm>
                          </p:grpSpPr>
                          <p:sp>
                            <p:nvSpPr>
                              <p:cNvPr id="642082" name="Freeform 34"/>
                              <p:cNvSpPr/>
                              <p:nvPr/>
                            </p:nvSpPr>
                            <p:spPr bwMode="auto">
                              <a:xfrm>
                                <a:off x="2570" y="3049"/>
                                <a:ext cx="12" cy="16"/>
                              </a:xfrm>
                              <a:custGeom>
                                <a:avLst/>
                                <a:gdLst>
                                  <a:gd name="T0" fmla="*/ 68 w 85"/>
                                  <a:gd name="T1" fmla="*/ 0 h 129"/>
                                  <a:gd name="T2" fmla="*/ 85 w 85"/>
                                  <a:gd name="T3" fmla="*/ 129 h 129"/>
                                  <a:gd name="T4" fmla="*/ 0 w 85"/>
                                  <a:gd name="T5" fmla="*/ 97 h 129"/>
                                  <a:gd name="T6" fmla="*/ 68 w 85"/>
                                  <a:gd name="T7" fmla="*/ 0 h 129"/>
                                </a:gdLst>
                                <a:ahLst/>
                                <a:cxnLst>
                                  <a:cxn ang="0">
                                    <a:pos x="T0" y="T1"/>
                                  </a:cxn>
                                  <a:cxn ang="0">
                                    <a:pos x="T2" y="T3"/>
                                  </a:cxn>
                                  <a:cxn ang="0">
                                    <a:pos x="T4" y="T5"/>
                                  </a:cxn>
                                  <a:cxn ang="0">
                                    <a:pos x="T6" y="T7"/>
                                  </a:cxn>
                                </a:cxnLst>
                                <a:rect l="0" t="0" r="r" b="b"/>
                                <a:pathLst>
                                  <a:path w="85" h="129">
                                    <a:moveTo>
                                      <a:pt x="68" y="0"/>
                                    </a:moveTo>
                                    <a:lnTo>
                                      <a:pt x="85" y="129"/>
                                    </a:lnTo>
                                    <a:lnTo>
                                      <a:pt x="0" y="97"/>
                                    </a:lnTo>
                                    <a:lnTo>
                                      <a:pt x="68" y="0"/>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3" name="Freeform 35"/>
                              <p:cNvSpPr/>
                              <p:nvPr/>
                            </p:nvSpPr>
                            <p:spPr bwMode="auto">
                              <a:xfrm>
                                <a:off x="2525" y="3079"/>
                                <a:ext cx="75" cy="46"/>
                              </a:xfrm>
                              <a:custGeom>
                                <a:avLst/>
                                <a:gdLst>
                                  <a:gd name="T0" fmla="*/ 0 w 523"/>
                                  <a:gd name="T1" fmla="*/ 21 h 367"/>
                                  <a:gd name="T2" fmla="*/ 523 w 523"/>
                                  <a:gd name="T3" fmla="*/ 367 h 367"/>
                                  <a:gd name="T4" fmla="*/ 523 w 523"/>
                                  <a:gd name="T5" fmla="*/ 316 h 367"/>
                                  <a:gd name="T6" fmla="*/ 16 w 523"/>
                                  <a:gd name="T7" fmla="*/ 0 h 367"/>
                                  <a:gd name="T8" fmla="*/ 0 w 523"/>
                                  <a:gd name="T9" fmla="*/ 21 h 367"/>
                                </a:gdLst>
                                <a:ahLst/>
                                <a:cxnLst>
                                  <a:cxn ang="0">
                                    <a:pos x="T0" y="T1"/>
                                  </a:cxn>
                                  <a:cxn ang="0">
                                    <a:pos x="T2" y="T3"/>
                                  </a:cxn>
                                  <a:cxn ang="0">
                                    <a:pos x="T4" y="T5"/>
                                  </a:cxn>
                                  <a:cxn ang="0">
                                    <a:pos x="T6" y="T7"/>
                                  </a:cxn>
                                  <a:cxn ang="0">
                                    <a:pos x="T8" y="T9"/>
                                  </a:cxn>
                                </a:cxnLst>
                                <a:rect l="0" t="0" r="r" b="b"/>
                                <a:pathLst>
                                  <a:path w="523" h="367">
                                    <a:moveTo>
                                      <a:pt x="0" y="21"/>
                                    </a:moveTo>
                                    <a:lnTo>
                                      <a:pt x="523" y="367"/>
                                    </a:lnTo>
                                    <a:lnTo>
                                      <a:pt x="523" y="316"/>
                                    </a:lnTo>
                                    <a:lnTo>
                                      <a:pt x="16" y="0"/>
                                    </a:lnTo>
                                    <a:lnTo>
                                      <a:pt x="0" y="21"/>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4" name="Freeform 36"/>
                              <p:cNvSpPr/>
                              <p:nvPr/>
                            </p:nvSpPr>
                            <p:spPr bwMode="auto">
                              <a:xfrm>
                                <a:off x="2598" y="3097"/>
                                <a:ext cx="49" cy="28"/>
                              </a:xfrm>
                              <a:custGeom>
                                <a:avLst/>
                                <a:gdLst>
                                  <a:gd name="T0" fmla="*/ 0 w 340"/>
                                  <a:gd name="T1" fmla="*/ 230 h 230"/>
                                  <a:gd name="T2" fmla="*/ 0 w 340"/>
                                  <a:gd name="T3" fmla="*/ 167 h 230"/>
                                  <a:gd name="T4" fmla="*/ 340 w 340"/>
                                  <a:gd name="T5" fmla="*/ 0 h 230"/>
                                  <a:gd name="T6" fmla="*/ 340 w 340"/>
                                  <a:gd name="T7" fmla="*/ 82 h 230"/>
                                  <a:gd name="T8" fmla="*/ 0 w 340"/>
                                  <a:gd name="T9" fmla="*/ 230 h 230"/>
                                </a:gdLst>
                                <a:ahLst/>
                                <a:cxnLst>
                                  <a:cxn ang="0">
                                    <a:pos x="T0" y="T1"/>
                                  </a:cxn>
                                  <a:cxn ang="0">
                                    <a:pos x="T2" y="T3"/>
                                  </a:cxn>
                                  <a:cxn ang="0">
                                    <a:pos x="T4" y="T5"/>
                                  </a:cxn>
                                  <a:cxn ang="0">
                                    <a:pos x="T6" y="T7"/>
                                  </a:cxn>
                                  <a:cxn ang="0">
                                    <a:pos x="T8" y="T9"/>
                                  </a:cxn>
                                </a:cxnLst>
                                <a:rect l="0" t="0" r="r" b="b"/>
                                <a:pathLst>
                                  <a:path w="340" h="230">
                                    <a:moveTo>
                                      <a:pt x="0" y="230"/>
                                    </a:moveTo>
                                    <a:lnTo>
                                      <a:pt x="0" y="167"/>
                                    </a:lnTo>
                                    <a:lnTo>
                                      <a:pt x="340" y="0"/>
                                    </a:lnTo>
                                    <a:lnTo>
                                      <a:pt x="340" y="82"/>
                                    </a:lnTo>
                                    <a:lnTo>
                                      <a:pt x="0" y="23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5" name="Freeform 37"/>
                              <p:cNvSpPr/>
                              <p:nvPr/>
                            </p:nvSpPr>
                            <p:spPr bwMode="auto">
                              <a:xfrm>
                                <a:off x="2623" y="3067"/>
                                <a:ext cx="31" cy="30"/>
                              </a:xfrm>
                              <a:custGeom>
                                <a:avLst/>
                                <a:gdLst>
                                  <a:gd name="T0" fmla="*/ 6 w 219"/>
                                  <a:gd name="T1" fmla="*/ 0 h 234"/>
                                  <a:gd name="T2" fmla="*/ 0 w 219"/>
                                  <a:gd name="T3" fmla="*/ 164 h 234"/>
                                  <a:gd name="T4" fmla="*/ 165 w 219"/>
                                  <a:gd name="T5" fmla="*/ 234 h 234"/>
                                  <a:gd name="T6" fmla="*/ 219 w 219"/>
                                  <a:gd name="T7" fmla="*/ 105 h 234"/>
                                  <a:gd name="T8" fmla="*/ 6 w 219"/>
                                  <a:gd name="T9" fmla="*/ 0 h 234"/>
                                </a:gdLst>
                                <a:ahLst/>
                                <a:cxnLst>
                                  <a:cxn ang="0">
                                    <a:pos x="T0" y="T1"/>
                                  </a:cxn>
                                  <a:cxn ang="0">
                                    <a:pos x="T2" y="T3"/>
                                  </a:cxn>
                                  <a:cxn ang="0">
                                    <a:pos x="T4" y="T5"/>
                                  </a:cxn>
                                  <a:cxn ang="0">
                                    <a:pos x="T6" y="T7"/>
                                  </a:cxn>
                                  <a:cxn ang="0">
                                    <a:pos x="T8" y="T9"/>
                                  </a:cxn>
                                </a:cxnLst>
                                <a:rect l="0" t="0" r="r" b="b"/>
                                <a:pathLst>
                                  <a:path w="219" h="234">
                                    <a:moveTo>
                                      <a:pt x="6" y="0"/>
                                    </a:moveTo>
                                    <a:lnTo>
                                      <a:pt x="0" y="164"/>
                                    </a:lnTo>
                                    <a:lnTo>
                                      <a:pt x="165" y="234"/>
                                    </a:lnTo>
                                    <a:lnTo>
                                      <a:pt x="219" y="105"/>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6" name="Freeform 38"/>
                              <p:cNvSpPr/>
                              <p:nvPr/>
                            </p:nvSpPr>
                            <p:spPr bwMode="auto">
                              <a:xfrm>
                                <a:off x="2577" y="3050"/>
                                <a:ext cx="28" cy="25"/>
                              </a:xfrm>
                              <a:custGeom>
                                <a:avLst/>
                                <a:gdLst>
                                  <a:gd name="T0" fmla="*/ 14 w 197"/>
                                  <a:gd name="T1" fmla="*/ 0 h 199"/>
                                  <a:gd name="T2" fmla="*/ 0 w 197"/>
                                  <a:gd name="T3" fmla="*/ 133 h 199"/>
                                  <a:gd name="T4" fmla="*/ 136 w 197"/>
                                  <a:gd name="T5" fmla="*/ 199 h 199"/>
                                  <a:gd name="T6" fmla="*/ 197 w 197"/>
                                  <a:gd name="T7" fmla="*/ 88 h 199"/>
                                  <a:gd name="T8" fmla="*/ 14 w 197"/>
                                  <a:gd name="T9" fmla="*/ 0 h 199"/>
                                </a:gdLst>
                                <a:ahLst/>
                                <a:cxnLst>
                                  <a:cxn ang="0">
                                    <a:pos x="T0" y="T1"/>
                                  </a:cxn>
                                  <a:cxn ang="0">
                                    <a:pos x="T2" y="T3"/>
                                  </a:cxn>
                                  <a:cxn ang="0">
                                    <a:pos x="T4" y="T5"/>
                                  </a:cxn>
                                  <a:cxn ang="0">
                                    <a:pos x="T6" y="T7"/>
                                  </a:cxn>
                                  <a:cxn ang="0">
                                    <a:pos x="T8" y="T9"/>
                                  </a:cxn>
                                </a:cxnLst>
                                <a:rect l="0" t="0" r="r" b="b"/>
                                <a:pathLst>
                                  <a:path w="197" h="199">
                                    <a:moveTo>
                                      <a:pt x="14" y="0"/>
                                    </a:moveTo>
                                    <a:lnTo>
                                      <a:pt x="0" y="133"/>
                                    </a:lnTo>
                                    <a:lnTo>
                                      <a:pt x="136" y="199"/>
                                    </a:lnTo>
                                    <a:lnTo>
                                      <a:pt x="197" y="88"/>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7" name="Freeform 39"/>
                              <p:cNvSpPr/>
                              <p:nvPr/>
                            </p:nvSpPr>
                            <p:spPr bwMode="auto">
                              <a:xfrm>
                                <a:off x="2615" y="3070"/>
                                <a:ext cx="10" cy="17"/>
                              </a:xfrm>
                              <a:custGeom>
                                <a:avLst/>
                                <a:gdLst>
                                  <a:gd name="T0" fmla="*/ 70 w 70"/>
                                  <a:gd name="T1" fmla="*/ 0 h 135"/>
                                  <a:gd name="T2" fmla="*/ 70 w 70"/>
                                  <a:gd name="T3" fmla="*/ 135 h 135"/>
                                  <a:gd name="T4" fmla="*/ 0 w 70"/>
                                  <a:gd name="T5" fmla="*/ 97 h 135"/>
                                  <a:gd name="T6" fmla="*/ 70 w 70"/>
                                  <a:gd name="T7" fmla="*/ 0 h 135"/>
                                </a:gdLst>
                                <a:ahLst/>
                                <a:cxnLst>
                                  <a:cxn ang="0">
                                    <a:pos x="T0" y="T1"/>
                                  </a:cxn>
                                  <a:cxn ang="0">
                                    <a:pos x="T2" y="T3"/>
                                  </a:cxn>
                                  <a:cxn ang="0">
                                    <a:pos x="T4" y="T5"/>
                                  </a:cxn>
                                  <a:cxn ang="0">
                                    <a:pos x="T6" y="T7"/>
                                  </a:cxn>
                                </a:cxnLst>
                                <a:rect l="0" t="0" r="r" b="b"/>
                                <a:pathLst>
                                  <a:path w="70" h="135">
                                    <a:moveTo>
                                      <a:pt x="70" y="0"/>
                                    </a:moveTo>
                                    <a:lnTo>
                                      <a:pt x="70" y="135"/>
                                    </a:lnTo>
                                    <a:lnTo>
                                      <a:pt x="0" y="97"/>
                                    </a:lnTo>
                                    <a:lnTo>
                                      <a:pt x="70" y="0"/>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8" name="Freeform 40"/>
                              <p:cNvSpPr/>
                              <p:nvPr/>
                            </p:nvSpPr>
                            <p:spPr bwMode="auto">
                              <a:xfrm>
                                <a:off x="2525" y="3082"/>
                                <a:ext cx="75" cy="49"/>
                              </a:xfrm>
                              <a:custGeom>
                                <a:avLst/>
                                <a:gdLst>
                                  <a:gd name="T0" fmla="*/ 523 w 523"/>
                                  <a:gd name="T1" fmla="*/ 340 h 394"/>
                                  <a:gd name="T2" fmla="*/ 523 w 523"/>
                                  <a:gd name="T3" fmla="*/ 394 h 394"/>
                                  <a:gd name="T4" fmla="*/ 0 w 523"/>
                                  <a:gd name="T5" fmla="*/ 51 h 394"/>
                                  <a:gd name="T6" fmla="*/ 0 w 523"/>
                                  <a:gd name="T7" fmla="*/ 0 h 394"/>
                                  <a:gd name="T8" fmla="*/ 523 w 523"/>
                                  <a:gd name="T9" fmla="*/ 340 h 394"/>
                                </a:gdLst>
                                <a:ahLst/>
                                <a:cxnLst>
                                  <a:cxn ang="0">
                                    <a:pos x="T0" y="T1"/>
                                  </a:cxn>
                                  <a:cxn ang="0">
                                    <a:pos x="T2" y="T3"/>
                                  </a:cxn>
                                  <a:cxn ang="0">
                                    <a:pos x="T4" y="T5"/>
                                  </a:cxn>
                                  <a:cxn ang="0">
                                    <a:pos x="T6" y="T7"/>
                                  </a:cxn>
                                  <a:cxn ang="0">
                                    <a:pos x="T8" y="T9"/>
                                  </a:cxn>
                                </a:cxnLst>
                                <a:rect l="0" t="0" r="r" b="b"/>
                                <a:pathLst>
                                  <a:path w="523" h="394">
                                    <a:moveTo>
                                      <a:pt x="523" y="340"/>
                                    </a:moveTo>
                                    <a:lnTo>
                                      <a:pt x="523" y="394"/>
                                    </a:lnTo>
                                    <a:lnTo>
                                      <a:pt x="0" y="51"/>
                                    </a:lnTo>
                                    <a:lnTo>
                                      <a:pt x="0" y="0"/>
                                    </a:lnTo>
                                    <a:lnTo>
                                      <a:pt x="523" y="34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9" name="Freeform 41"/>
                              <p:cNvSpPr/>
                              <p:nvPr/>
                            </p:nvSpPr>
                            <p:spPr bwMode="auto">
                              <a:xfrm>
                                <a:off x="2624" y="3042"/>
                                <a:ext cx="85" cy="30"/>
                              </a:xfrm>
                              <a:custGeom>
                                <a:avLst/>
                                <a:gdLst>
                                  <a:gd name="T0" fmla="*/ 0 w 589"/>
                                  <a:gd name="T1" fmla="*/ 19 h 243"/>
                                  <a:gd name="T2" fmla="*/ 503 w 589"/>
                                  <a:gd name="T3" fmla="*/ 243 h 243"/>
                                  <a:gd name="T4" fmla="*/ 589 w 589"/>
                                  <a:gd name="T5" fmla="*/ 213 h 243"/>
                                  <a:gd name="T6" fmla="*/ 104 w 589"/>
                                  <a:gd name="T7" fmla="*/ 0 h 243"/>
                                  <a:gd name="T8" fmla="*/ 0 w 589"/>
                                  <a:gd name="T9" fmla="*/ 19 h 243"/>
                                </a:gdLst>
                                <a:ahLst/>
                                <a:cxnLst>
                                  <a:cxn ang="0">
                                    <a:pos x="T0" y="T1"/>
                                  </a:cxn>
                                  <a:cxn ang="0">
                                    <a:pos x="T2" y="T3"/>
                                  </a:cxn>
                                  <a:cxn ang="0">
                                    <a:pos x="T4" y="T5"/>
                                  </a:cxn>
                                  <a:cxn ang="0">
                                    <a:pos x="T6" y="T7"/>
                                  </a:cxn>
                                  <a:cxn ang="0">
                                    <a:pos x="T8" y="T9"/>
                                  </a:cxn>
                                </a:cxnLst>
                                <a:rect l="0" t="0" r="r" b="b"/>
                                <a:pathLst>
                                  <a:path w="589" h="243">
                                    <a:moveTo>
                                      <a:pt x="0" y="19"/>
                                    </a:moveTo>
                                    <a:lnTo>
                                      <a:pt x="503" y="243"/>
                                    </a:lnTo>
                                    <a:lnTo>
                                      <a:pt x="589" y="213"/>
                                    </a:lnTo>
                                    <a:lnTo>
                                      <a:pt x="104" y="0"/>
                                    </a:lnTo>
                                    <a:lnTo>
                                      <a:pt x="0" y="19"/>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0" name="Freeform 42"/>
                              <p:cNvSpPr/>
                              <p:nvPr/>
                            </p:nvSpPr>
                            <p:spPr bwMode="auto">
                              <a:xfrm>
                                <a:off x="2690" y="3067"/>
                                <a:ext cx="19" cy="18"/>
                              </a:xfrm>
                              <a:custGeom>
                                <a:avLst/>
                                <a:gdLst>
                                  <a:gd name="T0" fmla="*/ 131 w 131"/>
                                  <a:gd name="T1" fmla="*/ 0 h 136"/>
                                  <a:gd name="T2" fmla="*/ 37 w 131"/>
                                  <a:gd name="T3" fmla="*/ 31 h 136"/>
                                  <a:gd name="T4" fmla="*/ 0 w 131"/>
                                  <a:gd name="T5" fmla="*/ 136 h 136"/>
                                  <a:gd name="T6" fmla="*/ 131 w 131"/>
                                  <a:gd name="T7" fmla="*/ 86 h 136"/>
                                  <a:gd name="T8" fmla="*/ 131 w 131"/>
                                  <a:gd name="T9" fmla="*/ 0 h 136"/>
                                </a:gdLst>
                                <a:ahLst/>
                                <a:cxnLst>
                                  <a:cxn ang="0">
                                    <a:pos x="T0" y="T1"/>
                                  </a:cxn>
                                  <a:cxn ang="0">
                                    <a:pos x="T2" y="T3"/>
                                  </a:cxn>
                                  <a:cxn ang="0">
                                    <a:pos x="T4" y="T5"/>
                                  </a:cxn>
                                  <a:cxn ang="0">
                                    <a:pos x="T6" y="T7"/>
                                  </a:cxn>
                                  <a:cxn ang="0">
                                    <a:pos x="T8" y="T9"/>
                                  </a:cxn>
                                </a:cxnLst>
                                <a:rect l="0" t="0" r="r" b="b"/>
                                <a:pathLst>
                                  <a:path w="131" h="136">
                                    <a:moveTo>
                                      <a:pt x="131" y="0"/>
                                    </a:moveTo>
                                    <a:lnTo>
                                      <a:pt x="37" y="31"/>
                                    </a:lnTo>
                                    <a:lnTo>
                                      <a:pt x="0" y="136"/>
                                    </a:lnTo>
                                    <a:lnTo>
                                      <a:pt x="131" y="86"/>
                                    </a:lnTo>
                                    <a:lnTo>
                                      <a:pt x="13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1" name="Freeform 43"/>
                              <p:cNvSpPr/>
                              <p:nvPr/>
                            </p:nvSpPr>
                            <p:spPr bwMode="auto">
                              <a:xfrm>
                                <a:off x="2568" y="3044"/>
                                <a:ext cx="129" cy="39"/>
                              </a:xfrm>
                              <a:custGeom>
                                <a:avLst/>
                                <a:gdLst>
                                  <a:gd name="T0" fmla="*/ 402 w 898"/>
                                  <a:gd name="T1" fmla="*/ 0 h 312"/>
                                  <a:gd name="T2" fmla="*/ 53 w 898"/>
                                  <a:gd name="T3" fmla="*/ 42 h 312"/>
                                  <a:gd name="T4" fmla="*/ 0 w 898"/>
                                  <a:gd name="T5" fmla="*/ 120 h 312"/>
                                  <a:gd name="T6" fmla="*/ 12 w 898"/>
                                  <a:gd name="T7" fmla="*/ 143 h 312"/>
                                  <a:gd name="T8" fmla="*/ 73 w 898"/>
                                  <a:gd name="T9" fmla="*/ 51 h 312"/>
                                  <a:gd name="T10" fmla="*/ 232 w 898"/>
                                  <a:gd name="T11" fmla="*/ 134 h 312"/>
                                  <a:gd name="T12" fmla="*/ 175 w 898"/>
                                  <a:gd name="T13" fmla="*/ 220 h 312"/>
                                  <a:gd name="T14" fmla="*/ 337 w 898"/>
                                  <a:gd name="T15" fmla="*/ 309 h 312"/>
                                  <a:gd name="T16" fmla="*/ 396 w 898"/>
                                  <a:gd name="T17" fmla="*/ 218 h 312"/>
                                  <a:gd name="T18" fmla="*/ 576 w 898"/>
                                  <a:gd name="T19" fmla="*/ 312 h 312"/>
                                  <a:gd name="T20" fmla="*/ 898 w 898"/>
                                  <a:gd name="T21" fmla="*/ 223 h 312"/>
                                  <a:gd name="T22" fmla="*/ 402 w 898"/>
                                  <a:gd name="T23" fmla="*/ 0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8" h="312">
                                    <a:moveTo>
                                      <a:pt x="402" y="0"/>
                                    </a:moveTo>
                                    <a:lnTo>
                                      <a:pt x="53" y="42"/>
                                    </a:lnTo>
                                    <a:lnTo>
                                      <a:pt x="0" y="120"/>
                                    </a:lnTo>
                                    <a:lnTo>
                                      <a:pt x="12" y="143"/>
                                    </a:lnTo>
                                    <a:lnTo>
                                      <a:pt x="73" y="51"/>
                                    </a:lnTo>
                                    <a:lnTo>
                                      <a:pt x="232" y="134"/>
                                    </a:lnTo>
                                    <a:lnTo>
                                      <a:pt x="175" y="220"/>
                                    </a:lnTo>
                                    <a:lnTo>
                                      <a:pt x="337" y="309"/>
                                    </a:lnTo>
                                    <a:lnTo>
                                      <a:pt x="396" y="218"/>
                                    </a:lnTo>
                                    <a:lnTo>
                                      <a:pt x="576" y="312"/>
                                    </a:lnTo>
                                    <a:lnTo>
                                      <a:pt x="898" y="223"/>
                                    </a:lnTo>
                                    <a:lnTo>
                                      <a:pt x="402"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2" name="Freeform 44"/>
                              <p:cNvSpPr/>
                              <p:nvPr/>
                            </p:nvSpPr>
                            <p:spPr bwMode="auto">
                              <a:xfrm>
                                <a:off x="2645" y="3071"/>
                                <a:ext cx="51" cy="25"/>
                              </a:xfrm>
                              <a:custGeom>
                                <a:avLst/>
                                <a:gdLst>
                                  <a:gd name="T0" fmla="*/ 359 w 359"/>
                                  <a:gd name="T1" fmla="*/ 0 h 198"/>
                                  <a:gd name="T2" fmla="*/ 322 w 359"/>
                                  <a:gd name="T3" fmla="*/ 104 h 198"/>
                                  <a:gd name="T4" fmla="*/ 0 w 359"/>
                                  <a:gd name="T5" fmla="*/ 198 h 198"/>
                                  <a:gd name="T6" fmla="*/ 34 w 359"/>
                                  <a:gd name="T7" fmla="*/ 91 h 198"/>
                                  <a:gd name="T8" fmla="*/ 359 w 359"/>
                                  <a:gd name="T9" fmla="*/ 0 h 198"/>
                                </a:gdLst>
                                <a:ahLst/>
                                <a:cxnLst>
                                  <a:cxn ang="0">
                                    <a:pos x="T0" y="T1"/>
                                  </a:cxn>
                                  <a:cxn ang="0">
                                    <a:pos x="T2" y="T3"/>
                                  </a:cxn>
                                  <a:cxn ang="0">
                                    <a:pos x="T4" y="T5"/>
                                  </a:cxn>
                                  <a:cxn ang="0">
                                    <a:pos x="T6" y="T7"/>
                                  </a:cxn>
                                  <a:cxn ang="0">
                                    <a:pos x="T8" y="T9"/>
                                  </a:cxn>
                                </a:cxnLst>
                                <a:rect l="0" t="0" r="r" b="b"/>
                                <a:pathLst>
                                  <a:path w="359" h="198">
                                    <a:moveTo>
                                      <a:pt x="359" y="0"/>
                                    </a:moveTo>
                                    <a:lnTo>
                                      <a:pt x="322" y="104"/>
                                    </a:lnTo>
                                    <a:lnTo>
                                      <a:pt x="0" y="198"/>
                                    </a:lnTo>
                                    <a:lnTo>
                                      <a:pt x="34" y="91"/>
                                    </a:lnTo>
                                    <a:lnTo>
                                      <a:pt x="359" y="0"/>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3" name="Freeform 45"/>
                              <p:cNvSpPr/>
                              <p:nvPr/>
                            </p:nvSpPr>
                            <p:spPr bwMode="auto">
                              <a:xfrm>
                                <a:off x="2645" y="3083"/>
                                <a:ext cx="47" cy="18"/>
                              </a:xfrm>
                              <a:custGeom>
                                <a:avLst/>
                                <a:gdLst>
                                  <a:gd name="T0" fmla="*/ 0 w 326"/>
                                  <a:gd name="T1" fmla="*/ 96 h 142"/>
                                  <a:gd name="T2" fmla="*/ 0 w 326"/>
                                  <a:gd name="T3" fmla="*/ 142 h 142"/>
                                  <a:gd name="T4" fmla="*/ 326 w 326"/>
                                  <a:gd name="T5" fmla="*/ 0 h 142"/>
                                  <a:gd name="T6" fmla="*/ 0 w 326"/>
                                  <a:gd name="T7" fmla="*/ 96 h 142"/>
                                </a:gdLst>
                                <a:ahLst/>
                                <a:cxnLst>
                                  <a:cxn ang="0">
                                    <a:pos x="T0" y="T1"/>
                                  </a:cxn>
                                  <a:cxn ang="0">
                                    <a:pos x="T2" y="T3"/>
                                  </a:cxn>
                                  <a:cxn ang="0">
                                    <a:pos x="T4" y="T5"/>
                                  </a:cxn>
                                  <a:cxn ang="0">
                                    <a:pos x="T6" y="T7"/>
                                  </a:cxn>
                                </a:cxnLst>
                                <a:rect l="0" t="0" r="r" b="b"/>
                                <a:pathLst>
                                  <a:path w="326" h="142">
                                    <a:moveTo>
                                      <a:pt x="0" y="96"/>
                                    </a:moveTo>
                                    <a:lnTo>
                                      <a:pt x="0" y="142"/>
                                    </a:lnTo>
                                    <a:lnTo>
                                      <a:pt x="326" y="0"/>
                                    </a:lnTo>
                                    <a:lnTo>
                                      <a:pt x="0" y="96"/>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4" name="Freeform 46"/>
                              <p:cNvSpPr/>
                              <p:nvPr/>
                            </p:nvSpPr>
                            <p:spPr bwMode="auto">
                              <a:xfrm>
                                <a:off x="2527" y="3063"/>
                                <a:ext cx="119" cy="56"/>
                              </a:xfrm>
                              <a:custGeom>
                                <a:avLst/>
                                <a:gdLst>
                                  <a:gd name="T0" fmla="*/ 0 w 836"/>
                                  <a:gd name="T1" fmla="*/ 136 h 453"/>
                                  <a:gd name="T2" fmla="*/ 506 w 836"/>
                                  <a:gd name="T3" fmla="*/ 453 h 453"/>
                                  <a:gd name="T4" fmla="*/ 810 w 836"/>
                                  <a:gd name="T5" fmla="*/ 273 h 453"/>
                                  <a:gd name="T6" fmla="*/ 836 w 836"/>
                                  <a:gd name="T7" fmla="*/ 262 h 453"/>
                                  <a:gd name="T8" fmla="*/ 351 w 836"/>
                                  <a:gd name="T9" fmla="*/ 0 h 453"/>
                                  <a:gd name="T10" fmla="*/ 0 w 836"/>
                                  <a:gd name="T11" fmla="*/ 136 h 453"/>
                                </a:gdLst>
                                <a:ahLst/>
                                <a:cxnLst>
                                  <a:cxn ang="0">
                                    <a:pos x="T0" y="T1"/>
                                  </a:cxn>
                                  <a:cxn ang="0">
                                    <a:pos x="T2" y="T3"/>
                                  </a:cxn>
                                  <a:cxn ang="0">
                                    <a:pos x="T4" y="T5"/>
                                  </a:cxn>
                                  <a:cxn ang="0">
                                    <a:pos x="T6" y="T7"/>
                                  </a:cxn>
                                  <a:cxn ang="0">
                                    <a:pos x="T8" y="T9"/>
                                  </a:cxn>
                                  <a:cxn ang="0">
                                    <a:pos x="T10" y="T11"/>
                                  </a:cxn>
                                </a:cxnLst>
                                <a:rect l="0" t="0" r="r" b="b"/>
                                <a:pathLst>
                                  <a:path w="836" h="453">
                                    <a:moveTo>
                                      <a:pt x="0" y="136"/>
                                    </a:moveTo>
                                    <a:lnTo>
                                      <a:pt x="506" y="453"/>
                                    </a:lnTo>
                                    <a:lnTo>
                                      <a:pt x="810" y="273"/>
                                    </a:lnTo>
                                    <a:lnTo>
                                      <a:pt x="836" y="262"/>
                                    </a:lnTo>
                                    <a:lnTo>
                                      <a:pt x="351" y="0"/>
                                    </a:lnTo>
                                    <a:lnTo>
                                      <a:pt x="0" y="136"/>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5" name="Freeform 47"/>
                              <p:cNvSpPr/>
                              <p:nvPr/>
                            </p:nvSpPr>
                            <p:spPr bwMode="auto">
                              <a:xfrm>
                                <a:off x="2598" y="3094"/>
                                <a:ext cx="48" cy="25"/>
                              </a:xfrm>
                              <a:custGeom>
                                <a:avLst/>
                                <a:gdLst>
                                  <a:gd name="T0" fmla="*/ 0 w 336"/>
                                  <a:gd name="T1" fmla="*/ 197 h 197"/>
                                  <a:gd name="T2" fmla="*/ 308 w 336"/>
                                  <a:gd name="T3" fmla="*/ 11 h 197"/>
                                  <a:gd name="T4" fmla="*/ 336 w 336"/>
                                  <a:gd name="T5" fmla="*/ 0 h 197"/>
                                  <a:gd name="T6" fmla="*/ 336 w 336"/>
                                  <a:gd name="T7" fmla="*/ 22 h 197"/>
                                  <a:gd name="T8" fmla="*/ 0 w 336"/>
                                  <a:gd name="T9" fmla="*/ 197 h 197"/>
                                </a:gdLst>
                                <a:ahLst/>
                                <a:cxnLst>
                                  <a:cxn ang="0">
                                    <a:pos x="T0" y="T1"/>
                                  </a:cxn>
                                  <a:cxn ang="0">
                                    <a:pos x="T2" y="T3"/>
                                  </a:cxn>
                                  <a:cxn ang="0">
                                    <a:pos x="T4" y="T5"/>
                                  </a:cxn>
                                  <a:cxn ang="0">
                                    <a:pos x="T6" y="T7"/>
                                  </a:cxn>
                                  <a:cxn ang="0">
                                    <a:pos x="T8" y="T9"/>
                                  </a:cxn>
                                </a:cxnLst>
                                <a:rect l="0" t="0" r="r" b="b"/>
                                <a:pathLst>
                                  <a:path w="336" h="197">
                                    <a:moveTo>
                                      <a:pt x="0" y="197"/>
                                    </a:moveTo>
                                    <a:lnTo>
                                      <a:pt x="308" y="11"/>
                                    </a:lnTo>
                                    <a:lnTo>
                                      <a:pt x="336" y="0"/>
                                    </a:lnTo>
                                    <a:lnTo>
                                      <a:pt x="336" y="22"/>
                                    </a:lnTo>
                                    <a:lnTo>
                                      <a:pt x="0" y="197"/>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642096" name="Line 48"/>
                            <p:cNvSpPr>
                              <a:spLocks noChangeShapeType="1"/>
                            </p:cNvSpPr>
                            <p:nvPr/>
                          </p:nvSpPr>
                          <p:spPr bwMode="auto">
                            <a:xfrm>
                              <a:off x="2598" y="3068"/>
                              <a:ext cx="20" cy="10"/>
                            </a:xfrm>
                            <a:prstGeom prst="line">
                              <a:avLst/>
                            </a:prstGeom>
                            <a:noFill/>
                            <a:ln w="15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642097" name="Group 49"/>
                        <p:cNvGrpSpPr/>
                        <p:nvPr/>
                      </p:nvGrpSpPr>
                      <p:grpSpPr bwMode="auto">
                        <a:xfrm>
                          <a:off x="2533" y="3064"/>
                          <a:ext cx="107" cy="50"/>
                          <a:chOff x="2533" y="3064"/>
                          <a:chExt cx="107" cy="50"/>
                        </a:xfrm>
                      </p:grpSpPr>
                      <p:grpSp>
                        <p:nvGrpSpPr>
                          <p:cNvPr id="642098" name="Group 50"/>
                          <p:cNvGrpSpPr/>
                          <p:nvPr/>
                        </p:nvGrpSpPr>
                        <p:grpSpPr bwMode="auto">
                          <a:xfrm>
                            <a:off x="2533" y="3065"/>
                            <a:ext cx="107" cy="49"/>
                            <a:chOff x="2533" y="3065"/>
                            <a:chExt cx="107" cy="49"/>
                          </a:xfrm>
                        </p:grpSpPr>
                        <p:sp>
                          <p:nvSpPr>
                            <p:cNvPr id="642099" name="Freeform 51"/>
                            <p:cNvSpPr/>
                            <p:nvPr/>
                          </p:nvSpPr>
                          <p:spPr bwMode="auto">
                            <a:xfrm>
                              <a:off x="2558" y="3085"/>
                              <a:ext cx="29" cy="16"/>
                            </a:xfrm>
                            <a:custGeom>
                              <a:avLst/>
                              <a:gdLst>
                                <a:gd name="T0" fmla="*/ 35 w 202"/>
                                <a:gd name="T1" fmla="*/ 0 h 121"/>
                                <a:gd name="T2" fmla="*/ 202 w 202"/>
                                <a:gd name="T3" fmla="*/ 104 h 121"/>
                                <a:gd name="T4" fmla="*/ 167 w 202"/>
                                <a:gd name="T5" fmla="*/ 121 h 121"/>
                                <a:gd name="T6" fmla="*/ 0 w 202"/>
                                <a:gd name="T7" fmla="*/ 17 h 121"/>
                                <a:gd name="T8" fmla="*/ 35 w 202"/>
                                <a:gd name="T9" fmla="*/ 0 h 121"/>
                              </a:gdLst>
                              <a:ahLst/>
                              <a:cxnLst>
                                <a:cxn ang="0">
                                  <a:pos x="T0" y="T1"/>
                                </a:cxn>
                                <a:cxn ang="0">
                                  <a:pos x="T2" y="T3"/>
                                </a:cxn>
                                <a:cxn ang="0">
                                  <a:pos x="T4" y="T5"/>
                                </a:cxn>
                                <a:cxn ang="0">
                                  <a:pos x="T6" y="T7"/>
                                </a:cxn>
                                <a:cxn ang="0">
                                  <a:pos x="T8" y="T9"/>
                                </a:cxn>
                              </a:cxnLst>
                              <a:rect l="0" t="0" r="r" b="b"/>
                              <a:pathLst>
                                <a:path w="202" h="121">
                                  <a:moveTo>
                                    <a:pt x="35" y="0"/>
                                  </a:moveTo>
                                  <a:lnTo>
                                    <a:pt x="202" y="104"/>
                                  </a:lnTo>
                                  <a:lnTo>
                                    <a:pt x="167" y="121"/>
                                  </a:lnTo>
                                  <a:lnTo>
                                    <a:pt x="0" y="17"/>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0" name="Freeform 52"/>
                            <p:cNvSpPr/>
                            <p:nvPr/>
                          </p:nvSpPr>
                          <p:spPr bwMode="auto">
                            <a:xfrm>
                              <a:off x="2582" y="3098"/>
                              <a:ext cx="14" cy="7"/>
                            </a:xfrm>
                            <a:custGeom>
                              <a:avLst/>
                              <a:gdLst>
                                <a:gd name="T0" fmla="*/ 37 w 98"/>
                                <a:gd name="T1" fmla="*/ 0 h 60"/>
                                <a:gd name="T2" fmla="*/ 98 w 98"/>
                                <a:gd name="T3" fmla="*/ 38 h 60"/>
                                <a:gd name="T4" fmla="*/ 64 w 98"/>
                                <a:gd name="T5" fmla="*/ 60 h 60"/>
                                <a:gd name="T6" fmla="*/ 0 w 98"/>
                                <a:gd name="T7" fmla="*/ 17 h 60"/>
                                <a:gd name="T8" fmla="*/ 37 w 98"/>
                                <a:gd name="T9" fmla="*/ 0 h 60"/>
                              </a:gdLst>
                              <a:ahLst/>
                              <a:cxnLst>
                                <a:cxn ang="0">
                                  <a:pos x="T0" y="T1"/>
                                </a:cxn>
                                <a:cxn ang="0">
                                  <a:pos x="T2" y="T3"/>
                                </a:cxn>
                                <a:cxn ang="0">
                                  <a:pos x="T4" y="T5"/>
                                </a:cxn>
                                <a:cxn ang="0">
                                  <a:pos x="T6" y="T7"/>
                                </a:cxn>
                                <a:cxn ang="0">
                                  <a:pos x="T8" y="T9"/>
                                </a:cxn>
                              </a:cxnLst>
                              <a:rect l="0" t="0" r="r" b="b"/>
                              <a:pathLst>
                                <a:path w="98" h="60">
                                  <a:moveTo>
                                    <a:pt x="37" y="0"/>
                                  </a:moveTo>
                                  <a:lnTo>
                                    <a:pt x="98" y="38"/>
                                  </a:lnTo>
                                  <a:lnTo>
                                    <a:pt x="64" y="60"/>
                                  </a:lnTo>
                                  <a:lnTo>
                                    <a:pt x="0" y="17"/>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1" name="Freeform 53"/>
                            <p:cNvSpPr/>
                            <p:nvPr/>
                          </p:nvSpPr>
                          <p:spPr bwMode="auto">
                            <a:xfrm>
                              <a:off x="2587" y="3102"/>
                              <a:ext cx="15" cy="8"/>
                            </a:xfrm>
                            <a:custGeom>
                              <a:avLst/>
                              <a:gdLst>
                                <a:gd name="T0" fmla="*/ 63 w 107"/>
                                <a:gd name="T1" fmla="*/ 0 h 64"/>
                                <a:gd name="T2" fmla="*/ 107 w 107"/>
                                <a:gd name="T3" fmla="*/ 30 h 64"/>
                                <a:gd name="T4" fmla="*/ 70 w 107"/>
                                <a:gd name="T5" fmla="*/ 54 h 64"/>
                                <a:gd name="T6" fmla="*/ 64 w 107"/>
                                <a:gd name="T7" fmla="*/ 47 h 64"/>
                                <a:gd name="T8" fmla="*/ 39 w 107"/>
                                <a:gd name="T9" fmla="*/ 64 h 64"/>
                                <a:gd name="T10" fmla="*/ 0 w 107"/>
                                <a:gd name="T11" fmla="*/ 38 h 64"/>
                                <a:gd name="T12" fmla="*/ 63 w 107"/>
                                <a:gd name="T13" fmla="*/ 0 h 64"/>
                              </a:gdLst>
                              <a:ahLst/>
                              <a:cxnLst>
                                <a:cxn ang="0">
                                  <a:pos x="T0" y="T1"/>
                                </a:cxn>
                                <a:cxn ang="0">
                                  <a:pos x="T2" y="T3"/>
                                </a:cxn>
                                <a:cxn ang="0">
                                  <a:pos x="T4" y="T5"/>
                                </a:cxn>
                                <a:cxn ang="0">
                                  <a:pos x="T6" y="T7"/>
                                </a:cxn>
                                <a:cxn ang="0">
                                  <a:pos x="T8" y="T9"/>
                                </a:cxn>
                                <a:cxn ang="0">
                                  <a:pos x="T10" y="T11"/>
                                </a:cxn>
                                <a:cxn ang="0">
                                  <a:pos x="T12" y="T13"/>
                                </a:cxn>
                              </a:cxnLst>
                              <a:rect l="0" t="0" r="r" b="b"/>
                              <a:pathLst>
                                <a:path w="107" h="64">
                                  <a:moveTo>
                                    <a:pt x="63" y="0"/>
                                  </a:moveTo>
                                  <a:lnTo>
                                    <a:pt x="107" y="30"/>
                                  </a:lnTo>
                                  <a:lnTo>
                                    <a:pt x="70" y="54"/>
                                  </a:lnTo>
                                  <a:lnTo>
                                    <a:pt x="64" y="47"/>
                                  </a:lnTo>
                                  <a:lnTo>
                                    <a:pt x="39" y="64"/>
                                  </a:lnTo>
                                  <a:lnTo>
                                    <a:pt x="0" y="38"/>
                                  </a:lnTo>
                                  <a:lnTo>
                                    <a:pt x="63"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2" name="Freeform 54"/>
                            <p:cNvSpPr/>
                            <p:nvPr/>
                          </p:nvSpPr>
                          <p:spPr bwMode="auto">
                            <a:xfrm>
                              <a:off x="2597" y="3106"/>
                              <a:ext cx="15" cy="8"/>
                            </a:xfrm>
                            <a:custGeom>
                              <a:avLst/>
                              <a:gdLst>
                                <a:gd name="T0" fmla="*/ 35 w 103"/>
                                <a:gd name="T1" fmla="*/ 0 h 65"/>
                                <a:gd name="T2" fmla="*/ 103 w 103"/>
                                <a:gd name="T3" fmla="*/ 45 h 65"/>
                                <a:gd name="T4" fmla="*/ 66 w 103"/>
                                <a:gd name="T5" fmla="*/ 65 h 65"/>
                                <a:gd name="T6" fmla="*/ 0 w 103"/>
                                <a:gd name="T7" fmla="*/ 21 h 65"/>
                                <a:gd name="T8" fmla="*/ 35 w 103"/>
                                <a:gd name="T9" fmla="*/ 0 h 65"/>
                              </a:gdLst>
                              <a:ahLst/>
                              <a:cxnLst>
                                <a:cxn ang="0">
                                  <a:pos x="T0" y="T1"/>
                                </a:cxn>
                                <a:cxn ang="0">
                                  <a:pos x="T2" y="T3"/>
                                </a:cxn>
                                <a:cxn ang="0">
                                  <a:pos x="T4" y="T5"/>
                                </a:cxn>
                                <a:cxn ang="0">
                                  <a:pos x="T6" y="T7"/>
                                </a:cxn>
                                <a:cxn ang="0">
                                  <a:pos x="T8" y="T9"/>
                                </a:cxn>
                              </a:cxnLst>
                              <a:rect l="0" t="0" r="r" b="b"/>
                              <a:pathLst>
                                <a:path w="103" h="65">
                                  <a:moveTo>
                                    <a:pt x="35" y="0"/>
                                  </a:moveTo>
                                  <a:lnTo>
                                    <a:pt x="103" y="45"/>
                                  </a:lnTo>
                                  <a:lnTo>
                                    <a:pt x="66" y="65"/>
                                  </a:lnTo>
                                  <a:lnTo>
                                    <a:pt x="0" y="21"/>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3" name="Freeform 55"/>
                            <p:cNvSpPr/>
                            <p:nvPr/>
                          </p:nvSpPr>
                          <p:spPr bwMode="auto">
                            <a:xfrm>
                              <a:off x="2551" y="3081"/>
                              <a:ext cx="12" cy="7"/>
                            </a:xfrm>
                            <a:custGeom>
                              <a:avLst/>
                              <a:gdLst>
                                <a:gd name="T0" fmla="*/ 34 w 86"/>
                                <a:gd name="T1" fmla="*/ 0 h 52"/>
                                <a:gd name="T2" fmla="*/ 86 w 86"/>
                                <a:gd name="T3" fmla="*/ 34 h 52"/>
                                <a:gd name="T4" fmla="*/ 50 w 86"/>
                                <a:gd name="T5" fmla="*/ 52 h 52"/>
                                <a:gd name="T6" fmla="*/ 0 w 86"/>
                                <a:gd name="T7" fmla="*/ 19 h 52"/>
                                <a:gd name="T8" fmla="*/ 34 w 86"/>
                                <a:gd name="T9" fmla="*/ 0 h 52"/>
                              </a:gdLst>
                              <a:ahLst/>
                              <a:cxnLst>
                                <a:cxn ang="0">
                                  <a:pos x="T0" y="T1"/>
                                </a:cxn>
                                <a:cxn ang="0">
                                  <a:pos x="T2" y="T3"/>
                                </a:cxn>
                                <a:cxn ang="0">
                                  <a:pos x="T4" y="T5"/>
                                </a:cxn>
                                <a:cxn ang="0">
                                  <a:pos x="T6" y="T7"/>
                                </a:cxn>
                                <a:cxn ang="0">
                                  <a:pos x="T8" y="T9"/>
                                </a:cxn>
                              </a:cxnLst>
                              <a:rect l="0" t="0" r="r" b="b"/>
                              <a:pathLst>
                                <a:path w="86" h="52">
                                  <a:moveTo>
                                    <a:pt x="34" y="0"/>
                                  </a:moveTo>
                                  <a:lnTo>
                                    <a:pt x="86" y="34"/>
                                  </a:lnTo>
                                  <a:lnTo>
                                    <a:pt x="50" y="52"/>
                                  </a:lnTo>
                                  <a:lnTo>
                                    <a:pt x="0" y="19"/>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4" name="Freeform 56"/>
                            <p:cNvSpPr/>
                            <p:nvPr/>
                          </p:nvSpPr>
                          <p:spPr bwMode="auto">
                            <a:xfrm>
                              <a:off x="2542" y="3077"/>
                              <a:ext cx="11" cy="5"/>
                            </a:xfrm>
                            <a:custGeom>
                              <a:avLst/>
                              <a:gdLst>
                                <a:gd name="T0" fmla="*/ 39 w 78"/>
                                <a:gd name="T1" fmla="*/ 0 h 45"/>
                                <a:gd name="T2" fmla="*/ 78 w 78"/>
                                <a:gd name="T3" fmla="*/ 25 h 45"/>
                                <a:gd name="T4" fmla="*/ 39 w 78"/>
                                <a:gd name="T5" fmla="*/ 45 h 45"/>
                                <a:gd name="T6" fmla="*/ 0 w 78"/>
                                <a:gd name="T7" fmla="*/ 19 h 45"/>
                                <a:gd name="T8" fmla="*/ 39 w 78"/>
                                <a:gd name="T9" fmla="*/ 0 h 45"/>
                              </a:gdLst>
                              <a:ahLst/>
                              <a:cxnLst>
                                <a:cxn ang="0">
                                  <a:pos x="T0" y="T1"/>
                                </a:cxn>
                                <a:cxn ang="0">
                                  <a:pos x="T2" y="T3"/>
                                </a:cxn>
                                <a:cxn ang="0">
                                  <a:pos x="T4" y="T5"/>
                                </a:cxn>
                                <a:cxn ang="0">
                                  <a:pos x="T6" y="T7"/>
                                </a:cxn>
                                <a:cxn ang="0">
                                  <a:pos x="T8" y="T9"/>
                                </a:cxn>
                              </a:cxnLst>
                              <a:rect l="0" t="0" r="r" b="b"/>
                              <a:pathLst>
                                <a:path w="78" h="45">
                                  <a:moveTo>
                                    <a:pt x="39" y="0"/>
                                  </a:moveTo>
                                  <a:lnTo>
                                    <a:pt x="78" y="25"/>
                                  </a:lnTo>
                                  <a:lnTo>
                                    <a:pt x="39" y="45"/>
                                  </a:lnTo>
                                  <a:lnTo>
                                    <a:pt x="0" y="19"/>
                                  </a:lnTo>
                                  <a:lnTo>
                                    <a:pt x="3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5" name="Freeform 57"/>
                            <p:cNvSpPr/>
                            <p:nvPr/>
                          </p:nvSpPr>
                          <p:spPr bwMode="auto">
                            <a:xfrm>
                              <a:off x="2536" y="3079"/>
                              <a:ext cx="10" cy="6"/>
                            </a:xfrm>
                            <a:custGeom>
                              <a:avLst/>
                              <a:gdLst>
                                <a:gd name="T0" fmla="*/ 36 w 72"/>
                                <a:gd name="T1" fmla="*/ 0 h 42"/>
                                <a:gd name="T2" fmla="*/ 72 w 72"/>
                                <a:gd name="T3" fmla="*/ 25 h 42"/>
                                <a:gd name="T4" fmla="*/ 35 w 72"/>
                                <a:gd name="T5" fmla="*/ 42 h 42"/>
                                <a:gd name="T6" fmla="*/ 0 w 72"/>
                                <a:gd name="T7" fmla="*/ 15 h 42"/>
                                <a:gd name="T8" fmla="*/ 36 w 72"/>
                                <a:gd name="T9" fmla="*/ 0 h 42"/>
                              </a:gdLst>
                              <a:ahLst/>
                              <a:cxnLst>
                                <a:cxn ang="0">
                                  <a:pos x="T0" y="T1"/>
                                </a:cxn>
                                <a:cxn ang="0">
                                  <a:pos x="T2" y="T3"/>
                                </a:cxn>
                                <a:cxn ang="0">
                                  <a:pos x="T4" y="T5"/>
                                </a:cxn>
                                <a:cxn ang="0">
                                  <a:pos x="T6" y="T7"/>
                                </a:cxn>
                                <a:cxn ang="0">
                                  <a:pos x="T8" y="T9"/>
                                </a:cxn>
                              </a:cxnLst>
                              <a:rect l="0" t="0" r="r" b="b"/>
                              <a:pathLst>
                                <a:path w="72" h="42">
                                  <a:moveTo>
                                    <a:pt x="36" y="0"/>
                                  </a:moveTo>
                                  <a:lnTo>
                                    <a:pt x="72" y="25"/>
                                  </a:lnTo>
                                  <a:lnTo>
                                    <a:pt x="35" y="42"/>
                                  </a:lnTo>
                                  <a:lnTo>
                                    <a:pt x="0" y="15"/>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6" name="Freeform 58"/>
                            <p:cNvSpPr/>
                            <p:nvPr/>
                          </p:nvSpPr>
                          <p:spPr bwMode="auto">
                            <a:xfrm>
                              <a:off x="2541" y="3082"/>
                              <a:ext cx="9" cy="5"/>
                            </a:xfrm>
                            <a:custGeom>
                              <a:avLst/>
                              <a:gdLst>
                                <a:gd name="T0" fmla="*/ 36 w 63"/>
                                <a:gd name="T1" fmla="*/ 0 h 41"/>
                                <a:gd name="T2" fmla="*/ 63 w 63"/>
                                <a:gd name="T3" fmla="*/ 21 h 41"/>
                                <a:gd name="T4" fmla="*/ 32 w 63"/>
                                <a:gd name="T5" fmla="*/ 41 h 41"/>
                                <a:gd name="T6" fmla="*/ 0 w 63"/>
                                <a:gd name="T7" fmla="*/ 19 h 41"/>
                                <a:gd name="T8" fmla="*/ 36 w 63"/>
                                <a:gd name="T9" fmla="*/ 0 h 41"/>
                              </a:gdLst>
                              <a:ahLst/>
                              <a:cxnLst>
                                <a:cxn ang="0">
                                  <a:pos x="T0" y="T1"/>
                                </a:cxn>
                                <a:cxn ang="0">
                                  <a:pos x="T2" y="T3"/>
                                </a:cxn>
                                <a:cxn ang="0">
                                  <a:pos x="T4" y="T5"/>
                                </a:cxn>
                                <a:cxn ang="0">
                                  <a:pos x="T6" y="T7"/>
                                </a:cxn>
                                <a:cxn ang="0">
                                  <a:pos x="T8" y="T9"/>
                                </a:cxn>
                              </a:cxnLst>
                              <a:rect l="0" t="0" r="r" b="b"/>
                              <a:pathLst>
                                <a:path w="63" h="41">
                                  <a:moveTo>
                                    <a:pt x="36" y="0"/>
                                  </a:moveTo>
                                  <a:lnTo>
                                    <a:pt x="63" y="21"/>
                                  </a:lnTo>
                                  <a:lnTo>
                                    <a:pt x="32" y="41"/>
                                  </a:lnTo>
                                  <a:lnTo>
                                    <a:pt x="0" y="19"/>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7" name="Freeform 59"/>
                            <p:cNvSpPr/>
                            <p:nvPr/>
                          </p:nvSpPr>
                          <p:spPr bwMode="auto">
                            <a:xfrm>
                              <a:off x="2533" y="3078"/>
                              <a:ext cx="8" cy="4"/>
                            </a:xfrm>
                            <a:custGeom>
                              <a:avLst/>
                              <a:gdLst>
                                <a:gd name="T0" fmla="*/ 37 w 58"/>
                                <a:gd name="T1" fmla="*/ 0 h 33"/>
                                <a:gd name="T2" fmla="*/ 58 w 58"/>
                                <a:gd name="T3" fmla="*/ 16 h 33"/>
                                <a:gd name="T4" fmla="*/ 21 w 58"/>
                                <a:gd name="T5" fmla="*/ 33 h 33"/>
                                <a:gd name="T6" fmla="*/ 0 w 58"/>
                                <a:gd name="T7" fmla="*/ 17 h 33"/>
                                <a:gd name="T8" fmla="*/ 37 w 58"/>
                                <a:gd name="T9" fmla="*/ 0 h 33"/>
                              </a:gdLst>
                              <a:ahLst/>
                              <a:cxnLst>
                                <a:cxn ang="0">
                                  <a:pos x="T0" y="T1"/>
                                </a:cxn>
                                <a:cxn ang="0">
                                  <a:pos x="T2" y="T3"/>
                                </a:cxn>
                                <a:cxn ang="0">
                                  <a:pos x="T4" y="T5"/>
                                </a:cxn>
                                <a:cxn ang="0">
                                  <a:pos x="T6" y="T7"/>
                                </a:cxn>
                                <a:cxn ang="0">
                                  <a:pos x="T8" y="T9"/>
                                </a:cxn>
                              </a:cxnLst>
                              <a:rect l="0" t="0" r="r" b="b"/>
                              <a:pathLst>
                                <a:path w="58" h="33">
                                  <a:moveTo>
                                    <a:pt x="37" y="0"/>
                                  </a:moveTo>
                                  <a:lnTo>
                                    <a:pt x="58" y="16"/>
                                  </a:lnTo>
                                  <a:lnTo>
                                    <a:pt x="21" y="33"/>
                                  </a:lnTo>
                                  <a:lnTo>
                                    <a:pt x="0" y="17"/>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8" name="Freeform 60"/>
                            <p:cNvSpPr/>
                            <p:nvPr/>
                          </p:nvSpPr>
                          <p:spPr bwMode="auto">
                            <a:xfrm>
                              <a:off x="2603" y="3103"/>
                              <a:ext cx="15" cy="8"/>
                            </a:xfrm>
                            <a:custGeom>
                              <a:avLst/>
                              <a:gdLst>
                                <a:gd name="T0" fmla="*/ 34 w 102"/>
                                <a:gd name="T1" fmla="*/ 0 h 64"/>
                                <a:gd name="T2" fmla="*/ 102 w 102"/>
                                <a:gd name="T3" fmla="*/ 42 h 64"/>
                                <a:gd name="T4" fmla="*/ 66 w 102"/>
                                <a:gd name="T5" fmla="*/ 64 h 64"/>
                                <a:gd name="T6" fmla="*/ 0 w 102"/>
                                <a:gd name="T7" fmla="*/ 22 h 64"/>
                                <a:gd name="T8" fmla="*/ 34 w 102"/>
                                <a:gd name="T9" fmla="*/ 0 h 64"/>
                              </a:gdLst>
                              <a:ahLst/>
                              <a:cxnLst>
                                <a:cxn ang="0">
                                  <a:pos x="T0" y="T1"/>
                                </a:cxn>
                                <a:cxn ang="0">
                                  <a:pos x="T2" y="T3"/>
                                </a:cxn>
                                <a:cxn ang="0">
                                  <a:pos x="T4" y="T5"/>
                                </a:cxn>
                                <a:cxn ang="0">
                                  <a:pos x="T6" y="T7"/>
                                </a:cxn>
                                <a:cxn ang="0">
                                  <a:pos x="T8" y="T9"/>
                                </a:cxn>
                              </a:cxnLst>
                              <a:rect l="0" t="0" r="r" b="b"/>
                              <a:pathLst>
                                <a:path w="102" h="64">
                                  <a:moveTo>
                                    <a:pt x="34" y="0"/>
                                  </a:moveTo>
                                  <a:lnTo>
                                    <a:pt x="102" y="42"/>
                                  </a:lnTo>
                                  <a:lnTo>
                                    <a:pt x="66" y="64"/>
                                  </a:lnTo>
                                  <a:lnTo>
                                    <a:pt x="0" y="22"/>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9" name="Freeform 61"/>
                            <p:cNvSpPr/>
                            <p:nvPr/>
                          </p:nvSpPr>
                          <p:spPr bwMode="auto">
                            <a:xfrm>
                              <a:off x="2609" y="3100"/>
                              <a:ext cx="15" cy="8"/>
                            </a:xfrm>
                            <a:custGeom>
                              <a:avLst/>
                              <a:gdLst>
                                <a:gd name="T0" fmla="*/ 34 w 101"/>
                                <a:gd name="T1" fmla="*/ 0 h 63"/>
                                <a:gd name="T2" fmla="*/ 101 w 101"/>
                                <a:gd name="T3" fmla="*/ 43 h 63"/>
                                <a:gd name="T4" fmla="*/ 66 w 101"/>
                                <a:gd name="T5" fmla="*/ 63 h 63"/>
                                <a:gd name="T6" fmla="*/ 0 w 101"/>
                                <a:gd name="T7" fmla="*/ 21 h 63"/>
                                <a:gd name="T8" fmla="*/ 34 w 101"/>
                                <a:gd name="T9" fmla="*/ 0 h 63"/>
                              </a:gdLst>
                              <a:ahLst/>
                              <a:cxnLst>
                                <a:cxn ang="0">
                                  <a:pos x="T0" y="T1"/>
                                </a:cxn>
                                <a:cxn ang="0">
                                  <a:pos x="T2" y="T3"/>
                                </a:cxn>
                                <a:cxn ang="0">
                                  <a:pos x="T4" y="T5"/>
                                </a:cxn>
                                <a:cxn ang="0">
                                  <a:pos x="T6" y="T7"/>
                                </a:cxn>
                                <a:cxn ang="0">
                                  <a:pos x="T8" y="T9"/>
                                </a:cxn>
                              </a:cxnLst>
                              <a:rect l="0" t="0" r="r" b="b"/>
                              <a:pathLst>
                                <a:path w="101" h="63">
                                  <a:moveTo>
                                    <a:pt x="34" y="0"/>
                                  </a:moveTo>
                                  <a:lnTo>
                                    <a:pt x="101" y="43"/>
                                  </a:lnTo>
                                  <a:lnTo>
                                    <a:pt x="66" y="63"/>
                                  </a:lnTo>
                                  <a:lnTo>
                                    <a:pt x="0" y="21"/>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0" name="Freeform 62"/>
                            <p:cNvSpPr/>
                            <p:nvPr/>
                          </p:nvSpPr>
                          <p:spPr bwMode="auto">
                            <a:xfrm>
                              <a:off x="2615" y="3097"/>
                              <a:ext cx="15" cy="8"/>
                            </a:xfrm>
                            <a:custGeom>
                              <a:avLst/>
                              <a:gdLst>
                                <a:gd name="T0" fmla="*/ 31 w 102"/>
                                <a:gd name="T1" fmla="*/ 0 h 61"/>
                                <a:gd name="T2" fmla="*/ 102 w 102"/>
                                <a:gd name="T3" fmla="*/ 42 h 61"/>
                                <a:gd name="T4" fmla="*/ 65 w 102"/>
                                <a:gd name="T5" fmla="*/ 61 h 61"/>
                                <a:gd name="T6" fmla="*/ 0 w 102"/>
                                <a:gd name="T7" fmla="*/ 21 h 61"/>
                                <a:gd name="T8" fmla="*/ 31 w 102"/>
                                <a:gd name="T9" fmla="*/ 0 h 61"/>
                              </a:gdLst>
                              <a:ahLst/>
                              <a:cxnLst>
                                <a:cxn ang="0">
                                  <a:pos x="T0" y="T1"/>
                                </a:cxn>
                                <a:cxn ang="0">
                                  <a:pos x="T2" y="T3"/>
                                </a:cxn>
                                <a:cxn ang="0">
                                  <a:pos x="T4" y="T5"/>
                                </a:cxn>
                                <a:cxn ang="0">
                                  <a:pos x="T6" y="T7"/>
                                </a:cxn>
                                <a:cxn ang="0">
                                  <a:pos x="T8" y="T9"/>
                                </a:cxn>
                              </a:cxnLst>
                              <a:rect l="0" t="0" r="r" b="b"/>
                              <a:pathLst>
                                <a:path w="102" h="61">
                                  <a:moveTo>
                                    <a:pt x="31" y="0"/>
                                  </a:moveTo>
                                  <a:lnTo>
                                    <a:pt x="102" y="42"/>
                                  </a:lnTo>
                                  <a:lnTo>
                                    <a:pt x="65" y="61"/>
                                  </a:lnTo>
                                  <a:lnTo>
                                    <a:pt x="0" y="21"/>
                                  </a:lnTo>
                                  <a:lnTo>
                                    <a:pt x="3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1" name="Freeform 63"/>
                            <p:cNvSpPr/>
                            <p:nvPr/>
                          </p:nvSpPr>
                          <p:spPr bwMode="auto">
                            <a:xfrm>
                              <a:off x="2598" y="3100"/>
                              <a:ext cx="10" cy="6"/>
                            </a:xfrm>
                            <a:custGeom>
                              <a:avLst/>
                              <a:gdLst>
                                <a:gd name="T0" fmla="*/ 38 w 71"/>
                                <a:gd name="T1" fmla="*/ 0 h 45"/>
                                <a:gd name="T2" fmla="*/ 71 w 71"/>
                                <a:gd name="T3" fmla="*/ 22 h 45"/>
                                <a:gd name="T4" fmla="*/ 35 w 71"/>
                                <a:gd name="T5" fmla="*/ 45 h 45"/>
                                <a:gd name="T6" fmla="*/ 0 w 71"/>
                                <a:gd name="T7" fmla="*/ 22 h 45"/>
                                <a:gd name="T8" fmla="*/ 38 w 71"/>
                                <a:gd name="T9" fmla="*/ 0 h 45"/>
                              </a:gdLst>
                              <a:ahLst/>
                              <a:cxnLst>
                                <a:cxn ang="0">
                                  <a:pos x="T0" y="T1"/>
                                </a:cxn>
                                <a:cxn ang="0">
                                  <a:pos x="T2" y="T3"/>
                                </a:cxn>
                                <a:cxn ang="0">
                                  <a:pos x="T4" y="T5"/>
                                </a:cxn>
                                <a:cxn ang="0">
                                  <a:pos x="T6" y="T7"/>
                                </a:cxn>
                                <a:cxn ang="0">
                                  <a:pos x="T8" y="T9"/>
                                </a:cxn>
                              </a:cxnLst>
                              <a:rect l="0" t="0" r="r" b="b"/>
                              <a:pathLst>
                                <a:path w="71" h="45">
                                  <a:moveTo>
                                    <a:pt x="38" y="0"/>
                                  </a:moveTo>
                                  <a:lnTo>
                                    <a:pt x="71" y="22"/>
                                  </a:lnTo>
                                  <a:lnTo>
                                    <a:pt x="35" y="45"/>
                                  </a:lnTo>
                                  <a:lnTo>
                                    <a:pt x="0" y="22"/>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2" name="Freeform 64"/>
                            <p:cNvSpPr/>
                            <p:nvPr/>
                          </p:nvSpPr>
                          <p:spPr bwMode="auto">
                            <a:xfrm>
                              <a:off x="2604" y="3097"/>
                              <a:ext cx="10" cy="6"/>
                            </a:xfrm>
                            <a:custGeom>
                              <a:avLst/>
                              <a:gdLst>
                                <a:gd name="T0" fmla="*/ 34 w 68"/>
                                <a:gd name="T1" fmla="*/ 0 h 45"/>
                                <a:gd name="T2" fmla="*/ 68 w 68"/>
                                <a:gd name="T3" fmla="*/ 22 h 45"/>
                                <a:gd name="T4" fmla="*/ 31 w 68"/>
                                <a:gd name="T5" fmla="*/ 45 h 45"/>
                                <a:gd name="T6" fmla="*/ 0 w 68"/>
                                <a:gd name="T7" fmla="*/ 22 h 45"/>
                                <a:gd name="T8" fmla="*/ 34 w 68"/>
                                <a:gd name="T9" fmla="*/ 0 h 45"/>
                              </a:gdLst>
                              <a:ahLst/>
                              <a:cxnLst>
                                <a:cxn ang="0">
                                  <a:pos x="T0" y="T1"/>
                                </a:cxn>
                                <a:cxn ang="0">
                                  <a:pos x="T2" y="T3"/>
                                </a:cxn>
                                <a:cxn ang="0">
                                  <a:pos x="T4" y="T5"/>
                                </a:cxn>
                                <a:cxn ang="0">
                                  <a:pos x="T6" y="T7"/>
                                </a:cxn>
                                <a:cxn ang="0">
                                  <a:pos x="T8" y="T9"/>
                                </a:cxn>
                              </a:cxnLst>
                              <a:rect l="0" t="0" r="r" b="b"/>
                              <a:pathLst>
                                <a:path w="68" h="45">
                                  <a:moveTo>
                                    <a:pt x="34" y="0"/>
                                  </a:moveTo>
                                  <a:lnTo>
                                    <a:pt x="68" y="22"/>
                                  </a:lnTo>
                                  <a:lnTo>
                                    <a:pt x="31" y="45"/>
                                  </a:lnTo>
                                  <a:lnTo>
                                    <a:pt x="0" y="22"/>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3" name="Freeform 65"/>
                            <p:cNvSpPr/>
                            <p:nvPr/>
                          </p:nvSpPr>
                          <p:spPr bwMode="auto">
                            <a:xfrm>
                              <a:off x="2610" y="3094"/>
                              <a:ext cx="10" cy="6"/>
                            </a:xfrm>
                            <a:custGeom>
                              <a:avLst/>
                              <a:gdLst>
                                <a:gd name="T0" fmla="*/ 36 w 69"/>
                                <a:gd name="T1" fmla="*/ 0 h 41"/>
                                <a:gd name="T2" fmla="*/ 69 w 69"/>
                                <a:gd name="T3" fmla="*/ 20 h 41"/>
                                <a:gd name="T4" fmla="*/ 34 w 69"/>
                                <a:gd name="T5" fmla="*/ 41 h 41"/>
                                <a:gd name="T6" fmla="*/ 0 w 69"/>
                                <a:gd name="T7" fmla="*/ 21 h 41"/>
                                <a:gd name="T8" fmla="*/ 36 w 69"/>
                                <a:gd name="T9" fmla="*/ 0 h 41"/>
                              </a:gdLst>
                              <a:ahLst/>
                              <a:cxnLst>
                                <a:cxn ang="0">
                                  <a:pos x="T0" y="T1"/>
                                </a:cxn>
                                <a:cxn ang="0">
                                  <a:pos x="T2" y="T3"/>
                                </a:cxn>
                                <a:cxn ang="0">
                                  <a:pos x="T4" y="T5"/>
                                </a:cxn>
                                <a:cxn ang="0">
                                  <a:pos x="T6" y="T7"/>
                                </a:cxn>
                                <a:cxn ang="0">
                                  <a:pos x="T8" y="T9"/>
                                </a:cxn>
                              </a:cxnLst>
                              <a:rect l="0" t="0" r="r" b="b"/>
                              <a:pathLst>
                                <a:path w="69" h="41">
                                  <a:moveTo>
                                    <a:pt x="36" y="0"/>
                                  </a:moveTo>
                                  <a:lnTo>
                                    <a:pt x="69" y="20"/>
                                  </a:lnTo>
                                  <a:lnTo>
                                    <a:pt x="34" y="41"/>
                                  </a:lnTo>
                                  <a:lnTo>
                                    <a:pt x="0" y="21"/>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4" name="Freeform 66"/>
                            <p:cNvSpPr/>
                            <p:nvPr/>
                          </p:nvSpPr>
                          <p:spPr bwMode="auto">
                            <a:xfrm>
                              <a:off x="2616" y="3091"/>
                              <a:ext cx="10" cy="6"/>
                            </a:xfrm>
                            <a:custGeom>
                              <a:avLst/>
                              <a:gdLst>
                                <a:gd name="T0" fmla="*/ 35 w 68"/>
                                <a:gd name="T1" fmla="*/ 0 h 41"/>
                                <a:gd name="T2" fmla="*/ 68 w 68"/>
                                <a:gd name="T3" fmla="*/ 20 h 41"/>
                                <a:gd name="T4" fmla="*/ 32 w 68"/>
                                <a:gd name="T5" fmla="*/ 41 h 41"/>
                                <a:gd name="T6" fmla="*/ 0 w 68"/>
                                <a:gd name="T7" fmla="*/ 24 h 41"/>
                                <a:gd name="T8" fmla="*/ 35 w 68"/>
                                <a:gd name="T9" fmla="*/ 0 h 41"/>
                              </a:gdLst>
                              <a:ahLst/>
                              <a:cxnLst>
                                <a:cxn ang="0">
                                  <a:pos x="T0" y="T1"/>
                                </a:cxn>
                                <a:cxn ang="0">
                                  <a:pos x="T2" y="T3"/>
                                </a:cxn>
                                <a:cxn ang="0">
                                  <a:pos x="T4" y="T5"/>
                                </a:cxn>
                                <a:cxn ang="0">
                                  <a:pos x="T6" y="T7"/>
                                </a:cxn>
                                <a:cxn ang="0">
                                  <a:pos x="T8" y="T9"/>
                                </a:cxn>
                              </a:cxnLst>
                              <a:rect l="0" t="0" r="r" b="b"/>
                              <a:pathLst>
                                <a:path w="68" h="41">
                                  <a:moveTo>
                                    <a:pt x="35" y="0"/>
                                  </a:moveTo>
                                  <a:lnTo>
                                    <a:pt x="68" y="20"/>
                                  </a:lnTo>
                                  <a:lnTo>
                                    <a:pt x="32" y="41"/>
                                  </a:lnTo>
                                  <a:lnTo>
                                    <a:pt x="0" y="24"/>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5" name="Freeform 67"/>
                            <p:cNvSpPr/>
                            <p:nvPr/>
                          </p:nvSpPr>
                          <p:spPr bwMode="auto">
                            <a:xfrm>
                              <a:off x="2622" y="3089"/>
                              <a:ext cx="8" cy="5"/>
                            </a:xfrm>
                            <a:custGeom>
                              <a:avLst/>
                              <a:gdLst>
                                <a:gd name="T0" fmla="*/ 28 w 59"/>
                                <a:gd name="T1" fmla="*/ 0 h 38"/>
                                <a:gd name="T2" fmla="*/ 59 w 59"/>
                                <a:gd name="T3" fmla="*/ 20 h 38"/>
                                <a:gd name="T4" fmla="*/ 32 w 59"/>
                                <a:gd name="T5" fmla="*/ 38 h 38"/>
                                <a:gd name="T6" fmla="*/ 0 w 59"/>
                                <a:gd name="T7" fmla="*/ 16 h 38"/>
                                <a:gd name="T8" fmla="*/ 28 w 59"/>
                                <a:gd name="T9" fmla="*/ 0 h 38"/>
                              </a:gdLst>
                              <a:ahLst/>
                              <a:cxnLst>
                                <a:cxn ang="0">
                                  <a:pos x="T0" y="T1"/>
                                </a:cxn>
                                <a:cxn ang="0">
                                  <a:pos x="T2" y="T3"/>
                                </a:cxn>
                                <a:cxn ang="0">
                                  <a:pos x="T4" y="T5"/>
                                </a:cxn>
                                <a:cxn ang="0">
                                  <a:pos x="T6" y="T7"/>
                                </a:cxn>
                                <a:cxn ang="0">
                                  <a:pos x="T8" y="T9"/>
                                </a:cxn>
                              </a:cxnLst>
                              <a:rect l="0" t="0" r="r" b="b"/>
                              <a:pathLst>
                                <a:path w="59" h="38">
                                  <a:moveTo>
                                    <a:pt x="28" y="0"/>
                                  </a:moveTo>
                                  <a:lnTo>
                                    <a:pt x="59" y="20"/>
                                  </a:lnTo>
                                  <a:lnTo>
                                    <a:pt x="32" y="38"/>
                                  </a:lnTo>
                                  <a:lnTo>
                                    <a:pt x="0" y="16"/>
                                  </a:lnTo>
                                  <a:lnTo>
                                    <a:pt x="2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6" name="Freeform 68"/>
                            <p:cNvSpPr/>
                            <p:nvPr/>
                          </p:nvSpPr>
                          <p:spPr bwMode="auto">
                            <a:xfrm>
                              <a:off x="2627" y="3092"/>
                              <a:ext cx="8" cy="4"/>
                            </a:xfrm>
                            <a:custGeom>
                              <a:avLst/>
                              <a:gdLst>
                                <a:gd name="T0" fmla="*/ 29 w 61"/>
                                <a:gd name="T1" fmla="*/ 0 h 38"/>
                                <a:gd name="T2" fmla="*/ 61 w 61"/>
                                <a:gd name="T3" fmla="*/ 19 h 38"/>
                                <a:gd name="T4" fmla="*/ 32 w 61"/>
                                <a:gd name="T5" fmla="*/ 38 h 38"/>
                                <a:gd name="T6" fmla="*/ 0 w 61"/>
                                <a:gd name="T7" fmla="*/ 19 h 38"/>
                                <a:gd name="T8" fmla="*/ 29 w 61"/>
                                <a:gd name="T9" fmla="*/ 0 h 38"/>
                              </a:gdLst>
                              <a:ahLst/>
                              <a:cxnLst>
                                <a:cxn ang="0">
                                  <a:pos x="T0" y="T1"/>
                                </a:cxn>
                                <a:cxn ang="0">
                                  <a:pos x="T2" y="T3"/>
                                </a:cxn>
                                <a:cxn ang="0">
                                  <a:pos x="T4" y="T5"/>
                                </a:cxn>
                                <a:cxn ang="0">
                                  <a:pos x="T6" y="T7"/>
                                </a:cxn>
                                <a:cxn ang="0">
                                  <a:pos x="T8" y="T9"/>
                                </a:cxn>
                              </a:cxnLst>
                              <a:rect l="0" t="0" r="r" b="b"/>
                              <a:pathLst>
                                <a:path w="61" h="38">
                                  <a:moveTo>
                                    <a:pt x="29" y="0"/>
                                  </a:moveTo>
                                  <a:lnTo>
                                    <a:pt x="61" y="19"/>
                                  </a:lnTo>
                                  <a:lnTo>
                                    <a:pt x="32" y="38"/>
                                  </a:lnTo>
                                  <a:lnTo>
                                    <a:pt x="0" y="19"/>
                                  </a:lnTo>
                                  <a:lnTo>
                                    <a:pt x="2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7" name="Freeform 69"/>
                            <p:cNvSpPr/>
                            <p:nvPr/>
                          </p:nvSpPr>
                          <p:spPr bwMode="auto">
                            <a:xfrm>
                              <a:off x="2621" y="3094"/>
                              <a:ext cx="10" cy="5"/>
                            </a:xfrm>
                            <a:custGeom>
                              <a:avLst/>
                              <a:gdLst>
                                <a:gd name="T0" fmla="*/ 37 w 69"/>
                                <a:gd name="T1" fmla="*/ 0 h 41"/>
                                <a:gd name="T2" fmla="*/ 69 w 69"/>
                                <a:gd name="T3" fmla="*/ 18 h 41"/>
                                <a:gd name="T4" fmla="*/ 33 w 69"/>
                                <a:gd name="T5" fmla="*/ 41 h 41"/>
                                <a:gd name="T6" fmla="*/ 0 w 69"/>
                                <a:gd name="T7" fmla="*/ 20 h 41"/>
                                <a:gd name="T8" fmla="*/ 37 w 69"/>
                                <a:gd name="T9" fmla="*/ 0 h 41"/>
                              </a:gdLst>
                              <a:ahLst/>
                              <a:cxnLst>
                                <a:cxn ang="0">
                                  <a:pos x="T0" y="T1"/>
                                </a:cxn>
                                <a:cxn ang="0">
                                  <a:pos x="T2" y="T3"/>
                                </a:cxn>
                                <a:cxn ang="0">
                                  <a:pos x="T4" y="T5"/>
                                </a:cxn>
                                <a:cxn ang="0">
                                  <a:pos x="T6" y="T7"/>
                                </a:cxn>
                                <a:cxn ang="0">
                                  <a:pos x="T8" y="T9"/>
                                </a:cxn>
                              </a:cxnLst>
                              <a:rect l="0" t="0" r="r" b="b"/>
                              <a:pathLst>
                                <a:path w="69" h="41">
                                  <a:moveTo>
                                    <a:pt x="37" y="0"/>
                                  </a:moveTo>
                                  <a:lnTo>
                                    <a:pt x="69" y="18"/>
                                  </a:lnTo>
                                  <a:lnTo>
                                    <a:pt x="33" y="41"/>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8" name="Freeform 70"/>
                            <p:cNvSpPr/>
                            <p:nvPr/>
                          </p:nvSpPr>
                          <p:spPr bwMode="auto">
                            <a:xfrm>
                              <a:off x="2632" y="3094"/>
                              <a:ext cx="8" cy="5"/>
                            </a:xfrm>
                            <a:custGeom>
                              <a:avLst/>
                              <a:gdLst>
                                <a:gd name="T0" fmla="*/ 28 w 60"/>
                                <a:gd name="T1" fmla="*/ 0 h 39"/>
                                <a:gd name="T2" fmla="*/ 60 w 60"/>
                                <a:gd name="T3" fmla="*/ 19 h 39"/>
                                <a:gd name="T4" fmla="*/ 32 w 60"/>
                                <a:gd name="T5" fmla="*/ 39 h 39"/>
                                <a:gd name="T6" fmla="*/ 0 w 60"/>
                                <a:gd name="T7" fmla="*/ 18 h 39"/>
                                <a:gd name="T8" fmla="*/ 28 w 60"/>
                                <a:gd name="T9" fmla="*/ 0 h 39"/>
                              </a:gdLst>
                              <a:ahLst/>
                              <a:cxnLst>
                                <a:cxn ang="0">
                                  <a:pos x="T0" y="T1"/>
                                </a:cxn>
                                <a:cxn ang="0">
                                  <a:pos x="T2" y="T3"/>
                                </a:cxn>
                                <a:cxn ang="0">
                                  <a:pos x="T4" y="T5"/>
                                </a:cxn>
                                <a:cxn ang="0">
                                  <a:pos x="T6" y="T7"/>
                                </a:cxn>
                                <a:cxn ang="0">
                                  <a:pos x="T8" y="T9"/>
                                </a:cxn>
                              </a:cxnLst>
                              <a:rect l="0" t="0" r="r" b="b"/>
                              <a:pathLst>
                                <a:path w="60" h="39">
                                  <a:moveTo>
                                    <a:pt x="28" y="0"/>
                                  </a:moveTo>
                                  <a:lnTo>
                                    <a:pt x="60" y="19"/>
                                  </a:lnTo>
                                  <a:lnTo>
                                    <a:pt x="32" y="39"/>
                                  </a:lnTo>
                                  <a:lnTo>
                                    <a:pt x="0" y="18"/>
                                  </a:lnTo>
                                  <a:lnTo>
                                    <a:pt x="2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9" name="Freeform 71"/>
                            <p:cNvSpPr/>
                            <p:nvPr/>
                          </p:nvSpPr>
                          <p:spPr bwMode="auto">
                            <a:xfrm>
                              <a:off x="2626" y="3096"/>
                              <a:ext cx="10" cy="6"/>
                            </a:xfrm>
                            <a:custGeom>
                              <a:avLst/>
                              <a:gdLst>
                                <a:gd name="T0" fmla="*/ 35 w 69"/>
                                <a:gd name="T1" fmla="*/ 0 h 44"/>
                                <a:gd name="T2" fmla="*/ 69 w 69"/>
                                <a:gd name="T3" fmla="*/ 21 h 44"/>
                                <a:gd name="T4" fmla="*/ 31 w 69"/>
                                <a:gd name="T5" fmla="*/ 44 h 44"/>
                                <a:gd name="T6" fmla="*/ 0 w 69"/>
                                <a:gd name="T7" fmla="*/ 23 h 44"/>
                                <a:gd name="T8" fmla="*/ 35 w 69"/>
                                <a:gd name="T9" fmla="*/ 0 h 44"/>
                              </a:gdLst>
                              <a:ahLst/>
                              <a:cxnLst>
                                <a:cxn ang="0">
                                  <a:pos x="T0" y="T1"/>
                                </a:cxn>
                                <a:cxn ang="0">
                                  <a:pos x="T2" y="T3"/>
                                </a:cxn>
                                <a:cxn ang="0">
                                  <a:pos x="T4" y="T5"/>
                                </a:cxn>
                                <a:cxn ang="0">
                                  <a:pos x="T6" y="T7"/>
                                </a:cxn>
                                <a:cxn ang="0">
                                  <a:pos x="T8" y="T9"/>
                                </a:cxn>
                              </a:cxnLst>
                              <a:rect l="0" t="0" r="r" b="b"/>
                              <a:pathLst>
                                <a:path w="69" h="44">
                                  <a:moveTo>
                                    <a:pt x="35" y="0"/>
                                  </a:moveTo>
                                  <a:lnTo>
                                    <a:pt x="69" y="21"/>
                                  </a:lnTo>
                                  <a:lnTo>
                                    <a:pt x="31" y="44"/>
                                  </a:lnTo>
                                  <a:lnTo>
                                    <a:pt x="0" y="23"/>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0" name="Freeform 72"/>
                            <p:cNvSpPr/>
                            <p:nvPr/>
                          </p:nvSpPr>
                          <p:spPr bwMode="auto">
                            <a:xfrm>
                              <a:off x="2599" y="3095"/>
                              <a:ext cx="10" cy="5"/>
                            </a:xfrm>
                            <a:custGeom>
                              <a:avLst/>
                              <a:gdLst>
                                <a:gd name="T0" fmla="*/ 35 w 69"/>
                                <a:gd name="T1" fmla="*/ 0 h 43"/>
                                <a:gd name="T2" fmla="*/ 69 w 69"/>
                                <a:gd name="T3" fmla="*/ 21 h 43"/>
                                <a:gd name="T4" fmla="*/ 34 w 69"/>
                                <a:gd name="T5" fmla="*/ 43 h 43"/>
                                <a:gd name="T6" fmla="*/ 0 w 69"/>
                                <a:gd name="T7" fmla="*/ 21 h 43"/>
                                <a:gd name="T8" fmla="*/ 35 w 69"/>
                                <a:gd name="T9" fmla="*/ 0 h 43"/>
                              </a:gdLst>
                              <a:ahLst/>
                              <a:cxnLst>
                                <a:cxn ang="0">
                                  <a:pos x="T0" y="T1"/>
                                </a:cxn>
                                <a:cxn ang="0">
                                  <a:pos x="T2" y="T3"/>
                                </a:cxn>
                                <a:cxn ang="0">
                                  <a:pos x="T4" y="T5"/>
                                </a:cxn>
                                <a:cxn ang="0">
                                  <a:pos x="T6" y="T7"/>
                                </a:cxn>
                                <a:cxn ang="0">
                                  <a:pos x="T8" y="T9"/>
                                </a:cxn>
                              </a:cxnLst>
                              <a:rect l="0" t="0" r="r" b="b"/>
                              <a:pathLst>
                                <a:path w="69" h="43">
                                  <a:moveTo>
                                    <a:pt x="35" y="0"/>
                                  </a:moveTo>
                                  <a:lnTo>
                                    <a:pt x="69" y="21"/>
                                  </a:lnTo>
                                  <a:lnTo>
                                    <a:pt x="34" y="43"/>
                                  </a:lnTo>
                                  <a:lnTo>
                                    <a:pt x="0" y="21"/>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1" name="Freeform 73"/>
                            <p:cNvSpPr/>
                            <p:nvPr/>
                          </p:nvSpPr>
                          <p:spPr bwMode="auto">
                            <a:xfrm>
                              <a:off x="2605" y="3092"/>
                              <a:ext cx="10" cy="5"/>
                            </a:xfrm>
                            <a:custGeom>
                              <a:avLst/>
                              <a:gdLst>
                                <a:gd name="T0" fmla="*/ 36 w 70"/>
                                <a:gd name="T1" fmla="*/ 0 h 42"/>
                                <a:gd name="T2" fmla="*/ 70 w 70"/>
                                <a:gd name="T3" fmla="*/ 22 h 42"/>
                                <a:gd name="T4" fmla="*/ 34 w 70"/>
                                <a:gd name="T5" fmla="*/ 42 h 42"/>
                                <a:gd name="T6" fmla="*/ 0 w 70"/>
                                <a:gd name="T7" fmla="*/ 22 h 42"/>
                                <a:gd name="T8" fmla="*/ 36 w 70"/>
                                <a:gd name="T9" fmla="*/ 0 h 42"/>
                              </a:gdLst>
                              <a:ahLst/>
                              <a:cxnLst>
                                <a:cxn ang="0">
                                  <a:pos x="T0" y="T1"/>
                                </a:cxn>
                                <a:cxn ang="0">
                                  <a:pos x="T2" y="T3"/>
                                </a:cxn>
                                <a:cxn ang="0">
                                  <a:pos x="T4" y="T5"/>
                                </a:cxn>
                                <a:cxn ang="0">
                                  <a:pos x="T6" y="T7"/>
                                </a:cxn>
                                <a:cxn ang="0">
                                  <a:pos x="T8" y="T9"/>
                                </a:cxn>
                              </a:cxnLst>
                              <a:rect l="0" t="0" r="r" b="b"/>
                              <a:pathLst>
                                <a:path w="70" h="42">
                                  <a:moveTo>
                                    <a:pt x="36" y="0"/>
                                  </a:moveTo>
                                  <a:lnTo>
                                    <a:pt x="70" y="22"/>
                                  </a:lnTo>
                                  <a:lnTo>
                                    <a:pt x="34" y="42"/>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2" name="Freeform 74"/>
                            <p:cNvSpPr/>
                            <p:nvPr/>
                          </p:nvSpPr>
                          <p:spPr bwMode="auto">
                            <a:xfrm>
                              <a:off x="2612" y="3089"/>
                              <a:ext cx="9" cy="5"/>
                            </a:xfrm>
                            <a:custGeom>
                              <a:avLst/>
                              <a:gdLst>
                                <a:gd name="T0" fmla="*/ 35 w 67"/>
                                <a:gd name="T1" fmla="*/ 0 h 42"/>
                                <a:gd name="T2" fmla="*/ 67 w 67"/>
                                <a:gd name="T3" fmla="*/ 19 h 42"/>
                                <a:gd name="T4" fmla="*/ 31 w 67"/>
                                <a:gd name="T5" fmla="*/ 42 h 42"/>
                                <a:gd name="T6" fmla="*/ 0 w 67"/>
                                <a:gd name="T7" fmla="*/ 22 h 42"/>
                                <a:gd name="T8" fmla="*/ 35 w 67"/>
                                <a:gd name="T9" fmla="*/ 0 h 42"/>
                              </a:gdLst>
                              <a:ahLst/>
                              <a:cxnLst>
                                <a:cxn ang="0">
                                  <a:pos x="T0" y="T1"/>
                                </a:cxn>
                                <a:cxn ang="0">
                                  <a:pos x="T2" y="T3"/>
                                </a:cxn>
                                <a:cxn ang="0">
                                  <a:pos x="T4" y="T5"/>
                                </a:cxn>
                                <a:cxn ang="0">
                                  <a:pos x="T6" y="T7"/>
                                </a:cxn>
                                <a:cxn ang="0">
                                  <a:pos x="T8" y="T9"/>
                                </a:cxn>
                              </a:cxnLst>
                              <a:rect l="0" t="0" r="r" b="b"/>
                              <a:pathLst>
                                <a:path w="67" h="42">
                                  <a:moveTo>
                                    <a:pt x="35" y="0"/>
                                  </a:moveTo>
                                  <a:lnTo>
                                    <a:pt x="67" y="19"/>
                                  </a:lnTo>
                                  <a:lnTo>
                                    <a:pt x="31" y="42"/>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3" name="Freeform 75"/>
                            <p:cNvSpPr/>
                            <p:nvPr/>
                          </p:nvSpPr>
                          <p:spPr bwMode="auto">
                            <a:xfrm>
                              <a:off x="2617" y="3087"/>
                              <a:ext cx="9" cy="5"/>
                            </a:xfrm>
                            <a:custGeom>
                              <a:avLst/>
                              <a:gdLst>
                                <a:gd name="T0" fmla="*/ 26 w 58"/>
                                <a:gd name="T1" fmla="*/ 0 h 36"/>
                                <a:gd name="T2" fmla="*/ 58 w 58"/>
                                <a:gd name="T3" fmla="*/ 19 h 36"/>
                                <a:gd name="T4" fmla="*/ 29 w 58"/>
                                <a:gd name="T5" fmla="*/ 36 h 36"/>
                                <a:gd name="T6" fmla="*/ 0 w 58"/>
                                <a:gd name="T7" fmla="*/ 17 h 36"/>
                                <a:gd name="T8" fmla="*/ 26 w 58"/>
                                <a:gd name="T9" fmla="*/ 0 h 36"/>
                              </a:gdLst>
                              <a:ahLst/>
                              <a:cxnLst>
                                <a:cxn ang="0">
                                  <a:pos x="T0" y="T1"/>
                                </a:cxn>
                                <a:cxn ang="0">
                                  <a:pos x="T2" y="T3"/>
                                </a:cxn>
                                <a:cxn ang="0">
                                  <a:pos x="T4" y="T5"/>
                                </a:cxn>
                                <a:cxn ang="0">
                                  <a:pos x="T6" y="T7"/>
                                </a:cxn>
                                <a:cxn ang="0">
                                  <a:pos x="T8" y="T9"/>
                                </a:cxn>
                              </a:cxnLst>
                              <a:rect l="0" t="0" r="r" b="b"/>
                              <a:pathLst>
                                <a:path w="58" h="36">
                                  <a:moveTo>
                                    <a:pt x="26" y="0"/>
                                  </a:moveTo>
                                  <a:lnTo>
                                    <a:pt x="58" y="19"/>
                                  </a:lnTo>
                                  <a:lnTo>
                                    <a:pt x="29" y="36"/>
                                  </a:lnTo>
                                  <a:lnTo>
                                    <a:pt x="0" y="17"/>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4" name="Freeform 76"/>
                            <p:cNvSpPr/>
                            <p:nvPr/>
                          </p:nvSpPr>
                          <p:spPr bwMode="auto">
                            <a:xfrm>
                              <a:off x="2593" y="3097"/>
                              <a:ext cx="10" cy="6"/>
                            </a:xfrm>
                            <a:custGeom>
                              <a:avLst/>
                              <a:gdLst>
                                <a:gd name="T0" fmla="*/ 36 w 72"/>
                                <a:gd name="T1" fmla="*/ 0 h 46"/>
                                <a:gd name="T2" fmla="*/ 72 w 72"/>
                                <a:gd name="T3" fmla="*/ 23 h 46"/>
                                <a:gd name="T4" fmla="*/ 35 w 72"/>
                                <a:gd name="T5" fmla="*/ 46 h 46"/>
                                <a:gd name="T6" fmla="*/ 0 w 72"/>
                                <a:gd name="T7" fmla="*/ 22 h 46"/>
                                <a:gd name="T8" fmla="*/ 36 w 72"/>
                                <a:gd name="T9" fmla="*/ 0 h 46"/>
                              </a:gdLst>
                              <a:ahLst/>
                              <a:cxnLst>
                                <a:cxn ang="0">
                                  <a:pos x="T0" y="T1"/>
                                </a:cxn>
                                <a:cxn ang="0">
                                  <a:pos x="T2" y="T3"/>
                                </a:cxn>
                                <a:cxn ang="0">
                                  <a:pos x="T4" y="T5"/>
                                </a:cxn>
                                <a:cxn ang="0">
                                  <a:pos x="T6" y="T7"/>
                                </a:cxn>
                                <a:cxn ang="0">
                                  <a:pos x="T8" y="T9"/>
                                </a:cxn>
                              </a:cxnLst>
                              <a:rect l="0" t="0" r="r" b="b"/>
                              <a:pathLst>
                                <a:path w="72" h="46">
                                  <a:moveTo>
                                    <a:pt x="36" y="0"/>
                                  </a:moveTo>
                                  <a:lnTo>
                                    <a:pt x="72" y="23"/>
                                  </a:lnTo>
                                  <a:lnTo>
                                    <a:pt x="35" y="46"/>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5" name="Freeform 77"/>
                            <p:cNvSpPr/>
                            <p:nvPr/>
                          </p:nvSpPr>
                          <p:spPr bwMode="auto">
                            <a:xfrm>
                              <a:off x="2588" y="3095"/>
                              <a:ext cx="10" cy="5"/>
                            </a:xfrm>
                            <a:custGeom>
                              <a:avLst/>
                              <a:gdLst>
                                <a:gd name="T0" fmla="*/ 37 w 70"/>
                                <a:gd name="T1" fmla="*/ 0 h 45"/>
                                <a:gd name="T2" fmla="*/ 70 w 70"/>
                                <a:gd name="T3" fmla="*/ 22 h 45"/>
                                <a:gd name="T4" fmla="*/ 35 w 70"/>
                                <a:gd name="T5" fmla="*/ 45 h 45"/>
                                <a:gd name="T6" fmla="*/ 0 w 70"/>
                                <a:gd name="T7" fmla="*/ 22 h 45"/>
                                <a:gd name="T8" fmla="*/ 37 w 70"/>
                                <a:gd name="T9" fmla="*/ 0 h 45"/>
                              </a:gdLst>
                              <a:ahLst/>
                              <a:cxnLst>
                                <a:cxn ang="0">
                                  <a:pos x="T0" y="T1"/>
                                </a:cxn>
                                <a:cxn ang="0">
                                  <a:pos x="T2" y="T3"/>
                                </a:cxn>
                                <a:cxn ang="0">
                                  <a:pos x="T4" y="T5"/>
                                </a:cxn>
                                <a:cxn ang="0">
                                  <a:pos x="T6" y="T7"/>
                                </a:cxn>
                                <a:cxn ang="0">
                                  <a:pos x="T8" y="T9"/>
                                </a:cxn>
                              </a:cxnLst>
                              <a:rect l="0" t="0" r="r" b="b"/>
                              <a:pathLst>
                                <a:path w="70" h="45">
                                  <a:moveTo>
                                    <a:pt x="37" y="0"/>
                                  </a:moveTo>
                                  <a:lnTo>
                                    <a:pt x="70" y="22"/>
                                  </a:lnTo>
                                  <a:lnTo>
                                    <a:pt x="35" y="45"/>
                                  </a:lnTo>
                                  <a:lnTo>
                                    <a:pt x="0" y="22"/>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6" name="Freeform 78"/>
                            <p:cNvSpPr/>
                            <p:nvPr/>
                          </p:nvSpPr>
                          <p:spPr bwMode="auto">
                            <a:xfrm>
                              <a:off x="2594" y="3092"/>
                              <a:ext cx="10" cy="6"/>
                            </a:xfrm>
                            <a:custGeom>
                              <a:avLst/>
                              <a:gdLst>
                                <a:gd name="T0" fmla="*/ 37 w 69"/>
                                <a:gd name="T1" fmla="*/ 0 h 44"/>
                                <a:gd name="T2" fmla="*/ 69 w 69"/>
                                <a:gd name="T3" fmla="*/ 23 h 44"/>
                                <a:gd name="T4" fmla="*/ 33 w 69"/>
                                <a:gd name="T5" fmla="*/ 44 h 44"/>
                                <a:gd name="T6" fmla="*/ 0 w 69"/>
                                <a:gd name="T7" fmla="*/ 23 h 44"/>
                                <a:gd name="T8" fmla="*/ 37 w 69"/>
                                <a:gd name="T9" fmla="*/ 0 h 44"/>
                              </a:gdLst>
                              <a:ahLst/>
                              <a:cxnLst>
                                <a:cxn ang="0">
                                  <a:pos x="T0" y="T1"/>
                                </a:cxn>
                                <a:cxn ang="0">
                                  <a:pos x="T2" y="T3"/>
                                </a:cxn>
                                <a:cxn ang="0">
                                  <a:pos x="T4" y="T5"/>
                                </a:cxn>
                                <a:cxn ang="0">
                                  <a:pos x="T6" y="T7"/>
                                </a:cxn>
                                <a:cxn ang="0">
                                  <a:pos x="T8" y="T9"/>
                                </a:cxn>
                              </a:cxnLst>
                              <a:rect l="0" t="0" r="r" b="b"/>
                              <a:pathLst>
                                <a:path w="69" h="44">
                                  <a:moveTo>
                                    <a:pt x="37" y="0"/>
                                  </a:moveTo>
                                  <a:lnTo>
                                    <a:pt x="69" y="23"/>
                                  </a:lnTo>
                                  <a:lnTo>
                                    <a:pt x="33" y="44"/>
                                  </a:lnTo>
                                  <a:lnTo>
                                    <a:pt x="0" y="23"/>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7" name="Freeform 79"/>
                            <p:cNvSpPr/>
                            <p:nvPr/>
                          </p:nvSpPr>
                          <p:spPr bwMode="auto">
                            <a:xfrm>
                              <a:off x="2601" y="3090"/>
                              <a:ext cx="9" cy="5"/>
                            </a:xfrm>
                            <a:custGeom>
                              <a:avLst/>
                              <a:gdLst>
                                <a:gd name="T0" fmla="*/ 35 w 67"/>
                                <a:gd name="T1" fmla="*/ 0 h 44"/>
                                <a:gd name="T2" fmla="*/ 67 w 67"/>
                                <a:gd name="T3" fmla="*/ 21 h 44"/>
                                <a:gd name="T4" fmla="*/ 33 w 67"/>
                                <a:gd name="T5" fmla="*/ 44 h 44"/>
                                <a:gd name="T6" fmla="*/ 0 w 67"/>
                                <a:gd name="T7" fmla="*/ 22 h 44"/>
                                <a:gd name="T8" fmla="*/ 35 w 67"/>
                                <a:gd name="T9" fmla="*/ 0 h 44"/>
                              </a:gdLst>
                              <a:ahLst/>
                              <a:cxnLst>
                                <a:cxn ang="0">
                                  <a:pos x="T0" y="T1"/>
                                </a:cxn>
                                <a:cxn ang="0">
                                  <a:pos x="T2" y="T3"/>
                                </a:cxn>
                                <a:cxn ang="0">
                                  <a:pos x="T4" y="T5"/>
                                </a:cxn>
                                <a:cxn ang="0">
                                  <a:pos x="T6" y="T7"/>
                                </a:cxn>
                                <a:cxn ang="0">
                                  <a:pos x="T8" y="T9"/>
                                </a:cxn>
                              </a:cxnLst>
                              <a:rect l="0" t="0" r="r" b="b"/>
                              <a:pathLst>
                                <a:path w="67" h="44">
                                  <a:moveTo>
                                    <a:pt x="35" y="0"/>
                                  </a:moveTo>
                                  <a:lnTo>
                                    <a:pt x="67" y="21"/>
                                  </a:lnTo>
                                  <a:lnTo>
                                    <a:pt x="33" y="44"/>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8" name="Freeform 80"/>
                            <p:cNvSpPr/>
                            <p:nvPr/>
                          </p:nvSpPr>
                          <p:spPr bwMode="auto">
                            <a:xfrm>
                              <a:off x="2607" y="3087"/>
                              <a:ext cx="9" cy="5"/>
                            </a:xfrm>
                            <a:custGeom>
                              <a:avLst/>
                              <a:gdLst>
                                <a:gd name="T0" fmla="*/ 36 w 67"/>
                                <a:gd name="T1" fmla="*/ 0 h 41"/>
                                <a:gd name="T2" fmla="*/ 67 w 67"/>
                                <a:gd name="T3" fmla="*/ 18 h 41"/>
                                <a:gd name="T4" fmla="*/ 32 w 67"/>
                                <a:gd name="T5" fmla="*/ 41 h 41"/>
                                <a:gd name="T6" fmla="*/ 0 w 67"/>
                                <a:gd name="T7" fmla="*/ 21 h 41"/>
                                <a:gd name="T8" fmla="*/ 36 w 67"/>
                                <a:gd name="T9" fmla="*/ 0 h 41"/>
                              </a:gdLst>
                              <a:ahLst/>
                              <a:cxnLst>
                                <a:cxn ang="0">
                                  <a:pos x="T0" y="T1"/>
                                </a:cxn>
                                <a:cxn ang="0">
                                  <a:pos x="T2" y="T3"/>
                                </a:cxn>
                                <a:cxn ang="0">
                                  <a:pos x="T4" y="T5"/>
                                </a:cxn>
                                <a:cxn ang="0">
                                  <a:pos x="T6" y="T7"/>
                                </a:cxn>
                                <a:cxn ang="0">
                                  <a:pos x="T8" y="T9"/>
                                </a:cxn>
                              </a:cxnLst>
                              <a:rect l="0" t="0" r="r" b="b"/>
                              <a:pathLst>
                                <a:path w="67" h="41">
                                  <a:moveTo>
                                    <a:pt x="36" y="0"/>
                                  </a:moveTo>
                                  <a:lnTo>
                                    <a:pt x="67" y="18"/>
                                  </a:lnTo>
                                  <a:lnTo>
                                    <a:pt x="32" y="41"/>
                                  </a:lnTo>
                                  <a:lnTo>
                                    <a:pt x="0" y="21"/>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9" name="Freeform 81"/>
                            <p:cNvSpPr/>
                            <p:nvPr/>
                          </p:nvSpPr>
                          <p:spPr bwMode="auto">
                            <a:xfrm>
                              <a:off x="2612" y="3085"/>
                              <a:ext cx="9" cy="4"/>
                            </a:xfrm>
                            <a:custGeom>
                              <a:avLst/>
                              <a:gdLst>
                                <a:gd name="T0" fmla="*/ 27 w 57"/>
                                <a:gd name="T1" fmla="*/ 0 h 36"/>
                                <a:gd name="T2" fmla="*/ 57 w 57"/>
                                <a:gd name="T3" fmla="*/ 20 h 36"/>
                                <a:gd name="T4" fmla="*/ 31 w 57"/>
                                <a:gd name="T5" fmla="*/ 36 h 36"/>
                                <a:gd name="T6" fmla="*/ 0 w 57"/>
                                <a:gd name="T7" fmla="*/ 17 h 36"/>
                                <a:gd name="T8" fmla="*/ 27 w 57"/>
                                <a:gd name="T9" fmla="*/ 0 h 36"/>
                              </a:gdLst>
                              <a:ahLst/>
                              <a:cxnLst>
                                <a:cxn ang="0">
                                  <a:pos x="T0" y="T1"/>
                                </a:cxn>
                                <a:cxn ang="0">
                                  <a:pos x="T2" y="T3"/>
                                </a:cxn>
                                <a:cxn ang="0">
                                  <a:pos x="T4" y="T5"/>
                                </a:cxn>
                                <a:cxn ang="0">
                                  <a:pos x="T6" y="T7"/>
                                </a:cxn>
                                <a:cxn ang="0">
                                  <a:pos x="T8" y="T9"/>
                                </a:cxn>
                              </a:cxnLst>
                              <a:rect l="0" t="0" r="r" b="b"/>
                              <a:pathLst>
                                <a:path w="57" h="36">
                                  <a:moveTo>
                                    <a:pt x="27" y="0"/>
                                  </a:moveTo>
                                  <a:lnTo>
                                    <a:pt x="57" y="20"/>
                                  </a:lnTo>
                                  <a:lnTo>
                                    <a:pt x="31" y="36"/>
                                  </a:lnTo>
                                  <a:lnTo>
                                    <a:pt x="0" y="17"/>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0" name="Freeform 82"/>
                            <p:cNvSpPr/>
                            <p:nvPr/>
                          </p:nvSpPr>
                          <p:spPr bwMode="auto">
                            <a:xfrm>
                              <a:off x="2589" y="3090"/>
                              <a:ext cx="10" cy="5"/>
                            </a:xfrm>
                            <a:custGeom>
                              <a:avLst/>
                              <a:gdLst>
                                <a:gd name="T0" fmla="*/ 35 w 69"/>
                                <a:gd name="T1" fmla="*/ 0 h 44"/>
                                <a:gd name="T2" fmla="*/ 69 w 69"/>
                                <a:gd name="T3" fmla="*/ 22 h 44"/>
                                <a:gd name="T4" fmla="*/ 34 w 69"/>
                                <a:gd name="T5" fmla="*/ 44 h 44"/>
                                <a:gd name="T6" fmla="*/ 0 w 69"/>
                                <a:gd name="T7" fmla="*/ 22 h 44"/>
                                <a:gd name="T8" fmla="*/ 35 w 69"/>
                                <a:gd name="T9" fmla="*/ 0 h 44"/>
                              </a:gdLst>
                              <a:ahLst/>
                              <a:cxnLst>
                                <a:cxn ang="0">
                                  <a:pos x="T0" y="T1"/>
                                </a:cxn>
                                <a:cxn ang="0">
                                  <a:pos x="T2" y="T3"/>
                                </a:cxn>
                                <a:cxn ang="0">
                                  <a:pos x="T4" y="T5"/>
                                </a:cxn>
                                <a:cxn ang="0">
                                  <a:pos x="T6" y="T7"/>
                                </a:cxn>
                                <a:cxn ang="0">
                                  <a:pos x="T8" y="T9"/>
                                </a:cxn>
                              </a:cxnLst>
                              <a:rect l="0" t="0" r="r" b="b"/>
                              <a:pathLst>
                                <a:path w="69" h="44">
                                  <a:moveTo>
                                    <a:pt x="35" y="0"/>
                                  </a:moveTo>
                                  <a:lnTo>
                                    <a:pt x="69" y="22"/>
                                  </a:lnTo>
                                  <a:lnTo>
                                    <a:pt x="34" y="44"/>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1" name="Freeform 83"/>
                            <p:cNvSpPr/>
                            <p:nvPr/>
                          </p:nvSpPr>
                          <p:spPr bwMode="auto">
                            <a:xfrm>
                              <a:off x="2595" y="3087"/>
                              <a:ext cx="11" cy="5"/>
                            </a:xfrm>
                            <a:custGeom>
                              <a:avLst/>
                              <a:gdLst>
                                <a:gd name="T0" fmla="*/ 38 w 71"/>
                                <a:gd name="T1" fmla="*/ 0 h 43"/>
                                <a:gd name="T2" fmla="*/ 71 w 71"/>
                                <a:gd name="T3" fmla="*/ 20 h 43"/>
                                <a:gd name="T4" fmla="*/ 34 w 71"/>
                                <a:gd name="T5" fmla="*/ 43 h 43"/>
                                <a:gd name="T6" fmla="*/ 0 w 71"/>
                                <a:gd name="T7" fmla="*/ 20 h 43"/>
                                <a:gd name="T8" fmla="*/ 38 w 71"/>
                                <a:gd name="T9" fmla="*/ 0 h 43"/>
                              </a:gdLst>
                              <a:ahLst/>
                              <a:cxnLst>
                                <a:cxn ang="0">
                                  <a:pos x="T0" y="T1"/>
                                </a:cxn>
                                <a:cxn ang="0">
                                  <a:pos x="T2" y="T3"/>
                                </a:cxn>
                                <a:cxn ang="0">
                                  <a:pos x="T4" y="T5"/>
                                </a:cxn>
                                <a:cxn ang="0">
                                  <a:pos x="T6" y="T7"/>
                                </a:cxn>
                                <a:cxn ang="0">
                                  <a:pos x="T8" y="T9"/>
                                </a:cxn>
                              </a:cxnLst>
                              <a:rect l="0" t="0" r="r" b="b"/>
                              <a:pathLst>
                                <a:path w="71" h="43">
                                  <a:moveTo>
                                    <a:pt x="38" y="0"/>
                                  </a:moveTo>
                                  <a:lnTo>
                                    <a:pt x="71" y="20"/>
                                  </a:lnTo>
                                  <a:lnTo>
                                    <a:pt x="34" y="43"/>
                                  </a:lnTo>
                                  <a:lnTo>
                                    <a:pt x="0" y="20"/>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2" name="Freeform 84"/>
                            <p:cNvSpPr/>
                            <p:nvPr/>
                          </p:nvSpPr>
                          <p:spPr bwMode="auto">
                            <a:xfrm>
                              <a:off x="2602" y="3084"/>
                              <a:ext cx="10" cy="5"/>
                            </a:xfrm>
                            <a:custGeom>
                              <a:avLst/>
                              <a:gdLst>
                                <a:gd name="T0" fmla="*/ 35 w 68"/>
                                <a:gd name="T1" fmla="*/ 0 h 40"/>
                                <a:gd name="T2" fmla="*/ 68 w 68"/>
                                <a:gd name="T3" fmla="*/ 20 h 40"/>
                                <a:gd name="T4" fmla="*/ 32 w 68"/>
                                <a:gd name="T5" fmla="*/ 40 h 40"/>
                                <a:gd name="T6" fmla="*/ 0 w 68"/>
                                <a:gd name="T7" fmla="*/ 22 h 40"/>
                                <a:gd name="T8" fmla="*/ 35 w 68"/>
                                <a:gd name="T9" fmla="*/ 0 h 40"/>
                              </a:gdLst>
                              <a:ahLst/>
                              <a:cxnLst>
                                <a:cxn ang="0">
                                  <a:pos x="T0" y="T1"/>
                                </a:cxn>
                                <a:cxn ang="0">
                                  <a:pos x="T2" y="T3"/>
                                </a:cxn>
                                <a:cxn ang="0">
                                  <a:pos x="T4" y="T5"/>
                                </a:cxn>
                                <a:cxn ang="0">
                                  <a:pos x="T6" y="T7"/>
                                </a:cxn>
                                <a:cxn ang="0">
                                  <a:pos x="T8" y="T9"/>
                                </a:cxn>
                              </a:cxnLst>
                              <a:rect l="0" t="0" r="r" b="b"/>
                              <a:pathLst>
                                <a:path w="68" h="40">
                                  <a:moveTo>
                                    <a:pt x="35" y="0"/>
                                  </a:moveTo>
                                  <a:lnTo>
                                    <a:pt x="68" y="20"/>
                                  </a:lnTo>
                                  <a:lnTo>
                                    <a:pt x="32" y="40"/>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3" name="Freeform 85"/>
                            <p:cNvSpPr/>
                            <p:nvPr/>
                          </p:nvSpPr>
                          <p:spPr bwMode="auto">
                            <a:xfrm>
                              <a:off x="2608" y="3083"/>
                              <a:ext cx="8" cy="4"/>
                            </a:xfrm>
                            <a:custGeom>
                              <a:avLst/>
                              <a:gdLst>
                                <a:gd name="T0" fmla="*/ 27 w 57"/>
                                <a:gd name="T1" fmla="*/ 0 h 33"/>
                                <a:gd name="T2" fmla="*/ 57 w 57"/>
                                <a:gd name="T3" fmla="*/ 17 h 33"/>
                                <a:gd name="T4" fmla="*/ 31 w 57"/>
                                <a:gd name="T5" fmla="*/ 33 h 33"/>
                                <a:gd name="T6" fmla="*/ 0 w 57"/>
                                <a:gd name="T7" fmla="*/ 13 h 33"/>
                                <a:gd name="T8" fmla="*/ 27 w 57"/>
                                <a:gd name="T9" fmla="*/ 0 h 33"/>
                              </a:gdLst>
                              <a:ahLst/>
                              <a:cxnLst>
                                <a:cxn ang="0">
                                  <a:pos x="T0" y="T1"/>
                                </a:cxn>
                                <a:cxn ang="0">
                                  <a:pos x="T2" y="T3"/>
                                </a:cxn>
                                <a:cxn ang="0">
                                  <a:pos x="T4" y="T5"/>
                                </a:cxn>
                                <a:cxn ang="0">
                                  <a:pos x="T6" y="T7"/>
                                </a:cxn>
                                <a:cxn ang="0">
                                  <a:pos x="T8" y="T9"/>
                                </a:cxn>
                              </a:cxnLst>
                              <a:rect l="0" t="0" r="r" b="b"/>
                              <a:pathLst>
                                <a:path w="57" h="33">
                                  <a:moveTo>
                                    <a:pt x="27" y="0"/>
                                  </a:moveTo>
                                  <a:lnTo>
                                    <a:pt x="57" y="17"/>
                                  </a:lnTo>
                                  <a:lnTo>
                                    <a:pt x="31" y="33"/>
                                  </a:lnTo>
                                  <a:lnTo>
                                    <a:pt x="0" y="13"/>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4" name="Freeform 86"/>
                            <p:cNvSpPr/>
                            <p:nvPr/>
                          </p:nvSpPr>
                          <p:spPr bwMode="auto">
                            <a:xfrm>
                              <a:off x="2583" y="3092"/>
                              <a:ext cx="10" cy="6"/>
                            </a:xfrm>
                            <a:custGeom>
                              <a:avLst/>
                              <a:gdLst>
                                <a:gd name="T0" fmla="*/ 39 w 73"/>
                                <a:gd name="T1" fmla="*/ 0 h 45"/>
                                <a:gd name="T2" fmla="*/ 73 w 73"/>
                                <a:gd name="T3" fmla="*/ 22 h 45"/>
                                <a:gd name="T4" fmla="*/ 38 w 73"/>
                                <a:gd name="T5" fmla="*/ 45 h 45"/>
                                <a:gd name="T6" fmla="*/ 0 w 73"/>
                                <a:gd name="T7" fmla="*/ 22 h 45"/>
                                <a:gd name="T8" fmla="*/ 39 w 73"/>
                                <a:gd name="T9" fmla="*/ 0 h 45"/>
                              </a:gdLst>
                              <a:ahLst/>
                              <a:cxnLst>
                                <a:cxn ang="0">
                                  <a:pos x="T0" y="T1"/>
                                </a:cxn>
                                <a:cxn ang="0">
                                  <a:pos x="T2" y="T3"/>
                                </a:cxn>
                                <a:cxn ang="0">
                                  <a:pos x="T4" y="T5"/>
                                </a:cxn>
                                <a:cxn ang="0">
                                  <a:pos x="T6" y="T7"/>
                                </a:cxn>
                                <a:cxn ang="0">
                                  <a:pos x="T8" y="T9"/>
                                </a:cxn>
                              </a:cxnLst>
                              <a:rect l="0" t="0" r="r" b="b"/>
                              <a:pathLst>
                                <a:path w="73" h="45">
                                  <a:moveTo>
                                    <a:pt x="39" y="0"/>
                                  </a:moveTo>
                                  <a:lnTo>
                                    <a:pt x="73" y="22"/>
                                  </a:lnTo>
                                  <a:lnTo>
                                    <a:pt x="38" y="45"/>
                                  </a:lnTo>
                                  <a:lnTo>
                                    <a:pt x="0" y="22"/>
                                  </a:lnTo>
                                  <a:lnTo>
                                    <a:pt x="3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5" name="Freeform 87"/>
                            <p:cNvSpPr/>
                            <p:nvPr/>
                          </p:nvSpPr>
                          <p:spPr bwMode="auto">
                            <a:xfrm>
                              <a:off x="2578" y="3090"/>
                              <a:ext cx="10" cy="5"/>
                            </a:xfrm>
                            <a:custGeom>
                              <a:avLst/>
                              <a:gdLst>
                                <a:gd name="T0" fmla="*/ 36 w 68"/>
                                <a:gd name="T1" fmla="*/ 0 h 44"/>
                                <a:gd name="T2" fmla="*/ 68 w 68"/>
                                <a:gd name="T3" fmla="*/ 21 h 44"/>
                                <a:gd name="T4" fmla="*/ 32 w 68"/>
                                <a:gd name="T5" fmla="*/ 44 h 44"/>
                                <a:gd name="T6" fmla="*/ 0 w 68"/>
                                <a:gd name="T7" fmla="*/ 22 h 44"/>
                                <a:gd name="T8" fmla="*/ 36 w 68"/>
                                <a:gd name="T9" fmla="*/ 0 h 44"/>
                              </a:gdLst>
                              <a:ahLst/>
                              <a:cxnLst>
                                <a:cxn ang="0">
                                  <a:pos x="T0" y="T1"/>
                                </a:cxn>
                                <a:cxn ang="0">
                                  <a:pos x="T2" y="T3"/>
                                </a:cxn>
                                <a:cxn ang="0">
                                  <a:pos x="T4" y="T5"/>
                                </a:cxn>
                                <a:cxn ang="0">
                                  <a:pos x="T6" y="T7"/>
                                </a:cxn>
                                <a:cxn ang="0">
                                  <a:pos x="T8" y="T9"/>
                                </a:cxn>
                              </a:cxnLst>
                              <a:rect l="0" t="0" r="r" b="b"/>
                              <a:pathLst>
                                <a:path w="68" h="44">
                                  <a:moveTo>
                                    <a:pt x="36" y="0"/>
                                  </a:moveTo>
                                  <a:lnTo>
                                    <a:pt x="68" y="21"/>
                                  </a:lnTo>
                                  <a:lnTo>
                                    <a:pt x="32" y="44"/>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6" name="Freeform 88"/>
                            <p:cNvSpPr/>
                            <p:nvPr/>
                          </p:nvSpPr>
                          <p:spPr bwMode="auto">
                            <a:xfrm>
                              <a:off x="2584" y="3087"/>
                              <a:ext cx="10" cy="6"/>
                            </a:xfrm>
                            <a:custGeom>
                              <a:avLst/>
                              <a:gdLst>
                                <a:gd name="T0" fmla="*/ 37 w 70"/>
                                <a:gd name="T1" fmla="*/ 0 h 43"/>
                                <a:gd name="T2" fmla="*/ 70 w 70"/>
                                <a:gd name="T3" fmla="*/ 21 h 43"/>
                                <a:gd name="T4" fmla="*/ 34 w 70"/>
                                <a:gd name="T5" fmla="*/ 43 h 43"/>
                                <a:gd name="T6" fmla="*/ 0 w 70"/>
                                <a:gd name="T7" fmla="*/ 21 h 43"/>
                                <a:gd name="T8" fmla="*/ 37 w 70"/>
                                <a:gd name="T9" fmla="*/ 0 h 43"/>
                              </a:gdLst>
                              <a:ahLst/>
                              <a:cxnLst>
                                <a:cxn ang="0">
                                  <a:pos x="T0" y="T1"/>
                                </a:cxn>
                                <a:cxn ang="0">
                                  <a:pos x="T2" y="T3"/>
                                </a:cxn>
                                <a:cxn ang="0">
                                  <a:pos x="T4" y="T5"/>
                                </a:cxn>
                                <a:cxn ang="0">
                                  <a:pos x="T6" y="T7"/>
                                </a:cxn>
                                <a:cxn ang="0">
                                  <a:pos x="T8" y="T9"/>
                                </a:cxn>
                              </a:cxnLst>
                              <a:rect l="0" t="0" r="r" b="b"/>
                              <a:pathLst>
                                <a:path w="70" h="43">
                                  <a:moveTo>
                                    <a:pt x="37" y="0"/>
                                  </a:moveTo>
                                  <a:lnTo>
                                    <a:pt x="70" y="21"/>
                                  </a:lnTo>
                                  <a:lnTo>
                                    <a:pt x="34" y="43"/>
                                  </a:lnTo>
                                  <a:lnTo>
                                    <a:pt x="0" y="21"/>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7" name="Freeform 89"/>
                            <p:cNvSpPr/>
                            <p:nvPr/>
                          </p:nvSpPr>
                          <p:spPr bwMode="auto">
                            <a:xfrm>
                              <a:off x="2591" y="3085"/>
                              <a:ext cx="9" cy="5"/>
                            </a:xfrm>
                            <a:custGeom>
                              <a:avLst/>
                              <a:gdLst>
                                <a:gd name="T0" fmla="*/ 35 w 68"/>
                                <a:gd name="T1" fmla="*/ 0 h 43"/>
                                <a:gd name="T2" fmla="*/ 68 w 68"/>
                                <a:gd name="T3" fmla="*/ 21 h 43"/>
                                <a:gd name="T4" fmla="*/ 33 w 68"/>
                                <a:gd name="T5" fmla="*/ 43 h 43"/>
                                <a:gd name="T6" fmla="*/ 0 w 68"/>
                                <a:gd name="T7" fmla="*/ 22 h 43"/>
                                <a:gd name="T8" fmla="*/ 35 w 68"/>
                                <a:gd name="T9" fmla="*/ 0 h 43"/>
                              </a:gdLst>
                              <a:ahLst/>
                              <a:cxnLst>
                                <a:cxn ang="0">
                                  <a:pos x="T0" y="T1"/>
                                </a:cxn>
                                <a:cxn ang="0">
                                  <a:pos x="T2" y="T3"/>
                                </a:cxn>
                                <a:cxn ang="0">
                                  <a:pos x="T4" y="T5"/>
                                </a:cxn>
                                <a:cxn ang="0">
                                  <a:pos x="T6" y="T7"/>
                                </a:cxn>
                                <a:cxn ang="0">
                                  <a:pos x="T8" y="T9"/>
                                </a:cxn>
                              </a:cxnLst>
                              <a:rect l="0" t="0" r="r" b="b"/>
                              <a:pathLst>
                                <a:path w="68" h="43">
                                  <a:moveTo>
                                    <a:pt x="35" y="0"/>
                                  </a:moveTo>
                                  <a:lnTo>
                                    <a:pt x="68" y="21"/>
                                  </a:lnTo>
                                  <a:lnTo>
                                    <a:pt x="33" y="43"/>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8" name="Freeform 90"/>
                            <p:cNvSpPr/>
                            <p:nvPr/>
                          </p:nvSpPr>
                          <p:spPr bwMode="auto">
                            <a:xfrm>
                              <a:off x="2597" y="3082"/>
                              <a:ext cx="9" cy="5"/>
                            </a:xfrm>
                            <a:custGeom>
                              <a:avLst/>
                              <a:gdLst>
                                <a:gd name="T0" fmla="*/ 36 w 67"/>
                                <a:gd name="T1" fmla="*/ 0 h 41"/>
                                <a:gd name="T2" fmla="*/ 67 w 67"/>
                                <a:gd name="T3" fmla="*/ 20 h 41"/>
                                <a:gd name="T4" fmla="*/ 32 w 67"/>
                                <a:gd name="T5" fmla="*/ 41 h 41"/>
                                <a:gd name="T6" fmla="*/ 0 w 67"/>
                                <a:gd name="T7" fmla="*/ 22 h 41"/>
                                <a:gd name="T8" fmla="*/ 36 w 67"/>
                                <a:gd name="T9" fmla="*/ 0 h 41"/>
                              </a:gdLst>
                              <a:ahLst/>
                              <a:cxnLst>
                                <a:cxn ang="0">
                                  <a:pos x="T0" y="T1"/>
                                </a:cxn>
                                <a:cxn ang="0">
                                  <a:pos x="T2" y="T3"/>
                                </a:cxn>
                                <a:cxn ang="0">
                                  <a:pos x="T4" y="T5"/>
                                </a:cxn>
                                <a:cxn ang="0">
                                  <a:pos x="T6" y="T7"/>
                                </a:cxn>
                                <a:cxn ang="0">
                                  <a:pos x="T8" y="T9"/>
                                </a:cxn>
                              </a:cxnLst>
                              <a:rect l="0" t="0" r="r" b="b"/>
                              <a:pathLst>
                                <a:path w="67" h="41">
                                  <a:moveTo>
                                    <a:pt x="36" y="0"/>
                                  </a:moveTo>
                                  <a:lnTo>
                                    <a:pt x="67" y="20"/>
                                  </a:lnTo>
                                  <a:lnTo>
                                    <a:pt x="32" y="41"/>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9" name="Freeform 91"/>
                            <p:cNvSpPr/>
                            <p:nvPr/>
                          </p:nvSpPr>
                          <p:spPr bwMode="auto">
                            <a:xfrm>
                              <a:off x="2603" y="3080"/>
                              <a:ext cx="8" cy="5"/>
                            </a:xfrm>
                            <a:custGeom>
                              <a:avLst/>
                              <a:gdLst>
                                <a:gd name="T0" fmla="*/ 26 w 56"/>
                                <a:gd name="T1" fmla="*/ 0 h 34"/>
                                <a:gd name="T2" fmla="*/ 56 w 56"/>
                                <a:gd name="T3" fmla="*/ 19 h 34"/>
                                <a:gd name="T4" fmla="*/ 29 w 56"/>
                                <a:gd name="T5" fmla="*/ 34 h 34"/>
                                <a:gd name="T6" fmla="*/ 0 w 56"/>
                                <a:gd name="T7" fmla="*/ 15 h 34"/>
                                <a:gd name="T8" fmla="*/ 26 w 56"/>
                                <a:gd name="T9" fmla="*/ 0 h 34"/>
                              </a:gdLst>
                              <a:ahLst/>
                              <a:cxnLst>
                                <a:cxn ang="0">
                                  <a:pos x="T0" y="T1"/>
                                </a:cxn>
                                <a:cxn ang="0">
                                  <a:pos x="T2" y="T3"/>
                                </a:cxn>
                                <a:cxn ang="0">
                                  <a:pos x="T4" y="T5"/>
                                </a:cxn>
                                <a:cxn ang="0">
                                  <a:pos x="T6" y="T7"/>
                                </a:cxn>
                                <a:cxn ang="0">
                                  <a:pos x="T8" y="T9"/>
                                </a:cxn>
                              </a:cxnLst>
                              <a:rect l="0" t="0" r="r" b="b"/>
                              <a:pathLst>
                                <a:path w="56" h="34">
                                  <a:moveTo>
                                    <a:pt x="26" y="0"/>
                                  </a:moveTo>
                                  <a:lnTo>
                                    <a:pt x="56" y="19"/>
                                  </a:lnTo>
                                  <a:lnTo>
                                    <a:pt x="29" y="34"/>
                                  </a:lnTo>
                                  <a:lnTo>
                                    <a:pt x="0" y="15"/>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0" name="Freeform 92"/>
                            <p:cNvSpPr/>
                            <p:nvPr/>
                          </p:nvSpPr>
                          <p:spPr bwMode="auto">
                            <a:xfrm>
                              <a:off x="2580" y="3085"/>
                              <a:ext cx="9" cy="5"/>
                            </a:xfrm>
                            <a:custGeom>
                              <a:avLst/>
                              <a:gdLst>
                                <a:gd name="T0" fmla="*/ 35 w 67"/>
                                <a:gd name="T1" fmla="*/ 0 h 43"/>
                                <a:gd name="T2" fmla="*/ 67 w 67"/>
                                <a:gd name="T3" fmla="*/ 21 h 43"/>
                                <a:gd name="T4" fmla="*/ 31 w 67"/>
                                <a:gd name="T5" fmla="*/ 43 h 43"/>
                                <a:gd name="T6" fmla="*/ 0 w 67"/>
                                <a:gd name="T7" fmla="*/ 21 h 43"/>
                                <a:gd name="T8" fmla="*/ 35 w 67"/>
                                <a:gd name="T9" fmla="*/ 0 h 43"/>
                              </a:gdLst>
                              <a:ahLst/>
                              <a:cxnLst>
                                <a:cxn ang="0">
                                  <a:pos x="T0" y="T1"/>
                                </a:cxn>
                                <a:cxn ang="0">
                                  <a:pos x="T2" y="T3"/>
                                </a:cxn>
                                <a:cxn ang="0">
                                  <a:pos x="T4" y="T5"/>
                                </a:cxn>
                                <a:cxn ang="0">
                                  <a:pos x="T6" y="T7"/>
                                </a:cxn>
                                <a:cxn ang="0">
                                  <a:pos x="T8" y="T9"/>
                                </a:cxn>
                              </a:cxnLst>
                              <a:rect l="0" t="0" r="r" b="b"/>
                              <a:pathLst>
                                <a:path w="67" h="43">
                                  <a:moveTo>
                                    <a:pt x="35" y="0"/>
                                  </a:moveTo>
                                  <a:lnTo>
                                    <a:pt x="67" y="21"/>
                                  </a:lnTo>
                                  <a:lnTo>
                                    <a:pt x="31" y="43"/>
                                  </a:lnTo>
                                  <a:lnTo>
                                    <a:pt x="0" y="21"/>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1" name="Freeform 93"/>
                            <p:cNvSpPr/>
                            <p:nvPr/>
                          </p:nvSpPr>
                          <p:spPr bwMode="auto">
                            <a:xfrm>
                              <a:off x="2586" y="3082"/>
                              <a:ext cx="9" cy="5"/>
                            </a:xfrm>
                            <a:custGeom>
                              <a:avLst/>
                              <a:gdLst>
                                <a:gd name="T0" fmla="*/ 37 w 66"/>
                                <a:gd name="T1" fmla="*/ 0 h 42"/>
                                <a:gd name="T2" fmla="*/ 66 w 66"/>
                                <a:gd name="T3" fmla="*/ 20 h 42"/>
                                <a:gd name="T4" fmla="*/ 31 w 66"/>
                                <a:gd name="T5" fmla="*/ 42 h 42"/>
                                <a:gd name="T6" fmla="*/ 0 w 66"/>
                                <a:gd name="T7" fmla="*/ 21 h 42"/>
                                <a:gd name="T8" fmla="*/ 37 w 66"/>
                                <a:gd name="T9" fmla="*/ 0 h 42"/>
                              </a:gdLst>
                              <a:ahLst/>
                              <a:cxnLst>
                                <a:cxn ang="0">
                                  <a:pos x="T0" y="T1"/>
                                </a:cxn>
                                <a:cxn ang="0">
                                  <a:pos x="T2" y="T3"/>
                                </a:cxn>
                                <a:cxn ang="0">
                                  <a:pos x="T4" y="T5"/>
                                </a:cxn>
                                <a:cxn ang="0">
                                  <a:pos x="T6" y="T7"/>
                                </a:cxn>
                                <a:cxn ang="0">
                                  <a:pos x="T8" y="T9"/>
                                </a:cxn>
                              </a:cxnLst>
                              <a:rect l="0" t="0" r="r" b="b"/>
                              <a:pathLst>
                                <a:path w="66" h="42">
                                  <a:moveTo>
                                    <a:pt x="37" y="0"/>
                                  </a:moveTo>
                                  <a:lnTo>
                                    <a:pt x="66" y="20"/>
                                  </a:lnTo>
                                  <a:lnTo>
                                    <a:pt x="31" y="42"/>
                                  </a:lnTo>
                                  <a:lnTo>
                                    <a:pt x="0" y="21"/>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2" name="Freeform 94"/>
                            <p:cNvSpPr/>
                            <p:nvPr/>
                          </p:nvSpPr>
                          <p:spPr bwMode="auto">
                            <a:xfrm>
                              <a:off x="2592" y="3080"/>
                              <a:ext cx="10" cy="5"/>
                            </a:xfrm>
                            <a:custGeom>
                              <a:avLst/>
                              <a:gdLst>
                                <a:gd name="T0" fmla="*/ 36 w 68"/>
                                <a:gd name="T1" fmla="*/ 0 h 41"/>
                                <a:gd name="T2" fmla="*/ 68 w 68"/>
                                <a:gd name="T3" fmla="*/ 19 h 41"/>
                                <a:gd name="T4" fmla="*/ 31 w 68"/>
                                <a:gd name="T5" fmla="*/ 41 h 41"/>
                                <a:gd name="T6" fmla="*/ 0 w 68"/>
                                <a:gd name="T7" fmla="*/ 20 h 41"/>
                                <a:gd name="T8" fmla="*/ 36 w 68"/>
                                <a:gd name="T9" fmla="*/ 0 h 41"/>
                              </a:gdLst>
                              <a:ahLst/>
                              <a:cxnLst>
                                <a:cxn ang="0">
                                  <a:pos x="T0" y="T1"/>
                                </a:cxn>
                                <a:cxn ang="0">
                                  <a:pos x="T2" y="T3"/>
                                </a:cxn>
                                <a:cxn ang="0">
                                  <a:pos x="T4" y="T5"/>
                                </a:cxn>
                                <a:cxn ang="0">
                                  <a:pos x="T6" y="T7"/>
                                </a:cxn>
                                <a:cxn ang="0">
                                  <a:pos x="T8" y="T9"/>
                                </a:cxn>
                              </a:cxnLst>
                              <a:rect l="0" t="0" r="r" b="b"/>
                              <a:pathLst>
                                <a:path w="68" h="41">
                                  <a:moveTo>
                                    <a:pt x="36" y="0"/>
                                  </a:moveTo>
                                  <a:lnTo>
                                    <a:pt x="68" y="19"/>
                                  </a:lnTo>
                                  <a:lnTo>
                                    <a:pt x="31" y="41"/>
                                  </a:lnTo>
                                  <a:lnTo>
                                    <a:pt x="0" y="20"/>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3" name="Freeform 95"/>
                            <p:cNvSpPr/>
                            <p:nvPr/>
                          </p:nvSpPr>
                          <p:spPr bwMode="auto">
                            <a:xfrm>
                              <a:off x="2598" y="3078"/>
                              <a:ext cx="8" cy="4"/>
                            </a:xfrm>
                            <a:custGeom>
                              <a:avLst/>
                              <a:gdLst>
                                <a:gd name="T0" fmla="*/ 26 w 57"/>
                                <a:gd name="T1" fmla="*/ 0 h 35"/>
                                <a:gd name="T2" fmla="*/ 57 w 57"/>
                                <a:gd name="T3" fmla="*/ 19 h 35"/>
                                <a:gd name="T4" fmla="*/ 33 w 57"/>
                                <a:gd name="T5" fmla="*/ 35 h 35"/>
                                <a:gd name="T6" fmla="*/ 0 w 57"/>
                                <a:gd name="T7" fmla="*/ 14 h 35"/>
                                <a:gd name="T8" fmla="*/ 26 w 57"/>
                                <a:gd name="T9" fmla="*/ 0 h 35"/>
                              </a:gdLst>
                              <a:ahLst/>
                              <a:cxnLst>
                                <a:cxn ang="0">
                                  <a:pos x="T0" y="T1"/>
                                </a:cxn>
                                <a:cxn ang="0">
                                  <a:pos x="T2" y="T3"/>
                                </a:cxn>
                                <a:cxn ang="0">
                                  <a:pos x="T4" y="T5"/>
                                </a:cxn>
                                <a:cxn ang="0">
                                  <a:pos x="T6" y="T7"/>
                                </a:cxn>
                                <a:cxn ang="0">
                                  <a:pos x="T8" y="T9"/>
                                </a:cxn>
                              </a:cxnLst>
                              <a:rect l="0" t="0" r="r" b="b"/>
                              <a:pathLst>
                                <a:path w="57" h="35">
                                  <a:moveTo>
                                    <a:pt x="26" y="0"/>
                                  </a:moveTo>
                                  <a:lnTo>
                                    <a:pt x="57" y="19"/>
                                  </a:lnTo>
                                  <a:lnTo>
                                    <a:pt x="33" y="35"/>
                                  </a:lnTo>
                                  <a:lnTo>
                                    <a:pt x="0" y="14"/>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4" name="Freeform 96"/>
                            <p:cNvSpPr/>
                            <p:nvPr/>
                          </p:nvSpPr>
                          <p:spPr bwMode="auto">
                            <a:xfrm>
                              <a:off x="2573" y="3087"/>
                              <a:ext cx="10" cy="6"/>
                            </a:xfrm>
                            <a:custGeom>
                              <a:avLst/>
                              <a:gdLst>
                                <a:gd name="T0" fmla="*/ 37 w 70"/>
                                <a:gd name="T1" fmla="*/ 0 h 42"/>
                                <a:gd name="T2" fmla="*/ 70 w 70"/>
                                <a:gd name="T3" fmla="*/ 22 h 42"/>
                                <a:gd name="T4" fmla="*/ 30 w 70"/>
                                <a:gd name="T5" fmla="*/ 42 h 42"/>
                                <a:gd name="T6" fmla="*/ 0 w 70"/>
                                <a:gd name="T7" fmla="*/ 20 h 42"/>
                                <a:gd name="T8" fmla="*/ 37 w 70"/>
                                <a:gd name="T9" fmla="*/ 0 h 42"/>
                              </a:gdLst>
                              <a:ahLst/>
                              <a:cxnLst>
                                <a:cxn ang="0">
                                  <a:pos x="T0" y="T1"/>
                                </a:cxn>
                                <a:cxn ang="0">
                                  <a:pos x="T2" y="T3"/>
                                </a:cxn>
                                <a:cxn ang="0">
                                  <a:pos x="T4" y="T5"/>
                                </a:cxn>
                                <a:cxn ang="0">
                                  <a:pos x="T6" y="T7"/>
                                </a:cxn>
                                <a:cxn ang="0">
                                  <a:pos x="T8" y="T9"/>
                                </a:cxn>
                              </a:cxnLst>
                              <a:rect l="0" t="0" r="r" b="b"/>
                              <a:pathLst>
                                <a:path w="70" h="42">
                                  <a:moveTo>
                                    <a:pt x="37" y="0"/>
                                  </a:moveTo>
                                  <a:lnTo>
                                    <a:pt x="70" y="22"/>
                                  </a:lnTo>
                                  <a:lnTo>
                                    <a:pt x="30" y="42"/>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5" name="Freeform 97"/>
                            <p:cNvSpPr/>
                            <p:nvPr/>
                          </p:nvSpPr>
                          <p:spPr bwMode="auto">
                            <a:xfrm>
                              <a:off x="2568" y="3085"/>
                              <a:ext cx="10" cy="5"/>
                            </a:xfrm>
                            <a:custGeom>
                              <a:avLst/>
                              <a:gdLst>
                                <a:gd name="T0" fmla="*/ 41 w 70"/>
                                <a:gd name="T1" fmla="*/ 0 h 43"/>
                                <a:gd name="T2" fmla="*/ 70 w 70"/>
                                <a:gd name="T3" fmla="*/ 21 h 43"/>
                                <a:gd name="T4" fmla="*/ 33 w 70"/>
                                <a:gd name="T5" fmla="*/ 43 h 43"/>
                                <a:gd name="T6" fmla="*/ 0 w 70"/>
                                <a:gd name="T7" fmla="*/ 21 h 43"/>
                                <a:gd name="T8" fmla="*/ 41 w 70"/>
                                <a:gd name="T9" fmla="*/ 0 h 43"/>
                              </a:gdLst>
                              <a:ahLst/>
                              <a:cxnLst>
                                <a:cxn ang="0">
                                  <a:pos x="T0" y="T1"/>
                                </a:cxn>
                                <a:cxn ang="0">
                                  <a:pos x="T2" y="T3"/>
                                </a:cxn>
                                <a:cxn ang="0">
                                  <a:pos x="T4" y="T5"/>
                                </a:cxn>
                                <a:cxn ang="0">
                                  <a:pos x="T6" y="T7"/>
                                </a:cxn>
                                <a:cxn ang="0">
                                  <a:pos x="T8" y="T9"/>
                                </a:cxn>
                              </a:cxnLst>
                              <a:rect l="0" t="0" r="r" b="b"/>
                              <a:pathLst>
                                <a:path w="70" h="43">
                                  <a:moveTo>
                                    <a:pt x="41" y="0"/>
                                  </a:moveTo>
                                  <a:lnTo>
                                    <a:pt x="70" y="21"/>
                                  </a:lnTo>
                                  <a:lnTo>
                                    <a:pt x="33" y="43"/>
                                  </a:lnTo>
                                  <a:lnTo>
                                    <a:pt x="0" y="21"/>
                                  </a:lnTo>
                                  <a:lnTo>
                                    <a:pt x="4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6" name="Freeform 98"/>
                            <p:cNvSpPr/>
                            <p:nvPr/>
                          </p:nvSpPr>
                          <p:spPr bwMode="auto">
                            <a:xfrm>
                              <a:off x="2575" y="3083"/>
                              <a:ext cx="10" cy="4"/>
                            </a:xfrm>
                            <a:custGeom>
                              <a:avLst/>
                              <a:gdLst>
                                <a:gd name="T0" fmla="*/ 37 w 69"/>
                                <a:gd name="T1" fmla="*/ 0 h 39"/>
                                <a:gd name="T2" fmla="*/ 69 w 69"/>
                                <a:gd name="T3" fmla="*/ 18 h 39"/>
                                <a:gd name="T4" fmla="*/ 32 w 69"/>
                                <a:gd name="T5" fmla="*/ 39 h 39"/>
                                <a:gd name="T6" fmla="*/ 0 w 69"/>
                                <a:gd name="T7" fmla="*/ 18 h 39"/>
                                <a:gd name="T8" fmla="*/ 37 w 69"/>
                                <a:gd name="T9" fmla="*/ 0 h 39"/>
                              </a:gdLst>
                              <a:ahLst/>
                              <a:cxnLst>
                                <a:cxn ang="0">
                                  <a:pos x="T0" y="T1"/>
                                </a:cxn>
                                <a:cxn ang="0">
                                  <a:pos x="T2" y="T3"/>
                                </a:cxn>
                                <a:cxn ang="0">
                                  <a:pos x="T4" y="T5"/>
                                </a:cxn>
                                <a:cxn ang="0">
                                  <a:pos x="T6" y="T7"/>
                                </a:cxn>
                                <a:cxn ang="0">
                                  <a:pos x="T8" y="T9"/>
                                </a:cxn>
                              </a:cxnLst>
                              <a:rect l="0" t="0" r="r" b="b"/>
                              <a:pathLst>
                                <a:path w="69" h="39">
                                  <a:moveTo>
                                    <a:pt x="37" y="0"/>
                                  </a:moveTo>
                                  <a:lnTo>
                                    <a:pt x="69" y="18"/>
                                  </a:lnTo>
                                  <a:lnTo>
                                    <a:pt x="32" y="39"/>
                                  </a:lnTo>
                                  <a:lnTo>
                                    <a:pt x="0" y="18"/>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7" name="Freeform 99"/>
                            <p:cNvSpPr/>
                            <p:nvPr/>
                          </p:nvSpPr>
                          <p:spPr bwMode="auto">
                            <a:xfrm>
                              <a:off x="2581" y="3080"/>
                              <a:ext cx="10" cy="5"/>
                            </a:xfrm>
                            <a:custGeom>
                              <a:avLst/>
                              <a:gdLst>
                                <a:gd name="T0" fmla="*/ 37 w 69"/>
                                <a:gd name="T1" fmla="*/ 0 h 42"/>
                                <a:gd name="T2" fmla="*/ 69 w 69"/>
                                <a:gd name="T3" fmla="*/ 20 h 42"/>
                                <a:gd name="T4" fmla="*/ 33 w 69"/>
                                <a:gd name="T5" fmla="*/ 42 h 42"/>
                                <a:gd name="T6" fmla="*/ 0 w 69"/>
                                <a:gd name="T7" fmla="*/ 20 h 42"/>
                                <a:gd name="T8" fmla="*/ 37 w 69"/>
                                <a:gd name="T9" fmla="*/ 0 h 42"/>
                              </a:gdLst>
                              <a:ahLst/>
                              <a:cxnLst>
                                <a:cxn ang="0">
                                  <a:pos x="T0" y="T1"/>
                                </a:cxn>
                                <a:cxn ang="0">
                                  <a:pos x="T2" y="T3"/>
                                </a:cxn>
                                <a:cxn ang="0">
                                  <a:pos x="T4" y="T5"/>
                                </a:cxn>
                                <a:cxn ang="0">
                                  <a:pos x="T6" y="T7"/>
                                </a:cxn>
                                <a:cxn ang="0">
                                  <a:pos x="T8" y="T9"/>
                                </a:cxn>
                              </a:cxnLst>
                              <a:rect l="0" t="0" r="r" b="b"/>
                              <a:pathLst>
                                <a:path w="69" h="42">
                                  <a:moveTo>
                                    <a:pt x="37" y="0"/>
                                  </a:moveTo>
                                  <a:lnTo>
                                    <a:pt x="69" y="20"/>
                                  </a:lnTo>
                                  <a:lnTo>
                                    <a:pt x="33" y="42"/>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8" name="Freeform 100"/>
                            <p:cNvSpPr/>
                            <p:nvPr/>
                          </p:nvSpPr>
                          <p:spPr bwMode="auto">
                            <a:xfrm>
                              <a:off x="2587" y="3077"/>
                              <a:ext cx="10" cy="5"/>
                            </a:xfrm>
                            <a:custGeom>
                              <a:avLst/>
                              <a:gdLst>
                                <a:gd name="T0" fmla="*/ 38 w 70"/>
                                <a:gd name="T1" fmla="*/ 0 h 40"/>
                                <a:gd name="T2" fmla="*/ 70 w 70"/>
                                <a:gd name="T3" fmla="*/ 19 h 40"/>
                                <a:gd name="T4" fmla="*/ 32 w 70"/>
                                <a:gd name="T5" fmla="*/ 40 h 40"/>
                                <a:gd name="T6" fmla="*/ 0 w 70"/>
                                <a:gd name="T7" fmla="*/ 20 h 40"/>
                                <a:gd name="T8" fmla="*/ 38 w 70"/>
                                <a:gd name="T9" fmla="*/ 0 h 40"/>
                              </a:gdLst>
                              <a:ahLst/>
                              <a:cxnLst>
                                <a:cxn ang="0">
                                  <a:pos x="T0" y="T1"/>
                                </a:cxn>
                                <a:cxn ang="0">
                                  <a:pos x="T2" y="T3"/>
                                </a:cxn>
                                <a:cxn ang="0">
                                  <a:pos x="T4" y="T5"/>
                                </a:cxn>
                                <a:cxn ang="0">
                                  <a:pos x="T6" y="T7"/>
                                </a:cxn>
                                <a:cxn ang="0">
                                  <a:pos x="T8" y="T9"/>
                                </a:cxn>
                              </a:cxnLst>
                              <a:rect l="0" t="0" r="r" b="b"/>
                              <a:pathLst>
                                <a:path w="70" h="40">
                                  <a:moveTo>
                                    <a:pt x="38" y="0"/>
                                  </a:moveTo>
                                  <a:lnTo>
                                    <a:pt x="70" y="19"/>
                                  </a:lnTo>
                                  <a:lnTo>
                                    <a:pt x="32" y="40"/>
                                  </a:lnTo>
                                  <a:lnTo>
                                    <a:pt x="0" y="20"/>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9" name="Freeform 101"/>
                            <p:cNvSpPr/>
                            <p:nvPr/>
                          </p:nvSpPr>
                          <p:spPr bwMode="auto">
                            <a:xfrm>
                              <a:off x="2593" y="3076"/>
                              <a:ext cx="8" cy="4"/>
                            </a:xfrm>
                            <a:custGeom>
                              <a:avLst/>
                              <a:gdLst>
                                <a:gd name="T0" fmla="*/ 23 w 56"/>
                                <a:gd name="T1" fmla="*/ 0 h 34"/>
                                <a:gd name="T2" fmla="*/ 56 w 56"/>
                                <a:gd name="T3" fmla="*/ 20 h 34"/>
                                <a:gd name="T4" fmla="*/ 32 w 56"/>
                                <a:gd name="T5" fmla="*/ 34 h 34"/>
                                <a:gd name="T6" fmla="*/ 0 w 56"/>
                                <a:gd name="T7" fmla="*/ 12 h 34"/>
                                <a:gd name="T8" fmla="*/ 23 w 56"/>
                                <a:gd name="T9" fmla="*/ 0 h 34"/>
                              </a:gdLst>
                              <a:ahLst/>
                              <a:cxnLst>
                                <a:cxn ang="0">
                                  <a:pos x="T0" y="T1"/>
                                </a:cxn>
                                <a:cxn ang="0">
                                  <a:pos x="T2" y="T3"/>
                                </a:cxn>
                                <a:cxn ang="0">
                                  <a:pos x="T4" y="T5"/>
                                </a:cxn>
                                <a:cxn ang="0">
                                  <a:pos x="T6" y="T7"/>
                                </a:cxn>
                                <a:cxn ang="0">
                                  <a:pos x="T8" y="T9"/>
                                </a:cxn>
                              </a:cxnLst>
                              <a:rect l="0" t="0" r="r" b="b"/>
                              <a:pathLst>
                                <a:path w="56" h="34">
                                  <a:moveTo>
                                    <a:pt x="23" y="0"/>
                                  </a:moveTo>
                                  <a:lnTo>
                                    <a:pt x="56" y="20"/>
                                  </a:lnTo>
                                  <a:lnTo>
                                    <a:pt x="32" y="34"/>
                                  </a:lnTo>
                                  <a:lnTo>
                                    <a:pt x="0" y="12"/>
                                  </a:lnTo>
                                  <a:lnTo>
                                    <a:pt x="23"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0" name="Freeform 102"/>
                            <p:cNvSpPr/>
                            <p:nvPr/>
                          </p:nvSpPr>
                          <p:spPr bwMode="auto">
                            <a:xfrm>
                              <a:off x="2571" y="3080"/>
                              <a:ext cx="9" cy="5"/>
                            </a:xfrm>
                            <a:custGeom>
                              <a:avLst/>
                              <a:gdLst>
                                <a:gd name="T0" fmla="*/ 39 w 64"/>
                                <a:gd name="T1" fmla="*/ 0 h 38"/>
                                <a:gd name="T2" fmla="*/ 64 w 64"/>
                                <a:gd name="T3" fmla="*/ 19 h 38"/>
                                <a:gd name="T4" fmla="*/ 27 w 64"/>
                                <a:gd name="T5" fmla="*/ 38 h 38"/>
                                <a:gd name="T6" fmla="*/ 0 w 64"/>
                                <a:gd name="T7" fmla="*/ 20 h 38"/>
                                <a:gd name="T8" fmla="*/ 39 w 64"/>
                                <a:gd name="T9" fmla="*/ 0 h 38"/>
                              </a:gdLst>
                              <a:ahLst/>
                              <a:cxnLst>
                                <a:cxn ang="0">
                                  <a:pos x="T0" y="T1"/>
                                </a:cxn>
                                <a:cxn ang="0">
                                  <a:pos x="T2" y="T3"/>
                                </a:cxn>
                                <a:cxn ang="0">
                                  <a:pos x="T4" y="T5"/>
                                </a:cxn>
                                <a:cxn ang="0">
                                  <a:pos x="T6" y="T7"/>
                                </a:cxn>
                                <a:cxn ang="0">
                                  <a:pos x="T8" y="T9"/>
                                </a:cxn>
                              </a:cxnLst>
                              <a:rect l="0" t="0" r="r" b="b"/>
                              <a:pathLst>
                                <a:path w="64" h="38">
                                  <a:moveTo>
                                    <a:pt x="39" y="0"/>
                                  </a:moveTo>
                                  <a:lnTo>
                                    <a:pt x="64" y="19"/>
                                  </a:lnTo>
                                  <a:lnTo>
                                    <a:pt x="27" y="38"/>
                                  </a:lnTo>
                                  <a:lnTo>
                                    <a:pt x="0" y="20"/>
                                  </a:lnTo>
                                  <a:lnTo>
                                    <a:pt x="3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1" name="Freeform 103"/>
                            <p:cNvSpPr/>
                            <p:nvPr/>
                          </p:nvSpPr>
                          <p:spPr bwMode="auto">
                            <a:xfrm>
                              <a:off x="2577" y="3078"/>
                              <a:ext cx="9" cy="4"/>
                            </a:xfrm>
                            <a:custGeom>
                              <a:avLst/>
                              <a:gdLst>
                                <a:gd name="T0" fmla="*/ 37 w 64"/>
                                <a:gd name="T1" fmla="*/ 0 h 37"/>
                                <a:gd name="T2" fmla="*/ 64 w 64"/>
                                <a:gd name="T3" fmla="*/ 18 h 37"/>
                                <a:gd name="T4" fmla="*/ 26 w 64"/>
                                <a:gd name="T5" fmla="*/ 37 h 37"/>
                                <a:gd name="T6" fmla="*/ 0 w 64"/>
                                <a:gd name="T7" fmla="*/ 20 h 37"/>
                                <a:gd name="T8" fmla="*/ 37 w 64"/>
                                <a:gd name="T9" fmla="*/ 0 h 37"/>
                              </a:gdLst>
                              <a:ahLst/>
                              <a:cxnLst>
                                <a:cxn ang="0">
                                  <a:pos x="T0" y="T1"/>
                                </a:cxn>
                                <a:cxn ang="0">
                                  <a:pos x="T2" y="T3"/>
                                </a:cxn>
                                <a:cxn ang="0">
                                  <a:pos x="T4" y="T5"/>
                                </a:cxn>
                                <a:cxn ang="0">
                                  <a:pos x="T6" y="T7"/>
                                </a:cxn>
                                <a:cxn ang="0">
                                  <a:pos x="T8" y="T9"/>
                                </a:cxn>
                              </a:cxnLst>
                              <a:rect l="0" t="0" r="r" b="b"/>
                              <a:pathLst>
                                <a:path w="64" h="37">
                                  <a:moveTo>
                                    <a:pt x="37" y="0"/>
                                  </a:moveTo>
                                  <a:lnTo>
                                    <a:pt x="64" y="18"/>
                                  </a:lnTo>
                                  <a:lnTo>
                                    <a:pt x="26" y="37"/>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2" name="Freeform 104"/>
                            <p:cNvSpPr/>
                            <p:nvPr/>
                          </p:nvSpPr>
                          <p:spPr bwMode="auto">
                            <a:xfrm>
                              <a:off x="2583" y="3075"/>
                              <a:ext cx="9" cy="5"/>
                            </a:xfrm>
                            <a:custGeom>
                              <a:avLst/>
                              <a:gdLst>
                                <a:gd name="T0" fmla="*/ 42 w 68"/>
                                <a:gd name="T1" fmla="*/ 0 h 39"/>
                                <a:gd name="T2" fmla="*/ 68 w 68"/>
                                <a:gd name="T3" fmla="*/ 17 h 39"/>
                                <a:gd name="T4" fmla="*/ 30 w 68"/>
                                <a:gd name="T5" fmla="*/ 39 h 39"/>
                                <a:gd name="T6" fmla="*/ 0 w 68"/>
                                <a:gd name="T7" fmla="*/ 20 h 39"/>
                                <a:gd name="T8" fmla="*/ 42 w 68"/>
                                <a:gd name="T9" fmla="*/ 0 h 39"/>
                              </a:gdLst>
                              <a:ahLst/>
                              <a:cxnLst>
                                <a:cxn ang="0">
                                  <a:pos x="T0" y="T1"/>
                                </a:cxn>
                                <a:cxn ang="0">
                                  <a:pos x="T2" y="T3"/>
                                </a:cxn>
                                <a:cxn ang="0">
                                  <a:pos x="T4" y="T5"/>
                                </a:cxn>
                                <a:cxn ang="0">
                                  <a:pos x="T6" y="T7"/>
                                </a:cxn>
                                <a:cxn ang="0">
                                  <a:pos x="T8" y="T9"/>
                                </a:cxn>
                              </a:cxnLst>
                              <a:rect l="0" t="0" r="r" b="b"/>
                              <a:pathLst>
                                <a:path w="68" h="39">
                                  <a:moveTo>
                                    <a:pt x="42" y="0"/>
                                  </a:moveTo>
                                  <a:lnTo>
                                    <a:pt x="68" y="17"/>
                                  </a:lnTo>
                                  <a:lnTo>
                                    <a:pt x="30" y="39"/>
                                  </a:lnTo>
                                  <a:lnTo>
                                    <a:pt x="0" y="20"/>
                                  </a:lnTo>
                                  <a:lnTo>
                                    <a:pt x="42"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3" name="Freeform 105"/>
                            <p:cNvSpPr/>
                            <p:nvPr/>
                          </p:nvSpPr>
                          <p:spPr bwMode="auto">
                            <a:xfrm>
                              <a:off x="2589" y="3073"/>
                              <a:ext cx="7" cy="5"/>
                            </a:xfrm>
                            <a:custGeom>
                              <a:avLst/>
                              <a:gdLst>
                                <a:gd name="T0" fmla="*/ 25 w 54"/>
                                <a:gd name="T1" fmla="*/ 0 h 34"/>
                                <a:gd name="T2" fmla="*/ 54 w 54"/>
                                <a:gd name="T3" fmla="*/ 22 h 34"/>
                                <a:gd name="T4" fmla="*/ 31 w 54"/>
                                <a:gd name="T5" fmla="*/ 34 h 34"/>
                                <a:gd name="T6" fmla="*/ 0 w 54"/>
                                <a:gd name="T7" fmla="*/ 13 h 34"/>
                                <a:gd name="T8" fmla="*/ 25 w 54"/>
                                <a:gd name="T9" fmla="*/ 0 h 34"/>
                              </a:gdLst>
                              <a:ahLst/>
                              <a:cxnLst>
                                <a:cxn ang="0">
                                  <a:pos x="T0" y="T1"/>
                                </a:cxn>
                                <a:cxn ang="0">
                                  <a:pos x="T2" y="T3"/>
                                </a:cxn>
                                <a:cxn ang="0">
                                  <a:pos x="T4" y="T5"/>
                                </a:cxn>
                                <a:cxn ang="0">
                                  <a:pos x="T6" y="T7"/>
                                </a:cxn>
                                <a:cxn ang="0">
                                  <a:pos x="T8" y="T9"/>
                                </a:cxn>
                              </a:cxnLst>
                              <a:rect l="0" t="0" r="r" b="b"/>
                              <a:pathLst>
                                <a:path w="54" h="34">
                                  <a:moveTo>
                                    <a:pt x="25" y="0"/>
                                  </a:moveTo>
                                  <a:lnTo>
                                    <a:pt x="54" y="22"/>
                                  </a:lnTo>
                                  <a:lnTo>
                                    <a:pt x="31" y="34"/>
                                  </a:lnTo>
                                  <a:lnTo>
                                    <a:pt x="0" y="13"/>
                                  </a:lnTo>
                                  <a:lnTo>
                                    <a:pt x="2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4" name="Freeform 106"/>
                            <p:cNvSpPr/>
                            <p:nvPr/>
                          </p:nvSpPr>
                          <p:spPr bwMode="auto">
                            <a:xfrm>
                              <a:off x="2564" y="3083"/>
                              <a:ext cx="10" cy="4"/>
                            </a:xfrm>
                            <a:custGeom>
                              <a:avLst/>
                              <a:gdLst>
                                <a:gd name="T0" fmla="*/ 40 w 64"/>
                                <a:gd name="T1" fmla="*/ 0 h 37"/>
                                <a:gd name="T2" fmla="*/ 64 w 64"/>
                                <a:gd name="T3" fmla="*/ 15 h 37"/>
                                <a:gd name="T4" fmla="*/ 25 w 64"/>
                                <a:gd name="T5" fmla="*/ 37 h 37"/>
                                <a:gd name="T6" fmla="*/ 0 w 64"/>
                                <a:gd name="T7" fmla="*/ 19 h 37"/>
                                <a:gd name="T8" fmla="*/ 40 w 64"/>
                                <a:gd name="T9" fmla="*/ 0 h 37"/>
                              </a:gdLst>
                              <a:ahLst/>
                              <a:cxnLst>
                                <a:cxn ang="0">
                                  <a:pos x="T0" y="T1"/>
                                </a:cxn>
                                <a:cxn ang="0">
                                  <a:pos x="T2" y="T3"/>
                                </a:cxn>
                                <a:cxn ang="0">
                                  <a:pos x="T4" y="T5"/>
                                </a:cxn>
                                <a:cxn ang="0">
                                  <a:pos x="T6" y="T7"/>
                                </a:cxn>
                                <a:cxn ang="0">
                                  <a:pos x="T8" y="T9"/>
                                </a:cxn>
                              </a:cxnLst>
                              <a:rect l="0" t="0" r="r" b="b"/>
                              <a:pathLst>
                                <a:path w="64" h="37">
                                  <a:moveTo>
                                    <a:pt x="40" y="0"/>
                                  </a:moveTo>
                                  <a:lnTo>
                                    <a:pt x="64" y="15"/>
                                  </a:lnTo>
                                  <a:lnTo>
                                    <a:pt x="25" y="37"/>
                                  </a:lnTo>
                                  <a:lnTo>
                                    <a:pt x="0" y="19"/>
                                  </a:lnTo>
                                  <a:lnTo>
                                    <a:pt x="40"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5" name="Freeform 107"/>
                            <p:cNvSpPr/>
                            <p:nvPr/>
                          </p:nvSpPr>
                          <p:spPr bwMode="auto">
                            <a:xfrm>
                              <a:off x="2565" y="3077"/>
                              <a:ext cx="11" cy="6"/>
                            </a:xfrm>
                            <a:custGeom>
                              <a:avLst/>
                              <a:gdLst>
                                <a:gd name="T0" fmla="*/ 38 w 74"/>
                                <a:gd name="T1" fmla="*/ 0 h 44"/>
                                <a:gd name="T2" fmla="*/ 74 w 74"/>
                                <a:gd name="T3" fmla="*/ 23 h 44"/>
                                <a:gd name="T4" fmla="*/ 38 w 74"/>
                                <a:gd name="T5" fmla="*/ 44 h 44"/>
                                <a:gd name="T6" fmla="*/ 0 w 74"/>
                                <a:gd name="T7" fmla="*/ 18 h 44"/>
                                <a:gd name="T8" fmla="*/ 38 w 74"/>
                                <a:gd name="T9" fmla="*/ 0 h 44"/>
                              </a:gdLst>
                              <a:ahLst/>
                              <a:cxnLst>
                                <a:cxn ang="0">
                                  <a:pos x="T0" y="T1"/>
                                </a:cxn>
                                <a:cxn ang="0">
                                  <a:pos x="T2" y="T3"/>
                                </a:cxn>
                                <a:cxn ang="0">
                                  <a:pos x="T4" y="T5"/>
                                </a:cxn>
                                <a:cxn ang="0">
                                  <a:pos x="T6" y="T7"/>
                                </a:cxn>
                                <a:cxn ang="0">
                                  <a:pos x="T8" y="T9"/>
                                </a:cxn>
                              </a:cxnLst>
                              <a:rect l="0" t="0" r="r" b="b"/>
                              <a:pathLst>
                                <a:path w="74" h="44">
                                  <a:moveTo>
                                    <a:pt x="38" y="0"/>
                                  </a:moveTo>
                                  <a:lnTo>
                                    <a:pt x="74" y="23"/>
                                  </a:lnTo>
                                  <a:lnTo>
                                    <a:pt x="38" y="44"/>
                                  </a:lnTo>
                                  <a:lnTo>
                                    <a:pt x="0" y="18"/>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6" name="Freeform 108"/>
                            <p:cNvSpPr/>
                            <p:nvPr/>
                          </p:nvSpPr>
                          <p:spPr bwMode="auto">
                            <a:xfrm>
                              <a:off x="2571" y="3075"/>
                              <a:ext cx="11" cy="5"/>
                            </a:xfrm>
                            <a:custGeom>
                              <a:avLst/>
                              <a:gdLst>
                                <a:gd name="T0" fmla="*/ 40 w 75"/>
                                <a:gd name="T1" fmla="*/ 0 h 43"/>
                                <a:gd name="T2" fmla="*/ 75 w 75"/>
                                <a:gd name="T3" fmla="*/ 24 h 43"/>
                                <a:gd name="T4" fmla="*/ 37 w 75"/>
                                <a:gd name="T5" fmla="*/ 43 h 43"/>
                                <a:gd name="T6" fmla="*/ 0 w 75"/>
                                <a:gd name="T7" fmla="*/ 19 h 43"/>
                                <a:gd name="T8" fmla="*/ 40 w 75"/>
                                <a:gd name="T9" fmla="*/ 0 h 43"/>
                              </a:gdLst>
                              <a:ahLst/>
                              <a:cxnLst>
                                <a:cxn ang="0">
                                  <a:pos x="T0" y="T1"/>
                                </a:cxn>
                                <a:cxn ang="0">
                                  <a:pos x="T2" y="T3"/>
                                </a:cxn>
                                <a:cxn ang="0">
                                  <a:pos x="T4" y="T5"/>
                                </a:cxn>
                                <a:cxn ang="0">
                                  <a:pos x="T6" y="T7"/>
                                </a:cxn>
                                <a:cxn ang="0">
                                  <a:pos x="T8" y="T9"/>
                                </a:cxn>
                              </a:cxnLst>
                              <a:rect l="0" t="0" r="r" b="b"/>
                              <a:pathLst>
                                <a:path w="75" h="43">
                                  <a:moveTo>
                                    <a:pt x="40" y="0"/>
                                  </a:moveTo>
                                  <a:lnTo>
                                    <a:pt x="75" y="24"/>
                                  </a:lnTo>
                                  <a:lnTo>
                                    <a:pt x="37" y="43"/>
                                  </a:lnTo>
                                  <a:lnTo>
                                    <a:pt x="0" y="19"/>
                                  </a:lnTo>
                                  <a:lnTo>
                                    <a:pt x="40"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7" name="Freeform 109"/>
                            <p:cNvSpPr/>
                            <p:nvPr/>
                          </p:nvSpPr>
                          <p:spPr bwMode="auto">
                            <a:xfrm>
                              <a:off x="2577" y="3072"/>
                              <a:ext cx="11" cy="6"/>
                            </a:xfrm>
                            <a:custGeom>
                              <a:avLst/>
                              <a:gdLst>
                                <a:gd name="T0" fmla="*/ 38 w 74"/>
                                <a:gd name="T1" fmla="*/ 0 h 42"/>
                                <a:gd name="T2" fmla="*/ 74 w 74"/>
                                <a:gd name="T3" fmla="*/ 21 h 42"/>
                                <a:gd name="T4" fmla="*/ 36 w 74"/>
                                <a:gd name="T5" fmla="*/ 42 h 42"/>
                                <a:gd name="T6" fmla="*/ 0 w 74"/>
                                <a:gd name="T7" fmla="*/ 19 h 42"/>
                                <a:gd name="T8" fmla="*/ 38 w 74"/>
                                <a:gd name="T9" fmla="*/ 0 h 42"/>
                              </a:gdLst>
                              <a:ahLst/>
                              <a:cxnLst>
                                <a:cxn ang="0">
                                  <a:pos x="T0" y="T1"/>
                                </a:cxn>
                                <a:cxn ang="0">
                                  <a:pos x="T2" y="T3"/>
                                </a:cxn>
                                <a:cxn ang="0">
                                  <a:pos x="T4" y="T5"/>
                                </a:cxn>
                                <a:cxn ang="0">
                                  <a:pos x="T6" y="T7"/>
                                </a:cxn>
                                <a:cxn ang="0">
                                  <a:pos x="T8" y="T9"/>
                                </a:cxn>
                              </a:cxnLst>
                              <a:rect l="0" t="0" r="r" b="b"/>
                              <a:pathLst>
                                <a:path w="74" h="42">
                                  <a:moveTo>
                                    <a:pt x="38" y="0"/>
                                  </a:moveTo>
                                  <a:lnTo>
                                    <a:pt x="74" y="21"/>
                                  </a:lnTo>
                                  <a:lnTo>
                                    <a:pt x="36" y="42"/>
                                  </a:lnTo>
                                  <a:lnTo>
                                    <a:pt x="0" y="19"/>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8" name="Freeform 110"/>
                            <p:cNvSpPr/>
                            <p:nvPr/>
                          </p:nvSpPr>
                          <p:spPr bwMode="auto">
                            <a:xfrm>
                              <a:off x="2584" y="3071"/>
                              <a:ext cx="8" cy="4"/>
                            </a:xfrm>
                            <a:custGeom>
                              <a:avLst/>
                              <a:gdLst>
                                <a:gd name="T0" fmla="*/ 26 w 57"/>
                                <a:gd name="T1" fmla="*/ 0 h 34"/>
                                <a:gd name="T2" fmla="*/ 57 w 57"/>
                                <a:gd name="T3" fmla="*/ 20 h 34"/>
                                <a:gd name="T4" fmla="*/ 35 w 57"/>
                                <a:gd name="T5" fmla="*/ 34 h 34"/>
                                <a:gd name="T6" fmla="*/ 0 w 57"/>
                                <a:gd name="T7" fmla="*/ 13 h 34"/>
                                <a:gd name="T8" fmla="*/ 26 w 57"/>
                                <a:gd name="T9" fmla="*/ 0 h 34"/>
                              </a:gdLst>
                              <a:ahLst/>
                              <a:cxnLst>
                                <a:cxn ang="0">
                                  <a:pos x="T0" y="T1"/>
                                </a:cxn>
                                <a:cxn ang="0">
                                  <a:pos x="T2" y="T3"/>
                                </a:cxn>
                                <a:cxn ang="0">
                                  <a:pos x="T4" y="T5"/>
                                </a:cxn>
                                <a:cxn ang="0">
                                  <a:pos x="T6" y="T7"/>
                                </a:cxn>
                                <a:cxn ang="0">
                                  <a:pos x="T8" y="T9"/>
                                </a:cxn>
                              </a:cxnLst>
                              <a:rect l="0" t="0" r="r" b="b"/>
                              <a:pathLst>
                                <a:path w="57" h="34">
                                  <a:moveTo>
                                    <a:pt x="26" y="0"/>
                                  </a:moveTo>
                                  <a:lnTo>
                                    <a:pt x="57" y="20"/>
                                  </a:lnTo>
                                  <a:lnTo>
                                    <a:pt x="35" y="34"/>
                                  </a:lnTo>
                                  <a:lnTo>
                                    <a:pt x="0" y="13"/>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9" name="Freeform 111"/>
                            <p:cNvSpPr/>
                            <p:nvPr/>
                          </p:nvSpPr>
                          <p:spPr bwMode="auto">
                            <a:xfrm>
                              <a:off x="2558" y="3080"/>
                              <a:ext cx="12" cy="5"/>
                            </a:xfrm>
                            <a:custGeom>
                              <a:avLst/>
                              <a:gdLst>
                                <a:gd name="T0" fmla="*/ 41 w 79"/>
                                <a:gd name="T1" fmla="*/ 0 h 45"/>
                                <a:gd name="T2" fmla="*/ 79 w 79"/>
                                <a:gd name="T3" fmla="*/ 24 h 45"/>
                                <a:gd name="T4" fmla="*/ 42 w 79"/>
                                <a:gd name="T5" fmla="*/ 45 h 45"/>
                                <a:gd name="T6" fmla="*/ 0 w 79"/>
                                <a:gd name="T7" fmla="*/ 18 h 45"/>
                                <a:gd name="T8" fmla="*/ 41 w 79"/>
                                <a:gd name="T9" fmla="*/ 0 h 45"/>
                              </a:gdLst>
                              <a:ahLst/>
                              <a:cxnLst>
                                <a:cxn ang="0">
                                  <a:pos x="T0" y="T1"/>
                                </a:cxn>
                                <a:cxn ang="0">
                                  <a:pos x="T2" y="T3"/>
                                </a:cxn>
                                <a:cxn ang="0">
                                  <a:pos x="T4" y="T5"/>
                                </a:cxn>
                                <a:cxn ang="0">
                                  <a:pos x="T6" y="T7"/>
                                </a:cxn>
                                <a:cxn ang="0">
                                  <a:pos x="T8" y="T9"/>
                                </a:cxn>
                              </a:cxnLst>
                              <a:rect l="0" t="0" r="r" b="b"/>
                              <a:pathLst>
                                <a:path w="79" h="45">
                                  <a:moveTo>
                                    <a:pt x="41" y="0"/>
                                  </a:moveTo>
                                  <a:lnTo>
                                    <a:pt x="79" y="24"/>
                                  </a:lnTo>
                                  <a:lnTo>
                                    <a:pt x="42" y="45"/>
                                  </a:lnTo>
                                  <a:lnTo>
                                    <a:pt x="0" y="18"/>
                                  </a:lnTo>
                                  <a:lnTo>
                                    <a:pt x="4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0" name="Freeform 112"/>
                            <p:cNvSpPr/>
                            <p:nvPr/>
                          </p:nvSpPr>
                          <p:spPr bwMode="auto">
                            <a:xfrm>
                              <a:off x="2550" y="3075"/>
                              <a:ext cx="14" cy="7"/>
                            </a:xfrm>
                            <a:custGeom>
                              <a:avLst/>
                              <a:gdLst>
                                <a:gd name="T0" fmla="*/ 38 w 99"/>
                                <a:gd name="T1" fmla="*/ 0 h 57"/>
                                <a:gd name="T2" fmla="*/ 99 w 99"/>
                                <a:gd name="T3" fmla="*/ 39 h 57"/>
                                <a:gd name="T4" fmla="*/ 60 w 99"/>
                                <a:gd name="T5" fmla="*/ 57 h 57"/>
                                <a:gd name="T6" fmla="*/ 0 w 99"/>
                                <a:gd name="T7" fmla="*/ 17 h 57"/>
                                <a:gd name="T8" fmla="*/ 38 w 99"/>
                                <a:gd name="T9" fmla="*/ 0 h 57"/>
                              </a:gdLst>
                              <a:ahLst/>
                              <a:cxnLst>
                                <a:cxn ang="0">
                                  <a:pos x="T0" y="T1"/>
                                </a:cxn>
                                <a:cxn ang="0">
                                  <a:pos x="T2" y="T3"/>
                                </a:cxn>
                                <a:cxn ang="0">
                                  <a:pos x="T4" y="T5"/>
                                </a:cxn>
                                <a:cxn ang="0">
                                  <a:pos x="T6" y="T7"/>
                                </a:cxn>
                                <a:cxn ang="0">
                                  <a:pos x="T8" y="T9"/>
                                </a:cxn>
                              </a:cxnLst>
                              <a:rect l="0" t="0" r="r" b="b"/>
                              <a:pathLst>
                                <a:path w="99" h="57">
                                  <a:moveTo>
                                    <a:pt x="38" y="0"/>
                                  </a:moveTo>
                                  <a:lnTo>
                                    <a:pt x="99" y="39"/>
                                  </a:lnTo>
                                  <a:lnTo>
                                    <a:pt x="60" y="57"/>
                                  </a:lnTo>
                                  <a:lnTo>
                                    <a:pt x="0" y="17"/>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1" name="Freeform 113"/>
                            <p:cNvSpPr/>
                            <p:nvPr/>
                          </p:nvSpPr>
                          <p:spPr bwMode="auto">
                            <a:xfrm>
                              <a:off x="2551" y="3068"/>
                              <a:ext cx="19" cy="12"/>
                            </a:xfrm>
                            <a:custGeom>
                              <a:avLst/>
                              <a:gdLst>
                                <a:gd name="T0" fmla="*/ 0 w 130"/>
                                <a:gd name="T1" fmla="*/ 33 h 91"/>
                                <a:gd name="T2" fmla="*/ 94 w 130"/>
                                <a:gd name="T3" fmla="*/ 91 h 91"/>
                                <a:gd name="T4" fmla="*/ 130 w 130"/>
                                <a:gd name="T5" fmla="*/ 73 h 91"/>
                                <a:gd name="T6" fmla="*/ 64 w 130"/>
                                <a:gd name="T7" fmla="*/ 33 h 91"/>
                                <a:gd name="T8" fmla="*/ 110 w 130"/>
                                <a:gd name="T9" fmla="*/ 12 h 91"/>
                                <a:gd name="T10" fmla="*/ 88 w 130"/>
                                <a:gd name="T11" fmla="*/ 0 h 91"/>
                                <a:gd name="T12" fmla="*/ 0 w 130"/>
                                <a:gd name="T13" fmla="*/ 33 h 91"/>
                              </a:gdLst>
                              <a:ahLst/>
                              <a:cxnLst>
                                <a:cxn ang="0">
                                  <a:pos x="T0" y="T1"/>
                                </a:cxn>
                                <a:cxn ang="0">
                                  <a:pos x="T2" y="T3"/>
                                </a:cxn>
                                <a:cxn ang="0">
                                  <a:pos x="T4" y="T5"/>
                                </a:cxn>
                                <a:cxn ang="0">
                                  <a:pos x="T6" y="T7"/>
                                </a:cxn>
                                <a:cxn ang="0">
                                  <a:pos x="T8" y="T9"/>
                                </a:cxn>
                                <a:cxn ang="0">
                                  <a:pos x="T10" y="T11"/>
                                </a:cxn>
                                <a:cxn ang="0">
                                  <a:pos x="T12" y="T13"/>
                                </a:cxn>
                              </a:cxnLst>
                              <a:rect l="0" t="0" r="r" b="b"/>
                              <a:pathLst>
                                <a:path w="130" h="91">
                                  <a:moveTo>
                                    <a:pt x="0" y="33"/>
                                  </a:moveTo>
                                  <a:lnTo>
                                    <a:pt x="94" y="91"/>
                                  </a:lnTo>
                                  <a:lnTo>
                                    <a:pt x="130" y="73"/>
                                  </a:lnTo>
                                  <a:lnTo>
                                    <a:pt x="64" y="33"/>
                                  </a:lnTo>
                                  <a:lnTo>
                                    <a:pt x="110" y="12"/>
                                  </a:lnTo>
                                  <a:lnTo>
                                    <a:pt x="88" y="0"/>
                                  </a:lnTo>
                                  <a:lnTo>
                                    <a:pt x="0" y="33"/>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2" name="Freeform 114"/>
                            <p:cNvSpPr/>
                            <p:nvPr/>
                          </p:nvSpPr>
                          <p:spPr bwMode="auto">
                            <a:xfrm>
                              <a:off x="2562" y="3070"/>
                              <a:ext cx="15" cy="8"/>
                            </a:xfrm>
                            <a:custGeom>
                              <a:avLst/>
                              <a:gdLst>
                                <a:gd name="T0" fmla="*/ 0 w 100"/>
                                <a:gd name="T1" fmla="*/ 19 h 58"/>
                                <a:gd name="T2" fmla="*/ 61 w 100"/>
                                <a:gd name="T3" fmla="*/ 58 h 58"/>
                                <a:gd name="T4" fmla="*/ 100 w 100"/>
                                <a:gd name="T5" fmla="*/ 40 h 58"/>
                                <a:gd name="T6" fmla="*/ 37 w 100"/>
                                <a:gd name="T7" fmla="*/ 0 h 58"/>
                                <a:gd name="T8" fmla="*/ 0 w 100"/>
                                <a:gd name="T9" fmla="*/ 19 h 58"/>
                              </a:gdLst>
                              <a:ahLst/>
                              <a:cxnLst>
                                <a:cxn ang="0">
                                  <a:pos x="T0" y="T1"/>
                                </a:cxn>
                                <a:cxn ang="0">
                                  <a:pos x="T2" y="T3"/>
                                </a:cxn>
                                <a:cxn ang="0">
                                  <a:pos x="T4" y="T5"/>
                                </a:cxn>
                                <a:cxn ang="0">
                                  <a:pos x="T6" y="T7"/>
                                </a:cxn>
                                <a:cxn ang="0">
                                  <a:pos x="T8" y="T9"/>
                                </a:cxn>
                              </a:cxnLst>
                              <a:rect l="0" t="0" r="r" b="b"/>
                              <a:pathLst>
                                <a:path w="100" h="58">
                                  <a:moveTo>
                                    <a:pt x="0" y="19"/>
                                  </a:moveTo>
                                  <a:lnTo>
                                    <a:pt x="61" y="58"/>
                                  </a:lnTo>
                                  <a:lnTo>
                                    <a:pt x="100" y="40"/>
                                  </a:lnTo>
                                  <a:lnTo>
                                    <a:pt x="37" y="0"/>
                                  </a:lnTo>
                                  <a:lnTo>
                                    <a:pt x="0" y="19"/>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3" name="Freeform 115"/>
                            <p:cNvSpPr/>
                            <p:nvPr/>
                          </p:nvSpPr>
                          <p:spPr bwMode="auto">
                            <a:xfrm>
                              <a:off x="2573" y="3070"/>
                              <a:ext cx="10" cy="5"/>
                            </a:xfrm>
                            <a:custGeom>
                              <a:avLst/>
                              <a:gdLst>
                                <a:gd name="T0" fmla="*/ 0 w 67"/>
                                <a:gd name="T1" fmla="*/ 20 h 39"/>
                                <a:gd name="T2" fmla="*/ 28 w 67"/>
                                <a:gd name="T3" fmla="*/ 39 h 39"/>
                                <a:gd name="T4" fmla="*/ 67 w 67"/>
                                <a:gd name="T5" fmla="*/ 19 h 39"/>
                                <a:gd name="T6" fmla="*/ 40 w 67"/>
                                <a:gd name="T7" fmla="*/ 0 h 39"/>
                                <a:gd name="T8" fmla="*/ 0 w 67"/>
                                <a:gd name="T9" fmla="*/ 20 h 39"/>
                              </a:gdLst>
                              <a:ahLst/>
                              <a:cxnLst>
                                <a:cxn ang="0">
                                  <a:pos x="T0" y="T1"/>
                                </a:cxn>
                                <a:cxn ang="0">
                                  <a:pos x="T2" y="T3"/>
                                </a:cxn>
                                <a:cxn ang="0">
                                  <a:pos x="T4" y="T5"/>
                                </a:cxn>
                                <a:cxn ang="0">
                                  <a:pos x="T6" y="T7"/>
                                </a:cxn>
                                <a:cxn ang="0">
                                  <a:pos x="T8" y="T9"/>
                                </a:cxn>
                              </a:cxnLst>
                              <a:rect l="0" t="0" r="r" b="b"/>
                              <a:pathLst>
                                <a:path w="67" h="39">
                                  <a:moveTo>
                                    <a:pt x="0" y="20"/>
                                  </a:moveTo>
                                  <a:lnTo>
                                    <a:pt x="28" y="39"/>
                                  </a:lnTo>
                                  <a:lnTo>
                                    <a:pt x="67" y="19"/>
                                  </a:lnTo>
                                  <a:lnTo>
                                    <a:pt x="40" y="0"/>
                                  </a:lnTo>
                                  <a:lnTo>
                                    <a:pt x="0" y="2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4" name="Freeform 116"/>
                            <p:cNvSpPr/>
                            <p:nvPr/>
                          </p:nvSpPr>
                          <p:spPr bwMode="auto">
                            <a:xfrm>
                              <a:off x="2568" y="3068"/>
                              <a:ext cx="10" cy="5"/>
                            </a:xfrm>
                            <a:custGeom>
                              <a:avLst/>
                              <a:gdLst>
                                <a:gd name="T0" fmla="*/ 0 w 70"/>
                                <a:gd name="T1" fmla="*/ 20 h 39"/>
                                <a:gd name="T2" fmla="*/ 32 w 70"/>
                                <a:gd name="T3" fmla="*/ 39 h 39"/>
                                <a:gd name="T4" fmla="*/ 70 w 70"/>
                                <a:gd name="T5" fmla="*/ 20 h 39"/>
                                <a:gd name="T6" fmla="*/ 38 w 70"/>
                                <a:gd name="T7" fmla="*/ 0 h 39"/>
                                <a:gd name="T8" fmla="*/ 0 w 70"/>
                                <a:gd name="T9" fmla="*/ 20 h 39"/>
                              </a:gdLst>
                              <a:ahLst/>
                              <a:cxnLst>
                                <a:cxn ang="0">
                                  <a:pos x="T0" y="T1"/>
                                </a:cxn>
                                <a:cxn ang="0">
                                  <a:pos x="T2" y="T3"/>
                                </a:cxn>
                                <a:cxn ang="0">
                                  <a:pos x="T4" y="T5"/>
                                </a:cxn>
                                <a:cxn ang="0">
                                  <a:pos x="T6" y="T7"/>
                                </a:cxn>
                                <a:cxn ang="0">
                                  <a:pos x="T8" y="T9"/>
                                </a:cxn>
                              </a:cxnLst>
                              <a:rect l="0" t="0" r="r" b="b"/>
                              <a:pathLst>
                                <a:path w="70" h="39">
                                  <a:moveTo>
                                    <a:pt x="0" y="20"/>
                                  </a:moveTo>
                                  <a:lnTo>
                                    <a:pt x="32" y="39"/>
                                  </a:lnTo>
                                  <a:lnTo>
                                    <a:pt x="70" y="20"/>
                                  </a:lnTo>
                                  <a:lnTo>
                                    <a:pt x="38" y="0"/>
                                  </a:lnTo>
                                  <a:lnTo>
                                    <a:pt x="0" y="2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5" name="Freeform 117"/>
                            <p:cNvSpPr/>
                            <p:nvPr/>
                          </p:nvSpPr>
                          <p:spPr bwMode="auto">
                            <a:xfrm>
                              <a:off x="2564" y="3066"/>
                              <a:ext cx="9" cy="4"/>
                            </a:xfrm>
                            <a:custGeom>
                              <a:avLst/>
                              <a:gdLst>
                                <a:gd name="T0" fmla="*/ 0 w 66"/>
                                <a:gd name="T1" fmla="*/ 18 h 34"/>
                                <a:gd name="T2" fmla="*/ 26 w 66"/>
                                <a:gd name="T3" fmla="*/ 34 h 34"/>
                                <a:gd name="T4" fmla="*/ 66 w 66"/>
                                <a:gd name="T5" fmla="*/ 16 h 34"/>
                                <a:gd name="T6" fmla="*/ 43 w 66"/>
                                <a:gd name="T7" fmla="*/ 0 h 34"/>
                                <a:gd name="T8" fmla="*/ 0 w 66"/>
                                <a:gd name="T9" fmla="*/ 18 h 34"/>
                              </a:gdLst>
                              <a:ahLst/>
                              <a:cxnLst>
                                <a:cxn ang="0">
                                  <a:pos x="T0" y="T1"/>
                                </a:cxn>
                                <a:cxn ang="0">
                                  <a:pos x="T2" y="T3"/>
                                </a:cxn>
                                <a:cxn ang="0">
                                  <a:pos x="T4" y="T5"/>
                                </a:cxn>
                                <a:cxn ang="0">
                                  <a:pos x="T6" y="T7"/>
                                </a:cxn>
                                <a:cxn ang="0">
                                  <a:pos x="T8" y="T9"/>
                                </a:cxn>
                              </a:cxnLst>
                              <a:rect l="0" t="0" r="r" b="b"/>
                              <a:pathLst>
                                <a:path w="66" h="34">
                                  <a:moveTo>
                                    <a:pt x="0" y="18"/>
                                  </a:moveTo>
                                  <a:lnTo>
                                    <a:pt x="26" y="34"/>
                                  </a:lnTo>
                                  <a:lnTo>
                                    <a:pt x="66" y="16"/>
                                  </a:lnTo>
                                  <a:lnTo>
                                    <a:pt x="43" y="0"/>
                                  </a:lnTo>
                                  <a:lnTo>
                                    <a:pt x="0" y="18"/>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6" name="Freeform 118"/>
                            <p:cNvSpPr/>
                            <p:nvPr/>
                          </p:nvSpPr>
                          <p:spPr bwMode="auto">
                            <a:xfrm>
                              <a:off x="2571" y="3065"/>
                              <a:ext cx="7" cy="3"/>
                            </a:xfrm>
                            <a:custGeom>
                              <a:avLst/>
                              <a:gdLst>
                                <a:gd name="T0" fmla="*/ 0 w 48"/>
                                <a:gd name="T1" fmla="*/ 10 h 28"/>
                                <a:gd name="T2" fmla="*/ 26 w 48"/>
                                <a:gd name="T3" fmla="*/ 28 h 28"/>
                                <a:gd name="T4" fmla="*/ 48 w 48"/>
                                <a:gd name="T5" fmla="*/ 16 h 28"/>
                                <a:gd name="T6" fmla="*/ 23 w 48"/>
                                <a:gd name="T7" fmla="*/ 0 h 28"/>
                                <a:gd name="T8" fmla="*/ 0 w 48"/>
                                <a:gd name="T9" fmla="*/ 10 h 28"/>
                              </a:gdLst>
                              <a:ahLst/>
                              <a:cxnLst>
                                <a:cxn ang="0">
                                  <a:pos x="T0" y="T1"/>
                                </a:cxn>
                                <a:cxn ang="0">
                                  <a:pos x="T2" y="T3"/>
                                </a:cxn>
                                <a:cxn ang="0">
                                  <a:pos x="T4" y="T5"/>
                                </a:cxn>
                                <a:cxn ang="0">
                                  <a:pos x="T6" y="T7"/>
                                </a:cxn>
                                <a:cxn ang="0">
                                  <a:pos x="T8" y="T9"/>
                                </a:cxn>
                              </a:cxnLst>
                              <a:rect l="0" t="0" r="r" b="b"/>
                              <a:pathLst>
                                <a:path w="48" h="28">
                                  <a:moveTo>
                                    <a:pt x="0" y="10"/>
                                  </a:moveTo>
                                  <a:lnTo>
                                    <a:pt x="26" y="28"/>
                                  </a:lnTo>
                                  <a:lnTo>
                                    <a:pt x="48" y="16"/>
                                  </a:lnTo>
                                  <a:lnTo>
                                    <a:pt x="23" y="0"/>
                                  </a:lnTo>
                                  <a:lnTo>
                                    <a:pt x="0" y="1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7" name="Freeform 119"/>
                            <p:cNvSpPr/>
                            <p:nvPr/>
                          </p:nvSpPr>
                          <p:spPr bwMode="auto">
                            <a:xfrm>
                              <a:off x="2574" y="3066"/>
                              <a:ext cx="8" cy="4"/>
                            </a:xfrm>
                            <a:custGeom>
                              <a:avLst/>
                              <a:gdLst>
                                <a:gd name="T0" fmla="*/ 0 w 54"/>
                                <a:gd name="T1" fmla="*/ 13 h 32"/>
                                <a:gd name="T2" fmla="*/ 33 w 54"/>
                                <a:gd name="T3" fmla="*/ 32 h 32"/>
                                <a:gd name="T4" fmla="*/ 54 w 54"/>
                                <a:gd name="T5" fmla="*/ 23 h 32"/>
                                <a:gd name="T6" fmla="*/ 23 w 54"/>
                                <a:gd name="T7" fmla="*/ 0 h 32"/>
                                <a:gd name="T8" fmla="*/ 0 w 54"/>
                                <a:gd name="T9" fmla="*/ 13 h 32"/>
                              </a:gdLst>
                              <a:ahLst/>
                              <a:cxnLst>
                                <a:cxn ang="0">
                                  <a:pos x="T0" y="T1"/>
                                </a:cxn>
                                <a:cxn ang="0">
                                  <a:pos x="T2" y="T3"/>
                                </a:cxn>
                                <a:cxn ang="0">
                                  <a:pos x="T4" y="T5"/>
                                </a:cxn>
                                <a:cxn ang="0">
                                  <a:pos x="T6" y="T7"/>
                                </a:cxn>
                                <a:cxn ang="0">
                                  <a:pos x="T8" y="T9"/>
                                </a:cxn>
                              </a:cxnLst>
                              <a:rect l="0" t="0" r="r" b="b"/>
                              <a:pathLst>
                                <a:path w="54" h="32">
                                  <a:moveTo>
                                    <a:pt x="0" y="13"/>
                                  </a:moveTo>
                                  <a:lnTo>
                                    <a:pt x="33" y="32"/>
                                  </a:lnTo>
                                  <a:lnTo>
                                    <a:pt x="54" y="23"/>
                                  </a:lnTo>
                                  <a:lnTo>
                                    <a:pt x="23" y="0"/>
                                  </a:lnTo>
                                  <a:lnTo>
                                    <a:pt x="0" y="13"/>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8" name="Freeform 120"/>
                            <p:cNvSpPr/>
                            <p:nvPr/>
                          </p:nvSpPr>
                          <p:spPr bwMode="auto">
                            <a:xfrm>
                              <a:off x="2545" y="3073"/>
                              <a:ext cx="10" cy="5"/>
                            </a:xfrm>
                            <a:custGeom>
                              <a:avLst/>
                              <a:gdLst>
                                <a:gd name="T0" fmla="*/ 0 w 68"/>
                                <a:gd name="T1" fmla="*/ 17 h 39"/>
                                <a:gd name="T2" fmla="*/ 28 w 68"/>
                                <a:gd name="T3" fmla="*/ 39 h 39"/>
                                <a:gd name="T4" fmla="*/ 68 w 68"/>
                                <a:gd name="T5" fmla="*/ 19 h 39"/>
                                <a:gd name="T6" fmla="*/ 43 w 68"/>
                                <a:gd name="T7" fmla="*/ 0 h 39"/>
                                <a:gd name="T8" fmla="*/ 0 w 68"/>
                                <a:gd name="T9" fmla="*/ 17 h 39"/>
                              </a:gdLst>
                              <a:ahLst/>
                              <a:cxnLst>
                                <a:cxn ang="0">
                                  <a:pos x="T0" y="T1"/>
                                </a:cxn>
                                <a:cxn ang="0">
                                  <a:pos x="T2" y="T3"/>
                                </a:cxn>
                                <a:cxn ang="0">
                                  <a:pos x="T4" y="T5"/>
                                </a:cxn>
                                <a:cxn ang="0">
                                  <a:pos x="T6" y="T7"/>
                                </a:cxn>
                                <a:cxn ang="0">
                                  <a:pos x="T8" y="T9"/>
                                </a:cxn>
                              </a:cxnLst>
                              <a:rect l="0" t="0" r="r" b="b"/>
                              <a:pathLst>
                                <a:path w="68" h="39">
                                  <a:moveTo>
                                    <a:pt x="0" y="17"/>
                                  </a:moveTo>
                                  <a:lnTo>
                                    <a:pt x="28" y="39"/>
                                  </a:lnTo>
                                  <a:lnTo>
                                    <a:pt x="68" y="19"/>
                                  </a:lnTo>
                                  <a:lnTo>
                                    <a:pt x="43" y="0"/>
                                  </a:lnTo>
                                  <a:lnTo>
                                    <a:pt x="0" y="17"/>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9" name="Freeform 121"/>
                            <p:cNvSpPr/>
                            <p:nvPr/>
                          </p:nvSpPr>
                          <p:spPr bwMode="auto">
                            <a:xfrm>
                              <a:off x="2579" y="3069"/>
                              <a:ext cx="8" cy="4"/>
                            </a:xfrm>
                            <a:custGeom>
                              <a:avLst/>
                              <a:gdLst>
                                <a:gd name="T0" fmla="*/ 0 w 54"/>
                                <a:gd name="T1" fmla="*/ 12 h 32"/>
                                <a:gd name="T2" fmla="*/ 31 w 54"/>
                                <a:gd name="T3" fmla="*/ 32 h 32"/>
                                <a:gd name="T4" fmla="*/ 54 w 54"/>
                                <a:gd name="T5" fmla="*/ 20 h 32"/>
                                <a:gd name="T6" fmla="*/ 22 w 54"/>
                                <a:gd name="T7" fmla="*/ 0 h 32"/>
                                <a:gd name="T8" fmla="*/ 0 w 54"/>
                                <a:gd name="T9" fmla="*/ 12 h 32"/>
                              </a:gdLst>
                              <a:ahLst/>
                              <a:cxnLst>
                                <a:cxn ang="0">
                                  <a:pos x="T0" y="T1"/>
                                </a:cxn>
                                <a:cxn ang="0">
                                  <a:pos x="T2" y="T3"/>
                                </a:cxn>
                                <a:cxn ang="0">
                                  <a:pos x="T4" y="T5"/>
                                </a:cxn>
                                <a:cxn ang="0">
                                  <a:pos x="T6" y="T7"/>
                                </a:cxn>
                                <a:cxn ang="0">
                                  <a:pos x="T8" y="T9"/>
                                </a:cxn>
                              </a:cxnLst>
                              <a:rect l="0" t="0" r="r" b="b"/>
                              <a:pathLst>
                                <a:path w="54" h="32">
                                  <a:moveTo>
                                    <a:pt x="0" y="12"/>
                                  </a:moveTo>
                                  <a:lnTo>
                                    <a:pt x="31" y="32"/>
                                  </a:lnTo>
                                  <a:lnTo>
                                    <a:pt x="54" y="20"/>
                                  </a:lnTo>
                                  <a:lnTo>
                                    <a:pt x="22" y="0"/>
                                  </a:lnTo>
                                  <a:lnTo>
                                    <a:pt x="0" y="12"/>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170" name="Group 122"/>
                          <p:cNvGrpSpPr/>
                          <p:nvPr/>
                        </p:nvGrpSpPr>
                        <p:grpSpPr bwMode="auto">
                          <a:xfrm>
                            <a:off x="2533" y="3064"/>
                            <a:ext cx="107" cy="49"/>
                            <a:chOff x="2533" y="3064"/>
                            <a:chExt cx="107" cy="49"/>
                          </a:xfrm>
                        </p:grpSpPr>
                        <p:sp>
                          <p:nvSpPr>
                            <p:cNvPr id="642171" name="Freeform 123"/>
                            <p:cNvSpPr/>
                            <p:nvPr/>
                          </p:nvSpPr>
                          <p:spPr bwMode="auto">
                            <a:xfrm>
                              <a:off x="2558" y="3085"/>
                              <a:ext cx="29" cy="15"/>
                            </a:xfrm>
                            <a:custGeom>
                              <a:avLst/>
                              <a:gdLst>
                                <a:gd name="T0" fmla="*/ 35 w 202"/>
                                <a:gd name="T1" fmla="*/ 0 h 123"/>
                                <a:gd name="T2" fmla="*/ 202 w 202"/>
                                <a:gd name="T3" fmla="*/ 105 h 123"/>
                                <a:gd name="T4" fmla="*/ 167 w 202"/>
                                <a:gd name="T5" fmla="*/ 123 h 123"/>
                                <a:gd name="T6" fmla="*/ 0 w 202"/>
                                <a:gd name="T7" fmla="*/ 18 h 123"/>
                                <a:gd name="T8" fmla="*/ 35 w 202"/>
                                <a:gd name="T9" fmla="*/ 0 h 123"/>
                              </a:gdLst>
                              <a:ahLst/>
                              <a:cxnLst>
                                <a:cxn ang="0">
                                  <a:pos x="T0" y="T1"/>
                                </a:cxn>
                                <a:cxn ang="0">
                                  <a:pos x="T2" y="T3"/>
                                </a:cxn>
                                <a:cxn ang="0">
                                  <a:pos x="T4" y="T5"/>
                                </a:cxn>
                                <a:cxn ang="0">
                                  <a:pos x="T6" y="T7"/>
                                </a:cxn>
                                <a:cxn ang="0">
                                  <a:pos x="T8" y="T9"/>
                                </a:cxn>
                              </a:cxnLst>
                              <a:rect l="0" t="0" r="r" b="b"/>
                              <a:pathLst>
                                <a:path w="202" h="123">
                                  <a:moveTo>
                                    <a:pt x="35" y="0"/>
                                  </a:moveTo>
                                  <a:lnTo>
                                    <a:pt x="202" y="105"/>
                                  </a:lnTo>
                                  <a:lnTo>
                                    <a:pt x="167" y="123"/>
                                  </a:lnTo>
                                  <a:lnTo>
                                    <a:pt x="0" y="18"/>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2" name="Freeform 124"/>
                            <p:cNvSpPr/>
                            <p:nvPr/>
                          </p:nvSpPr>
                          <p:spPr bwMode="auto">
                            <a:xfrm>
                              <a:off x="2582" y="3097"/>
                              <a:ext cx="14" cy="8"/>
                            </a:xfrm>
                            <a:custGeom>
                              <a:avLst/>
                              <a:gdLst>
                                <a:gd name="T0" fmla="*/ 37 w 98"/>
                                <a:gd name="T1" fmla="*/ 0 h 60"/>
                                <a:gd name="T2" fmla="*/ 98 w 98"/>
                                <a:gd name="T3" fmla="*/ 41 h 60"/>
                                <a:gd name="T4" fmla="*/ 64 w 98"/>
                                <a:gd name="T5" fmla="*/ 60 h 60"/>
                                <a:gd name="T6" fmla="*/ 0 w 98"/>
                                <a:gd name="T7" fmla="*/ 20 h 60"/>
                                <a:gd name="T8" fmla="*/ 37 w 98"/>
                                <a:gd name="T9" fmla="*/ 0 h 60"/>
                              </a:gdLst>
                              <a:ahLst/>
                              <a:cxnLst>
                                <a:cxn ang="0">
                                  <a:pos x="T0" y="T1"/>
                                </a:cxn>
                                <a:cxn ang="0">
                                  <a:pos x="T2" y="T3"/>
                                </a:cxn>
                                <a:cxn ang="0">
                                  <a:pos x="T4" y="T5"/>
                                </a:cxn>
                                <a:cxn ang="0">
                                  <a:pos x="T6" y="T7"/>
                                </a:cxn>
                                <a:cxn ang="0">
                                  <a:pos x="T8" y="T9"/>
                                </a:cxn>
                              </a:cxnLst>
                              <a:rect l="0" t="0" r="r" b="b"/>
                              <a:pathLst>
                                <a:path w="98" h="60">
                                  <a:moveTo>
                                    <a:pt x="37" y="0"/>
                                  </a:moveTo>
                                  <a:lnTo>
                                    <a:pt x="98" y="41"/>
                                  </a:lnTo>
                                  <a:lnTo>
                                    <a:pt x="64" y="60"/>
                                  </a:lnTo>
                                  <a:lnTo>
                                    <a:pt x="0" y="20"/>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3" name="Freeform 125"/>
                            <p:cNvSpPr/>
                            <p:nvPr/>
                          </p:nvSpPr>
                          <p:spPr bwMode="auto">
                            <a:xfrm>
                              <a:off x="2587" y="3102"/>
                              <a:ext cx="15" cy="8"/>
                            </a:xfrm>
                            <a:custGeom>
                              <a:avLst/>
                              <a:gdLst>
                                <a:gd name="T0" fmla="*/ 63 w 107"/>
                                <a:gd name="T1" fmla="*/ 0 h 64"/>
                                <a:gd name="T2" fmla="*/ 107 w 107"/>
                                <a:gd name="T3" fmla="*/ 29 h 64"/>
                                <a:gd name="T4" fmla="*/ 70 w 107"/>
                                <a:gd name="T5" fmla="*/ 52 h 64"/>
                                <a:gd name="T6" fmla="*/ 65 w 107"/>
                                <a:gd name="T7" fmla="*/ 48 h 64"/>
                                <a:gd name="T8" fmla="*/ 40 w 107"/>
                                <a:gd name="T9" fmla="*/ 64 h 64"/>
                                <a:gd name="T10" fmla="*/ 0 w 107"/>
                                <a:gd name="T11" fmla="*/ 38 h 64"/>
                                <a:gd name="T12" fmla="*/ 63 w 107"/>
                                <a:gd name="T13" fmla="*/ 0 h 64"/>
                              </a:gdLst>
                              <a:ahLst/>
                              <a:cxnLst>
                                <a:cxn ang="0">
                                  <a:pos x="T0" y="T1"/>
                                </a:cxn>
                                <a:cxn ang="0">
                                  <a:pos x="T2" y="T3"/>
                                </a:cxn>
                                <a:cxn ang="0">
                                  <a:pos x="T4" y="T5"/>
                                </a:cxn>
                                <a:cxn ang="0">
                                  <a:pos x="T6" y="T7"/>
                                </a:cxn>
                                <a:cxn ang="0">
                                  <a:pos x="T8" y="T9"/>
                                </a:cxn>
                                <a:cxn ang="0">
                                  <a:pos x="T10" y="T11"/>
                                </a:cxn>
                                <a:cxn ang="0">
                                  <a:pos x="T12" y="T13"/>
                                </a:cxn>
                              </a:cxnLst>
                              <a:rect l="0" t="0" r="r" b="b"/>
                              <a:pathLst>
                                <a:path w="107" h="64">
                                  <a:moveTo>
                                    <a:pt x="63" y="0"/>
                                  </a:moveTo>
                                  <a:lnTo>
                                    <a:pt x="107" y="29"/>
                                  </a:lnTo>
                                  <a:lnTo>
                                    <a:pt x="70" y="52"/>
                                  </a:lnTo>
                                  <a:lnTo>
                                    <a:pt x="65" y="48"/>
                                  </a:lnTo>
                                  <a:lnTo>
                                    <a:pt x="40" y="64"/>
                                  </a:lnTo>
                                  <a:lnTo>
                                    <a:pt x="0" y="38"/>
                                  </a:lnTo>
                                  <a:lnTo>
                                    <a:pt x="6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4" name="Freeform 126"/>
                            <p:cNvSpPr/>
                            <p:nvPr/>
                          </p:nvSpPr>
                          <p:spPr bwMode="auto">
                            <a:xfrm>
                              <a:off x="2597" y="3105"/>
                              <a:ext cx="15" cy="8"/>
                            </a:xfrm>
                            <a:custGeom>
                              <a:avLst/>
                              <a:gdLst>
                                <a:gd name="T0" fmla="*/ 34 w 103"/>
                                <a:gd name="T1" fmla="*/ 0 h 65"/>
                                <a:gd name="T2" fmla="*/ 103 w 103"/>
                                <a:gd name="T3" fmla="*/ 43 h 65"/>
                                <a:gd name="T4" fmla="*/ 66 w 103"/>
                                <a:gd name="T5" fmla="*/ 65 h 65"/>
                                <a:gd name="T6" fmla="*/ 0 w 103"/>
                                <a:gd name="T7" fmla="*/ 21 h 65"/>
                                <a:gd name="T8" fmla="*/ 34 w 103"/>
                                <a:gd name="T9" fmla="*/ 0 h 65"/>
                              </a:gdLst>
                              <a:ahLst/>
                              <a:cxnLst>
                                <a:cxn ang="0">
                                  <a:pos x="T0" y="T1"/>
                                </a:cxn>
                                <a:cxn ang="0">
                                  <a:pos x="T2" y="T3"/>
                                </a:cxn>
                                <a:cxn ang="0">
                                  <a:pos x="T4" y="T5"/>
                                </a:cxn>
                                <a:cxn ang="0">
                                  <a:pos x="T6" y="T7"/>
                                </a:cxn>
                                <a:cxn ang="0">
                                  <a:pos x="T8" y="T9"/>
                                </a:cxn>
                              </a:cxnLst>
                              <a:rect l="0" t="0" r="r" b="b"/>
                              <a:pathLst>
                                <a:path w="103" h="65">
                                  <a:moveTo>
                                    <a:pt x="34" y="0"/>
                                  </a:moveTo>
                                  <a:lnTo>
                                    <a:pt x="103" y="43"/>
                                  </a:lnTo>
                                  <a:lnTo>
                                    <a:pt x="66" y="65"/>
                                  </a:lnTo>
                                  <a:lnTo>
                                    <a:pt x="0" y="21"/>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5" name="Freeform 127"/>
                            <p:cNvSpPr/>
                            <p:nvPr/>
                          </p:nvSpPr>
                          <p:spPr bwMode="auto">
                            <a:xfrm>
                              <a:off x="2551" y="3081"/>
                              <a:ext cx="13" cy="6"/>
                            </a:xfrm>
                            <a:custGeom>
                              <a:avLst/>
                              <a:gdLst>
                                <a:gd name="T0" fmla="*/ 34 w 86"/>
                                <a:gd name="T1" fmla="*/ 0 h 53"/>
                                <a:gd name="T2" fmla="*/ 86 w 86"/>
                                <a:gd name="T3" fmla="*/ 33 h 53"/>
                                <a:gd name="T4" fmla="*/ 49 w 86"/>
                                <a:gd name="T5" fmla="*/ 53 h 53"/>
                                <a:gd name="T6" fmla="*/ 0 w 86"/>
                                <a:gd name="T7" fmla="*/ 19 h 53"/>
                                <a:gd name="T8" fmla="*/ 34 w 86"/>
                                <a:gd name="T9" fmla="*/ 0 h 53"/>
                              </a:gdLst>
                              <a:ahLst/>
                              <a:cxnLst>
                                <a:cxn ang="0">
                                  <a:pos x="T0" y="T1"/>
                                </a:cxn>
                                <a:cxn ang="0">
                                  <a:pos x="T2" y="T3"/>
                                </a:cxn>
                                <a:cxn ang="0">
                                  <a:pos x="T4" y="T5"/>
                                </a:cxn>
                                <a:cxn ang="0">
                                  <a:pos x="T6" y="T7"/>
                                </a:cxn>
                                <a:cxn ang="0">
                                  <a:pos x="T8" y="T9"/>
                                </a:cxn>
                              </a:cxnLst>
                              <a:rect l="0" t="0" r="r" b="b"/>
                              <a:pathLst>
                                <a:path w="86" h="53">
                                  <a:moveTo>
                                    <a:pt x="34" y="0"/>
                                  </a:moveTo>
                                  <a:lnTo>
                                    <a:pt x="86" y="33"/>
                                  </a:lnTo>
                                  <a:lnTo>
                                    <a:pt x="49" y="53"/>
                                  </a:lnTo>
                                  <a:lnTo>
                                    <a:pt x="0" y="19"/>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6" name="Freeform 128"/>
                            <p:cNvSpPr/>
                            <p:nvPr/>
                          </p:nvSpPr>
                          <p:spPr bwMode="auto">
                            <a:xfrm>
                              <a:off x="2542" y="3076"/>
                              <a:ext cx="12" cy="6"/>
                            </a:xfrm>
                            <a:custGeom>
                              <a:avLst/>
                              <a:gdLst>
                                <a:gd name="T0" fmla="*/ 40 w 80"/>
                                <a:gd name="T1" fmla="*/ 0 h 46"/>
                                <a:gd name="T2" fmla="*/ 80 w 80"/>
                                <a:gd name="T3" fmla="*/ 28 h 46"/>
                                <a:gd name="T4" fmla="*/ 40 w 80"/>
                                <a:gd name="T5" fmla="*/ 46 h 46"/>
                                <a:gd name="T6" fmla="*/ 0 w 80"/>
                                <a:gd name="T7" fmla="*/ 18 h 46"/>
                                <a:gd name="T8" fmla="*/ 40 w 80"/>
                                <a:gd name="T9" fmla="*/ 0 h 46"/>
                              </a:gdLst>
                              <a:ahLst/>
                              <a:cxnLst>
                                <a:cxn ang="0">
                                  <a:pos x="T0" y="T1"/>
                                </a:cxn>
                                <a:cxn ang="0">
                                  <a:pos x="T2" y="T3"/>
                                </a:cxn>
                                <a:cxn ang="0">
                                  <a:pos x="T4" y="T5"/>
                                </a:cxn>
                                <a:cxn ang="0">
                                  <a:pos x="T6" y="T7"/>
                                </a:cxn>
                                <a:cxn ang="0">
                                  <a:pos x="T8" y="T9"/>
                                </a:cxn>
                              </a:cxnLst>
                              <a:rect l="0" t="0" r="r" b="b"/>
                              <a:pathLst>
                                <a:path w="80" h="46">
                                  <a:moveTo>
                                    <a:pt x="40" y="0"/>
                                  </a:moveTo>
                                  <a:lnTo>
                                    <a:pt x="80" y="28"/>
                                  </a:lnTo>
                                  <a:lnTo>
                                    <a:pt x="40" y="46"/>
                                  </a:lnTo>
                                  <a:lnTo>
                                    <a:pt x="0" y="18"/>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7" name="Freeform 129"/>
                            <p:cNvSpPr/>
                            <p:nvPr/>
                          </p:nvSpPr>
                          <p:spPr bwMode="auto">
                            <a:xfrm>
                              <a:off x="2536" y="3079"/>
                              <a:ext cx="10" cy="5"/>
                            </a:xfrm>
                            <a:custGeom>
                              <a:avLst/>
                              <a:gdLst>
                                <a:gd name="T0" fmla="*/ 37 w 72"/>
                                <a:gd name="T1" fmla="*/ 0 h 41"/>
                                <a:gd name="T2" fmla="*/ 72 w 72"/>
                                <a:gd name="T3" fmla="*/ 24 h 41"/>
                                <a:gd name="T4" fmla="*/ 36 w 72"/>
                                <a:gd name="T5" fmla="*/ 41 h 41"/>
                                <a:gd name="T6" fmla="*/ 0 w 72"/>
                                <a:gd name="T7" fmla="*/ 15 h 41"/>
                                <a:gd name="T8" fmla="*/ 37 w 72"/>
                                <a:gd name="T9" fmla="*/ 0 h 41"/>
                              </a:gdLst>
                              <a:ahLst/>
                              <a:cxnLst>
                                <a:cxn ang="0">
                                  <a:pos x="T0" y="T1"/>
                                </a:cxn>
                                <a:cxn ang="0">
                                  <a:pos x="T2" y="T3"/>
                                </a:cxn>
                                <a:cxn ang="0">
                                  <a:pos x="T4" y="T5"/>
                                </a:cxn>
                                <a:cxn ang="0">
                                  <a:pos x="T6" y="T7"/>
                                </a:cxn>
                                <a:cxn ang="0">
                                  <a:pos x="T8" y="T9"/>
                                </a:cxn>
                              </a:cxnLst>
                              <a:rect l="0" t="0" r="r" b="b"/>
                              <a:pathLst>
                                <a:path w="72" h="41">
                                  <a:moveTo>
                                    <a:pt x="37" y="0"/>
                                  </a:moveTo>
                                  <a:lnTo>
                                    <a:pt x="72" y="24"/>
                                  </a:lnTo>
                                  <a:lnTo>
                                    <a:pt x="36" y="41"/>
                                  </a:lnTo>
                                  <a:lnTo>
                                    <a:pt x="0" y="15"/>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8" name="Freeform 130"/>
                            <p:cNvSpPr/>
                            <p:nvPr/>
                          </p:nvSpPr>
                          <p:spPr bwMode="auto">
                            <a:xfrm>
                              <a:off x="2542" y="3082"/>
                              <a:ext cx="9" cy="5"/>
                            </a:xfrm>
                            <a:custGeom>
                              <a:avLst/>
                              <a:gdLst>
                                <a:gd name="T0" fmla="*/ 36 w 64"/>
                                <a:gd name="T1" fmla="*/ 0 h 40"/>
                                <a:gd name="T2" fmla="*/ 64 w 64"/>
                                <a:gd name="T3" fmla="*/ 20 h 40"/>
                                <a:gd name="T4" fmla="*/ 32 w 64"/>
                                <a:gd name="T5" fmla="*/ 40 h 40"/>
                                <a:gd name="T6" fmla="*/ 0 w 64"/>
                                <a:gd name="T7" fmla="*/ 16 h 40"/>
                                <a:gd name="T8" fmla="*/ 36 w 64"/>
                                <a:gd name="T9" fmla="*/ 0 h 40"/>
                              </a:gdLst>
                              <a:ahLst/>
                              <a:cxnLst>
                                <a:cxn ang="0">
                                  <a:pos x="T0" y="T1"/>
                                </a:cxn>
                                <a:cxn ang="0">
                                  <a:pos x="T2" y="T3"/>
                                </a:cxn>
                                <a:cxn ang="0">
                                  <a:pos x="T4" y="T5"/>
                                </a:cxn>
                                <a:cxn ang="0">
                                  <a:pos x="T6" y="T7"/>
                                </a:cxn>
                                <a:cxn ang="0">
                                  <a:pos x="T8" y="T9"/>
                                </a:cxn>
                              </a:cxnLst>
                              <a:rect l="0" t="0" r="r" b="b"/>
                              <a:pathLst>
                                <a:path w="64" h="40">
                                  <a:moveTo>
                                    <a:pt x="36" y="0"/>
                                  </a:moveTo>
                                  <a:lnTo>
                                    <a:pt x="64" y="20"/>
                                  </a:lnTo>
                                  <a:lnTo>
                                    <a:pt x="32" y="40"/>
                                  </a:lnTo>
                                  <a:lnTo>
                                    <a:pt x="0" y="16"/>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9" name="Freeform 131"/>
                            <p:cNvSpPr/>
                            <p:nvPr/>
                          </p:nvSpPr>
                          <p:spPr bwMode="auto">
                            <a:xfrm>
                              <a:off x="2533" y="3077"/>
                              <a:ext cx="8" cy="4"/>
                            </a:xfrm>
                            <a:custGeom>
                              <a:avLst/>
                              <a:gdLst>
                                <a:gd name="T0" fmla="*/ 38 w 59"/>
                                <a:gd name="T1" fmla="*/ 0 h 34"/>
                                <a:gd name="T2" fmla="*/ 59 w 59"/>
                                <a:gd name="T3" fmla="*/ 16 h 34"/>
                                <a:gd name="T4" fmla="*/ 22 w 59"/>
                                <a:gd name="T5" fmla="*/ 34 h 34"/>
                                <a:gd name="T6" fmla="*/ 0 w 59"/>
                                <a:gd name="T7" fmla="*/ 19 h 34"/>
                                <a:gd name="T8" fmla="*/ 38 w 59"/>
                                <a:gd name="T9" fmla="*/ 0 h 34"/>
                              </a:gdLst>
                              <a:ahLst/>
                              <a:cxnLst>
                                <a:cxn ang="0">
                                  <a:pos x="T0" y="T1"/>
                                </a:cxn>
                                <a:cxn ang="0">
                                  <a:pos x="T2" y="T3"/>
                                </a:cxn>
                                <a:cxn ang="0">
                                  <a:pos x="T4" y="T5"/>
                                </a:cxn>
                                <a:cxn ang="0">
                                  <a:pos x="T6" y="T7"/>
                                </a:cxn>
                                <a:cxn ang="0">
                                  <a:pos x="T8" y="T9"/>
                                </a:cxn>
                              </a:cxnLst>
                              <a:rect l="0" t="0" r="r" b="b"/>
                              <a:pathLst>
                                <a:path w="59" h="34">
                                  <a:moveTo>
                                    <a:pt x="38" y="0"/>
                                  </a:moveTo>
                                  <a:lnTo>
                                    <a:pt x="59" y="16"/>
                                  </a:lnTo>
                                  <a:lnTo>
                                    <a:pt x="22" y="34"/>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0" name="Freeform 132"/>
                            <p:cNvSpPr/>
                            <p:nvPr/>
                          </p:nvSpPr>
                          <p:spPr bwMode="auto">
                            <a:xfrm>
                              <a:off x="2603" y="3102"/>
                              <a:ext cx="15" cy="8"/>
                            </a:xfrm>
                            <a:custGeom>
                              <a:avLst/>
                              <a:gdLst>
                                <a:gd name="T0" fmla="*/ 34 w 102"/>
                                <a:gd name="T1" fmla="*/ 0 h 65"/>
                                <a:gd name="T2" fmla="*/ 102 w 102"/>
                                <a:gd name="T3" fmla="*/ 45 h 65"/>
                                <a:gd name="T4" fmla="*/ 65 w 102"/>
                                <a:gd name="T5" fmla="*/ 65 h 65"/>
                                <a:gd name="T6" fmla="*/ 0 w 102"/>
                                <a:gd name="T7" fmla="*/ 22 h 65"/>
                                <a:gd name="T8" fmla="*/ 34 w 102"/>
                                <a:gd name="T9" fmla="*/ 0 h 65"/>
                              </a:gdLst>
                              <a:ahLst/>
                              <a:cxnLst>
                                <a:cxn ang="0">
                                  <a:pos x="T0" y="T1"/>
                                </a:cxn>
                                <a:cxn ang="0">
                                  <a:pos x="T2" y="T3"/>
                                </a:cxn>
                                <a:cxn ang="0">
                                  <a:pos x="T4" y="T5"/>
                                </a:cxn>
                                <a:cxn ang="0">
                                  <a:pos x="T6" y="T7"/>
                                </a:cxn>
                                <a:cxn ang="0">
                                  <a:pos x="T8" y="T9"/>
                                </a:cxn>
                              </a:cxnLst>
                              <a:rect l="0" t="0" r="r" b="b"/>
                              <a:pathLst>
                                <a:path w="102" h="65">
                                  <a:moveTo>
                                    <a:pt x="34" y="0"/>
                                  </a:moveTo>
                                  <a:lnTo>
                                    <a:pt x="102" y="45"/>
                                  </a:lnTo>
                                  <a:lnTo>
                                    <a:pt x="65" y="65"/>
                                  </a:lnTo>
                                  <a:lnTo>
                                    <a:pt x="0" y="22"/>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1" name="Freeform 133"/>
                            <p:cNvSpPr/>
                            <p:nvPr/>
                          </p:nvSpPr>
                          <p:spPr bwMode="auto">
                            <a:xfrm>
                              <a:off x="2609" y="3099"/>
                              <a:ext cx="15" cy="8"/>
                            </a:xfrm>
                            <a:custGeom>
                              <a:avLst/>
                              <a:gdLst>
                                <a:gd name="T0" fmla="*/ 34 w 103"/>
                                <a:gd name="T1" fmla="*/ 0 h 62"/>
                                <a:gd name="T2" fmla="*/ 103 w 103"/>
                                <a:gd name="T3" fmla="*/ 44 h 62"/>
                                <a:gd name="T4" fmla="*/ 66 w 103"/>
                                <a:gd name="T5" fmla="*/ 62 h 62"/>
                                <a:gd name="T6" fmla="*/ 0 w 103"/>
                                <a:gd name="T7" fmla="*/ 22 h 62"/>
                                <a:gd name="T8" fmla="*/ 34 w 103"/>
                                <a:gd name="T9" fmla="*/ 0 h 62"/>
                              </a:gdLst>
                              <a:ahLst/>
                              <a:cxnLst>
                                <a:cxn ang="0">
                                  <a:pos x="T0" y="T1"/>
                                </a:cxn>
                                <a:cxn ang="0">
                                  <a:pos x="T2" y="T3"/>
                                </a:cxn>
                                <a:cxn ang="0">
                                  <a:pos x="T4" y="T5"/>
                                </a:cxn>
                                <a:cxn ang="0">
                                  <a:pos x="T6" y="T7"/>
                                </a:cxn>
                                <a:cxn ang="0">
                                  <a:pos x="T8" y="T9"/>
                                </a:cxn>
                              </a:cxnLst>
                              <a:rect l="0" t="0" r="r" b="b"/>
                              <a:pathLst>
                                <a:path w="103" h="62">
                                  <a:moveTo>
                                    <a:pt x="34" y="0"/>
                                  </a:moveTo>
                                  <a:lnTo>
                                    <a:pt x="103" y="44"/>
                                  </a:lnTo>
                                  <a:lnTo>
                                    <a:pt x="66" y="62"/>
                                  </a:lnTo>
                                  <a:lnTo>
                                    <a:pt x="0" y="22"/>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2" name="Freeform 134"/>
                            <p:cNvSpPr/>
                            <p:nvPr/>
                          </p:nvSpPr>
                          <p:spPr bwMode="auto">
                            <a:xfrm>
                              <a:off x="2615" y="3096"/>
                              <a:ext cx="15" cy="8"/>
                            </a:xfrm>
                            <a:custGeom>
                              <a:avLst/>
                              <a:gdLst>
                                <a:gd name="T0" fmla="*/ 32 w 101"/>
                                <a:gd name="T1" fmla="*/ 0 h 62"/>
                                <a:gd name="T2" fmla="*/ 101 w 101"/>
                                <a:gd name="T3" fmla="*/ 41 h 62"/>
                                <a:gd name="T4" fmla="*/ 64 w 101"/>
                                <a:gd name="T5" fmla="*/ 62 h 62"/>
                                <a:gd name="T6" fmla="*/ 0 w 101"/>
                                <a:gd name="T7" fmla="*/ 22 h 62"/>
                                <a:gd name="T8" fmla="*/ 32 w 101"/>
                                <a:gd name="T9" fmla="*/ 0 h 62"/>
                              </a:gdLst>
                              <a:ahLst/>
                              <a:cxnLst>
                                <a:cxn ang="0">
                                  <a:pos x="T0" y="T1"/>
                                </a:cxn>
                                <a:cxn ang="0">
                                  <a:pos x="T2" y="T3"/>
                                </a:cxn>
                                <a:cxn ang="0">
                                  <a:pos x="T4" y="T5"/>
                                </a:cxn>
                                <a:cxn ang="0">
                                  <a:pos x="T6" y="T7"/>
                                </a:cxn>
                                <a:cxn ang="0">
                                  <a:pos x="T8" y="T9"/>
                                </a:cxn>
                              </a:cxnLst>
                              <a:rect l="0" t="0" r="r" b="b"/>
                              <a:pathLst>
                                <a:path w="101" h="62">
                                  <a:moveTo>
                                    <a:pt x="32" y="0"/>
                                  </a:moveTo>
                                  <a:lnTo>
                                    <a:pt x="101" y="41"/>
                                  </a:lnTo>
                                  <a:lnTo>
                                    <a:pt x="64" y="62"/>
                                  </a:lnTo>
                                  <a:lnTo>
                                    <a:pt x="0" y="22"/>
                                  </a:lnTo>
                                  <a:lnTo>
                                    <a:pt x="32"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3" name="Freeform 135"/>
                            <p:cNvSpPr/>
                            <p:nvPr/>
                          </p:nvSpPr>
                          <p:spPr bwMode="auto">
                            <a:xfrm>
                              <a:off x="2598" y="3100"/>
                              <a:ext cx="10" cy="5"/>
                            </a:xfrm>
                            <a:custGeom>
                              <a:avLst/>
                              <a:gdLst>
                                <a:gd name="T0" fmla="*/ 38 w 73"/>
                                <a:gd name="T1" fmla="*/ 0 h 46"/>
                                <a:gd name="T2" fmla="*/ 73 w 73"/>
                                <a:gd name="T3" fmla="*/ 23 h 46"/>
                                <a:gd name="T4" fmla="*/ 36 w 73"/>
                                <a:gd name="T5" fmla="*/ 46 h 46"/>
                                <a:gd name="T6" fmla="*/ 0 w 73"/>
                                <a:gd name="T7" fmla="*/ 23 h 46"/>
                                <a:gd name="T8" fmla="*/ 38 w 73"/>
                                <a:gd name="T9" fmla="*/ 0 h 46"/>
                              </a:gdLst>
                              <a:ahLst/>
                              <a:cxnLst>
                                <a:cxn ang="0">
                                  <a:pos x="T0" y="T1"/>
                                </a:cxn>
                                <a:cxn ang="0">
                                  <a:pos x="T2" y="T3"/>
                                </a:cxn>
                                <a:cxn ang="0">
                                  <a:pos x="T4" y="T5"/>
                                </a:cxn>
                                <a:cxn ang="0">
                                  <a:pos x="T6" y="T7"/>
                                </a:cxn>
                                <a:cxn ang="0">
                                  <a:pos x="T8" y="T9"/>
                                </a:cxn>
                              </a:cxnLst>
                              <a:rect l="0" t="0" r="r" b="b"/>
                              <a:pathLst>
                                <a:path w="73" h="46">
                                  <a:moveTo>
                                    <a:pt x="38" y="0"/>
                                  </a:moveTo>
                                  <a:lnTo>
                                    <a:pt x="73" y="23"/>
                                  </a:lnTo>
                                  <a:lnTo>
                                    <a:pt x="36" y="46"/>
                                  </a:lnTo>
                                  <a:lnTo>
                                    <a:pt x="0" y="23"/>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4" name="Freeform 136"/>
                            <p:cNvSpPr/>
                            <p:nvPr/>
                          </p:nvSpPr>
                          <p:spPr bwMode="auto">
                            <a:xfrm>
                              <a:off x="2604" y="3097"/>
                              <a:ext cx="10" cy="5"/>
                            </a:xfrm>
                            <a:custGeom>
                              <a:avLst/>
                              <a:gdLst>
                                <a:gd name="T0" fmla="*/ 35 w 69"/>
                                <a:gd name="T1" fmla="*/ 0 h 43"/>
                                <a:gd name="T2" fmla="*/ 69 w 69"/>
                                <a:gd name="T3" fmla="*/ 22 h 43"/>
                                <a:gd name="T4" fmla="*/ 31 w 69"/>
                                <a:gd name="T5" fmla="*/ 43 h 43"/>
                                <a:gd name="T6" fmla="*/ 0 w 69"/>
                                <a:gd name="T7" fmla="*/ 22 h 43"/>
                                <a:gd name="T8" fmla="*/ 35 w 69"/>
                                <a:gd name="T9" fmla="*/ 0 h 43"/>
                              </a:gdLst>
                              <a:ahLst/>
                              <a:cxnLst>
                                <a:cxn ang="0">
                                  <a:pos x="T0" y="T1"/>
                                </a:cxn>
                                <a:cxn ang="0">
                                  <a:pos x="T2" y="T3"/>
                                </a:cxn>
                                <a:cxn ang="0">
                                  <a:pos x="T4" y="T5"/>
                                </a:cxn>
                                <a:cxn ang="0">
                                  <a:pos x="T6" y="T7"/>
                                </a:cxn>
                                <a:cxn ang="0">
                                  <a:pos x="T8" y="T9"/>
                                </a:cxn>
                              </a:cxnLst>
                              <a:rect l="0" t="0" r="r" b="b"/>
                              <a:pathLst>
                                <a:path w="69" h="43">
                                  <a:moveTo>
                                    <a:pt x="35" y="0"/>
                                  </a:moveTo>
                                  <a:lnTo>
                                    <a:pt x="69" y="22"/>
                                  </a:lnTo>
                                  <a:lnTo>
                                    <a:pt x="31" y="43"/>
                                  </a:lnTo>
                                  <a:lnTo>
                                    <a:pt x="0" y="22"/>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5" name="Freeform 137"/>
                            <p:cNvSpPr/>
                            <p:nvPr/>
                          </p:nvSpPr>
                          <p:spPr bwMode="auto">
                            <a:xfrm>
                              <a:off x="2610" y="3094"/>
                              <a:ext cx="10" cy="5"/>
                            </a:xfrm>
                            <a:custGeom>
                              <a:avLst/>
                              <a:gdLst>
                                <a:gd name="T0" fmla="*/ 36 w 68"/>
                                <a:gd name="T1" fmla="*/ 0 h 43"/>
                                <a:gd name="T2" fmla="*/ 68 w 68"/>
                                <a:gd name="T3" fmla="*/ 20 h 43"/>
                                <a:gd name="T4" fmla="*/ 34 w 68"/>
                                <a:gd name="T5" fmla="*/ 43 h 43"/>
                                <a:gd name="T6" fmla="*/ 0 w 68"/>
                                <a:gd name="T7" fmla="*/ 21 h 43"/>
                                <a:gd name="T8" fmla="*/ 36 w 68"/>
                                <a:gd name="T9" fmla="*/ 0 h 43"/>
                              </a:gdLst>
                              <a:ahLst/>
                              <a:cxnLst>
                                <a:cxn ang="0">
                                  <a:pos x="T0" y="T1"/>
                                </a:cxn>
                                <a:cxn ang="0">
                                  <a:pos x="T2" y="T3"/>
                                </a:cxn>
                                <a:cxn ang="0">
                                  <a:pos x="T4" y="T5"/>
                                </a:cxn>
                                <a:cxn ang="0">
                                  <a:pos x="T6" y="T7"/>
                                </a:cxn>
                                <a:cxn ang="0">
                                  <a:pos x="T8" y="T9"/>
                                </a:cxn>
                              </a:cxnLst>
                              <a:rect l="0" t="0" r="r" b="b"/>
                              <a:pathLst>
                                <a:path w="68" h="43">
                                  <a:moveTo>
                                    <a:pt x="36" y="0"/>
                                  </a:moveTo>
                                  <a:lnTo>
                                    <a:pt x="68" y="20"/>
                                  </a:lnTo>
                                  <a:lnTo>
                                    <a:pt x="34" y="43"/>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6" name="Freeform 138"/>
                            <p:cNvSpPr/>
                            <p:nvPr/>
                          </p:nvSpPr>
                          <p:spPr bwMode="auto">
                            <a:xfrm>
                              <a:off x="2616" y="3091"/>
                              <a:ext cx="10" cy="5"/>
                            </a:xfrm>
                            <a:custGeom>
                              <a:avLst/>
                              <a:gdLst>
                                <a:gd name="T0" fmla="*/ 35 w 67"/>
                                <a:gd name="T1" fmla="*/ 0 h 42"/>
                                <a:gd name="T2" fmla="*/ 67 w 67"/>
                                <a:gd name="T3" fmla="*/ 19 h 42"/>
                                <a:gd name="T4" fmla="*/ 31 w 67"/>
                                <a:gd name="T5" fmla="*/ 42 h 42"/>
                                <a:gd name="T6" fmla="*/ 0 w 67"/>
                                <a:gd name="T7" fmla="*/ 21 h 42"/>
                                <a:gd name="T8" fmla="*/ 35 w 67"/>
                                <a:gd name="T9" fmla="*/ 0 h 42"/>
                              </a:gdLst>
                              <a:ahLst/>
                              <a:cxnLst>
                                <a:cxn ang="0">
                                  <a:pos x="T0" y="T1"/>
                                </a:cxn>
                                <a:cxn ang="0">
                                  <a:pos x="T2" y="T3"/>
                                </a:cxn>
                                <a:cxn ang="0">
                                  <a:pos x="T4" y="T5"/>
                                </a:cxn>
                                <a:cxn ang="0">
                                  <a:pos x="T6" y="T7"/>
                                </a:cxn>
                                <a:cxn ang="0">
                                  <a:pos x="T8" y="T9"/>
                                </a:cxn>
                              </a:cxnLst>
                              <a:rect l="0" t="0" r="r" b="b"/>
                              <a:pathLst>
                                <a:path w="67" h="42">
                                  <a:moveTo>
                                    <a:pt x="35" y="0"/>
                                  </a:moveTo>
                                  <a:lnTo>
                                    <a:pt x="67" y="19"/>
                                  </a:lnTo>
                                  <a:lnTo>
                                    <a:pt x="31" y="42"/>
                                  </a:lnTo>
                                  <a:lnTo>
                                    <a:pt x="0" y="21"/>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7" name="Freeform 139"/>
                            <p:cNvSpPr/>
                            <p:nvPr/>
                          </p:nvSpPr>
                          <p:spPr bwMode="auto">
                            <a:xfrm>
                              <a:off x="2622" y="3089"/>
                              <a:ext cx="8" cy="4"/>
                            </a:xfrm>
                            <a:custGeom>
                              <a:avLst/>
                              <a:gdLst>
                                <a:gd name="T0" fmla="*/ 28 w 59"/>
                                <a:gd name="T1" fmla="*/ 0 h 36"/>
                                <a:gd name="T2" fmla="*/ 59 w 59"/>
                                <a:gd name="T3" fmla="*/ 19 h 36"/>
                                <a:gd name="T4" fmla="*/ 32 w 59"/>
                                <a:gd name="T5" fmla="*/ 36 h 36"/>
                                <a:gd name="T6" fmla="*/ 0 w 59"/>
                                <a:gd name="T7" fmla="*/ 18 h 36"/>
                                <a:gd name="T8" fmla="*/ 28 w 59"/>
                                <a:gd name="T9" fmla="*/ 0 h 36"/>
                              </a:gdLst>
                              <a:ahLst/>
                              <a:cxnLst>
                                <a:cxn ang="0">
                                  <a:pos x="T0" y="T1"/>
                                </a:cxn>
                                <a:cxn ang="0">
                                  <a:pos x="T2" y="T3"/>
                                </a:cxn>
                                <a:cxn ang="0">
                                  <a:pos x="T4" y="T5"/>
                                </a:cxn>
                                <a:cxn ang="0">
                                  <a:pos x="T6" y="T7"/>
                                </a:cxn>
                                <a:cxn ang="0">
                                  <a:pos x="T8" y="T9"/>
                                </a:cxn>
                              </a:cxnLst>
                              <a:rect l="0" t="0" r="r" b="b"/>
                              <a:pathLst>
                                <a:path w="59" h="36">
                                  <a:moveTo>
                                    <a:pt x="28" y="0"/>
                                  </a:moveTo>
                                  <a:lnTo>
                                    <a:pt x="59" y="19"/>
                                  </a:lnTo>
                                  <a:lnTo>
                                    <a:pt x="32" y="36"/>
                                  </a:lnTo>
                                  <a:lnTo>
                                    <a:pt x="0" y="18"/>
                                  </a:lnTo>
                                  <a:lnTo>
                                    <a:pt x="2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8" name="Freeform 140"/>
                            <p:cNvSpPr/>
                            <p:nvPr/>
                          </p:nvSpPr>
                          <p:spPr bwMode="auto">
                            <a:xfrm>
                              <a:off x="2627" y="3091"/>
                              <a:ext cx="8" cy="5"/>
                            </a:xfrm>
                            <a:custGeom>
                              <a:avLst/>
                              <a:gdLst>
                                <a:gd name="T0" fmla="*/ 28 w 61"/>
                                <a:gd name="T1" fmla="*/ 0 h 39"/>
                                <a:gd name="T2" fmla="*/ 61 w 61"/>
                                <a:gd name="T3" fmla="*/ 20 h 39"/>
                                <a:gd name="T4" fmla="*/ 31 w 61"/>
                                <a:gd name="T5" fmla="*/ 39 h 39"/>
                                <a:gd name="T6" fmla="*/ 0 w 61"/>
                                <a:gd name="T7" fmla="*/ 19 h 39"/>
                                <a:gd name="T8" fmla="*/ 28 w 61"/>
                                <a:gd name="T9" fmla="*/ 0 h 39"/>
                              </a:gdLst>
                              <a:ahLst/>
                              <a:cxnLst>
                                <a:cxn ang="0">
                                  <a:pos x="T0" y="T1"/>
                                </a:cxn>
                                <a:cxn ang="0">
                                  <a:pos x="T2" y="T3"/>
                                </a:cxn>
                                <a:cxn ang="0">
                                  <a:pos x="T4" y="T5"/>
                                </a:cxn>
                                <a:cxn ang="0">
                                  <a:pos x="T6" y="T7"/>
                                </a:cxn>
                                <a:cxn ang="0">
                                  <a:pos x="T8" y="T9"/>
                                </a:cxn>
                              </a:cxnLst>
                              <a:rect l="0" t="0" r="r" b="b"/>
                              <a:pathLst>
                                <a:path w="61" h="39">
                                  <a:moveTo>
                                    <a:pt x="28" y="0"/>
                                  </a:moveTo>
                                  <a:lnTo>
                                    <a:pt x="61" y="20"/>
                                  </a:lnTo>
                                  <a:lnTo>
                                    <a:pt x="31" y="39"/>
                                  </a:lnTo>
                                  <a:lnTo>
                                    <a:pt x="0" y="19"/>
                                  </a:lnTo>
                                  <a:lnTo>
                                    <a:pt x="2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9" name="Freeform 141"/>
                            <p:cNvSpPr/>
                            <p:nvPr/>
                          </p:nvSpPr>
                          <p:spPr bwMode="auto">
                            <a:xfrm>
                              <a:off x="2621" y="3093"/>
                              <a:ext cx="10" cy="5"/>
                            </a:xfrm>
                            <a:custGeom>
                              <a:avLst/>
                              <a:gdLst>
                                <a:gd name="T0" fmla="*/ 36 w 68"/>
                                <a:gd name="T1" fmla="*/ 0 h 42"/>
                                <a:gd name="T2" fmla="*/ 68 w 68"/>
                                <a:gd name="T3" fmla="*/ 21 h 42"/>
                                <a:gd name="T4" fmla="*/ 32 w 68"/>
                                <a:gd name="T5" fmla="*/ 42 h 42"/>
                                <a:gd name="T6" fmla="*/ 0 w 68"/>
                                <a:gd name="T7" fmla="*/ 24 h 42"/>
                                <a:gd name="T8" fmla="*/ 36 w 68"/>
                                <a:gd name="T9" fmla="*/ 0 h 42"/>
                              </a:gdLst>
                              <a:ahLst/>
                              <a:cxnLst>
                                <a:cxn ang="0">
                                  <a:pos x="T0" y="T1"/>
                                </a:cxn>
                                <a:cxn ang="0">
                                  <a:pos x="T2" y="T3"/>
                                </a:cxn>
                                <a:cxn ang="0">
                                  <a:pos x="T4" y="T5"/>
                                </a:cxn>
                                <a:cxn ang="0">
                                  <a:pos x="T6" y="T7"/>
                                </a:cxn>
                                <a:cxn ang="0">
                                  <a:pos x="T8" y="T9"/>
                                </a:cxn>
                              </a:cxnLst>
                              <a:rect l="0" t="0" r="r" b="b"/>
                              <a:pathLst>
                                <a:path w="68" h="42">
                                  <a:moveTo>
                                    <a:pt x="36" y="0"/>
                                  </a:moveTo>
                                  <a:lnTo>
                                    <a:pt x="68" y="21"/>
                                  </a:lnTo>
                                  <a:lnTo>
                                    <a:pt x="32" y="42"/>
                                  </a:lnTo>
                                  <a:lnTo>
                                    <a:pt x="0" y="24"/>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0" name="Freeform 142"/>
                            <p:cNvSpPr/>
                            <p:nvPr/>
                          </p:nvSpPr>
                          <p:spPr bwMode="auto">
                            <a:xfrm>
                              <a:off x="2632" y="3093"/>
                              <a:ext cx="8" cy="5"/>
                            </a:xfrm>
                            <a:custGeom>
                              <a:avLst/>
                              <a:gdLst>
                                <a:gd name="T0" fmla="*/ 29 w 61"/>
                                <a:gd name="T1" fmla="*/ 0 h 39"/>
                                <a:gd name="T2" fmla="*/ 61 w 61"/>
                                <a:gd name="T3" fmla="*/ 20 h 39"/>
                                <a:gd name="T4" fmla="*/ 32 w 61"/>
                                <a:gd name="T5" fmla="*/ 39 h 39"/>
                                <a:gd name="T6" fmla="*/ 0 w 61"/>
                                <a:gd name="T7" fmla="*/ 20 h 39"/>
                                <a:gd name="T8" fmla="*/ 29 w 61"/>
                                <a:gd name="T9" fmla="*/ 0 h 39"/>
                              </a:gdLst>
                              <a:ahLst/>
                              <a:cxnLst>
                                <a:cxn ang="0">
                                  <a:pos x="T0" y="T1"/>
                                </a:cxn>
                                <a:cxn ang="0">
                                  <a:pos x="T2" y="T3"/>
                                </a:cxn>
                                <a:cxn ang="0">
                                  <a:pos x="T4" y="T5"/>
                                </a:cxn>
                                <a:cxn ang="0">
                                  <a:pos x="T6" y="T7"/>
                                </a:cxn>
                                <a:cxn ang="0">
                                  <a:pos x="T8" y="T9"/>
                                </a:cxn>
                              </a:cxnLst>
                              <a:rect l="0" t="0" r="r" b="b"/>
                              <a:pathLst>
                                <a:path w="61" h="39">
                                  <a:moveTo>
                                    <a:pt x="29" y="0"/>
                                  </a:moveTo>
                                  <a:lnTo>
                                    <a:pt x="61" y="20"/>
                                  </a:lnTo>
                                  <a:lnTo>
                                    <a:pt x="32" y="39"/>
                                  </a:lnTo>
                                  <a:lnTo>
                                    <a:pt x="0" y="20"/>
                                  </a:lnTo>
                                  <a:lnTo>
                                    <a:pt x="2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1" name="Freeform 143"/>
                            <p:cNvSpPr/>
                            <p:nvPr/>
                          </p:nvSpPr>
                          <p:spPr bwMode="auto">
                            <a:xfrm>
                              <a:off x="2626" y="3095"/>
                              <a:ext cx="10" cy="6"/>
                            </a:xfrm>
                            <a:custGeom>
                              <a:avLst/>
                              <a:gdLst>
                                <a:gd name="T0" fmla="*/ 36 w 69"/>
                                <a:gd name="T1" fmla="*/ 0 h 42"/>
                                <a:gd name="T2" fmla="*/ 69 w 69"/>
                                <a:gd name="T3" fmla="*/ 20 h 42"/>
                                <a:gd name="T4" fmla="*/ 32 w 69"/>
                                <a:gd name="T5" fmla="*/ 42 h 42"/>
                                <a:gd name="T6" fmla="*/ 0 w 69"/>
                                <a:gd name="T7" fmla="*/ 23 h 42"/>
                                <a:gd name="T8" fmla="*/ 36 w 69"/>
                                <a:gd name="T9" fmla="*/ 0 h 42"/>
                              </a:gdLst>
                              <a:ahLst/>
                              <a:cxnLst>
                                <a:cxn ang="0">
                                  <a:pos x="T0" y="T1"/>
                                </a:cxn>
                                <a:cxn ang="0">
                                  <a:pos x="T2" y="T3"/>
                                </a:cxn>
                                <a:cxn ang="0">
                                  <a:pos x="T4" y="T5"/>
                                </a:cxn>
                                <a:cxn ang="0">
                                  <a:pos x="T6" y="T7"/>
                                </a:cxn>
                                <a:cxn ang="0">
                                  <a:pos x="T8" y="T9"/>
                                </a:cxn>
                              </a:cxnLst>
                              <a:rect l="0" t="0" r="r" b="b"/>
                              <a:pathLst>
                                <a:path w="69" h="42">
                                  <a:moveTo>
                                    <a:pt x="36" y="0"/>
                                  </a:moveTo>
                                  <a:lnTo>
                                    <a:pt x="69" y="20"/>
                                  </a:lnTo>
                                  <a:lnTo>
                                    <a:pt x="32" y="42"/>
                                  </a:lnTo>
                                  <a:lnTo>
                                    <a:pt x="0" y="23"/>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2" name="Freeform 144"/>
                            <p:cNvSpPr/>
                            <p:nvPr/>
                          </p:nvSpPr>
                          <p:spPr bwMode="auto">
                            <a:xfrm>
                              <a:off x="2599" y="3094"/>
                              <a:ext cx="10" cy="6"/>
                            </a:xfrm>
                            <a:custGeom>
                              <a:avLst/>
                              <a:gdLst>
                                <a:gd name="T0" fmla="*/ 35 w 68"/>
                                <a:gd name="T1" fmla="*/ 0 h 42"/>
                                <a:gd name="T2" fmla="*/ 68 w 68"/>
                                <a:gd name="T3" fmla="*/ 21 h 42"/>
                                <a:gd name="T4" fmla="*/ 33 w 68"/>
                                <a:gd name="T5" fmla="*/ 42 h 42"/>
                                <a:gd name="T6" fmla="*/ 0 w 68"/>
                                <a:gd name="T7" fmla="*/ 19 h 42"/>
                                <a:gd name="T8" fmla="*/ 35 w 68"/>
                                <a:gd name="T9" fmla="*/ 0 h 42"/>
                              </a:gdLst>
                              <a:ahLst/>
                              <a:cxnLst>
                                <a:cxn ang="0">
                                  <a:pos x="T0" y="T1"/>
                                </a:cxn>
                                <a:cxn ang="0">
                                  <a:pos x="T2" y="T3"/>
                                </a:cxn>
                                <a:cxn ang="0">
                                  <a:pos x="T4" y="T5"/>
                                </a:cxn>
                                <a:cxn ang="0">
                                  <a:pos x="T6" y="T7"/>
                                </a:cxn>
                                <a:cxn ang="0">
                                  <a:pos x="T8" y="T9"/>
                                </a:cxn>
                              </a:cxnLst>
                              <a:rect l="0" t="0" r="r" b="b"/>
                              <a:pathLst>
                                <a:path w="68" h="42">
                                  <a:moveTo>
                                    <a:pt x="35" y="0"/>
                                  </a:moveTo>
                                  <a:lnTo>
                                    <a:pt x="68" y="21"/>
                                  </a:lnTo>
                                  <a:lnTo>
                                    <a:pt x="33" y="42"/>
                                  </a:lnTo>
                                  <a:lnTo>
                                    <a:pt x="0" y="19"/>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3" name="Freeform 145"/>
                            <p:cNvSpPr/>
                            <p:nvPr/>
                          </p:nvSpPr>
                          <p:spPr bwMode="auto">
                            <a:xfrm>
                              <a:off x="2605" y="3091"/>
                              <a:ext cx="10" cy="6"/>
                            </a:xfrm>
                            <a:custGeom>
                              <a:avLst/>
                              <a:gdLst>
                                <a:gd name="T0" fmla="*/ 37 w 69"/>
                                <a:gd name="T1" fmla="*/ 0 h 42"/>
                                <a:gd name="T2" fmla="*/ 69 w 69"/>
                                <a:gd name="T3" fmla="*/ 21 h 42"/>
                                <a:gd name="T4" fmla="*/ 33 w 69"/>
                                <a:gd name="T5" fmla="*/ 42 h 42"/>
                                <a:gd name="T6" fmla="*/ 0 w 69"/>
                                <a:gd name="T7" fmla="*/ 21 h 42"/>
                                <a:gd name="T8" fmla="*/ 37 w 69"/>
                                <a:gd name="T9" fmla="*/ 0 h 42"/>
                              </a:gdLst>
                              <a:ahLst/>
                              <a:cxnLst>
                                <a:cxn ang="0">
                                  <a:pos x="T0" y="T1"/>
                                </a:cxn>
                                <a:cxn ang="0">
                                  <a:pos x="T2" y="T3"/>
                                </a:cxn>
                                <a:cxn ang="0">
                                  <a:pos x="T4" y="T5"/>
                                </a:cxn>
                                <a:cxn ang="0">
                                  <a:pos x="T6" y="T7"/>
                                </a:cxn>
                                <a:cxn ang="0">
                                  <a:pos x="T8" y="T9"/>
                                </a:cxn>
                              </a:cxnLst>
                              <a:rect l="0" t="0" r="r" b="b"/>
                              <a:pathLst>
                                <a:path w="69" h="42">
                                  <a:moveTo>
                                    <a:pt x="37" y="0"/>
                                  </a:moveTo>
                                  <a:lnTo>
                                    <a:pt x="69" y="21"/>
                                  </a:lnTo>
                                  <a:lnTo>
                                    <a:pt x="33" y="42"/>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4" name="Freeform 146"/>
                            <p:cNvSpPr/>
                            <p:nvPr/>
                          </p:nvSpPr>
                          <p:spPr bwMode="auto">
                            <a:xfrm>
                              <a:off x="2612" y="3088"/>
                              <a:ext cx="9" cy="6"/>
                            </a:xfrm>
                            <a:custGeom>
                              <a:avLst/>
                              <a:gdLst>
                                <a:gd name="T0" fmla="*/ 35 w 66"/>
                                <a:gd name="T1" fmla="*/ 0 h 42"/>
                                <a:gd name="T2" fmla="*/ 66 w 66"/>
                                <a:gd name="T3" fmla="*/ 21 h 42"/>
                                <a:gd name="T4" fmla="*/ 30 w 66"/>
                                <a:gd name="T5" fmla="*/ 42 h 42"/>
                                <a:gd name="T6" fmla="*/ 0 w 66"/>
                                <a:gd name="T7" fmla="*/ 22 h 42"/>
                                <a:gd name="T8" fmla="*/ 35 w 66"/>
                                <a:gd name="T9" fmla="*/ 0 h 42"/>
                              </a:gdLst>
                              <a:ahLst/>
                              <a:cxnLst>
                                <a:cxn ang="0">
                                  <a:pos x="T0" y="T1"/>
                                </a:cxn>
                                <a:cxn ang="0">
                                  <a:pos x="T2" y="T3"/>
                                </a:cxn>
                                <a:cxn ang="0">
                                  <a:pos x="T4" y="T5"/>
                                </a:cxn>
                                <a:cxn ang="0">
                                  <a:pos x="T6" y="T7"/>
                                </a:cxn>
                                <a:cxn ang="0">
                                  <a:pos x="T8" y="T9"/>
                                </a:cxn>
                              </a:cxnLst>
                              <a:rect l="0" t="0" r="r" b="b"/>
                              <a:pathLst>
                                <a:path w="66" h="42">
                                  <a:moveTo>
                                    <a:pt x="35" y="0"/>
                                  </a:moveTo>
                                  <a:lnTo>
                                    <a:pt x="66" y="21"/>
                                  </a:lnTo>
                                  <a:lnTo>
                                    <a:pt x="30" y="42"/>
                                  </a:lnTo>
                                  <a:lnTo>
                                    <a:pt x="0" y="22"/>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5" name="Freeform 147"/>
                            <p:cNvSpPr/>
                            <p:nvPr/>
                          </p:nvSpPr>
                          <p:spPr bwMode="auto">
                            <a:xfrm>
                              <a:off x="2617" y="3086"/>
                              <a:ext cx="9" cy="5"/>
                            </a:xfrm>
                            <a:custGeom>
                              <a:avLst/>
                              <a:gdLst>
                                <a:gd name="T0" fmla="*/ 25 w 57"/>
                                <a:gd name="T1" fmla="*/ 0 h 35"/>
                                <a:gd name="T2" fmla="*/ 57 w 57"/>
                                <a:gd name="T3" fmla="*/ 20 h 35"/>
                                <a:gd name="T4" fmla="*/ 29 w 57"/>
                                <a:gd name="T5" fmla="*/ 35 h 35"/>
                                <a:gd name="T6" fmla="*/ 0 w 57"/>
                                <a:gd name="T7" fmla="*/ 16 h 35"/>
                                <a:gd name="T8" fmla="*/ 25 w 57"/>
                                <a:gd name="T9" fmla="*/ 0 h 35"/>
                              </a:gdLst>
                              <a:ahLst/>
                              <a:cxnLst>
                                <a:cxn ang="0">
                                  <a:pos x="T0" y="T1"/>
                                </a:cxn>
                                <a:cxn ang="0">
                                  <a:pos x="T2" y="T3"/>
                                </a:cxn>
                                <a:cxn ang="0">
                                  <a:pos x="T4" y="T5"/>
                                </a:cxn>
                                <a:cxn ang="0">
                                  <a:pos x="T6" y="T7"/>
                                </a:cxn>
                                <a:cxn ang="0">
                                  <a:pos x="T8" y="T9"/>
                                </a:cxn>
                              </a:cxnLst>
                              <a:rect l="0" t="0" r="r" b="b"/>
                              <a:pathLst>
                                <a:path w="57" h="35">
                                  <a:moveTo>
                                    <a:pt x="25" y="0"/>
                                  </a:moveTo>
                                  <a:lnTo>
                                    <a:pt x="57" y="20"/>
                                  </a:lnTo>
                                  <a:lnTo>
                                    <a:pt x="29" y="35"/>
                                  </a:lnTo>
                                  <a:lnTo>
                                    <a:pt x="0" y="16"/>
                                  </a:lnTo>
                                  <a:lnTo>
                                    <a:pt x="2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6" name="Freeform 148"/>
                            <p:cNvSpPr/>
                            <p:nvPr/>
                          </p:nvSpPr>
                          <p:spPr bwMode="auto">
                            <a:xfrm>
                              <a:off x="2593" y="3097"/>
                              <a:ext cx="10" cy="6"/>
                            </a:xfrm>
                            <a:custGeom>
                              <a:avLst/>
                              <a:gdLst>
                                <a:gd name="T0" fmla="*/ 37 w 72"/>
                                <a:gd name="T1" fmla="*/ 0 h 46"/>
                                <a:gd name="T2" fmla="*/ 72 w 72"/>
                                <a:gd name="T3" fmla="*/ 23 h 46"/>
                                <a:gd name="T4" fmla="*/ 36 w 72"/>
                                <a:gd name="T5" fmla="*/ 46 h 46"/>
                                <a:gd name="T6" fmla="*/ 0 w 72"/>
                                <a:gd name="T7" fmla="*/ 22 h 46"/>
                                <a:gd name="T8" fmla="*/ 37 w 72"/>
                                <a:gd name="T9" fmla="*/ 0 h 46"/>
                              </a:gdLst>
                              <a:ahLst/>
                              <a:cxnLst>
                                <a:cxn ang="0">
                                  <a:pos x="T0" y="T1"/>
                                </a:cxn>
                                <a:cxn ang="0">
                                  <a:pos x="T2" y="T3"/>
                                </a:cxn>
                                <a:cxn ang="0">
                                  <a:pos x="T4" y="T5"/>
                                </a:cxn>
                                <a:cxn ang="0">
                                  <a:pos x="T6" y="T7"/>
                                </a:cxn>
                                <a:cxn ang="0">
                                  <a:pos x="T8" y="T9"/>
                                </a:cxn>
                              </a:cxnLst>
                              <a:rect l="0" t="0" r="r" b="b"/>
                              <a:pathLst>
                                <a:path w="72" h="46">
                                  <a:moveTo>
                                    <a:pt x="37" y="0"/>
                                  </a:moveTo>
                                  <a:lnTo>
                                    <a:pt x="72" y="23"/>
                                  </a:lnTo>
                                  <a:lnTo>
                                    <a:pt x="36" y="46"/>
                                  </a:lnTo>
                                  <a:lnTo>
                                    <a:pt x="0" y="22"/>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7" name="Freeform 149"/>
                            <p:cNvSpPr/>
                            <p:nvPr/>
                          </p:nvSpPr>
                          <p:spPr bwMode="auto">
                            <a:xfrm>
                              <a:off x="2588" y="3094"/>
                              <a:ext cx="10" cy="6"/>
                            </a:xfrm>
                            <a:custGeom>
                              <a:avLst/>
                              <a:gdLst>
                                <a:gd name="T0" fmla="*/ 38 w 71"/>
                                <a:gd name="T1" fmla="*/ 0 h 43"/>
                                <a:gd name="T2" fmla="*/ 71 w 71"/>
                                <a:gd name="T3" fmla="*/ 21 h 43"/>
                                <a:gd name="T4" fmla="*/ 35 w 71"/>
                                <a:gd name="T5" fmla="*/ 43 h 43"/>
                                <a:gd name="T6" fmla="*/ 0 w 71"/>
                                <a:gd name="T7" fmla="*/ 21 h 43"/>
                                <a:gd name="T8" fmla="*/ 38 w 71"/>
                                <a:gd name="T9" fmla="*/ 0 h 43"/>
                              </a:gdLst>
                              <a:ahLst/>
                              <a:cxnLst>
                                <a:cxn ang="0">
                                  <a:pos x="T0" y="T1"/>
                                </a:cxn>
                                <a:cxn ang="0">
                                  <a:pos x="T2" y="T3"/>
                                </a:cxn>
                                <a:cxn ang="0">
                                  <a:pos x="T4" y="T5"/>
                                </a:cxn>
                                <a:cxn ang="0">
                                  <a:pos x="T6" y="T7"/>
                                </a:cxn>
                                <a:cxn ang="0">
                                  <a:pos x="T8" y="T9"/>
                                </a:cxn>
                              </a:cxnLst>
                              <a:rect l="0" t="0" r="r" b="b"/>
                              <a:pathLst>
                                <a:path w="71" h="43">
                                  <a:moveTo>
                                    <a:pt x="38" y="0"/>
                                  </a:moveTo>
                                  <a:lnTo>
                                    <a:pt x="71" y="21"/>
                                  </a:lnTo>
                                  <a:lnTo>
                                    <a:pt x="35" y="43"/>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8" name="Freeform 150"/>
                            <p:cNvSpPr/>
                            <p:nvPr/>
                          </p:nvSpPr>
                          <p:spPr bwMode="auto">
                            <a:xfrm>
                              <a:off x="2594" y="3091"/>
                              <a:ext cx="10" cy="6"/>
                            </a:xfrm>
                            <a:custGeom>
                              <a:avLst/>
                              <a:gdLst>
                                <a:gd name="T0" fmla="*/ 37 w 70"/>
                                <a:gd name="T1" fmla="*/ 0 h 43"/>
                                <a:gd name="T2" fmla="*/ 70 w 70"/>
                                <a:gd name="T3" fmla="*/ 21 h 43"/>
                                <a:gd name="T4" fmla="*/ 33 w 70"/>
                                <a:gd name="T5" fmla="*/ 43 h 43"/>
                                <a:gd name="T6" fmla="*/ 0 w 70"/>
                                <a:gd name="T7" fmla="*/ 21 h 43"/>
                                <a:gd name="T8" fmla="*/ 37 w 70"/>
                                <a:gd name="T9" fmla="*/ 0 h 43"/>
                              </a:gdLst>
                              <a:ahLst/>
                              <a:cxnLst>
                                <a:cxn ang="0">
                                  <a:pos x="T0" y="T1"/>
                                </a:cxn>
                                <a:cxn ang="0">
                                  <a:pos x="T2" y="T3"/>
                                </a:cxn>
                                <a:cxn ang="0">
                                  <a:pos x="T4" y="T5"/>
                                </a:cxn>
                                <a:cxn ang="0">
                                  <a:pos x="T6" y="T7"/>
                                </a:cxn>
                                <a:cxn ang="0">
                                  <a:pos x="T8" y="T9"/>
                                </a:cxn>
                              </a:cxnLst>
                              <a:rect l="0" t="0" r="r" b="b"/>
                              <a:pathLst>
                                <a:path w="70" h="43">
                                  <a:moveTo>
                                    <a:pt x="37" y="0"/>
                                  </a:moveTo>
                                  <a:lnTo>
                                    <a:pt x="70" y="21"/>
                                  </a:lnTo>
                                  <a:lnTo>
                                    <a:pt x="33" y="43"/>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9" name="Freeform 151"/>
                            <p:cNvSpPr/>
                            <p:nvPr/>
                          </p:nvSpPr>
                          <p:spPr bwMode="auto">
                            <a:xfrm>
                              <a:off x="2601" y="3089"/>
                              <a:ext cx="9" cy="5"/>
                            </a:xfrm>
                            <a:custGeom>
                              <a:avLst/>
                              <a:gdLst>
                                <a:gd name="T0" fmla="*/ 34 w 67"/>
                                <a:gd name="T1" fmla="*/ 0 h 43"/>
                                <a:gd name="T2" fmla="*/ 67 w 67"/>
                                <a:gd name="T3" fmla="*/ 20 h 43"/>
                                <a:gd name="T4" fmla="*/ 32 w 67"/>
                                <a:gd name="T5" fmla="*/ 43 h 43"/>
                                <a:gd name="T6" fmla="*/ 0 w 67"/>
                                <a:gd name="T7" fmla="*/ 21 h 43"/>
                                <a:gd name="T8" fmla="*/ 34 w 67"/>
                                <a:gd name="T9" fmla="*/ 0 h 43"/>
                              </a:gdLst>
                              <a:ahLst/>
                              <a:cxnLst>
                                <a:cxn ang="0">
                                  <a:pos x="T0" y="T1"/>
                                </a:cxn>
                                <a:cxn ang="0">
                                  <a:pos x="T2" y="T3"/>
                                </a:cxn>
                                <a:cxn ang="0">
                                  <a:pos x="T4" y="T5"/>
                                </a:cxn>
                                <a:cxn ang="0">
                                  <a:pos x="T6" y="T7"/>
                                </a:cxn>
                                <a:cxn ang="0">
                                  <a:pos x="T8" y="T9"/>
                                </a:cxn>
                              </a:cxnLst>
                              <a:rect l="0" t="0" r="r" b="b"/>
                              <a:pathLst>
                                <a:path w="67" h="43">
                                  <a:moveTo>
                                    <a:pt x="34" y="0"/>
                                  </a:moveTo>
                                  <a:lnTo>
                                    <a:pt x="67" y="20"/>
                                  </a:lnTo>
                                  <a:lnTo>
                                    <a:pt x="32" y="43"/>
                                  </a:lnTo>
                                  <a:lnTo>
                                    <a:pt x="0" y="21"/>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0" name="Freeform 152"/>
                            <p:cNvSpPr/>
                            <p:nvPr/>
                          </p:nvSpPr>
                          <p:spPr bwMode="auto">
                            <a:xfrm>
                              <a:off x="2607" y="3086"/>
                              <a:ext cx="9" cy="5"/>
                            </a:xfrm>
                            <a:custGeom>
                              <a:avLst/>
                              <a:gdLst>
                                <a:gd name="T0" fmla="*/ 38 w 68"/>
                                <a:gd name="T1" fmla="*/ 0 h 43"/>
                                <a:gd name="T2" fmla="*/ 68 w 68"/>
                                <a:gd name="T3" fmla="*/ 20 h 43"/>
                                <a:gd name="T4" fmla="*/ 33 w 68"/>
                                <a:gd name="T5" fmla="*/ 43 h 43"/>
                                <a:gd name="T6" fmla="*/ 0 w 68"/>
                                <a:gd name="T7" fmla="*/ 22 h 43"/>
                                <a:gd name="T8" fmla="*/ 38 w 68"/>
                                <a:gd name="T9" fmla="*/ 0 h 43"/>
                              </a:gdLst>
                              <a:ahLst/>
                              <a:cxnLst>
                                <a:cxn ang="0">
                                  <a:pos x="T0" y="T1"/>
                                </a:cxn>
                                <a:cxn ang="0">
                                  <a:pos x="T2" y="T3"/>
                                </a:cxn>
                                <a:cxn ang="0">
                                  <a:pos x="T4" y="T5"/>
                                </a:cxn>
                                <a:cxn ang="0">
                                  <a:pos x="T6" y="T7"/>
                                </a:cxn>
                                <a:cxn ang="0">
                                  <a:pos x="T8" y="T9"/>
                                </a:cxn>
                              </a:cxnLst>
                              <a:rect l="0" t="0" r="r" b="b"/>
                              <a:pathLst>
                                <a:path w="68" h="43">
                                  <a:moveTo>
                                    <a:pt x="38" y="0"/>
                                  </a:moveTo>
                                  <a:lnTo>
                                    <a:pt x="68" y="20"/>
                                  </a:lnTo>
                                  <a:lnTo>
                                    <a:pt x="33" y="43"/>
                                  </a:lnTo>
                                  <a:lnTo>
                                    <a:pt x="0" y="22"/>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1" name="Freeform 153"/>
                            <p:cNvSpPr/>
                            <p:nvPr/>
                          </p:nvSpPr>
                          <p:spPr bwMode="auto">
                            <a:xfrm>
                              <a:off x="2612" y="3084"/>
                              <a:ext cx="9" cy="5"/>
                            </a:xfrm>
                            <a:custGeom>
                              <a:avLst/>
                              <a:gdLst>
                                <a:gd name="T0" fmla="*/ 27 w 57"/>
                                <a:gd name="T1" fmla="*/ 0 h 36"/>
                                <a:gd name="T2" fmla="*/ 57 w 57"/>
                                <a:gd name="T3" fmla="*/ 19 h 36"/>
                                <a:gd name="T4" fmla="*/ 31 w 57"/>
                                <a:gd name="T5" fmla="*/ 36 h 36"/>
                                <a:gd name="T6" fmla="*/ 0 w 57"/>
                                <a:gd name="T7" fmla="*/ 16 h 36"/>
                                <a:gd name="T8" fmla="*/ 27 w 57"/>
                                <a:gd name="T9" fmla="*/ 0 h 36"/>
                              </a:gdLst>
                              <a:ahLst/>
                              <a:cxnLst>
                                <a:cxn ang="0">
                                  <a:pos x="T0" y="T1"/>
                                </a:cxn>
                                <a:cxn ang="0">
                                  <a:pos x="T2" y="T3"/>
                                </a:cxn>
                                <a:cxn ang="0">
                                  <a:pos x="T4" y="T5"/>
                                </a:cxn>
                                <a:cxn ang="0">
                                  <a:pos x="T6" y="T7"/>
                                </a:cxn>
                                <a:cxn ang="0">
                                  <a:pos x="T8" y="T9"/>
                                </a:cxn>
                              </a:cxnLst>
                              <a:rect l="0" t="0" r="r" b="b"/>
                              <a:pathLst>
                                <a:path w="57" h="36">
                                  <a:moveTo>
                                    <a:pt x="27" y="0"/>
                                  </a:moveTo>
                                  <a:lnTo>
                                    <a:pt x="57" y="19"/>
                                  </a:lnTo>
                                  <a:lnTo>
                                    <a:pt x="31" y="36"/>
                                  </a:lnTo>
                                  <a:lnTo>
                                    <a:pt x="0" y="16"/>
                                  </a:lnTo>
                                  <a:lnTo>
                                    <a:pt x="2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2" name="Freeform 154"/>
                            <p:cNvSpPr/>
                            <p:nvPr/>
                          </p:nvSpPr>
                          <p:spPr bwMode="auto">
                            <a:xfrm>
                              <a:off x="2590" y="3089"/>
                              <a:ext cx="9" cy="5"/>
                            </a:xfrm>
                            <a:custGeom>
                              <a:avLst/>
                              <a:gdLst>
                                <a:gd name="T0" fmla="*/ 35 w 69"/>
                                <a:gd name="T1" fmla="*/ 0 h 44"/>
                                <a:gd name="T2" fmla="*/ 69 w 69"/>
                                <a:gd name="T3" fmla="*/ 23 h 44"/>
                                <a:gd name="T4" fmla="*/ 33 w 69"/>
                                <a:gd name="T5" fmla="*/ 44 h 44"/>
                                <a:gd name="T6" fmla="*/ 0 w 69"/>
                                <a:gd name="T7" fmla="*/ 21 h 44"/>
                                <a:gd name="T8" fmla="*/ 35 w 69"/>
                                <a:gd name="T9" fmla="*/ 0 h 44"/>
                              </a:gdLst>
                              <a:ahLst/>
                              <a:cxnLst>
                                <a:cxn ang="0">
                                  <a:pos x="T0" y="T1"/>
                                </a:cxn>
                                <a:cxn ang="0">
                                  <a:pos x="T2" y="T3"/>
                                </a:cxn>
                                <a:cxn ang="0">
                                  <a:pos x="T4" y="T5"/>
                                </a:cxn>
                                <a:cxn ang="0">
                                  <a:pos x="T6" y="T7"/>
                                </a:cxn>
                                <a:cxn ang="0">
                                  <a:pos x="T8" y="T9"/>
                                </a:cxn>
                              </a:cxnLst>
                              <a:rect l="0" t="0" r="r" b="b"/>
                              <a:pathLst>
                                <a:path w="69" h="44">
                                  <a:moveTo>
                                    <a:pt x="35" y="0"/>
                                  </a:moveTo>
                                  <a:lnTo>
                                    <a:pt x="69" y="23"/>
                                  </a:lnTo>
                                  <a:lnTo>
                                    <a:pt x="33" y="44"/>
                                  </a:lnTo>
                                  <a:lnTo>
                                    <a:pt x="0" y="21"/>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3" name="Freeform 155"/>
                            <p:cNvSpPr/>
                            <p:nvPr/>
                          </p:nvSpPr>
                          <p:spPr bwMode="auto">
                            <a:xfrm>
                              <a:off x="2596" y="3086"/>
                              <a:ext cx="10" cy="6"/>
                            </a:xfrm>
                            <a:custGeom>
                              <a:avLst/>
                              <a:gdLst>
                                <a:gd name="T0" fmla="*/ 37 w 70"/>
                                <a:gd name="T1" fmla="*/ 0 h 42"/>
                                <a:gd name="T2" fmla="*/ 70 w 70"/>
                                <a:gd name="T3" fmla="*/ 20 h 42"/>
                                <a:gd name="T4" fmla="*/ 34 w 70"/>
                                <a:gd name="T5" fmla="*/ 42 h 42"/>
                                <a:gd name="T6" fmla="*/ 0 w 70"/>
                                <a:gd name="T7" fmla="*/ 20 h 42"/>
                                <a:gd name="T8" fmla="*/ 37 w 70"/>
                                <a:gd name="T9" fmla="*/ 0 h 42"/>
                              </a:gdLst>
                              <a:ahLst/>
                              <a:cxnLst>
                                <a:cxn ang="0">
                                  <a:pos x="T0" y="T1"/>
                                </a:cxn>
                                <a:cxn ang="0">
                                  <a:pos x="T2" y="T3"/>
                                </a:cxn>
                                <a:cxn ang="0">
                                  <a:pos x="T4" y="T5"/>
                                </a:cxn>
                                <a:cxn ang="0">
                                  <a:pos x="T6" y="T7"/>
                                </a:cxn>
                                <a:cxn ang="0">
                                  <a:pos x="T8" y="T9"/>
                                </a:cxn>
                              </a:cxnLst>
                              <a:rect l="0" t="0" r="r" b="b"/>
                              <a:pathLst>
                                <a:path w="70" h="42">
                                  <a:moveTo>
                                    <a:pt x="37" y="0"/>
                                  </a:moveTo>
                                  <a:lnTo>
                                    <a:pt x="70" y="20"/>
                                  </a:lnTo>
                                  <a:lnTo>
                                    <a:pt x="34" y="42"/>
                                  </a:lnTo>
                                  <a:lnTo>
                                    <a:pt x="0" y="20"/>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4" name="Freeform 156"/>
                            <p:cNvSpPr/>
                            <p:nvPr/>
                          </p:nvSpPr>
                          <p:spPr bwMode="auto">
                            <a:xfrm>
                              <a:off x="2602" y="3084"/>
                              <a:ext cx="10" cy="5"/>
                            </a:xfrm>
                            <a:custGeom>
                              <a:avLst/>
                              <a:gdLst>
                                <a:gd name="T0" fmla="*/ 36 w 68"/>
                                <a:gd name="T1" fmla="*/ 0 h 41"/>
                                <a:gd name="T2" fmla="*/ 68 w 68"/>
                                <a:gd name="T3" fmla="*/ 19 h 41"/>
                                <a:gd name="T4" fmla="*/ 32 w 68"/>
                                <a:gd name="T5" fmla="*/ 41 h 41"/>
                                <a:gd name="T6" fmla="*/ 0 w 68"/>
                                <a:gd name="T7" fmla="*/ 21 h 41"/>
                                <a:gd name="T8" fmla="*/ 36 w 68"/>
                                <a:gd name="T9" fmla="*/ 0 h 41"/>
                              </a:gdLst>
                              <a:ahLst/>
                              <a:cxnLst>
                                <a:cxn ang="0">
                                  <a:pos x="T0" y="T1"/>
                                </a:cxn>
                                <a:cxn ang="0">
                                  <a:pos x="T2" y="T3"/>
                                </a:cxn>
                                <a:cxn ang="0">
                                  <a:pos x="T4" y="T5"/>
                                </a:cxn>
                                <a:cxn ang="0">
                                  <a:pos x="T6" y="T7"/>
                                </a:cxn>
                                <a:cxn ang="0">
                                  <a:pos x="T8" y="T9"/>
                                </a:cxn>
                              </a:cxnLst>
                              <a:rect l="0" t="0" r="r" b="b"/>
                              <a:pathLst>
                                <a:path w="68" h="41">
                                  <a:moveTo>
                                    <a:pt x="36" y="0"/>
                                  </a:moveTo>
                                  <a:lnTo>
                                    <a:pt x="68" y="19"/>
                                  </a:lnTo>
                                  <a:lnTo>
                                    <a:pt x="32" y="41"/>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5" name="Freeform 157"/>
                            <p:cNvSpPr/>
                            <p:nvPr/>
                          </p:nvSpPr>
                          <p:spPr bwMode="auto">
                            <a:xfrm>
                              <a:off x="2608" y="3082"/>
                              <a:ext cx="8" cy="4"/>
                            </a:xfrm>
                            <a:custGeom>
                              <a:avLst/>
                              <a:gdLst>
                                <a:gd name="T0" fmla="*/ 27 w 57"/>
                                <a:gd name="T1" fmla="*/ 0 h 36"/>
                                <a:gd name="T2" fmla="*/ 57 w 57"/>
                                <a:gd name="T3" fmla="*/ 21 h 36"/>
                                <a:gd name="T4" fmla="*/ 33 w 57"/>
                                <a:gd name="T5" fmla="*/ 36 h 36"/>
                                <a:gd name="T6" fmla="*/ 0 w 57"/>
                                <a:gd name="T7" fmla="*/ 15 h 36"/>
                                <a:gd name="T8" fmla="*/ 27 w 57"/>
                                <a:gd name="T9" fmla="*/ 0 h 36"/>
                              </a:gdLst>
                              <a:ahLst/>
                              <a:cxnLst>
                                <a:cxn ang="0">
                                  <a:pos x="T0" y="T1"/>
                                </a:cxn>
                                <a:cxn ang="0">
                                  <a:pos x="T2" y="T3"/>
                                </a:cxn>
                                <a:cxn ang="0">
                                  <a:pos x="T4" y="T5"/>
                                </a:cxn>
                                <a:cxn ang="0">
                                  <a:pos x="T6" y="T7"/>
                                </a:cxn>
                                <a:cxn ang="0">
                                  <a:pos x="T8" y="T9"/>
                                </a:cxn>
                              </a:cxnLst>
                              <a:rect l="0" t="0" r="r" b="b"/>
                              <a:pathLst>
                                <a:path w="57" h="36">
                                  <a:moveTo>
                                    <a:pt x="27" y="0"/>
                                  </a:moveTo>
                                  <a:lnTo>
                                    <a:pt x="57" y="21"/>
                                  </a:lnTo>
                                  <a:lnTo>
                                    <a:pt x="33" y="36"/>
                                  </a:lnTo>
                                  <a:lnTo>
                                    <a:pt x="0" y="15"/>
                                  </a:lnTo>
                                  <a:lnTo>
                                    <a:pt x="2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6" name="Freeform 158"/>
                            <p:cNvSpPr/>
                            <p:nvPr/>
                          </p:nvSpPr>
                          <p:spPr bwMode="auto">
                            <a:xfrm>
                              <a:off x="2583" y="3092"/>
                              <a:ext cx="10" cy="5"/>
                            </a:xfrm>
                            <a:custGeom>
                              <a:avLst/>
                              <a:gdLst>
                                <a:gd name="T0" fmla="*/ 38 w 73"/>
                                <a:gd name="T1" fmla="*/ 0 h 44"/>
                                <a:gd name="T2" fmla="*/ 73 w 73"/>
                                <a:gd name="T3" fmla="*/ 23 h 44"/>
                                <a:gd name="T4" fmla="*/ 37 w 73"/>
                                <a:gd name="T5" fmla="*/ 44 h 44"/>
                                <a:gd name="T6" fmla="*/ 0 w 73"/>
                                <a:gd name="T7" fmla="*/ 22 h 44"/>
                                <a:gd name="T8" fmla="*/ 38 w 73"/>
                                <a:gd name="T9" fmla="*/ 0 h 44"/>
                              </a:gdLst>
                              <a:ahLst/>
                              <a:cxnLst>
                                <a:cxn ang="0">
                                  <a:pos x="T0" y="T1"/>
                                </a:cxn>
                                <a:cxn ang="0">
                                  <a:pos x="T2" y="T3"/>
                                </a:cxn>
                                <a:cxn ang="0">
                                  <a:pos x="T4" y="T5"/>
                                </a:cxn>
                                <a:cxn ang="0">
                                  <a:pos x="T6" y="T7"/>
                                </a:cxn>
                                <a:cxn ang="0">
                                  <a:pos x="T8" y="T9"/>
                                </a:cxn>
                              </a:cxnLst>
                              <a:rect l="0" t="0" r="r" b="b"/>
                              <a:pathLst>
                                <a:path w="73" h="44">
                                  <a:moveTo>
                                    <a:pt x="38" y="0"/>
                                  </a:moveTo>
                                  <a:lnTo>
                                    <a:pt x="73" y="23"/>
                                  </a:lnTo>
                                  <a:lnTo>
                                    <a:pt x="37" y="44"/>
                                  </a:lnTo>
                                  <a:lnTo>
                                    <a:pt x="0" y="22"/>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7" name="Freeform 159"/>
                            <p:cNvSpPr/>
                            <p:nvPr/>
                          </p:nvSpPr>
                          <p:spPr bwMode="auto">
                            <a:xfrm>
                              <a:off x="2578" y="3089"/>
                              <a:ext cx="10" cy="5"/>
                            </a:xfrm>
                            <a:custGeom>
                              <a:avLst/>
                              <a:gdLst>
                                <a:gd name="T0" fmla="*/ 36 w 68"/>
                                <a:gd name="T1" fmla="*/ 0 h 43"/>
                                <a:gd name="T2" fmla="*/ 68 w 68"/>
                                <a:gd name="T3" fmla="*/ 22 h 43"/>
                                <a:gd name="T4" fmla="*/ 31 w 68"/>
                                <a:gd name="T5" fmla="*/ 43 h 43"/>
                                <a:gd name="T6" fmla="*/ 0 w 68"/>
                                <a:gd name="T7" fmla="*/ 23 h 43"/>
                                <a:gd name="T8" fmla="*/ 36 w 68"/>
                                <a:gd name="T9" fmla="*/ 0 h 43"/>
                              </a:gdLst>
                              <a:ahLst/>
                              <a:cxnLst>
                                <a:cxn ang="0">
                                  <a:pos x="T0" y="T1"/>
                                </a:cxn>
                                <a:cxn ang="0">
                                  <a:pos x="T2" y="T3"/>
                                </a:cxn>
                                <a:cxn ang="0">
                                  <a:pos x="T4" y="T5"/>
                                </a:cxn>
                                <a:cxn ang="0">
                                  <a:pos x="T6" y="T7"/>
                                </a:cxn>
                                <a:cxn ang="0">
                                  <a:pos x="T8" y="T9"/>
                                </a:cxn>
                              </a:cxnLst>
                              <a:rect l="0" t="0" r="r" b="b"/>
                              <a:pathLst>
                                <a:path w="68" h="43">
                                  <a:moveTo>
                                    <a:pt x="36" y="0"/>
                                  </a:moveTo>
                                  <a:lnTo>
                                    <a:pt x="68" y="22"/>
                                  </a:lnTo>
                                  <a:lnTo>
                                    <a:pt x="31" y="43"/>
                                  </a:lnTo>
                                  <a:lnTo>
                                    <a:pt x="0" y="23"/>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8" name="Freeform 160"/>
                            <p:cNvSpPr/>
                            <p:nvPr/>
                          </p:nvSpPr>
                          <p:spPr bwMode="auto">
                            <a:xfrm>
                              <a:off x="2584" y="3086"/>
                              <a:ext cx="10" cy="6"/>
                            </a:xfrm>
                            <a:custGeom>
                              <a:avLst/>
                              <a:gdLst>
                                <a:gd name="T0" fmla="*/ 37 w 70"/>
                                <a:gd name="T1" fmla="*/ 0 h 43"/>
                                <a:gd name="T2" fmla="*/ 70 w 70"/>
                                <a:gd name="T3" fmla="*/ 20 h 43"/>
                                <a:gd name="T4" fmla="*/ 33 w 70"/>
                                <a:gd name="T5" fmla="*/ 43 h 43"/>
                                <a:gd name="T6" fmla="*/ 0 w 70"/>
                                <a:gd name="T7" fmla="*/ 20 h 43"/>
                                <a:gd name="T8" fmla="*/ 37 w 70"/>
                                <a:gd name="T9" fmla="*/ 0 h 43"/>
                              </a:gdLst>
                              <a:ahLst/>
                              <a:cxnLst>
                                <a:cxn ang="0">
                                  <a:pos x="T0" y="T1"/>
                                </a:cxn>
                                <a:cxn ang="0">
                                  <a:pos x="T2" y="T3"/>
                                </a:cxn>
                                <a:cxn ang="0">
                                  <a:pos x="T4" y="T5"/>
                                </a:cxn>
                                <a:cxn ang="0">
                                  <a:pos x="T6" y="T7"/>
                                </a:cxn>
                                <a:cxn ang="0">
                                  <a:pos x="T8" y="T9"/>
                                </a:cxn>
                              </a:cxnLst>
                              <a:rect l="0" t="0" r="r" b="b"/>
                              <a:pathLst>
                                <a:path w="70" h="43">
                                  <a:moveTo>
                                    <a:pt x="37" y="0"/>
                                  </a:moveTo>
                                  <a:lnTo>
                                    <a:pt x="70" y="20"/>
                                  </a:lnTo>
                                  <a:lnTo>
                                    <a:pt x="33" y="43"/>
                                  </a:lnTo>
                                  <a:lnTo>
                                    <a:pt x="0" y="20"/>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9" name="Freeform 161"/>
                            <p:cNvSpPr/>
                            <p:nvPr/>
                          </p:nvSpPr>
                          <p:spPr bwMode="auto">
                            <a:xfrm>
                              <a:off x="2591" y="3084"/>
                              <a:ext cx="10" cy="5"/>
                            </a:xfrm>
                            <a:custGeom>
                              <a:avLst/>
                              <a:gdLst>
                                <a:gd name="T0" fmla="*/ 34 w 68"/>
                                <a:gd name="T1" fmla="*/ 0 h 42"/>
                                <a:gd name="T2" fmla="*/ 68 w 68"/>
                                <a:gd name="T3" fmla="*/ 20 h 42"/>
                                <a:gd name="T4" fmla="*/ 32 w 68"/>
                                <a:gd name="T5" fmla="*/ 42 h 42"/>
                                <a:gd name="T6" fmla="*/ 0 w 68"/>
                                <a:gd name="T7" fmla="*/ 21 h 42"/>
                                <a:gd name="T8" fmla="*/ 34 w 68"/>
                                <a:gd name="T9" fmla="*/ 0 h 42"/>
                              </a:gdLst>
                              <a:ahLst/>
                              <a:cxnLst>
                                <a:cxn ang="0">
                                  <a:pos x="T0" y="T1"/>
                                </a:cxn>
                                <a:cxn ang="0">
                                  <a:pos x="T2" y="T3"/>
                                </a:cxn>
                                <a:cxn ang="0">
                                  <a:pos x="T4" y="T5"/>
                                </a:cxn>
                                <a:cxn ang="0">
                                  <a:pos x="T6" y="T7"/>
                                </a:cxn>
                                <a:cxn ang="0">
                                  <a:pos x="T8" y="T9"/>
                                </a:cxn>
                              </a:cxnLst>
                              <a:rect l="0" t="0" r="r" b="b"/>
                              <a:pathLst>
                                <a:path w="68" h="42">
                                  <a:moveTo>
                                    <a:pt x="34" y="0"/>
                                  </a:moveTo>
                                  <a:lnTo>
                                    <a:pt x="68" y="20"/>
                                  </a:lnTo>
                                  <a:lnTo>
                                    <a:pt x="32" y="42"/>
                                  </a:lnTo>
                                  <a:lnTo>
                                    <a:pt x="0" y="21"/>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0" name="Freeform 162"/>
                            <p:cNvSpPr/>
                            <p:nvPr/>
                          </p:nvSpPr>
                          <p:spPr bwMode="auto">
                            <a:xfrm>
                              <a:off x="2597" y="3081"/>
                              <a:ext cx="10" cy="6"/>
                            </a:xfrm>
                            <a:custGeom>
                              <a:avLst/>
                              <a:gdLst>
                                <a:gd name="T0" fmla="*/ 38 w 68"/>
                                <a:gd name="T1" fmla="*/ 0 h 42"/>
                                <a:gd name="T2" fmla="*/ 68 w 68"/>
                                <a:gd name="T3" fmla="*/ 19 h 42"/>
                                <a:gd name="T4" fmla="*/ 33 w 68"/>
                                <a:gd name="T5" fmla="*/ 42 h 42"/>
                                <a:gd name="T6" fmla="*/ 0 w 68"/>
                                <a:gd name="T7" fmla="*/ 21 h 42"/>
                                <a:gd name="T8" fmla="*/ 38 w 68"/>
                                <a:gd name="T9" fmla="*/ 0 h 42"/>
                              </a:gdLst>
                              <a:ahLst/>
                              <a:cxnLst>
                                <a:cxn ang="0">
                                  <a:pos x="T0" y="T1"/>
                                </a:cxn>
                                <a:cxn ang="0">
                                  <a:pos x="T2" y="T3"/>
                                </a:cxn>
                                <a:cxn ang="0">
                                  <a:pos x="T4" y="T5"/>
                                </a:cxn>
                                <a:cxn ang="0">
                                  <a:pos x="T6" y="T7"/>
                                </a:cxn>
                                <a:cxn ang="0">
                                  <a:pos x="T8" y="T9"/>
                                </a:cxn>
                              </a:cxnLst>
                              <a:rect l="0" t="0" r="r" b="b"/>
                              <a:pathLst>
                                <a:path w="68" h="42">
                                  <a:moveTo>
                                    <a:pt x="38" y="0"/>
                                  </a:moveTo>
                                  <a:lnTo>
                                    <a:pt x="68" y="19"/>
                                  </a:lnTo>
                                  <a:lnTo>
                                    <a:pt x="33" y="42"/>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1" name="Freeform 163"/>
                            <p:cNvSpPr/>
                            <p:nvPr/>
                          </p:nvSpPr>
                          <p:spPr bwMode="auto">
                            <a:xfrm>
                              <a:off x="2603" y="3080"/>
                              <a:ext cx="8" cy="4"/>
                            </a:xfrm>
                            <a:custGeom>
                              <a:avLst/>
                              <a:gdLst>
                                <a:gd name="T0" fmla="*/ 25 w 57"/>
                                <a:gd name="T1" fmla="*/ 0 h 34"/>
                                <a:gd name="T2" fmla="*/ 57 w 57"/>
                                <a:gd name="T3" fmla="*/ 18 h 34"/>
                                <a:gd name="T4" fmla="*/ 29 w 57"/>
                                <a:gd name="T5" fmla="*/ 34 h 34"/>
                                <a:gd name="T6" fmla="*/ 0 w 57"/>
                                <a:gd name="T7" fmla="*/ 15 h 34"/>
                                <a:gd name="T8" fmla="*/ 25 w 57"/>
                                <a:gd name="T9" fmla="*/ 0 h 34"/>
                              </a:gdLst>
                              <a:ahLst/>
                              <a:cxnLst>
                                <a:cxn ang="0">
                                  <a:pos x="T0" y="T1"/>
                                </a:cxn>
                                <a:cxn ang="0">
                                  <a:pos x="T2" y="T3"/>
                                </a:cxn>
                                <a:cxn ang="0">
                                  <a:pos x="T4" y="T5"/>
                                </a:cxn>
                                <a:cxn ang="0">
                                  <a:pos x="T6" y="T7"/>
                                </a:cxn>
                                <a:cxn ang="0">
                                  <a:pos x="T8" y="T9"/>
                                </a:cxn>
                              </a:cxnLst>
                              <a:rect l="0" t="0" r="r" b="b"/>
                              <a:pathLst>
                                <a:path w="57" h="34">
                                  <a:moveTo>
                                    <a:pt x="25" y="0"/>
                                  </a:moveTo>
                                  <a:lnTo>
                                    <a:pt x="57" y="18"/>
                                  </a:lnTo>
                                  <a:lnTo>
                                    <a:pt x="29" y="34"/>
                                  </a:lnTo>
                                  <a:lnTo>
                                    <a:pt x="0" y="15"/>
                                  </a:lnTo>
                                  <a:lnTo>
                                    <a:pt x="2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2" name="Freeform 164"/>
                            <p:cNvSpPr/>
                            <p:nvPr/>
                          </p:nvSpPr>
                          <p:spPr bwMode="auto">
                            <a:xfrm>
                              <a:off x="2580" y="3084"/>
                              <a:ext cx="9" cy="5"/>
                            </a:xfrm>
                            <a:custGeom>
                              <a:avLst/>
                              <a:gdLst>
                                <a:gd name="T0" fmla="*/ 36 w 67"/>
                                <a:gd name="T1" fmla="*/ 0 h 41"/>
                                <a:gd name="T2" fmla="*/ 67 w 67"/>
                                <a:gd name="T3" fmla="*/ 19 h 41"/>
                                <a:gd name="T4" fmla="*/ 32 w 67"/>
                                <a:gd name="T5" fmla="*/ 41 h 41"/>
                                <a:gd name="T6" fmla="*/ 0 w 67"/>
                                <a:gd name="T7" fmla="*/ 21 h 41"/>
                                <a:gd name="T8" fmla="*/ 36 w 67"/>
                                <a:gd name="T9" fmla="*/ 0 h 41"/>
                              </a:gdLst>
                              <a:ahLst/>
                              <a:cxnLst>
                                <a:cxn ang="0">
                                  <a:pos x="T0" y="T1"/>
                                </a:cxn>
                                <a:cxn ang="0">
                                  <a:pos x="T2" y="T3"/>
                                </a:cxn>
                                <a:cxn ang="0">
                                  <a:pos x="T4" y="T5"/>
                                </a:cxn>
                                <a:cxn ang="0">
                                  <a:pos x="T6" y="T7"/>
                                </a:cxn>
                                <a:cxn ang="0">
                                  <a:pos x="T8" y="T9"/>
                                </a:cxn>
                              </a:cxnLst>
                              <a:rect l="0" t="0" r="r" b="b"/>
                              <a:pathLst>
                                <a:path w="67" h="41">
                                  <a:moveTo>
                                    <a:pt x="36" y="0"/>
                                  </a:moveTo>
                                  <a:lnTo>
                                    <a:pt x="67" y="19"/>
                                  </a:lnTo>
                                  <a:lnTo>
                                    <a:pt x="32" y="41"/>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3" name="Freeform 165"/>
                            <p:cNvSpPr/>
                            <p:nvPr/>
                          </p:nvSpPr>
                          <p:spPr bwMode="auto">
                            <a:xfrm>
                              <a:off x="2586" y="3082"/>
                              <a:ext cx="10" cy="5"/>
                            </a:xfrm>
                            <a:custGeom>
                              <a:avLst/>
                              <a:gdLst>
                                <a:gd name="T0" fmla="*/ 37 w 67"/>
                                <a:gd name="T1" fmla="*/ 0 h 41"/>
                                <a:gd name="T2" fmla="*/ 67 w 67"/>
                                <a:gd name="T3" fmla="*/ 19 h 41"/>
                                <a:gd name="T4" fmla="*/ 29 w 67"/>
                                <a:gd name="T5" fmla="*/ 41 h 41"/>
                                <a:gd name="T6" fmla="*/ 0 w 67"/>
                                <a:gd name="T7" fmla="*/ 21 h 41"/>
                                <a:gd name="T8" fmla="*/ 37 w 67"/>
                                <a:gd name="T9" fmla="*/ 0 h 41"/>
                              </a:gdLst>
                              <a:ahLst/>
                              <a:cxnLst>
                                <a:cxn ang="0">
                                  <a:pos x="T0" y="T1"/>
                                </a:cxn>
                                <a:cxn ang="0">
                                  <a:pos x="T2" y="T3"/>
                                </a:cxn>
                                <a:cxn ang="0">
                                  <a:pos x="T4" y="T5"/>
                                </a:cxn>
                                <a:cxn ang="0">
                                  <a:pos x="T6" y="T7"/>
                                </a:cxn>
                                <a:cxn ang="0">
                                  <a:pos x="T8" y="T9"/>
                                </a:cxn>
                              </a:cxnLst>
                              <a:rect l="0" t="0" r="r" b="b"/>
                              <a:pathLst>
                                <a:path w="67" h="41">
                                  <a:moveTo>
                                    <a:pt x="37" y="0"/>
                                  </a:moveTo>
                                  <a:lnTo>
                                    <a:pt x="67" y="19"/>
                                  </a:lnTo>
                                  <a:lnTo>
                                    <a:pt x="29" y="41"/>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4" name="Freeform 166"/>
                            <p:cNvSpPr/>
                            <p:nvPr/>
                          </p:nvSpPr>
                          <p:spPr bwMode="auto">
                            <a:xfrm>
                              <a:off x="2592" y="3079"/>
                              <a:ext cx="10" cy="5"/>
                            </a:xfrm>
                            <a:custGeom>
                              <a:avLst/>
                              <a:gdLst>
                                <a:gd name="T0" fmla="*/ 37 w 69"/>
                                <a:gd name="T1" fmla="*/ 0 h 40"/>
                                <a:gd name="T2" fmla="*/ 69 w 69"/>
                                <a:gd name="T3" fmla="*/ 19 h 40"/>
                                <a:gd name="T4" fmla="*/ 32 w 69"/>
                                <a:gd name="T5" fmla="*/ 40 h 40"/>
                                <a:gd name="T6" fmla="*/ 0 w 69"/>
                                <a:gd name="T7" fmla="*/ 21 h 40"/>
                                <a:gd name="T8" fmla="*/ 37 w 69"/>
                                <a:gd name="T9" fmla="*/ 0 h 40"/>
                              </a:gdLst>
                              <a:ahLst/>
                              <a:cxnLst>
                                <a:cxn ang="0">
                                  <a:pos x="T0" y="T1"/>
                                </a:cxn>
                                <a:cxn ang="0">
                                  <a:pos x="T2" y="T3"/>
                                </a:cxn>
                                <a:cxn ang="0">
                                  <a:pos x="T4" y="T5"/>
                                </a:cxn>
                                <a:cxn ang="0">
                                  <a:pos x="T6" y="T7"/>
                                </a:cxn>
                                <a:cxn ang="0">
                                  <a:pos x="T8" y="T9"/>
                                </a:cxn>
                              </a:cxnLst>
                              <a:rect l="0" t="0" r="r" b="b"/>
                              <a:pathLst>
                                <a:path w="69" h="40">
                                  <a:moveTo>
                                    <a:pt x="37" y="0"/>
                                  </a:moveTo>
                                  <a:lnTo>
                                    <a:pt x="69" y="19"/>
                                  </a:lnTo>
                                  <a:lnTo>
                                    <a:pt x="32" y="40"/>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5" name="Freeform 167"/>
                            <p:cNvSpPr/>
                            <p:nvPr/>
                          </p:nvSpPr>
                          <p:spPr bwMode="auto">
                            <a:xfrm>
                              <a:off x="2598" y="3077"/>
                              <a:ext cx="8" cy="5"/>
                            </a:xfrm>
                            <a:custGeom>
                              <a:avLst/>
                              <a:gdLst>
                                <a:gd name="T0" fmla="*/ 24 w 56"/>
                                <a:gd name="T1" fmla="*/ 0 h 34"/>
                                <a:gd name="T2" fmla="*/ 56 w 56"/>
                                <a:gd name="T3" fmla="*/ 19 h 34"/>
                                <a:gd name="T4" fmla="*/ 33 w 56"/>
                                <a:gd name="T5" fmla="*/ 34 h 34"/>
                                <a:gd name="T6" fmla="*/ 0 w 56"/>
                                <a:gd name="T7" fmla="*/ 14 h 34"/>
                                <a:gd name="T8" fmla="*/ 24 w 56"/>
                                <a:gd name="T9" fmla="*/ 0 h 34"/>
                              </a:gdLst>
                              <a:ahLst/>
                              <a:cxnLst>
                                <a:cxn ang="0">
                                  <a:pos x="T0" y="T1"/>
                                </a:cxn>
                                <a:cxn ang="0">
                                  <a:pos x="T2" y="T3"/>
                                </a:cxn>
                                <a:cxn ang="0">
                                  <a:pos x="T4" y="T5"/>
                                </a:cxn>
                                <a:cxn ang="0">
                                  <a:pos x="T6" y="T7"/>
                                </a:cxn>
                                <a:cxn ang="0">
                                  <a:pos x="T8" y="T9"/>
                                </a:cxn>
                              </a:cxnLst>
                              <a:rect l="0" t="0" r="r" b="b"/>
                              <a:pathLst>
                                <a:path w="56" h="34">
                                  <a:moveTo>
                                    <a:pt x="24" y="0"/>
                                  </a:moveTo>
                                  <a:lnTo>
                                    <a:pt x="56" y="19"/>
                                  </a:lnTo>
                                  <a:lnTo>
                                    <a:pt x="33" y="34"/>
                                  </a:lnTo>
                                  <a:lnTo>
                                    <a:pt x="0" y="14"/>
                                  </a:lnTo>
                                  <a:lnTo>
                                    <a:pt x="2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6" name="Freeform 168"/>
                            <p:cNvSpPr/>
                            <p:nvPr/>
                          </p:nvSpPr>
                          <p:spPr bwMode="auto">
                            <a:xfrm>
                              <a:off x="2573" y="3087"/>
                              <a:ext cx="10" cy="5"/>
                            </a:xfrm>
                            <a:custGeom>
                              <a:avLst/>
                              <a:gdLst>
                                <a:gd name="T0" fmla="*/ 38 w 70"/>
                                <a:gd name="T1" fmla="*/ 0 h 41"/>
                                <a:gd name="T2" fmla="*/ 70 w 70"/>
                                <a:gd name="T3" fmla="*/ 21 h 41"/>
                                <a:gd name="T4" fmla="*/ 32 w 70"/>
                                <a:gd name="T5" fmla="*/ 41 h 41"/>
                                <a:gd name="T6" fmla="*/ 0 w 70"/>
                                <a:gd name="T7" fmla="*/ 21 h 41"/>
                                <a:gd name="T8" fmla="*/ 38 w 70"/>
                                <a:gd name="T9" fmla="*/ 0 h 41"/>
                              </a:gdLst>
                              <a:ahLst/>
                              <a:cxnLst>
                                <a:cxn ang="0">
                                  <a:pos x="T0" y="T1"/>
                                </a:cxn>
                                <a:cxn ang="0">
                                  <a:pos x="T2" y="T3"/>
                                </a:cxn>
                                <a:cxn ang="0">
                                  <a:pos x="T4" y="T5"/>
                                </a:cxn>
                                <a:cxn ang="0">
                                  <a:pos x="T6" y="T7"/>
                                </a:cxn>
                                <a:cxn ang="0">
                                  <a:pos x="T8" y="T9"/>
                                </a:cxn>
                              </a:cxnLst>
                              <a:rect l="0" t="0" r="r" b="b"/>
                              <a:pathLst>
                                <a:path w="70" h="41">
                                  <a:moveTo>
                                    <a:pt x="38" y="0"/>
                                  </a:moveTo>
                                  <a:lnTo>
                                    <a:pt x="70" y="21"/>
                                  </a:lnTo>
                                  <a:lnTo>
                                    <a:pt x="32" y="41"/>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7" name="Freeform 169"/>
                            <p:cNvSpPr/>
                            <p:nvPr/>
                          </p:nvSpPr>
                          <p:spPr bwMode="auto">
                            <a:xfrm>
                              <a:off x="2568" y="3084"/>
                              <a:ext cx="10" cy="5"/>
                            </a:xfrm>
                            <a:custGeom>
                              <a:avLst/>
                              <a:gdLst>
                                <a:gd name="T0" fmla="*/ 40 w 70"/>
                                <a:gd name="T1" fmla="*/ 0 h 41"/>
                                <a:gd name="T2" fmla="*/ 70 w 70"/>
                                <a:gd name="T3" fmla="*/ 21 h 41"/>
                                <a:gd name="T4" fmla="*/ 33 w 70"/>
                                <a:gd name="T5" fmla="*/ 41 h 41"/>
                                <a:gd name="T6" fmla="*/ 0 w 70"/>
                                <a:gd name="T7" fmla="*/ 21 h 41"/>
                                <a:gd name="T8" fmla="*/ 40 w 70"/>
                                <a:gd name="T9" fmla="*/ 0 h 41"/>
                              </a:gdLst>
                              <a:ahLst/>
                              <a:cxnLst>
                                <a:cxn ang="0">
                                  <a:pos x="T0" y="T1"/>
                                </a:cxn>
                                <a:cxn ang="0">
                                  <a:pos x="T2" y="T3"/>
                                </a:cxn>
                                <a:cxn ang="0">
                                  <a:pos x="T4" y="T5"/>
                                </a:cxn>
                                <a:cxn ang="0">
                                  <a:pos x="T6" y="T7"/>
                                </a:cxn>
                                <a:cxn ang="0">
                                  <a:pos x="T8" y="T9"/>
                                </a:cxn>
                              </a:cxnLst>
                              <a:rect l="0" t="0" r="r" b="b"/>
                              <a:pathLst>
                                <a:path w="70" h="41">
                                  <a:moveTo>
                                    <a:pt x="40" y="0"/>
                                  </a:moveTo>
                                  <a:lnTo>
                                    <a:pt x="70" y="21"/>
                                  </a:lnTo>
                                  <a:lnTo>
                                    <a:pt x="33" y="41"/>
                                  </a:lnTo>
                                  <a:lnTo>
                                    <a:pt x="0" y="21"/>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8" name="Freeform 170"/>
                            <p:cNvSpPr/>
                            <p:nvPr/>
                          </p:nvSpPr>
                          <p:spPr bwMode="auto">
                            <a:xfrm>
                              <a:off x="2575" y="3082"/>
                              <a:ext cx="10" cy="5"/>
                            </a:xfrm>
                            <a:custGeom>
                              <a:avLst/>
                              <a:gdLst>
                                <a:gd name="T0" fmla="*/ 36 w 68"/>
                                <a:gd name="T1" fmla="*/ 0 h 41"/>
                                <a:gd name="T2" fmla="*/ 68 w 68"/>
                                <a:gd name="T3" fmla="*/ 21 h 41"/>
                                <a:gd name="T4" fmla="*/ 30 w 68"/>
                                <a:gd name="T5" fmla="*/ 41 h 41"/>
                                <a:gd name="T6" fmla="*/ 0 w 68"/>
                                <a:gd name="T7" fmla="*/ 20 h 41"/>
                                <a:gd name="T8" fmla="*/ 36 w 68"/>
                                <a:gd name="T9" fmla="*/ 0 h 41"/>
                              </a:gdLst>
                              <a:ahLst/>
                              <a:cxnLst>
                                <a:cxn ang="0">
                                  <a:pos x="T0" y="T1"/>
                                </a:cxn>
                                <a:cxn ang="0">
                                  <a:pos x="T2" y="T3"/>
                                </a:cxn>
                                <a:cxn ang="0">
                                  <a:pos x="T4" y="T5"/>
                                </a:cxn>
                                <a:cxn ang="0">
                                  <a:pos x="T6" y="T7"/>
                                </a:cxn>
                                <a:cxn ang="0">
                                  <a:pos x="T8" y="T9"/>
                                </a:cxn>
                              </a:cxnLst>
                              <a:rect l="0" t="0" r="r" b="b"/>
                              <a:pathLst>
                                <a:path w="68" h="41">
                                  <a:moveTo>
                                    <a:pt x="36" y="0"/>
                                  </a:moveTo>
                                  <a:lnTo>
                                    <a:pt x="68" y="21"/>
                                  </a:lnTo>
                                  <a:lnTo>
                                    <a:pt x="30" y="41"/>
                                  </a:lnTo>
                                  <a:lnTo>
                                    <a:pt x="0" y="20"/>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9" name="Freeform 171"/>
                            <p:cNvSpPr/>
                            <p:nvPr/>
                          </p:nvSpPr>
                          <p:spPr bwMode="auto">
                            <a:xfrm>
                              <a:off x="2581" y="3079"/>
                              <a:ext cx="10" cy="5"/>
                            </a:xfrm>
                            <a:custGeom>
                              <a:avLst/>
                              <a:gdLst>
                                <a:gd name="T0" fmla="*/ 36 w 69"/>
                                <a:gd name="T1" fmla="*/ 0 h 40"/>
                                <a:gd name="T2" fmla="*/ 69 w 69"/>
                                <a:gd name="T3" fmla="*/ 20 h 40"/>
                                <a:gd name="T4" fmla="*/ 33 w 69"/>
                                <a:gd name="T5" fmla="*/ 40 h 40"/>
                                <a:gd name="T6" fmla="*/ 0 w 69"/>
                                <a:gd name="T7" fmla="*/ 20 h 40"/>
                                <a:gd name="T8" fmla="*/ 36 w 69"/>
                                <a:gd name="T9" fmla="*/ 0 h 40"/>
                              </a:gdLst>
                              <a:ahLst/>
                              <a:cxnLst>
                                <a:cxn ang="0">
                                  <a:pos x="T0" y="T1"/>
                                </a:cxn>
                                <a:cxn ang="0">
                                  <a:pos x="T2" y="T3"/>
                                </a:cxn>
                                <a:cxn ang="0">
                                  <a:pos x="T4" y="T5"/>
                                </a:cxn>
                                <a:cxn ang="0">
                                  <a:pos x="T6" y="T7"/>
                                </a:cxn>
                                <a:cxn ang="0">
                                  <a:pos x="T8" y="T9"/>
                                </a:cxn>
                              </a:cxnLst>
                              <a:rect l="0" t="0" r="r" b="b"/>
                              <a:pathLst>
                                <a:path w="69" h="40">
                                  <a:moveTo>
                                    <a:pt x="36" y="0"/>
                                  </a:moveTo>
                                  <a:lnTo>
                                    <a:pt x="69" y="20"/>
                                  </a:lnTo>
                                  <a:lnTo>
                                    <a:pt x="33" y="40"/>
                                  </a:lnTo>
                                  <a:lnTo>
                                    <a:pt x="0" y="20"/>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0" name="Freeform 172"/>
                            <p:cNvSpPr/>
                            <p:nvPr/>
                          </p:nvSpPr>
                          <p:spPr bwMode="auto">
                            <a:xfrm>
                              <a:off x="2587" y="3077"/>
                              <a:ext cx="10" cy="5"/>
                            </a:xfrm>
                            <a:custGeom>
                              <a:avLst/>
                              <a:gdLst>
                                <a:gd name="T0" fmla="*/ 38 w 70"/>
                                <a:gd name="T1" fmla="*/ 0 h 40"/>
                                <a:gd name="T2" fmla="*/ 70 w 70"/>
                                <a:gd name="T3" fmla="*/ 20 h 40"/>
                                <a:gd name="T4" fmla="*/ 32 w 70"/>
                                <a:gd name="T5" fmla="*/ 40 h 40"/>
                                <a:gd name="T6" fmla="*/ 0 w 70"/>
                                <a:gd name="T7" fmla="*/ 21 h 40"/>
                                <a:gd name="T8" fmla="*/ 38 w 70"/>
                                <a:gd name="T9" fmla="*/ 0 h 40"/>
                              </a:gdLst>
                              <a:ahLst/>
                              <a:cxnLst>
                                <a:cxn ang="0">
                                  <a:pos x="T0" y="T1"/>
                                </a:cxn>
                                <a:cxn ang="0">
                                  <a:pos x="T2" y="T3"/>
                                </a:cxn>
                                <a:cxn ang="0">
                                  <a:pos x="T4" y="T5"/>
                                </a:cxn>
                                <a:cxn ang="0">
                                  <a:pos x="T6" y="T7"/>
                                </a:cxn>
                                <a:cxn ang="0">
                                  <a:pos x="T8" y="T9"/>
                                </a:cxn>
                              </a:cxnLst>
                              <a:rect l="0" t="0" r="r" b="b"/>
                              <a:pathLst>
                                <a:path w="70" h="40">
                                  <a:moveTo>
                                    <a:pt x="38" y="0"/>
                                  </a:moveTo>
                                  <a:lnTo>
                                    <a:pt x="70" y="20"/>
                                  </a:lnTo>
                                  <a:lnTo>
                                    <a:pt x="32" y="40"/>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1" name="Freeform 173"/>
                            <p:cNvSpPr/>
                            <p:nvPr/>
                          </p:nvSpPr>
                          <p:spPr bwMode="auto">
                            <a:xfrm>
                              <a:off x="2594" y="3075"/>
                              <a:ext cx="8" cy="4"/>
                            </a:xfrm>
                            <a:custGeom>
                              <a:avLst/>
                              <a:gdLst>
                                <a:gd name="T0" fmla="*/ 23 w 56"/>
                                <a:gd name="T1" fmla="*/ 0 h 35"/>
                                <a:gd name="T2" fmla="*/ 56 w 56"/>
                                <a:gd name="T3" fmla="*/ 21 h 35"/>
                                <a:gd name="T4" fmla="*/ 32 w 56"/>
                                <a:gd name="T5" fmla="*/ 35 h 35"/>
                                <a:gd name="T6" fmla="*/ 0 w 56"/>
                                <a:gd name="T7" fmla="*/ 15 h 35"/>
                                <a:gd name="T8" fmla="*/ 23 w 56"/>
                                <a:gd name="T9" fmla="*/ 0 h 35"/>
                              </a:gdLst>
                              <a:ahLst/>
                              <a:cxnLst>
                                <a:cxn ang="0">
                                  <a:pos x="T0" y="T1"/>
                                </a:cxn>
                                <a:cxn ang="0">
                                  <a:pos x="T2" y="T3"/>
                                </a:cxn>
                                <a:cxn ang="0">
                                  <a:pos x="T4" y="T5"/>
                                </a:cxn>
                                <a:cxn ang="0">
                                  <a:pos x="T6" y="T7"/>
                                </a:cxn>
                                <a:cxn ang="0">
                                  <a:pos x="T8" y="T9"/>
                                </a:cxn>
                              </a:cxnLst>
                              <a:rect l="0" t="0" r="r" b="b"/>
                              <a:pathLst>
                                <a:path w="56" h="35">
                                  <a:moveTo>
                                    <a:pt x="23" y="0"/>
                                  </a:moveTo>
                                  <a:lnTo>
                                    <a:pt x="56" y="21"/>
                                  </a:lnTo>
                                  <a:lnTo>
                                    <a:pt x="32" y="35"/>
                                  </a:lnTo>
                                  <a:lnTo>
                                    <a:pt x="0" y="15"/>
                                  </a:lnTo>
                                  <a:lnTo>
                                    <a:pt x="2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2" name="Freeform 174"/>
                            <p:cNvSpPr/>
                            <p:nvPr/>
                          </p:nvSpPr>
                          <p:spPr bwMode="auto">
                            <a:xfrm>
                              <a:off x="2571" y="3080"/>
                              <a:ext cx="9" cy="4"/>
                            </a:xfrm>
                            <a:custGeom>
                              <a:avLst/>
                              <a:gdLst>
                                <a:gd name="T0" fmla="*/ 40 w 65"/>
                                <a:gd name="T1" fmla="*/ 0 h 37"/>
                                <a:gd name="T2" fmla="*/ 65 w 65"/>
                                <a:gd name="T3" fmla="*/ 18 h 37"/>
                                <a:gd name="T4" fmla="*/ 28 w 65"/>
                                <a:gd name="T5" fmla="*/ 37 h 37"/>
                                <a:gd name="T6" fmla="*/ 0 w 65"/>
                                <a:gd name="T7" fmla="*/ 19 h 37"/>
                                <a:gd name="T8" fmla="*/ 40 w 65"/>
                                <a:gd name="T9" fmla="*/ 0 h 37"/>
                              </a:gdLst>
                              <a:ahLst/>
                              <a:cxnLst>
                                <a:cxn ang="0">
                                  <a:pos x="T0" y="T1"/>
                                </a:cxn>
                                <a:cxn ang="0">
                                  <a:pos x="T2" y="T3"/>
                                </a:cxn>
                                <a:cxn ang="0">
                                  <a:pos x="T4" y="T5"/>
                                </a:cxn>
                                <a:cxn ang="0">
                                  <a:pos x="T6" y="T7"/>
                                </a:cxn>
                                <a:cxn ang="0">
                                  <a:pos x="T8" y="T9"/>
                                </a:cxn>
                              </a:cxnLst>
                              <a:rect l="0" t="0" r="r" b="b"/>
                              <a:pathLst>
                                <a:path w="65" h="37">
                                  <a:moveTo>
                                    <a:pt x="40" y="0"/>
                                  </a:moveTo>
                                  <a:lnTo>
                                    <a:pt x="65" y="18"/>
                                  </a:lnTo>
                                  <a:lnTo>
                                    <a:pt x="28" y="37"/>
                                  </a:lnTo>
                                  <a:lnTo>
                                    <a:pt x="0" y="19"/>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3" name="Freeform 175"/>
                            <p:cNvSpPr/>
                            <p:nvPr/>
                          </p:nvSpPr>
                          <p:spPr bwMode="auto">
                            <a:xfrm>
                              <a:off x="2577" y="3077"/>
                              <a:ext cx="9" cy="5"/>
                            </a:xfrm>
                            <a:custGeom>
                              <a:avLst/>
                              <a:gdLst>
                                <a:gd name="T0" fmla="*/ 36 w 64"/>
                                <a:gd name="T1" fmla="*/ 0 h 38"/>
                                <a:gd name="T2" fmla="*/ 64 w 64"/>
                                <a:gd name="T3" fmla="*/ 19 h 38"/>
                                <a:gd name="T4" fmla="*/ 25 w 64"/>
                                <a:gd name="T5" fmla="*/ 38 h 38"/>
                                <a:gd name="T6" fmla="*/ 0 w 64"/>
                                <a:gd name="T7" fmla="*/ 21 h 38"/>
                                <a:gd name="T8" fmla="*/ 36 w 64"/>
                                <a:gd name="T9" fmla="*/ 0 h 38"/>
                              </a:gdLst>
                              <a:ahLst/>
                              <a:cxnLst>
                                <a:cxn ang="0">
                                  <a:pos x="T0" y="T1"/>
                                </a:cxn>
                                <a:cxn ang="0">
                                  <a:pos x="T2" y="T3"/>
                                </a:cxn>
                                <a:cxn ang="0">
                                  <a:pos x="T4" y="T5"/>
                                </a:cxn>
                                <a:cxn ang="0">
                                  <a:pos x="T6" y="T7"/>
                                </a:cxn>
                                <a:cxn ang="0">
                                  <a:pos x="T8" y="T9"/>
                                </a:cxn>
                              </a:cxnLst>
                              <a:rect l="0" t="0" r="r" b="b"/>
                              <a:pathLst>
                                <a:path w="64" h="38">
                                  <a:moveTo>
                                    <a:pt x="36" y="0"/>
                                  </a:moveTo>
                                  <a:lnTo>
                                    <a:pt x="64" y="19"/>
                                  </a:lnTo>
                                  <a:lnTo>
                                    <a:pt x="25" y="38"/>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4" name="Freeform 176"/>
                            <p:cNvSpPr/>
                            <p:nvPr/>
                          </p:nvSpPr>
                          <p:spPr bwMode="auto">
                            <a:xfrm>
                              <a:off x="2583" y="3074"/>
                              <a:ext cx="9" cy="5"/>
                            </a:xfrm>
                            <a:custGeom>
                              <a:avLst/>
                              <a:gdLst>
                                <a:gd name="T0" fmla="*/ 43 w 69"/>
                                <a:gd name="T1" fmla="*/ 0 h 39"/>
                                <a:gd name="T2" fmla="*/ 69 w 69"/>
                                <a:gd name="T3" fmla="*/ 20 h 39"/>
                                <a:gd name="T4" fmla="*/ 30 w 69"/>
                                <a:gd name="T5" fmla="*/ 39 h 39"/>
                                <a:gd name="T6" fmla="*/ 0 w 69"/>
                                <a:gd name="T7" fmla="*/ 22 h 39"/>
                                <a:gd name="T8" fmla="*/ 43 w 69"/>
                                <a:gd name="T9" fmla="*/ 0 h 39"/>
                              </a:gdLst>
                              <a:ahLst/>
                              <a:cxnLst>
                                <a:cxn ang="0">
                                  <a:pos x="T0" y="T1"/>
                                </a:cxn>
                                <a:cxn ang="0">
                                  <a:pos x="T2" y="T3"/>
                                </a:cxn>
                                <a:cxn ang="0">
                                  <a:pos x="T4" y="T5"/>
                                </a:cxn>
                                <a:cxn ang="0">
                                  <a:pos x="T6" y="T7"/>
                                </a:cxn>
                                <a:cxn ang="0">
                                  <a:pos x="T8" y="T9"/>
                                </a:cxn>
                              </a:cxnLst>
                              <a:rect l="0" t="0" r="r" b="b"/>
                              <a:pathLst>
                                <a:path w="69" h="39">
                                  <a:moveTo>
                                    <a:pt x="43" y="0"/>
                                  </a:moveTo>
                                  <a:lnTo>
                                    <a:pt x="69" y="20"/>
                                  </a:lnTo>
                                  <a:lnTo>
                                    <a:pt x="30" y="39"/>
                                  </a:lnTo>
                                  <a:lnTo>
                                    <a:pt x="0" y="22"/>
                                  </a:lnTo>
                                  <a:lnTo>
                                    <a:pt x="4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5" name="Freeform 177"/>
                            <p:cNvSpPr/>
                            <p:nvPr/>
                          </p:nvSpPr>
                          <p:spPr bwMode="auto">
                            <a:xfrm>
                              <a:off x="2589" y="3073"/>
                              <a:ext cx="8" cy="4"/>
                            </a:xfrm>
                            <a:custGeom>
                              <a:avLst/>
                              <a:gdLst>
                                <a:gd name="T0" fmla="*/ 26 w 55"/>
                                <a:gd name="T1" fmla="*/ 0 h 33"/>
                                <a:gd name="T2" fmla="*/ 55 w 55"/>
                                <a:gd name="T3" fmla="*/ 19 h 33"/>
                                <a:gd name="T4" fmla="*/ 30 w 55"/>
                                <a:gd name="T5" fmla="*/ 33 h 33"/>
                                <a:gd name="T6" fmla="*/ 0 w 55"/>
                                <a:gd name="T7" fmla="*/ 12 h 33"/>
                                <a:gd name="T8" fmla="*/ 26 w 55"/>
                                <a:gd name="T9" fmla="*/ 0 h 33"/>
                              </a:gdLst>
                              <a:ahLst/>
                              <a:cxnLst>
                                <a:cxn ang="0">
                                  <a:pos x="T0" y="T1"/>
                                </a:cxn>
                                <a:cxn ang="0">
                                  <a:pos x="T2" y="T3"/>
                                </a:cxn>
                                <a:cxn ang="0">
                                  <a:pos x="T4" y="T5"/>
                                </a:cxn>
                                <a:cxn ang="0">
                                  <a:pos x="T6" y="T7"/>
                                </a:cxn>
                                <a:cxn ang="0">
                                  <a:pos x="T8" y="T9"/>
                                </a:cxn>
                              </a:cxnLst>
                              <a:rect l="0" t="0" r="r" b="b"/>
                              <a:pathLst>
                                <a:path w="55" h="33">
                                  <a:moveTo>
                                    <a:pt x="26" y="0"/>
                                  </a:moveTo>
                                  <a:lnTo>
                                    <a:pt x="55" y="19"/>
                                  </a:lnTo>
                                  <a:lnTo>
                                    <a:pt x="30" y="33"/>
                                  </a:lnTo>
                                  <a:lnTo>
                                    <a:pt x="0" y="12"/>
                                  </a:lnTo>
                                  <a:lnTo>
                                    <a:pt x="2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6" name="Freeform 178"/>
                            <p:cNvSpPr/>
                            <p:nvPr/>
                          </p:nvSpPr>
                          <p:spPr bwMode="auto">
                            <a:xfrm>
                              <a:off x="2564" y="3082"/>
                              <a:ext cx="10" cy="5"/>
                            </a:xfrm>
                            <a:custGeom>
                              <a:avLst/>
                              <a:gdLst>
                                <a:gd name="T0" fmla="*/ 40 w 65"/>
                                <a:gd name="T1" fmla="*/ 0 h 38"/>
                                <a:gd name="T2" fmla="*/ 65 w 65"/>
                                <a:gd name="T3" fmla="*/ 18 h 38"/>
                                <a:gd name="T4" fmla="*/ 27 w 65"/>
                                <a:gd name="T5" fmla="*/ 38 h 38"/>
                                <a:gd name="T6" fmla="*/ 0 w 65"/>
                                <a:gd name="T7" fmla="*/ 22 h 38"/>
                                <a:gd name="T8" fmla="*/ 40 w 65"/>
                                <a:gd name="T9" fmla="*/ 0 h 38"/>
                              </a:gdLst>
                              <a:ahLst/>
                              <a:cxnLst>
                                <a:cxn ang="0">
                                  <a:pos x="T0" y="T1"/>
                                </a:cxn>
                                <a:cxn ang="0">
                                  <a:pos x="T2" y="T3"/>
                                </a:cxn>
                                <a:cxn ang="0">
                                  <a:pos x="T4" y="T5"/>
                                </a:cxn>
                                <a:cxn ang="0">
                                  <a:pos x="T6" y="T7"/>
                                </a:cxn>
                                <a:cxn ang="0">
                                  <a:pos x="T8" y="T9"/>
                                </a:cxn>
                              </a:cxnLst>
                              <a:rect l="0" t="0" r="r" b="b"/>
                              <a:pathLst>
                                <a:path w="65" h="38">
                                  <a:moveTo>
                                    <a:pt x="40" y="0"/>
                                  </a:moveTo>
                                  <a:lnTo>
                                    <a:pt x="65" y="18"/>
                                  </a:lnTo>
                                  <a:lnTo>
                                    <a:pt x="27" y="38"/>
                                  </a:lnTo>
                                  <a:lnTo>
                                    <a:pt x="0" y="22"/>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7" name="Freeform 179"/>
                            <p:cNvSpPr/>
                            <p:nvPr/>
                          </p:nvSpPr>
                          <p:spPr bwMode="auto">
                            <a:xfrm>
                              <a:off x="2565" y="3077"/>
                              <a:ext cx="11" cy="5"/>
                            </a:xfrm>
                            <a:custGeom>
                              <a:avLst/>
                              <a:gdLst>
                                <a:gd name="T0" fmla="*/ 38 w 74"/>
                                <a:gd name="T1" fmla="*/ 0 h 44"/>
                                <a:gd name="T2" fmla="*/ 74 w 74"/>
                                <a:gd name="T3" fmla="*/ 24 h 44"/>
                                <a:gd name="T4" fmla="*/ 37 w 74"/>
                                <a:gd name="T5" fmla="*/ 44 h 44"/>
                                <a:gd name="T6" fmla="*/ 0 w 74"/>
                                <a:gd name="T7" fmla="*/ 19 h 44"/>
                                <a:gd name="T8" fmla="*/ 38 w 74"/>
                                <a:gd name="T9" fmla="*/ 0 h 44"/>
                              </a:gdLst>
                              <a:ahLst/>
                              <a:cxnLst>
                                <a:cxn ang="0">
                                  <a:pos x="T0" y="T1"/>
                                </a:cxn>
                                <a:cxn ang="0">
                                  <a:pos x="T2" y="T3"/>
                                </a:cxn>
                                <a:cxn ang="0">
                                  <a:pos x="T4" y="T5"/>
                                </a:cxn>
                                <a:cxn ang="0">
                                  <a:pos x="T6" y="T7"/>
                                </a:cxn>
                                <a:cxn ang="0">
                                  <a:pos x="T8" y="T9"/>
                                </a:cxn>
                              </a:cxnLst>
                              <a:rect l="0" t="0" r="r" b="b"/>
                              <a:pathLst>
                                <a:path w="74" h="44">
                                  <a:moveTo>
                                    <a:pt x="38" y="0"/>
                                  </a:moveTo>
                                  <a:lnTo>
                                    <a:pt x="74" y="24"/>
                                  </a:lnTo>
                                  <a:lnTo>
                                    <a:pt x="37" y="44"/>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8" name="Freeform 180"/>
                            <p:cNvSpPr/>
                            <p:nvPr/>
                          </p:nvSpPr>
                          <p:spPr bwMode="auto">
                            <a:xfrm>
                              <a:off x="2571" y="3074"/>
                              <a:ext cx="11" cy="6"/>
                            </a:xfrm>
                            <a:custGeom>
                              <a:avLst/>
                              <a:gdLst>
                                <a:gd name="T0" fmla="*/ 39 w 75"/>
                                <a:gd name="T1" fmla="*/ 0 h 44"/>
                                <a:gd name="T2" fmla="*/ 75 w 75"/>
                                <a:gd name="T3" fmla="*/ 24 h 44"/>
                                <a:gd name="T4" fmla="*/ 37 w 75"/>
                                <a:gd name="T5" fmla="*/ 44 h 44"/>
                                <a:gd name="T6" fmla="*/ 0 w 75"/>
                                <a:gd name="T7" fmla="*/ 19 h 44"/>
                                <a:gd name="T8" fmla="*/ 39 w 75"/>
                                <a:gd name="T9" fmla="*/ 0 h 44"/>
                              </a:gdLst>
                              <a:ahLst/>
                              <a:cxnLst>
                                <a:cxn ang="0">
                                  <a:pos x="T0" y="T1"/>
                                </a:cxn>
                                <a:cxn ang="0">
                                  <a:pos x="T2" y="T3"/>
                                </a:cxn>
                                <a:cxn ang="0">
                                  <a:pos x="T4" y="T5"/>
                                </a:cxn>
                                <a:cxn ang="0">
                                  <a:pos x="T6" y="T7"/>
                                </a:cxn>
                                <a:cxn ang="0">
                                  <a:pos x="T8" y="T9"/>
                                </a:cxn>
                              </a:cxnLst>
                              <a:rect l="0" t="0" r="r" b="b"/>
                              <a:pathLst>
                                <a:path w="75" h="44">
                                  <a:moveTo>
                                    <a:pt x="39" y="0"/>
                                  </a:moveTo>
                                  <a:lnTo>
                                    <a:pt x="75" y="24"/>
                                  </a:lnTo>
                                  <a:lnTo>
                                    <a:pt x="37" y="44"/>
                                  </a:lnTo>
                                  <a:lnTo>
                                    <a:pt x="0" y="19"/>
                                  </a:lnTo>
                                  <a:lnTo>
                                    <a:pt x="3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9" name="Freeform 181"/>
                            <p:cNvSpPr/>
                            <p:nvPr/>
                          </p:nvSpPr>
                          <p:spPr bwMode="auto">
                            <a:xfrm>
                              <a:off x="2578" y="3072"/>
                              <a:ext cx="10" cy="5"/>
                            </a:xfrm>
                            <a:custGeom>
                              <a:avLst/>
                              <a:gdLst>
                                <a:gd name="T0" fmla="*/ 38 w 72"/>
                                <a:gd name="T1" fmla="*/ 0 h 41"/>
                                <a:gd name="T2" fmla="*/ 72 w 72"/>
                                <a:gd name="T3" fmla="*/ 22 h 41"/>
                                <a:gd name="T4" fmla="*/ 34 w 72"/>
                                <a:gd name="T5" fmla="*/ 41 h 41"/>
                                <a:gd name="T6" fmla="*/ 0 w 72"/>
                                <a:gd name="T7" fmla="*/ 19 h 41"/>
                                <a:gd name="T8" fmla="*/ 38 w 72"/>
                                <a:gd name="T9" fmla="*/ 0 h 41"/>
                              </a:gdLst>
                              <a:ahLst/>
                              <a:cxnLst>
                                <a:cxn ang="0">
                                  <a:pos x="T0" y="T1"/>
                                </a:cxn>
                                <a:cxn ang="0">
                                  <a:pos x="T2" y="T3"/>
                                </a:cxn>
                                <a:cxn ang="0">
                                  <a:pos x="T4" y="T5"/>
                                </a:cxn>
                                <a:cxn ang="0">
                                  <a:pos x="T6" y="T7"/>
                                </a:cxn>
                                <a:cxn ang="0">
                                  <a:pos x="T8" y="T9"/>
                                </a:cxn>
                              </a:cxnLst>
                              <a:rect l="0" t="0" r="r" b="b"/>
                              <a:pathLst>
                                <a:path w="72" h="41">
                                  <a:moveTo>
                                    <a:pt x="38" y="0"/>
                                  </a:moveTo>
                                  <a:lnTo>
                                    <a:pt x="72" y="22"/>
                                  </a:lnTo>
                                  <a:lnTo>
                                    <a:pt x="34" y="41"/>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0" name="Freeform 182"/>
                            <p:cNvSpPr/>
                            <p:nvPr/>
                          </p:nvSpPr>
                          <p:spPr bwMode="auto">
                            <a:xfrm>
                              <a:off x="2584" y="3070"/>
                              <a:ext cx="8" cy="5"/>
                            </a:xfrm>
                            <a:custGeom>
                              <a:avLst/>
                              <a:gdLst>
                                <a:gd name="T0" fmla="*/ 25 w 58"/>
                                <a:gd name="T1" fmla="*/ 0 h 33"/>
                                <a:gd name="T2" fmla="*/ 58 w 58"/>
                                <a:gd name="T3" fmla="*/ 21 h 33"/>
                                <a:gd name="T4" fmla="*/ 36 w 58"/>
                                <a:gd name="T5" fmla="*/ 33 h 33"/>
                                <a:gd name="T6" fmla="*/ 0 w 58"/>
                                <a:gd name="T7" fmla="*/ 12 h 33"/>
                                <a:gd name="T8" fmla="*/ 25 w 58"/>
                                <a:gd name="T9" fmla="*/ 0 h 33"/>
                              </a:gdLst>
                              <a:ahLst/>
                              <a:cxnLst>
                                <a:cxn ang="0">
                                  <a:pos x="T0" y="T1"/>
                                </a:cxn>
                                <a:cxn ang="0">
                                  <a:pos x="T2" y="T3"/>
                                </a:cxn>
                                <a:cxn ang="0">
                                  <a:pos x="T4" y="T5"/>
                                </a:cxn>
                                <a:cxn ang="0">
                                  <a:pos x="T6" y="T7"/>
                                </a:cxn>
                                <a:cxn ang="0">
                                  <a:pos x="T8" y="T9"/>
                                </a:cxn>
                              </a:cxnLst>
                              <a:rect l="0" t="0" r="r" b="b"/>
                              <a:pathLst>
                                <a:path w="58" h="33">
                                  <a:moveTo>
                                    <a:pt x="25" y="0"/>
                                  </a:moveTo>
                                  <a:lnTo>
                                    <a:pt x="58" y="21"/>
                                  </a:lnTo>
                                  <a:lnTo>
                                    <a:pt x="36" y="33"/>
                                  </a:lnTo>
                                  <a:lnTo>
                                    <a:pt x="0" y="12"/>
                                  </a:lnTo>
                                  <a:lnTo>
                                    <a:pt x="2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1" name="Freeform 183"/>
                            <p:cNvSpPr/>
                            <p:nvPr/>
                          </p:nvSpPr>
                          <p:spPr bwMode="auto">
                            <a:xfrm>
                              <a:off x="2559" y="3079"/>
                              <a:ext cx="11" cy="6"/>
                            </a:xfrm>
                            <a:custGeom>
                              <a:avLst/>
                              <a:gdLst>
                                <a:gd name="T0" fmla="*/ 40 w 79"/>
                                <a:gd name="T1" fmla="*/ 0 h 45"/>
                                <a:gd name="T2" fmla="*/ 79 w 79"/>
                                <a:gd name="T3" fmla="*/ 24 h 45"/>
                                <a:gd name="T4" fmla="*/ 41 w 79"/>
                                <a:gd name="T5" fmla="*/ 45 h 45"/>
                                <a:gd name="T6" fmla="*/ 0 w 79"/>
                                <a:gd name="T7" fmla="*/ 18 h 45"/>
                                <a:gd name="T8" fmla="*/ 40 w 79"/>
                                <a:gd name="T9" fmla="*/ 0 h 45"/>
                              </a:gdLst>
                              <a:ahLst/>
                              <a:cxnLst>
                                <a:cxn ang="0">
                                  <a:pos x="T0" y="T1"/>
                                </a:cxn>
                                <a:cxn ang="0">
                                  <a:pos x="T2" y="T3"/>
                                </a:cxn>
                                <a:cxn ang="0">
                                  <a:pos x="T4" y="T5"/>
                                </a:cxn>
                                <a:cxn ang="0">
                                  <a:pos x="T6" y="T7"/>
                                </a:cxn>
                                <a:cxn ang="0">
                                  <a:pos x="T8" y="T9"/>
                                </a:cxn>
                              </a:cxnLst>
                              <a:rect l="0" t="0" r="r" b="b"/>
                              <a:pathLst>
                                <a:path w="79" h="45">
                                  <a:moveTo>
                                    <a:pt x="40" y="0"/>
                                  </a:moveTo>
                                  <a:lnTo>
                                    <a:pt x="79" y="24"/>
                                  </a:lnTo>
                                  <a:lnTo>
                                    <a:pt x="41" y="45"/>
                                  </a:lnTo>
                                  <a:lnTo>
                                    <a:pt x="0" y="18"/>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2" name="Freeform 184"/>
                            <p:cNvSpPr/>
                            <p:nvPr/>
                          </p:nvSpPr>
                          <p:spPr bwMode="auto">
                            <a:xfrm>
                              <a:off x="2550" y="3074"/>
                              <a:ext cx="14" cy="8"/>
                            </a:xfrm>
                            <a:custGeom>
                              <a:avLst/>
                              <a:gdLst>
                                <a:gd name="T0" fmla="*/ 38 w 98"/>
                                <a:gd name="T1" fmla="*/ 0 h 58"/>
                                <a:gd name="T2" fmla="*/ 98 w 98"/>
                                <a:gd name="T3" fmla="*/ 43 h 58"/>
                                <a:gd name="T4" fmla="*/ 60 w 98"/>
                                <a:gd name="T5" fmla="*/ 58 h 58"/>
                                <a:gd name="T6" fmla="*/ 0 w 98"/>
                                <a:gd name="T7" fmla="*/ 19 h 58"/>
                                <a:gd name="T8" fmla="*/ 38 w 98"/>
                                <a:gd name="T9" fmla="*/ 0 h 58"/>
                              </a:gdLst>
                              <a:ahLst/>
                              <a:cxnLst>
                                <a:cxn ang="0">
                                  <a:pos x="T0" y="T1"/>
                                </a:cxn>
                                <a:cxn ang="0">
                                  <a:pos x="T2" y="T3"/>
                                </a:cxn>
                                <a:cxn ang="0">
                                  <a:pos x="T4" y="T5"/>
                                </a:cxn>
                                <a:cxn ang="0">
                                  <a:pos x="T6" y="T7"/>
                                </a:cxn>
                                <a:cxn ang="0">
                                  <a:pos x="T8" y="T9"/>
                                </a:cxn>
                              </a:cxnLst>
                              <a:rect l="0" t="0" r="r" b="b"/>
                              <a:pathLst>
                                <a:path w="98" h="58">
                                  <a:moveTo>
                                    <a:pt x="38" y="0"/>
                                  </a:moveTo>
                                  <a:lnTo>
                                    <a:pt x="98" y="43"/>
                                  </a:lnTo>
                                  <a:lnTo>
                                    <a:pt x="60" y="58"/>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3" name="Freeform 185"/>
                            <p:cNvSpPr/>
                            <p:nvPr/>
                          </p:nvSpPr>
                          <p:spPr bwMode="auto">
                            <a:xfrm>
                              <a:off x="2551" y="3068"/>
                              <a:ext cx="19" cy="11"/>
                            </a:xfrm>
                            <a:custGeom>
                              <a:avLst/>
                              <a:gdLst>
                                <a:gd name="T0" fmla="*/ 0 w 130"/>
                                <a:gd name="T1" fmla="*/ 33 h 92"/>
                                <a:gd name="T2" fmla="*/ 95 w 130"/>
                                <a:gd name="T3" fmla="*/ 92 h 92"/>
                                <a:gd name="T4" fmla="*/ 130 w 130"/>
                                <a:gd name="T5" fmla="*/ 76 h 92"/>
                                <a:gd name="T6" fmla="*/ 64 w 130"/>
                                <a:gd name="T7" fmla="*/ 33 h 92"/>
                                <a:gd name="T8" fmla="*/ 112 w 130"/>
                                <a:gd name="T9" fmla="*/ 13 h 92"/>
                                <a:gd name="T10" fmla="*/ 88 w 130"/>
                                <a:gd name="T11" fmla="*/ 0 h 92"/>
                                <a:gd name="T12" fmla="*/ 0 w 130"/>
                                <a:gd name="T13" fmla="*/ 33 h 92"/>
                              </a:gdLst>
                              <a:ahLst/>
                              <a:cxnLst>
                                <a:cxn ang="0">
                                  <a:pos x="T0" y="T1"/>
                                </a:cxn>
                                <a:cxn ang="0">
                                  <a:pos x="T2" y="T3"/>
                                </a:cxn>
                                <a:cxn ang="0">
                                  <a:pos x="T4" y="T5"/>
                                </a:cxn>
                                <a:cxn ang="0">
                                  <a:pos x="T6" y="T7"/>
                                </a:cxn>
                                <a:cxn ang="0">
                                  <a:pos x="T8" y="T9"/>
                                </a:cxn>
                                <a:cxn ang="0">
                                  <a:pos x="T10" y="T11"/>
                                </a:cxn>
                                <a:cxn ang="0">
                                  <a:pos x="T12" y="T13"/>
                                </a:cxn>
                              </a:cxnLst>
                              <a:rect l="0" t="0" r="r" b="b"/>
                              <a:pathLst>
                                <a:path w="130" h="92">
                                  <a:moveTo>
                                    <a:pt x="0" y="33"/>
                                  </a:moveTo>
                                  <a:lnTo>
                                    <a:pt x="95" y="92"/>
                                  </a:lnTo>
                                  <a:lnTo>
                                    <a:pt x="130" y="76"/>
                                  </a:lnTo>
                                  <a:lnTo>
                                    <a:pt x="64" y="33"/>
                                  </a:lnTo>
                                  <a:lnTo>
                                    <a:pt x="112" y="13"/>
                                  </a:lnTo>
                                  <a:lnTo>
                                    <a:pt x="88" y="0"/>
                                  </a:lnTo>
                                  <a:lnTo>
                                    <a:pt x="0" y="3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4" name="Freeform 186"/>
                            <p:cNvSpPr/>
                            <p:nvPr/>
                          </p:nvSpPr>
                          <p:spPr bwMode="auto">
                            <a:xfrm>
                              <a:off x="2562" y="3070"/>
                              <a:ext cx="15" cy="7"/>
                            </a:xfrm>
                            <a:custGeom>
                              <a:avLst/>
                              <a:gdLst>
                                <a:gd name="T0" fmla="*/ 0 w 100"/>
                                <a:gd name="T1" fmla="*/ 19 h 59"/>
                                <a:gd name="T2" fmla="*/ 61 w 100"/>
                                <a:gd name="T3" fmla="*/ 59 h 59"/>
                                <a:gd name="T4" fmla="*/ 100 w 100"/>
                                <a:gd name="T5" fmla="*/ 41 h 59"/>
                                <a:gd name="T6" fmla="*/ 37 w 100"/>
                                <a:gd name="T7" fmla="*/ 0 h 59"/>
                                <a:gd name="T8" fmla="*/ 0 w 100"/>
                                <a:gd name="T9" fmla="*/ 19 h 59"/>
                              </a:gdLst>
                              <a:ahLst/>
                              <a:cxnLst>
                                <a:cxn ang="0">
                                  <a:pos x="T0" y="T1"/>
                                </a:cxn>
                                <a:cxn ang="0">
                                  <a:pos x="T2" y="T3"/>
                                </a:cxn>
                                <a:cxn ang="0">
                                  <a:pos x="T4" y="T5"/>
                                </a:cxn>
                                <a:cxn ang="0">
                                  <a:pos x="T6" y="T7"/>
                                </a:cxn>
                                <a:cxn ang="0">
                                  <a:pos x="T8" y="T9"/>
                                </a:cxn>
                              </a:cxnLst>
                              <a:rect l="0" t="0" r="r" b="b"/>
                              <a:pathLst>
                                <a:path w="100" h="59">
                                  <a:moveTo>
                                    <a:pt x="0" y="19"/>
                                  </a:moveTo>
                                  <a:lnTo>
                                    <a:pt x="61" y="59"/>
                                  </a:lnTo>
                                  <a:lnTo>
                                    <a:pt x="100" y="41"/>
                                  </a:lnTo>
                                  <a:lnTo>
                                    <a:pt x="37" y="0"/>
                                  </a:lnTo>
                                  <a:lnTo>
                                    <a:pt x="0" y="1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5" name="Freeform 187"/>
                            <p:cNvSpPr/>
                            <p:nvPr/>
                          </p:nvSpPr>
                          <p:spPr bwMode="auto">
                            <a:xfrm>
                              <a:off x="2573" y="3070"/>
                              <a:ext cx="10" cy="5"/>
                            </a:xfrm>
                            <a:custGeom>
                              <a:avLst/>
                              <a:gdLst>
                                <a:gd name="T0" fmla="*/ 0 w 70"/>
                                <a:gd name="T1" fmla="*/ 20 h 38"/>
                                <a:gd name="T2" fmla="*/ 29 w 70"/>
                                <a:gd name="T3" fmla="*/ 38 h 38"/>
                                <a:gd name="T4" fmla="*/ 70 w 70"/>
                                <a:gd name="T5" fmla="*/ 18 h 38"/>
                                <a:gd name="T6" fmla="*/ 40 w 70"/>
                                <a:gd name="T7" fmla="*/ 0 h 38"/>
                                <a:gd name="T8" fmla="*/ 0 w 70"/>
                                <a:gd name="T9" fmla="*/ 20 h 38"/>
                              </a:gdLst>
                              <a:ahLst/>
                              <a:cxnLst>
                                <a:cxn ang="0">
                                  <a:pos x="T0" y="T1"/>
                                </a:cxn>
                                <a:cxn ang="0">
                                  <a:pos x="T2" y="T3"/>
                                </a:cxn>
                                <a:cxn ang="0">
                                  <a:pos x="T4" y="T5"/>
                                </a:cxn>
                                <a:cxn ang="0">
                                  <a:pos x="T6" y="T7"/>
                                </a:cxn>
                                <a:cxn ang="0">
                                  <a:pos x="T8" y="T9"/>
                                </a:cxn>
                              </a:cxnLst>
                              <a:rect l="0" t="0" r="r" b="b"/>
                              <a:pathLst>
                                <a:path w="70" h="38">
                                  <a:moveTo>
                                    <a:pt x="0" y="20"/>
                                  </a:moveTo>
                                  <a:lnTo>
                                    <a:pt x="29" y="38"/>
                                  </a:lnTo>
                                  <a:lnTo>
                                    <a:pt x="70" y="18"/>
                                  </a:lnTo>
                                  <a:lnTo>
                                    <a:pt x="40" y="0"/>
                                  </a:lnTo>
                                  <a:lnTo>
                                    <a:pt x="0" y="2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6" name="Freeform 188"/>
                            <p:cNvSpPr/>
                            <p:nvPr/>
                          </p:nvSpPr>
                          <p:spPr bwMode="auto">
                            <a:xfrm>
                              <a:off x="2568" y="3067"/>
                              <a:ext cx="10" cy="5"/>
                            </a:xfrm>
                            <a:custGeom>
                              <a:avLst/>
                              <a:gdLst>
                                <a:gd name="T0" fmla="*/ 0 w 70"/>
                                <a:gd name="T1" fmla="*/ 18 h 39"/>
                                <a:gd name="T2" fmla="*/ 32 w 70"/>
                                <a:gd name="T3" fmla="*/ 39 h 39"/>
                                <a:gd name="T4" fmla="*/ 70 w 70"/>
                                <a:gd name="T5" fmla="*/ 18 h 39"/>
                                <a:gd name="T6" fmla="*/ 38 w 70"/>
                                <a:gd name="T7" fmla="*/ 0 h 39"/>
                                <a:gd name="T8" fmla="*/ 0 w 70"/>
                                <a:gd name="T9" fmla="*/ 18 h 39"/>
                              </a:gdLst>
                              <a:ahLst/>
                              <a:cxnLst>
                                <a:cxn ang="0">
                                  <a:pos x="T0" y="T1"/>
                                </a:cxn>
                                <a:cxn ang="0">
                                  <a:pos x="T2" y="T3"/>
                                </a:cxn>
                                <a:cxn ang="0">
                                  <a:pos x="T4" y="T5"/>
                                </a:cxn>
                                <a:cxn ang="0">
                                  <a:pos x="T6" y="T7"/>
                                </a:cxn>
                                <a:cxn ang="0">
                                  <a:pos x="T8" y="T9"/>
                                </a:cxn>
                              </a:cxnLst>
                              <a:rect l="0" t="0" r="r" b="b"/>
                              <a:pathLst>
                                <a:path w="70" h="39">
                                  <a:moveTo>
                                    <a:pt x="0" y="18"/>
                                  </a:moveTo>
                                  <a:lnTo>
                                    <a:pt x="32" y="39"/>
                                  </a:lnTo>
                                  <a:lnTo>
                                    <a:pt x="70" y="18"/>
                                  </a:lnTo>
                                  <a:lnTo>
                                    <a:pt x="38" y="0"/>
                                  </a:lnTo>
                                  <a:lnTo>
                                    <a:pt x="0" y="1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7" name="Freeform 189"/>
                            <p:cNvSpPr/>
                            <p:nvPr/>
                          </p:nvSpPr>
                          <p:spPr bwMode="auto">
                            <a:xfrm>
                              <a:off x="2564" y="3065"/>
                              <a:ext cx="9" cy="5"/>
                            </a:xfrm>
                            <a:custGeom>
                              <a:avLst/>
                              <a:gdLst>
                                <a:gd name="T0" fmla="*/ 0 w 65"/>
                                <a:gd name="T1" fmla="*/ 19 h 36"/>
                                <a:gd name="T2" fmla="*/ 26 w 65"/>
                                <a:gd name="T3" fmla="*/ 36 h 36"/>
                                <a:gd name="T4" fmla="*/ 65 w 65"/>
                                <a:gd name="T5" fmla="*/ 17 h 36"/>
                                <a:gd name="T6" fmla="*/ 42 w 65"/>
                                <a:gd name="T7" fmla="*/ 0 h 36"/>
                                <a:gd name="T8" fmla="*/ 0 w 65"/>
                                <a:gd name="T9" fmla="*/ 19 h 36"/>
                              </a:gdLst>
                              <a:ahLst/>
                              <a:cxnLst>
                                <a:cxn ang="0">
                                  <a:pos x="T0" y="T1"/>
                                </a:cxn>
                                <a:cxn ang="0">
                                  <a:pos x="T2" y="T3"/>
                                </a:cxn>
                                <a:cxn ang="0">
                                  <a:pos x="T4" y="T5"/>
                                </a:cxn>
                                <a:cxn ang="0">
                                  <a:pos x="T6" y="T7"/>
                                </a:cxn>
                                <a:cxn ang="0">
                                  <a:pos x="T8" y="T9"/>
                                </a:cxn>
                              </a:cxnLst>
                              <a:rect l="0" t="0" r="r" b="b"/>
                              <a:pathLst>
                                <a:path w="65" h="36">
                                  <a:moveTo>
                                    <a:pt x="0" y="19"/>
                                  </a:moveTo>
                                  <a:lnTo>
                                    <a:pt x="26" y="36"/>
                                  </a:lnTo>
                                  <a:lnTo>
                                    <a:pt x="65" y="17"/>
                                  </a:lnTo>
                                  <a:lnTo>
                                    <a:pt x="42" y="0"/>
                                  </a:lnTo>
                                  <a:lnTo>
                                    <a:pt x="0" y="1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8" name="Freeform 190"/>
                            <p:cNvSpPr/>
                            <p:nvPr/>
                          </p:nvSpPr>
                          <p:spPr bwMode="auto">
                            <a:xfrm>
                              <a:off x="2571" y="3064"/>
                              <a:ext cx="7" cy="3"/>
                            </a:xfrm>
                            <a:custGeom>
                              <a:avLst/>
                              <a:gdLst>
                                <a:gd name="T0" fmla="*/ 0 w 47"/>
                                <a:gd name="T1" fmla="*/ 12 h 27"/>
                                <a:gd name="T2" fmla="*/ 25 w 47"/>
                                <a:gd name="T3" fmla="*/ 27 h 27"/>
                                <a:gd name="T4" fmla="*/ 47 w 47"/>
                                <a:gd name="T5" fmla="*/ 14 h 27"/>
                                <a:gd name="T6" fmla="*/ 22 w 47"/>
                                <a:gd name="T7" fmla="*/ 0 h 27"/>
                                <a:gd name="T8" fmla="*/ 0 w 47"/>
                                <a:gd name="T9" fmla="*/ 12 h 27"/>
                              </a:gdLst>
                              <a:ahLst/>
                              <a:cxnLst>
                                <a:cxn ang="0">
                                  <a:pos x="T0" y="T1"/>
                                </a:cxn>
                                <a:cxn ang="0">
                                  <a:pos x="T2" y="T3"/>
                                </a:cxn>
                                <a:cxn ang="0">
                                  <a:pos x="T4" y="T5"/>
                                </a:cxn>
                                <a:cxn ang="0">
                                  <a:pos x="T6" y="T7"/>
                                </a:cxn>
                                <a:cxn ang="0">
                                  <a:pos x="T8" y="T9"/>
                                </a:cxn>
                              </a:cxnLst>
                              <a:rect l="0" t="0" r="r" b="b"/>
                              <a:pathLst>
                                <a:path w="47" h="27">
                                  <a:moveTo>
                                    <a:pt x="0" y="12"/>
                                  </a:moveTo>
                                  <a:lnTo>
                                    <a:pt x="25" y="27"/>
                                  </a:lnTo>
                                  <a:lnTo>
                                    <a:pt x="47" y="14"/>
                                  </a:lnTo>
                                  <a:lnTo>
                                    <a:pt x="22" y="0"/>
                                  </a:lnTo>
                                  <a:lnTo>
                                    <a:pt x="0" y="1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9" name="Freeform 191"/>
                            <p:cNvSpPr/>
                            <p:nvPr/>
                          </p:nvSpPr>
                          <p:spPr bwMode="auto">
                            <a:xfrm>
                              <a:off x="2575" y="3066"/>
                              <a:ext cx="7" cy="4"/>
                            </a:xfrm>
                            <a:custGeom>
                              <a:avLst/>
                              <a:gdLst>
                                <a:gd name="T0" fmla="*/ 0 w 53"/>
                                <a:gd name="T1" fmla="*/ 12 h 33"/>
                                <a:gd name="T2" fmla="*/ 32 w 53"/>
                                <a:gd name="T3" fmla="*/ 33 h 33"/>
                                <a:gd name="T4" fmla="*/ 53 w 53"/>
                                <a:gd name="T5" fmla="*/ 21 h 33"/>
                                <a:gd name="T6" fmla="*/ 22 w 53"/>
                                <a:gd name="T7" fmla="*/ 0 h 33"/>
                                <a:gd name="T8" fmla="*/ 0 w 53"/>
                                <a:gd name="T9" fmla="*/ 12 h 33"/>
                              </a:gdLst>
                              <a:ahLst/>
                              <a:cxnLst>
                                <a:cxn ang="0">
                                  <a:pos x="T0" y="T1"/>
                                </a:cxn>
                                <a:cxn ang="0">
                                  <a:pos x="T2" y="T3"/>
                                </a:cxn>
                                <a:cxn ang="0">
                                  <a:pos x="T4" y="T5"/>
                                </a:cxn>
                                <a:cxn ang="0">
                                  <a:pos x="T6" y="T7"/>
                                </a:cxn>
                                <a:cxn ang="0">
                                  <a:pos x="T8" y="T9"/>
                                </a:cxn>
                              </a:cxnLst>
                              <a:rect l="0" t="0" r="r" b="b"/>
                              <a:pathLst>
                                <a:path w="53" h="33">
                                  <a:moveTo>
                                    <a:pt x="0" y="12"/>
                                  </a:moveTo>
                                  <a:lnTo>
                                    <a:pt x="32" y="33"/>
                                  </a:lnTo>
                                  <a:lnTo>
                                    <a:pt x="53" y="21"/>
                                  </a:lnTo>
                                  <a:lnTo>
                                    <a:pt x="22" y="0"/>
                                  </a:lnTo>
                                  <a:lnTo>
                                    <a:pt x="0" y="1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0" name="Freeform 192"/>
                            <p:cNvSpPr/>
                            <p:nvPr/>
                          </p:nvSpPr>
                          <p:spPr bwMode="auto">
                            <a:xfrm>
                              <a:off x="2545" y="3072"/>
                              <a:ext cx="10" cy="5"/>
                            </a:xfrm>
                            <a:custGeom>
                              <a:avLst/>
                              <a:gdLst>
                                <a:gd name="T0" fmla="*/ 0 w 68"/>
                                <a:gd name="T1" fmla="*/ 19 h 39"/>
                                <a:gd name="T2" fmla="*/ 27 w 68"/>
                                <a:gd name="T3" fmla="*/ 39 h 39"/>
                                <a:gd name="T4" fmla="*/ 68 w 68"/>
                                <a:gd name="T5" fmla="*/ 19 h 39"/>
                                <a:gd name="T6" fmla="*/ 41 w 68"/>
                                <a:gd name="T7" fmla="*/ 0 h 39"/>
                                <a:gd name="T8" fmla="*/ 0 w 68"/>
                                <a:gd name="T9" fmla="*/ 19 h 39"/>
                              </a:gdLst>
                              <a:ahLst/>
                              <a:cxnLst>
                                <a:cxn ang="0">
                                  <a:pos x="T0" y="T1"/>
                                </a:cxn>
                                <a:cxn ang="0">
                                  <a:pos x="T2" y="T3"/>
                                </a:cxn>
                                <a:cxn ang="0">
                                  <a:pos x="T4" y="T5"/>
                                </a:cxn>
                                <a:cxn ang="0">
                                  <a:pos x="T6" y="T7"/>
                                </a:cxn>
                                <a:cxn ang="0">
                                  <a:pos x="T8" y="T9"/>
                                </a:cxn>
                              </a:cxnLst>
                              <a:rect l="0" t="0" r="r" b="b"/>
                              <a:pathLst>
                                <a:path w="68" h="39">
                                  <a:moveTo>
                                    <a:pt x="0" y="19"/>
                                  </a:moveTo>
                                  <a:lnTo>
                                    <a:pt x="27" y="39"/>
                                  </a:lnTo>
                                  <a:lnTo>
                                    <a:pt x="68" y="19"/>
                                  </a:lnTo>
                                  <a:lnTo>
                                    <a:pt x="41" y="0"/>
                                  </a:lnTo>
                                  <a:lnTo>
                                    <a:pt x="0" y="1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1" name="Freeform 193"/>
                            <p:cNvSpPr/>
                            <p:nvPr/>
                          </p:nvSpPr>
                          <p:spPr bwMode="auto">
                            <a:xfrm>
                              <a:off x="2579" y="3068"/>
                              <a:ext cx="8" cy="4"/>
                            </a:xfrm>
                            <a:custGeom>
                              <a:avLst/>
                              <a:gdLst>
                                <a:gd name="T0" fmla="*/ 0 w 54"/>
                                <a:gd name="T1" fmla="*/ 13 h 33"/>
                                <a:gd name="T2" fmla="*/ 31 w 54"/>
                                <a:gd name="T3" fmla="*/ 33 h 33"/>
                                <a:gd name="T4" fmla="*/ 54 w 54"/>
                                <a:gd name="T5" fmla="*/ 21 h 33"/>
                                <a:gd name="T6" fmla="*/ 22 w 54"/>
                                <a:gd name="T7" fmla="*/ 0 h 33"/>
                                <a:gd name="T8" fmla="*/ 0 w 54"/>
                                <a:gd name="T9" fmla="*/ 13 h 33"/>
                              </a:gdLst>
                              <a:ahLst/>
                              <a:cxnLst>
                                <a:cxn ang="0">
                                  <a:pos x="T0" y="T1"/>
                                </a:cxn>
                                <a:cxn ang="0">
                                  <a:pos x="T2" y="T3"/>
                                </a:cxn>
                                <a:cxn ang="0">
                                  <a:pos x="T4" y="T5"/>
                                </a:cxn>
                                <a:cxn ang="0">
                                  <a:pos x="T6" y="T7"/>
                                </a:cxn>
                                <a:cxn ang="0">
                                  <a:pos x="T8" y="T9"/>
                                </a:cxn>
                              </a:cxnLst>
                              <a:rect l="0" t="0" r="r" b="b"/>
                              <a:pathLst>
                                <a:path w="54" h="33">
                                  <a:moveTo>
                                    <a:pt x="0" y="13"/>
                                  </a:moveTo>
                                  <a:lnTo>
                                    <a:pt x="31" y="33"/>
                                  </a:lnTo>
                                  <a:lnTo>
                                    <a:pt x="54" y="21"/>
                                  </a:lnTo>
                                  <a:lnTo>
                                    <a:pt x="22" y="0"/>
                                  </a:lnTo>
                                  <a:lnTo>
                                    <a:pt x="0"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242" name="Group 194"/>
                        <p:cNvGrpSpPr/>
                        <p:nvPr/>
                      </p:nvGrpSpPr>
                      <p:grpSpPr bwMode="auto">
                        <a:xfrm>
                          <a:off x="2506" y="3084"/>
                          <a:ext cx="128" cy="47"/>
                          <a:chOff x="2506" y="3084"/>
                          <a:chExt cx="128" cy="47"/>
                        </a:xfrm>
                      </p:grpSpPr>
                      <p:sp>
                        <p:nvSpPr>
                          <p:cNvPr id="642243" name="Freeform 195"/>
                          <p:cNvSpPr/>
                          <p:nvPr/>
                        </p:nvSpPr>
                        <p:spPr bwMode="auto">
                          <a:xfrm>
                            <a:off x="2578" y="3106"/>
                            <a:ext cx="56" cy="25"/>
                          </a:xfrm>
                          <a:custGeom>
                            <a:avLst/>
                            <a:gdLst>
                              <a:gd name="T0" fmla="*/ 393 w 393"/>
                              <a:gd name="T1" fmla="*/ 0 h 204"/>
                              <a:gd name="T2" fmla="*/ 11 w 393"/>
                              <a:gd name="T3" fmla="*/ 162 h 204"/>
                              <a:gd name="T4" fmla="*/ 3 w 393"/>
                              <a:gd name="T5" fmla="*/ 172 h 204"/>
                              <a:gd name="T6" fmla="*/ 0 w 393"/>
                              <a:gd name="T7" fmla="*/ 183 h 204"/>
                              <a:gd name="T8" fmla="*/ 3 w 393"/>
                              <a:gd name="T9" fmla="*/ 190 h 204"/>
                              <a:gd name="T10" fmla="*/ 7 w 393"/>
                              <a:gd name="T11" fmla="*/ 200 h 204"/>
                              <a:gd name="T12" fmla="*/ 14 w 393"/>
                              <a:gd name="T13" fmla="*/ 204 h 204"/>
                              <a:gd name="T14" fmla="*/ 384 w 393"/>
                              <a:gd name="T15" fmla="*/ 42 h 204"/>
                              <a:gd name="T16" fmla="*/ 393 w 393"/>
                              <a:gd name="T17" fmla="*/ 0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3" h="204">
                                <a:moveTo>
                                  <a:pt x="393" y="0"/>
                                </a:moveTo>
                                <a:lnTo>
                                  <a:pt x="11" y="162"/>
                                </a:lnTo>
                                <a:lnTo>
                                  <a:pt x="3" y="172"/>
                                </a:lnTo>
                                <a:lnTo>
                                  <a:pt x="0" y="183"/>
                                </a:lnTo>
                                <a:lnTo>
                                  <a:pt x="3" y="190"/>
                                </a:lnTo>
                                <a:lnTo>
                                  <a:pt x="7" y="200"/>
                                </a:lnTo>
                                <a:lnTo>
                                  <a:pt x="14" y="204"/>
                                </a:lnTo>
                                <a:lnTo>
                                  <a:pt x="384" y="42"/>
                                </a:lnTo>
                                <a:lnTo>
                                  <a:pt x="393"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4" name="Freeform 196"/>
                          <p:cNvSpPr/>
                          <p:nvPr/>
                        </p:nvSpPr>
                        <p:spPr bwMode="auto">
                          <a:xfrm>
                            <a:off x="2507" y="3084"/>
                            <a:ext cx="76" cy="43"/>
                          </a:xfrm>
                          <a:custGeom>
                            <a:avLst/>
                            <a:gdLst>
                              <a:gd name="T0" fmla="*/ 535 w 535"/>
                              <a:gd name="T1" fmla="*/ 329 h 343"/>
                              <a:gd name="T2" fmla="*/ 515 w 535"/>
                              <a:gd name="T3" fmla="*/ 336 h 343"/>
                              <a:gd name="T4" fmla="*/ 507 w 535"/>
                              <a:gd name="T5" fmla="*/ 343 h 343"/>
                              <a:gd name="T6" fmla="*/ 0 w 535"/>
                              <a:gd name="T7" fmla="*/ 3 h 343"/>
                              <a:gd name="T8" fmla="*/ 12 w 535"/>
                              <a:gd name="T9" fmla="*/ 1 h 343"/>
                              <a:gd name="T10" fmla="*/ 23 w 535"/>
                              <a:gd name="T11" fmla="*/ 0 h 343"/>
                              <a:gd name="T12" fmla="*/ 35 w 535"/>
                              <a:gd name="T13" fmla="*/ 0 h 343"/>
                              <a:gd name="T14" fmla="*/ 49 w 535"/>
                              <a:gd name="T15" fmla="*/ 2 h 343"/>
                              <a:gd name="T16" fmla="*/ 535 w 535"/>
                              <a:gd name="T17" fmla="*/ 329 h 3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5" h="343">
                                <a:moveTo>
                                  <a:pt x="535" y="329"/>
                                </a:moveTo>
                                <a:lnTo>
                                  <a:pt x="515" y="336"/>
                                </a:lnTo>
                                <a:lnTo>
                                  <a:pt x="507" y="343"/>
                                </a:lnTo>
                                <a:lnTo>
                                  <a:pt x="0" y="3"/>
                                </a:lnTo>
                                <a:lnTo>
                                  <a:pt x="12" y="1"/>
                                </a:lnTo>
                                <a:lnTo>
                                  <a:pt x="23" y="0"/>
                                </a:lnTo>
                                <a:lnTo>
                                  <a:pt x="35" y="0"/>
                                </a:lnTo>
                                <a:lnTo>
                                  <a:pt x="49" y="2"/>
                                </a:lnTo>
                                <a:lnTo>
                                  <a:pt x="535" y="329"/>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5" name="Freeform 197"/>
                          <p:cNvSpPr/>
                          <p:nvPr/>
                        </p:nvSpPr>
                        <p:spPr bwMode="auto">
                          <a:xfrm>
                            <a:off x="2506" y="3085"/>
                            <a:ext cx="74" cy="46"/>
                          </a:xfrm>
                          <a:custGeom>
                            <a:avLst/>
                            <a:gdLst>
                              <a:gd name="T0" fmla="*/ 8 w 518"/>
                              <a:gd name="T1" fmla="*/ 0 h 368"/>
                              <a:gd name="T2" fmla="*/ 514 w 518"/>
                              <a:gd name="T3" fmla="*/ 339 h 368"/>
                              <a:gd name="T4" fmla="*/ 512 w 518"/>
                              <a:gd name="T5" fmla="*/ 354 h 368"/>
                              <a:gd name="T6" fmla="*/ 518 w 518"/>
                              <a:gd name="T7" fmla="*/ 368 h 368"/>
                              <a:gd name="T8" fmla="*/ 0 w 518"/>
                              <a:gd name="T9" fmla="*/ 17 h 368"/>
                              <a:gd name="T10" fmla="*/ 0 w 518"/>
                              <a:gd name="T11" fmla="*/ 7 h 368"/>
                              <a:gd name="T12" fmla="*/ 8 w 518"/>
                              <a:gd name="T13" fmla="*/ 0 h 368"/>
                            </a:gdLst>
                            <a:ahLst/>
                            <a:cxnLst>
                              <a:cxn ang="0">
                                <a:pos x="T0" y="T1"/>
                              </a:cxn>
                              <a:cxn ang="0">
                                <a:pos x="T2" y="T3"/>
                              </a:cxn>
                              <a:cxn ang="0">
                                <a:pos x="T4" y="T5"/>
                              </a:cxn>
                              <a:cxn ang="0">
                                <a:pos x="T6" y="T7"/>
                              </a:cxn>
                              <a:cxn ang="0">
                                <a:pos x="T8" y="T9"/>
                              </a:cxn>
                              <a:cxn ang="0">
                                <a:pos x="T10" y="T11"/>
                              </a:cxn>
                              <a:cxn ang="0">
                                <a:pos x="T12" y="T13"/>
                              </a:cxn>
                            </a:cxnLst>
                            <a:rect l="0" t="0" r="r" b="b"/>
                            <a:pathLst>
                              <a:path w="518" h="368">
                                <a:moveTo>
                                  <a:pt x="8" y="0"/>
                                </a:moveTo>
                                <a:lnTo>
                                  <a:pt x="514" y="339"/>
                                </a:lnTo>
                                <a:lnTo>
                                  <a:pt x="512" y="354"/>
                                </a:lnTo>
                                <a:lnTo>
                                  <a:pt x="518" y="368"/>
                                </a:lnTo>
                                <a:lnTo>
                                  <a:pt x="0" y="17"/>
                                </a:lnTo>
                                <a:lnTo>
                                  <a:pt x="0" y="7"/>
                                </a:lnTo>
                                <a:lnTo>
                                  <a:pt x="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246" name="Group 198"/>
                      <p:cNvGrpSpPr/>
                      <p:nvPr/>
                    </p:nvGrpSpPr>
                    <p:grpSpPr bwMode="auto">
                      <a:xfrm>
                        <a:off x="2582" y="2996"/>
                        <a:ext cx="100" cy="84"/>
                        <a:chOff x="2582" y="2996"/>
                        <a:chExt cx="100" cy="84"/>
                      </a:xfrm>
                    </p:grpSpPr>
                    <p:sp>
                      <p:nvSpPr>
                        <p:cNvPr id="642247" name="Freeform 199"/>
                        <p:cNvSpPr/>
                        <p:nvPr/>
                      </p:nvSpPr>
                      <p:spPr bwMode="auto">
                        <a:xfrm>
                          <a:off x="2653" y="3028"/>
                          <a:ext cx="29" cy="52"/>
                        </a:xfrm>
                        <a:custGeom>
                          <a:avLst/>
                          <a:gdLst>
                            <a:gd name="T0" fmla="*/ 194 w 208"/>
                            <a:gd name="T1" fmla="*/ 0 h 419"/>
                            <a:gd name="T2" fmla="*/ 208 w 208"/>
                            <a:gd name="T3" fmla="*/ 28 h 419"/>
                            <a:gd name="T4" fmla="*/ 15 w 208"/>
                            <a:gd name="T5" fmla="*/ 419 h 419"/>
                            <a:gd name="T6" fmla="*/ 0 w 208"/>
                            <a:gd name="T7" fmla="*/ 389 h 419"/>
                            <a:gd name="T8" fmla="*/ 194 w 208"/>
                            <a:gd name="T9" fmla="*/ 0 h 419"/>
                          </a:gdLst>
                          <a:ahLst/>
                          <a:cxnLst>
                            <a:cxn ang="0">
                              <a:pos x="T0" y="T1"/>
                            </a:cxn>
                            <a:cxn ang="0">
                              <a:pos x="T2" y="T3"/>
                            </a:cxn>
                            <a:cxn ang="0">
                              <a:pos x="T4" y="T5"/>
                            </a:cxn>
                            <a:cxn ang="0">
                              <a:pos x="T6" y="T7"/>
                            </a:cxn>
                            <a:cxn ang="0">
                              <a:pos x="T8" y="T9"/>
                            </a:cxn>
                          </a:cxnLst>
                          <a:rect l="0" t="0" r="r" b="b"/>
                          <a:pathLst>
                            <a:path w="208" h="419">
                              <a:moveTo>
                                <a:pt x="194" y="0"/>
                              </a:moveTo>
                              <a:lnTo>
                                <a:pt x="208" y="28"/>
                              </a:lnTo>
                              <a:lnTo>
                                <a:pt x="15" y="419"/>
                              </a:lnTo>
                              <a:lnTo>
                                <a:pt x="0" y="389"/>
                              </a:lnTo>
                              <a:lnTo>
                                <a:pt x="19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8" name="Freeform 200"/>
                        <p:cNvSpPr/>
                        <p:nvPr/>
                      </p:nvSpPr>
                      <p:spPr bwMode="auto">
                        <a:xfrm>
                          <a:off x="2582" y="2996"/>
                          <a:ext cx="99" cy="81"/>
                        </a:xfrm>
                        <a:custGeom>
                          <a:avLst/>
                          <a:gdLst>
                            <a:gd name="T0" fmla="*/ 188 w 690"/>
                            <a:gd name="T1" fmla="*/ 0 h 644"/>
                            <a:gd name="T2" fmla="*/ 690 w 690"/>
                            <a:gd name="T3" fmla="*/ 256 h 644"/>
                            <a:gd name="T4" fmla="*/ 501 w 690"/>
                            <a:gd name="T5" fmla="*/ 644 h 644"/>
                            <a:gd name="T6" fmla="*/ 0 w 690"/>
                            <a:gd name="T7" fmla="*/ 385 h 644"/>
                            <a:gd name="T8" fmla="*/ 188 w 690"/>
                            <a:gd name="T9" fmla="*/ 0 h 644"/>
                          </a:gdLst>
                          <a:ahLst/>
                          <a:cxnLst>
                            <a:cxn ang="0">
                              <a:pos x="T0" y="T1"/>
                            </a:cxn>
                            <a:cxn ang="0">
                              <a:pos x="T2" y="T3"/>
                            </a:cxn>
                            <a:cxn ang="0">
                              <a:pos x="T4" y="T5"/>
                            </a:cxn>
                            <a:cxn ang="0">
                              <a:pos x="T6" y="T7"/>
                            </a:cxn>
                            <a:cxn ang="0">
                              <a:pos x="T8" y="T9"/>
                            </a:cxn>
                          </a:cxnLst>
                          <a:rect l="0" t="0" r="r" b="b"/>
                          <a:pathLst>
                            <a:path w="690" h="644">
                              <a:moveTo>
                                <a:pt x="188" y="0"/>
                              </a:moveTo>
                              <a:lnTo>
                                <a:pt x="690" y="256"/>
                              </a:lnTo>
                              <a:lnTo>
                                <a:pt x="501" y="644"/>
                              </a:lnTo>
                              <a:lnTo>
                                <a:pt x="0" y="385"/>
                              </a:lnTo>
                              <a:lnTo>
                                <a:pt x="188"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9" name="Freeform 201"/>
                        <p:cNvSpPr/>
                        <p:nvPr/>
                      </p:nvSpPr>
                      <p:spPr bwMode="auto">
                        <a:xfrm>
                          <a:off x="2588" y="3002"/>
                          <a:ext cx="88" cy="69"/>
                        </a:xfrm>
                        <a:custGeom>
                          <a:avLst/>
                          <a:gdLst>
                            <a:gd name="T0" fmla="*/ 614 w 614"/>
                            <a:gd name="T1" fmla="*/ 235 h 554"/>
                            <a:gd name="T2" fmla="*/ 457 w 614"/>
                            <a:gd name="T3" fmla="*/ 554 h 554"/>
                            <a:gd name="T4" fmla="*/ 0 w 614"/>
                            <a:gd name="T5" fmla="*/ 322 h 554"/>
                            <a:gd name="T6" fmla="*/ 155 w 614"/>
                            <a:gd name="T7" fmla="*/ 0 h 554"/>
                            <a:gd name="T8" fmla="*/ 614 w 614"/>
                            <a:gd name="T9" fmla="*/ 235 h 554"/>
                          </a:gdLst>
                          <a:ahLst/>
                          <a:cxnLst>
                            <a:cxn ang="0">
                              <a:pos x="T0" y="T1"/>
                            </a:cxn>
                            <a:cxn ang="0">
                              <a:pos x="T2" y="T3"/>
                            </a:cxn>
                            <a:cxn ang="0">
                              <a:pos x="T4" y="T5"/>
                            </a:cxn>
                            <a:cxn ang="0">
                              <a:pos x="T6" y="T7"/>
                            </a:cxn>
                            <a:cxn ang="0">
                              <a:pos x="T8" y="T9"/>
                            </a:cxn>
                          </a:cxnLst>
                          <a:rect l="0" t="0" r="r" b="b"/>
                          <a:pathLst>
                            <a:path w="614" h="554">
                              <a:moveTo>
                                <a:pt x="614" y="235"/>
                              </a:moveTo>
                              <a:lnTo>
                                <a:pt x="457" y="554"/>
                              </a:lnTo>
                              <a:lnTo>
                                <a:pt x="0" y="322"/>
                              </a:lnTo>
                              <a:lnTo>
                                <a:pt x="155" y="0"/>
                              </a:lnTo>
                              <a:lnTo>
                                <a:pt x="614" y="235"/>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0" name="Freeform 202"/>
                        <p:cNvSpPr/>
                        <p:nvPr/>
                      </p:nvSpPr>
                      <p:spPr bwMode="auto">
                        <a:xfrm>
                          <a:off x="2592" y="3005"/>
                          <a:ext cx="80" cy="63"/>
                        </a:xfrm>
                        <a:custGeom>
                          <a:avLst/>
                          <a:gdLst>
                            <a:gd name="T0" fmla="*/ 560 w 560"/>
                            <a:gd name="T1" fmla="*/ 214 h 502"/>
                            <a:gd name="T2" fmla="*/ 423 w 560"/>
                            <a:gd name="T3" fmla="*/ 502 h 502"/>
                            <a:gd name="T4" fmla="*/ 0 w 560"/>
                            <a:gd name="T5" fmla="*/ 286 h 502"/>
                            <a:gd name="T6" fmla="*/ 140 w 560"/>
                            <a:gd name="T7" fmla="*/ 0 h 502"/>
                            <a:gd name="T8" fmla="*/ 560 w 560"/>
                            <a:gd name="T9" fmla="*/ 214 h 502"/>
                          </a:gdLst>
                          <a:ahLst/>
                          <a:cxnLst>
                            <a:cxn ang="0">
                              <a:pos x="T0" y="T1"/>
                            </a:cxn>
                            <a:cxn ang="0">
                              <a:pos x="T2" y="T3"/>
                            </a:cxn>
                            <a:cxn ang="0">
                              <a:pos x="T4" y="T5"/>
                            </a:cxn>
                            <a:cxn ang="0">
                              <a:pos x="T6" y="T7"/>
                            </a:cxn>
                            <a:cxn ang="0">
                              <a:pos x="T8" y="T9"/>
                            </a:cxn>
                          </a:cxnLst>
                          <a:rect l="0" t="0" r="r" b="b"/>
                          <a:pathLst>
                            <a:path w="560" h="502">
                              <a:moveTo>
                                <a:pt x="560" y="214"/>
                              </a:moveTo>
                              <a:lnTo>
                                <a:pt x="423" y="502"/>
                              </a:lnTo>
                              <a:lnTo>
                                <a:pt x="0" y="286"/>
                              </a:lnTo>
                              <a:lnTo>
                                <a:pt x="140" y="0"/>
                              </a:lnTo>
                              <a:lnTo>
                                <a:pt x="560" y="214"/>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1" name="Freeform 203"/>
                        <p:cNvSpPr/>
                        <p:nvPr/>
                      </p:nvSpPr>
                      <p:spPr bwMode="auto">
                        <a:xfrm>
                          <a:off x="2646" y="3069"/>
                          <a:ext cx="7" cy="6"/>
                        </a:xfrm>
                        <a:custGeom>
                          <a:avLst/>
                          <a:gdLst>
                            <a:gd name="T0" fmla="*/ 15 w 52"/>
                            <a:gd name="T1" fmla="*/ 0 h 47"/>
                            <a:gd name="T2" fmla="*/ 52 w 52"/>
                            <a:gd name="T3" fmla="*/ 19 h 47"/>
                            <a:gd name="T4" fmla="*/ 38 w 52"/>
                            <a:gd name="T5" fmla="*/ 47 h 47"/>
                            <a:gd name="T6" fmla="*/ 0 w 52"/>
                            <a:gd name="T7" fmla="*/ 28 h 47"/>
                            <a:gd name="T8" fmla="*/ 15 w 52"/>
                            <a:gd name="T9" fmla="*/ 0 h 47"/>
                          </a:gdLst>
                          <a:ahLst/>
                          <a:cxnLst>
                            <a:cxn ang="0">
                              <a:pos x="T0" y="T1"/>
                            </a:cxn>
                            <a:cxn ang="0">
                              <a:pos x="T2" y="T3"/>
                            </a:cxn>
                            <a:cxn ang="0">
                              <a:pos x="T4" y="T5"/>
                            </a:cxn>
                            <a:cxn ang="0">
                              <a:pos x="T6" y="T7"/>
                            </a:cxn>
                            <a:cxn ang="0">
                              <a:pos x="T8" y="T9"/>
                            </a:cxn>
                          </a:cxnLst>
                          <a:rect l="0" t="0" r="r" b="b"/>
                          <a:pathLst>
                            <a:path w="52" h="47">
                              <a:moveTo>
                                <a:pt x="15" y="0"/>
                              </a:moveTo>
                              <a:lnTo>
                                <a:pt x="52" y="19"/>
                              </a:lnTo>
                              <a:lnTo>
                                <a:pt x="38" y="47"/>
                              </a:lnTo>
                              <a:lnTo>
                                <a:pt x="0" y="28"/>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2" name="Freeform 204"/>
                        <p:cNvSpPr/>
                        <p:nvPr/>
                      </p:nvSpPr>
                      <p:spPr bwMode="auto">
                        <a:xfrm>
                          <a:off x="2583" y="3044"/>
                          <a:ext cx="73" cy="36"/>
                        </a:xfrm>
                        <a:custGeom>
                          <a:avLst/>
                          <a:gdLst>
                            <a:gd name="T0" fmla="*/ 511 w 511"/>
                            <a:gd name="T1" fmla="*/ 291 h 291"/>
                            <a:gd name="T2" fmla="*/ 15 w 511"/>
                            <a:gd name="T3" fmla="*/ 33 h 291"/>
                            <a:gd name="T4" fmla="*/ 0 w 511"/>
                            <a:gd name="T5" fmla="*/ 0 h 291"/>
                            <a:gd name="T6" fmla="*/ 502 w 511"/>
                            <a:gd name="T7" fmla="*/ 262 h 291"/>
                            <a:gd name="T8" fmla="*/ 511 w 511"/>
                            <a:gd name="T9" fmla="*/ 291 h 291"/>
                          </a:gdLst>
                          <a:ahLst/>
                          <a:cxnLst>
                            <a:cxn ang="0">
                              <a:pos x="T0" y="T1"/>
                            </a:cxn>
                            <a:cxn ang="0">
                              <a:pos x="T2" y="T3"/>
                            </a:cxn>
                            <a:cxn ang="0">
                              <a:pos x="T4" y="T5"/>
                            </a:cxn>
                            <a:cxn ang="0">
                              <a:pos x="T6" y="T7"/>
                            </a:cxn>
                            <a:cxn ang="0">
                              <a:pos x="T8" y="T9"/>
                            </a:cxn>
                          </a:cxnLst>
                          <a:rect l="0" t="0" r="r" b="b"/>
                          <a:pathLst>
                            <a:path w="511" h="291">
                              <a:moveTo>
                                <a:pt x="511" y="291"/>
                              </a:moveTo>
                              <a:lnTo>
                                <a:pt x="15" y="33"/>
                              </a:lnTo>
                              <a:lnTo>
                                <a:pt x="0" y="0"/>
                              </a:lnTo>
                              <a:lnTo>
                                <a:pt x="502" y="262"/>
                              </a:lnTo>
                              <a:lnTo>
                                <a:pt x="511" y="291"/>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3" name="Freeform 205"/>
                        <p:cNvSpPr/>
                        <p:nvPr/>
                      </p:nvSpPr>
                      <p:spPr bwMode="auto">
                        <a:xfrm>
                          <a:off x="2600" y="3053"/>
                          <a:ext cx="31" cy="21"/>
                        </a:xfrm>
                        <a:custGeom>
                          <a:avLst/>
                          <a:gdLst>
                            <a:gd name="T0" fmla="*/ 0 w 222"/>
                            <a:gd name="T1" fmla="*/ 83 h 172"/>
                            <a:gd name="T2" fmla="*/ 57 w 222"/>
                            <a:gd name="T3" fmla="*/ 0 h 172"/>
                            <a:gd name="T4" fmla="*/ 222 w 222"/>
                            <a:gd name="T5" fmla="*/ 84 h 172"/>
                            <a:gd name="T6" fmla="*/ 165 w 222"/>
                            <a:gd name="T7" fmla="*/ 172 h 172"/>
                            <a:gd name="T8" fmla="*/ 0 w 222"/>
                            <a:gd name="T9" fmla="*/ 83 h 172"/>
                          </a:gdLst>
                          <a:ahLst/>
                          <a:cxnLst>
                            <a:cxn ang="0">
                              <a:pos x="T0" y="T1"/>
                            </a:cxn>
                            <a:cxn ang="0">
                              <a:pos x="T2" y="T3"/>
                            </a:cxn>
                            <a:cxn ang="0">
                              <a:pos x="T4" y="T5"/>
                            </a:cxn>
                            <a:cxn ang="0">
                              <a:pos x="T6" y="T7"/>
                            </a:cxn>
                            <a:cxn ang="0">
                              <a:pos x="T8" y="T9"/>
                            </a:cxn>
                          </a:cxnLst>
                          <a:rect l="0" t="0" r="r" b="b"/>
                          <a:pathLst>
                            <a:path w="222" h="172">
                              <a:moveTo>
                                <a:pt x="0" y="83"/>
                              </a:moveTo>
                              <a:lnTo>
                                <a:pt x="57" y="0"/>
                              </a:lnTo>
                              <a:lnTo>
                                <a:pt x="222" y="84"/>
                              </a:lnTo>
                              <a:lnTo>
                                <a:pt x="165" y="172"/>
                              </a:lnTo>
                              <a:lnTo>
                                <a:pt x="0" y="83"/>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254" name="Group 206"/>
                    <p:cNvGrpSpPr/>
                    <p:nvPr/>
                  </p:nvGrpSpPr>
                  <p:grpSpPr bwMode="auto">
                    <a:xfrm>
                      <a:off x="2644" y="3109"/>
                      <a:ext cx="74" cy="35"/>
                      <a:chOff x="2644" y="3109"/>
                      <a:chExt cx="74" cy="35"/>
                    </a:xfrm>
                  </p:grpSpPr>
                  <p:sp>
                    <p:nvSpPr>
                      <p:cNvPr id="642255" name="Freeform 207"/>
                      <p:cNvSpPr/>
                      <p:nvPr/>
                    </p:nvSpPr>
                    <p:spPr bwMode="auto">
                      <a:xfrm>
                        <a:off x="2645" y="3112"/>
                        <a:ext cx="59" cy="32"/>
                      </a:xfrm>
                      <a:custGeom>
                        <a:avLst/>
                        <a:gdLst>
                          <a:gd name="T0" fmla="*/ 0 w 412"/>
                          <a:gd name="T1" fmla="*/ 147 h 252"/>
                          <a:gd name="T2" fmla="*/ 266 w 412"/>
                          <a:gd name="T3" fmla="*/ 252 h 252"/>
                          <a:gd name="T4" fmla="*/ 412 w 412"/>
                          <a:gd name="T5" fmla="*/ 111 h 252"/>
                          <a:gd name="T6" fmla="*/ 148 w 412"/>
                          <a:gd name="T7" fmla="*/ 0 h 252"/>
                          <a:gd name="T8" fmla="*/ 0 w 412"/>
                          <a:gd name="T9" fmla="*/ 147 h 252"/>
                        </a:gdLst>
                        <a:ahLst/>
                        <a:cxnLst>
                          <a:cxn ang="0">
                            <a:pos x="T0" y="T1"/>
                          </a:cxn>
                          <a:cxn ang="0">
                            <a:pos x="T2" y="T3"/>
                          </a:cxn>
                          <a:cxn ang="0">
                            <a:pos x="T4" y="T5"/>
                          </a:cxn>
                          <a:cxn ang="0">
                            <a:pos x="T6" y="T7"/>
                          </a:cxn>
                          <a:cxn ang="0">
                            <a:pos x="T8" y="T9"/>
                          </a:cxn>
                        </a:cxnLst>
                        <a:rect l="0" t="0" r="r" b="b"/>
                        <a:pathLst>
                          <a:path w="412" h="252">
                            <a:moveTo>
                              <a:pt x="0" y="147"/>
                            </a:moveTo>
                            <a:lnTo>
                              <a:pt x="266" y="252"/>
                            </a:lnTo>
                            <a:lnTo>
                              <a:pt x="412" y="111"/>
                            </a:lnTo>
                            <a:lnTo>
                              <a:pt x="148" y="0"/>
                            </a:lnTo>
                            <a:lnTo>
                              <a:pt x="0" y="14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256" name="Group 208"/>
                      <p:cNvGrpSpPr/>
                      <p:nvPr/>
                    </p:nvGrpSpPr>
                    <p:grpSpPr bwMode="auto">
                      <a:xfrm>
                        <a:off x="2644" y="3109"/>
                        <a:ext cx="61" cy="28"/>
                        <a:chOff x="2644" y="3109"/>
                        <a:chExt cx="61" cy="28"/>
                      </a:xfrm>
                    </p:grpSpPr>
                    <p:sp>
                      <p:nvSpPr>
                        <p:cNvPr id="642257" name="Freeform 209"/>
                        <p:cNvSpPr/>
                        <p:nvPr/>
                      </p:nvSpPr>
                      <p:spPr bwMode="auto">
                        <a:xfrm>
                          <a:off x="2644" y="3109"/>
                          <a:ext cx="61" cy="28"/>
                        </a:xfrm>
                        <a:custGeom>
                          <a:avLst/>
                          <a:gdLst>
                            <a:gd name="T0" fmla="*/ 0 w 431"/>
                            <a:gd name="T1" fmla="*/ 68 h 221"/>
                            <a:gd name="T2" fmla="*/ 165 w 431"/>
                            <a:gd name="T3" fmla="*/ 221 h 221"/>
                            <a:gd name="T4" fmla="*/ 431 w 431"/>
                            <a:gd name="T5" fmla="*/ 150 h 221"/>
                            <a:gd name="T6" fmla="*/ 266 w 431"/>
                            <a:gd name="T7" fmla="*/ 0 h 221"/>
                            <a:gd name="T8" fmla="*/ 0 w 431"/>
                            <a:gd name="T9" fmla="*/ 68 h 221"/>
                          </a:gdLst>
                          <a:ahLst/>
                          <a:cxnLst>
                            <a:cxn ang="0">
                              <a:pos x="T0" y="T1"/>
                            </a:cxn>
                            <a:cxn ang="0">
                              <a:pos x="T2" y="T3"/>
                            </a:cxn>
                            <a:cxn ang="0">
                              <a:pos x="T4" y="T5"/>
                            </a:cxn>
                            <a:cxn ang="0">
                              <a:pos x="T6" y="T7"/>
                            </a:cxn>
                            <a:cxn ang="0">
                              <a:pos x="T8" y="T9"/>
                            </a:cxn>
                          </a:cxnLst>
                          <a:rect l="0" t="0" r="r" b="b"/>
                          <a:pathLst>
                            <a:path w="431" h="221">
                              <a:moveTo>
                                <a:pt x="0" y="68"/>
                              </a:moveTo>
                              <a:lnTo>
                                <a:pt x="165" y="221"/>
                              </a:lnTo>
                              <a:lnTo>
                                <a:pt x="431" y="150"/>
                              </a:lnTo>
                              <a:lnTo>
                                <a:pt x="266" y="0"/>
                              </a:lnTo>
                              <a:lnTo>
                                <a:pt x="0" y="68"/>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8" name="Freeform 210"/>
                        <p:cNvSpPr/>
                        <p:nvPr/>
                      </p:nvSpPr>
                      <p:spPr bwMode="auto">
                        <a:xfrm>
                          <a:off x="2646" y="3114"/>
                          <a:ext cx="21" cy="9"/>
                        </a:xfrm>
                        <a:custGeom>
                          <a:avLst/>
                          <a:gdLst>
                            <a:gd name="T0" fmla="*/ 0 w 147"/>
                            <a:gd name="T1" fmla="*/ 31 h 67"/>
                            <a:gd name="T2" fmla="*/ 37 w 147"/>
                            <a:gd name="T3" fmla="*/ 67 h 67"/>
                            <a:gd name="T4" fmla="*/ 147 w 147"/>
                            <a:gd name="T5" fmla="*/ 35 h 67"/>
                            <a:gd name="T6" fmla="*/ 112 w 147"/>
                            <a:gd name="T7" fmla="*/ 0 h 67"/>
                            <a:gd name="T8" fmla="*/ 0 w 147"/>
                            <a:gd name="T9" fmla="*/ 31 h 67"/>
                          </a:gdLst>
                          <a:ahLst/>
                          <a:cxnLst>
                            <a:cxn ang="0">
                              <a:pos x="T0" y="T1"/>
                            </a:cxn>
                            <a:cxn ang="0">
                              <a:pos x="T2" y="T3"/>
                            </a:cxn>
                            <a:cxn ang="0">
                              <a:pos x="T4" y="T5"/>
                            </a:cxn>
                            <a:cxn ang="0">
                              <a:pos x="T6" y="T7"/>
                            </a:cxn>
                            <a:cxn ang="0">
                              <a:pos x="T8" y="T9"/>
                            </a:cxn>
                          </a:cxnLst>
                          <a:rect l="0" t="0" r="r" b="b"/>
                          <a:pathLst>
                            <a:path w="147" h="67">
                              <a:moveTo>
                                <a:pt x="0" y="31"/>
                              </a:moveTo>
                              <a:lnTo>
                                <a:pt x="37" y="67"/>
                              </a:lnTo>
                              <a:lnTo>
                                <a:pt x="147" y="35"/>
                              </a:lnTo>
                              <a:lnTo>
                                <a:pt x="112" y="0"/>
                              </a:lnTo>
                              <a:lnTo>
                                <a:pt x="0" y="31"/>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259" name="Group 211"/>
                      <p:cNvGrpSpPr/>
                      <p:nvPr/>
                    </p:nvGrpSpPr>
                    <p:grpSpPr bwMode="auto">
                      <a:xfrm>
                        <a:off x="2657" y="3114"/>
                        <a:ext cx="61" cy="28"/>
                        <a:chOff x="2657" y="3114"/>
                        <a:chExt cx="61" cy="28"/>
                      </a:xfrm>
                    </p:grpSpPr>
                    <p:sp>
                      <p:nvSpPr>
                        <p:cNvPr id="642260" name="Freeform 212"/>
                        <p:cNvSpPr/>
                        <p:nvPr/>
                      </p:nvSpPr>
                      <p:spPr bwMode="auto">
                        <a:xfrm>
                          <a:off x="2657" y="3114"/>
                          <a:ext cx="61" cy="28"/>
                        </a:xfrm>
                        <a:custGeom>
                          <a:avLst/>
                          <a:gdLst>
                            <a:gd name="T0" fmla="*/ 0 w 427"/>
                            <a:gd name="T1" fmla="*/ 67 h 220"/>
                            <a:gd name="T2" fmla="*/ 164 w 427"/>
                            <a:gd name="T3" fmla="*/ 220 h 220"/>
                            <a:gd name="T4" fmla="*/ 427 w 427"/>
                            <a:gd name="T5" fmla="*/ 153 h 220"/>
                            <a:gd name="T6" fmla="*/ 260 w 427"/>
                            <a:gd name="T7" fmla="*/ 0 h 220"/>
                            <a:gd name="T8" fmla="*/ 0 w 427"/>
                            <a:gd name="T9" fmla="*/ 67 h 220"/>
                          </a:gdLst>
                          <a:ahLst/>
                          <a:cxnLst>
                            <a:cxn ang="0">
                              <a:pos x="T0" y="T1"/>
                            </a:cxn>
                            <a:cxn ang="0">
                              <a:pos x="T2" y="T3"/>
                            </a:cxn>
                            <a:cxn ang="0">
                              <a:pos x="T4" y="T5"/>
                            </a:cxn>
                            <a:cxn ang="0">
                              <a:pos x="T6" y="T7"/>
                            </a:cxn>
                            <a:cxn ang="0">
                              <a:pos x="T8" y="T9"/>
                            </a:cxn>
                          </a:cxnLst>
                          <a:rect l="0" t="0" r="r" b="b"/>
                          <a:pathLst>
                            <a:path w="427" h="220">
                              <a:moveTo>
                                <a:pt x="0" y="67"/>
                              </a:moveTo>
                              <a:lnTo>
                                <a:pt x="164" y="220"/>
                              </a:lnTo>
                              <a:lnTo>
                                <a:pt x="427" y="153"/>
                              </a:lnTo>
                              <a:lnTo>
                                <a:pt x="260" y="0"/>
                              </a:lnTo>
                              <a:lnTo>
                                <a:pt x="0" y="67"/>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1" name="Oval 213"/>
                        <p:cNvSpPr>
                          <a:spLocks noChangeArrowheads="1"/>
                        </p:cNvSpPr>
                        <p:nvPr/>
                      </p:nvSpPr>
                      <p:spPr bwMode="auto">
                        <a:xfrm>
                          <a:off x="2681" y="3123"/>
                          <a:ext cx="14" cy="9"/>
                        </a:xfrm>
                        <a:prstGeom prst="ellipse">
                          <a:avLst/>
                        </a:prstGeom>
                        <a:solidFill>
                          <a:srgbClr val="404040"/>
                        </a:solidFill>
                        <a:ln w="1588">
                          <a:solidFill>
                            <a:srgbClr val="000000"/>
                          </a:solidFill>
                          <a:round/>
                        </a:ln>
                      </p:spPr>
                      <p:txBody>
                        <a:bodyPr/>
                        <a:lstStyle/>
                        <a:p>
                          <a:endParaRPr lang="zh-CN" altLang="en-US"/>
                        </a:p>
                      </p:txBody>
                    </p:sp>
                    <p:sp>
                      <p:nvSpPr>
                        <p:cNvPr id="642262" name="Freeform 214"/>
                        <p:cNvSpPr/>
                        <p:nvPr/>
                      </p:nvSpPr>
                      <p:spPr bwMode="auto">
                        <a:xfrm>
                          <a:off x="2658" y="3119"/>
                          <a:ext cx="21" cy="8"/>
                        </a:xfrm>
                        <a:custGeom>
                          <a:avLst/>
                          <a:gdLst>
                            <a:gd name="T0" fmla="*/ 0 w 148"/>
                            <a:gd name="T1" fmla="*/ 31 h 66"/>
                            <a:gd name="T2" fmla="*/ 37 w 148"/>
                            <a:gd name="T3" fmla="*/ 66 h 66"/>
                            <a:gd name="T4" fmla="*/ 148 w 148"/>
                            <a:gd name="T5" fmla="*/ 34 h 66"/>
                            <a:gd name="T6" fmla="*/ 113 w 148"/>
                            <a:gd name="T7" fmla="*/ 0 h 66"/>
                            <a:gd name="T8" fmla="*/ 0 w 148"/>
                            <a:gd name="T9" fmla="*/ 31 h 66"/>
                          </a:gdLst>
                          <a:ahLst/>
                          <a:cxnLst>
                            <a:cxn ang="0">
                              <a:pos x="T0" y="T1"/>
                            </a:cxn>
                            <a:cxn ang="0">
                              <a:pos x="T2" y="T3"/>
                            </a:cxn>
                            <a:cxn ang="0">
                              <a:pos x="T4" y="T5"/>
                            </a:cxn>
                            <a:cxn ang="0">
                              <a:pos x="T6" y="T7"/>
                            </a:cxn>
                            <a:cxn ang="0">
                              <a:pos x="T8" y="T9"/>
                            </a:cxn>
                          </a:cxnLst>
                          <a:rect l="0" t="0" r="r" b="b"/>
                          <a:pathLst>
                            <a:path w="148" h="66">
                              <a:moveTo>
                                <a:pt x="0" y="31"/>
                              </a:moveTo>
                              <a:lnTo>
                                <a:pt x="37" y="66"/>
                              </a:lnTo>
                              <a:lnTo>
                                <a:pt x="148" y="34"/>
                              </a:lnTo>
                              <a:lnTo>
                                <a:pt x="113" y="0"/>
                              </a:lnTo>
                              <a:lnTo>
                                <a:pt x="0" y="3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grpSp>
        </p:grpSp>
        <p:grpSp>
          <p:nvGrpSpPr>
            <p:cNvPr id="642263" name="Group 215"/>
            <p:cNvGrpSpPr/>
            <p:nvPr/>
          </p:nvGrpSpPr>
          <p:grpSpPr bwMode="auto">
            <a:xfrm>
              <a:off x="2358" y="3018"/>
              <a:ext cx="168" cy="199"/>
              <a:chOff x="2358" y="3018"/>
              <a:chExt cx="168" cy="199"/>
            </a:xfrm>
          </p:grpSpPr>
          <p:grpSp>
            <p:nvGrpSpPr>
              <p:cNvPr id="642264" name="Group 216"/>
              <p:cNvGrpSpPr/>
              <p:nvPr/>
            </p:nvGrpSpPr>
            <p:grpSpPr bwMode="auto">
              <a:xfrm>
                <a:off x="2358" y="3075"/>
                <a:ext cx="168" cy="142"/>
                <a:chOff x="2358" y="3075"/>
                <a:chExt cx="168" cy="142"/>
              </a:xfrm>
            </p:grpSpPr>
            <p:grpSp>
              <p:nvGrpSpPr>
                <p:cNvPr id="642265" name="Group 217"/>
                <p:cNvGrpSpPr/>
                <p:nvPr/>
              </p:nvGrpSpPr>
              <p:grpSpPr bwMode="auto">
                <a:xfrm>
                  <a:off x="2451" y="3129"/>
                  <a:ext cx="56" cy="62"/>
                  <a:chOff x="2451" y="3129"/>
                  <a:chExt cx="56" cy="62"/>
                </a:xfrm>
              </p:grpSpPr>
              <p:sp>
                <p:nvSpPr>
                  <p:cNvPr id="642266" name="Freeform 218"/>
                  <p:cNvSpPr/>
                  <p:nvPr/>
                </p:nvSpPr>
                <p:spPr bwMode="auto">
                  <a:xfrm>
                    <a:off x="2458" y="3129"/>
                    <a:ext cx="48" cy="31"/>
                  </a:xfrm>
                  <a:custGeom>
                    <a:avLst/>
                    <a:gdLst>
                      <a:gd name="T0" fmla="*/ 334 w 334"/>
                      <a:gd name="T1" fmla="*/ 49 h 252"/>
                      <a:gd name="T2" fmla="*/ 320 w 334"/>
                      <a:gd name="T3" fmla="*/ 104 h 252"/>
                      <a:gd name="T4" fmla="*/ 307 w 334"/>
                      <a:gd name="T5" fmla="*/ 122 h 252"/>
                      <a:gd name="T6" fmla="*/ 303 w 334"/>
                      <a:gd name="T7" fmla="*/ 129 h 252"/>
                      <a:gd name="T8" fmla="*/ 305 w 334"/>
                      <a:gd name="T9" fmla="*/ 145 h 252"/>
                      <a:gd name="T10" fmla="*/ 309 w 334"/>
                      <a:gd name="T11" fmla="*/ 160 h 252"/>
                      <a:gd name="T12" fmla="*/ 310 w 334"/>
                      <a:gd name="T13" fmla="*/ 177 h 252"/>
                      <a:gd name="T14" fmla="*/ 292 w 334"/>
                      <a:gd name="T15" fmla="*/ 204 h 252"/>
                      <a:gd name="T16" fmla="*/ 113 w 334"/>
                      <a:gd name="T17" fmla="*/ 167 h 252"/>
                      <a:gd name="T18" fmla="*/ 58 w 334"/>
                      <a:gd name="T19" fmla="*/ 209 h 252"/>
                      <a:gd name="T20" fmla="*/ 42 w 334"/>
                      <a:gd name="T21" fmla="*/ 227 h 252"/>
                      <a:gd name="T22" fmla="*/ 30 w 334"/>
                      <a:gd name="T23" fmla="*/ 245 h 252"/>
                      <a:gd name="T24" fmla="*/ 16 w 334"/>
                      <a:gd name="T25" fmla="*/ 252 h 252"/>
                      <a:gd name="T26" fmla="*/ 7 w 334"/>
                      <a:gd name="T27" fmla="*/ 251 h 252"/>
                      <a:gd name="T28" fmla="*/ 2 w 334"/>
                      <a:gd name="T29" fmla="*/ 246 h 252"/>
                      <a:gd name="T30" fmla="*/ 0 w 334"/>
                      <a:gd name="T31" fmla="*/ 236 h 252"/>
                      <a:gd name="T32" fmla="*/ 2 w 334"/>
                      <a:gd name="T33" fmla="*/ 224 h 252"/>
                      <a:gd name="T34" fmla="*/ 7 w 334"/>
                      <a:gd name="T35" fmla="*/ 215 h 252"/>
                      <a:gd name="T36" fmla="*/ 22 w 334"/>
                      <a:gd name="T37" fmla="*/ 192 h 252"/>
                      <a:gd name="T38" fmla="*/ 33 w 334"/>
                      <a:gd name="T39" fmla="*/ 182 h 252"/>
                      <a:gd name="T40" fmla="*/ 46 w 334"/>
                      <a:gd name="T41" fmla="*/ 170 h 252"/>
                      <a:gd name="T42" fmla="*/ 59 w 334"/>
                      <a:gd name="T43" fmla="*/ 151 h 252"/>
                      <a:gd name="T44" fmla="*/ 69 w 334"/>
                      <a:gd name="T45" fmla="*/ 135 h 252"/>
                      <a:gd name="T46" fmla="*/ 80 w 334"/>
                      <a:gd name="T47" fmla="*/ 124 h 252"/>
                      <a:gd name="T48" fmla="*/ 91 w 334"/>
                      <a:gd name="T49" fmla="*/ 117 h 252"/>
                      <a:gd name="T50" fmla="*/ 125 w 334"/>
                      <a:gd name="T51" fmla="*/ 93 h 252"/>
                      <a:gd name="T52" fmla="*/ 153 w 334"/>
                      <a:gd name="T53" fmla="*/ 73 h 252"/>
                      <a:gd name="T54" fmla="*/ 178 w 334"/>
                      <a:gd name="T55" fmla="*/ 59 h 252"/>
                      <a:gd name="T56" fmla="*/ 197 w 334"/>
                      <a:gd name="T57" fmla="*/ 48 h 252"/>
                      <a:gd name="T58" fmla="*/ 193 w 334"/>
                      <a:gd name="T59" fmla="*/ 37 h 252"/>
                      <a:gd name="T60" fmla="*/ 197 w 334"/>
                      <a:gd name="T61" fmla="*/ 23 h 252"/>
                      <a:gd name="T62" fmla="*/ 221 w 334"/>
                      <a:gd name="T63" fmla="*/ 0 h 252"/>
                      <a:gd name="T64" fmla="*/ 334 w 334"/>
                      <a:gd name="T65" fmla="*/ 49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4" h="252">
                        <a:moveTo>
                          <a:pt x="334" y="49"/>
                        </a:moveTo>
                        <a:lnTo>
                          <a:pt x="320" y="104"/>
                        </a:lnTo>
                        <a:lnTo>
                          <a:pt x="307" y="122"/>
                        </a:lnTo>
                        <a:lnTo>
                          <a:pt x="303" y="129"/>
                        </a:lnTo>
                        <a:lnTo>
                          <a:pt x="305" y="145"/>
                        </a:lnTo>
                        <a:lnTo>
                          <a:pt x="309" y="160"/>
                        </a:lnTo>
                        <a:lnTo>
                          <a:pt x="310" y="177"/>
                        </a:lnTo>
                        <a:lnTo>
                          <a:pt x="292" y="204"/>
                        </a:lnTo>
                        <a:lnTo>
                          <a:pt x="113" y="167"/>
                        </a:lnTo>
                        <a:lnTo>
                          <a:pt x="58" y="209"/>
                        </a:lnTo>
                        <a:lnTo>
                          <a:pt x="42" y="227"/>
                        </a:lnTo>
                        <a:lnTo>
                          <a:pt x="30" y="245"/>
                        </a:lnTo>
                        <a:lnTo>
                          <a:pt x="16" y="252"/>
                        </a:lnTo>
                        <a:lnTo>
                          <a:pt x="7" y="251"/>
                        </a:lnTo>
                        <a:lnTo>
                          <a:pt x="2" y="246"/>
                        </a:lnTo>
                        <a:lnTo>
                          <a:pt x="0" y="236"/>
                        </a:lnTo>
                        <a:lnTo>
                          <a:pt x="2" y="224"/>
                        </a:lnTo>
                        <a:lnTo>
                          <a:pt x="7" y="215"/>
                        </a:lnTo>
                        <a:lnTo>
                          <a:pt x="22" y="192"/>
                        </a:lnTo>
                        <a:lnTo>
                          <a:pt x="33" y="182"/>
                        </a:lnTo>
                        <a:lnTo>
                          <a:pt x="46" y="170"/>
                        </a:lnTo>
                        <a:lnTo>
                          <a:pt x="59" y="151"/>
                        </a:lnTo>
                        <a:lnTo>
                          <a:pt x="69" y="135"/>
                        </a:lnTo>
                        <a:lnTo>
                          <a:pt x="80" y="124"/>
                        </a:lnTo>
                        <a:lnTo>
                          <a:pt x="91" y="117"/>
                        </a:lnTo>
                        <a:lnTo>
                          <a:pt x="125" y="93"/>
                        </a:lnTo>
                        <a:lnTo>
                          <a:pt x="153" y="73"/>
                        </a:lnTo>
                        <a:lnTo>
                          <a:pt x="178" y="59"/>
                        </a:lnTo>
                        <a:lnTo>
                          <a:pt x="197" y="48"/>
                        </a:lnTo>
                        <a:lnTo>
                          <a:pt x="193" y="37"/>
                        </a:lnTo>
                        <a:lnTo>
                          <a:pt x="197" y="23"/>
                        </a:lnTo>
                        <a:lnTo>
                          <a:pt x="221" y="0"/>
                        </a:lnTo>
                        <a:lnTo>
                          <a:pt x="334" y="4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7" name="Freeform 219"/>
                  <p:cNvSpPr/>
                  <p:nvPr/>
                </p:nvSpPr>
                <p:spPr bwMode="auto">
                  <a:xfrm>
                    <a:off x="2451" y="3140"/>
                    <a:ext cx="56" cy="51"/>
                  </a:xfrm>
                  <a:custGeom>
                    <a:avLst/>
                    <a:gdLst>
                      <a:gd name="T0" fmla="*/ 0 w 389"/>
                      <a:gd name="T1" fmla="*/ 301 h 409"/>
                      <a:gd name="T2" fmla="*/ 22 w 389"/>
                      <a:gd name="T3" fmla="*/ 275 h 409"/>
                      <a:gd name="T4" fmla="*/ 42 w 389"/>
                      <a:gd name="T5" fmla="*/ 259 h 409"/>
                      <a:gd name="T6" fmla="*/ 81 w 389"/>
                      <a:gd name="T7" fmla="*/ 232 h 409"/>
                      <a:gd name="T8" fmla="*/ 80 w 389"/>
                      <a:gd name="T9" fmla="*/ 204 h 409"/>
                      <a:gd name="T10" fmla="*/ 79 w 389"/>
                      <a:gd name="T11" fmla="*/ 171 h 409"/>
                      <a:gd name="T12" fmla="*/ 81 w 389"/>
                      <a:gd name="T13" fmla="*/ 142 h 409"/>
                      <a:gd name="T14" fmla="*/ 84 w 389"/>
                      <a:gd name="T15" fmla="*/ 112 h 409"/>
                      <a:gd name="T16" fmla="*/ 89 w 389"/>
                      <a:gd name="T17" fmla="*/ 102 h 409"/>
                      <a:gd name="T18" fmla="*/ 99 w 389"/>
                      <a:gd name="T19" fmla="*/ 94 h 409"/>
                      <a:gd name="T20" fmla="*/ 113 w 389"/>
                      <a:gd name="T21" fmla="*/ 84 h 409"/>
                      <a:gd name="T22" fmla="*/ 127 w 389"/>
                      <a:gd name="T23" fmla="*/ 74 h 409"/>
                      <a:gd name="T24" fmla="*/ 138 w 389"/>
                      <a:gd name="T25" fmla="*/ 62 h 409"/>
                      <a:gd name="T26" fmla="*/ 141 w 389"/>
                      <a:gd name="T27" fmla="*/ 52 h 409"/>
                      <a:gd name="T28" fmla="*/ 147 w 389"/>
                      <a:gd name="T29" fmla="*/ 43 h 409"/>
                      <a:gd name="T30" fmla="*/ 159 w 389"/>
                      <a:gd name="T31" fmla="*/ 18 h 409"/>
                      <a:gd name="T32" fmla="*/ 165 w 389"/>
                      <a:gd name="T33" fmla="*/ 14 h 409"/>
                      <a:gd name="T34" fmla="*/ 174 w 389"/>
                      <a:gd name="T35" fmla="*/ 12 h 409"/>
                      <a:gd name="T36" fmla="*/ 182 w 389"/>
                      <a:gd name="T37" fmla="*/ 14 h 409"/>
                      <a:gd name="T38" fmla="*/ 185 w 389"/>
                      <a:gd name="T39" fmla="*/ 22 h 409"/>
                      <a:gd name="T40" fmla="*/ 188 w 389"/>
                      <a:gd name="T41" fmla="*/ 38 h 409"/>
                      <a:gd name="T42" fmla="*/ 186 w 389"/>
                      <a:gd name="T43" fmla="*/ 57 h 409"/>
                      <a:gd name="T44" fmla="*/ 181 w 389"/>
                      <a:gd name="T45" fmla="*/ 73 h 409"/>
                      <a:gd name="T46" fmla="*/ 202 w 389"/>
                      <a:gd name="T47" fmla="*/ 45 h 409"/>
                      <a:gd name="T48" fmla="*/ 224 w 389"/>
                      <a:gd name="T49" fmla="*/ 22 h 409"/>
                      <a:gd name="T50" fmla="*/ 251 w 389"/>
                      <a:gd name="T51" fmla="*/ 5 h 409"/>
                      <a:gd name="T52" fmla="*/ 265 w 389"/>
                      <a:gd name="T53" fmla="*/ 0 h 409"/>
                      <a:gd name="T54" fmla="*/ 281 w 389"/>
                      <a:gd name="T55" fmla="*/ 3 h 409"/>
                      <a:gd name="T56" fmla="*/ 295 w 389"/>
                      <a:gd name="T57" fmla="*/ 8 h 409"/>
                      <a:gd name="T58" fmla="*/ 308 w 389"/>
                      <a:gd name="T59" fmla="*/ 14 h 409"/>
                      <a:gd name="T60" fmla="*/ 324 w 389"/>
                      <a:gd name="T61" fmla="*/ 22 h 409"/>
                      <a:gd name="T62" fmla="*/ 330 w 389"/>
                      <a:gd name="T63" fmla="*/ 29 h 409"/>
                      <a:gd name="T64" fmla="*/ 337 w 389"/>
                      <a:gd name="T65" fmla="*/ 41 h 409"/>
                      <a:gd name="T66" fmla="*/ 339 w 389"/>
                      <a:gd name="T67" fmla="*/ 56 h 409"/>
                      <a:gd name="T68" fmla="*/ 347 w 389"/>
                      <a:gd name="T69" fmla="*/ 62 h 409"/>
                      <a:gd name="T70" fmla="*/ 354 w 389"/>
                      <a:gd name="T71" fmla="*/ 70 h 409"/>
                      <a:gd name="T72" fmla="*/ 359 w 389"/>
                      <a:gd name="T73" fmla="*/ 86 h 409"/>
                      <a:gd name="T74" fmla="*/ 362 w 389"/>
                      <a:gd name="T75" fmla="*/ 97 h 409"/>
                      <a:gd name="T76" fmla="*/ 359 w 389"/>
                      <a:gd name="T77" fmla="*/ 107 h 409"/>
                      <a:gd name="T78" fmla="*/ 369 w 389"/>
                      <a:gd name="T79" fmla="*/ 112 h 409"/>
                      <a:gd name="T80" fmla="*/ 373 w 389"/>
                      <a:gd name="T81" fmla="*/ 120 h 409"/>
                      <a:gd name="T82" fmla="*/ 370 w 389"/>
                      <a:gd name="T83" fmla="*/ 135 h 409"/>
                      <a:gd name="T84" fmla="*/ 359 w 389"/>
                      <a:gd name="T85" fmla="*/ 150 h 409"/>
                      <a:gd name="T86" fmla="*/ 371 w 389"/>
                      <a:gd name="T87" fmla="*/ 166 h 409"/>
                      <a:gd name="T88" fmla="*/ 381 w 389"/>
                      <a:gd name="T89" fmla="*/ 181 h 409"/>
                      <a:gd name="T90" fmla="*/ 389 w 389"/>
                      <a:gd name="T91" fmla="*/ 204 h 409"/>
                      <a:gd name="T92" fmla="*/ 384 w 389"/>
                      <a:gd name="T93" fmla="*/ 210 h 409"/>
                      <a:gd name="T94" fmla="*/ 371 w 389"/>
                      <a:gd name="T95" fmla="*/ 211 h 409"/>
                      <a:gd name="T96" fmla="*/ 360 w 389"/>
                      <a:gd name="T97" fmla="*/ 202 h 409"/>
                      <a:gd name="T98" fmla="*/ 348 w 389"/>
                      <a:gd name="T99" fmla="*/ 197 h 409"/>
                      <a:gd name="T100" fmla="*/ 337 w 389"/>
                      <a:gd name="T101" fmla="*/ 196 h 409"/>
                      <a:gd name="T102" fmla="*/ 326 w 389"/>
                      <a:gd name="T103" fmla="*/ 198 h 409"/>
                      <a:gd name="T104" fmla="*/ 311 w 389"/>
                      <a:gd name="T105" fmla="*/ 212 h 409"/>
                      <a:gd name="T106" fmla="*/ 302 w 389"/>
                      <a:gd name="T107" fmla="*/ 231 h 409"/>
                      <a:gd name="T108" fmla="*/ 291 w 389"/>
                      <a:gd name="T109" fmla="*/ 255 h 409"/>
                      <a:gd name="T110" fmla="*/ 275 w 389"/>
                      <a:gd name="T111" fmla="*/ 273 h 409"/>
                      <a:gd name="T112" fmla="*/ 256 w 389"/>
                      <a:gd name="T113" fmla="*/ 283 h 409"/>
                      <a:gd name="T114" fmla="*/ 230 w 389"/>
                      <a:gd name="T115" fmla="*/ 305 h 409"/>
                      <a:gd name="T116" fmla="*/ 209 w 389"/>
                      <a:gd name="T117" fmla="*/ 323 h 409"/>
                      <a:gd name="T118" fmla="*/ 168 w 389"/>
                      <a:gd name="T119" fmla="*/ 349 h 409"/>
                      <a:gd name="T120" fmla="*/ 71 w 389"/>
                      <a:gd name="T121" fmla="*/ 409 h 409"/>
                      <a:gd name="T122" fmla="*/ 0 w 389"/>
                      <a:gd name="T123" fmla="*/ 301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89" h="409">
                        <a:moveTo>
                          <a:pt x="0" y="301"/>
                        </a:moveTo>
                        <a:lnTo>
                          <a:pt x="22" y="275"/>
                        </a:lnTo>
                        <a:lnTo>
                          <a:pt x="42" y="259"/>
                        </a:lnTo>
                        <a:lnTo>
                          <a:pt x="81" y="232"/>
                        </a:lnTo>
                        <a:lnTo>
                          <a:pt x="80" y="204"/>
                        </a:lnTo>
                        <a:lnTo>
                          <a:pt x="79" y="171"/>
                        </a:lnTo>
                        <a:lnTo>
                          <a:pt x="81" y="142"/>
                        </a:lnTo>
                        <a:lnTo>
                          <a:pt x="84" y="112"/>
                        </a:lnTo>
                        <a:lnTo>
                          <a:pt x="89" y="102"/>
                        </a:lnTo>
                        <a:lnTo>
                          <a:pt x="99" y="94"/>
                        </a:lnTo>
                        <a:lnTo>
                          <a:pt x="113" y="84"/>
                        </a:lnTo>
                        <a:lnTo>
                          <a:pt x="127" y="74"/>
                        </a:lnTo>
                        <a:lnTo>
                          <a:pt x="138" y="62"/>
                        </a:lnTo>
                        <a:lnTo>
                          <a:pt x="141" y="52"/>
                        </a:lnTo>
                        <a:lnTo>
                          <a:pt x="147" y="43"/>
                        </a:lnTo>
                        <a:lnTo>
                          <a:pt x="159" y="18"/>
                        </a:lnTo>
                        <a:lnTo>
                          <a:pt x="165" y="14"/>
                        </a:lnTo>
                        <a:lnTo>
                          <a:pt x="174" y="12"/>
                        </a:lnTo>
                        <a:lnTo>
                          <a:pt x="182" y="14"/>
                        </a:lnTo>
                        <a:lnTo>
                          <a:pt x="185" y="22"/>
                        </a:lnTo>
                        <a:lnTo>
                          <a:pt x="188" y="38"/>
                        </a:lnTo>
                        <a:lnTo>
                          <a:pt x="186" y="57"/>
                        </a:lnTo>
                        <a:lnTo>
                          <a:pt x="181" y="73"/>
                        </a:lnTo>
                        <a:lnTo>
                          <a:pt x="202" y="45"/>
                        </a:lnTo>
                        <a:lnTo>
                          <a:pt x="224" y="22"/>
                        </a:lnTo>
                        <a:lnTo>
                          <a:pt x="251" y="5"/>
                        </a:lnTo>
                        <a:lnTo>
                          <a:pt x="265" y="0"/>
                        </a:lnTo>
                        <a:lnTo>
                          <a:pt x="281" y="3"/>
                        </a:lnTo>
                        <a:lnTo>
                          <a:pt x="295" y="8"/>
                        </a:lnTo>
                        <a:lnTo>
                          <a:pt x="308" y="14"/>
                        </a:lnTo>
                        <a:lnTo>
                          <a:pt x="324" y="22"/>
                        </a:lnTo>
                        <a:lnTo>
                          <a:pt x="330" y="29"/>
                        </a:lnTo>
                        <a:lnTo>
                          <a:pt x="337" y="41"/>
                        </a:lnTo>
                        <a:lnTo>
                          <a:pt x="339" y="56"/>
                        </a:lnTo>
                        <a:lnTo>
                          <a:pt x="347" y="62"/>
                        </a:lnTo>
                        <a:lnTo>
                          <a:pt x="354" y="70"/>
                        </a:lnTo>
                        <a:lnTo>
                          <a:pt x="359" y="86"/>
                        </a:lnTo>
                        <a:lnTo>
                          <a:pt x="362" y="97"/>
                        </a:lnTo>
                        <a:lnTo>
                          <a:pt x="359" y="107"/>
                        </a:lnTo>
                        <a:lnTo>
                          <a:pt x="369" y="112"/>
                        </a:lnTo>
                        <a:lnTo>
                          <a:pt x="373" y="120"/>
                        </a:lnTo>
                        <a:lnTo>
                          <a:pt x="370" y="135"/>
                        </a:lnTo>
                        <a:lnTo>
                          <a:pt x="359" y="150"/>
                        </a:lnTo>
                        <a:lnTo>
                          <a:pt x="371" y="166"/>
                        </a:lnTo>
                        <a:lnTo>
                          <a:pt x="381" y="181"/>
                        </a:lnTo>
                        <a:lnTo>
                          <a:pt x="389" y="204"/>
                        </a:lnTo>
                        <a:lnTo>
                          <a:pt x="384" y="210"/>
                        </a:lnTo>
                        <a:lnTo>
                          <a:pt x="371" y="211"/>
                        </a:lnTo>
                        <a:lnTo>
                          <a:pt x="360" y="202"/>
                        </a:lnTo>
                        <a:lnTo>
                          <a:pt x="348" y="197"/>
                        </a:lnTo>
                        <a:lnTo>
                          <a:pt x="337" y="196"/>
                        </a:lnTo>
                        <a:lnTo>
                          <a:pt x="326" y="198"/>
                        </a:lnTo>
                        <a:lnTo>
                          <a:pt x="311" y="212"/>
                        </a:lnTo>
                        <a:lnTo>
                          <a:pt x="302" y="231"/>
                        </a:lnTo>
                        <a:lnTo>
                          <a:pt x="291" y="255"/>
                        </a:lnTo>
                        <a:lnTo>
                          <a:pt x="275" y="273"/>
                        </a:lnTo>
                        <a:lnTo>
                          <a:pt x="256" y="283"/>
                        </a:lnTo>
                        <a:lnTo>
                          <a:pt x="230" y="305"/>
                        </a:lnTo>
                        <a:lnTo>
                          <a:pt x="209" y="323"/>
                        </a:lnTo>
                        <a:lnTo>
                          <a:pt x="168" y="349"/>
                        </a:lnTo>
                        <a:lnTo>
                          <a:pt x="71" y="409"/>
                        </a:lnTo>
                        <a:lnTo>
                          <a:pt x="0" y="301"/>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8" name="Freeform 220"/>
                  <p:cNvSpPr/>
                  <p:nvPr/>
                </p:nvSpPr>
                <p:spPr bwMode="auto">
                  <a:xfrm>
                    <a:off x="2455" y="3148"/>
                    <a:ext cx="26" cy="40"/>
                  </a:xfrm>
                  <a:custGeom>
                    <a:avLst/>
                    <a:gdLst>
                      <a:gd name="T0" fmla="*/ 88 w 185"/>
                      <a:gd name="T1" fmla="*/ 67 h 319"/>
                      <a:gd name="T2" fmla="*/ 96 w 185"/>
                      <a:gd name="T3" fmla="*/ 55 h 319"/>
                      <a:gd name="T4" fmla="*/ 113 w 185"/>
                      <a:gd name="T5" fmla="*/ 49 h 319"/>
                      <a:gd name="T6" fmla="*/ 128 w 185"/>
                      <a:gd name="T7" fmla="*/ 38 h 319"/>
                      <a:gd name="T8" fmla="*/ 140 w 185"/>
                      <a:gd name="T9" fmla="*/ 24 h 319"/>
                      <a:gd name="T10" fmla="*/ 156 w 185"/>
                      <a:gd name="T11" fmla="*/ 0 h 319"/>
                      <a:gd name="T12" fmla="*/ 139 w 185"/>
                      <a:gd name="T13" fmla="*/ 33 h 319"/>
                      <a:gd name="T14" fmla="*/ 129 w 185"/>
                      <a:gd name="T15" fmla="*/ 46 h 319"/>
                      <a:gd name="T16" fmla="*/ 117 w 185"/>
                      <a:gd name="T17" fmla="*/ 65 h 319"/>
                      <a:gd name="T18" fmla="*/ 109 w 185"/>
                      <a:gd name="T19" fmla="*/ 82 h 319"/>
                      <a:gd name="T20" fmla="*/ 105 w 185"/>
                      <a:gd name="T21" fmla="*/ 104 h 319"/>
                      <a:gd name="T22" fmla="*/ 112 w 185"/>
                      <a:gd name="T23" fmla="*/ 119 h 319"/>
                      <a:gd name="T24" fmla="*/ 129 w 185"/>
                      <a:gd name="T25" fmla="*/ 121 h 319"/>
                      <a:gd name="T26" fmla="*/ 147 w 185"/>
                      <a:gd name="T27" fmla="*/ 118 h 319"/>
                      <a:gd name="T28" fmla="*/ 166 w 185"/>
                      <a:gd name="T29" fmla="*/ 114 h 319"/>
                      <a:gd name="T30" fmla="*/ 172 w 185"/>
                      <a:gd name="T31" fmla="*/ 125 h 319"/>
                      <a:gd name="T32" fmla="*/ 175 w 185"/>
                      <a:gd name="T33" fmla="*/ 141 h 319"/>
                      <a:gd name="T34" fmla="*/ 170 w 185"/>
                      <a:gd name="T35" fmla="*/ 156 h 319"/>
                      <a:gd name="T36" fmla="*/ 161 w 185"/>
                      <a:gd name="T37" fmla="*/ 174 h 319"/>
                      <a:gd name="T38" fmla="*/ 166 w 185"/>
                      <a:gd name="T39" fmla="*/ 185 h 319"/>
                      <a:gd name="T40" fmla="*/ 173 w 185"/>
                      <a:gd name="T41" fmla="*/ 196 h 319"/>
                      <a:gd name="T42" fmla="*/ 185 w 185"/>
                      <a:gd name="T43" fmla="*/ 204 h 319"/>
                      <a:gd name="T44" fmla="*/ 170 w 185"/>
                      <a:gd name="T45" fmla="*/ 205 h 319"/>
                      <a:gd name="T46" fmla="*/ 158 w 185"/>
                      <a:gd name="T47" fmla="*/ 208 h 319"/>
                      <a:gd name="T48" fmla="*/ 144 w 185"/>
                      <a:gd name="T49" fmla="*/ 216 h 319"/>
                      <a:gd name="T50" fmla="*/ 139 w 185"/>
                      <a:gd name="T51" fmla="*/ 230 h 319"/>
                      <a:gd name="T52" fmla="*/ 140 w 185"/>
                      <a:gd name="T53" fmla="*/ 247 h 319"/>
                      <a:gd name="T54" fmla="*/ 143 w 185"/>
                      <a:gd name="T55" fmla="*/ 266 h 319"/>
                      <a:gd name="T56" fmla="*/ 147 w 185"/>
                      <a:gd name="T57" fmla="*/ 282 h 319"/>
                      <a:gd name="T58" fmla="*/ 91 w 185"/>
                      <a:gd name="T59" fmla="*/ 319 h 319"/>
                      <a:gd name="T60" fmla="*/ 24 w 185"/>
                      <a:gd name="T61" fmla="*/ 246 h 319"/>
                      <a:gd name="T62" fmla="*/ 0 w 185"/>
                      <a:gd name="T63" fmla="*/ 204 h 319"/>
                      <a:gd name="T64" fmla="*/ 31 w 185"/>
                      <a:gd name="T65" fmla="*/ 182 h 319"/>
                      <a:gd name="T66" fmla="*/ 59 w 185"/>
                      <a:gd name="T67" fmla="*/ 163 h 319"/>
                      <a:gd name="T68" fmla="*/ 68 w 185"/>
                      <a:gd name="T69" fmla="*/ 148 h 319"/>
                      <a:gd name="T70" fmla="*/ 73 w 185"/>
                      <a:gd name="T71" fmla="*/ 118 h 319"/>
                      <a:gd name="T72" fmla="*/ 76 w 185"/>
                      <a:gd name="T73" fmla="*/ 87 h 319"/>
                      <a:gd name="T74" fmla="*/ 88 w 185"/>
                      <a:gd name="T75" fmla="*/ 67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5" h="319">
                        <a:moveTo>
                          <a:pt x="88" y="67"/>
                        </a:moveTo>
                        <a:lnTo>
                          <a:pt x="96" y="55"/>
                        </a:lnTo>
                        <a:lnTo>
                          <a:pt x="113" y="49"/>
                        </a:lnTo>
                        <a:lnTo>
                          <a:pt x="128" y="38"/>
                        </a:lnTo>
                        <a:lnTo>
                          <a:pt x="140" y="24"/>
                        </a:lnTo>
                        <a:lnTo>
                          <a:pt x="156" y="0"/>
                        </a:lnTo>
                        <a:lnTo>
                          <a:pt x="139" y="33"/>
                        </a:lnTo>
                        <a:lnTo>
                          <a:pt x="129" y="46"/>
                        </a:lnTo>
                        <a:lnTo>
                          <a:pt x="117" y="65"/>
                        </a:lnTo>
                        <a:lnTo>
                          <a:pt x="109" y="82"/>
                        </a:lnTo>
                        <a:lnTo>
                          <a:pt x="105" y="104"/>
                        </a:lnTo>
                        <a:lnTo>
                          <a:pt x="112" y="119"/>
                        </a:lnTo>
                        <a:lnTo>
                          <a:pt x="129" y="121"/>
                        </a:lnTo>
                        <a:lnTo>
                          <a:pt x="147" y="118"/>
                        </a:lnTo>
                        <a:lnTo>
                          <a:pt x="166" y="114"/>
                        </a:lnTo>
                        <a:lnTo>
                          <a:pt x="172" y="125"/>
                        </a:lnTo>
                        <a:lnTo>
                          <a:pt x="175" y="141"/>
                        </a:lnTo>
                        <a:lnTo>
                          <a:pt x="170" y="156"/>
                        </a:lnTo>
                        <a:lnTo>
                          <a:pt x="161" y="174"/>
                        </a:lnTo>
                        <a:lnTo>
                          <a:pt x="166" y="185"/>
                        </a:lnTo>
                        <a:lnTo>
                          <a:pt x="173" y="196"/>
                        </a:lnTo>
                        <a:lnTo>
                          <a:pt x="185" y="204"/>
                        </a:lnTo>
                        <a:lnTo>
                          <a:pt x="170" y="205"/>
                        </a:lnTo>
                        <a:lnTo>
                          <a:pt x="158" y="208"/>
                        </a:lnTo>
                        <a:lnTo>
                          <a:pt x="144" y="216"/>
                        </a:lnTo>
                        <a:lnTo>
                          <a:pt x="139" y="230"/>
                        </a:lnTo>
                        <a:lnTo>
                          <a:pt x="140" y="247"/>
                        </a:lnTo>
                        <a:lnTo>
                          <a:pt x="143" y="266"/>
                        </a:lnTo>
                        <a:lnTo>
                          <a:pt x="147" y="282"/>
                        </a:lnTo>
                        <a:lnTo>
                          <a:pt x="91" y="319"/>
                        </a:lnTo>
                        <a:lnTo>
                          <a:pt x="24" y="246"/>
                        </a:lnTo>
                        <a:lnTo>
                          <a:pt x="0" y="204"/>
                        </a:lnTo>
                        <a:lnTo>
                          <a:pt x="31" y="182"/>
                        </a:lnTo>
                        <a:lnTo>
                          <a:pt x="59" y="163"/>
                        </a:lnTo>
                        <a:lnTo>
                          <a:pt x="68" y="148"/>
                        </a:lnTo>
                        <a:lnTo>
                          <a:pt x="73" y="118"/>
                        </a:lnTo>
                        <a:lnTo>
                          <a:pt x="76" y="87"/>
                        </a:lnTo>
                        <a:lnTo>
                          <a:pt x="88" y="6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9" name="Freeform 221"/>
                  <p:cNvSpPr/>
                  <p:nvPr/>
                </p:nvSpPr>
                <p:spPr bwMode="auto">
                  <a:xfrm>
                    <a:off x="2491" y="3157"/>
                    <a:ext cx="12" cy="5"/>
                  </a:xfrm>
                  <a:custGeom>
                    <a:avLst/>
                    <a:gdLst>
                      <a:gd name="T0" fmla="*/ 79 w 79"/>
                      <a:gd name="T1" fmla="*/ 12 h 41"/>
                      <a:gd name="T2" fmla="*/ 61 w 79"/>
                      <a:gd name="T3" fmla="*/ 9 h 41"/>
                      <a:gd name="T4" fmla="*/ 46 w 79"/>
                      <a:gd name="T5" fmla="*/ 10 h 41"/>
                      <a:gd name="T6" fmla="*/ 29 w 79"/>
                      <a:gd name="T7" fmla="*/ 20 h 41"/>
                      <a:gd name="T8" fmla="*/ 0 w 79"/>
                      <a:gd name="T9" fmla="*/ 41 h 41"/>
                      <a:gd name="T10" fmla="*/ 16 w 79"/>
                      <a:gd name="T11" fmla="*/ 25 h 41"/>
                      <a:gd name="T12" fmla="*/ 30 w 79"/>
                      <a:gd name="T13" fmla="*/ 11 h 41"/>
                      <a:gd name="T14" fmla="*/ 47 w 79"/>
                      <a:gd name="T15" fmla="*/ 1 h 41"/>
                      <a:gd name="T16" fmla="*/ 59 w 79"/>
                      <a:gd name="T17" fmla="*/ 0 h 41"/>
                      <a:gd name="T18" fmla="*/ 73 w 79"/>
                      <a:gd name="T19" fmla="*/ 4 h 41"/>
                      <a:gd name="T20" fmla="*/ 79 w 79"/>
                      <a:gd name="T21"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41">
                        <a:moveTo>
                          <a:pt x="79" y="12"/>
                        </a:moveTo>
                        <a:lnTo>
                          <a:pt x="61" y="9"/>
                        </a:lnTo>
                        <a:lnTo>
                          <a:pt x="46" y="10"/>
                        </a:lnTo>
                        <a:lnTo>
                          <a:pt x="29" y="20"/>
                        </a:lnTo>
                        <a:lnTo>
                          <a:pt x="0" y="41"/>
                        </a:lnTo>
                        <a:lnTo>
                          <a:pt x="16" y="25"/>
                        </a:lnTo>
                        <a:lnTo>
                          <a:pt x="30" y="11"/>
                        </a:lnTo>
                        <a:lnTo>
                          <a:pt x="47" y="1"/>
                        </a:lnTo>
                        <a:lnTo>
                          <a:pt x="59" y="0"/>
                        </a:lnTo>
                        <a:lnTo>
                          <a:pt x="73" y="4"/>
                        </a:lnTo>
                        <a:lnTo>
                          <a:pt x="79" y="12"/>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0" name="Freeform 222"/>
                  <p:cNvSpPr/>
                  <p:nvPr/>
                </p:nvSpPr>
                <p:spPr bwMode="auto">
                  <a:xfrm>
                    <a:off x="2489" y="3152"/>
                    <a:ext cx="14" cy="5"/>
                  </a:xfrm>
                  <a:custGeom>
                    <a:avLst/>
                    <a:gdLst>
                      <a:gd name="T0" fmla="*/ 93 w 93"/>
                      <a:gd name="T1" fmla="*/ 13 h 39"/>
                      <a:gd name="T2" fmla="*/ 77 w 93"/>
                      <a:gd name="T3" fmla="*/ 8 h 39"/>
                      <a:gd name="T4" fmla="*/ 61 w 93"/>
                      <a:gd name="T5" fmla="*/ 5 h 39"/>
                      <a:gd name="T6" fmla="*/ 42 w 93"/>
                      <a:gd name="T7" fmla="*/ 11 h 39"/>
                      <a:gd name="T8" fmla="*/ 15 w 93"/>
                      <a:gd name="T9" fmla="*/ 31 h 39"/>
                      <a:gd name="T10" fmla="*/ 0 w 93"/>
                      <a:gd name="T11" fmla="*/ 39 h 39"/>
                      <a:gd name="T12" fmla="*/ 21 w 93"/>
                      <a:gd name="T13" fmla="*/ 24 h 39"/>
                      <a:gd name="T14" fmla="*/ 34 w 93"/>
                      <a:gd name="T15" fmla="*/ 11 h 39"/>
                      <a:gd name="T16" fmla="*/ 45 w 93"/>
                      <a:gd name="T17" fmla="*/ 5 h 39"/>
                      <a:gd name="T18" fmla="*/ 59 w 93"/>
                      <a:gd name="T19" fmla="*/ 0 h 39"/>
                      <a:gd name="T20" fmla="*/ 71 w 93"/>
                      <a:gd name="T21" fmla="*/ 1 h 39"/>
                      <a:gd name="T22" fmla="*/ 93 w 93"/>
                      <a:gd name="T23" fmla="*/ 13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 h="39">
                        <a:moveTo>
                          <a:pt x="93" y="13"/>
                        </a:moveTo>
                        <a:lnTo>
                          <a:pt x="77" y="8"/>
                        </a:lnTo>
                        <a:lnTo>
                          <a:pt x="61" y="5"/>
                        </a:lnTo>
                        <a:lnTo>
                          <a:pt x="42" y="11"/>
                        </a:lnTo>
                        <a:lnTo>
                          <a:pt x="15" y="31"/>
                        </a:lnTo>
                        <a:lnTo>
                          <a:pt x="0" y="39"/>
                        </a:lnTo>
                        <a:lnTo>
                          <a:pt x="21" y="24"/>
                        </a:lnTo>
                        <a:lnTo>
                          <a:pt x="34" y="11"/>
                        </a:lnTo>
                        <a:lnTo>
                          <a:pt x="45" y="5"/>
                        </a:lnTo>
                        <a:lnTo>
                          <a:pt x="59" y="0"/>
                        </a:lnTo>
                        <a:lnTo>
                          <a:pt x="71" y="1"/>
                        </a:lnTo>
                        <a:lnTo>
                          <a:pt x="93" y="13"/>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1" name="Freeform 223"/>
                  <p:cNvSpPr/>
                  <p:nvPr/>
                </p:nvSpPr>
                <p:spPr bwMode="auto">
                  <a:xfrm>
                    <a:off x="2486" y="3145"/>
                    <a:ext cx="14" cy="8"/>
                  </a:xfrm>
                  <a:custGeom>
                    <a:avLst/>
                    <a:gdLst>
                      <a:gd name="T0" fmla="*/ 93 w 93"/>
                      <a:gd name="T1" fmla="*/ 17 h 64"/>
                      <a:gd name="T2" fmla="*/ 82 w 93"/>
                      <a:gd name="T3" fmla="*/ 20 h 64"/>
                      <a:gd name="T4" fmla="*/ 73 w 93"/>
                      <a:gd name="T5" fmla="*/ 20 h 64"/>
                      <a:gd name="T6" fmla="*/ 63 w 93"/>
                      <a:gd name="T7" fmla="*/ 17 h 64"/>
                      <a:gd name="T8" fmla="*/ 55 w 93"/>
                      <a:gd name="T9" fmla="*/ 8 h 64"/>
                      <a:gd name="T10" fmla="*/ 36 w 93"/>
                      <a:gd name="T11" fmla="*/ 20 h 64"/>
                      <a:gd name="T12" fmla="*/ 24 w 93"/>
                      <a:gd name="T13" fmla="*/ 32 h 64"/>
                      <a:gd name="T14" fmla="*/ 10 w 93"/>
                      <a:gd name="T15" fmla="*/ 49 h 64"/>
                      <a:gd name="T16" fmla="*/ 0 w 93"/>
                      <a:gd name="T17" fmla="*/ 64 h 64"/>
                      <a:gd name="T18" fmla="*/ 12 w 93"/>
                      <a:gd name="T19" fmla="*/ 40 h 64"/>
                      <a:gd name="T20" fmla="*/ 27 w 93"/>
                      <a:gd name="T21" fmla="*/ 20 h 64"/>
                      <a:gd name="T22" fmla="*/ 39 w 93"/>
                      <a:gd name="T23" fmla="*/ 8 h 64"/>
                      <a:gd name="T24" fmla="*/ 51 w 93"/>
                      <a:gd name="T25" fmla="*/ 3 h 64"/>
                      <a:gd name="T26" fmla="*/ 57 w 93"/>
                      <a:gd name="T27" fmla="*/ 0 h 64"/>
                      <a:gd name="T28" fmla="*/ 66 w 93"/>
                      <a:gd name="T29" fmla="*/ 9 h 64"/>
                      <a:gd name="T30" fmla="*/ 73 w 93"/>
                      <a:gd name="T31" fmla="*/ 14 h 64"/>
                      <a:gd name="T32" fmla="*/ 82 w 93"/>
                      <a:gd name="T33" fmla="*/ 17 h 64"/>
                      <a:gd name="T34" fmla="*/ 93 w 93"/>
                      <a:gd name="T35" fmla="*/ 1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 h="64">
                        <a:moveTo>
                          <a:pt x="93" y="17"/>
                        </a:moveTo>
                        <a:lnTo>
                          <a:pt x="82" y="20"/>
                        </a:lnTo>
                        <a:lnTo>
                          <a:pt x="73" y="20"/>
                        </a:lnTo>
                        <a:lnTo>
                          <a:pt x="63" y="17"/>
                        </a:lnTo>
                        <a:lnTo>
                          <a:pt x="55" y="8"/>
                        </a:lnTo>
                        <a:lnTo>
                          <a:pt x="36" y="20"/>
                        </a:lnTo>
                        <a:lnTo>
                          <a:pt x="24" y="32"/>
                        </a:lnTo>
                        <a:lnTo>
                          <a:pt x="10" y="49"/>
                        </a:lnTo>
                        <a:lnTo>
                          <a:pt x="0" y="64"/>
                        </a:lnTo>
                        <a:lnTo>
                          <a:pt x="12" y="40"/>
                        </a:lnTo>
                        <a:lnTo>
                          <a:pt x="27" y="20"/>
                        </a:lnTo>
                        <a:lnTo>
                          <a:pt x="39" y="8"/>
                        </a:lnTo>
                        <a:lnTo>
                          <a:pt x="51" y="3"/>
                        </a:lnTo>
                        <a:lnTo>
                          <a:pt x="57" y="0"/>
                        </a:lnTo>
                        <a:lnTo>
                          <a:pt x="66" y="9"/>
                        </a:lnTo>
                        <a:lnTo>
                          <a:pt x="73" y="14"/>
                        </a:lnTo>
                        <a:lnTo>
                          <a:pt x="82" y="17"/>
                        </a:lnTo>
                        <a:lnTo>
                          <a:pt x="93" y="1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272" name="Group 224"/>
                <p:cNvGrpSpPr/>
                <p:nvPr/>
              </p:nvGrpSpPr>
              <p:grpSpPr bwMode="auto">
                <a:xfrm>
                  <a:off x="2358" y="3075"/>
                  <a:ext cx="168" cy="142"/>
                  <a:chOff x="2358" y="3075"/>
                  <a:chExt cx="168" cy="142"/>
                </a:xfrm>
              </p:grpSpPr>
              <p:grpSp>
                <p:nvGrpSpPr>
                  <p:cNvPr id="642273" name="Group 225"/>
                  <p:cNvGrpSpPr/>
                  <p:nvPr/>
                </p:nvGrpSpPr>
                <p:grpSpPr bwMode="auto">
                  <a:xfrm>
                    <a:off x="2358" y="3075"/>
                    <a:ext cx="168" cy="142"/>
                    <a:chOff x="2358" y="3075"/>
                    <a:chExt cx="168" cy="142"/>
                  </a:xfrm>
                </p:grpSpPr>
                <p:sp>
                  <p:nvSpPr>
                    <p:cNvPr id="642274" name="Freeform 226"/>
                    <p:cNvSpPr/>
                    <p:nvPr/>
                  </p:nvSpPr>
                  <p:spPr bwMode="auto">
                    <a:xfrm>
                      <a:off x="2358" y="3075"/>
                      <a:ext cx="168" cy="142"/>
                    </a:xfrm>
                    <a:custGeom>
                      <a:avLst/>
                      <a:gdLst>
                        <a:gd name="T0" fmla="*/ 314 w 1177"/>
                        <a:gd name="T1" fmla="*/ 24 h 1140"/>
                        <a:gd name="T2" fmla="*/ 275 w 1177"/>
                        <a:gd name="T3" fmla="*/ 40 h 1140"/>
                        <a:gd name="T4" fmla="*/ 218 w 1177"/>
                        <a:gd name="T5" fmla="*/ 85 h 1140"/>
                        <a:gd name="T6" fmla="*/ 165 w 1177"/>
                        <a:gd name="T7" fmla="*/ 149 h 1140"/>
                        <a:gd name="T8" fmla="*/ 119 w 1177"/>
                        <a:gd name="T9" fmla="*/ 202 h 1140"/>
                        <a:gd name="T10" fmla="*/ 77 w 1177"/>
                        <a:gd name="T11" fmla="*/ 267 h 1140"/>
                        <a:gd name="T12" fmla="*/ 43 w 1177"/>
                        <a:gd name="T13" fmla="*/ 354 h 1140"/>
                        <a:gd name="T14" fmla="*/ 32 w 1177"/>
                        <a:gd name="T15" fmla="*/ 397 h 1140"/>
                        <a:gd name="T16" fmla="*/ 25 w 1177"/>
                        <a:gd name="T17" fmla="*/ 458 h 1140"/>
                        <a:gd name="T18" fmla="*/ 12 w 1177"/>
                        <a:gd name="T19" fmla="*/ 504 h 1140"/>
                        <a:gd name="T20" fmla="*/ 0 w 1177"/>
                        <a:gd name="T21" fmla="*/ 569 h 1140"/>
                        <a:gd name="T22" fmla="*/ 2 w 1177"/>
                        <a:gd name="T23" fmla="*/ 695 h 1140"/>
                        <a:gd name="T24" fmla="*/ 4 w 1177"/>
                        <a:gd name="T25" fmla="*/ 809 h 1140"/>
                        <a:gd name="T26" fmla="*/ 14 w 1177"/>
                        <a:gd name="T27" fmla="*/ 852 h 1140"/>
                        <a:gd name="T28" fmla="*/ 13 w 1177"/>
                        <a:gd name="T29" fmla="*/ 944 h 1140"/>
                        <a:gd name="T30" fmla="*/ 33 w 1177"/>
                        <a:gd name="T31" fmla="*/ 1025 h 1140"/>
                        <a:gd name="T32" fmla="*/ 69 w 1177"/>
                        <a:gd name="T33" fmla="*/ 1092 h 1140"/>
                        <a:gd name="T34" fmla="*/ 130 w 1177"/>
                        <a:gd name="T35" fmla="*/ 1140 h 1140"/>
                        <a:gd name="T36" fmla="*/ 630 w 1177"/>
                        <a:gd name="T37" fmla="*/ 1109 h 1140"/>
                        <a:gd name="T38" fmla="*/ 659 w 1177"/>
                        <a:gd name="T39" fmla="*/ 1067 h 1140"/>
                        <a:gd name="T40" fmla="*/ 707 w 1177"/>
                        <a:gd name="T41" fmla="*/ 1031 h 1140"/>
                        <a:gd name="T42" fmla="*/ 745 w 1177"/>
                        <a:gd name="T43" fmla="*/ 1000 h 1140"/>
                        <a:gd name="T44" fmla="*/ 782 w 1177"/>
                        <a:gd name="T45" fmla="*/ 974 h 1140"/>
                        <a:gd name="T46" fmla="*/ 784 w 1177"/>
                        <a:gd name="T47" fmla="*/ 912 h 1140"/>
                        <a:gd name="T48" fmla="*/ 772 w 1177"/>
                        <a:gd name="T49" fmla="*/ 841 h 1140"/>
                        <a:gd name="T50" fmla="*/ 719 w 1177"/>
                        <a:gd name="T51" fmla="*/ 796 h 1140"/>
                        <a:gd name="T52" fmla="*/ 667 w 1177"/>
                        <a:gd name="T53" fmla="*/ 792 h 1140"/>
                        <a:gd name="T54" fmla="*/ 630 w 1177"/>
                        <a:gd name="T55" fmla="*/ 822 h 1140"/>
                        <a:gd name="T56" fmla="*/ 604 w 1177"/>
                        <a:gd name="T57" fmla="*/ 842 h 1140"/>
                        <a:gd name="T58" fmla="*/ 572 w 1177"/>
                        <a:gd name="T59" fmla="*/ 857 h 1140"/>
                        <a:gd name="T60" fmla="*/ 548 w 1177"/>
                        <a:gd name="T61" fmla="*/ 872 h 1140"/>
                        <a:gd name="T62" fmla="*/ 564 w 1177"/>
                        <a:gd name="T63" fmla="*/ 827 h 1140"/>
                        <a:gd name="T64" fmla="*/ 768 w 1177"/>
                        <a:gd name="T65" fmla="*/ 565 h 1140"/>
                        <a:gd name="T66" fmla="*/ 783 w 1177"/>
                        <a:gd name="T67" fmla="*/ 504 h 1140"/>
                        <a:gd name="T68" fmla="*/ 785 w 1177"/>
                        <a:gd name="T69" fmla="*/ 458 h 1140"/>
                        <a:gd name="T70" fmla="*/ 784 w 1177"/>
                        <a:gd name="T71" fmla="*/ 369 h 1140"/>
                        <a:gd name="T72" fmla="*/ 820 w 1177"/>
                        <a:gd name="T73" fmla="*/ 367 h 1140"/>
                        <a:gd name="T74" fmla="*/ 881 w 1177"/>
                        <a:gd name="T75" fmla="*/ 374 h 1140"/>
                        <a:gd name="T76" fmla="*/ 949 w 1177"/>
                        <a:gd name="T77" fmla="*/ 361 h 1140"/>
                        <a:gd name="T78" fmla="*/ 920 w 1177"/>
                        <a:gd name="T79" fmla="*/ 423 h 1140"/>
                        <a:gd name="T80" fmla="*/ 894 w 1177"/>
                        <a:gd name="T81" fmla="*/ 464 h 1140"/>
                        <a:gd name="T82" fmla="*/ 900 w 1177"/>
                        <a:gd name="T83" fmla="*/ 473 h 1140"/>
                        <a:gd name="T84" fmla="*/ 928 w 1177"/>
                        <a:gd name="T85" fmla="*/ 461 h 1140"/>
                        <a:gd name="T86" fmla="*/ 977 w 1177"/>
                        <a:gd name="T87" fmla="*/ 476 h 1140"/>
                        <a:gd name="T88" fmla="*/ 1018 w 1177"/>
                        <a:gd name="T89" fmla="*/ 518 h 1140"/>
                        <a:gd name="T90" fmla="*/ 1015 w 1177"/>
                        <a:gd name="T91" fmla="*/ 547 h 1140"/>
                        <a:gd name="T92" fmla="*/ 1041 w 1177"/>
                        <a:gd name="T93" fmla="*/ 540 h 1140"/>
                        <a:gd name="T94" fmla="*/ 1068 w 1177"/>
                        <a:gd name="T95" fmla="*/ 499 h 1140"/>
                        <a:gd name="T96" fmla="*/ 1108 w 1177"/>
                        <a:gd name="T97" fmla="*/ 482 h 1140"/>
                        <a:gd name="T98" fmla="*/ 1142 w 1177"/>
                        <a:gd name="T99" fmla="*/ 437 h 1140"/>
                        <a:gd name="T100" fmla="*/ 1165 w 1177"/>
                        <a:gd name="T101" fmla="*/ 385 h 1140"/>
                        <a:gd name="T102" fmla="*/ 1175 w 1177"/>
                        <a:gd name="T103" fmla="*/ 285 h 1140"/>
                        <a:gd name="T104" fmla="*/ 1153 w 1177"/>
                        <a:gd name="T105" fmla="*/ 223 h 1140"/>
                        <a:gd name="T106" fmla="*/ 1117 w 1177"/>
                        <a:gd name="T107" fmla="*/ 176 h 1140"/>
                        <a:gd name="T108" fmla="*/ 963 w 1177"/>
                        <a:gd name="T109" fmla="*/ 101 h 1140"/>
                        <a:gd name="T110" fmla="*/ 813 w 1177"/>
                        <a:gd name="T111" fmla="*/ 26 h 1140"/>
                        <a:gd name="T112" fmla="*/ 590 w 1177"/>
                        <a:gd name="T113" fmla="*/ 235 h 1140"/>
                        <a:gd name="T114" fmla="*/ 476 w 1177"/>
                        <a:gd name="T115" fmla="*/ 185 h 1140"/>
                        <a:gd name="T116" fmla="*/ 397 w 1177"/>
                        <a:gd name="T117" fmla="*/ 103 h 1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77" h="1140">
                          <a:moveTo>
                            <a:pt x="333" y="13"/>
                          </a:moveTo>
                          <a:lnTo>
                            <a:pt x="323" y="15"/>
                          </a:lnTo>
                          <a:lnTo>
                            <a:pt x="314" y="24"/>
                          </a:lnTo>
                          <a:lnTo>
                            <a:pt x="305" y="31"/>
                          </a:lnTo>
                          <a:lnTo>
                            <a:pt x="291" y="37"/>
                          </a:lnTo>
                          <a:lnTo>
                            <a:pt x="275" y="40"/>
                          </a:lnTo>
                          <a:lnTo>
                            <a:pt x="262" y="46"/>
                          </a:lnTo>
                          <a:lnTo>
                            <a:pt x="243" y="64"/>
                          </a:lnTo>
                          <a:lnTo>
                            <a:pt x="218" y="85"/>
                          </a:lnTo>
                          <a:lnTo>
                            <a:pt x="194" y="109"/>
                          </a:lnTo>
                          <a:lnTo>
                            <a:pt x="174" y="133"/>
                          </a:lnTo>
                          <a:lnTo>
                            <a:pt x="165" y="149"/>
                          </a:lnTo>
                          <a:lnTo>
                            <a:pt x="153" y="165"/>
                          </a:lnTo>
                          <a:lnTo>
                            <a:pt x="138" y="180"/>
                          </a:lnTo>
                          <a:lnTo>
                            <a:pt x="119" y="202"/>
                          </a:lnTo>
                          <a:lnTo>
                            <a:pt x="104" y="223"/>
                          </a:lnTo>
                          <a:lnTo>
                            <a:pt x="89" y="245"/>
                          </a:lnTo>
                          <a:lnTo>
                            <a:pt x="77" y="267"/>
                          </a:lnTo>
                          <a:lnTo>
                            <a:pt x="63" y="295"/>
                          </a:lnTo>
                          <a:lnTo>
                            <a:pt x="51" y="326"/>
                          </a:lnTo>
                          <a:lnTo>
                            <a:pt x="43" y="354"/>
                          </a:lnTo>
                          <a:lnTo>
                            <a:pt x="37" y="368"/>
                          </a:lnTo>
                          <a:lnTo>
                            <a:pt x="39" y="379"/>
                          </a:lnTo>
                          <a:lnTo>
                            <a:pt x="32" y="397"/>
                          </a:lnTo>
                          <a:lnTo>
                            <a:pt x="26" y="413"/>
                          </a:lnTo>
                          <a:lnTo>
                            <a:pt x="22" y="437"/>
                          </a:lnTo>
                          <a:lnTo>
                            <a:pt x="25" y="458"/>
                          </a:lnTo>
                          <a:lnTo>
                            <a:pt x="27" y="478"/>
                          </a:lnTo>
                          <a:lnTo>
                            <a:pt x="22" y="497"/>
                          </a:lnTo>
                          <a:lnTo>
                            <a:pt x="12" y="504"/>
                          </a:lnTo>
                          <a:lnTo>
                            <a:pt x="5" y="518"/>
                          </a:lnTo>
                          <a:lnTo>
                            <a:pt x="2" y="538"/>
                          </a:lnTo>
                          <a:lnTo>
                            <a:pt x="0" y="569"/>
                          </a:lnTo>
                          <a:lnTo>
                            <a:pt x="1" y="609"/>
                          </a:lnTo>
                          <a:lnTo>
                            <a:pt x="4" y="660"/>
                          </a:lnTo>
                          <a:lnTo>
                            <a:pt x="2" y="695"/>
                          </a:lnTo>
                          <a:lnTo>
                            <a:pt x="1" y="733"/>
                          </a:lnTo>
                          <a:lnTo>
                            <a:pt x="2" y="767"/>
                          </a:lnTo>
                          <a:lnTo>
                            <a:pt x="4" y="809"/>
                          </a:lnTo>
                          <a:lnTo>
                            <a:pt x="9" y="820"/>
                          </a:lnTo>
                          <a:lnTo>
                            <a:pt x="16" y="828"/>
                          </a:lnTo>
                          <a:lnTo>
                            <a:pt x="14" y="852"/>
                          </a:lnTo>
                          <a:lnTo>
                            <a:pt x="12" y="887"/>
                          </a:lnTo>
                          <a:lnTo>
                            <a:pt x="16" y="911"/>
                          </a:lnTo>
                          <a:lnTo>
                            <a:pt x="13" y="944"/>
                          </a:lnTo>
                          <a:lnTo>
                            <a:pt x="16" y="974"/>
                          </a:lnTo>
                          <a:lnTo>
                            <a:pt x="24" y="1002"/>
                          </a:lnTo>
                          <a:lnTo>
                            <a:pt x="33" y="1025"/>
                          </a:lnTo>
                          <a:lnTo>
                            <a:pt x="45" y="1052"/>
                          </a:lnTo>
                          <a:lnTo>
                            <a:pt x="56" y="1073"/>
                          </a:lnTo>
                          <a:lnTo>
                            <a:pt x="69" y="1092"/>
                          </a:lnTo>
                          <a:lnTo>
                            <a:pt x="88" y="1106"/>
                          </a:lnTo>
                          <a:lnTo>
                            <a:pt x="110" y="1124"/>
                          </a:lnTo>
                          <a:lnTo>
                            <a:pt x="130" y="1140"/>
                          </a:lnTo>
                          <a:lnTo>
                            <a:pt x="590" y="1140"/>
                          </a:lnTo>
                          <a:lnTo>
                            <a:pt x="607" y="1122"/>
                          </a:lnTo>
                          <a:lnTo>
                            <a:pt x="630" y="1109"/>
                          </a:lnTo>
                          <a:lnTo>
                            <a:pt x="642" y="1103"/>
                          </a:lnTo>
                          <a:lnTo>
                            <a:pt x="647" y="1098"/>
                          </a:lnTo>
                          <a:lnTo>
                            <a:pt x="659" y="1067"/>
                          </a:lnTo>
                          <a:lnTo>
                            <a:pt x="672" y="1049"/>
                          </a:lnTo>
                          <a:lnTo>
                            <a:pt x="691" y="1036"/>
                          </a:lnTo>
                          <a:lnTo>
                            <a:pt x="707" y="1031"/>
                          </a:lnTo>
                          <a:lnTo>
                            <a:pt x="717" y="1020"/>
                          </a:lnTo>
                          <a:lnTo>
                            <a:pt x="724" y="1007"/>
                          </a:lnTo>
                          <a:lnTo>
                            <a:pt x="745" y="1000"/>
                          </a:lnTo>
                          <a:lnTo>
                            <a:pt x="762" y="990"/>
                          </a:lnTo>
                          <a:lnTo>
                            <a:pt x="771" y="978"/>
                          </a:lnTo>
                          <a:lnTo>
                            <a:pt x="782" y="974"/>
                          </a:lnTo>
                          <a:lnTo>
                            <a:pt x="787" y="964"/>
                          </a:lnTo>
                          <a:lnTo>
                            <a:pt x="785" y="948"/>
                          </a:lnTo>
                          <a:lnTo>
                            <a:pt x="784" y="912"/>
                          </a:lnTo>
                          <a:lnTo>
                            <a:pt x="787" y="890"/>
                          </a:lnTo>
                          <a:lnTo>
                            <a:pt x="785" y="864"/>
                          </a:lnTo>
                          <a:lnTo>
                            <a:pt x="772" y="841"/>
                          </a:lnTo>
                          <a:lnTo>
                            <a:pt x="754" y="822"/>
                          </a:lnTo>
                          <a:lnTo>
                            <a:pt x="738" y="808"/>
                          </a:lnTo>
                          <a:lnTo>
                            <a:pt x="719" y="796"/>
                          </a:lnTo>
                          <a:lnTo>
                            <a:pt x="701" y="784"/>
                          </a:lnTo>
                          <a:lnTo>
                            <a:pt x="683" y="785"/>
                          </a:lnTo>
                          <a:lnTo>
                            <a:pt x="667" y="792"/>
                          </a:lnTo>
                          <a:lnTo>
                            <a:pt x="654" y="804"/>
                          </a:lnTo>
                          <a:lnTo>
                            <a:pt x="644" y="811"/>
                          </a:lnTo>
                          <a:lnTo>
                            <a:pt x="630" y="822"/>
                          </a:lnTo>
                          <a:lnTo>
                            <a:pt x="623" y="831"/>
                          </a:lnTo>
                          <a:lnTo>
                            <a:pt x="613" y="833"/>
                          </a:lnTo>
                          <a:lnTo>
                            <a:pt x="604" y="842"/>
                          </a:lnTo>
                          <a:lnTo>
                            <a:pt x="596" y="857"/>
                          </a:lnTo>
                          <a:lnTo>
                            <a:pt x="583" y="854"/>
                          </a:lnTo>
                          <a:lnTo>
                            <a:pt x="572" y="857"/>
                          </a:lnTo>
                          <a:lnTo>
                            <a:pt x="567" y="865"/>
                          </a:lnTo>
                          <a:lnTo>
                            <a:pt x="560" y="869"/>
                          </a:lnTo>
                          <a:lnTo>
                            <a:pt x="548" y="872"/>
                          </a:lnTo>
                          <a:lnTo>
                            <a:pt x="537" y="869"/>
                          </a:lnTo>
                          <a:lnTo>
                            <a:pt x="526" y="852"/>
                          </a:lnTo>
                          <a:lnTo>
                            <a:pt x="564" y="827"/>
                          </a:lnTo>
                          <a:lnTo>
                            <a:pt x="637" y="740"/>
                          </a:lnTo>
                          <a:lnTo>
                            <a:pt x="761" y="588"/>
                          </a:lnTo>
                          <a:lnTo>
                            <a:pt x="768" y="565"/>
                          </a:lnTo>
                          <a:lnTo>
                            <a:pt x="770" y="539"/>
                          </a:lnTo>
                          <a:lnTo>
                            <a:pt x="766" y="509"/>
                          </a:lnTo>
                          <a:lnTo>
                            <a:pt x="783" y="504"/>
                          </a:lnTo>
                          <a:lnTo>
                            <a:pt x="799" y="493"/>
                          </a:lnTo>
                          <a:lnTo>
                            <a:pt x="798" y="483"/>
                          </a:lnTo>
                          <a:lnTo>
                            <a:pt x="785" y="458"/>
                          </a:lnTo>
                          <a:lnTo>
                            <a:pt x="777" y="437"/>
                          </a:lnTo>
                          <a:lnTo>
                            <a:pt x="782" y="396"/>
                          </a:lnTo>
                          <a:lnTo>
                            <a:pt x="784" y="369"/>
                          </a:lnTo>
                          <a:lnTo>
                            <a:pt x="783" y="342"/>
                          </a:lnTo>
                          <a:lnTo>
                            <a:pt x="804" y="353"/>
                          </a:lnTo>
                          <a:lnTo>
                            <a:pt x="820" y="367"/>
                          </a:lnTo>
                          <a:lnTo>
                            <a:pt x="839" y="373"/>
                          </a:lnTo>
                          <a:lnTo>
                            <a:pt x="861" y="376"/>
                          </a:lnTo>
                          <a:lnTo>
                            <a:pt x="881" y="374"/>
                          </a:lnTo>
                          <a:lnTo>
                            <a:pt x="910" y="368"/>
                          </a:lnTo>
                          <a:lnTo>
                            <a:pt x="930" y="362"/>
                          </a:lnTo>
                          <a:lnTo>
                            <a:pt x="949" y="361"/>
                          </a:lnTo>
                          <a:lnTo>
                            <a:pt x="939" y="385"/>
                          </a:lnTo>
                          <a:lnTo>
                            <a:pt x="933" y="407"/>
                          </a:lnTo>
                          <a:lnTo>
                            <a:pt x="920" y="423"/>
                          </a:lnTo>
                          <a:lnTo>
                            <a:pt x="907" y="439"/>
                          </a:lnTo>
                          <a:lnTo>
                            <a:pt x="899" y="451"/>
                          </a:lnTo>
                          <a:lnTo>
                            <a:pt x="894" y="464"/>
                          </a:lnTo>
                          <a:lnTo>
                            <a:pt x="896" y="472"/>
                          </a:lnTo>
                          <a:lnTo>
                            <a:pt x="903" y="484"/>
                          </a:lnTo>
                          <a:lnTo>
                            <a:pt x="900" y="473"/>
                          </a:lnTo>
                          <a:lnTo>
                            <a:pt x="905" y="465"/>
                          </a:lnTo>
                          <a:lnTo>
                            <a:pt x="915" y="462"/>
                          </a:lnTo>
                          <a:lnTo>
                            <a:pt x="928" y="461"/>
                          </a:lnTo>
                          <a:lnTo>
                            <a:pt x="944" y="463"/>
                          </a:lnTo>
                          <a:lnTo>
                            <a:pt x="961" y="468"/>
                          </a:lnTo>
                          <a:lnTo>
                            <a:pt x="977" y="476"/>
                          </a:lnTo>
                          <a:lnTo>
                            <a:pt x="992" y="487"/>
                          </a:lnTo>
                          <a:lnTo>
                            <a:pt x="1005" y="500"/>
                          </a:lnTo>
                          <a:lnTo>
                            <a:pt x="1018" y="518"/>
                          </a:lnTo>
                          <a:lnTo>
                            <a:pt x="1023" y="533"/>
                          </a:lnTo>
                          <a:lnTo>
                            <a:pt x="1019" y="540"/>
                          </a:lnTo>
                          <a:lnTo>
                            <a:pt x="1015" y="547"/>
                          </a:lnTo>
                          <a:lnTo>
                            <a:pt x="1024" y="547"/>
                          </a:lnTo>
                          <a:lnTo>
                            <a:pt x="1034" y="543"/>
                          </a:lnTo>
                          <a:lnTo>
                            <a:pt x="1041" y="540"/>
                          </a:lnTo>
                          <a:lnTo>
                            <a:pt x="1049" y="528"/>
                          </a:lnTo>
                          <a:lnTo>
                            <a:pt x="1055" y="513"/>
                          </a:lnTo>
                          <a:lnTo>
                            <a:pt x="1068" y="499"/>
                          </a:lnTo>
                          <a:lnTo>
                            <a:pt x="1077" y="484"/>
                          </a:lnTo>
                          <a:lnTo>
                            <a:pt x="1093" y="482"/>
                          </a:lnTo>
                          <a:lnTo>
                            <a:pt x="1108" y="482"/>
                          </a:lnTo>
                          <a:lnTo>
                            <a:pt x="1119" y="479"/>
                          </a:lnTo>
                          <a:lnTo>
                            <a:pt x="1130" y="461"/>
                          </a:lnTo>
                          <a:lnTo>
                            <a:pt x="1142" y="437"/>
                          </a:lnTo>
                          <a:lnTo>
                            <a:pt x="1153" y="413"/>
                          </a:lnTo>
                          <a:lnTo>
                            <a:pt x="1163" y="397"/>
                          </a:lnTo>
                          <a:lnTo>
                            <a:pt x="1165" y="385"/>
                          </a:lnTo>
                          <a:lnTo>
                            <a:pt x="1173" y="345"/>
                          </a:lnTo>
                          <a:lnTo>
                            <a:pt x="1177" y="312"/>
                          </a:lnTo>
                          <a:lnTo>
                            <a:pt x="1175" y="285"/>
                          </a:lnTo>
                          <a:lnTo>
                            <a:pt x="1171" y="259"/>
                          </a:lnTo>
                          <a:lnTo>
                            <a:pt x="1167" y="246"/>
                          </a:lnTo>
                          <a:lnTo>
                            <a:pt x="1153" y="223"/>
                          </a:lnTo>
                          <a:lnTo>
                            <a:pt x="1138" y="198"/>
                          </a:lnTo>
                          <a:lnTo>
                            <a:pt x="1125" y="180"/>
                          </a:lnTo>
                          <a:lnTo>
                            <a:pt x="1117" y="176"/>
                          </a:lnTo>
                          <a:lnTo>
                            <a:pt x="1067" y="162"/>
                          </a:lnTo>
                          <a:lnTo>
                            <a:pt x="1025" y="135"/>
                          </a:lnTo>
                          <a:lnTo>
                            <a:pt x="963" y="101"/>
                          </a:lnTo>
                          <a:lnTo>
                            <a:pt x="875" y="62"/>
                          </a:lnTo>
                          <a:lnTo>
                            <a:pt x="844" y="47"/>
                          </a:lnTo>
                          <a:lnTo>
                            <a:pt x="813" y="26"/>
                          </a:lnTo>
                          <a:lnTo>
                            <a:pt x="781" y="0"/>
                          </a:lnTo>
                          <a:lnTo>
                            <a:pt x="730" y="5"/>
                          </a:lnTo>
                          <a:lnTo>
                            <a:pt x="590" y="235"/>
                          </a:lnTo>
                          <a:lnTo>
                            <a:pt x="523" y="210"/>
                          </a:lnTo>
                          <a:lnTo>
                            <a:pt x="498" y="198"/>
                          </a:lnTo>
                          <a:lnTo>
                            <a:pt x="476" y="185"/>
                          </a:lnTo>
                          <a:lnTo>
                            <a:pt x="452" y="165"/>
                          </a:lnTo>
                          <a:lnTo>
                            <a:pt x="427" y="139"/>
                          </a:lnTo>
                          <a:lnTo>
                            <a:pt x="397" y="103"/>
                          </a:lnTo>
                          <a:lnTo>
                            <a:pt x="333"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275" name="Group 227"/>
                    <p:cNvGrpSpPr/>
                    <p:nvPr/>
                  </p:nvGrpSpPr>
                  <p:grpSpPr bwMode="auto">
                    <a:xfrm>
                      <a:off x="2360" y="3075"/>
                      <a:ext cx="162" cy="142"/>
                      <a:chOff x="2360" y="3075"/>
                      <a:chExt cx="162" cy="142"/>
                    </a:xfrm>
                  </p:grpSpPr>
                  <p:sp>
                    <p:nvSpPr>
                      <p:cNvPr id="642276" name="Freeform 228"/>
                      <p:cNvSpPr/>
                      <p:nvPr/>
                    </p:nvSpPr>
                    <p:spPr bwMode="auto">
                      <a:xfrm>
                        <a:off x="2469" y="3098"/>
                        <a:ext cx="19" cy="20"/>
                      </a:xfrm>
                      <a:custGeom>
                        <a:avLst/>
                        <a:gdLst>
                          <a:gd name="T0" fmla="*/ 0 w 129"/>
                          <a:gd name="T1" fmla="*/ 154 h 156"/>
                          <a:gd name="T2" fmla="*/ 7 w 129"/>
                          <a:gd name="T3" fmla="*/ 121 h 156"/>
                          <a:gd name="T4" fmla="*/ 13 w 129"/>
                          <a:gd name="T5" fmla="*/ 91 h 156"/>
                          <a:gd name="T6" fmla="*/ 12 w 129"/>
                          <a:gd name="T7" fmla="*/ 59 h 156"/>
                          <a:gd name="T8" fmla="*/ 7 w 129"/>
                          <a:gd name="T9" fmla="*/ 25 h 156"/>
                          <a:gd name="T10" fmla="*/ 4 w 129"/>
                          <a:gd name="T11" fmla="*/ 0 h 156"/>
                          <a:gd name="T12" fmla="*/ 17 w 129"/>
                          <a:gd name="T13" fmla="*/ 27 h 156"/>
                          <a:gd name="T14" fmla="*/ 24 w 129"/>
                          <a:gd name="T15" fmla="*/ 49 h 156"/>
                          <a:gd name="T16" fmla="*/ 39 w 129"/>
                          <a:gd name="T17" fmla="*/ 64 h 156"/>
                          <a:gd name="T18" fmla="*/ 59 w 129"/>
                          <a:gd name="T19" fmla="*/ 72 h 156"/>
                          <a:gd name="T20" fmla="*/ 80 w 129"/>
                          <a:gd name="T21" fmla="*/ 74 h 156"/>
                          <a:gd name="T22" fmla="*/ 98 w 129"/>
                          <a:gd name="T23" fmla="*/ 75 h 156"/>
                          <a:gd name="T24" fmla="*/ 129 w 129"/>
                          <a:gd name="T25" fmla="*/ 81 h 156"/>
                          <a:gd name="T26" fmla="*/ 112 w 129"/>
                          <a:gd name="T27" fmla="*/ 85 h 156"/>
                          <a:gd name="T28" fmla="*/ 93 w 129"/>
                          <a:gd name="T29" fmla="*/ 90 h 156"/>
                          <a:gd name="T30" fmla="*/ 79 w 129"/>
                          <a:gd name="T31" fmla="*/ 92 h 156"/>
                          <a:gd name="T32" fmla="*/ 62 w 129"/>
                          <a:gd name="T33" fmla="*/ 93 h 156"/>
                          <a:gd name="T34" fmla="*/ 38 w 129"/>
                          <a:gd name="T35" fmla="*/ 92 h 156"/>
                          <a:gd name="T36" fmla="*/ 54 w 129"/>
                          <a:gd name="T37" fmla="*/ 99 h 156"/>
                          <a:gd name="T38" fmla="*/ 76 w 129"/>
                          <a:gd name="T39" fmla="*/ 102 h 156"/>
                          <a:gd name="T40" fmla="*/ 94 w 129"/>
                          <a:gd name="T41" fmla="*/ 103 h 156"/>
                          <a:gd name="T42" fmla="*/ 129 w 129"/>
                          <a:gd name="T43" fmla="*/ 110 h 156"/>
                          <a:gd name="T44" fmla="*/ 110 w 129"/>
                          <a:gd name="T45" fmla="*/ 115 h 156"/>
                          <a:gd name="T46" fmla="*/ 94 w 129"/>
                          <a:gd name="T47" fmla="*/ 118 h 156"/>
                          <a:gd name="T48" fmla="*/ 75 w 129"/>
                          <a:gd name="T49" fmla="*/ 119 h 156"/>
                          <a:gd name="T50" fmla="*/ 57 w 129"/>
                          <a:gd name="T51" fmla="*/ 120 h 156"/>
                          <a:gd name="T52" fmla="*/ 70 w 129"/>
                          <a:gd name="T53" fmla="*/ 126 h 156"/>
                          <a:gd name="T54" fmla="*/ 85 w 129"/>
                          <a:gd name="T55" fmla="*/ 133 h 156"/>
                          <a:gd name="T56" fmla="*/ 101 w 129"/>
                          <a:gd name="T57" fmla="*/ 137 h 156"/>
                          <a:gd name="T58" fmla="*/ 124 w 129"/>
                          <a:gd name="T59" fmla="*/ 142 h 156"/>
                          <a:gd name="T60" fmla="*/ 104 w 129"/>
                          <a:gd name="T61" fmla="*/ 148 h 156"/>
                          <a:gd name="T62" fmla="*/ 85 w 129"/>
                          <a:gd name="T63" fmla="*/ 144 h 156"/>
                          <a:gd name="T64" fmla="*/ 69 w 129"/>
                          <a:gd name="T65" fmla="*/ 139 h 156"/>
                          <a:gd name="T66" fmla="*/ 57 w 129"/>
                          <a:gd name="T67" fmla="*/ 150 h 156"/>
                          <a:gd name="T68" fmla="*/ 40 w 129"/>
                          <a:gd name="T69" fmla="*/ 155 h 156"/>
                          <a:gd name="T70" fmla="*/ 22 w 129"/>
                          <a:gd name="T71" fmla="*/ 156 h 156"/>
                          <a:gd name="T72" fmla="*/ 0 w 129"/>
                          <a:gd name="T73" fmla="*/ 15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9" h="156">
                            <a:moveTo>
                              <a:pt x="0" y="154"/>
                            </a:moveTo>
                            <a:lnTo>
                              <a:pt x="7" y="121"/>
                            </a:lnTo>
                            <a:lnTo>
                              <a:pt x="13" y="91"/>
                            </a:lnTo>
                            <a:lnTo>
                              <a:pt x="12" y="59"/>
                            </a:lnTo>
                            <a:lnTo>
                              <a:pt x="7" y="25"/>
                            </a:lnTo>
                            <a:lnTo>
                              <a:pt x="4" y="0"/>
                            </a:lnTo>
                            <a:lnTo>
                              <a:pt x="17" y="27"/>
                            </a:lnTo>
                            <a:lnTo>
                              <a:pt x="24" y="49"/>
                            </a:lnTo>
                            <a:lnTo>
                              <a:pt x="39" y="64"/>
                            </a:lnTo>
                            <a:lnTo>
                              <a:pt x="59" y="72"/>
                            </a:lnTo>
                            <a:lnTo>
                              <a:pt x="80" y="74"/>
                            </a:lnTo>
                            <a:lnTo>
                              <a:pt x="98" y="75"/>
                            </a:lnTo>
                            <a:lnTo>
                              <a:pt x="129" y="81"/>
                            </a:lnTo>
                            <a:lnTo>
                              <a:pt x="112" y="85"/>
                            </a:lnTo>
                            <a:lnTo>
                              <a:pt x="93" y="90"/>
                            </a:lnTo>
                            <a:lnTo>
                              <a:pt x="79" y="92"/>
                            </a:lnTo>
                            <a:lnTo>
                              <a:pt x="62" y="93"/>
                            </a:lnTo>
                            <a:lnTo>
                              <a:pt x="38" y="92"/>
                            </a:lnTo>
                            <a:lnTo>
                              <a:pt x="54" y="99"/>
                            </a:lnTo>
                            <a:lnTo>
                              <a:pt x="76" y="102"/>
                            </a:lnTo>
                            <a:lnTo>
                              <a:pt x="94" y="103"/>
                            </a:lnTo>
                            <a:lnTo>
                              <a:pt x="129" y="110"/>
                            </a:lnTo>
                            <a:lnTo>
                              <a:pt x="110" y="115"/>
                            </a:lnTo>
                            <a:lnTo>
                              <a:pt x="94" y="118"/>
                            </a:lnTo>
                            <a:lnTo>
                              <a:pt x="75" y="119"/>
                            </a:lnTo>
                            <a:lnTo>
                              <a:pt x="57" y="120"/>
                            </a:lnTo>
                            <a:lnTo>
                              <a:pt x="70" y="126"/>
                            </a:lnTo>
                            <a:lnTo>
                              <a:pt x="85" y="133"/>
                            </a:lnTo>
                            <a:lnTo>
                              <a:pt x="101" y="137"/>
                            </a:lnTo>
                            <a:lnTo>
                              <a:pt x="124" y="142"/>
                            </a:lnTo>
                            <a:lnTo>
                              <a:pt x="104" y="148"/>
                            </a:lnTo>
                            <a:lnTo>
                              <a:pt x="85" y="144"/>
                            </a:lnTo>
                            <a:lnTo>
                              <a:pt x="69" y="139"/>
                            </a:lnTo>
                            <a:lnTo>
                              <a:pt x="57" y="150"/>
                            </a:lnTo>
                            <a:lnTo>
                              <a:pt x="40" y="155"/>
                            </a:lnTo>
                            <a:lnTo>
                              <a:pt x="22" y="156"/>
                            </a:lnTo>
                            <a:lnTo>
                              <a:pt x="0" y="154"/>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7" name="Freeform 229"/>
                      <p:cNvSpPr/>
                      <p:nvPr/>
                    </p:nvSpPr>
                    <p:spPr bwMode="auto">
                      <a:xfrm>
                        <a:off x="2463" y="3097"/>
                        <a:ext cx="10" cy="42"/>
                      </a:xfrm>
                      <a:custGeom>
                        <a:avLst/>
                        <a:gdLst>
                          <a:gd name="T0" fmla="*/ 20 w 69"/>
                          <a:gd name="T1" fmla="*/ 0 h 338"/>
                          <a:gd name="T2" fmla="*/ 29 w 69"/>
                          <a:gd name="T3" fmla="*/ 97 h 338"/>
                          <a:gd name="T4" fmla="*/ 26 w 69"/>
                          <a:gd name="T5" fmla="*/ 177 h 338"/>
                          <a:gd name="T6" fmla="*/ 29 w 69"/>
                          <a:gd name="T7" fmla="*/ 197 h 338"/>
                          <a:gd name="T8" fmla="*/ 26 w 69"/>
                          <a:gd name="T9" fmla="*/ 231 h 338"/>
                          <a:gd name="T10" fmla="*/ 40 w 69"/>
                          <a:gd name="T11" fmla="*/ 243 h 338"/>
                          <a:gd name="T12" fmla="*/ 37 w 69"/>
                          <a:gd name="T13" fmla="*/ 265 h 338"/>
                          <a:gd name="T14" fmla="*/ 48 w 69"/>
                          <a:gd name="T15" fmla="*/ 278 h 338"/>
                          <a:gd name="T16" fmla="*/ 59 w 69"/>
                          <a:gd name="T17" fmla="*/ 293 h 338"/>
                          <a:gd name="T18" fmla="*/ 68 w 69"/>
                          <a:gd name="T19" fmla="*/ 307 h 338"/>
                          <a:gd name="T20" fmla="*/ 69 w 69"/>
                          <a:gd name="T21" fmla="*/ 317 h 338"/>
                          <a:gd name="T22" fmla="*/ 66 w 69"/>
                          <a:gd name="T23" fmla="*/ 328 h 338"/>
                          <a:gd name="T24" fmla="*/ 55 w 69"/>
                          <a:gd name="T25" fmla="*/ 334 h 338"/>
                          <a:gd name="T26" fmla="*/ 45 w 69"/>
                          <a:gd name="T27" fmla="*/ 338 h 338"/>
                          <a:gd name="T28" fmla="*/ 34 w 69"/>
                          <a:gd name="T29" fmla="*/ 338 h 338"/>
                          <a:gd name="T30" fmla="*/ 24 w 69"/>
                          <a:gd name="T31" fmla="*/ 337 h 338"/>
                          <a:gd name="T32" fmla="*/ 0 w 69"/>
                          <a:gd name="T33" fmla="*/ 329 h 338"/>
                          <a:gd name="T34" fmla="*/ 23 w 69"/>
                          <a:gd name="T35" fmla="*/ 327 h 338"/>
                          <a:gd name="T36" fmla="*/ 33 w 69"/>
                          <a:gd name="T37" fmla="*/ 324 h 338"/>
                          <a:gd name="T38" fmla="*/ 40 w 69"/>
                          <a:gd name="T39" fmla="*/ 317 h 338"/>
                          <a:gd name="T40" fmla="*/ 33 w 69"/>
                          <a:gd name="T41" fmla="*/ 305 h 338"/>
                          <a:gd name="T42" fmla="*/ 20 w 69"/>
                          <a:gd name="T43" fmla="*/ 293 h 338"/>
                          <a:gd name="T44" fmla="*/ 6 w 69"/>
                          <a:gd name="T45" fmla="*/ 287 h 338"/>
                          <a:gd name="T46" fmla="*/ 12 w 69"/>
                          <a:gd name="T47" fmla="*/ 272 h 338"/>
                          <a:gd name="T48" fmla="*/ 14 w 69"/>
                          <a:gd name="T49" fmla="*/ 259 h 338"/>
                          <a:gd name="T50" fmla="*/ 10 w 69"/>
                          <a:gd name="T51" fmla="*/ 215 h 338"/>
                          <a:gd name="T52" fmla="*/ 6 w 69"/>
                          <a:gd name="T53" fmla="*/ 135 h 338"/>
                          <a:gd name="T54" fmla="*/ 17 w 69"/>
                          <a:gd name="T55" fmla="*/ 77 h 338"/>
                          <a:gd name="T56" fmla="*/ 20 w 69"/>
                          <a:gd name="T57" fmla="*/ 0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9" h="338">
                            <a:moveTo>
                              <a:pt x="20" y="0"/>
                            </a:moveTo>
                            <a:lnTo>
                              <a:pt x="29" y="97"/>
                            </a:lnTo>
                            <a:lnTo>
                              <a:pt x="26" y="177"/>
                            </a:lnTo>
                            <a:lnTo>
                              <a:pt x="29" y="197"/>
                            </a:lnTo>
                            <a:lnTo>
                              <a:pt x="26" y="231"/>
                            </a:lnTo>
                            <a:lnTo>
                              <a:pt x="40" y="243"/>
                            </a:lnTo>
                            <a:lnTo>
                              <a:pt x="37" y="265"/>
                            </a:lnTo>
                            <a:lnTo>
                              <a:pt x="48" y="278"/>
                            </a:lnTo>
                            <a:lnTo>
                              <a:pt x="59" y="293"/>
                            </a:lnTo>
                            <a:lnTo>
                              <a:pt x="68" y="307"/>
                            </a:lnTo>
                            <a:lnTo>
                              <a:pt x="69" y="317"/>
                            </a:lnTo>
                            <a:lnTo>
                              <a:pt x="66" y="328"/>
                            </a:lnTo>
                            <a:lnTo>
                              <a:pt x="55" y="334"/>
                            </a:lnTo>
                            <a:lnTo>
                              <a:pt x="45" y="338"/>
                            </a:lnTo>
                            <a:lnTo>
                              <a:pt x="34" y="338"/>
                            </a:lnTo>
                            <a:lnTo>
                              <a:pt x="24" y="337"/>
                            </a:lnTo>
                            <a:lnTo>
                              <a:pt x="0" y="329"/>
                            </a:lnTo>
                            <a:lnTo>
                              <a:pt x="23" y="327"/>
                            </a:lnTo>
                            <a:lnTo>
                              <a:pt x="33" y="324"/>
                            </a:lnTo>
                            <a:lnTo>
                              <a:pt x="40" y="317"/>
                            </a:lnTo>
                            <a:lnTo>
                              <a:pt x="33" y="305"/>
                            </a:lnTo>
                            <a:lnTo>
                              <a:pt x="20" y="293"/>
                            </a:lnTo>
                            <a:lnTo>
                              <a:pt x="6" y="287"/>
                            </a:lnTo>
                            <a:lnTo>
                              <a:pt x="12" y="272"/>
                            </a:lnTo>
                            <a:lnTo>
                              <a:pt x="14" y="259"/>
                            </a:lnTo>
                            <a:lnTo>
                              <a:pt x="10" y="215"/>
                            </a:lnTo>
                            <a:lnTo>
                              <a:pt x="6" y="135"/>
                            </a:lnTo>
                            <a:lnTo>
                              <a:pt x="17" y="77"/>
                            </a:lnTo>
                            <a:lnTo>
                              <a:pt x="2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8" name="Freeform 230"/>
                      <p:cNvSpPr/>
                      <p:nvPr/>
                    </p:nvSpPr>
                    <p:spPr bwMode="auto">
                      <a:xfrm>
                        <a:off x="2454" y="3138"/>
                        <a:ext cx="14" cy="18"/>
                      </a:xfrm>
                      <a:custGeom>
                        <a:avLst/>
                        <a:gdLst>
                          <a:gd name="T0" fmla="*/ 28 w 95"/>
                          <a:gd name="T1" fmla="*/ 0 h 146"/>
                          <a:gd name="T2" fmla="*/ 38 w 95"/>
                          <a:gd name="T3" fmla="*/ 17 h 146"/>
                          <a:gd name="T4" fmla="*/ 44 w 95"/>
                          <a:gd name="T5" fmla="*/ 34 h 146"/>
                          <a:gd name="T6" fmla="*/ 47 w 95"/>
                          <a:gd name="T7" fmla="*/ 52 h 146"/>
                          <a:gd name="T8" fmla="*/ 48 w 95"/>
                          <a:gd name="T9" fmla="*/ 74 h 146"/>
                          <a:gd name="T10" fmla="*/ 59 w 95"/>
                          <a:gd name="T11" fmla="*/ 78 h 146"/>
                          <a:gd name="T12" fmla="*/ 74 w 95"/>
                          <a:gd name="T13" fmla="*/ 77 h 146"/>
                          <a:gd name="T14" fmla="*/ 85 w 95"/>
                          <a:gd name="T15" fmla="*/ 69 h 146"/>
                          <a:gd name="T16" fmla="*/ 95 w 95"/>
                          <a:gd name="T17" fmla="*/ 56 h 146"/>
                          <a:gd name="T18" fmla="*/ 92 w 95"/>
                          <a:gd name="T19" fmla="*/ 73 h 146"/>
                          <a:gd name="T20" fmla="*/ 87 w 95"/>
                          <a:gd name="T21" fmla="*/ 85 h 146"/>
                          <a:gd name="T22" fmla="*/ 68 w 95"/>
                          <a:gd name="T23" fmla="*/ 107 h 146"/>
                          <a:gd name="T24" fmla="*/ 35 w 95"/>
                          <a:gd name="T25" fmla="*/ 146 h 146"/>
                          <a:gd name="T26" fmla="*/ 0 w 95"/>
                          <a:gd name="T27" fmla="*/ 74 h 146"/>
                          <a:gd name="T28" fmla="*/ 28 w 95"/>
                          <a:gd name="T29"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5" h="146">
                            <a:moveTo>
                              <a:pt x="28" y="0"/>
                            </a:moveTo>
                            <a:lnTo>
                              <a:pt x="38" y="17"/>
                            </a:lnTo>
                            <a:lnTo>
                              <a:pt x="44" y="34"/>
                            </a:lnTo>
                            <a:lnTo>
                              <a:pt x="47" y="52"/>
                            </a:lnTo>
                            <a:lnTo>
                              <a:pt x="48" y="74"/>
                            </a:lnTo>
                            <a:lnTo>
                              <a:pt x="59" y="78"/>
                            </a:lnTo>
                            <a:lnTo>
                              <a:pt x="74" y="77"/>
                            </a:lnTo>
                            <a:lnTo>
                              <a:pt x="85" y="69"/>
                            </a:lnTo>
                            <a:lnTo>
                              <a:pt x="95" y="56"/>
                            </a:lnTo>
                            <a:lnTo>
                              <a:pt x="92" y="73"/>
                            </a:lnTo>
                            <a:lnTo>
                              <a:pt x="87" y="85"/>
                            </a:lnTo>
                            <a:lnTo>
                              <a:pt x="68" y="107"/>
                            </a:lnTo>
                            <a:lnTo>
                              <a:pt x="35" y="146"/>
                            </a:lnTo>
                            <a:lnTo>
                              <a:pt x="0" y="74"/>
                            </a:lnTo>
                            <a:lnTo>
                              <a:pt x="28"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9" name="Freeform 231"/>
                      <p:cNvSpPr/>
                      <p:nvPr/>
                    </p:nvSpPr>
                    <p:spPr bwMode="auto">
                      <a:xfrm>
                        <a:off x="2426" y="3162"/>
                        <a:ext cx="25" cy="33"/>
                      </a:xfrm>
                      <a:custGeom>
                        <a:avLst/>
                        <a:gdLst>
                          <a:gd name="T0" fmla="*/ 0 w 176"/>
                          <a:gd name="T1" fmla="*/ 105 h 263"/>
                          <a:gd name="T2" fmla="*/ 23 w 176"/>
                          <a:gd name="T3" fmla="*/ 111 h 263"/>
                          <a:gd name="T4" fmla="*/ 41 w 176"/>
                          <a:gd name="T5" fmla="*/ 98 h 263"/>
                          <a:gd name="T6" fmla="*/ 58 w 176"/>
                          <a:gd name="T7" fmla="*/ 77 h 263"/>
                          <a:gd name="T8" fmla="*/ 73 w 176"/>
                          <a:gd name="T9" fmla="*/ 59 h 263"/>
                          <a:gd name="T10" fmla="*/ 83 w 176"/>
                          <a:gd name="T11" fmla="*/ 39 h 263"/>
                          <a:gd name="T12" fmla="*/ 94 w 176"/>
                          <a:gd name="T13" fmla="*/ 0 h 263"/>
                          <a:gd name="T14" fmla="*/ 95 w 176"/>
                          <a:gd name="T15" fmla="*/ 20 h 263"/>
                          <a:gd name="T16" fmla="*/ 92 w 176"/>
                          <a:gd name="T17" fmla="*/ 46 h 263"/>
                          <a:gd name="T18" fmla="*/ 83 w 176"/>
                          <a:gd name="T19" fmla="*/ 75 h 263"/>
                          <a:gd name="T20" fmla="*/ 73 w 176"/>
                          <a:gd name="T21" fmla="*/ 102 h 263"/>
                          <a:gd name="T22" fmla="*/ 79 w 176"/>
                          <a:gd name="T23" fmla="*/ 119 h 263"/>
                          <a:gd name="T24" fmla="*/ 91 w 176"/>
                          <a:gd name="T25" fmla="*/ 100 h 263"/>
                          <a:gd name="T26" fmla="*/ 108 w 176"/>
                          <a:gd name="T27" fmla="*/ 77 h 263"/>
                          <a:gd name="T28" fmla="*/ 130 w 176"/>
                          <a:gd name="T29" fmla="*/ 53 h 263"/>
                          <a:gd name="T30" fmla="*/ 153 w 176"/>
                          <a:gd name="T31" fmla="*/ 39 h 263"/>
                          <a:gd name="T32" fmla="*/ 176 w 176"/>
                          <a:gd name="T33" fmla="*/ 23 h 263"/>
                          <a:gd name="T34" fmla="*/ 51 w 176"/>
                          <a:gd name="T35" fmla="*/ 169 h 263"/>
                          <a:gd name="T36" fmla="*/ 50 w 176"/>
                          <a:gd name="T37" fmla="*/ 184 h 263"/>
                          <a:gd name="T38" fmla="*/ 47 w 176"/>
                          <a:gd name="T39" fmla="*/ 199 h 263"/>
                          <a:gd name="T40" fmla="*/ 40 w 176"/>
                          <a:gd name="T41" fmla="*/ 211 h 263"/>
                          <a:gd name="T42" fmla="*/ 31 w 176"/>
                          <a:gd name="T43" fmla="*/ 231 h 263"/>
                          <a:gd name="T44" fmla="*/ 26 w 176"/>
                          <a:gd name="T45" fmla="*/ 263 h 263"/>
                          <a:gd name="T46" fmla="*/ 23 w 176"/>
                          <a:gd name="T47" fmla="*/ 210 h 263"/>
                          <a:gd name="T48" fmla="*/ 18 w 176"/>
                          <a:gd name="T49" fmla="*/ 169 h 263"/>
                          <a:gd name="T50" fmla="*/ 8 w 176"/>
                          <a:gd name="T51" fmla="*/ 133 h 263"/>
                          <a:gd name="T52" fmla="*/ 0 w 176"/>
                          <a:gd name="T53" fmla="*/ 105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6" h="263">
                            <a:moveTo>
                              <a:pt x="0" y="105"/>
                            </a:moveTo>
                            <a:lnTo>
                              <a:pt x="23" y="111"/>
                            </a:lnTo>
                            <a:lnTo>
                              <a:pt x="41" y="98"/>
                            </a:lnTo>
                            <a:lnTo>
                              <a:pt x="58" y="77"/>
                            </a:lnTo>
                            <a:lnTo>
                              <a:pt x="73" y="59"/>
                            </a:lnTo>
                            <a:lnTo>
                              <a:pt x="83" y="39"/>
                            </a:lnTo>
                            <a:lnTo>
                              <a:pt x="94" y="0"/>
                            </a:lnTo>
                            <a:lnTo>
                              <a:pt x="95" y="20"/>
                            </a:lnTo>
                            <a:lnTo>
                              <a:pt x="92" y="46"/>
                            </a:lnTo>
                            <a:lnTo>
                              <a:pt x="83" y="75"/>
                            </a:lnTo>
                            <a:lnTo>
                              <a:pt x="73" y="102"/>
                            </a:lnTo>
                            <a:lnTo>
                              <a:pt x="79" y="119"/>
                            </a:lnTo>
                            <a:lnTo>
                              <a:pt x="91" y="100"/>
                            </a:lnTo>
                            <a:lnTo>
                              <a:pt x="108" y="77"/>
                            </a:lnTo>
                            <a:lnTo>
                              <a:pt x="130" y="53"/>
                            </a:lnTo>
                            <a:lnTo>
                              <a:pt x="153" y="39"/>
                            </a:lnTo>
                            <a:lnTo>
                              <a:pt x="176" y="23"/>
                            </a:lnTo>
                            <a:lnTo>
                              <a:pt x="51" y="169"/>
                            </a:lnTo>
                            <a:lnTo>
                              <a:pt x="50" y="184"/>
                            </a:lnTo>
                            <a:lnTo>
                              <a:pt x="47" y="199"/>
                            </a:lnTo>
                            <a:lnTo>
                              <a:pt x="40" y="211"/>
                            </a:lnTo>
                            <a:lnTo>
                              <a:pt x="31" y="231"/>
                            </a:lnTo>
                            <a:lnTo>
                              <a:pt x="26" y="263"/>
                            </a:lnTo>
                            <a:lnTo>
                              <a:pt x="23" y="210"/>
                            </a:lnTo>
                            <a:lnTo>
                              <a:pt x="18" y="169"/>
                            </a:lnTo>
                            <a:lnTo>
                              <a:pt x="8" y="133"/>
                            </a:lnTo>
                            <a:lnTo>
                              <a:pt x="0" y="105"/>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0" name="Freeform 232"/>
                      <p:cNvSpPr/>
                      <p:nvPr/>
                    </p:nvSpPr>
                    <p:spPr bwMode="auto">
                      <a:xfrm>
                        <a:off x="2415" y="3135"/>
                        <a:ext cx="14" cy="42"/>
                      </a:xfrm>
                      <a:custGeom>
                        <a:avLst/>
                        <a:gdLst>
                          <a:gd name="T0" fmla="*/ 21 w 102"/>
                          <a:gd name="T1" fmla="*/ 263 h 337"/>
                          <a:gd name="T2" fmla="*/ 39 w 102"/>
                          <a:gd name="T3" fmla="*/ 281 h 337"/>
                          <a:gd name="T4" fmla="*/ 53 w 102"/>
                          <a:gd name="T5" fmla="*/ 294 h 337"/>
                          <a:gd name="T6" fmla="*/ 69 w 102"/>
                          <a:gd name="T7" fmla="*/ 309 h 337"/>
                          <a:gd name="T8" fmla="*/ 87 w 102"/>
                          <a:gd name="T9" fmla="*/ 337 h 337"/>
                          <a:gd name="T10" fmla="*/ 95 w 102"/>
                          <a:gd name="T11" fmla="*/ 313 h 337"/>
                          <a:gd name="T12" fmla="*/ 100 w 102"/>
                          <a:gd name="T13" fmla="*/ 283 h 337"/>
                          <a:gd name="T14" fmla="*/ 102 w 102"/>
                          <a:gd name="T15" fmla="*/ 235 h 337"/>
                          <a:gd name="T16" fmla="*/ 98 w 102"/>
                          <a:gd name="T17" fmla="*/ 202 h 337"/>
                          <a:gd name="T18" fmla="*/ 87 w 102"/>
                          <a:gd name="T19" fmla="*/ 151 h 337"/>
                          <a:gd name="T20" fmla="*/ 75 w 102"/>
                          <a:gd name="T21" fmla="*/ 101 h 337"/>
                          <a:gd name="T22" fmla="*/ 65 w 102"/>
                          <a:gd name="T23" fmla="*/ 69 h 337"/>
                          <a:gd name="T24" fmla="*/ 52 w 102"/>
                          <a:gd name="T25" fmla="*/ 38 h 337"/>
                          <a:gd name="T26" fmla="*/ 31 w 102"/>
                          <a:gd name="T27" fmla="*/ 0 h 337"/>
                          <a:gd name="T28" fmla="*/ 42 w 102"/>
                          <a:gd name="T29" fmla="*/ 38 h 337"/>
                          <a:gd name="T30" fmla="*/ 50 w 102"/>
                          <a:gd name="T31" fmla="*/ 69 h 337"/>
                          <a:gd name="T32" fmla="*/ 54 w 102"/>
                          <a:gd name="T33" fmla="*/ 102 h 337"/>
                          <a:gd name="T34" fmla="*/ 59 w 102"/>
                          <a:gd name="T35" fmla="*/ 143 h 337"/>
                          <a:gd name="T36" fmla="*/ 61 w 102"/>
                          <a:gd name="T37" fmla="*/ 194 h 337"/>
                          <a:gd name="T38" fmla="*/ 58 w 102"/>
                          <a:gd name="T39" fmla="*/ 234 h 337"/>
                          <a:gd name="T40" fmla="*/ 50 w 102"/>
                          <a:gd name="T41" fmla="*/ 243 h 337"/>
                          <a:gd name="T42" fmla="*/ 39 w 102"/>
                          <a:gd name="T43" fmla="*/ 249 h 337"/>
                          <a:gd name="T44" fmla="*/ 24 w 102"/>
                          <a:gd name="T45" fmla="*/ 251 h 337"/>
                          <a:gd name="T46" fmla="*/ 0 w 102"/>
                          <a:gd name="T47" fmla="*/ 248 h 337"/>
                          <a:gd name="T48" fmla="*/ 21 w 102"/>
                          <a:gd name="T49" fmla="*/ 263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2" h="337">
                            <a:moveTo>
                              <a:pt x="21" y="263"/>
                            </a:moveTo>
                            <a:lnTo>
                              <a:pt x="39" y="281"/>
                            </a:lnTo>
                            <a:lnTo>
                              <a:pt x="53" y="294"/>
                            </a:lnTo>
                            <a:lnTo>
                              <a:pt x="69" y="309"/>
                            </a:lnTo>
                            <a:lnTo>
                              <a:pt x="87" y="337"/>
                            </a:lnTo>
                            <a:lnTo>
                              <a:pt x="95" y="313"/>
                            </a:lnTo>
                            <a:lnTo>
                              <a:pt x="100" y="283"/>
                            </a:lnTo>
                            <a:lnTo>
                              <a:pt x="102" y="235"/>
                            </a:lnTo>
                            <a:lnTo>
                              <a:pt x="98" y="202"/>
                            </a:lnTo>
                            <a:lnTo>
                              <a:pt x="87" y="151"/>
                            </a:lnTo>
                            <a:lnTo>
                              <a:pt x="75" y="101"/>
                            </a:lnTo>
                            <a:lnTo>
                              <a:pt x="65" y="69"/>
                            </a:lnTo>
                            <a:lnTo>
                              <a:pt x="52" y="38"/>
                            </a:lnTo>
                            <a:lnTo>
                              <a:pt x="31" y="0"/>
                            </a:lnTo>
                            <a:lnTo>
                              <a:pt x="42" y="38"/>
                            </a:lnTo>
                            <a:lnTo>
                              <a:pt x="50" y="69"/>
                            </a:lnTo>
                            <a:lnTo>
                              <a:pt x="54" y="102"/>
                            </a:lnTo>
                            <a:lnTo>
                              <a:pt x="59" y="143"/>
                            </a:lnTo>
                            <a:lnTo>
                              <a:pt x="61" y="194"/>
                            </a:lnTo>
                            <a:lnTo>
                              <a:pt x="58" y="234"/>
                            </a:lnTo>
                            <a:lnTo>
                              <a:pt x="50" y="243"/>
                            </a:lnTo>
                            <a:lnTo>
                              <a:pt x="39" y="249"/>
                            </a:lnTo>
                            <a:lnTo>
                              <a:pt x="24" y="251"/>
                            </a:lnTo>
                            <a:lnTo>
                              <a:pt x="0" y="248"/>
                            </a:lnTo>
                            <a:lnTo>
                              <a:pt x="21" y="263"/>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1" name="Freeform 233"/>
                      <p:cNvSpPr/>
                      <p:nvPr/>
                    </p:nvSpPr>
                    <p:spPr bwMode="auto">
                      <a:xfrm>
                        <a:off x="2396" y="3078"/>
                        <a:ext cx="49" cy="39"/>
                      </a:xfrm>
                      <a:custGeom>
                        <a:avLst/>
                        <a:gdLst>
                          <a:gd name="T0" fmla="*/ 81 w 340"/>
                          <a:gd name="T1" fmla="*/ 10 h 316"/>
                          <a:gd name="T2" fmla="*/ 69 w 340"/>
                          <a:gd name="T3" fmla="*/ 0 h 316"/>
                          <a:gd name="T4" fmla="*/ 55 w 340"/>
                          <a:gd name="T5" fmla="*/ 1 h 316"/>
                          <a:gd name="T6" fmla="*/ 37 w 340"/>
                          <a:gd name="T7" fmla="*/ 11 h 316"/>
                          <a:gd name="T8" fmla="*/ 24 w 340"/>
                          <a:gd name="T9" fmla="*/ 22 h 316"/>
                          <a:gd name="T10" fmla="*/ 10 w 340"/>
                          <a:gd name="T11" fmla="*/ 39 h 316"/>
                          <a:gd name="T12" fmla="*/ 3 w 340"/>
                          <a:gd name="T13" fmla="*/ 55 h 316"/>
                          <a:gd name="T14" fmla="*/ 0 w 340"/>
                          <a:gd name="T15" fmla="*/ 72 h 316"/>
                          <a:gd name="T16" fmla="*/ 7 w 340"/>
                          <a:gd name="T17" fmla="*/ 77 h 316"/>
                          <a:gd name="T18" fmla="*/ 20 w 340"/>
                          <a:gd name="T19" fmla="*/ 81 h 316"/>
                          <a:gd name="T20" fmla="*/ 35 w 340"/>
                          <a:gd name="T21" fmla="*/ 82 h 316"/>
                          <a:gd name="T22" fmla="*/ 44 w 340"/>
                          <a:gd name="T23" fmla="*/ 80 h 316"/>
                          <a:gd name="T24" fmla="*/ 47 w 340"/>
                          <a:gd name="T25" fmla="*/ 94 h 316"/>
                          <a:gd name="T26" fmla="*/ 54 w 340"/>
                          <a:gd name="T27" fmla="*/ 112 h 316"/>
                          <a:gd name="T28" fmla="*/ 66 w 340"/>
                          <a:gd name="T29" fmla="*/ 127 h 316"/>
                          <a:gd name="T30" fmla="*/ 87 w 340"/>
                          <a:gd name="T31" fmla="*/ 147 h 316"/>
                          <a:gd name="T32" fmla="*/ 108 w 340"/>
                          <a:gd name="T33" fmla="*/ 163 h 316"/>
                          <a:gd name="T34" fmla="*/ 131 w 340"/>
                          <a:gd name="T35" fmla="*/ 184 h 316"/>
                          <a:gd name="T36" fmla="*/ 147 w 340"/>
                          <a:gd name="T37" fmla="*/ 208 h 316"/>
                          <a:gd name="T38" fmla="*/ 161 w 340"/>
                          <a:gd name="T39" fmla="*/ 231 h 316"/>
                          <a:gd name="T40" fmla="*/ 187 w 340"/>
                          <a:gd name="T41" fmla="*/ 244 h 316"/>
                          <a:gd name="T42" fmla="*/ 217 w 340"/>
                          <a:gd name="T43" fmla="*/ 267 h 316"/>
                          <a:gd name="T44" fmla="*/ 242 w 340"/>
                          <a:gd name="T45" fmla="*/ 282 h 316"/>
                          <a:gd name="T46" fmla="*/ 270 w 340"/>
                          <a:gd name="T47" fmla="*/ 288 h 316"/>
                          <a:gd name="T48" fmla="*/ 298 w 340"/>
                          <a:gd name="T49" fmla="*/ 298 h 316"/>
                          <a:gd name="T50" fmla="*/ 324 w 340"/>
                          <a:gd name="T51" fmla="*/ 305 h 316"/>
                          <a:gd name="T52" fmla="*/ 340 w 340"/>
                          <a:gd name="T53" fmla="*/ 316 h 316"/>
                          <a:gd name="T54" fmla="*/ 324 w 340"/>
                          <a:gd name="T55" fmla="*/ 300 h 316"/>
                          <a:gd name="T56" fmla="*/ 298 w 340"/>
                          <a:gd name="T57" fmla="*/ 288 h 316"/>
                          <a:gd name="T58" fmla="*/ 266 w 340"/>
                          <a:gd name="T59" fmla="*/ 276 h 316"/>
                          <a:gd name="T60" fmla="*/ 239 w 340"/>
                          <a:gd name="T61" fmla="*/ 267 h 316"/>
                          <a:gd name="T62" fmla="*/ 217 w 340"/>
                          <a:gd name="T63" fmla="*/ 247 h 316"/>
                          <a:gd name="T64" fmla="*/ 194 w 340"/>
                          <a:gd name="T65" fmla="*/ 233 h 316"/>
                          <a:gd name="T66" fmla="*/ 173 w 340"/>
                          <a:gd name="T67" fmla="*/ 221 h 316"/>
                          <a:gd name="T68" fmla="*/ 164 w 340"/>
                          <a:gd name="T69" fmla="*/ 199 h 316"/>
                          <a:gd name="T70" fmla="*/ 138 w 340"/>
                          <a:gd name="T71" fmla="*/ 166 h 316"/>
                          <a:gd name="T72" fmla="*/ 116 w 340"/>
                          <a:gd name="T73" fmla="*/ 150 h 316"/>
                          <a:gd name="T74" fmla="*/ 101 w 340"/>
                          <a:gd name="T75" fmla="*/ 139 h 316"/>
                          <a:gd name="T76" fmla="*/ 84 w 340"/>
                          <a:gd name="T77" fmla="*/ 122 h 316"/>
                          <a:gd name="T78" fmla="*/ 70 w 340"/>
                          <a:gd name="T79" fmla="*/ 105 h 316"/>
                          <a:gd name="T80" fmla="*/ 63 w 340"/>
                          <a:gd name="T81" fmla="*/ 86 h 316"/>
                          <a:gd name="T82" fmla="*/ 60 w 340"/>
                          <a:gd name="T83" fmla="*/ 64 h 316"/>
                          <a:gd name="T84" fmla="*/ 63 w 340"/>
                          <a:gd name="T85" fmla="*/ 45 h 316"/>
                          <a:gd name="T86" fmla="*/ 72 w 340"/>
                          <a:gd name="T87" fmla="*/ 25 h 316"/>
                          <a:gd name="T88" fmla="*/ 81 w 340"/>
                          <a:gd name="T89" fmla="*/ 1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40" h="316">
                            <a:moveTo>
                              <a:pt x="81" y="10"/>
                            </a:moveTo>
                            <a:lnTo>
                              <a:pt x="69" y="0"/>
                            </a:lnTo>
                            <a:lnTo>
                              <a:pt x="55" y="1"/>
                            </a:lnTo>
                            <a:lnTo>
                              <a:pt x="37" y="11"/>
                            </a:lnTo>
                            <a:lnTo>
                              <a:pt x="24" y="22"/>
                            </a:lnTo>
                            <a:lnTo>
                              <a:pt x="10" y="39"/>
                            </a:lnTo>
                            <a:lnTo>
                              <a:pt x="3" y="55"/>
                            </a:lnTo>
                            <a:lnTo>
                              <a:pt x="0" y="72"/>
                            </a:lnTo>
                            <a:lnTo>
                              <a:pt x="7" y="77"/>
                            </a:lnTo>
                            <a:lnTo>
                              <a:pt x="20" y="81"/>
                            </a:lnTo>
                            <a:lnTo>
                              <a:pt x="35" y="82"/>
                            </a:lnTo>
                            <a:lnTo>
                              <a:pt x="44" y="80"/>
                            </a:lnTo>
                            <a:lnTo>
                              <a:pt x="47" y="94"/>
                            </a:lnTo>
                            <a:lnTo>
                              <a:pt x="54" y="112"/>
                            </a:lnTo>
                            <a:lnTo>
                              <a:pt x="66" y="127"/>
                            </a:lnTo>
                            <a:lnTo>
                              <a:pt x="87" y="147"/>
                            </a:lnTo>
                            <a:lnTo>
                              <a:pt x="108" y="163"/>
                            </a:lnTo>
                            <a:lnTo>
                              <a:pt x="131" y="184"/>
                            </a:lnTo>
                            <a:lnTo>
                              <a:pt x="147" y="208"/>
                            </a:lnTo>
                            <a:lnTo>
                              <a:pt x="161" y="231"/>
                            </a:lnTo>
                            <a:lnTo>
                              <a:pt x="187" y="244"/>
                            </a:lnTo>
                            <a:lnTo>
                              <a:pt x="217" y="267"/>
                            </a:lnTo>
                            <a:lnTo>
                              <a:pt x="242" y="282"/>
                            </a:lnTo>
                            <a:lnTo>
                              <a:pt x="270" y="288"/>
                            </a:lnTo>
                            <a:lnTo>
                              <a:pt x="298" y="298"/>
                            </a:lnTo>
                            <a:lnTo>
                              <a:pt x="324" y="305"/>
                            </a:lnTo>
                            <a:lnTo>
                              <a:pt x="340" y="316"/>
                            </a:lnTo>
                            <a:lnTo>
                              <a:pt x="324" y="300"/>
                            </a:lnTo>
                            <a:lnTo>
                              <a:pt x="298" y="288"/>
                            </a:lnTo>
                            <a:lnTo>
                              <a:pt x="266" y="276"/>
                            </a:lnTo>
                            <a:lnTo>
                              <a:pt x="239" y="267"/>
                            </a:lnTo>
                            <a:lnTo>
                              <a:pt x="217" y="247"/>
                            </a:lnTo>
                            <a:lnTo>
                              <a:pt x="194" y="233"/>
                            </a:lnTo>
                            <a:lnTo>
                              <a:pt x="173" y="221"/>
                            </a:lnTo>
                            <a:lnTo>
                              <a:pt x="164" y="199"/>
                            </a:lnTo>
                            <a:lnTo>
                              <a:pt x="138" y="166"/>
                            </a:lnTo>
                            <a:lnTo>
                              <a:pt x="116" y="150"/>
                            </a:lnTo>
                            <a:lnTo>
                              <a:pt x="101" y="139"/>
                            </a:lnTo>
                            <a:lnTo>
                              <a:pt x="84" y="122"/>
                            </a:lnTo>
                            <a:lnTo>
                              <a:pt x="70" y="105"/>
                            </a:lnTo>
                            <a:lnTo>
                              <a:pt x="63" y="86"/>
                            </a:lnTo>
                            <a:lnTo>
                              <a:pt x="60" y="64"/>
                            </a:lnTo>
                            <a:lnTo>
                              <a:pt x="63" y="45"/>
                            </a:lnTo>
                            <a:lnTo>
                              <a:pt x="72" y="25"/>
                            </a:lnTo>
                            <a:lnTo>
                              <a:pt x="81" y="1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2" name="Freeform 234"/>
                      <p:cNvSpPr/>
                      <p:nvPr/>
                    </p:nvSpPr>
                    <p:spPr bwMode="auto">
                      <a:xfrm>
                        <a:off x="2429" y="3101"/>
                        <a:ext cx="17" cy="10"/>
                      </a:xfrm>
                      <a:custGeom>
                        <a:avLst/>
                        <a:gdLst>
                          <a:gd name="T0" fmla="*/ 0 w 120"/>
                          <a:gd name="T1" fmla="*/ 0 h 83"/>
                          <a:gd name="T2" fmla="*/ 24 w 120"/>
                          <a:gd name="T3" fmla="*/ 20 h 83"/>
                          <a:gd name="T4" fmla="*/ 45 w 120"/>
                          <a:gd name="T5" fmla="*/ 32 h 83"/>
                          <a:gd name="T6" fmla="*/ 66 w 120"/>
                          <a:gd name="T7" fmla="*/ 42 h 83"/>
                          <a:gd name="T8" fmla="*/ 90 w 120"/>
                          <a:gd name="T9" fmla="*/ 45 h 83"/>
                          <a:gd name="T10" fmla="*/ 117 w 120"/>
                          <a:gd name="T11" fmla="*/ 43 h 83"/>
                          <a:gd name="T12" fmla="*/ 120 w 120"/>
                          <a:gd name="T13" fmla="*/ 83 h 83"/>
                          <a:gd name="T14" fmla="*/ 95 w 120"/>
                          <a:gd name="T15" fmla="*/ 81 h 83"/>
                          <a:gd name="T16" fmla="*/ 69 w 120"/>
                          <a:gd name="T17" fmla="*/ 73 h 83"/>
                          <a:gd name="T18" fmla="*/ 48 w 120"/>
                          <a:gd name="T19" fmla="*/ 60 h 83"/>
                          <a:gd name="T20" fmla="*/ 32 w 120"/>
                          <a:gd name="T21" fmla="*/ 46 h 83"/>
                          <a:gd name="T22" fmla="*/ 15 w 120"/>
                          <a:gd name="T23" fmla="*/ 23 h 83"/>
                          <a:gd name="T24" fmla="*/ 0 w 120"/>
                          <a:gd name="T25"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0" h="83">
                            <a:moveTo>
                              <a:pt x="0" y="0"/>
                            </a:moveTo>
                            <a:lnTo>
                              <a:pt x="24" y="20"/>
                            </a:lnTo>
                            <a:lnTo>
                              <a:pt x="45" y="32"/>
                            </a:lnTo>
                            <a:lnTo>
                              <a:pt x="66" y="42"/>
                            </a:lnTo>
                            <a:lnTo>
                              <a:pt x="90" y="45"/>
                            </a:lnTo>
                            <a:lnTo>
                              <a:pt x="117" y="43"/>
                            </a:lnTo>
                            <a:lnTo>
                              <a:pt x="120" y="83"/>
                            </a:lnTo>
                            <a:lnTo>
                              <a:pt x="95" y="81"/>
                            </a:lnTo>
                            <a:lnTo>
                              <a:pt x="69" y="73"/>
                            </a:lnTo>
                            <a:lnTo>
                              <a:pt x="48" y="60"/>
                            </a:lnTo>
                            <a:lnTo>
                              <a:pt x="32" y="46"/>
                            </a:lnTo>
                            <a:lnTo>
                              <a:pt x="15" y="23"/>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3" name="Freeform 235"/>
                      <p:cNvSpPr/>
                      <p:nvPr/>
                    </p:nvSpPr>
                    <p:spPr bwMode="auto">
                      <a:xfrm>
                        <a:off x="2360" y="3155"/>
                        <a:ext cx="16" cy="21"/>
                      </a:xfrm>
                      <a:custGeom>
                        <a:avLst/>
                        <a:gdLst>
                          <a:gd name="T0" fmla="*/ 0 w 114"/>
                          <a:gd name="T1" fmla="*/ 0 h 167"/>
                          <a:gd name="T2" fmla="*/ 37 w 114"/>
                          <a:gd name="T3" fmla="*/ 16 h 167"/>
                          <a:gd name="T4" fmla="*/ 82 w 114"/>
                          <a:gd name="T5" fmla="*/ 39 h 167"/>
                          <a:gd name="T6" fmla="*/ 114 w 114"/>
                          <a:gd name="T7" fmla="*/ 63 h 167"/>
                          <a:gd name="T8" fmla="*/ 108 w 114"/>
                          <a:gd name="T9" fmla="*/ 108 h 167"/>
                          <a:gd name="T10" fmla="*/ 112 w 114"/>
                          <a:gd name="T11" fmla="*/ 167 h 167"/>
                          <a:gd name="T12" fmla="*/ 87 w 114"/>
                          <a:gd name="T13" fmla="*/ 161 h 167"/>
                          <a:gd name="T14" fmla="*/ 69 w 114"/>
                          <a:gd name="T15" fmla="*/ 148 h 167"/>
                          <a:gd name="T16" fmla="*/ 47 w 114"/>
                          <a:gd name="T17" fmla="*/ 120 h 167"/>
                          <a:gd name="T18" fmla="*/ 33 w 114"/>
                          <a:gd name="T19" fmla="*/ 92 h 167"/>
                          <a:gd name="T20" fmla="*/ 27 w 114"/>
                          <a:gd name="T21" fmla="*/ 61 h 167"/>
                          <a:gd name="T22" fmla="*/ 16 w 114"/>
                          <a:gd name="T23" fmla="*/ 25 h 167"/>
                          <a:gd name="T24" fmla="*/ 0 w 114"/>
                          <a:gd name="T25"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67">
                            <a:moveTo>
                              <a:pt x="0" y="0"/>
                            </a:moveTo>
                            <a:lnTo>
                              <a:pt x="37" y="16"/>
                            </a:lnTo>
                            <a:lnTo>
                              <a:pt x="82" y="39"/>
                            </a:lnTo>
                            <a:lnTo>
                              <a:pt x="114" y="63"/>
                            </a:lnTo>
                            <a:lnTo>
                              <a:pt x="108" y="108"/>
                            </a:lnTo>
                            <a:lnTo>
                              <a:pt x="112" y="167"/>
                            </a:lnTo>
                            <a:lnTo>
                              <a:pt x="87" y="161"/>
                            </a:lnTo>
                            <a:lnTo>
                              <a:pt x="69" y="148"/>
                            </a:lnTo>
                            <a:lnTo>
                              <a:pt x="47" y="120"/>
                            </a:lnTo>
                            <a:lnTo>
                              <a:pt x="33" y="92"/>
                            </a:lnTo>
                            <a:lnTo>
                              <a:pt x="27" y="61"/>
                            </a:lnTo>
                            <a:lnTo>
                              <a:pt x="16" y="25"/>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4" name="Freeform 236"/>
                      <p:cNvSpPr/>
                      <p:nvPr/>
                    </p:nvSpPr>
                    <p:spPr bwMode="auto">
                      <a:xfrm>
                        <a:off x="2404" y="3160"/>
                        <a:ext cx="23" cy="30"/>
                      </a:xfrm>
                      <a:custGeom>
                        <a:avLst/>
                        <a:gdLst>
                          <a:gd name="T0" fmla="*/ 0 w 161"/>
                          <a:gd name="T1" fmla="*/ 0 h 245"/>
                          <a:gd name="T2" fmla="*/ 29 w 161"/>
                          <a:gd name="T3" fmla="*/ 19 h 245"/>
                          <a:gd name="T4" fmla="*/ 54 w 161"/>
                          <a:gd name="T5" fmla="*/ 36 h 245"/>
                          <a:gd name="T6" fmla="*/ 79 w 161"/>
                          <a:gd name="T7" fmla="*/ 59 h 245"/>
                          <a:gd name="T8" fmla="*/ 101 w 161"/>
                          <a:gd name="T9" fmla="*/ 80 h 245"/>
                          <a:gd name="T10" fmla="*/ 119 w 161"/>
                          <a:gd name="T11" fmla="*/ 101 h 245"/>
                          <a:gd name="T12" fmla="*/ 133 w 161"/>
                          <a:gd name="T13" fmla="*/ 130 h 245"/>
                          <a:gd name="T14" fmla="*/ 139 w 161"/>
                          <a:gd name="T15" fmla="*/ 163 h 245"/>
                          <a:gd name="T16" fmla="*/ 136 w 161"/>
                          <a:gd name="T17" fmla="*/ 210 h 245"/>
                          <a:gd name="T18" fmla="*/ 128 w 161"/>
                          <a:gd name="T19" fmla="*/ 245 h 245"/>
                          <a:gd name="T20" fmla="*/ 156 w 161"/>
                          <a:gd name="T21" fmla="*/ 234 h 245"/>
                          <a:gd name="T22" fmla="*/ 160 w 161"/>
                          <a:gd name="T23" fmla="*/ 203 h 245"/>
                          <a:gd name="T24" fmla="*/ 161 w 161"/>
                          <a:gd name="T25" fmla="*/ 172 h 245"/>
                          <a:gd name="T26" fmla="*/ 158 w 161"/>
                          <a:gd name="T27" fmla="*/ 143 h 245"/>
                          <a:gd name="T28" fmla="*/ 149 w 161"/>
                          <a:gd name="T29" fmla="*/ 119 h 245"/>
                          <a:gd name="T30" fmla="*/ 137 w 161"/>
                          <a:gd name="T31" fmla="*/ 95 h 245"/>
                          <a:gd name="T32" fmla="*/ 118 w 161"/>
                          <a:gd name="T33" fmla="*/ 73 h 245"/>
                          <a:gd name="T34" fmla="*/ 97 w 161"/>
                          <a:gd name="T35" fmla="*/ 55 h 245"/>
                          <a:gd name="T36" fmla="*/ 73 w 161"/>
                          <a:gd name="T37" fmla="*/ 36 h 245"/>
                          <a:gd name="T38" fmla="*/ 49 w 161"/>
                          <a:gd name="T39" fmla="*/ 20 h 245"/>
                          <a:gd name="T40" fmla="*/ 24 w 161"/>
                          <a:gd name="T41" fmla="*/ 7 h 245"/>
                          <a:gd name="T42" fmla="*/ 0 w 161"/>
                          <a:gd name="T43"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1" h="245">
                            <a:moveTo>
                              <a:pt x="0" y="0"/>
                            </a:moveTo>
                            <a:lnTo>
                              <a:pt x="29" y="19"/>
                            </a:lnTo>
                            <a:lnTo>
                              <a:pt x="54" y="36"/>
                            </a:lnTo>
                            <a:lnTo>
                              <a:pt x="79" y="59"/>
                            </a:lnTo>
                            <a:lnTo>
                              <a:pt x="101" y="80"/>
                            </a:lnTo>
                            <a:lnTo>
                              <a:pt x="119" y="101"/>
                            </a:lnTo>
                            <a:lnTo>
                              <a:pt x="133" y="130"/>
                            </a:lnTo>
                            <a:lnTo>
                              <a:pt x="139" y="163"/>
                            </a:lnTo>
                            <a:lnTo>
                              <a:pt x="136" y="210"/>
                            </a:lnTo>
                            <a:lnTo>
                              <a:pt x="128" y="245"/>
                            </a:lnTo>
                            <a:lnTo>
                              <a:pt x="156" y="234"/>
                            </a:lnTo>
                            <a:lnTo>
                              <a:pt x="160" y="203"/>
                            </a:lnTo>
                            <a:lnTo>
                              <a:pt x="161" y="172"/>
                            </a:lnTo>
                            <a:lnTo>
                              <a:pt x="158" y="143"/>
                            </a:lnTo>
                            <a:lnTo>
                              <a:pt x="149" y="119"/>
                            </a:lnTo>
                            <a:lnTo>
                              <a:pt x="137" y="95"/>
                            </a:lnTo>
                            <a:lnTo>
                              <a:pt x="118" y="73"/>
                            </a:lnTo>
                            <a:lnTo>
                              <a:pt x="97" y="55"/>
                            </a:lnTo>
                            <a:lnTo>
                              <a:pt x="73" y="36"/>
                            </a:lnTo>
                            <a:lnTo>
                              <a:pt x="49" y="20"/>
                            </a:lnTo>
                            <a:lnTo>
                              <a:pt x="24" y="7"/>
                            </a:lnTo>
                            <a:lnTo>
                              <a:pt x="0"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5" name="Freeform 237"/>
                      <p:cNvSpPr/>
                      <p:nvPr/>
                    </p:nvSpPr>
                    <p:spPr bwMode="auto">
                      <a:xfrm>
                        <a:off x="2436" y="3125"/>
                        <a:ext cx="14" cy="20"/>
                      </a:xfrm>
                      <a:custGeom>
                        <a:avLst/>
                        <a:gdLst>
                          <a:gd name="T0" fmla="*/ 0 w 96"/>
                          <a:gd name="T1" fmla="*/ 0 h 160"/>
                          <a:gd name="T2" fmla="*/ 16 w 96"/>
                          <a:gd name="T3" fmla="*/ 31 h 160"/>
                          <a:gd name="T4" fmla="*/ 27 w 96"/>
                          <a:gd name="T5" fmla="*/ 51 h 160"/>
                          <a:gd name="T6" fmla="*/ 45 w 96"/>
                          <a:gd name="T7" fmla="*/ 71 h 160"/>
                          <a:gd name="T8" fmla="*/ 69 w 96"/>
                          <a:gd name="T9" fmla="*/ 97 h 160"/>
                          <a:gd name="T10" fmla="*/ 96 w 96"/>
                          <a:gd name="T11" fmla="*/ 122 h 160"/>
                          <a:gd name="T12" fmla="*/ 93 w 96"/>
                          <a:gd name="T13" fmla="*/ 160 h 160"/>
                          <a:gd name="T14" fmla="*/ 74 w 96"/>
                          <a:gd name="T15" fmla="*/ 153 h 160"/>
                          <a:gd name="T16" fmla="*/ 50 w 96"/>
                          <a:gd name="T17" fmla="*/ 132 h 160"/>
                          <a:gd name="T18" fmla="*/ 28 w 96"/>
                          <a:gd name="T19" fmla="*/ 104 h 160"/>
                          <a:gd name="T20" fmla="*/ 14 w 96"/>
                          <a:gd name="T21" fmla="*/ 69 h 160"/>
                          <a:gd name="T22" fmla="*/ 7 w 96"/>
                          <a:gd name="T23" fmla="*/ 42 h 160"/>
                          <a:gd name="T24" fmla="*/ 0 w 96"/>
                          <a:gd name="T2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6" h="160">
                            <a:moveTo>
                              <a:pt x="0" y="0"/>
                            </a:moveTo>
                            <a:lnTo>
                              <a:pt x="16" y="31"/>
                            </a:lnTo>
                            <a:lnTo>
                              <a:pt x="27" y="51"/>
                            </a:lnTo>
                            <a:lnTo>
                              <a:pt x="45" y="71"/>
                            </a:lnTo>
                            <a:lnTo>
                              <a:pt x="69" y="97"/>
                            </a:lnTo>
                            <a:lnTo>
                              <a:pt x="96" y="122"/>
                            </a:lnTo>
                            <a:lnTo>
                              <a:pt x="93" y="160"/>
                            </a:lnTo>
                            <a:lnTo>
                              <a:pt x="74" y="153"/>
                            </a:lnTo>
                            <a:lnTo>
                              <a:pt x="50" y="132"/>
                            </a:lnTo>
                            <a:lnTo>
                              <a:pt x="28" y="104"/>
                            </a:lnTo>
                            <a:lnTo>
                              <a:pt x="14" y="69"/>
                            </a:lnTo>
                            <a:lnTo>
                              <a:pt x="7" y="42"/>
                            </a:lnTo>
                            <a:lnTo>
                              <a:pt x="0"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6" name="Freeform 238"/>
                      <p:cNvSpPr/>
                      <p:nvPr/>
                    </p:nvSpPr>
                    <p:spPr bwMode="auto">
                      <a:xfrm>
                        <a:off x="2446" y="3146"/>
                        <a:ext cx="9" cy="23"/>
                      </a:xfrm>
                      <a:custGeom>
                        <a:avLst/>
                        <a:gdLst>
                          <a:gd name="T0" fmla="*/ 7 w 63"/>
                          <a:gd name="T1" fmla="*/ 0 h 182"/>
                          <a:gd name="T2" fmla="*/ 3 w 63"/>
                          <a:gd name="T3" fmla="*/ 52 h 182"/>
                          <a:gd name="T4" fmla="*/ 1 w 63"/>
                          <a:gd name="T5" fmla="*/ 87 h 182"/>
                          <a:gd name="T6" fmla="*/ 0 w 63"/>
                          <a:gd name="T7" fmla="*/ 121 h 182"/>
                          <a:gd name="T8" fmla="*/ 2 w 63"/>
                          <a:gd name="T9" fmla="*/ 150 h 182"/>
                          <a:gd name="T10" fmla="*/ 5 w 63"/>
                          <a:gd name="T11" fmla="*/ 182 h 182"/>
                          <a:gd name="T12" fmla="*/ 26 w 63"/>
                          <a:gd name="T13" fmla="*/ 157 h 182"/>
                          <a:gd name="T14" fmla="*/ 63 w 63"/>
                          <a:gd name="T15" fmla="*/ 62 h 182"/>
                          <a:gd name="T16" fmla="*/ 7 w 63"/>
                          <a:gd name="T17" fmla="*/ 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 h="182">
                            <a:moveTo>
                              <a:pt x="7" y="0"/>
                            </a:moveTo>
                            <a:lnTo>
                              <a:pt x="3" y="52"/>
                            </a:lnTo>
                            <a:lnTo>
                              <a:pt x="1" y="87"/>
                            </a:lnTo>
                            <a:lnTo>
                              <a:pt x="0" y="121"/>
                            </a:lnTo>
                            <a:lnTo>
                              <a:pt x="2" y="150"/>
                            </a:lnTo>
                            <a:lnTo>
                              <a:pt x="5" y="182"/>
                            </a:lnTo>
                            <a:lnTo>
                              <a:pt x="26" y="157"/>
                            </a:lnTo>
                            <a:lnTo>
                              <a:pt x="63" y="62"/>
                            </a:lnTo>
                            <a:lnTo>
                              <a:pt x="7"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7" name="Freeform 239"/>
                      <p:cNvSpPr/>
                      <p:nvPr/>
                    </p:nvSpPr>
                    <p:spPr bwMode="auto">
                      <a:xfrm>
                        <a:off x="2492" y="3100"/>
                        <a:ext cx="30" cy="21"/>
                      </a:xfrm>
                      <a:custGeom>
                        <a:avLst/>
                        <a:gdLst>
                          <a:gd name="T0" fmla="*/ 0 w 211"/>
                          <a:gd name="T1" fmla="*/ 163 h 165"/>
                          <a:gd name="T2" fmla="*/ 12 w 211"/>
                          <a:gd name="T3" fmla="*/ 143 h 165"/>
                          <a:gd name="T4" fmla="*/ 25 w 211"/>
                          <a:gd name="T5" fmla="*/ 120 h 165"/>
                          <a:gd name="T6" fmla="*/ 41 w 211"/>
                          <a:gd name="T7" fmla="*/ 99 h 165"/>
                          <a:gd name="T8" fmla="*/ 58 w 211"/>
                          <a:gd name="T9" fmla="*/ 88 h 165"/>
                          <a:gd name="T10" fmla="*/ 81 w 211"/>
                          <a:gd name="T11" fmla="*/ 75 h 165"/>
                          <a:gd name="T12" fmla="*/ 91 w 211"/>
                          <a:gd name="T13" fmla="*/ 64 h 165"/>
                          <a:gd name="T14" fmla="*/ 97 w 211"/>
                          <a:gd name="T15" fmla="*/ 45 h 165"/>
                          <a:gd name="T16" fmla="*/ 110 w 211"/>
                          <a:gd name="T17" fmla="*/ 37 h 165"/>
                          <a:gd name="T18" fmla="*/ 125 w 211"/>
                          <a:gd name="T19" fmla="*/ 28 h 165"/>
                          <a:gd name="T20" fmla="*/ 142 w 211"/>
                          <a:gd name="T21" fmla="*/ 18 h 165"/>
                          <a:gd name="T22" fmla="*/ 176 w 211"/>
                          <a:gd name="T23" fmla="*/ 0 h 165"/>
                          <a:gd name="T24" fmla="*/ 151 w 211"/>
                          <a:gd name="T25" fmla="*/ 20 h 165"/>
                          <a:gd name="T26" fmla="*/ 132 w 211"/>
                          <a:gd name="T27" fmla="*/ 33 h 165"/>
                          <a:gd name="T28" fmla="*/ 120 w 211"/>
                          <a:gd name="T29" fmla="*/ 46 h 165"/>
                          <a:gd name="T30" fmla="*/ 109 w 211"/>
                          <a:gd name="T31" fmla="*/ 60 h 165"/>
                          <a:gd name="T32" fmla="*/ 124 w 211"/>
                          <a:gd name="T33" fmla="*/ 59 h 165"/>
                          <a:gd name="T34" fmla="*/ 149 w 211"/>
                          <a:gd name="T35" fmla="*/ 60 h 165"/>
                          <a:gd name="T36" fmla="*/ 173 w 211"/>
                          <a:gd name="T37" fmla="*/ 65 h 165"/>
                          <a:gd name="T38" fmla="*/ 190 w 211"/>
                          <a:gd name="T39" fmla="*/ 75 h 165"/>
                          <a:gd name="T40" fmla="*/ 201 w 211"/>
                          <a:gd name="T41" fmla="*/ 82 h 165"/>
                          <a:gd name="T42" fmla="*/ 209 w 211"/>
                          <a:gd name="T43" fmla="*/ 96 h 165"/>
                          <a:gd name="T44" fmla="*/ 211 w 211"/>
                          <a:gd name="T45" fmla="*/ 117 h 165"/>
                          <a:gd name="T46" fmla="*/ 202 w 211"/>
                          <a:gd name="T47" fmla="*/ 101 h 165"/>
                          <a:gd name="T48" fmla="*/ 188 w 211"/>
                          <a:gd name="T49" fmla="*/ 87 h 165"/>
                          <a:gd name="T50" fmla="*/ 174 w 211"/>
                          <a:gd name="T51" fmla="*/ 80 h 165"/>
                          <a:gd name="T52" fmla="*/ 157 w 211"/>
                          <a:gd name="T53" fmla="*/ 76 h 165"/>
                          <a:gd name="T54" fmla="*/ 138 w 211"/>
                          <a:gd name="T55" fmla="*/ 74 h 165"/>
                          <a:gd name="T56" fmla="*/ 120 w 211"/>
                          <a:gd name="T57" fmla="*/ 75 h 165"/>
                          <a:gd name="T58" fmla="*/ 104 w 211"/>
                          <a:gd name="T59" fmla="*/ 78 h 165"/>
                          <a:gd name="T60" fmla="*/ 88 w 211"/>
                          <a:gd name="T61" fmla="*/ 85 h 165"/>
                          <a:gd name="T62" fmla="*/ 77 w 211"/>
                          <a:gd name="T63" fmla="*/ 95 h 165"/>
                          <a:gd name="T64" fmla="*/ 82 w 211"/>
                          <a:gd name="T65" fmla="*/ 103 h 165"/>
                          <a:gd name="T66" fmla="*/ 86 w 211"/>
                          <a:gd name="T67" fmla="*/ 114 h 165"/>
                          <a:gd name="T68" fmla="*/ 76 w 211"/>
                          <a:gd name="T69" fmla="*/ 111 h 165"/>
                          <a:gd name="T70" fmla="*/ 64 w 211"/>
                          <a:gd name="T71" fmla="*/ 105 h 165"/>
                          <a:gd name="T72" fmla="*/ 71 w 211"/>
                          <a:gd name="T73" fmla="*/ 116 h 165"/>
                          <a:gd name="T74" fmla="*/ 74 w 211"/>
                          <a:gd name="T75" fmla="*/ 126 h 165"/>
                          <a:gd name="T76" fmla="*/ 58 w 211"/>
                          <a:gd name="T77" fmla="*/ 125 h 165"/>
                          <a:gd name="T78" fmla="*/ 46 w 211"/>
                          <a:gd name="T79" fmla="*/ 123 h 165"/>
                          <a:gd name="T80" fmla="*/ 37 w 211"/>
                          <a:gd name="T81" fmla="*/ 137 h 165"/>
                          <a:gd name="T82" fmla="*/ 20 w 211"/>
                          <a:gd name="T83" fmla="*/ 145 h 165"/>
                          <a:gd name="T84" fmla="*/ 4 w 211"/>
                          <a:gd name="T85" fmla="*/ 165 h 165"/>
                          <a:gd name="T86" fmla="*/ 0 w 211"/>
                          <a:gd name="T87" fmla="*/ 163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11" h="165">
                            <a:moveTo>
                              <a:pt x="0" y="163"/>
                            </a:moveTo>
                            <a:lnTo>
                              <a:pt x="12" y="143"/>
                            </a:lnTo>
                            <a:lnTo>
                              <a:pt x="25" y="120"/>
                            </a:lnTo>
                            <a:lnTo>
                              <a:pt x="41" y="99"/>
                            </a:lnTo>
                            <a:lnTo>
                              <a:pt x="58" y="88"/>
                            </a:lnTo>
                            <a:lnTo>
                              <a:pt x="81" y="75"/>
                            </a:lnTo>
                            <a:lnTo>
                              <a:pt x="91" y="64"/>
                            </a:lnTo>
                            <a:lnTo>
                              <a:pt x="97" y="45"/>
                            </a:lnTo>
                            <a:lnTo>
                              <a:pt x="110" y="37"/>
                            </a:lnTo>
                            <a:lnTo>
                              <a:pt x="125" y="28"/>
                            </a:lnTo>
                            <a:lnTo>
                              <a:pt x="142" y="18"/>
                            </a:lnTo>
                            <a:lnTo>
                              <a:pt x="176" y="0"/>
                            </a:lnTo>
                            <a:lnTo>
                              <a:pt x="151" y="20"/>
                            </a:lnTo>
                            <a:lnTo>
                              <a:pt x="132" y="33"/>
                            </a:lnTo>
                            <a:lnTo>
                              <a:pt x="120" y="46"/>
                            </a:lnTo>
                            <a:lnTo>
                              <a:pt x="109" y="60"/>
                            </a:lnTo>
                            <a:lnTo>
                              <a:pt x="124" y="59"/>
                            </a:lnTo>
                            <a:lnTo>
                              <a:pt x="149" y="60"/>
                            </a:lnTo>
                            <a:lnTo>
                              <a:pt x="173" y="65"/>
                            </a:lnTo>
                            <a:lnTo>
                              <a:pt x="190" y="75"/>
                            </a:lnTo>
                            <a:lnTo>
                              <a:pt x="201" y="82"/>
                            </a:lnTo>
                            <a:lnTo>
                              <a:pt x="209" y="96"/>
                            </a:lnTo>
                            <a:lnTo>
                              <a:pt x="211" y="117"/>
                            </a:lnTo>
                            <a:lnTo>
                              <a:pt x="202" y="101"/>
                            </a:lnTo>
                            <a:lnTo>
                              <a:pt x="188" y="87"/>
                            </a:lnTo>
                            <a:lnTo>
                              <a:pt x="174" y="80"/>
                            </a:lnTo>
                            <a:lnTo>
                              <a:pt x="157" y="76"/>
                            </a:lnTo>
                            <a:lnTo>
                              <a:pt x="138" y="74"/>
                            </a:lnTo>
                            <a:lnTo>
                              <a:pt x="120" y="75"/>
                            </a:lnTo>
                            <a:lnTo>
                              <a:pt x="104" y="78"/>
                            </a:lnTo>
                            <a:lnTo>
                              <a:pt x="88" y="85"/>
                            </a:lnTo>
                            <a:lnTo>
                              <a:pt x="77" y="95"/>
                            </a:lnTo>
                            <a:lnTo>
                              <a:pt x="82" y="103"/>
                            </a:lnTo>
                            <a:lnTo>
                              <a:pt x="86" y="114"/>
                            </a:lnTo>
                            <a:lnTo>
                              <a:pt x="76" y="111"/>
                            </a:lnTo>
                            <a:lnTo>
                              <a:pt x="64" y="105"/>
                            </a:lnTo>
                            <a:lnTo>
                              <a:pt x="71" y="116"/>
                            </a:lnTo>
                            <a:lnTo>
                              <a:pt x="74" y="126"/>
                            </a:lnTo>
                            <a:lnTo>
                              <a:pt x="58" y="125"/>
                            </a:lnTo>
                            <a:lnTo>
                              <a:pt x="46" y="123"/>
                            </a:lnTo>
                            <a:lnTo>
                              <a:pt x="37" y="137"/>
                            </a:lnTo>
                            <a:lnTo>
                              <a:pt x="20" y="145"/>
                            </a:lnTo>
                            <a:lnTo>
                              <a:pt x="4" y="165"/>
                            </a:lnTo>
                            <a:lnTo>
                              <a:pt x="0" y="163"/>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8" name="Freeform 240"/>
                      <p:cNvSpPr/>
                      <p:nvPr/>
                    </p:nvSpPr>
                    <p:spPr bwMode="auto">
                      <a:xfrm>
                        <a:off x="2488" y="3120"/>
                        <a:ext cx="14" cy="8"/>
                      </a:xfrm>
                      <a:custGeom>
                        <a:avLst/>
                        <a:gdLst>
                          <a:gd name="T0" fmla="*/ 26 w 93"/>
                          <a:gd name="T1" fmla="*/ 4 h 64"/>
                          <a:gd name="T2" fmla="*/ 20 w 93"/>
                          <a:gd name="T3" fmla="*/ 21 h 64"/>
                          <a:gd name="T4" fmla="*/ 16 w 93"/>
                          <a:gd name="T5" fmla="*/ 34 h 64"/>
                          <a:gd name="T6" fmla="*/ 14 w 93"/>
                          <a:gd name="T7" fmla="*/ 47 h 64"/>
                          <a:gd name="T8" fmla="*/ 0 w 93"/>
                          <a:gd name="T9" fmla="*/ 64 h 64"/>
                          <a:gd name="T10" fmla="*/ 14 w 93"/>
                          <a:gd name="T11" fmla="*/ 61 h 64"/>
                          <a:gd name="T12" fmla="*/ 25 w 93"/>
                          <a:gd name="T13" fmla="*/ 54 h 64"/>
                          <a:gd name="T14" fmla="*/ 38 w 93"/>
                          <a:gd name="T15" fmla="*/ 34 h 64"/>
                          <a:gd name="T16" fmla="*/ 54 w 93"/>
                          <a:gd name="T17" fmla="*/ 24 h 64"/>
                          <a:gd name="T18" fmla="*/ 72 w 93"/>
                          <a:gd name="T19" fmla="*/ 19 h 64"/>
                          <a:gd name="T20" fmla="*/ 93 w 93"/>
                          <a:gd name="T21" fmla="*/ 22 h 64"/>
                          <a:gd name="T22" fmla="*/ 79 w 93"/>
                          <a:gd name="T23" fmla="*/ 11 h 64"/>
                          <a:gd name="T24" fmla="*/ 60 w 93"/>
                          <a:gd name="T25" fmla="*/ 1 h 64"/>
                          <a:gd name="T26" fmla="*/ 42 w 93"/>
                          <a:gd name="T27" fmla="*/ 0 h 64"/>
                          <a:gd name="T28" fmla="*/ 26 w 93"/>
                          <a:gd name="T29" fmla="*/ 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3" h="64">
                            <a:moveTo>
                              <a:pt x="26" y="4"/>
                            </a:moveTo>
                            <a:lnTo>
                              <a:pt x="20" y="21"/>
                            </a:lnTo>
                            <a:lnTo>
                              <a:pt x="16" y="34"/>
                            </a:lnTo>
                            <a:lnTo>
                              <a:pt x="14" y="47"/>
                            </a:lnTo>
                            <a:lnTo>
                              <a:pt x="0" y="64"/>
                            </a:lnTo>
                            <a:lnTo>
                              <a:pt x="14" y="61"/>
                            </a:lnTo>
                            <a:lnTo>
                              <a:pt x="25" y="54"/>
                            </a:lnTo>
                            <a:lnTo>
                              <a:pt x="38" y="34"/>
                            </a:lnTo>
                            <a:lnTo>
                              <a:pt x="54" y="24"/>
                            </a:lnTo>
                            <a:lnTo>
                              <a:pt x="72" y="19"/>
                            </a:lnTo>
                            <a:lnTo>
                              <a:pt x="93" y="22"/>
                            </a:lnTo>
                            <a:lnTo>
                              <a:pt x="79" y="11"/>
                            </a:lnTo>
                            <a:lnTo>
                              <a:pt x="60" y="1"/>
                            </a:lnTo>
                            <a:lnTo>
                              <a:pt x="42" y="0"/>
                            </a:lnTo>
                            <a:lnTo>
                              <a:pt x="26" y="4"/>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9" name="Freeform 241"/>
                      <p:cNvSpPr/>
                      <p:nvPr/>
                    </p:nvSpPr>
                    <p:spPr bwMode="auto">
                      <a:xfrm>
                        <a:off x="2469" y="3075"/>
                        <a:ext cx="47" cy="29"/>
                      </a:xfrm>
                      <a:custGeom>
                        <a:avLst/>
                        <a:gdLst>
                          <a:gd name="T0" fmla="*/ 10 w 332"/>
                          <a:gd name="T1" fmla="*/ 195 h 230"/>
                          <a:gd name="T2" fmla="*/ 6 w 332"/>
                          <a:gd name="T3" fmla="*/ 168 h 230"/>
                          <a:gd name="T4" fmla="*/ 7 w 332"/>
                          <a:gd name="T5" fmla="*/ 138 h 230"/>
                          <a:gd name="T6" fmla="*/ 12 w 332"/>
                          <a:gd name="T7" fmla="*/ 104 h 230"/>
                          <a:gd name="T8" fmla="*/ 17 w 332"/>
                          <a:gd name="T9" fmla="*/ 78 h 230"/>
                          <a:gd name="T10" fmla="*/ 18 w 332"/>
                          <a:gd name="T11" fmla="*/ 50 h 230"/>
                          <a:gd name="T12" fmla="*/ 12 w 332"/>
                          <a:gd name="T13" fmla="*/ 29 h 230"/>
                          <a:gd name="T14" fmla="*/ 0 w 332"/>
                          <a:gd name="T15" fmla="*/ 0 h 230"/>
                          <a:gd name="T16" fmla="*/ 32 w 332"/>
                          <a:gd name="T17" fmla="*/ 26 h 230"/>
                          <a:gd name="T18" fmla="*/ 62 w 332"/>
                          <a:gd name="T19" fmla="*/ 48 h 230"/>
                          <a:gd name="T20" fmla="*/ 91 w 332"/>
                          <a:gd name="T21" fmla="*/ 60 h 230"/>
                          <a:gd name="T22" fmla="*/ 126 w 332"/>
                          <a:gd name="T23" fmla="*/ 77 h 230"/>
                          <a:gd name="T24" fmla="*/ 165 w 332"/>
                          <a:gd name="T25" fmla="*/ 93 h 230"/>
                          <a:gd name="T26" fmla="*/ 201 w 332"/>
                          <a:gd name="T27" fmla="*/ 111 h 230"/>
                          <a:gd name="T28" fmla="*/ 232 w 332"/>
                          <a:gd name="T29" fmla="*/ 128 h 230"/>
                          <a:gd name="T30" fmla="*/ 277 w 332"/>
                          <a:gd name="T31" fmla="*/ 155 h 230"/>
                          <a:gd name="T32" fmla="*/ 292 w 332"/>
                          <a:gd name="T33" fmla="*/ 167 h 230"/>
                          <a:gd name="T34" fmla="*/ 306 w 332"/>
                          <a:gd name="T35" fmla="*/ 171 h 230"/>
                          <a:gd name="T36" fmla="*/ 318 w 332"/>
                          <a:gd name="T37" fmla="*/ 180 h 230"/>
                          <a:gd name="T38" fmla="*/ 332 w 332"/>
                          <a:gd name="T39" fmla="*/ 187 h 230"/>
                          <a:gd name="T40" fmla="*/ 309 w 332"/>
                          <a:gd name="T41" fmla="*/ 195 h 230"/>
                          <a:gd name="T42" fmla="*/ 290 w 332"/>
                          <a:gd name="T43" fmla="*/ 197 h 230"/>
                          <a:gd name="T44" fmla="*/ 274 w 332"/>
                          <a:gd name="T45" fmla="*/ 196 h 230"/>
                          <a:gd name="T46" fmla="*/ 254 w 332"/>
                          <a:gd name="T47" fmla="*/ 210 h 230"/>
                          <a:gd name="T48" fmla="*/ 233 w 332"/>
                          <a:gd name="T49" fmla="*/ 224 h 230"/>
                          <a:gd name="T50" fmla="*/ 208 w 332"/>
                          <a:gd name="T51" fmla="*/ 229 h 230"/>
                          <a:gd name="T52" fmla="*/ 180 w 332"/>
                          <a:gd name="T53" fmla="*/ 230 h 230"/>
                          <a:gd name="T54" fmla="*/ 150 w 332"/>
                          <a:gd name="T55" fmla="*/ 229 h 230"/>
                          <a:gd name="T56" fmla="*/ 114 w 332"/>
                          <a:gd name="T57" fmla="*/ 226 h 230"/>
                          <a:gd name="T58" fmla="*/ 83 w 332"/>
                          <a:gd name="T59" fmla="*/ 222 h 230"/>
                          <a:gd name="T60" fmla="*/ 53 w 332"/>
                          <a:gd name="T61" fmla="*/ 215 h 230"/>
                          <a:gd name="T62" fmla="*/ 29 w 332"/>
                          <a:gd name="T63" fmla="*/ 205 h 230"/>
                          <a:gd name="T64" fmla="*/ 10 w 332"/>
                          <a:gd name="T65" fmla="*/ 195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2" h="230">
                            <a:moveTo>
                              <a:pt x="10" y="195"/>
                            </a:moveTo>
                            <a:lnTo>
                              <a:pt x="6" y="168"/>
                            </a:lnTo>
                            <a:lnTo>
                              <a:pt x="7" y="138"/>
                            </a:lnTo>
                            <a:lnTo>
                              <a:pt x="12" y="104"/>
                            </a:lnTo>
                            <a:lnTo>
                              <a:pt x="17" y="78"/>
                            </a:lnTo>
                            <a:lnTo>
                              <a:pt x="18" y="50"/>
                            </a:lnTo>
                            <a:lnTo>
                              <a:pt x="12" y="29"/>
                            </a:lnTo>
                            <a:lnTo>
                              <a:pt x="0" y="0"/>
                            </a:lnTo>
                            <a:lnTo>
                              <a:pt x="32" y="26"/>
                            </a:lnTo>
                            <a:lnTo>
                              <a:pt x="62" y="48"/>
                            </a:lnTo>
                            <a:lnTo>
                              <a:pt x="91" y="60"/>
                            </a:lnTo>
                            <a:lnTo>
                              <a:pt x="126" y="77"/>
                            </a:lnTo>
                            <a:lnTo>
                              <a:pt x="165" y="93"/>
                            </a:lnTo>
                            <a:lnTo>
                              <a:pt x="201" y="111"/>
                            </a:lnTo>
                            <a:lnTo>
                              <a:pt x="232" y="128"/>
                            </a:lnTo>
                            <a:lnTo>
                              <a:pt x="277" y="155"/>
                            </a:lnTo>
                            <a:lnTo>
                              <a:pt x="292" y="167"/>
                            </a:lnTo>
                            <a:lnTo>
                              <a:pt x="306" y="171"/>
                            </a:lnTo>
                            <a:lnTo>
                              <a:pt x="318" y="180"/>
                            </a:lnTo>
                            <a:lnTo>
                              <a:pt x="332" y="187"/>
                            </a:lnTo>
                            <a:lnTo>
                              <a:pt x="309" y="195"/>
                            </a:lnTo>
                            <a:lnTo>
                              <a:pt x="290" y="197"/>
                            </a:lnTo>
                            <a:lnTo>
                              <a:pt x="274" y="196"/>
                            </a:lnTo>
                            <a:lnTo>
                              <a:pt x="254" y="210"/>
                            </a:lnTo>
                            <a:lnTo>
                              <a:pt x="233" y="224"/>
                            </a:lnTo>
                            <a:lnTo>
                              <a:pt x="208" y="229"/>
                            </a:lnTo>
                            <a:lnTo>
                              <a:pt x="180" y="230"/>
                            </a:lnTo>
                            <a:lnTo>
                              <a:pt x="150" y="229"/>
                            </a:lnTo>
                            <a:lnTo>
                              <a:pt x="114" y="226"/>
                            </a:lnTo>
                            <a:lnTo>
                              <a:pt x="83" y="222"/>
                            </a:lnTo>
                            <a:lnTo>
                              <a:pt x="53" y="215"/>
                            </a:lnTo>
                            <a:lnTo>
                              <a:pt x="29" y="205"/>
                            </a:lnTo>
                            <a:lnTo>
                              <a:pt x="10" y="195"/>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0" name="Freeform 242"/>
                      <p:cNvSpPr/>
                      <p:nvPr/>
                    </p:nvSpPr>
                    <p:spPr bwMode="auto">
                      <a:xfrm>
                        <a:off x="2505" y="3130"/>
                        <a:ext cx="14" cy="11"/>
                      </a:xfrm>
                      <a:custGeom>
                        <a:avLst/>
                        <a:gdLst>
                          <a:gd name="T0" fmla="*/ 0 w 95"/>
                          <a:gd name="T1" fmla="*/ 83 h 83"/>
                          <a:gd name="T2" fmla="*/ 10 w 95"/>
                          <a:gd name="T3" fmla="*/ 56 h 83"/>
                          <a:gd name="T4" fmla="*/ 27 w 95"/>
                          <a:gd name="T5" fmla="*/ 39 h 83"/>
                          <a:gd name="T6" fmla="*/ 31 w 95"/>
                          <a:gd name="T7" fmla="*/ 20 h 83"/>
                          <a:gd name="T8" fmla="*/ 49 w 95"/>
                          <a:gd name="T9" fmla="*/ 33 h 83"/>
                          <a:gd name="T10" fmla="*/ 72 w 95"/>
                          <a:gd name="T11" fmla="*/ 20 h 83"/>
                          <a:gd name="T12" fmla="*/ 95 w 95"/>
                          <a:gd name="T13" fmla="*/ 0 h 83"/>
                          <a:gd name="T14" fmla="*/ 75 w 95"/>
                          <a:gd name="T15" fmla="*/ 30 h 83"/>
                          <a:gd name="T16" fmla="*/ 60 w 95"/>
                          <a:gd name="T17" fmla="*/ 43 h 83"/>
                          <a:gd name="T18" fmla="*/ 43 w 95"/>
                          <a:gd name="T19" fmla="*/ 50 h 83"/>
                          <a:gd name="T20" fmla="*/ 0 w 95"/>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5" h="83">
                            <a:moveTo>
                              <a:pt x="0" y="83"/>
                            </a:moveTo>
                            <a:lnTo>
                              <a:pt x="10" y="56"/>
                            </a:lnTo>
                            <a:lnTo>
                              <a:pt x="27" y="39"/>
                            </a:lnTo>
                            <a:lnTo>
                              <a:pt x="31" y="20"/>
                            </a:lnTo>
                            <a:lnTo>
                              <a:pt x="49" y="33"/>
                            </a:lnTo>
                            <a:lnTo>
                              <a:pt x="72" y="20"/>
                            </a:lnTo>
                            <a:lnTo>
                              <a:pt x="95" y="0"/>
                            </a:lnTo>
                            <a:lnTo>
                              <a:pt x="75" y="30"/>
                            </a:lnTo>
                            <a:lnTo>
                              <a:pt x="60" y="43"/>
                            </a:lnTo>
                            <a:lnTo>
                              <a:pt x="43" y="50"/>
                            </a:lnTo>
                            <a:lnTo>
                              <a:pt x="0" y="83"/>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1" name="Freeform 243"/>
                      <p:cNvSpPr/>
                      <p:nvPr/>
                    </p:nvSpPr>
                    <p:spPr bwMode="auto">
                      <a:xfrm>
                        <a:off x="2446" y="3175"/>
                        <a:ext cx="12" cy="9"/>
                      </a:xfrm>
                      <a:custGeom>
                        <a:avLst/>
                        <a:gdLst>
                          <a:gd name="T0" fmla="*/ 85 w 85"/>
                          <a:gd name="T1" fmla="*/ 7 h 71"/>
                          <a:gd name="T2" fmla="*/ 70 w 85"/>
                          <a:gd name="T3" fmla="*/ 8 h 71"/>
                          <a:gd name="T4" fmla="*/ 54 w 85"/>
                          <a:gd name="T5" fmla="*/ 3 h 71"/>
                          <a:gd name="T6" fmla="*/ 39 w 85"/>
                          <a:gd name="T7" fmla="*/ 1 h 71"/>
                          <a:gd name="T8" fmla="*/ 28 w 85"/>
                          <a:gd name="T9" fmla="*/ 0 h 71"/>
                          <a:gd name="T10" fmla="*/ 15 w 85"/>
                          <a:gd name="T11" fmla="*/ 9 h 71"/>
                          <a:gd name="T12" fmla="*/ 9 w 85"/>
                          <a:gd name="T13" fmla="*/ 15 h 71"/>
                          <a:gd name="T14" fmla="*/ 2 w 85"/>
                          <a:gd name="T15" fmla="*/ 27 h 71"/>
                          <a:gd name="T16" fmla="*/ 0 w 85"/>
                          <a:gd name="T17" fmla="*/ 44 h 71"/>
                          <a:gd name="T18" fmla="*/ 15 w 85"/>
                          <a:gd name="T19" fmla="*/ 50 h 71"/>
                          <a:gd name="T20" fmla="*/ 30 w 85"/>
                          <a:gd name="T21" fmla="*/ 57 h 71"/>
                          <a:gd name="T22" fmla="*/ 40 w 85"/>
                          <a:gd name="T23" fmla="*/ 71 h 71"/>
                          <a:gd name="T24" fmla="*/ 53 w 85"/>
                          <a:gd name="T25" fmla="*/ 65 h 71"/>
                          <a:gd name="T26" fmla="*/ 62 w 85"/>
                          <a:gd name="T27" fmla="*/ 56 h 71"/>
                          <a:gd name="T28" fmla="*/ 70 w 85"/>
                          <a:gd name="T29" fmla="*/ 41 h 71"/>
                          <a:gd name="T30" fmla="*/ 77 w 85"/>
                          <a:gd name="T31" fmla="*/ 25 h 71"/>
                          <a:gd name="T32" fmla="*/ 85 w 85"/>
                          <a:gd name="T33" fmla="*/ 7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5" h="71">
                            <a:moveTo>
                              <a:pt x="85" y="7"/>
                            </a:moveTo>
                            <a:lnTo>
                              <a:pt x="70" y="8"/>
                            </a:lnTo>
                            <a:lnTo>
                              <a:pt x="54" y="3"/>
                            </a:lnTo>
                            <a:lnTo>
                              <a:pt x="39" y="1"/>
                            </a:lnTo>
                            <a:lnTo>
                              <a:pt x="28" y="0"/>
                            </a:lnTo>
                            <a:lnTo>
                              <a:pt x="15" y="9"/>
                            </a:lnTo>
                            <a:lnTo>
                              <a:pt x="9" y="15"/>
                            </a:lnTo>
                            <a:lnTo>
                              <a:pt x="2" y="27"/>
                            </a:lnTo>
                            <a:lnTo>
                              <a:pt x="0" y="44"/>
                            </a:lnTo>
                            <a:lnTo>
                              <a:pt x="15" y="50"/>
                            </a:lnTo>
                            <a:lnTo>
                              <a:pt x="30" y="57"/>
                            </a:lnTo>
                            <a:lnTo>
                              <a:pt x="40" y="71"/>
                            </a:lnTo>
                            <a:lnTo>
                              <a:pt x="53" y="65"/>
                            </a:lnTo>
                            <a:lnTo>
                              <a:pt x="62" y="56"/>
                            </a:lnTo>
                            <a:lnTo>
                              <a:pt x="70" y="41"/>
                            </a:lnTo>
                            <a:lnTo>
                              <a:pt x="77" y="25"/>
                            </a:lnTo>
                            <a:lnTo>
                              <a:pt x="85" y="7"/>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2" name="Freeform 244"/>
                      <p:cNvSpPr/>
                      <p:nvPr/>
                    </p:nvSpPr>
                    <p:spPr bwMode="auto">
                      <a:xfrm>
                        <a:off x="2362" y="3176"/>
                        <a:ext cx="24" cy="41"/>
                      </a:xfrm>
                      <a:custGeom>
                        <a:avLst/>
                        <a:gdLst>
                          <a:gd name="T0" fmla="*/ 0 w 171"/>
                          <a:gd name="T1" fmla="*/ 0 h 330"/>
                          <a:gd name="T2" fmla="*/ 46 w 171"/>
                          <a:gd name="T3" fmla="*/ 9 h 330"/>
                          <a:gd name="T4" fmla="*/ 73 w 171"/>
                          <a:gd name="T5" fmla="*/ 28 h 330"/>
                          <a:gd name="T6" fmla="*/ 87 w 171"/>
                          <a:gd name="T7" fmla="*/ 52 h 330"/>
                          <a:gd name="T8" fmla="*/ 100 w 171"/>
                          <a:gd name="T9" fmla="*/ 28 h 330"/>
                          <a:gd name="T10" fmla="*/ 110 w 171"/>
                          <a:gd name="T11" fmla="*/ 128 h 330"/>
                          <a:gd name="T12" fmla="*/ 119 w 171"/>
                          <a:gd name="T13" fmla="*/ 199 h 330"/>
                          <a:gd name="T14" fmla="*/ 132 w 171"/>
                          <a:gd name="T15" fmla="*/ 254 h 330"/>
                          <a:gd name="T16" fmla="*/ 171 w 171"/>
                          <a:gd name="T17" fmla="*/ 330 h 330"/>
                          <a:gd name="T18" fmla="*/ 146 w 171"/>
                          <a:gd name="T19" fmla="*/ 315 h 330"/>
                          <a:gd name="T20" fmla="*/ 123 w 171"/>
                          <a:gd name="T21" fmla="*/ 296 h 330"/>
                          <a:gd name="T22" fmla="*/ 98 w 171"/>
                          <a:gd name="T23" fmla="*/ 278 h 330"/>
                          <a:gd name="T24" fmla="*/ 69 w 171"/>
                          <a:gd name="T25" fmla="*/ 268 h 330"/>
                          <a:gd name="T26" fmla="*/ 39 w 171"/>
                          <a:gd name="T27" fmla="*/ 262 h 330"/>
                          <a:gd name="T28" fmla="*/ 64 w 171"/>
                          <a:gd name="T29" fmla="*/ 253 h 330"/>
                          <a:gd name="T30" fmla="*/ 87 w 171"/>
                          <a:gd name="T31" fmla="*/ 252 h 330"/>
                          <a:gd name="T32" fmla="*/ 109 w 171"/>
                          <a:gd name="T33" fmla="*/ 258 h 330"/>
                          <a:gd name="T34" fmla="*/ 126 w 171"/>
                          <a:gd name="T35" fmla="*/ 272 h 330"/>
                          <a:gd name="T36" fmla="*/ 110 w 171"/>
                          <a:gd name="T37" fmla="*/ 219 h 330"/>
                          <a:gd name="T38" fmla="*/ 104 w 171"/>
                          <a:gd name="T39" fmla="*/ 174 h 330"/>
                          <a:gd name="T40" fmla="*/ 72 w 171"/>
                          <a:gd name="T41" fmla="*/ 159 h 330"/>
                          <a:gd name="T42" fmla="*/ 52 w 171"/>
                          <a:gd name="T43" fmla="*/ 143 h 330"/>
                          <a:gd name="T44" fmla="*/ 43 w 171"/>
                          <a:gd name="T45" fmla="*/ 128 h 330"/>
                          <a:gd name="T46" fmla="*/ 49 w 171"/>
                          <a:gd name="T47" fmla="*/ 114 h 330"/>
                          <a:gd name="T48" fmla="*/ 61 w 171"/>
                          <a:gd name="T49" fmla="*/ 108 h 330"/>
                          <a:gd name="T50" fmla="*/ 77 w 171"/>
                          <a:gd name="T51" fmla="*/ 103 h 330"/>
                          <a:gd name="T52" fmla="*/ 90 w 171"/>
                          <a:gd name="T53" fmla="*/ 105 h 330"/>
                          <a:gd name="T54" fmla="*/ 89 w 171"/>
                          <a:gd name="T55" fmla="*/ 86 h 330"/>
                          <a:gd name="T56" fmla="*/ 66 w 171"/>
                          <a:gd name="T57" fmla="*/ 82 h 330"/>
                          <a:gd name="T58" fmla="*/ 46 w 171"/>
                          <a:gd name="T59" fmla="*/ 71 h 330"/>
                          <a:gd name="T60" fmla="*/ 31 w 171"/>
                          <a:gd name="T61" fmla="*/ 49 h 330"/>
                          <a:gd name="T62" fmla="*/ 27 w 171"/>
                          <a:gd name="T63" fmla="*/ 18 h 330"/>
                          <a:gd name="T64" fmla="*/ 0 w 171"/>
                          <a:gd name="T65"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1" h="330">
                            <a:moveTo>
                              <a:pt x="0" y="0"/>
                            </a:moveTo>
                            <a:lnTo>
                              <a:pt x="46" y="9"/>
                            </a:lnTo>
                            <a:lnTo>
                              <a:pt x="73" y="28"/>
                            </a:lnTo>
                            <a:lnTo>
                              <a:pt x="87" y="52"/>
                            </a:lnTo>
                            <a:lnTo>
                              <a:pt x="100" y="28"/>
                            </a:lnTo>
                            <a:lnTo>
                              <a:pt x="110" y="128"/>
                            </a:lnTo>
                            <a:lnTo>
                              <a:pt x="119" y="199"/>
                            </a:lnTo>
                            <a:lnTo>
                              <a:pt x="132" y="254"/>
                            </a:lnTo>
                            <a:lnTo>
                              <a:pt x="171" y="330"/>
                            </a:lnTo>
                            <a:lnTo>
                              <a:pt x="146" y="315"/>
                            </a:lnTo>
                            <a:lnTo>
                              <a:pt x="123" y="296"/>
                            </a:lnTo>
                            <a:lnTo>
                              <a:pt x="98" y="278"/>
                            </a:lnTo>
                            <a:lnTo>
                              <a:pt x="69" y="268"/>
                            </a:lnTo>
                            <a:lnTo>
                              <a:pt x="39" y="262"/>
                            </a:lnTo>
                            <a:lnTo>
                              <a:pt x="64" y="253"/>
                            </a:lnTo>
                            <a:lnTo>
                              <a:pt x="87" y="252"/>
                            </a:lnTo>
                            <a:lnTo>
                              <a:pt x="109" y="258"/>
                            </a:lnTo>
                            <a:lnTo>
                              <a:pt x="126" y="272"/>
                            </a:lnTo>
                            <a:lnTo>
                              <a:pt x="110" y="219"/>
                            </a:lnTo>
                            <a:lnTo>
                              <a:pt x="104" y="174"/>
                            </a:lnTo>
                            <a:lnTo>
                              <a:pt x="72" y="159"/>
                            </a:lnTo>
                            <a:lnTo>
                              <a:pt x="52" y="143"/>
                            </a:lnTo>
                            <a:lnTo>
                              <a:pt x="43" y="128"/>
                            </a:lnTo>
                            <a:lnTo>
                              <a:pt x="49" y="114"/>
                            </a:lnTo>
                            <a:lnTo>
                              <a:pt x="61" y="108"/>
                            </a:lnTo>
                            <a:lnTo>
                              <a:pt x="77" y="103"/>
                            </a:lnTo>
                            <a:lnTo>
                              <a:pt x="90" y="105"/>
                            </a:lnTo>
                            <a:lnTo>
                              <a:pt x="89" y="86"/>
                            </a:lnTo>
                            <a:lnTo>
                              <a:pt x="66" y="82"/>
                            </a:lnTo>
                            <a:lnTo>
                              <a:pt x="46" y="71"/>
                            </a:lnTo>
                            <a:lnTo>
                              <a:pt x="31" y="49"/>
                            </a:lnTo>
                            <a:lnTo>
                              <a:pt x="27" y="18"/>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3" name="Freeform 245"/>
                      <p:cNvSpPr/>
                      <p:nvPr/>
                    </p:nvSpPr>
                    <p:spPr bwMode="auto">
                      <a:xfrm>
                        <a:off x="2401" y="3190"/>
                        <a:ext cx="16" cy="20"/>
                      </a:xfrm>
                      <a:custGeom>
                        <a:avLst/>
                        <a:gdLst>
                          <a:gd name="T0" fmla="*/ 0 w 113"/>
                          <a:gd name="T1" fmla="*/ 157 h 157"/>
                          <a:gd name="T2" fmla="*/ 11 w 113"/>
                          <a:gd name="T3" fmla="*/ 120 h 157"/>
                          <a:gd name="T4" fmla="*/ 14 w 113"/>
                          <a:gd name="T5" fmla="*/ 91 h 157"/>
                          <a:gd name="T6" fmla="*/ 19 w 113"/>
                          <a:gd name="T7" fmla="*/ 66 h 157"/>
                          <a:gd name="T8" fmla="*/ 25 w 113"/>
                          <a:gd name="T9" fmla="*/ 53 h 157"/>
                          <a:gd name="T10" fmla="*/ 34 w 113"/>
                          <a:gd name="T11" fmla="*/ 38 h 157"/>
                          <a:gd name="T12" fmla="*/ 47 w 113"/>
                          <a:gd name="T13" fmla="*/ 27 h 157"/>
                          <a:gd name="T14" fmla="*/ 68 w 113"/>
                          <a:gd name="T15" fmla="*/ 18 h 157"/>
                          <a:gd name="T16" fmla="*/ 88 w 113"/>
                          <a:gd name="T17" fmla="*/ 10 h 157"/>
                          <a:gd name="T18" fmla="*/ 113 w 113"/>
                          <a:gd name="T19" fmla="*/ 0 h 157"/>
                          <a:gd name="T20" fmla="*/ 92 w 113"/>
                          <a:gd name="T21" fmla="*/ 23 h 157"/>
                          <a:gd name="T22" fmla="*/ 78 w 113"/>
                          <a:gd name="T23" fmla="*/ 34 h 157"/>
                          <a:gd name="T24" fmla="*/ 60 w 113"/>
                          <a:gd name="T25" fmla="*/ 51 h 157"/>
                          <a:gd name="T26" fmla="*/ 51 w 113"/>
                          <a:gd name="T27" fmla="*/ 76 h 157"/>
                          <a:gd name="T28" fmla="*/ 44 w 113"/>
                          <a:gd name="T29" fmla="*/ 100 h 157"/>
                          <a:gd name="T30" fmla="*/ 33 w 113"/>
                          <a:gd name="T31" fmla="*/ 121 h 157"/>
                          <a:gd name="T32" fmla="*/ 21 w 113"/>
                          <a:gd name="T33" fmla="*/ 138 h 157"/>
                          <a:gd name="T34" fmla="*/ 0 w 113"/>
                          <a:gd name="T35"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3" h="157">
                            <a:moveTo>
                              <a:pt x="0" y="157"/>
                            </a:moveTo>
                            <a:lnTo>
                              <a:pt x="11" y="120"/>
                            </a:lnTo>
                            <a:lnTo>
                              <a:pt x="14" y="91"/>
                            </a:lnTo>
                            <a:lnTo>
                              <a:pt x="19" y="66"/>
                            </a:lnTo>
                            <a:lnTo>
                              <a:pt x="25" y="53"/>
                            </a:lnTo>
                            <a:lnTo>
                              <a:pt x="34" y="38"/>
                            </a:lnTo>
                            <a:lnTo>
                              <a:pt x="47" y="27"/>
                            </a:lnTo>
                            <a:lnTo>
                              <a:pt x="68" y="18"/>
                            </a:lnTo>
                            <a:lnTo>
                              <a:pt x="88" y="10"/>
                            </a:lnTo>
                            <a:lnTo>
                              <a:pt x="113" y="0"/>
                            </a:lnTo>
                            <a:lnTo>
                              <a:pt x="92" y="23"/>
                            </a:lnTo>
                            <a:lnTo>
                              <a:pt x="78" y="34"/>
                            </a:lnTo>
                            <a:lnTo>
                              <a:pt x="60" y="51"/>
                            </a:lnTo>
                            <a:lnTo>
                              <a:pt x="51" y="76"/>
                            </a:lnTo>
                            <a:lnTo>
                              <a:pt x="44" y="100"/>
                            </a:lnTo>
                            <a:lnTo>
                              <a:pt x="33" y="121"/>
                            </a:lnTo>
                            <a:lnTo>
                              <a:pt x="21" y="138"/>
                            </a:lnTo>
                            <a:lnTo>
                              <a:pt x="0" y="157"/>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4" name="Freeform 246"/>
                      <p:cNvSpPr/>
                      <p:nvPr/>
                    </p:nvSpPr>
                    <p:spPr bwMode="auto">
                      <a:xfrm>
                        <a:off x="2415" y="3188"/>
                        <a:ext cx="12" cy="10"/>
                      </a:xfrm>
                      <a:custGeom>
                        <a:avLst/>
                        <a:gdLst>
                          <a:gd name="T0" fmla="*/ 10 w 83"/>
                          <a:gd name="T1" fmla="*/ 23 h 83"/>
                          <a:gd name="T2" fmla="*/ 17 w 83"/>
                          <a:gd name="T3" fmla="*/ 34 h 83"/>
                          <a:gd name="T4" fmla="*/ 19 w 83"/>
                          <a:gd name="T5" fmla="*/ 52 h 83"/>
                          <a:gd name="T6" fmla="*/ 14 w 83"/>
                          <a:gd name="T7" fmla="*/ 67 h 83"/>
                          <a:gd name="T8" fmla="*/ 0 w 83"/>
                          <a:gd name="T9" fmla="*/ 83 h 83"/>
                          <a:gd name="T10" fmla="*/ 21 w 83"/>
                          <a:gd name="T11" fmla="*/ 79 h 83"/>
                          <a:gd name="T12" fmla="*/ 36 w 83"/>
                          <a:gd name="T13" fmla="*/ 72 h 83"/>
                          <a:gd name="T14" fmla="*/ 49 w 83"/>
                          <a:gd name="T15" fmla="*/ 61 h 83"/>
                          <a:gd name="T16" fmla="*/ 58 w 83"/>
                          <a:gd name="T17" fmla="*/ 50 h 83"/>
                          <a:gd name="T18" fmla="*/ 66 w 83"/>
                          <a:gd name="T19" fmla="*/ 58 h 83"/>
                          <a:gd name="T20" fmla="*/ 72 w 83"/>
                          <a:gd name="T21" fmla="*/ 65 h 83"/>
                          <a:gd name="T22" fmla="*/ 74 w 83"/>
                          <a:gd name="T23" fmla="*/ 83 h 83"/>
                          <a:gd name="T24" fmla="*/ 81 w 83"/>
                          <a:gd name="T25" fmla="*/ 53 h 83"/>
                          <a:gd name="T26" fmla="*/ 83 w 83"/>
                          <a:gd name="T27" fmla="*/ 30 h 83"/>
                          <a:gd name="T28" fmla="*/ 80 w 83"/>
                          <a:gd name="T29" fmla="*/ 11 h 83"/>
                          <a:gd name="T30" fmla="*/ 74 w 83"/>
                          <a:gd name="T31" fmla="*/ 0 h 83"/>
                          <a:gd name="T32" fmla="*/ 59 w 83"/>
                          <a:gd name="T33" fmla="*/ 0 h 83"/>
                          <a:gd name="T34" fmla="*/ 38 w 83"/>
                          <a:gd name="T35" fmla="*/ 7 h 83"/>
                          <a:gd name="T36" fmla="*/ 21 w 83"/>
                          <a:gd name="T37" fmla="*/ 14 h 83"/>
                          <a:gd name="T38" fmla="*/ 10 w 83"/>
                          <a:gd name="T39" fmla="*/ 2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3" h="83">
                            <a:moveTo>
                              <a:pt x="10" y="23"/>
                            </a:moveTo>
                            <a:lnTo>
                              <a:pt x="17" y="34"/>
                            </a:lnTo>
                            <a:lnTo>
                              <a:pt x="19" y="52"/>
                            </a:lnTo>
                            <a:lnTo>
                              <a:pt x="14" y="67"/>
                            </a:lnTo>
                            <a:lnTo>
                              <a:pt x="0" y="83"/>
                            </a:lnTo>
                            <a:lnTo>
                              <a:pt x="21" y="79"/>
                            </a:lnTo>
                            <a:lnTo>
                              <a:pt x="36" y="72"/>
                            </a:lnTo>
                            <a:lnTo>
                              <a:pt x="49" y="61"/>
                            </a:lnTo>
                            <a:lnTo>
                              <a:pt x="58" y="50"/>
                            </a:lnTo>
                            <a:lnTo>
                              <a:pt x="66" y="58"/>
                            </a:lnTo>
                            <a:lnTo>
                              <a:pt x="72" y="65"/>
                            </a:lnTo>
                            <a:lnTo>
                              <a:pt x="74" y="83"/>
                            </a:lnTo>
                            <a:lnTo>
                              <a:pt x="81" y="53"/>
                            </a:lnTo>
                            <a:lnTo>
                              <a:pt x="83" y="30"/>
                            </a:lnTo>
                            <a:lnTo>
                              <a:pt x="80" y="11"/>
                            </a:lnTo>
                            <a:lnTo>
                              <a:pt x="74" y="0"/>
                            </a:lnTo>
                            <a:lnTo>
                              <a:pt x="59" y="0"/>
                            </a:lnTo>
                            <a:lnTo>
                              <a:pt x="38" y="7"/>
                            </a:lnTo>
                            <a:lnTo>
                              <a:pt x="21" y="14"/>
                            </a:lnTo>
                            <a:lnTo>
                              <a:pt x="10" y="23"/>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5" name="Freeform 247"/>
                      <p:cNvSpPr/>
                      <p:nvPr/>
                    </p:nvSpPr>
                    <p:spPr bwMode="auto">
                      <a:xfrm>
                        <a:off x="2427" y="3193"/>
                        <a:ext cx="11" cy="23"/>
                      </a:xfrm>
                      <a:custGeom>
                        <a:avLst/>
                        <a:gdLst>
                          <a:gd name="T0" fmla="*/ 0 w 72"/>
                          <a:gd name="T1" fmla="*/ 0 h 186"/>
                          <a:gd name="T2" fmla="*/ 27 w 72"/>
                          <a:gd name="T3" fmla="*/ 22 h 186"/>
                          <a:gd name="T4" fmla="*/ 40 w 72"/>
                          <a:gd name="T5" fmla="*/ 44 h 186"/>
                          <a:gd name="T6" fmla="*/ 47 w 72"/>
                          <a:gd name="T7" fmla="*/ 74 h 186"/>
                          <a:gd name="T8" fmla="*/ 48 w 72"/>
                          <a:gd name="T9" fmla="*/ 106 h 186"/>
                          <a:gd name="T10" fmla="*/ 45 w 72"/>
                          <a:gd name="T11" fmla="*/ 134 h 186"/>
                          <a:gd name="T12" fmla="*/ 36 w 72"/>
                          <a:gd name="T13" fmla="*/ 158 h 186"/>
                          <a:gd name="T14" fmla="*/ 15 w 72"/>
                          <a:gd name="T15" fmla="*/ 186 h 186"/>
                          <a:gd name="T16" fmla="*/ 39 w 72"/>
                          <a:gd name="T17" fmla="*/ 171 h 186"/>
                          <a:gd name="T18" fmla="*/ 58 w 72"/>
                          <a:gd name="T19" fmla="*/ 148 h 186"/>
                          <a:gd name="T20" fmla="*/ 70 w 72"/>
                          <a:gd name="T21" fmla="*/ 118 h 186"/>
                          <a:gd name="T22" fmla="*/ 72 w 72"/>
                          <a:gd name="T23" fmla="*/ 82 h 186"/>
                          <a:gd name="T24" fmla="*/ 66 w 72"/>
                          <a:gd name="T25" fmla="*/ 50 h 186"/>
                          <a:gd name="T26" fmla="*/ 48 w 72"/>
                          <a:gd name="T27" fmla="*/ 26 h 186"/>
                          <a:gd name="T28" fmla="*/ 28 w 72"/>
                          <a:gd name="T29" fmla="*/ 10 h 186"/>
                          <a:gd name="T30" fmla="*/ 0 w 72"/>
                          <a:gd name="T31"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2" h="186">
                            <a:moveTo>
                              <a:pt x="0" y="0"/>
                            </a:moveTo>
                            <a:lnTo>
                              <a:pt x="27" y="22"/>
                            </a:lnTo>
                            <a:lnTo>
                              <a:pt x="40" y="44"/>
                            </a:lnTo>
                            <a:lnTo>
                              <a:pt x="47" y="74"/>
                            </a:lnTo>
                            <a:lnTo>
                              <a:pt x="48" y="106"/>
                            </a:lnTo>
                            <a:lnTo>
                              <a:pt x="45" y="134"/>
                            </a:lnTo>
                            <a:lnTo>
                              <a:pt x="36" y="158"/>
                            </a:lnTo>
                            <a:lnTo>
                              <a:pt x="15" y="186"/>
                            </a:lnTo>
                            <a:lnTo>
                              <a:pt x="39" y="171"/>
                            </a:lnTo>
                            <a:lnTo>
                              <a:pt x="58" y="148"/>
                            </a:lnTo>
                            <a:lnTo>
                              <a:pt x="70" y="118"/>
                            </a:lnTo>
                            <a:lnTo>
                              <a:pt x="72" y="82"/>
                            </a:lnTo>
                            <a:lnTo>
                              <a:pt x="66" y="50"/>
                            </a:lnTo>
                            <a:lnTo>
                              <a:pt x="48" y="26"/>
                            </a:lnTo>
                            <a:lnTo>
                              <a:pt x="28" y="10"/>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6" name="Freeform 248"/>
                      <p:cNvSpPr/>
                      <p:nvPr/>
                    </p:nvSpPr>
                    <p:spPr bwMode="auto">
                      <a:xfrm>
                        <a:off x="2458" y="3188"/>
                        <a:ext cx="11" cy="12"/>
                      </a:xfrm>
                      <a:custGeom>
                        <a:avLst/>
                        <a:gdLst>
                          <a:gd name="T0" fmla="*/ 0 w 75"/>
                          <a:gd name="T1" fmla="*/ 94 h 94"/>
                          <a:gd name="T2" fmla="*/ 26 w 75"/>
                          <a:gd name="T3" fmla="*/ 68 h 94"/>
                          <a:gd name="T4" fmla="*/ 49 w 75"/>
                          <a:gd name="T5" fmla="*/ 45 h 94"/>
                          <a:gd name="T6" fmla="*/ 75 w 75"/>
                          <a:gd name="T7" fmla="*/ 0 h 94"/>
                          <a:gd name="T8" fmla="*/ 49 w 75"/>
                          <a:gd name="T9" fmla="*/ 19 h 94"/>
                          <a:gd name="T10" fmla="*/ 26 w 75"/>
                          <a:gd name="T11" fmla="*/ 51 h 94"/>
                          <a:gd name="T12" fmla="*/ 0 w 75"/>
                          <a:gd name="T13" fmla="*/ 94 h 94"/>
                        </a:gdLst>
                        <a:ahLst/>
                        <a:cxnLst>
                          <a:cxn ang="0">
                            <a:pos x="T0" y="T1"/>
                          </a:cxn>
                          <a:cxn ang="0">
                            <a:pos x="T2" y="T3"/>
                          </a:cxn>
                          <a:cxn ang="0">
                            <a:pos x="T4" y="T5"/>
                          </a:cxn>
                          <a:cxn ang="0">
                            <a:pos x="T6" y="T7"/>
                          </a:cxn>
                          <a:cxn ang="0">
                            <a:pos x="T8" y="T9"/>
                          </a:cxn>
                          <a:cxn ang="0">
                            <a:pos x="T10" y="T11"/>
                          </a:cxn>
                          <a:cxn ang="0">
                            <a:pos x="T12" y="T13"/>
                          </a:cxn>
                        </a:cxnLst>
                        <a:rect l="0" t="0" r="r" b="b"/>
                        <a:pathLst>
                          <a:path w="75" h="94">
                            <a:moveTo>
                              <a:pt x="0" y="94"/>
                            </a:moveTo>
                            <a:lnTo>
                              <a:pt x="26" y="68"/>
                            </a:lnTo>
                            <a:lnTo>
                              <a:pt x="49" y="45"/>
                            </a:lnTo>
                            <a:lnTo>
                              <a:pt x="75" y="0"/>
                            </a:lnTo>
                            <a:lnTo>
                              <a:pt x="49" y="19"/>
                            </a:lnTo>
                            <a:lnTo>
                              <a:pt x="26" y="51"/>
                            </a:lnTo>
                            <a:lnTo>
                              <a:pt x="0" y="94"/>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7" name="Freeform 249"/>
                      <p:cNvSpPr/>
                      <p:nvPr/>
                    </p:nvSpPr>
                    <p:spPr bwMode="auto">
                      <a:xfrm>
                        <a:off x="2413" y="3198"/>
                        <a:ext cx="7" cy="19"/>
                      </a:xfrm>
                      <a:custGeom>
                        <a:avLst/>
                        <a:gdLst>
                          <a:gd name="T0" fmla="*/ 31 w 50"/>
                          <a:gd name="T1" fmla="*/ 152 h 152"/>
                          <a:gd name="T2" fmla="*/ 37 w 50"/>
                          <a:gd name="T3" fmla="*/ 128 h 152"/>
                          <a:gd name="T4" fmla="*/ 46 w 50"/>
                          <a:gd name="T5" fmla="*/ 108 h 152"/>
                          <a:gd name="T6" fmla="*/ 37 w 50"/>
                          <a:gd name="T7" fmla="*/ 89 h 152"/>
                          <a:gd name="T8" fmla="*/ 31 w 50"/>
                          <a:gd name="T9" fmla="*/ 68 h 152"/>
                          <a:gd name="T10" fmla="*/ 33 w 50"/>
                          <a:gd name="T11" fmla="*/ 41 h 152"/>
                          <a:gd name="T12" fmla="*/ 38 w 50"/>
                          <a:gd name="T13" fmla="*/ 24 h 152"/>
                          <a:gd name="T14" fmla="*/ 50 w 50"/>
                          <a:gd name="T15" fmla="*/ 0 h 152"/>
                          <a:gd name="T16" fmla="*/ 30 w 50"/>
                          <a:gd name="T17" fmla="*/ 19 h 152"/>
                          <a:gd name="T18" fmla="*/ 14 w 50"/>
                          <a:gd name="T19" fmla="*/ 37 h 152"/>
                          <a:gd name="T20" fmla="*/ 6 w 50"/>
                          <a:gd name="T21" fmla="*/ 56 h 152"/>
                          <a:gd name="T22" fmla="*/ 0 w 50"/>
                          <a:gd name="T23" fmla="*/ 88 h 152"/>
                          <a:gd name="T24" fmla="*/ 6 w 50"/>
                          <a:gd name="T25" fmla="*/ 113 h 152"/>
                          <a:gd name="T26" fmla="*/ 17 w 50"/>
                          <a:gd name="T27" fmla="*/ 135 h 152"/>
                          <a:gd name="T28" fmla="*/ 31 w 50"/>
                          <a:gd name="T29" fmla="*/ 15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 h="152">
                            <a:moveTo>
                              <a:pt x="31" y="152"/>
                            </a:moveTo>
                            <a:lnTo>
                              <a:pt x="37" y="128"/>
                            </a:lnTo>
                            <a:lnTo>
                              <a:pt x="46" y="108"/>
                            </a:lnTo>
                            <a:lnTo>
                              <a:pt x="37" y="89"/>
                            </a:lnTo>
                            <a:lnTo>
                              <a:pt x="31" y="68"/>
                            </a:lnTo>
                            <a:lnTo>
                              <a:pt x="33" y="41"/>
                            </a:lnTo>
                            <a:lnTo>
                              <a:pt x="38" y="24"/>
                            </a:lnTo>
                            <a:lnTo>
                              <a:pt x="50" y="0"/>
                            </a:lnTo>
                            <a:lnTo>
                              <a:pt x="30" y="19"/>
                            </a:lnTo>
                            <a:lnTo>
                              <a:pt x="14" y="37"/>
                            </a:lnTo>
                            <a:lnTo>
                              <a:pt x="6" y="56"/>
                            </a:lnTo>
                            <a:lnTo>
                              <a:pt x="0" y="88"/>
                            </a:lnTo>
                            <a:lnTo>
                              <a:pt x="6" y="113"/>
                            </a:lnTo>
                            <a:lnTo>
                              <a:pt x="17" y="135"/>
                            </a:lnTo>
                            <a:lnTo>
                              <a:pt x="31" y="152"/>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8" name="Freeform 250"/>
                      <p:cNvSpPr/>
                      <p:nvPr/>
                    </p:nvSpPr>
                    <p:spPr bwMode="auto">
                      <a:xfrm>
                        <a:off x="2403" y="3080"/>
                        <a:ext cx="5" cy="10"/>
                      </a:xfrm>
                      <a:custGeom>
                        <a:avLst/>
                        <a:gdLst>
                          <a:gd name="T0" fmla="*/ 37 w 37"/>
                          <a:gd name="T1" fmla="*/ 0 h 81"/>
                          <a:gd name="T2" fmla="*/ 28 w 37"/>
                          <a:gd name="T3" fmla="*/ 14 h 81"/>
                          <a:gd name="T4" fmla="*/ 23 w 37"/>
                          <a:gd name="T5" fmla="*/ 27 h 81"/>
                          <a:gd name="T6" fmla="*/ 18 w 37"/>
                          <a:gd name="T7" fmla="*/ 39 h 81"/>
                          <a:gd name="T8" fmla="*/ 16 w 37"/>
                          <a:gd name="T9" fmla="*/ 52 h 81"/>
                          <a:gd name="T10" fmla="*/ 18 w 37"/>
                          <a:gd name="T11" fmla="*/ 65 h 81"/>
                          <a:gd name="T12" fmla="*/ 20 w 37"/>
                          <a:gd name="T13" fmla="*/ 81 h 81"/>
                          <a:gd name="T14" fmla="*/ 14 w 37"/>
                          <a:gd name="T15" fmla="*/ 69 h 81"/>
                          <a:gd name="T16" fmla="*/ 10 w 37"/>
                          <a:gd name="T17" fmla="*/ 52 h 81"/>
                          <a:gd name="T18" fmla="*/ 7 w 37"/>
                          <a:gd name="T19" fmla="*/ 43 h 81"/>
                          <a:gd name="T20" fmla="*/ 0 w 37"/>
                          <a:gd name="T21" fmla="*/ 33 h 81"/>
                          <a:gd name="T22" fmla="*/ 10 w 37"/>
                          <a:gd name="T23" fmla="*/ 32 h 81"/>
                          <a:gd name="T24" fmla="*/ 18 w 37"/>
                          <a:gd name="T25" fmla="*/ 22 h 81"/>
                          <a:gd name="T26" fmla="*/ 27 w 37"/>
                          <a:gd name="T27" fmla="*/ 11 h 81"/>
                          <a:gd name="T28" fmla="*/ 37 w 37"/>
                          <a:gd name="T29"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81">
                            <a:moveTo>
                              <a:pt x="37" y="0"/>
                            </a:moveTo>
                            <a:lnTo>
                              <a:pt x="28" y="14"/>
                            </a:lnTo>
                            <a:lnTo>
                              <a:pt x="23" y="27"/>
                            </a:lnTo>
                            <a:lnTo>
                              <a:pt x="18" y="39"/>
                            </a:lnTo>
                            <a:lnTo>
                              <a:pt x="16" y="52"/>
                            </a:lnTo>
                            <a:lnTo>
                              <a:pt x="18" y="65"/>
                            </a:lnTo>
                            <a:lnTo>
                              <a:pt x="20" y="81"/>
                            </a:lnTo>
                            <a:lnTo>
                              <a:pt x="14" y="69"/>
                            </a:lnTo>
                            <a:lnTo>
                              <a:pt x="10" y="52"/>
                            </a:lnTo>
                            <a:lnTo>
                              <a:pt x="7" y="43"/>
                            </a:lnTo>
                            <a:lnTo>
                              <a:pt x="0" y="33"/>
                            </a:lnTo>
                            <a:lnTo>
                              <a:pt x="10" y="32"/>
                            </a:lnTo>
                            <a:lnTo>
                              <a:pt x="18" y="22"/>
                            </a:lnTo>
                            <a:lnTo>
                              <a:pt x="27" y="11"/>
                            </a:lnTo>
                            <a:lnTo>
                              <a:pt x="37"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299" name="Group 251"/>
                  <p:cNvGrpSpPr/>
                  <p:nvPr/>
                </p:nvGrpSpPr>
                <p:grpSpPr bwMode="auto">
                  <a:xfrm>
                    <a:off x="2442" y="3102"/>
                    <a:ext cx="18" cy="67"/>
                    <a:chOff x="2442" y="3102"/>
                    <a:chExt cx="18" cy="67"/>
                  </a:xfrm>
                </p:grpSpPr>
                <p:sp>
                  <p:nvSpPr>
                    <p:cNvPr id="642300" name="Freeform 252"/>
                    <p:cNvSpPr/>
                    <p:nvPr/>
                  </p:nvSpPr>
                  <p:spPr bwMode="auto">
                    <a:xfrm>
                      <a:off x="2442" y="3102"/>
                      <a:ext cx="18" cy="67"/>
                    </a:xfrm>
                    <a:custGeom>
                      <a:avLst/>
                      <a:gdLst>
                        <a:gd name="T0" fmla="*/ 5 w 131"/>
                        <a:gd name="T1" fmla="*/ 0 h 528"/>
                        <a:gd name="T2" fmla="*/ 3 w 131"/>
                        <a:gd name="T3" fmla="*/ 10 h 528"/>
                        <a:gd name="T4" fmla="*/ 7 w 131"/>
                        <a:gd name="T5" fmla="*/ 28 h 528"/>
                        <a:gd name="T6" fmla="*/ 9 w 131"/>
                        <a:gd name="T7" fmla="*/ 48 h 528"/>
                        <a:gd name="T8" fmla="*/ 5 w 131"/>
                        <a:gd name="T9" fmla="*/ 68 h 528"/>
                        <a:gd name="T10" fmla="*/ 0 w 131"/>
                        <a:gd name="T11" fmla="*/ 78 h 528"/>
                        <a:gd name="T12" fmla="*/ 3 w 131"/>
                        <a:gd name="T13" fmla="*/ 90 h 528"/>
                        <a:gd name="T14" fmla="*/ 11 w 131"/>
                        <a:gd name="T15" fmla="*/ 96 h 528"/>
                        <a:gd name="T16" fmla="*/ 15 w 131"/>
                        <a:gd name="T17" fmla="*/ 117 h 528"/>
                        <a:gd name="T18" fmla="*/ 16 w 131"/>
                        <a:gd name="T19" fmla="*/ 139 h 528"/>
                        <a:gd name="T20" fmla="*/ 10 w 131"/>
                        <a:gd name="T21" fmla="*/ 150 h 528"/>
                        <a:gd name="T22" fmla="*/ 5 w 131"/>
                        <a:gd name="T23" fmla="*/ 162 h 528"/>
                        <a:gd name="T24" fmla="*/ 9 w 131"/>
                        <a:gd name="T25" fmla="*/ 186 h 528"/>
                        <a:gd name="T26" fmla="*/ 16 w 131"/>
                        <a:gd name="T27" fmla="*/ 208 h 528"/>
                        <a:gd name="T28" fmla="*/ 26 w 131"/>
                        <a:gd name="T29" fmla="*/ 222 h 528"/>
                        <a:gd name="T30" fmla="*/ 34 w 131"/>
                        <a:gd name="T31" fmla="*/ 251 h 528"/>
                        <a:gd name="T32" fmla="*/ 38 w 131"/>
                        <a:gd name="T33" fmla="*/ 284 h 528"/>
                        <a:gd name="T34" fmla="*/ 33 w 131"/>
                        <a:gd name="T35" fmla="*/ 300 h 528"/>
                        <a:gd name="T36" fmla="*/ 30 w 131"/>
                        <a:gd name="T37" fmla="*/ 314 h 528"/>
                        <a:gd name="T38" fmla="*/ 32 w 131"/>
                        <a:gd name="T39" fmla="*/ 330 h 528"/>
                        <a:gd name="T40" fmla="*/ 37 w 131"/>
                        <a:gd name="T41" fmla="*/ 345 h 528"/>
                        <a:gd name="T42" fmla="*/ 42 w 131"/>
                        <a:gd name="T43" fmla="*/ 363 h 528"/>
                        <a:gd name="T44" fmla="*/ 39 w 131"/>
                        <a:gd name="T45" fmla="*/ 445 h 528"/>
                        <a:gd name="T46" fmla="*/ 43 w 131"/>
                        <a:gd name="T47" fmla="*/ 528 h 528"/>
                        <a:gd name="T48" fmla="*/ 129 w 131"/>
                        <a:gd name="T49" fmla="*/ 428 h 528"/>
                        <a:gd name="T50" fmla="*/ 122 w 131"/>
                        <a:gd name="T51" fmla="*/ 375 h 528"/>
                        <a:gd name="T52" fmla="*/ 129 w 131"/>
                        <a:gd name="T53" fmla="*/ 308 h 528"/>
                        <a:gd name="T54" fmla="*/ 131 w 131"/>
                        <a:gd name="T55" fmla="*/ 241 h 528"/>
                        <a:gd name="T56" fmla="*/ 122 w 131"/>
                        <a:gd name="T57" fmla="*/ 162 h 528"/>
                        <a:gd name="T58" fmla="*/ 104 w 131"/>
                        <a:gd name="T59" fmla="*/ 135 h 528"/>
                        <a:gd name="T60" fmla="*/ 88 w 131"/>
                        <a:gd name="T61" fmla="*/ 117 h 528"/>
                        <a:gd name="T62" fmla="*/ 76 w 131"/>
                        <a:gd name="T63" fmla="*/ 101 h 528"/>
                        <a:gd name="T64" fmla="*/ 86 w 131"/>
                        <a:gd name="T65" fmla="*/ 96 h 528"/>
                        <a:gd name="T66" fmla="*/ 92 w 131"/>
                        <a:gd name="T67" fmla="*/ 90 h 528"/>
                        <a:gd name="T68" fmla="*/ 86 w 131"/>
                        <a:gd name="T69" fmla="*/ 68 h 528"/>
                        <a:gd name="T70" fmla="*/ 79 w 131"/>
                        <a:gd name="T71" fmla="*/ 45 h 528"/>
                        <a:gd name="T72" fmla="*/ 70 w 131"/>
                        <a:gd name="T73" fmla="*/ 23 h 528"/>
                        <a:gd name="T74" fmla="*/ 60 w 131"/>
                        <a:gd name="T75" fmla="*/ 0 h 528"/>
                        <a:gd name="T76" fmla="*/ 5 w 131"/>
                        <a:gd name="T77" fmla="*/ 0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1" h="528">
                          <a:moveTo>
                            <a:pt x="5" y="0"/>
                          </a:moveTo>
                          <a:lnTo>
                            <a:pt x="3" y="10"/>
                          </a:lnTo>
                          <a:lnTo>
                            <a:pt x="7" y="28"/>
                          </a:lnTo>
                          <a:lnTo>
                            <a:pt x="9" y="48"/>
                          </a:lnTo>
                          <a:lnTo>
                            <a:pt x="5" y="68"/>
                          </a:lnTo>
                          <a:lnTo>
                            <a:pt x="0" y="78"/>
                          </a:lnTo>
                          <a:lnTo>
                            <a:pt x="3" y="90"/>
                          </a:lnTo>
                          <a:lnTo>
                            <a:pt x="11" y="96"/>
                          </a:lnTo>
                          <a:lnTo>
                            <a:pt x="15" y="117"/>
                          </a:lnTo>
                          <a:lnTo>
                            <a:pt x="16" y="139"/>
                          </a:lnTo>
                          <a:lnTo>
                            <a:pt x="10" y="150"/>
                          </a:lnTo>
                          <a:lnTo>
                            <a:pt x="5" y="162"/>
                          </a:lnTo>
                          <a:lnTo>
                            <a:pt x="9" y="186"/>
                          </a:lnTo>
                          <a:lnTo>
                            <a:pt x="16" y="208"/>
                          </a:lnTo>
                          <a:lnTo>
                            <a:pt x="26" y="222"/>
                          </a:lnTo>
                          <a:lnTo>
                            <a:pt x="34" y="251"/>
                          </a:lnTo>
                          <a:lnTo>
                            <a:pt x="38" y="284"/>
                          </a:lnTo>
                          <a:lnTo>
                            <a:pt x="33" y="300"/>
                          </a:lnTo>
                          <a:lnTo>
                            <a:pt x="30" y="314"/>
                          </a:lnTo>
                          <a:lnTo>
                            <a:pt x="32" y="330"/>
                          </a:lnTo>
                          <a:lnTo>
                            <a:pt x="37" y="345"/>
                          </a:lnTo>
                          <a:lnTo>
                            <a:pt x="42" y="363"/>
                          </a:lnTo>
                          <a:lnTo>
                            <a:pt x="39" y="445"/>
                          </a:lnTo>
                          <a:lnTo>
                            <a:pt x="43" y="528"/>
                          </a:lnTo>
                          <a:lnTo>
                            <a:pt x="129" y="428"/>
                          </a:lnTo>
                          <a:lnTo>
                            <a:pt x="122" y="375"/>
                          </a:lnTo>
                          <a:lnTo>
                            <a:pt x="129" y="308"/>
                          </a:lnTo>
                          <a:lnTo>
                            <a:pt x="131" y="241"/>
                          </a:lnTo>
                          <a:lnTo>
                            <a:pt x="122" y="162"/>
                          </a:lnTo>
                          <a:lnTo>
                            <a:pt x="104" y="135"/>
                          </a:lnTo>
                          <a:lnTo>
                            <a:pt x="88" y="117"/>
                          </a:lnTo>
                          <a:lnTo>
                            <a:pt x="76" y="101"/>
                          </a:lnTo>
                          <a:lnTo>
                            <a:pt x="86" y="96"/>
                          </a:lnTo>
                          <a:lnTo>
                            <a:pt x="92" y="90"/>
                          </a:lnTo>
                          <a:lnTo>
                            <a:pt x="86" y="68"/>
                          </a:lnTo>
                          <a:lnTo>
                            <a:pt x="79" y="45"/>
                          </a:lnTo>
                          <a:lnTo>
                            <a:pt x="70" y="23"/>
                          </a:lnTo>
                          <a:lnTo>
                            <a:pt x="60" y="0"/>
                          </a:lnTo>
                          <a:lnTo>
                            <a:pt x="5" y="0"/>
                          </a:lnTo>
                          <a:close/>
                        </a:path>
                      </a:pathLst>
                    </a:custGeom>
                    <a:solidFill>
                      <a:srgbClr val="000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1" name="Freeform 253"/>
                    <p:cNvSpPr/>
                    <p:nvPr/>
                  </p:nvSpPr>
                  <p:spPr bwMode="auto">
                    <a:xfrm>
                      <a:off x="2449" y="3114"/>
                      <a:ext cx="9" cy="8"/>
                    </a:xfrm>
                    <a:custGeom>
                      <a:avLst/>
                      <a:gdLst>
                        <a:gd name="T0" fmla="*/ 68 w 68"/>
                        <a:gd name="T1" fmla="*/ 69 h 69"/>
                        <a:gd name="T2" fmla="*/ 33 w 68"/>
                        <a:gd name="T3" fmla="*/ 45 h 69"/>
                        <a:gd name="T4" fmla="*/ 0 w 68"/>
                        <a:gd name="T5" fmla="*/ 27 h 69"/>
                        <a:gd name="T6" fmla="*/ 8 w 68"/>
                        <a:gd name="T7" fmla="*/ 0 h 69"/>
                        <a:gd name="T8" fmla="*/ 27 w 68"/>
                        <a:gd name="T9" fmla="*/ 14 h 69"/>
                        <a:gd name="T10" fmla="*/ 37 w 68"/>
                        <a:gd name="T11" fmla="*/ 25 h 69"/>
                        <a:gd name="T12" fmla="*/ 56 w 68"/>
                        <a:gd name="T13" fmla="*/ 46 h 69"/>
                        <a:gd name="T14" fmla="*/ 68 w 68"/>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69">
                          <a:moveTo>
                            <a:pt x="68" y="69"/>
                          </a:moveTo>
                          <a:lnTo>
                            <a:pt x="33" y="45"/>
                          </a:lnTo>
                          <a:lnTo>
                            <a:pt x="0" y="27"/>
                          </a:lnTo>
                          <a:lnTo>
                            <a:pt x="8" y="0"/>
                          </a:lnTo>
                          <a:lnTo>
                            <a:pt x="27" y="14"/>
                          </a:lnTo>
                          <a:lnTo>
                            <a:pt x="37" y="25"/>
                          </a:lnTo>
                          <a:lnTo>
                            <a:pt x="56" y="46"/>
                          </a:lnTo>
                          <a:lnTo>
                            <a:pt x="68" y="69"/>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2" name="Freeform 254"/>
                    <p:cNvSpPr/>
                    <p:nvPr/>
                  </p:nvSpPr>
                  <p:spPr bwMode="auto">
                    <a:xfrm>
                      <a:off x="2443" y="3114"/>
                      <a:ext cx="17" cy="23"/>
                    </a:xfrm>
                    <a:custGeom>
                      <a:avLst/>
                      <a:gdLst>
                        <a:gd name="T0" fmla="*/ 5 w 121"/>
                        <a:gd name="T1" fmla="*/ 48 h 189"/>
                        <a:gd name="T2" fmla="*/ 3 w 121"/>
                        <a:gd name="T3" fmla="*/ 30 h 189"/>
                        <a:gd name="T4" fmla="*/ 0 w 121"/>
                        <a:gd name="T5" fmla="*/ 0 h 189"/>
                        <a:gd name="T6" fmla="*/ 10 w 121"/>
                        <a:gd name="T7" fmla="*/ 32 h 189"/>
                        <a:gd name="T8" fmla="*/ 19 w 121"/>
                        <a:gd name="T9" fmla="*/ 51 h 189"/>
                        <a:gd name="T10" fmla="*/ 41 w 121"/>
                        <a:gd name="T11" fmla="*/ 80 h 189"/>
                        <a:gd name="T12" fmla="*/ 59 w 121"/>
                        <a:gd name="T13" fmla="*/ 98 h 189"/>
                        <a:gd name="T14" fmla="*/ 91 w 121"/>
                        <a:gd name="T15" fmla="*/ 125 h 189"/>
                        <a:gd name="T16" fmla="*/ 121 w 121"/>
                        <a:gd name="T17" fmla="*/ 150 h 189"/>
                        <a:gd name="T18" fmla="*/ 121 w 121"/>
                        <a:gd name="T19" fmla="*/ 189 h 189"/>
                        <a:gd name="T20" fmla="*/ 90 w 121"/>
                        <a:gd name="T21" fmla="*/ 162 h 189"/>
                        <a:gd name="T22" fmla="*/ 59 w 121"/>
                        <a:gd name="T23" fmla="*/ 138 h 189"/>
                        <a:gd name="T24" fmla="*/ 39 w 121"/>
                        <a:gd name="T25" fmla="*/ 123 h 189"/>
                        <a:gd name="T26" fmla="*/ 41 w 121"/>
                        <a:gd name="T27" fmla="*/ 108 h 189"/>
                        <a:gd name="T28" fmla="*/ 38 w 121"/>
                        <a:gd name="T29" fmla="*/ 88 h 189"/>
                        <a:gd name="T30" fmla="*/ 23 w 121"/>
                        <a:gd name="T31" fmla="*/ 72 h 189"/>
                        <a:gd name="T32" fmla="*/ 5 w 121"/>
                        <a:gd name="T33" fmla="*/ 48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1" h="189">
                          <a:moveTo>
                            <a:pt x="5" y="48"/>
                          </a:moveTo>
                          <a:lnTo>
                            <a:pt x="3" y="30"/>
                          </a:lnTo>
                          <a:lnTo>
                            <a:pt x="0" y="0"/>
                          </a:lnTo>
                          <a:lnTo>
                            <a:pt x="10" y="32"/>
                          </a:lnTo>
                          <a:lnTo>
                            <a:pt x="19" y="51"/>
                          </a:lnTo>
                          <a:lnTo>
                            <a:pt x="41" y="80"/>
                          </a:lnTo>
                          <a:lnTo>
                            <a:pt x="59" y="98"/>
                          </a:lnTo>
                          <a:lnTo>
                            <a:pt x="91" y="125"/>
                          </a:lnTo>
                          <a:lnTo>
                            <a:pt x="121" y="150"/>
                          </a:lnTo>
                          <a:lnTo>
                            <a:pt x="121" y="189"/>
                          </a:lnTo>
                          <a:lnTo>
                            <a:pt x="90" y="162"/>
                          </a:lnTo>
                          <a:lnTo>
                            <a:pt x="59" y="138"/>
                          </a:lnTo>
                          <a:lnTo>
                            <a:pt x="39" y="123"/>
                          </a:lnTo>
                          <a:lnTo>
                            <a:pt x="41" y="108"/>
                          </a:lnTo>
                          <a:lnTo>
                            <a:pt x="38" y="88"/>
                          </a:lnTo>
                          <a:lnTo>
                            <a:pt x="23" y="72"/>
                          </a:lnTo>
                          <a:lnTo>
                            <a:pt x="5" y="48"/>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3" name="Freeform 255"/>
                    <p:cNvSpPr/>
                    <p:nvPr/>
                  </p:nvSpPr>
                  <p:spPr bwMode="auto">
                    <a:xfrm>
                      <a:off x="2445" y="3138"/>
                      <a:ext cx="15" cy="17"/>
                    </a:xfrm>
                    <a:custGeom>
                      <a:avLst/>
                      <a:gdLst>
                        <a:gd name="T0" fmla="*/ 9 w 101"/>
                        <a:gd name="T1" fmla="*/ 0 h 133"/>
                        <a:gd name="T2" fmla="*/ 3 w 101"/>
                        <a:gd name="T3" fmla="*/ 12 h 133"/>
                        <a:gd name="T4" fmla="*/ 0 w 101"/>
                        <a:gd name="T5" fmla="*/ 26 h 133"/>
                        <a:gd name="T6" fmla="*/ 20 w 101"/>
                        <a:gd name="T7" fmla="*/ 31 h 133"/>
                        <a:gd name="T8" fmla="*/ 15 w 101"/>
                        <a:gd name="T9" fmla="*/ 64 h 133"/>
                        <a:gd name="T10" fmla="*/ 56 w 101"/>
                        <a:gd name="T11" fmla="*/ 93 h 133"/>
                        <a:gd name="T12" fmla="*/ 101 w 101"/>
                        <a:gd name="T13" fmla="*/ 133 h 133"/>
                        <a:gd name="T14" fmla="*/ 97 w 101"/>
                        <a:gd name="T15" fmla="*/ 89 h 133"/>
                        <a:gd name="T16" fmla="*/ 98 w 101"/>
                        <a:gd name="T17" fmla="*/ 73 h 133"/>
                        <a:gd name="T18" fmla="*/ 59 w 101"/>
                        <a:gd name="T19" fmla="*/ 41 h 133"/>
                        <a:gd name="T20" fmla="*/ 9 w 101"/>
                        <a:gd name="T21" fmla="*/ 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1" h="133">
                          <a:moveTo>
                            <a:pt x="9" y="0"/>
                          </a:moveTo>
                          <a:lnTo>
                            <a:pt x="3" y="12"/>
                          </a:lnTo>
                          <a:lnTo>
                            <a:pt x="0" y="26"/>
                          </a:lnTo>
                          <a:lnTo>
                            <a:pt x="20" y="31"/>
                          </a:lnTo>
                          <a:lnTo>
                            <a:pt x="15" y="64"/>
                          </a:lnTo>
                          <a:lnTo>
                            <a:pt x="56" y="93"/>
                          </a:lnTo>
                          <a:lnTo>
                            <a:pt x="101" y="133"/>
                          </a:lnTo>
                          <a:lnTo>
                            <a:pt x="97" y="89"/>
                          </a:lnTo>
                          <a:lnTo>
                            <a:pt x="98" y="73"/>
                          </a:lnTo>
                          <a:lnTo>
                            <a:pt x="59" y="41"/>
                          </a:lnTo>
                          <a:lnTo>
                            <a:pt x="9" y="0"/>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4" name="Freeform 256"/>
                    <p:cNvSpPr/>
                    <p:nvPr/>
                  </p:nvSpPr>
                  <p:spPr bwMode="auto">
                    <a:xfrm>
                      <a:off x="2443" y="3114"/>
                      <a:ext cx="8" cy="3"/>
                    </a:xfrm>
                    <a:custGeom>
                      <a:avLst/>
                      <a:gdLst>
                        <a:gd name="T0" fmla="*/ 0 w 54"/>
                        <a:gd name="T1" fmla="*/ 5 h 23"/>
                        <a:gd name="T2" fmla="*/ 25 w 54"/>
                        <a:gd name="T3" fmla="*/ 11 h 23"/>
                        <a:gd name="T4" fmla="*/ 40 w 54"/>
                        <a:gd name="T5" fmla="*/ 9 h 23"/>
                        <a:gd name="T6" fmla="*/ 54 w 54"/>
                        <a:gd name="T7" fmla="*/ 0 h 23"/>
                        <a:gd name="T8" fmla="*/ 45 w 54"/>
                        <a:gd name="T9" fmla="*/ 13 h 23"/>
                        <a:gd name="T10" fmla="*/ 36 w 54"/>
                        <a:gd name="T11" fmla="*/ 20 h 23"/>
                        <a:gd name="T12" fmla="*/ 23 w 54"/>
                        <a:gd name="T13" fmla="*/ 23 h 23"/>
                        <a:gd name="T14" fmla="*/ 0 w 54"/>
                        <a:gd name="T15" fmla="*/ 5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23">
                          <a:moveTo>
                            <a:pt x="0" y="5"/>
                          </a:moveTo>
                          <a:lnTo>
                            <a:pt x="25" y="11"/>
                          </a:lnTo>
                          <a:lnTo>
                            <a:pt x="40" y="9"/>
                          </a:lnTo>
                          <a:lnTo>
                            <a:pt x="54" y="0"/>
                          </a:lnTo>
                          <a:lnTo>
                            <a:pt x="45" y="13"/>
                          </a:lnTo>
                          <a:lnTo>
                            <a:pt x="36" y="20"/>
                          </a:lnTo>
                          <a:lnTo>
                            <a:pt x="23" y="23"/>
                          </a:lnTo>
                          <a:lnTo>
                            <a:pt x="0" y="5"/>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nvGrpSpPr>
              <p:cNvPr id="642305" name="Group 257"/>
              <p:cNvGrpSpPr/>
              <p:nvPr/>
            </p:nvGrpSpPr>
            <p:grpSpPr bwMode="auto">
              <a:xfrm>
                <a:off x="2398" y="3018"/>
                <a:ext cx="78" cy="88"/>
                <a:chOff x="2398" y="3018"/>
                <a:chExt cx="78" cy="88"/>
              </a:xfrm>
            </p:grpSpPr>
            <p:grpSp>
              <p:nvGrpSpPr>
                <p:cNvPr id="642306" name="Group 258"/>
                <p:cNvGrpSpPr/>
                <p:nvPr/>
              </p:nvGrpSpPr>
              <p:grpSpPr bwMode="auto">
                <a:xfrm>
                  <a:off x="2405" y="3044"/>
                  <a:ext cx="70" cy="62"/>
                  <a:chOff x="2405" y="3044"/>
                  <a:chExt cx="70" cy="62"/>
                </a:xfrm>
              </p:grpSpPr>
              <p:sp>
                <p:nvSpPr>
                  <p:cNvPr id="642307" name="Freeform 259"/>
                  <p:cNvSpPr/>
                  <p:nvPr/>
                </p:nvSpPr>
                <p:spPr bwMode="auto">
                  <a:xfrm>
                    <a:off x="2405" y="3044"/>
                    <a:ext cx="70" cy="62"/>
                  </a:xfrm>
                  <a:custGeom>
                    <a:avLst/>
                    <a:gdLst>
                      <a:gd name="T0" fmla="*/ 445 w 496"/>
                      <a:gd name="T1" fmla="*/ 18 h 497"/>
                      <a:gd name="T2" fmla="*/ 476 w 496"/>
                      <a:gd name="T3" fmla="*/ 47 h 497"/>
                      <a:gd name="T4" fmla="*/ 482 w 496"/>
                      <a:gd name="T5" fmla="*/ 60 h 497"/>
                      <a:gd name="T6" fmla="*/ 490 w 496"/>
                      <a:gd name="T7" fmla="*/ 88 h 497"/>
                      <a:gd name="T8" fmla="*/ 496 w 496"/>
                      <a:gd name="T9" fmla="*/ 116 h 497"/>
                      <a:gd name="T10" fmla="*/ 494 w 496"/>
                      <a:gd name="T11" fmla="*/ 143 h 497"/>
                      <a:gd name="T12" fmla="*/ 486 w 496"/>
                      <a:gd name="T13" fmla="*/ 156 h 497"/>
                      <a:gd name="T14" fmla="*/ 481 w 496"/>
                      <a:gd name="T15" fmla="*/ 166 h 497"/>
                      <a:gd name="T16" fmla="*/ 483 w 496"/>
                      <a:gd name="T17" fmla="*/ 186 h 497"/>
                      <a:gd name="T18" fmla="*/ 486 w 496"/>
                      <a:gd name="T19" fmla="*/ 199 h 497"/>
                      <a:gd name="T20" fmla="*/ 483 w 496"/>
                      <a:gd name="T21" fmla="*/ 219 h 497"/>
                      <a:gd name="T22" fmla="*/ 478 w 496"/>
                      <a:gd name="T23" fmla="*/ 233 h 497"/>
                      <a:gd name="T24" fmla="*/ 468 w 496"/>
                      <a:gd name="T25" fmla="*/ 247 h 497"/>
                      <a:gd name="T26" fmla="*/ 462 w 496"/>
                      <a:gd name="T27" fmla="*/ 256 h 497"/>
                      <a:gd name="T28" fmla="*/ 462 w 496"/>
                      <a:gd name="T29" fmla="*/ 287 h 497"/>
                      <a:gd name="T30" fmla="*/ 466 w 496"/>
                      <a:gd name="T31" fmla="*/ 308 h 497"/>
                      <a:gd name="T32" fmla="*/ 466 w 496"/>
                      <a:gd name="T33" fmla="*/ 319 h 497"/>
                      <a:gd name="T34" fmla="*/ 448 w 496"/>
                      <a:gd name="T35" fmla="*/ 325 h 497"/>
                      <a:gd name="T36" fmla="*/ 440 w 496"/>
                      <a:gd name="T37" fmla="*/ 328 h 497"/>
                      <a:gd name="T38" fmla="*/ 437 w 496"/>
                      <a:gd name="T39" fmla="*/ 353 h 497"/>
                      <a:gd name="T40" fmla="*/ 437 w 496"/>
                      <a:gd name="T41" fmla="*/ 365 h 497"/>
                      <a:gd name="T42" fmla="*/ 418 w 496"/>
                      <a:gd name="T43" fmla="*/ 377 h 497"/>
                      <a:gd name="T44" fmla="*/ 418 w 496"/>
                      <a:gd name="T45" fmla="*/ 383 h 497"/>
                      <a:gd name="T46" fmla="*/ 422 w 496"/>
                      <a:gd name="T47" fmla="*/ 398 h 497"/>
                      <a:gd name="T48" fmla="*/ 416 w 496"/>
                      <a:gd name="T49" fmla="*/ 410 h 497"/>
                      <a:gd name="T50" fmla="*/ 413 w 496"/>
                      <a:gd name="T51" fmla="*/ 416 h 497"/>
                      <a:gd name="T52" fmla="*/ 411 w 496"/>
                      <a:gd name="T53" fmla="*/ 430 h 497"/>
                      <a:gd name="T54" fmla="*/ 416 w 496"/>
                      <a:gd name="T55" fmla="*/ 446 h 497"/>
                      <a:gd name="T56" fmla="*/ 418 w 496"/>
                      <a:gd name="T57" fmla="*/ 463 h 497"/>
                      <a:gd name="T58" fmla="*/ 416 w 496"/>
                      <a:gd name="T59" fmla="*/ 474 h 497"/>
                      <a:gd name="T60" fmla="*/ 410 w 496"/>
                      <a:gd name="T61" fmla="*/ 483 h 497"/>
                      <a:gd name="T62" fmla="*/ 399 w 496"/>
                      <a:gd name="T63" fmla="*/ 491 h 497"/>
                      <a:gd name="T64" fmla="*/ 382 w 496"/>
                      <a:gd name="T65" fmla="*/ 493 h 497"/>
                      <a:gd name="T66" fmla="*/ 354 w 496"/>
                      <a:gd name="T67" fmla="*/ 494 h 497"/>
                      <a:gd name="T68" fmla="*/ 321 w 496"/>
                      <a:gd name="T69" fmla="*/ 497 h 497"/>
                      <a:gd name="T70" fmla="*/ 295 w 496"/>
                      <a:gd name="T71" fmla="*/ 491 h 497"/>
                      <a:gd name="T72" fmla="*/ 269 w 496"/>
                      <a:gd name="T73" fmla="*/ 490 h 497"/>
                      <a:gd name="T74" fmla="*/ 237 w 496"/>
                      <a:gd name="T75" fmla="*/ 479 h 497"/>
                      <a:gd name="T76" fmla="*/ 193 w 496"/>
                      <a:gd name="T77" fmla="*/ 460 h 497"/>
                      <a:gd name="T78" fmla="*/ 158 w 496"/>
                      <a:gd name="T79" fmla="*/ 442 h 497"/>
                      <a:gd name="T80" fmla="*/ 123 w 496"/>
                      <a:gd name="T81" fmla="*/ 416 h 497"/>
                      <a:gd name="T82" fmla="*/ 92 w 496"/>
                      <a:gd name="T83" fmla="*/ 384 h 497"/>
                      <a:gd name="T84" fmla="*/ 62 w 496"/>
                      <a:gd name="T85" fmla="*/ 347 h 497"/>
                      <a:gd name="T86" fmla="*/ 24 w 496"/>
                      <a:gd name="T87" fmla="*/ 293 h 497"/>
                      <a:gd name="T88" fmla="*/ 20 w 496"/>
                      <a:gd name="T89" fmla="*/ 273 h 497"/>
                      <a:gd name="T90" fmla="*/ 35 w 496"/>
                      <a:gd name="T91" fmla="*/ 245 h 497"/>
                      <a:gd name="T92" fmla="*/ 0 w 496"/>
                      <a:gd name="T93" fmla="*/ 173 h 497"/>
                      <a:gd name="T94" fmla="*/ 32 w 496"/>
                      <a:gd name="T95" fmla="*/ 113 h 497"/>
                      <a:gd name="T96" fmla="*/ 121 w 496"/>
                      <a:gd name="T97" fmla="*/ 137 h 497"/>
                      <a:gd name="T98" fmla="*/ 195 w 496"/>
                      <a:gd name="T99" fmla="*/ 98 h 497"/>
                      <a:gd name="T100" fmla="*/ 197 w 496"/>
                      <a:gd name="T101" fmla="*/ 38 h 497"/>
                      <a:gd name="T102" fmla="*/ 295 w 496"/>
                      <a:gd name="T103" fmla="*/ 0 h 497"/>
                      <a:gd name="T104" fmla="*/ 371 w 496"/>
                      <a:gd name="T105" fmla="*/ 0 h 497"/>
                      <a:gd name="T106" fmla="*/ 445 w 496"/>
                      <a:gd name="T107" fmla="*/ 18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96" h="497">
                        <a:moveTo>
                          <a:pt x="445" y="18"/>
                        </a:moveTo>
                        <a:lnTo>
                          <a:pt x="476" y="47"/>
                        </a:lnTo>
                        <a:lnTo>
                          <a:pt x="482" y="60"/>
                        </a:lnTo>
                        <a:lnTo>
                          <a:pt x="490" y="88"/>
                        </a:lnTo>
                        <a:lnTo>
                          <a:pt x="496" y="116"/>
                        </a:lnTo>
                        <a:lnTo>
                          <a:pt x="494" y="143"/>
                        </a:lnTo>
                        <a:lnTo>
                          <a:pt x="486" y="156"/>
                        </a:lnTo>
                        <a:lnTo>
                          <a:pt x="481" y="166"/>
                        </a:lnTo>
                        <a:lnTo>
                          <a:pt x="483" y="186"/>
                        </a:lnTo>
                        <a:lnTo>
                          <a:pt x="486" y="199"/>
                        </a:lnTo>
                        <a:lnTo>
                          <a:pt x="483" y="219"/>
                        </a:lnTo>
                        <a:lnTo>
                          <a:pt x="478" y="233"/>
                        </a:lnTo>
                        <a:lnTo>
                          <a:pt x="468" y="247"/>
                        </a:lnTo>
                        <a:lnTo>
                          <a:pt x="462" y="256"/>
                        </a:lnTo>
                        <a:lnTo>
                          <a:pt x="462" y="287"/>
                        </a:lnTo>
                        <a:lnTo>
                          <a:pt x="466" y="308"/>
                        </a:lnTo>
                        <a:lnTo>
                          <a:pt x="466" y="319"/>
                        </a:lnTo>
                        <a:lnTo>
                          <a:pt x="448" y="325"/>
                        </a:lnTo>
                        <a:lnTo>
                          <a:pt x="440" y="328"/>
                        </a:lnTo>
                        <a:lnTo>
                          <a:pt x="437" y="353"/>
                        </a:lnTo>
                        <a:lnTo>
                          <a:pt x="437" y="365"/>
                        </a:lnTo>
                        <a:lnTo>
                          <a:pt x="418" y="377"/>
                        </a:lnTo>
                        <a:lnTo>
                          <a:pt x="418" y="383"/>
                        </a:lnTo>
                        <a:lnTo>
                          <a:pt x="422" y="398"/>
                        </a:lnTo>
                        <a:lnTo>
                          <a:pt x="416" y="410"/>
                        </a:lnTo>
                        <a:lnTo>
                          <a:pt x="413" y="416"/>
                        </a:lnTo>
                        <a:lnTo>
                          <a:pt x="411" y="430"/>
                        </a:lnTo>
                        <a:lnTo>
                          <a:pt x="416" y="446"/>
                        </a:lnTo>
                        <a:lnTo>
                          <a:pt x="418" y="463"/>
                        </a:lnTo>
                        <a:lnTo>
                          <a:pt x="416" y="474"/>
                        </a:lnTo>
                        <a:lnTo>
                          <a:pt x="410" y="483"/>
                        </a:lnTo>
                        <a:lnTo>
                          <a:pt x="399" y="491"/>
                        </a:lnTo>
                        <a:lnTo>
                          <a:pt x="382" y="493"/>
                        </a:lnTo>
                        <a:lnTo>
                          <a:pt x="354" y="494"/>
                        </a:lnTo>
                        <a:lnTo>
                          <a:pt x="321" y="497"/>
                        </a:lnTo>
                        <a:lnTo>
                          <a:pt x="295" y="491"/>
                        </a:lnTo>
                        <a:lnTo>
                          <a:pt x="269" y="490"/>
                        </a:lnTo>
                        <a:lnTo>
                          <a:pt x="237" y="479"/>
                        </a:lnTo>
                        <a:lnTo>
                          <a:pt x="193" y="460"/>
                        </a:lnTo>
                        <a:lnTo>
                          <a:pt x="158" y="442"/>
                        </a:lnTo>
                        <a:lnTo>
                          <a:pt x="123" y="416"/>
                        </a:lnTo>
                        <a:lnTo>
                          <a:pt x="92" y="384"/>
                        </a:lnTo>
                        <a:lnTo>
                          <a:pt x="62" y="347"/>
                        </a:lnTo>
                        <a:lnTo>
                          <a:pt x="24" y="293"/>
                        </a:lnTo>
                        <a:lnTo>
                          <a:pt x="20" y="273"/>
                        </a:lnTo>
                        <a:lnTo>
                          <a:pt x="35" y="245"/>
                        </a:lnTo>
                        <a:lnTo>
                          <a:pt x="0" y="173"/>
                        </a:lnTo>
                        <a:lnTo>
                          <a:pt x="32" y="113"/>
                        </a:lnTo>
                        <a:lnTo>
                          <a:pt x="121" y="137"/>
                        </a:lnTo>
                        <a:lnTo>
                          <a:pt x="195" y="98"/>
                        </a:lnTo>
                        <a:lnTo>
                          <a:pt x="197" y="38"/>
                        </a:lnTo>
                        <a:lnTo>
                          <a:pt x="295" y="0"/>
                        </a:lnTo>
                        <a:lnTo>
                          <a:pt x="371" y="0"/>
                        </a:lnTo>
                        <a:lnTo>
                          <a:pt x="445" y="18"/>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308" name="Group 260"/>
                  <p:cNvGrpSpPr/>
                  <p:nvPr/>
                </p:nvGrpSpPr>
                <p:grpSpPr bwMode="auto">
                  <a:xfrm>
                    <a:off x="2416" y="3061"/>
                    <a:ext cx="59" cy="45"/>
                    <a:chOff x="2416" y="3061"/>
                    <a:chExt cx="59" cy="45"/>
                  </a:xfrm>
                </p:grpSpPr>
                <p:grpSp>
                  <p:nvGrpSpPr>
                    <p:cNvPr id="642309" name="Group 261"/>
                    <p:cNvGrpSpPr/>
                    <p:nvPr/>
                  </p:nvGrpSpPr>
                  <p:grpSpPr bwMode="auto">
                    <a:xfrm>
                      <a:off x="2438" y="3061"/>
                      <a:ext cx="37" cy="15"/>
                      <a:chOff x="2438" y="3061"/>
                      <a:chExt cx="37" cy="15"/>
                    </a:xfrm>
                  </p:grpSpPr>
                  <p:grpSp>
                    <p:nvGrpSpPr>
                      <p:cNvPr id="642310" name="Group 262"/>
                      <p:cNvGrpSpPr/>
                      <p:nvPr/>
                    </p:nvGrpSpPr>
                    <p:grpSpPr bwMode="auto">
                      <a:xfrm>
                        <a:off x="2465" y="3061"/>
                        <a:ext cx="10" cy="11"/>
                        <a:chOff x="2465" y="3061"/>
                        <a:chExt cx="10" cy="11"/>
                      </a:xfrm>
                    </p:grpSpPr>
                    <p:sp>
                      <p:nvSpPr>
                        <p:cNvPr id="642311" name="Freeform 263"/>
                        <p:cNvSpPr/>
                        <p:nvPr/>
                      </p:nvSpPr>
                      <p:spPr bwMode="auto">
                        <a:xfrm>
                          <a:off x="2465" y="3061"/>
                          <a:ext cx="10" cy="11"/>
                        </a:xfrm>
                        <a:custGeom>
                          <a:avLst/>
                          <a:gdLst>
                            <a:gd name="T0" fmla="*/ 19 w 69"/>
                            <a:gd name="T1" fmla="*/ 82 h 84"/>
                            <a:gd name="T2" fmla="*/ 6 w 69"/>
                            <a:gd name="T3" fmla="*/ 84 h 84"/>
                            <a:gd name="T4" fmla="*/ 0 w 69"/>
                            <a:gd name="T5" fmla="*/ 70 h 84"/>
                            <a:gd name="T6" fmla="*/ 0 w 69"/>
                            <a:gd name="T7" fmla="*/ 50 h 84"/>
                            <a:gd name="T8" fmla="*/ 6 w 69"/>
                            <a:gd name="T9" fmla="*/ 28 h 84"/>
                            <a:gd name="T10" fmla="*/ 16 w 69"/>
                            <a:gd name="T11" fmla="*/ 12 h 84"/>
                            <a:gd name="T12" fmla="*/ 33 w 69"/>
                            <a:gd name="T13" fmla="*/ 3 h 84"/>
                            <a:gd name="T14" fmla="*/ 51 w 69"/>
                            <a:gd name="T15" fmla="*/ 0 h 84"/>
                            <a:gd name="T16" fmla="*/ 69 w 69"/>
                            <a:gd name="T17" fmla="*/ 4 h 84"/>
                            <a:gd name="T18" fmla="*/ 62 w 69"/>
                            <a:gd name="T19" fmla="*/ 16 h 84"/>
                            <a:gd name="T20" fmla="*/ 54 w 69"/>
                            <a:gd name="T21" fmla="*/ 30 h 84"/>
                            <a:gd name="T22" fmla="*/ 57 w 69"/>
                            <a:gd name="T23" fmla="*/ 52 h 84"/>
                            <a:gd name="T24" fmla="*/ 42 w 69"/>
                            <a:gd name="T25" fmla="*/ 57 h 84"/>
                            <a:gd name="T26" fmla="*/ 27 w 69"/>
                            <a:gd name="T27" fmla="*/ 69 h 84"/>
                            <a:gd name="T28" fmla="*/ 19 w 69"/>
                            <a:gd name="T29" fmla="*/ 8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 h="84">
                              <a:moveTo>
                                <a:pt x="19" y="82"/>
                              </a:moveTo>
                              <a:lnTo>
                                <a:pt x="6" y="84"/>
                              </a:lnTo>
                              <a:lnTo>
                                <a:pt x="0" y="70"/>
                              </a:lnTo>
                              <a:lnTo>
                                <a:pt x="0" y="50"/>
                              </a:lnTo>
                              <a:lnTo>
                                <a:pt x="6" y="28"/>
                              </a:lnTo>
                              <a:lnTo>
                                <a:pt x="16" y="12"/>
                              </a:lnTo>
                              <a:lnTo>
                                <a:pt x="33" y="3"/>
                              </a:lnTo>
                              <a:lnTo>
                                <a:pt x="51" y="0"/>
                              </a:lnTo>
                              <a:lnTo>
                                <a:pt x="69" y="4"/>
                              </a:lnTo>
                              <a:lnTo>
                                <a:pt x="62" y="16"/>
                              </a:lnTo>
                              <a:lnTo>
                                <a:pt x="54" y="30"/>
                              </a:lnTo>
                              <a:lnTo>
                                <a:pt x="57" y="52"/>
                              </a:lnTo>
                              <a:lnTo>
                                <a:pt x="42" y="57"/>
                              </a:lnTo>
                              <a:lnTo>
                                <a:pt x="27" y="69"/>
                              </a:lnTo>
                              <a:lnTo>
                                <a:pt x="19" y="82"/>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2" name="Freeform 264"/>
                        <p:cNvSpPr/>
                        <p:nvPr/>
                      </p:nvSpPr>
                      <p:spPr bwMode="auto">
                        <a:xfrm>
                          <a:off x="2466" y="3067"/>
                          <a:ext cx="9" cy="4"/>
                        </a:xfrm>
                        <a:custGeom>
                          <a:avLst/>
                          <a:gdLst>
                            <a:gd name="T0" fmla="*/ 0 w 61"/>
                            <a:gd name="T1" fmla="*/ 4 h 30"/>
                            <a:gd name="T2" fmla="*/ 17 w 61"/>
                            <a:gd name="T3" fmla="*/ 11 h 30"/>
                            <a:gd name="T4" fmla="*/ 34 w 61"/>
                            <a:gd name="T5" fmla="*/ 18 h 30"/>
                            <a:gd name="T6" fmla="*/ 47 w 61"/>
                            <a:gd name="T7" fmla="*/ 22 h 30"/>
                            <a:gd name="T8" fmla="*/ 61 w 61"/>
                            <a:gd name="T9" fmla="*/ 30 h 30"/>
                            <a:gd name="T10" fmla="*/ 54 w 61"/>
                            <a:gd name="T11" fmla="*/ 13 h 30"/>
                            <a:gd name="T12" fmla="*/ 52 w 61"/>
                            <a:gd name="T13" fmla="*/ 0 h 30"/>
                            <a:gd name="T14" fmla="*/ 44 w 61"/>
                            <a:gd name="T15" fmla="*/ 4 h 30"/>
                            <a:gd name="T16" fmla="*/ 32 w 61"/>
                            <a:gd name="T17" fmla="*/ 9 h 30"/>
                            <a:gd name="T18" fmla="*/ 21 w 61"/>
                            <a:gd name="T19" fmla="*/ 8 h 30"/>
                            <a:gd name="T20" fmla="*/ 0 w 61"/>
                            <a:gd name="T21" fmla="*/ 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30">
                              <a:moveTo>
                                <a:pt x="0" y="4"/>
                              </a:moveTo>
                              <a:lnTo>
                                <a:pt x="17" y="11"/>
                              </a:lnTo>
                              <a:lnTo>
                                <a:pt x="34" y="18"/>
                              </a:lnTo>
                              <a:lnTo>
                                <a:pt x="47" y="22"/>
                              </a:lnTo>
                              <a:lnTo>
                                <a:pt x="61" y="30"/>
                              </a:lnTo>
                              <a:lnTo>
                                <a:pt x="54" y="13"/>
                              </a:lnTo>
                              <a:lnTo>
                                <a:pt x="52" y="0"/>
                              </a:lnTo>
                              <a:lnTo>
                                <a:pt x="44" y="4"/>
                              </a:lnTo>
                              <a:lnTo>
                                <a:pt x="32" y="9"/>
                              </a:lnTo>
                              <a:lnTo>
                                <a:pt x="21" y="8"/>
                              </a:lnTo>
                              <a:lnTo>
                                <a:pt x="0" y="4"/>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3" name="Freeform 265"/>
                        <p:cNvSpPr/>
                        <p:nvPr/>
                      </p:nvSpPr>
                      <p:spPr bwMode="auto">
                        <a:xfrm>
                          <a:off x="2466" y="3061"/>
                          <a:ext cx="9" cy="5"/>
                        </a:xfrm>
                        <a:custGeom>
                          <a:avLst/>
                          <a:gdLst>
                            <a:gd name="T0" fmla="*/ 67 w 67"/>
                            <a:gd name="T1" fmla="*/ 4 h 36"/>
                            <a:gd name="T2" fmla="*/ 53 w 67"/>
                            <a:gd name="T3" fmla="*/ 0 h 36"/>
                            <a:gd name="T4" fmla="*/ 41 w 67"/>
                            <a:gd name="T5" fmla="*/ 0 h 36"/>
                            <a:gd name="T6" fmla="*/ 24 w 67"/>
                            <a:gd name="T7" fmla="*/ 5 h 36"/>
                            <a:gd name="T8" fmla="*/ 13 w 67"/>
                            <a:gd name="T9" fmla="*/ 13 h 36"/>
                            <a:gd name="T10" fmla="*/ 5 w 67"/>
                            <a:gd name="T11" fmla="*/ 24 h 36"/>
                            <a:gd name="T12" fmla="*/ 0 w 67"/>
                            <a:gd name="T13" fmla="*/ 36 h 36"/>
                            <a:gd name="T14" fmla="*/ 10 w 67"/>
                            <a:gd name="T15" fmla="*/ 26 h 36"/>
                            <a:gd name="T16" fmla="*/ 22 w 67"/>
                            <a:gd name="T17" fmla="*/ 17 h 36"/>
                            <a:gd name="T18" fmla="*/ 38 w 67"/>
                            <a:gd name="T19" fmla="*/ 13 h 36"/>
                            <a:gd name="T20" fmla="*/ 49 w 67"/>
                            <a:gd name="T21" fmla="*/ 14 h 36"/>
                            <a:gd name="T22" fmla="*/ 60 w 67"/>
                            <a:gd name="T23" fmla="*/ 20 h 36"/>
                            <a:gd name="T24" fmla="*/ 62 w 67"/>
                            <a:gd name="T25" fmla="*/ 12 h 36"/>
                            <a:gd name="T26" fmla="*/ 67 w 67"/>
                            <a:gd name="T27" fmla="*/ 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 h="36">
                              <a:moveTo>
                                <a:pt x="67" y="4"/>
                              </a:moveTo>
                              <a:lnTo>
                                <a:pt x="53" y="0"/>
                              </a:lnTo>
                              <a:lnTo>
                                <a:pt x="41" y="0"/>
                              </a:lnTo>
                              <a:lnTo>
                                <a:pt x="24" y="5"/>
                              </a:lnTo>
                              <a:lnTo>
                                <a:pt x="13" y="13"/>
                              </a:lnTo>
                              <a:lnTo>
                                <a:pt x="5" y="24"/>
                              </a:lnTo>
                              <a:lnTo>
                                <a:pt x="0" y="36"/>
                              </a:lnTo>
                              <a:lnTo>
                                <a:pt x="10" y="26"/>
                              </a:lnTo>
                              <a:lnTo>
                                <a:pt x="22" y="17"/>
                              </a:lnTo>
                              <a:lnTo>
                                <a:pt x="38" y="13"/>
                              </a:lnTo>
                              <a:lnTo>
                                <a:pt x="49" y="14"/>
                              </a:lnTo>
                              <a:lnTo>
                                <a:pt x="60" y="20"/>
                              </a:lnTo>
                              <a:lnTo>
                                <a:pt x="62" y="12"/>
                              </a:lnTo>
                              <a:lnTo>
                                <a:pt x="67" y="4"/>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14" name="Group 266"/>
                      <p:cNvGrpSpPr/>
                      <p:nvPr/>
                    </p:nvGrpSpPr>
                    <p:grpSpPr bwMode="auto">
                      <a:xfrm>
                        <a:off x="2438" y="3062"/>
                        <a:ext cx="26" cy="14"/>
                        <a:chOff x="2438" y="3062"/>
                        <a:chExt cx="26" cy="14"/>
                      </a:xfrm>
                    </p:grpSpPr>
                    <p:sp>
                      <p:nvSpPr>
                        <p:cNvPr id="642315" name="Freeform 267"/>
                        <p:cNvSpPr/>
                        <p:nvPr/>
                      </p:nvSpPr>
                      <p:spPr bwMode="auto">
                        <a:xfrm>
                          <a:off x="2438" y="3062"/>
                          <a:ext cx="26" cy="14"/>
                        </a:xfrm>
                        <a:custGeom>
                          <a:avLst/>
                          <a:gdLst>
                            <a:gd name="T0" fmla="*/ 0 w 179"/>
                            <a:gd name="T1" fmla="*/ 61 h 114"/>
                            <a:gd name="T2" fmla="*/ 20 w 179"/>
                            <a:gd name="T3" fmla="*/ 38 h 114"/>
                            <a:gd name="T4" fmla="*/ 37 w 179"/>
                            <a:gd name="T5" fmla="*/ 23 h 114"/>
                            <a:gd name="T6" fmla="*/ 53 w 179"/>
                            <a:gd name="T7" fmla="*/ 12 h 114"/>
                            <a:gd name="T8" fmla="*/ 73 w 179"/>
                            <a:gd name="T9" fmla="*/ 3 h 114"/>
                            <a:gd name="T10" fmla="*/ 93 w 179"/>
                            <a:gd name="T11" fmla="*/ 0 h 114"/>
                            <a:gd name="T12" fmla="*/ 114 w 179"/>
                            <a:gd name="T13" fmla="*/ 0 h 114"/>
                            <a:gd name="T14" fmla="*/ 133 w 179"/>
                            <a:gd name="T15" fmla="*/ 3 h 114"/>
                            <a:gd name="T16" fmla="*/ 153 w 179"/>
                            <a:gd name="T17" fmla="*/ 10 h 114"/>
                            <a:gd name="T18" fmla="*/ 164 w 179"/>
                            <a:gd name="T19" fmla="*/ 14 h 114"/>
                            <a:gd name="T20" fmla="*/ 179 w 179"/>
                            <a:gd name="T21" fmla="*/ 8 h 114"/>
                            <a:gd name="T22" fmla="*/ 175 w 179"/>
                            <a:gd name="T23" fmla="*/ 23 h 114"/>
                            <a:gd name="T24" fmla="*/ 174 w 179"/>
                            <a:gd name="T25" fmla="*/ 37 h 114"/>
                            <a:gd name="T26" fmla="*/ 176 w 179"/>
                            <a:gd name="T27" fmla="*/ 56 h 114"/>
                            <a:gd name="T28" fmla="*/ 178 w 179"/>
                            <a:gd name="T29" fmla="*/ 75 h 114"/>
                            <a:gd name="T30" fmla="*/ 175 w 179"/>
                            <a:gd name="T31" fmla="*/ 94 h 114"/>
                            <a:gd name="T32" fmla="*/ 167 w 179"/>
                            <a:gd name="T33" fmla="*/ 104 h 114"/>
                            <a:gd name="T34" fmla="*/ 156 w 179"/>
                            <a:gd name="T35" fmla="*/ 114 h 114"/>
                            <a:gd name="T36" fmla="*/ 160 w 179"/>
                            <a:gd name="T37" fmla="*/ 96 h 114"/>
                            <a:gd name="T38" fmla="*/ 162 w 179"/>
                            <a:gd name="T39" fmla="*/ 81 h 114"/>
                            <a:gd name="T40" fmla="*/ 158 w 179"/>
                            <a:gd name="T41" fmla="*/ 70 h 114"/>
                            <a:gd name="T42" fmla="*/ 151 w 179"/>
                            <a:gd name="T43" fmla="*/ 62 h 114"/>
                            <a:gd name="T44" fmla="*/ 137 w 179"/>
                            <a:gd name="T45" fmla="*/ 76 h 114"/>
                            <a:gd name="T46" fmla="*/ 123 w 179"/>
                            <a:gd name="T47" fmla="*/ 83 h 114"/>
                            <a:gd name="T48" fmla="*/ 107 w 179"/>
                            <a:gd name="T49" fmla="*/ 86 h 114"/>
                            <a:gd name="T50" fmla="*/ 88 w 179"/>
                            <a:gd name="T51" fmla="*/ 85 h 114"/>
                            <a:gd name="T52" fmla="*/ 71 w 179"/>
                            <a:gd name="T53" fmla="*/ 76 h 114"/>
                            <a:gd name="T54" fmla="*/ 55 w 179"/>
                            <a:gd name="T55" fmla="*/ 62 h 114"/>
                            <a:gd name="T56" fmla="*/ 43 w 179"/>
                            <a:gd name="T57" fmla="*/ 55 h 114"/>
                            <a:gd name="T58" fmla="*/ 0 w 179"/>
                            <a:gd name="T59" fmla="*/ 61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9" h="114">
                              <a:moveTo>
                                <a:pt x="0" y="61"/>
                              </a:moveTo>
                              <a:lnTo>
                                <a:pt x="20" y="38"/>
                              </a:lnTo>
                              <a:lnTo>
                                <a:pt x="37" y="23"/>
                              </a:lnTo>
                              <a:lnTo>
                                <a:pt x="53" y="12"/>
                              </a:lnTo>
                              <a:lnTo>
                                <a:pt x="73" y="3"/>
                              </a:lnTo>
                              <a:lnTo>
                                <a:pt x="93" y="0"/>
                              </a:lnTo>
                              <a:lnTo>
                                <a:pt x="114" y="0"/>
                              </a:lnTo>
                              <a:lnTo>
                                <a:pt x="133" y="3"/>
                              </a:lnTo>
                              <a:lnTo>
                                <a:pt x="153" y="10"/>
                              </a:lnTo>
                              <a:lnTo>
                                <a:pt x="164" y="14"/>
                              </a:lnTo>
                              <a:lnTo>
                                <a:pt x="179" y="8"/>
                              </a:lnTo>
                              <a:lnTo>
                                <a:pt x="175" y="23"/>
                              </a:lnTo>
                              <a:lnTo>
                                <a:pt x="174" y="37"/>
                              </a:lnTo>
                              <a:lnTo>
                                <a:pt x="176" y="56"/>
                              </a:lnTo>
                              <a:lnTo>
                                <a:pt x="178" y="75"/>
                              </a:lnTo>
                              <a:lnTo>
                                <a:pt x="175" y="94"/>
                              </a:lnTo>
                              <a:lnTo>
                                <a:pt x="167" y="104"/>
                              </a:lnTo>
                              <a:lnTo>
                                <a:pt x="156" y="114"/>
                              </a:lnTo>
                              <a:lnTo>
                                <a:pt x="160" y="96"/>
                              </a:lnTo>
                              <a:lnTo>
                                <a:pt x="162" y="81"/>
                              </a:lnTo>
                              <a:lnTo>
                                <a:pt x="158" y="70"/>
                              </a:lnTo>
                              <a:lnTo>
                                <a:pt x="151" y="62"/>
                              </a:lnTo>
                              <a:lnTo>
                                <a:pt x="137" y="76"/>
                              </a:lnTo>
                              <a:lnTo>
                                <a:pt x="123" y="83"/>
                              </a:lnTo>
                              <a:lnTo>
                                <a:pt x="107" y="86"/>
                              </a:lnTo>
                              <a:lnTo>
                                <a:pt x="88" y="85"/>
                              </a:lnTo>
                              <a:lnTo>
                                <a:pt x="71" y="76"/>
                              </a:lnTo>
                              <a:lnTo>
                                <a:pt x="55" y="62"/>
                              </a:lnTo>
                              <a:lnTo>
                                <a:pt x="43" y="55"/>
                              </a:lnTo>
                              <a:lnTo>
                                <a:pt x="0" y="61"/>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6" name="Freeform 268"/>
                        <p:cNvSpPr/>
                        <p:nvPr/>
                      </p:nvSpPr>
                      <p:spPr bwMode="auto">
                        <a:xfrm>
                          <a:off x="2445" y="3067"/>
                          <a:ext cx="13" cy="6"/>
                        </a:xfrm>
                        <a:custGeom>
                          <a:avLst/>
                          <a:gdLst>
                            <a:gd name="T0" fmla="*/ 0 w 93"/>
                            <a:gd name="T1" fmla="*/ 0 h 43"/>
                            <a:gd name="T2" fmla="*/ 14 w 93"/>
                            <a:gd name="T3" fmla="*/ 12 h 43"/>
                            <a:gd name="T4" fmla="*/ 28 w 93"/>
                            <a:gd name="T5" fmla="*/ 20 h 43"/>
                            <a:gd name="T6" fmla="*/ 46 w 93"/>
                            <a:gd name="T7" fmla="*/ 23 h 43"/>
                            <a:gd name="T8" fmla="*/ 57 w 93"/>
                            <a:gd name="T9" fmla="*/ 23 h 43"/>
                            <a:gd name="T10" fmla="*/ 68 w 93"/>
                            <a:gd name="T11" fmla="*/ 20 h 43"/>
                            <a:gd name="T12" fmla="*/ 85 w 93"/>
                            <a:gd name="T13" fmla="*/ 8 h 43"/>
                            <a:gd name="T14" fmla="*/ 74 w 93"/>
                            <a:gd name="T15" fmla="*/ 21 h 43"/>
                            <a:gd name="T16" fmla="*/ 93 w 93"/>
                            <a:gd name="T17" fmla="*/ 32 h 43"/>
                            <a:gd name="T18" fmla="*/ 75 w 93"/>
                            <a:gd name="T19" fmla="*/ 38 h 43"/>
                            <a:gd name="T20" fmla="*/ 61 w 93"/>
                            <a:gd name="T21" fmla="*/ 43 h 43"/>
                            <a:gd name="T22" fmla="*/ 41 w 93"/>
                            <a:gd name="T23" fmla="*/ 42 h 43"/>
                            <a:gd name="T24" fmla="*/ 26 w 93"/>
                            <a:gd name="T25" fmla="*/ 34 h 43"/>
                            <a:gd name="T26" fmla="*/ 12 w 93"/>
                            <a:gd name="T27" fmla="*/ 20 h 43"/>
                            <a:gd name="T28" fmla="*/ 0 w 93"/>
                            <a:gd name="T29"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3" h="43">
                              <a:moveTo>
                                <a:pt x="0" y="0"/>
                              </a:moveTo>
                              <a:lnTo>
                                <a:pt x="14" y="12"/>
                              </a:lnTo>
                              <a:lnTo>
                                <a:pt x="28" y="20"/>
                              </a:lnTo>
                              <a:lnTo>
                                <a:pt x="46" y="23"/>
                              </a:lnTo>
                              <a:lnTo>
                                <a:pt x="57" y="23"/>
                              </a:lnTo>
                              <a:lnTo>
                                <a:pt x="68" y="20"/>
                              </a:lnTo>
                              <a:lnTo>
                                <a:pt x="85" y="8"/>
                              </a:lnTo>
                              <a:lnTo>
                                <a:pt x="74" y="21"/>
                              </a:lnTo>
                              <a:lnTo>
                                <a:pt x="93" y="32"/>
                              </a:lnTo>
                              <a:lnTo>
                                <a:pt x="75" y="38"/>
                              </a:lnTo>
                              <a:lnTo>
                                <a:pt x="61" y="43"/>
                              </a:lnTo>
                              <a:lnTo>
                                <a:pt x="41" y="42"/>
                              </a:lnTo>
                              <a:lnTo>
                                <a:pt x="26" y="34"/>
                              </a:lnTo>
                              <a:lnTo>
                                <a:pt x="12" y="20"/>
                              </a:lnTo>
                              <a:lnTo>
                                <a:pt x="0" y="0"/>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7" name="Freeform 269"/>
                        <p:cNvSpPr/>
                        <p:nvPr/>
                      </p:nvSpPr>
                      <p:spPr bwMode="auto">
                        <a:xfrm>
                          <a:off x="2441" y="3062"/>
                          <a:ext cx="22" cy="6"/>
                        </a:xfrm>
                        <a:custGeom>
                          <a:avLst/>
                          <a:gdLst>
                            <a:gd name="T0" fmla="*/ 0 w 158"/>
                            <a:gd name="T1" fmla="*/ 47 h 48"/>
                            <a:gd name="T2" fmla="*/ 13 w 158"/>
                            <a:gd name="T3" fmla="*/ 31 h 48"/>
                            <a:gd name="T4" fmla="*/ 18 w 158"/>
                            <a:gd name="T5" fmla="*/ 24 h 48"/>
                            <a:gd name="T6" fmla="*/ 26 w 158"/>
                            <a:gd name="T7" fmla="*/ 19 h 48"/>
                            <a:gd name="T8" fmla="*/ 33 w 158"/>
                            <a:gd name="T9" fmla="*/ 12 h 48"/>
                            <a:gd name="T10" fmla="*/ 42 w 158"/>
                            <a:gd name="T11" fmla="*/ 8 h 48"/>
                            <a:gd name="T12" fmla="*/ 51 w 158"/>
                            <a:gd name="T13" fmla="*/ 5 h 48"/>
                            <a:gd name="T14" fmla="*/ 64 w 158"/>
                            <a:gd name="T15" fmla="*/ 1 h 48"/>
                            <a:gd name="T16" fmla="*/ 77 w 158"/>
                            <a:gd name="T17" fmla="*/ 0 h 48"/>
                            <a:gd name="T18" fmla="*/ 93 w 158"/>
                            <a:gd name="T19" fmla="*/ 1 h 48"/>
                            <a:gd name="T20" fmla="*/ 106 w 158"/>
                            <a:gd name="T21" fmla="*/ 5 h 48"/>
                            <a:gd name="T22" fmla="*/ 119 w 158"/>
                            <a:gd name="T23" fmla="*/ 8 h 48"/>
                            <a:gd name="T24" fmla="*/ 136 w 158"/>
                            <a:gd name="T25" fmla="*/ 13 h 48"/>
                            <a:gd name="T26" fmla="*/ 145 w 158"/>
                            <a:gd name="T27" fmla="*/ 12 h 48"/>
                            <a:gd name="T28" fmla="*/ 154 w 158"/>
                            <a:gd name="T29" fmla="*/ 11 h 48"/>
                            <a:gd name="T30" fmla="*/ 157 w 158"/>
                            <a:gd name="T31" fmla="*/ 16 h 48"/>
                            <a:gd name="T32" fmla="*/ 158 w 158"/>
                            <a:gd name="T33" fmla="*/ 22 h 48"/>
                            <a:gd name="T34" fmla="*/ 156 w 158"/>
                            <a:gd name="T35" fmla="*/ 31 h 48"/>
                            <a:gd name="T36" fmla="*/ 152 w 158"/>
                            <a:gd name="T37" fmla="*/ 37 h 48"/>
                            <a:gd name="T38" fmla="*/ 145 w 158"/>
                            <a:gd name="T39" fmla="*/ 35 h 48"/>
                            <a:gd name="T40" fmla="*/ 135 w 158"/>
                            <a:gd name="T41" fmla="*/ 36 h 48"/>
                            <a:gd name="T42" fmla="*/ 125 w 158"/>
                            <a:gd name="T43" fmla="*/ 32 h 48"/>
                            <a:gd name="T44" fmla="*/ 116 w 158"/>
                            <a:gd name="T45" fmla="*/ 30 h 48"/>
                            <a:gd name="T46" fmla="*/ 106 w 158"/>
                            <a:gd name="T47" fmla="*/ 30 h 48"/>
                            <a:gd name="T48" fmla="*/ 100 w 158"/>
                            <a:gd name="T49" fmla="*/ 26 h 48"/>
                            <a:gd name="T50" fmla="*/ 93 w 158"/>
                            <a:gd name="T51" fmla="*/ 24 h 48"/>
                            <a:gd name="T52" fmla="*/ 84 w 158"/>
                            <a:gd name="T53" fmla="*/ 22 h 48"/>
                            <a:gd name="T54" fmla="*/ 74 w 158"/>
                            <a:gd name="T55" fmla="*/ 22 h 48"/>
                            <a:gd name="T56" fmla="*/ 64 w 158"/>
                            <a:gd name="T57" fmla="*/ 24 h 48"/>
                            <a:gd name="T58" fmla="*/ 55 w 158"/>
                            <a:gd name="T59" fmla="*/ 23 h 48"/>
                            <a:gd name="T60" fmla="*/ 44 w 158"/>
                            <a:gd name="T61" fmla="*/ 22 h 48"/>
                            <a:gd name="T62" fmla="*/ 34 w 158"/>
                            <a:gd name="T63" fmla="*/ 26 h 48"/>
                            <a:gd name="T64" fmla="*/ 23 w 158"/>
                            <a:gd name="T65" fmla="*/ 32 h 48"/>
                            <a:gd name="T66" fmla="*/ 14 w 158"/>
                            <a:gd name="T67" fmla="*/ 39 h 48"/>
                            <a:gd name="T68" fmla="*/ 9 w 158"/>
                            <a:gd name="T69" fmla="*/ 48 h 48"/>
                            <a:gd name="T70" fmla="*/ 0 w 158"/>
                            <a:gd name="T71" fmla="*/ 4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8" h="48">
                              <a:moveTo>
                                <a:pt x="0" y="47"/>
                              </a:moveTo>
                              <a:lnTo>
                                <a:pt x="13" y="31"/>
                              </a:lnTo>
                              <a:lnTo>
                                <a:pt x="18" y="24"/>
                              </a:lnTo>
                              <a:lnTo>
                                <a:pt x="26" y="19"/>
                              </a:lnTo>
                              <a:lnTo>
                                <a:pt x="33" y="12"/>
                              </a:lnTo>
                              <a:lnTo>
                                <a:pt x="42" y="8"/>
                              </a:lnTo>
                              <a:lnTo>
                                <a:pt x="51" y="5"/>
                              </a:lnTo>
                              <a:lnTo>
                                <a:pt x="64" y="1"/>
                              </a:lnTo>
                              <a:lnTo>
                                <a:pt x="77" y="0"/>
                              </a:lnTo>
                              <a:lnTo>
                                <a:pt x="93" y="1"/>
                              </a:lnTo>
                              <a:lnTo>
                                <a:pt x="106" y="5"/>
                              </a:lnTo>
                              <a:lnTo>
                                <a:pt x="119" y="8"/>
                              </a:lnTo>
                              <a:lnTo>
                                <a:pt x="136" y="13"/>
                              </a:lnTo>
                              <a:lnTo>
                                <a:pt x="145" y="12"/>
                              </a:lnTo>
                              <a:lnTo>
                                <a:pt x="154" y="11"/>
                              </a:lnTo>
                              <a:lnTo>
                                <a:pt x="157" y="16"/>
                              </a:lnTo>
                              <a:lnTo>
                                <a:pt x="158" y="22"/>
                              </a:lnTo>
                              <a:lnTo>
                                <a:pt x="156" y="31"/>
                              </a:lnTo>
                              <a:lnTo>
                                <a:pt x="152" y="37"/>
                              </a:lnTo>
                              <a:lnTo>
                                <a:pt x="145" y="35"/>
                              </a:lnTo>
                              <a:lnTo>
                                <a:pt x="135" y="36"/>
                              </a:lnTo>
                              <a:lnTo>
                                <a:pt x="125" y="32"/>
                              </a:lnTo>
                              <a:lnTo>
                                <a:pt x="116" y="30"/>
                              </a:lnTo>
                              <a:lnTo>
                                <a:pt x="106" y="30"/>
                              </a:lnTo>
                              <a:lnTo>
                                <a:pt x="100" y="26"/>
                              </a:lnTo>
                              <a:lnTo>
                                <a:pt x="93" y="24"/>
                              </a:lnTo>
                              <a:lnTo>
                                <a:pt x="84" y="22"/>
                              </a:lnTo>
                              <a:lnTo>
                                <a:pt x="74" y="22"/>
                              </a:lnTo>
                              <a:lnTo>
                                <a:pt x="64" y="24"/>
                              </a:lnTo>
                              <a:lnTo>
                                <a:pt x="55" y="23"/>
                              </a:lnTo>
                              <a:lnTo>
                                <a:pt x="44" y="22"/>
                              </a:lnTo>
                              <a:lnTo>
                                <a:pt x="34" y="26"/>
                              </a:lnTo>
                              <a:lnTo>
                                <a:pt x="23" y="32"/>
                              </a:lnTo>
                              <a:lnTo>
                                <a:pt x="14" y="39"/>
                              </a:lnTo>
                              <a:lnTo>
                                <a:pt x="9" y="48"/>
                              </a:lnTo>
                              <a:lnTo>
                                <a:pt x="0" y="47"/>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318" name="Group 270"/>
                    <p:cNvGrpSpPr/>
                    <p:nvPr/>
                  </p:nvGrpSpPr>
                  <p:grpSpPr bwMode="auto">
                    <a:xfrm>
                      <a:off x="2416" y="3070"/>
                      <a:ext cx="56" cy="36"/>
                      <a:chOff x="2416" y="3070"/>
                      <a:chExt cx="56" cy="36"/>
                    </a:xfrm>
                  </p:grpSpPr>
                  <p:grpSp>
                    <p:nvGrpSpPr>
                      <p:cNvPr id="642319" name="Group 271"/>
                      <p:cNvGrpSpPr/>
                      <p:nvPr/>
                    </p:nvGrpSpPr>
                    <p:grpSpPr bwMode="auto">
                      <a:xfrm>
                        <a:off x="2457" y="3070"/>
                        <a:ext cx="15" cy="20"/>
                        <a:chOff x="2457" y="3070"/>
                        <a:chExt cx="15" cy="20"/>
                      </a:xfrm>
                    </p:grpSpPr>
                    <p:sp>
                      <p:nvSpPr>
                        <p:cNvPr id="642320" name="Freeform 272"/>
                        <p:cNvSpPr/>
                        <p:nvPr/>
                      </p:nvSpPr>
                      <p:spPr bwMode="auto">
                        <a:xfrm>
                          <a:off x="2457" y="3073"/>
                          <a:ext cx="9" cy="14"/>
                        </a:xfrm>
                        <a:custGeom>
                          <a:avLst/>
                          <a:gdLst>
                            <a:gd name="T0" fmla="*/ 29 w 66"/>
                            <a:gd name="T1" fmla="*/ 0 h 109"/>
                            <a:gd name="T2" fmla="*/ 19 w 66"/>
                            <a:gd name="T3" fmla="*/ 24 h 109"/>
                            <a:gd name="T4" fmla="*/ 13 w 66"/>
                            <a:gd name="T5" fmla="*/ 46 h 109"/>
                            <a:gd name="T6" fmla="*/ 23 w 66"/>
                            <a:gd name="T7" fmla="*/ 38 h 109"/>
                            <a:gd name="T8" fmla="*/ 34 w 66"/>
                            <a:gd name="T9" fmla="*/ 34 h 109"/>
                            <a:gd name="T10" fmla="*/ 43 w 66"/>
                            <a:gd name="T11" fmla="*/ 37 h 109"/>
                            <a:gd name="T12" fmla="*/ 50 w 66"/>
                            <a:gd name="T13" fmla="*/ 45 h 109"/>
                            <a:gd name="T14" fmla="*/ 51 w 66"/>
                            <a:gd name="T15" fmla="*/ 55 h 109"/>
                            <a:gd name="T16" fmla="*/ 44 w 66"/>
                            <a:gd name="T17" fmla="*/ 51 h 109"/>
                            <a:gd name="T18" fmla="*/ 35 w 66"/>
                            <a:gd name="T19" fmla="*/ 47 h 109"/>
                            <a:gd name="T20" fmla="*/ 23 w 66"/>
                            <a:gd name="T21" fmla="*/ 46 h 109"/>
                            <a:gd name="T22" fmla="*/ 14 w 66"/>
                            <a:gd name="T23" fmla="*/ 50 h 109"/>
                            <a:gd name="T24" fmla="*/ 9 w 66"/>
                            <a:gd name="T25" fmla="*/ 61 h 109"/>
                            <a:gd name="T26" fmla="*/ 10 w 66"/>
                            <a:gd name="T27" fmla="*/ 74 h 109"/>
                            <a:gd name="T28" fmla="*/ 17 w 66"/>
                            <a:gd name="T29" fmla="*/ 82 h 109"/>
                            <a:gd name="T30" fmla="*/ 31 w 66"/>
                            <a:gd name="T31" fmla="*/ 83 h 109"/>
                            <a:gd name="T32" fmla="*/ 47 w 66"/>
                            <a:gd name="T33" fmla="*/ 85 h 109"/>
                            <a:gd name="T34" fmla="*/ 58 w 66"/>
                            <a:gd name="T35" fmla="*/ 90 h 109"/>
                            <a:gd name="T36" fmla="*/ 66 w 66"/>
                            <a:gd name="T37" fmla="*/ 100 h 109"/>
                            <a:gd name="T38" fmla="*/ 60 w 66"/>
                            <a:gd name="T39" fmla="*/ 108 h 109"/>
                            <a:gd name="T40" fmla="*/ 44 w 66"/>
                            <a:gd name="T41" fmla="*/ 109 h 109"/>
                            <a:gd name="T42" fmla="*/ 29 w 66"/>
                            <a:gd name="T43" fmla="*/ 105 h 109"/>
                            <a:gd name="T44" fmla="*/ 13 w 66"/>
                            <a:gd name="T45" fmla="*/ 94 h 109"/>
                            <a:gd name="T46" fmla="*/ 3 w 66"/>
                            <a:gd name="T47" fmla="*/ 85 h 109"/>
                            <a:gd name="T48" fmla="*/ 0 w 66"/>
                            <a:gd name="T49" fmla="*/ 70 h 109"/>
                            <a:gd name="T50" fmla="*/ 1 w 66"/>
                            <a:gd name="T51" fmla="*/ 59 h 109"/>
                            <a:gd name="T52" fmla="*/ 7 w 66"/>
                            <a:gd name="T53" fmla="*/ 44 h 109"/>
                            <a:gd name="T54" fmla="*/ 29 w 66"/>
                            <a:gd name="T55" fmla="*/ 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6" h="109">
                              <a:moveTo>
                                <a:pt x="29" y="0"/>
                              </a:moveTo>
                              <a:lnTo>
                                <a:pt x="19" y="24"/>
                              </a:lnTo>
                              <a:lnTo>
                                <a:pt x="13" y="46"/>
                              </a:lnTo>
                              <a:lnTo>
                                <a:pt x="23" y="38"/>
                              </a:lnTo>
                              <a:lnTo>
                                <a:pt x="34" y="34"/>
                              </a:lnTo>
                              <a:lnTo>
                                <a:pt x="43" y="37"/>
                              </a:lnTo>
                              <a:lnTo>
                                <a:pt x="50" y="45"/>
                              </a:lnTo>
                              <a:lnTo>
                                <a:pt x="51" y="55"/>
                              </a:lnTo>
                              <a:lnTo>
                                <a:pt x="44" y="51"/>
                              </a:lnTo>
                              <a:lnTo>
                                <a:pt x="35" y="47"/>
                              </a:lnTo>
                              <a:lnTo>
                                <a:pt x="23" y="46"/>
                              </a:lnTo>
                              <a:lnTo>
                                <a:pt x="14" y="50"/>
                              </a:lnTo>
                              <a:lnTo>
                                <a:pt x="9" y="61"/>
                              </a:lnTo>
                              <a:lnTo>
                                <a:pt x="10" y="74"/>
                              </a:lnTo>
                              <a:lnTo>
                                <a:pt x="17" y="82"/>
                              </a:lnTo>
                              <a:lnTo>
                                <a:pt x="31" y="83"/>
                              </a:lnTo>
                              <a:lnTo>
                                <a:pt x="47" y="85"/>
                              </a:lnTo>
                              <a:lnTo>
                                <a:pt x="58" y="90"/>
                              </a:lnTo>
                              <a:lnTo>
                                <a:pt x="66" y="100"/>
                              </a:lnTo>
                              <a:lnTo>
                                <a:pt x="60" y="108"/>
                              </a:lnTo>
                              <a:lnTo>
                                <a:pt x="44" y="109"/>
                              </a:lnTo>
                              <a:lnTo>
                                <a:pt x="29" y="105"/>
                              </a:lnTo>
                              <a:lnTo>
                                <a:pt x="13" y="94"/>
                              </a:lnTo>
                              <a:lnTo>
                                <a:pt x="3" y="85"/>
                              </a:lnTo>
                              <a:lnTo>
                                <a:pt x="0" y="70"/>
                              </a:lnTo>
                              <a:lnTo>
                                <a:pt x="1" y="59"/>
                              </a:lnTo>
                              <a:lnTo>
                                <a:pt x="7" y="44"/>
                              </a:lnTo>
                              <a:lnTo>
                                <a:pt x="29"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1" name="Freeform 273"/>
                        <p:cNvSpPr/>
                        <p:nvPr/>
                      </p:nvSpPr>
                      <p:spPr bwMode="auto">
                        <a:xfrm>
                          <a:off x="2465" y="3070"/>
                          <a:ext cx="7" cy="20"/>
                        </a:xfrm>
                        <a:custGeom>
                          <a:avLst/>
                          <a:gdLst>
                            <a:gd name="T0" fmla="*/ 7 w 50"/>
                            <a:gd name="T1" fmla="*/ 0 h 159"/>
                            <a:gd name="T2" fmla="*/ 28 w 50"/>
                            <a:gd name="T3" fmla="*/ 34 h 159"/>
                            <a:gd name="T4" fmla="*/ 35 w 50"/>
                            <a:gd name="T5" fmla="*/ 50 h 159"/>
                            <a:gd name="T6" fmla="*/ 43 w 50"/>
                            <a:gd name="T7" fmla="*/ 72 h 159"/>
                            <a:gd name="T8" fmla="*/ 48 w 50"/>
                            <a:gd name="T9" fmla="*/ 86 h 159"/>
                            <a:gd name="T10" fmla="*/ 50 w 50"/>
                            <a:gd name="T11" fmla="*/ 102 h 159"/>
                            <a:gd name="T12" fmla="*/ 45 w 50"/>
                            <a:gd name="T13" fmla="*/ 114 h 159"/>
                            <a:gd name="T14" fmla="*/ 36 w 50"/>
                            <a:gd name="T15" fmla="*/ 119 h 159"/>
                            <a:gd name="T16" fmla="*/ 24 w 50"/>
                            <a:gd name="T17" fmla="*/ 122 h 159"/>
                            <a:gd name="T18" fmla="*/ 14 w 50"/>
                            <a:gd name="T19" fmla="*/ 125 h 159"/>
                            <a:gd name="T20" fmla="*/ 11 w 50"/>
                            <a:gd name="T21" fmla="*/ 159 h 159"/>
                            <a:gd name="T22" fmla="*/ 7 w 50"/>
                            <a:gd name="T23" fmla="*/ 139 h 159"/>
                            <a:gd name="T24" fmla="*/ 0 w 50"/>
                            <a:gd name="T25" fmla="*/ 126 h 159"/>
                            <a:gd name="T26" fmla="*/ 16 w 50"/>
                            <a:gd name="T27" fmla="*/ 119 h 159"/>
                            <a:gd name="T28" fmla="*/ 29 w 50"/>
                            <a:gd name="T29" fmla="*/ 112 h 159"/>
                            <a:gd name="T30" fmla="*/ 38 w 50"/>
                            <a:gd name="T31" fmla="*/ 99 h 159"/>
                            <a:gd name="T32" fmla="*/ 35 w 50"/>
                            <a:gd name="T33" fmla="*/ 77 h 159"/>
                            <a:gd name="T34" fmla="*/ 28 w 50"/>
                            <a:gd name="T35" fmla="*/ 54 h 159"/>
                            <a:gd name="T36" fmla="*/ 22 w 50"/>
                            <a:gd name="T37" fmla="*/ 33 h 159"/>
                            <a:gd name="T38" fmla="*/ 7 w 50"/>
                            <a:gd name="T3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 h="159">
                              <a:moveTo>
                                <a:pt x="7" y="0"/>
                              </a:moveTo>
                              <a:lnTo>
                                <a:pt x="28" y="34"/>
                              </a:lnTo>
                              <a:lnTo>
                                <a:pt x="35" y="50"/>
                              </a:lnTo>
                              <a:lnTo>
                                <a:pt x="43" y="72"/>
                              </a:lnTo>
                              <a:lnTo>
                                <a:pt x="48" y="86"/>
                              </a:lnTo>
                              <a:lnTo>
                                <a:pt x="50" y="102"/>
                              </a:lnTo>
                              <a:lnTo>
                                <a:pt x="45" y="114"/>
                              </a:lnTo>
                              <a:lnTo>
                                <a:pt x="36" y="119"/>
                              </a:lnTo>
                              <a:lnTo>
                                <a:pt x="24" y="122"/>
                              </a:lnTo>
                              <a:lnTo>
                                <a:pt x="14" y="125"/>
                              </a:lnTo>
                              <a:lnTo>
                                <a:pt x="11" y="159"/>
                              </a:lnTo>
                              <a:lnTo>
                                <a:pt x="7" y="139"/>
                              </a:lnTo>
                              <a:lnTo>
                                <a:pt x="0" y="126"/>
                              </a:lnTo>
                              <a:lnTo>
                                <a:pt x="16" y="119"/>
                              </a:lnTo>
                              <a:lnTo>
                                <a:pt x="29" y="112"/>
                              </a:lnTo>
                              <a:lnTo>
                                <a:pt x="38" y="99"/>
                              </a:lnTo>
                              <a:lnTo>
                                <a:pt x="35" y="77"/>
                              </a:lnTo>
                              <a:lnTo>
                                <a:pt x="28" y="54"/>
                              </a:lnTo>
                              <a:lnTo>
                                <a:pt x="22" y="33"/>
                              </a:lnTo>
                              <a:lnTo>
                                <a:pt x="7"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22" name="Group 274"/>
                      <p:cNvGrpSpPr/>
                      <p:nvPr/>
                    </p:nvGrpSpPr>
                    <p:grpSpPr bwMode="auto">
                      <a:xfrm>
                        <a:off x="2416" y="3082"/>
                        <a:ext cx="51" cy="24"/>
                        <a:chOff x="2416" y="3082"/>
                        <a:chExt cx="51" cy="24"/>
                      </a:xfrm>
                    </p:grpSpPr>
                    <p:grpSp>
                      <p:nvGrpSpPr>
                        <p:cNvPr id="642323" name="Group 275"/>
                        <p:cNvGrpSpPr/>
                        <p:nvPr/>
                      </p:nvGrpSpPr>
                      <p:grpSpPr bwMode="auto">
                        <a:xfrm>
                          <a:off x="2416" y="3082"/>
                          <a:ext cx="47" cy="24"/>
                          <a:chOff x="2416" y="3082"/>
                          <a:chExt cx="47" cy="24"/>
                        </a:xfrm>
                      </p:grpSpPr>
                      <p:sp>
                        <p:nvSpPr>
                          <p:cNvPr id="642324" name="Freeform 276"/>
                          <p:cNvSpPr/>
                          <p:nvPr/>
                        </p:nvSpPr>
                        <p:spPr bwMode="auto">
                          <a:xfrm>
                            <a:off x="2431" y="3097"/>
                            <a:ext cx="16" cy="9"/>
                          </a:xfrm>
                          <a:custGeom>
                            <a:avLst/>
                            <a:gdLst>
                              <a:gd name="T0" fmla="*/ 0 w 112"/>
                              <a:gd name="T1" fmla="*/ 0 h 69"/>
                              <a:gd name="T2" fmla="*/ 30 w 112"/>
                              <a:gd name="T3" fmla="*/ 24 h 69"/>
                              <a:gd name="T4" fmla="*/ 57 w 112"/>
                              <a:gd name="T5" fmla="*/ 41 h 69"/>
                              <a:gd name="T6" fmla="*/ 81 w 112"/>
                              <a:gd name="T7" fmla="*/ 51 h 69"/>
                              <a:gd name="T8" fmla="*/ 112 w 112"/>
                              <a:gd name="T9" fmla="*/ 61 h 69"/>
                              <a:gd name="T10" fmla="*/ 92 w 112"/>
                              <a:gd name="T11" fmla="*/ 69 h 69"/>
                              <a:gd name="T12" fmla="*/ 44 w 112"/>
                              <a:gd name="T13" fmla="*/ 51 h 69"/>
                              <a:gd name="T14" fmla="*/ 27 w 112"/>
                              <a:gd name="T15" fmla="*/ 40 h 69"/>
                              <a:gd name="T16" fmla="*/ 14 w 112"/>
                              <a:gd name="T17" fmla="*/ 23 h 69"/>
                              <a:gd name="T18" fmla="*/ 0 w 112"/>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2" h="69">
                                <a:moveTo>
                                  <a:pt x="0" y="0"/>
                                </a:moveTo>
                                <a:lnTo>
                                  <a:pt x="30" y="24"/>
                                </a:lnTo>
                                <a:lnTo>
                                  <a:pt x="57" y="41"/>
                                </a:lnTo>
                                <a:lnTo>
                                  <a:pt x="81" y="51"/>
                                </a:lnTo>
                                <a:lnTo>
                                  <a:pt x="112" y="61"/>
                                </a:lnTo>
                                <a:lnTo>
                                  <a:pt x="92" y="69"/>
                                </a:lnTo>
                                <a:lnTo>
                                  <a:pt x="44" y="51"/>
                                </a:lnTo>
                                <a:lnTo>
                                  <a:pt x="27" y="40"/>
                                </a:lnTo>
                                <a:lnTo>
                                  <a:pt x="14" y="23"/>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5" name="Freeform 277"/>
                          <p:cNvSpPr/>
                          <p:nvPr/>
                        </p:nvSpPr>
                        <p:spPr bwMode="auto">
                          <a:xfrm>
                            <a:off x="2416" y="3082"/>
                            <a:ext cx="16" cy="19"/>
                          </a:xfrm>
                          <a:custGeom>
                            <a:avLst/>
                            <a:gdLst>
                              <a:gd name="T0" fmla="*/ 0 w 115"/>
                              <a:gd name="T1" fmla="*/ 0 h 149"/>
                              <a:gd name="T2" fmla="*/ 14 w 115"/>
                              <a:gd name="T3" fmla="*/ 35 h 149"/>
                              <a:gd name="T4" fmla="*/ 23 w 115"/>
                              <a:gd name="T5" fmla="*/ 54 h 149"/>
                              <a:gd name="T6" fmla="*/ 38 w 115"/>
                              <a:gd name="T7" fmla="*/ 70 h 149"/>
                              <a:gd name="T8" fmla="*/ 57 w 115"/>
                              <a:gd name="T9" fmla="*/ 90 h 149"/>
                              <a:gd name="T10" fmla="*/ 80 w 115"/>
                              <a:gd name="T11" fmla="*/ 111 h 149"/>
                              <a:gd name="T12" fmla="*/ 100 w 115"/>
                              <a:gd name="T13" fmla="*/ 126 h 149"/>
                              <a:gd name="T14" fmla="*/ 115 w 115"/>
                              <a:gd name="T15" fmla="*/ 149 h 149"/>
                              <a:gd name="T16" fmla="*/ 81 w 115"/>
                              <a:gd name="T17" fmla="*/ 124 h 149"/>
                              <a:gd name="T18" fmla="*/ 57 w 115"/>
                              <a:gd name="T19" fmla="*/ 104 h 149"/>
                              <a:gd name="T20" fmla="*/ 27 w 115"/>
                              <a:gd name="T21" fmla="*/ 75 h 149"/>
                              <a:gd name="T22" fmla="*/ 11 w 115"/>
                              <a:gd name="T23" fmla="*/ 48 h 149"/>
                              <a:gd name="T24" fmla="*/ 3 w 115"/>
                              <a:gd name="T25" fmla="*/ 23 h 149"/>
                              <a:gd name="T26" fmla="*/ 0 w 115"/>
                              <a:gd name="T27" fmla="*/ 0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5" h="149">
                                <a:moveTo>
                                  <a:pt x="0" y="0"/>
                                </a:moveTo>
                                <a:lnTo>
                                  <a:pt x="14" y="35"/>
                                </a:lnTo>
                                <a:lnTo>
                                  <a:pt x="23" y="54"/>
                                </a:lnTo>
                                <a:lnTo>
                                  <a:pt x="38" y="70"/>
                                </a:lnTo>
                                <a:lnTo>
                                  <a:pt x="57" y="90"/>
                                </a:lnTo>
                                <a:lnTo>
                                  <a:pt x="80" y="111"/>
                                </a:lnTo>
                                <a:lnTo>
                                  <a:pt x="100" y="126"/>
                                </a:lnTo>
                                <a:lnTo>
                                  <a:pt x="115" y="149"/>
                                </a:lnTo>
                                <a:lnTo>
                                  <a:pt x="81" y="124"/>
                                </a:lnTo>
                                <a:lnTo>
                                  <a:pt x="57" y="104"/>
                                </a:lnTo>
                                <a:lnTo>
                                  <a:pt x="27" y="75"/>
                                </a:lnTo>
                                <a:lnTo>
                                  <a:pt x="11" y="48"/>
                                </a:lnTo>
                                <a:lnTo>
                                  <a:pt x="3" y="23"/>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6" name="Freeform 278"/>
                          <p:cNvSpPr/>
                          <p:nvPr/>
                        </p:nvSpPr>
                        <p:spPr bwMode="auto">
                          <a:xfrm>
                            <a:off x="2448" y="3102"/>
                            <a:ext cx="15" cy="4"/>
                          </a:xfrm>
                          <a:custGeom>
                            <a:avLst/>
                            <a:gdLst>
                              <a:gd name="T0" fmla="*/ 0 w 103"/>
                              <a:gd name="T1" fmla="*/ 26 h 36"/>
                              <a:gd name="T2" fmla="*/ 17 w 103"/>
                              <a:gd name="T3" fmla="*/ 22 h 36"/>
                              <a:gd name="T4" fmla="*/ 34 w 103"/>
                              <a:gd name="T5" fmla="*/ 17 h 36"/>
                              <a:gd name="T6" fmla="*/ 47 w 103"/>
                              <a:gd name="T7" fmla="*/ 9 h 36"/>
                              <a:gd name="T8" fmla="*/ 57 w 103"/>
                              <a:gd name="T9" fmla="*/ 0 h 36"/>
                              <a:gd name="T10" fmla="*/ 64 w 103"/>
                              <a:gd name="T11" fmla="*/ 12 h 36"/>
                              <a:gd name="T12" fmla="*/ 76 w 103"/>
                              <a:gd name="T13" fmla="*/ 19 h 36"/>
                              <a:gd name="T14" fmla="*/ 87 w 103"/>
                              <a:gd name="T15" fmla="*/ 22 h 36"/>
                              <a:gd name="T16" fmla="*/ 103 w 103"/>
                              <a:gd name="T17" fmla="*/ 19 h 36"/>
                              <a:gd name="T18" fmla="*/ 96 w 103"/>
                              <a:gd name="T19" fmla="*/ 28 h 36"/>
                              <a:gd name="T20" fmla="*/ 86 w 103"/>
                              <a:gd name="T21" fmla="*/ 33 h 36"/>
                              <a:gd name="T22" fmla="*/ 74 w 103"/>
                              <a:gd name="T23" fmla="*/ 36 h 36"/>
                              <a:gd name="T24" fmla="*/ 54 w 103"/>
                              <a:gd name="T25" fmla="*/ 36 h 36"/>
                              <a:gd name="T26" fmla="*/ 35 w 103"/>
                              <a:gd name="T27" fmla="*/ 33 h 36"/>
                              <a:gd name="T28" fmla="*/ 15 w 103"/>
                              <a:gd name="T29" fmla="*/ 32 h 36"/>
                              <a:gd name="T30" fmla="*/ 0 w 103"/>
                              <a:gd name="T31" fmla="*/ 2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3" h="36">
                                <a:moveTo>
                                  <a:pt x="0" y="26"/>
                                </a:moveTo>
                                <a:lnTo>
                                  <a:pt x="17" y="22"/>
                                </a:lnTo>
                                <a:lnTo>
                                  <a:pt x="34" y="17"/>
                                </a:lnTo>
                                <a:lnTo>
                                  <a:pt x="47" y="9"/>
                                </a:lnTo>
                                <a:lnTo>
                                  <a:pt x="57" y="0"/>
                                </a:lnTo>
                                <a:lnTo>
                                  <a:pt x="64" y="12"/>
                                </a:lnTo>
                                <a:lnTo>
                                  <a:pt x="76" y="19"/>
                                </a:lnTo>
                                <a:lnTo>
                                  <a:pt x="87" y="22"/>
                                </a:lnTo>
                                <a:lnTo>
                                  <a:pt x="103" y="19"/>
                                </a:lnTo>
                                <a:lnTo>
                                  <a:pt x="96" y="28"/>
                                </a:lnTo>
                                <a:lnTo>
                                  <a:pt x="86" y="33"/>
                                </a:lnTo>
                                <a:lnTo>
                                  <a:pt x="74" y="36"/>
                                </a:lnTo>
                                <a:lnTo>
                                  <a:pt x="54" y="36"/>
                                </a:lnTo>
                                <a:lnTo>
                                  <a:pt x="35" y="33"/>
                                </a:lnTo>
                                <a:lnTo>
                                  <a:pt x="15" y="32"/>
                                </a:lnTo>
                                <a:lnTo>
                                  <a:pt x="0" y="26"/>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27" name="Group 279"/>
                        <p:cNvGrpSpPr/>
                        <p:nvPr/>
                      </p:nvGrpSpPr>
                      <p:grpSpPr bwMode="auto">
                        <a:xfrm>
                          <a:off x="2450" y="3087"/>
                          <a:ext cx="17" cy="11"/>
                          <a:chOff x="2450" y="3087"/>
                          <a:chExt cx="17" cy="11"/>
                        </a:xfrm>
                      </p:grpSpPr>
                      <p:sp>
                        <p:nvSpPr>
                          <p:cNvPr id="642328" name="Freeform 280"/>
                          <p:cNvSpPr/>
                          <p:nvPr/>
                        </p:nvSpPr>
                        <p:spPr bwMode="auto">
                          <a:xfrm>
                            <a:off x="2454" y="3092"/>
                            <a:ext cx="10" cy="6"/>
                          </a:xfrm>
                          <a:custGeom>
                            <a:avLst/>
                            <a:gdLst>
                              <a:gd name="T0" fmla="*/ 8 w 73"/>
                              <a:gd name="T1" fmla="*/ 0 h 49"/>
                              <a:gd name="T2" fmla="*/ 22 w 73"/>
                              <a:gd name="T3" fmla="*/ 7 h 49"/>
                              <a:gd name="T4" fmla="*/ 48 w 73"/>
                              <a:gd name="T5" fmla="*/ 19 h 49"/>
                              <a:gd name="T6" fmla="*/ 73 w 73"/>
                              <a:gd name="T7" fmla="*/ 21 h 49"/>
                              <a:gd name="T8" fmla="*/ 65 w 73"/>
                              <a:gd name="T9" fmla="*/ 36 h 49"/>
                              <a:gd name="T10" fmla="*/ 55 w 73"/>
                              <a:gd name="T11" fmla="*/ 38 h 49"/>
                              <a:gd name="T12" fmla="*/ 46 w 73"/>
                              <a:gd name="T13" fmla="*/ 37 h 49"/>
                              <a:gd name="T14" fmla="*/ 30 w 73"/>
                              <a:gd name="T15" fmla="*/ 32 h 49"/>
                              <a:gd name="T16" fmla="*/ 20 w 73"/>
                              <a:gd name="T17" fmla="*/ 34 h 49"/>
                              <a:gd name="T18" fmla="*/ 10 w 73"/>
                              <a:gd name="T19" fmla="*/ 40 h 49"/>
                              <a:gd name="T20" fmla="*/ 0 w 73"/>
                              <a:gd name="T21" fmla="*/ 49 h 49"/>
                              <a:gd name="T22" fmla="*/ 12 w 73"/>
                              <a:gd name="T23" fmla="*/ 30 h 49"/>
                              <a:gd name="T24" fmla="*/ 15 w 73"/>
                              <a:gd name="T25" fmla="*/ 19 h 49"/>
                              <a:gd name="T26" fmla="*/ 8 w 73"/>
                              <a:gd name="T27"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49">
                                <a:moveTo>
                                  <a:pt x="8" y="0"/>
                                </a:moveTo>
                                <a:lnTo>
                                  <a:pt x="22" y="7"/>
                                </a:lnTo>
                                <a:lnTo>
                                  <a:pt x="48" y="19"/>
                                </a:lnTo>
                                <a:lnTo>
                                  <a:pt x="73" y="21"/>
                                </a:lnTo>
                                <a:lnTo>
                                  <a:pt x="65" y="36"/>
                                </a:lnTo>
                                <a:lnTo>
                                  <a:pt x="55" y="38"/>
                                </a:lnTo>
                                <a:lnTo>
                                  <a:pt x="46" y="37"/>
                                </a:lnTo>
                                <a:lnTo>
                                  <a:pt x="30" y="32"/>
                                </a:lnTo>
                                <a:lnTo>
                                  <a:pt x="20" y="34"/>
                                </a:lnTo>
                                <a:lnTo>
                                  <a:pt x="10" y="40"/>
                                </a:lnTo>
                                <a:lnTo>
                                  <a:pt x="0" y="49"/>
                                </a:lnTo>
                                <a:lnTo>
                                  <a:pt x="12" y="30"/>
                                </a:lnTo>
                                <a:lnTo>
                                  <a:pt x="15" y="19"/>
                                </a:lnTo>
                                <a:lnTo>
                                  <a:pt x="8" y="0"/>
                                </a:lnTo>
                                <a:close/>
                              </a:path>
                            </a:pathLst>
                          </a:custGeom>
                          <a:solidFill>
                            <a:srgbClr val="FF803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9" name="Freeform 281"/>
                          <p:cNvSpPr/>
                          <p:nvPr/>
                        </p:nvSpPr>
                        <p:spPr bwMode="auto">
                          <a:xfrm>
                            <a:off x="2451" y="3089"/>
                            <a:ext cx="13" cy="4"/>
                          </a:xfrm>
                          <a:custGeom>
                            <a:avLst/>
                            <a:gdLst>
                              <a:gd name="T0" fmla="*/ 0 w 95"/>
                              <a:gd name="T1" fmla="*/ 14 h 32"/>
                              <a:gd name="T2" fmla="*/ 41 w 95"/>
                              <a:gd name="T3" fmla="*/ 4 h 32"/>
                              <a:gd name="T4" fmla="*/ 73 w 95"/>
                              <a:gd name="T5" fmla="*/ 0 h 32"/>
                              <a:gd name="T6" fmla="*/ 95 w 95"/>
                              <a:gd name="T7" fmla="*/ 10 h 32"/>
                              <a:gd name="T8" fmla="*/ 95 w 95"/>
                              <a:gd name="T9" fmla="*/ 25 h 32"/>
                              <a:gd name="T10" fmla="*/ 90 w 95"/>
                              <a:gd name="T11" fmla="*/ 32 h 32"/>
                              <a:gd name="T12" fmla="*/ 64 w 95"/>
                              <a:gd name="T13" fmla="*/ 32 h 32"/>
                              <a:gd name="T14" fmla="*/ 0 w 95"/>
                              <a:gd name="T15" fmla="*/ 14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5" h="32">
                                <a:moveTo>
                                  <a:pt x="0" y="14"/>
                                </a:moveTo>
                                <a:lnTo>
                                  <a:pt x="41" y="4"/>
                                </a:lnTo>
                                <a:lnTo>
                                  <a:pt x="73" y="0"/>
                                </a:lnTo>
                                <a:lnTo>
                                  <a:pt x="95" y="10"/>
                                </a:lnTo>
                                <a:lnTo>
                                  <a:pt x="95" y="25"/>
                                </a:lnTo>
                                <a:lnTo>
                                  <a:pt x="90" y="32"/>
                                </a:lnTo>
                                <a:lnTo>
                                  <a:pt x="64" y="32"/>
                                </a:lnTo>
                                <a:lnTo>
                                  <a:pt x="0" y="14"/>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30" name="Freeform 282"/>
                          <p:cNvSpPr/>
                          <p:nvPr/>
                        </p:nvSpPr>
                        <p:spPr bwMode="auto">
                          <a:xfrm>
                            <a:off x="2450" y="3087"/>
                            <a:ext cx="17" cy="5"/>
                          </a:xfrm>
                          <a:custGeom>
                            <a:avLst/>
                            <a:gdLst>
                              <a:gd name="T0" fmla="*/ 0 w 121"/>
                              <a:gd name="T1" fmla="*/ 33 h 34"/>
                              <a:gd name="T2" fmla="*/ 16 w 121"/>
                              <a:gd name="T3" fmla="*/ 34 h 34"/>
                              <a:gd name="T4" fmla="*/ 35 w 121"/>
                              <a:gd name="T5" fmla="*/ 31 h 34"/>
                              <a:gd name="T6" fmla="*/ 59 w 121"/>
                              <a:gd name="T7" fmla="*/ 31 h 34"/>
                              <a:gd name="T8" fmla="*/ 77 w 121"/>
                              <a:gd name="T9" fmla="*/ 29 h 34"/>
                              <a:gd name="T10" fmla="*/ 88 w 121"/>
                              <a:gd name="T11" fmla="*/ 29 h 34"/>
                              <a:gd name="T12" fmla="*/ 105 w 121"/>
                              <a:gd name="T13" fmla="*/ 31 h 34"/>
                              <a:gd name="T14" fmla="*/ 112 w 121"/>
                              <a:gd name="T15" fmla="*/ 27 h 34"/>
                              <a:gd name="T16" fmla="*/ 117 w 121"/>
                              <a:gd name="T17" fmla="*/ 22 h 34"/>
                              <a:gd name="T18" fmla="*/ 121 w 121"/>
                              <a:gd name="T19" fmla="*/ 17 h 34"/>
                              <a:gd name="T20" fmla="*/ 113 w 121"/>
                              <a:gd name="T21" fmla="*/ 8 h 34"/>
                              <a:gd name="T22" fmla="*/ 101 w 121"/>
                              <a:gd name="T23" fmla="*/ 1 h 34"/>
                              <a:gd name="T24" fmla="*/ 90 w 121"/>
                              <a:gd name="T25" fmla="*/ 0 h 34"/>
                              <a:gd name="T26" fmla="*/ 76 w 121"/>
                              <a:gd name="T27" fmla="*/ 1 h 34"/>
                              <a:gd name="T28" fmla="*/ 55 w 121"/>
                              <a:gd name="T29" fmla="*/ 11 h 34"/>
                              <a:gd name="T30" fmla="*/ 37 w 121"/>
                              <a:gd name="T31" fmla="*/ 21 h 34"/>
                              <a:gd name="T32" fmla="*/ 16 w 121"/>
                              <a:gd name="T33" fmla="*/ 26 h 34"/>
                              <a:gd name="T34" fmla="*/ 0 w 121"/>
                              <a:gd name="T35"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 h="34">
                                <a:moveTo>
                                  <a:pt x="0" y="33"/>
                                </a:moveTo>
                                <a:lnTo>
                                  <a:pt x="16" y="34"/>
                                </a:lnTo>
                                <a:lnTo>
                                  <a:pt x="35" y="31"/>
                                </a:lnTo>
                                <a:lnTo>
                                  <a:pt x="59" y="31"/>
                                </a:lnTo>
                                <a:lnTo>
                                  <a:pt x="77" y="29"/>
                                </a:lnTo>
                                <a:lnTo>
                                  <a:pt x="88" y="29"/>
                                </a:lnTo>
                                <a:lnTo>
                                  <a:pt x="105" y="31"/>
                                </a:lnTo>
                                <a:lnTo>
                                  <a:pt x="112" y="27"/>
                                </a:lnTo>
                                <a:lnTo>
                                  <a:pt x="117" y="22"/>
                                </a:lnTo>
                                <a:lnTo>
                                  <a:pt x="121" y="17"/>
                                </a:lnTo>
                                <a:lnTo>
                                  <a:pt x="113" y="8"/>
                                </a:lnTo>
                                <a:lnTo>
                                  <a:pt x="101" y="1"/>
                                </a:lnTo>
                                <a:lnTo>
                                  <a:pt x="90" y="0"/>
                                </a:lnTo>
                                <a:lnTo>
                                  <a:pt x="76" y="1"/>
                                </a:lnTo>
                                <a:lnTo>
                                  <a:pt x="55" y="11"/>
                                </a:lnTo>
                                <a:lnTo>
                                  <a:pt x="37" y="21"/>
                                </a:lnTo>
                                <a:lnTo>
                                  <a:pt x="16" y="26"/>
                                </a:lnTo>
                                <a:lnTo>
                                  <a:pt x="0" y="33"/>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31" name="Freeform 283"/>
                          <p:cNvSpPr/>
                          <p:nvPr/>
                        </p:nvSpPr>
                        <p:spPr bwMode="auto">
                          <a:xfrm>
                            <a:off x="2450" y="3090"/>
                            <a:ext cx="15" cy="6"/>
                          </a:xfrm>
                          <a:custGeom>
                            <a:avLst/>
                            <a:gdLst>
                              <a:gd name="T0" fmla="*/ 0 w 107"/>
                              <a:gd name="T1" fmla="*/ 0 h 43"/>
                              <a:gd name="T2" fmla="*/ 42 w 107"/>
                              <a:gd name="T3" fmla="*/ 10 h 43"/>
                              <a:gd name="T4" fmla="*/ 69 w 107"/>
                              <a:gd name="T5" fmla="*/ 12 h 43"/>
                              <a:gd name="T6" fmla="*/ 82 w 107"/>
                              <a:gd name="T7" fmla="*/ 12 h 43"/>
                              <a:gd name="T8" fmla="*/ 94 w 107"/>
                              <a:gd name="T9" fmla="*/ 10 h 43"/>
                              <a:gd name="T10" fmla="*/ 102 w 107"/>
                              <a:gd name="T11" fmla="*/ 5 h 43"/>
                              <a:gd name="T12" fmla="*/ 106 w 107"/>
                              <a:gd name="T13" fmla="*/ 14 h 43"/>
                              <a:gd name="T14" fmla="*/ 107 w 107"/>
                              <a:gd name="T15" fmla="*/ 23 h 43"/>
                              <a:gd name="T16" fmla="*/ 105 w 107"/>
                              <a:gd name="T17" fmla="*/ 36 h 43"/>
                              <a:gd name="T18" fmla="*/ 97 w 107"/>
                              <a:gd name="T19" fmla="*/ 41 h 43"/>
                              <a:gd name="T20" fmla="*/ 90 w 107"/>
                              <a:gd name="T21" fmla="*/ 43 h 43"/>
                              <a:gd name="T22" fmla="*/ 80 w 107"/>
                              <a:gd name="T23" fmla="*/ 42 h 43"/>
                              <a:gd name="T24" fmla="*/ 64 w 107"/>
                              <a:gd name="T25" fmla="*/ 36 h 43"/>
                              <a:gd name="T26" fmla="*/ 46 w 107"/>
                              <a:gd name="T27" fmla="*/ 29 h 43"/>
                              <a:gd name="T28" fmla="*/ 31 w 107"/>
                              <a:gd name="T29" fmla="*/ 20 h 43"/>
                              <a:gd name="T30" fmla="*/ 19 w 107"/>
                              <a:gd name="T31" fmla="*/ 12 h 43"/>
                              <a:gd name="T32" fmla="*/ 0 w 107"/>
                              <a:gd name="T33"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7" h="43">
                                <a:moveTo>
                                  <a:pt x="0" y="0"/>
                                </a:moveTo>
                                <a:lnTo>
                                  <a:pt x="42" y="10"/>
                                </a:lnTo>
                                <a:lnTo>
                                  <a:pt x="69" y="12"/>
                                </a:lnTo>
                                <a:lnTo>
                                  <a:pt x="82" y="12"/>
                                </a:lnTo>
                                <a:lnTo>
                                  <a:pt x="94" y="10"/>
                                </a:lnTo>
                                <a:lnTo>
                                  <a:pt x="102" y="5"/>
                                </a:lnTo>
                                <a:lnTo>
                                  <a:pt x="106" y="14"/>
                                </a:lnTo>
                                <a:lnTo>
                                  <a:pt x="107" y="23"/>
                                </a:lnTo>
                                <a:lnTo>
                                  <a:pt x="105" y="36"/>
                                </a:lnTo>
                                <a:lnTo>
                                  <a:pt x="97" y="41"/>
                                </a:lnTo>
                                <a:lnTo>
                                  <a:pt x="90" y="43"/>
                                </a:lnTo>
                                <a:lnTo>
                                  <a:pt x="80" y="42"/>
                                </a:lnTo>
                                <a:lnTo>
                                  <a:pt x="64" y="36"/>
                                </a:lnTo>
                                <a:lnTo>
                                  <a:pt x="46" y="29"/>
                                </a:lnTo>
                                <a:lnTo>
                                  <a:pt x="31" y="20"/>
                                </a:lnTo>
                                <a:lnTo>
                                  <a:pt x="19" y="12"/>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grpSp>
            <p:sp>
              <p:nvSpPr>
                <p:cNvPr id="642332" name="Freeform 284"/>
                <p:cNvSpPr/>
                <p:nvPr/>
              </p:nvSpPr>
              <p:spPr bwMode="auto">
                <a:xfrm>
                  <a:off x="2398" y="3018"/>
                  <a:ext cx="78" cy="63"/>
                </a:xfrm>
                <a:custGeom>
                  <a:avLst/>
                  <a:gdLst>
                    <a:gd name="T0" fmla="*/ 545 w 547"/>
                    <a:gd name="T1" fmla="*/ 229 h 502"/>
                    <a:gd name="T2" fmla="*/ 541 w 547"/>
                    <a:gd name="T3" fmla="*/ 166 h 502"/>
                    <a:gd name="T4" fmla="*/ 524 w 547"/>
                    <a:gd name="T5" fmla="*/ 146 h 502"/>
                    <a:gd name="T6" fmla="*/ 511 w 547"/>
                    <a:gd name="T7" fmla="*/ 112 h 502"/>
                    <a:gd name="T8" fmla="*/ 466 w 547"/>
                    <a:gd name="T9" fmla="*/ 86 h 502"/>
                    <a:gd name="T10" fmla="*/ 426 w 547"/>
                    <a:gd name="T11" fmla="*/ 52 h 502"/>
                    <a:gd name="T12" fmla="*/ 374 w 547"/>
                    <a:gd name="T13" fmla="*/ 22 h 502"/>
                    <a:gd name="T14" fmla="*/ 327 w 547"/>
                    <a:gd name="T15" fmla="*/ 9 h 502"/>
                    <a:gd name="T16" fmla="*/ 250 w 547"/>
                    <a:gd name="T17" fmla="*/ 3 h 502"/>
                    <a:gd name="T18" fmla="*/ 197 w 547"/>
                    <a:gd name="T19" fmla="*/ 15 h 502"/>
                    <a:gd name="T20" fmla="*/ 143 w 547"/>
                    <a:gd name="T21" fmla="*/ 20 h 502"/>
                    <a:gd name="T22" fmla="*/ 109 w 547"/>
                    <a:gd name="T23" fmla="*/ 51 h 502"/>
                    <a:gd name="T24" fmla="*/ 84 w 547"/>
                    <a:gd name="T25" fmla="*/ 76 h 502"/>
                    <a:gd name="T26" fmla="*/ 63 w 547"/>
                    <a:gd name="T27" fmla="*/ 101 h 502"/>
                    <a:gd name="T28" fmla="*/ 45 w 547"/>
                    <a:gd name="T29" fmla="*/ 153 h 502"/>
                    <a:gd name="T30" fmla="*/ 11 w 547"/>
                    <a:gd name="T31" fmla="*/ 178 h 502"/>
                    <a:gd name="T32" fmla="*/ 6 w 547"/>
                    <a:gd name="T33" fmla="*/ 229 h 502"/>
                    <a:gd name="T34" fmla="*/ 12 w 547"/>
                    <a:gd name="T35" fmla="*/ 293 h 502"/>
                    <a:gd name="T36" fmla="*/ 0 w 547"/>
                    <a:gd name="T37" fmla="*/ 357 h 502"/>
                    <a:gd name="T38" fmla="*/ 20 w 547"/>
                    <a:gd name="T39" fmla="*/ 432 h 502"/>
                    <a:gd name="T40" fmla="*/ 52 w 547"/>
                    <a:gd name="T41" fmla="*/ 476 h 502"/>
                    <a:gd name="T42" fmla="*/ 84 w 547"/>
                    <a:gd name="T43" fmla="*/ 500 h 502"/>
                    <a:gd name="T44" fmla="*/ 103 w 547"/>
                    <a:gd name="T45" fmla="*/ 469 h 502"/>
                    <a:gd name="T46" fmla="*/ 88 w 547"/>
                    <a:gd name="T47" fmla="*/ 435 h 502"/>
                    <a:gd name="T48" fmla="*/ 64 w 547"/>
                    <a:gd name="T49" fmla="*/ 404 h 502"/>
                    <a:gd name="T50" fmla="*/ 68 w 547"/>
                    <a:gd name="T51" fmla="*/ 359 h 502"/>
                    <a:gd name="T52" fmla="*/ 133 w 547"/>
                    <a:gd name="T53" fmla="*/ 348 h 502"/>
                    <a:gd name="T54" fmla="*/ 150 w 547"/>
                    <a:gd name="T55" fmla="*/ 389 h 502"/>
                    <a:gd name="T56" fmla="*/ 192 w 547"/>
                    <a:gd name="T57" fmla="*/ 389 h 502"/>
                    <a:gd name="T58" fmla="*/ 231 w 547"/>
                    <a:gd name="T59" fmla="*/ 362 h 502"/>
                    <a:gd name="T60" fmla="*/ 270 w 547"/>
                    <a:gd name="T61" fmla="*/ 332 h 502"/>
                    <a:gd name="T62" fmla="*/ 279 w 547"/>
                    <a:gd name="T63" fmla="*/ 274 h 502"/>
                    <a:gd name="T64" fmla="*/ 331 w 547"/>
                    <a:gd name="T65" fmla="*/ 276 h 502"/>
                    <a:gd name="T66" fmla="*/ 339 w 547"/>
                    <a:gd name="T67" fmla="*/ 287 h 502"/>
                    <a:gd name="T68" fmla="*/ 306 w 547"/>
                    <a:gd name="T69" fmla="*/ 308 h 502"/>
                    <a:gd name="T70" fmla="*/ 327 w 547"/>
                    <a:gd name="T71" fmla="*/ 322 h 502"/>
                    <a:gd name="T72" fmla="*/ 378 w 547"/>
                    <a:gd name="T73" fmla="*/ 319 h 502"/>
                    <a:gd name="T74" fmla="*/ 380 w 547"/>
                    <a:gd name="T75" fmla="*/ 335 h 502"/>
                    <a:gd name="T76" fmla="*/ 403 w 547"/>
                    <a:gd name="T77" fmla="*/ 342 h 502"/>
                    <a:gd name="T78" fmla="*/ 451 w 547"/>
                    <a:gd name="T79" fmla="*/ 317 h 502"/>
                    <a:gd name="T80" fmla="*/ 433 w 547"/>
                    <a:gd name="T81" fmla="*/ 348 h 502"/>
                    <a:gd name="T82" fmla="*/ 484 w 547"/>
                    <a:gd name="T83" fmla="*/ 340 h 502"/>
                    <a:gd name="T84" fmla="*/ 530 w 547"/>
                    <a:gd name="T85" fmla="*/ 280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47" h="502">
                      <a:moveTo>
                        <a:pt x="530" y="280"/>
                      </a:moveTo>
                      <a:lnTo>
                        <a:pt x="540" y="250"/>
                      </a:lnTo>
                      <a:lnTo>
                        <a:pt x="545" y="229"/>
                      </a:lnTo>
                      <a:lnTo>
                        <a:pt x="547" y="207"/>
                      </a:lnTo>
                      <a:lnTo>
                        <a:pt x="546" y="187"/>
                      </a:lnTo>
                      <a:lnTo>
                        <a:pt x="541" y="166"/>
                      </a:lnTo>
                      <a:lnTo>
                        <a:pt x="529" y="162"/>
                      </a:lnTo>
                      <a:lnTo>
                        <a:pt x="518" y="160"/>
                      </a:lnTo>
                      <a:lnTo>
                        <a:pt x="524" y="146"/>
                      </a:lnTo>
                      <a:lnTo>
                        <a:pt x="527" y="133"/>
                      </a:lnTo>
                      <a:lnTo>
                        <a:pt x="524" y="123"/>
                      </a:lnTo>
                      <a:lnTo>
                        <a:pt x="511" y="112"/>
                      </a:lnTo>
                      <a:lnTo>
                        <a:pt x="491" y="104"/>
                      </a:lnTo>
                      <a:lnTo>
                        <a:pt x="475" y="99"/>
                      </a:lnTo>
                      <a:lnTo>
                        <a:pt x="466" y="86"/>
                      </a:lnTo>
                      <a:lnTo>
                        <a:pt x="454" y="77"/>
                      </a:lnTo>
                      <a:lnTo>
                        <a:pt x="438" y="70"/>
                      </a:lnTo>
                      <a:lnTo>
                        <a:pt x="426" y="52"/>
                      </a:lnTo>
                      <a:lnTo>
                        <a:pt x="410" y="40"/>
                      </a:lnTo>
                      <a:lnTo>
                        <a:pt x="387" y="34"/>
                      </a:lnTo>
                      <a:lnTo>
                        <a:pt x="374" y="22"/>
                      </a:lnTo>
                      <a:lnTo>
                        <a:pt x="362" y="15"/>
                      </a:lnTo>
                      <a:lnTo>
                        <a:pt x="341" y="12"/>
                      </a:lnTo>
                      <a:lnTo>
                        <a:pt x="327" y="9"/>
                      </a:lnTo>
                      <a:lnTo>
                        <a:pt x="298" y="3"/>
                      </a:lnTo>
                      <a:lnTo>
                        <a:pt x="272" y="0"/>
                      </a:lnTo>
                      <a:lnTo>
                        <a:pt x="250" y="3"/>
                      </a:lnTo>
                      <a:lnTo>
                        <a:pt x="231" y="11"/>
                      </a:lnTo>
                      <a:lnTo>
                        <a:pt x="212" y="13"/>
                      </a:lnTo>
                      <a:lnTo>
                        <a:pt x="197" y="15"/>
                      </a:lnTo>
                      <a:lnTo>
                        <a:pt x="181" y="12"/>
                      </a:lnTo>
                      <a:lnTo>
                        <a:pt x="162" y="15"/>
                      </a:lnTo>
                      <a:lnTo>
                        <a:pt x="143" y="20"/>
                      </a:lnTo>
                      <a:lnTo>
                        <a:pt x="128" y="32"/>
                      </a:lnTo>
                      <a:lnTo>
                        <a:pt x="121" y="46"/>
                      </a:lnTo>
                      <a:lnTo>
                        <a:pt x="109" y="51"/>
                      </a:lnTo>
                      <a:lnTo>
                        <a:pt x="100" y="61"/>
                      </a:lnTo>
                      <a:lnTo>
                        <a:pt x="93" y="72"/>
                      </a:lnTo>
                      <a:lnTo>
                        <a:pt x="84" y="76"/>
                      </a:lnTo>
                      <a:lnTo>
                        <a:pt x="78" y="81"/>
                      </a:lnTo>
                      <a:lnTo>
                        <a:pt x="74" y="93"/>
                      </a:lnTo>
                      <a:lnTo>
                        <a:pt x="63" y="101"/>
                      </a:lnTo>
                      <a:lnTo>
                        <a:pt x="56" y="111"/>
                      </a:lnTo>
                      <a:lnTo>
                        <a:pt x="51" y="129"/>
                      </a:lnTo>
                      <a:lnTo>
                        <a:pt x="45" y="153"/>
                      </a:lnTo>
                      <a:lnTo>
                        <a:pt x="27" y="158"/>
                      </a:lnTo>
                      <a:lnTo>
                        <a:pt x="16" y="165"/>
                      </a:lnTo>
                      <a:lnTo>
                        <a:pt x="11" y="178"/>
                      </a:lnTo>
                      <a:lnTo>
                        <a:pt x="14" y="190"/>
                      </a:lnTo>
                      <a:lnTo>
                        <a:pt x="9" y="209"/>
                      </a:lnTo>
                      <a:lnTo>
                        <a:pt x="6" y="229"/>
                      </a:lnTo>
                      <a:lnTo>
                        <a:pt x="7" y="249"/>
                      </a:lnTo>
                      <a:lnTo>
                        <a:pt x="11" y="273"/>
                      </a:lnTo>
                      <a:lnTo>
                        <a:pt x="12" y="293"/>
                      </a:lnTo>
                      <a:lnTo>
                        <a:pt x="9" y="315"/>
                      </a:lnTo>
                      <a:lnTo>
                        <a:pt x="3" y="335"/>
                      </a:lnTo>
                      <a:lnTo>
                        <a:pt x="0" y="357"/>
                      </a:lnTo>
                      <a:lnTo>
                        <a:pt x="3" y="383"/>
                      </a:lnTo>
                      <a:lnTo>
                        <a:pt x="8" y="407"/>
                      </a:lnTo>
                      <a:lnTo>
                        <a:pt x="20" y="432"/>
                      </a:lnTo>
                      <a:lnTo>
                        <a:pt x="28" y="449"/>
                      </a:lnTo>
                      <a:lnTo>
                        <a:pt x="39" y="461"/>
                      </a:lnTo>
                      <a:lnTo>
                        <a:pt x="52" y="476"/>
                      </a:lnTo>
                      <a:lnTo>
                        <a:pt x="58" y="492"/>
                      </a:lnTo>
                      <a:lnTo>
                        <a:pt x="69" y="502"/>
                      </a:lnTo>
                      <a:lnTo>
                        <a:pt x="84" y="500"/>
                      </a:lnTo>
                      <a:lnTo>
                        <a:pt x="97" y="494"/>
                      </a:lnTo>
                      <a:lnTo>
                        <a:pt x="103" y="480"/>
                      </a:lnTo>
                      <a:lnTo>
                        <a:pt x="103" y="469"/>
                      </a:lnTo>
                      <a:lnTo>
                        <a:pt x="99" y="447"/>
                      </a:lnTo>
                      <a:lnTo>
                        <a:pt x="103" y="438"/>
                      </a:lnTo>
                      <a:lnTo>
                        <a:pt x="88" y="435"/>
                      </a:lnTo>
                      <a:lnTo>
                        <a:pt x="74" y="438"/>
                      </a:lnTo>
                      <a:lnTo>
                        <a:pt x="70" y="419"/>
                      </a:lnTo>
                      <a:lnTo>
                        <a:pt x="64" y="404"/>
                      </a:lnTo>
                      <a:lnTo>
                        <a:pt x="69" y="385"/>
                      </a:lnTo>
                      <a:lnTo>
                        <a:pt x="70" y="372"/>
                      </a:lnTo>
                      <a:lnTo>
                        <a:pt x="68" y="359"/>
                      </a:lnTo>
                      <a:lnTo>
                        <a:pt x="88" y="347"/>
                      </a:lnTo>
                      <a:lnTo>
                        <a:pt x="110" y="343"/>
                      </a:lnTo>
                      <a:lnTo>
                        <a:pt x="133" y="348"/>
                      </a:lnTo>
                      <a:lnTo>
                        <a:pt x="134" y="363"/>
                      </a:lnTo>
                      <a:lnTo>
                        <a:pt x="141" y="377"/>
                      </a:lnTo>
                      <a:lnTo>
                        <a:pt x="150" y="389"/>
                      </a:lnTo>
                      <a:lnTo>
                        <a:pt x="164" y="393"/>
                      </a:lnTo>
                      <a:lnTo>
                        <a:pt x="180" y="394"/>
                      </a:lnTo>
                      <a:lnTo>
                        <a:pt x="192" y="389"/>
                      </a:lnTo>
                      <a:lnTo>
                        <a:pt x="206" y="377"/>
                      </a:lnTo>
                      <a:lnTo>
                        <a:pt x="216" y="359"/>
                      </a:lnTo>
                      <a:lnTo>
                        <a:pt x="231" y="362"/>
                      </a:lnTo>
                      <a:lnTo>
                        <a:pt x="245" y="359"/>
                      </a:lnTo>
                      <a:lnTo>
                        <a:pt x="262" y="348"/>
                      </a:lnTo>
                      <a:lnTo>
                        <a:pt x="270" y="332"/>
                      </a:lnTo>
                      <a:lnTo>
                        <a:pt x="273" y="317"/>
                      </a:lnTo>
                      <a:lnTo>
                        <a:pt x="268" y="293"/>
                      </a:lnTo>
                      <a:lnTo>
                        <a:pt x="279" y="274"/>
                      </a:lnTo>
                      <a:lnTo>
                        <a:pt x="298" y="277"/>
                      </a:lnTo>
                      <a:lnTo>
                        <a:pt x="318" y="280"/>
                      </a:lnTo>
                      <a:lnTo>
                        <a:pt x="331" y="276"/>
                      </a:lnTo>
                      <a:lnTo>
                        <a:pt x="339" y="268"/>
                      </a:lnTo>
                      <a:lnTo>
                        <a:pt x="342" y="275"/>
                      </a:lnTo>
                      <a:lnTo>
                        <a:pt x="339" y="287"/>
                      </a:lnTo>
                      <a:lnTo>
                        <a:pt x="331" y="296"/>
                      </a:lnTo>
                      <a:lnTo>
                        <a:pt x="321" y="303"/>
                      </a:lnTo>
                      <a:lnTo>
                        <a:pt x="306" y="308"/>
                      </a:lnTo>
                      <a:lnTo>
                        <a:pt x="291" y="311"/>
                      </a:lnTo>
                      <a:lnTo>
                        <a:pt x="310" y="319"/>
                      </a:lnTo>
                      <a:lnTo>
                        <a:pt x="327" y="322"/>
                      </a:lnTo>
                      <a:lnTo>
                        <a:pt x="343" y="323"/>
                      </a:lnTo>
                      <a:lnTo>
                        <a:pt x="362" y="322"/>
                      </a:lnTo>
                      <a:lnTo>
                        <a:pt x="378" y="319"/>
                      </a:lnTo>
                      <a:lnTo>
                        <a:pt x="398" y="317"/>
                      </a:lnTo>
                      <a:lnTo>
                        <a:pt x="390" y="328"/>
                      </a:lnTo>
                      <a:lnTo>
                        <a:pt x="380" y="335"/>
                      </a:lnTo>
                      <a:lnTo>
                        <a:pt x="367" y="341"/>
                      </a:lnTo>
                      <a:lnTo>
                        <a:pt x="382" y="343"/>
                      </a:lnTo>
                      <a:lnTo>
                        <a:pt x="403" y="342"/>
                      </a:lnTo>
                      <a:lnTo>
                        <a:pt x="419" y="339"/>
                      </a:lnTo>
                      <a:lnTo>
                        <a:pt x="432" y="332"/>
                      </a:lnTo>
                      <a:lnTo>
                        <a:pt x="451" y="317"/>
                      </a:lnTo>
                      <a:lnTo>
                        <a:pt x="450" y="327"/>
                      </a:lnTo>
                      <a:lnTo>
                        <a:pt x="442" y="339"/>
                      </a:lnTo>
                      <a:lnTo>
                        <a:pt x="433" y="348"/>
                      </a:lnTo>
                      <a:lnTo>
                        <a:pt x="450" y="350"/>
                      </a:lnTo>
                      <a:lnTo>
                        <a:pt x="469" y="347"/>
                      </a:lnTo>
                      <a:lnTo>
                        <a:pt x="484" y="340"/>
                      </a:lnTo>
                      <a:lnTo>
                        <a:pt x="502" y="324"/>
                      </a:lnTo>
                      <a:lnTo>
                        <a:pt x="517" y="306"/>
                      </a:lnTo>
                      <a:lnTo>
                        <a:pt x="530" y="280"/>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333" name="Group 285"/>
            <p:cNvGrpSpPr/>
            <p:nvPr/>
          </p:nvGrpSpPr>
          <p:grpSpPr bwMode="auto">
            <a:xfrm>
              <a:off x="2570" y="2934"/>
              <a:ext cx="238" cy="267"/>
              <a:chOff x="2570" y="2934"/>
              <a:chExt cx="238" cy="267"/>
            </a:xfrm>
          </p:grpSpPr>
          <p:grpSp>
            <p:nvGrpSpPr>
              <p:cNvPr id="642334" name="Group 286"/>
              <p:cNvGrpSpPr/>
              <p:nvPr/>
            </p:nvGrpSpPr>
            <p:grpSpPr bwMode="auto">
              <a:xfrm>
                <a:off x="2570" y="2992"/>
                <a:ext cx="154" cy="209"/>
                <a:chOff x="2570" y="2992"/>
                <a:chExt cx="154" cy="209"/>
              </a:xfrm>
            </p:grpSpPr>
            <p:grpSp>
              <p:nvGrpSpPr>
                <p:cNvPr id="642335" name="Group 287"/>
                <p:cNvGrpSpPr/>
                <p:nvPr/>
              </p:nvGrpSpPr>
              <p:grpSpPr bwMode="auto">
                <a:xfrm>
                  <a:off x="2570" y="2992"/>
                  <a:ext cx="154" cy="209"/>
                  <a:chOff x="2570" y="2992"/>
                  <a:chExt cx="154" cy="209"/>
                </a:xfrm>
              </p:grpSpPr>
              <p:grpSp>
                <p:nvGrpSpPr>
                  <p:cNvPr id="642336" name="Group 288"/>
                  <p:cNvGrpSpPr/>
                  <p:nvPr/>
                </p:nvGrpSpPr>
                <p:grpSpPr bwMode="auto">
                  <a:xfrm>
                    <a:off x="2570" y="3112"/>
                    <a:ext cx="67" cy="89"/>
                    <a:chOff x="2570" y="3112"/>
                    <a:chExt cx="67" cy="89"/>
                  </a:xfrm>
                </p:grpSpPr>
                <p:grpSp>
                  <p:nvGrpSpPr>
                    <p:cNvPr id="642337" name="Group 289"/>
                    <p:cNvGrpSpPr/>
                    <p:nvPr/>
                  </p:nvGrpSpPr>
                  <p:grpSpPr bwMode="auto">
                    <a:xfrm>
                      <a:off x="2570" y="3133"/>
                      <a:ext cx="51" cy="68"/>
                      <a:chOff x="2570" y="3133"/>
                      <a:chExt cx="51" cy="68"/>
                    </a:xfrm>
                  </p:grpSpPr>
                  <p:sp>
                    <p:nvSpPr>
                      <p:cNvPr id="642338" name="Freeform 290"/>
                      <p:cNvSpPr/>
                      <p:nvPr/>
                    </p:nvSpPr>
                    <p:spPr bwMode="auto">
                      <a:xfrm>
                        <a:off x="2587" y="3178"/>
                        <a:ext cx="16" cy="9"/>
                      </a:xfrm>
                      <a:custGeom>
                        <a:avLst/>
                        <a:gdLst>
                          <a:gd name="T0" fmla="*/ 0 w 116"/>
                          <a:gd name="T1" fmla="*/ 43 h 67"/>
                          <a:gd name="T2" fmla="*/ 26 w 116"/>
                          <a:gd name="T3" fmla="*/ 0 h 67"/>
                          <a:gd name="T4" fmla="*/ 52 w 116"/>
                          <a:gd name="T5" fmla="*/ 2 h 67"/>
                          <a:gd name="T6" fmla="*/ 75 w 116"/>
                          <a:gd name="T7" fmla="*/ 9 h 67"/>
                          <a:gd name="T8" fmla="*/ 116 w 116"/>
                          <a:gd name="T9" fmla="*/ 25 h 67"/>
                          <a:gd name="T10" fmla="*/ 103 w 116"/>
                          <a:gd name="T11" fmla="*/ 67 h 67"/>
                          <a:gd name="T12" fmla="*/ 0 w 116"/>
                          <a:gd name="T13" fmla="*/ 43 h 67"/>
                        </a:gdLst>
                        <a:ahLst/>
                        <a:cxnLst>
                          <a:cxn ang="0">
                            <a:pos x="T0" y="T1"/>
                          </a:cxn>
                          <a:cxn ang="0">
                            <a:pos x="T2" y="T3"/>
                          </a:cxn>
                          <a:cxn ang="0">
                            <a:pos x="T4" y="T5"/>
                          </a:cxn>
                          <a:cxn ang="0">
                            <a:pos x="T6" y="T7"/>
                          </a:cxn>
                          <a:cxn ang="0">
                            <a:pos x="T8" y="T9"/>
                          </a:cxn>
                          <a:cxn ang="0">
                            <a:pos x="T10" y="T11"/>
                          </a:cxn>
                          <a:cxn ang="0">
                            <a:pos x="T12" y="T13"/>
                          </a:cxn>
                        </a:cxnLst>
                        <a:rect l="0" t="0" r="r" b="b"/>
                        <a:pathLst>
                          <a:path w="116" h="67">
                            <a:moveTo>
                              <a:pt x="0" y="43"/>
                            </a:moveTo>
                            <a:lnTo>
                              <a:pt x="26" y="0"/>
                            </a:lnTo>
                            <a:lnTo>
                              <a:pt x="52" y="2"/>
                            </a:lnTo>
                            <a:lnTo>
                              <a:pt x="75" y="9"/>
                            </a:lnTo>
                            <a:lnTo>
                              <a:pt x="116" y="25"/>
                            </a:lnTo>
                            <a:lnTo>
                              <a:pt x="103" y="67"/>
                            </a:lnTo>
                            <a:lnTo>
                              <a:pt x="0" y="43"/>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39" name="Freeform 291"/>
                      <p:cNvSpPr/>
                      <p:nvPr/>
                    </p:nvSpPr>
                    <p:spPr bwMode="auto">
                      <a:xfrm>
                        <a:off x="2583" y="3183"/>
                        <a:ext cx="18" cy="7"/>
                      </a:xfrm>
                      <a:custGeom>
                        <a:avLst/>
                        <a:gdLst>
                          <a:gd name="T0" fmla="*/ 32 w 127"/>
                          <a:gd name="T1" fmla="*/ 0 h 61"/>
                          <a:gd name="T2" fmla="*/ 49 w 127"/>
                          <a:gd name="T3" fmla="*/ 1 h 61"/>
                          <a:gd name="T4" fmla="*/ 77 w 127"/>
                          <a:gd name="T5" fmla="*/ 8 h 61"/>
                          <a:gd name="T6" fmla="*/ 105 w 127"/>
                          <a:gd name="T7" fmla="*/ 16 h 61"/>
                          <a:gd name="T8" fmla="*/ 124 w 127"/>
                          <a:gd name="T9" fmla="*/ 20 h 61"/>
                          <a:gd name="T10" fmla="*/ 127 w 127"/>
                          <a:gd name="T11" fmla="*/ 29 h 61"/>
                          <a:gd name="T12" fmla="*/ 126 w 127"/>
                          <a:gd name="T13" fmla="*/ 41 h 61"/>
                          <a:gd name="T14" fmla="*/ 116 w 127"/>
                          <a:gd name="T15" fmla="*/ 54 h 61"/>
                          <a:gd name="T16" fmla="*/ 102 w 127"/>
                          <a:gd name="T17" fmla="*/ 61 h 61"/>
                          <a:gd name="T18" fmla="*/ 77 w 127"/>
                          <a:gd name="T19" fmla="*/ 56 h 61"/>
                          <a:gd name="T20" fmla="*/ 35 w 127"/>
                          <a:gd name="T21" fmla="*/ 44 h 61"/>
                          <a:gd name="T22" fmla="*/ 0 w 127"/>
                          <a:gd name="T23" fmla="*/ 22 h 61"/>
                          <a:gd name="T24" fmla="*/ 32 w 127"/>
                          <a:gd name="T25"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7" h="61">
                            <a:moveTo>
                              <a:pt x="32" y="0"/>
                            </a:moveTo>
                            <a:lnTo>
                              <a:pt x="49" y="1"/>
                            </a:lnTo>
                            <a:lnTo>
                              <a:pt x="77" y="8"/>
                            </a:lnTo>
                            <a:lnTo>
                              <a:pt x="105" y="16"/>
                            </a:lnTo>
                            <a:lnTo>
                              <a:pt x="124" y="20"/>
                            </a:lnTo>
                            <a:lnTo>
                              <a:pt x="127" y="29"/>
                            </a:lnTo>
                            <a:lnTo>
                              <a:pt x="126" y="41"/>
                            </a:lnTo>
                            <a:lnTo>
                              <a:pt x="116" y="54"/>
                            </a:lnTo>
                            <a:lnTo>
                              <a:pt x="102" y="61"/>
                            </a:lnTo>
                            <a:lnTo>
                              <a:pt x="77" y="56"/>
                            </a:lnTo>
                            <a:lnTo>
                              <a:pt x="35" y="44"/>
                            </a:lnTo>
                            <a:lnTo>
                              <a:pt x="0" y="22"/>
                            </a:lnTo>
                            <a:lnTo>
                              <a:pt x="32"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0" name="Freeform 292"/>
                      <p:cNvSpPr/>
                      <p:nvPr/>
                    </p:nvSpPr>
                    <p:spPr bwMode="auto">
                      <a:xfrm>
                        <a:off x="2570" y="3133"/>
                        <a:ext cx="51" cy="68"/>
                      </a:xfrm>
                      <a:custGeom>
                        <a:avLst/>
                        <a:gdLst>
                          <a:gd name="T0" fmla="*/ 250 w 352"/>
                          <a:gd name="T1" fmla="*/ 21 h 544"/>
                          <a:gd name="T2" fmla="*/ 231 w 352"/>
                          <a:gd name="T3" fmla="*/ 69 h 544"/>
                          <a:gd name="T4" fmla="*/ 211 w 352"/>
                          <a:gd name="T5" fmla="*/ 103 h 544"/>
                          <a:gd name="T6" fmla="*/ 177 w 352"/>
                          <a:gd name="T7" fmla="*/ 135 h 544"/>
                          <a:gd name="T8" fmla="*/ 170 w 352"/>
                          <a:gd name="T9" fmla="*/ 152 h 544"/>
                          <a:gd name="T10" fmla="*/ 161 w 352"/>
                          <a:gd name="T11" fmla="*/ 194 h 544"/>
                          <a:gd name="T12" fmla="*/ 134 w 352"/>
                          <a:gd name="T13" fmla="*/ 227 h 544"/>
                          <a:gd name="T14" fmla="*/ 108 w 352"/>
                          <a:gd name="T15" fmla="*/ 275 h 544"/>
                          <a:gd name="T16" fmla="*/ 86 w 352"/>
                          <a:gd name="T17" fmla="*/ 320 h 544"/>
                          <a:gd name="T18" fmla="*/ 84 w 352"/>
                          <a:gd name="T19" fmla="*/ 366 h 544"/>
                          <a:gd name="T20" fmla="*/ 87 w 352"/>
                          <a:gd name="T21" fmla="*/ 405 h 544"/>
                          <a:gd name="T22" fmla="*/ 72 w 352"/>
                          <a:gd name="T23" fmla="*/ 443 h 544"/>
                          <a:gd name="T24" fmla="*/ 0 w 352"/>
                          <a:gd name="T25" fmla="*/ 532 h 544"/>
                          <a:gd name="T26" fmla="*/ 60 w 352"/>
                          <a:gd name="T27" fmla="*/ 520 h 544"/>
                          <a:gd name="T28" fmla="*/ 113 w 352"/>
                          <a:gd name="T29" fmla="*/ 466 h 544"/>
                          <a:gd name="T30" fmla="*/ 147 w 352"/>
                          <a:gd name="T31" fmla="*/ 421 h 544"/>
                          <a:gd name="T32" fmla="*/ 183 w 352"/>
                          <a:gd name="T33" fmla="*/ 371 h 544"/>
                          <a:gd name="T34" fmla="*/ 210 w 352"/>
                          <a:gd name="T35" fmla="*/ 344 h 544"/>
                          <a:gd name="T36" fmla="*/ 196 w 352"/>
                          <a:gd name="T37" fmla="*/ 394 h 544"/>
                          <a:gd name="T38" fmla="*/ 194 w 352"/>
                          <a:gd name="T39" fmla="*/ 451 h 544"/>
                          <a:gd name="T40" fmla="*/ 209 w 352"/>
                          <a:gd name="T41" fmla="*/ 500 h 544"/>
                          <a:gd name="T42" fmla="*/ 226 w 352"/>
                          <a:gd name="T43" fmla="*/ 517 h 544"/>
                          <a:gd name="T44" fmla="*/ 249 w 352"/>
                          <a:gd name="T45" fmla="*/ 518 h 544"/>
                          <a:gd name="T46" fmla="*/ 261 w 352"/>
                          <a:gd name="T47" fmla="*/ 503 h 544"/>
                          <a:gd name="T48" fmla="*/ 248 w 352"/>
                          <a:gd name="T49" fmla="*/ 480 h 544"/>
                          <a:gd name="T50" fmla="*/ 237 w 352"/>
                          <a:gd name="T51" fmla="*/ 440 h 544"/>
                          <a:gd name="T52" fmla="*/ 246 w 352"/>
                          <a:gd name="T53" fmla="*/ 387 h 544"/>
                          <a:gd name="T54" fmla="*/ 261 w 352"/>
                          <a:gd name="T55" fmla="*/ 350 h 544"/>
                          <a:gd name="T56" fmla="*/ 274 w 352"/>
                          <a:gd name="T57" fmla="*/ 320 h 544"/>
                          <a:gd name="T58" fmla="*/ 280 w 352"/>
                          <a:gd name="T59" fmla="*/ 261 h 544"/>
                          <a:gd name="T60" fmla="*/ 317 w 352"/>
                          <a:gd name="T61" fmla="*/ 175 h 544"/>
                          <a:gd name="T62" fmla="*/ 345 w 352"/>
                          <a:gd name="T63" fmla="*/ 91 h 544"/>
                          <a:gd name="T64" fmla="*/ 262 w 352"/>
                          <a:gd name="T65" fmla="*/ 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52" h="544">
                            <a:moveTo>
                              <a:pt x="262" y="0"/>
                            </a:moveTo>
                            <a:lnTo>
                              <a:pt x="250" y="21"/>
                            </a:lnTo>
                            <a:lnTo>
                              <a:pt x="244" y="45"/>
                            </a:lnTo>
                            <a:lnTo>
                              <a:pt x="231" y="69"/>
                            </a:lnTo>
                            <a:lnTo>
                              <a:pt x="221" y="85"/>
                            </a:lnTo>
                            <a:lnTo>
                              <a:pt x="211" y="103"/>
                            </a:lnTo>
                            <a:lnTo>
                              <a:pt x="195" y="121"/>
                            </a:lnTo>
                            <a:lnTo>
                              <a:pt x="177" y="135"/>
                            </a:lnTo>
                            <a:lnTo>
                              <a:pt x="173" y="140"/>
                            </a:lnTo>
                            <a:lnTo>
                              <a:pt x="170" y="152"/>
                            </a:lnTo>
                            <a:lnTo>
                              <a:pt x="168" y="171"/>
                            </a:lnTo>
                            <a:lnTo>
                              <a:pt x="161" y="194"/>
                            </a:lnTo>
                            <a:lnTo>
                              <a:pt x="146" y="210"/>
                            </a:lnTo>
                            <a:lnTo>
                              <a:pt x="134" y="227"/>
                            </a:lnTo>
                            <a:lnTo>
                              <a:pt x="126" y="243"/>
                            </a:lnTo>
                            <a:lnTo>
                              <a:pt x="108" y="275"/>
                            </a:lnTo>
                            <a:lnTo>
                              <a:pt x="89" y="309"/>
                            </a:lnTo>
                            <a:lnTo>
                              <a:pt x="86" y="320"/>
                            </a:lnTo>
                            <a:lnTo>
                              <a:pt x="85" y="341"/>
                            </a:lnTo>
                            <a:lnTo>
                              <a:pt x="84" y="366"/>
                            </a:lnTo>
                            <a:lnTo>
                              <a:pt x="85" y="387"/>
                            </a:lnTo>
                            <a:lnTo>
                              <a:pt x="87" y="405"/>
                            </a:lnTo>
                            <a:lnTo>
                              <a:pt x="84" y="421"/>
                            </a:lnTo>
                            <a:lnTo>
                              <a:pt x="72" y="443"/>
                            </a:lnTo>
                            <a:lnTo>
                              <a:pt x="55" y="465"/>
                            </a:lnTo>
                            <a:lnTo>
                              <a:pt x="0" y="532"/>
                            </a:lnTo>
                            <a:lnTo>
                              <a:pt x="37" y="544"/>
                            </a:lnTo>
                            <a:lnTo>
                              <a:pt x="60" y="520"/>
                            </a:lnTo>
                            <a:lnTo>
                              <a:pt x="90" y="490"/>
                            </a:lnTo>
                            <a:lnTo>
                              <a:pt x="113" y="466"/>
                            </a:lnTo>
                            <a:lnTo>
                              <a:pt x="133" y="441"/>
                            </a:lnTo>
                            <a:lnTo>
                              <a:pt x="147" y="421"/>
                            </a:lnTo>
                            <a:lnTo>
                              <a:pt x="161" y="389"/>
                            </a:lnTo>
                            <a:lnTo>
                              <a:pt x="183" y="371"/>
                            </a:lnTo>
                            <a:lnTo>
                              <a:pt x="201" y="358"/>
                            </a:lnTo>
                            <a:lnTo>
                              <a:pt x="210" y="344"/>
                            </a:lnTo>
                            <a:lnTo>
                              <a:pt x="204" y="370"/>
                            </a:lnTo>
                            <a:lnTo>
                              <a:pt x="196" y="394"/>
                            </a:lnTo>
                            <a:lnTo>
                              <a:pt x="192" y="422"/>
                            </a:lnTo>
                            <a:lnTo>
                              <a:pt x="194" y="451"/>
                            </a:lnTo>
                            <a:lnTo>
                              <a:pt x="203" y="482"/>
                            </a:lnTo>
                            <a:lnTo>
                              <a:pt x="209" y="500"/>
                            </a:lnTo>
                            <a:lnTo>
                              <a:pt x="216" y="511"/>
                            </a:lnTo>
                            <a:lnTo>
                              <a:pt x="226" y="517"/>
                            </a:lnTo>
                            <a:lnTo>
                              <a:pt x="238" y="520"/>
                            </a:lnTo>
                            <a:lnTo>
                              <a:pt x="249" y="518"/>
                            </a:lnTo>
                            <a:lnTo>
                              <a:pt x="257" y="515"/>
                            </a:lnTo>
                            <a:lnTo>
                              <a:pt x="261" y="503"/>
                            </a:lnTo>
                            <a:lnTo>
                              <a:pt x="257" y="489"/>
                            </a:lnTo>
                            <a:lnTo>
                              <a:pt x="248" y="480"/>
                            </a:lnTo>
                            <a:lnTo>
                              <a:pt x="239" y="469"/>
                            </a:lnTo>
                            <a:lnTo>
                              <a:pt x="237" y="440"/>
                            </a:lnTo>
                            <a:lnTo>
                              <a:pt x="244" y="409"/>
                            </a:lnTo>
                            <a:lnTo>
                              <a:pt x="246" y="387"/>
                            </a:lnTo>
                            <a:lnTo>
                              <a:pt x="254" y="367"/>
                            </a:lnTo>
                            <a:lnTo>
                              <a:pt x="261" y="350"/>
                            </a:lnTo>
                            <a:lnTo>
                              <a:pt x="272" y="332"/>
                            </a:lnTo>
                            <a:lnTo>
                              <a:pt x="274" y="320"/>
                            </a:lnTo>
                            <a:lnTo>
                              <a:pt x="279" y="288"/>
                            </a:lnTo>
                            <a:lnTo>
                              <a:pt x="280" y="261"/>
                            </a:lnTo>
                            <a:lnTo>
                              <a:pt x="301" y="215"/>
                            </a:lnTo>
                            <a:lnTo>
                              <a:pt x="317" y="175"/>
                            </a:lnTo>
                            <a:lnTo>
                              <a:pt x="329" y="135"/>
                            </a:lnTo>
                            <a:lnTo>
                              <a:pt x="345" y="91"/>
                            </a:lnTo>
                            <a:lnTo>
                              <a:pt x="352" y="17"/>
                            </a:lnTo>
                            <a:lnTo>
                              <a:pt x="262" y="0"/>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1" name="Freeform 293"/>
                      <p:cNvSpPr/>
                      <p:nvPr/>
                    </p:nvSpPr>
                    <p:spPr bwMode="auto">
                      <a:xfrm>
                        <a:off x="2596" y="3174"/>
                        <a:ext cx="6" cy="9"/>
                      </a:xfrm>
                      <a:custGeom>
                        <a:avLst/>
                        <a:gdLst>
                          <a:gd name="T0" fmla="*/ 0 w 37"/>
                          <a:gd name="T1" fmla="*/ 38 h 71"/>
                          <a:gd name="T2" fmla="*/ 12 w 37"/>
                          <a:gd name="T3" fmla="*/ 30 h 71"/>
                          <a:gd name="T4" fmla="*/ 22 w 37"/>
                          <a:gd name="T5" fmla="*/ 20 h 71"/>
                          <a:gd name="T6" fmla="*/ 28 w 37"/>
                          <a:gd name="T7" fmla="*/ 12 h 71"/>
                          <a:gd name="T8" fmla="*/ 37 w 37"/>
                          <a:gd name="T9" fmla="*/ 0 h 71"/>
                          <a:gd name="T10" fmla="*/ 29 w 37"/>
                          <a:gd name="T11" fmla="*/ 23 h 71"/>
                          <a:gd name="T12" fmla="*/ 24 w 37"/>
                          <a:gd name="T13" fmla="*/ 35 h 71"/>
                          <a:gd name="T14" fmla="*/ 18 w 37"/>
                          <a:gd name="T15" fmla="*/ 54 h 71"/>
                          <a:gd name="T16" fmla="*/ 12 w 37"/>
                          <a:gd name="T17" fmla="*/ 71 h 71"/>
                          <a:gd name="T18" fmla="*/ 6 w 37"/>
                          <a:gd name="T19" fmla="*/ 49 h 71"/>
                          <a:gd name="T20" fmla="*/ 0 w 37"/>
                          <a:gd name="T21" fmla="*/ 38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71">
                            <a:moveTo>
                              <a:pt x="0" y="38"/>
                            </a:moveTo>
                            <a:lnTo>
                              <a:pt x="12" y="30"/>
                            </a:lnTo>
                            <a:lnTo>
                              <a:pt x="22" y="20"/>
                            </a:lnTo>
                            <a:lnTo>
                              <a:pt x="28" y="12"/>
                            </a:lnTo>
                            <a:lnTo>
                              <a:pt x="37" y="0"/>
                            </a:lnTo>
                            <a:lnTo>
                              <a:pt x="29" y="23"/>
                            </a:lnTo>
                            <a:lnTo>
                              <a:pt x="24" y="35"/>
                            </a:lnTo>
                            <a:lnTo>
                              <a:pt x="18" y="54"/>
                            </a:lnTo>
                            <a:lnTo>
                              <a:pt x="12" y="71"/>
                            </a:lnTo>
                            <a:lnTo>
                              <a:pt x="6" y="49"/>
                            </a:lnTo>
                            <a:lnTo>
                              <a:pt x="0" y="38"/>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2" name="Freeform 294"/>
                      <p:cNvSpPr/>
                      <p:nvPr/>
                    </p:nvSpPr>
                    <p:spPr bwMode="auto">
                      <a:xfrm>
                        <a:off x="2601" y="3180"/>
                        <a:ext cx="5" cy="15"/>
                      </a:xfrm>
                      <a:custGeom>
                        <a:avLst/>
                        <a:gdLst>
                          <a:gd name="T0" fmla="*/ 35 w 35"/>
                          <a:gd name="T1" fmla="*/ 107 h 126"/>
                          <a:gd name="T2" fmla="*/ 23 w 35"/>
                          <a:gd name="T3" fmla="*/ 106 h 126"/>
                          <a:gd name="T4" fmla="*/ 13 w 35"/>
                          <a:gd name="T5" fmla="*/ 110 h 126"/>
                          <a:gd name="T6" fmla="*/ 4 w 35"/>
                          <a:gd name="T7" fmla="*/ 120 h 126"/>
                          <a:gd name="T8" fmla="*/ 0 w 35"/>
                          <a:gd name="T9" fmla="*/ 126 h 126"/>
                          <a:gd name="T10" fmla="*/ 4 w 35"/>
                          <a:gd name="T11" fmla="*/ 114 h 126"/>
                          <a:gd name="T12" fmla="*/ 10 w 35"/>
                          <a:gd name="T13" fmla="*/ 105 h 126"/>
                          <a:gd name="T14" fmla="*/ 18 w 35"/>
                          <a:gd name="T15" fmla="*/ 98 h 126"/>
                          <a:gd name="T16" fmla="*/ 16 w 35"/>
                          <a:gd name="T17" fmla="*/ 86 h 126"/>
                          <a:gd name="T18" fmla="*/ 14 w 35"/>
                          <a:gd name="T19" fmla="*/ 63 h 126"/>
                          <a:gd name="T20" fmla="*/ 17 w 35"/>
                          <a:gd name="T21" fmla="*/ 44 h 126"/>
                          <a:gd name="T22" fmla="*/ 22 w 35"/>
                          <a:gd name="T23" fmla="*/ 27 h 126"/>
                          <a:gd name="T24" fmla="*/ 32 w 35"/>
                          <a:gd name="T25" fmla="*/ 0 h 126"/>
                          <a:gd name="T26" fmla="*/ 30 w 35"/>
                          <a:gd name="T27" fmla="*/ 20 h 126"/>
                          <a:gd name="T28" fmla="*/ 27 w 35"/>
                          <a:gd name="T29" fmla="*/ 38 h 126"/>
                          <a:gd name="T30" fmla="*/ 23 w 35"/>
                          <a:gd name="T31" fmla="*/ 58 h 126"/>
                          <a:gd name="T32" fmla="*/ 22 w 35"/>
                          <a:gd name="T33" fmla="*/ 68 h 126"/>
                          <a:gd name="T34" fmla="*/ 23 w 35"/>
                          <a:gd name="T35" fmla="*/ 80 h 126"/>
                          <a:gd name="T36" fmla="*/ 26 w 35"/>
                          <a:gd name="T37" fmla="*/ 93 h 126"/>
                          <a:gd name="T38" fmla="*/ 35 w 35"/>
                          <a:gd name="T39" fmla="*/ 107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5" h="126">
                            <a:moveTo>
                              <a:pt x="35" y="107"/>
                            </a:moveTo>
                            <a:lnTo>
                              <a:pt x="23" y="106"/>
                            </a:lnTo>
                            <a:lnTo>
                              <a:pt x="13" y="110"/>
                            </a:lnTo>
                            <a:lnTo>
                              <a:pt x="4" y="120"/>
                            </a:lnTo>
                            <a:lnTo>
                              <a:pt x="0" y="126"/>
                            </a:lnTo>
                            <a:lnTo>
                              <a:pt x="4" y="114"/>
                            </a:lnTo>
                            <a:lnTo>
                              <a:pt x="10" y="105"/>
                            </a:lnTo>
                            <a:lnTo>
                              <a:pt x="18" y="98"/>
                            </a:lnTo>
                            <a:lnTo>
                              <a:pt x="16" y="86"/>
                            </a:lnTo>
                            <a:lnTo>
                              <a:pt x="14" y="63"/>
                            </a:lnTo>
                            <a:lnTo>
                              <a:pt x="17" y="44"/>
                            </a:lnTo>
                            <a:lnTo>
                              <a:pt x="22" y="27"/>
                            </a:lnTo>
                            <a:lnTo>
                              <a:pt x="32" y="0"/>
                            </a:lnTo>
                            <a:lnTo>
                              <a:pt x="30" y="20"/>
                            </a:lnTo>
                            <a:lnTo>
                              <a:pt x="27" y="38"/>
                            </a:lnTo>
                            <a:lnTo>
                              <a:pt x="23" y="58"/>
                            </a:lnTo>
                            <a:lnTo>
                              <a:pt x="22" y="68"/>
                            </a:lnTo>
                            <a:lnTo>
                              <a:pt x="23" y="80"/>
                            </a:lnTo>
                            <a:lnTo>
                              <a:pt x="26" y="93"/>
                            </a:lnTo>
                            <a:lnTo>
                              <a:pt x="35" y="10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3" name="Freeform 295"/>
                      <p:cNvSpPr/>
                      <p:nvPr/>
                    </p:nvSpPr>
                    <p:spPr bwMode="auto">
                      <a:xfrm>
                        <a:off x="2582" y="3171"/>
                        <a:ext cx="8" cy="14"/>
                      </a:xfrm>
                      <a:custGeom>
                        <a:avLst/>
                        <a:gdLst>
                          <a:gd name="T0" fmla="*/ 1 w 54"/>
                          <a:gd name="T1" fmla="*/ 119 h 119"/>
                          <a:gd name="T2" fmla="*/ 8 w 54"/>
                          <a:gd name="T3" fmla="*/ 109 h 119"/>
                          <a:gd name="T4" fmla="*/ 15 w 54"/>
                          <a:gd name="T5" fmla="*/ 95 h 119"/>
                          <a:gd name="T6" fmla="*/ 19 w 54"/>
                          <a:gd name="T7" fmla="*/ 83 h 119"/>
                          <a:gd name="T8" fmla="*/ 18 w 54"/>
                          <a:gd name="T9" fmla="*/ 64 h 119"/>
                          <a:gd name="T10" fmla="*/ 18 w 54"/>
                          <a:gd name="T11" fmla="*/ 46 h 119"/>
                          <a:gd name="T12" fmla="*/ 20 w 54"/>
                          <a:gd name="T13" fmla="*/ 30 h 119"/>
                          <a:gd name="T14" fmla="*/ 22 w 54"/>
                          <a:gd name="T15" fmla="*/ 20 h 119"/>
                          <a:gd name="T16" fmla="*/ 29 w 54"/>
                          <a:gd name="T17" fmla="*/ 12 h 119"/>
                          <a:gd name="T18" fmla="*/ 41 w 54"/>
                          <a:gd name="T19" fmla="*/ 6 h 119"/>
                          <a:gd name="T20" fmla="*/ 54 w 54"/>
                          <a:gd name="T21" fmla="*/ 0 h 119"/>
                          <a:gd name="T22" fmla="*/ 36 w 54"/>
                          <a:gd name="T23" fmla="*/ 6 h 119"/>
                          <a:gd name="T24" fmla="*/ 23 w 54"/>
                          <a:gd name="T25" fmla="*/ 12 h 119"/>
                          <a:gd name="T26" fmla="*/ 12 w 54"/>
                          <a:gd name="T27" fmla="*/ 12 h 119"/>
                          <a:gd name="T28" fmla="*/ 5 w 54"/>
                          <a:gd name="T29" fmla="*/ 8 h 119"/>
                          <a:gd name="T30" fmla="*/ 2 w 54"/>
                          <a:gd name="T31" fmla="*/ 16 h 119"/>
                          <a:gd name="T32" fmla="*/ 1 w 54"/>
                          <a:gd name="T33" fmla="*/ 31 h 119"/>
                          <a:gd name="T34" fmla="*/ 1 w 54"/>
                          <a:gd name="T35" fmla="*/ 44 h 119"/>
                          <a:gd name="T36" fmla="*/ 0 w 54"/>
                          <a:gd name="T37" fmla="*/ 63 h 119"/>
                          <a:gd name="T38" fmla="*/ 1 w 54"/>
                          <a:gd name="T39" fmla="*/ 78 h 119"/>
                          <a:gd name="T40" fmla="*/ 2 w 54"/>
                          <a:gd name="T41" fmla="*/ 92 h 119"/>
                          <a:gd name="T42" fmla="*/ 4 w 54"/>
                          <a:gd name="T43" fmla="*/ 101 h 119"/>
                          <a:gd name="T44" fmla="*/ 1 w 54"/>
                          <a:gd name="T4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4" h="119">
                            <a:moveTo>
                              <a:pt x="1" y="119"/>
                            </a:moveTo>
                            <a:lnTo>
                              <a:pt x="8" y="109"/>
                            </a:lnTo>
                            <a:lnTo>
                              <a:pt x="15" y="95"/>
                            </a:lnTo>
                            <a:lnTo>
                              <a:pt x="19" y="83"/>
                            </a:lnTo>
                            <a:lnTo>
                              <a:pt x="18" y="64"/>
                            </a:lnTo>
                            <a:lnTo>
                              <a:pt x="18" y="46"/>
                            </a:lnTo>
                            <a:lnTo>
                              <a:pt x="20" y="30"/>
                            </a:lnTo>
                            <a:lnTo>
                              <a:pt x="22" y="20"/>
                            </a:lnTo>
                            <a:lnTo>
                              <a:pt x="29" y="12"/>
                            </a:lnTo>
                            <a:lnTo>
                              <a:pt x="41" y="6"/>
                            </a:lnTo>
                            <a:lnTo>
                              <a:pt x="54" y="0"/>
                            </a:lnTo>
                            <a:lnTo>
                              <a:pt x="36" y="6"/>
                            </a:lnTo>
                            <a:lnTo>
                              <a:pt x="23" y="12"/>
                            </a:lnTo>
                            <a:lnTo>
                              <a:pt x="12" y="12"/>
                            </a:lnTo>
                            <a:lnTo>
                              <a:pt x="5" y="8"/>
                            </a:lnTo>
                            <a:lnTo>
                              <a:pt x="2" y="16"/>
                            </a:lnTo>
                            <a:lnTo>
                              <a:pt x="1" y="31"/>
                            </a:lnTo>
                            <a:lnTo>
                              <a:pt x="1" y="44"/>
                            </a:lnTo>
                            <a:lnTo>
                              <a:pt x="0" y="63"/>
                            </a:lnTo>
                            <a:lnTo>
                              <a:pt x="1" y="78"/>
                            </a:lnTo>
                            <a:lnTo>
                              <a:pt x="2" y="92"/>
                            </a:lnTo>
                            <a:lnTo>
                              <a:pt x="4" y="101"/>
                            </a:lnTo>
                            <a:lnTo>
                              <a:pt x="1" y="11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44" name="Group 296"/>
                    <p:cNvGrpSpPr/>
                    <p:nvPr/>
                  </p:nvGrpSpPr>
                  <p:grpSpPr bwMode="auto">
                    <a:xfrm>
                      <a:off x="2605" y="3112"/>
                      <a:ext cx="32" cy="35"/>
                      <a:chOff x="2605" y="3112"/>
                      <a:chExt cx="32" cy="35"/>
                    </a:xfrm>
                  </p:grpSpPr>
                  <p:sp>
                    <p:nvSpPr>
                      <p:cNvPr id="642345" name="Freeform 297"/>
                      <p:cNvSpPr/>
                      <p:nvPr/>
                    </p:nvSpPr>
                    <p:spPr bwMode="auto">
                      <a:xfrm>
                        <a:off x="2605" y="3112"/>
                        <a:ext cx="32" cy="35"/>
                      </a:xfrm>
                      <a:custGeom>
                        <a:avLst/>
                        <a:gdLst>
                          <a:gd name="T0" fmla="*/ 67 w 229"/>
                          <a:gd name="T1" fmla="*/ 0 h 275"/>
                          <a:gd name="T2" fmla="*/ 102 w 229"/>
                          <a:gd name="T3" fmla="*/ 11 h 275"/>
                          <a:gd name="T4" fmla="*/ 167 w 229"/>
                          <a:gd name="T5" fmla="*/ 37 h 275"/>
                          <a:gd name="T6" fmla="*/ 209 w 229"/>
                          <a:gd name="T7" fmla="*/ 72 h 275"/>
                          <a:gd name="T8" fmla="*/ 229 w 229"/>
                          <a:gd name="T9" fmla="*/ 108 h 275"/>
                          <a:gd name="T10" fmla="*/ 223 w 229"/>
                          <a:gd name="T11" fmla="*/ 133 h 275"/>
                          <a:gd name="T12" fmla="*/ 208 w 229"/>
                          <a:gd name="T13" fmla="*/ 151 h 275"/>
                          <a:gd name="T14" fmla="*/ 196 w 229"/>
                          <a:gd name="T15" fmla="*/ 165 h 275"/>
                          <a:gd name="T16" fmla="*/ 180 w 229"/>
                          <a:gd name="T17" fmla="*/ 178 h 275"/>
                          <a:gd name="T18" fmla="*/ 164 w 229"/>
                          <a:gd name="T19" fmla="*/ 200 h 275"/>
                          <a:gd name="T20" fmla="*/ 150 w 229"/>
                          <a:gd name="T21" fmla="*/ 222 h 275"/>
                          <a:gd name="T22" fmla="*/ 140 w 229"/>
                          <a:gd name="T23" fmla="*/ 240 h 275"/>
                          <a:gd name="T24" fmla="*/ 132 w 229"/>
                          <a:gd name="T25" fmla="*/ 255 h 275"/>
                          <a:gd name="T26" fmla="*/ 119 w 229"/>
                          <a:gd name="T27" fmla="*/ 266 h 275"/>
                          <a:gd name="T28" fmla="*/ 109 w 229"/>
                          <a:gd name="T29" fmla="*/ 272 h 275"/>
                          <a:gd name="T30" fmla="*/ 96 w 229"/>
                          <a:gd name="T31" fmla="*/ 275 h 275"/>
                          <a:gd name="T32" fmla="*/ 99 w 229"/>
                          <a:gd name="T33" fmla="*/ 263 h 275"/>
                          <a:gd name="T34" fmla="*/ 103 w 229"/>
                          <a:gd name="T35" fmla="*/ 253 h 275"/>
                          <a:gd name="T36" fmla="*/ 99 w 229"/>
                          <a:gd name="T37" fmla="*/ 228 h 275"/>
                          <a:gd name="T38" fmla="*/ 81 w 229"/>
                          <a:gd name="T39" fmla="*/ 209 h 275"/>
                          <a:gd name="T40" fmla="*/ 45 w 229"/>
                          <a:gd name="T41" fmla="*/ 191 h 275"/>
                          <a:gd name="T42" fmla="*/ 13 w 229"/>
                          <a:gd name="T43" fmla="*/ 187 h 275"/>
                          <a:gd name="T44" fmla="*/ 5 w 229"/>
                          <a:gd name="T45" fmla="*/ 192 h 275"/>
                          <a:gd name="T46" fmla="*/ 0 w 229"/>
                          <a:gd name="T47" fmla="*/ 183 h 275"/>
                          <a:gd name="T48" fmla="*/ 1 w 229"/>
                          <a:gd name="T49" fmla="*/ 175 h 275"/>
                          <a:gd name="T50" fmla="*/ 3 w 229"/>
                          <a:gd name="T51" fmla="*/ 166 h 275"/>
                          <a:gd name="T52" fmla="*/ 9 w 229"/>
                          <a:gd name="T53" fmla="*/ 157 h 275"/>
                          <a:gd name="T54" fmla="*/ 22 w 229"/>
                          <a:gd name="T55" fmla="*/ 133 h 275"/>
                          <a:gd name="T56" fmla="*/ 29 w 229"/>
                          <a:gd name="T57" fmla="*/ 102 h 275"/>
                          <a:gd name="T58" fmla="*/ 44 w 229"/>
                          <a:gd name="T59" fmla="*/ 56 h 275"/>
                          <a:gd name="T60" fmla="*/ 60 w 229"/>
                          <a:gd name="T61" fmla="*/ 15 h 275"/>
                          <a:gd name="T62" fmla="*/ 67 w 229"/>
                          <a:gd name="T63" fmla="*/ 0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29" h="275">
                            <a:moveTo>
                              <a:pt x="67" y="0"/>
                            </a:moveTo>
                            <a:lnTo>
                              <a:pt x="102" y="11"/>
                            </a:lnTo>
                            <a:lnTo>
                              <a:pt x="167" y="37"/>
                            </a:lnTo>
                            <a:lnTo>
                              <a:pt x="209" y="72"/>
                            </a:lnTo>
                            <a:lnTo>
                              <a:pt x="229" y="108"/>
                            </a:lnTo>
                            <a:lnTo>
                              <a:pt x="223" y="133"/>
                            </a:lnTo>
                            <a:lnTo>
                              <a:pt x="208" y="151"/>
                            </a:lnTo>
                            <a:lnTo>
                              <a:pt x="196" y="165"/>
                            </a:lnTo>
                            <a:lnTo>
                              <a:pt x="180" y="178"/>
                            </a:lnTo>
                            <a:lnTo>
                              <a:pt x="164" y="200"/>
                            </a:lnTo>
                            <a:lnTo>
                              <a:pt x="150" y="222"/>
                            </a:lnTo>
                            <a:lnTo>
                              <a:pt x="140" y="240"/>
                            </a:lnTo>
                            <a:lnTo>
                              <a:pt x="132" y="255"/>
                            </a:lnTo>
                            <a:lnTo>
                              <a:pt x="119" y="266"/>
                            </a:lnTo>
                            <a:lnTo>
                              <a:pt x="109" y="272"/>
                            </a:lnTo>
                            <a:lnTo>
                              <a:pt x="96" y="275"/>
                            </a:lnTo>
                            <a:lnTo>
                              <a:pt x="99" y="263"/>
                            </a:lnTo>
                            <a:lnTo>
                              <a:pt x="103" y="253"/>
                            </a:lnTo>
                            <a:lnTo>
                              <a:pt x="99" y="228"/>
                            </a:lnTo>
                            <a:lnTo>
                              <a:pt x="81" y="209"/>
                            </a:lnTo>
                            <a:lnTo>
                              <a:pt x="45" y="191"/>
                            </a:lnTo>
                            <a:lnTo>
                              <a:pt x="13" y="187"/>
                            </a:lnTo>
                            <a:lnTo>
                              <a:pt x="5" y="192"/>
                            </a:lnTo>
                            <a:lnTo>
                              <a:pt x="0" y="183"/>
                            </a:lnTo>
                            <a:lnTo>
                              <a:pt x="1" y="175"/>
                            </a:lnTo>
                            <a:lnTo>
                              <a:pt x="3" y="166"/>
                            </a:lnTo>
                            <a:lnTo>
                              <a:pt x="9" y="157"/>
                            </a:lnTo>
                            <a:lnTo>
                              <a:pt x="22" y="133"/>
                            </a:lnTo>
                            <a:lnTo>
                              <a:pt x="29" y="102"/>
                            </a:lnTo>
                            <a:lnTo>
                              <a:pt x="44" y="56"/>
                            </a:lnTo>
                            <a:lnTo>
                              <a:pt x="60" y="15"/>
                            </a:lnTo>
                            <a:lnTo>
                              <a:pt x="6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6" name="Freeform 298"/>
                      <p:cNvSpPr/>
                      <p:nvPr/>
                    </p:nvSpPr>
                    <p:spPr bwMode="auto">
                      <a:xfrm>
                        <a:off x="2605" y="3134"/>
                        <a:ext cx="16" cy="12"/>
                      </a:xfrm>
                      <a:custGeom>
                        <a:avLst/>
                        <a:gdLst>
                          <a:gd name="T0" fmla="*/ 0 w 106"/>
                          <a:gd name="T1" fmla="*/ 11 h 98"/>
                          <a:gd name="T2" fmla="*/ 3 w 106"/>
                          <a:gd name="T3" fmla="*/ 4 h 98"/>
                          <a:gd name="T4" fmla="*/ 9 w 106"/>
                          <a:gd name="T5" fmla="*/ 2 h 98"/>
                          <a:gd name="T6" fmla="*/ 23 w 106"/>
                          <a:gd name="T7" fmla="*/ 0 h 98"/>
                          <a:gd name="T8" fmla="*/ 35 w 106"/>
                          <a:gd name="T9" fmla="*/ 1 h 98"/>
                          <a:gd name="T10" fmla="*/ 50 w 106"/>
                          <a:gd name="T11" fmla="*/ 5 h 98"/>
                          <a:gd name="T12" fmla="*/ 63 w 106"/>
                          <a:gd name="T13" fmla="*/ 12 h 98"/>
                          <a:gd name="T14" fmla="*/ 77 w 106"/>
                          <a:gd name="T15" fmla="*/ 21 h 98"/>
                          <a:gd name="T16" fmla="*/ 89 w 106"/>
                          <a:gd name="T17" fmla="*/ 29 h 98"/>
                          <a:gd name="T18" fmla="*/ 98 w 106"/>
                          <a:gd name="T19" fmla="*/ 42 h 98"/>
                          <a:gd name="T20" fmla="*/ 105 w 106"/>
                          <a:gd name="T21" fmla="*/ 56 h 98"/>
                          <a:gd name="T22" fmla="*/ 106 w 106"/>
                          <a:gd name="T23" fmla="*/ 68 h 98"/>
                          <a:gd name="T24" fmla="*/ 104 w 106"/>
                          <a:gd name="T25" fmla="*/ 83 h 98"/>
                          <a:gd name="T26" fmla="*/ 100 w 106"/>
                          <a:gd name="T27" fmla="*/ 89 h 98"/>
                          <a:gd name="T28" fmla="*/ 94 w 106"/>
                          <a:gd name="T29" fmla="*/ 98 h 98"/>
                          <a:gd name="T30" fmla="*/ 98 w 106"/>
                          <a:gd name="T31" fmla="*/ 82 h 98"/>
                          <a:gd name="T32" fmla="*/ 100 w 106"/>
                          <a:gd name="T33" fmla="*/ 66 h 98"/>
                          <a:gd name="T34" fmla="*/ 94 w 106"/>
                          <a:gd name="T35" fmla="*/ 50 h 98"/>
                          <a:gd name="T36" fmla="*/ 85 w 106"/>
                          <a:gd name="T37" fmla="*/ 38 h 98"/>
                          <a:gd name="T38" fmla="*/ 69 w 106"/>
                          <a:gd name="T39" fmla="*/ 26 h 98"/>
                          <a:gd name="T40" fmla="*/ 53 w 106"/>
                          <a:gd name="T41" fmla="*/ 18 h 98"/>
                          <a:gd name="T42" fmla="*/ 36 w 106"/>
                          <a:gd name="T43" fmla="*/ 13 h 98"/>
                          <a:gd name="T44" fmla="*/ 21 w 106"/>
                          <a:gd name="T45" fmla="*/ 9 h 98"/>
                          <a:gd name="T46" fmla="*/ 0 w 106"/>
                          <a:gd name="T47" fmla="*/ 11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6" h="98">
                            <a:moveTo>
                              <a:pt x="0" y="11"/>
                            </a:moveTo>
                            <a:lnTo>
                              <a:pt x="3" y="4"/>
                            </a:lnTo>
                            <a:lnTo>
                              <a:pt x="9" y="2"/>
                            </a:lnTo>
                            <a:lnTo>
                              <a:pt x="23" y="0"/>
                            </a:lnTo>
                            <a:lnTo>
                              <a:pt x="35" y="1"/>
                            </a:lnTo>
                            <a:lnTo>
                              <a:pt x="50" y="5"/>
                            </a:lnTo>
                            <a:lnTo>
                              <a:pt x="63" y="12"/>
                            </a:lnTo>
                            <a:lnTo>
                              <a:pt x="77" y="21"/>
                            </a:lnTo>
                            <a:lnTo>
                              <a:pt x="89" y="29"/>
                            </a:lnTo>
                            <a:lnTo>
                              <a:pt x="98" y="42"/>
                            </a:lnTo>
                            <a:lnTo>
                              <a:pt x="105" y="56"/>
                            </a:lnTo>
                            <a:lnTo>
                              <a:pt x="106" y="68"/>
                            </a:lnTo>
                            <a:lnTo>
                              <a:pt x="104" y="83"/>
                            </a:lnTo>
                            <a:lnTo>
                              <a:pt x="100" y="89"/>
                            </a:lnTo>
                            <a:lnTo>
                              <a:pt x="94" y="98"/>
                            </a:lnTo>
                            <a:lnTo>
                              <a:pt x="98" y="82"/>
                            </a:lnTo>
                            <a:lnTo>
                              <a:pt x="100" y="66"/>
                            </a:lnTo>
                            <a:lnTo>
                              <a:pt x="94" y="50"/>
                            </a:lnTo>
                            <a:lnTo>
                              <a:pt x="85" y="38"/>
                            </a:lnTo>
                            <a:lnTo>
                              <a:pt x="69" y="26"/>
                            </a:lnTo>
                            <a:lnTo>
                              <a:pt x="53" y="18"/>
                            </a:lnTo>
                            <a:lnTo>
                              <a:pt x="36" y="13"/>
                            </a:lnTo>
                            <a:lnTo>
                              <a:pt x="21" y="9"/>
                            </a:lnTo>
                            <a:lnTo>
                              <a:pt x="0" y="11"/>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347" name="Group 299"/>
                  <p:cNvGrpSpPr/>
                  <p:nvPr/>
                </p:nvGrpSpPr>
                <p:grpSpPr bwMode="auto">
                  <a:xfrm>
                    <a:off x="2613" y="2992"/>
                    <a:ext cx="111" cy="138"/>
                    <a:chOff x="2613" y="2992"/>
                    <a:chExt cx="111" cy="138"/>
                  </a:xfrm>
                </p:grpSpPr>
                <p:sp>
                  <p:nvSpPr>
                    <p:cNvPr id="642348" name="Freeform 300"/>
                    <p:cNvSpPr/>
                    <p:nvPr/>
                  </p:nvSpPr>
                  <p:spPr bwMode="auto">
                    <a:xfrm>
                      <a:off x="2613" y="2992"/>
                      <a:ext cx="111" cy="136"/>
                    </a:xfrm>
                    <a:custGeom>
                      <a:avLst/>
                      <a:gdLst>
                        <a:gd name="T0" fmla="*/ 618 w 777"/>
                        <a:gd name="T1" fmla="*/ 181 h 1093"/>
                        <a:gd name="T2" fmla="*/ 777 w 777"/>
                        <a:gd name="T3" fmla="*/ 553 h 1093"/>
                        <a:gd name="T4" fmla="*/ 701 w 777"/>
                        <a:gd name="T5" fmla="*/ 631 h 1093"/>
                        <a:gd name="T6" fmla="*/ 557 w 777"/>
                        <a:gd name="T7" fmla="*/ 564 h 1093"/>
                        <a:gd name="T8" fmla="*/ 505 w 777"/>
                        <a:gd name="T9" fmla="*/ 523 h 1093"/>
                        <a:gd name="T10" fmla="*/ 434 w 777"/>
                        <a:gd name="T11" fmla="*/ 667 h 1093"/>
                        <a:gd name="T12" fmla="*/ 383 w 777"/>
                        <a:gd name="T13" fmla="*/ 750 h 1093"/>
                        <a:gd name="T14" fmla="*/ 369 w 777"/>
                        <a:gd name="T15" fmla="*/ 764 h 1093"/>
                        <a:gd name="T16" fmla="*/ 352 w 777"/>
                        <a:gd name="T17" fmla="*/ 811 h 1093"/>
                        <a:gd name="T18" fmla="*/ 334 w 777"/>
                        <a:gd name="T19" fmla="*/ 839 h 1093"/>
                        <a:gd name="T20" fmla="*/ 315 w 777"/>
                        <a:gd name="T21" fmla="*/ 871 h 1093"/>
                        <a:gd name="T22" fmla="*/ 294 w 777"/>
                        <a:gd name="T23" fmla="*/ 917 h 1093"/>
                        <a:gd name="T24" fmla="*/ 265 w 777"/>
                        <a:gd name="T25" fmla="*/ 926 h 1093"/>
                        <a:gd name="T26" fmla="*/ 259 w 777"/>
                        <a:gd name="T27" fmla="*/ 968 h 1093"/>
                        <a:gd name="T28" fmla="*/ 228 w 777"/>
                        <a:gd name="T29" fmla="*/ 991 h 1093"/>
                        <a:gd name="T30" fmla="*/ 205 w 777"/>
                        <a:gd name="T31" fmla="*/ 1034 h 1093"/>
                        <a:gd name="T32" fmla="*/ 196 w 777"/>
                        <a:gd name="T33" fmla="*/ 1068 h 1093"/>
                        <a:gd name="T34" fmla="*/ 177 w 777"/>
                        <a:gd name="T35" fmla="*/ 1090 h 1093"/>
                        <a:gd name="T36" fmla="*/ 152 w 777"/>
                        <a:gd name="T37" fmla="*/ 1052 h 1093"/>
                        <a:gd name="T38" fmla="*/ 63 w 777"/>
                        <a:gd name="T39" fmla="*/ 993 h 1093"/>
                        <a:gd name="T40" fmla="*/ 0 w 777"/>
                        <a:gd name="T41" fmla="*/ 985 h 1093"/>
                        <a:gd name="T42" fmla="*/ 17 w 777"/>
                        <a:gd name="T43" fmla="*/ 914 h 1093"/>
                        <a:gd name="T44" fmla="*/ 31 w 777"/>
                        <a:gd name="T45" fmla="*/ 862 h 1093"/>
                        <a:gd name="T46" fmla="*/ 82 w 777"/>
                        <a:gd name="T47" fmla="*/ 818 h 1093"/>
                        <a:gd name="T48" fmla="*/ 82 w 777"/>
                        <a:gd name="T49" fmla="*/ 770 h 1093"/>
                        <a:gd name="T50" fmla="*/ 99 w 777"/>
                        <a:gd name="T51" fmla="*/ 721 h 1093"/>
                        <a:gd name="T52" fmla="*/ 128 w 777"/>
                        <a:gd name="T53" fmla="*/ 692 h 1093"/>
                        <a:gd name="T54" fmla="*/ 137 w 777"/>
                        <a:gd name="T55" fmla="*/ 672 h 1093"/>
                        <a:gd name="T56" fmla="*/ 131 w 777"/>
                        <a:gd name="T57" fmla="*/ 636 h 1093"/>
                        <a:gd name="T58" fmla="*/ 141 w 777"/>
                        <a:gd name="T59" fmla="*/ 602 h 1093"/>
                        <a:gd name="T60" fmla="*/ 165 w 777"/>
                        <a:gd name="T61" fmla="*/ 583 h 1093"/>
                        <a:gd name="T62" fmla="*/ 176 w 777"/>
                        <a:gd name="T63" fmla="*/ 562 h 1093"/>
                        <a:gd name="T64" fmla="*/ 191 w 777"/>
                        <a:gd name="T65" fmla="*/ 543 h 1093"/>
                        <a:gd name="T66" fmla="*/ 214 w 777"/>
                        <a:gd name="T67" fmla="*/ 525 h 1093"/>
                        <a:gd name="T68" fmla="*/ 227 w 777"/>
                        <a:gd name="T69" fmla="*/ 508 h 1093"/>
                        <a:gd name="T70" fmla="*/ 229 w 777"/>
                        <a:gd name="T71" fmla="*/ 483 h 1093"/>
                        <a:gd name="T72" fmla="*/ 223 w 777"/>
                        <a:gd name="T73" fmla="*/ 448 h 1093"/>
                        <a:gd name="T74" fmla="*/ 227 w 777"/>
                        <a:gd name="T75" fmla="*/ 419 h 1093"/>
                        <a:gd name="T76" fmla="*/ 245 w 777"/>
                        <a:gd name="T77" fmla="*/ 397 h 1093"/>
                        <a:gd name="T78" fmla="*/ 254 w 777"/>
                        <a:gd name="T79" fmla="*/ 374 h 1093"/>
                        <a:gd name="T80" fmla="*/ 253 w 777"/>
                        <a:gd name="T81" fmla="*/ 339 h 1093"/>
                        <a:gd name="T82" fmla="*/ 261 w 777"/>
                        <a:gd name="T83" fmla="*/ 281 h 1093"/>
                        <a:gd name="T84" fmla="*/ 283 w 777"/>
                        <a:gd name="T85" fmla="*/ 191 h 1093"/>
                        <a:gd name="T86" fmla="*/ 334 w 777"/>
                        <a:gd name="T87" fmla="*/ 0 h 10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77" h="1093">
                          <a:moveTo>
                            <a:pt x="334" y="0"/>
                          </a:moveTo>
                          <a:lnTo>
                            <a:pt x="618" y="181"/>
                          </a:lnTo>
                          <a:lnTo>
                            <a:pt x="677" y="390"/>
                          </a:lnTo>
                          <a:lnTo>
                            <a:pt x="777" y="553"/>
                          </a:lnTo>
                          <a:lnTo>
                            <a:pt x="730" y="680"/>
                          </a:lnTo>
                          <a:lnTo>
                            <a:pt x="701" y="631"/>
                          </a:lnTo>
                          <a:lnTo>
                            <a:pt x="636" y="583"/>
                          </a:lnTo>
                          <a:lnTo>
                            <a:pt x="557" y="564"/>
                          </a:lnTo>
                          <a:lnTo>
                            <a:pt x="528" y="547"/>
                          </a:lnTo>
                          <a:lnTo>
                            <a:pt x="505" y="523"/>
                          </a:lnTo>
                          <a:lnTo>
                            <a:pt x="486" y="570"/>
                          </a:lnTo>
                          <a:lnTo>
                            <a:pt x="434" y="667"/>
                          </a:lnTo>
                          <a:lnTo>
                            <a:pt x="386" y="739"/>
                          </a:lnTo>
                          <a:lnTo>
                            <a:pt x="383" y="750"/>
                          </a:lnTo>
                          <a:lnTo>
                            <a:pt x="377" y="760"/>
                          </a:lnTo>
                          <a:lnTo>
                            <a:pt x="369" y="764"/>
                          </a:lnTo>
                          <a:lnTo>
                            <a:pt x="362" y="777"/>
                          </a:lnTo>
                          <a:lnTo>
                            <a:pt x="352" y="811"/>
                          </a:lnTo>
                          <a:lnTo>
                            <a:pt x="342" y="841"/>
                          </a:lnTo>
                          <a:lnTo>
                            <a:pt x="334" y="839"/>
                          </a:lnTo>
                          <a:lnTo>
                            <a:pt x="328" y="841"/>
                          </a:lnTo>
                          <a:lnTo>
                            <a:pt x="315" y="871"/>
                          </a:lnTo>
                          <a:lnTo>
                            <a:pt x="305" y="908"/>
                          </a:lnTo>
                          <a:lnTo>
                            <a:pt x="294" y="917"/>
                          </a:lnTo>
                          <a:lnTo>
                            <a:pt x="282" y="922"/>
                          </a:lnTo>
                          <a:lnTo>
                            <a:pt x="265" y="926"/>
                          </a:lnTo>
                          <a:lnTo>
                            <a:pt x="263" y="948"/>
                          </a:lnTo>
                          <a:lnTo>
                            <a:pt x="259" y="968"/>
                          </a:lnTo>
                          <a:lnTo>
                            <a:pt x="245" y="983"/>
                          </a:lnTo>
                          <a:lnTo>
                            <a:pt x="228" y="991"/>
                          </a:lnTo>
                          <a:lnTo>
                            <a:pt x="213" y="1014"/>
                          </a:lnTo>
                          <a:lnTo>
                            <a:pt x="205" y="1034"/>
                          </a:lnTo>
                          <a:lnTo>
                            <a:pt x="202" y="1051"/>
                          </a:lnTo>
                          <a:lnTo>
                            <a:pt x="196" y="1068"/>
                          </a:lnTo>
                          <a:lnTo>
                            <a:pt x="191" y="1084"/>
                          </a:lnTo>
                          <a:lnTo>
                            <a:pt x="177" y="1090"/>
                          </a:lnTo>
                          <a:lnTo>
                            <a:pt x="159" y="1093"/>
                          </a:lnTo>
                          <a:lnTo>
                            <a:pt x="152" y="1052"/>
                          </a:lnTo>
                          <a:lnTo>
                            <a:pt x="121" y="1013"/>
                          </a:lnTo>
                          <a:lnTo>
                            <a:pt x="63" y="993"/>
                          </a:lnTo>
                          <a:lnTo>
                            <a:pt x="36" y="981"/>
                          </a:lnTo>
                          <a:lnTo>
                            <a:pt x="0" y="985"/>
                          </a:lnTo>
                          <a:lnTo>
                            <a:pt x="13" y="941"/>
                          </a:lnTo>
                          <a:lnTo>
                            <a:pt x="17" y="914"/>
                          </a:lnTo>
                          <a:lnTo>
                            <a:pt x="22" y="885"/>
                          </a:lnTo>
                          <a:lnTo>
                            <a:pt x="31" y="862"/>
                          </a:lnTo>
                          <a:lnTo>
                            <a:pt x="40" y="848"/>
                          </a:lnTo>
                          <a:lnTo>
                            <a:pt x="82" y="818"/>
                          </a:lnTo>
                          <a:lnTo>
                            <a:pt x="79" y="792"/>
                          </a:lnTo>
                          <a:lnTo>
                            <a:pt x="82" y="770"/>
                          </a:lnTo>
                          <a:lnTo>
                            <a:pt x="88" y="746"/>
                          </a:lnTo>
                          <a:lnTo>
                            <a:pt x="99" y="721"/>
                          </a:lnTo>
                          <a:lnTo>
                            <a:pt x="111" y="707"/>
                          </a:lnTo>
                          <a:lnTo>
                            <a:pt x="128" y="692"/>
                          </a:lnTo>
                          <a:lnTo>
                            <a:pt x="146" y="685"/>
                          </a:lnTo>
                          <a:lnTo>
                            <a:pt x="137" y="672"/>
                          </a:lnTo>
                          <a:lnTo>
                            <a:pt x="134" y="655"/>
                          </a:lnTo>
                          <a:lnTo>
                            <a:pt x="131" y="636"/>
                          </a:lnTo>
                          <a:lnTo>
                            <a:pt x="134" y="619"/>
                          </a:lnTo>
                          <a:lnTo>
                            <a:pt x="141" y="602"/>
                          </a:lnTo>
                          <a:lnTo>
                            <a:pt x="153" y="591"/>
                          </a:lnTo>
                          <a:lnTo>
                            <a:pt x="165" y="583"/>
                          </a:lnTo>
                          <a:lnTo>
                            <a:pt x="168" y="570"/>
                          </a:lnTo>
                          <a:lnTo>
                            <a:pt x="176" y="562"/>
                          </a:lnTo>
                          <a:lnTo>
                            <a:pt x="188" y="559"/>
                          </a:lnTo>
                          <a:lnTo>
                            <a:pt x="191" y="543"/>
                          </a:lnTo>
                          <a:lnTo>
                            <a:pt x="203" y="529"/>
                          </a:lnTo>
                          <a:lnTo>
                            <a:pt x="214" y="525"/>
                          </a:lnTo>
                          <a:lnTo>
                            <a:pt x="225" y="522"/>
                          </a:lnTo>
                          <a:lnTo>
                            <a:pt x="227" y="508"/>
                          </a:lnTo>
                          <a:lnTo>
                            <a:pt x="231" y="499"/>
                          </a:lnTo>
                          <a:lnTo>
                            <a:pt x="229" y="483"/>
                          </a:lnTo>
                          <a:lnTo>
                            <a:pt x="225" y="468"/>
                          </a:lnTo>
                          <a:lnTo>
                            <a:pt x="223" y="448"/>
                          </a:lnTo>
                          <a:lnTo>
                            <a:pt x="222" y="433"/>
                          </a:lnTo>
                          <a:lnTo>
                            <a:pt x="227" y="419"/>
                          </a:lnTo>
                          <a:lnTo>
                            <a:pt x="236" y="406"/>
                          </a:lnTo>
                          <a:lnTo>
                            <a:pt x="245" y="397"/>
                          </a:lnTo>
                          <a:lnTo>
                            <a:pt x="253" y="390"/>
                          </a:lnTo>
                          <a:lnTo>
                            <a:pt x="254" y="374"/>
                          </a:lnTo>
                          <a:lnTo>
                            <a:pt x="256" y="359"/>
                          </a:lnTo>
                          <a:lnTo>
                            <a:pt x="253" y="339"/>
                          </a:lnTo>
                          <a:lnTo>
                            <a:pt x="247" y="324"/>
                          </a:lnTo>
                          <a:lnTo>
                            <a:pt x="261" y="281"/>
                          </a:lnTo>
                          <a:lnTo>
                            <a:pt x="276" y="241"/>
                          </a:lnTo>
                          <a:lnTo>
                            <a:pt x="283" y="191"/>
                          </a:lnTo>
                          <a:lnTo>
                            <a:pt x="293" y="148"/>
                          </a:lnTo>
                          <a:lnTo>
                            <a:pt x="334" y="0"/>
                          </a:lnTo>
                          <a:close/>
                        </a:path>
                      </a:pathLst>
                    </a:custGeom>
                    <a:solidFill>
                      <a:srgbClr val="A0A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349" name="Group 301"/>
                    <p:cNvGrpSpPr/>
                    <p:nvPr/>
                  </p:nvGrpSpPr>
                  <p:grpSpPr bwMode="auto">
                    <a:xfrm>
                      <a:off x="2613" y="3011"/>
                      <a:ext cx="109" cy="119"/>
                      <a:chOff x="2613" y="3011"/>
                      <a:chExt cx="109" cy="119"/>
                    </a:xfrm>
                  </p:grpSpPr>
                  <p:sp>
                    <p:nvSpPr>
                      <p:cNvPr id="642350" name="Freeform 302"/>
                      <p:cNvSpPr/>
                      <p:nvPr/>
                    </p:nvSpPr>
                    <p:spPr bwMode="auto">
                      <a:xfrm>
                        <a:off x="2642" y="3011"/>
                        <a:ext cx="80" cy="70"/>
                      </a:xfrm>
                      <a:custGeom>
                        <a:avLst/>
                        <a:gdLst>
                          <a:gd name="T0" fmla="*/ 228 w 557"/>
                          <a:gd name="T1" fmla="*/ 518 h 558"/>
                          <a:gd name="T2" fmla="*/ 269 w 557"/>
                          <a:gd name="T3" fmla="*/ 444 h 558"/>
                          <a:gd name="T4" fmla="*/ 301 w 557"/>
                          <a:gd name="T5" fmla="*/ 373 h 558"/>
                          <a:gd name="T6" fmla="*/ 339 w 557"/>
                          <a:gd name="T7" fmla="*/ 406 h 558"/>
                          <a:gd name="T8" fmla="*/ 395 w 557"/>
                          <a:gd name="T9" fmla="*/ 423 h 558"/>
                          <a:gd name="T10" fmla="*/ 447 w 557"/>
                          <a:gd name="T11" fmla="*/ 441 h 558"/>
                          <a:gd name="T12" fmla="*/ 489 w 557"/>
                          <a:gd name="T13" fmla="*/ 473 h 558"/>
                          <a:gd name="T14" fmla="*/ 525 w 557"/>
                          <a:gd name="T15" fmla="*/ 525 h 558"/>
                          <a:gd name="T16" fmla="*/ 545 w 557"/>
                          <a:gd name="T17" fmla="*/ 526 h 558"/>
                          <a:gd name="T18" fmla="*/ 474 w 557"/>
                          <a:gd name="T19" fmla="*/ 277 h 558"/>
                          <a:gd name="T20" fmla="*/ 392 w 557"/>
                          <a:gd name="T21" fmla="*/ 121 h 558"/>
                          <a:gd name="T22" fmla="*/ 241 w 557"/>
                          <a:gd name="T23" fmla="*/ 11 h 558"/>
                          <a:gd name="T24" fmla="*/ 200 w 557"/>
                          <a:gd name="T25" fmla="*/ 114 h 558"/>
                          <a:gd name="T26" fmla="*/ 200 w 557"/>
                          <a:gd name="T27" fmla="*/ 210 h 558"/>
                          <a:gd name="T28" fmla="*/ 265 w 557"/>
                          <a:gd name="T29" fmla="*/ 325 h 558"/>
                          <a:gd name="T30" fmla="*/ 156 w 557"/>
                          <a:gd name="T31" fmla="*/ 246 h 558"/>
                          <a:gd name="T32" fmla="*/ 54 w 557"/>
                          <a:gd name="T33" fmla="*/ 180 h 558"/>
                          <a:gd name="T34" fmla="*/ 146 w 557"/>
                          <a:gd name="T35" fmla="*/ 272 h 558"/>
                          <a:gd name="T36" fmla="*/ 159 w 557"/>
                          <a:gd name="T37" fmla="*/ 311 h 558"/>
                          <a:gd name="T38" fmla="*/ 140 w 557"/>
                          <a:gd name="T39" fmla="*/ 329 h 558"/>
                          <a:gd name="T40" fmla="*/ 102 w 557"/>
                          <a:gd name="T41" fmla="*/ 324 h 558"/>
                          <a:gd name="T42" fmla="*/ 67 w 557"/>
                          <a:gd name="T43" fmla="*/ 320 h 558"/>
                          <a:gd name="T44" fmla="*/ 103 w 557"/>
                          <a:gd name="T45" fmla="*/ 364 h 558"/>
                          <a:gd name="T46" fmla="*/ 158 w 557"/>
                          <a:gd name="T47" fmla="*/ 409 h 558"/>
                          <a:gd name="T48" fmla="*/ 106 w 557"/>
                          <a:gd name="T49" fmla="*/ 396 h 558"/>
                          <a:gd name="T50" fmla="*/ 40 w 557"/>
                          <a:gd name="T51" fmla="*/ 400 h 558"/>
                          <a:gd name="T52" fmla="*/ 43 w 557"/>
                          <a:gd name="T53" fmla="*/ 413 h 558"/>
                          <a:gd name="T54" fmla="*/ 95 w 557"/>
                          <a:gd name="T55" fmla="*/ 436 h 558"/>
                          <a:gd name="T56" fmla="*/ 80 w 557"/>
                          <a:gd name="T57" fmla="*/ 445 h 558"/>
                          <a:gd name="T58" fmla="*/ 26 w 557"/>
                          <a:gd name="T59" fmla="*/ 450 h 558"/>
                          <a:gd name="T60" fmla="*/ 52 w 557"/>
                          <a:gd name="T61" fmla="*/ 470 h 558"/>
                          <a:gd name="T62" fmla="*/ 137 w 557"/>
                          <a:gd name="T63" fmla="*/ 500 h 558"/>
                          <a:gd name="T64" fmla="*/ 186 w 557"/>
                          <a:gd name="T65" fmla="*/ 537 h 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57" h="558">
                            <a:moveTo>
                              <a:pt x="200" y="558"/>
                            </a:moveTo>
                            <a:lnTo>
                              <a:pt x="228" y="518"/>
                            </a:lnTo>
                            <a:lnTo>
                              <a:pt x="250" y="482"/>
                            </a:lnTo>
                            <a:lnTo>
                              <a:pt x="269" y="444"/>
                            </a:lnTo>
                            <a:lnTo>
                              <a:pt x="290" y="402"/>
                            </a:lnTo>
                            <a:lnTo>
                              <a:pt x="301" y="373"/>
                            </a:lnTo>
                            <a:lnTo>
                              <a:pt x="322" y="392"/>
                            </a:lnTo>
                            <a:lnTo>
                              <a:pt x="339" y="406"/>
                            </a:lnTo>
                            <a:lnTo>
                              <a:pt x="361" y="415"/>
                            </a:lnTo>
                            <a:lnTo>
                              <a:pt x="395" y="423"/>
                            </a:lnTo>
                            <a:lnTo>
                              <a:pt x="426" y="433"/>
                            </a:lnTo>
                            <a:lnTo>
                              <a:pt x="447" y="441"/>
                            </a:lnTo>
                            <a:lnTo>
                              <a:pt x="469" y="458"/>
                            </a:lnTo>
                            <a:lnTo>
                              <a:pt x="489" y="473"/>
                            </a:lnTo>
                            <a:lnTo>
                              <a:pt x="510" y="499"/>
                            </a:lnTo>
                            <a:lnTo>
                              <a:pt x="525" y="525"/>
                            </a:lnTo>
                            <a:lnTo>
                              <a:pt x="536" y="557"/>
                            </a:lnTo>
                            <a:lnTo>
                              <a:pt x="545" y="526"/>
                            </a:lnTo>
                            <a:lnTo>
                              <a:pt x="557" y="325"/>
                            </a:lnTo>
                            <a:lnTo>
                              <a:pt x="474" y="277"/>
                            </a:lnTo>
                            <a:lnTo>
                              <a:pt x="426" y="216"/>
                            </a:lnTo>
                            <a:lnTo>
                              <a:pt x="392" y="121"/>
                            </a:lnTo>
                            <a:lnTo>
                              <a:pt x="365" y="0"/>
                            </a:lnTo>
                            <a:lnTo>
                              <a:pt x="241" y="11"/>
                            </a:lnTo>
                            <a:lnTo>
                              <a:pt x="213" y="71"/>
                            </a:lnTo>
                            <a:lnTo>
                              <a:pt x="200" y="114"/>
                            </a:lnTo>
                            <a:lnTo>
                              <a:pt x="196" y="167"/>
                            </a:lnTo>
                            <a:lnTo>
                              <a:pt x="200" y="210"/>
                            </a:lnTo>
                            <a:lnTo>
                              <a:pt x="237" y="288"/>
                            </a:lnTo>
                            <a:lnTo>
                              <a:pt x="265" y="325"/>
                            </a:lnTo>
                            <a:lnTo>
                              <a:pt x="206" y="277"/>
                            </a:lnTo>
                            <a:lnTo>
                              <a:pt x="156" y="246"/>
                            </a:lnTo>
                            <a:lnTo>
                              <a:pt x="110" y="215"/>
                            </a:lnTo>
                            <a:lnTo>
                              <a:pt x="54" y="180"/>
                            </a:lnTo>
                            <a:lnTo>
                              <a:pt x="114" y="232"/>
                            </a:lnTo>
                            <a:lnTo>
                              <a:pt x="146" y="272"/>
                            </a:lnTo>
                            <a:lnTo>
                              <a:pt x="161" y="297"/>
                            </a:lnTo>
                            <a:lnTo>
                              <a:pt x="159" y="311"/>
                            </a:lnTo>
                            <a:lnTo>
                              <a:pt x="153" y="322"/>
                            </a:lnTo>
                            <a:lnTo>
                              <a:pt x="140" y="329"/>
                            </a:lnTo>
                            <a:lnTo>
                              <a:pt x="125" y="331"/>
                            </a:lnTo>
                            <a:lnTo>
                              <a:pt x="102" y="324"/>
                            </a:lnTo>
                            <a:lnTo>
                              <a:pt x="48" y="288"/>
                            </a:lnTo>
                            <a:lnTo>
                              <a:pt x="67" y="320"/>
                            </a:lnTo>
                            <a:lnTo>
                              <a:pt x="83" y="341"/>
                            </a:lnTo>
                            <a:lnTo>
                              <a:pt x="103" y="364"/>
                            </a:lnTo>
                            <a:lnTo>
                              <a:pt x="125" y="383"/>
                            </a:lnTo>
                            <a:lnTo>
                              <a:pt x="158" y="409"/>
                            </a:lnTo>
                            <a:lnTo>
                              <a:pt x="132" y="400"/>
                            </a:lnTo>
                            <a:lnTo>
                              <a:pt x="106" y="396"/>
                            </a:lnTo>
                            <a:lnTo>
                              <a:pt x="72" y="395"/>
                            </a:lnTo>
                            <a:lnTo>
                              <a:pt x="40" y="400"/>
                            </a:lnTo>
                            <a:lnTo>
                              <a:pt x="6" y="404"/>
                            </a:lnTo>
                            <a:lnTo>
                              <a:pt x="43" y="413"/>
                            </a:lnTo>
                            <a:lnTo>
                              <a:pt x="73" y="426"/>
                            </a:lnTo>
                            <a:lnTo>
                              <a:pt x="95" y="436"/>
                            </a:lnTo>
                            <a:lnTo>
                              <a:pt x="117" y="453"/>
                            </a:lnTo>
                            <a:lnTo>
                              <a:pt x="80" y="445"/>
                            </a:lnTo>
                            <a:lnTo>
                              <a:pt x="55" y="444"/>
                            </a:lnTo>
                            <a:lnTo>
                              <a:pt x="26" y="450"/>
                            </a:lnTo>
                            <a:lnTo>
                              <a:pt x="0" y="458"/>
                            </a:lnTo>
                            <a:lnTo>
                              <a:pt x="52" y="470"/>
                            </a:lnTo>
                            <a:lnTo>
                              <a:pt x="101" y="486"/>
                            </a:lnTo>
                            <a:lnTo>
                              <a:pt x="137" y="500"/>
                            </a:lnTo>
                            <a:lnTo>
                              <a:pt x="164" y="518"/>
                            </a:lnTo>
                            <a:lnTo>
                              <a:pt x="186" y="537"/>
                            </a:lnTo>
                            <a:lnTo>
                              <a:pt x="200" y="55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1" name="Freeform 303"/>
                      <p:cNvSpPr/>
                      <p:nvPr/>
                    </p:nvSpPr>
                    <p:spPr bwMode="auto">
                      <a:xfrm>
                        <a:off x="2616" y="3098"/>
                        <a:ext cx="34" cy="19"/>
                      </a:xfrm>
                      <a:custGeom>
                        <a:avLst/>
                        <a:gdLst>
                          <a:gd name="T0" fmla="*/ 0 w 238"/>
                          <a:gd name="T1" fmla="*/ 37 h 152"/>
                          <a:gd name="T2" fmla="*/ 26 w 238"/>
                          <a:gd name="T3" fmla="*/ 38 h 152"/>
                          <a:gd name="T4" fmla="*/ 58 w 238"/>
                          <a:gd name="T5" fmla="*/ 42 h 152"/>
                          <a:gd name="T6" fmla="*/ 92 w 238"/>
                          <a:gd name="T7" fmla="*/ 52 h 152"/>
                          <a:gd name="T8" fmla="*/ 113 w 238"/>
                          <a:gd name="T9" fmla="*/ 63 h 152"/>
                          <a:gd name="T10" fmla="*/ 140 w 238"/>
                          <a:gd name="T11" fmla="*/ 80 h 152"/>
                          <a:gd name="T12" fmla="*/ 168 w 238"/>
                          <a:gd name="T13" fmla="*/ 102 h 152"/>
                          <a:gd name="T14" fmla="*/ 186 w 238"/>
                          <a:gd name="T15" fmla="*/ 126 h 152"/>
                          <a:gd name="T16" fmla="*/ 205 w 238"/>
                          <a:gd name="T17" fmla="*/ 152 h 152"/>
                          <a:gd name="T18" fmla="*/ 214 w 238"/>
                          <a:gd name="T19" fmla="*/ 145 h 152"/>
                          <a:gd name="T20" fmla="*/ 225 w 238"/>
                          <a:gd name="T21" fmla="*/ 140 h 152"/>
                          <a:gd name="T22" fmla="*/ 238 w 238"/>
                          <a:gd name="T23" fmla="*/ 126 h 152"/>
                          <a:gd name="T24" fmla="*/ 230 w 238"/>
                          <a:gd name="T25" fmla="*/ 112 h 152"/>
                          <a:gd name="T26" fmla="*/ 204 w 238"/>
                          <a:gd name="T27" fmla="*/ 95 h 152"/>
                          <a:gd name="T28" fmla="*/ 182 w 238"/>
                          <a:gd name="T29" fmla="*/ 77 h 152"/>
                          <a:gd name="T30" fmla="*/ 168 w 238"/>
                          <a:gd name="T31" fmla="*/ 63 h 152"/>
                          <a:gd name="T32" fmla="*/ 138 w 238"/>
                          <a:gd name="T33" fmla="*/ 41 h 152"/>
                          <a:gd name="T34" fmla="*/ 106 w 238"/>
                          <a:gd name="T35" fmla="*/ 23 h 152"/>
                          <a:gd name="T36" fmla="*/ 73 w 238"/>
                          <a:gd name="T37" fmla="*/ 11 h 152"/>
                          <a:gd name="T38" fmla="*/ 42 w 238"/>
                          <a:gd name="T39" fmla="*/ 3 h 152"/>
                          <a:gd name="T40" fmla="*/ 14 w 238"/>
                          <a:gd name="T41" fmla="*/ 0 h 152"/>
                          <a:gd name="T42" fmla="*/ 9 w 238"/>
                          <a:gd name="T43" fmla="*/ 7 h 152"/>
                          <a:gd name="T44" fmla="*/ 3 w 238"/>
                          <a:gd name="T45" fmla="*/ 21 h 152"/>
                          <a:gd name="T46" fmla="*/ 0 w 238"/>
                          <a:gd name="T47" fmla="*/ 37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8" h="152">
                            <a:moveTo>
                              <a:pt x="0" y="37"/>
                            </a:moveTo>
                            <a:lnTo>
                              <a:pt x="26" y="38"/>
                            </a:lnTo>
                            <a:lnTo>
                              <a:pt x="58" y="42"/>
                            </a:lnTo>
                            <a:lnTo>
                              <a:pt x="92" y="52"/>
                            </a:lnTo>
                            <a:lnTo>
                              <a:pt x="113" y="63"/>
                            </a:lnTo>
                            <a:lnTo>
                              <a:pt x="140" y="80"/>
                            </a:lnTo>
                            <a:lnTo>
                              <a:pt x="168" y="102"/>
                            </a:lnTo>
                            <a:lnTo>
                              <a:pt x="186" y="126"/>
                            </a:lnTo>
                            <a:lnTo>
                              <a:pt x="205" y="152"/>
                            </a:lnTo>
                            <a:lnTo>
                              <a:pt x="214" y="145"/>
                            </a:lnTo>
                            <a:lnTo>
                              <a:pt x="225" y="140"/>
                            </a:lnTo>
                            <a:lnTo>
                              <a:pt x="238" y="126"/>
                            </a:lnTo>
                            <a:lnTo>
                              <a:pt x="230" y="112"/>
                            </a:lnTo>
                            <a:lnTo>
                              <a:pt x="204" y="95"/>
                            </a:lnTo>
                            <a:lnTo>
                              <a:pt x="182" y="77"/>
                            </a:lnTo>
                            <a:lnTo>
                              <a:pt x="168" y="63"/>
                            </a:lnTo>
                            <a:lnTo>
                              <a:pt x="138" y="41"/>
                            </a:lnTo>
                            <a:lnTo>
                              <a:pt x="106" y="23"/>
                            </a:lnTo>
                            <a:lnTo>
                              <a:pt x="73" y="11"/>
                            </a:lnTo>
                            <a:lnTo>
                              <a:pt x="42" y="3"/>
                            </a:lnTo>
                            <a:lnTo>
                              <a:pt x="14" y="0"/>
                            </a:lnTo>
                            <a:lnTo>
                              <a:pt x="9" y="7"/>
                            </a:lnTo>
                            <a:lnTo>
                              <a:pt x="3" y="21"/>
                            </a:lnTo>
                            <a:lnTo>
                              <a:pt x="0" y="37"/>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2" name="Freeform 304"/>
                      <p:cNvSpPr/>
                      <p:nvPr/>
                    </p:nvSpPr>
                    <p:spPr bwMode="auto">
                      <a:xfrm>
                        <a:off x="2631" y="3094"/>
                        <a:ext cx="27" cy="13"/>
                      </a:xfrm>
                      <a:custGeom>
                        <a:avLst/>
                        <a:gdLst>
                          <a:gd name="T0" fmla="*/ 0 w 189"/>
                          <a:gd name="T1" fmla="*/ 8 h 105"/>
                          <a:gd name="T2" fmla="*/ 33 w 189"/>
                          <a:gd name="T3" fmla="*/ 18 h 105"/>
                          <a:gd name="T4" fmla="*/ 64 w 189"/>
                          <a:gd name="T5" fmla="*/ 32 h 105"/>
                          <a:gd name="T6" fmla="*/ 88 w 189"/>
                          <a:gd name="T7" fmla="*/ 45 h 105"/>
                          <a:gd name="T8" fmla="*/ 115 w 189"/>
                          <a:gd name="T9" fmla="*/ 63 h 105"/>
                          <a:gd name="T10" fmla="*/ 137 w 189"/>
                          <a:gd name="T11" fmla="*/ 81 h 105"/>
                          <a:gd name="T12" fmla="*/ 160 w 189"/>
                          <a:gd name="T13" fmla="*/ 105 h 105"/>
                          <a:gd name="T14" fmla="*/ 172 w 189"/>
                          <a:gd name="T15" fmla="*/ 102 h 105"/>
                          <a:gd name="T16" fmla="*/ 183 w 189"/>
                          <a:gd name="T17" fmla="*/ 93 h 105"/>
                          <a:gd name="T18" fmla="*/ 188 w 189"/>
                          <a:gd name="T19" fmla="*/ 81 h 105"/>
                          <a:gd name="T20" fmla="*/ 189 w 189"/>
                          <a:gd name="T21" fmla="*/ 65 h 105"/>
                          <a:gd name="T22" fmla="*/ 176 w 189"/>
                          <a:gd name="T23" fmla="*/ 55 h 105"/>
                          <a:gd name="T24" fmla="*/ 162 w 189"/>
                          <a:gd name="T25" fmla="*/ 51 h 105"/>
                          <a:gd name="T26" fmla="*/ 145 w 189"/>
                          <a:gd name="T27" fmla="*/ 48 h 105"/>
                          <a:gd name="T28" fmla="*/ 127 w 189"/>
                          <a:gd name="T29" fmla="*/ 41 h 105"/>
                          <a:gd name="T30" fmla="*/ 110 w 189"/>
                          <a:gd name="T31" fmla="*/ 28 h 105"/>
                          <a:gd name="T32" fmla="*/ 93 w 189"/>
                          <a:gd name="T33" fmla="*/ 16 h 105"/>
                          <a:gd name="T34" fmla="*/ 71 w 189"/>
                          <a:gd name="T35" fmla="*/ 5 h 105"/>
                          <a:gd name="T36" fmla="*/ 53 w 189"/>
                          <a:gd name="T37" fmla="*/ 2 h 105"/>
                          <a:gd name="T38" fmla="*/ 38 w 189"/>
                          <a:gd name="T39" fmla="*/ 0 h 105"/>
                          <a:gd name="T40" fmla="*/ 18 w 189"/>
                          <a:gd name="T41" fmla="*/ 2 h 105"/>
                          <a:gd name="T42" fmla="*/ 0 w 189"/>
                          <a:gd name="T43" fmla="*/ 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9" h="105">
                            <a:moveTo>
                              <a:pt x="0" y="8"/>
                            </a:moveTo>
                            <a:lnTo>
                              <a:pt x="33" y="18"/>
                            </a:lnTo>
                            <a:lnTo>
                              <a:pt x="64" y="32"/>
                            </a:lnTo>
                            <a:lnTo>
                              <a:pt x="88" y="45"/>
                            </a:lnTo>
                            <a:lnTo>
                              <a:pt x="115" y="63"/>
                            </a:lnTo>
                            <a:lnTo>
                              <a:pt x="137" y="81"/>
                            </a:lnTo>
                            <a:lnTo>
                              <a:pt x="160" y="105"/>
                            </a:lnTo>
                            <a:lnTo>
                              <a:pt x="172" y="102"/>
                            </a:lnTo>
                            <a:lnTo>
                              <a:pt x="183" y="93"/>
                            </a:lnTo>
                            <a:lnTo>
                              <a:pt x="188" y="81"/>
                            </a:lnTo>
                            <a:lnTo>
                              <a:pt x="189" y="65"/>
                            </a:lnTo>
                            <a:lnTo>
                              <a:pt x="176" y="55"/>
                            </a:lnTo>
                            <a:lnTo>
                              <a:pt x="162" y="51"/>
                            </a:lnTo>
                            <a:lnTo>
                              <a:pt x="145" y="48"/>
                            </a:lnTo>
                            <a:lnTo>
                              <a:pt x="127" y="41"/>
                            </a:lnTo>
                            <a:lnTo>
                              <a:pt x="110" y="28"/>
                            </a:lnTo>
                            <a:lnTo>
                              <a:pt x="93" y="16"/>
                            </a:lnTo>
                            <a:lnTo>
                              <a:pt x="71" y="5"/>
                            </a:lnTo>
                            <a:lnTo>
                              <a:pt x="53" y="2"/>
                            </a:lnTo>
                            <a:lnTo>
                              <a:pt x="38" y="0"/>
                            </a:lnTo>
                            <a:lnTo>
                              <a:pt x="18" y="2"/>
                            </a:lnTo>
                            <a:lnTo>
                              <a:pt x="0" y="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3" name="Freeform 305"/>
                      <p:cNvSpPr/>
                      <p:nvPr/>
                    </p:nvSpPr>
                    <p:spPr bwMode="auto">
                      <a:xfrm>
                        <a:off x="2626" y="3080"/>
                        <a:ext cx="38" cy="17"/>
                      </a:xfrm>
                      <a:custGeom>
                        <a:avLst/>
                        <a:gdLst>
                          <a:gd name="T0" fmla="*/ 0 w 263"/>
                          <a:gd name="T1" fmla="*/ 59 h 129"/>
                          <a:gd name="T2" fmla="*/ 18 w 263"/>
                          <a:gd name="T3" fmla="*/ 50 h 129"/>
                          <a:gd name="T4" fmla="*/ 34 w 263"/>
                          <a:gd name="T5" fmla="*/ 42 h 129"/>
                          <a:gd name="T6" fmla="*/ 61 w 263"/>
                          <a:gd name="T7" fmla="*/ 34 h 129"/>
                          <a:gd name="T8" fmla="*/ 84 w 263"/>
                          <a:gd name="T9" fmla="*/ 37 h 129"/>
                          <a:gd name="T10" fmla="*/ 107 w 263"/>
                          <a:gd name="T11" fmla="*/ 52 h 129"/>
                          <a:gd name="T12" fmla="*/ 128 w 263"/>
                          <a:gd name="T13" fmla="*/ 66 h 129"/>
                          <a:gd name="T14" fmla="*/ 164 w 263"/>
                          <a:gd name="T15" fmla="*/ 85 h 129"/>
                          <a:gd name="T16" fmla="*/ 194 w 263"/>
                          <a:gd name="T17" fmla="*/ 106 h 129"/>
                          <a:gd name="T18" fmla="*/ 225 w 263"/>
                          <a:gd name="T19" fmla="*/ 129 h 129"/>
                          <a:gd name="T20" fmla="*/ 235 w 263"/>
                          <a:gd name="T21" fmla="*/ 124 h 129"/>
                          <a:gd name="T22" fmla="*/ 246 w 263"/>
                          <a:gd name="T23" fmla="*/ 123 h 129"/>
                          <a:gd name="T24" fmla="*/ 256 w 263"/>
                          <a:gd name="T25" fmla="*/ 126 h 129"/>
                          <a:gd name="T26" fmla="*/ 263 w 263"/>
                          <a:gd name="T27" fmla="*/ 97 h 129"/>
                          <a:gd name="T28" fmla="*/ 201 w 263"/>
                          <a:gd name="T29" fmla="*/ 56 h 129"/>
                          <a:gd name="T30" fmla="*/ 159 w 263"/>
                          <a:gd name="T31" fmla="*/ 32 h 129"/>
                          <a:gd name="T32" fmla="*/ 128 w 263"/>
                          <a:gd name="T33" fmla="*/ 17 h 129"/>
                          <a:gd name="T34" fmla="*/ 105 w 263"/>
                          <a:gd name="T35" fmla="*/ 5 h 129"/>
                          <a:gd name="T36" fmla="*/ 81 w 263"/>
                          <a:gd name="T37" fmla="*/ 0 h 129"/>
                          <a:gd name="T38" fmla="*/ 57 w 263"/>
                          <a:gd name="T39" fmla="*/ 3 h 129"/>
                          <a:gd name="T40" fmla="*/ 38 w 263"/>
                          <a:gd name="T41" fmla="*/ 13 h 129"/>
                          <a:gd name="T42" fmla="*/ 18 w 263"/>
                          <a:gd name="T43" fmla="*/ 32 h 129"/>
                          <a:gd name="T44" fmla="*/ 0 w 263"/>
                          <a:gd name="T45" fmla="*/ 59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63" h="129">
                            <a:moveTo>
                              <a:pt x="0" y="59"/>
                            </a:moveTo>
                            <a:lnTo>
                              <a:pt x="18" y="50"/>
                            </a:lnTo>
                            <a:lnTo>
                              <a:pt x="34" y="42"/>
                            </a:lnTo>
                            <a:lnTo>
                              <a:pt x="61" y="34"/>
                            </a:lnTo>
                            <a:lnTo>
                              <a:pt x="84" y="37"/>
                            </a:lnTo>
                            <a:lnTo>
                              <a:pt x="107" y="52"/>
                            </a:lnTo>
                            <a:lnTo>
                              <a:pt x="128" y="66"/>
                            </a:lnTo>
                            <a:lnTo>
                              <a:pt x="164" y="85"/>
                            </a:lnTo>
                            <a:lnTo>
                              <a:pt x="194" y="106"/>
                            </a:lnTo>
                            <a:lnTo>
                              <a:pt x="225" y="129"/>
                            </a:lnTo>
                            <a:lnTo>
                              <a:pt x="235" y="124"/>
                            </a:lnTo>
                            <a:lnTo>
                              <a:pt x="246" y="123"/>
                            </a:lnTo>
                            <a:lnTo>
                              <a:pt x="256" y="126"/>
                            </a:lnTo>
                            <a:lnTo>
                              <a:pt x="263" y="97"/>
                            </a:lnTo>
                            <a:lnTo>
                              <a:pt x="201" y="56"/>
                            </a:lnTo>
                            <a:lnTo>
                              <a:pt x="159" y="32"/>
                            </a:lnTo>
                            <a:lnTo>
                              <a:pt x="128" y="17"/>
                            </a:lnTo>
                            <a:lnTo>
                              <a:pt x="105" y="5"/>
                            </a:lnTo>
                            <a:lnTo>
                              <a:pt x="81" y="0"/>
                            </a:lnTo>
                            <a:lnTo>
                              <a:pt x="57" y="3"/>
                            </a:lnTo>
                            <a:lnTo>
                              <a:pt x="38" y="13"/>
                            </a:lnTo>
                            <a:lnTo>
                              <a:pt x="18" y="32"/>
                            </a:lnTo>
                            <a:lnTo>
                              <a:pt x="0" y="59"/>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4" name="Freeform 306"/>
                      <p:cNvSpPr/>
                      <p:nvPr/>
                    </p:nvSpPr>
                    <p:spPr bwMode="auto">
                      <a:xfrm>
                        <a:off x="2632" y="3068"/>
                        <a:ext cx="25" cy="15"/>
                      </a:xfrm>
                      <a:custGeom>
                        <a:avLst/>
                        <a:gdLst>
                          <a:gd name="T0" fmla="*/ 0 w 177"/>
                          <a:gd name="T1" fmla="*/ 18 h 122"/>
                          <a:gd name="T2" fmla="*/ 2 w 177"/>
                          <a:gd name="T3" fmla="*/ 40 h 122"/>
                          <a:gd name="T4" fmla="*/ 8 w 177"/>
                          <a:gd name="T5" fmla="*/ 58 h 122"/>
                          <a:gd name="T6" fmla="*/ 16 w 177"/>
                          <a:gd name="T7" fmla="*/ 70 h 122"/>
                          <a:gd name="T8" fmla="*/ 31 w 177"/>
                          <a:gd name="T9" fmla="*/ 76 h 122"/>
                          <a:gd name="T10" fmla="*/ 91 w 177"/>
                          <a:gd name="T11" fmla="*/ 71 h 122"/>
                          <a:gd name="T12" fmla="*/ 116 w 177"/>
                          <a:gd name="T13" fmla="*/ 90 h 122"/>
                          <a:gd name="T14" fmla="*/ 145 w 177"/>
                          <a:gd name="T15" fmla="*/ 106 h 122"/>
                          <a:gd name="T16" fmla="*/ 177 w 177"/>
                          <a:gd name="T17" fmla="*/ 122 h 122"/>
                          <a:gd name="T18" fmla="*/ 154 w 177"/>
                          <a:gd name="T19" fmla="*/ 93 h 122"/>
                          <a:gd name="T20" fmla="*/ 129 w 177"/>
                          <a:gd name="T21" fmla="*/ 70 h 122"/>
                          <a:gd name="T22" fmla="*/ 104 w 177"/>
                          <a:gd name="T23" fmla="*/ 47 h 122"/>
                          <a:gd name="T24" fmla="*/ 73 w 177"/>
                          <a:gd name="T25" fmla="*/ 31 h 122"/>
                          <a:gd name="T26" fmla="*/ 51 w 177"/>
                          <a:gd name="T27" fmla="*/ 13 h 122"/>
                          <a:gd name="T28" fmla="*/ 35 w 177"/>
                          <a:gd name="T29" fmla="*/ 3 h 122"/>
                          <a:gd name="T30" fmla="*/ 18 w 177"/>
                          <a:gd name="T31" fmla="*/ 0 h 122"/>
                          <a:gd name="T32" fmla="*/ 5 w 177"/>
                          <a:gd name="T33" fmla="*/ 4 h 122"/>
                          <a:gd name="T34" fmla="*/ 0 w 177"/>
                          <a:gd name="T35" fmla="*/ 18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7" h="122">
                            <a:moveTo>
                              <a:pt x="0" y="18"/>
                            </a:moveTo>
                            <a:lnTo>
                              <a:pt x="2" y="40"/>
                            </a:lnTo>
                            <a:lnTo>
                              <a:pt x="8" y="58"/>
                            </a:lnTo>
                            <a:lnTo>
                              <a:pt x="16" y="70"/>
                            </a:lnTo>
                            <a:lnTo>
                              <a:pt x="31" y="76"/>
                            </a:lnTo>
                            <a:lnTo>
                              <a:pt x="91" y="71"/>
                            </a:lnTo>
                            <a:lnTo>
                              <a:pt x="116" y="90"/>
                            </a:lnTo>
                            <a:lnTo>
                              <a:pt x="145" y="106"/>
                            </a:lnTo>
                            <a:lnTo>
                              <a:pt x="177" y="122"/>
                            </a:lnTo>
                            <a:lnTo>
                              <a:pt x="154" y="93"/>
                            </a:lnTo>
                            <a:lnTo>
                              <a:pt x="129" y="70"/>
                            </a:lnTo>
                            <a:lnTo>
                              <a:pt x="104" y="47"/>
                            </a:lnTo>
                            <a:lnTo>
                              <a:pt x="73" y="31"/>
                            </a:lnTo>
                            <a:lnTo>
                              <a:pt x="51" y="13"/>
                            </a:lnTo>
                            <a:lnTo>
                              <a:pt x="35" y="3"/>
                            </a:lnTo>
                            <a:lnTo>
                              <a:pt x="18" y="0"/>
                            </a:lnTo>
                            <a:lnTo>
                              <a:pt x="5" y="4"/>
                            </a:lnTo>
                            <a:lnTo>
                              <a:pt x="0" y="1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5" name="Freeform 307"/>
                      <p:cNvSpPr/>
                      <p:nvPr/>
                    </p:nvSpPr>
                    <p:spPr bwMode="auto">
                      <a:xfrm>
                        <a:off x="2613" y="3113"/>
                        <a:ext cx="25" cy="17"/>
                      </a:xfrm>
                      <a:custGeom>
                        <a:avLst/>
                        <a:gdLst>
                          <a:gd name="T0" fmla="*/ 0 w 175"/>
                          <a:gd name="T1" fmla="*/ 5 h 130"/>
                          <a:gd name="T2" fmla="*/ 16 w 175"/>
                          <a:gd name="T3" fmla="*/ 6 h 130"/>
                          <a:gd name="T4" fmla="*/ 37 w 175"/>
                          <a:gd name="T5" fmla="*/ 10 h 130"/>
                          <a:gd name="T6" fmla="*/ 60 w 175"/>
                          <a:gd name="T7" fmla="*/ 17 h 130"/>
                          <a:gd name="T8" fmla="*/ 82 w 175"/>
                          <a:gd name="T9" fmla="*/ 28 h 130"/>
                          <a:gd name="T10" fmla="*/ 113 w 175"/>
                          <a:gd name="T11" fmla="*/ 41 h 130"/>
                          <a:gd name="T12" fmla="*/ 130 w 175"/>
                          <a:gd name="T13" fmla="*/ 51 h 130"/>
                          <a:gd name="T14" fmla="*/ 145 w 175"/>
                          <a:gd name="T15" fmla="*/ 66 h 130"/>
                          <a:gd name="T16" fmla="*/ 155 w 175"/>
                          <a:gd name="T17" fmla="*/ 80 h 130"/>
                          <a:gd name="T18" fmla="*/ 159 w 175"/>
                          <a:gd name="T19" fmla="*/ 98 h 130"/>
                          <a:gd name="T20" fmla="*/ 162 w 175"/>
                          <a:gd name="T21" fmla="*/ 120 h 130"/>
                          <a:gd name="T22" fmla="*/ 161 w 175"/>
                          <a:gd name="T23" fmla="*/ 130 h 130"/>
                          <a:gd name="T24" fmla="*/ 171 w 175"/>
                          <a:gd name="T25" fmla="*/ 117 h 130"/>
                          <a:gd name="T26" fmla="*/ 175 w 175"/>
                          <a:gd name="T27" fmla="*/ 97 h 130"/>
                          <a:gd name="T28" fmla="*/ 173 w 175"/>
                          <a:gd name="T29" fmla="*/ 78 h 130"/>
                          <a:gd name="T30" fmla="*/ 162 w 175"/>
                          <a:gd name="T31" fmla="*/ 60 h 130"/>
                          <a:gd name="T32" fmla="*/ 146 w 175"/>
                          <a:gd name="T33" fmla="*/ 42 h 130"/>
                          <a:gd name="T34" fmla="*/ 126 w 175"/>
                          <a:gd name="T35" fmla="*/ 27 h 130"/>
                          <a:gd name="T36" fmla="*/ 95 w 175"/>
                          <a:gd name="T37" fmla="*/ 12 h 130"/>
                          <a:gd name="T38" fmla="*/ 63 w 175"/>
                          <a:gd name="T39" fmla="*/ 3 h 130"/>
                          <a:gd name="T40" fmla="*/ 44 w 175"/>
                          <a:gd name="T41" fmla="*/ 1 h 130"/>
                          <a:gd name="T42" fmla="*/ 19 w 175"/>
                          <a:gd name="T43" fmla="*/ 0 h 130"/>
                          <a:gd name="T44" fmla="*/ 0 w 175"/>
                          <a:gd name="T45" fmla="*/ 5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5" h="130">
                            <a:moveTo>
                              <a:pt x="0" y="5"/>
                            </a:moveTo>
                            <a:lnTo>
                              <a:pt x="16" y="6"/>
                            </a:lnTo>
                            <a:lnTo>
                              <a:pt x="37" y="10"/>
                            </a:lnTo>
                            <a:lnTo>
                              <a:pt x="60" y="17"/>
                            </a:lnTo>
                            <a:lnTo>
                              <a:pt x="82" y="28"/>
                            </a:lnTo>
                            <a:lnTo>
                              <a:pt x="113" y="41"/>
                            </a:lnTo>
                            <a:lnTo>
                              <a:pt x="130" y="51"/>
                            </a:lnTo>
                            <a:lnTo>
                              <a:pt x="145" y="66"/>
                            </a:lnTo>
                            <a:lnTo>
                              <a:pt x="155" y="80"/>
                            </a:lnTo>
                            <a:lnTo>
                              <a:pt x="159" y="98"/>
                            </a:lnTo>
                            <a:lnTo>
                              <a:pt x="162" y="120"/>
                            </a:lnTo>
                            <a:lnTo>
                              <a:pt x="161" y="130"/>
                            </a:lnTo>
                            <a:lnTo>
                              <a:pt x="171" y="117"/>
                            </a:lnTo>
                            <a:lnTo>
                              <a:pt x="175" y="97"/>
                            </a:lnTo>
                            <a:lnTo>
                              <a:pt x="173" y="78"/>
                            </a:lnTo>
                            <a:lnTo>
                              <a:pt x="162" y="60"/>
                            </a:lnTo>
                            <a:lnTo>
                              <a:pt x="146" y="42"/>
                            </a:lnTo>
                            <a:lnTo>
                              <a:pt x="126" y="27"/>
                            </a:lnTo>
                            <a:lnTo>
                              <a:pt x="95" y="12"/>
                            </a:lnTo>
                            <a:lnTo>
                              <a:pt x="63" y="3"/>
                            </a:lnTo>
                            <a:lnTo>
                              <a:pt x="44" y="1"/>
                            </a:lnTo>
                            <a:lnTo>
                              <a:pt x="19" y="0"/>
                            </a:lnTo>
                            <a:lnTo>
                              <a:pt x="0" y="5"/>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6" name="Freeform 308"/>
                      <p:cNvSpPr/>
                      <p:nvPr/>
                    </p:nvSpPr>
                    <p:spPr bwMode="auto">
                      <a:xfrm>
                        <a:off x="2653" y="3019"/>
                        <a:ext cx="27" cy="33"/>
                      </a:xfrm>
                      <a:custGeom>
                        <a:avLst/>
                        <a:gdLst>
                          <a:gd name="T0" fmla="*/ 0 w 187"/>
                          <a:gd name="T1" fmla="*/ 0 h 264"/>
                          <a:gd name="T2" fmla="*/ 42 w 187"/>
                          <a:gd name="T3" fmla="*/ 41 h 264"/>
                          <a:gd name="T4" fmla="*/ 76 w 187"/>
                          <a:gd name="T5" fmla="*/ 92 h 264"/>
                          <a:gd name="T6" fmla="*/ 109 w 187"/>
                          <a:gd name="T7" fmla="*/ 155 h 264"/>
                          <a:gd name="T8" fmla="*/ 187 w 187"/>
                          <a:gd name="T9" fmla="*/ 259 h 264"/>
                          <a:gd name="T10" fmla="*/ 186 w 187"/>
                          <a:gd name="T11" fmla="*/ 264 h 264"/>
                          <a:gd name="T12" fmla="*/ 142 w 187"/>
                          <a:gd name="T13" fmla="*/ 224 h 264"/>
                          <a:gd name="T14" fmla="*/ 111 w 187"/>
                          <a:gd name="T15" fmla="*/ 191 h 264"/>
                          <a:gd name="T16" fmla="*/ 75 w 187"/>
                          <a:gd name="T17" fmla="*/ 151 h 264"/>
                          <a:gd name="T18" fmla="*/ 42 w 187"/>
                          <a:gd name="T19" fmla="*/ 97 h 264"/>
                          <a:gd name="T20" fmla="*/ 22 w 187"/>
                          <a:gd name="T21" fmla="*/ 51 h 264"/>
                          <a:gd name="T22" fmla="*/ 0 w 187"/>
                          <a:gd name="T23" fmla="*/ 0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7" h="264">
                            <a:moveTo>
                              <a:pt x="0" y="0"/>
                            </a:moveTo>
                            <a:lnTo>
                              <a:pt x="42" y="41"/>
                            </a:lnTo>
                            <a:lnTo>
                              <a:pt x="76" y="92"/>
                            </a:lnTo>
                            <a:lnTo>
                              <a:pt x="109" y="155"/>
                            </a:lnTo>
                            <a:lnTo>
                              <a:pt x="187" y="259"/>
                            </a:lnTo>
                            <a:lnTo>
                              <a:pt x="186" y="264"/>
                            </a:lnTo>
                            <a:lnTo>
                              <a:pt x="142" y="224"/>
                            </a:lnTo>
                            <a:lnTo>
                              <a:pt x="111" y="191"/>
                            </a:lnTo>
                            <a:lnTo>
                              <a:pt x="75" y="151"/>
                            </a:lnTo>
                            <a:lnTo>
                              <a:pt x="42" y="97"/>
                            </a:lnTo>
                            <a:lnTo>
                              <a:pt x="22" y="51"/>
                            </a:lnTo>
                            <a:lnTo>
                              <a:pt x="0" y="0"/>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7" name="Freeform 309"/>
                      <p:cNvSpPr/>
                      <p:nvPr/>
                    </p:nvSpPr>
                    <p:spPr bwMode="auto">
                      <a:xfrm>
                        <a:off x="2624" y="3096"/>
                        <a:ext cx="27" cy="20"/>
                      </a:xfrm>
                      <a:custGeom>
                        <a:avLst/>
                        <a:gdLst>
                          <a:gd name="T0" fmla="*/ 194 w 194"/>
                          <a:gd name="T1" fmla="*/ 95 h 156"/>
                          <a:gd name="T2" fmla="*/ 163 w 194"/>
                          <a:gd name="T3" fmla="*/ 57 h 156"/>
                          <a:gd name="T4" fmla="*/ 141 w 194"/>
                          <a:gd name="T5" fmla="*/ 38 h 156"/>
                          <a:gd name="T6" fmla="*/ 107 w 194"/>
                          <a:gd name="T7" fmla="*/ 19 h 156"/>
                          <a:gd name="T8" fmla="*/ 78 w 194"/>
                          <a:gd name="T9" fmla="*/ 7 h 156"/>
                          <a:gd name="T10" fmla="*/ 44 w 194"/>
                          <a:gd name="T11" fmla="*/ 2 h 156"/>
                          <a:gd name="T12" fmla="*/ 21 w 194"/>
                          <a:gd name="T13" fmla="*/ 0 h 156"/>
                          <a:gd name="T14" fmla="*/ 8 w 194"/>
                          <a:gd name="T15" fmla="*/ 2 h 156"/>
                          <a:gd name="T16" fmla="*/ 0 w 194"/>
                          <a:gd name="T17" fmla="*/ 7 h 156"/>
                          <a:gd name="T18" fmla="*/ 2 w 194"/>
                          <a:gd name="T19" fmla="*/ 17 h 156"/>
                          <a:gd name="T20" fmla="*/ 13 w 194"/>
                          <a:gd name="T21" fmla="*/ 26 h 156"/>
                          <a:gd name="T22" fmla="*/ 44 w 194"/>
                          <a:gd name="T23" fmla="*/ 41 h 156"/>
                          <a:gd name="T24" fmla="*/ 74 w 194"/>
                          <a:gd name="T25" fmla="*/ 60 h 156"/>
                          <a:gd name="T26" fmla="*/ 110 w 194"/>
                          <a:gd name="T27" fmla="*/ 85 h 156"/>
                          <a:gd name="T28" fmla="*/ 135 w 194"/>
                          <a:gd name="T29" fmla="*/ 109 h 156"/>
                          <a:gd name="T30" fmla="*/ 154 w 194"/>
                          <a:gd name="T31" fmla="*/ 133 h 156"/>
                          <a:gd name="T32" fmla="*/ 171 w 194"/>
                          <a:gd name="T33" fmla="*/ 156 h 156"/>
                          <a:gd name="T34" fmla="*/ 180 w 194"/>
                          <a:gd name="T35" fmla="*/ 143 h 156"/>
                          <a:gd name="T36" fmla="*/ 189 w 194"/>
                          <a:gd name="T37" fmla="*/ 135 h 156"/>
                          <a:gd name="T38" fmla="*/ 193 w 194"/>
                          <a:gd name="T39" fmla="*/ 121 h 156"/>
                          <a:gd name="T40" fmla="*/ 194 w 194"/>
                          <a:gd name="T41" fmla="*/ 110 h 156"/>
                          <a:gd name="T42" fmla="*/ 194 w 194"/>
                          <a:gd name="T43" fmla="*/ 95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4" h="156">
                            <a:moveTo>
                              <a:pt x="194" y="95"/>
                            </a:moveTo>
                            <a:lnTo>
                              <a:pt x="163" y="57"/>
                            </a:lnTo>
                            <a:lnTo>
                              <a:pt x="141" y="38"/>
                            </a:lnTo>
                            <a:lnTo>
                              <a:pt x="107" y="19"/>
                            </a:lnTo>
                            <a:lnTo>
                              <a:pt x="78" y="7"/>
                            </a:lnTo>
                            <a:lnTo>
                              <a:pt x="44" y="2"/>
                            </a:lnTo>
                            <a:lnTo>
                              <a:pt x="21" y="0"/>
                            </a:lnTo>
                            <a:lnTo>
                              <a:pt x="8" y="2"/>
                            </a:lnTo>
                            <a:lnTo>
                              <a:pt x="0" y="7"/>
                            </a:lnTo>
                            <a:lnTo>
                              <a:pt x="2" y="17"/>
                            </a:lnTo>
                            <a:lnTo>
                              <a:pt x="13" y="26"/>
                            </a:lnTo>
                            <a:lnTo>
                              <a:pt x="44" y="41"/>
                            </a:lnTo>
                            <a:lnTo>
                              <a:pt x="74" y="60"/>
                            </a:lnTo>
                            <a:lnTo>
                              <a:pt x="110" y="85"/>
                            </a:lnTo>
                            <a:lnTo>
                              <a:pt x="135" y="109"/>
                            </a:lnTo>
                            <a:lnTo>
                              <a:pt x="154" y="133"/>
                            </a:lnTo>
                            <a:lnTo>
                              <a:pt x="171" y="156"/>
                            </a:lnTo>
                            <a:lnTo>
                              <a:pt x="180" y="143"/>
                            </a:lnTo>
                            <a:lnTo>
                              <a:pt x="189" y="135"/>
                            </a:lnTo>
                            <a:lnTo>
                              <a:pt x="193" y="121"/>
                            </a:lnTo>
                            <a:lnTo>
                              <a:pt x="194" y="110"/>
                            </a:lnTo>
                            <a:lnTo>
                              <a:pt x="194" y="95"/>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8" name="Freeform 310"/>
                      <p:cNvSpPr/>
                      <p:nvPr/>
                    </p:nvSpPr>
                    <p:spPr bwMode="auto">
                      <a:xfrm>
                        <a:off x="2630" y="3088"/>
                        <a:ext cx="30" cy="15"/>
                      </a:xfrm>
                      <a:custGeom>
                        <a:avLst/>
                        <a:gdLst>
                          <a:gd name="T0" fmla="*/ 0 w 215"/>
                          <a:gd name="T1" fmla="*/ 38 h 120"/>
                          <a:gd name="T2" fmla="*/ 25 w 215"/>
                          <a:gd name="T3" fmla="*/ 33 h 120"/>
                          <a:gd name="T4" fmla="*/ 49 w 215"/>
                          <a:gd name="T5" fmla="*/ 38 h 120"/>
                          <a:gd name="T6" fmla="*/ 76 w 215"/>
                          <a:gd name="T7" fmla="*/ 45 h 120"/>
                          <a:gd name="T8" fmla="*/ 99 w 215"/>
                          <a:gd name="T9" fmla="*/ 56 h 120"/>
                          <a:gd name="T10" fmla="*/ 122 w 215"/>
                          <a:gd name="T11" fmla="*/ 66 h 120"/>
                          <a:gd name="T12" fmla="*/ 146 w 215"/>
                          <a:gd name="T13" fmla="*/ 85 h 120"/>
                          <a:gd name="T14" fmla="*/ 154 w 215"/>
                          <a:gd name="T15" fmla="*/ 98 h 120"/>
                          <a:gd name="T16" fmla="*/ 169 w 215"/>
                          <a:gd name="T17" fmla="*/ 109 h 120"/>
                          <a:gd name="T18" fmla="*/ 183 w 215"/>
                          <a:gd name="T19" fmla="*/ 117 h 120"/>
                          <a:gd name="T20" fmla="*/ 197 w 215"/>
                          <a:gd name="T21" fmla="*/ 120 h 120"/>
                          <a:gd name="T22" fmla="*/ 207 w 215"/>
                          <a:gd name="T23" fmla="*/ 103 h 120"/>
                          <a:gd name="T24" fmla="*/ 212 w 215"/>
                          <a:gd name="T25" fmla="*/ 88 h 120"/>
                          <a:gd name="T26" fmla="*/ 215 w 215"/>
                          <a:gd name="T27" fmla="*/ 71 h 120"/>
                          <a:gd name="T28" fmla="*/ 160 w 215"/>
                          <a:gd name="T29" fmla="*/ 32 h 120"/>
                          <a:gd name="T30" fmla="*/ 131 w 215"/>
                          <a:gd name="T31" fmla="*/ 16 h 120"/>
                          <a:gd name="T32" fmla="*/ 99 w 215"/>
                          <a:gd name="T33" fmla="*/ 4 h 120"/>
                          <a:gd name="T34" fmla="*/ 73 w 215"/>
                          <a:gd name="T35" fmla="*/ 0 h 120"/>
                          <a:gd name="T36" fmla="*/ 56 w 215"/>
                          <a:gd name="T37" fmla="*/ 2 h 120"/>
                          <a:gd name="T38" fmla="*/ 37 w 215"/>
                          <a:gd name="T39" fmla="*/ 9 h 120"/>
                          <a:gd name="T40" fmla="*/ 20 w 215"/>
                          <a:gd name="T41" fmla="*/ 22 h 120"/>
                          <a:gd name="T42" fmla="*/ 0 w 215"/>
                          <a:gd name="T43" fmla="*/ 3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15" h="120">
                            <a:moveTo>
                              <a:pt x="0" y="38"/>
                            </a:moveTo>
                            <a:lnTo>
                              <a:pt x="25" y="33"/>
                            </a:lnTo>
                            <a:lnTo>
                              <a:pt x="49" y="38"/>
                            </a:lnTo>
                            <a:lnTo>
                              <a:pt x="76" y="45"/>
                            </a:lnTo>
                            <a:lnTo>
                              <a:pt x="99" y="56"/>
                            </a:lnTo>
                            <a:lnTo>
                              <a:pt x="122" y="66"/>
                            </a:lnTo>
                            <a:lnTo>
                              <a:pt x="146" y="85"/>
                            </a:lnTo>
                            <a:lnTo>
                              <a:pt x="154" y="98"/>
                            </a:lnTo>
                            <a:lnTo>
                              <a:pt x="169" y="109"/>
                            </a:lnTo>
                            <a:lnTo>
                              <a:pt x="183" y="117"/>
                            </a:lnTo>
                            <a:lnTo>
                              <a:pt x="197" y="120"/>
                            </a:lnTo>
                            <a:lnTo>
                              <a:pt x="207" y="103"/>
                            </a:lnTo>
                            <a:lnTo>
                              <a:pt x="212" y="88"/>
                            </a:lnTo>
                            <a:lnTo>
                              <a:pt x="215" y="71"/>
                            </a:lnTo>
                            <a:lnTo>
                              <a:pt x="160" y="32"/>
                            </a:lnTo>
                            <a:lnTo>
                              <a:pt x="131" y="16"/>
                            </a:lnTo>
                            <a:lnTo>
                              <a:pt x="99" y="4"/>
                            </a:lnTo>
                            <a:lnTo>
                              <a:pt x="73" y="0"/>
                            </a:lnTo>
                            <a:lnTo>
                              <a:pt x="56" y="2"/>
                            </a:lnTo>
                            <a:lnTo>
                              <a:pt x="37" y="9"/>
                            </a:lnTo>
                            <a:lnTo>
                              <a:pt x="20" y="22"/>
                            </a:lnTo>
                            <a:lnTo>
                              <a:pt x="0" y="38"/>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9" name="Freeform 311"/>
                      <p:cNvSpPr/>
                      <p:nvPr/>
                    </p:nvSpPr>
                    <p:spPr bwMode="auto">
                      <a:xfrm>
                        <a:off x="2628" y="3067"/>
                        <a:ext cx="37" cy="29"/>
                      </a:xfrm>
                      <a:custGeom>
                        <a:avLst/>
                        <a:gdLst>
                          <a:gd name="T0" fmla="*/ 0 w 263"/>
                          <a:gd name="T1" fmla="*/ 129 h 234"/>
                          <a:gd name="T2" fmla="*/ 27 w 263"/>
                          <a:gd name="T3" fmla="*/ 126 h 234"/>
                          <a:gd name="T4" fmla="*/ 50 w 263"/>
                          <a:gd name="T5" fmla="*/ 128 h 234"/>
                          <a:gd name="T6" fmla="*/ 85 w 263"/>
                          <a:gd name="T7" fmla="*/ 132 h 234"/>
                          <a:gd name="T8" fmla="*/ 118 w 263"/>
                          <a:gd name="T9" fmla="*/ 142 h 234"/>
                          <a:gd name="T10" fmla="*/ 152 w 263"/>
                          <a:gd name="T11" fmla="*/ 155 h 234"/>
                          <a:gd name="T12" fmla="*/ 185 w 263"/>
                          <a:gd name="T13" fmla="*/ 173 h 234"/>
                          <a:gd name="T14" fmla="*/ 211 w 263"/>
                          <a:gd name="T15" fmla="*/ 189 h 234"/>
                          <a:gd name="T16" fmla="*/ 232 w 263"/>
                          <a:gd name="T17" fmla="*/ 210 h 234"/>
                          <a:gd name="T18" fmla="*/ 245 w 263"/>
                          <a:gd name="T19" fmla="*/ 234 h 234"/>
                          <a:gd name="T20" fmla="*/ 256 w 263"/>
                          <a:gd name="T21" fmla="*/ 203 h 234"/>
                          <a:gd name="T22" fmla="*/ 263 w 263"/>
                          <a:gd name="T23" fmla="*/ 175 h 234"/>
                          <a:gd name="T24" fmla="*/ 262 w 263"/>
                          <a:gd name="T25" fmla="*/ 154 h 234"/>
                          <a:gd name="T26" fmla="*/ 257 w 263"/>
                          <a:gd name="T27" fmla="*/ 135 h 234"/>
                          <a:gd name="T28" fmla="*/ 245 w 263"/>
                          <a:gd name="T29" fmla="*/ 116 h 234"/>
                          <a:gd name="T30" fmla="*/ 251 w 263"/>
                          <a:gd name="T31" fmla="*/ 96 h 234"/>
                          <a:gd name="T32" fmla="*/ 248 w 263"/>
                          <a:gd name="T33" fmla="*/ 74 h 234"/>
                          <a:gd name="T34" fmla="*/ 223 w 263"/>
                          <a:gd name="T35" fmla="*/ 61 h 234"/>
                          <a:gd name="T36" fmla="*/ 192 w 263"/>
                          <a:gd name="T37" fmla="*/ 53 h 234"/>
                          <a:gd name="T38" fmla="*/ 159 w 263"/>
                          <a:gd name="T39" fmla="*/ 43 h 234"/>
                          <a:gd name="T40" fmla="*/ 129 w 263"/>
                          <a:gd name="T41" fmla="*/ 30 h 234"/>
                          <a:gd name="T42" fmla="*/ 94 w 263"/>
                          <a:gd name="T43" fmla="*/ 13 h 234"/>
                          <a:gd name="T44" fmla="*/ 72 w 263"/>
                          <a:gd name="T45" fmla="*/ 4 h 234"/>
                          <a:gd name="T46" fmla="*/ 58 w 263"/>
                          <a:gd name="T47" fmla="*/ 0 h 234"/>
                          <a:gd name="T48" fmla="*/ 47 w 263"/>
                          <a:gd name="T49" fmla="*/ 4 h 234"/>
                          <a:gd name="T50" fmla="*/ 39 w 263"/>
                          <a:gd name="T51" fmla="*/ 12 h 234"/>
                          <a:gd name="T52" fmla="*/ 36 w 263"/>
                          <a:gd name="T53" fmla="*/ 23 h 234"/>
                          <a:gd name="T54" fmla="*/ 36 w 263"/>
                          <a:gd name="T55" fmla="*/ 35 h 234"/>
                          <a:gd name="T56" fmla="*/ 42 w 263"/>
                          <a:gd name="T57" fmla="*/ 47 h 234"/>
                          <a:gd name="T58" fmla="*/ 65 w 263"/>
                          <a:gd name="T59" fmla="*/ 55 h 234"/>
                          <a:gd name="T60" fmla="*/ 95 w 263"/>
                          <a:gd name="T61" fmla="*/ 61 h 234"/>
                          <a:gd name="T62" fmla="*/ 144 w 263"/>
                          <a:gd name="T63" fmla="*/ 73 h 234"/>
                          <a:gd name="T64" fmla="*/ 175 w 263"/>
                          <a:gd name="T65" fmla="*/ 79 h 234"/>
                          <a:gd name="T66" fmla="*/ 215 w 263"/>
                          <a:gd name="T67" fmla="*/ 85 h 234"/>
                          <a:gd name="T68" fmla="*/ 179 w 263"/>
                          <a:gd name="T69" fmla="*/ 87 h 234"/>
                          <a:gd name="T70" fmla="*/ 141 w 263"/>
                          <a:gd name="T71" fmla="*/ 90 h 234"/>
                          <a:gd name="T72" fmla="*/ 104 w 263"/>
                          <a:gd name="T73" fmla="*/ 96 h 234"/>
                          <a:gd name="T74" fmla="*/ 74 w 263"/>
                          <a:gd name="T75" fmla="*/ 103 h 234"/>
                          <a:gd name="T76" fmla="*/ 37 w 263"/>
                          <a:gd name="T77" fmla="*/ 113 h 234"/>
                          <a:gd name="T78" fmla="*/ 0 w 263"/>
                          <a:gd name="T79" fmla="*/ 12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63" h="234">
                            <a:moveTo>
                              <a:pt x="0" y="129"/>
                            </a:moveTo>
                            <a:lnTo>
                              <a:pt x="27" y="126"/>
                            </a:lnTo>
                            <a:lnTo>
                              <a:pt x="50" y="128"/>
                            </a:lnTo>
                            <a:lnTo>
                              <a:pt x="85" y="132"/>
                            </a:lnTo>
                            <a:lnTo>
                              <a:pt x="118" y="142"/>
                            </a:lnTo>
                            <a:lnTo>
                              <a:pt x="152" y="155"/>
                            </a:lnTo>
                            <a:lnTo>
                              <a:pt x="185" y="173"/>
                            </a:lnTo>
                            <a:lnTo>
                              <a:pt x="211" y="189"/>
                            </a:lnTo>
                            <a:lnTo>
                              <a:pt x="232" y="210"/>
                            </a:lnTo>
                            <a:lnTo>
                              <a:pt x="245" y="234"/>
                            </a:lnTo>
                            <a:lnTo>
                              <a:pt x="256" y="203"/>
                            </a:lnTo>
                            <a:lnTo>
                              <a:pt x="263" y="175"/>
                            </a:lnTo>
                            <a:lnTo>
                              <a:pt x="262" y="154"/>
                            </a:lnTo>
                            <a:lnTo>
                              <a:pt x="257" y="135"/>
                            </a:lnTo>
                            <a:lnTo>
                              <a:pt x="245" y="116"/>
                            </a:lnTo>
                            <a:lnTo>
                              <a:pt x="251" y="96"/>
                            </a:lnTo>
                            <a:lnTo>
                              <a:pt x="248" y="74"/>
                            </a:lnTo>
                            <a:lnTo>
                              <a:pt x="223" y="61"/>
                            </a:lnTo>
                            <a:lnTo>
                              <a:pt x="192" y="53"/>
                            </a:lnTo>
                            <a:lnTo>
                              <a:pt x="159" y="43"/>
                            </a:lnTo>
                            <a:lnTo>
                              <a:pt x="129" y="30"/>
                            </a:lnTo>
                            <a:lnTo>
                              <a:pt x="94" y="13"/>
                            </a:lnTo>
                            <a:lnTo>
                              <a:pt x="72" y="4"/>
                            </a:lnTo>
                            <a:lnTo>
                              <a:pt x="58" y="0"/>
                            </a:lnTo>
                            <a:lnTo>
                              <a:pt x="47" y="4"/>
                            </a:lnTo>
                            <a:lnTo>
                              <a:pt x="39" y="12"/>
                            </a:lnTo>
                            <a:lnTo>
                              <a:pt x="36" y="23"/>
                            </a:lnTo>
                            <a:lnTo>
                              <a:pt x="36" y="35"/>
                            </a:lnTo>
                            <a:lnTo>
                              <a:pt x="42" y="47"/>
                            </a:lnTo>
                            <a:lnTo>
                              <a:pt x="65" y="55"/>
                            </a:lnTo>
                            <a:lnTo>
                              <a:pt x="95" y="61"/>
                            </a:lnTo>
                            <a:lnTo>
                              <a:pt x="144" y="73"/>
                            </a:lnTo>
                            <a:lnTo>
                              <a:pt x="175" y="79"/>
                            </a:lnTo>
                            <a:lnTo>
                              <a:pt x="215" y="85"/>
                            </a:lnTo>
                            <a:lnTo>
                              <a:pt x="179" y="87"/>
                            </a:lnTo>
                            <a:lnTo>
                              <a:pt x="141" y="90"/>
                            </a:lnTo>
                            <a:lnTo>
                              <a:pt x="104" y="96"/>
                            </a:lnTo>
                            <a:lnTo>
                              <a:pt x="74" y="103"/>
                            </a:lnTo>
                            <a:lnTo>
                              <a:pt x="37" y="113"/>
                            </a:lnTo>
                            <a:lnTo>
                              <a:pt x="0" y="129"/>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sp>
              <p:nvSpPr>
                <p:cNvPr id="642360" name="Freeform 312"/>
                <p:cNvSpPr/>
                <p:nvPr/>
              </p:nvSpPr>
              <p:spPr bwMode="auto">
                <a:xfrm>
                  <a:off x="2674" y="3008"/>
                  <a:ext cx="46" cy="44"/>
                </a:xfrm>
                <a:custGeom>
                  <a:avLst/>
                  <a:gdLst>
                    <a:gd name="T0" fmla="*/ 0 w 320"/>
                    <a:gd name="T1" fmla="*/ 120 h 352"/>
                    <a:gd name="T2" fmla="*/ 5 w 320"/>
                    <a:gd name="T3" fmla="*/ 80 h 352"/>
                    <a:gd name="T4" fmla="*/ 13 w 320"/>
                    <a:gd name="T5" fmla="*/ 54 h 352"/>
                    <a:gd name="T6" fmla="*/ 61 w 320"/>
                    <a:gd name="T7" fmla="*/ 0 h 352"/>
                    <a:gd name="T8" fmla="*/ 200 w 320"/>
                    <a:gd name="T9" fmla="*/ 116 h 352"/>
                    <a:gd name="T10" fmla="*/ 230 w 320"/>
                    <a:gd name="T11" fmla="*/ 159 h 352"/>
                    <a:gd name="T12" fmla="*/ 254 w 320"/>
                    <a:gd name="T13" fmla="*/ 200 h 352"/>
                    <a:gd name="T14" fmla="*/ 314 w 320"/>
                    <a:gd name="T15" fmla="*/ 249 h 352"/>
                    <a:gd name="T16" fmla="*/ 320 w 320"/>
                    <a:gd name="T17" fmla="*/ 352 h 352"/>
                    <a:gd name="T18" fmla="*/ 290 w 320"/>
                    <a:gd name="T19" fmla="*/ 343 h 352"/>
                    <a:gd name="T20" fmla="*/ 265 w 320"/>
                    <a:gd name="T21" fmla="*/ 330 h 352"/>
                    <a:gd name="T22" fmla="*/ 242 w 320"/>
                    <a:gd name="T23" fmla="*/ 314 h 352"/>
                    <a:gd name="T24" fmla="*/ 222 w 320"/>
                    <a:gd name="T25" fmla="*/ 292 h 352"/>
                    <a:gd name="T26" fmla="*/ 206 w 320"/>
                    <a:gd name="T27" fmla="*/ 267 h 352"/>
                    <a:gd name="T28" fmla="*/ 189 w 320"/>
                    <a:gd name="T29" fmla="*/ 234 h 352"/>
                    <a:gd name="T30" fmla="*/ 175 w 320"/>
                    <a:gd name="T31" fmla="*/ 201 h 352"/>
                    <a:gd name="T32" fmla="*/ 162 w 320"/>
                    <a:gd name="T33" fmla="*/ 157 h 352"/>
                    <a:gd name="T34" fmla="*/ 151 w 320"/>
                    <a:gd name="T35" fmla="*/ 116 h 352"/>
                    <a:gd name="T36" fmla="*/ 71 w 320"/>
                    <a:gd name="T37" fmla="*/ 108 h 352"/>
                    <a:gd name="T38" fmla="*/ 14 w 320"/>
                    <a:gd name="T39" fmla="*/ 111 h 352"/>
                    <a:gd name="T40" fmla="*/ 0 w 320"/>
                    <a:gd name="T41" fmla="*/ 120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0" h="352">
                      <a:moveTo>
                        <a:pt x="0" y="120"/>
                      </a:moveTo>
                      <a:lnTo>
                        <a:pt x="5" y="80"/>
                      </a:lnTo>
                      <a:lnTo>
                        <a:pt x="13" y="54"/>
                      </a:lnTo>
                      <a:lnTo>
                        <a:pt x="61" y="0"/>
                      </a:lnTo>
                      <a:lnTo>
                        <a:pt x="200" y="116"/>
                      </a:lnTo>
                      <a:lnTo>
                        <a:pt x="230" y="159"/>
                      </a:lnTo>
                      <a:lnTo>
                        <a:pt x="254" y="200"/>
                      </a:lnTo>
                      <a:lnTo>
                        <a:pt x="314" y="249"/>
                      </a:lnTo>
                      <a:lnTo>
                        <a:pt x="320" y="352"/>
                      </a:lnTo>
                      <a:lnTo>
                        <a:pt x="290" y="343"/>
                      </a:lnTo>
                      <a:lnTo>
                        <a:pt x="265" y="330"/>
                      </a:lnTo>
                      <a:lnTo>
                        <a:pt x="242" y="314"/>
                      </a:lnTo>
                      <a:lnTo>
                        <a:pt x="222" y="292"/>
                      </a:lnTo>
                      <a:lnTo>
                        <a:pt x="206" y="267"/>
                      </a:lnTo>
                      <a:lnTo>
                        <a:pt x="189" y="234"/>
                      </a:lnTo>
                      <a:lnTo>
                        <a:pt x="175" y="201"/>
                      </a:lnTo>
                      <a:lnTo>
                        <a:pt x="162" y="157"/>
                      </a:lnTo>
                      <a:lnTo>
                        <a:pt x="151" y="116"/>
                      </a:lnTo>
                      <a:lnTo>
                        <a:pt x="71" y="108"/>
                      </a:lnTo>
                      <a:lnTo>
                        <a:pt x="14" y="111"/>
                      </a:lnTo>
                      <a:lnTo>
                        <a:pt x="0" y="12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61" name="Group 313"/>
              <p:cNvGrpSpPr/>
              <p:nvPr/>
            </p:nvGrpSpPr>
            <p:grpSpPr bwMode="auto">
              <a:xfrm>
                <a:off x="2686" y="2984"/>
                <a:ext cx="60" cy="54"/>
                <a:chOff x="2686" y="2984"/>
                <a:chExt cx="60" cy="54"/>
              </a:xfrm>
            </p:grpSpPr>
            <p:sp>
              <p:nvSpPr>
                <p:cNvPr id="642362" name="Freeform 314"/>
                <p:cNvSpPr/>
                <p:nvPr/>
              </p:nvSpPr>
              <p:spPr bwMode="auto">
                <a:xfrm>
                  <a:off x="2686" y="2984"/>
                  <a:ext cx="60" cy="53"/>
                </a:xfrm>
                <a:custGeom>
                  <a:avLst/>
                  <a:gdLst>
                    <a:gd name="T0" fmla="*/ 221 w 423"/>
                    <a:gd name="T1" fmla="*/ 425 h 425"/>
                    <a:gd name="T2" fmla="*/ 180 w 423"/>
                    <a:gd name="T3" fmla="*/ 402 h 425"/>
                    <a:gd name="T4" fmla="*/ 150 w 423"/>
                    <a:gd name="T5" fmla="*/ 359 h 425"/>
                    <a:gd name="T6" fmla="*/ 138 w 423"/>
                    <a:gd name="T7" fmla="*/ 329 h 425"/>
                    <a:gd name="T8" fmla="*/ 120 w 423"/>
                    <a:gd name="T9" fmla="*/ 328 h 425"/>
                    <a:gd name="T10" fmla="*/ 97 w 423"/>
                    <a:gd name="T11" fmla="*/ 323 h 425"/>
                    <a:gd name="T12" fmla="*/ 57 w 423"/>
                    <a:gd name="T13" fmla="*/ 308 h 425"/>
                    <a:gd name="T14" fmla="*/ 29 w 423"/>
                    <a:gd name="T15" fmla="*/ 289 h 425"/>
                    <a:gd name="T16" fmla="*/ 0 w 423"/>
                    <a:gd name="T17" fmla="*/ 268 h 425"/>
                    <a:gd name="T18" fmla="*/ 12 w 423"/>
                    <a:gd name="T19" fmla="*/ 260 h 425"/>
                    <a:gd name="T20" fmla="*/ 42 w 423"/>
                    <a:gd name="T21" fmla="*/ 225 h 425"/>
                    <a:gd name="T22" fmla="*/ 68 w 423"/>
                    <a:gd name="T23" fmla="*/ 193 h 425"/>
                    <a:gd name="T24" fmla="*/ 96 w 423"/>
                    <a:gd name="T25" fmla="*/ 154 h 425"/>
                    <a:gd name="T26" fmla="*/ 126 w 423"/>
                    <a:gd name="T27" fmla="*/ 109 h 425"/>
                    <a:gd name="T28" fmla="*/ 141 w 423"/>
                    <a:gd name="T29" fmla="*/ 72 h 425"/>
                    <a:gd name="T30" fmla="*/ 157 w 423"/>
                    <a:gd name="T31" fmla="*/ 0 h 425"/>
                    <a:gd name="T32" fmla="*/ 423 w 423"/>
                    <a:gd name="T33" fmla="*/ 43 h 425"/>
                    <a:gd name="T34" fmla="*/ 221 w 423"/>
                    <a:gd name="T35" fmla="*/ 425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23" h="425">
                      <a:moveTo>
                        <a:pt x="221" y="425"/>
                      </a:moveTo>
                      <a:lnTo>
                        <a:pt x="180" y="402"/>
                      </a:lnTo>
                      <a:lnTo>
                        <a:pt x="150" y="359"/>
                      </a:lnTo>
                      <a:lnTo>
                        <a:pt x="138" y="329"/>
                      </a:lnTo>
                      <a:lnTo>
                        <a:pt x="120" y="328"/>
                      </a:lnTo>
                      <a:lnTo>
                        <a:pt x="97" y="323"/>
                      </a:lnTo>
                      <a:lnTo>
                        <a:pt x="57" y="308"/>
                      </a:lnTo>
                      <a:lnTo>
                        <a:pt x="29" y="289"/>
                      </a:lnTo>
                      <a:lnTo>
                        <a:pt x="0" y="268"/>
                      </a:lnTo>
                      <a:lnTo>
                        <a:pt x="12" y="260"/>
                      </a:lnTo>
                      <a:lnTo>
                        <a:pt x="42" y="225"/>
                      </a:lnTo>
                      <a:lnTo>
                        <a:pt x="68" y="193"/>
                      </a:lnTo>
                      <a:lnTo>
                        <a:pt x="96" y="154"/>
                      </a:lnTo>
                      <a:lnTo>
                        <a:pt x="126" y="109"/>
                      </a:lnTo>
                      <a:lnTo>
                        <a:pt x="141" y="72"/>
                      </a:lnTo>
                      <a:lnTo>
                        <a:pt x="157" y="0"/>
                      </a:lnTo>
                      <a:lnTo>
                        <a:pt x="423" y="43"/>
                      </a:lnTo>
                      <a:lnTo>
                        <a:pt x="221" y="42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63" name="Freeform 315"/>
                <p:cNvSpPr/>
                <p:nvPr/>
              </p:nvSpPr>
              <p:spPr bwMode="auto">
                <a:xfrm>
                  <a:off x="2700" y="3002"/>
                  <a:ext cx="22" cy="36"/>
                </a:xfrm>
                <a:custGeom>
                  <a:avLst/>
                  <a:gdLst>
                    <a:gd name="T0" fmla="*/ 119 w 160"/>
                    <a:gd name="T1" fmla="*/ 281 h 289"/>
                    <a:gd name="T2" fmla="*/ 137 w 160"/>
                    <a:gd name="T3" fmla="*/ 289 h 289"/>
                    <a:gd name="T4" fmla="*/ 122 w 160"/>
                    <a:gd name="T5" fmla="*/ 262 h 289"/>
                    <a:gd name="T6" fmla="*/ 117 w 160"/>
                    <a:gd name="T7" fmla="*/ 241 h 289"/>
                    <a:gd name="T8" fmla="*/ 114 w 160"/>
                    <a:gd name="T9" fmla="*/ 211 h 289"/>
                    <a:gd name="T10" fmla="*/ 117 w 160"/>
                    <a:gd name="T11" fmla="*/ 179 h 289"/>
                    <a:gd name="T12" fmla="*/ 121 w 160"/>
                    <a:gd name="T13" fmla="*/ 144 h 289"/>
                    <a:gd name="T14" fmla="*/ 128 w 160"/>
                    <a:gd name="T15" fmla="*/ 112 h 289"/>
                    <a:gd name="T16" fmla="*/ 137 w 160"/>
                    <a:gd name="T17" fmla="*/ 85 h 289"/>
                    <a:gd name="T18" fmla="*/ 147 w 160"/>
                    <a:gd name="T19" fmla="*/ 63 h 289"/>
                    <a:gd name="T20" fmla="*/ 153 w 160"/>
                    <a:gd name="T21" fmla="*/ 32 h 289"/>
                    <a:gd name="T22" fmla="*/ 160 w 160"/>
                    <a:gd name="T23" fmla="*/ 0 h 289"/>
                    <a:gd name="T24" fmla="*/ 135 w 160"/>
                    <a:gd name="T25" fmla="*/ 32 h 289"/>
                    <a:gd name="T26" fmla="*/ 117 w 160"/>
                    <a:gd name="T27" fmla="*/ 57 h 289"/>
                    <a:gd name="T28" fmla="*/ 101 w 160"/>
                    <a:gd name="T29" fmla="*/ 81 h 289"/>
                    <a:gd name="T30" fmla="*/ 86 w 160"/>
                    <a:gd name="T31" fmla="*/ 106 h 289"/>
                    <a:gd name="T32" fmla="*/ 66 w 160"/>
                    <a:gd name="T33" fmla="*/ 119 h 289"/>
                    <a:gd name="T34" fmla="*/ 44 w 160"/>
                    <a:gd name="T35" fmla="*/ 137 h 289"/>
                    <a:gd name="T36" fmla="*/ 21 w 160"/>
                    <a:gd name="T37" fmla="*/ 157 h 289"/>
                    <a:gd name="T38" fmla="*/ 0 w 160"/>
                    <a:gd name="T39" fmla="*/ 179 h 289"/>
                    <a:gd name="T40" fmla="*/ 29 w 160"/>
                    <a:gd name="T41" fmla="*/ 186 h 289"/>
                    <a:gd name="T42" fmla="*/ 38 w 160"/>
                    <a:gd name="T43" fmla="*/ 201 h 289"/>
                    <a:gd name="T44" fmla="*/ 47 w 160"/>
                    <a:gd name="T45" fmla="*/ 216 h 289"/>
                    <a:gd name="T46" fmla="*/ 59 w 160"/>
                    <a:gd name="T47" fmla="*/ 233 h 289"/>
                    <a:gd name="T48" fmla="*/ 73 w 160"/>
                    <a:gd name="T49" fmla="*/ 247 h 289"/>
                    <a:gd name="T50" fmla="*/ 86 w 160"/>
                    <a:gd name="T51" fmla="*/ 260 h 289"/>
                    <a:gd name="T52" fmla="*/ 103 w 160"/>
                    <a:gd name="T53" fmla="*/ 270 h 289"/>
                    <a:gd name="T54" fmla="*/ 119 w 160"/>
                    <a:gd name="T55" fmla="*/ 281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60" h="289">
                      <a:moveTo>
                        <a:pt x="119" y="281"/>
                      </a:moveTo>
                      <a:lnTo>
                        <a:pt x="137" y="289"/>
                      </a:lnTo>
                      <a:lnTo>
                        <a:pt x="122" y="262"/>
                      </a:lnTo>
                      <a:lnTo>
                        <a:pt x="117" y="241"/>
                      </a:lnTo>
                      <a:lnTo>
                        <a:pt x="114" y="211"/>
                      </a:lnTo>
                      <a:lnTo>
                        <a:pt x="117" y="179"/>
                      </a:lnTo>
                      <a:lnTo>
                        <a:pt x="121" y="144"/>
                      </a:lnTo>
                      <a:lnTo>
                        <a:pt x="128" y="112"/>
                      </a:lnTo>
                      <a:lnTo>
                        <a:pt x="137" y="85"/>
                      </a:lnTo>
                      <a:lnTo>
                        <a:pt x="147" y="63"/>
                      </a:lnTo>
                      <a:lnTo>
                        <a:pt x="153" y="32"/>
                      </a:lnTo>
                      <a:lnTo>
                        <a:pt x="160" y="0"/>
                      </a:lnTo>
                      <a:lnTo>
                        <a:pt x="135" y="32"/>
                      </a:lnTo>
                      <a:lnTo>
                        <a:pt x="117" y="57"/>
                      </a:lnTo>
                      <a:lnTo>
                        <a:pt x="101" y="81"/>
                      </a:lnTo>
                      <a:lnTo>
                        <a:pt x="86" y="106"/>
                      </a:lnTo>
                      <a:lnTo>
                        <a:pt x="66" y="119"/>
                      </a:lnTo>
                      <a:lnTo>
                        <a:pt x="44" y="137"/>
                      </a:lnTo>
                      <a:lnTo>
                        <a:pt x="21" y="157"/>
                      </a:lnTo>
                      <a:lnTo>
                        <a:pt x="0" y="179"/>
                      </a:lnTo>
                      <a:lnTo>
                        <a:pt x="29" y="186"/>
                      </a:lnTo>
                      <a:lnTo>
                        <a:pt x="38" y="201"/>
                      </a:lnTo>
                      <a:lnTo>
                        <a:pt x="47" y="216"/>
                      </a:lnTo>
                      <a:lnTo>
                        <a:pt x="59" y="233"/>
                      </a:lnTo>
                      <a:lnTo>
                        <a:pt x="73" y="247"/>
                      </a:lnTo>
                      <a:lnTo>
                        <a:pt x="86" y="260"/>
                      </a:lnTo>
                      <a:lnTo>
                        <a:pt x="103" y="270"/>
                      </a:lnTo>
                      <a:lnTo>
                        <a:pt x="119" y="281"/>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64" name="Freeform 316"/>
                <p:cNvSpPr/>
                <p:nvPr/>
              </p:nvSpPr>
              <p:spPr bwMode="auto">
                <a:xfrm>
                  <a:off x="2698" y="2997"/>
                  <a:ext cx="17" cy="27"/>
                </a:xfrm>
                <a:custGeom>
                  <a:avLst/>
                  <a:gdLst>
                    <a:gd name="T0" fmla="*/ 115 w 115"/>
                    <a:gd name="T1" fmla="*/ 119 h 218"/>
                    <a:gd name="T2" fmla="*/ 99 w 115"/>
                    <a:gd name="T3" fmla="*/ 117 h 218"/>
                    <a:gd name="T4" fmla="*/ 84 w 115"/>
                    <a:gd name="T5" fmla="*/ 113 h 218"/>
                    <a:gd name="T6" fmla="*/ 80 w 115"/>
                    <a:gd name="T7" fmla="*/ 97 h 218"/>
                    <a:gd name="T8" fmla="*/ 82 w 115"/>
                    <a:gd name="T9" fmla="*/ 76 h 218"/>
                    <a:gd name="T10" fmla="*/ 86 w 115"/>
                    <a:gd name="T11" fmla="*/ 53 h 218"/>
                    <a:gd name="T12" fmla="*/ 90 w 115"/>
                    <a:gd name="T13" fmla="*/ 32 h 218"/>
                    <a:gd name="T14" fmla="*/ 93 w 115"/>
                    <a:gd name="T15" fmla="*/ 15 h 218"/>
                    <a:gd name="T16" fmla="*/ 97 w 115"/>
                    <a:gd name="T17" fmla="*/ 0 h 218"/>
                    <a:gd name="T18" fmla="*/ 84 w 115"/>
                    <a:gd name="T19" fmla="*/ 4 h 218"/>
                    <a:gd name="T20" fmla="*/ 72 w 115"/>
                    <a:gd name="T21" fmla="*/ 12 h 218"/>
                    <a:gd name="T22" fmla="*/ 60 w 115"/>
                    <a:gd name="T23" fmla="*/ 25 h 218"/>
                    <a:gd name="T24" fmla="*/ 52 w 115"/>
                    <a:gd name="T25" fmla="*/ 37 h 218"/>
                    <a:gd name="T26" fmla="*/ 47 w 115"/>
                    <a:gd name="T27" fmla="*/ 53 h 218"/>
                    <a:gd name="T28" fmla="*/ 46 w 115"/>
                    <a:gd name="T29" fmla="*/ 73 h 218"/>
                    <a:gd name="T30" fmla="*/ 33 w 115"/>
                    <a:gd name="T31" fmla="*/ 86 h 218"/>
                    <a:gd name="T32" fmla="*/ 22 w 115"/>
                    <a:gd name="T33" fmla="*/ 104 h 218"/>
                    <a:gd name="T34" fmla="*/ 11 w 115"/>
                    <a:gd name="T35" fmla="*/ 128 h 218"/>
                    <a:gd name="T36" fmla="*/ 5 w 115"/>
                    <a:gd name="T37" fmla="*/ 158 h 218"/>
                    <a:gd name="T38" fmla="*/ 2 w 115"/>
                    <a:gd name="T39" fmla="*/ 190 h 218"/>
                    <a:gd name="T40" fmla="*/ 0 w 115"/>
                    <a:gd name="T41" fmla="*/ 216 h 218"/>
                    <a:gd name="T42" fmla="*/ 11 w 115"/>
                    <a:gd name="T43" fmla="*/ 218 h 218"/>
                    <a:gd name="T44" fmla="*/ 97 w 115"/>
                    <a:gd name="T45" fmla="*/ 146 h 218"/>
                    <a:gd name="T46" fmla="*/ 115 w 115"/>
                    <a:gd name="T47" fmla="*/ 119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5" h="218">
                      <a:moveTo>
                        <a:pt x="115" y="119"/>
                      </a:moveTo>
                      <a:lnTo>
                        <a:pt x="99" y="117"/>
                      </a:lnTo>
                      <a:lnTo>
                        <a:pt x="84" y="113"/>
                      </a:lnTo>
                      <a:lnTo>
                        <a:pt x="80" y="97"/>
                      </a:lnTo>
                      <a:lnTo>
                        <a:pt x="82" y="76"/>
                      </a:lnTo>
                      <a:lnTo>
                        <a:pt x="86" y="53"/>
                      </a:lnTo>
                      <a:lnTo>
                        <a:pt x="90" y="32"/>
                      </a:lnTo>
                      <a:lnTo>
                        <a:pt x="93" y="15"/>
                      </a:lnTo>
                      <a:lnTo>
                        <a:pt x="97" y="0"/>
                      </a:lnTo>
                      <a:lnTo>
                        <a:pt x="84" y="4"/>
                      </a:lnTo>
                      <a:lnTo>
                        <a:pt x="72" y="12"/>
                      </a:lnTo>
                      <a:lnTo>
                        <a:pt x="60" y="25"/>
                      </a:lnTo>
                      <a:lnTo>
                        <a:pt x="52" y="37"/>
                      </a:lnTo>
                      <a:lnTo>
                        <a:pt x="47" y="53"/>
                      </a:lnTo>
                      <a:lnTo>
                        <a:pt x="46" y="73"/>
                      </a:lnTo>
                      <a:lnTo>
                        <a:pt x="33" y="86"/>
                      </a:lnTo>
                      <a:lnTo>
                        <a:pt x="22" y="104"/>
                      </a:lnTo>
                      <a:lnTo>
                        <a:pt x="11" y="128"/>
                      </a:lnTo>
                      <a:lnTo>
                        <a:pt x="5" y="158"/>
                      </a:lnTo>
                      <a:lnTo>
                        <a:pt x="2" y="190"/>
                      </a:lnTo>
                      <a:lnTo>
                        <a:pt x="0" y="216"/>
                      </a:lnTo>
                      <a:lnTo>
                        <a:pt x="11" y="218"/>
                      </a:lnTo>
                      <a:lnTo>
                        <a:pt x="97" y="146"/>
                      </a:lnTo>
                      <a:lnTo>
                        <a:pt x="115" y="119"/>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65" name="Group 317"/>
              <p:cNvGrpSpPr/>
              <p:nvPr/>
            </p:nvGrpSpPr>
            <p:grpSpPr bwMode="auto">
              <a:xfrm>
                <a:off x="2713" y="2975"/>
                <a:ext cx="95" cy="139"/>
                <a:chOff x="2713" y="2975"/>
                <a:chExt cx="95" cy="139"/>
              </a:xfrm>
            </p:grpSpPr>
            <p:sp>
              <p:nvSpPr>
                <p:cNvPr id="642366" name="Freeform 318"/>
                <p:cNvSpPr/>
                <p:nvPr/>
              </p:nvSpPr>
              <p:spPr bwMode="auto">
                <a:xfrm>
                  <a:off x="2713" y="2975"/>
                  <a:ext cx="95" cy="139"/>
                </a:xfrm>
                <a:custGeom>
                  <a:avLst/>
                  <a:gdLst>
                    <a:gd name="T0" fmla="*/ 43 w 670"/>
                    <a:gd name="T1" fmla="*/ 6 h 1116"/>
                    <a:gd name="T2" fmla="*/ 65 w 670"/>
                    <a:gd name="T3" fmla="*/ 99 h 1116"/>
                    <a:gd name="T4" fmla="*/ 68 w 670"/>
                    <a:gd name="T5" fmla="*/ 135 h 1116"/>
                    <a:gd name="T6" fmla="*/ 59 w 670"/>
                    <a:gd name="T7" fmla="*/ 241 h 1116"/>
                    <a:gd name="T8" fmla="*/ 33 w 670"/>
                    <a:gd name="T9" fmla="*/ 280 h 1116"/>
                    <a:gd name="T10" fmla="*/ 21 w 670"/>
                    <a:gd name="T11" fmla="*/ 324 h 1116"/>
                    <a:gd name="T12" fmla="*/ 17 w 670"/>
                    <a:gd name="T13" fmla="*/ 319 h 1116"/>
                    <a:gd name="T14" fmla="*/ 0 w 670"/>
                    <a:gd name="T15" fmla="*/ 377 h 1116"/>
                    <a:gd name="T16" fmla="*/ 13 w 670"/>
                    <a:gd name="T17" fmla="*/ 498 h 1116"/>
                    <a:gd name="T18" fmla="*/ 17 w 670"/>
                    <a:gd name="T19" fmla="*/ 635 h 1116"/>
                    <a:gd name="T20" fmla="*/ 13 w 670"/>
                    <a:gd name="T21" fmla="*/ 677 h 1116"/>
                    <a:gd name="T22" fmla="*/ 14 w 670"/>
                    <a:gd name="T23" fmla="*/ 728 h 1116"/>
                    <a:gd name="T24" fmla="*/ 19 w 670"/>
                    <a:gd name="T25" fmla="*/ 780 h 1116"/>
                    <a:gd name="T26" fmla="*/ 43 w 670"/>
                    <a:gd name="T27" fmla="*/ 894 h 1116"/>
                    <a:gd name="T28" fmla="*/ 78 w 670"/>
                    <a:gd name="T29" fmla="*/ 948 h 1116"/>
                    <a:gd name="T30" fmla="*/ 107 w 670"/>
                    <a:gd name="T31" fmla="*/ 972 h 1116"/>
                    <a:gd name="T32" fmla="*/ 101 w 670"/>
                    <a:gd name="T33" fmla="*/ 1038 h 1116"/>
                    <a:gd name="T34" fmla="*/ 154 w 670"/>
                    <a:gd name="T35" fmla="*/ 1068 h 1116"/>
                    <a:gd name="T36" fmla="*/ 218 w 670"/>
                    <a:gd name="T37" fmla="*/ 1087 h 1116"/>
                    <a:gd name="T38" fmla="*/ 295 w 670"/>
                    <a:gd name="T39" fmla="*/ 1075 h 1116"/>
                    <a:gd name="T40" fmla="*/ 331 w 670"/>
                    <a:gd name="T41" fmla="*/ 1057 h 1116"/>
                    <a:gd name="T42" fmla="*/ 342 w 670"/>
                    <a:gd name="T43" fmla="*/ 1092 h 1116"/>
                    <a:gd name="T44" fmla="*/ 425 w 670"/>
                    <a:gd name="T45" fmla="*/ 1098 h 1116"/>
                    <a:gd name="T46" fmla="*/ 525 w 670"/>
                    <a:gd name="T47" fmla="*/ 1116 h 1116"/>
                    <a:gd name="T48" fmla="*/ 611 w 670"/>
                    <a:gd name="T49" fmla="*/ 1098 h 1116"/>
                    <a:gd name="T50" fmla="*/ 670 w 670"/>
                    <a:gd name="T51" fmla="*/ 1063 h 1116"/>
                    <a:gd name="T52" fmla="*/ 670 w 670"/>
                    <a:gd name="T53" fmla="*/ 495 h 1116"/>
                    <a:gd name="T54" fmla="*/ 632 w 670"/>
                    <a:gd name="T55" fmla="*/ 449 h 1116"/>
                    <a:gd name="T56" fmla="*/ 605 w 670"/>
                    <a:gd name="T57" fmla="*/ 411 h 1116"/>
                    <a:gd name="T58" fmla="*/ 557 w 670"/>
                    <a:gd name="T59" fmla="*/ 325 h 1116"/>
                    <a:gd name="T60" fmla="*/ 546 w 670"/>
                    <a:gd name="T61" fmla="*/ 279 h 1116"/>
                    <a:gd name="T62" fmla="*/ 529 w 670"/>
                    <a:gd name="T63" fmla="*/ 229 h 1116"/>
                    <a:gd name="T64" fmla="*/ 504 w 670"/>
                    <a:gd name="T65" fmla="*/ 178 h 1116"/>
                    <a:gd name="T66" fmla="*/ 476 w 670"/>
                    <a:gd name="T67" fmla="*/ 135 h 1116"/>
                    <a:gd name="T68" fmla="*/ 438 w 670"/>
                    <a:gd name="T69" fmla="*/ 93 h 1116"/>
                    <a:gd name="T70" fmla="*/ 407 w 670"/>
                    <a:gd name="T71" fmla="*/ 65 h 1116"/>
                    <a:gd name="T72" fmla="*/ 370 w 670"/>
                    <a:gd name="T73" fmla="*/ 42 h 1116"/>
                    <a:gd name="T74" fmla="*/ 336 w 670"/>
                    <a:gd name="T75" fmla="*/ 25 h 1116"/>
                    <a:gd name="T76" fmla="*/ 285 w 670"/>
                    <a:gd name="T77" fmla="*/ 10 h 1116"/>
                    <a:gd name="T78" fmla="*/ 237 w 670"/>
                    <a:gd name="T79" fmla="*/ 1 h 1116"/>
                    <a:gd name="T80" fmla="*/ 190 w 670"/>
                    <a:gd name="T81" fmla="*/ 0 h 1116"/>
                    <a:gd name="T82" fmla="*/ 148 w 670"/>
                    <a:gd name="T83" fmla="*/ 1 h 1116"/>
                    <a:gd name="T84" fmla="*/ 43 w 670"/>
                    <a:gd name="T85" fmla="*/ 6 h 1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70" h="1116">
                      <a:moveTo>
                        <a:pt x="43" y="6"/>
                      </a:moveTo>
                      <a:lnTo>
                        <a:pt x="65" y="99"/>
                      </a:lnTo>
                      <a:lnTo>
                        <a:pt x="68" y="135"/>
                      </a:lnTo>
                      <a:lnTo>
                        <a:pt x="59" y="241"/>
                      </a:lnTo>
                      <a:lnTo>
                        <a:pt x="33" y="280"/>
                      </a:lnTo>
                      <a:lnTo>
                        <a:pt x="21" y="324"/>
                      </a:lnTo>
                      <a:lnTo>
                        <a:pt x="17" y="319"/>
                      </a:lnTo>
                      <a:lnTo>
                        <a:pt x="0" y="377"/>
                      </a:lnTo>
                      <a:lnTo>
                        <a:pt x="13" y="498"/>
                      </a:lnTo>
                      <a:lnTo>
                        <a:pt x="17" y="635"/>
                      </a:lnTo>
                      <a:lnTo>
                        <a:pt x="13" y="677"/>
                      </a:lnTo>
                      <a:lnTo>
                        <a:pt x="14" y="728"/>
                      </a:lnTo>
                      <a:lnTo>
                        <a:pt x="19" y="780"/>
                      </a:lnTo>
                      <a:lnTo>
                        <a:pt x="43" y="894"/>
                      </a:lnTo>
                      <a:lnTo>
                        <a:pt x="78" y="948"/>
                      </a:lnTo>
                      <a:lnTo>
                        <a:pt x="107" y="972"/>
                      </a:lnTo>
                      <a:lnTo>
                        <a:pt x="101" y="1038"/>
                      </a:lnTo>
                      <a:lnTo>
                        <a:pt x="154" y="1068"/>
                      </a:lnTo>
                      <a:lnTo>
                        <a:pt x="218" y="1087"/>
                      </a:lnTo>
                      <a:lnTo>
                        <a:pt x="295" y="1075"/>
                      </a:lnTo>
                      <a:lnTo>
                        <a:pt x="331" y="1057"/>
                      </a:lnTo>
                      <a:lnTo>
                        <a:pt x="342" y="1092"/>
                      </a:lnTo>
                      <a:lnTo>
                        <a:pt x="425" y="1098"/>
                      </a:lnTo>
                      <a:lnTo>
                        <a:pt x="525" y="1116"/>
                      </a:lnTo>
                      <a:lnTo>
                        <a:pt x="611" y="1098"/>
                      </a:lnTo>
                      <a:lnTo>
                        <a:pt x="670" y="1063"/>
                      </a:lnTo>
                      <a:lnTo>
                        <a:pt x="670" y="495"/>
                      </a:lnTo>
                      <a:lnTo>
                        <a:pt x="632" y="449"/>
                      </a:lnTo>
                      <a:lnTo>
                        <a:pt x="605" y="411"/>
                      </a:lnTo>
                      <a:lnTo>
                        <a:pt x="557" y="325"/>
                      </a:lnTo>
                      <a:lnTo>
                        <a:pt x="546" y="279"/>
                      </a:lnTo>
                      <a:lnTo>
                        <a:pt x="529" y="229"/>
                      </a:lnTo>
                      <a:lnTo>
                        <a:pt x="504" y="178"/>
                      </a:lnTo>
                      <a:lnTo>
                        <a:pt x="476" y="135"/>
                      </a:lnTo>
                      <a:lnTo>
                        <a:pt x="438" y="93"/>
                      </a:lnTo>
                      <a:lnTo>
                        <a:pt x="407" y="65"/>
                      </a:lnTo>
                      <a:lnTo>
                        <a:pt x="370" y="42"/>
                      </a:lnTo>
                      <a:lnTo>
                        <a:pt x="336" y="25"/>
                      </a:lnTo>
                      <a:lnTo>
                        <a:pt x="285" y="10"/>
                      </a:lnTo>
                      <a:lnTo>
                        <a:pt x="237" y="1"/>
                      </a:lnTo>
                      <a:lnTo>
                        <a:pt x="190" y="0"/>
                      </a:lnTo>
                      <a:lnTo>
                        <a:pt x="148" y="1"/>
                      </a:lnTo>
                      <a:lnTo>
                        <a:pt x="43" y="6"/>
                      </a:lnTo>
                      <a:close/>
                    </a:path>
                  </a:pathLst>
                </a:custGeom>
                <a:solidFill>
                  <a:srgbClr val="A0A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367" name="Group 319"/>
                <p:cNvGrpSpPr/>
                <p:nvPr/>
              </p:nvGrpSpPr>
              <p:grpSpPr bwMode="auto">
                <a:xfrm>
                  <a:off x="2713" y="2976"/>
                  <a:ext cx="95" cy="135"/>
                  <a:chOff x="2713" y="2976"/>
                  <a:chExt cx="95" cy="135"/>
                </a:xfrm>
              </p:grpSpPr>
              <p:sp>
                <p:nvSpPr>
                  <p:cNvPr id="642368" name="Freeform 320"/>
                  <p:cNvSpPr/>
                  <p:nvPr/>
                </p:nvSpPr>
                <p:spPr bwMode="auto">
                  <a:xfrm>
                    <a:off x="2758" y="3063"/>
                    <a:ext cx="23" cy="43"/>
                  </a:xfrm>
                  <a:custGeom>
                    <a:avLst/>
                    <a:gdLst>
                      <a:gd name="T0" fmla="*/ 132 w 164"/>
                      <a:gd name="T1" fmla="*/ 32 h 342"/>
                      <a:gd name="T2" fmla="*/ 86 w 164"/>
                      <a:gd name="T3" fmla="*/ 74 h 342"/>
                      <a:gd name="T4" fmla="*/ 34 w 164"/>
                      <a:gd name="T5" fmla="*/ 138 h 342"/>
                      <a:gd name="T6" fmla="*/ 37 w 164"/>
                      <a:gd name="T7" fmla="*/ 167 h 342"/>
                      <a:gd name="T8" fmla="*/ 3 w 164"/>
                      <a:gd name="T9" fmla="*/ 236 h 342"/>
                      <a:gd name="T10" fmla="*/ 0 w 164"/>
                      <a:gd name="T11" fmla="*/ 312 h 342"/>
                      <a:gd name="T12" fmla="*/ 12 w 164"/>
                      <a:gd name="T13" fmla="*/ 342 h 342"/>
                      <a:gd name="T14" fmla="*/ 14 w 164"/>
                      <a:gd name="T15" fmla="*/ 316 h 342"/>
                      <a:gd name="T16" fmla="*/ 15 w 164"/>
                      <a:gd name="T17" fmla="*/ 293 h 342"/>
                      <a:gd name="T18" fmla="*/ 22 w 164"/>
                      <a:gd name="T19" fmla="*/ 269 h 342"/>
                      <a:gd name="T20" fmla="*/ 28 w 164"/>
                      <a:gd name="T21" fmla="*/ 247 h 342"/>
                      <a:gd name="T22" fmla="*/ 30 w 164"/>
                      <a:gd name="T23" fmla="*/ 233 h 342"/>
                      <a:gd name="T24" fmla="*/ 43 w 164"/>
                      <a:gd name="T25" fmla="*/ 223 h 342"/>
                      <a:gd name="T26" fmla="*/ 44 w 164"/>
                      <a:gd name="T27" fmla="*/ 205 h 342"/>
                      <a:gd name="T28" fmla="*/ 52 w 164"/>
                      <a:gd name="T29" fmla="*/ 187 h 342"/>
                      <a:gd name="T30" fmla="*/ 62 w 164"/>
                      <a:gd name="T31" fmla="*/ 171 h 342"/>
                      <a:gd name="T32" fmla="*/ 75 w 164"/>
                      <a:gd name="T33" fmla="*/ 162 h 342"/>
                      <a:gd name="T34" fmla="*/ 70 w 164"/>
                      <a:gd name="T35" fmla="*/ 146 h 342"/>
                      <a:gd name="T36" fmla="*/ 89 w 164"/>
                      <a:gd name="T37" fmla="*/ 132 h 342"/>
                      <a:gd name="T38" fmla="*/ 101 w 164"/>
                      <a:gd name="T39" fmla="*/ 113 h 342"/>
                      <a:gd name="T40" fmla="*/ 108 w 164"/>
                      <a:gd name="T41" fmla="*/ 92 h 342"/>
                      <a:gd name="T42" fmla="*/ 126 w 164"/>
                      <a:gd name="T43" fmla="*/ 82 h 342"/>
                      <a:gd name="T44" fmla="*/ 143 w 164"/>
                      <a:gd name="T45" fmla="*/ 68 h 342"/>
                      <a:gd name="T46" fmla="*/ 153 w 164"/>
                      <a:gd name="T47" fmla="*/ 48 h 342"/>
                      <a:gd name="T48" fmla="*/ 162 w 164"/>
                      <a:gd name="T49" fmla="*/ 24 h 342"/>
                      <a:gd name="T50" fmla="*/ 164 w 164"/>
                      <a:gd name="T51" fmla="*/ 0 h 342"/>
                      <a:gd name="T52" fmla="*/ 132 w 164"/>
                      <a:gd name="T53" fmla="*/ 32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4" h="342">
                        <a:moveTo>
                          <a:pt x="132" y="32"/>
                        </a:moveTo>
                        <a:lnTo>
                          <a:pt x="86" y="74"/>
                        </a:lnTo>
                        <a:lnTo>
                          <a:pt x="34" y="138"/>
                        </a:lnTo>
                        <a:lnTo>
                          <a:pt x="37" y="167"/>
                        </a:lnTo>
                        <a:lnTo>
                          <a:pt x="3" y="236"/>
                        </a:lnTo>
                        <a:lnTo>
                          <a:pt x="0" y="312"/>
                        </a:lnTo>
                        <a:lnTo>
                          <a:pt x="12" y="342"/>
                        </a:lnTo>
                        <a:lnTo>
                          <a:pt x="14" y="316"/>
                        </a:lnTo>
                        <a:lnTo>
                          <a:pt x="15" y="293"/>
                        </a:lnTo>
                        <a:lnTo>
                          <a:pt x="22" y="269"/>
                        </a:lnTo>
                        <a:lnTo>
                          <a:pt x="28" y="247"/>
                        </a:lnTo>
                        <a:lnTo>
                          <a:pt x="30" y="233"/>
                        </a:lnTo>
                        <a:lnTo>
                          <a:pt x="43" y="223"/>
                        </a:lnTo>
                        <a:lnTo>
                          <a:pt x="44" y="205"/>
                        </a:lnTo>
                        <a:lnTo>
                          <a:pt x="52" y="187"/>
                        </a:lnTo>
                        <a:lnTo>
                          <a:pt x="62" y="171"/>
                        </a:lnTo>
                        <a:lnTo>
                          <a:pt x="75" y="162"/>
                        </a:lnTo>
                        <a:lnTo>
                          <a:pt x="70" y="146"/>
                        </a:lnTo>
                        <a:lnTo>
                          <a:pt x="89" y="132"/>
                        </a:lnTo>
                        <a:lnTo>
                          <a:pt x="101" y="113"/>
                        </a:lnTo>
                        <a:lnTo>
                          <a:pt x="108" y="92"/>
                        </a:lnTo>
                        <a:lnTo>
                          <a:pt x="126" y="82"/>
                        </a:lnTo>
                        <a:lnTo>
                          <a:pt x="143" y="68"/>
                        </a:lnTo>
                        <a:lnTo>
                          <a:pt x="153" y="48"/>
                        </a:lnTo>
                        <a:lnTo>
                          <a:pt x="162" y="24"/>
                        </a:lnTo>
                        <a:lnTo>
                          <a:pt x="164" y="0"/>
                        </a:lnTo>
                        <a:lnTo>
                          <a:pt x="132" y="32"/>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69" name="Freeform 321"/>
                  <p:cNvSpPr/>
                  <p:nvPr/>
                </p:nvSpPr>
                <p:spPr bwMode="auto">
                  <a:xfrm>
                    <a:off x="2770" y="3015"/>
                    <a:ext cx="27" cy="45"/>
                  </a:xfrm>
                  <a:custGeom>
                    <a:avLst/>
                    <a:gdLst>
                      <a:gd name="T0" fmla="*/ 0 w 191"/>
                      <a:gd name="T1" fmla="*/ 278 h 358"/>
                      <a:gd name="T2" fmla="*/ 67 w 191"/>
                      <a:gd name="T3" fmla="*/ 199 h 358"/>
                      <a:gd name="T4" fmla="*/ 84 w 191"/>
                      <a:gd name="T5" fmla="*/ 159 h 358"/>
                      <a:gd name="T6" fmla="*/ 92 w 191"/>
                      <a:gd name="T7" fmla="*/ 126 h 358"/>
                      <a:gd name="T8" fmla="*/ 103 w 191"/>
                      <a:gd name="T9" fmla="*/ 80 h 358"/>
                      <a:gd name="T10" fmla="*/ 109 w 191"/>
                      <a:gd name="T11" fmla="*/ 37 h 358"/>
                      <a:gd name="T12" fmla="*/ 110 w 191"/>
                      <a:gd name="T13" fmla="*/ 0 h 358"/>
                      <a:gd name="T14" fmla="*/ 127 w 191"/>
                      <a:gd name="T15" fmla="*/ 30 h 358"/>
                      <a:gd name="T16" fmla="*/ 138 w 191"/>
                      <a:gd name="T17" fmla="*/ 60 h 358"/>
                      <a:gd name="T18" fmla="*/ 142 w 191"/>
                      <a:gd name="T19" fmla="*/ 89 h 358"/>
                      <a:gd name="T20" fmla="*/ 144 w 191"/>
                      <a:gd name="T21" fmla="*/ 114 h 358"/>
                      <a:gd name="T22" fmla="*/ 166 w 191"/>
                      <a:gd name="T23" fmla="*/ 118 h 358"/>
                      <a:gd name="T24" fmla="*/ 180 w 191"/>
                      <a:gd name="T25" fmla="*/ 125 h 358"/>
                      <a:gd name="T26" fmla="*/ 187 w 191"/>
                      <a:gd name="T27" fmla="*/ 139 h 358"/>
                      <a:gd name="T28" fmla="*/ 191 w 191"/>
                      <a:gd name="T29" fmla="*/ 155 h 358"/>
                      <a:gd name="T30" fmla="*/ 189 w 191"/>
                      <a:gd name="T31" fmla="*/ 172 h 358"/>
                      <a:gd name="T32" fmla="*/ 178 w 191"/>
                      <a:gd name="T33" fmla="*/ 193 h 358"/>
                      <a:gd name="T34" fmla="*/ 156 w 191"/>
                      <a:gd name="T35" fmla="*/ 225 h 358"/>
                      <a:gd name="T36" fmla="*/ 122 w 191"/>
                      <a:gd name="T37" fmla="*/ 267 h 358"/>
                      <a:gd name="T38" fmla="*/ 37 w 191"/>
                      <a:gd name="T39" fmla="*/ 358 h 358"/>
                      <a:gd name="T40" fmla="*/ 0 w 191"/>
                      <a:gd name="T41" fmla="*/ 278 h 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1" h="358">
                        <a:moveTo>
                          <a:pt x="0" y="278"/>
                        </a:moveTo>
                        <a:lnTo>
                          <a:pt x="67" y="199"/>
                        </a:lnTo>
                        <a:lnTo>
                          <a:pt x="84" y="159"/>
                        </a:lnTo>
                        <a:lnTo>
                          <a:pt x="92" y="126"/>
                        </a:lnTo>
                        <a:lnTo>
                          <a:pt x="103" y="80"/>
                        </a:lnTo>
                        <a:lnTo>
                          <a:pt x="109" y="37"/>
                        </a:lnTo>
                        <a:lnTo>
                          <a:pt x="110" y="0"/>
                        </a:lnTo>
                        <a:lnTo>
                          <a:pt x="127" y="30"/>
                        </a:lnTo>
                        <a:lnTo>
                          <a:pt x="138" y="60"/>
                        </a:lnTo>
                        <a:lnTo>
                          <a:pt x="142" y="89"/>
                        </a:lnTo>
                        <a:lnTo>
                          <a:pt x="144" y="114"/>
                        </a:lnTo>
                        <a:lnTo>
                          <a:pt x="166" y="118"/>
                        </a:lnTo>
                        <a:lnTo>
                          <a:pt x="180" y="125"/>
                        </a:lnTo>
                        <a:lnTo>
                          <a:pt x="187" y="139"/>
                        </a:lnTo>
                        <a:lnTo>
                          <a:pt x="191" y="155"/>
                        </a:lnTo>
                        <a:lnTo>
                          <a:pt x="189" y="172"/>
                        </a:lnTo>
                        <a:lnTo>
                          <a:pt x="178" y="193"/>
                        </a:lnTo>
                        <a:lnTo>
                          <a:pt x="156" y="225"/>
                        </a:lnTo>
                        <a:lnTo>
                          <a:pt x="122" y="267"/>
                        </a:lnTo>
                        <a:lnTo>
                          <a:pt x="37" y="358"/>
                        </a:lnTo>
                        <a:lnTo>
                          <a:pt x="0" y="27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0" name="Freeform 322"/>
                  <p:cNvSpPr/>
                  <p:nvPr/>
                </p:nvSpPr>
                <p:spPr bwMode="auto">
                  <a:xfrm>
                    <a:off x="2784" y="3047"/>
                    <a:ext cx="24" cy="25"/>
                  </a:xfrm>
                  <a:custGeom>
                    <a:avLst/>
                    <a:gdLst>
                      <a:gd name="T0" fmla="*/ 13 w 168"/>
                      <a:gd name="T1" fmla="*/ 0 h 196"/>
                      <a:gd name="T2" fmla="*/ 168 w 168"/>
                      <a:gd name="T3" fmla="*/ 166 h 196"/>
                      <a:gd name="T4" fmla="*/ 168 w 168"/>
                      <a:gd name="T5" fmla="*/ 196 h 196"/>
                      <a:gd name="T6" fmla="*/ 0 w 168"/>
                      <a:gd name="T7" fmla="*/ 10 h 196"/>
                      <a:gd name="T8" fmla="*/ 13 w 168"/>
                      <a:gd name="T9" fmla="*/ 0 h 196"/>
                    </a:gdLst>
                    <a:ahLst/>
                    <a:cxnLst>
                      <a:cxn ang="0">
                        <a:pos x="T0" y="T1"/>
                      </a:cxn>
                      <a:cxn ang="0">
                        <a:pos x="T2" y="T3"/>
                      </a:cxn>
                      <a:cxn ang="0">
                        <a:pos x="T4" y="T5"/>
                      </a:cxn>
                      <a:cxn ang="0">
                        <a:pos x="T6" y="T7"/>
                      </a:cxn>
                      <a:cxn ang="0">
                        <a:pos x="T8" y="T9"/>
                      </a:cxn>
                    </a:cxnLst>
                    <a:rect l="0" t="0" r="r" b="b"/>
                    <a:pathLst>
                      <a:path w="168" h="196">
                        <a:moveTo>
                          <a:pt x="13" y="0"/>
                        </a:moveTo>
                        <a:lnTo>
                          <a:pt x="168" y="166"/>
                        </a:lnTo>
                        <a:lnTo>
                          <a:pt x="168" y="196"/>
                        </a:lnTo>
                        <a:lnTo>
                          <a:pt x="0" y="10"/>
                        </a:lnTo>
                        <a:lnTo>
                          <a:pt x="13" y="0"/>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1" name="Freeform 323"/>
                  <p:cNvSpPr/>
                  <p:nvPr/>
                </p:nvSpPr>
                <p:spPr bwMode="auto">
                  <a:xfrm>
                    <a:off x="2714" y="2977"/>
                    <a:ext cx="36" cy="50"/>
                  </a:xfrm>
                  <a:custGeom>
                    <a:avLst/>
                    <a:gdLst>
                      <a:gd name="T0" fmla="*/ 20 w 248"/>
                      <a:gd name="T1" fmla="*/ 403 h 403"/>
                      <a:gd name="T2" fmla="*/ 24 w 248"/>
                      <a:gd name="T3" fmla="*/ 358 h 403"/>
                      <a:gd name="T4" fmla="*/ 32 w 248"/>
                      <a:gd name="T5" fmla="*/ 317 h 403"/>
                      <a:gd name="T6" fmla="*/ 41 w 248"/>
                      <a:gd name="T7" fmla="*/ 288 h 403"/>
                      <a:gd name="T8" fmla="*/ 54 w 248"/>
                      <a:gd name="T9" fmla="*/ 264 h 403"/>
                      <a:gd name="T10" fmla="*/ 75 w 248"/>
                      <a:gd name="T11" fmla="*/ 234 h 403"/>
                      <a:gd name="T12" fmla="*/ 103 w 248"/>
                      <a:gd name="T13" fmla="*/ 207 h 403"/>
                      <a:gd name="T14" fmla="*/ 131 w 248"/>
                      <a:gd name="T15" fmla="*/ 188 h 403"/>
                      <a:gd name="T16" fmla="*/ 164 w 248"/>
                      <a:gd name="T17" fmla="*/ 162 h 403"/>
                      <a:gd name="T18" fmla="*/ 185 w 248"/>
                      <a:gd name="T19" fmla="*/ 136 h 403"/>
                      <a:gd name="T20" fmla="*/ 199 w 248"/>
                      <a:gd name="T21" fmla="*/ 110 h 403"/>
                      <a:gd name="T22" fmla="*/ 196 w 248"/>
                      <a:gd name="T23" fmla="*/ 82 h 403"/>
                      <a:gd name="T24" fmla="*/ 203 w 248"/>
                      <a:gd name="T25" fmla="*/ 53 h 403"/>
                      <a:gd name="T26" fmla="*/ 218 w 248"/>
                      <a:gd name="T27" fmla="*/ 26 h 403"/>
                      <a:gd name="T28" fmla="*/ 228 w 248"/>
                      <a:gd name="T29" fmla="*/ 13 h 403"/>
                      <a:gd name="T30" fmla="*/ 248 w 248"/>
                      <a:gd name="T31" fmla="*/ 2 h 403"/>
                      <a:gd name="T32" fmla="*/ 235 w 248"/>
                      <a:gd name="T33" fmla="*/ 0 h 403"/>
                      <a:gd name="T34" fmla="*/ 223 w 248"/>
                      <a:gd name="T35" fmla="*/ 2 h 403"/>
                      <a:gd name="T36" fmla="*/ 200 w 248"/>
                      <a:gd name="T37" fmla="*/ 9 h 403"/>
                      <a:gd name="T38" fmla="*/ 181 w 248"/>
                      <a:gd name="T39" fmla="*/ 21 h 403"/>
                      <a:gd name="T40" fmla="*/ 166 w 248"/>
                      <a:gd name="T41" fmla="*/ 40 h 403"/>
                      <a:gd name="T42" fmla="*/ 153 w 248"/>
                      <a:gd name="T43" fmla="*/ 65 h 403"/>
                      <a:gd name="T44" fmla="*/ 133 w 248"/>
                      <a:gd name="T45" fmla="*/ 93 h 403"/>
                      <a:gd name="T46" fmla="*/ 114 w 248"/>
                      <a:gd name="T47" fmla="*/ 115 h 403"/>
                      <a:gd name="T48" fmla="*/ 88 w 248"/>
                      <a:gd name="T49" fmla="*/ 132 h 403"/>
                      <a:gd name="T50" fmla="*/ 57 w 248"/>
                      <a:gd name="T51" fmla="*/ 143 h 403"/>
                      <a:gd name="T52" fmla="*/ 53 w 248"/>
                      <a:gd name="T53" fmla="*/ 186 h 403"/>
                      <a:gd name="T54" fmla="*/ 50 w 248"/>
                      <a:gd name="T55" fmla="*/ 225 h 403"/>
                      <a:gd name="T56" fmla="*/ 23 w 248"/>
                      <a:gd name="T57" fmla="*/ 263 h 403"/>
                      <a:gd name="T58" fmla="*/ 9 w 248"/>
                      <a:gd name="T59" fmla="*/ 294 h 403"/>
                      <a:gd name="T60" fmla="*/ 0 w 248"/>
                      <a:gd name="T61" fmla="*/ 337 h 403"/>
                      <a:gd name="T62" fmla="*/ 6 w 248"/>
                      <a:gd name="T63" fmla="*/ 368 h 403"/>
                      <a:gd name="T64" fmla="*/ 20 w 248"/>
                      <a:gd name="T65" fmla="*/ 403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8" h="403">
                        <a:moveTo>
                          <a:pt x="20" y="403"/>
                        </a:moveTo>
                        <a:lnTo>
                          <a:pt x="24" y="358"/>
                        </a:lnTo>
                        <a:lnTo>
                          <a:pt x="32" y="317"/>
                        </a:lnTo>
                        <a:lnTo>
                          <a:pt x="41" y="288"/>
                        </a:lnTo>
                        <a:lnTo>
                          <a:pt x="54" y="264"/>
                        </a:lnTo>
                        <a:lnTo>
                          <a:pt x="75" y="234"/>
                        </a:lnTo>
                        <a:lnTo>
                          <a:pt x="103" y="207"/>
                        </a:lnTo>
                        <a:lnTo>
                          <a:pt x="131" y="188"/>
                        </a:lnTo>
                        <a:lnTo>
                          <a:pt x="164" y="162"/>
                        </a:lnTo>
                        <a:lnTo>
                          <a:pt x="185" y="136"/>
                        </a:lnTo>
                        <a:lnTo>
                          <a:pt x="199" y="110"/>
                        </a:lnTo>
                        <a:lnTo>
                          <a:pt x="196" y="82"/>
                        </a:lnTo>
                        <a:lnTo>
                          <a:pt x="203" y="53"/>
                        </a:lnTo>
                        <a:lnTo>
                          <a:pt x="218" y="26"/>
                        </a:lnTo>
                        <a:lnTo>
                          <a:pt x="228" y="13"/>
                        </a:lnTo>
                        <a:lnTo>
                          <a:pt x="248" y="2"/>
                        </a:lnTo>
                        <a:lnTo>
                          <a:pt x="235" y="0"/>
                        </a:lnTo>
                        <a:lnTo>
                          <a:pt x="223" y="2"/>
                        </a:lnTo>
                        <a:lnTo>
                          <a:pt x="200" y="9"/>
                        </a:lnTo>
                        <a:lnTo>
                          <a:pt x="181" y="21"/>
                        </a:lnTo>
                        <a:lnTo>
                          <a:pt x="166" y="40"/>
                        </a:lnTo>
                        <a:lnTo>
                          <a:pt x="153" y="65"/>
                        </a:lnTo>
                        <a:lnTo>
                          <a:pt x="133" y="93"/>
                        </a:lnTo>
                        <a:lnTo>
                          <a:pt x="114" y="115"/>
                        </a:lnTo>
                        <a:lnTo>
                          <a:pt x="88" y="132"/>
                        </a:lnTo>
                        <a:lnTo>
                          <a:pt x="57" y="143"/>
                        </a:lnTo>
                        <a:lnTo>
                          <a:pt x="53" y="186"/>
                        </a:lnTo>
                        <a:lnTo>
                          <a:pt x="50" y="225"/>
                        </a:lnTo>
                        <a:lnTo>
                          <a:pt x="23" y="263"/>
                        </a:lnTo>
                        <a:lnTo>
                          <a:pt x="9" y="294"/>
                        </a:lnTo>
                        <a:lnTo>
                          <a:pt x="0" y="337"/>
                        </a:lnTo>
                        <a:lnTo>
                          <a:pt x="6" y="368"/>
                        </a:lnTo>
                        <a:lnTo>
                          <a:pt x="20" y="403"/>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2" name="Freeform 324"/>
                  <p:cNvSpPr/>
                  <p:nvPr/>
                </p:nvSpPr>
                <p:spPr bwMode="auto">
                  <a:xfrm>
                    <a:off x="2713" y="3014"/>
                    <a:ext cx="18" cy="84"/>
                  </a:xfrm>
                  <a:custGeom>
                    <a:avLst/>
                    <a:gdLst>
                      <a:gd name="T0" fmla="*/ 129 w 129"/>
                      <a:gd name="T1" fmla="*/ 669 h 669"/>
                      <a:gd name="T2" fmla="*/ 112 w 129"/>
                      <a:gd name="T3" fmla="*/ 633 h 669"/>
                      <a:gd name="T4" fmla="*/ 103 w 129"/>
                      <a:gd name="T5" fmla="*/ 600 h 669"/>
                      <a:gd name="T6" fmla="*/ 99 w 129"/>
                      <a:gd name="T7" fmla="*/ 573 h 669"/>
                      <a:gd name="T8" fmla="*/ 83 w 129"/>
                      <a:gd name="T9" fmla="*/ 554 h 669"/>
                      <a:gd name="T10" fmla="*/ 75 w 129"/>
                      <a:gd name="T11" fmla="*/ 536 h 669"/>
                      <a:gd name="T12" fmla="*/ 68 w 129"/>
                      <a:gd name="T13" fmla="*/ 509 h 669"/>
                      <a:gd name="T14" fmla="*/ 70 w 129"/>
                      <a:gd name="T15" fmla="*/ 487 h 669"/>
                      <a:gd name="T16" fmla="*/ 75 w 129"/>
                      <a:gd name="T17" fmla="*/ 470 h 669"/>
                      <a:gd name="T18" fmla="*/ 63 w 129"/>
                      <a:gd name="T19" fmla="*/ 439 h 669"/>
                      <a:gd name="T20" fmla="*/ 58 w 129"/>
                      <a:gd name="T21" fmla="*/ 406 h 669"/>
                      <a:gd name="T22" fmla="*/ 60 w 129"/>
                      <a:gd name="T23" fmla="*/ 374 h 669"/>
                      <a:gd name="T24" fmla="*/ 69 w 129"/>
                      <a:gd name="T25" fmla="*/ 343 h 669"/>
                      <a:gd name="T26" fmla="*/ 83 w 129"/>
                      <a:gd name="T27" fmla="*/ 335 h 669"/>
                      <a:gd name="T28" fmla="*/ 94 w 129"/>
                      <a:gd name="T29" fmla="*/ 325 h 669"/>
                      <a:gd name="T30" fmla="*/ 99 w 129"/>
                      <a:gd name="T31" fmla="*/ 301 h 669"/>
                      <a:gd name="T32" fmla="*/ 98 w 129"/>
                      <a:gd name="T33" fmla="*/ 277 h 669"/>
                      <a:gd name="T34" fmla="*/ 94 w 129"/>
                      <a:gd name="T35" fmla="*/ 253 h 669"/>
                      <a:gd name="T36" fmla="*/ 106 w 129"/>
                      <a:gd name="T37" fmla="*/ 229 h 669"/>
                      <a:gd name="T38" fmla="*/ 112 w 129"/>
                      <a:gd name="T39" fmla="*/ 210 h 669"/>
                      <a:gd name="T40" fmla="*/ 106 w 129"/>
                      <a:gd name="T41" fmla="*/ 186 h 669"/>
                      <a:gd name="T42" fmla="*/ 94 w 129"/>
                      <a:gd name="T43" fmla="*/ 162 h 669"/>
                      <a:gd name="T44" fmla="*/ 81 w 129"/>
                      <a:gd name="T45" fmla="*/ 144 h 669"/>
                      <a:gd name="T46" fmla="*/ 88 w 129"/>
                      <a:gd name="T47" fmla="*/ 111 h 669"/>
                      <a:gd name="T48" fmla="*/ 94 w 129"/>
                      <a:gd name="T49" fmla="*/ 73 h 669"/>
                      <a:gd name="T50" fmla="*/ 90 w 129"/>
                      <a:gd name="T51" fmla="*/ 48 h 669"/>
                      <a:gd name="T52" fmla="*/ 93 w 129"/>
                      <a:gd name="T53" fmla="*/ 24 h 669"/>
                      <a:gd name="T54" fmla="*/ 99 w 129"/>
                      <a:gd name="T55" fmla="*/ 0 h 669"/>
                      <a:gd name="T56" fmla="*/ 80 w 129"/>
                      <a:gd name="T57" fmla="*/ 6 h 669"/>
                      <a:gd name="T58" fmla="*/ 65 w 129"/>
                      <a:gd name="T59" fmla="*/ 15 h 669"/>
                      <a:gd name="T60" fmla="*/ 51 w 129"/>
                      <a:gd name="T61" fmla="*/ 34 h 669"/>
                      <a:gd name="T62" fmla="*/ 44 w 129"/>
                      <a:gd name="T63" fmla="*/ 55 h 669"/>
                      <a:gd name="T64" fmla="*/ 42 w 129"/>
                      <a:gd name="T65" fmla="*/ 38 h 669"/>
                      <a:gd name="T66" fmla="*/ 35 w 129"/>
                      <a:gd name="T67" fmla="*/ 23 h 669"/>
                      <a:gd name="T68" fmla="*/ 26 w 129"/>
                      <a:gd name="T69" fmla="*/ 11 h 669"/>
                      <a:gd name="T70" fmla="*/ 17 w 129"/>
                      <a:gd name="T71" fmla="*/ 1 h 669"/>
                      <a:gd name="T72" fmla="*/ 11 w 129"/>
                      <a:gd name="T73" fmla="*/ 18 h 669"/>
                      <a:gd name="T74" fmla="*/ 3 w 129"/>
                      <a:gd name="T75" fmla="*/ 43 h 669"/>
                      <a:gd name="T76" fmla="*/ 0 w 129"/>
                      <a:gd name="T77" fmla="*/ 60 h 669"/>
                      <a:gd name="T78" fmla="*/ 16 w 129"/>
                      <a:gd name="T79" fmla="*/ 91 h 669"/>
                      <a:gd name="T80" fmla="*/ 25 w 129"/>
                      <a:gd name="T81" fmla="*/ 127 h 669"/>
                      <a:gd name="T82" fmla="*/ 27 w 129"/>
                      <a:gd name="T83" fmla="*/ 151 h 669"/>
                      <a:gd name="T84" fmla="*/ 31 w 129"/>
                      <a:gd name="T85" fmla="*/ 180 h 669"/>
                      <a:gd name="T86" fmla="*/ 38 w 129"/>
                      <a:gd name="T87" fmla="*/ 207 h 669"/>
                      <a:gd name="T88" fmla="*/ 49 w 129"/>
                      <a:gd name="T89" fmla="*/ 240 h 669"/>
                      <a:gd name="T90" fmla="*/ 52 w 129"/>
                      <a:gd name="T91" fmla="*/ 264 h 669"/>
                      <a:gd name="T92" fmla="*/ 49 w 129"/>
                      <a:gd name="T93" fmla="*/ 288 h 669"/>
                      <a:gd name="T94" fmla="*/ 37 w 129"/>
                      <a:gd name="T95" fmla="*/ 343 h 669"/>
                      <a:gd name="T96" fmla="*/ 31 w 129"/>
                      <a:gd name="T97" fmla="*/ 381 h 669"/>
                      <a:gd name="T98" fmla="*/ 29 w 129"/>
                      <a:gd name="T99" fmla="*/ 422 h 669"/>
                      <a:gd name="T100" fmla="*/ 34 w 129"/>
                      <a:gd name="T101" fmla="*/ 456 h 669"/>
                      <a:gd name="T102" fmla="*/ 44 w 129"/>
                      <a:gd name="T103" fmla="*/ 495 h 669"/>
                      <a:gd name="T104" fmla="*/ 34 w 129"/>
                      <a:gd name="T105" fmla="*/ 534 h 669"/>
                      <a:gd name="T106" fmla="*/ 37 w 129"/>
                      <a:gd name="T107" fmla="*/ 563 h 669"/>
                      <a:gd name="T108" fmla="*/ 46 w 129"/>
                      <a:gd name="T109" fmla="*/ 588 h 669"/>
                      <a:gd name="T110" fmla="*/ 61 w 129"/>
                      <a:gd name="T111" fmla="*/ 610 h 669"/>
                      <a:gd name="T112" fmla="*/ 79 w 129"/>
                      <a:gd name="T113" fmla="*/ 632 h 669"/>
                      <a:gd name="T114" fmla="*/ 111 w 129"/>
                      <a:gd name="T115" fmla="*/ 657 h 669"/>
                      <a:gd name="T116" fmla="*/ 129 w 129"/>
                      <a:gd name="T117" fmla="*/ 669 h 6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9" h="669">
                        <a:moveTo>
                          <a:pt x="129" y="669"/>
                        </a:moveTo>
                        <a:lnTo>
                          <a:pt x="112" y="633"/>
                        </a:lnTo>
                        <a:lnTo>
                          <a:pt x="103" y="600"/>
                        </a:lnTo>
                        <a:lnTo>
                          <a:pt x="99" y="573"/>
                        </a:lnTo>
                        <a:lnTo>
                          <a:pt x="83" y="554"/>
                        </a:lnTo>
                        <a:lnTo>
                          <a:pt x="75" y="536"/>
                        </a:lnTo>
                        <a:lnTo>
                          <a:pt x="68" y="509"/>
                        </a:lnTo>
                        <a:lnTo>
                          <a:pt x="70" y="487"/>
                        </a:lnTo>
                        <a:lnTo>
                          <a:pt x="75" y="470"/>
                        </a:lnTo>
                        <a:lnTo>
                          <a:pt x="63" y="439"/>
                        </a:lnTo>
                        <a:lnTo>
                          <a:pt x="58" y="406"/>
                        </a:lnTo>
                        <a:lnTo>
                          <a:pt x="60" y="374"/>
                        </a:lnTo>
                        <a:lnTo>
                          <a:pt x="69" y="343"/>
                        </a:lnTo>
                        <a:lnTo>
                          <a:pt x="83" y="335"/>
                        </a:lnTo>
                        <a:lnTo>
                          <a:pt x="94" y="325"/>
                        </a:lnTo>
                        <a:lnTo>
                          <a:pt x="99" y="301"/>
                        </a:lnTo>
                        <a:lnTo>
                          <a:pt x="98" y="277"/>
                        </a:lnTo>
                        <a:lnTo>
                          <a:pt x="94" y="253"/>
                        </a:lnTo>
                        <a:lnTo>
                          <a:pt x="106" y="229"/>
                        </a:lnTo>
                        <a:lnTo>
                          <a:pt x="112" y="210"/>
                        </a:lnTo>
                        <a:lnTo>
                          <a:pt x="106" y="186"/>
                        </a:lnTo>
                        <a:lnTo>
                          <a:pt x="94" y="162"/>
                        </a:lnTo>
                        <a:lnTo>
                          <a:pt x="81" y="144"/>
                        </a:lnTo>
                        <a:lnTo>
                          <a:pt x="88" y="111"/>
                        </a:lnTo>
                        <a:lnTo>
                          <a:pt x="94" y="73"/>
                        </a:lnTo>
                        <a:lnTo>
                          <a:pt x="90" y="48"/>
                        </a:lnTo>
                        <a:lnTo>
                          <a:pt x="93" y="24"/>
                        </a:lnTo>
                        <a:lnTo>
                          <a:pt x="99" y="0"/>
                        </a:lnTo>
                        <a:lnTo>
                          <a:pt x="80" y="6"/>
                        </a:lnTo>
                        <a:lnTo>
                          <a:pt x="65" y="15"/>
                        </a:lnTo>
                        <a:lnTo>
                          <a:pt x="51" y="34"/>
                        </a:lnTo>
                        <a:lnTo>
                          <a:pt x="44" y="55"/>
                        </a:lnTo>
                        <a:lnTo>
                          <a:pt x="42" y="38"/>
                        </a:lnTo>
                        <a:lnTo>
                          <a:pt x="35" y="23"/>
                        </a:lnTo>
                        <a:lnTo>
                          <a:pt x="26" y="11"/>
                        </a:lnTo>
                        <a:lnTo>
                          <a:pt x="17" y="1"/>
                        </a:lnTo>
                        <a:lnTo>
                          <a:pt x="11" y="18"/>
                        </a:lnTo>
                        <a:lnTo>
                          <a:pt x="3" y="43"/>
                        </a:lnTo>
                        <a:lnTo>
                          <a:pt x="0" y="60"/>
                        </a:lnTo>
                        <a:lnTo>
                          <a:pt x="16" y="91"/>
                        </a:lnTo>
                        <a:lnTo>
                          <a:pt x="25" y="127"/>
                        </a:lnTo>
                        <a:lnTo>
                          <a:pt x="27" y="151"/>
                        </a:lnTo>
                        <a:lnTo>
                          <a:pt x="31" y="180"/>
                        </a:lnTo>
                        <a:lnTo>
                          <a:pt x="38" y="207"/>
                        </a:lnTo>
                        <a:lnTo>
                          <a:pt x="49" y="240"/>
                        </a:lnTo>
                        <a:lnTo>
                          <a:pt x="52" y="264"/>
                        </a:lnTo>
                        <a:lnTo>
                          <a:pt x="49" y="288"/>
                        </a:lnTo>
                        <a:lnTo>
                          <a:pt x="37" y="343"/>
                        </a:lnTo>
                        <a:lnTo>
                          <a:pt x="31" y="381"/>
                        </a:lnTo>
                        <a:lnTo>
                          <a:pt x="29" y="422"/>
                        </a:lnTo>
                        <a:lnTo>
                          <a:pt x="34" y="456"/>
                        </a:lnTo>
                        <a:lnTo>
                          <a:pt x="44" y="495"/>
                        </a:lnTo>
                        <a:lnTo>
                          <a:pt x="34" y="534"/>
                        </a:lnTo>
                        <a:lnTo>
                          <a:pt x="37" y="563"/>
                        </a:lnTo>
                        <a:lnTo>
                          <a:pt x="46" y="588"/>
                        </a:lnTo>
                        <a:lnTo>
                          <a:pt x="61" y="610"/>
                        </a:lnTo>
                        <a:lnTo>
                          <a:pt x="79" y="632"/>
                        </a:lnTo>
                        <a:lnTo>
                          <a:pt x="111" y="657"/>
                        </a:lnTo>
                        <a:lnTo>
                          <a:pt x="129" y="669"/>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3" name="Freeform 325"/>
                  <p:cNvSpPr/>
                  <p:nvPr/>
                </p:nvSpPr>
                <p:spPr bwMode="auto">
                  <a:xfrm>
                    <a:off x="2721" y="3067"/>
                    <a:ext cx="41" cy="12"/>
                  </a:xfrm>
                  <a:custGeom>
                    <a:avLst/>
                    <a:gdLst>
                      <a:gd name="T0" fmla="*/ 0 w 286"/>
                      <a:gd name="T1" fmla="*/ 0 h 95"/>
                      <a:gd name="T2" fmla="*/ 22 w 286"/>
                      <a:gd name="T3" fmla="*/ 12 h 95"/>
                      <a:gd name="T4" fmla="*/ 51 w 286"/>
                      <a:gd name="T5" fmla="*/ 26 h 95"/>
                      <a:gd name="T6" fmla="*/ 82 w 286"/>
                      <a:gd name="T7" fmla="*/ 39 h 95"/>
                      <a:gd name="T8" fmla="*/ 108 w 286"/>
                      <a:gd name="T9" fmla="*/ 46 h 95"/>
                      <a:gd name="T10" fmla="*/ 142 w 286"/>
                      <a:gd name="T11" fmla="*/ 53 h 95"/>
                      <a:gd name="T12" fmla="*/ 174 w 286"/>
                      <a:gd name="T13" fmla="*/ 50 h 95"/>
                      <a:gd name="T14" fmla="*/ 208 w 286"/>
                      <a:gd name="T15" fmla="*/ 53 h 95"/>
                      <a:gd name="T16" fmla="*/ 237 w 286"/>
                      <a:gd name="T17" fmla="*/ 56 h 95"/>
                      <a:gd name="T18" fmla="*/ 269 w 286"/>
                      <a:gd name="T19" fmla="*/ 67 h 95"/>
                      <a:gd name="T20" fmla="*/ 279 w 286"/>
                      <a:gd name="T21" fmla="*/ 72 h 95"/>
                      <a:gd name="T22" fmla="*/ 286 w 286"/>
                      <a:gd name="T23" fmla="*/ 85 h 95"/>
                      <a:gd name="T24" fmla="*/ 258 w 286"/>
                      <a:gd name="T25" fmla="*/ 91 h 95"/>
                      <a:gd name="T26" fmla="*/ 223 w 286"/>
                      <a:gd name="T27" fmla="*/ 95 h 95"/>
                      <a:gd name="T28" fmla="*/ 185 w 286"/>
                      <a:gd name="T29" fmla="*/ 92 h 95"/>
                      <a:gd name="T30" fmla="*/ 143 w 286"/>
                      <a:gd name="T31" fmla="*/ 87 h 95"/>
                      <a:gd name="T32" fmla="*/ 100 w 286"/>
                      <a:gd name="T33" fmla="*/ 78 h 95"/>
                      <a:gd name="T34" fmla="*/ 71 w 286"/>
                      <a:gd name="T35" fmla="*/ 67 h 95"/>
                      <a:gd name="T36" fmla="*/ 42 w 286"/>
                      <a:gd name="T37" fmla="*/ 47 h 95"/>
                      <a:gd name="T38" fmla="*/ 22 w 286"/>
                      <a:gd name="T39" fmla="*/ 30 h 95"/>
                      <a:gd name="T40" fmla="*/ 0 w 286"/>
                      <a:gd name="T41"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6" h="95">
                        <a:moveTo>
                          <a:pt x="0" y="0"/>
                        </a:moveTo>
                        <a:lnTo>
                          <a:pt x="22" y="12"/>
                        </a:lnTo>
                        <a:lnTo>
                          <a:pt x="51" y="26"/>
                        </a:lnTo>
                        <a:lnTo>
                          <a:pt x="82" y="39"/>
                        </a:lnTo>
                        <a:lnTo>
                          <a:pt x="108" y="46"/>
                        </a:lnTo>
                        <a:lnTo>
                          <a:pt x="142" y="53"/>
                        </a:lnTo>
                        <a:lnTo>
                          <a:pt x="174" y="50"/>
                        </a:lnTo>
                        <a:lnTo>
                          <a:pt x="208" y="53"/>
                        </a:lnTo>
                        <a:lnTo>
                          <a:pt x="237" y="56"/>
                        </a:lnTo>
                        <a:lnTo>
                          <a:pt x="269" y="67"/>
                        </a:lnTo>
                        <a:lnTo>
                          <a:pt x="279" y="72"/>
                        </a:lnTo>
                        <a:lnTo>
                          <a:pt x="286" y="85"/>
                        </a:lnTo>
                        <a:lnTo>
                          <a:pt x="258" y="91"/>
                        </a:lnTo>
                        <a:lnTo>
                          <a:pt x="223" y="95"/>
                        </a:lnTo>
                        <a:lnTo>
                          <a:pt x="185" y="92"/>
                        </a:lnTo>
                        <a:lnTo>
                          <a:pt x="143" y="87"/>
                        </a:lnTo>
                        <a:lnTo>
                          <a:pt x="100" y="78"/>
                        </a:lnTo>
                        <a:lnTo>
                          <a:pt x="71" y="67"/>
                        </a:lnTo>
                        <a:lnTo>
                          <a:pt x="42" y="47"/>
                        </a:lnTo>
                        <a:lnTo>
                          <a:pt x="22" y="30"/>
                        </a:lnTo>
                        <a:lnTo>
                          <a:pt x="0" y="0"/>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4" name="Freeform 326"/>
                  <p:cNvSpPr/>
                  <p:nvPr/>
                </p:nvSpPr>
                <p:spPr bwMode="auto">
                  <a:xfrm>
                    <a:off x="2757" y="3101"/>
                    <a:ext cx="51" cy="9"/>
                  </a:xfrm>
                  <a:custGeom>
                    <a:avLst/>
                    <a:gdLst>
                      <a:gd name="T0" fmla="*/ 0 w 361"/>
                      <a:gd name="T1" fmla="*/ 3 h 71"/>
                      <a:gd name="T2" fmla="*/ 37 w 361"/>
                      <a:gd name="T3" fmla="*/ 20 h 71"/>
                      <a:gd name="T4" fmla="*/ 66 w 361"/>
                      <a:gd name="T5" fmla="*/ 30 h 71"/>
                      <a:gd name="T6" fmla="*/ 99 w 361"/>
                      <a:gd name="T7" fmla="*/ 42 h 71"/>
                      <a:gd name="T8" fmla="*/ 138 w 361"/>
                      <a:gd name="T9" fmla="*/ 48 h 71"/>
                      <a:gd name="T10" fmla="*/ 182 w 361"/>
                      <a:gd name="T11" fmla="*/ 53 h 71"/>
                      <a:gd name="T12" fmla="*/ 225 w 361"/>
                      <a:gd name="T13" fmla="*/ 51 h 71"/>
                      <a:gd name="T14" fmla="*/ 256 w 361"/>
                      <a:gd name="T15" fmla="*/ 46 h 71"/>
                      <a:gd name="T16" fmla="*/ 290 w 361"/>
                      <a:gd name="T17" fmla="*/ 37 h 71"/>
                      <a:gd name="T18" fmla="*/ 313 w 361"/>
                      <a:gd name="T19" fmla="*/ 27 h 71"/>
                      <a:gd name="T20" fmla="*/ 335 w 361"/>
                      <a:gd name="T21" fmla="*/ 16 h 71"/>
                      <a:gd name="T22" fmla="*/ 361 w 361"/>
                      <a:gd name="T23" fmla="*/ 0 h 71"/>
                      <a:gd name="T24" fmla="*/ 352 w 361"/>
                      <a:gd name="T25" fmla="*/ 17 h 71"/>
                      <a:gd name="T26" fmla="*/ 329 w 361"/>
                      <a:gd name="T27" fmla="*/ 37 h 71"/>
                      <a:gd name="T28" fmla="*/ 302 w 361"/>
                      <a:gd name="T29" fmla="*/ 51 h 71"/>
                      <a:gd name="T30" fmla="*/ 271 w 361"/>
                      <a:gd name="T31" fmla="*/ 60 h 71"/>
                      <a:gd name="T32" fmla="*/ 237 w 361"/>
                      <a:gd name="T33" fmla="*/ 66 h 71"/>
                      <a:gd name="T34" fmla="*/ 206 w 361"/>
                      <a:gd name="T35" fmla="*/ 70 h 71"/>
                      <a:gd name="T36" fmla="*/ 174 w 361"/>
                      <a:gd name="T37" fmla="*/ 71 h 71"/>
                      <a:gd name="T38" fmla="*/ 140 w 361"/>
                      <a:gd name="T39" fmla="*/ 68 h 71"/>
                      <a:gd name="T40" fmla="*/ 109 w 361"/>
                      <a:gd name="T41" fmla="*/ 60 h 71"/>
                      <a:gd name="T42" fmla="*/ 81 w 361"/>
                      <a:gd name="T43" fmla="*/ 52 h 71"/>
                      <a:gd name="T44" fmla="*/ 50 w 361"/>
                      <a:gd name="T45" fmla="*/ 37 h 71"/>
                      <a:gd name="T46" fmla="*/ 22 w 361"/>
                      <a:gd name="T47" fmla="*/ 20 h 71"/>
                      <a:gd name="T48" fmla="*/ 0 w 361"/>
                      <a:gd name="T49" fmla="*/ 3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61" h="71">
                        <a:moveTo>
                          <a:pt x="0" y="3"/>
                        </a:moveTo>
                        <a:lnTo>
                          <a:pt x="37" y="20"/>
                        </a:lnTo>
                        <a:lnTo>
                          <a:pt x="66" y="30"/>
                        </a:lnTo>
                        <a:lnTo>
                          <a:pt x="99" y="42"/>
                        </a:lnTo>
                        <a:lnTo>
                          <a:pt x="138" y="48"/>
                        </a:lnTo>
                        <a:lnTo>
                          <a:pt x="182" y="53"/>
                        </a:lnTo>
                        <a:lnTo>
                          <a:pt x="225" y="51"/>
                        </a:lnTo>
                        <a:lnTo>
                          <a:pt x="256" y="46"/>
                        </a:lnTo>
                        <a:lnTo>
                          <a:pt x="290" y="37"/>
                        </a:lnTo>
                        <a:lnTo>
                          <a:pt x="313" y="27"/>
                        </a:lnTo>
                        <a:lnTo>
                          <a:pt x="335" y="16"/>
                        </a:lnTo>
                        <a:lnTo>
                          <a:pt x="361" y="0"/>
                        </a:lnTo>
                        <a:lnTo>
                          <a:pt x="352" y="17"/>
                        </a:lnTo>
                        <a:lnTo>
                          <a:pt x="329" y="37"/>
                        </a:lnTo>
                        <a:lnTo>
                          <a:pt x="302" y="51"/>
                        </a:lnTo>
                        <a:lnTo>
                          <a:pt x="271" y="60"/>
                        </a:lnTo>
                        <a:lnTo>
                          <a:pt x="237" y="66"/>
                        </a:lnTo>
                        <a:lnTo>
                          <a:pt x="206" y="70"/>
                        </a:lnTo>
                        <a:lnTo>
                          <a:pt x="174" y="71"/>
                        </a:lnTo>
                        <a:lnTo>
                          <a:pt x="140" y="68"/>
                        </a:lnTo>
                        <a:lnTo>
                          <a:pt x="109" y="60"/>
                        </a:lnTo>
                        <a:lnTo>
                          <a:pt x="81" y="52"/>
                        </a:lnTo>
                        <a:lnTo>
                          <a:pt x="50" y="37"/>
                        </a:lnTo>
                        <a:lnTo>
                          <a:pt x="22" y="20"/>
                        </a:lnTo>
                        <a:lnTo>
                          <a:pt x="0" y="3"/>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5" name="Freeform 327"/>
                  <p:cNvSpPr/>
                  <p:nvPr/>
                </p:nvSpPr>
                <p:spPr bwMode="auto">
                  <a:xfrm>
                    <a:off x="2725" y="3092"/>
                    <a:ext cx="35" cy="7"/>
                  </a:xfrm>
                  <a:custGeom>
                    <a:avLst/>
                    <a:gdLst>
                      <a:gd name="T0" fmla="*/ 246 w 246"/>
                      <a:gd name="T1" fmla="*/ 23 h 55"/>
                      <a:gd name="T2" fmla="*/ 205 w 246"/>
                      <a:gd name="T3" fmla="*/ 44 h 55"/>
                      <a:gd name="T4" fmla="*/ 167 w 246"/>
                      <a:gd name="T5" fmla="*/ 54 h 55"/>
                      <a:gd name="T6" fmla="*/ 130 w 246"/>
                      <a:gd name="T7" fmla="*/ 55 h 55"/>
                      <a:gd name="T8" fmla="*/ 95 w 246"/>
                      <a:gd name="T9" fmla="*/ 48 h 55"/>
                      <a:gd name="T10" fmla="*/ 61 w 246"/>
                      <a:gd name="T11" fmla="*/ 36 h 55"/>
                      <a:gd name="T12" fmla="*/ 32 w 246"/>
                      <a:gd name="T13" fmla="*/ 23 h 55"/>
                      <a:gd name="T14" fmla="*/ 0 w 246"/>
                      <a:gd name="T15" fmla="*/ 0 h 55"/>
                      <a:gd name="T16" fmla="*/ 34 w 246"/>
                      <a:gd name="T17" fmla="*/ 13 h 55"/>
                      <a:gd name="T18" fmla="*/ 60 w 246"/>
                      <a:gd name="T19" fmla="*/ 20 h 55"/>
                      <a:gd name="T20" fmla="*/ 103 w 246"/>
                      <a:gd name="T21" fmla="*/ 30 h 55"/>
                      <a:gd name="T22" fmla="*/ 131 w 246"/>
                      <a:gd name="T23" fmla="*/ 34 h 55"/>
                      <a:gd name="T24" fmla="*/ 167 w 246"/>
                      <a:gd name="T25" fmla="*/ 36 h 55"/>
                      <a:gd name="T26" fmla="*/ 206 w 246"/>
                      <a:gd name="T27" fmla="*/ 33 h 55"/>
                      <a:gd name="T28" fmla="*/ 246 w 246"/>
                      <a:gd name="T29" fmla="*/ 2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6" h="55">
                        <a:moveTo>
                          <a:pt x="246" y="23"/>
                        </a:moveTo>
                        <a:lnTo>
                          <a:pt x="205" y="44"/>
                        </a:lnTo>
                        <a:lnTo>
                          <a:pt x="167" y="54"/>
                        </a:lnTo>
                        <a:lnTo>
                          <a:pt x="130" y="55"/>
                        </a:lnTo>
                        <a:lnTo>
                          <a:pt x="95" y="48"/>
                        </a:lnTo>
                        <a:lnTo>
                          <a:pt x="61" y="36"/>
                        </a:lnTo>
                        <a:lnTo>
                          <a:pt x="32" y="23"/>
                        </a:lnTo>
                        <a:lnTo>
                          <a:pt x="0" y="0"/>
                        </a:lnTo>
                        <a:lnTo>
                          <a:pt x="34" y="13"/>
                        </a:lnTo>
                        <a:lnTo>
                          <a:pt x="60" y="20"/>
                        </a:lnTo>
                        <a:lnTo>
                          <a:pt x="103" y="30"/>
                        </a:lnTo>
                        <a:lnTo>
                          <a:pt x="131" y="34"/>
                        </a:lnTo>
                        <a:lnTo>
                          <a:pt x="167" y="36"/>
                        </a:lnTo>
                        <a:lnTo>
                          <a:pt x="206" y="33"/>
                        </a:lnTo>
                        <a:lnTo>
                          <a:pt x="246" y="23"/>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6" name="Freeform 328"/>
                  <p:cNvSpPr/>
                  <p:nvPr/>
                </p:nvSpPr>
                <p:spPr bwMode="auto">
                  <a:xfrm>
                    <a:off x="2723" y="3078"/>
                    <a:ext cx="38" cy="16"/>
                  </a:xfrm>
                  <a:custGeom>
                    <a:avLst/>
                    <a:gdLst>
                      <a:gd name="T0" fmla="*/ 258 w 269"/>
                      <a:gd name="T1" fmla="*/ 14 h 134"/>
                      <a:gd name="T2" fmla="*/ 230 w 269"/>
                      <a:gd name="T3" fmla="*/ 20 h 134"/>
                      <a:gd name="T4" fmla="*/ 203 w 269"/>
                      <a:gd name="T5" fmla="*/ 26 h 134"/>
                      <a:gd name="T6" fmla="*/ 163 w 269"/>
                      <a:gd name="T7" fmla="*/ 30 h 134"/>
                      <a:gd name="T8" fmla="*/ 125 w 269"/>
                      <a:gd name="T9" fmla="*/ 29 h 134"/>
                      <a:gd name="T10" fmla="*/ 88 w 269"/>
                      <a:gd name="T11" fmla="*/ 24 h 134"/>
                      <a:gd name="T12" fmla="*/ 54 w 269"/>
                      <a:gd name="T13" fmla="*/ 19 h 134"/>
                      <a:gd name="T14" fmla="*/ 24 w 269"/>
                      <a:gd name="T15" fmla="*/ 12 h 134"/>
                      <a:gd name="T16" fmla="*/ 0 w 269"/>
                      <a:gd name="T17" fmla="*/ 0 h 134"/>
                      <a:gd name="T18" fmla="*/ 11 w 269"/>
                      <a:gd name="T19" fmla="*/ 24 h 134"/>
                      <a:gd name="T20" fmla="*/ 24 w 269"/>
                      <a:gd name="T21" fmla="*/ 51 h 134"/>
                      <a:gd name="T22" fmla="*/ 39 w 269"/>
                      <a:gd name="T23" fmla="*/ 75 h 134"/>
                      <a:gd name="T24" fmla="*/ 60 w 269"/>
                      <a:gd name="T25" fmla="*/ 102 h 134"/>
                      <a:gd name="T26" fmla="*/ 86 w 269"/>
                      <a:gd name="T27" fmla="*/ 120 h 134"/>
                      <a:gd name="T28" fmla="*/ 119 w 269"/>
                      <a:gd name="T29" fmla="*/ 134 h 134"/>
                      <a:gd name="T30" fmla="*/ 143 w 269"/>
                      <a:gd name="T31" fmla="*/ 129 h 134"/>
                      <a:gd name="T32" fmla="*/ 171 w 269"/>
                      <a:gd name="T33" fmla="*/ 126 h 134"/>
                      <a:gd name="T34" fmla="*/ 197 w 269"/>
                      <a:gd name="T35" fmla="*/ 127 h 134"/>
                      <a:gd name="T36" fmla="*/ 222 w 269"/>
                      <a:gd name="T37" fmla="*/ 120 h 134"/>
                      <a:gd name="T38" fmla="*/ 243 w 269"/>
                      <a:gd name="T39" fmla="*/ 113 h 134"/>
                      <a:gd name="T40" fmla="*/ 269 w 269"/>
                      <a:gd name="T41" fmla="*/ 96 h 134"/>
                      <a:gd name="T42" fmla="*/ 233 w 269"/>
                      <a:gd name="T43" fmla="*/ 90 h 134"/>
                      <a:gd name="T44" fmla="*/ 203 w 269"/>
                      <a:gd name="T45" fmla="*/ 89 h 134"/>
                      <a:gd name="T46" fmla="*/ 164 w 269"/>
                      <a:gd name="T47" fmla="*/ 94 h 134"/>
                      <a:gd name="T48" fmla="*/ 125 w 269"/>
                      <a:gd name="T49" fmla="*/ 102 h 134"/>
                      <a:gd name="T50" fmla="*/ 99 w 269"/>
                      <a:gd name="T51" fmla="*/ 74 h 134"/>
                      <a:gd name="T52" fmla="*/ 71 w 269"/>
                      <a:gd name="T53" fmla="*/ 51 h 134"/>
                      <a:gd name="T54" fmla="*/ 94 w 269"/>
                      <a:gd name="T55" fmla="*/ 57 h 134"/>
                      <a:gd name="T56" fmla="*/ 116 w 269"/>
                      <a:gd name="T57" fmla="*/ 62 h 134"/>
                      <a:gd name="T58" fmla="*/ 147 w 269"/>
                      <a:gd name="T59" fmla="*/ 66 h 134"/>
                      <a:gd name="T60" fmla="*/ 187 w 269"/>
                      <a:gd name="T61" fmla="*/ 64 h 134"/>
                      <a:gd name="T62" fmla="*/ 220 w 269"/>
                      <a:gd name="T63" fmla="*/ 59 h 134"/>
                      <a:gd name="T64" fmla="*/ 245 w 269"/>
                      <a:gd name="T65" fmla="*/ 51 h 134"/>
                      <a:gd name="T66" fmla="*/ 248 w 269"/>
                      <a:gd name="T67" fmla="*/ 32 h 134"/>
                      <a:gd name="T68" fmla="*/ 258 w 269"/>
                      <a:gd name="T69" fmla="*/ 1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69" h="134">
                        <a:moveTo>
                          <a:pt x="258" y="14"/>
                        </a:moveTo>
                        <a:lnTo>
                          <a:pt x="230" y="20"/>
                        </a:lnTo>
                        <a:lnTo>
                          <a:pt x="203" y="26"/>
                        </a:lnTo>
                        <a:lnTo>
                          <a:pt x="163" y="30"/>
                        </a:lnTo>
                        <a:lnTo>
                          <a:pt x="125" y="29"/>
                        </a:lnTo>
                        <a:lnTo>
                          <a:pt x="88" y="24"/>
                        </a:lnTo>
                        <a:lnTo>
                          <a:pt x="54" y="19"/>
                        </a:lnTo>
                        <a:lnTo>
                          <a:pt x="24" y="12"/>
                        </a:lnTo>
                        <a:lnTo>
                          <a:pt x="0" y="0"/>
                        </a:lnTo>
                        <a:lnTo>
                          <a:pt x="11" y="24"/>
                        </a:lnTo>
                        <a:lnTo>
                          <a:pt x="24" y="51"/>
                        </a:lnTo>
                        <a:lnTo>
                          <a:pt x="39" y="75"/>
                        </a:lnTo>
                        <a:lnTo>
                          <a:pt x="60" y="102"/>
                        </a:lnTo>
                        <a:lnTo>
                          <a:pt x="86" y="120"/>
                        </a:lnTo>
                        <a:lnTo>
                          <a:pt x="119" y="134"/>
                        </a:lnTo>
                        <a:lnTo>
                          <a:pt x="143" y="129"/>
                        </a:lnTo>
                        <a:lnTo>
                          <a:pt x="171" y="126"/>
                        </a:lnTo>
                        <a:lnTo>
                          <a:pt x="197" y="127"/>
                        </a:lnTo>
                        <a:lnTo>
                          <a:pt x="222" y="120"/>
                        </a:lnTo>
                        <a:lnTo>
                          <a:pt x="243" y="113"/>
                        </a:lnTo>
                        <a:lnTo>
                          <a:pt x="269" y="96"/>
                        </a:lnTo>
                        <a:lnTo>
                          <a:pt x="233" y="90"/>
                        </a:lnTo>
                        <a:lnTo>
                          <a:pt x="203" y="89"/>
                        </a:lnTo>
                        <a:lnTo>
                          <a:pt x="164" y="94"/>
                        </a:lnTo>
                        <a:lnTo>
                          <a:pt x="125" y="102"/>
                        </a:lnTo>
                        <a:lnTo>
                          <a:pt x="99" y="74"/>
                        </a:lnTo>
                        <a:lnTo>
                          <a:pt x="71" y="51"/>
                        </a:lnTo>
                        <a:lnTo>
                          <a:pt x="94" y="57"/>
                        </a:lnTo>
                        <a:lnTo>
                          <a:pt x="116" y="62"/>
                        </a:lnTo>
                        <a:lnTo>
                          <a:pt x="147" y="66"/>
                        </a:lnTo>
                        <a:lnTo>
                          <a:pt x="187" y="64"/>
                        </a:lnTo>
                        <a:lnTo>
                          <a:pt x="220" y="59"/>
                        </a:lnTo>
                        <a:lnTo>
                          <a:pt x="245" y="51"/>
                        </a:lnTo>
                        <a:lnTo>
                          <a:pt x="248" y="32"/>
                        </a:lnTo>
                        <a:lnTo>
                          <a:pt x="258" y="14"/>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7" name="Freeform 329"/>
                  <p:cNvSpPr/>
                  <p:nvPr/>
                </p:nvSpPr>
                <p:spPr bwMode="auto">
                  <a:xfrm>
                    <a:off x="2723" y="3020"/>
                    <a:ext cx="56" cy="50"/>
                  </a:xfrm>
                  <a:custGeom>
                    <a:avLst/>
                    <a:gdLst>
                      <a:gd name="T0" fmla="*/ 0 w 391"/>
                      <a:gd name="T1" fmla="*/ 334 h 406"/>
                      <a:gd name="T2" fmla="*/ 33 w 391"/>
                      <a:gd name="T3" fmla="*/ 347 h 406"/>
                      <a:gd name="T4" fmla="*/ 65 w 391"/>
                      <a:gd name="T5" fmla="*/ 358 h 406"/>
                      <a:gd name="T6" fmla="*/ 94 w 391"/>
                      <a:gd name="T7" fmla="*/ 365 h 406"/>
                      <a:gd name="T8" fmla="*/ 130 w 391"/>
                      <a:gd name="T9" fmla="*/ 369 h 406"/>
                      <a:gd name="T10" fmla="*/ 120 w 391"/>
                      <a:gd name="T11" fmla="*/ 376 h 406"/>
                      <a:gd name="T12" fmla="*/ 108 w 391"/>
                      <a:gd name="T13" fmla="*/ 387 h 406"/>
                      <a:gd name="T14" fmla="*/ 94 w 391"/>
                      <a:gd name="T15" fmla="*/ 394 h 406"/>
                      <a:gd name="T16" fmla="*/ 116 w 391"/>
                      <a:gd name="T17" fmla="*/ 401 h 406"/>
                      <a:gd name="T18" fmla="*/ 145 w 391"/>
                      <a:gd name="T19" fmla="*/ 406 h 406"/>
                      <a:gd name="T20" fmla="*/ 178 w 391"/>
                      <a:gd name="T21" fmla="*/ 403 h 406"/>
                      <a:gd name="T22" fmla="*/ 207 w 391"/>
                      <a:gd name="T23" fmla="*/ 394 h 406"/>
                      <a:gd name="T24" fmla="*/ 243 w 391"/>
                      <a:gd name="T25" fmla="*/ 375 h 406"/>
                      <a:gd name="T26" fmla="*/ 308 w 391"/>
                      <a:gd name="T27" fmla="*/ 369 h 406"/>
                      <a:gd name="T28" fmla="*/ 361 w 391"/>
                      <a:gd name="T29" fmla="*/ 369 h 406"/>
                      <a:gd name="T30" fmla="*/ 391 w 391"/>
                      <a:gd name="T31" fmla="*/ 369 h 406"/>
                      <a:gd name="T32" fmla="*/ 391 w 391"/>
                      <a:gd name="T33" fmla="*/ 327 h 406"/>
                      <a:gd name="T34" fmla="*/ 380 w 391"/>
                      <a:gd name="T35" fmla="*/ 260 h 406"/>
                      <a:gd name="T36" fmla="*/ 385 w 391"/>
                      <a:gd name="T37" fmla="*/ 145 h 406"/>
                      <a:gd name="T38" fmla="*/ 368 w 391"/>
                      <a:gd name="T39" fmla="*/ 55 h 406"/>
                      <a:gd name="T40" fmla="*/ 352 w 391"/>
                      <a:gd name="T41" fmla="*/ 27 h 406"/>
                      <a:gd name="T42" fmla="*/ 333 w 391"/>
                      <a:gd name="T43" fmla="*/ 0 h 406"/>
                      <a:gd name="T44" fmla="*/ 326 w 391"/>
                      <a:gd name="T45" fmla="*/ 42 h 406"/>
                      <a:gd name="T46" fmla="*/ 318 w 391"/>
                      <a:gd name="T47" fmla="*/ 97 h 406"/>
                      <a:gd name="T48" fmla="*/ 315 w 391"/>
                      <a:gd name="T49" fmla="*/ 143 h 406"/>
                      <a:gd name="T50" fmla="*/ 320 w 391"/>
                      <a:gd name="T51" fmla="*/ 193 h 406"/>
                      <a:gd name="T52" fmla="*/ 296 w 391"/>
                      <a:gd name="T53" fmla="*/ 290 h 406"/>
                      <a:gd name="T54" fmla="*/ 273 w 391"/>
                      <a:gd name="T55" fmla="*/ 327 h 406"/>
                      <a:gd name="T56" fmla="*/ 246 w 391"/>
                      <a:gd name="T57" fmla="*/ 329 h 406"/>
                      <a:gd name="T58" fmla="*/ 221 w 391"/>
                      <a:gd name="T59" fmla="*/ 331 h 406"/>
                      <a:gd name="T60" fmla="*/ 189 w 391"/>
                      <a:gd name="T61" fmla="*/ 338 h 406"/>
                      <a:gd name="T62" fmla="*/ 160 w 391"/>
                      <a:gd name="T63" fmla="*/ 345 h 406"/>
                      <a:gd name="T64" fmla="*/ 128 w 391"/>
                      <a:gd name="T65" fmla="*/ 333 h 406"/>
                      <a:gd name="T66" fmla="*/ 100 w 391"/>
                      <a:gd name="T67" fmla="*/ 327 h 406"/>
                      <a:gd name="T68" fmla="*/ 62 w 391"/>
                      <a:gd name="T69" fmla="*/ 325 h 406"/>
                      <a:gd name="T70" fmla="*/ 33 w 391"/>
                      <a:gd name="T71" fmla="*/ 328 h 406"/>
                      <a:gd name="T72" fmla="*/ 0 w 391"/>
                      <a:gd name="T73" fmla="*/ 334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91" h="406">
                        <a:moveTo>
                          <a:pt x="0" y="334"/>
                        </a:moveTo>
                        <a:lnTo>
                          <a:pt x="33" y="347"/>
                        </a:lnTo>
                        <a:lnTo>
                          <a:pt x="65" y="358"/>
                        </a:lnTo>
                        <a:lnTo>
                          <a:pt x="94" y="365"/>
                        </a:lnTo>
                        <a:lnTo>
                          <a:pt x="130" y="369"/>
                        </a:lnTo>
                        <a:lnTo>
                          <a:pt x="120" y="376"/>
                        </a:lnTo>
                        <a:lnTo>
                          <a:pt x="108" y="387"/>
                        </a:lnTo>
                        <a:lnTo>
                          <a:pt x="94" y="394"/>
                        </a:lnTo>
                        <a:lnTo>
                          <a:pt x="116" y="401"/>
                        </a:lnTo>
                        <a:lnTo>
                          <a:pt x="145" y="406"/>
                        </a:lnTo>
                        <a:lnTo>
                          <a:pt x="178" y="403"/>
                        </a:lnTo>
                        <a:lnTo>
                          <a:pt x="207" y="394"/>
                        </a:lnTo>
                        <a:lnTo>
                          <a:pt x="243" y="375"/>
                        </a:lnTo>
                        <a:lnTo>
                          <a:pt x="308" y="369"/>
                        </a:lnTo>
                        <a:lnTo>
                          <a:pt x="361" y="369"/>
                        </a:lnTo>
                        <a:lnTo>
                          <a:pt x="391" y="369"/>
                        </a:lnTo>
                        <a:lnTo>
                          <a:pt x="391" y="327"/>
                        </a:lnTo>
                        <a:lnTo>
                          <a:pt x="380" y="260"/>
                        </a:lnTo>
                        <a:lnTo>
                          <a:pt x="385" y="145"/>
                        </a:lnTo>
                        <a:lnTo>
                          <a:pt x="368" y="55"/>
                        </a:lnTo>
                        <a:lnTo>
                          <a:pt x="352" y="27"/>
                        </a:lnTo>
                        <a:lnTo>
                          <a:pt x="333" y="0"/>
                        </a:lnTo>
                        <a:lnTo>
                          <a:pt x="326" y="42"/>
                        </a:lnTo>
                        <a:lnTo>
                          <a:pt x="318" y="97"/>
                        </a:lnTo>
                        <a:lnTo>
                          <a:pt x="315" y="143"/>
                        </a:lnTo>
                        <a:lnTo>
                          <a:pt x="320" y="193"/>
                        </a:lnTo>
                        <a:lnTo>
                          <a:pt x="296" y="290"/>
                        </a:lnTo>
                        <a:lnTo>
                          <a:pt x="273" y="327"/>
                        </a:lnTo>
                        <a:lnTo>
                          <a:pt x="246" y="329"/>
                        </a:lnTo>
                        <a:lnTo>
                          <a:pt x="221" y="331"/>
                        </a:lnTo>
                        <a:lnTo>
                          <a:pt x="189" y="338"/>
                        </a:lnTo>
                        <a:lnTo>
                          <a:pt x="160" y="345"/>
                        </a:lnTo>
                        <a:lnTo>
                          <a:pt x="128" y="333"/>
                        </a:lnTo>
                        <a:lnTo>
                          <a:pt x="100" y="327"/>
                        </a:lnTo>
                        <a:lnTo>
                          <a:pt x="62" y="325"/>
                        </a:lnTo>
                        <a:lnTo>
                          <a:pt x="33" y="328"/>
                        </a:lnTo>
                        <a:lnTo>
                          <a:pt x="0" y="334"/>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8" name="Freeform 330"/>
                  <p:cNvSpPr/>
                  <p:nvPr/>
                </p:nvSpPr>
                <p:spPr bwMode="auto">
                  <a:xfrm>
                    <a:off x="2725" y="3011"/>
                    <a:ext cx="39" cy="44"/>
                  </a:xfrm>
                  <a:custGeom>
                    <a:avLst/>
                    <a:gdLst>
                      <a:gd name="T0" fmla="*/ 272 w 273"/>
                      <a:gd name="T1" fmla="*/ 0 h 346"/>
                      <a:gd name="T2" fmla="*/ 273 w 273"/>
                      <a:gd name="T3" fmla="*/ 33 h 346"/>
                      <a:gd name="T4" fmla="*/ 271 w 273"/>
                      <a:gd name="T5" fmla="*/ 60 h 346"/>
                      <a:gd name="T6" fmla="*/ 264 w 273"/>
                      <a:gd name="T7" fmla="*/ 94 h 346"/>
                      <a:gd name="T8" fmla="*/ 254 w 273"/>
                      <a:gd name="T9" fmla="*/ 128 h 346"/>
                      <a:gd name="T10" fmla="*/ 239 w 273"/>
                      <a:gd name="T11" fmla="*/ 163 h 346"/>
                      <a:gd name="T12" fmla="*/ 212 w 273"/>
                      <a:gd name="T13" fmla="*/ 196 h 346"/>
                      <a:gd name="T14" fmla="*/ 182 w 273"/>
                      <a:gd name="T15" fmla="*/ 219 h 346"/>
                      <a:gd name="T16" fmla="*/ 145 w 273"/>
                      <a:gd name="T17" fmla="*/ 247 h 346"/>
                      <a:gd name="T18" fmla="*/ 106 w 273"/>
                      <a:gd name="T19" fmla="*/ 267 h 346"/>
                      <a:gd name="T20" fmla="*/ 84 w 273"/>
                      <a:gd name="T21" fmla="*/ 290 h 346"/>
                      <a:gd name="T22" fmla="*/ 58 w 273"/>
                      <a:gd name="T23" fmla="*/ 310 h 346"/>
                      <a:gd name="T24" fmla="*/ 32 w 273"/>
                      <a:gd name="T25" fmla="*/ 329 h 346"/>
                      <a:gd name="T26" fmla="*/ 0 w 273"/>
                      <a:gd name="T27" fmla="*/ 346 h 346"/>
                      <a:gd name="T28" fmla="*/ 16 w 273"/>
                      <a:gd name="T29" fmla="*/ 317 h 346"/>
                      <a:gd name="T30" fmla="*/ 38 w 273"/>
                      <a:gd name="T31" fmla="*/ 289 h 346"/>
                      <a:gd name="T32" fmla="*/ 60 w 273"/>
                      <a:gd name="T33" fmla="*/ 270 h 346"/>
                      <a:gd name="T34" fmla="*/ 80 w 273"/>
                      <a:gd name="T35" fmla="*/ 243 h 346"/>
                      <a:gd name="T36" fmla="*/ 106 w 273"/>
                      <a:gd name="T37" fmla="*/ 218 h 346"/>
                      <a:gd name="T38" fmla="*/ 132 w 273"/>
                      <a:gd name="T39" fmla="*/ 197 h 346"/>
                      <a:gd name="T40" fmla="*/ 152 w 273"/>
                      <a:gd name="T41" fmla="*/ 173 h 346"/>
                      <a:gd name="T42" fmla="*/ 167 w 273"/>
                      <a:gd name="T43" fmla="*/ 151 h 346"/>
                      <a:gd name="T44" fmla="*/ 193 w 273"/>
                      <a:gd name="T45" fmla="*/ 136 h 346"/>
                      <a:gd name="T46" fmla="*/ 214 w 273"/>
                      <a:gd name="T47" fmla="*/ 122 h 346"/>
                      <a:gd name="T48" fmla="*/ 233 w 273"/>
                      <a:gd name="T49" fmla="*/ 95 h 346"/>
                      <a:gd name="T50" fmla="*/ 249 w 273"/>
                      <a:gd name="T51" fmla="*/ 63 h 346"/>
                      <a:gd name="T52" fmla="*/ 260 w 273"/>
                      <a:gd name="T53" fmla="*/ 36 h 346"/>
                      <a:gd name="T54" fmla="*/ 272 w 273"/>
                      <a:gd name="T55" fmla="*/ 0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 h="346">
                        <a:moveTo>
                          <a:pt x="272" y="0"/>
                        </a:moveTo>
                        <a:lnTo>
                          <a:pt x="273" y="33"/>
                        </a:lnTo>
                        <a:lnTo>
                          <a:pt x="271" y="60"/>
                        </a:lnTo>
                        <a:lnTo>
                          <a:pt x="264" y="94"/>
                        </a:lnTo>
                        <a:lnTo>
                          <a:pt x="254" y="128"/>
                        </a:lnTo>
                        <a:lnTo>
                          <a:pt x="239" y="163"/>
                        </a:lnTo>
                        <a:lnTo>
                          <a:pt x="212" y="196"/>
                        </a:lnTo>
                        <a:lnTo>
                          <a:pt x="182" y="219"/>
                        </a:lnTo>
                        <a:lnTo>
                          <a:pt x="145" y="247"/>
                        </a:lnTo>
                        <a:lnTo>
                          <a:pt x="106" y="267"/>
                        </a:lnTo>
                        <a:lnTo>
                          <a:pt x="84" y="290"/>
                        </a:lnTo>
                        <a:lnTo>
                          <a:pt x="58" y="310"/>
                        </a:lnTo>
                        <a:lnTo>
                          <a:pt x="32" y="329"/>
                        </a:lnTo>
                        <a:lnTo>
                          <a:pt x="0" y="346"/>
                        </a:lnTo>
                        <a:lnTo>
                          <a:pt x="16" y="317"/>
                        </a:lnTo>
                        <a:lnTo>
                          <a:pt x="38" y="289"/>
                        </a:lnTo>
                        <a:lnTo>
                          <a:pt x="60" y="270"/>
                        </a:lnTo>
                        <a:lnTo>
                          <a:pt x="80" y="243"/>
                        </a:lnTo>
                        <a:lnTo>
                          <a:pt x="106" y="218"/>
                        </a:lnTo>
                        <a:lnTo>
                          <a:pt x="132" y="197"/>
                        </a:lnTo>
                        <a:lnTo>
                          <a:pt x="152" y="173"/>
                        </a:lnTo>
                        <a:lnTo>
                          <a:pt x="167" y="151"/>
                        </a:lnTo>
                        <a:lnTo>
                          <a:pt x="193" y="136"/>
                        </a:lnTo>
                        <a:lnTo>
                          <a:pt x="214" y="122"/>
                        </a:lnTo>
                        <a:lnTo>
                          <a:pt x="233" y="95"/>
                        </a:lnTo>
                        <a:lnTo>
                          <a:pt x="249" y="63"/>
                        </a:lnTo>
                        <a:lnTo>
                          <a:pt x="260" y="36"/>
                        </a:lnTo>
                        <a:lnTo>
                          <a:pt x="272" y="0"/>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9" name="Freeform 331"/>
                  <p:cNvSpPr/>
                  <p:nvPr/>
                </p:nvSpPr>
                <p:spPr bwMode="auto">
                  <a:xfrm>
                    <a:off x="2729" y="3006"/>
                    <a:ext cx="27" cy="41"/>
                  </a:xfrm>
                  <a:custGeom>
                    <a:avLst/>
                    <a:gdLst>
                      <a:gd name="T0" fmla="*/ 5 w 192"/>
                      <a:gd name="T1" fmla="*/ 328 h 328"/>
                      <a:gd name="T2" fmla="*/ 15 w 192"/>
                      <a:gd name="T3" fmla="*/ 303 h 328"/>
                      <a:gd name="T4" fmla="*/ 19 w 192"/>
                      <a:gd name="T5" fmla="*/ 286 h 328"/>
                      <a:gd name="T6" fmla="*/ 19 w 192"/>
                      <a:gd name="T7" fmla="*/ 266 h 328"/>
                      <a:gd name="T8" fmla="*/ 34 w 192"/>
                      <a:gd name="T9" fmla="*/ 263 h 328"/>
                      <a:gd name="T10" fmla="*/ 48 w 192"/>
                      <a:gd name="T11" fmla="*/ 255 h 328"/>
                      <a:gd name="T12" fmla="*/ 68 w 192"/>
                      <a:gd name="T13" fmla="*/ 229 h 328"/>
                      <a:gd name="T14" fmla="*/ 86 w 192"/>
                      <a:gd name="T15" fmla="*/ 201 h 328"/>
                      <a:gd name="T16" fmla="*/ 132 w 192"/>
                      <a:gd name="T17" fmla="*/ 121 h 328"/>
                      <a:gd name="T18" fmla="*/ 167 w 192"/>
                      <a:gd name="T19" fmla="*/ 77 h 328"/>
                      <a:gd name="T20" fmla="*/ 184 w 192"/>
                      <a:gd name="T21" fmla="*/ 48 h 328"/>
                      <a:gd name="T22" fmla="*/ 191 w 192"/>
                      <a:gd name="T23" fmla="*/ 31 h 328"/>
                      <a:gd name="T24" fmla="*/ 192 w 192"/>
                      <a:gd name="T25" fmla="*/ 16 h 328"/>
                      <a:gd name="T26" fmla="*/ 186 w 192"/>
                      <a:gd name="T27" fmla="*/ 5 h 328"/>
                      <a:gd name="T28" fmla="*/ 172 w 192"/>
                      <a:gd name="T29" fmla="*/ 0 h 328"/>
                      <a:gd name="T30" fmla="*/ 153 w 192"/>
                      <a:gd name="T31" fmla="*/ 5 h 328"/>
                      <a:gd name="T32" fmla="*/ 139 w 192"/>
                      <a:gd name="T33" fmla="*/ 17 h 328"/>
                      <a:gd name="T34" fmla="*/ 119 w 192"/>
                      <a:gd name="T35" fmla="*/ 54 h 328"/>
                      <a:gd name="T36" fmla="*/ 97 w 192"/>
                      <a:gd name="T37" fmla="*/ 95 h 328"/>
                      <a:gd name="T38" fmla="*/ 73 w 192"/>
                      <a:gd name="T39" fmla="*/ 149 h 328"/>
                      <a:gd name="T40" fmla="*/ 53 w 192"/>
                      <a:gd name="T41" fmla="*/ 188 h 328"/>
                      <a:gd name="T42" fmla="*/ 35 w 192"/>
                      <a:gd name="T43" fmla="*/ 220 h 328"/>
                      <a:gd name="T44" fmla="*/ 21 w 192"/>
                      <a:gd name="T45" fmla="*/ 240 h 328"/>
                      <a:gd name="T46" fmla="*/ 0 w 192"/>
                      <a:gd name="T47" fmla="*/ 255 h 328"/>
                      <a:gd name="T48" fmla="*/ 5 w 192"/>
                      <a:gd name="T49" fmla="*/ 276 h 328"/>
                      <a:gd name="T50" fmla="*/ 6 w 192"/>
                      <a:gd name="T51" fmla="*/ 297 h 328"/>
                      <a:gd name="T52" fmla="*/ 5 w 192"/>
                      <a:gd name="T53" fmla="*/ 328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2" h="328">
                        <a:moveTo>
                          <a:pt x="5" y="328"/>
                        </a:moveTo>
                        <a:lnTo>
                          <a:pt x="15" y="303"/>
                        </a:lnTo>
                        <a:lnTo>
                          <a:pt x="19" y="286"/>
                        </a:lnTo>
                        <a:lnTo>
                          <a:pt x="19" y="266"/>
                        </a:lnTo>
                        <a:lnTo>
                          <a:pt x="34" y="263"/>
                        </a:lnTo>
                        <a:lnTo>
                          <a:pt x="48" y="255"/>
                        </a:lnTo>
                        <a:lnTo>
                          <a:pt x="68" y="229"/>
                        </a:lnTo>
                        <a:lnTo>
                          <a:pt x="86" y="201"/>
                        </a:lnTo>
                        <a:lnTo>
                          <a:pt x="132" y="121"/>
                        </a:lnTo>
                        <a:lnTo>
                          <a:pt x="167" y="77"/>
                        </a:lnTo>
                        <a:lnTo>
                          <a:pt x="184" y="48"/>
                        </a:lnTo>
                        <a:lnTo>
                          <a:pt x="191" y="31"/>
                        </a:lnTo>
                        <a:lnTo>
                          <a:pt x="192" y="16"/>
                        </a:lnTo>
                        <a:lnTo>
                          <a:pt x="186" y="5"/>
                        </a:lnTo>
                        <a:lnTo>
                          <a:pt x="172" y="0"/>
                        </a:lnTo>
                        <a:lnTo>
                          <a:pt x="153" y="5"/>
                        </a:lnTo>
                        <a:lnTo>
                          <a:pt x="139" y="17"/>
                        </a:lnTo>
                        <a:lnTo>
                          <a:pt x="119" y="54"/>
                        </a:lnTo>
                        <a:lnTo>
                          <a:pt x="97" y="95"/>
                        </a:lnTo>
                        <a:lnTo>
                          <a:pt x="73" y="149"/>
                        </a:lnTo>
                        <a:lnTo>
                          <a:pt x="53" y="188"/>
                        </a:lnTo>
                        <a:lnTo>
                          <a:pt x="35" y="220"/>
                        </a:lnTo>
                        <a:lnTo>
                          <a:pt x="21" y="240"/>
                        </a:lnTo>
                        <a:lnTo>
                          <a:pt x="0" y="255"/>
                        </a:lnTo>
                        <a:lnTo>
                          <a:pt x="5" y="276"/>
                        </a:lnTo>
                        <a:lnTo>
                          <a:pt x="6" y="297"/>
                        </a:lnTo>
                        <a:lnTo>
                          <a:pt x="5" y="32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0" name="Freeform 332"/>
                  <p:cNvSpPr/>
                  <p:nvPr/>
                </p:nvSpPr>
                <p:spPr bwMode="auto">
                  <a:xfrm>
                    <a:off x="2786" y="3048"/>
                    <a:ext cx="22" cy="20"/>
                  </a:xfrm>
                  <a:custGeom>
                    <a:avLst/>
                    <a:gdLst>
                      <a:gd name="T0" fmla="*/ 0 w 155"/>
                      <a:gd name="T1" fmla="*/ 0 h 163"/>
                      <a:gd name="T2" fmla="*/ 36 w 155"/>
                      <a:gd name="T3" fmla="*/ 38 h 163"/>
                      <a:gd name="T4" fmla="*/ 57 w 155"/>
                      <a:gd name="T5" fmla="*/ 60 h 163"/>
                      <a:gd name="T6" fmla="*/ 81 w 155"/>
                      <a:gd name="T7" fmla="*/ 99 h 163"/>
                      <a:gd name="T8" fmla="*/ 108 w 155"/>
                      <a:gd name="T9" fmla="*/ 124 h 163"/>
                      <a:gd name="T10" fmla="*/ 155 w 155"/>
                      <a:gd name="T11" fmla="*/ 163 h 163"/>
                      <a:gd name="T12" fmla="*/ 84 w 155"/>
                      <a:gd name="T13" fmla="*/ 69 h 163"/>
                      <a:gd name="T14" fmla="*/ 0 w 155"/>
                      <a:gd name="T15" fmla="*/ 0 h 1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5" h="163">
                        <a:moveTo>
                          <a:pt x="0" y="0"/>
                        </a:moveTo>
                        <a:lnTo>
                          <a:pt x="36" y="38"/>
                        </a:lnTo>
                        <a:lnTo>
                          <a:pt x="57" y="60"/>
                        </a:lnTo>
                        <a:lnTo>
                          <a:pt x="81" y="99"/>
                        </a:lnTo>
                        <a:lnTo>
                          <a:pt x="108" y="124"/>
                        </a:lnTo>
                        <a:lnTo>
                          <a:pt x="155" y="163"/>
                        </a:lnTo>
                        <a:lnTo>
                          <a:pt x="84" y="69"/>
                        </a:lnTo>
                        <a:lnTo>
                          <a:pt x="0" y="0"/>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1" name="Freeform 333"/>
                  <p:cNvSpPr/>
                  <p:nvPr/>
                </p:nvSpPr>
                <p:spPr bwMode="auto">
                  <a:xfrm>
                    <a:off x="2728" y="2976"/>
                    <a:ext cx="5" cy="15"/>
                  </a:xfrm>
                  <a:custGeom>
                    <a:avLst/>
                    <a:gdLst>
                      <a:gd name="T0" fmla="*/ 0 w 36"/>
                      <a:gd name="T1" fmla="*/ 0 h 121"/>
                      <a:gd name="T2" fmla="*/ 12 w 36"/>
                      <a:gd name="T3" fmla="*/ 13 h 121"/>
                      <a:gd name="T4" fmla="*/ 23 w 36"/>
                      <a:gd name="T5" fmla="*/ 34 h 121"/>
                      <a:gd name="T6" fmla="*/ 31 w 36"/>
                      <a:gd name="T7" fmla="*/ 58 h 121"/>
                      <a:gd name="T8" fmla="*/ 36 w 36"/>
                      <a:gd name="T9" fmla="*/ 94 h 121"/>
                      <a:gd name="T10" fmla="*/ 30 w 36"/>
                      <a:gd name="T11" fmla="*/ 121 h 121"/>
                      <a:gd name="T12" fmla="*/ 22 w 36"/>
                      <a:gd name="T13" fmla="*/ 66 h 121"/>
                      <a:gd name="T14" fmla="*/ 12 w 36"/>
                      <a:gd name="T15" fmla="*/ 33 h 121"/>
                      <a:gd name="T16" fmla="*/ 0 w 36"/>
                      <a:gd name="T17"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121">
                        <a:moveTo>
                          <a:pt x="0" y="0"/>
                        </a:moveTo>
                        <a:lnTo>
                          <a:pt x="12" y="13"/>
                        </a:lnTo>
                        <a:lnTo>
                          <a:pt x="23" y="34"/>
                        </a:lnTo>
                        <a:lnTo>
                          <a:pt x="31" y="58"/>
                        </a:lnTo>
                        <a:lnTo>
                          <a:pt x="36" y="94"/>
                        </a:lnTo>
                        <a:lnTo>
                          <a:pt x="30" y="121"/>
                        </a:lnTo>
                        <a:lnTo>
                          <a:pt x="22" y="66"/>
                        </a:lnTo>
                        <a:lnTo>
                          <a:pt x="12" y="33"/>
                        </a:lnTo>
                        <a:lnTo>
                          <a:pt x="0" y="0"/>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2" name="Freeform 334"/>
                  <p:cNvSpPr/>
                  <p:nvPr/>
                </p:nvSpPr>
                <p:spPr bwMode="auto">
                  <a:xfrm>
                    <a:off x="2737" y="3011"/>
                    <a:ext cx="45" cy="64"/>
                  </a:xfrm>
                  <a:custGeom>
                    <a:avLst/>
                    <a:gdLst>
                      <a:gd name="T0" fmla="*/ 0 w 317"/>
                      <a:gd name="T1" fmla="*/ 490 h 513"/>
                      <a:gd name="T2" fmla="*/ 41 w 317"/>
                      <a:gd name="T3" fmla="*/ 465 h 513"/>
                      <a:gd name="T4" fmla="*/ 84 w 317"/>
                      <a:gd name="T5" fmla="*/ 465 h 513"/>
                      <a:gd name="T6" fmla="*/ 125 w 317"/>
                      <a:gd name="T7" fmla="*/ 471 h 513"/>
                      <a:gd name="T8" fmla="*/ 134 w 317"/>
                      <a:gd name="T9" fmla="*/ 456 h 513"/>
                      <a:gd name="T10" fmla="*/ 154 w 317"/>
                      <a:gd name="T11" fmla="*/ 443 h 513"/>
                      <a:gd name="T12" fmla="*/ 183 w 317"/>
                      <a:gd name="T13" fmla="*/ 436 h 513"/>
                      <a:gd name="T14" fmla="*/ 209 w 317"/>
                      <a:gd name="T15" fmla="*/ 434 h 513"/>
                      <a:gd name="T16" fmla="*/ 238 w 317"/>
                      <a:gd name="T17" fmla="*/ 435 h 513"/>
                      <a:gd name="T18" fmla="*/ 269 w 317"/>
                      <a:gd name="T19" fmla="*/ 441 h 513"/>
                      <a:gd name="T20" fmla="*/ 286 w 317"/>
                      <a:gd name="T21" fmla="*/ 416 h 513"/>
                      <a:gd name="T22" fmla="*/ 282 w 317"/>
                      <a:gd name="T23" fmla="*/ 365 h 513"/>
                      <a:gd name="T24" fmla="*/ 280 w 317"/>
                      <a:gd name="T25" fmla="*/ 317 h 513"/>
                      <a:gd name="T26" fmla="*/ 282 w 317"/>
                      <a:gd name="T27" fmla="*/ 266 h 513"/>
                      <a:gd name="T28" fmla="*/ 285 w 317"/>
                      <a:gd name="T29" fmla="*/ 240 h 513"/>
                      <a:gd name="T30" fmla="*/ 284 w 317"/>
                      <a:gd name="T31" fmla="*/ 208 h 513"/>
                      <a:gd name="T32" fmla="*/ 275 w 317"/>
                      <a:gd name="T33" fmla="*/ 163 h 513"/>
                      <a:gd name="T34" fmla="*/ 263 w 317"/>
                      <a:gd name="T35" fmla="*/ 100 h 513"/>
                      <a:gd name="T36" fmla="*/ 258 w 317"/>
                      <a:gd name="T37" fmla="*/ 61 h 513"/>
                      <a:gd name="T38" fmla="*/ 251 w 317"/>
                      <a:gd name="T39" fmla="*/ 0 h 513"/>
                      <a:gd name="T40" fmla="*/ 273 w 317"/>
                      <a:gd name="T41" fmla="*/ 45 h 513"/>
                      <a:gd name="T42" fmla="*/ 286 w 317"/>
                      <a:gd name="T43" fmla="*/ 79 h 513"/>
                      <a:gd name="T44" fmla="*/ 298 w 317"/>
                      <a:gd name="T45" fmla="*/ 71 h 513"/>
                      <a:gd name="T46" fmla="*/ 311 w 317"/>
                      <a:gd name="T47" fmla="*/ 49 h 513"/>
                      <a:gd name="T48" fmla="*/ 314 w 317"/>
                      <a:gd name="T49" fmla="*/ 72 h 513"/>
                      <a:gd name="T50" fmla="*/ 310 w 317"/>
                      <a:gd name="T51" fmla="*/ 109 h 513"/>
                      <a:gd name="T52" fmla="*/ 305 w 317"/>
                      <a:gd name="T53" fmla="*/ 139 h 513"/>
                      <a:gd name="T54" fmla="*/ 303 w 317"/>
                      <a:gd name="T55" fmla="*/ 184 h 513"/>
                      <a:gd name="T56" fmla="*/ 305 w 317"/>
                      <a:gd name="T57" fmla="*/ 230 h 513"/>
                      <a:gd name="T58" fmla="*/ 317 w 317"/>
                      <a:gd name="T59" fmla="*/ 362 h 513"/>
                      <a:gd name="T60" fmla="*/ 311 w 317"/>
                      <a:gd name="T61" fmla="*/ 430 h 513"/>
                      <a:gd name="T62" fmla="*/ 300 w 317"/>
                      <a:gd name="T63" fmla="*/ 455 h 513"/>
                      <a:gd name="T64" fmla="*/ 281 w 317"/>
                      <a:gd name="T65" fmla="*/ 477 h 513"/>
                      <a:gd name="T66" fmla="*/ 260 w 317"/>
                      <a:gd name="T67" fmla="*/ 492 h 513"/>
                      <a:gd name="T68" fmla="*/ 239 w 317"/>
                      <a:gd name="T69" fmla="*/ 502 h 513"/>
                      <a:gd name="T70" fmla="*/ 208 w 317"/>
                      <a:gd name="T71" fmla="*/ 509 h 513"/>
                      <a:gd name="T72" fmla="*/ 180 w 317"/>
                      <a:gd name="T73" fmla="*/ 513 h 513"/>
                      <a:gd name="T74" fmla="*/ 151 w 317"/>
                      <a:gd name="T75" fmla="*/ 504 h 513"/>
                      <a:gd name="T76" fmla="*/ 117 w 317"/>
                      <a:gd name="T77" fmla="*/ 497 h 513"/>
                      <a:gd name="T78" fmla="*/ 78 w 317"/>
                      <a:gd name="T79" fmla="*/ 496 h 513"/>
                      <a:gd name="T80" fmla="*/ 0 w 317"/>
                      <a:gd name="T81" fmla="*/ 490 h 5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17" h="513">
                        <a:moveTo>
                          <a:pt x="0" y="490"/>
                        </a:moveTo>
                        <a:lnTo>
                          <a:pt x="41" y="465"/>
                        </a:lnTo>
                        <a:lnTo>
                          <a:pt x="84" y="465"/>
                        </a:lnTo>
                        <a:lnTo>
                          <a:pt x="125" y="471"/>
                        </a:lnTo>
                        <a:lnTo>
                          <a:pt x="134" y="456"/>
                        </a:lnTo>
                        <a:lnTo>
                          <a:pt x="154" y="443"/>
                        </a:lnTo>
                        <a:lnTo>
                          <a:pt x="183" y="436"/>
                        </a:lnTo>
                        <a:lnTo>
                          <a:pt x="209" y="434"/>
                        </a:lnTo>
                        <a:lnTo>
                          <a:pt x="238" y="435"/>
                        </a:lnTo>
                        <a:lnTo>
                          <a:pt x="269" y="441"/>
                        </a:lnTo>
                        <a:lnTo>
                          <a:pt x="286" y="416"/>
                        </a:lnTo>
                        <a:lnTo>
                          <a:pt x="282" y="365"/>
                        </a:lnTo>
                        <a:lnTo>
                          <a:pt x="280" y="317"/>
                        </a:lnTo>
                        <a:lnTo>
                          <a:pt x="282" y="266"/>
                        </a:lnTo>
                        <a:lnTo>
                          <a:pt x="285" y="240"/>
                        </a:lnTo>
                        <a:lnTo>
                          <a:pt x="284" y="208"/>
                        </a:lnTo>
                        <a:lnTo>
                          <a:pt x="275" y="163"/>
                        </a:lnTo>
                        <a:lnTo>
                          <a:pt x="263" y="100"/>
                        </a:lnTo>
                        <a:lnTo>
                          <a:pt x="258" y="61"/>
                        </a:lnTo>
                        <a:lnTo>
                          <a:pt x="251" y="0"/>
                        </a:lnTo>
                        <a:lnTo>
                          <a:pt x="273" y="45"/>
                        </a:lnTo>
                        <a:lnTo>
                          <a:pt x="286" y="79"/>
                        </a:lnTo>
                        <a:lnTo>
                          <a:pt x="298" y="71"/>
                        </a:lnTo>
                        <a:lnTo>
                          <a:pt x="311" y="49"/>
                        </a:lnTo>
                        <a:lnTo>
                          <a:pt x="314" y="72"/>
                        </a:lnTo>
                        <a:lnTo>
                          <a:pt x="310" y="109"/>
                        </a:lnTo>
                        <a:lnTo>
                          <a:pt x="305" y="139"/>
                        </a:lnTo>
                        <a:lnTo>
                          <a:pt x="303" y="184"/>
                        </a:lnTo>
                        <a:lnTo>
                          <a:pt x="305" y="230"/>
                        </a:lnTo>
                        <a:lnTo>
                          <a:pt x="317" y="362"/>
                        </a:lnTo>
                        <a:lnTo>
                          <a:pt x="311" y="430"/>
                        </a:lnTo>
                        <a:lnTo>
                          <a:pt x="300" y="455"/>
                        </a:lnTo>
                        <a:lnTo>
                          <a:pt x="281" y="477"/>
                        </a:lnTo>
                        <a:lnTo>
                          <a:pt x="260" y="492"/>
                        </a:lnTo>
                        <a:lnTo>
                          <a:pt x="239" y="502"/>
                        </a:lnTo>
                        <a:lnTo>
                          <a:pt x="208" y="509"/>
                        </a:lnTo>
                        <a:lnTo>
                          <a:pt x="180" y="513"/>
                        </a:lnTo>
                        <a:lnTo>
                          <a:pt x="151" y="504"/>
                        </a:lnTo>
                        <a:lnTo>
                          <a:pt x="117" y="497"/>
                        </a:lnTo>
                        <a:lnTo>
                          <a:pt x="78" y="496"/>
                        </a:lnTo>
                        <a:lnTo>
                          <a:pt x="0" y="490"/>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3" name="Freeform 335"/>
                  <p:cNvSpPr/>
                  <p:nvPr/>
                </p:nvSpPr>
                <p:spPr bwMode="auto">
                  <a:xfrm>
                    <a:off x="2737" y="3072"/>
                    <a:ext cx="34" cy="39"/>
                  </a:xfrm>
                  <a:custGeom>
                    <a:avLst/>
                    <a:gdLst>
                      <a:gd name="T0" fmla="*/ 0 w 241"/>
                      <a:gd name="T1" fmla="*/ 49 h 312"/>
                      <a:gd name="T2" fmla="*/ 22 w 241"/>
                      <a:gd name="T3" fmla="*/ 45 h 312"/>
                      <a:gd name="T4" fmla="*/ 36 w 241"/>
                      <a:gd name="T5" fmla="*/ 37 h 312"/>
                      <a:gd name="T6" fmla="*/ 71 w 241"/>
                      <a:gd name="T7" fmla="*/ 41 h 312"/>
                      <a:gd name="T8" fmla="*/ 104 w 241"/>
                      <a:gd name="T9" fmla="*/ 43 h 312"/>
                      <a:gd name="T10" fmla="*/ 138 w 241"/>
                      <a:gd name="T11" fmla="*/ 41 h 312"/>
                      <a:gd name="T12" fmla="*/ 164 w 241"/>
                      <a:gd name="T13" fmla="*/ 39 h 312"/>
                      <a:gd name="T14" fmla="*/ 193 w 241"/>
                      <a:gd name="T15" fmla="*/ 32 h 312"/>
                      <a:gd name="T16" fmla="*/ 218 w 241"/>
                      <a:gd name="T17" fmla="*/ 16 h 312"/>
                      <a:gd name="T18" fmla="*/ 241 w 241"/>
                      <a:gd name="T19" fmla="*/ 0 h 312"/>
                      <a:gd name="T20" fmla="*/ 236 w 241"/>
                      <a:gd name="T21" fmla="*/ 22 h 312"/>
                      <a:gd name="T22" fmla="*/ 221 w 241"/>
                      <a:gd name="T23" fmla="*/ 44 h 312"/>
                      <a:gd name="T24" fmla="*/ 199 w 241"/>
                      <a:gd name="T25" fmla="*/ 62 h 312"/>
                      <a:gd name="T26" fmla="*/ 205 w 241"/>
                      <a:gd name="T27" fmla="*/ 86 h 312"/>
                      <a:gd name="T28" fmla="*/ 191 w 241"/>
                      <a:gd name="T29" fmla="*/ 103 h 312"/>
                      <a:gd name="T30" fmla="*/ 184 w 241"/>
                      <a:gd name="T31" fmla="*/ 120 h 312"/>
                      <a:gd name="T32" fmla="*/ 180 w 241"/>
                      <a:gd name="T33" fmla="*/ 138 h 312"/>
                      <a:gd name="T34" fmla="*/ 169 w 241"/>
                      <a:gd name="T35" fmla="*/ 154 h 312"/>
                      <a:gd name="T36" fmla="*/ 165 w 241"/>
                      <a:gd name="T37" fmla="*/ 182 h 312"/>
                      <a:gd name="T38" fmla="*/ 162 w 241"/>
                      <a:gd name="T39" fmla="*/ 200 h 312"/>
                      <a:gd name="T40" fmla="*/ 157 w 241"/>
                      <a:gd name="T41" fmla="*/ 231 h 312"/>
                      <a:gd name="T42" fmla="*/ 163 w 241"/>
                      <a:gd name="T43" fmla="*/ 264 h 312"/>
                      <a:gd name="T44" fmla="*/ 144 w 241"/>
                      <a:gd name="T45" fmla="*/ 280 h 312"/>
                      <a:gd name="T46" fmla="*/ 120 w 241"/>
                      <a:gd name="T47" fmla="*/ 295 h 312"/>
                      <a:gd name="T48" fmla="*/ 93 w 241"/>
                      <a:gd name="T49" fmla="*/ 306 h 312"/>
                      <a:gd name="T50" fmla="*/ 67 w 241"/>
                      <a:gd name="T51" fmla="*/ 312 h 312"/>
                      <a:gd name="T52" fmla="*/ 93 w 241"/>
                      <a:gd name="T53" fmla="*/ 294 h 312"/>
                      <a:gd name="T54" fmla="*/ 115 w 241"/>
                      <a:gd name="T55" fmla="*/ 274 h 312"/>
                      <a:gd name="T56" fmla="*/ 132 w 241"/>
                      <a:gd name="T57" fmla="*/ 256 h 312"/>
                      <a:gd name="T58" fmla="*/ 145 w 241"/>
                      <a:gd name="T59" fmla="*/ 234 h 312"/>
                      <a:gd name="T60" fmla="*/ 121 w 241"/>
                      <a:gd name="T61" fmla="*/ 240 h 312"/>
                      <a:gd name="T62" fmla="*/ 96 w 241"/>
                      <a:gd name="T63" fmla="*/ 241 h 312"/>
                      <a:gd name="T64" fmla="*/ 64 w 241"/>
                      <a:gd name="T65" fmla="*/ 238 h 312"/>
                      <a:gd name="T66" fmla="*/ 30 w 241"/>
                      <a:gd name="T67" fmla="*/ 234 h 312"/>
                      <a:gd name="T68" fmla="*/ 68 w 241"/>
                      <a:gd name="T69" fmla="*/ 228 h 312"/>
                      <a:gd name="T70" fmla="*/ 96 w 241"/>
                      <a:gd name="T71" fmla="*/ 220 h 312"/>
                      <a:gd name="T72" fmla="*/ 118 w 241"/>
                      <a:gd name="T73" fmla="*/ 210 h 312"/>
                      <a:gd name="T74" fmla="*/ 137 w 241"/>
                      <a:gd name="T75" fmla="*/ 196 h 312"/>
                      <a:gd name="T76" fmla="*/ 151 w 241"/>
                      <a:gd name="T77" fmla="*/ 179 h 312"/>
                      <a:gd name="T78" fmla="*/ 122 w 241"/>
                      <a:gd name="T79" fmla="*/ 174 h 312"/>
                      <a:gd name="T80" fmla="*/ 96 w 241"/>
                      <a:gd name="T81" fmla="*/ 165 h 312"/>
                      <a:gd name="T82" fmla="*/ 113 w 241"/>
                      <a:gd name="T83" fmla="*/ 150 h 312"/>
                      <a:gd name="T84" fmla="*/ 133 w 241"/>
                      <a:gd name="T85" fmla="*/ 134 h 312"/>
                      <a:gd name="T86" fmla="*/ 157 w 241"/>
                      <a:gd name="T87" fmla="*/ 120 h 312"/>
                      <a:gd name="T88" fmla="*/ 175 w 241"/>
                      <a:gd name="T89" fmla="*/ 110 h 312"/>
                      <a:gd name="T90" fmla="*/ 160 w 241"/>
                      <a:gd name="T91" fmla="*/ 104 h 312"/>
                      <a:gd name="T92" fmla="*/ 147 w 241"/>
                      <a:gd name="T93" fmla="*/ 98 h 312"/>
                      <a:gd name="T94" fmla="*/ 126 w 241"/>
                      <a:gd name="T95" fmla="*/ 92 h 312"/>
                      <a:gd name="T96" fmla="*/ 147 w 241"/>
                      <a:gd name="T97" fmla="*/ 80 h 312"/>
                      <a:gd name="T98" fmla="*/ 163 w 241"/>
                      <a:gd name="T99" fmla="*/ 68 h 312"/>
                      <a:gd name="T100" fmla="*/ 132 w 241"/>
                      <a:gd name="T101" fmla="*/ 69 h 312"/>
                      <a:gd name="T102" fmla="*/ 106 w 241"/>
                      <a:gd name="T103" fmla="*/ 68 h 312"/>
                      <a:gd name="T104" fmla="*/ 69 w 241"/>
                      <a:gd name="T105" fmla="*/ 64 h 312"/>
                      <a:gd name="T106" fmla="*/ 32 w 241"/>
                      <a:gd name="T107" fmla="*/ 57 h 312"/>
                      <a:gd name="T108" fmla="*/ 0 w 241"/>
                      <a:gd name="T109" fmla="*/ 49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41" h="312">
                        <a:moveTo>
                          <a:pt x="0" y="49"/>
                        </a:moveTo>
                        <a:lnTo>
                          <a:pt x="22" y="45"/>
                        </a:lnTo>
                        <a:lnTo>
                          <a:pt x="36" y="37"/>
                        </a:lnTo>
                        <a:lnTo>
                          <a:pt x="71" y="41"/>
                        </a:lnTo>
                        <a:lnTo>
                          <a:pt x="104" y="43"/>
                        </a:lnTo>
                        <a:lnTo>
                          <a:pt x="138" y="41"/>
                        </a:lnTo>
                        <a:lnTo>
                          <a:pt x="164" y="39"/>
                        </a:lnTo>
                        <a:lnTo>
                          <a:pt x="193" y="32"/>
                        </a:lnTo>
                        <a:lnTo>
                          <a:pt x="218" y="16"/>
                        </a:lnTo>
                        <a:lnTo>
                          <a:pt x="241" y="0"/>
                        </a:lnTo>
                        <a:lnTo>
                          <a:pt x="236" y="22"/>
                        </a:lnTo>
                        <a:lnTo>
                          <a:pt x="221" y="44"/>
                        </a:lnTo>
                        <a:lnTo>
                          <a:pt x="199" y="62"/>
                        </a:lnTo>
                        <a:lnTo>
                          <a:pt x="205" y="86"/>
                        </a:lnTo>
                        <a:lnTo>
                          <a:pt x="191" y="103"/>
                        </a:lnTo>
                        <a:lnTo>
                          <a:pt x="184" y="120"/>
                        </a:lnTo>
                        <a:lnTo>
                          <a:pt x="180" y="138"/>
                        </a:lnTo>
                        <a:lnTo>
                          <a:pt x="169" y="154"/>
                        </a:lnTo>
                        <a:lnTo>
                          <a:pt x="165" y="182"/>
                        </a:lnTo>
                        <a:lnTo>
                          <a:pt x="162" y="200"/>
                        </a:lnTo>
                        <a:lnTo>
                          <a:pt x="157" y="231"/>
                        </a:lnTo>
                        <a:lnTo>
                          <a:pt x="163" y="264"/>
                        </a:lnTo>
                        <a:lnTo>
                          <a:pt x="144" y="280"/>
                        </a:lnTo>
                        <a:lnTo>
                          <a:pt x="120" y="295"/>
                        </a:lnTo>
                        <a:lnTo>
                          <a:pt x="93" y="306"/>
                        </a:lnTo>
                        <a:lnTo>
                          <a:pt x="67" y="312"/>
                        </a:lnTo>
                        <a:lnTo>
                          <a:pt x="93" y="294"/>
                        </a:lnTo>
                        <a:lnTo>
                          <a:pt x="115" y="274"/>
                        </a:lnTo>
                        <a:lnTo>
                          <a:pt x="132" y="256"/>
                        </a:lnTo>
                        <a:lnTo>
                          <a:pt x="145" y="234"/>
                        </a:lnTo>
                        <a:lnTo>
                          <a:pt x="121" y="240"/>
                        </a:lnTo>
                        <a:lnTo>
                          <a:pt x="96" y="241"/>
                        </a:lnTo>
                        <a:lnTo>
                          <a:pt x="64" y="238"/>
                        </a:lnTo>
                        <a:lnTo>
                          <a:pt x="30" y="234"/>
                        </a:lnTo>
                        <a:lnTo>
                          <a:pt x="68" y="228"/>
                        </a:lnTo>
                        <a:lnTo>
                          <a:pt x="96" y="220"/>
                        </a:lnTo>
                        <a:lnTo>
                          <a:pt x="118" y="210"/>
                        </a:lnTo>
                        <a:lnTo>
                          <a:pt x="137" y="196"/>
                        </a:lnTo>
                        <a:lnTo>
                          <a:pt x="151" y="179"/>
                        </a:lnTo>
                        <a:lnTo>
                          <a:pt x="122" y="174"/>
                        </a:lnTo>
                        <a:lnTo>
                          <a:pt x="96" y="165"/>
                        </a:lnTo>
                        <a:lnTo>
                          <a:pt x="113" y="150"/>
                        </a:lnTo>
                        <a:lnTo>
                          <a:pt x="133" y="134"/>
                        </a:lnTo>
                        <a:lnTo>
                          <a:pt x="157" y="120"/>
                        </a:lnTo>
                        <a:lnTo>
                          <a:pt x="175" y="110"/>
                        </a:lnTo>
                        <a:lnTo>
                          <a:pt x="160" y="104"/>
                        </a:lnTo>
                        <a:lnTo>
                          <a:pt x="147" y="98"/>
                        </a:lnTo>
                        <a:lnTo>
                          <a:pt x="126" y="92"/>
                        </a:lnTo>
                        <a:lnTo>
                          <a:pt x="147" y="80"/>
                        </a:lnTo>
                        <a:lnTo>
                          <a:pt x="163" y="68"/>
                        </a:lnTo>
                        <a:lnTo>
                          <a:pt x="132" y="69"/>
                        </a:lnTo>
                        <a:lnTo>
                          <a:pt x="106" y="68"/>
                        </a:lnTo>
                        <a:lnTo>
                          <a:pt x="69" y="64"/>
                        </a:lnTo>
                        <a:lnTo>
                          <a:pt x="32" y="57"/>
                        </a:lnTo>
                        <a:lnTo>
                          <a:pt x="0" y="49"/>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384" name="Group 336"/>
              <p:cNvGrpSpPr/>
              <p:nvPr/>
            </p:nvGrpSpPr>
            <p:grpSpPr bwMode="auto">
              <a:xfrm>
                <a:off x="2730" y="3133"/>
                <a:ext cx="42" cy="52"/>
                <a:chOff x="2730" y="3133"/>
                <a:chExt cx="42" cy="52"/>
              </a:xfrm>
            </p:grpSpPr>
            <p:sp>
              <p:nvSpPr>
                <p:cNvPr id="642385" name="Freeform 337"/>
                <p:cNvSpPr/>
                <p:nvPr/>
              </p:nvSpPr>
              <p:spPr bwMode="auto">
                <a:xfrm>
                  <a:off x="2731" y="3133"/>
                  <a:ext cx="41" cy="52"/>
                </a:xfrm>
                <a:custGeom>
                  <a:avLst/>
                  <a:gdLst>
                    <a:gd name="T0" fmla="*/ 143 w 288"/>
                    <a:gd name="T1" fmla="*/ 18 h 416"/>
                    <a:gd name="T2" fmla="*/ 133 w 288"/>
                    <a:gd name="T3" fmla="*/ 85 h 416"/>
                    <a:gd name="T4" fmla="*/ 132 w 288"/>
                    <a:gd name="T5" fmla="*/ 117 h 416"/>
                    <a:gd name="T6" fmla="*/ 138 w 288"/>
                    <a:gd name="T7" fmla="*/ 151 h 416"/>
                    <a:gd name="T8" fmla="*/ 148 w 288"/>
                    <a:gd name="T9" fmla="*/ 167 h 416"/>
                    <a:gd name="T10" fmla="*/ 159 w 288"/>
                    <a:gd name="T11" fmla="*/ 176 h 416"/>
                    <a:gd name="T12" fmla="*/ 179 w 288"/>
                    <a:gd name="T13" fmla="*/ 186 h 416"/>
                    <a:gd name="T14" fmla="*/ 210 w 288"/>
                    <a:gd name="T15" fmla="*/ 200 h 416"/>
                    <a:gd name="T16" fmla="*/ 222 w 288"/>
                    <a:gd name="T17" fmla="*/ 208 h 416"/>
                    <a:gd name="T18" fmla="*/ 238 w 288"/>
                    <a:gd name="T19" fmla="*/ 219 h 416"/>
                    <a:gd name="T20" fmla="*/ 243 w 288"/>
                    <a:gd name="T21" fmla="*/ 227 h 416"/>
                    <a:gd name="T22" fmla="*/ 249 w 288"/>
                    <a:gd name="T23" fmla="*/ 244 h 416"/>
                    <a:gd name="T24" fmla="*/ 261 w 288"/>
                    <a:gd name="T25" fmla="*/ 252 h 416"/>
                    <a:gd name="T26" fmla="*/ 274 w 288"/>
                    <a:gd name="T27" fmla="*/ 262 h 416"/>
                    <a:gd name="T28" fmla="*/ 278 w 288"/>
                    <a:gd name="T29" fmla="*/ 275 h 416"/>
                    <a:gd name="T30" fmla="*/ 280 w 288"/>
                    <a:gd name="T31" fmla="*/ 287 h 416"/>
                    <a:gd name="T32" fmla="*/ 274 w 288"/>
                    <a:gd name="T33" fmla="*/ 306 h 416"/>
                    <a:gd name="T34" fmla="*/ 267 w 288"/>
                    <a:gd name="T35" fmla="*/ 319 h 416"/>
                    <a:gd name="T36" fmla="*/ 258 w 288"/>
                    <a:gd name="T37" fmla="*/ 330 h 416"/>
                    <a:gd name="T38" fmla="*/ 249 w 288"/>
                    <a:gd name="T39" fmla="*/ 334 h 416"/>
                    <a:gd name="T40" fmla="*/ 262 w 288"/>
                    <a:gd name="T41" fmla="*/ 345 h 416"/>
                    <a:gd name="T42" fmla="*/ 276 w 288"/>
                    <a:gd name="T43" fmla="*/ 359 h 416"/>
                    <a:gd name="T44" fmla="*/ 284 w 288"/>
                    <a:gd name="T45" fmla="*/ 374 h 416"/>
                    <a:gd name="T46" fmla="*/ 288 w 288"/>
                    <a:gd name="T47" fmla="*/ 389 h 416"/>
                    <a:gd name="T48" fmla="*/ 285 w 288"/>
                    <a:gd name="T49" fmla="*/ 403 h 416"/>
                    <a:gd name="T50" fmla="*/ 282 w 288"/>
                    <a:gd name="T51" fmla="*/ 410 h 416"/>
                    <a:gd name="T52" fmla="*/ 276 w 288"/>
                    <a:gd name="T53" fmla="*/ 416 h 416"/>
                    <a:gd name="T54" fmla="*/ 266 w 288"/>
                    <a:gd name="T55" fmla="*/ 415 h 416"/>
                    <a:gd name="T56" fmla="*/ 255 w 288"/>
                    <a:gd name="T57" fmla="*/ 401 h 416"/>
                    <a:gd name="T58" fmla="*/ 243 w 288"/>
                    <a:gd name="T59" fmla="*/ 382 h 416"/>
                    <a:gd name="T60" fmla="*/ 202 w 288"/>
                    <a:gd name="T61" fmla="*/ 352 h 416"/>
                    <a:gd name="T62" fmla="*/ 171 w 288"/>
                    <a:gd name="T63" fmla="*/ 334 h 416"/>
                    <a:gd name="T64" fmla="*/ 145 w 288"/>
                    <a:gd name="T65" fmla="*/ 325 h 416"/>
                    <a:gd name="T66" fmla="*/ 123 w 288"/>
                    <a:gd name="T67" fmla="*/ 318 h 416"/>
                    <a:gd name="T68" fmla="*/ 99 w 288"/>
                    <a:gd name="T69" fmla="*/ 309 h 416"/>
                    <a:gd name="T70" fmla="*/ 77 w 288"/>
                    <a:gd name="T71" fmla="*/ 298 h 416"/>
                    <a:gd name="T72" fmla="*/ 48 w 288"/>
                    <a:gd name="T73" fmla="*/ 280 h 416"/>
                    <a:gd name="T74" fmla="*/ 12 w 288"/>
                    <a:gd name="T75" fmla="*/ 227 h 416"/>
                    <a:gd name="T76" fmla="*/ 2 w 288"/>
                    <a:gd name="T77" fmla="*/ 195 h 416"/>
                    <a:gd name="T78" fmla="*/ 0 w 288"/>
                    <a:gd name="T79" fmla="*/ 164 h 416"/>
                    <a:gd name="T80" fmla="*/ 4 w 288"/>
                    <a:gd name="T81" fmla="*/ 131 h 416"/>
                    <a:gd name="T82" fmla="*/ 13 w 288"/>
                    <a:gd name="T83" fmla="*/ 84 h 416"/>
                    <a:gd name="T84" fmla="*/ 27 w 288"/>
                    <a:gd name="T85" fmla="*/ 0 h 416"/>
                    <a:gd name="T86" fmla="*/ 143 w 288"/>
                    <a:gd name="T87" fmla="*/ 18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8" h="416">
                      <a:moveTo>
                        <a:pt x="143" y="18"/>
                      </a:moveTo>
                      <a:lnTo>
                        <a:pt x="133" y="85"/>
                      </a:lnTo>
                      <a:lnTo>
                        <a:pt x="132" y="117"/>
                      </a:lnTo>
                      <a:lnTo>
                        <a:pt x="138" y="151"/>
                      </a:lnTo>
                      <a:lnTo>
                        <a:pt x="148" y="167"/>
                      </a:lnTo>
                      <a:lnTo>
                        <a:pt x="159" y="176"/>
                      </a:lnTo>
                      <a:lnTo>
                        <a:pt x="179" y="186"/>
                      </a:lnTo>
                      <a:lnTo>
                        <a:pt x="210" y="200"/>
                      </a:lnTo>
                      <a:lnTo>
                        <a:pt x="222" y="208"/>
                      </a:lnTo>
                      <a:lnTo>
                        <a:pt x="238" y="219"/>
                      </a:lnTo>
                      <a:lnTo>
                        <a:pt x="243" y="227"/>
                      </a:lnTo>
                      <a:lnTo>
                        <a:pt x="249" y="244"/>
                      </a:lnTo>
                      <a:lnTo>
                        <a:pt x="261" y="252"/>
                      </a:lnTo>
                      <a:lnTo>
                        <a:pt x="274" y="262"/>
                      </a:lnTo>
                      <a:lnTo>
                        <a:pt x="278" y="275"/>
                      </a:lnTo>
                      <a:lnTo>
                        <a:pt x="280" y="287"/>
                      </a:lnTo>
                      <a:lnTo>
                        <a:pt x="274" y="306"/>
                      </a:lnTo>
                      <a:lnTo>
                        <a:pt x="267" y="319"/>
                      </a:lnTo>
                      <a:lnTo>
                        <a:pt x="258" y="330"/>
                      </a:lnTo>
                      <a:lnTo>
                        <a:pt x="249" y="334"/>
                      </a:lnTo>
                      <a:lnTo>
                        <a:pt x="262" y="345"/>
                      </a:lnTo>
                      <a:lnTo>
                        <a:pt x="276" y="359"/>
                      </a:lnTo>
                      <a:lnTo>
                        <a:pt x="284" y="374"/>
                      </a:lnTo>
                      <a:lnTo>
                        <a:pt x="288" y="389"/>
                      </a:lnTo>
                      <a:lnTo>
                        <a:pt x="285" y="403"/>
                      </a:lnTo>
                      <a:lnTo>
                        <a:pt x="282" y="410"/>
                      </a:lnTo>
                      <a:lnTo>
                        <a:pt x="276" y="416"/>
                      </a:lnTo>
                      <a:lnTo>
                        <a:pt x="266" y="415"/>
                      </a:lnTo>
                      <a:lnTo>
                        <a:pt x="255" y="401"/>
                      </a:lnTo>
                      <a:lnTo>
                        <a:pt x="243" y="382"/>
                      </a:lnTo>
                      <a:lnTo>
                        <a:pt x="202" y="352"/>
                      </a:lnTo>
                      <a:lnTo>
                        <a:pt x="171" y="334"/>
                      </a:lnTo>
                      <a:lnTo>
                        <a:pt x="145" y="325"/>
                      </a:lnTo>
                      <a:lnTo>
                        <a:pt x="123" y="318"/>
                      </a:lnTo>
                      <a:lnTo>
                        <a:pt x="99" y="309"/>
                      </a:lnTo>
                      <a:lnTo>
                        <a:pt x="77" y="298"/>
                      </a:lnTo>
                      <a:lnTo>
                        <a:pt x="48" y="280"/>
                      </a:lnTo>
                      <a:lnTo>
                        <a:pt x="12" y="227"/>
                      </a:lnTo>
                      <a:lnTo>
                        <a:pt x="2" y="195"/>
                      </a:lnTo>
                      <a:lnTo>
                        <a:pt x="0" y="164"/>
                      </a:lnTo>
                      <a:lnTo>
                        <a:pt x="4" y="131"/>
                      </a:lnTo>
                      <a:lnTo>
                        <a:pt x="13" y="84"/>
                      </a:lnTo>
                      <a:lnTo>
                        <a:pt x="27" y="0"/>
                      </a:lnTo>
                      <a:lnTo>
                        <a:pt x="143" y="18"/>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6" name="Freeform 338"/>
                <p:cNvSpPr/>
                <p:nvPr/>
              </p:nvSpPr>
              <p:spPr bwMode="auto">
                <a:xfrm>
                  <a:off x="2756" y="3168"/>
                  <a:ext cx="14" cy="7"/>
                </a:xfrm>
                <a:custGeom>
                  <a:avLst/>
                  <a:gdLst>
                    <a:gd name="T0" fmla="*/ 0 w 92"/>
                    <a:gd name="T1" fmla="*/ 0 h 52"/>
                    <a:gd name="T2" fmla="*/ 27 w 92"/>
                    <a:gd name="T3" fmla="*/ 12 h 52"/>
                    <a:gd name="T4" fmla="*/ 45 w 92"/>
                    <a:gd name="T5" fmla="*/ 19 h 52"/>
                    <a:gd name="T6" fmla="*/ 57 w 92"/>
                    <a:gd name="T7" fmla="*/ 18 h 52"/>
                    <a:gd name="T8" fmla="*/ 65 w 92"/>
                    <a:gd name="T9" fmla="*/ 12 h 52"/>
                    <a:gd name="T10" fmla="*/ 71 w 92"/>
                    <a:gd name="T11" fmla="*/ 16 h 52"/>
                    <a:gd name="T12" fmla="*/ 80 w 92"/>
                    <a:gd name="T13" fmla="*/ 21 h 52"/>
                    <a:gd name="T14" fmla="*/ 92 w 92"/>
                    <a:gd name="T15" fmla="*/ 22 h 52"/>
                    <a:gd name="T16" fmla="*/ 88 w 92"/>
                    <a:gd name="T17" fmla="*/ 34 h 52"/>
                    <a:gd name="T18" fmla="*/ 80 w 92"/>
                    <a:gd name="T19" fmla="*/ 46 h 52"/>
                    <a:gd name="T20" fmla="*/ 68 w 92"/>
                    <a:gd name="T21" fmla="*/ 52 h 52"/>
                    <a:gd name="T22" fmla="*/ 54 w 92"/>
                    <a:gd name="T23" fmla="*/ 38 h 52"/>
                    <a:gd name="T24" fmla="*/ 42 w 92"/>
                    <a:gd name="T25" fmla="*/ 27 h 52"/>
                    <a:gd name="T26" fmla="*/ 24 w 92"/>
                    <a:gd name="T27" fmla="*/ 16 h 52"/>
                    <a:gd name="T28" fmla="*/ 0 w 92"/>
                    <a:gd name="T29"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2" h="52">
                      <a:moveTo>
                        <a:pt x="0" y="0"/>
                      </a:moveTo>
                      <a:lnTo>
                        <a:pt x="27" y="12"/>
                      </a:lnTo>
                      <a:lnTo>
                        <a:pt x="45" y="19"/>
                      </a:lnTo>
                      <a:lnTo>
                        <a:pt x="57" y="18"/>
                      </a:lnTo>
                      <a:lnTo>
                        <a:pt x="65" y="12"/>
                      </a:lnTo>
                      <a:lnTo>
                        <a:pt x="71" y="16"/>
                      </a:lnTo>
                      <a:lnTo>
                        <a:pt x="80" y="21"/>
                      </a:lnTo>
                      <a:lnTo>
                        <a:pt x="92" y="22"/>
                      </a:lnTo>
                      <a:lnTo>
                        <a:pt x="88" y="34"/>
                      </a:lnTo>
                      <a:lnTo>
                        <a:pt x="80" y="46"/>
                      </a:lnTo>
                      <a:lnTo>
                        <a:pt x="68" y="52"/>
                      </a:lnTo>
                      <a:lnTo>
                        <a:pt x="54" y="38"/>
                      </a:lnTo>
                      <a:lnTo>
                        <a:pt x="42" y="27"/>
                      </a:lnTo>
                      <a:lnTo>
                        <a:pt x="24" y="16"/>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7" name="Freeform 339"/>
                <p:cNvSpPr/>
                <p:nvPr/>
              </p:nvSpPr>
              <p:spPr bwMode="auto">
                <a:xfrm>
                  <a:off x="2730" y="3138"/>
                  <a:ext cx="21" cy="32"/>
                </a:xfrm>
                <a:custGeom>
                  <a:avLst/>
                  <a:gdLst>
                    <a:gd name="T0" fmla="*/ 107 w 144"/>
                    <a:gd name="T1" fmla="*/ 139 h 258"/>
                    <a:gd name="T2" fmla="*/ 95 w 144"/>
                    <a:gd name="T3" fmla="*/ 119 h 258"/>
                    <a:gd name="T4" fmla="*/ 86 w 144"/>
                    <a:gd name="T5" fmla="*/ 96 h 258"/>
                    <a:gd name="T6" fmla="*/ 79 w 144"/>
                    <a:gd name="T7" fmla="*/ 73 h 258"/>
                    <a:gd name="T8" fmla="*/ 76 w 144"/>
                    <a:gd name="T9" fmla="*/ 53 h 258"/>
                    <a:gd name="T10" fmla="*/ 77 w 144"/>
                    <a:gd name="T11" fmla="*/ 40 h 258"/>
                    <a:gd name="T12" fmla="*/ 94 w 144"/>
                    <a:gd name="T13" fmla="*/ 42 h 258"/>
                    <a:gd name="T14" fmla="*/ 113 w 144"/>
                    <a:gd name="T15" fmla="*/ 39 h 258"/>
                    <a:gd name="T16" fmla="*/ 126 w 144"/>
                    <a:gd name="T17" fmla="*/ 36 h 258"/>
                    <a:gd name="T18" fmla="*/ 136 w 144"/>
                    <a:gd name="T19" fmla="*/ 32 h 258"/>
                    <a:gd name="T20" fmla="*/ 141 w 144"/>
                    <a:gd name="T21" fmla="*/ 25 h 258"/>
                    <a:gd name="T22" fmla="*/ 144 w 144"/>
                    <a:gd name="T23" fmla="*/ 7 h 258"/>
                    <a:gd name="T24" fmla="*/ 20 w 144"/>
                    <a:gd name="T25" fmla="*/ 0 h 258"/>
                    <a:gd name="T26" fmla="*/ 14 w 144"/>
                    <a:gd name="T27" fmla="*/ 37 h 258"/>
                    <a:gd name="T28" fmla="*/ 11 w 144"/>
                    <a:gd name="T29" fmla="*/ 58 h 258"/>
                    <a:gd name="T30" fmla="*/ 5 w 144"/>
                    <a:gd name="T31" fmla="*/ 83 h 258"/>
                    <a:gd name="T32" fmla="*/ 2 w 144"/>
                    <a:gd name="T33" fmla="*/ 103 h 258"/>
                    <a:gd name="T34" fmla="*/ 0 w 144"/>
                    <a:gd name="T35" fmla="*/ 124 h 258"/>
                    <a:gd name="T36" fmla="*/ 1 w 144"/>
                    <a:gd name="T37" fmla="*/ 144 h 258"/>
                    <a:gd name="T38" fmla="*/ 3 w 144"/>
                    <a:gd name="T39" fmla="*/ 159 h 258"/>
                    <a:gd name="T40" fmla="*/ 6 w 144"/>
                    <a:gd name="T41" fmla="*/ 173 h 258"/>
                    <a:gd name="T42" fmla="*/ 12 w 144"/>
                    <a:gd name="T43" fmla="*/ 187 h 258"/>
                    <a:gd name="T44" fmla="*/ 22 w 144"/>
                    <a:gd name="T45" fmla="*/ 202 h 258"/>
                    <a:gd name="T46" fmla="*/ 29 w 144"/>
                    <a:gd name="T47" fmla="*/ 214 h 258"/>
                    <a:gd name="T48" fmla="*/ 39 w 144"/>
                    <a:gd name="T49" fmla="*/ 229 h 258"/>
                    <a:gd name="T50" fmla="*/ 51 w 144"/>
                    <a:gd name="T51" fmla="*/ 242 h 258"/>
                    <a:gd name="T52" fmla="*/ 61 w 144"/>
                    <a:gd name="T53" fmla="*/ 249 h 258"/>
                    <a:gd name="T54" fmla="*/ 76 w 144"/>
                    <a:gd name="T55" fmla="*/ 258 h 258"/>
                    <a:gd name="T56" fmla="*/ 72 w 144"/>
                    <a:gd name="T57" fmla="*/ 244 h 258"/>
                    <a:gd name="T58" fmla="*/ 70 w 144"/>
                    <a:gd name="T59" fmla="*/ 223 h 258"/>
                    <a:gd name="T60" fmla="*/ 72 w 144"/>
                    <a:gd name="T61" fmla="*/ 205 h 258"/>
                    <a:gd name="T62" fmla="*/ 76 w 144"/>
                    <a:gd name="T63" fmla="*/ 187 h 258"/>
                    <a:gd name="T64" fmla="*/ 85 w 144"/>
                    <a:gd name="T65" fmla="*/ 169 h 258"/>
                    <a:gd name="T66" fmla="*/ 96 w 144"/>
                    <a:gd name="T67" fmla="*/ 152 h 258"/>
                    <a:gd name="T68" fmla="*/ 107 w 144"/>
                    <a:gd name="T69" fmla="*/ 139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4" h="258">
                      <a:moveTo>
                        <a:pt x="107" y="139"/>
                      </a:moveTo>
                      <a:lnTo>
                        <a:pt x="95" y="119"/>
                      </a:lnTo>
                      <a:lnTo>
                        <a:pt x="86" y="96"/>
                      </a:lnTo>
                      <a:lnTo>
                        <a:pt x="79" y="73"/>
                      </a:lnTo>
                      <a:lnTo>
                        <a:pt x="76" y="53"/>
                      </a:lnTo>
                      <a:lnTo>
                        <a:pt x="77" y="40"/>
                      </a:lnTo>
                      <a:lnTo>
                        <a:pt x="94" y="42"/>
                      </a:lnTo>
                      <a:lnTo>
                        <a:pt x="113" y="39"/>
                      </a:lnTo>
                      <a:lnTo>
                        <a:pt x="126" y="36"/>
                      </a:lnTo>
                      <a:lnTo>
                        <a:pt x="136" y="32"/>
                      </a:lnTo>
                      <a:lnTo>
                        <a:pt x="141" y="25"/>
                      </a:lnTo>
                      <a:lnTo>
                        <a:pt x="144" y="7"/>
                      </a:lnTo>
                      <a:lnTo>
                        <a:pt x="20" y="0"/>
                      </a:lnTo>
                      <a:lnTo>
                        <a:pt x="14" y="37"/>
                      </a:lnTo>
                      <a:lnTo>
                        <a:pt x="11" y="58"/>
                      </a:lnTo>
                      <a:lnTo>
                        <a:pt x="5" y="83"/>
                      </a:lnTo>
                      <a:lnTo>
                        <a:pt x="2" y="103"/>
                      </a:lnTo>
                      <a:lnTo>
                        <a:pt x="0" y="124"/>
                      </a:lnTo>
                      <a:lnTo>
                        <a:pt x="1" y="144"/>
                      </a:lnTo>
                      <a:lnTo>
                        <a:pt x="3" y="159"/>
                      </a:lnTo>
                      <a:lnTo>
                        <a:pt x="6" y="173"/>
                      </a:lnTo>
                      <a:lnTo>
                        <a:pt x="12" y="187"/>
                      </a:lnTo>
                      <a:lnTo>
                        <a:pt x="22" y="202"/>
                      </a:lnTo>
                      <a:lnTo>
                        <a:pt x="29" y="214"/>
                      </a:lnTo>
                      <a:lnTo>
                        <a:pt x="39" y="229"/>
                      </a:lnTo>
                      <a:lnTo>
                        <a:pt x="51" y="242"/>
                      </a:lnTo>
                      <a:lnTo>
                        <a:pt x="61" y="249"/>
                      </a:lnTo>
                      <a:lnTo>
                        <a:pt x="76" y="258"/>
                      </a:lnTo>
                      <a:lnTo>
                        <a:pt x="72" y="244"/>
                      </a:lnTo>
                      <a:lnTo>
                        <a:pt x="70" y="223"/>
                      </a:lnTo>
                      <a:lnTo>
                        <a:pt x="72" y="205"/>
                      </a:lnTo>
                      <a:lnTo>
                        <a:pt x="76" y="187"/>
                      </a:lnTo>
                      <a:lnTo>
                        <a:pt x="85" y="169"/>
                      </a:lnTo>
                      <a:lnTo>
                        <a:pt x="96" y="152"/>
                      </a:lnTo>
                      <a:lnTo>
                        <a:pt x="107" y="13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8" name="Freeform 340"/>
                <p:cNvSpPr/>
                <p:nvPr/>
              </p:nvSpPr>
              <p:spPr bwMode="auto">
                <a:xfrm>
                  <a:off x="2755" y="3159"/>
                  <a:ext cx="11" cy="4"/>
                </a:xfrm>
                <a:custGeom>
                  <a:avLst/>
                  <a:gdLst>
                    <a:gd name="T0" fmla="*/ 76 w 76"/>
                    <a:gd name="T1" fmla="*/ 37 h 37"/>
                    <a:gd name="T2" fmla="*/ 57 w 76"/>
                    <a:gd name="T3" fmla="*/ 24 h 37"/>
                    <a:gd name="T4" fmla="*/ 37 w 76"/>
                    <a:gd name="T5" fmla="*/ 12 h 37"/>
                    <a:gd name="T6" fmla="*/ 19 w 76"/>
                    <a:gd name="T7" fmla="*/ 5 h 37"/>
                    <a:gd name="T8" fmla="*/ 0 w 76"/>
                    <a:gd name="T9" fmla="*/ 0 h 37"/>
                    <a:gd name="T10" fmla="*/ 23 w 76"/>
                    <a:gd name="T11" fmla="*/ 4 h 37"/>
                    <a:gd name="T12" fmla="*/ 44 w 76"/>
                    <a:gd name="T13" fmla="*/ 10 h 37"/>
                    <a:gd name="T14" fmla="*/ 64 w 76"/>
                    <a:gd name="T15" fmla="*/ 19 h 37"/>
                    <a:gd name="T16" fmla="*/ 73 w 76"/>
                    <a:gd name="T17" fmla="*/ 24 h 37"/>
                    <a:gd name="T18" fmla="*/ 76 w 76"/>
                    <a:gd name="T19"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 h="37">
                      <a:moveTo>
                        <a:pt x="76" y="37"/>
                      </a:moveTo>
                      <a:lnTo>
                        <a:pt x="57" y="24"/>
                      </a:lnTo>
                      <a:lnTo>
                        <a:pt x="37" y="12"/>
                      </a:lnTo>
                      <a:lnTo>
                        <a:pt x="19" y="5"/>
                      </a:lnTo>
                      <a:lnTo>
                        <a:pt x="0" y="0"/>
                      </a:lnTo>
                      <a:lnTo>
                        <a:pt x="23" y="4"/>
                      </a:lnTo>
                      <a:lnTo>
                        <a:pt x="44" y="10"/>
                      </a:lnTo>
                      <a:lnTo>
                        <a:pt x="64" y="19"/>
                      </a:lnTo>
                      <a:lnTo>
                        <a:pt x="73" y="24"/>
                      </a:lnTo>
                      <a:lnTo>
                        <a:pt x="76" y="3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9" name="Freeform 341"/>
                <p:cNvSpPr/>
                <p:nvPr/>
              </p:nvSpPr>
              <p:spPr bwMode="auto">
                <a:xfrm>
                  <a:off x="2755" y="3174"/>
                  <a:ext cx="13" cy="7"/>
                </a:xfrm>
                <a:custGeom>
                  <a:avLst/>
                  <a:gdLst>
                    <a:gd name="T0" fmla="*/ 97 w 97"/>
                    <a:gd name="T1" fmla="*/ 37 h 60"/>
                    <a:gd name="T2" fmla="*/ 89 w 97"/>
                    <a:gd name="T3" fmla="*/ 42 h 60"/>
                    <a:gd name="T4" fmla="*/ 84 w 97"/>
                    <a:gd name="T5" fmla="*/ 49 h 60"/>
                    <a:gd name="T6" fmla="*/ 77 w 97"/>
                    <a:gd name="T7" fmla="*/ 60 h 60"/>
                    <a:gd name="T8" fmla="*/ 74 w 97"/>
                    <a:gd name="T9" fmla="*/ 54 h 60"/>
                    <a:gd name="T10" fmla="*/ 68 w 97"/>
                    <a:gd name="T11" fmla="*/ 49 h 60"/>
                    <a:gd name="T12" fmla="*/ 53 w 97"/>
                    <a:gd name="T13" fmla="*/ 38 h 60"/>
                    <a:gd name="T14" fmla="*/ 40 w 97"/>
                    <a:gd name="T15" fmla="*/ 28 h 60"/>
                    <a:gd name="T16" fmla="*/ 27 w 97"/>
                    <a:gd name="T17" fmla="*/ 19 h 60"/>
                    <a:gd name="T18" fmla="*/ 13 w 97"/>
                    <a:gd name="T19" fmla="*/ 10 h 60"/>
                    <a:gd name="T20" fmla="*/ 0 w 97"/>
                    <a:gd name="T21" fmla="*/ 0 h 60"/>
                    <a:gd name="T22" fmla="*/ 18 w 97"/>
                    <a:gd name="T23" fmla="*/ 8 h 60"/>
                    <a:gd name="T24" fmla="*/ 30 w 97"/>
                    <a:gd name="T25" fmla="*/ 14 h 60"/>
                    <a:gd name="T26" fmla="*/ 47 w 97"/>
                    <a:gd name="T27" fmla="*/ 23 h 60"/>
                    <a:gd name="T28" fmla="*/ 62 w 97"/>
                    <a:gd name="T29" fmla="*/ 36 h 60"/>
                    <a:gd name="T30" fmla="*/ 72 w 97"/>
                    <a:gd name="T31" fmla="*/ 45 h 60"/>
                    <a:gd name="T32" fmla="*/ 78 w 97"/>
                    <a:gd name="T33" fmla="*/ 50 h 60"/>
                    <a:gd name="T34" fmla="*/ 84 w 97"/>
                    <a:gd name="T35" fmla="*/ 42 h 60"/>
                    <a:gd name="T36" fmla="*/ 97 w 97"/>
                    <a:gd name="T37" fmla="*/ 3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7" h="60">
                      <a:moveTo>
                        <a:pt x="97" y="37"/>
                      </a:moveTo>
                      <a:lnTo>
                        <a:pt x="89" y="42"/>
                      </a:lnTo>
                      <a:lnTo>
                        <a:pt x="84" y="49"/>
                      </a:lnTo>
                      <a:lnTo>
                        <a:pt x="77" y="60"/>
                      </a:lnTo>
                      <a:lnTo>
                        <a:pt x="74" y="54"/>
                      </a:lnTo>
                      <a:lnTo>
                        <a:pt x="68" y="49"/>
                      </a:lnTo>
                      <a:lnTo>
                        <a:pt x="53" y="38"/>
                      </a:lnTo>
                      <a:lnTo>
                        <a:pt x="40" y="28"/>
                      </a:lnTo>
                      <a:lnTo>
                        <a:pt x="27" y="19"/>
                      </a:lnTo>
                      <a:lnTo>
                        <a:pt x="13" y="10"/>
                      </a:lnTo>
                      <a:lnTo>
                        <a:pt x="0" y="0"/>
                      </a:lnTo>
                      <a:lnTo>
                        <a:pt x="18" y="8"/>
                      </a:lnTo>
                      <a:lnTo>
                        <a:pt x="30" y="14"/>
                      </a:lnTo>
                      <a:lnTo>
                        <a:pt x="47" y="23"/>
                      </a:lnTo>
                      <a:lnTo>
                        <a:pt x="62" y="36"/>
                      </a:lnTo>
                      <a:lnTo>
                        <a:pt x="72" y="45"/>
                      </a:lnTo>
                      <a:lnTo>
                        <a:pt x="78" y="50"/>
                      </a:lnTo>
                      <a:lnTo>
                        <a:pt x="84" y="42"/>
                      </a:lnTo>
                      <a:lnTo>
                        <a:pt x="97" y="3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90" name="Group 342"/>
              <p:cNvGrpSpPr/>
              <p:nvPr/>
            </p:nvGrpSpPr>
            <p:grpSpPr bwMode="auto">
              <a:xfrm>
                <a:off x="2725" y="3103"/>
                <a:ext cx="38" cy="40"/>
                <a:chOff x="2725" y="3103"/>
                <a:chExt cx="38" cy="40"/>
              </a:xfrm>
            </p:grpSpPr>
            <p:sp>
              <p:nvSpPr>
                <p:cNvPr id="642391" name="Freeform 343"/>
                <p:cNvSpPr/>
                <p:nvPr/>
              </p:nvSpPr>
              <p:spPr bwMode="auto">
                <a:xfrm>
                  <a:off x="2725" y="3103"/>
                  <a:ext cx="38" cy="40"/>
                </a:xfrm>
                <a:custGeom>
                  <a:avLst/>
                  <a:gdLst>
                    <a:gd name="T0" fmla="*/ 17 w 265"/>
                    <a:gd name="T1" fmla="*/ 0 h 314"/>
                    <a:gd name="T2" fmla="*/ 9 w 265"/>
                    <a:gd name="T3" fmla="*/ 19 h 314"/>
                    <a:gd name="T4" fmla="*/ 3 w 265"/>
                    <a:gd name="T5" fmla="*/ 41 h 314"/>
                    <a:gd name="T6" fmla="*/ 0 w 265"/>
                    <a:gd name="T7" fmla="*/ 66 h 314"/>
                    <a:gd name="T8" fmla="*/ 3 w 265"/>
                    <a:gd name="T9" fmla="*/ 91 h 314"/>
                    <a:gd name="T10" fmla="*/ 5 w 265"/>
                    <a:gd name="T11" fmla="*/ 101 h 314"/>
                    <a:gd name="T12" fmla="*/ 15 w 265"/>
                    <a:gd name="T13" fmla="*/ 115 h 314"/>
                    <a:gd name="T14" fmla="*/ 29 w 265"/>
                    <a:gd name="T15" fmla="*/ 125 h 314"/>
                    <a:gd name="T16" fmla="*/ 46 w 265"/>
                    <a:gd name="T17" fmla="*/ 137 h 314"/>
                    <a:gd name="T18" fmla="*/ 40 w 265"/>
                    <a:gd name="T19" fmla="*/ 160 h 314"/>
                    <a:gd name="T20" fmla="*/ 37 w 265"/>
                    <a:gd name="T21" fmla="*/ 189 h 314"/>
                    <a:gd name="T22" fmla="*/ 35 w 265"/>
                    <a:gd name="T23" fmla="*/ 222 h 314"/>
                    <a:gd name="T24" fmla="*/ 38 w 265"/>
                    <a:gd name="T25" fmla="*/ 253 h 314"/>
                    <a:gd name="T26" fmla="*/ 40 w 265"/>
                    <a:gd name="T27" fmla="*/ 277 h 314"/>
                    <a:gd name="T28" fmla="*/ 46 w 265"/>
                    <a:gd name="T29" fmla="*/ 289 h 314"/>
                    <a:gd name="T30" fmla="*/ 64 w 265"/>
                    <a:gd name="T31" fmla="*/ 303 h 314"/>
                    <a:gd name="T32" fmla="*/ 91 w 265"/>
                    <a:gd name="T33" fmla="*/ 312 h 314"/>
                    <a:gd name="T34" fmla="*/ 119 w 265"/>
                    <a:gd name="T35" fmla="*/ 314 h 314"/>
                    <a:gd name="T36" fmla="*/ 146 w 265"/>
                    <a:gd name="T37" fmla="*/ 312 h 314"/>
                    <a:gd name="T38" fmla="*/ 162 w 265"/>
                    <a:gd name="T39" fmla="*/ 308 h 314"/>
                    <a:gd name="T40" fmla="*/ 175 w 265"/>
                    <a:gd name="T41" fmla="*/ 299 h 314"/>
                    <a:gd name="T42" fmla="*/ 189 w 265"/>
                    <a:gd name="T43" fmla="*/ 279 h 314"/>
                    <a:gd name="T44" fmla="*/ 196 w 265"/>
                    <a:gd name="T45" fmla="*/ 262 h 314"/>
                    <a:gd name="T46" fmla="*/ 202 w 265"/>
                    <a:gd name="T47" fmla="*/ 240 h 314"/>
                    <a:gd name="T48" fmla="*/ 204 w 265"/>
                    <a:gd name="T49" fmla="*/ 226 h 314"/>
                    <a:gd name="T50" fmla="*/ 202 w 265"/>
                    <a:gd name="T51" fmla="*/ 209 h 314"/>
                    <a:gd name="T52" fmla="*/ 210 w 265"/>
                    <a:gd name="T53" fmla="*/ 191 h 314"/>
                    <a:gd name="T54" fmla="*/ 213 w 265"/>
                    <a:gd name="T55" fmla="*/ 173 h 314"/>
                    <a:gd name="T56" fmla="*/ 237 w 265"/>
                    <a:gd name="T57" fmla="*/ 162 h 314"/>
                    <a:gd name="T58" fmla="*/ 252 w 265"/>
                    <a:gd name="T59" fmla="*/ 153 h 314"/>
                    <a:gd name="T60" fmla="*/ 256 w 265"/>
                    <a:gd name="T61" fmla="*/ 144 h 314"/>
                    <a:gd name="T62" fmla="*/ 254 w 265"/>
                    <a:gd name="T63" fmla="*/ 125 h 314"/>
                    <a:gd name="T64" fmla="*/ 256 w 265"/>
                    <a:gd name="T65" fmla="*/ 108 h 314"/>
                    <a:gd name="T66" fmla="*/ 260 w 265"/>
                    <a:gd name="T67" fmla="*/ 86 h 314"/>
                    <a:gd name="T68" fmla="*/ 265 w 265"/>
                    <a:gd name="T69" fmla="*/ 70 h 314"/>
                    <a:gd name="T70" fmla="*/ 264 w 265"/>
                    <a:gd name="T71" fmla="*/ 56 h 314"/>
                    <a:gd name="T72" fmla="*/ 259 w 265"/>
                    <a:gd name="T73" fmla="*/ 40 h 314"/>
                    <a:gd name="T74" fmla="*/ 253 w 265"/>
                    <a:gd name="T75" fmla="*/ 31 h 314"/>
                    <a:gd name="T76" fmla="*/ 250 w 265"/>
                    <a:gd name="T77" fmla="*/ 22 h 314"/>
                    <a:gd name="T78" fmla="*/ 230 w 265"/>
                    <a:gd name="T79" fmla="*/ 29 h 314"/>
                    <a:gd name="T80" fmla="*/ 206 w 265"/>
                    <a:gd name="T81" fmla="*/ 37 h 314"/>
                    <a:gd name="T82" fmla="*/ 190 w 265"/>
                    <a:gd name="T83" fmla="*/ 41 h 314"/>
                    <a:gd name="T84" fmla="*/ 171 w 265"/>
                    <a:gd name="T85" fmla="*/ 45 h 314"/>
                    <a:gd name="T86" fmla="*/ 146 w 265"/>
                    <a:gd name="T87" fmla="*/ 47 h 314"/>
                    <a:gd name="T88" fmla="*/ 122 w 265"/>
                    <a:gd name="T89" fmla="*/ 43 h 314"/>
                    <a:gd name="T90" fmla="*/ 100 w 265"/>
                    <a:gd name="T91" fmla="*/ 37 h 314"/>
                    <a:gd name="T92" fmla="*/ 78 w 265"/>
                    <a:gd name="T93" fmla="*/ 31 h 314"/>
                    <a:gd name="T94" fmla="*/ 57 w 265"/>
                    <a:gd name="T95" fmla="*/ 19 h 314"/>
                    <a:gd name="T96" fmla="*/ 35 w 265"/>
                    <a:gd name="T97" fmla="*/ 8 h 314"/>
                    <a:gd name="T98" fmla="*/ 17 w 265"/>
                    <a:gd name="T9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5" h="314">
                      <a:moveTo>
                        <a:pt x="17" y="0"/>
                      </a:moveTo>
                      <a:lnTo>
                        <a:pt x="9" y="19"/>
                      </a:lnTo>
                      <a:lnTo>
                        <a:pt x="3" y="41"/>
                      </a:lnTo>
                      <a:lnTo>
                        <a:pt x="0" y="66"/>
                      </a:lnTo>
                      <a:lnTo>
                        <a:pt x="3" y="91"/>
                      </a:lnTo>
                      <a:lnTo>
                        <a:pt x="5" y="101"/>
                      </a:lnTo>
                      <a:lnTo>
                        <a:pt x="15" y="115"/>
                      </a:lnTo>
                      <a:lnTo>
                        <a:pt x="29" y="125"/>
                      </a:lnTo>
                      <a:lnTo>
                        <a:pt x="46" y="137"/>
                      </a:lnTo>
                      <a:lnTo>
                        <a:pt x="40" y="160"/>
                      </a:lnTo>
                      <a:lnTo>
                        <a:pt x="37" y="189"/>
                      </a:lnTo>
                      <a:lnTo>
                        <a:pt x="35" y="222"/>
                      </a:lnTo>
                      <a:lnTo>
                        <a:pt x="38" y="253"/>
                      </a:lnTo>
                      <a:lnTo>
                        <a:pt x="40" y="277"/>
                      </a:lnTo>
                      <a:lnTo>
                        <a:pt x="46" y="289"/>
                      </a:lnTo>
                      <a:lnTo>
                        <a:pt x="64" y="303"/>
                      </a:lnTo>
                      <a:lnTo>
                        <a:pt x="91" y="312"/>
                      </a:lnTo>
                      <a:lnTo>
                        <a:pt x="119" y="314"/>
                      </a:lnTo>
                      <a:lnTo>
                        <a:pt x="146" y="312"/>
                      </a:lnTo>
                      <a:lnTo>
                        <a:pt x="162" y="308"/>
                      </a:lnTo>
                      <a:lnTo>
                        <a:pt x="175" y="299"/>
                      </a:lnTo>
                      <a:lnTo>
                        <a:pt x="189" y="279"/>
                      </a:lnTo>
                      <a:lnTo>
                        <a:pt x="196" y="262"/>
                      </a:lnTo>
                      <a:lnTo>
                        <a:pt x="202" y="240"/>
                      </a:lnTo>
                      <a:lnTo>
                        <a:pt x="204" y="226"/>
                      </a:lnTo>
                      <a:lnTo>
                        <a:pt x="202" y="209"/>
                      </a:lnTo>
                      <a:lnTo>
                        <a:pt x="210" y="191"/>
                      </a:lnTo>
                      <a:lnTo>
                        <a:pt x="213" y="173"/>
                      </a:lnTo>
                      <a:lnTo>
                        <a:pt x="237" y="162"/>
                      </a:lnTo>
                      <a:lnTo>
                        <a:pt x="252" y="153"/>
                      </a:lnTo>
                      <a:lnTo>
                        <a:pt x="256" y="144"/>
                      </a:lnTo>
                      <a:lnTo>
                        <a:pt x="254" y="125"/>
                      </a:lnTo>
                      <a:lnTo>
                        <a:pt x="256" y="108"/>
                      </a:lnTo>
                      <a:lnTo>
                        <a:pt x="260" y="86"/>
                      </a:lnTo>
                      <a:lnTo>
                        <a:pt x="265" y="70"/>
                      </a:lnTo>
                      <a:lnTo>
                        <a:pt x="264" y="56"/>
                      </a:lnTo>
                      <a:lnTo>
                        <a:pt x="259" y="40"/>
                      </a:lnTo>
                      <a:lnTo>
                        <a:pt x="253" y="31"/>
                      </a:lnTo>
                      <a:lnTo>
                        <a:pt x="250" y="22"/>
                      </a:lnTo>
                      <a:lnTo>
                        <a:pt x="230" y="29"/>
                      </a:lnTo>
                      <a:lnTo>
                        <a:pt x="206" y="37"/>
                      </a:lnTo>
                      <a:lnTo>
                        <a:pt x="190" y="41"/>
                      </a:lnTo>
                      <a:lnTo>
                        <a:pt x="171" y="45"/>
                      </a:lnTo>
                      <a:lnTo>
                        <a:pt x="146" y="47"/>
                      </a:lnTo>
                      <a:lnTo>
                        <a:pt x="122" y="43"/>
                      </a:lnTo>
                      <a:lnTo>
                        <a:pt x="100" y="37"/>
                      </a:lnTo>
                      <a:lnTo>
                        <a:pt x="78" y="31"/>
                      </a:lnTo>
                      <a:lnTo>
                        <a:pt x="57" y="19"/>
                      </a:lnTo>
                      <a:lnTo>
                        <a:pt x="35" y="8"/>
                      </a:lnTo>
                      <a:lnTo>
                        <a:pt x="1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2" name="Freeform 344"/>
                <p:cNvSpPr/>
                <p:nvPr/>
              </p:nvSpPr>
              <p:spPr bwMode="auto">
                <a:xfrm>
                  <a:off x="2738" y="3120"/>
                  <a:ext cx="21" cy="10"/>
                </a:xfrm>
                <a:custGeom>
                  <a:avLst/>
                  <a:gdLst>
                    <a:gd name="T0" fmla="*/ 5 w 151"/>
                    <a:gd name="T1" fmla="*/ 2 h 81"/>
                    <a:gd name="T2" fmla="*/ 22 w 151"/>
                    <a:gd name="T3" fmla="*/ 0 h 81"/>
                    <a:gd name="T4" fmla="*/ 37 w 151"/>
                    <a:gd name="T5" fmla="*/ 5 h 81"/>
                    <a:gd name="T6" fmla="*/ 52 w 151"/>
                    <a:gd name="T7" fmla="*/ 10 h 81"/>
                    <a:gd name="T8" fmla="*/ 69 w 151"/>
                    <a:gd name="T9" fmla="*/ 17 h 81"/>
                    <a:gd name="T10" fmla="*/ 80 w 151"/>
                    <a:gd name="T11" fmla="*/ 20 h 81"/>
                    <a:gd name="T12" fmla="*/ 93 w 151"/>
                    <a:gd name="T13" fmla="*/ 17 h 81"/>
                    <a:gd name="T14" fmla="*/ 106 w 151"/>
                    <a:gd name="T15" fmla="*/ 10 h 81"/>
                    <a:gd name="T16" fmla="*/ 117 w 151"/>
                    <a:gd name="T17" fmla="*/ 8 h 81"/>
                    <a:gd name="T18" fmla="*/ 130 w 151"/>
                    <a:gd name="T19" fmla="*/ 10 h 81"/>
                    <a:gd name="T20" fmla="*/ 140 w 151"/>
                    <a:gd name="T21" fmla="*/ 12 h 81"/>
                    <a:gd name="T22" fmla="*/ 148 w 151"/>
                    <a:gd name="T23" fmla="*/ 19 h 81"/>
                    <a:gd name="T24" fmla="*/ 151 w 151"/>
                    <a:gd name="T25" fmla="*/ 30 h 81"/>
                    <a:gd name="T26" fmla="*/ 135 w 151"/>
                    <a:gd name="T27" fmla="*/ 37 h 81"/>
                    <a:gd name="T28" fmla="*/ 125 w 151"/>
                    <a:gd name="T29" fmla="*/ 41 h 81"/>
                    <a:gd name="T30" fmla="*/ 114 w 151"/>
                    <a:gd name="T31" fmla="*/ 49 h 81"/>
                    <a:gd name="T32" fmla="*/ 104 w 151"/>
                    <a:gd name="T33" fmla="*/ 52 h 81"/>
                    <a:gd name="T34" fmla="*/ 89 w 151"/>
                    <a:gd name="T35" fmla="*/ 53 h 81"/>
                    <a:gd name="T36" fmla="*/ 75 w 151"/>
                    <a:gd name="T37" fmla="*/ 59 h 81"/>
                    <a:gd name="T38" fmla="*/ 68 w 151"/>
                    <a:gd name="T39" fmla="*/ 68 h 81"/>
                    <a:gd name="T40" fmla="*/ 63 w 151"/>
                    <a:gd name="T41" fmla="*/ 81 h 81"/>
                    <a:gd name="T42" fmla="*/ 52 w 151"/>
                    <a:gd name="T43" fmla="*/ 67 h 81"/>
                    <a:gd name="T44" fmla="*/ 36 w 151"/>
                    <a:gd name="T45" fmla="*/ 54 h 81"/>
                    <a:gd name="T46" fmla="*/ 21 w 151"/>
                    <a:gd name="T47" fmla="*/ 44 h 81"/>
                    <a:gd name="T48" fmla="*/ 10 w 151"/>
                    <a:gd name="T49" fmla="*/ 37 h 81"/>
                    <a:gd name="T50" fmla="*/ 3 w 151"/>
                    <a:gd name="T51" fmla="*/ 28 h 81"/>
                    <a:gd name="T52" fmla="*/ 0 w 151"/>
                    <a:gd name="T53" fmla="*/ 19 h 81"/>
                    <a:gd name="T54" fmla="*/ 1 w 151"/>
                    <a:gd name="T55" fmla="*/ 10 h 81"/>
                    <a:gd name="T56" fmla="*/ 5 w 151"/>
                    <a:gd name="T57" fmla="*/ 2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1" h="81">
                      <a:moveTo>
                        <a:pt x="5" y="2"/>
                      </a:moveTo>
                      <a:lnTo>
                        <a:pt x="22" y="0"/>
                      </a:lnTo>
                      <a:lnTo>
                        <a:pt x="37" y="5"/>
                      </a:lnTo>
                      <a:lnTo>
                        <a:pt x="52" y="10"/>
                      </a:lnTo>
                      <a:lnTo>
                        <a:pt x="69" y="17"/>
                      </a:lnTo>
                      <a:lnTo>
                        <a:pt x="80" y="20"/>
                      </a:lnTo>
                      <a:lnTo>
                        <a:pt x="93" y="17"/>
                      </a:lnTo>
                      <a:lnTo>
                        <a:pt x="106" y="10"/>
                      </a:lnTo>
                      <a:lnTo>
                        <a:pt x="117" y="8"/>
                      </a:lnTo>
                      <a:lnTo>
                        <a:pt x="130" y="10"/>
                      </a:lnTo>
                      <a:lnTo>
                        <a:pt x="140" y="12"/>
                      </a:lnTo>
                      <a:lnTo>
                        <a:pt x="148" y="19"/>
                      </a:lnTo>
                      <a:lnTo>
                        <a:pt x="151" y="30"/>
                      </a:lnTo>
                      <a:lnTo>
                        <a:pt x="135" y="37"/>
                      </a:lnTo>
                      <a:lnTo>
                        <a:pt x="125" y="41"/>
                      </a:lnTo>
                      <a:lnTo>
                        <a:pt x="114" y="49"/>
                      </a:lnTo>
                      <a:lnTo>
                        <a:pt x="104" y="52"/>
                      </a:lnTo>
                      <a:lnTo>
                        <a:pt x="89" y="53"/>
                      </a:lnTo>
                      <a:lnTo>
                        <a:pt x="75" y="59"/>
                      </a:lnTo>
                      <a:lnTo>
                        <a:pt x="68" y="68"/>
                      </a:lnTo>
                      <a:lnTo>
                        <a:pt x="63" y="81"/>
                      </a:lnTo>
                      <a:lnTo>
                        <a:pt x="52" y="67"/>
                      </a:lnTo>
                      <a:lnTo>
                        <a:pt x="36" y="54"/>
                      </a:lnTo>
                      <a:lnTo>
                        <a:pt x="21" y="44"/>
                      </a:lnTo>
                      <a:lnTo>
                        <a:pt x="10" y="37"/>
                      </a:lnTo>
                      <a:lnTo>
                        <a:pt x="3" y="28"/>
                      </a:lnTo>
                      <a:lnTo>
                        <a:pt x="0" y="19"/>
                      </a:lnTo>
                      <a:lnTo>
                        <a:pt x="1" y="10"/>
                      </a:lnTo>
                      <a:lnTo>
                        <a:pt x="5" y="2"/>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3" name="Freeform 345"/>
                <p:cNvSpPr/>
                <p:nvPr/>
              </p:nvSpPr>
              <p:spPr bwMode="auto">
                <a:xfrm>
                  <a:off x="2735" y="3108"/>
                  <a:ext cx="8" cy="12"/>
                </a:xfrm>
                <a:custGeom>
                  <a:avLst/>
                  <a:gdLst>
                    <a:gd name="T0" fmla="*/ 4 w 54"/>
                    <a:gd name="T1" fmla="*/ 0 h 91"/>
                    <a:gd name="T2" fmla="*/ 0 w 54"/>
                    <a:gd name="T3" fmla="*/ 25 h 91"/>
                    <a:gd name="T4" fmla="*/ 2 w 54"/>
                    <a:gd name="T5" fmla="*/ 46 h 91"/>
                    <a:gd name="T6" fmla="*/ 9 w 54"/>
                    <a:gd name="T7" fmla="*/ 67 h 91"/>
                    <a:gd name="T8" fmla="*/ 20 w 54"/>
                    <a:gd name="T9" fmla="*/ 82 h 91"/>
                    <a:gd name="T10" fmla="*/ 34 w 54"/>
                    <a:gd name="T11" fmla="*/ 91 h 91"/>
                    <a:gd name="T12" fmla="*/ 38 w 54"/>
                    <a:gd name="T13" fmla="*/ 76 h 91"/>
                    <a:gd name="T14" fmla="*/ 45 w 54"/>
                    <a:gd name="T15" fmla="*/ 63 h 91"/>
                    <a:gd name="T16" fmla="*/ 54 w 54"/>
                    <a:gd name="T17" fmla="*/ 52 h 91"/>
                    <a:gd name="T18" fmla="*/ 41 w 54"/>
                    <a:gd name="T19" fmla="*/ 49 h 91"/>
                    <a:gd name="T20" fmla="*/ 33 w 54"/>
                    <a:gd name="T21" fmla="*/ 45 h 91"/>
                    <a:gd name="T22" fmla="*/ 28 w 54"/>
                    <a:gd name="T23" fmla="*/ 26 h 91"/>
                    <a:gd name="T24" fmla="*/ 22 w 54"/>
                    <a:gd name="T25" fmla="*/ 13 h 91"/>
                    <a:gd name="T26" fmla="*/ 14 w 54"/>
                    <a:gd name="T27" fmla="*/ 2 h 91"/>
                    <a:gd name="T28" fmla="*/ 4 w 54"/>
                    <a:gd name="T2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4" h="91">
                      <a:moveTo>
                        <a:pt x="4" y="0"/>
                      </a:moveTo>
                      <a:lnTo>
                        <a:pt x="0" y="25"/>
                      </a:lnTo>
                      <a:lnTo>
                        <a:pt x="2" y="46"/>
                      </a:lnTo>
                      <a:lnTo>
                        <a:pt x="9" y="67"/>
                      </a:lnTo>
                      <a:lnTo>
                        <a:pt x="20" y="82"/>
                      </a:lnTo>
                      <a:lnTo>
                        <a:pt x="34" y="91"/>
                      </a:lnTo>
                      <a:lnTo>
                        <a:pt x="38" y="76"/>
                      </a:lnTo>
                      <a:lnTo>
                        <a:pt x="45" y="63"/>
                      </a:lnTo>
                      <a:lnTo>
                        <a:pt x="54" y="52"/>
                      </a:lnTo>
                      <a:lnTo>
                        <a:pt x="41" y="49"/>
                      </a:lnTo>
                      <a:lnTo>
                        <a:pt x="33" y="45"/>
                      </a:lnTo>
                      <a:lnTo>
                        <a:pt x="28" y="26"/>
                      </a:lnTo>
                      <a:lnTo>
                        <a:pt x="22" y="13"/>
                      </a:lnTo>
                      <a:lnTo>
                        <a:pt x="14" y="2"/>
                      </a:lnTo>
                      <a:lnTo>
                        <a:pt x="4"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4" name="Freeform 346"/>
                <p:cNvSpPr/>
                <p:nvPr/>
              </p:nvSpPr>
              <p:spPr bwMode="auto">
                <a:xfrm>
                  <a:off x="2727" y="3105"/>
                  <a:ext cx="5" cy="12"/>
                </a:xfrm>
                <a:custGeom>
                  <a:avLst/>
                  <a:gdLst>
                    <a:gd name="T0" fmla="*/ 13 w 34"/>
                    <a:gd name="T1" fmla="*/ 0 h 95"/>
                    <a:gd name="T2" fmla="*/ 21 w 34"/>
                    <a:gd name="T3" fmla="*/ 13 h 95"/>
                    <a:gd name="T4" fmla="*/ 30 w 34"/>
                    <a:gd name="T5" fmla="*/ 30 h 95"/>
                    <a:gd name="T6" fmla="*/ 34 w 34"/>
                    <a:gd name="T7" fmla="*/ 45 h 95"/>
                    <a:gd name="T8" fmla="*/ 30 w 34"/>
                    <a:gd name="T9" fmla="*/ 57 h 95"/>
                    <a:gd name="T10" fmla="*/ 17 w 34"/>
                    <a:gd name="T11" fmla="*/ 76 h 95"/>
                    <a:gd name="T12" fmla="*/ 0 w 34"/>
                    <a:gd name="T13" fmla="*/ 95 h 95"/>
                    <a:gd name="T14" fmla="*/ 10 w 34"/>
                    <a:gd name="T15" fmla="*/ 73 h 95"/>
                    <a:gd name="T16" fmla="*/ 16 w 34"/>
                    <a:gd name="T17" fmla="*/ 56 h 95"/>
                    <a:gd name="T18" fmla="*/ 18 w 34"/>
                    <a:gd name="T19" fmla="*/ 38 h 95"/>
                    <a:gd name="T20" fmla="*/ 16 w 34"/>
                    <a:gd name="T21" fmla="*/ 21 h 95"/>
                    <a:gd name="T22" fmla="*/ 13 w 34"/>
                    <a:gd name="T23"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95">
                      <a:moveTo>
                        <a:pt x="13" y="0"/>
                      </a:moveTo>
                      <a:lnTo>
                        <a:pt x="21" y="13"/>
                      </a:lnTo>
                      <a:lnTo>
                        <a:pt x="30" y="30"/>
                      </a:lnTo>
                      <a:lnTo>
                        <a:pt x="34" y="45"/>
                      </a:lnTo>
                      <a:lnTo>
                        <a:pt x="30" y="57"/>
                      </a:lnTo>
                      <a:lnTo>
                        <a:pt x="17" y="76"/>
                      </a:lnTo>
                      <a:lnTo>
                        <a:pt x="0" y="95"/>
                      </a:lnTo>
                      <a:lnTo>
                        <a:pt x="10" y="73"/>
                      </a:lnTo>
                      <a:lnTo>
                        <a:pt x="16" y="56"/>
                      </a:lnTo>
                      <a:lnTo>
                        <a:pt x="18" y="38"/>
                      </a:lnTo>
                      <a:lnTo>
                        <a:pt x="16" y="21"/>
                      </a:lnTo>
                      <a:lnTo>
                        <a:pt x="13"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5" name="Freeform 347"/>
                <p:cNvSpPr/>
                <p:nvPr/>
              </p:nvSpPr>
              <p:spPr bwMode="auto">
                <a:xfrm>
                  <a:off x="2729" y="3120"/>
                  <a:ext cx="16" cy="23"/>
                </a:xfrm>
                <a:custGeom>
                  <a:avLst/>
                  <a:gdLst>
                    <a:gd name="T0" fmla="*/ 14 w 108"/>
                    <a:gd name="T1" fmla="*/ 0 h 182"/>
                    <a:gd name="T2" fmla="*/ 32 w 108"/>
                    <a:gd name="T3" fmla="*/ 7 h 182"/>
                    <a:gd name="T4" fmla="*/ 53 w 108"/>
                    <a:gd name="T5" fmla="*/ 20 h 182"/>
                    <a:gd name="T6" fmla="*/ 73 w 108"/>
                    <a:gd name="T7" fmla="*/ 37 h 182"/>
                    <a:gd name="T8" fmla="*/ 87 w 108"/>
                    <a:gd name="T9" fmla="*/ 52 h 182"/>
                    <a:gd name="T10" fmla="*/ 95 w 108"/>
                    <a:gd name="T11" fmla="*/ 74 h 182"/>
                    <a:gd name="T12" fmla="*/ 98 w 108"/>
                    <a:gd name="T13" fmla="*/ 93 h 182"/>
                    <a:gd name="T14" fmla="*/ 95 w 108"/>
                    <a:gd name="T15" fmla="*/ 112 h 182"/>
                    <a:gd name="T16" fmla="*/ 94 w 108"/>
                    <a:gd name="T17" fmla="*/ 127 h 182"/>
                    <a:gd name="T18" fmla="*/ 96 w 108"/>
                    <a:gd name="T19" fmla="*/ 141 h 182"/>
                    <a:gd name="T20" fmla="*/ 102 w 108"/>
                    <a:gd name="T21" fmla="*/ 162 h 182"/>
                    <a:gd name="T22" fmla="*/ 108 w 108"/>
                    <a:gd name="T23" fmla="*/ 179 h 182"/>
                    <a:gd name="T24" fmla="*/ 97 w 108"/>
                    <a:gd name="T25" fmla="*/ 182 h 182"/>
                    <a:gd name="T26" fmla="*/ 81 w 108"/>
                    <a:gd name="T27" fmla="*/ 182 h 182"/>
                    <a:gd name="T28" fmla="*/ 64 w 108"/>
                    <a:gd name="T29" fmla="*/ 181 h 182"/>
                    <a:gd name="T30" fmla="*/ 50 w 108"/>
                    <a:gd name="T31" fmla="*/ 177 h 182"/>
                    <a:gd name="T32" fmla="*/ 38 w 108"/>
                    <a:gd name="T33" fmla="*/ 173 h 182"/>
                    <a:gd name="T34" fmla="*/ 25 w 108"/>
                    <a:gd name="T35" fmla="*/ 165 h 182"/>
                    <a:gd name="T36" fmla="*/ 13 w 108"/>
                    <a:gd name="T37" fmla="*/ 157 h 182"/>
                    <a:gd name="T38" fmla="*/ 6 w 108"/>
                    <a:gd name="T39" fmla="*/ 141 h 182"/>
                    <a:gd name="T40" fmla="*/ 2 w 108"/>
                    <a:gd name="T41" fmla="*/ 110 h 182"/>
                    <a:gd name="T42" fmla="*/ 0 w 108"/>
                    <a:gd name="T43" fmla="*/ 88 h 182"/>
                    <a:gd name="T44" fmla="*/ 2 w 108"/>
                    <a:gd name="T45" fmla="*/ 66 h 182"/>
                    <a:gd name="T46" fmla="*/ 4 w 108"/>
                    <a:gd name="T47" fmla="*/ 38 h 182"/>
                    <a:gd name="T48" fmla="*/ 9 w 108"/>
                    <a:gd name="T49" fmla="*/ 16 h 182"/>
                    <a:gd name="T50" fmla="*/ 14 w 108"/>
                    <a:gd name="T51" fmla="*/ 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8" h="182">
                      <a:moveTo>
                        <a:pt x="14" y="0"/>
                      </a:moveTo>
                      <a:lnTo>
                        <a:pt x="32" y="7"/>
                      </a:lnTo>
                      <a:lnTo>
                        <a:pt x="53" y="20"/>
                      </a:lnTo>
                      <a:lnTo>
                        <a:pt x="73" y="37"/>
                      </a:lnTo>
                      <a:lnTo>
                        <a:pt x="87" y="52"/>
                      </a:lnTo>
                      <a:lnTo>
                        <a:pt x="95" y="74"/>
                      </a:lnTo>
                      <a:lnTo>
                        <a:pt x="98" y="93"/>
                      </a:lnTo>
                      <a:lnTo>
                        <a:pt x="95" y="112"/>
                      </a:lnTo>
                      <a:lnTo>
                        <a:pt x="94" y="127"/>
                      </a:lnTo>
                      <a:lnTo>
                        <a:pt x="96" y="141"/>
                      </a:lnTo>
                      <a:lnTo>
                        <a:pt x="102" y="162"/>
                      </a:lnTo>
                      <a:lnTo>
                        <a:pt x="108" y="179"/>
                      </a:lnTo>
                      <a:lnTo>
                        <a:pt x="97" y="182"/>
                      </a:lnTo>
                      <a:lnTo>
                        <a:pt x="81" y="182"/>
                      </a:lnTo>
                      <a:lnTo>
                        <a:pt x="64" y="181"/>
                      </a:lnTo>
                      <a:lnTo>
                        <a:pt x="50" y="177"/>
                      </a:lnTo>
                      <a:lnTo>
                        <a:pt x="38" y="173"/>
                      </a:lnTo>
                      <a:lnTo>
                        <a:pt x="25" y="165"/>
                      </a:lnTo>
                      <a:lnTo>
                        <a:pt x="13" y="157"/>
                      </a:lnTo>
                      <a:lnTo>
                        <a:pt x="6" y="141"/>
                      </a:lnTo>
                      <a:lnTo>
                        <a:pt x="2" y="110"/>
                      </a:lnTo>
                      <a:lnTo>
                        <a:pt x="0" y="88"/>
                      </a:lnTo>
                      <a:lnTo>
                        <a:pt x="2" y="66"/>
                      </a:lnTo>
                      <a:lnTo>
                        <a:pt x="4" y="38"/>
                      </a:lnTo>
                      <a:lnTo>
                        <a:pt x="9" y="16"/>
                      </a:lnTo>
                      <a:lnTo>
                        <a:pt x="14"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6" name="Freeform 348"/>
                <p:cNvSpPr/>
                <p:nvPr/>
              </p:nvSpPr>
              <p:spPr bwMode="auto">
                <a:xfrm>
                  <a:off x="2727" y="3103"/>
                  <a:ext cx="34" cy="8"/>
                </a:xfrm>
                <a:custGeom>
                  <a:avLst/>
                  <a:gdLst>
                    <a:gd name="T0" fmla="*/ 2 w 239"/>
                    <a:gd name="T1" fmla="*/ 0 h 62"/>
                    <a:gd name="T2" fmla="*/ 0 w 239"/>
                    <a:gd name="T3" fmla="*/ 5 h 62"/>
                    <a:gd name="T4" fmla="*/ 12 w 239"/>
                    <a:gd name="T5" fmla="*/ 15 h 62"/>
                    <a:gd name="T6" fmla="*/ 25 w 239"/>
                    <a:gd name="T7" fmla="*/ 23 h 62"/>
                    <a:gd name="T8" fmla="*/ 37 w 239"/>
                    <a:gd name="T9" fmla="*/ 30 h 62"/>
                    <a:gd name="T10" fmla="*/ 56 w 239"/>
                    <a:gd name="T11" fmla="*/ 39 h 62"/>
                    <a:gd name="T12" fmla="*/ 72 w 239"/>
                    <a:gd name="T13" fmla="*/ 48 h 62"/>
                    <a:gd name="T14" fmla="*/ 93 w 239"/>
                    <a:gd name="T15" fmla="*/ 55 h 62"/>
                    <a:gd name="T16" fmla="*/ 113 w 239"/>
                    <a:gd name="T17" fmla="*/ 60 h 62"/>
                    <a:gd name="T18" fmla="*/ 128 w 239"/>
                    <a:gd name="T19" fmla="*/ 61 h 62"/>
                    <a:gd name="T20" fmla="*/ 145 w 239"/>
                    <a:gd name="T21" fmla="*/ 62 h 62"/>
                    <a:gd name="T22" fmla="*/ 162 w 239"/>
                    <a:gd name="T23" fmla="*/ 60 h 62"/>
                    <a:gd name="T24" fmla="*/ 179 w 239"/>
                    <a:gd name="T25" fmla="*/ 56 h 62"/>
                    <a:gd name="T26" fmla="*/ 196 w 239"/>
                    <a:gd name="T27" fmla="*/ 53 h 62"/>
                    <a:gd name="T28" fmla="*/ 214 w 239"/>
                    <a:gd name="T29" fmla="*/ 48 h 62"/>
                    <a:gd name="T30" fmla="*/ 229 w 239"/>
                    <a:gd name="T31" fmla="*/ 41 h 62"/>
                    <a:gd name="T32" fmla="*/ 239 w 239"/>
                    <a:gd name="T33" fmla="*/ 36 h 62"/>
                    <a:gd name="T34" fmla="*/ 236 w 239"/>
                    <a:gd name="T35" fmla="*/ 24 h 62"/>
                    <a:gd name="T36" fmla="*/ 216 w 239"/>
                    <a:gd name="T37" fmla="*/ 32 h 62"/>
                    <a:gd name="T38" fmla="*/ 192 w 239"/>
                    <a:gd name="T39" fmla="*/ 41 h 62"/>
                    <a:gd name="T40" fmla="*/ 176 w 239"/>
                    <a:gd name="T41" fmla="*/ 47 h 62"/>
                    <a:gd name="T42" fmla="*/ 157 w 239"/>
                    <a:gd name="T43" fmla="*/ 50 h 62"/>
                    <a:gd name="T44" fmla="*/ 132 w 239"/>
                    <a:gd name="T45" fmla="*/ 53 h 62"/>
                    <a:gd name="T46" fmla="*/ 108 w 239"/>
                    <a:gd name="T47" fmla="*/ 49 h 62"/>
                    <a:gd name="T48" fmla="*/ 86 w 239"/>
                    <a:gd name="T49" fmla="*/ 41 h 62"/>
                    <a:gd name="T50" fmla="*/ 64 w 239"/>
                    <a:gd name="T51" fmla="*/ 34 h 62"/>
                    <a:gd name="T52" fmla="*/ 41 w 239"/>
                    <a:gd name="T53" fmla="*/ 22 h 62"/>
                    <a:gd name="T54" fmla="*/ 21 w 239"/>
                    <a:gd name="T55" fmla="*/ 9 h 62"/>
                    <a:gd name="T56" fmla="*/ 2 w 239"/>
                    <a:gd name="T57"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9" h="62">
                      <a:moveTo>
                        <a:pt x="2" y="0"/>
                      </a:moveTo>
                      <a:lnTo>
                        <a:pt x="0" y="5"/>
                      </a:lnTo>
                      <a:lnTo>
                        <a:pt x="12" y="15"/>
                      </a:lnTo>
                      <a:lnTo>
                        <a:pt x="25" y="23"/>
                      </a:lnTo>
                      <a:lnTo>
                        <a:pt x="37" y="30"/>
                      </a:lnTo>
                      <a:lnTo>
                        <a:pt x="56" y="39"/>
                      </a:lnTo>
                      <a:lnTo>
                        <a:pt x="72" y="48"/>
                      </a:lnTo>
                      <a:lnTo>
                        <a:pt x="93" y="55"/>
                      </a:lnTo>
                      <a:lnTo>
                        <a:pt x="113" y="60"/>
                      </a:lnTo>
                      <a:lnTo>
                        <a:pt x="128" y="61"/>
                      </a:lnTo>
                      <a:lnTo>
                        <a:pt x="145" y="62"/>
                      </a:lnTo>
                      <a:lnTo>
                        <a:pt x="162" y="60"/>
                      </a:lnTo>
                      <a:lnTo>
                        <a:pt x="179" y="56"/>
                      </a:lnTo>
                      <a:lnTo>
                        <a:pt x="196" y="53"/>
                      </a:lnTo>
                      <a:lnTo>
                        <a:pt x="214" y="48"/>
                      </a:lnTo>
                      <a:lnTo>
                        <a:pt x="229" y="41"/>
                      </a:lnTo>
                      <a:lnTo>
                        <a:pt x="239" y="36"/>
                      </a:lnTo>
                      <a:lnTo>
                        <a:pt x="236" y="24"/>
                      </a:lnTo>
                      <a:lnTo>
                        <a:pt x="216" y="32"/>
                      </a:lnTo>
                      <a:lnTo>
                        <a:pt x="192" y="41"/>
                      </a:lnTo>
                      <a:lnTo>
                        <a:pt x="176" y="47"/>
                      </a:lnTo>
                      <a:lnTo>
                        <a:pt x="157" y="50"/>
                      </a:lnTo>
                      <a:lnTo>
                        <a:pt x="132" y="53"/>
                      </a:lnTo>
                      <a:lnTo>
                        <a:pt x="108" y="49"/>
                      </a:lnTo>
                      <a:lnTo>
                        <a:pt x="86" y="41"/>
                      </a:lnTo>
                      <a:lnTo>
                        <a:pt x="64" y="34"/>
                      </a:lnTo>
                      <a:lnTo>
                        <a:pt x="41" y="22"/>
                      </a:lnTo>
                      <a:lnTo>
                        <a:pt x="21" y="9"/>
                      </a:lnTo>
                      <a:lnTo>
                        <a:pt x="2" y="0"/>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97" name="Group 349"/>
              <p:cNvGrpSpPr/>
              <p:nvPr/>
            </p:nvGrpSpPr>
            <p:grpSpPr bwMode="auto">
              <a:xfrm>
                <a:off x="2624" y="2934"/>
                <a:ext cx="106" cy="87"/>
                <a:chOff x="2624" y="2934"/>
                <a:chExt cx="106" cy="87"/>
              </a:xfrm>
            </p:grpSpPr>
            <p:grpSp>
              <p:nvGrpSpPr>
                <p:cNvPr id="642398" name="Group 350"/>
                <p:cNvGrpSpPr/>
                <p:nvPr/>
              </p:nvGrpSpPr>
              <p:grpSpPr bwMode="auto">
                <a:xfrm>
                  <a:off x="2636" y="2956"/>
                  <a:ext cx="75" cy="65"/>
                  <a:chOff x="2636" y="2956"/>
                  <a:chExt cx="75" cy="65"/>
                </a:xfrm>
              </p:grpSpPr>
              <p:grpSp>
                <p:nvGrpSpPr>
                  <p:cNvPr id="642399" name="Group 351"/>
                  <p:cNvGrpSpPr/>
                  <p:nvPr/>
                </p:nvGrpSpPr>
                <p:grpSpPr bwMode="auto">
                  <a:xfrm>
                    <a:off x="2636" y="2956"/>
                    <a:ext cx="75" cy="65"/>
                    <a:chOff x="2636" y="2956"/>
                    <a:chExt cx="75" cy="65"/>
                  </a:xfrm>
                </p:grpSpPr>
                <p:grpSp>
                  <p:nvGrpSpPr>
                    <p:cNvPr id="642400" name="Group 352"/>
                    <p:cNvGrpSpPr/>
                    <p:nvPr/>
                  </p:nvGrpSpPr>
                  <p:grpSpPr bwMode="auto">
                    <a:xfrm>
                      <a:off x="2645" y="2983"/>
                      <a:ext cx="13" cy="10"/>
                      <a:chOff x="2645" y="2983"/>
                      <a:chExt cx="13" cy="10"/>
                    </a:xfrm>
                  </p:grpSpPr>
                  <p:sp>
                    <p:nvSpPr>
                      <p:cNvPr id="642401" name="Freeform 353"/>
                      <p:cNvSpPr/>
                      <p:nvPr/>
                    </p:nvSpPr>
                    <p:spPr bwMode="auto">
                      <a:xfrm>
                        <a:off x="2645" y="2983"/>
                        <a:ext cx="10" cy="8"/>
                      </a:xfrm>
                      <a:custGeom>
                        <a:avLst/>
                        <a:gdLst>
                          <a:gd name="T0" fmla="*/ 3 w 70"/>
                          <a:gd name="T1" fmla="*/ 0 h 62"/>
                          <a:gd name="T2" fmla="*/ 2 w 70"/>
                          <a:gd name="T3" fmla="*/ 31 h 62"/>
                          <a:gd name="T4" fmla="*/ 0 w 70"/>
                          <a:gd name="T5" fmla="*/ 44 h 62"/>
                          <a:gd name="T6" fmla="*/ 0 w 70"/>
                          <a:gd name="T7" fmla="*/ 50 h 62"/>
                          <a:gd name="T8" fmla="*/ 2 w 70"/>
                          <a:gd name="T9" fmla="*/ 56 h 62"/>
                          <a:gd name="T10" fmla="*/ 14 w 70"/>
                          <a:gd name="T11" fmla="*/ 57 h 62"/>
                          <a:gd name="T12" fmla="*/ 70 w 70"/>
                          <a:gd name="T13" fmla="*/ 62 h 62"/>
                          <a:gd name="T14" fmla="*/ 3 w 70"/>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2">
                            <a:moveTo>
                              <a:pt x="3" y="0"/>
                            </a:moveTo>
                            <a:lnTo>
                              <a:pt x="2" y="31"/>
                            </a:lnTo>
                            <a:lnTo>
                              <a:pt x="0" y="44"/>
                            </a:lnTo>
                            <a:lnTo>
                              <a:pt x="0" y="50"/>
                            </a:lnTo>
                            <a:lnTo>
                              <a:pt x="2" y="56"/>
                            </a:lnTo>
                            <a:lnTo>
                              <a:pt x="14" y="57"/>
                            </a:lnTo>
                            <a:lnTo>
                              <a:pt x="70" y="62"/>
                            </a:lnTo>
                            <a:lnTo>
                              <a:pt x="3" y="0"/>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2" name="Freeform 354"/>
                      <p:cNvSpPr/>
                      <p:nvPr/>
                    </p:nvSpPr>
                    <p:spPr bwMode="auto">
                      <a:xfrm>
                        <a:off x="2647" y="2987"/>
                        <a:ext cx="11" cy="6"/>
                      </a:xfrm>
                      <a:custGeom>
                        <a:avLst/>
                        <a:gdLst>
                          <a:gd name="T0" fmla="*/ 0 w 78"/>
                          <a:gd name="T1" fmla="*/ 0 h 52"/>
                          <a:gd name="T2" fmla="*/ 11 w 78"/>
                          <a:gd name="T3" fmla="*/ 30 h 52"/>
                          <a:gd name="T4" fmla="*/ 14 w 78"/>
                          <a:gd name="T5" fmla="*/ 41 h 52"/>
                          <a:gd name="T6" fmla="*/ 13 w 78"/>
                          <a:gd name="T7" fmla="*/ 52 h 52"/>
                          <a:gd name="T8" fmla="*/ 20 w 78"/>
                          <a:gd name="T9" fmla="*/ 40 h 52"/>
                          <a:gd name="T10" fmla="*/ 26 w 78"/>
                          <a:gd name="T11" fmla="*/ 38 h 52"/>
                          <a:gd name="T12" fmla="*/ 78 w 78"/>
                          <a:gd name="T13" fmla="*/ 28 h 52"/>
                          <a:gd name="T14" fmla="*/ 0 w 78"/>
                          <a:gd name="T15" fmla="*/ 0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52">
                            <a:moveTo>
                              <a:pt x="0" y="0"/>
                            </a:moveTo>
                            <a:lnTo>
                              <a:pt x="11" y="30"/>
                            </a:lnTo>
                            <a:lnTo>
                              <a:pt x="14" y="41"/>
                            </a:lnTo>
                            <a:lnTo>
                              <a:pt x="13" y="52"/>
                            </a:lnTo>
                            <a:lnTo>
                              <a:pt x="20" y="40"/>
                            </a:lnTo>
                            <a:lnTo>
                              <a:pt x="26" y="38"/>
                            </a:lnTo>
                            <a:lnTo>
                              <a:pt x="78" y="28"/>
                            </a:lnTo>
                            <a:lnTo>
                              <a:pt x="0" y="0"/>
                            </a:lnTo>
                            <a:close/>
                          </a:path>
                        </a:pathLst>
                      </a:custGeom>
                      <a:solidFill>
                        <a:srgbClr val="6040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403" name="Group 355"/>
                    <p:cNvGrpSpPr/>
                    <p:nvPr/>
                  </p:nvGrpSpPr>
                  <p:grpSpPr bwMode="auto">
                    <a:xfrm>
                      <a:off x="2636" y="2956"/>
                      <a:ext cx="75" cy="65"/>
                      <a:chOff x="2636" y="2956"/>
                      <a:chExt cx="75" cy="65"/>
                    </a:xfrm>
                  </p:grpSpPr>
                  <p:sp>
                    <p:nvSpPr>
                      <p:cNvPr id="642404" name="Freeform 356"/>
                      <p:cNvSpPr/>
                      <p:nvPr/>
                    </p:nvSpPr>
                    <p:spPr bwMode="auto">
                      <a:xfrm>
                        <a:off x="2636" y="2956"/>
                        <a:ext cx="73" cy="65"/>
                      </a:xfrm>
                      <a:custGeom>
                        <a:avLst/>
                        <a:gdLst>
                          <a:gd name="T0" fmla="*/ 0 w 511"/>
                          <a:gd name="T1" fmla="*/ 133 h 521"/>
                          <a:gd name="T2" fmla="*/ 35 w 511"/>
                          <a:gd name="T3" fmla="*/ 211 h 521"/>
                          <a:gd name="T4" fmla="*/ 58 w 511"/>
                          <a:gd name="T5" fmla="*/ 249 h 521"/>
                          <a:gd name="T6" fmla="*/ 79 w 511"/>
                          <a:gd name="T7" fmla="*/ 273 h 521"/>
                          <a:gd name="T8" fmla="*/ 106 w 511"/>
                          <a:gd name="T9" fmla="*/ 296 h 521"/>
                          <a:gd name="T10" fmla="*/ 108 w 511"/>
                          <a:gd name="T11" fmla="*/ 312 h 521"/>
                          <a:gd name="T12" fmla="*/ 106 w 511"/>
                          <a:gd name="T13" fmla="*/ 332 h 521"/>
                          <a:gd name="T14" fmla="*/ 102 w 511"/>
                          <a:gd name="T15" fmla="*/ 359 h 521"/>
                          <a:gd name="T16" fmla="*/ 99 w 511"/>
                          <a:gd name="T17" fmla="*/ 379 h 521"/>
                          <a:gd name="T18" fmla="*/ 100 w 511"/>
                          <a:gd name="T19" fmla="*/ 392 h 521"/>
                          <a:gd name="T20" fmla="*/ 106 w 511"/>
                          <a:gd name="T21" fmla="*/ 405 h 521"/>
                          <a:gd name="T22" fmla="*/ 116 w 511"/>
                          <a:gd name="T23" fmla="*/ 413 h 521"/>
                          <a:gd name="T24" fmla="*/ 129 w 511"/>
                          <a:gd name="T25" fmla="*/ 417 h 521"/>
                          <a:gd name="T26" fmla="*/ 146 w 511"/>
                          <a:gd name="T27" fmla="*/ 415 h 521"/>
                          <a:gd name="T28" fmla="*/ 157 w 511"/>
                          <a:gd name="T29" fmla="*/ 417 h 521"/>
                          <a:gd name="T30" fmla="*/ 174 w 511"/>
                          <a:gd name="T31" fmla="*/ 439 h 521"/>
                          <a:gd name="T32" fmla="*/ 178 w 511"/>
                          <a:gd name="T33" fmla="*/ 452 h 521"/>
                          <a:gd name="T34" fmla="*/ 187 w 511"/>
                          <a:gd name="T35" fmla="*/ 456 h 521"/>
                          <a:gd name="T36" fmla="*/ 198 w 511"/>
                          <a:gd name="T37" fmla="*/ 454 h 521"/>
                          <a:gd name="T38" fmla="*/ 204 w 511"/>
                          <a:gd name="T39" fmla="*/ 453 h 521"/>
                          <a:gd name="T40" fmla="*/ 207 w 511"/>
                          <a:gd name="T41" fmla="*/ 462 h 521"/>
                          <a:gd name="T42" fmla="*/ 210 w 511"/>
                          <a:gd name="T43" fmla="*/ 473 h 521"/>
                          <a:gd name="T44" fmla="*/ 219 w 511"/>
                          <a:gd name="T45" fmla="*/ 479 h 521"/>
                          <a:gd name="T46" fmla="*/ 231 w 511"/>
                          <a:gd name="T47" fmla="*/ 483 h 521"/>
                          <a:gd name="T48" fmla="*/ 240 w 511"/>
                          <a:gd name="T49" fmla="*/ 482 h 521"/>
                          <a:gd name="T50" fmla="*/ 252 w 511"/>
                          <a:gd name="T51" fmla="*/ 491 h 521"/>
                          <a:gd name="T52" fmla="*/ 262 w 511"/>
                          <a:gd name="T53" fmla="*/ 499 h 521"/>
                          <a:gd name="T54" fmla="*/ 268 w 511"/>
                          <a:gd name="T55" fmla="*/ 510 h 521"/>
                          <a:gd name="T56" fmla="*/ 287 w 511"/>
                          <a:gd name="T57" fmla="*/ 519 h 521"/>
                          <a:gd name="T58" fmla="*/ 303 w 511"/>
                          <a:gd name="T59" fmla="*/ 521 h 521"/>
                          <a:gd name="T60" fmla="*/ 323 w 511"/>
                          <a:gd name="T61" fmla="*/ 514 h 521"/>
                          <a:gd name="T62" fmla="*/ 343 w 511"/>
                          <a:gd name="T63" fmla="*/ 500 h 521"/>
                          <a:gd name="T64" fmla="*/ 360 w 511"/>
                          <a:gd name="T65" fmla="*/ 484 h 521"/>
                          <a:gd name="T66" fmla="*/ 377 w 511"/>
                          <a:gd name="T67" fmla="*/ 460 h 521"/>
                          <a:gd name="T68" fmla="*/ 395 w 511"/>
                          <a:gd name="T69" fmla="*/ 455 h 521"/>
                          <a:gd name="T70" fmla="*/ 436 w 511"/>
                          <a:gd name="T71" fmla="*/ 412 h 521"/>
                          <a:gd name="T72" fmla="*/ 511 w 511"/>
                          <a:gd name="T73" fmla="*/ 319 h 521"/>
                          <a:gd name="T74" fmla="*/ 497 w 511"/>
                          <a:gd name="T75" fmla="*/ 283 h 521"/>
                          <a:gd name="T76" fmla="*/ 473 w 511"/>
                          <a:gd name="T77" fmla="*/ 157 h 521"/>
                          <a:gd name="T78" fmla="*/ 412 w 511"/>
                          <a:gd name="T79" fmla="*/ 72 h 521"/>
                          <a:gd name="T80" fmla="*/ 318 w 511"/>
                          <a:gd name="T81" fmla="*/ 17 h 521"/>
                          <a:gd name="T82" fmla="*/ 199 w 511"/>
                          <a:gd name="T83" fmla="*/ 0 h 521"/>
                          <a:gd name="T84" fmla="*/ 64 w 511"/>
                          <a:gd name="T85" fmla="*/ 24 h 521"/>
                          <a:gd name="T86" fmla="*/ 17 w 511"/>
                          <a:gd name="T87" fmla="*/ 61 h 521"/>
                          <a:gd name="T88" fmla="*/ 0 w 511"/>
                          <a:gd name="T89" fmla="*/ 133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11" h="521">
                            <a:moveTo>
                              <a:pt x="0" y="133"/>
                            </a:moveTo>
                            <a:lnTo>
                              <a:pt x="35" y="211"/>
                            </a:lnTo>
                            <a:lnTo>
                              <a:pt x="58" y="249"/>
                            </a:lnTo>
                            <a:lnTo>
                              <a:pt x="79" y="273"/>
                            </a:lnTo>
                            <a:lnTo>
                              <a:pt x="106" y="296"/>
                            </a:lnTo>
                            <a:lnTo>
                              <a:pt x="108" y="312"/>
                            </a:lnTo>
                            <a:lnTo>
                              <a:pt x="106" y="332"/>
                            </a:lnTo>
                            <a:lnTo>
                              <a:pt x="102" y="359"/>
                            </a:lnTo>
                            <a:lnTo>
                              <a:pt x="99" y="379"/>
                            </a:lnTo>
                            <a:lnTo>
                              <a:pt x="100" y="392"/>
                            </a:lnTo>
                            <a:lnTo>
                              <a:pt x="106" y="405"/>
                            </a:lnTo>
                            <a:lnTo>
                              <a:pt x="116" y="413"/>
                            </a:lnTo>
                            <a:lnTo>
                              <a:pt x="129" y="417"/>
                            </a:lnTo>
                            <a:lnTo>
                              <a:pt x="146" y="415"/>
                            </a:lnTo>
                            <a:lnTo>
                              <a:pt x="157" y="417"/>
                            </a:lnTo>
                            <a:lnTo>
                              <a:pt x="174" y="439"/>
                            </a:lnTo>
                            <a:lnTo>
                              <a:pt x="178" y="452"/>
                            </a:lnTo>
                            <a:lnTo>
                              <a:pt x="187" y="456"/>
                            </a:lnTo>
                            <a:lnTo>
                              <a:pt x="198" y="454"/>
                            </a:lnTo>
                            <a:lnTo>
                              <a:pt x="204" y="453"/>
                            </a:lnTo>
                            <a:lnTo>
                              <a:pt x="207" y="462"/>
                            </a:lnTo>
                            <a:lnTo>
                              <a:pt x="210" y="473"/>
                            </a:lnTo>
                            <a:lnTo>
                              <a:pt x="219" y="479"/>
                            </a:lnTo>
                            <a:lnTo>
                              <a:pt x="231" y="483"/>
                            </a:lnTo>
                            <a:lnTo>
                              <a:pt x="240" y="482"/>
                            </a:lnTo>
                            <a:lnTo>
                              <a:pt x="252" y="491"/>
                            </a:lnTo>
                            <a:lnTo>
                              <a:pt x="262" y="499"/>
                            </a:lnTo>
                            <a:lnTo>
                              <a:pt x="268" y="510"/>
                            </a:lnTo>
                            <a:lnTo>
                              <a:pt x="287" y="519"/>
                            </a:lnTo>
                            <a:lnTo>
                              <a:pt x="303" y="521"/>
                            </a:lnTo>
                            <a:lnTo>
                              <a:pt x="323" y="514"/>
                            </a:lnTo>
                            <a:lnTo>
                              <a:pt x="343" y="500"/>
                            </a:lnTo>
                            <a:lnTo>
                              <a:pt x="360" y="484"/>
                            </a:lnTo>
                            <a:lnTo>
                              <a:pt x="377" y="460"/>
                            </a:lnTo>
                            <a:lnTo>
                              <a:pt x="395" y="455"/>
                            </a:lnTo>
                            <a:lnTo>
                              <a:pt x="436" y="412"/>
                            </a:lnTo>
                            <a:lnTo>
                              <a:pt x="511" y="319"/>
                            </a:lnTo>
                            <a:lnTo>
                              <a:pt x="497" y="283"/>
                            </a:lnTo>
                            <a:lnTo>
                              <a:pt x="473" y="157"/>
                            </a:lnTo>
                            <a:lnTo>
                              <a:pt x="412" y="72"/>
                            </a:lnTo>
                            <a:lnTo>
                              <a:pt x="318" y="17"/>
                            </a:lnTo>
                            <a:lnTo>
                              <a:pt x="199" y="0"/>
                            </a:lnTo>
                            <a:lnTo>
                              <a:pt x="64" y="24"/>
                            </a:lnTo>
                            <a:lnTo>
                              <a:pt x="17" y="61"/>
                            </a:lnTo>
                            <a:lnTo>
                              <a:pt x="0" y="133"/>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405" name="Group 357"/>
                      <p:cNvGrpSpPr/>
                      <p:nvPr/>
                    </p:nvGrpSpPr>
                    <p:grpSpPr bwMode="auto">
                      <a:xfrm>
                        <a:off x="2653" y="2965"/>
                        <a:ext cx="58" cy="56"/>
                        <a:chOff x="2653" y="2965"/>
                        <a:chExt cx="58" cy="56"/>
                      </a:xfrm>
                    </p:grpSpPr>
                    <p:sp>
                      <p:nvSpPr>
                        <p:cNvPr id="642406" name="Freeform 358"/>
                        <p:cNvSpPr/>
                        <p:nvPr/>
                      </p:nvSpPr>
                      <p:spPr bwMode="auto">
                        <a:xfrm>
                          <a:off x="2669" y="3012"/>
                          <a:ext cx="7" cy="5"/>
                        </a:xfrm>
                        <a:custGeom>
                          <a:avLst/>
                          <a:gdLst>
                            <a:gd name="T0" fmla="*/ 0 w 45"/>
                            <a:gd name="T1" fmla="*/ 29 h 40"/>
                            <a:gd name="T2" fmla="*/ 22 w 45"/>
                            <a:gd name="T3" fmla="*/ 3 h 40"/>
                            <a:gd name="T4" fmla="*/ 33 w 45"/>
                            <a:gd name="T5" fmla="*/ 4 h 40"/>
                            <a:gd name="T6" fmla="*/ 45 w 45"/>
                            <a:gd name="T7" fmla="*/ 0 h 40"/>
                            <a:gd name="T8" fmla="*/ 29 w 45"/>
                            <a:gd name="T9" fmla="*/ 22 h 40"/>
                            <a:gd name="T10" fmla="*/ 18 w 45"/>
                            <a:gd name="T11" fmla="*/ 40 h 40"/>
                            <a:gd name="T12" fmla="*/ 10 w 45"/>
                            <a:gd name="T13" fmla="*/ 34 h 40"/>
                            <a:gd name="T14" fmla="*/ 0 w 45"/>
                            <a:gd name="T15" fmla="*/ 29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40">
                              <a:moveTo>
                                <a:pt x="0" y="29"/>
                              </a:moveTo>
                              <a:lnTo>
                                <a:pt x="22" y="3"/>
                              </a:lnTo>
                              <a:lnTo>
                                <a:pt x="33" y="4"/>
                              </a:lnTo>
                              <a:lnTo>
                                <a:pt x="45" y="0"/>
                              </a:lnTo>
                              <a:lnTo>
                                <a:pt x="29" y="22"/>
                              </a:lnTo>
                              <a:lnTo>
                                <a:pt x="18" y="40"/>
                              </a:lnTo>
                              <a:lnTo>
                                <a:pt x="10" y="34"/>
                              </a:lnTo>
                              <a:lnTo>
                                <a:pt x="0" y="2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7" name="Freeform 359"/>
                        <p:cNvSpPr/>
                        <p:nvPr/>
                      </p:nvSpPr>
                      <p:spPr bwMode="auto">
                        <a:xfrm>
                          <a:off x="2655" y="2965"/>
                          <a:ext cx="56" cy="51"/>
                        </a:xfrm>
                        <a:custGeom>
                          <a:avLst/>
                          <a:gdLst>
                            <a:gd name="T0" fmla="*/ 0 w 389"/>
                            <a:gd name="T1" fmla="*/ 104 h 406"/>
                            <a:gd name="T2" fmla="*/ 52 w 389"/>
                            <a:gd name="T3" fmla="*/ 125 h 406"/>
                            <a:gd name="T4" fmla="*/ 79 w 389"/>
                            <a:gd name="T5" fmla="*/ 133 h 406"/>
                            <a:gd name="T6" fmla="*/ 111 w 389"/>
                            <a:gd name="T7" fmla="*/ 137 h 406"/>
                            <a:gd name="T8" fmla="*/ 142 w 389"/>
                            <a:gd name="T9" fmla="*/ 139 h 406"/>
                            <a:gd name="T10" fmla="*/ 135 w 389"/>
                            <a:gd name="T11" fmla="*/ 157 h 406"/>
                            <a:gd name="T12" fmla="*/ 129 w 389"/>
                            <a:gd name="T13" fmla="*/ 181 h 406"/>
                            <a:gd name="T14" fmla="*/ 125 w 389"/>
                            <a:gd name="T15" fmla="*/ 206 h 406"/>
                            <a:gd name="T16" fmla="*/ 116 w 389"/>
                            <a:gd name="T17" fmla="*/ 217 h 406"/>
                            <a:gd name="T18" fmla="*/ 100 w 389"/>
                            <a:gd name="T19" fmla="*/ 226 h 406"/>
                            <a:gd name="T20" fmla="*/ 77 w 389"/>
                            <a:gd name="T21" fmla="*/ 236 h 406"/>
                            <a:gd name="T22" fmla="*/ 67 w 389"/>
                            <a:gd name="T23" fmla="*/ 250 h 406"/>
                            <a:gd name="T24" fmla="*/ 64 w 389"/>
                            <a:gd name="T25" fmla="*/ 266 h 406"/>
                            <a:gd name="T26" fmla="*/ 67 w 389"/>
                            <a:gd name="T27" fmla="*/ 287 h 406"/>
                            <a:gd name="T28" fmla="*/ 76 w 389"/>
                            <a:gd name="T29" fmla="*/ 307 h 406"/>
                            <a:gd name="T30" fmla="*/ 85 w 389"/>
                            <a:gd name="T31" fmla="*/ 321 h 406"/>
                            <a:gd name="T32" fmla="*/ 100 w 389"/>
                            <a:gd name="T33" fmla="*/ 335 h 406"/>
                            <a:gd name="T34" fmla="*/ 108 w 389"/>
                            <a:gd name="T35" fmla="*/ 329 h 406"/>
                            <a:gd name="T36" fmla="*/ 120 w 389"/>
                            <a:gd name="T37" fmla="*/ 326 h 406"/>
                            <a:gd name="T38" fmla="*/ 131 w 389"/>
                            <a:gd name="T39" fmla="*/ 328 h 406"/>
                            <a:gd name="T40" fmla="*/ 125 w 389"/>
                            <a:gd name="T41" fmla="*/ 359 h 406"/>
                            <a:gd name="T42" fmla="*/ 138 w 389"/>
                            <a:gd name="T43" fmla="*/ 367 h 406"/>
                            <a:gd name="T44" fmla="*/ 150 w 389"/>
                            <a:gd name="T45" fmla="*/ 375 h 406"/>
                            <a:gd name="T46" fmla="*/ 159 w 389"/>
                            <a:gd name="T47" fmla="*/ 389 h 406"/>
                            <a:gd name="T48" fmla="*/ 164 w 389"/>
                            <a:gd name="T49" fmla="*/ 400 h 406"/>
                            <a:gd name="T50" fmla="*/ 175 w 389"/>
                            <a:gd name="T51" fmla="*/ 405 h 406"/>
                            <a:gd name="T52" fmla="*/ 187 w 389"/>
                            <a:gd name="T53" fmla="*/ 406 h 406"/>
                            <a:gd name="T54" fmla="*/ 205 w 389"/>
                            <a:gd name="T55" fmla="*/ 394 h 406"/>
                            <a:gd name="T56" fmla="*/ 219 w 389"/>
                            <a:gd name="T57" fmla="*/ 380 h 406"/>
                            <a:gd name="T58" fmla="*/ 227 w 389"/>
                            <a:gd name="T59" fmla="*/ 368 h 406"/>
                            <a:gd name="T60" fmla="*/ 232 w 389"/>
                            <a:gd name="T61" fmla="*/ 343 h 406"/>
                            <a:gd name="T62" fmla="*/ 237 w 389"/>
                            <a:gd name="T63" fmla="*/ 315 h 406"/>
                            <a:gd name="T64" fmla="*/ 249 w 389"/>
                            <a:gd name="T65" fmla="*/ 303 h 406"/>
                            <a:gd name="T66" fmla="*/ 296 w 389"/>
                            <a:gd name="T67" fmla="*/ 287 h 406"/>
                            <a:gd name="T68" fmla="*/ 338 w 389"/>
                            <a:gd name="T69" fmla="*/ 269 h 406"/>
                            <a:gd name="T70" fmla="*/ 368 w 389"/>
                            <a:gd name="T71" fmla="*/ 251 h 406"/>
                            <a:gd name="T72" fmla="*/ 389 w 389"/>
                            <a:gd name="T73" fmla="*/ 227 h 406"/>
                            <a:gd name="T74" fmla="*/ 352 w 389"/>
                            <a:gd name="T75" fmla="*/ 80 h 406"/>
                            <a:gd name="T76" fmla="*/ 125 w 389"/>
                            <a:gd name="T77" fmla="*/ 0 h 406"/>
                            <a:gd name="T78" fmla="*/ 0 w 389"/>
                            <a:gd name="T79" fmla="*/ 104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89" h="406">
                              <a:moveTo>
                                <a:pt x="0" y="104"/>
                              </a:moveTo>
                              <a:lnTo>
                                <a:pt x="52" y="125"/>
                              </a:lnTo>
                              <a:lnTo>
                                <a:pt x="79" y="133"/>
                              </a:lnTo>
                              <a:lnTo>
                                <a:pt x="111" y="137"/>
                              </a:lnTo>
                              <a:lnTo>
                                <a:pt x="142" y="139"/>
                              </a:lnTo>
                              <a:lnTo>
                                <a:pt x="135" y="157"/>
                              </a:lnTo>
                              <a:lnTo>
                                <a:pt x="129" y="181"/>
                              </a:lnTo>
                              <a:lnTo>
                                <a:pt x="125" y="206"/>
                              </a:lnTo>
                              <a:lnTo>
                                <a:pt x="116" y="217"/>
                              </a:lnTo>
                              <a:lnTo>
                                <a:pt x="100" y="226"/>
                              </a:lnTo>
                              <a:lnTo>
                                <a:pt x="77" y="236"/>
                              </a:lnTo>
                              <a:lnTo>
                                <a:pt x="67" y="250"/>
                              </a:lnTo>
                              <a:lnTo>
                                <a:pt x="64" y="266"/>
                              </a:lnTo>
                              <a:lnTo>
                                <a:pt x="67" y="287"/>
                              </a:lnTo>
                              <a:lnTo>
                                <a:pt x="76" y="307"/>
                              </a:lnTo>
                              <a:lnTo>
                                <a:pt x="85" y="321"/>
                              </a:lnTo>
                              <a:lnTo>
                                <a:pt x="100" y="335"/>
                              </a:lnTo>
                              <a:lnTo>
                                <a:pt x="108" y="329"/>
                              </a:lnTo>
                              <a:lnTo>
                                <a:pt x="120" y="326"/>
                              </a:lnTo>
                              <a:lnTo>
                                <a:pt x="131" y="328"/>
                              </a:lnTo>
                              <a:lnTo>
                                <a:pt x="125" y="359"/>
                              </a:lnTo>
                              <a:lnTo>
                                <a:pt x="138" y="367"/>
                              </a:lnTo>
                              <a:lnTo>
                                <a:pt x="150" y="375"/>
                              </a:lnTo>
                              <a:lnTo>
                                <a:pt x="159" y="389"/>
                              </a:lnTo>
                              <a:lnTo>
                                <a:pt x="164" y="400"/>
                              </a:lnTo>
                              <a:lnTo>
                                <a:pt x="175" y="405"/>
                              </a:lnTo>
                              <a:lnTo>
                                <a:pt x="187" y="406"/>
                              </a:lnTo>
                              <a:lnTo>
                                <a:pt x="205" y="394"/>
                              </a:lnTo>
                              <a:lnTo>
                                <a:pt x="219" y="380"/>
                              </a:lnTo>
                              <a:lnTo>
                                <a:pt x="227" y="368"/>
                              </a:lnTo>
                              <a:lnTo>
                                <a:pt x="232" y="343"/>
                              </a:lnTo>
                              <a:lnTo>
                                <a:pt x="237" y="315"/>
                              </a:lnTo>
                              <a:lnTo>
                                <a:pt x="249" y="303"/>
                              </a:lnTo>
                              <a:lnTo>
                                <a:pt x="296" y="287"/>
                              </a:lnTo>
                              <a:lnTo>
                                <a:pt x="338" y="269"/>
                              </a:lnTo>
                              <a:lnTo>
                                <a:pt x="368" y="251"/>
                              </a:lnTo>
                              <a:lnTo>
                                <a:pt x="389" y="227"/>
                              </a:lnTo>
                              <a:lnTo>
                                <a:pt x="352" y="80"/>
                              </a:lnTo>
                              <a:lnTo>
                                <a:pt x="125" y="0"/>
                              </a:lnTo>
                              <a:lnTo>
                                <a:pt x="0" y="104"/>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8" name="Freeform 360"/>
                        <p:cNvSpPr/>
                        <p:nvPr/>
                      </p:nvSpPr>
                      <p:spPr bwMode="auto">
                        <a:xfrm>
                          <a:off x="2653" y="3000"/>
                          <a:ext cx="12" cy="8"/>
                        </a:xfrm>
                        <a:custGeom>
                          <a:avLst/>
                          <a:gdLst>
                            <a:gd name="T0" fmla="*/ 9 w 79"/>
                            <a:gd name="T1" fmla="*/ 61 h 64"/>
                            <a:gd name="T2" fmla="*/ 0 w 79"/>
                            <a:gd name="T3" fmla="*/ 56 h 64"/>
                            <a:gd name="T4" fmla="*/ 0 w 79"/>
                            <a:gd name="T5" fmla="*/ 48 h 64"/>
                            <a:gd name="T6" fmla="*/ 8 w 79"/>
                            <a:gd name="T7" fmla="*/ 45 h 64"/>
                            <a:gd name="T8" fmla="*/ 22 w 79"/>
                            <a:gd name="T9" fmla="*/ 43 h 64"/>
                            <a:gd name="T10" fmla="*/ 35 w 79"/>
                            <a:gd name="T11" fmla="*/ 45 h 64"/>
                            <a:gd name="T12" fmla="*/ 51 w 79"/>
                            <a:gd name="T13" fmla="*/ 50 h 64"/>
                            <a:gd name="T14" fmla="*/ 60 w 79"/>
                            <a:gd name="T15" fmla="*/ 33 h 64"/>
                            <a:gd name="T16" fmla="*/ 60 w 79"/>
                            <a:gd name="T17" fmla="*/ 20 h 64"/>
                            <a:gd name="T18" fmla="*/ 56 w 79"/>
                            <a:gd name="T19" fmla="*/ 10 h 64"/>
                            <a:gd name="T20" fmla="*/ 46 w 79"/>
                            <a:gd name="T21" fmla="*/ 7 h 64"/>
                            <a:gd name="T22" fmla="*/ 36 w 79"/>
                            <a:gd name="T23" fmla="*/ 10 h 64"/>
                            <a:gd name="T24" fmla="*/ 29 w 79"/>
                            <a:gd name="T25" fmla="*/ 16 h 64"/>
                            <a:gd name="T26" fmla="*/ 31 w 79"/>
                            <a:gd name="T27" fmla="*/ 7 h 64"/>
                            <a:gd name="T28" fmla="*/ 40 w 79"/>
                            <a:gd name="T29" fmla="*/ 0 h 64"/>
                            <a:gd name="T30" fmla="*/ 54 w 79"/>
                            <a:gd name="T31" fmla="*/ 0 h 64"/>
                            <a:gd name="T32" fmla="*/ 70 w 79"/>
                            <a:gd name="T33" fmla="*/ 6 h 64"/>
                            <a:gd name="T34" fmla="*/ 77 w 79"/>
                            <a:gd name="T35" fmla="*/ 15 h 64"/>
                            <a:gd name="T36" fmla="*/ 79 w 79"/>
                            <a:gd name="T37" fmla="*/ 26 h 64"/>
                            <a:gd name="T38" fmla="*/ 77 w 79"/>
                            <a:gd name="T39" fmla="*/ 41 h 64"/>
                            <a:gd name="T40" fmla="*/ 69 w 79"/>
                            <a:gd name="T41" fmla="*/ 55 h 64"/>
                            <a:gd name="T42" fmla="*/ 59 w 79"/>
                            <a:gd name="T43" fmla="*/ 62 h 64"/>
                            <a:gd name="T44" fmla="*/ 42 w 79"/>
                            <a:gd name="T45" fmla="*/ 64 h 64"/>
                            <a:gd name="T46" fmla="*/ 32 w 79"/>
                            <a:gd name="T47" fmla="*/ 61 h 64"/>
                            <a:gd name="T48" fmla="*/ 22 w 79"/>
                            <a:gd name="T49" fmla="*/ 58 h 64"/>
                            <a:gd name="T50" fmla="*/ 9 w 79"/>
                            <a:gd name="T51" fmla="*/ 6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4">
                              <a:moveTo>
                                <a:pt x="9" y="61"/>
                              </a:moveTo>
                              <a:lnTo>
                                <a:pt x="0" y="56"/>
                              </a:lnTo>
                              <a:lnTo>
                                <a:pt x="0" y="48"/>
                              </a:lnTo>
                              <a:lnTo>
                                <a:pt x="8" y="45"/>
                              </a:lnTo>
                              <a:lnTo>
                                <a:pt x="22" y="43"/>
                              </a:lnTo>
                              <a:lnTo>
                                <a:pt x="35" y="45"/>
                              </a:lnTo>
                              <a:lnTo>
                                <a:pt x="51" y="50"/>
                              </a:lnTo>
                              <a:lnTo>
                                <a:pt x="60" y="33"/>
                              </a:lnTo>
                              <a:lnTo>
                                <a:pt x="60" y="20"/>
                              </a:lnTo>
                              <a:lnTo>
                                <a:pt x="56" y="10"/>
                              </a:lnTo>
                              <a:lnTo>
                                <a:pt x="46" y="7"/>
                              </a:lnTo>
                              <a:lnTo>
                                <a:pt x="36" y="10"/>
                              </a:lnTo>
                              <a:lnTo>
                                <a:pt x="29" y="16"/>
                              </a:lnTo>
                              <a:lnTo>
                                <a:pt x="31" y="7"/>
                              </a:lnTo>
                              <a:lnTo>
                                <a:pt x="40" y="0"/>
                              </a:lnTo>
                              <a:lnTo>
                                <a:pt x="54" y="0"/>
                              </a:lnTo>
                              <a:lnTo>
                                <a:pt x="70" y="6"/>
                              </a:lnTo>
                              <a:lnTo>
                                <a:pt x="77" y="15"/>
                              </a:lnTo>
                              <a:lnTo>
                                <a:pt x="79" y="26"/>
                              </a:lnTo>
                              <a:lnTo>
                                <a:pt x="77" y="41"/>
                              </a:lnTo>
                              <a:lnTo>
                                <a:pt x="69" y="55"/>
                              </a:lnTo>
                              <a:lnTo>
                                <a:pt x="59" y="62"/>
                              </a:lnTo>
                              <a:lnTo>
                                <a:pt x="42" y="64"/>
                              </a:lnTo>
                              <a:lnTo>
                                <a:pt x="32" y="61"/>
                              </a:lnTo>
                              <a:lnTo>
                                <a:pt x="22" y="58"/>
                              </a:lnTo>
                              <a:lnTo>
                                <a:pt x="9" y="61"/>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9" name="Freeform 361"/>
                        <p:cNvSpPr/>
                        <p:nvPr/>
                      </p:nvSpPr>
                      <p:spPr bwMode="auto">
                        <a:xfrm>
                          <a:off x="2675" y="3017"/>
                          <a:ext cx="8" cy="4"/>
                        </a:xfrm>
                        <a:custGeom>
                          <a:avLst/>
                          <a:gdLst>
                            <a:gd name="T0" fmla="*/ 0 w 62"/>
                            <a:gd name="T1" fmla="*/ 20 h 31"/>
                            <a:gd name="T2" fmla="*/ 15 w 62"/>
                            <a:gd name="T3" fmla="*/ 13 h 31"/>
                            <a:gd name="T4" fmla="*/ 30 w 62"/>
                            <a:gd name="T5" fmla="*/ 0 h 31"/>
                            <a:gd name="T6" fmla="*/ 37 w 62"/>
                            <a:gd name="T7" fmla="*/ 5 h 31"/>
                            <a:gd name="T8" fmla="*/ 45 w 62"/>
                            <a:gd name="T9" fmla="*/ 12 h 31"/>
                            <a:gd name="T10" fmla="*/ 53 w 62"/>
                            <a:gd name="T11" fmla="*/ 15 h 31"/>
                            <a:gd name="T12" fmla="*/ 62 w 62"/>
                            <a:gd name="T13" fmla="*/ 17 h 31"/>
                            <a:gd name="T14" fmla="*/ 47 w 62"/>
                            <a:gd name="T15" fmla="*/ 26 h 31"/>
                            <a:gd name="T16" fmla="*/ 33 w 62"/>
                            <a:gd name="T17" fmla="*/ 31 h 31"/>
                            <a:gd name="T18" fmla="*/ 21 w 62"/>
                            <a:gd name="T19" fmla="*/ 30 h 31"/>
                            <a:gd name="T20" fmla="*/ 11 w 62"/>
                            <a:gd name="T21" fmla="*/ 27 h 31"/>
                            <a:gd name="T22" fmla="*/ 0 w 62"/>
                            <a:gd name="T23" fmla="*/ 2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31">
                              <a:moveTo>
                                <a:pt x="0" y="20"/>
                              </a:moveTo>
                              <a:lnTo>
                                <a:pt x="15" y="13"/>
                              </a:lnTo>
                              <a:lnTo>
                                <a:pt x="30" y="0"/>
                              </a:lnTo>
                              <a:lnTo>
                                <a:pt x="37" y="5"/>
                              </a:lnTo>
                              <a:lnTo>
                                <a:pt x="45" y="12"/>
                              </a:lnTo>
                              <a:lnTo>
                                <a:pt x="53" y="15"/>
                              </a:lnTo>
                              <a:lnTo>
                                <a:pt x="62" y="17"/>
                              </a:lnTo>
                              <a:lnTo>
                                <a:pt x="47" y="26"/>
                              </a:lnTo>
                              <a:lnTo>
                                <a:pt x="33" y="31"/>
                              </a:lnTo>
                              <a:lnTo>
                                <a:pt x="21" y="30"/>
                              </a:lnTo>
                              <a:lnTo>
                                <a:pt x="11" y="27"/>
                              </a:lnTo>
                              <a:lnTo>
                                <a:pt x="0" y="2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nvGrpSpPr>
                  <p:cNvPr id="642410" name="Group 362"/>
                  <p:cNvGrpSpPr/>
                  <p:nvPr/>
                </p:nvGrpSpPr>
                <p:grpSpPr bwMode="auto">
                  <a:xfrm>
                    <a:off x="2661" y="3006"/>
                    <a:ext cx="13" cy="10"/>
                    <a:chOff x="2661" y="3006"/>
                    <a:chExt cx="13" cy="10"/>
                  </a:xfrm>
                </p:grpSpPr>
                <p:sp>
                  <p:nvSpPr>
                    <p:cNvPr id="642411" name="Freeform 363"/>
                    <p:cNvSpPr/>
                    <p:nvPr/>
                  </p:nvSpPr>
                  <p:spPr bwMode="auto">
                    <a:xfrm>
                      <a:off x="2662" y="3006"/>
                      <a:ext cx="12" cy="8"/>
                    </a:xfrm>
                    <a:custGeom>
                      <a:avLst/>
                      <a:gdLst>
                        <a:gd name="T0" fmla="*/ 0 w 80"/>
                        <a:gd name="T1" fmla="*/ 44 h 65"/>
                        <a:gd name="T2" fmla="*/ 18 w 80"/>
                        <a:gd name="T3" fmla="*/ 47 h 65"/>
                        <a:gd name="T4" fmla="*/ 26 w 80"/>
                        <a:gd name="T5" fmla="*/ 59 h 65"/>
                        <a:gd name="T6" fmla="*/ 31 w 80"/>
                        <a:gd name="T7" fmla="*/ 65 h 65"/>
                        <a:gd name="T8" fmla="*/ 60 w 80"/>
                        <a:gd name="T9" fmla="*/ 54 h 65"/>
                        <a:gd name="T10" fmla="*/ 69 w 80"/>
                        <a:gd name="T11" fmla="*/ 39 h 65"/>
                        <a:gd name="T12" fmla="*/ 80 w 80"/>
                        <a:gd name="T13" fmla="*/ 0 h 65"/>
                        <a:gd name="T14" fmla="*/ 68 w 80"/>
                        <a:gd name="T15" fmla="*/ 7 h 65"/>
                        <a:gd name="T16" fmla="*/ 0 w 80"/>
                        <a:gd name="T17" fmla="*/ 44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65">
                          <a:moveTo>
                            <a:pt x="0" y="44"/>
                          </a:moveTo>
                          <a:lnTo>
                            <a:pt x="18" y="47"/>
                          </a:lnTo>
                          <a:lnTo>
                            <a:pt x="26" y="59"/>
                          </a:lnTo>
                          <a:lnTo>
                            <a:pt x="31" y="65"/>
                          </a:lnTo>
                          <a:lnTo>
                            <a:pt x="60" y="54"/>
                          </a:lnTo>
                          <a:lnTo>
                            <a:pt x="69" y="39"/>
                          </a:lnTo>
                          <a:lnTo>
                            <a:pt x="80" y="0"/>
                          </a:lnTo>
                          <a:lnTo>
                            <a:pt x="68" y="7"/>
                          </a:lnTo>
                          <a:lnTo>
                            <a:pt x="0" y="44"/>
                          </a:lnTo>
                          <a:close/>
                        </a:path>
                      </a:pathLst>
                    </a:custGeom>
                    <a:solidFill>
                      <a:srgbClr val="E04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2" name="Freeform 364"/>
                    <p:cNvSpPr/>
                    <p:nvPr/>
                  </p:nvSpPr>
                  <p:spPr bwMode="auto">
                    <a:xfrm>
                      <a:off x="2664" y="3006"/>
                      <a:ext cx="10" cy="8"/>
                    </a:xfrm>
                    <a:custGeom>
                      <a:avLst/>
                      <a:gdLst>
                        <a:gd name="T0" fmla="*/ 0 w 70"/>
                        <a:gd name="T1" fmla="*/ 42 h 59"/>
                        <a:gd name="T2" fmla="*/ 16 w 70"/>
                        <a:gd name="T3" fmla="*/ 59 h 59"/>
                        <a:gd name="T4" fmla="*/ 26 w 70"/>
                        <a:gd name="T5" fmla="*/ 56 h 59"/>
                        <a:gd name="T6" fmla="*/ 69 w 70"/>
                        <a:gd name="T7" fmla="*/ 6 h 59"/>
                        <a:gd name="T8" fmla="*/ 70 w 70"/>
                        <a:gd name="T9" fmla="*/ 0 h 59"/>
                        <a:gd name="T10" fmla="*/ 0 w 70"/>
                        <a:gd name="T11" fmla="*/ 42 h 59"/>
                      </a:gdLst>
                      <a:ahLst/>
                      <a:cxnLst>
                        <a:cxn ang="0">
                          <a:pos x="T0" y="T1"/>
                        </a:cxn>
                        <a:cxn ang="0">
                          <a:pos x="T2" y="T3"/>
                        </a:cxn>
                        <a:cxn ang="0">
                          <a:pos x="T4" y="T5"/>
                        </a:cxn>
                        <a:cxn ang="0">
                          <a:pos x="T6" y="T7"/>
                        </a:cxn>
                        <a:cxn ang="0">
                          <a:pos x="T8" y="T9"/>
                        </a:cxn>
                        <a:cxn ang="0">
                          <a:pos x="T10" y="T11"/>
                        </a:cxn>
                      </a:cxnLst>
                      <a:rect l="0" t="0" r="r" b="b"/>
                      <a:pathLst>
                        <a:path w="70" h="59">
                          <a:moveTo>
                            <a:pt x="0" y="42"/>
                          </a:moveTo>
                          <a:lnTo>
                            <a:pt x="16" y="59"/>
                          </a:lnTo>
                          <a:lnTo>
                            <a:pt x="26" y="56"/>
                          </a:lnTo>
                          <a:lnTo>
                            <a:pt x="69" y="6"/>
                          </a:lnTo>
                          <a:lnTo>
                            <a:pt x="70" y="0"/>
                          </a:lnTo>
                          <a:lnTo>
                            <a:pt x="0" y="4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3" name="Freeform 365"/>
                    <p:cNvSpPr/>
                    <p:nvPr/>
                  </p:nvSpPr>
                  <p:spPr bwMode="auto">
                    <a:xfrm>
                      <a:off x="2661" y="3006"/>
                      <a:ext cx="13" cy="7"/>
                    </a:xfrm>
                    <a:custGeom>
                      <a:avLst/>
                      <a:gdLst>
                        <a:gd name="T0" fmla="*/ 90 w 90"/>
                        <a:gd name="T1" fmla="*/ 0 h 54"/>
                        <a:gd name="T2" fmla="*/ 74 w 90"/>
                        <a:gd name="T3" fmla="*/ 9 h 54"/>
                        <a:gd name="T4" fmla="*/ 51 w 90"/>
                        <a:gd name="T5" fmla="*/ 18 h 54"/>
                        <a:gd name="T6" fmla="*/ 27 w 90"/>
                        <a:gd name="T7" fmla="*/ 22 h 54"/>
                        <a:gd name="T8" fmla="*/ 10 w 90"/>
                        <a:gd name="T9" fmla="*/ 32 h 54"/>
                        <a:gd name="T10" fmla="*/ 3 w 90"/>
                        <a:gd name="T11" fmla="*/ 39 h 54"/>
                        <a:gd name="T12" fmla="*/ 0 w 90"/>
                        <a:gd name="T13" fmla="*/ 49 h 54"/>
                        <a:gd name="T14" fmla="*/ 5 w 90"/>
                        <a:gd name="T15" fmla="*/ 54 h 54"/>
                        <a:gd name="T16" fmla="*/ 14 w 90"/>
                        <a:gd name="T17" fmla="*/ 54 h 54"/>
                        <a:gd name="T18" fmla="*/ 22 w 90"/>
                        <a:gd name="T19" fmla="*/ 53 h 54"/>
                        <a:gd name="T20" fmla="*/ 38 w 90"/>
                        <a:gd name="T21" fmla="*/ 45 h 54"/>
                        <a:gd name="T22" fmla="*/ 55 w 90"/>
                        <a:gd name="T23" fmla="*/ 31 h 54"/>
                        <a:gd name="T24" fmla="*/ 85 w 90"/>
                        <a:gd name="T25" fmla="*/ 9 h 54"/>
                        <a:gd name="T26" fmla="*/ 90 w 90"/>
                        <a:gd name="T27"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 h="54">
                          <a:moveTo>
                            <a:pt x="90" y="0"/>
                          </a:moveTo>
                          <a:lnTo>
                            <a:pt x="74" y="9"/>
                          </a:lnTo>
                          <a:lnTo>
                            <a:pt x="51" y="18"/>
                          </a:lnTo>
                          <a:lnTo>
                            <a:pt x="27" y="22"/>
                          </a:lnTo>
                          <a:lnTo>
                            <a:pt x="10" y="32"/>
                          </a:lnTo>
                          <a:lnTo>
                            <a:pt x="3" y="39"/>
                          </a:lnTo>
                          <a:lnTo>
                            <a:pt x="0" y="49"/>
                          </a:lnTo>
                          <a:lnTo>
                            <a:pt x="5" y="54"/>
                          </a:lnTo>
                          <a:lnTo>
                            <a:pt x="14" y="54"/>
                          </a:lnTo>
                          <a:lnTo>
                            <a:pt x="22" y="53"/>
                          </a:lnTo>
                          <a:lnTo>
                            <a:pt x="38" y="45"/>
                          </a:lnTo>
                          <a:lnTo>
                            <a:pt x="55" y="31"/>
                          </a:lnTo>
                          <a:lnTo>
                            <a:pt x="85" y="9"/>
                          </a:lnTo>
                          <a:lnTo>
                            <a:pt x="90" y="0"/>
                          </a:lnTo>
                          <a:close/>
                        </a:path>
                      </a:pathLst>
                    </a:custGeom>
                    <a:solidFill>
                      <a:srgbClr val="FF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4" name="Freeform 366"/>
                    <p:cNvSpPr/>
                    <p:nvPr/>
                  </p:nvSpPr>
                  <p:spPr bwMode="auto">
                    <a:xfrm>
                      <a:off x="2665" y="3006"/>
                      <a:ext cx="9" cy="10"/>
                    </a:xfrm>
                    <a:custGeom>
                      <a:avLst/>
                      <a:gdLst>
                        <a:gd name="T0" fmla="*/ 59 w 59"/>
                        <a:gd name="T1" fmla="*/ 0 h 80"/>
                        <a:gd name="T2" fmla="*/ 45 w 59"/>
                        <a:gd name="T3" fmla="*/ 28 h 80"/>
                        <a:gd name="T4" fmla="*/ 31 w 59"/>
                        <a:gd name="T5" fmla="*/ 44 h 80"/>
                        <a:gd name="T6" fmla="*/ 24 w 59"/>
                        <a:gd name="T7" fmla="*/ 56 h 80"/>
                        <a:gd name="T8" fmla="*/ 16 w 59"/>
                        <a:gd name="T9" fmla="*/ 60 h 80"/>
                        <a:gd name="T10" fmla="*/ 9 w 59"/>
                        <a:gd name="T11" fmla="*/ 60 h 80"/>
                        <a:gd name="T12" fmla="*/ 0 w 59"/>
                        <a:gd name="T13" fmla="*/ 57 h 80"/>
                        <a:gd name="T14" fmla="*/ 2 w 59"/>
                        <a:gd name="T15" fmla="*/ 66 h 80"/>
                        <a:gd name="T16" fmla="*/ 7 w 59"/>
                        <a:gd name="T17" fmla="*/ 71 h 80"/>
                        <a:gd name="T18" fmla="*/ 20 w 59"/>
                        <a:gd name="T19" fmla="*/ 78 h 80"/>
                        <a:gd name="T20" fmla="*/ 28 w 59"/>
                        <a:gd name="T21" fmla="*/ 80 h 80"/>
                        <a:gd name="T22" fmla="*/ 37 w 59"/>
                        <a:gd name="T23" fmla="*/ 79 h 80"/>
                        <a:gd name="T24" fmla="*/ 46 w 59"/>
                        <a:gd name="T25" fmla="*/ 71 h 80"/>
                        <a:gd name="T26" fmla="*/ 53 w 59"/>
                        <a:gd name="T27" fmla="*/ 60 h 80"/>
                        <a:gd name="T28" fmla="*/ 56 w 59"/>
                        <a:gd name="T29" fmla="*/ 47 h 80"/>
                        <a:gd name="T30" fmla="*/ 54 w 59"/>
                        <a:gd name="T31" fmla="*/ 31 h 80"/>
                        <a:gd name="T32" fmla="*/ 59 w 59"/>
                        <a:gd name="T3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9" h="80">
                          <a:moveTo>
                            <a:pt x="59" y="0"/>
                          </a:moveTo>
                          <a:lnTo>
                            <a:pt x="45" y="28"/>
                          </a:lnTo>
                          <a:lnTo>
                            <a:pt x="31" y="44"/>
                          </a:lnTo>
                          <a:lnTo>
                            <a:pt x="24" y="56"/>
                          </a:lnTo>
                          <a:lnTo>
                            <a:pt x="16" y="60"/>
                          </a:lnTo>
                          <a:lnTo>
                            <a:pt x="9" y="60"/>
                          </a:lnTo>
                          <a:lnTo>
                            <a:pt x="0" y="57"/>
                          </a:lnTo>
                          <a:lnTo>
                            <a:pt x="2" y="66"/>
                          </a:lnTo>
                          <a:lnTo>
                            <a:pt x="7" y="71"/>
                          </a:lnTo>
                          <a:lnTo>
                            <a:pt x="20" y="78"/>
                          </a:lnTo>
                          <a:lnTo>
                            <a:pt x="28" y="80"/>
                          </a:lnTo>
                          <a:lnTo>
                            <a:pt x="37" y="79"/>
                          </a:lnTo>
                          <a:lnTo>
                            <a:pt x="46" y="71"/>
                          </a:lnTo>
                          <a:lnTo>
                            <a:pt x="53" y="60"/>
                          </a:lnTo>
                          <a:lnTo>
                            <a:pt x="56" y="47"/>
                          </a:lnTo>
                          <a:lnTo>
                            <a:pt x="54" y="31"/>
                          </a:lnTo>
                          <a:lnTo>
                            <a:pt x="59" y="0"/>
                          </a:lnTo>
                          <a:close/>
                        </a:path>
                      </a:pathLst>
                    </a:custGeom>
                    <a:solidFill>
                      <a:srgbClr val="FF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642415" name="Freeform 367"/>
                  <p:cNvSpPr/>
                  <p:nvPr/>
                </p:nvSpPr>
                <p:spPr bwMode="auto">
                  <a:xfrm>
                    <a:off x="2654" y="2986"/>
                    <a:ext cx="10" cy="8"/>
                  </a:xfrm>
                  <a:custGeom>
                    <a:avLst/>
                    <a:gdLst>
                      <a:gd name="T0" fmla="*/ 0 w 72"/>
                      <a:gd name="T1" fmla="*/ 36 h 67"/>
                      <a:gd name="T2" fmla="*/ 8 w 72"/>
                      <a:gd name="T3" fmla="*/ 25 h 67"/>
                      <a:gd name="T4" fmla="*/ 21 w 72"/>
                      <a:gd name="T5" fmla="*/ 15 h 67"/>
                      <a:gd name="T6" fmla="*/ 37 w 72"/>
                      <a:gd name="T7" fmla="*/ 7 h 67"/>
                      <a:gd name="T8" fmla="*/ 53 w 72"/>
                      <a:gd name="T9" fmla="*/ 3 h 67"/>
                      <a:gd name="T10" fmla="*/ 70 w 72"/>
                      <a:gd name="T11" fmla="*/ 0 h 67"/>
                      <a:gd name="T12" fmla="*/ 71 w 72"/>
                      <a:gd name="T13" fmla="*/ 10 h 67"/>
                      <a:gd name="T14" fmla="*/ 72 w 72"/>
                      <a:gd name="T15" fmla="*/ 24 h 67"/>
                      <a:gd name="T16" fmla="*/ 69 w 72"/>
                      <a:gd name="T17" fmla="*/ 39 h 67"/>
                      <a:gd name="T18" fmla="*/ 62 w 72"/>
                      <a:gd name="T19" fmla="*/ 53 h 67"/>
                      <a:gd name="T20" fmla="*/ 51 w 72"/>
                      <a:gd name="T21" fmla="*/ 62 h 67"/>
                      <a:gd name="T22" fmla="*/ 36 w 72"/>
                      <a:gd name="T23" fmla="*/ 67 h 67"/>
                      <a:gd name="T24" fmla="*/ 30 w 72"/>
                      <a:gd name="T25" fmla="*/ 56 h 67"/>
                      <a:gd name="T26" fmla="*/ 21 w 72"/>
                      <a:gd name="T27" fmla="*/ 49 h 67"/>
                      <a:gd name="T28" fmla="*/ 16 w 72"/>
                      <a:gd name="T29" fmla="*/ 44 h 67"/>
                      <a:gd name="T30" fmla="*/ 6 w 72"/>
                      <a:gd name="T31" fmla="*/ 41 h 67"/>
                      <a:gd name="T32" fmla="*/ 0 w 72"/>
                      <a:gd name="T33" fmla="*/ 36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2" h="67">
                        <a:moveTo>
                          <a:pt x="0" y="36"/>
                        </a:moveTo>
                        <a:lnTo>
                          <a:pt x="8" y="25"/>
                        </a:lnTo>
                        <a:lnTo>
                          <a:pt x="21" y="15"/>
                        </a:lnTo>
                        <a:lnTo>
                          <a:pt x="37" y="7"/>
                        </a:lnTo>
                        <a:lnTo>
                          <a:pt x="53" y="3"/>
                        </a:lnTo>
                        <a:lnTo>
                          <a:pt x="70" y="0"/>
                        </a:lnTo>
                        <a:lnTo>
                          <a:pt x="71" y="10"/>
                        </a:lnTo>
                        <a:lnTo>
                          <a:pt x="72" y="24"/>
                        </a:lnTo>
                        <a:lnTo>
                          <a:pt x="69" y="39"/>
                        </a:lnTo>
                        <a:lnTo>
                          <a:pt x="62" y="53"/>
                        </a:lnTo>
                        <a:lnTo>
                          <a:pt x="51" y="62"/>
                        </a:lnTo>
                        <a:lnTo>
                          <a:pt x="36" y="67"/>
                        </a:lnTo>
                        <a:lnTo>
                          <a:pt x="30" y="56"/>
                        </a:lnTo>
                        <a:lnTo>
                          <a:pt x="21" y="49"/>
                        </a:lnTo>
                        <a:lnTo>
                          <a:pt x="16" y="44"/>
                        </a:lnTo>
                        <a:lnTo>
                          <a:pt x="6" y="41"/>
                        </a:lnTo>
                        <a:lnTo>
                          <a:pt x="0" y="36"/>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6" name="Freeform 368"/>
                  <p:cNvSpPr/>
                  <p:nvPr/>
                </p:nvSpPr>
                <p:spPr bwMode="auto">
                  <a:xfrm>
                    <a:off x="2659" y="2986"/>
                    <a:ext cx="5" cy="5"/>
                  </a:xfrm>
                  <a:custGeom>
                    <a:avLst/>
                    <a:gdLst>
                      <a:gd name="T0" fmla="*/ 0 w 37"/>
                      <a:gd name="T1" fmla="*/ 24 h 40"/>
                      <a:gd name="T2" fmla="*/ 16 w 37"/>
                      <a:gd name="T3" fmla="*/ 40 h 40"/>
                      <a:gd name="T4" fmla="*/ 27 w 37"/>
                      <a:gd name="T5" fmla="*/ 27 h 40"/>
                      <a:gd name="T6" fmla="*/ 36 w 37"/>
                      <a:gd name="T7" fmla="*/ 8 h 40"/>
                      <a:gd name="T8" fmla="*/ 37 w 37"/>
                      <a:gd name="T9" fmla="*/ 0 h 40"/>
                      <a:gd name="T10" fmla="*/ 24 w 37"/>
                      <a:gd name="T11" fmla="*/ 6 h 40"/>
                      <a:gd name="T12" fmla="*/ 0 w 37"/>
                      <a:gd name="T13" fmla="*/ 24 h 40"/>
                    </a:gdLst>
                    <a:ahLst/>
                    <a:cxnLst>
                      <a:cxn ang="0">
                        <a:pos x="T0" y="T1"/>
                      </a:cxn>
                      <a:cxn ang="0">
                        <a:pos x="T2" y="T3"/>
                      </a:cxn>
                      <a:cxn ang="0">
                        <a:pos x="T4" y="T5"/>
                      </a:cxn>
                      <a:cxn ang="0">
                        <a:pos x="T6" y="T7"/>
                      </a:cxn>
                      <a:cxn ang="0">
                        <a:pos x="T8" y="T9"/>
                      </a:cxn>
                      <a:cxn ang="0">
                        <a:pos x="T10" y="T11"/>
                      </a:cxn>
                      <a:cxn ang="0">
                        <a:pos x="T12" y="T13"/>
                      </a:cxn>
                    </a:cxnLst>
                    <a:rect l="0" t="0" r="r" b="b"/>
                    <a:pathLst>
                      <a:path w="37" h="40">
                        <a:moveTo>
                          <a:pt x="0" y="24"/>
                        </a:moveTo>
                        <a:lnTo>
                          <a:pt x="16" y="40"/>
                        </a:lnTo>
                        <a:lnTo>
                          <a:pt x="27" y="27"/>
                        </a:lnTo>
                        <a:lnTo>
                          <a:pt x="36" y="8"/>
                        </a:lnTo>
                        <a:lnTo>
                          <a:pt x="37" y="0"/>
                        </a:lnTo>
                        <a:lnTo>
                          <a:pt x="24" y="6"/>
                        </a:lnTo>
                        <a:lnTo>
                          <a:pt x="0" y="24"/>
                        </a:lnTo>
                        <a:close/>
                      </a:path>
                    </a:pathLst>
                  </a:custGeom>
                  <a:solidFill>
                    <a:srgbClr val="FFFF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7" name="Freeform 369"/>
                  <p:cNvSpPr/>
                  <p:nvPr/>
                </p:nvSpPr>
                <p:spPr bwMode="auto">
                  <a:xfrm>
                    <a:off x="2657" y="2986"/>
                    <a:ext cx="7" cy="7"/>
                  </a:xfrm>
                  <a:custGeom>
                    <a:avLst/>
                    <a:gdLst>
                      <a:gd name="T0" fmla="*/ 0 w 55"/>
                      <a:gd name="T1" fmla="*/ 53 h 63"/>
                      <a:gd name="T2" fmla="*/ 5 w 55"/>
                      <a:gd name="T3" fmla="*/ 47 h 63"/>
                      <a:gd name="T4" fmla="*/ 12 w 55"/>
                      <a:gd name="T5" fmla="*/ 34 h 63"/>
                      <a:gd name="T6" fmla="*/ 26 w 55"/>
                      <a:gd name="T7" fmla="*/ 24 h 63"/>
                      <a:gd name="T8" fmla="*/ 40 w 55"/>
                      <a:gd name="T9" fmla="*/ 13 h 63"/>
                      <a:gd name="T10" fmla="*/ 51 w 55"/>
                      <a:gd name="T11" fmla="*/ 5 h 63"/>
                      <a:gd name="T12" fmla="*/ 47 w 55"/>
                      <a:gd name="T13" fmla="*/ 17 h 63"/>
                      <a:gd name="T14" fmla="*/ 40 w 55"/>
                      <a:gd name="T15" fmla="*/ 30 h 63"/>
                      <a:gd name="T16" fmla="*/ 34 w 55"/>
                      <a:gd name="T17" fmla="*/ 37 h 63"/>
                      <a:gd name="T18" fmla="*/ 27 w 55"/>
                      <a:gd name="T19" fmla="*/ 53 h 63"/>
                      <a:gd name="T20" fmla="*/ 26 w 55"/>
                      <a:gd name="T21" fmla="*/ 63 h 63"/>
                      <a:gd name="T22" fmla="*/ 30 w 55"/>
                      <a:gd name="T23" fmla="*/ 50 h 63"/>
                      <a:gd name="T24" fmla="*/ 36 w 55"/>
                      <a:gd name="T25" fmla="*/ 41 h 63"/>
                      <a:gd name="T26" fmla="*/ 47 w 55"/>
                      <a:gd name="T27" fmla="*/ 27 h 63"/>
                      <a:gd name="T28" fmla="*/ 51 w 55"/>
                      <a:gd name="T29" fmla="*/ 15 h 63"/>
                      <a:gd name="T30" fmla="*/ 54 w 55"/>
                      <a:gd name="T31" fmla="*/ 7 h 63"/>
                      <a:gd name="T32" fmla="*/ 55 w 55"/>
                      <a:gd name="T33" fmla="*/ 0 h 63"/>
                      <a:gd name="T34" fmla="*/ 47 w 55"/>
                      <a:gd name="T35" fmla="*/ 6 h 63"/>
                      <a:gd name="T36" fmla="*/ 34 w 55"/>
                      <a:gd name="T37" fmla="*/ 12 h 63"/>
                      <a:gd name="T38" fmla="*/ 22 w 55"/>
                      <a:gd name="T39" fmla="*/ 21 h 63"/>
                      <a:gd name="T40" fmla="*/ 11 w 55"/>
                      <a:gd name="T41" fmla="*/ 30 h 63"/>
                      <a:gd name="T42" fmla="*/ 2 w 55"/>
                      <a:gd name="T43" fmla="*/ 41 h 63"/>
                      <a:gd name="T44" fmla="*/ 0 w 55"/>
                      <a:gd name="T45" fmla="*/ 5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5" h="63">
                        <a:moveTo>
                          <a:pt x="0" y="53"/>
                        </a:moveTo>
                        <a:lnTo>
                          <a:pt x="5" y="47"/>
                        </a:lnTo>
                        <a:lnTo>
                          <a:pt x="12" y="34"/>
                        </a:lnTo>
                        <a:lnTo>
                          <a:pt x="26" y="24"/>
                        </a:lnTo>
                        <a:lnTo>
                          <a:pt x="40" y="13"/>
                        </a:lnTo>
                        <a:lnTo>
                          <a:pt x="51" y="5"/>
                        </a:lnTo>
                        <a:lnTo>
                          <a:pt x="47" y="17"/>
                        </a:lnTo>
                        <a:lnTo>
                          <a:pt x="40" y="30"/>
                        </a:lnTo>
                        <a:lnTo>
                          <a:pt x="34" y="37"/>
                        </a:lnTo>
                        <a:lnTo>
                          <a:pt x="27" y="53"/>
                        </a:lnTo>
                        <a:lnTo>
                          <a:pt x="26" y="63"/>
                        </a:lnTo>
                        <a:lnTo>
                          <a:pt x="30" y="50"/>
                        </a:lnTo>
                        <a:lnTo>
                          <a:pt x="36" y="41"/>
                        </a:lnTo>
                        <a:lnTo>
                          <a:pt x="47" y="27"/>
                        </a:lnTo>
                        <a:lnTo>
                          <a:pt x="51" y="15"/>
                        </a:lnTo>
                        <a:lnTo>
                          <a:pt x="54" y="7"/>
                        </a:lnTo>
                        <a:lnTo>
                          <a:pt x="55" y="0"/>
                        </a:lnTo>
                        <a:lnTo>
                          <a:pt x="47" y="6"/>
                        </a:lnTo>
                        <a:lnTo>
                          <a:pt x="34" y="12"/>
                        </a:lnTo>
                        <a:lnTo>
                          <a:pt x="22" y="21"/>
                        </a:lnTo>
                        <a:lnTo>
                          <a:pt x="11" y="30"/>
                        </a:lnTo>
                        <a:lnTo>
                          <a:pt x="2" y="41"/>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8" name="Freeform 370"/>
                  <p:cNvSpPr/>
                  <p:nvPr/>
                </p:nvSpPr>
                <p:spPr bwMode="auto">
                  <a:xfrm>
                    <a:off x="2657" y="2988"/>
                    <a:ext cx="5" cy="4"/>
                  </a:xfrm>
                  <a:custGeom>
                    <a:avLst/>
                    <a:gdLst>
                      <a:gd name="T0" fmla="*/ 0 w 31"/>
                      <a:gd name="T1" fmla="*/ 17 h 35"/>
                      <a:gd name="T2" fmla="*/ 0 w 31"/>
                      <a:gd name="T3" fmla="*/ 29 h 35"/>
                      <a:gd name="T4" fmla="*/ 8 w 31"/>
                      <a:gd name="T5" fmla="*/ 35 h 35"/>
                      <a:gd name="T6" fmla="*/ 21 w 31"/>
                      <a:gd name="T7" fmla="*/ 31 h 35"/>
                      <a:gd name="T8" fmla="*/ 31 w 31"/>
                      <a:gd name="T9" fmla="*/ 19 h 35"/>
                      <a:gd name="T10" fmla="*/ 31 w 31"/>
                      <a:gd name="T11" fmla="*/ 10 h 35"/>
                      <a:gd name="T12" fmla="*/ 20 w 31"/>
                      <a:gd name="T13" fmla="*/ 0 h 35"/>
                      <a:gd name="T14" fmla="*/ 0 w 31"/>
                      <a:gd name="T15" fmla="*/ 17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35">
                        <a:moveTo>
                          <a:pt x="0" y="17"/>
                        </a:moveTo>
                        <a:lnTo>
                          <a:pt x="0" y="29"/>
                        </a:lnTo>
                        <a:lnTo>
                          <a:pt x="8" y="35"/>
                        </a:lnTo>
                        <a:lnTo>
                          <a:pt x="21" y="31"/>
                        </a:lnTo>
                        <a:lnTo>
                          <a:pt x="31" y="19"/>
                        </a:lnTo>
                        <a:lnTo>
                          <a:pt x="31" y="10"/>
                        </a:lnTo>
                        <a:lnTo>
                          <a:pt x="20" y="0"/>
                        </a:lnTo>
                        <a:lnTo>
                          <a:pt x="0" y="17"/>
                        </a:lnTo>
                        <a:close/>
                      </a:path>
                    </a:pathLst>
                  </a:custGeom>
                  <a:solidFill>
                    <a:srgbClr val="6040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9" name="Freeform 371"/>
                  <p:cNvSpPr/>
                  <p:nvPr/>
                </p:nvSpPr>
                <p:spPr bwMode="auto">
                  <a:xfrm>
                    <a:off x="2658" y="2988"/>
                    <a:ext cx="5" cy="5"/>
                  </a:xfrm>
                  <a:custGeom>
                    <a:avLst/>
                    <a:gdLst>
                      <a:gd name="T0" fmla="*/ 0 w 37"/>
                      <a:gd name="T1" fmla="*/ 17 h 42"/>
                      <a:gd name="T2" fmla="*/ 0 w 37"/>
                      <a:gd name="T3" fmla="*/ 34 h 42"/>
                      <a:gd name="T4" fmla="*/ 9 w 37"/>
                      <a:gd name="T5" fmla="*/ 42 h 42"/>
                      <a:gd name="T6" fmla="*/ 25 w 37"/>
                      <a:gd name="T7" fmla="*/ 40 h 42"/>
                      <a:gd name="T8" fmla="*/ 37 w 37"/>
                      <a:gd name="T9" fmla="*/ 24 h 42"/>
                      <a:gd name="T10" fmla="*/ 37 w 37"/>
                      <a:gd name="T11" fmla="*/ 10 h 42"/>
                      <a:gd name="T12" fmla="*/ 27 w 37"/>
                      <a:gd name="T13" fmla="*/ 0 h 42"/>
                      <a:gd name="T14" fmla="*/ 0 w 37"/>
                      <a:gd name="T15" fmla="*/ 17 h 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42">
                        <a:moveTo>
                          <a:pt x="0" y="17"/>
                        </a:moveTo>
                        <a:lnTo>
                          <a:pt x="0" y="34"/>
                        </a:lnTo>
                        <a:lnTo>
                          <a:pt x="9" y="42"/>
                        </a:lnTo>
                        <a:lnTo>
                          <a:pt x="25" y="40"/>
                        </a:lnTo>
                        <a:lnTo>
                          <a:pt x="37" y="24"/>
                        </a:lnTo>
                        <a:lnTo>
                          <a:pt x="37" y="10"/>
                        </a:lnTo>
                        <a:lnTo>
                          <a:pt x="27" y="0"/>
                        </a:lnTo>
                        <a:lnTo>
                          <a:pt x="0" y="17"/>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0" name="Oval 372"/>
                  <p:cNvSpPr>
                    <a:spLocks noChangeArrowheads="1"/>
                  </p:cNvSpPr>
                  <p:nvPr/>
                </p:nvSpPr>
                <p:spPr bwMode="auto">
                  <a:xfrm>
                    <a:off x="2658" y="2989"/>
                    <a:ext cx="4" cy="4"/>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1" name="Freeform 373"/>
                  <p:cNvSpPr/>
                  <p:nvPr/>
                </p:nvSpPr>
                <p:spPr bwMode="auto">
                  <a:xfrm>
                    <a:off x="2655" y="2986"/>
                    <a:ext cx="9" cy="4"/>
                  </a:xfrm>
                  <a:custGeom>
                    <a:avLst/>
                    <a:gdLst>
                      <a:gd name="T0" fmla="*/ 0 w 66"/>
                      <a:gd name="T1" fmla="*/ 37 h 37"/>
                      <a:gd name="T2" fmla="*/ 1 w 66"/>
                      <a:gd name="T3" fmla="*/ 30 h 37"/>
                      <a:gd name="T4" fmla="*/ 6 w 66"/>
                      <a:gd name="T5" fmla="*/ 22 h 37"/>
                      <a:gd name="T6" fmla="*/ 13 w 66"/>
                      <a:gd name="T7" fmla="*/ 15 h 37"/>
                      <a:gd name="T8" fmla="*/ 23 w 66"/>
                      <a:gd name="T9" fmla="*/ 8 h 37"/>
                      <a:gd name="T10" fmla="*/ 37 w 66"/>
                      <a:gd name="T11" fmla="*/ 3 h 37"/>
                      <a:gd name="T12" fmla="*/ 51 w 66"/>
                      <a:gd name="T13" fmla="*/ 0 h 37"/>
                      <a:gd name="T14" fmla="*/ 66 w 66"/>
                      <a:gd name="T15" fmla="*/ 1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37">
                        <a:moveTo>
                          <a:pt x="0" y="37"/>
                        </a:moveTo>
                        <a:lnTo>
                          <a:pt x="1" y="30"/>
                        </a:lnTo>
                        <a:lnTo>
                          <a:pt x="6" y="22"/>
                        </a:lnTo>
                        <a:lnTo>
                          <a:pt x="13" y="15"/>
                        </a:lnTo>
                        <a:lnTo>
                          <a:pt x="23" y="8"/>
                        </a:lnTo>
                        <a:lnTo>
                          <a:pt x="37" y="3"/>
                        </a:lnTo>
                        <a:lnTo>
                          <a:pt x="51" y="0"/>
                        </a:lnTo>
                        <a:lnTo>
                          <a:pt x="66" y="1"/>
                        </a:lnTo>
                      </a:path>
                    </a:pathLst>
                  </a:custGeom>
                  <a:noFill/>
                  <a:ln w="1588">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42422" name="Freeform 374"/>
                  <p:cNvSpPr/>
                  <p:nvPr/>
                </p:nvSpPr>
                <p:spPr bwMode="auto">
                  <a:xfrm>
                    <a:off x="2651" y="2988"/>
                    <a:ext cx="7" cy="12"/>
                  </a:xfrm>
                  <a:custGeom>
                    <a:avLst/>
                    <a:gdLst>
                      <a:gd name="T0" fmla="*/ 0 w 44"/>
                      <a:gd name="T1" fmla="*/ 0 h 100"/>
                      <a:gd name="T2" fmla="*/ 18 w 44"/>
                      <a:gd name="T3" fmla="*/ 14 h 100"/>
                      <a:gd name="T4" fmla="*/ 44 w 44"/>
                      <a:gd name="T5" fmla="*/ 26 h 100"/>
                      <a:gd name="T6" fmla="*/ 32 w 44"/>
                      <a:gd name="T7" fmla="*/ 42 h 100"/>
                      <a:gd name="T8" fmla="*/ 28 w 44"/>
                      <a:gd name="T9" fmla="*/ 55 h 100"/>
                      <a:gd name="T10" fmla="*/ 31 w 44"/>
                      <a:gd name="T11" fmla="*/ 74 h 100"/>
                      <a:gd name="T12" fmla="*/ 42 w 44"/>
                      <a:gd name="T13" fmla="*/ 100 h 100"/>
                      <a:gd name="T14" fmla="*/ 33 w 44"/>
                      <a:gd name="T15" fmla="*/ 85 h 100"/>
                      <a:gd name="T16" fmla="*/ 23 w 44"/>
                      <a:gd name="T17" fmla="*/ 71 h 100"/>
                      <a:gd name="T18" fmla="*/ 15 w 44"/>
                      <a:gd name="T19" fmla="*/ 53 h 100"/>
                      <a:gd name="T20" fmla="*/ 7 w 44"/>
                      <a:gd name="T21" fmla="*/ 28 h 100"/>
                      <a:gd name="T22" fmla="*/ 0 w 44"/>
                      <a:gd name="T2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 h="100">
                        <a:moveTo>
                          <a:pt x="0" y="0"/>
                        </a:moveTo>
                        <a:lnTo>
                          <a:pt x="18" y="14"/>
                        </a:lnTo>
                        <a:lnTo>
                          <a:pt x="44" y="26"/>
                        </a:lnTo>
                        <a:lnTo>
                          <a:pt x="32" y="42"/>
                        </a:lnTo>
                        <a:lnTo>
                          <a:pt x="28" y="55"/>
                        </a:lnTo>
                        <a:lnTo>
                          <a:pt x="31" y="74"/>
                        </a:lnTo>
                        <a:lnTo>
                          <a:pt x="42" y="100"/>
                        </a:lnTo>
                        <a:lnTo>
                          <a:pt x="33" y="85"/>
                        </a:lnTo>
                        <a:lnTo>
                          <a:pt x="23" y="71"/>
                        </a:lnTo>
                        <a:lnTo>
                          <a:pt x="15" y="53"/>
                        </a:lnTo>
                        <a:lnTo>
                          <a:pt x="7" y="28"/>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3" name="Freeform 375"/>
                  <p:cNvSpPr/>
                  <p:nvPr/>
                </p:nvSpPr>
                <p:spPr bwMode="auto">
                  <a:xfrm>
                    <a:off x="2650" y="2978"/>
                    <a:ext cx="12" cy="12"/>
                  </a:xfrm>
                  <a:custGeom>
                    <a:avLst/>
                    <a:gdLst>
                      <a:gd name="T0" fmla="*/ 22 w 85"/>
                      <a:gd name="T1" fmla="*/ 95 h 98"/>
                      <a:gd name="T2" fmla="*/ 23 w 85"/>
                      <a:gd name="T3" fmla="*/ 80 h 98"/>
                      <a:gd name="T4" fmla="*/ 24 w 85"/>
                      <a:gd name="T5" fmla="*/ 64 h 98"/>
                      <a:gd name="T6" fmla="*/ 32 w 85"/>
                      <a:gd name="T7" fmla="*/ 51 h 98"/>
                      <a:gd name="T8" fmla="*/ 56 w 85"/>
                      <a:gd name="T9" fmla="*/ 35 h 98"/>
                      <a:gd name="T10" fmla="*/ 81 w 85"/>
                      <a:gd name="T11" fmla="*/ 13 h 98"/>
                      <a:gd name="T12" fmla="*/ 85 w 85"/>
                      <a:gd name="T13" fmla="*/ 0 h 98"/>
                      <a:gd name="T14" fmla="*/ 51 w 85"/>
                      <a:gd name="T15" fmla="*/ 28 h 98"/>
                      <a:gd name="T16" fmla="*/ 17 w 85"/>
                      <a:gd name="T17" fmla="*/ 41 h 98"/>
                      <a:gd name="T18" fmla="*/ 4 w 85"/>
                      <a:gd name="T19" fmla="*/ 60 h 98"/>
                      <a:gd name="T20" fmla="*/ 0 w 85"/>
                      <a:gd name="T21" fmla="*/ 77 h 98"/>
                      <a:gd name="T22" fmla="*/ 0 w 85"/>
                      <a:gd name="T23" fmla="*/ 90 h 98"/>
                      <a:gd name="T24" fmla="*/ 4 w 85"/>
                      <a:gd name="T25" fmla="*/ 96 h 98"/>
                      <a:gd name="T26" fmla="*/ 12 w 85"/>
                      <a:gd name="T27" fmla="*/ 98 h 98"/>
                      <a:gd name="T28" fmla="*/ 22 w 85"/>
                      <a:gd name="T29" fmla="*/ 9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 h="98">
                        <a:moveTo>
                          <a:pt x="22" y="95"/>
                        </a:moveTo>
                        <a:lnTo>
                          <a:pt x="23" y="80"/>
                        </a:lnTo>
                        <a:lnTo>
                          <a:pt x="24" y="64"/>
                        </a:lnTo>
                        <a:lnTo>
                          <a:pt x="32" y="51"/>
                        </a:lnTo>
                        <a:lnTo>
                          <a:pt x="56" y="35"/>
                        </a:lnTo>
                        <a:lnTo>
                          <a:pt x="81" y="13"/>
                        </a:lnTo>
                        <a:lnTo>
                          <a:pt x="85" y="0"/>
                        </a:lnTo>
                        <a:lnTo>
                          <a:pt x="51" y="28"/>
                        </a:lnTo>
                        <a:lnTo>
                          <a:pt x="17" y="41"/>
                        </a:lnTo>
                        <a:lnTo>
                          <a:pt x="4" y="60"/>
                        </a:lnTo>
                        <a:lnTo>
                          <a:pt x="0" y="77"/>
                        </a:lnTo>
                        <a:lnTo>
                          <a:pt x="0" y="90"/>
                        </a:lnTo>
                        <a:lnTo>
                          <a:pt x="4" y="96"/>
                        </a:lnTo>
                        <a:lnTo>
                          <a:pt x="12" y="98"/>
                        </a:lnTo>
                        <a:lnTo>
                          <a:pt x="22" y="95"/>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4" name="Oval 376"/>
                  <p:cNvSpPr>
                    <a:spLocks noChangeArrowheads="1"/>
                  </p:cNvSpPr>
                  <p:nvPr/>
                </p:nvSpPr>
                <p:spPr bwMode="auto">
                  <a:xfrm>
                    <a:off x="2659" y="2989"/>
                    <a:ext cx="2" cy="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425" name="Group 377"/>
                <p:cNvGrpSpPr/>
                <p:nvPr/>
              </p:nvGrpSpPr>
              <p:grpSpPr bwMode="auto">
                <a:xfrm>
                  <a:off x="2624" y="2934"/>
                  <a:ext cx="106" cy="69"/>
                  <a:chOff x="2624" y="2934"/>
                  <a:chExt cx="106" cy="69"/>
                </a:xfrm>
              </p:grpSpPr>
              <p:sp>
                <p:nvSpPr>
                  <p:cNvPr id="642426" name="Freeform 378"/>
                  <p:cNvSpPr/>
                  <p:nvPr/>
                </p:nvSpPr>
                <p:spPr bwMode="auto">
                  <a:xfrm>
                    <a:off x="2624" y="2934"/>
                    <a:ext cx="106" cy="69"/>
                  </a:xfrm>
                  <a:custGeom>
                    <a:avLst/>
                    <a:gdLst>
                      <a:gd name="T0" fmla="*/ 111 w 747"/>
                      <a:gd name="T1" fmla="*/ 98 h 555"/>
                      <a:gd name="T2" fmla="*/ 73 w 747"/>
                      <a:gd name="T3" fmla="*/ 138 h 555"/>
                      <a:gd name="T4" fmla="*/ 44 w 747"/>
                      <a:gd name="T5" fmla="*/ 168 h 555"/>
                      <a:gd name="T6" fmla="*/ 32 w 747"/>
                      <a:gd name="T7" fmla="*/ 196 h 555"/>
                      <a:gd name="T8" fmla="*/ 32 w 747"/>
                      <a:gd name="T9" fmla="*/ 223 h 555"/>
                      <a:gd name="T10" fmla="*/ 27 w 747"/>
                      <a:gd name="T11" fmla="*/ 255 h 555"/>
                      <a:gd name="T12" fmla="*/ 18 w 747"/>
                      <a:gd name="T13" fmla="*/ 278 h 555"/>
                      <a:gd name="T14" fmla="*/ 8 w 747"/>
                      <a:gd name="T15" fmla="*/ 314 h 555"/>
                      <a:gd name="T16" fmla="*/ 0 w 747"/>
                      <a:gd name="T17" fmla="*/ 347 h 555"/>
                      <a:gd name="T18" fmla="*/ 9 w 747"/>
                      <a:gd name="T19" fmla="*/ 391 h 555"/>
                      <a:gd name="T20" fmla="*/ 23 w 747"/>
                      <a:gd name="T21" fmla="*/ 421 h 555"/>
                      <a:gd name="T22" fmla="*/ 50 w 747"/>
                      <a:gd name="T23" fmla="*/ 442 h 555"/>
                      <a:gd name="T24" fmla="*/ 44 w 747"/>
                      <a:gd name="T25" fmla="*/ 426 h 555"/>
                      <a:gd name="T26" fmla="*/ 60 w 747"/>
                      <a:gd name="T27" fmla="*/ 423 h 555"/>
                      <a:gd name="T28" fmla="*/ 76 w 747"/>
                      <a:gd name="T29" fmla="*/ 436 h 555"/>
                      <a:gd name="T30" fmla="*/ 82 w 747"/>
                      <a:gd name="T31" fmla="*/ 434 h 555"/>
                      <a:gd name="T32" fmla="*/ 97 w 747"/>
                      <a:gd name="T33" fmla="*/ 428 h 555"/>
                      <a:gd name="T34" fmla="*/ 124 w 747"/>
                      <a:gd name="T35" fmla="*/ 419 h 555"/>
                      <a:gd name="T36" fmla="*/ 142 w 747"/>
                      <a:gd name="T37" fmla="*/ 394 h 555"/>
                      <a:gd name="T38" fmla="*/ 184 w 747"/>
                      <a:gd name="T39" fmla="*/ 400 h 555"/>
                      <a:gd name="T40" fmla="*/ 227 w 747"/>
                      <a:gd name="T41" fmla="*/ 391 h 555"/>
                      <a:gd name="T42" fmla="*/ 266 w 747"/>
                      <a:gd name="T43" fmla="*/ 365 h 555"/>
                      <a:gd name="T44" fmla="*/ 292 w 747"/>
                      <a:gd name="T45" fmla="*/ 341 h 555"/>
                      <a:gd name="T46" fmla="*/ 327 w 747"/>
                      <a:gd name="T47" fmla="*/ 337 h 555"/>
                      <a:gd name="T48" fmla="*/ 364 w 747"/>
                      <a:gd name="T49" fmla="*/ 356 h 555"/>
                      <a:gd name="T50" fmla="*/ 400 w 747"/>
                      <a:gd name="T51" fmla="*/ 391 h 555"/>
                      <a:gd name="T52" fmla="*/ 438 w 747"/>
                      <a:gd name="T53" fmla="*/ 417 h 555"/>
                      <a:gd name="T54" fmla="*/ 440 w 747"/>
                      <a:gd name="T55" fmla="*/ 446 h 555"/>
                      <a:gd name="T56" fmla="*/ 443 w 747"/>
                      <a:gd name="T57" fmla="*/ 468 h 555"/>
                      <a:gd name="T58" fmla="*/ 452 w 747"/>
                      <a:gd name="T59" fmla="*/ 501 h 555"/>
                      <a:gd name="T60" fmla="*/ 444 w 747"/>
                      <a:gd name="T61" fmla="*/ 555 h 555"/>
                      <a:gd name="T62" fmla="*/ 504 w 747"/>
                      <a:gd name="T63" fmla="*/ 536 h 555"/>
                      <a:gd name="T64" fmla="*/ 582 w 747"/>
                      <a:gd name="T65" fmla="*/ 503 h 555"/>
                      <a:gd name="T66" fmla="*/ 631 w 747"/>
                      <a:gd name="T67" fmla="*/ 467 h 555"/>
                      <a:gd name="T68" fmla="*/ 672 w 747"/>
                      <a:gd name="T69" fmla="*/ 451 h 555"/>
                      <a:gd name="T70" fmla="*/ 703 w 747"/>
                      <a:gd name="T71" fmla="*/ 417 h 555"/>
                      <a:gd name="T72" fmla="*/ 722 w 747"/>
                      <a:gd name="T73" fmla="*/ 374 h 555"/>
                      <a:gd name="T74" fmla="*/ 722 w 747"/>
                      <a:gd name="T75" fmla="*/ 332 h 555"/>
                      <a:gd name="T76" fmla="*/ 744 w 747"/>
                      <a:gd name="T77" fmla="*/ 292 h 555"/>
                      <a:gd name="T78" fmla="*/ 743 w 747"/>
                      <a:gd name="T79" fmla="*/ 248 h 555"/>
                      <a:gd name="T80" fmla="*/ 714 w 747"/>
                      <a:gd name="T81" fmla="*/ 188 h 555"/>
                      <a:gd name="T82" fmla="*/ 662 w 747"/>
                      <a:gd name="T83" fmla="*/ 120 h 555"/>
                      <a:gd name="T84" fmla="*/ 621 w 747"/>
                      <a:gd name="T85" fmla="*/ 78 h 555"/>
                      <a:gd name="T86" fmla="*/ 587 w 747"/>
                      <a:gd name="T87" fmla="*/ 59 h 555"/>
                      <a:gd name="T88" fmla="*/ 559 w 747"/>
                      <a:gd name="T89" fmla="*/ 24 h 555"/>
                      <a:gd name="T90" fmla="*/ 527 w 747"/>
                      <a:gd name="T91" fmla="*/ 3 h 555"/>
                      <a:gd name="T92" fmla="*/ 467 w 747"/>
                      <a:gd name="T93" fmla="*/ 2 h 555"/>
                      <a:gd name="T94" fmla="*/ 425 w 747"/>
                      <a:gd name="T95" fmla="*/ 10 h 555"/>
                      <a:gd name="T96" fmla="*/ 372 w 747"/>
                      <a:gd name="T97" fmla="*/ 10 h 555"/>
                      <a:gd name="T98" fmla="*/ 322 w 747"/>
                      <a:gd name="T99" fmla="*/ 2 h 555"/>
                      <a:gd name="T100" fmla="*/ 280 w 747"/>
                      <a:gd name="T101" fmla="*/ 5 h 555"/>
                      <a:gd name="T102" fmla="*/ 241 w 747"/>
                      <a:gd name="T103" fmla="*/ 19 h 555"/>
                      <a:gd name="T104" fmla="*/ 201 w 747"/>
                      <a:gd name="T105" fmla="*/ 30 h 555"/>
                      <a:gd name="T106" fmla="*/ 174 w 747"/>
                      <a:gd name="T107" fmla="*/ 61 h 555"/>
                      <a:gd name="T108" fmla="*/ 130 w 747"/>
                      <a:gd name="T109" fmla="*/ 87 h 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47" h="555">
                        <a:moveTo>
                          <a:pt x="130" y="87"/>
                        </a:moveTo>
                        <a:lnTo>
                          <a:pt x="111" y="98"/>
                        </a:lnTo>
                        <a:lnTo>
                          <a:pt x="94" y="114"/>
                        </a:lnTo>
                        <a:lnTo>
                          <a:pt x="73" y="138"/>
                        </a:lnTo>
                        <a:lnTo>
                          <a:pt x="58" y="150"/>
                        </a:lnTo>
                        <a:lnTo>
                          <a:pt x="44" y="168"/>
                        </a:lnTo>
                        <a:lnTo>
                          <a:pt x="36" y="181"/>
                        </a:lnTo>
                        <a:lnTo>
                          <a:pt x="32" y="196"/>
                        </a:lnTo>
                        <a:lnTo>
                          <a:pt x="30" y="209"/>
                        </a:lnTo>
                        <a:lnTo>
                          <a:pt x="32" y="223"/>
                        </a:lnTo>
                        <a:lnTo>
                          <a:pt x="35" y="240"/>
                        </a:lnTo>
                        <a:lnTo>
                          <a:pt x="27" y="255"/>
                        </a:lnTo>
                        <a:lnTo>
                          <a:pt x="21" y="265"/>
                        </a:lnTo>
                        <a:lnTo>
                          <a:pt x="18" y="278"/>
                        </a:lnTo>
                        <a:lnTo>
                          <a:pt x="15" y="295"/>
                        </a:lnTo>
                        <a:lnTo>
                          <a:pt x="8" y="314"/>
                        </a:lnTo>
                        <a:lnTo>
                          <a:pt x="3" y="329"/>
                        </a:lnTo>
                        <a:lnTo>
                          <a:pt x="0" y="347"/>
                        </a:lnTo>
                        <a:lnTo>
                          <a:pt x="2" y="369"/>
                        </a:lnTo>
                        <a:lnTo>
                          <a:pt x="9" y="391"/>
                        </a:lnTo>
                        <a:lnTo>
                          <a:pt x="15" y="407"/>
                        </a:lnTo>
                        <a:lnTo>
                          <a:pt x="23" y="421"/>
                        </a:lnTo>
                        <a:lnTo>
                          <a:pt x="34" y="431"/>
                        </a:lnTo>
                        <a:lnTo>
                          <a:pt x="50" y="442"/>
                        </a:lnTo>
                        <a:lnTo>
                          <a:pt x="43" y="432"/>
                        </a:lnTo>
                        <a:lnTo>
                          <a:pt x="44" y="426"/>
                        </a:lnTo>
                        <a:lnTo>
                          <a:pt x="52" y="422"/>
                        </a:lnTo>
                        <a:lnTo>
                          <a:pt x="60" y="423"/>
                        </a:lnTo>
                        <a:lnTo>
                          <a:pt x="69" y="427"/>
                        </a:lnTo>
                        <a:lnTo>
                          <a:pt x="76" y="436"/>
                        </a:lnTo>
                        <a:lnTo>
                          <a:pt x="88" y="444"/>
                        </a:lnTo>
                        <a:lnTo>
                          <a:pt x="82" y="434"/>
                        </a:lnTo>
                        <a:lnTo>
                          <a:pt x="81" y="426"/>
                        </a:lnTo>
                        <a:lnTo>
                          <a:pt x="97" y="428"/>
                        </a:lnTo>
                        <a:lnTo>
                          <a:pt x="111" y="426"/>
                        </a:lnTo>
                        <a:lnTo>
                          <a:pt x="124" y="419"/>
                        </a:lnTo>
                        <a:lnTo>
                          <a:pt x="133" y="409"/>
                        </a:lnTo>
                        <a:lnTo>
                          <a:pt x="142" y="394"/>
                        </a:lnTo>
                        <a:lnTo>
                          <a:pt x="163" y="399"/>
                        </a:lnTo>
                        <a:lnTo>
                          <a:pt x="184" y="400"/>
                        </a:lnTo>
                        <a:lnTo>
                          <a:pt x="206" y="397"/>
                        </a:lnTo>
                        <a:lnTo>
                          <a:pt x="227" y="391"/>
                        </a:lnTo>
                        <a:lnTo>
                          <a:pt x="247" y="380"/>
                        </a:lnTo>
                        <a:lnTo>
                          <a:pt x="266" y="365"/>
                        </a:lnTo>
                        <a:lnTo>
                          <a:pt x="279" y="351"/>
                        </a:lnTo>
                        <a:lnTo>
                          <a:pt x="292" y="341"/>
                        </a:lnTo>
                        <a:lnTo>
                          <a:pt x="307" y="334"/>
                        </a:lnTo>
                        <a:lnTo>
                          <a:pt x="327" y="337"/>
                        </a:lnTo>
                        <a:lnTo>
                          <a:pt x="353" y="338"/>
                        </a:lnTo>
                        <a:lnTo>
                          <a:pt x="364" y="356"/>
                        </a:lnTo>
                        <a:lnTo>
                          <a:pt x="379" y="376"/>
                        </a:lnTo>
                        <a:lnTo>
                          <a:pt x="400" y="391"/>
                        </a:lnTo>
                        <a:lnTo>
                          <a:pt x="427" y="407"/>
                        </a:lnTo>
                        <a:lnTo>
                          <a:pt x="438" y="417"/>
                        </a:lnTo>
                        <a:lnTo>
                          <a:pt x="444" y="434"/>
                        </a:lnTo>
                        <a:lnTo>
                          <a:pt x="440" y="446"/>
                        </a:lnTo>
                        <a:lnTo>
                          <a:pt x="439" y="458"/>
                        </a:lnTo>
                        <a:lnTo>
                          <a:pt x="443" y="468"/>
                        </a:lnTo>
                        <a:lnTo>
                          <a:pt x="450" y="479"/>
                        </a:lnTo>
                        <a:lnTo>
                          <a:pt x="452" y="501"/>
                        </a:lnTo>
                        <a:lnTo>
                          <a:pt x="450" y="527"/>
                        </a:lnTo>
                        <a:lnTo>
                          <a:pt x="444" y="555"/>
                        </a:lnTo>
                        <a:lnTo>
                          <a:pt x="469" y="547"/>
                        </a:lnTo>
                        <a:lnTo>
                          <a:pt x="504" y="536"/>
                        </a:lnTo>
                        <a:lnTo>
                          <a:pt x="546" y="521"/>
                        </a:lnTo>
                        <a:lnTo>
                          <a:pt x="582" y="503"/>
                        </a:lnTo>
                        <a:lnTo>
                          <a:pt x="609" y="485"/>
                        </a:lnTo>
                        <a:lnTo>
                          <a:pt x="631" y="467"/>
                        </a:lnTo>
                        <a:lnTo>
                          <a:pt x="651" y="461"/>
                        </a:lnTo>
                        <a:lnTo>
                          <a:pt x="672" y="451"/>
                        </a:lnTo>
                        <a:lnTo>
                          <a:pt x="690" y="437"/>
                        </a:lnTo>
                        <a:lnTo>
                          <a:pt x="703" y="417"/>
                        </a:lnTo>
                        <a:lnTo>
                          <a:pt x="713" y="398"/>
                        </a:lnTo>
                        <a:lnTo>
                          <a:pt x="722" y="374"/>
                        </a:lnTo>
                        <a:lnTo>
                          <a:pt x="725" y="351"/>
                        </a:lnTo>
                        <a:lnTo>
                          <a:pt x="722" y="332"/>
                        </a:lnTo>
                        <a:lnTo>
                          <a:pt x="735" y="315"/>
                        </a:lnTo>
                        <a:lnTo>
                          <a:pt x="744" y="292"/>
                        </a:lnTo>
                        <a:lnTo>
                          <a:pt x="747" y="269"/>
                        </a:lnTo>
                        <a:lnTo>
                          <a:pt x="743" y="248"/>
                        </a:lnTo>
                        <a:lnTo>
                          <a:pt x="734" y="226"/>
                        </a:lnTo>
                        <a:lnTo>
                          <a:pt x="714" y="188"/>
                        </a:lnTo>
                        <a:lnTo>
                          <a:pt x="687" y="152"/>
                        </a:lnTo>
                        <a:lnTo>
                          <a:pt x="662" y="120"/>
                        </a:lnTo>
                        <a:lnTo>
                          <a:pt x="640" y="93"/>
                        </a:lnTo>
                        <a:lnTo>
                          <a:pt x="621" y="78"/>
                        </a:lnTo>
                        <a:lnTo>
                          <a:pt x="607" y="69"/>
                        </a:lnTo>
                        <a:lnTo>
                          <a:pt x="587" y="59"/>
                        </a:lnTo>
                        <a:lnTo>
                          <a:pt x="569" y="46"/>
                        </a:lnTo>
                        <a:lnTo>
                          <a:pt x="559" y="24"/>
                        </a:lnTo>
                        <a:lnTo>
                          <a:pt x="545" y="12"/>
                        </a:lnTo>
                        <a:lnTo>
                          <a:pt x="527" y="3"/>
                        </a:lnTo>
                        <a:lnTo>
                          <a:pt x="494" y="0"/>
                        </a:lnTo>
                        <a:lnTo>
                          <a:pt x="467" y="2"/>
                        </a:lnTo>
                        <a:lnTo>
                          <a:pt x="446" y="6"/>
                        </a:lnTo>
                        <a:lnTo>
                          <a:pt x="425" y="10"/>
                        </a:lnTo>
                        <a:lnTo>
                          <a:pt x="399" y="13"/>
                        </a:lnTo>
                        <a:lnTo>
                          <a:pt x="372" y="10"/>
                        </a:lnTo>
                        <a:lnTo>
                          <a:pt x="348" y="6"/>
                        </a:lnTo>
                        <a:lnTo>
                          <a:pt x="322" y="2"/>
                        </a:lnTo>
                        <a:lnTo>
                          <a:pt x="301" y="1"/>
                        </a:lnTo>
                        <a:lnTo>
                          <a:pt x="280" y="5"/>
                        </a:lnTo>
                        <a:lnTo>
                          <a:pt x="260" y="10"/>
                        </a:lnTo>
                        <a:lnTo>
                          <a:pt x="241" y="19"/>
                        </a:lnTo>
                        <a:lnTo>
                          <a:pt x="221" y="24"/>
                        </a:lnTo>
                        <a:lnTo>
                          <a:pt x="201" y="30"/>
                        </a:lnTo>
                        <a:lnTo>
                          <a:pt x="188" y="44"/>
                        </a:lnTo>
                        <a:lnTo>
                          <a:pt x="174" y="61"/>
                        </a:lnTo>
                        <a:lnTo>
                          <a:pt x="157" y="76"/>
                        </a:lnTo>
                        <a:lnTo>
                          <a:pt x="130" y="87"/>
                        </a:lnTo>
                        <a:close/>
                      </a:path>
                    </a:pathLst>
                  </a:custGeom>
                  <a:solidFill>
                    <a:srgbClr val="6040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7" name="Freeform 379"/>
                  <p:cNvSpPr/>
                  <p:nvPr/>
                </p:nvSpPr>
                <p:spPr bwMode="auto">
                  <a:xfrm>
                    <a:off x="2678" y="2943"/>
                    <a:ext cx="51" cy="40"/>
                  </a:xfrm>
                  <a:custGeom>
                    <a:avLst/>
                    <a:gdLst>
                      <a:gd name="T0" fmla="*/ 21 w 356"/>
                      <a:gd name="T1" fmla="*/ 147 h 319"/>
                      <a:gd name="T2" fmla="*/ 62 w 356"/>
                      <a:gd name="T3" fmla="*/ 169 h 319"/>
                      <a:gd name="T4" fmla="*/ 94 w 356"/>
                      <a:gd name="T5" fmla="*/ 195 h 319"/>
                      <a:gd name="T6" fmla="*/ 116 w 356"/>
                      <a:gd name="T7" fmla="*/ 238 h 319"/>
                      <a:gd name="T8" fmla="*/ 139 w 356"/>
                      <a:gd name="T9" fmla="*/ 275 h 319"/>
                      <a:gd name="T10" fmla="*/ 133 w 356"/>
                      <a:gd name="T11" fmla="*/ 319 h 319"/>
                      <a:gd name="T12" fmla="*/ 156 w 356"/>
                      <a:gd name="T13" fmla="*/ 298 h 319"/>
                      <a:gd name="T14" fmla="*/ 163 w 356"/>
                      <a:gd name="T15" fmla="*/ 263 h 319"/>
                      <a:gd name="T16" fmla="*/ 172 w 356"/>
                      <a:gd name="T17" fmla="*/ 290 h 319"/>
                      <a:gd name="T18" fmla="*/ 180 w 356"/>
                      <a:gd name="T19" fmla="*/ 291 h 319"/>
                      <a:gd name="T20" fmla="*/ 207 w 356"/>
                      <a:gd name="T21" fmla="*/ 287 h 319"/>
                      <a:gd name="T22" fmla="*/ 204 w 356"/>
                      <a:gd name="T23" fmla="*/ 265 h 319"/>
                      <a:gd name="T24" fmla="*/ 219 w 356"/>
                      <a:gd name="T25" fmla="*/ 255 h 319"/>
                      <a:gd name="T26" fmla="*/ 224 w 356"/>
                      <a:gd name="T27" fmla="*/ 249 h 319"/>
                      <a:gd name="T28" fmla="*/ 222 w 356"/>
                      <a:gd name="T29" fmla="*/ 214 h 319"/>
                      <a:gd name="T30" fmla="*/ 251 w 356"/>
                      <a:gd name="T31" fmla="*/ 229 h 319"/>
                      <a:gd name="T32" fmla="*/ 258 w 356"/>
                      <a:gd name="T33" fmla="*/ 263 h 319"/>
                      <a:gd name="T34" fmla="*/ 272 w 356"/>
                      <a:gd name="T35" fmla="*/ 217 h 319"/>
                      <a:gd name="T36" fmla="*/ 261 w 356"/>
                      <a:gd name="T37" fmla="*/ 146 h 319"/>
                      <a:gd name="T38" fmla="*/ 287 w 356"/>
                      <a:gd name="T39" fmla="*/ 167 h 319"/>
                      <a:gd name="T40" fmla="*/ 304 w 356"/>
                      <a:gd name="T41" fmla="*/ 182 h 319"/>
                      <a:gd name="T42" fmla="*/ 311 w 356"/>
                      <a:gd name="T43" fmla="*/ 155 h 319"/>
                      <a:gd name="T44" fmla="*/ 304 w 356"/>
                      <a:gd name="T45" fmla="*/ 124 h 319"/>
                      <a:gd name="T46" fmla="*/ 308 w 356"/>
                      <a:gd name="T47" fmla="*/ 105 h 319"/>
                      <a:gd name="T48" fmla="*/ 323 w 356"/>
                      <a:gd name="T49" fmla="*/ 136 h 319"/>
                      <a:gd name="T50" fmla="*/ 343 w 356"/>
                      <a:gd name="T51" fmla="*/ 160 h 319"/>
                      <a:gd name="T52" fmla="*/ 341 w 356"/>
                      <a:gd name="T53" fmla="*/ 134 h 319"/>
                      <a:gd name="T54" fmla="*/ 296 w 356"/>
                      <a:gd name="T55" fmla="*/ 71 h 319"/>
                      <a:gd name="T56" fmla="*/ 247 w 356"/>
                      <a:gd name="T57" fmla="*/ 17 h 319"/>
                      <a:gd name="T58" fmla="*/ 213 w 356"/>
                      <a:gd name="T59" fmla="*/ 15 h 319"/>
                      <a:gd name="T60" fmla="*/ 226 w 356"/>
                      <a:gd name="T61" fmla="*/ 42 h 319"/>
                      <a:gd name="T62" fmla="*/ 254 w 356"/>
                      <a:gd name="T63" fmla="*/ 78 h 319"/>
                      <a:gd name="T64" fmla="*/ 270 w 356"/>
                      <a:gd name="T65" fmla="*/ 113 h 319"/>
                      <a:gd name="T66" fmla="*/ 264 w 356"/>
                      <a:gd name="T67" fmla="*/ 123 h 319"/>
                      <a:gd name="T68" fmla="*/ 243 w 356"/>
                      <a:gd name="T69" fmla="*/ 128 h 319"/>
                      <a:gd name="T70" fmla="*/ 210 w 356"/>
                      <a:gd name="T71" fmla="*/ 74 h 319"/>
                      <a:gd name="T72" fmla="*/ 160 w 356"/>
                      <a:gd name="T73" fmla="*/ 12 h 319"/>
                      <a:gd name="T74" fmla="*/ 197 w 356"/>
                      <a:gd name="T75" fmla="*/ 78 h 319"/>
                      <a:gd name="T76" fmla="*/ 226 w 356"/>
                      <a:gd name="T77" fmla="*/ 138 h 319"/>
                      <a:gd name="T78" fmla="*/ 227 w 356"/>
                      <a:gd name="T79" fmla="*/ 161 h 319"/>
                      <a:gd name="T80" fmla="*/ 215 w 356"/>
                      <a:gd name="T81" fmla="*/ 167 h 319"/>
                      <a:gd name="T82" fmla="*/ 204 w 356"/>
                      <a:gd name="T83" fmla="*/ 192 h 319"/>
                      <a:gd name="T84" fmla="*/ 188 w 356"/>
                      <a:gd name="T85" fmla="*/ 122 h 319"/>
                      <a:gd name="T86" fmla="*/ 159 w 356"/>
                      <a:gd name="T87" fmla="*/ 65 h 319"/>
                      <a:gd name="T88" fmla="*/ 123 w 356"/>
                      <a:gd name="T89" fmla="*/ 20 h 319"/>
                      <a:gd name="T90" fmla="*/ 114 w 356"/>
                      <a:gd name="T91" fmla="*/ 29 h 319"/>
                      <a:gd name="T92" fmla="*/ 143 w 356"/>
                      <a:gd name="T93" fmla="*/ 72 h 319"/>
                      <a:gd name="T94" fmla="*/ 171 w 356"/>
                      <a:gd name="T95" fmla="*/ 133 h 319"/>
                      <a:gd name="T96" fmla="*/ 183 w 356"/>
                      <a:gd name="T97" fmla="*/ 235 h 319"/>
                      <a:gd name="T98" fmla="*/ 153 w 356"/>
                      <a:gd name="T99" fmla="*/ 137 h 319"/>
                      <a:gd name="T100" fmla="*/ 153 w 356"/>
                      <a:gd name="T101" fmla="*/ 205 h 319"/>
                      <a:gd name="T102" fmla="*/ 144 w 356"/>
                      <a:gd name="T103" fmla="*/ 250 h 319"/>
                      <a:gd name="T104" fmla="*/ 130 w 356"/>
                      <a:gd name="T105" fmla="*/ 204 h 319"/>
                      <a:gd name="T106" fmla="*/ 123 w 356"/>
                      <a:gd name="T107" fmla="*/ 167 h 319"/>
                      <a:gd name="T108" fmla="*/ 122 w 356"/>
                      <a:gd name="T109" fmla="*/ 137 h 319"/>
                      <a:gd name="T110" fmla="*/ 115 w 356"/>
                      <a:gd name="T111" fmla="*/ 164 h 319"/>
                      <a:gd name="T112" fmla="*/ 90 w 356"/>
                      <a:gd name="T113" fmla="*/ 165 h 319"/>
                      <a:gd name="T114" fmla="*/ 56 w 356"/>
                      <a:gd name="T115" fmla="*/ 145 h 319"/>
                      <a:gd name="T116" fmla="*/ 18 w 356"/>
                      <a:gd name="T117" fmla="*/ 136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56" h="319">
                        <a:moveTo>
                          <a:pt x="0" y="137"/>
                        </a:moveTo>
                        <a:lnTo>
                          <a:pt x="21" y="147"/>
                        </a:lnTo>
                        <a:lnTo>
                          <a:pt x="42" y="157"/>
                        </a:lnTo>
                        <a:lnTo>
                          <a:pt x="62" y="169"/>
                        </a:lnTo>
                        <a:lnTo>
                          <a:pt x="80" y="183"/>
                        </a:lnTo>
                        <a:lnTo>
                          <a:pt x="94" y="195"/>
                        </a:lnTo>
                        <a:lnTo>
                          <a:pt x="103" y="207"/>
                        </a:lnTo>
                        <a:lnTo>
                          <a:pt x="116" y="238"/>
                        </a:lnTo>
                        <a:lnTo>
                          <a:pt x="130" y="292"/>
                        </a:lnTo>
                        <a:lnTo>
                          <a:pt x="139" y="275"/>
                        </a:lnTo>
                        <a:lnTo>
                          <a:pt x="138" y="293"/>
                        </a:lnTo>
                        <a:lnTo>
                          <a:pt x="133" y="319"/>
                        </a:lnTo>
                        <a:lnTo>
                          <a:pt x="148" y="310"/>
                        </a:lnTo>
                        <a:lnTo>
                          <a:pt x="156" y="298"/>
                        </a:lnTo>
                        <a:lnTo>
                          <a:pt x="161" y="283"/>
                        </a:lnTo>
                        <a:lnTo>
                          <a:pt x="163" y="263"/>
                        </a:lnTo>
                        <a:lnTo>
                          <a:pt x="170" y="276"/>
                        </a:lnTo>
                        <a:lnTo>
                          <a:pt x="172" y="290"/>
                        </a:lnTo>
                        <a:lnTo>
                          <a:pt x="169" y="298"/>
                        </a:lnTo>
                        <a:lnTo>
                          <a:pt x="180" y="291"/>
                        </a:lnTo>
                        <a:lnTo>
                          <a:pt x="189" y="281"/>
                        </a:lnTo>
                        <a:lnTo>
                          <a:pt x="207" y="287"/>
                        </a:lnTo>
                        <a:lnTo>
                          <a:pt x="203" y="277"/>
                        </a:lnTo>
                        <a:lnTo>
                          <a:pt x="204" y="265"/>
                        </a:lnTo>
                        <a:lnTo>
                          <a:pt x="207" y="253"/>
                        </a:lnTo>
                        <a:lnTo>
                          <a:pt x="219" y="255"/>
                        </a:lnTo>
                        <a:lnTo>
                          <a:pt x="231" y="263"/>
                        </a:lnTo>
                        <a:lnTo>
                          <a:pt x="224" y="249"/>
                        </a:lnTo>
                        <a:lnTo>
                          <a:pt x="220" y="232"/>
                        </a:lnTo>
                        <a:lnTo>
                          <a:pt x="222" y="214"/>
                        </a:lnTo>
                        <a:lnTo>
                          <a:pt x="236" y="220"/>
                        </a:lnTo>
                        <a:lnTo>
                          <a:pt x="251" y="229"/>
                        </a:lnTo>
                        <a:lnTo>
                          <a:pt x="261" y="242"/>
                        </a:lnTo>
                        <a:lnTo>
                          <a:pt x="258" y="263"/>
                        </a:lnTo>
                        <a:lnTo>
                          <a:pt x="272" y="235"/>
                        </a:lnTo>
                        <a:lnTo>
                          <a:pt x="272" y="217"/>
                        </a:lnTo>
                        <a:lnTo>
                          <a:pt x="275" y="187"/>
                        </a:lnTo>
                        <a:lnTo>
                          <a:pt x="261" y="146"/>
                        </a:lnTo>
                        <a:lnTo>
                          <a:pt x="274" y="156"/>
                        </a:lnTo>
                        <a:lnTo>
                          <a:pt x="287" y="167"/>
                        </a:lnTo>
                        <a:lnTo>
                          <a:pt x="294" y="187"/>
                        </a:lnTo>
                        <a:lnTo>
                          <a:pt x="304" y="182"/>
                        </a:lnTo>
                        <a:lnTo>
                          <a:pt x="309" y="170"/>
                        </a:lnTo>
                        <a:lnTo>
                          <a:pt x="311" y="155"/>
                        </a:lnTo>
                        <a:lnTo>
                          <a:pt x="309" y="143"/>
                        </a:lnTo>
                        <a:lnTo>
                          <a:pt x="304" y="124"/>
                        </a:lnTo>
                        <a:lnTo>
                          <a:pt x="294" y="101"/>
                        </a:lnTo>
                        <a:lnTo>
                          <a:pt x="308" y="105"/>
                        </a:lnTo>
                        <a:lnTo>
                          <a:pt x="318" y="119"/>
                        </a:lnTo>
                        <a:lnTo>
                          <a:pt x="323" y="136"/>
                        </a:lnTo>
                        <a:lnTo>
                          <a:pt x="332" y="153"/>
                        </a:lnTo>
                        <a:lnTo>
                          <a:pt x="343" y="160"/>
                        </a:lnTo>
                        <a:lnTo>
                          <a:pt x="356" y="165"/>
                        </a:lnTo>
                        <a:lnTo>
                          <a:pt x="341" y="134"/>
                        </a:lnTo>
                        <a:lnTo>
                          <a:pt x="324" y="107"/>
                        </a:lnTo>
                        <a:lnTo>
                          <a:pt x="296" y="71"/>
                        </a:lnTo>
                        <a:lnTo>
                          <a:pt x="273" y="41"/>
                        </a:lnTo>
                        <a:lnTo>
                          <a:pt x="247" y="17"/>
                        </a:lnTo>
                        <a:lnTo>
                          <a:pt x="222" y="0"/>
                        </a:lnTo>
                        <a:lnTo>
                          <a:pt x="213" y="15"/>
                        </a:lnTo>
                        <a:lnTo>
                          <a:pt x="200" y="24"/>
                        </a:lnTo>
                        <a:lnTo>
                          <a:pt x="226" y="42"/>
                        </a:lnTo>
                        <a:lnTo>
                          <a:pt x="240" y="59"/>
                        </a:lnTo>
                        <a:lnTo>
                          <a:pt x="254" y="78"/>
                        </a:lnTo>
                        <a:lnTo>
                          <a:pt x="263" y="95"/>
                        </a:lnTo>
                        <a:lnTo>
                          <a:pt x="270" y="113"/>
                        </a:lnTo>
                        <a:lnTo>
                          <a:pt x="275" y="131"/>
                        </a:lnTo>
                        <a:lnTo>
                          <a:pt x="264" y="123"/>
                        </a:lnTo>
                        <a:lnTo>
                          <a:pt x="249" y="116"/>
                        </a:lnTo>
                        <a:lnTo>
                          <a:pt x="243" y="128"/>
                        </a:lnTo>
                        <a:lnTo>
                          <a:pt x="227" y="98"/>
                        </a:lnTo>
                        <a:lnTo>
                          <a:pt x="210" y="74"/>
                        </a:lnTo>
                        <a:lnTo>
                          <a:pt x="185" y="41"/>
                        </a:lnTo>
                        <a:lnTo>
                          <a:pt x="160" y="12"/>
                        </a:lnTo>
                        <a:lnTo>
                          <a:pt x="184" y="52"/>
                        </a:lnTo>
                        <a:lnTo>
                          <a:pt x="197" y="78"/>
                        </a:lnTo>
                        <a:lnTo>
                          <a:pt x="210" y="105"/>
                        </a:lnTo>
                        <a:lnTo>
                          <a:pt x="226" y="138"/>
                        </a:lnTo>
                        <a:lnTo>
                          <a:pt x="243" y="181"/>
                        </a:lnTo>
                        <a:lnTo>
                          <a:pt x="227" y="161"/>
                        </a:lnTo>
                        <a:lnTo>
                          <a:pt x="210" y="150"/>
                        </a:lnTo>
                        <a:lnTo>
                          <a:pt x="215" y="167"/>
                        </a:lnTo>
                        <a:lnTo>
                          <a:pt x="210" y="183"/>
                        </a:lnTo>
                        <a:lnTo>
                          <a:pt x="204" y="192"/>
                        </a:lnTo>
                        <a:lnTo>
                          <a:pt x="197" y="155"/>
                        </a:lnTo>
                        <a:lnTo>
                          <a:pt x="188" y="122"/>
                        </a:lnTo>
                        <a:lnTo>
                          <a:pt x="175" y="92"/>
                        </a:lnTo>
                        <a:lnTo>
                          <a:pt x="159" y="65"/>
                        </a:lnTo>
                        <a:lnTo>
                          <a:pt x="144" y="43"/>
                        </a:lnTo>
                        <a:lnTo>
                          <a:pt x="123" y="20"/>
                        </a:lnTo>
                        <a:lnTo>
                          <a:pt x="95" y="0"/>
                        </a:lnTo>
                        <a:lnTo>
                          <a:pt x="114" y="29"/>
                        </a:lnTo>
                        <a:lnTo>
                          <a:pt x="128" y="48"/>
                        </a:lnTo>
                        <a:lnTo>
                          <a:pt x="143" y="72"/>
                        </a:lnTo>
                        <a:lnTo>
                          <a:pt x="159" y="102"/>
                        </a:lnTo>
                        <a:lnTo>
                          <a:pt x="171" y="133"/>
                        </a:lnTo>
                        <a:lnTo>
                          <a:pt x="180" y="173"/>
                        </a:lnTo>
                        <a:lnTo>
                          <a:pt x="183" y="235"/>
                        </a:lnTo>
                        <a:lnTo>
                          <a:pt x="169" y="192"/>
                        </a:lnTo>
                        <a:lnTo>
                          <a:pt x="153" y="137"/>
                        </a:lnTo>
                        <a:lnTo>
                          <a:pt x="155" y="172"/>
                        </a:lnTo>
                        <a:lnTo>
                          <a:pt x="153" y="205"/>
                        </a:lnTo>
                        <a:lnTo>
                          <a:pt x="149" y="228"/>
                        </a:lnTo>
                        <a:lnTo>
                          <a:pt x="144" y="250"/>
                        </a:lnTo>
                        <a:lnTo>
                          <a:pt x="137" y="225"/>
                        </a:lnTo>
                        <a:lnTo>
                          <a:pt x="130" y="204"/>
                        </a:lnTo>
                        <a:lnTo>
                          <a:pt x="119" y="181"/>
                        </a:lnTo>
                        <a:lnTo>
                          <a:pt x="123" y="167"/>
                        </a:lnTo>
                        <a:lnTo>
                          <a:pt x="126" y="154"/>
                        </a:lnTo>
                        <a:lnTo>
                          <a:pt x="122" y="137"/>
                        </a:lnTo>
                        <a:lnTo>
                          <a:pt x="118" y="154"/>
                        </a:lnTo>
                        <a:lnTo>
                          <a:pt x="115" y="164"/>
                        </a:lnTo>
                        <a:lnTo>
                          <a:pt x="106" y="176"/>
                        </a:lnTo>
                        <a:lnTo>
                          <a:pt x="90" y="165"/>
                        </a:lnTo>
                        <a:lnTo>
                          <a:pt x="74" y="154"/>
                        </a:lnTo>
                        <a:lnTo>
                          <a:pt x="56" y="145"/>
                        </a:lnTo>
                        <a:lnTo>
                          <a:pt x="38" y="140"/>
                        </a:lnTo>
                        <a:lnTo>
                          <a:pt x="18" y="136"/>
                        </a:lnTo>
                        <a:lnTo>
                          <a:pt x="0" y="137"/>
                        </a:lnTo>
                        <a:close/>
                      </a:path>
                    </a:pathLst>
                  </a:custGeom>
                  <a:solidFill>
                    <a:srgbClr val="806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grpSp>
        <p:nvGrpSpPr>
          <p:cNvPr id="642428" name="Group 380"/>
          <p:cNvGrpSpPr/>
          <p:nvPr/>
        </p:nvGrpSpPr>
        <p:grpSpPr bwMode="auto">
          <a:xfrm>
            <a:off x="1600200" y="3886200"/>
            <a:ext cx="1143000" cy="762000"/>
            <a:chOff x="4560" y="518"/>
            <a:chExt cx="619" cy="924"/>
          </a:xfrm>
        </p:grpSpPr>
        <p:pic>
          <p:nvPicPr>
            <p:cNvPr id="642429" name="Picture 381"/>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815" y="614"/>
              <a:ext cx="364"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2430" name="Picture 38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60" y="518"/>
              <a:ext cx="491" cy="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642432" name="Group 384"/>
          <p:cNvGrpSpPr/>
          <p:nvPr/>
        </p:nvGrpSpPr>
        <p:grpSpPr bwMode="auto">
          <a:xfrm>
            <a:off x="3733807" y="3886200"/>
            <a:ext cx="974725" cy="685800"/>
            <a:chOff x="10295" y="7532"/>
            <a:chExt cx="498" cy="332"/>
          </a:xfrm>
        </p:grpSpPr>
        <p:sp>
          <p:nvSpPr>
            <p:cNvPr id="642433" name="Rectangle 385"/>
            <p:cNvSpPr>
              <a:spLocks noChangeArrowheads="1"/>
            </p:cNvSpPr>
            <p:nvPr/>
          </p:nvSpPr>
          <p:spPr bwMode="auto">
            <a:xfrm>
              <a:off x="10295" y="7568"/>
              <a:ext cx="441" cy="296"/>
            </a:xfrm>
            <a:prstGeom prst="rect">
              <a:avLst/>
            </a:prstGeom>
            <a:solidFill>
              <a:srgbClr val="0096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42434" name="Rectangle 386"/>
            <p:cNvSpPr>
              <a:spLocks noChangeArrowheads="1"/>
            </p:cNvSpPr>
            <p:nvPr/>
          </p:nvSpPr>
          <p:spPr bwMode="auto">
            <a:xfrm>
              <a:off x="10297" y="7570"/>
              <a:ext cx="437" cy="292"/>
            </a:xfrm>
            <a:prstGeom prst="rect">
              <a:avLst/>
            </a:prstGeom>
            <a:solidFill>
              <a:srgbClr val="0096D5"/>
            </a:solidFill>
            <a:ln w="2540">
              <a:solidFill>
                <a:srgbClr val="AAE6FF"/>
              </a:solidFill>
              <a:miter lim="800000"/>
            </a:ln>
          </p:spPr>
          <p:txBody>
            <a:bodyPr/>
            <a:lstStyle/>
            <a:p>
              <a:endParaRPr lang="zh-CN" altLang="en-US"/>
            </a:p>
          </p:txBody>
        </p:sp>
        <p:sp>
          <p:nvSpPr>
            <p:cNvPr id="642435" name="Freeform 387"/>
            <p:cNvSpPr/>
            <p:nvPr/>
          </p:nvSpPr>
          <p:spPr bwMode="auto">
            <a:xfrm>
              <a:off x="10295" y="7532"/>
              <a:ext cx="498" cy="36"/>
            </a:xfrm>
            <a:custGeom>
              <a:avLst/>
              <a:gdLst>
                <a:gd name="T0" fmla="*/ 0 w 498"/>
                <a:gd name="T1" fmla="*/ 36 h 36"/>
                <a:gd name="T2" fmla="*/ 56 w 498"/>
                <a:gd name="T3" fmla="*/ 0 h 36"/>
                <a:gd name="T4" fmla="*/ 498 w 498"/>
                <a:gd name="T5" fmla="*/ 0 h 36"/>
                <a:gd name="T6" fmla="*/ 441 w 498"/>
                <a:gd name="T7" fmla="*/ 36 h 36"/>
                <a:gd name="T8" fmla="*/ 0 w 498"/>
                <a:gd name="T9" fmla="*/ 36 h 36"/>
              </a:gdLst>
              <a:ahLst/>
              <a:cxnLst>
                <a:cxn ang="0">
                  <a:pos x="T0" y="T1"/>
                </a:cxn>
                <a:cxn ang="0">
                  <a:pos x="T2" y="T3"/>
                </a:cxn>
                <a:cxn ang="0">
                  <a:pos x="T4" y="T5"/>
                </a:cxn>
                <a:cxn ang="0">
                  <a:pos x="T6" y="T7"/>
                </a:cxn>
                <a:cxn ang="0">
                  <a:pos x="T8" y="T9"/>
                </a:cxn>
              </a:cxnLst>
              <a:rect l="0" t="0" r="r" b="b"/>
              <a:pathLst>
                <a:path w="498" h="36">
                  <a:moveTo>
                    <a:pt x="0" y="36"/>
                  </a:moveTo>
                  <a:lnTo>
                    <a:pt x="56" y="0"/>
                  </a:lnTo>
                  <a:lnTo>
                    <a:pt x="498" y="0"/>
                  </a:lnTo>
                  <a:lnTo>
                    <a:pt x="441" y="36"/>
                  </a:lnTo>
                  <a:lnTo>
                    <a:pt x="0" y="36"/>
                  </a:lnTo>
                  <a:close/>
                </a:path>
              </a:pathLst>
            </a:custGeom>
            <a:solidFill>
              <a:srgbClr val="00B4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36" name="Freeform 388"/>
            <p:cNvSpPr/>
            <p:nvPr/>
          </p:nvSpPr>
          <p:spPr bwMode="auto">
            <a:xfrm>
              <a:off x="10295" y="7532"/>
              <a:ext cx="498" cy="36"/>
            </a:xfrm>
            <a:custGeom>
              <a:avLst/>
              <a:gdLst>
                <a:gd name="T0" fmla="*/ 0 w 498"/>
                <a:gd name="T1" fmla="*/ 36 h 36"/>
                <a:gd name="T2" fmla="*/ 56 w 498"/>
                <a:gd name="T3" fmla="*/ 0 h 36"/>
                <a:gd name="T4" fmla="*/ 498 w 498"/>
                <a:gd name="T5" fmla="*/ 0 h 36"/>
                <a:gd name="T6" fmla="*/ 441 w 498"/>
                <a:gd name="T7" fmla="*/ 36 h 36"/>
                <a:gd name="T8" fmla="*/ 0 w 498"/>
                <a:gd name="T9" fmla="*/ 36 h 36"/>
              </a:gdLst>
              <a:ahLst/>
              <a:cxnLst>
                <a:cxn ang="0">
                  <a:pos x="T0" y="T1"/>
                </a:cxn>
                <a:cxn ang="0">
                  <a:pos x="T2" y="T3"/>
                </a:cxn>
                <a:cxn ang="0">
                  <a:pos x="T4" y="T5"/>
                </a:cxn>
                <a:cxn ang="0">
                  <a:pos x="T6" y="T7"/>
                </a:cxn>
                <a:cxn ang="0">
                  <a:pos x="T8" y="T9"/>
                </a:cxn>
              </a:cxnLst>
              <a:rect l="0" t="0" r="r" b="b"/>
              <a:pathLst>
                <a:path w="498" h="36">
                  <a:moveTo>
                    <a:pt x="0" y="36"/>
                  </a:moveTo>
                  <a:lnTo>
                    <a:pt x="56" y="0"/>
                  </a:lnTo>
                  <a:lnTo>
                    <a:pt x="498" y="0"/>
                  </a:lnTo>
                  <a:lnTo>
                    <a:pt x="441" y="36"/>
                  </a:lnTo>
                  <a:lnTo>
                    <a:pt x="0" y="36"/>
                  </a:lnTo>
                  <a:close/>
                </a:path>
              </a:pathLst>
            </a:custGeom>
            <a:solidFill>
              <a:srgbClr val="00B4FF"/>
            </a:solidFill>
            <a:ln w="2540">
              <a:solidFill>
                <a:srgbClr val="AAE6FF"/>
              </a:solidFill>
              <a:round/>
            </a:ln>
          </p:spPr>
          <p:txBody>
            <a:bodyPr/>
            <a:lstStyle/>
            <a:p>
              <a:endParaRPr lang="zh-CN" altLang="en-US"/>
            </a:p>
          </p:txBody>
        </p:sp>
        <p:sp>
          <p:nvSpPr>
            <p:cNvPr id="642437" name="Freeform 389"/>
            <p:cNvSpPr/>
            <p:nvPr/>
          </p:nvSpPr>
          <p:spPr bwMode="auto">
            <a:xfrm>
              <a:off x="10736" y="7532"/>
              <a:ext cx="57" cy="329"/>
            </a:xfrm>
            <a:custGeom>
              <a:avLst/>
              <a:gdLst>
                <a:gd name="T0" fmla="*/ 0 w 57"/>
                <a:gd name="T1" fmla="*/ 36 h 329"/>
                <a:gd name="T2" fmla="*/ 57 w 57"/>
                <a:gd name="T3" fmla="*/ 0 h 329"/>
                <a:gd name="T4" fmla="*/ 57 w 57"/>
                <a:gd name="T5" fmla="*/ 294 h 329"/>
                <a:gd name="T6" fmla="*/ 0 w 57"/>
                <a:gd name="T7" fmla="*/ 329 h 329"/>
                <a:gd name="T8" fmla="*/ 0 w 57"/>
                <a:gd name="T9" fmla="*/ 36 h 329"/>
              </a:gdLst>
              <a:ahLst/>
              <a:cxnLst>
                <a:cxn ang="0">
                  <a:pos x="T0" y="T1"/>
                </a:cxn>
                <a:cxn ang="0">
                  <a:pos x="T2" y="T3"/>
                </a:cxn>
                <a:cxn ang="0">
                  <a:pos x="T4" y="T5"/>
                </a:cxn>
                <a:cxn ang="0">
                  <a:pos x="T6" y="T7"/>
                </a:cxn>
                <a:cxn ang="0">
                  <a:pos x="T8" y="T9"/>
                </a:cxn>
              </a:cxnLst>
              <a:rect l="0" t="0" r="r" b="b"/>
              <a:pathLst>
                <a:path w="57" h="329">
                  <a:moveTo>
                    <a:pt x="0" y="36"/>
                  </a:moveTo>
                  <a:lnTo>
                    <a:pt x="57" y="0"/>
                  </a:lnTo>
                  <a:lnTo>
                    <a:pt x="57" y="294"/>
                  </a:lnTo>
                  <a:lnTo>
                    <a:pt x="0" y="329"/>
                  </a:lnTo>
                  <a:lnTo>
                    <a:pt x="0" y="36"/>
                  </a:lnTo>
                  <a:close/>
                </a:path>
              </a:pathLst>
            </a:custGeom>
            <a:solidFill>
              <a:srgbClr val="005A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38" name="Freeform 390"/>
            <p:cNvSpPr/>
            <p:nvPr/>
          </p:nvSpPr>
          <p:spPr bwMode="auto">
            <a:xfrm>
              <a:off x="10736" y="7532"/>
              <a:ext cx="57" cy="329"/>
            </a:xfrm>
            <a:custGeom>
              <a:avLst/>
              <a:gdLst>
                <a:gd name="T0" fmla="*/ 0 w 57"/>
                <a:gd name="T1" fmla="*/ 36 h 329"/>
                <a:gd name="T2" fmla="*/ 57 w 57"/>
                <a:gd name="T3" fmla="*/ 0 h 329"/>
                <a:gd name="T4" fmla="*/ 57 w 57"/>
                <a:gd name="T5" fmla="*/ 294 h 329"/>
                <a:gd name="T6" fmla="*/ 0 w 57"/>
                <a:gd name="T7" fmla="*/ 329 h 329"/>
                <a:gd name="T8" fmla="*/ 0 w 57"/>
                <a:gd name="T9" fmla="*/ 36 h 329"/>
              </a:gdLst>
              <a:ahLst/>
              <a:cxnLst>
                <a:cxn ang="0">
                  <a:pos x="T0" y="T1"/>
                </a:cxn>
                <a:cxn ang="0">
                  <a:pos x="T2" y="T3"/>
                </a:cxn>
                <a:cxn ang="0">
                  <a:pos x="T4" y="T5"/>
                </a:cxn>
                <a:cxn ang="0">
                  <a:pos x="T6" y="T7"/>
                </a:cxn>
                <a:cxn ang="0">
                  <a:pos x="T8" y="T9"/>
                </a:cxn>
              </a:cxnLst>
              <a:rect l="0" t="0" r="r" b="b"/>
              <a:pathLst>
                <a:path w="57" h="329">
                  <a:moveTo>
                    <a:pt x="0" y="36"/>
                  </a:moveTo>
                  <a:lnTo>
                    <a:pt x="57" y="0"/>
                  </a:lnTo>
                  <a:lnTo>
                    <a:pt x="57" y="294"/>
                  </a:lnTo>
                  <a:lnTo>
                    <a:pt x="0" y="329"/>
                  </a:lnTo>
                  <a:lnTo>
                    <a:pt x="0" y="36"/>
                  </a:lnTo>
                  <a:close/>
                </a:path>
              </a:pathLst>
            </a:custGeom>
            <a:solidFill>
              <a:srgbClr val="005A80"/>
            </a:solidFill>
            <a:ln w="2540">
              <a:solidFill>
                <a:srgbClr val="AAE6FF"/>
              </a:solidFill>
              <a:round/>
            </a:ln>
          </p:spPr>
          <p:txBody>
            <a:bodyPr/>
            <a:lstStyle/>
            <a:p>
              <a:endParaRPr lang="zh-CN" altLang="en-US"/>
            </a:p>
          </p:txBody>
        </p:sp>
        <p:grpSp>
          <p:nvGrpSpPr>
            <p:cNvPr id="642439" name="Group 391"/>
            <p:cNvGrpSpPr/>
            <p:nvPr/>
          </p:nvGrpSpPr>
          <p:grpSpPr bwMode="auto">
            <a:xfrm>
              <a:off x="10327" y="7595"/>
              <a:ext cx="389" cy="252"/>
              <a:chOff x="10327" y="7595"/>
              <a:chExt cx="389" cy="252"/>
            </a:xfrm>
          </p:grpSpPr>
          <p:sp>
            <p:nvSpPr>
              <p:cNvPr id="642440" name="Freeform 392"/>
              <p:cNvSpPr/>
              <p:nvPr/>
            </p:nvSpPr>
            <p:spPr bwMode="auto">
              <a:xfrm>
                <a:off x="10327" y="7595"/>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8 h 250"/>
                  <a:gd name="T16" fmla="*/ 329 w 385"/>
                  <a:gd name="T17" fmla="*/ 76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2 h 250"/>
                  <a:gd name="T36" fmla="*/ 241 w 385"/>
                  <a:gd name="T37" fmla="*/ 222 h 250"/>
                  <a:gd name="T38" fmla="*/ 193 w 385"/>
                  <a:gd name="T39" fmla="*/ 152 h 250"/>
                  <a:gd name="T40" fmla="*/ 144 w 385"/>
                  <a:gd name="T41" fmla="*/ 222 h 250"/>
                  <a:gd name="T42" fmla="*/ 56 w 385"/>
                  <a:gd name="T43" fmla="*/ 222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6 h 250"/>
                  <a:gd name="T62" fmla="*/ 0 w 385"/>
                  <a:gd name="T63" fmla="*/ 38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8"/>
                    </a:lnTo>
                    <a:lnTo>
                      <a:pt x="329" y="76"/>
                    </a:lnTo>
                    <a:lnTo>
                      <a:pt x="329" y="49"/>
                    </a:lnTo>
                    <a:lnTo>
                      <a:pt x="265" y="49"/>
                    </a:lnTo>
                    <a:lnTo>
                      <a:pt x="213" y="125"/>
                    </a:lnTo>
                    <a:lnTo>
                      <a:pt x="265" y="201"/>
                    </a:lnTo>
                    <a:lnTo>
                      <a:pt x="329" y="201"/>
                    </a:lnTo>
                    <a:lnTo>
                      <a:pt x="329" y="174"/>
                    </a:lnTo>
                    <a:lnTo>
                      <a:pt x="385" y="212"/>
                    </a:lnTo>
                    <a:lnTo>
                      <a:pt x="329" y="250"/>
                    </a:lnTo>
                    <a:lnTo>
                      <a:pt x="329" y="222"/>
                    </a:lnTo>
                    <a:lnTo>
                      <a:pt x="241" y="222"/>
                    </a:lnTo>
                    <a:lnTo>
                      <a:pt x="193" y="152"/>
                    </a:lnTo>
                    <a:lnTo>
                      <a:pt x="144" y="222"/>
                    </a:lnTo>
                    <a:lnTo>
                      <a:pt x="56" y="222"/>
                    </a:lnTo>
                    <a:lnTo>
                      <a:pt x="56" y="250"/>
                    </a:lnTo>
                    <a:lnTo>
                      <a:pt x="0" y="212"/>
                    </a:lnTo>
                    <a:lnTo>
                      <a:pt x="56" y="174"/>
                    </a:lnTo>
                    <a:lnTo>
                      <a:pt x="56" y="201"/>
                    </a:lnTo>
                    <a:lnTo>
                      <a:pt x="116" y="201"/>
                    </a:lnTo>
                    <a:lnTo>
                      <a:pt x="173" y="125"/>
                    </a:lnTo>
                    <a:lnTo>
                      <a:pt x="116" y="49"/>
                    </a:lnTo>
                    <a:lnTo>
                      <a:pt x="56" y="49"/>
                    </a:lnTo>
                    <a:lnTo>
                      <a:pt x="56" y="76"/>
                    </a:lnTo>
                    <a:lnTo>
                      <a:pt x="0" y="38"/>
                    </a:lnTo>
                    <a:lnTo>
                      <a:pt x="56"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41" name="Freeform 393"/>
              <p:cNvSpPr/>
              <p:nvPr/>
            </p:nvSpPr>
            <p:spPr bwMode="auto">
              <a:xfrm>
                <a:off x="10327" y="7595"/>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8 h 250"/>
                  <a:gd name="T16" fmla="*/ 329 w 385"/>
                  <a:gd name="T17" fmla="*/ 76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2 h 250"/>
                  <a:gd name="T36" fmla="*/ 241 w 385"/>
                  <a:gd name="T37" fmla="*/ 222 h 250"/>
                  <a:gd name="T38" fmla="*/ 193 w 385"/>
                  <a:gd name="T39" fmla="*/ 152 h 250"/>
                  <a:gd name="T40" fmla="*/ 144 w 385"/>
                  <a:gd name="T41" fmla="*/ 222 h 250"/>
                  <a:gd name="T42" fmla="*/ 56 w 385"/>
                  <a:gd name="T43" fmla="*/ 222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6 h 250"/>
                  <a:gd name="T62" fmla="*/ 0 w 385"/>
                  <a:gd name="T63" fmla="*/ 38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8"/>
                    </a:lnTo>
                    <a:lnTo>
                      <a:pt x="329" y="76"/>
                    </a:lnTo>
                    <a:lnTo>
                      <a:pt x="329" y="49"/>
                    </a:lnTo>
                    <a:lnTo>
                      <a:pt x="265" y="49"/>
                    </a:lnTo>
                    <a:lnTo>
                      <a:pt x="213" y="125"/>
                    </a:lnTo>
                    <a:lnTo>
                      <a:pt x="265" y="201"/>
                    </a:lnTo>
                    <a:lnTo>
                      <a:pt x="329" y="201"/>
                    </a:lnTo>
                    <a:lnTo>
                      <a:pt x="329" y="174"/>
                    </a:lnTo>
                    <a:lnTo>
                      <a:pt x="385" y="212"/>
                    </a:lnTo>
                    <a:lnTo>
                      <a:pt x="329" y="250"/>
                    </a:lnTo>
                    <a:lnTo>
                      <a:pt x="329" y="222"/>
                    </a:lnTo>
                    <a:lnTo>
                      <a:pt x="241" y="222"/>
                    </a:lnTo>
                    <a:lnTo>
                      <a:pt x="193" y="152"/>
                    </a:lnTo>
                    <a:lnTo>
                      <a:pt x="144" y="222"/>
                    </a:lnTo>
                    <a:lnTo>
                      <a:pt x="56" y="222"/>
                    </a:lnTo>
                    <a:lnTo>
                      <a:pt x="56" y="250"/>
                    </a:lnTo>
                    <a:lnTo>
                      <a:pt x="0" y="212"/>
                    </a:lnTo>
                    <a:lnTo>
                      <a:pt x="56" y="174"/>
                    </a:lnTo>
                    <a:lnTo>
                      <a:pt x="56" y="201"/>
                    </a:lnTo>
                    <a:lnTo>
                      <a:pt x="116" y="201"/>
                    </a:lnTo>
                    <a:lnTo>
                      <a:pt x="173" y="125"/>
                    </a:lnTo>
                    <a:lnTo>
                      <a:pt x="116" y="49"/>
                    </a:lnTo>
                    <a:lnTo>
                      <a:pt x="56" y="49"/>
                    </a:lnTo>
                    <a:lnTo>
                      <a:pt x="56" y="76"/>
                    </a:lnTo>
                    <a:lnTo>
                      <a:pt x="0" y="38"/>
                    </a:lnTo>
                    <a:lnTo>
                      <a:pt x="56"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42" name="Freeform 394"/>
              <p:cNvSpPr/>
              <p:nvPr/>
            </p:nvSpPr>
            <p:spPr bwMode="auto">
              <a:xfrm>
                <a:off x="10331" y="7597"/>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9 h 250"/>
                  <a:gd name="T16" fmla="*/ 329 w 385"/>
                  <a:gd name="T17" fmla="*/ 77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3 h 250"/>
                  <a:gd name="T36" fmla="*/ 241 w 385"/>
                  <a:gd name="T37" fmla="*/ 223 h 250"/>
                  <a:gd name="T38" fmla="*/ 193 w 385"/>
                  <a:gd name="T39" fmla="*/ 153 h 250"/>
                  <a:gd name="T40" fmla="*/ 144 w 385"/>
                  <a:gd name="T41" fmla="*/ 223 h 250"/>
                  <a:gd name="T42" fmla="*/ 56 w 385"/>
                  <a:gd name="T43" fmla="*/ 223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7 h 250"/>
                  <a:gd name="T62" fmla="*/ 0 w 385"/>
                  <a:gd name="T63" fmla="*/ 39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9"/>
                    </a:lnTo>
                    <a:lnTo>
                      <a:pt x="329" y="77"/>
                    </a:lnTo>
                    <a:lnTo>
                      <a:pt x="329" y="49"/>
                    </a:lnTo>
                    <a:lnTo>
                      <a:pt x="265" y="49"/>
                    </a:lnTo>
                    <a:lnTo>
                      <a:pt x="213" y="125"/>
                    </a:lnTo>
                    <a:lnTo>
                      <a:pt x="265" y="201"/>
                    </a:lnTo>
                    <a:lnTo>
                      <a:pt x="329" y="201"/>
                    </a:lnTo>
                    <a:lnTo>
                      <a:pt x="329" y="174"/>
                    </a:lnTo>
                    <a:lnTo>
                      <a:pt x="385" y="212"/>
                    </a:lnTo>
                    <a:lnTo>
                      <a:pt x="329" y="250"/>
                    </a:lnTo>
                    <a:lnTo>
                      <a:pt x="329" y="223"/>
                    </a:lnTo>
                    <a:lnTo>
                      <a:pt x="241" y="223"/>
                    </a:lnTo>
                    <a:lnTo>
                      <a:pt x="193" y="153"/>
                    </a:lnTo>
                    <a:lnTo>
                      <a:pt x="144" y="223"/>
                    </a:lnTo>
                    <a:lnTo>
                      <a:pt x="56" y="223"/>
                    </a:lnTo>
                    <a:lnTo>
                      <a:pt x="56" y="250"/>
                    </a:lnTo>
                    <a:lnTo>
                      <a:pt x="0" y="212"/>
                    </a:lnTo>
                    <a:lnTo>
                      <a:pt x="56" y="174"/>
                    </a:lnTo>
                    <a:lnTo>
                      <a:pt x="56" y="201"/>
                    </a:lnTo>
                    <a:lnTo>
                      <a:pt x="116" y="201"/>
                    </a:lnTo>
                    <a:lnTo>
                      <a:pt x="173" y="125"/>
                    </a:lnTo>
                    <a:lnTo>
                      <a:pt x="116" y="49"/>
                    </a:lnTo>
                    <a:lnTo>
                      <a:pt x="56" y="49"/>
                    </a:lnTo>
                    <a:lnTo>
                      <a:pt x="56" y="77"/>
                    </a:lnTo>
                    <a:lnTo>
                      <a:pt x="0" y="39"/>
                    </a:lnTo>
                    <a:lnTo>
                      <a:pt x="5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43" name="Freeform 395"/>
              <p:cNvSpPr/>
              <p:nvPr/>
            </p:nvSpPr>
            <p:spPr bwMode="auto">
              <a:xfrm>
                <a:off x="10331" y="7597"/>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9 h 250"/>
                  <a:gd name="T16" fmla="*/ 329 w 385"/>
                  <a:gd name="T17" fmla="*/ 77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3 h 250"/>
                  <a:gd name="T36" fmla="*/ 241 w 385"/>
                  <a:gd name="T37" fmla="*/ 223 h 250"/>
                  <a:gd name="T38" fmla="*/ 193 w 385"/>
                  <a:gd name="T39" fmla="*/ 153 h 250"/>
                  <a:gd name="T40" fmla="*/ 144 w 385"/>
                  <a:gd name="T41" fmla="*/ 223 h 250"/>
                  <a:gd name="T42" fmla="*/ 56 w 385"/>
                  <a:gd name="T43" fmla="*/ 223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7 h 250"/>
                  <a:gd name="T62" fmla="*/ 0 w 385"/>
                  <a:gd name="T63" fmla="*/ 39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9"/>
                    </a:lnTo>
                    <a:lnTo>
                      <a:pt x="329" y="77"/>
                    </a:lnTo>
                    <a:lnTo>
                      <a:pt x="329" y="49"/>
                    </a:lnTo>
                    <a:lnTo>
                      <a:pt x="265" y="49"/>
                    </a:lnTo>
                    <a:lnTo>
                      <a:pt x="213" y="125"/>
                    </a:lnTo>
                    <a:lnTo>
                      <a:pt x="265" y="201"/>
                    </a:lnTo>
                    <a:lnTo>
                      <a:pt x="329" y="201"/>
                    </a:lnTo>
                    <a:lnTo>
                      <a:pt x="329" y="174"/>
                    </a:lnTo>
                    <a:lnTo>
                      <a:pt x="385" y="212"/>
                    </a:lnTo>
                    <a:lnTo>
                      <a:pt x="329" y="250"/>
                    </a:lnTo>
                    <a:lnTo>
                      <a:pt x="329" y="223"/>
                    </a:lnTo>
                    <a:lnTo>
                      <a:pt x="241" y="223"/>
                    </a:lnTo>
                    <a:lnTo>
                      <a:pt x="193" y="153"/>
                    </a:lnTo>
                    <a:lnTo>
                      <a:pt x="144" y="223"/>
                    </a:lnTo>
                    <a:lnTo>
                      <a:pt x="56" y="223"/>
                    </a:lnTo>
                    <a:lnTo>
                      <a:pt x="56" y="250"/>
                    </a:lnTo>
                    <a:lnTo>
                      <a:pt x="0" y="212"/>
                    </a:lnTo>
                    <a:lnTo>
                      <a:pt x="56" y="174"/>
                    </a:lnTo>
                    <a:lnTo>
                      <a:pt x="56" y="201"/>
                    </a:lnTo>
                    <a:lnTo>
                      <a:pt x="116" y="201"/>
                    </a:lnTo>
                    <a:lnTo>
                      <a:pt x="173" y="125"/>
                    </a:lnTo>
                    <a:lnTo>
                      <a:pt x="116" y="49"/>
                    </a:lnTo>
                    <a:lnTo>
                      <a:pt x="56" y="49"/>
                    </a:lnTo>
                    <a:lnTo>
                      <a:pt x="56" y="77"/>
                    </a:lnTo>
                    <a:lnTo>
                      <a:pt x="0" y="39"/>
                    </a:lnTo>
                    <a:lnTo>
                      <a:pt x="5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cxnSp>
        <p:nvCxnSpPr>
          <p:cNvPr id="642444" name="AutoShape 396"/>
          <p:cNvCxnSpPr>
            <a:cxnSpLocks noChangeShapeType="1"/>
            <a:stCxn id="642430" idx="0"/>
            <a:endCxn id="642436" idx="1"/>
          </p:cNvCxnSpPr>
          <p:nvPr/>
        </p:nvCxnSpPr>
        <p:spPr bwMode="auto">
          <a:xfrm rot="5400000" flipV="1">
            <a:off x="2947989" y="2992445"/>
            <a:ext cx="1588" cy="1789113"/>
          </a:xfrm>
          <a:prstGeom prst="curvedConnector4">
            <a:avLst>
              <a:gd name="adj1" fmla="val -14400000"/>
              <a:gd name="adj2" fmla="val 59537"/>
            </a:avLst>
          </a:prstGeom>
          <a:noFill/>
          <a:ln w="50800">
            <a:solidFill>
              <a:srgbClr val="FF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2445" name="AutoShape 397"/>
          <p:cNvCxnSpPr>
            <a:cxnSpLocks noChangeShapeType="1"/>
            <a:stCxn id="642443" idx="6"/>
            <a:endCxn id="642252" idx="1"/>
          </p:cNvCxnSpPr>
          <p:nvPr/>
        </p:nvCxnSpPr>
        <p:spPr bwMode="auto">
          <a:xfrm>
            <a:off x="4448176" y="4021139"/>
            <a:ext cx="1962151" cy="1270000"/>
          </a:xfrm>
          <a:prstGeom prst="curvedConnector3">
            <a:avLst>
              <a:gd name="adj1" fmla="val 52509"/>
            </a:avLst>
          </a:prstGeom>
          <a:noFill/>
          <a:ln w="50800">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7.3 </a:t>
            </a:r>
            <a:r>
              <a:rPr lang="zh-CN" altLang="en-US" sz="4400" b="1">
                <a:latin typeface="Times New Roman" panose="02020603050405020304" pitchFamily="18" charset="0"/>
                <a:ea typeface="隶书" panose="02010509060101010101" pitchFamily="49" charset="-122"/>
              </a:rPr>
              <a:t>类型转换规则</a:t>
            </a:r>
            <a:endParaRPr lang="zh-CN" altLang="en-US" sz="4400" b="1">
              <a:latin typeface="Times New Roman" panose="02020603050405020304" pitchFamily="18" charset="0"/>
              <a:ea typeface="隶书" panose="02010509060101010101" pitchFamily="49" charset="-122"/>
            </a:endParaRPr>
          </a:p>
        </p:txBody>
      </p:sp>
      <p:sp>
        <p:nvSpPr>
          <p:cNvPr id="36867" name="内容占位符 2"/>
          <p:cNvSpPr>
            <a:spLocks noGrp="1"/>
          </p:cNvSpPr>
          <p:nvPr>
            <p:ph idx="1"/>
          </p:nvPr>
        </p:nvSpPr>
        <p:spPr/>
        <p:txBody>
          <a:bodyPr/>
          <a:lstStyle/>
          <a:p>
            <a:pPr>
              <a:lnSpc>
                <a:spcPct val="150000"/>
              </a:lnSpc>
              <a:spcAft>
                <a:spcPct val="25000"/>
              </a:spcAft>
            </a:pPr>
            <a:r>
              <a:rPr lang="zh-CN" altLang="en-US" sz="2400" b="1" dirty="0">
                <a:solidFill>
                  <a:srgbClr val="FFFF00"/>
                </a:solidFill>
                <a:ea typeface="华文楷体" panose="02010600040101010101" pitchFamily="2" charset="-122"/>
              </a:rPr>
              <a:t>一个公有派生类的对象在使用上可以被当作基类的对象，反之则禁止。具体表现在：</a:t>
            </a:r>
            <a:endParaRPr lang="zh-CN" altLang="en-US" sz="2400" b="1" dirty="0">
              <a:solidFill>
                <a:srgbClr val="FFFF00"/>
              </a:solidFill>
              <a:ea typeface="华文楷体" panose="02010600040101010101" pitchFamily="2" charset="-122"/>
            </a:endParaRPr>
          </a:p>
          <a:p>
            <a:pPr lvl="1">
              <a:lnSpc>
                <a:spcPct val="150000"/>
              </a:lnSpc>
              <a:buFont typeface="Wingdings" panose="05000000000000000000" pitchFamily="2" charset="2"/>
              <a:buChar char="ü"/>
            </a:pPr>
            <a:r>
              <a:rPr lang="zh-CN" altLang="en-US" sz="2400" b="1" dirty="0">
                <a:ea typeface="华文楷体" panose="02010600040101010101" pitchFamily="2" charset="-122"/>
              </a:rPr>
              <a:t>派生类的对象可以隐含转换为基类对象。</a:t>
            </a:r>
            <a:endParaRPr lang="zh-CN" altLang="en-US" sz="2400" b="1" dirty="0">
              <a:ea typeface="华文楷体" panose="02010600040101010101" pitchFamily="2" charset="-122"/>
            </a:endParaRPr>
          </a:p>
          <a:p>
            <a:pPr lvl="1">
              <a:lnSpc>
                <a:spcPct val="150000"/>
              </a:lnSpc>
              <a:buFont typeface="Wingdings" panose="05000000000000000000" pitchFamily="2" charset="2"/>
              <a:buChar char="ü"/>
            </a:pPr>
            <a:r>
              <a:rPr lang="zh-CN" altLang="en-US" sz="2400" b="1" dirty="0">
                <a:ea typeface="华文楷体" panose="02010600040101010101" pitchFamily="2" charset="-122"/>
              </a:rPr>
              <a:t>派生类的对象可以初始化基类的引用。</a:t>
            </a:r>
            <a:endParaRPr lang="zh-CN" altLang="en-US" sz="2400" b="1" dirty="0">
              <a:ea typeface="华文楷体" panose="02010600040101010101" pitchFamily="2" charset="-122"/>
            </a:endParaRPr>
          </a:p>
          <a:p>
            <a:pPr lvl="1">
              <a:lnSpc>
                <a:spcPct val="150000"/>
              </a:lnSpc>
              <a:buFont typeface="Wingdings" panose="05000000000000000000" pitchFamily="2" charset="2"/>
              <a:buChar char="ü"/>
            </a:pPr>
            <a:r>
              <a:rPr lang="zh-CN" altLang="en-US" sz="2400" b="1" dirty="0">
                <a:ea typeface="华文楷体" panose="02010600040101010101" pitchFamily="2" charset="-122"/>
              </a:rPr>
              <a:t>派生类的指针可以隐含转换为基类的指针。</a:t>
            </a:r>
            <a:endParaRPr lang="zh-CN" altLang="en-US" sz="2400" b="1" dirty="0">
              <a:ea typeface="华文楷体" panose="02010600040101010101" pitchFamily="2" charset="-122"/>
            </a:endParaRPr>
          </a:p>
          <a:p>
            <a:pPr>
              <a:lnSpc>
                <a:spcPct val="150000"/>
              </a:lnSpc>
              <a:spcAft>
                <a:spcPct val="25000"/>
              </a:spcAft>
            </a:pPr>
            <a:r>
              <a:rPr lang="zh-CN" altLang="en-US" sz="2400" b="1" dirty="0">
                <a:solidFill>
                  <a:srgbClr val="FFFF00"/>
                </a:solidFill>
                <a:ea typeface="华文楷体" panose="02010600040101010101" pitchFamily="2" charset="-122"/>
              </a:rPr>
              <a:t>通过基类对象名、指针只能使用从基类继承的成员</a:t>
            </a:r>
            <a:endParaRPr lang="zh-CN" altLang="en-US" sz="2400" b="1" dirty="0">
              <a:solidFill>
                <a:srgbClr val="FFFF00"/>
              </a:solidFill>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1" name="标题 1"/>
          <p:cNvSpPr>
            <a:spLocks noGrp="1"/>
          </p:cNvSpPr>
          <p:nvPr>
            <p:ph type="title"/>
          </p:nvPr>
        </p:nvSpPr>
        <p:spPr>
          <a:xfrm>
            <a:off x="395536" y="-27384"/>
            <a:ext cx="8229600" cy="1066800"/>
          </a:xfrm>
        </p:spPr>
        <p:txBody>
          <a:bodyPr/>
          <a:lstStyle/>
          <a:p>
            <a:pPr eaLnBrk="1" hangingPunct="1"/>
            <a:r>
              <a:rPr lang="zh-CN" altLang="en-US" b="1" dirty="0" smtClean="0"/>
              <a:t>例</a:t>
            </a:r>
            <a:r>
              <a:rPr lang="en-US" altLang="zh-CN" b="1" dirty="0" smtClean="0"/>
              <a:t>7-3 </a:t>
            </a:r>
            <a:r>
              <a:rPr lang="zh-CN" altLang="en-US" b="1" dirty="0" smtClean="0"/>
              <a:t>类型转换规则举例</a:t>
            </a:r>
            <a:endParaRPr kumimoji="1" lang="zh-CN" altLang="en-US" b="1" dirty="0" smtClean="0"/>
          </a:p>
        </p:txBody>
      </p:sp>
      <p:sp>
        <p:nvSpPr>
          <p:cNvPr id="37892" name="内容占位符 2"/>
          <p:cNvSpPr>
            <a:spLocks noGrp="1"/>
          </p:cNvSpPr>
          <p:nvPr>
            <p:ph idx="1"/>
          </p:nvPr>
        </p:nvSpPr>
        <p:spPr>
          <a:xfrm>
            <a:off x="539552" y="548680"/>
            <a:ext cx="8229600" cy="6247864"/>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&lt;</a:t>
            </a:r>
            <a:r>
              <a:rPr kumimoji="0" lang="en-US" altLang="zh-CN" sz="2000" b="1" dirty="0" err="1">
                <a:solidFill>
                  <a:srgbClr val="000000"/>
                </a:solidFill>
                <a:latin typeface="Times New Roman" panose="02020603050405020304" pitchFamily="18" charset="0"/>
                <a:ea typeface="华文楷体" panose="02010600040101010101" pitchFamily="2" charset="-122"/>
              </a:rPr>
              <a:t>iostream</a:t>
            </a:r>
            <a:r>
              <a:rPr kumimoji="0" lang="en-US" altLang="zh-CN" sz="2000" b="1" dirty="0">
                <a:solidFill>
                  <a:srgbClr val="000000"/>
                </a:solidFill>
                <a:latin typeface="Times New Roman" panose="02020603050405020304" pitchFamily="18" charset="0"/>
                <a:ea typeface="华文楷体" panose="02010600040101010101" pitchFamily="2" charset="-122"/>
              </a:rPr>
              <a:t>&gt;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using namespace </a:t>
            </a:r>
            <a:r>
              <a:rPr kumimoji="0" lang="en-US" altLang="zh-CN" sz="2000" b="1" dirty="0" err="1">
                <a:solidFill>
                  <a:srgbClr val="000000"/>
                </a:solidFill>
                <a:latin typeface="Times New Roman" panose="02020603050405020304" pitchFamily="18" charset="0"/>
                <a:ea typeface="华文楷体" panose="02010600040101010101" pitchFamily="2" charset="-122"/>
              </a:rPr>
              <a:t>std</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Base1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zh-CN" altLang="en-US" sz="2000" b="1" dirty="0">
                <a:solidFill>
                  <a:srgbClr val="000000"/>
                </a:solidFill>
                <a:latin typeface="Times New Roman" panose="02020603050405020304" pitchFamily="18" charset="0"/>
                <a:ea typeface="华文楷体" panose="02010600040101010101" pitchFamily="2" charset="-122"/>
              </a:rPr>
              <a:t>基类</a:t>
            </a:r>
            <a:r>
              <a:rPr kumimoji="0" lang="en-US" altLang="zh-CN" sz="2000" b="1" dirty="0">
                <a:solidFill>
                  <a:srgbClr val="000000"/>
                </a:solidFill>
                <a:latin typeface="Times New Roman" panose="02020603050405020304" pitchFamily="18" charset="0"/>
                <a:ea typeface="华文楷体" panose="02010600040101010101" pitchFamily="2" charset="-122"/>
              </a:rPr>
              <a:t>Base1</a:t>
            </a:r>
            <a:r>
              <a:rPr kumimoji="0" lang="zh-CN" altLang="en-US" sz="2000" b="1" dirty="0">
                <a:solidFill>
                  <a:srgbClr val="000000"/>
                </a:solidFill>
                <a:latin typeface="Times New Roman" panose="02020603050405020304" pitchFamily="18" charset="0"/>
                <a:ea typeface="华文楷体" panose="02010600040101010101" pitchFamily="2" charset="-122"/>
              </a:rPr>
              <a:t>定义</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display()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"Base1::display()"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Base2: public Base1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zh-CN" altLang="en-US" sz="2000" b="1" dirty="0">
                <a:solidFill>
                  <a:srgbClr val="000000"/>
                </a:solidFill>
                <a:latin typeface="Times New Roman" panose="02020603050405020304" pitchFamily="18" charset="0"/>
                <a:ea typeface="华文楷体" panose="02010600040101010101" pitchFamily="2" charset="-122"/>
              </a:rPr>
              <a:t>公有派生类</a:t>
            </a:r>
            <a:r>
              <a:rPr kumimoji="0" lang="en-US" altLang="zh-CN" sz="2000" b="1" dirty="0">
                <a:solidFill>
                  <a:srgbClr val="000000"/>
                </a:solidFill>
                <a:latin typeface="Times New Roman" panose="02020603050405020304" pitchFamily="18" charset="0"/>
                <a:ea typeface="华文楷体" panose="02010600040101010101" pitchFamily="2" charset="-122"/>
              </a:rPr>
              <a:t>Base2</a:t>
            </a:r>
            <a:r>
              <a:rPr kumimoji="0" lang="zh-CN" altLang="en-US" sz="2000" b="1" dirty="0">
                <a:solidFill>
                  <a:srgbClr val="000000"/>
                </a:solidFill>
                <a:latin typeface="Times New Roman" panose="02020603050405020304" pitchFamily="18" charset="0"/>
                <a:ea typeface="华文楷体" panose="02010600040101010101" pitchFamily="2" charset="-122"/>
              </a:rPr>
              <a:t>定义</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display()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"Base2::display()"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Derived: public Base2 {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公有派生类</a:t>
            </a:r>
            <a:r>
              <a:rPr kumimoji="0" lang="en-US" altLang="zh-CN" sz="2000" b="1" dirty="0">
                <a:solidFill>
                  <a:srgbClr val="000000"/>
                </a:solidFill>
                <a:latin typeface="Times New Roman" panose="02020603050405020304" pitchFamily="18" charset="0"/>
                <a:ea typeface="华文楷体" panose="02010600040101010101" pitchFamily="2" charset="-122"/>
              </a:rPr>
              <a:t>Derived</a:t>
            </a:r>
            <a:r>
              <a:rPr kumimoji="0" lang="zh-CN" altLang="en-US" sz="2000" b="1" dirty="0">
                <a:solidFill>
                  <a:srgbClr val="000000"/>
                </a:solidFill>
                <a:latin typeface="Times New Roman" panose="02020603050405020304" pitchFamily="18" charset="0"/>
                <a:ea typeface="华文楷体" panose="02010600040101010101" pitchFamily="2" charset="-122"/>
              </a:rPr>
              <a:t>定义</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display()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"Derived::display()"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5" name="标题 1"/>
          <p:cNvSpPr>
            <a:spLocks noGrp="1"/>
          </p:cNvSpPr>
          <p:nvPr>
            <p:ph type="title"/>
          </p:nvPr>
        </p:nvSpPr>
        <p:spPr/>
        <p:txBody>
          <a:bodyPr/>
          <a:lstStyle/>
          <a:p>
            <a:pPr eaLnBrk="1" hangingPunct="1"/>
            <a:r>
              <a:rPr lang="zh-CN" altLang="en-US" b="1" dirty="0" smtClean="0"/>
              <a:t>例</a:t>
            </a:r>
            <a:r>
              <a:rPr lang="en-US" altLang="zh-CN" b="1" dirty="0" smtClean="0"/>
              <a:t>7-3 (</a:t>
            </a:r>
            <a:r>
              <a:rPr lang="zh-CN" altLang="en-US" b="1" dirty="0" smtClean="0"/>
              <a:t>续</a:t>
            </a:r>
            <a:r>
              <a:rPr lang="en-US" altLang="zh-CN" b="1" dirty="0" smtClean="0"/>
              <a:t>)</a:t>
            </a:r>
            <a:endParaRPr kumimoji="1" lang="zh-CN" altLang="en-US" b="1" dirty="0" smtClean="0"/>
          </a:p>
        </p:txBody>
      </p:sp>
      <p:sp>
        <p:nvSpPr>
          <p:cNvPr id="38916" name="内容占位符 2"/>
          <p:cNvSpPr>
            <a:spLocks noGrp="1"/>
          </p:cNvSpPr>
          <p:nvPr>
            <p:ph idx="1"/>
          </p:nvPr>
        </p:nvSpPr>
        <p:spPr>
          <a:xfrm>
            <a:off x="628650" y="1700808"/>
            <a:ext cx="7886700" cy="5016758"/>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void fun</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FF0000"/>
                </a:solidFill>
                <a:latin typeface="Times New Roman" panose="02020603050405020304" pitchFamily="18" charset="0"/>
                <a:ea typeface="华文楷体" panose="02010600040101010101" pitchFamily="2" charset="-122"/>
              </a:rPr>
              <a:t>Base1 </a:t>
            </a:r>
            <a:r>
              <a:rPr kumimoji="0" lang="en-US" altLang="zh-CN" sz="2000" b="1" dirty="0">
                <a:solidFill>
                  <a:srgbClr val="FF0000"/>
                </a:solidFill>
                <a:latin typeface="Times New Roman" panose="02020603050405020304" pitchFamily="18" charset="0"/>
                <a:ea typeface="华文楷体" panose="02010600040101010101" pitchFamily="2" charset="-122"/>
              </a:rPr>
              <a:t>*</a:t>
            </a:r>
            <a:r>
              <a:rPr kumimoji="0" lang="en-US" altLang="zh-CN" sz="2000" b="1" dirty="0" err="1" smtClean="0">
                <a:solidFill>
                  <a:srgbClr val="FF0000"/>
                </a:solidFill>
                <a:latin typeface="Times New Roman" panose="02020603050405020304" pitchFamily="18" charset="0"/>
                <a:ea typeface="华文楷体" panose="02010600040101010101" pitchFamily="2" charset="-122"/>
              </a:rPr>
              <a:t>ptr</a:t>
            </a:r>
            <a:r>
              <a:rPr kumimoji="0" lang="en-US" altLang="zh-CN" sz="2000" b="1" dirty="0" smtClean="0">
                <a:solidFill>
                  <a:srgbClr val="FF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参数为指向基类对象的指针</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ptr</a:t>
            </a:r>
            <a:r>
              <a:rPr kumimoji="0" lang="en-US" altLang="zh-CN" sz="2000" b="1" dirty="0">
                <a:solidFill>
                  <a:srgbClr val="000000"/>
                </a:solidFill>
                <a:latin typeface="Times New Roman" panose="02020603050405020304" pitchFamily="18" charset="0"/>
                <a:ea typeface="华文楷体" panose="02010600040101010101" pitchFamily="2" charset="-122"/>
              </a:rPr>
              <a:t>-&gt;display();		//"</a:t>
            </a:r>
            <a:r>
              <a:rPr kumimoji="0" lang="zh-CN" altLang="en-US" sz="2000" b="1" dirty="0">
                <a:solidFill>
                  <a:srgbClr val="000000"/>
                </a:solidFill>
                <a:latin typeface="Times New Roman" panose="02020603050405020304" pitchFamily="18" charset="0"/>
                <a:ea typeface="华文楷体" panose="02010600040101010101" pitchFamily="2" charset="-122"/>
              </a:rPr>
              <a:t>对象指针</a:t>
            </a:r>
            <a:r>
              <a:rPr kumimoji="0" lang="en-US" altLang="zh-CN" sz="2000" b="1" dirty="0">
                <a:solidFill>
                  <a:srgbClr val="000000"/>
                </a:solidFill>
                <a:latin typeface="Times New Roman" panose="02020603050405020304" pitchFamily="18" charset="0"/>
                <a:ea typeface="华文楷体" panose="02010600040101010101" pitchFamily="2" charset="-122"/>
              </a:rPr>
              <a:t>-&gt;</a:t>
            </a:r>
            <a:r>
              <a:rPr kumimoji="0" lang="zh-CN" altLang="en-US" sz="2000" b="1" dirty="0">
                <a:solidFill>
                  <a:srgbClr val="000000"/>
                </a:solidFill>
                <a:latin typeface="Times New Roman" panose="02020603050405020304" pitchFamily="18" charset="0"/>
                <a:ea typeface="华文楷体" panose="02010600040101010101" pitchFamily="2" charset="-122"/>
              </a:rPr>
              <a:t>成员名</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endParaRPr kumimoji="0" lang="en-US" altLang="zh-CN" sz="2000" b="1" dirty="0" smtClean="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main() {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主函数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Base1 </a:t>
            </a:r>
            <a:r>
              <a:rPr kumimoji="0" lang="en-US" altLang="zh-CN" sz="2000" b="1" dirty="0" err="1">
                <a:solidFill>
                  <a:srgbClr val="000000"/>
                </a:solidFill>
                <a:latin typeface="Times New Roman" panose="02020603050405020304" pitchFamily="18" charset="0"/>
                <a:ea typeface="华文楷体" panose="02010600040101010101" pitchFamily="2" charset="-122"/>
              </a:rPr>
              <a:t>base1</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声明</a:t>
            </a:r>
            <a:r>
              <a:rPr kumimoji="0" lang="en-US" altLang="zh-CN" sz="2000" b="1" dirty="0">
                <a:solidFill>
                  <a:srgbClr val="000000"/>
                </a:solidFill>
                <a:latin typeface="Times New Roman" panose="02020603050405020304" pitchFamily="18" charset="0"/>
                <a:ea typeface="华文楷体" panose="02010600040101010101" pitchFamily="2" charset="-122"/>
              </a:rPr>
              <a:t>Base1</a:t>
            </a:r>
            <a:r>
              <a:rPr kumimoji="0" lang="zh-CN" altLang="en-US" sz="2000" b="1" dirty="0">
                <a:solidFill>
                  <a:srgbClr val="000000"/>
                </a:solidFill>
                <a:latin typeface="Times New Roman" panose="02020603050405020304" pitchFamily="18" charset="0"/>
                <a:ea typeface="华文楷体" panose="02010600040101010101" pitchFamily="2" charset="-122"/>
              </a:rPr>
              <a:t>类对象</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Base2 </a:t>
            </a:r>
            <a:r>
              <a:rPr kumimoji="0" lang="en-US" altLang="zh-CN" sz="2000" b="1" dirty="0" err="1">
                <a:solidFill>
                  <a:srgbClr val="000000"/>
                </a:solidFill>
                <a:latin typeface="Times New Roman" panose="02020603050405020304" pitchFamily="18" charset="0"/>
                <a:ea typeface="华文楷体" panose="02010600040101010101" pitchFamily="2" charset="-122"/>
              </a:rPr>
              <a:t>base2</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声明</a:t>
            </a:r>
            <a:r>
              <a:rPr kumimoji="0" lang="en-US" altLang="zh-CN" sz="2000" b="1" dirty="0">
                <a:solidFill>
                  <a:srgbClr val="000000"/>
                </a:solidFill>
                <a:latin typeface="Times New Roman" panose="02020603050405020304" pitchFamily="18" charset="0"/>
                <a:ea typeface="华文楷体" panose="02010600040101010101" pitchFamily="2" charset="-122"/>
              </a:rPr>
              <a:t>Base2</a:t>
            </a:r>
            <a:r>
              <a:rPr kumimoji="0" lang="zh-CN" altLang="en-US" sz="2000" b="1" dirty="0">
                <a:solidFill>
                  <a:srgbClr val="000000"/>
                </a:solidFill>
                <a:latin typeface="Times New Roman" panose="02020603050405020304" pitchFamily="18" charset="0"/>
                <a:ea typeface="华文楷体" panose="02010600040101010101" pitchFamily="2" charset="-122"/>
              </a:rPr>
              <a:t>类对象</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Derived </a:t>
            </a:r>
            <a:r>
              <a:rPr kumimoji="0" lang="en-US" altLang="zh-CN" sz="2000" b="1" dirty="0" err="1">
                <a:solidFill>
                  <a:srgbClr val="000000"/>
                </a:solidFill>
                <a:latin typeface="Times New Roman" panose="02020603050405020304" pitchFamily="18" charset="0"/>
                <a:ea typeface="华文楷体" panose="02010600040101010101" pitchFamily="2" charset="-122"/>
              </a:rPr>
              <a:t>derived</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声明</a:t>
            </a:r>
            <a:r>
              <a:rPr kumimoji="0" lang="en-US" altLang="zh-CN" sz="2000" b="1" dirty="0">
                <a:solidFill>
                  <a:srgbClr val="000000"/>
                </a:solidFill>
                <a:latin typeface="Times New Roman" panose="02020603050405020304" pitchFamily="18" charset="0"/>
                <a:ea typeface="华文楷体" panose="02010600040101010101" pitchFamily="2" charset="-122"/>
              </a:rPr>
              <a:t>Derived</a:t>
            </a:r>
            <a:r>
              <a:rPr kumimoji="0" lang="zh-CN" altLang="en-US" sz="2000" b="1" dirty="0">
                <a:solidFill>
                  <a:srgbClr val="000000"/>
                </a:solidFill>
                <a:latin typeface="Times New Roman" panose="02020603050405020304" pitchFamily="18" charset="0"/>
                <a:ea typeface="华文楷体" panose="02010600040101010101" pitchFamily="2" charset="-122"/>
              </a:rPr>
              <a:t>类对象</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fun(&amp;base1</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用</a:t>
            </a:r>
            <a:r>
              <a:rPr kumimoji="0" lang="en-US" altLang="zh-CN" sz="2000" b="1" dirty="0">
                <a:solidFill>
                  <a:srgbClr val="000000"/>
                </a:solidFill>
                <a:latin typeface="Times New Roman" panose="02020603050405020304" pitchFamily="18" charset="0"/>
                <a:ea typeface="华文楷体" panose="02010600040101010101" pitchFamily="2" charset="-122"/>
              </a:rPr>
              <a:t>Base1</a:t>
            </a:r>
            <a:r>
              <a:rPr kumimoji="0" lang="zh-CN" altLang="en-US" sz="2000" b="1" dirty="0">
                <a:solidFill>
                  <a:srgbClr val="000000"/>
                </a:solidFill>
                <a:latin typeface="Times New Roman" panose="02020603050405020304" pitchFamily="18" charset="0"/>
                <a:ea typeface="华文楷体" panose="02010600040101010101" pitchFamily="2" charset="-122"/>
              </a:rPr>
              <a:t>对象的指针调用</a:t>
            </a:r>
            <a:r>
              <a:rPr kumimoji="0" lang="en-US" altLang="zh-CN" sz="2000" b="1" dirty="0">
                <a:solidFill>
                  <a:srgbClr val="000000"/>
                </a:solidFill>
                <a:latin typeface="Times New Roman" panose="02020603050405020304" pitchFamily="18" charset="0"/>
                <a:ea typeface="华文楷体" panose="02010600040101010101" pitchFamily="2" charset="-122"/>
              </a:rPr>
              <a:t>fun</a:t>
            </a:r>
            <a:r>
              <a:rPr kumimoji="0" lang="zh-CN" altLang="en-US" sz="2000" b="1" dirty="0">
                <a:solidFill>
                  <a:srgbClr val="000000"/>
                </a:solidFill>
                <a:latin typeface="Times New Roman" panose="02020603050405020304" pitchFamily="18" charset="0"/>
                <a:ea typeface="华文楷体" panose="02010600040101010101" pitchFamily="2" charset="-122"/>
              </a:rPr>
              <a:t>函数</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fun(&amp;base2);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用</a:t>
            </a:r>
            <a:r>
              <a:rPr kumimoji="0" lang="en-US" altLang="zh-CN" sz="2000" b="1" dirty="0">
                <a:solidFill>
                  <a:srgbClr val="000000"/>
                </a:solidFill>
                <a:latin typeface="Times New Roman" panose="02020603050405020304" pitchFamily="18" charset="0"/>
                <a:ea typeface="华文楷体" panose="02010600040101010101" pitchFamily="2" charset="-122"/>
              </a:rPr>
              <a:t>Base2</a:t>
            </a:r>
            <a:r>
              <a:rPr kumimoji="0" lang="zh-CN" altLang="en-US" sz="2000" b="1" dirty="0">
                <a:solidFill>
                  <a:srgbClr val="000000"/>
                </a:solidFill>
                <a:latin typeface="Times New Roman" panose="02020603050405020304" pitchFamily="18" charset="0"/>
                <a:ea typeface="华文楷体" panose="02010600040101010101" pitchFamily="2" charset="-122"/>
              </a:rPr>
              <a:t>对象的指针调用</a:t>
            </a:r>
            <a:r>
              <a:rPr kumimoji="0" lang="en-US" altLang="zh-CN" sz="2000" b="1" dirty="0">
                <a:solidFill>
                  <a:srgbClr val="000000"/>
                </a:solidFill>
                <a:latin typeface="Times New Roman" panose="02020603050405020304" pitchFamily="18" charset="0"/>
                <a:ea typeface="华文楷体" panose="02010600040101010101" pitchFamily="2" charset="-122"/>
              </a:rPr>
              <a:t>fun</a:t>
            </a:r>
            <a:r>
              <a:rPr kumimoji="0" lang="zh-CN" altLang="en-US" sz="2000" b="1" dirty="0">
                <a:solidFill>
                  <a:srgbClr val="000000"/>
                </a:solidFill>
                <a:latin typeface="Times New Roman" panose="02020603050405020304" pitchFamily="18" charset="0"/>
                <a:ea typeface="华文楷体" panose="02010600040101010101" pitchFamily="2" charset="-122"/>
              </a:rPr>
              <a:t>函数</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fun(&amp;derived);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zh-CN" altLang="en-US" sz="2000" b="1" dirty="0">
                <a:solidFill>
                  <a:srgbClr val="000000"/>
                </a:solidFill>
                <a:latin typeface="Times New Roman" panose="02020603050405020304" pitchFamily="18" charset="0"/>
                <a:ea typeface="华文楷体" panose="02010600040101010101" pitchFamily="2" charset="-122"/>
              </a:rPr>
              <a:t>用</a:t>
            </a:r>
            <a:r>
              <a:rPr kumimoji="0" lang="en-US" altLang="zh-CN" sz="2000" b="1" dirty="0">
                <a:solidFill>
                  <a:srgbClr val="000000"/>
                </a:solidFill>
                <a:latin typeface="Times New Roman" panose="02020603050405020304" pitchFamily="18" charset="0"/>
                <a:ea typeface="华文楷体" panose="02010600040101010101" pitchFamily="2" charset="-122"/>
              </a:rPr>
              <a:t>Derived</a:t>
            </a:r>
            <a:r>
              <a:rPr kumimoji="0" lang="zh-CN" altLang="en-US" sz="2000" b="1" dirty="0">
                <a:solidFill>
                  <a:srgbClr val="000000"/>
                </a:solidFill>
                <a:latin typeface="Times New Roman" panose="02020603050405020304" pitchFamily="18" charset="0"/>
                <a:ea typeface="华文楷体" panose="02010600040101010101" pitchFamily="2" charset="-122"/>
              </a:rPr>
              <a:t>对象的指针调用</a:t>
            </a:r>
            <a:r>
              <a:rPr kumimoji="0" lang="en-US" altLang="zh-CN" sz="2000" b="1" dirty="0">
                <a:solidFill>
                  <a:srgbClr val="000000"/>
                </a:solidFill>
                <a:latin typeface="Times New Roman" panose="02020603050405020304" pitchFamily="18" charset="0"/>
                <a:ea typeface="华文楷体" panose="02010600040101010101" pitchFamily="2" charset="-122"/>
              </a:rPr>
              <a:t>fun</a:t>
            </a:r>
            <a:r>
              <a:rPr kumimoji="0" lang="zh-CN" altLang="en-US" sz="2000" b="1" dirty="0">
                <a:solidFill>
                  <a:srgbClr val="000000"/>
                </a:solidFill>
                <a:latin typeface="Times New Roman" panose="02020603050405020304" pitchFamily="18" charset="0"/>
                <a:ea typeface="华文楷体" panose="02010600040101010101" pitchFamily="2" charset="-122"/>
              </a:rPr>
              <a:t>函数</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return 0;</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38918" name="Text Box 4"/>
          <p:cNvSpPr txBox="1">
            <a:spLocks noChangeArrowheads="1"/>
          </p:cNvSpPr>
          <p:nvPr/>
        </p:nvSpPr>
        <p:spPr bwMode="auto">
          <a:xfrm>
            <a:off x="6219825" y="5531857"/>
            <a:ext cx="2847975" cy="1323439"/>
          </a:xfrm>
          <a:prstGeom prst="rect">
            <a:avLst/>
          </a:prstGeom>
          <a:solidFill>
            <a:srgbClr val="000000"/>
          </a:solidFill>
          <a:ln>
            <a:noFill/>
          </a:ln>
        </p:spPr>
        <p:txBody>
          <a:bodyPr wrap="square">
            <a:spAutoFit/>
          </a:bodyPr>
          <a:lstStyle>
            <a:lvl1pPr marL="0" indent="0" algn="l">
              <a:buClr>
                <a:schemeClr val="tx2"/>
              </a:buClr>
              <a:buSzPct val="75000"/>
              <a:buFont typeface="Monotype Sorts" pitchFamily="2" charset="2"/>
              <a:buNone/>
              <a:defRPr sz="2000" b="1">
                <a:ea typeface="隶书" panose="02010509060101010101" pitchFamily="49" charset="-122"/>
              </a:defRPr>
            </a:lvl1pPr>
            <a:lvl2pPr marL="742950" indent="-285750" algn="l">
              <a:spcBef>
                <a:spcPct val="20000"/>
              </a:spcBef>
              <a:buClr>
                <a:schemeClr val="tx1"/>
              </a:buClr>
              <a:buSzPct val="75000"/>
              <a:buFont typeface="Monotype Sorts" pitchFamily="2" charset="2"/>
              <a:buChar char="u"/>
              <a:defRPr sz="2800">
                <a:latin typeface="+mn-lt"/>
                <a:ea typeface="+mn-ea"/>
              </a:defRPr>
            </a:lvl2pPr>
            <a:lvl3pPr marL="1143000" indent="-228600" algn="l">
              <a:spcBef>
                <a:spcPct val="20000"/>
              </a:spcBef>
              <a:buClr>
                <a:schemeClr val="tx2"/>
              </a:buClr>
              <a:buSzPct val="62000"/>
              <a:buFont typeface="Monotype Sorts" pitchFamily="2" charset="2"/>
              <a:buChar char="u"/>
              <a:defRPr>
                <a:latin typeface="+mn-lt"/>
                <a:ea typeface="+mn-ea"/>
              </a:defRPr>
            </a:lvl3pPr>
            <a:lvl4pPr marL="1600200" indent="-228600" algn="l">
              <a:spcBef>
                <a:spcPct val="20000"/>
              </a:spcBef>
              <a:buClr>
                <a:schemeClr val="tx1"/>
              </a:buClr>
              <a:buSzPct val="62000"/>
              <a:buFont typeface="Monotype Sorts" pitchFamily="2" charset="2"/>
              <a:buChar char="u"/>
              <a:defRPr sz="2000">
                <a:latin typeface="+mn-lt"/>
                <a:ea typeface="+mn-ea"/>
              </a:defRPr>
            </a:lvl4pPr>
            <a:lvl5pPr marL="2057400" indent="-228600" algn="l">
              <a:spcBef>
                <a:spcPct val="20000"/>
              </a:spcBef>
              <a:buClr>
                <a:schemeClr val="tx2"/>
              </a:buClr>
              <a:buSzPct val="62000"/>
              <a:buFont typeface="Monotype Sorts" pitchFamily="2" charset="2"/>
              <a:buChar char="u"/>
              <a:defRPr sz="2000">
                <a:latin typeface="+mn-lt"/>
                <a:ea typeface="+mn-ea"/>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r>
              <a:rPr lang="zh-CN" altLang="en-US" dirty="0"/>
              <a:t>运行结果：</a:t>
            </a:r>
            <a:endParaRPr lang="zh-CN" altLang="en-US" dirty="0"/>
          </a:p>
          <a:p>
            <a:r>
              <a:rPr lang="en-US" altLang="zh-CN" dirty="0"/>
              <a:t>Base1::display()</a:t>
            </a:r>
            <a:endParaRPr lang="en-US" altLang="zh-CN" dirty="0"/>
          </a:p>
          <a:p>
            <a:r>
              <a:rPr lang="en-US" altLang="zh-CN" dirty="0"/>
              <a:t>Base1::display()</a:t>
            </a:r>
            <a:endParaRPr lang="en-US" altLang="zh-CN" dirty="0"/>
          </a:p>
          <a:p>
            <a:r>
              <a:rPr lang="en-US" altLang="zh-CN" dirty="0"/>
              <a:t>Base1::display()</a:t>
            </a:r>
            <a:endParaRPr lang="en-US" altLang="zh-CN" dirty="0"/>
          </a:p>
        </p:txBody>
      </p:sp>
      <p:sp>
        <p:nvSpPr>
          <p:cNvPr id="8" name="Text Box 7"/>
          <p:cNvSpPr txBox="1">
            <a:spLocks noChangeArrowheads="1"/>
          </p:cNvSpPr>
          <p:nvPr/>
        </p:nvSpPr>
        <p:spPr bwMode="auto">
          <a:xfrm>
            <a:off x="2915816" y="548680"/>
            <a:ext cx="5616575" cy="1077218"/>
          </a:xfrm>
          <a:prstGeom prst="rect">
            <a:avLst/>
          </a:prstGeom>
          <a:noFill/>
          <a:ln>
            <a:noFill/>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3200" b="1" dirty="0">
                <a:solidFill>
                  <a:srgbClr val="FFFF66"/>
                </a:solidFill>
                <a:latin typeface="华文楷体" panose="02010600040101010101" pitchFamily="2" charset="-122"/>
                <a:ea typeface="华文楷体" panose="02010600040101010101" pitchFamily="2" charset="-122"/>
              </a:rPr>
              <a:t>绝对不要重新定义继承而来的非虚</a:t>
            </a:r>
            <a:r>
              <a:rPr lang="zh-CN" altLang="en-US" sz="3200" b="1" dirty="0" smtClean="0">
                <a:solidFill>
                  <a:srgbClr val="FFFF66"/>
                </a:solidFill>
                <a:latin typeface="华文楷体" panose="02010600040101010101" pitchFamily="2" charset="-122"/>
                <a:ea typeface="华文楷体" panose="02010600040101010101" pitchFamily="2" charset="-122"/>
              </a:rPr>
              <a:t>函数！</a:t>
            </a:r>
            <a:endParaRPr lang="zh-CN" altLang="en-US" sz="3200" b="1" dirty="0">
              <a:solidFill>
                <a:srgbClr val="FFFF66"/>
              </a:solidFill>
              <a:latin typeface="华文楷体" panose="02010600040101010101" pitchFamily="2" charset="-122"/>
              <a:ea typeface="华文楷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ou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4" name="Rectangle 2"/>
          <p:cNvSpPr>
            <a:spLocks noGrp="1" noChangeArrowheads="1"/>
          </p:cNvSpPr>
          <p:nvPr>
            <p:ph type="title"/>
          </p:nvPr>
        </p:nvSpPr>
        <p:spPr bwMode="auto">
          <a:xfrm>
            <a:off x="432656" y="2060848"/>
            <a:ext cx="8583488" cy="1244352"/>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startAt="4"/>
            </a:pPr>
            <a:r>
              <a:rPr lang="zh-CN" altLang="en-US" sz="5800" b="1" dirty="0" smtClean="0">
                <a:ea typeface="华文彩云" panose="02010800040101010101" pitchFamily="2" charset="-122"/>
              </a:rPr>
              <a:t>派生类的构造</a:t>
            </a:r>
            <a:br>
              <a:rPr lang="en-US" altLang="zh-CN" sz="5800" b="1" dirty="0" smtClean="0">
                <a:ea typeface="华文彩云" panose="02010800040101010101" pitchFamily="2" charset="-122"/>
              </a:rPr>
            </a:br>
            <a:r>
              <a:rPr lang="zh-CN" altLang="en-US" sz="5800" b="1" dirty="0" smtClean="0">
                <a:ea typeface="华文彩云" panose="02010800040101010101" pitchFamily="2" charset="-122"/>
              </a:rPr>
              <a:t>和析构函数</a:t>
            </a:r>
            <a:endParaRPr lang="zh-CN" altLang="en-US" sz="5800" dirty="0"/>
          </a:p>
        </p:txBody>
      </p:sp>
      <p:pic>
        <p:nvPicPr>
          <p:cNvPr id="612355" name="Picture 3" descr="BS00580_"/>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133600" y="4038607"/>
            <a:ext cx="2590800" cy="21828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smtClean="0">
                <a:latin typeface="Times New Roman" panose="02020603050405020304" pitchFamily="18" charset="0"/>
                <a:ea typeface="隶书" panose="02010509060101010101" pitchFamily="49" charset="-122"/>
              </a:rPr>
              <a:t>7.4.1  </a:t>
            </a:r>
            <a:r>
              <a:rPr lang="zh-CN" altLang="en-US" sz="4400" b="1" dirty="0" smtClean="0">
                <a:latin typeface="Times New Roman" panose="02020603050405020304" pitchFamily="18" charset="0"/>
                <a:ea typeface="隶书" panose="02010509060101010101" pitchFamily="49" charset="-122"/>
              </a:rPr>
              <a:t>构造</a:t>
            </a:r>
            <a:r>
              <a:rPr lang="zh-CN" altLang="en-US" sz="4400" b="1" dirty="0">
                <a:latin typeface="Times New Roman" panose="02020603050405020304" pitchFamily="18" charset="0"/>
                <a:ea typeface="隶书" panose="02010509060101010101" pitchFamily="49" charset="-122"/>
              </a:rPr>
              <a:t>函数</a:t>
            </a:r>
            <a:endParaRPr lang="zh-CN" altLang="en-US" sz="4400" b="1" dirty="0">
              <a:latin typeface="Times New Roman" panose="02020603050405020304" pitchFamily="18" charset="0"/>
              <a:ea typeface="隶书" panose="02010509060101010101" pitchFamily="49" charset="-122"/>
            </a:endParaRPr>
          </a:p>
        </p:txBody>
      </p:sp>
      <p:sp>
        <p:nvSpPr>
          <p:cNvPr id="39939" name="内容占位符 2"/>
          <p:cNvSpPr>
            <a:spLocks noGrp="1"/>
          </p:cNvSpPr>
          <p:nvPr>
            <p:ph idx="1"/>
          </p:nvPr>
        </p:nvSpPr>
        <p:spPr/>
        <p:txBody>
          <a:bodyPr/>
          <a:lstStyle/>
          <a:p>
            <a:pPr>
              <a:lnSpc>
                <a:spcPct val="150000"/>
              </a:lnSpc>
              <a:spcAft>
                <a:spcPct val="25000"/>
              </a:spcAft>
            </a:pPr>
            <a:r>
              <a:rPr lang="zh-CN" altLang="en-US" sz="2400" b="1" dirty="0">
                <a:ea typeface="华文楷体" panose="02010600040101010101" pitchFamily="2" charset="-122"/>
              </a:rPr>
              <a:t>基类的构造函数不被继承，派生类中需要声明自己的构造函数。</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定义构造函数时，只需要对本类中新增成员进行初始化，对继承来的基类成员的初始化，调用基类构造函数完成。</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派生类的构造函数需要给基类的构造函数传递参数</a:t>
            </a:r>
            <a:endParaRPr lang="zh-CN" altLang="en-US" sz="2400" b="1" dirty="0">
              <a:ea typeface="华文楷体" panose="02010600040101010101" pitchFamily="2" charset="-122"/>
            </a:endParaRPr>
          </a:p>
        </p:txBody>
      </p:sp>
      <p:sp>
        <p:nvSpPr>
          <p:cNvPr id="2" name="文本框 1"/>
          <p:cNvSpPr txBox="1"/>
          <p:nvPr/>
        </p:nvSpPr>
        <p:spPr>
          <a:xfrm>
            <a:off x="10101580" y="3073400"/>
            <a:ext cx="3048000" cy="914400"/>
          </a:xfrm>
          <a:prstGeom prst="rect">
            <a:avLst/>
          </a:prstGeom>
          <a:noFill/>
          <a:ln w="9525" algn="ctr">
            <a:noFill/>
            <a:miter lim="800000"/>
          </a:ln>
        </p:spPr>
        <p:txBody>
          <a:bodyPr wrap="square" anchor="ctr"/>
          <a:p>
            <a:pPr algn="l" eaLnBrk="1" hangingPunct="1">
              <a:lnSpc>
                <a:spcPct val="150000"/>
              </a:lnSpc>
              <a:spcBef>
                <a:spcPct val="50000"/>
              </a:spcBef>
            </a:pPr>
            <a:endParaRPr lang="zh-CN" altLang="en-US" sz="2400" dirty="0" smtClean="0"/>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单一继承时的构造函数</a:t>
            </a:r>
            <a:endParaRPr lang="zh-CN" altLang="en-US" sz="4400" b="1">
              <a:latin typeface="Times New Roman" panose="02020603050405020304" pitchFamily="18" charset="0"/>
              <a:ea typeface="隶书" panose="02010509060101010101" pitchFamily="49" charset="-122"/>
            </a:endParaRPr>
          </a:p>
        </p:txBody>
      </p:sp>
      <p:sp>
        <p:nvSpPr>
          <p:cNvPr id="40963" name="内容占位符 2"/>
          <p:cNvSpPr>
            <a:spLocks noGrp="1"/>
          </p:cNvSpPr>
          <p:nvPr>
            <p:ph idx="1"/>
          </p:nvPr>
        </p:nvSpPr>
        <p:spPr/>
        <p:txBody>
          <a:bodyPr/>
          <a:lstStyle/>
          <a:p>
            <a:pPr marL="0" indent="0">
              <a:lnSpc>
                <a:spcPct val="150000"/>
              </a:lnSpc>
              <a:spcAft>
                <a:spcPct val="25000"/>
              </a:spcAft>
              <a:buNone/>
            </a:pPr>
            <a:r>
              <a:rPr lang="zh-CN" altLang="en-US" sz="2400" b="1">
                <a:solidFill>
                  <a:srgbClr val="FFFF00"/>
                </a:solidFill>
                <a:ea typeface="华文楷体" panose="02010600040101010101" pitchFamily="2" charset="-122"/>
              </a:rPr>
              <a:t>派生类名</a:t>
            </a:r>
            <a:r>
              <a:rPr lang="en-US" altLang="zh-CN" sz="2400" b="1">
                <a:solidFill>
                  <a:srgbClr val="FFFF00"/>
                </a:solidFill>
                <a:ea typeface="华文楷体" panose="02010600040101010101" pitchFamily="2" charset="-122"/>
              </a:rPr>
              <a:t>::</a:t>
            </a:r>
            <a:r>
              <a:rPr lang="zh-CN" altLang="en-US" sz="2400" b="1">
                <a:solidFill>
                  <a:srgbClr val="FFFF00"/>
                </a:solidFill>
                <a:ea typeface="华文楷体" panose="02010600040101010101" pitchFamily="2" charset="-122"/>
              </a:rPr>
              <a:t>派生类名</a:t>
            </a:r>
            <a:r>
              <a:rPr lang="en-US" altLang="zh-CN" sz="2400" b="1">
                <a:solidFill>
                  <a:srgbClr val="FFFF00"/>
                </a:solidFill>
                <a:ea typeface="华文楷体" panose="02010600040101010101" pitchFamily="2" charset="-122"/>
              </a:rPr>
              <a:t>(</a:t>
            </a:r>
            <a:r>
              <a:rPr lang="zh-CN" altLang="en-US" sz="2400" b="1">
                <a:solidFill>
                  <a:srgbClr val="FFFF00"/>
                </a:solidFill>
                <a:ea typeface="华文楷体" panose="02010600040101010101" pitchFamily="2" charset="-122"/>
              </a:rPr>
              <a:t>基类所需的形参，本类成员所需的形参</a:t>
            </a:r>
            <a:r>
              <a:rPr lang="en-US" altLang="zh-CN" sz="2400" b="1">
                <a:solidFill>
                  <a:srgbClr val="FFFF00"/>
                </a:solidFill>
                <a:ea typeface="华文楷体" panose="02010600040101010101" pitchFamily="2" charset="-122"/>
              </a:rPr>
              <a:t>):</a:t>
            </a:r>
            <a:r>
              <a:rPr lang="zh-CN" altLang="en-US" sz="2400" b="1">
                <a:solidFill>
                  <a:srgbClr val="FFFF00"/>
                </a:solidFill>
                <a:ea typeface="华文楷体" panose="02010600040101010101" pitchFamily="2" charset="-122"/>
              </a:rPr>
              <a:t>基类名</a:t>
            </a:r>
            <a:r>
              <a:rPr lang="en-US" altLang="zh-CN" sz="2400" b="1">
                <a:solidFill>
                  <a:srgbClr val="FFFF00"/>
                </a:solidFill>
                <a:ea typeface="华文楷体" panose="02010600040101010101" pitchFamily="2" charset="-122"/>
              </a:rPr>
              <a:t>(</a:t>
            </a:r>
            <a:r>
              <a:rPr lang="zh-CN" altLang="en-US" sz="2400" b="1">
                <a:solidFill>
                  <a:srgbClr val="FFFF00"/>
                </a:solidFill>
                <a:ea typeface="华文楷体" panose="02010600040101010101" pitchFamily="2" charset="-122"/>
              </a:rPr>
              <a:t>参数表</a:t>
            </a:r>
            <a:r>
              <a:rPr lang="en-US" altLang="zh-CN" sz="2400" b="1">
                <a:solidFill>
                  <a:srgbClr val="FFFF00"/>
                </a:solidFill>
                <a:ea typeface="华文楷体" panose="02010600040101010101" pitchFamily="2" charset="-122"/>
              </a:rPr>
              <a:t>), </a:t>
            </a:r>
            <a:r>
              <a:rPr lang="zh-CN" altLang="en-US" sz="2400" b="1">
                <a:solidFill>
                  <a:srgbClr val="FFFF00"/>
                </a:solidFill>
                <a:ea typeface="华文楷体" panose="02010600040101010101" pitchFamily="2" charset="-122"/>
              </a:rPr>
              <a:t>本类成员初始化列表</a:t>
            </a:r>
            <a:endParaRPr lang="en-US" altLang="zh-CN" sz="2400" b="1">
              <a:solidFill>
                <a:srgbClr val="FFFF00"/>
              </a:solidFill>
              <a:ea typeface="华文楷体" panose="02010600040101010101" pitchFamily="2" charset="-122"/>
            </a:endParaRPr>
          </a:p>
          <a:p>
            <a:pPr marL="0" indent="0">
              <a:lnSpc>
                <a:spcPct val="150000"/>
              </a:lnSpc>
              <a:spcAft>
                <a:spcPct val="25000"/>
              </a:spcAft>
              <a:buNone/>
            </a:pPr>
            <a:r>
              <a:rPr lang="en-US" altLang="zh-CN" sz="2400" b="1">
                <a:solidFill>
                  <a:srgbClr val="FFFF00"/>
                </a:solidFill>
                <a:ea typeface="华文楷体" panose="02010600040101010101" pitchFamily="2" charset="-122"/>
              </a:rPr>
              <a:t>{</a:t>
            </a:r>
            <a:endParaRPr lang="en-US" altLang="zh-CN" sz="2400" b="1">
              <a:solidFill>
                <a:srgbClr val="FFFF00"/>
              </a:solidFill>
              <a:ea typeface="华文楷体" panose="02010600040101010101" pitchFamily="2" charset="-122"/>
            </a:endParaRPr>
          </a:p>
          <a:p>
            <a:pPr marL="0" indent="0">
              <a:lnSpc>
                <a:spcPct val="150000"/>
              </a:lnSpc>
              <a:spcAft>
                <a:spcPct val="25000"/>
              </a:spcAft>
              <a:buNone/>
            </a:pPr>
            <a:r>
              <a:rPr lang="en-US" altLang="zh-CN" sz="2400" b="1">
                <a:solidFill>
                  <a:srgbClr val="FFFF00"/>
                </a:solidFill>
                <a:ea typeface="华文楷体" panose="02010600040101010101" pitchFamily="2" charset="-122"/>
              </a:rPr>
              <a:t>	//</a:t>
            </a:r>
            <a:r>
              <a:rPr lang="zh-CN" altLang="en-US" sz="2400" b="1">
                <a:solidFill>
                  <a:srgbClr val="FFFF00"/>
                </a:solidFill>
                <a:ea typeface="华文楷体" panose="02010600040101010101" pitchFamily="2" charset="-122"/>
              </a:rPr>
              <a:t>其他初始化；</a:t>
            </a:r>
            <a:endParaRPr lang="zh-CN" altLang="en-US" sz="2400" b="1">
              <a:solidFill>
                <a:srgbClr val="FFFF00"/>
              </a:solidFill>
              <a:ea typeface="华文楷体" panose="02010600040101010101" pitchFamily="2" charset="-122"/>
            </a:endParaRPr>
          </a:p>
          <a:p>
            <a:pPr marL="0" indent="0">
              <a:lnSpc>
                <a:spcPct val="150000"/>
              </a:lnSpc>
              <a:spcAft>
                <a:spcPct val="25000"/>
              </a:spcAft>
              <a:buNone/>
            </a:pPr>
            <a:r>
              <a:rPr lang="en-US" altLang="zh-CN" sz="2400" b="1">
                <a:solidFill>
                  <a:srgbClr val="FFFF00"/>
                </a:solidFill>
                <a:ea typeface="华文楷体" panose="02010600040101010101" pitchFamily="2" charset="-122"/>
              </a:rPr>
              <a:t>}</a:t>
            </a:r>
            <a:r>
              <a:rPr lang="zh-CN" altLang="en-US" sz="2400" b="1">
                <a:solidFill>
                  <a:srgbClr val="FFFF00"/>
                </a:solidFill>
                <a:ea typeface="华文楷体" panose="02010600040101010101" pitchFamily="2" charset="-122"/>
              </a:rPr>
              <a:t>；</a:t>
            </a:r>
            <a:endParaRPr lang="zh-CN" altLang="en-US" sz="2400" b="1">
              <a:solidFill>
                <a:srgbClr val="FFFF00"/>
              </a:solidFill>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7"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单一继承时的构造函数举例</a:t>
            </a:r>
            <a:endParaRPr lang="zh-CN" altLang="en-US" sz="4400" b="1">
              <a:latin typeface="Times New Roman" panose="02020603050405020304" pitchFamily="18" charset="0"/>
              <a:ea typeface="隶书" panose="02010509060101010101" pitchFamily="49" charset="-122"/>
            </a:endParaRPr>
          </a:p>
        </p:txBody>
      </p:sp>
      <p:sp>
        <p:nvSpPr>
          <p:cNvPr id="41988" name="内容占位符 2"/>
          <p:cNvSpPr>
            <a:spLocks noGrp="1"/>
          </p:cNvSpPr>
          <p:nvPr>
            <p:ph idx="1"/>
          </p:nvPr>
        </p:nvSpPr>
        <p:spPr>
          <a:xfrm>
            <a:off x="628650" y="1825625"/>
            <a:ext cx="7886700" cy="3785652"/>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#include&lt;</a:t>
            </a:r>
            <a:r>
              <a:rPr kumimoji="0" lang="en-US" altLang="zh-CN" sz="2000" b="1" dirty="0" err="1">
                <a:solidFill>
                  <a:srgbClr val="000000"/>
                </a:solidFill>
                <a:latin typeface="Times New Roman" panose="02020603050405020304" pitchFamily="18" charset="0"/>
                <a:ea typeface="华文楷体" panose="02010600040101010101" pitchFamily="2" charset="-122"/>
              </a:rPr>
              <a:t>iostream</a:t>
            </a:r>
            <a:r>
              <a:rPr kumimoji="0" lang="en-US" altLang="zh-CN" sz="2000" b="1" dirty="0">
                <a:solidFill>
                  <a:srgbClr val="000000"/>
                </a:solidFill>
                <a:latin typeface="Times New Roman" panose="02020603050405020304" pitchFamily="18" charset="0"/>
                <a:ea typeface="华文楷体" panose="02010600040101010101" pitchFamily="2" charset="-122"/>
              </a:rPr>
              <a:t>&gt;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using </a:t>
            </a:r>
            <a:r>
              <a:rPr kumimoji="0" lang="en-US" altLang="zh-CN" sz="2000" b="1" dirty="0" err="1">
                <a:solidFill>
                  <a:srgbClr val="000000"/>
                </a:solidFill>
                <a:latin typeface="Times New Roman" panose="02020603050405020304" pitchFamily="18" charset="0"/>
                <a:ea typeface="华文楷体" panose="02010600040101010101" pitchFamily="2" charset="-122"/>
              </a:rPr>
              <a:t>namecpace</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std</a:t>
            </a: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endParaRPr kumimoji="0" lang="en-US" altLang="zh-CN" sz="2000" b="1" dirty="0" smtClean="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B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B();</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B(</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~B();</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print()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private:</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b;</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1"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单一继承时的构造函数举例 </a:t>
            </a:r>
            <a:r>
              <a:rPr lang="en-US" altLang="zh-CN" sz="4400" b="1">
                <a:latin typeface="Times New Roman" panose="02020603050405020304" pitchFamily="18" charset="0"/>
                <a:ea typeface="隶书" panose="02010509060101010101" pitchFamily="49" charset="-122"/>
              </a:rPr>
              <a:t>(</a:t>
            </a:r>
            <a:r>
              <a:rPr lang="zh-CN" altLang="en-US" sz="4400" b="1">
                <a:latin typeface="Times New Roman" panose="02020603050405020304" pitchFamily="18" charset="0"/>
                <a:ea typeface="隶书" panose="02010509060101010101" pitchFamily="49" charset="-122"/>
              </a:rPr>
              <a:t>续</a:t>
            </a:r>
            <a:r>
              <a:rPr lang="en-US" altLang="zh-CN" sz="4400" b="1">
                <a:latin typeface="Times New Roman" panose="02020603050405020304" pitchFamily="18" charset="0"/>
                <a:ea typeface="隶书" panose="02010509060101010101" pitchFamily="49" charset="-122"/>
              </a:rPr>
              <a:t>)</a:t>
            </a:r>
            <a:endParaRPr lang="zh-CN" altLang="en-US" sz="4400" b="1">
              <a:latin typeface="Times New Roman" panose="02020603050405020304" pitchFamily="18" charset="0"/>
              <a:ea typeface="隶书" panose="02010509060101010101" pitchFamily="49" charset="-122"/>
            </a:endParaRPr>
          </a:p>
        </p:txBody>
      </p:sp>
      <p:sp>
        <p:nvSpPr>
          <p:cNvPr id="43012" name="内容占位符 2"/>
          <p:cNvSpPr>
            <a:spLocks noGrp="1"/>
          </p:cNvSpPr>
          <p:nvPr>
            <p:ph idx="1"/>
          </p:nvPr>
        </p:nvSpPr>
        <p:spPr>
          <a:xfrm>
            <a:off x="628650" y="1825625"/>
            <a:ext cx="7886700" cy="4401205"/>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B::B()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b=0;</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cout &lt;&lt; "B's default constructor called." &lt;&lt; endl;</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B::B(int i)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b=i;</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cout &lt;&lt; "B's constructor called." &lt;&lt; endl;</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B::~B()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cout &lt;&lt; "B's destructor called." &lt;&lt; endl;</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void B::print() const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cout &lt;&lt; b &lt;&lt; endl;</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a:t>
            </a:r>
            <a:endParaRPr kumimoji="0" lang="en-US" altLang="zh-CN" sz="2000" b="1">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5"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单一继承时的构造函数举例 </a:t>
            </a:r>
            <a:r>
              <a:rPr lang="en-US" altLang="zh-CN" sz="4400" b="1">
                <a:latin typeface="Times New Roman" panose="02020603050405020304" pitchFamily="18" charset="0"/>
                <a:ea typeface="隶书" panose="02010509060101010101" pitchFamily="49" charset="-122"/>
              </a:rPr>
              <a:t>(</a:t>
            </a:r>
            <a:r>
              <a:rPr lang="zh-CN" altLang="en-US" sz="4400" b="1">
                <a:latin typeface="Times New Roman" panose="02020603050405020304" pitchFamily="18" charset="0"/>
                <a:ea typeface="隶书" panose="02010509060101010101" pitchFamily="49" charset="-122"/>
              </a:rPr>
              <a:t>续</a:t>
            </a:r>
            <a:r>
              <a:rPr lang="en-US" altLang="zh-CN" sz="4400" b="1">
                <a:latin typeface="Times New Roman" panose="02020603050405020304" pitchFamily="18" charset="0"/>
                <a:ea typeface="隶书" panose="02010509060101010101" pitchFamily="49" charset="-122"/>
              </a:rPr>
              <a:t>)</a:t>
            </a:r>
            <a:endParaRPr lang="zh-CN" altLang="en-US" sz="4400" b="1">
              <a:latin typeface="Times New Roman" panose="02020603050405020304" pitchFamily="18" charset="0"/>
              <a:ea typeface="隶书" panose="02010509060101010101" pitchFamily="49" charset="-122"/>
            </a:endParaRPr>
          </a:p>
        </p:txBody>
      </p:sp>
      <p:sp>
        <p:nvSpPr>
          <p:cNvPr id="44036" name="内容占位符 2"/>
          <p:cNvSpPr>
            <a:spLocks noGrp="1"/>
          </p:cNvSpPr>
          <p:nvPr>
            <p:ph idx="1"/>
          </p:nvPr>
        </p:nvSpPr>
        <p:spPr>
          <a:xfrm>
            <a:off x="457200" y="1412875"/>
            <a:ext cx="8229600" cy="5160963"/>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class C: public B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public:</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C();</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C(int i, int j);</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~C();</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void print() const;</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private:</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int c;</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C::C()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c = 0;</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cout &lt;&lt; "C's default constructor called." &lt;&lt; endl;</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C::C(int i,int j): B(i), c(j){</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cout &lt;&lt; "C's constructor called." &lt;&lt; endl;</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a:t>
            </a:r>
            <a:endParaRPr kumimoji="0" lang="en-US" altLang="zh-CN" sz="2000" b="1">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9"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单一继承时的构造函数举例 </a:t>
            </a:r>
            <a:r>
              <a:rPr lang="en-US" altLang="zh-CN" sz="4400" b="1">
                <a:latin typeface="Times New Roman" panose="02020603050405020304" pitchFamily="18" charset="0"/>
                <a:ea typeface="隶书" panose="02010509060101010101" pitchFamily="49" charset="-122"/>
              </a:rPr>
              <a:t>(</a:t>
            </a:r>
            <a:r>
              <a:rPr lang="zh-CN" altLang="en-US" sz="4400" b="1">
                <a:latin typeface="Times New Roman" panose="02020603050405020304" pitchFamily="18" charset="0"/>
                <a:ea typeface="隶书" panose="02010509060101010101" pitchFamily="49" charset="-122"/>
              </a:rPr>
              <a:t>续</a:t>
            </a:r>
            <a:r>
              <a:rPr lang="en-US" altLang="zh-CN" sz="4400" b="1">
                <a:latin typeface="Times New Roman" panose="02020603050405020304" pitchFamily="18" charset="0"/>
                <a:ea typeface="隶书" panose="02010509060101010101" pitchFamily="49" charset="-122"/>
              </a:rPr>
              <a:t>)</a:t>
            </a:r>
            <a:endParaRPr lang="zh-CN" altLang="en-US" sz="4400" b="1">
              <a:latin typeface="Times New Roman" panose="02020603050405020304" pitchFamily="18" charset="0"/>
              <a:ea typeface="隶书" panose="02010509060101010101" pitchFamily="49" charset="-122"/>
            </a:endParaRPr>
          </a:p>
        </p:txBody>
      </p:sp>
      <p:sp>
        <p:nvSpPr>
          <p:cNvPr id="45060" name="内容占位符 2"/>
          <p:cNvSpPr>
            <a:spLocks noGrp="1"/>
          </p:cNvSpPr>
          <p:nvPr>
            <p:ph idx="1"/>
          </p:nvPr>
        </p:nvSpPr>
        <p:spPr>
          <a:xfrm>
            <a:off x="628650" y="1825625"/>
            <a:ext cx="7886700" cy="4093428"/>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C::~C()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cout &lt;&lt; "C's destructor called." &lt;&lt; endl;</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void C::print() const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B::print();</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cout &lt;&lt; c &lt;&lt; endl;</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int main()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C obj(5, 6);</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obj.print();</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return 0;</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a:t>
            </a:r>
            <a:endParaRPr kumimoji="0" lang="en-US" altLang="zh-CN" sz="2000" b="1">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多继承时的构造函数</a:t>
            </a:r>
            <a:endParaRPr lang="zh-CN" altLang="en-US" sz="4400" b="1">
              <a:latin typeface="Times New Roman" panose="02020603050405020304" pitchFamily="18" charset="0"/>
              <a:ea typeface="隶书" panose="02010509060101010101" pitchFamily="49" charset="-122"/>
            </a:endParaRPr>
          </a:p>
        </p:txBody>
      </p:sp>
      <p:sp>
        <p:nvSpPr>
          <p:cNvPr id="46083" name="内容占位符 2"/>
          <p:cNvSpPr>
            <a:spLocks noGrp="1"/>
          </p:cNvSpPr>
          <p:nvPr>
            <p:ph idx="1"/>
          </p:nvPr>
        </p:nvSpPr>
        <p:spPr/>
        <p:txBody>
          <a:bodyPr/>
          <a:lstStyle/>
          <a:p>
            <a:pPr marL="0" indent="0">
              <a:lnSpc>
                <a:spcPct val="150000"/>
              </a:lnSpc>
              <a:spcAft>
                <a:spcPct val="25000"/>
              </a:spcAft>
              <a:buNone/>
            </a:pPr>
            <a:r>
              <a:rPr lang="zh-CN" altLang="en-US" sz="2400" b="1" dirty="0">
                <a:solidFill>
                  <a:srgbClr val="FFFF00"/>
                </a:solidFill>
                <a:ea typeface="华文楷体" panose="02010600040101010101" pitchFamily="2" charset="-122"/>
              </a:rPr>
              <a:t>派生类名</a:t>
            </a:r>
            <a:r>
              <a:rPr lang="en-US" altLang="zh-CN" sz="2400" b="1" dirty="0">
                <a:solidFill>
                  <a:srgbClr val="FFFF00"/>
                </a:solidFill>
                <a:ea typeface="华文楷体" panose="02010600040101010101" pitchFamily="2" charset="-122"/>
              </a:rPr>
              <a:t>::</a:t>
            </a:r>
            <a:r>
              <a:rPr lang="zh-CN" altLang="en-US" sz="2400" b="1" dirty="0">
                <a:solidFill>
                  <a:srgbClr val="FFFF00"/>
                </a:solidFill>
                <a:ea typeface="华文楷体" panose="02010600040101010101" pitchFamily="2" charset="-122"/>
              </a:rPr>
              <a:t>派生类名</a:t>
            </a:r>
            <a:r>
              <a:rPr lang="en-US" altLang="zh-CN" sz="2400" b="1" dirty="0">
                <a:solidFill>
                  <a:srgbClr val="FFFF00"/>
                </a:solidFill>
                <a:ea typeface="华文楷体" panose="02010600040101010101" pitchFamily="2" charset="-122"/>
              </a:rPr>
              <a:t>(</a:t>
            </a:r>
            <a:r>
              <a:rPr lang="zh-CN" altLang="en-US" sz="2400" b="1" dirty="0">
                <a:solidFill>
                  <a:srgbClr val="FFFF00"/>
                </a:solidFill>
                <a:ea typeface="华文楷体" panose="02010600040101010101" pitchFamily="2" charset="-122"/>
              </a:rPr>
              <a:t>参数表</a:t>
            </a:r>
            <a:r>
              <a:rPr lang="en-US" altLang="zh-CN" sz="2400" b="1" dirty="0">
                <a:solidFill>
                  <a:srgbClr val="FFFF00"/>
                </a:solidFill>
                <a:ea typeface="华文楷体" panose="02010600040101010101" pitchFamily="2" charset="-122"/>
              </a:rPr>
              <a:t>):</a:t>
            </a:r>
            <a:r>
              <a:rPr lang="zh-CN" altLang="en-US" sz="2400" b="1" dirty="0">
                <a:solidFill>
                  <a:srgbClr val="FFFF00"/>
                </a:solidFill>
                <a:ea typeface="华文楷体" panose="02010600040101010101" pitchFamily="2" charset="-122"/>
              </a:rPr>
              <a:t>基类名</a:t>
            </a:r>
            <a:r>
              <a:rPr lang="en-US" altLang="zh-CN" sz="2400" b="1" dirty="0">
                <a:solidFill>
                  <a:srgbClr val="FFFF00"/>
                </a:solidFill>
                <a:ea typeface="华文楷体" panose="02010600040101010101" pitchFamily="2" charset="-122"/>
              </a:rPr>
              <a:t>1(</a:t>
            </a:r>
            <a:r>
              <a:rPr lang="zh-CN" altLang="en-US" sz="2400" b="1" dirty="0">
                <a:solidFill>
                  <a:srgbClr val="FFFF00"/>
                </a:solidFill>
                <a:ea typeface="华文楷体" panose="02010600040101010101" pitchFamily="2" charset="-122"/>
              </a:rPr>
              <a:t>基类</a:t>
            </a:r>
            <a:r>
              <a:rPr lang="en-US" altLang="zh-CN" sz="2400" b="1" dirty="0">
                <a:solidFill>
                  <a:srgbClr val="FFFF00"/>
                </a:solidFill>
                <a:ea typeface="华文楷体" panose="02010600040101010101" pitchFamily="2" charset="-122"/>
              </a:rPr>
              <a:t>1</a:t>
            </a:r>
            <a:r>
              <a:rPr lang="zh-CN" altLang="en-US" sz="2400" b="1" dirty="0">
                <a:solidFill>
                  <a:srgbClr val="FFFF00"/>
                </a:solidFill>
                <a:ea typeface="华文楷体" panose="02010600040101010101" pitchFamily="2" charset="-122"/>
              </a:rPr>
              <a:t>初始化参数表</a:t>
            </a:r>
            <a:r>
              <a:rPr lang="en-US" altLang="zh-CN" sz="2400" b="1" dirty="0">
                <a:solidFill>
                  <a:srgbClr val="FFFF00"/>
                </a:solidFill>
                <a:ea typeface="华文楷体" panose="02010600040101010101" pitchFamily="2" charset="-122"/>
              </a:rPr>
              <a:t>), </a:t>
            </a:r>
            <a:r>
              <a:rPr lang="zh-CN" altLang="en-US" sz="2400" b="1" dirty="0">
                <a:solidFill>
                  <a:srgbClr val="FFFF00"/>
                </a:solidFill>
                <a:ea typeface="华文楷体" panose="02010600040101010101" pitchFamily="2" charset="-122"/>
              </a:rPr>
              <a:t>基类名</a:t>
            </a:r>
            <a:r>
              <a:rPr lang="en-US" altLang="zh-CN" sz="2400" b="1" dirty="0">
                <a:solidFill>
                  <a:srgbClr val="FFFF00"/>
                </a:solidFill>
                <a:ea typeface="华文楷体" panose="02010600040101010101" pitchFamily="2" charset="-122"/>
              </a:rPr>
              <a:t>2(</a:t>
            </a:r>
            <a:r>
              <a:rPr lang="zh-CN" altLang="en-US" sz="2400" b="1" dirty="0">
                <a:solidFill>
                  <a:srgbClr val="FFFF00"/>
                </a:solidFill>
                <a:ea typeface="华文楷体" panose="02010600040101010101" pitchFamily="2" charset="-122"/>
              </a:rPr>
              <a:t>基类</a:t>
            </a:r>
            <a:r>
              <a:rPr lang="en-US" altLang="zh-CN" sz="2400" b="1" dirty="0">
                <a:solidFill>
                  <a:srgbClr val="FFFF00"/>
                </a:solidFill>
                <a:ea typeface="华文楷体" panose="02010600040101010101" pitchFamily="2" charset="-122"/>
              </a:rPr>
              <a:t>2</a:t>
            </a:r>
            <a:r>
              <a:rPr lang="zh-CN" altLang="en-US" sz="2400" b="1" dirty="0">
                <a:solidFill>
                  <a:srgbClr val="FFFF00"/>
                </a:solidFill>
                <a:ea typeface="华文楷体" panose="02010600040101010101" pitchFamily="2" charset="-122"/>
              </a:rPr>
              <a:t>初始化参数表</a:t>
            </a:r>
            <a:r>
              <a:rPr lang="en-US" altLang="zh-CN" sz="2400" b="1" dirty="0">
                <a:solidFill>
                  <a:srgbClr val="FFFF00"/>
                </a:solidFill>
                <a:ea typeface="华文楷体" panose="02010600040101010101" pitchFamily="2" charset="-122"/>
              </a:rPr>
              <a:t>), ...</a:t>
            </a:r>
            <a:r>
              <a:rPr lang="zh-CN" altLang="en-US" sz="2400" b="1" dirty="0">
                <a:solidFill>
                  <a:srgbClr val="FFFF00"/>
                </a:solidFill>
                <a:ea typeface="华文楷体" panose="02010600040101010101" pitchFamily="2" charset="-122"/>
              </a:rPr>
              <a:t>基类名</a:t>
            </a:r>
            <a:r>
              <a:rPr lang="en-US" altLang="zh-CN" sz="2400" b="1" dirty="0">
                <a:solidFill>
                  <a:srgbClr val="FFFF00"/>
                </a:solidFill>
                <a:ea typeface="华文楷体" panose="02010600040101010101" pitchFamily="2" charset="-122"/>
              </a:rPr>
              <a:t>n(</a:t>
            </a:r>
            <a:r>
              <a:rPr lang="zh-CN" altLang="en-US" sz="2400" b="1" dirty="0">
                <a:solidFill>
                  <a:srgbClr val="FFFF00"/>
                </a:solidFill>
                <a:ea typeface="华文楷体" panose="02010600040101010101" pitchFamily="2" charset="-122"/>
              </a:rPr>
              <a:t>基类</a:t>
            </a:r>
            <a:r>
              <a:rPr lang="en-US" altLang="zh-CN" sz="2400" b="1" dirty="0">
                <a:solidFill>
                  <a:srgbClr val="FFFF00"/>
                </a:solidFill>
                <a:ea typeface="华文楷体" panose="02010600040101010101" pitchFamily="2" charset="-122"/>
              </a:rPr>
              <a:t>n</a:t>
            </a:r>
            <a:r>
              <a:rPr lang="zh-CN" altLang="en-US" sz="2400" b="1" dirty="0">
                <a:solidFill>
                  <a:srgbClr val="FFFF00"/>
                </a:solidFill>
                <a:ea typeface="华文楷体" panose="02010600040101010101" pitchFamily="2" charset="-122"/>
              </a:rPr>
              <a:t>初始化参数表</a:t>
            </a:r>
            <a:r>
              <a:rPr lang="en-US" altLang="zh-CN" sz="2400" b="1" dirty="0">
                <a:solidFill>
                  <a:srgbClr val="FFFF00"/>
                </a:solidFill>
                <a:ea typeface="华文楷体" panose="02010600040101010101" pitchFamily="2" charset="-122"/>
              </a:rPr>
              <a:t>), </a:t>
            </a:r>
            <a:r>
              <a:rPr lang="zh-CN" altLang="en-US" sz="2400" b="1" dirty="0">
                <a:solidFill>
                  <a:srgbClr val="FFFF00"/>
                </a:solidFill>
                <a:ea typeface="华文楷体" panose="02010600040101010101" pitchFamily="2" charset="-122"/>
              </a:rPr>
              <a:t>本类成员初始化列表</a:t>
            </a:r>
            <a:endParaRPr lang="en-US" altLang="zh-CN" sz="2400" b="1" dirty="0">
              <a:solidFill>
                <a:srgbClr val="FFFF00"/>
              </a:solidFill>
              <a:ea typeface="华文楷体" panose="02010600040101010101" pitchFamily="2" charset="-122"/>
            </a:endParaRPr>
          </a:p>
          <a:p>
            <a:pPr marL="0" indent="0">
              <a:lnSpc>
                <a:spcPct val="150000"/>
              </a:lnSpc>
              <a:spcAft>
                <a:spcPct val="25000"/>
              </a:spcAft>
              <a:buNone/>
            </a:pPr>
            <a:r>
              <a:rPr lang="en-US" altLang="zh-CN" sz="2400" b="1" dirty="0">
                <a:solidFill>
                  <a:srgbClr val="FFFF00"/>
                </a:solidFill>
                <a:ea typeface="华文楷体" panose="02010600040101010101" pitchFamily="2" charset="-122"/>
              </a:rPr>
              <a:t>{</a:t>
            </a:r>
            <a:endParaRPr lang="en-US" altLang="zh-CN" sz="2400" b="1" dirty="0">
              <a:solidFill>
                <a:srgbClr val="FFFF00"/>
              </a:solidFill>
              <a:ea typeface="华文楷体" panose="02010600040101010101" pitchFamily="2" charset="-122"/>
            </a:endParaRPr>
          </a:p>
          <a:p>
            <a:pPr marL="0" indent="0">
              <a:lnSpc>
                <a:spcPct val="150000"/>
              </a:lnSpc>
              <a:spcAft>
                <a:spcPct val="25000"/>
              </a:spcAft>
              <a:buNone/>
            </a:pPr>
            <a:r>
              <a:rPr lang="en-US" altLang="zh-CN" sz="2400" b="1" dirty="0">
                <a:solidFill>
                  <a:srgbClr val="FFFF00"/>
                </a:solidFill>
                <a:ea typeface="华文楷体" panose="02010600040101010101" pitchFamily="2" charset="-122"/>
              </a:rPr>
              <a:t>        //</a:t>
            </a:r>
            <a:r>
              <a:rPr lang="zh-CN" altLang="en-US" sz="2400" b="1" dirty="0">
                <a:solidFill>
                  <a:srgbClr val="FFFF00"/>
                </a:solidFill>
                <a:ea typeface="华文楷体" panose="02010600040101010101" pitchFamily="2" charset="-122"/>
              </a:rPr>
              <a:t>其他初始化；</a:t>
            </a:r>
            <a:endParaRPr lang="zh-CN" altLang="en-US" sz="2400" b="1" dirty="0">
              <a:solidFill>
                <a:srgbClr val="FFFF00"/>
              </a:solidFill>
              <a:ea typeface="华文楷体" panose="02010600040101010101" pitchFamily="2" charset="-122"/>
            </a:endParaRPr>
          </a:p>
          <a:p>
            <a:pPr marL="0" indent="0">
              <a:lnSpc>
                <a:spcPct val="150000"/>
              </a:lnSpc>
              <a:spcAft>
                <a:spcPct val="25000"/>
              </a:spcAft>
              <a:buNone/>
            </a:pPr>
            <a:r>
              <a:rPr lang="en-US" altLang="zh-CN" sz="2400" b="1" dirty="0">
                <a:solidFill>
                  <a:srgbClr val="FFFF00"/>
                </a:solidFill>
                <a:ea typeface="华文楷体" panose="02010600040101010101" pitchFamily="2" charset="-122"/>
              </a:rPr>
              <a:t>}</a:t>
            </a:r>
            <a:r>
              <a:rPr lang="zh-CN" altLang="en-US" sz="2400" b="1" dirty="0">
                <a:solidFill>
                  <a:srgbClr val="FFFF00"/>
                </a:solidFill>
                <a:ea typeface="华文楷体" panose="02010600040101010101" pitchFamily="2" charset="-122"/>
              </a:rPr>
              <a:t>；</a:t>
            </a:r>
            <a:endParaRPr lang="zh-CN" altLang="en-US" sz="2400" b="1" dirty="0">
              <a:solidFill>
                <a:srgbClr val="FFFF00"/>
              </a:solidFill>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派生类与基类的构造函数</a:t>
            </a:r>
            <a:endParaRPr lang="zh-CN" altLang="en-US" sz="4400" b="1">
              <a:latin typeface="Times New Roman" panose="02020603050405020304" pitchFamily="18" charset="0"/>
              <a:ea typeface="隶书" panose="02010509060101010101" pitchFamily="49" charset="-122"/>
            </a:endParaRPr>
          </a:p>
        </p:txBody>
      </p:sp>
      <p:sp>
        <p:nvSpPr>
          <p:cNvPr id="47107" name="内容占位符 2"/>
          <p:cNvSpPr>
            <a:spLocks noGrp="1"/>
          </p:cNvSpPr>
          <p:nvPr>
            <p:ph idx="1"/>
          </p:nvPr>
        </p:nvSpPr>
        <p:spPr/>
        <p:txBody>
          <a:bodyPr/>
          <a:lstStyle/>
          <a:p>
            <a:pPr>
              <a:lnSpc>
                <a:spcPct val="150000"/>
              </a:lnSpc>
              <a:spcAft>
                <a:spcPct val="25000"/>
              </a:spcAft>
            </a:pPr>
            <a:r>
              <a:rPr lang="zh-CN" altLang="en-US" sz="2400" b="1">
                <a:ea typeface="华文楷体" panose="02010600040101010101" pitchFamily="2" charset="-122"/>
              </a:rPr>
              <a:t>当基类中声明有缺省构造函数或未声明构造函数时，派生类构造函数可以不向基类构造函数传递参数，也可以不声明，构造派生类的对象时，基类的缺省构造函数将被调用。</a:t>
            </a:r>
            <a:endParaRPr lang="zh-CN" altLang="en-US" sz="2400" b="1">
              <a:ea typeface="华文楷体" panose="02010600040101010101" pitchFamily="2" charset="-122"/>
            </a:endParaRPr>
          </a:p>
          <a:p>
            <a:pPr>
              <a:lnSpc>
                <a:spcPct val="150000"/>
              </a:lnSpc>
              <a:spcAft>
                <a:spcPct val="25000"/>
              </a:spcAft>
            </a:pPr>
            <a:r>
              <a:rPr lang="zh-CN" altLang="en-US" sz="2400" b="1">
                <a:ea typeface="华文楷体" panose="02010600040101010101" pitchFamily="2" charset="-122"/>
              </a:rPr>
              <a:t>当需要执行基类中带形参的构造函数来初始化基类数据时，派生类构造函数应在初始化列表中为基类构造函数提供参数。</a:t>
            </a:r>
            <a:endParaRPr lang="zh-CN" altLang="en-US" sz="2400" b="1">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dirty="0">
                <a:latin typeface="Times New Roman" panose="02020603050405020304" pitchFamily="18" charset="0"/>
                <a:ea typeface="隶书" panose="02010509060101010101" pitchFamily="49" charset="-122"/>
              </a:rPr>
              <a:t>多继承且有内嵌对象时</a:t>
            </a:r>
            <a:r>
              <a:rPr lang="zh-CN" altLang="en-US" sz="4400" b="1" dirty="0" smtClean="0">
                <a:latin typeface="Times New Roman" panose="02020603050405020304" pitchFamily="18" charset="0"/>
                <a:ea typeface="隶书" panose="02010509060101010101" pitchFamily="49" charset="-122"/>
              </a:rPr>
              <a:t>的</a:t>
            </a:r>
            <a:br>
              <a:rPr lang="en-US" altLang="zh-CN" sz="4400" b="1" dirty="0" smtClean="0">
                <a:latin typeface="Times New Roman" panose="02020603050405020304" pitchFamily="18" charset="0"/>
                <a:ea typeface="隶书" panose="02010509060101010101" pitchFamily="49" charset="-122"/>
              </a:rPr>
            </a:br>
            <a:r>
              <a:rPr lang="zh-CN" altLang="en-US" sz="4400" b="1" dirty="0" smtClean="0">
                <a:latin typeface="Times New Roman" panose="02020603050405020304" pitchFamily="18" charset="0"/>
                <a:ea typeface="隶书" panose="02010509060101010101" pitchFamily="49" charset="-122"/>
              </a:rPr>
              <a:t>构造</a:t>
            </a:r>
            <a:r>
              <a:rPr lang="zh-CN" altLang="en-US" sz="4400" b="1" dirty="0">
                <a:latin typeface="Times New Roman" panose="02020603050405020304" pitchFamily="18" charset="0"/>
                <a:ea typeface="隶书" panose="02010509060101010101" pitchFamily="49" charset="-122"/>
              </a:rPr>
              <a:t>函数</a:t>
            </a:r>
            <a:endParaRPr lang="zh-CN" altLang="en-US" sz="4400" b="1" dirty="0">
              <a:latin typeface="Times New Roman" panose="02020603050405020304" pitchFamily="18" charset="0"/>
              <a:ea typeface="隶书" panose="02010509060101010101" pitchFamily="49" charset="-122"/>
            </a:endParaRPr>
          </a:p>
        </p:txBody>
      </p:sp>
      <p:sp>
        <p:nvSpPr>
          <p:cNvPr id="48131" name="内容占位符 2"/>
          <p:cNvSpPr>
            <a:spLocks noGrp="1"/>
          </p:cNvSpPr>
          <p:nvPr>
            <p:ph idx="1"/>
          </p:nvPr>
        </p:nvSpPr>
        <p:spPr/>
        <p:txBody>
          <a:bodyPr/>
          <a:lstStyle/>
          <a:p>
            <a:pPr marL="0" indent="0">
              <a:lnSpc>
                <a:spcPct val="150000"/>
              </a:lnSpc>
              <a:spcAft>
                <a:spcPct val="25000"/>
              </a:spcAft>
              <a:buNone/>
            </a:pPr>
            <a:r>
              <a:rPr lang="zh-CN" altLang="en-US" sz="2400" b="1">
                <a:solidFill>
                  <a:srgbClr val="FFFF00"/>
                </a:solidFill>
                <a:ea typeface="华文楷体" panose="02010600040101010101" pitchFamily="2" charset="-122"/>
              </a:rPr>
              <a:t>派生类名</a:t>
            </a:r>
            <a:r>
              <a:rPr lang="en-US" altLang="zh-CN" sz="2400" b="1">
                <a:solidFill>
                  <a:srgbClr val="FFFF00"/>
                </a:solidFill>
                <a:ea typeface="华文楷体" panose="02010600040101010101" pitchFamily="2" charset="-122"/>
              </a:rPr>
              <a:t>::</a:t>
            </a:r>
            <a:r>
              <a:rPr lang="zh-CN" altLang="en-US" sz="2400" b="1">
                <a:solidFill>
                  <a:srgbClr val="FFFF00"/>
                </a:solidFill>
                <a:ea typeface="华文楷体" panose="02010600040101010101" pitchFamily="2" charset="-122"/>
              </a:rPr>
              <a:t>派生类名</a:t>
            </a:r>
            <a:r>
              <a:rPr lang="en-US" altLang="zh-CN" sz="2400" b="1">
                <a:solidFill>
                  <a:srgbClr val="FFFF00"/>
                </a:solidFill>
                <a:ea typeface="华文楷体" panose="02010600040101010101" pitchFamily="2" charset="-122"/>
              </a:rPr>
              <a:t>(</a:t>
            </a:r>
            <a:r>
              <a:rPr lang="zh-CN" altLang="en-US" sz="2400" b="1">
                <a:solidFill>
                  <a:srgbClr val="FFFF00"/>
                </a:solidFill>
                <a:ea typeface="华文楷体" panose="02010600040101010101" pitchFamily="2" charset="-122"/>
              </a:rPr>
              <a:t>形参表</a:t>
            </a:r>
            <a:r>
              <a:rPr lang="en-US" altLang="zh-CN" sz="2400" b="1">
                <a:solidFill>
                  <a:srgbClr val="FFFF00"/>
                </a:solidFill>
                <a:ea typeface="华文楷体" panose="02010600040101010101" pitchFamily="2" charset="-122"/>
              </a:rPr>
              <a:t>):</a:t>
            </a:r>
            <a:r>
              <a:rPr lang="zh-CN" altLang="en-US" sz="2400" b="1">
                <a:solidFill>
                  <a:srgbClr val="FFFF00"/>
                </a:solidFill>
                <a:ea typeface="华文楷体" panose="02010600040101010101" pitchFamily="2" charset="-122"/>
              </a:rPr>
              <a:t>基类名</a:t>
            </a:r>
            <a:r>
              <a:rPr lang="en-US" altLang="zh-CN" sz="2400" b="1">
                <a:solidFill>
                  <a:srgbClr val="FFFF00"/>
                </a:solidFill>
                <a:ea typeface="华文楷体" panose="02010600040101010101" pitchFamily="2" charset="-122"/>
              </a:rPr>
              <a:t>1(</a:t>
            </a:r>
            <a:r>
              <a:rPr lang="zh-CN" altLang="en-US" sz="2400" b="1">
                <a:solidFill>
                  <a:srgbClr val="FFFF00"/>
                </a:solidFill>
                <a:ea typeface="华文楷体" panose="02010600040101010101" pitchFamily="2" charset="-122"/>
              </a:rPr>
              <a:t>参数</a:t>
            </a:r>
            <a:r>
              <a:rPr lang="en-US" altLang="zh-CN" sz="2400" b="1">
                <a:solidFill>
                  <a:srgbClr val="FFFF00"/>
                </a:solidFill>
                <a:ea typeface="华文楷体" panose="02010600040101010101" pitchFamily="2" charset="-122"/>
              </a:rPr>
              <a:t>), </a:t>
            </a:r>
            <a:r>
              <a:rPr lang="zh-CN" altLang="en-US" sz="2400" b="1">
                <a:solidFill>
                  <a:srgbClr val="FFFF00"/>
                </a:solidFill>
                <a:ea typeface="华文楷体" panose="02010600040101010101" pitchFamily="2" charset="-122"/>
              </a:rPr>
              <a:t>基类名</a:t>
            </a:r>
            <a:r>
              <a:rPr lang="en-US" altLang="zh-CN" sz="2400" b="1">
                <a:solidFill>
                  <a:srgbClr val="FFFF00"/>
                </a:solidFill>
                <a:ea typeface="华文楷体" panose="02010600040101010101" pitchFamily="2" charset="-122"/>
              </a:rPr>
              <a:t>2(</a:t>
            </a:r>
            <a:r>
              <a:rPr lang="zh-CN" altLang="en-US" sz="2400" b="1">
                <a:solidFill>
                  <a:srgbClr val="FFFF00"/>
                </a:solidFill>
                <a:ea typeface="华文楷体" panose="02010600040101010101" pitchFamily="2" charset="-122"/>
              </a:rPr>
              <a:t>参数</a:t>
            </a:r>
            <a:r>
              <a:rPr lang="en-US" altLang="zh-CN" sz="2400" b="1">
                <a:solidFill>
                  <a:srgbClr val="FFFF00"/>
                </a:solidFill>
                <a:ea typeface="华文楷体" panose="02010600040101010101" pitchFamily="2" charset="-122"/>
              </a:rPr>
              <a:t>), ...</a:t>
            </a:r>
            <a:r>
              <a:rPr lang="zh-CN" altLang="en-US" sz="2400" b="1">
                <a:solidFill>
                  <a:srgbClr val="FFFF00"/>
                </a:solidFill>
                <a:ea typeface="华文楷体" panose="02010600040101010101" pitchFamily="2" charset="-122"/>
              </a:rPr>
              <a:t>基类名</a:t>
            </a:r>
            <a:r>
              <a:rPr lang="en-US" altLang="zh-CN" sz="2400" b="1">
                <a:solidFill>
                  <a:srgbClr val="FFFF00"/>
                </a:solidFill>
                <a:ea typeface="华文楷体" panose="02010600040101010101" pitchFamily="2" charset="-122"/>
              </a:rPr>
              <a:t>n(</a:t>
            </a:r>
            <a:r>
              <a:rPr lang="zh-CN" altLang="en-US" sz="2400" b="1">
                <a:solidFill>
                  <a:srgbClr val="FFFF00"/>
                </a:solidFill>
                <a:ea typeface="华文楷体" panose="02010600040101010101" pitchFamily="2" charset="-122"/>
              </a:rPr>
              <a:t>参数</a:t>
            </a:r>
            <a:r>
              <a:rPr lang="en-US" altLang="zh-CN" sz="2400" b="1">
                <a:solidFill>
                  <a:srgbClr val="FFFF00"/>
                </a:solidFill>
                <a:ea typeface="华文楷体" panose="02010600040101010101" pitchFamily="2" charset="-122"/>
              </a:rPr>
              <a:t>), </a:t>
            </a:r>
            <a:r>
              <a:rPr lang="zh-CN" altLang="en-US" sz="2400" b="1">
                <a:solidFill>
                  <a:srgbClr val="FFFF00"/>
                </a:solidFill>
                <a:ea typeface="华文楷体" panose="02010600040101010101" pitchFamily="2" charset="-122"/>
              </a:rPr>
              <a:t>本类对象成员和基本类型成员初始化列表</a:t>
            </a:r>
            <a:endParaRPr lang="zh-CN" altLang="en-US" sz="2400" b="1">
              <a:solidFill>
                <a:srgbClr val="FFFF00"/>
              </a:solidFill>
              <a:ea typeface="华文楷体" panose="02010600040101010101" pitchFamily="2" charset="-122"/>
            </a:endParaRPr>
          </a:p>
          <a:p>
            <a:pPr marL="0" indent="0">
              <a:lnSpc>
                <a:spcPct val="150000"/>
              </a:lnSpc>
              <a:spcAft>
                <a:spcPct val="25000"/>
              </a:spcAft>
              <a:buNone/>
            </a:pPr>
            <a:r>
              <a:rPr lang="en-US" altLang="zh-CN" sz="2400" b="1">
                <a:solidFill>
                  <a:srgbClr val="FFFF00"/>
                </a:solidFill>
                <a:ea typeface="华文楷体" panose="02010600040101010101" pitchFamily="2" charset="-122"/>
              </a:rPr>
              <a:t>{</a:t>
            </a:r>
            <a:endParaRPr lang="en-US" altLang="zh-CN" sz="2400" b="1">
              <a:solidFill>
                <a:srgbClr val="FFFF00"/>
              </a:solidFill>
              <a:ea typeface="华文楷体" panose="02010600040101010101" pitchFamily="2" charset="-122"/>
            </a:endParaRPr>
          </a:p>
          <a:p>
            <a:pPr marL="0" indent="0">
              <a:lnSpc>
                <a:spcPct val="150000"/>
              </a:lnSpc>
              <a:spcAft>
                <a:spcPct val="25000"/>
              </a:spcAft>
              <a:buNone/>
            </a:pPr>
            <a:r>
              <a:rPr lang="en-US" altLang="zh-CN" sz="2400" b="1">
                <a:solidFill>
                  <a:srgbClr val="FFFF00"/>
                </a:solidFill>
                <a:ea typeface="华文楷体" panose="02010600040101010101" pitchFamily="2" charset="-122"/>
              </a:rPr>
              <a:t>        //</a:t>
            </a:r>
            <a:r>
              <a:rPr lang="zh-CN" altLang="en-US" sz="2400" b="1">
                <a:solidFill>
                  <a:srgbClr val="FFFF00"/>
                </a:solidFill>
                <a:ea typeface="华文楷体" panose="02010600040101010101" pitchFamily="2" charset="-122"/>
              </a:rPr>
              <a:t>其他初始化</a:t>
            </a:r>
            <a:endParaRPr lang="zh-CN" altLang="en-US" sz="2400" b="1">
              <a:solidFill>
                <a:srgbClr val="FFFF00"/>
              </a:solidFill>
              <a:ea typeface="华文楷体" panose="02010600040101010101" pitchFamily="2" charset="-122"/>
            </a:endParaRPr>
          </a:p>
          <a:p>
            <a:pPr marL="0" indent="0">
              <a:lnSpc>
                <a:spcPct val="150000"/>
              </a:lnSpc>
              <a:spcAft>
                <a:spcPct val="25000"/>
              </a:spcAft>
              <a:buNone/>
            </a:pPr>
            <a:r>
              <a:rPr lang="en-US" altLang="zh-CN" sz="2400" b="1">
                <a:solidFill>
                  <a:srgbClr val="FFFF00"/>
                </a:solidFill>
                <a:ea typeface="华文楷体" panose="02010600040101010101" pitchFamily="2" charset="-122"/>
              </a:rPr>
              <a:t>}</a:t>
            </a:r>
            <a:r>
              <a:rPr lang="zh-CN" altLang="en-US" sz="2400" b="1">
                <a:solidFill>
                  <a:srgbClr val="FFFF00"/>
                </a:solidFill>
                <a:ea typeface="华文楷体" panose="02010600040101010101" pitchFamily="2" charset="-122"/>
              </a:rPr>
              <a:t>；</a:t>
            </a:r>
            <a:endParaRPr lang="zh-CN" altLang="en-US" sz="2400" b="1">
              <a:solidFill>
                <a:srgbClr val="FFFF00"/>
              </a:solidFill>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构造函数的执行顺序</a:t>
            </a:r>
            <a:endParaRPr lang="zh-CN" altLang="en-US" sz="4400" b="1">
              <a:latin typeface="Times New Roman" panose="02020603050405020304" pitchFamily="18" charset="0"/>
              <a:ea typeface="隶书" panose="02010509060101010101" pitchFamily="49" charset="-122"/>
            </a:endParaRPr>
          </a:p>
        </p:txBody>
      </p:sp>
      <p:sp>
        <p:nvSpPr>
          <p:cNvPr id="49155" name="内容占位符 2"/>
          <p:cNvSpPr>
            <a:spLocks noGrp="1"/>
          </p:cNvSpPr>
          <p:nvPr>
            <p:ph idx="1"/>
          </p:nvPr>
        </p:nvSpPr>
        <p:spPr/>
        <p:txBody>
          <a:bodyPr/>
          <a:lstStyle/>
          <a:p>
            <a:pPr marL="457200" indent="-457200">
              <a:lnSpc>
                <a:spcPct val="150000"/>
              </a:lnSpc>
              <a:spcAft>
                <a:spcPct val="25000"/>
              </a:spcAft>
              <a:buFont typeface="+mj-ea"/>
              <a:buAutoNum type="circleNumDbPlain"/>
            </a:pPr>
            <a:r>
              <a:rPr lang="zh-CN" altLang="en-US" sz="2400" b="1" dirty="0">
                <a:ea typeface="华文楷体" panose="02010600040101010101" pitchFamily="2" charset="-122"/>
              </a:rPr>
              <a:t>调用基类构造函数，调用顺序按照它们被继承时声明的顺序（从左向右）。</a:t>
            </a:r>
            <a:endParaRPr lang="zh-CN" altLang="en-US" sz="2400" b="1" dirty="0">
              <a:ea typeface="华文楷体" panose="02010600040101010101" pitchFamily="2" charset="-122"/>
            </a:endParaRPr>
          </a:p>
          <a:p>
            <a:pPr marL="457200" indent="-457200">
              <a:lnSpc>
                <a:spcPct val="150000"/>
              </a:lnSpc>
              <a:spcAft>
                <a:spcPct val="25000"/>
              </a:spcAft>
              <a:buFont typeface="+mj-ea"/>
              <a:buAutoNum type="circleNumDbPlain"/>
            </a:pPr>
            <a:r>
              <a:rPr lang="zh-CN" altLang="en-US" sz="2400" b="1" dirty="0">
                <a:ea typeface="华文楷体" panose="02010600040101010101" pitchFamily="2" charset="-122"/>
              </a:rPr>
              <a:t>对本类成员初始化列表中的基本类型成员和对象成员进行初始化，初始化顺序按照它们在类中声明的顺序。对象成员初始化是自动调用对象所属类的构造函数完成的。</a:t>
            </a:r>
            <a:endParaRPr lang="zh-CN" altLang="en-US" sz="2400" b="1" dirty="0">
              <a:ea typeface="华文楷体" panose="02010600040101010101" pitchFamily="2" charset="-122"/>
            </a:endParaRPr>
          </a:p>
          <a:p>
            <a:pPr marL="457200" indent="-457200">
              <a:lnSpc>
                <a:spcPct val="150000"/>
              </a:lnSpc>
              <a:spcAft>
                <a:spcPct val="25000"/>
              </a:spcAft>
              <a:buFont typeface="+mj-ea"/>
              <a:buAutoNum type="circleNumDbPlain"/>
            </a:pPr>
            <a:r>
              <a:rPr lang="zh-CN" altLang="en-US" sz="2400" b="1" dirty="0">
                <a:ea typeface="华文楷体" panose="02010600040101010101" pitchFamily="2" charset="-122"/>
              </a:rPr>
              <a:t>执行派生类的构造函数体中的内容。</a:t>
            </a:r>
            <a:endParaRPr lang="zh-CN" altLang="en-US" sz="2400" b="1" dirty="0">
              <a:ea typeface="华文楷体" panose="02010600040101010101" pitchFamily="2" charset="-122"/>
            </a:endParaRPr>
          </a:p>
          <a:p>
            <a:pPr marL="457200" indent="-457200">
              <a:lnSpc>
                <a:spcPct val="150000"/>
              </a:lnSpc>
              <a:spcAft>
                <a:spcPct val="25000"/>
              </a:spcAft>
              <a:buFont typeface="+mj-ea"/>
              <a:buAutoNum type="circleNumDbPlain"/>
            </a:pPr>
            <a:endParaRPr lang="zh-CN" altLang="en-US" sz="2400" b="1" dirty="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9" name="标题 1"/>
          <p:cNvSpPr>
            <a:spLocks noGrp="1"/>
          </p:cNvSpPr>
          <p:nvPr>
            <p:ph type="title"/>
          </p:nvPr>
        </p:nvSpPr>
        <p:spPr/>
        <p:txBody>
          <a:bodyPr/>
          <a:lstStyle/>
          <a:p>
            <a:pPr eaLnBrk="1" hangingPunct="1"/>
            <a:r>
              <a:rPr lang="zh-CN" altLang="en-US" b="1" smtClean="0"/>
              <a:t>例</a:t>
            </a:r>
            <a:r>
              <a:rPr lang="en-US" altLang="zh-CN" b="1" smtClean="0"/>
              <a:t>7-4 </a:t>
            </a:r>
            <a:r>
              <a:rPr lang="zh-CN" altLang="en-US" b="1" smtClean="0"/>
              <a:t>派生类构造函数举例</a:t>
            </a:r>
            <a:endParaRPr kumimoji="1" lang="zh-CN" altLang="en-US" b="1" smtClean="0"/>
          </a:p>
        </p:txBody>
      </p:sp>
      <p:sp>
        <p:nvSpPr>
          <p:cNvPr id="50180" name="内容占位符 2"/>
          <p:cNvSpPr>
            <a:spLocks noGrp="1"/>
          </p:cNvSpPr>
          <p:nvPr>
            <p:ph idx="1"/>
          </p:nvPr>
        </p:nvSpPr>
        <p:spPr>
          <a:xfrm>
            <a:off x="683568" y="1124744"/>
            <a:ext cx="7886700" cy="5016758"/>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&lt;</a:t>
            </a:r>
            <a:r>
              <a:rPr kumimoji="0" lang="en-US" altLang="zh-CN" sz="2000" b="1" dirty="0" err="1">
                <a:solidFill>
                  <a:srgbClr val="000000"/>
                </a:solidFill>
                <a:latin typeface="Times New Roman" panose="02020603050405020304" pitchFamily="18" charset="0"/>
                <a:ea typeface="华文楷体" panose="02010600040101010101" pitchFamily="2" charset="-122"/>
              </a:rPr>
              <a:t>iostream</a:t>
            </a:r>
            <a:r>
              <a:rPr kumimoji="0" lang="en-US" altLang="zh-CN" sz="2000" b="1" dirty="0">
                <a:solidFill>
                  <a:srgbClr val="000000"/>
                </a:solidFill>
                <a:latin typeface="Times New Roman" panose="02020603050405020304" pitchFamily="18" charset="0"/>
                <a:ea typeface="华文楷体" panose="02010600040101010101" pitchFamily="2" charset="-122"/>
              </a:rPr>
              <a:t>&gt;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using namespace </a:t>
            </a:r>
            <a:r>
              <a:rPr kumimoji="0" lang="en-US" altLang="zh-CN" sz="2000" b="1" dirty="0" err="1">
                <a:solidFill>
                  <a:srgbClr val="000000"/>
                </a:solidFill>
                <a:latin typeface="Times New Roman" panose="02020603050405020304" pitchFamily="18" charset="0"/>
                <a:ea typeface="华文楷体" panose="02010600040101010101" pitchFamily="2" charset="-122"/>
              </a:rPr>
              <a:t>std</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Base1 {	//</a:t>
            </a:r>
            <a:r>
              <a:rPr kumimoji="0" lang="zh-CN" altLang="en-US" sz="2000" b="1" dirty="0">
                <a:solidFill>
                  <a:srgbClr val="000000"/>
                </a:solidFill>
                <a:latin typeface="Times New Roman" panose="02020603050405020304" pitchFamily="18" charset="0"/>
                <a:ea typeface="华文楷体" panose="02010600040101010101" pitchFamily="2" charset="-122"/>
              </a:rPr>
              <a:t>基类</a:t>
            </a:r>
            <a:r>
              <a:rPr kumimoji="0" lang="en-US" altLang="zh-CN" sz="2000" b="1" dirty="0">
                <a:solidFill>
                  <a:srgbClr val="000000"/>
                </a:solidFill>
                <a:latin typeface="Times New Roman" panose="02020603050405020304" pitchFamily="18" charset="0"/>
                <a:ea typeface="华文楷体" panose="02010600040101010101" pitchFamily="2" charset="-122"/>
              </a:rPr>
              <a:t>Base1</a:t>
            </a:r>
            <a:r>
              <a:rPr kumimoji="0" lang="zh-CN" altLang="en-US" sz="2000" b="1" dirty="0">
                <a:solidFill>
                  <a:srgbClr val="000000"/>
                </a:solidFill>
                <a:latin typeface="Times New Roman" panose="02020603050405020304" pitchFamily="18" charset="0"/>
                <a:ea typeface="华文楷体" panose="02010600040101010101" pitchFamily="2" charset="-122"/>
              </a:rPr>
              <a:t>，构造函数有参数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Base1(</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"Constructing Base1 " &lt;&lt; </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endParaRPr kumimoji="0" lang="en-US" altLang="zh-CN" sz="2000" b="1" dirty="0" smtClean="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Base2 {	//</a:t>
            </a:r>
            <a:r>
              <a:rPr kumimoji="0" lang="zh-CN" altLang="en-US" sz="2000" b="1" dirty="0">
                <a:solidFill>
                  <a:srgbClr val="000000"/>
                </a:solidFill>
                <a:latin typeface="Times New Roman" panose="02020603050405020304" pitchFamily="18" charset="0"/>
                <a:ea typeface="华文楷体" panose="02010600040101010101" pitchFamily="2" charset="-122"/>
              </a:rPr>
              <a:t>基类</a:t>
            </a:r>
            <a:r>
              <a:rPr kumimoji="0" lang="en-US" altLang="zh-CN" sz="2000" b="1" dirty="0">
                <a:solidFill>
                  <a:srgbClr val="000000"/>
                </a:solidFill>
                <a:latin typeface="Times New Roman" panose="02020603050405020304" pitchFamily="18" charset="0"/>
                <a:ea typeface="华文楷体" panose="02010600040101010101" pitchFamily="2" charset="-122"/>
              </a:rPr>
              <a:t>Base2</a:t>
            </a:r>
            <a:r>
              <a:rPr kumimoji="0" lang="zh-CN" altLang="en-US" sz="2000" b="1" dirty="0">
                <a:solidFill>
                  <a:srgbClr val="000000"/>
                </a:solidFill>
                <a:latin typeface="Times New Roman" panose="02020603050405020304" pitchFamily="18" charset="0"/>
                <a:ea typeface="华文楷体" panose="02010600040101010101" pitchFamily="2" charset="-122"/>
              </a:rPr>
              <a:t>，构造函数有参数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Base2(</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j) {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"Constructing Base2 " &lt;&lt; j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endParaRPr kumimoji="0" lang="en-US" altLang="zh-CN" sz="2000" b="1" dirty="0" smtClean="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Base3 {	//</a:t>
            </a:r>
            <a:r>
              <a:rPr kumimoji="0" lang="zh-CN" altLang="en-US" sz="2000" b="1" dirty="0">
                <a:solidFill>
                  <a:srgbClr val="000000"/>
                </a:solidFill>
                <a:latin typeface="Times New Roman" panose="02020603050405020304" pitchFamily="18" charset="0"/>
                <a:ea typeface="华文楷体" panose="02010600040101010101" pitchFamily="2" charset="-122"/>
              </a:rPr>
              <a:t>基类</a:t>
            </a:r>
            <a:r>
              <a:rPr kumimoji="0" lang="en-US" altLang="zh-CN" sz="2000" b="1" dirty="0">
                <a:solidFill>
                  <a:srgbClr val="000000"/>
                </a:solidFill>
                <a:latin typeface="Times New Roman" panose="02020603050405020304" pitchFamily="18" charset="0"/>
                <a:ea typeface="华文楷体" panose="02010600040101010101" pitchFamily="2" charset="-122"/>
              </a:rPr>
              <a:t>Base3</a:t>
            </a:r>
            <a:r>
              <a:rPr kumimoji="0" lang="zh-CN" altLang="en-US" sz="2000" b="1" dirty="0">
                <a:solidFill>
                  <a:srgbClr val="000000"/>
                </a:solidFill>
                <a:latin typeface="Times New Roman" panose="02020603050405020304" pitchFamily="18" charset="0"/>
                <a:ea typeface="华文楷体" panose="02010600040101010101" pitchFamily="2" charset="-122"/>
              </a:rPr>
              <a:t>，构造函数无参数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Base3() {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"Constructing Base3 *"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3" name="标题 1"/>
          <p:cNvSpPr>
            <a:spLocks noGrp="1"/>
          </p:cNvSpPr>
          <p:nvPr>
            <p:ph type="title"/>
          </p:nvPr>
        </p:nvSpPr>
        <p:spPr/>
        <p:txBody>
          <a:bodyPr/>
          <a:lstStyle/>
          <a:p>
            <a:pPr eaLnBrk="1" hangingPunct="1"/>
            <a:r>
              <a:rPr lang="zh-CN" altLang="en-US" b="1" smtClean="0"/>
              <a:t>例</a:t>
            </a:r>
            <a:r>
              <a:rPr lang="en-US" altLang="zh-CN" b="1" smtClean="0"/>
              <a:t>7-4 (</a:t>
            </a:r>
            <a:r>
              <a:rPr lang="zh-CN" altLang="en-US" b="1" smtClean="0"/>
              <a:t>续</a:t>
            </a:r>
            <a:r>
              <a:rPr lang="en-US" altLang="zh-CN" b="1" smtClean="0"/>
              <a:t>)</a:t>
            </a:r>
            <a:endParaRPr kumimoji="1" lang="zh-CN" altLang="en-US" b="1" smtClean="0"/>
          </a:p>
        </p:txBody>
      </p:sp>
      <p:sp>
        <p:nvSpPr>
          <p:cNvPr id="51204" name="内容占位符 2"/>
          <p:cNvSpPr>
            <a:spLocks noGrp="1"/>
          </p:cNvSpPr>
          <p:nvPr>
            <p:ph idx="1"/>
          </p:nvPr>
        </p:nvSpPr>
        <p:spPr>
          <a:xfrm>
            <a:off x="683568" y="1200809"/>
            <a:ext cx="7886700" cy="5324535"/>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Derived: </a:t>
            </a:r>
            <a:r>
              <a:rPr kumimoji="0" lang="en-US" altLang="zh-CN" sz="2000" b="1" dirty="0">
                <a:solidFill>
                  <a:srgbClr val="FF0000"/>
                </a:solidFill>
                <a:latin typeface="Times New Roman" panose="02020603050405020304" pitchFamily="18" charset="0"/>
                <a:ea typeface="华文楷体" panose="02010600040101010101" pitchFamily="2" charset="-122"/>
              </a:rPr>
              <a:t>public Base2, public Base1, public Base3 </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zh-CN" altLang="en-US" sz="2000" b="1" dirty="0">
                <a:solidFill>
                  <a:srgbClr val="000000"/>
                </a:solidFill>
                <a:latin typeface="Times New Roman" panose="02020603050405020304" pitchFamily="18" charset="0"/>
                <a:ea typeface="华文楷体" panose="02010600040101010101" pitchFamily="2" charset="-122"/>
              </a:rPr>
              <a:t>派生新类</a:t>
            </a:r>
            <a:r>
              <a:rPr kumimoji="0" lang="en-US" altLang="zh-CN" sz="2000" b="1" dirty="0">
                <a:solidFill>
                  <a:srgbClr val="000000"/>
                </a:solidFill>
                <a:latin typeface="Times New Roman" panose="02020603050405020304" pitchFamily="18" charset="0"/>
                <a:ea typeface="华文楷体" panose="02010600040101010101" pitchFamily="2" charset="-122"/>
              </a:rPr>
              <a:t>Derived</a:t>
            </a:r>
            <a:r>
              <a:rPr kumimoji="0" lang="zh-CN" altLang="en-US" sz="2000" b="1" dirty="0">
                <a:solidFill>
                  <a:srgbClr val="000000"/>
                </a:solidFill>
                <a:latin typeface="Times New Roman" panose="02020603050405020304" pitchFamily="18" charset="0"/>
                <a:ea typeface="华文楷体" panose="02010600040101010101" pitchFamily="2" charset="-122"/>
              </a:rPr>
              <a:t>，注意基类名的顺序</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派生类的公有成员</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Derived(</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a,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b,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c,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d): Base1(a), member2(d), member1(c), Base2(b)</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注意基类名的个数与顺序，</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zh-CN" altLang="en-US" sz="2000" b="1" dirty="0">
                <a:solidFill>
                  <a:srgbClr val="000000"/>
                </a:solidFill>
                <a:latin typeface="Times New Roman" panose="02020603050405020304" pitchFamily="18" charset="0"/>
                <a:ea typeface="华文楷体" panose="02010600040101010101" pitchFamily="2" charset="-122"/>
              </a:rPr>
              <a:t>注意成员对象名的个数与顺序</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private</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派生类的私有成员对象</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FF0000"/>
                </a:solidFill>
                <a:latin typeface="Times New Roman" panose="02020603050405020304" pitchFamily="18" charset="0"/>
                <a:ea typeface="华文楷体" panose="02010600040101010101" pitchFamily="2" charset="-122"/>
              </a:rPr>
              <a:t>Base1 member1;</a:t>
            </a:r>
            <a:endParaRPr kumimoji="0" lang="en-US" altLang="zh-CN"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FF0000"/>
                </a:solidFill>
                <a:latin typeface="Times New Roman" panose="02020603050405020304" pitchFamily="18" charset="0"/>
                <a:ea typeface="华文楷体" panose="02010600040101010101" pitchFamily="2" charset="-122"/>
              </a:rPr>
              <a:t>	Base2 member2;</a:t>
            </a:r>
            <a:endParaRPr kumimoji="0" lang="en-US" altLang="zh-CN"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FF0000"/>
                </a:solidFill>
                <a:latin typeface="Times New Roman" panose="02020603050405020304" pitchFamily="18" charset="0"/>
                <a:ea typeface="华文楷体" panose="02010600040101010101" pitchFamily="2" charset="-122"/>
              </a:rPr>
              <a:t>	Base3 member3;</a:t>
            </a:r>
            <a:endParaRPr kumimoji="0" lang="en-US" altLang="zh-CN"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main()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Derived </a:t>
            </a:r>
            <a:r>
              <a:rPr kumimoji="0" lang="en-US" altLang="zh-CN" sz="2000" b="1" dirty="0" err="1">
                <a:solidFill>
                  <a:srgbClr val="000000"/>
                </a:solidFill>
                <a:latin typeface="Times New Roman" panose="02020603050405020304" pitchFamily="18" charset="0"/>
                <a:ea typeface="华文楷体" panose="02010600040101010101" pitchFamily="2" charset="-122"/>
              </a:rPr>
              <a:t>obj</a:t>
            </a:r>
            <a:r>
              <a:rPr kumimoji="0" lang="en-US" altLang="zh-CN" sz="2000" b="1" dirty="0">
                <a:solidFill>
                  <a:srgbClr val="000000"/>
                </a:solidFill>
                <a:latin typeface="Times New Roman" panose="02020603050405020304" pitchFamily="18" charset="0"/>
                <a:ea typeface="华文楷体" panose="02010600040101010101" pitchFamily="2" charset="-122"/>
              </a:rPr>
              <a:t>(1, 2, 3, 4);</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return 0;</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7" name="Text Box 4"/>
          <p:cNvSpPr txBox="1">
            <a:spLocks noChangeArrowheads="1"/>
          </p:cNvSpPr>
          <p:nvPr/>
        </p:nvSpPr>
        <p:spPr bwMode="auto">
          <a:xfrm>
            <a:off x="5651500" y="4437063"/>
            <a:ext cx="3048000" cy="2246769"/>
          </a:xfrm>
          <a:prstGeom prst="rect">
            <a:avLst/>
          </a:prstGeom>
          <a:solidFill>
            <a:srgbClr val="000000"/>
          </a:solidFill>
          <a:ln>
            <a:noFill/>
          </a:ln>
        </p:spPr>
        <p:txBody>
          <a:bodyPr wrap="square">
            <a:spAutoFit/>
          </a:bodyPr>
          <a:lstStyle>
            <a:lvl1pPr marL="0" indent="0" algn="l">
              <a:buClr>
                <a:schemeClr val="tx2"/>
              </a:buClr>
              <a:buSzPct val="75000"/>
              <a:buFont typeface="Monotype Sorts" pitchFamily="2" charset="2"/>
              <a:buNone/>
              <a:defRPr sz="2000" b="1">
                <a:ea typeface="隶书" panose="02010509060101010101" pitchFamily="49" charset="-122"/>
              </a:defRPr>
            </a:lvl1pPr>
            <a:lvl2pPr marL="742950" indent="-285750" algn="l">
              <a:spcBef>
                <a:spcPct val="20000"/>
              </a:spcBef>
              <a:buClr>
                <a:schemeClr val="tx1"/>
              </a:buClr>
              <a:buSzPct val="75000"/>
              <a:buFont typeface="Monotype Sorts" pitchFamily="2" charset="2"/>
              <a:buChar char="u"/>
              <a:defRPr sz="2800">
                <a:latin typeface="+mn-lt"/>
                <a:ea typeface="+mn-ea"/>
              </a:defRPr>
            </a:lvl2pPr>
            <a:lvl3pPr marL="1143000" indent="-228600" algn="l">
              <a:spcBef>
                <a:spcPct val="20000"/>
              </a:spcBef>
              <a:buClr>
                <a:schemeClr val="tx2"/>
              </a:buClr>
              <a:buSzPct val="62000"/>
              <a:buFont typeface="Monotype Sorts" pitchFamily="2" charset="2"/>
              <a:buChar char="u"/>
              <a:defRPr>
                <a:latin typeface="+mn-lt"/>
                <a:ea typeface="+mn-ea"/>
              </a:defRPr>
            </a:lvl3pPr>
            <a:lvl4pPr marL="1600200" indent="-228600" algn="l">
              <a:spcBef>
                <a:spcPct val="20000"/>
              </a:spcBef>
              <a:buClr>
                <a:schemeClr val="tx1"/>
              </a:buClr>
              <a:buSzPct val="62000"/>
              <a:buFont typeface="Monotype Sorts" pitchFamily="2" charset="2"/>
              <a:buChar char="u"/>
              <a:defRPr sz="2000">
                <a:latin typeface="+mn-lt"/>
                <a:ea typeface="+mn-ea"/>
              </a:defRPr>
            </a:lvl4pPr>
            <a:lvl5pPr marL="2057400" indent="-228600" algn="l">
              <a:spcBef>
                <a:spcPct val="20000"/>
              </a:spcBef>
              <a:buClr>
                <a:schemeClr val="tx2"/>
              </a:buClr>
              <a:buSzPct val="62000"/>
              <a:buFont typeface="Monotype Sorts" pitchFamily="2" charset="2"/>
              <a:buChar char="u"/>
              <a:defRPr sz="2000">
                <a:latin typeface="+mn-lt"/>
                <a:ea typeface="+mn-ea"/>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r>
              <a:rPr lang="zh-CN" altLang="en-US" dirty="0"/>
              <a:t>运行结果：</a:t>
            </a:r>
            <a:endParaRPr lang="zh-CN" altLang="en-US" dirty="0"/>
          </a:p>
          <a:p>
            <a:r>
              <a:rPr lang="en-US" altLang="zh-CN" dirty="0"/>
              <a:t>constructing Base2 2</a:t>
            </a:r>
            <a:endParaRPr lang="en-US" altLang="zh-CN" dirty="0"/>
          </a:p>
          <a:p>
            <a:r>
              <a:rPr lang="en-US" altLang="zh-CN" dirty="0"/>
              <a:t>constructing Base1 1</a:t>
            </a:r>
            <a:endParaRPr lang="en-US" altLang="zh-CN" dirty="0"/>
          </a:p>
          <a:p>
            <a:r>
              <a:rPr lang="en-US" altLang="zh-CN" dirty="0"/>
              <a:t>constructing Base3 *</a:t>
            </a:r>
            <a:endParaRPr lang="en-US" altLang="zh-CN" dirty="0"/>
          </a:p>
          <a:p>
            <a:r>
              <a:rPr lang="en-US" altLang="zh-CN" dirty="0"/>
              <a:t>constructing Base1 3</a:t>
            </a:r>
            <a:endParaRPr lang="en-US" altLang="zh-CN" dirty="0"/>
          </a:p>
          <a:p>
            <a:r>
              <a:rPr lang="en-US" altLang="zh-CN" dirty="0"/>
              <a:t>constructing Base2 4</a:t>
            </a:r>
            <a:endParaRPr lang="en-US" altLang="zh-CN" dirty="0"/>
          </a:p>
          <a:p>
            <a:r>
              <a:rPr lang="en-US" altLang="zh-CN" dirty="0"/>
              <a:t>constructing Base3 *</a:t>
            </a:r>
            <a:endParaRPr lang="en-US" altLang="zh-CN" dirty="0"/>
          </a:p>
        </p:txBody>
      </p:sp>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7.4.2 </a:t>
            </a:r>
            <a:r>
              <a:rPr lang="zh-CN" altLang="en-US" sz="4400" b="1">
                <a:latin typeface="Times New Roman" panose="02020603050405020304" pitchFamily="18" charset="0"/>
                <a:ea typeface="隶书" panose="02010509060101010101" pitchFamily="49" charset="-122"/>
              </a:rPr>
              <a:t>复制构造函数</a:t>
            </a:r>
            <a:endParaRPr lang="zh-CN" altLang="en-US" sz="4400" b="1">
              <a:latin typeface="Times New Roman" panose="02020603050405020304" pitchFamily="18" charset="0"/>
              <a:ea typeface="隶书" panose="02010509060101010101" pitchFamily="49" charset="-122"/>
            </a:endParaRPr>
          </a:p>
        </p:txBody>
      </p:sp>
      <p:sp>
        <p:nvSpPr>
          <p:cNvPr id="18435" name="内容占位符 2"/>
          <p:cNvSpPr>
            <a:spLocks noGrp="1"/>
          </p:cNvSpPr>
          <p:nvPr>
            <p:ph idx="1"/>
          </p:nvPr>
        </p:nvSpPr>
        <p:spPr>
          <a:xfrm>
            <a:off x="611560" y="1628800"/>
            <a:ext cx="7886700" cy="4351338"/>
          </a:xfrm>
        </p:spPr>
        <p:txBody>
          <a:bodyPr/>
          <a:lstStyle/>
          <a:p>
            <a:pPr>
              <a:lnSpc>
                <a:spcPct val="150000"/>
              </a:lnSpc>
              <a:spcAft>
                <a:spcPct val="25000"/>
              </a:spcAft>
            </a:pPr>
            <a:r>
              <a:rPr lang="zh-CN" altLang="en-US" sz="2400" b="1" dirty="0">
                <a:ea typeface="华文楷体" panose="02010600040101010101" pitchFamily="2" charset="-122"/>
              </a:rPr>
              <a:t>若建立派生类对象时没有编写复制构造函数，编译器会生成一个隐含的复制构造函数，该函数先调用基类的复制构造函数，再为派生类新增的成员对象执行拷贝。</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若编写派生类的复制构造函数，则需要为基类相应的复制构造函数传递参数。</a:t>
            </a:r>
            <a:endParaRPr lang="en-US" altLang="zh-CN" sz="2400" b="1" dirty="0">
              <a:ea typeface="华文楷体" panose="02010600040101010101" pitchFamily="2" charset="-122"/>
            </a:endParaRPr>
          </a:p>
          <a:p>
            <a:pPr marL="457200" lvl="1" indent="0">
              <a:lnSpc>
                <a:spcPct val="150000"/>
              </a:lnSpc>
              <a:buNone/>
            </a:pPr>
            <a:r>
              <a:rPr lang="zh-CN" altLang="en-US" sz="2400" b="1" dirty="0">
                <a:solidFill>
                  <a:srgbClr val="FFFF00"/>
                </a:solidFill>
                <a:ea typeface="华文楷体" panose="02010600040101010101" pitchFamily="2" charset="-122"/>
              </a:rPr>
              <a:t>例如</a:t>
            </a:r>
            <a:r>
              <a:rPr lang="en-US" altLang="zh-CN" sz="2400" b="1" dirty="0">
                <a:solidFill>
                  <a:srgbClr val="FFFF00"/>
                </a:solidFill>
                <a:ea typeface="华文楷体" panose="02010600040101010101" pitchFamily="2" charset="-122"/>
              </a:rPr>
              <a:t>:</a:t>
            </a:r>
            <a:endParaRPr lang="en-US" altLang="zh-CN" sz="2400" b="1" dirty="0">
              <a:solidFill>
                <a:srgbClr val="FFFF00"/>
              </a:solidFill>
              <a:ea typeface="华文楷体" panose="02010600040101010101" pitchFamily="2" charset="-122"/>
            </a:endParaRPr>
          </a:p>
          <a:p>
            <a:pPr marL="0" indent="0">
              <a:lnSpc>
                <a:spcPct val="150000"/>
              </a:lnSpc>
              <a:spcAft>
                <a:spcPct val="25000"/>
              </a:spcAft>
              <a:buNone/>
            </a:pPr>
            <a:r>
              <a:rPr lang="en-US" altLang="zh-CN" sz="2400" b="1" dirty="0">
                <a:solidFill>
                  <a:srgbClr val="FFFF00"/>
                </a:solidFill>
                <a:ea typeface="华文楷体" panose="02010600040101010101" pitchFamily="2" charset="-122"/>
              </a:rPr>
              <a:t>	C::C(const C &amp;c1): B(c1) </a:t>
            </a:r>
            <a:r>
              <a:rPr lang="en-US" altLang="zh-CN" sz="2400" b="1" dirty="0" smtClean="0">
                <a:solidFill>
                  <a:srgbClr val="FFFF00"/>
                </a:solidFill>
                <a:ea typeface="华文楷体" panose="02010600040101010101" pitchFamily="2" charset="-122"/>
              </a:rPr>
              <a:t>{…}</a:t>
            </a:r>
            <a:br>
              <a:rPr lang="en-US" altLang="zh-CN" sz="2400" b="1" dirty="0" smtClean="0">
                <a:solidFill>
                  <a:srgbClr val="FFFF00"/>
                </a:solidFill>
                <a:ea typeface="华文楷体" panose="02010600040101010101" pitchFamily="2" charset="-122"/>
              </a:rPr>
            </a:br>
            <a:r>
              <a:rPr lang="en-US" altLang="zh-CN" sz="2400" b="1" dirty="0" smtClean="0">
                <a:solidFill>
                  <a:srgbClr val="FFFF00"/>
                </a:solidFill>
                <a:ea typeface="华文楷体" panose="02010600040101010101" pitchFamily="2" charset="-122"/>
              </a:rPr>
              <a:t>                           //c1</a:t>
            </a:r>
            <a:r>
              <a:rPr lang="zh-CN" altLang="en-US" sz="2400" b="1" dirty="0" smtClean="0">
                <a:solidFill>
                  <a:srgbClr val="FFFF00"/>
                </a:solidFill>
                <a:ea typeface="华文楷体" panose="02010600040101010101" pitchFamily="2" charset="-122"/>
              </a:rPr>
              <a:t>为什么不是</a:t>
            </a:r>
            <a:r>
              <a:rPr lang="en-US" altLang="zh-CN" sz="2400" b="1" dirty="0" smtClean="0">
                <a:solidFill>
                  <a:srgbClr val="FFFF00"/>
                </a:solidFill>
                <a:ea typeface="华文楷体" panose="02010600040101010101" pitchFamily="2" charset="-122"/>
              </a:rPr>
              <a:t>B</a:t>
            </a:r>
            <a:r>
              <a:rPr lang="zh-CN" altLang="en-US" sz="2400" b="1" dirty="0" smtClean="0">
                <a:solidFill>
                  <a:srgbClr val="FFFF00"/>
                </a:solidFill>
                <a:ea typeface="华文楷体" panose="02010600040101010101" pitchFamily="2" charset="-122"/>
              </a:rPr>
              <a:t>类引用？类型兼容规则</a:t>
            </a:r>
            <a:endParaRPr lang="en-US" altLang="zh-CN" sz="2400" b="1" dirty="0">
              <a:solidFill>
                <a:srgbClr val="FFFF00"/>
              </a:solidFill>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a:latin typeface="Times New Roman" panose="02020603050405020304" pitchFamily="18" charset="0"/>
                <a:ea typeface="隶书" panose="02010509060101010101" pitchFamily="49" charset="-122"/>
              </a:rPr>
              <a:t>7.4.3 </a:t>
            </a:r>
            <a:r>
              <a:rPr lang="zh-CN" altLang="en-US" sz="4400" b="1" dirty="0">
                <a:latin typeface="Times New Roman" panose="02020603050405020304" pitchFamily="18" charset="0"/>
                <a:ea typeface="隶书" panose="02010509060101010101" pitchFamily="49" charset="-122"/>
              </a:rPr>
              <a:t>析构函数</a:t>
            </a:r>
            <a:endParaRPr lang="zh-CN" altLang="en-US" sz="4400" b="1" dirty="0">
              <a:latin typeface="Times New Roman" panose="02020603050405020304" pitchFamily="18" charset="0"/>
              <a:ea typeface="隶书" panose="02010509060101010101" pitchFamily="49" charset="-122"/>
            </a:endParaRPr>
          </a:p>
        </p:txBody>
      </p:sp>
      <p:sp>
        <p:nvSpPr>
          <p:cNvPr id="53251" name="内容占位符 2"/>
          <p:cNvSpPr>
            <a:spLocks noGrp="1"/>
          </p:cNvSpPr>
          <p:nvPr>
            <p:ph idx="1"/>
          </p:nvPr>
        </p:nvSpPr>
        <p:spPr>
          <a:xfrm>
            <a:off x="628650" y="1825625"/>
            <a:ext cx="7886700" cy="3835623"/>
          </a:xfrm>
        </p:spPr>
        <p:txBody>
          <a:bodyPr/>
          <a:lstStyle/>
          <a:p>
            <a:pPr>
              <a:lnSpc>
                <a:spcPct val="150000"/>
              </a:lnSpc>
              <a:spcAft>
                <a:spcPct val="25000"/>
              </a:spcAft>
            </a:pPr>
            <a:r>
              <a:rPr lang="zh-CN" altLang="en-US" sz="2400" b="1" dirty="0">
                <a:ea typeface="华文楷体" panose="02010600040101010101" pitchFamily="2" charset="-122"/>
              </a:rPr>
              <a:t>析构函数也不被继承，派生类自行声明</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声明方法与一般（无继承关系时）类的析构函数相同。</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不需要显式地调用基类的析构函数，系统会自动隐式调用。</a:t>
            </a:r>
            <a:endParaRPr lang="zh-CN" altLang="en-US" sz="2400" b="1" dirty="0">
              <a:ea typeface="华文楷体" panose="02010600040101010101" pitchFamily="2" charset="-122"/>
            </a:endParaRPr>
          </a:p>
          <a:p>
            <a:pPr>
              <a:lnSpc>
                <a:spcPct val="150000"/>
              </a:lnSpc>
              <a:spcAft>
                <a:spcPct val="25000"/>
              </a:spcAft>
            </a:pPr>
            <a:r>
              <a:rPr lang="zh-CN" altLang="en-US" sz="2400" b="1" dirty="0">
                <a:solidFill>
                  <a:srgbClr val="FFFF00"/>
                </a:solidFill>
                <a:latin typeface="方正舒体" panose="02010601030101010101" pitchFamily="2" charset="-122"/>
                <a:ea typeface="方正舒体" panose="02010601030101010101" pitchFamily="2" charset="-122"/>
              </a:rPr>
              <a:t>析构函数的调用次序与构造函数相反</a:t>
            </a:r>
            <a:r>
              <a:rPr lang="zh-CN" altLang="en-US" sz="2400" b="1" dirty="0">
                <a:ea typeface="华文楷体" panose="02010600040101010101" pitchFamily="2" charset="-122"/>
              </a:rPr>
              <a:t>。</a:t>
            </a:r>
            <a:endParaRPr lang="zh-CN" altLang="en-US" sz="2400" b="1" dirty="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5" name="标题 1"/>
          <p:cNvSpPr>
            <a:spLocks noGrp="1"/>
          </p:cNvSpPr>
          <p:nvPr>
            <p:ph type="title"/>
          </p:nvPr>
        </p:nvSpPr>
        <p:spPr>
          <a:xfrm>
            <a:off x="628650" y="116632"/>
            <a:ext cx="7886700" cy="1325563"/>
          </a:xfrm>
        </p:spPr>
        <p:txBody>
          <a:bodyPr/>
          <a:lstStyle/>
          <a:p>
            <a:pPr eaLnBrk="1" hangingPunct="1"/>
            <a:r>
              <a:rPr lang="zh-CN" altLang="en-US" b="1" dirty="0" smtClean="0"/>
              <a:t>例</a:t>
            </a:r>
            <a:r>
              <a:rPr lang="en-US" altLang="zh-CN" b="1" dirty="0" smtClean="0"/>
              <a:t>7-5 </a:t>
            </a:r>
            <a:r>
              <a:rPr lang="zh-CN" altLang="en-US" b="1" dirty="0" smtClean="0"/>
              <a:t>派生类析构函数举例</a:t>
            </a:r>
            <a:endParaRPr kumimoji="1" lang="zh-CN" altLang="en-US" b="1" dirty="0" smtClean="0"/>
          </a:p>
        </p:txBody>
      </p:sp>
      <p:sp>
        <p:nvSpPr>
          <p:cNvPr id="54276" name="内容占位符 2"/>
          <p:cNvSpPr>
            <a:spLocks noGrp="1"/>
          </p:cNvSpPr>
          <p:nvPr>
            <p:ph idx="1"/>
          </p:nvPr>
        </p:nvSpPr>
        <p:spPr>
          <a:xfrm>
            <a:off x="539552" y="836712"/>
            <a:ext cx="8229600" cy="5940088"/>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#include &lt;iostream&gt;</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using namespace std;</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class Base1 {	//</a:t>
            </a:r>
            <a:r>
              <a:rPr kumimoji="0" lang="zh-CN" altLang="en-US" sz="2000" b="1">
                <a:solidFill>
                  <a:srgbClr val="000000"/>
                </a:solidFill>
                <a:latin typeface="Times New Roman" panose="02020603050405020304" pitchFamily="18" charset="0"/>
                <a:ea typeface="华文楷体" panose="02010600040101010101" pitchFamily="2" charset="-122"/>
              </a:rPr>
              <a:t>基类</a:t>
            </a:r>
            <a:r>
              <a:rPr kumimoji="0" lang="en-US" altLang="zh-CN" sz="2000" b="1">
                <a:solidFill>
                  <a:srgbClr val="000000"/>
                </a:solidFill>
                <a:latin typeface="Times New Roman" panose="02020603050405020304" pitchFamily="18" charset="0"/>
                <a:ea typeface="华文楷体" panose="02010600040101010101" pitchFamily="2" charset="-122"/>
              </a:rPr>
              <a:t>Base1</a:t>
            </a:r>
            <a:r>
              <a:rPr kumimoji="0" lang="zh-CN" altLang="en-US" sz="2000" b="1">
                <a:solidFill>
                  <a:srgbClr val="000000"/>
                </a:solidFill>
                <a:latin typeface="Times New Roman" panose="02020603050405020304" pitchFamily="18" charset="0"/>
                <a:ea typeface="华文楷体" panose="02010600040101010101" pitchFamily="2" charset="-122"/>
              </a:rPr>
              <a:t>，构造函数有参数</a:t>
            </a:r>
            <a:endParaRPr kumimoji="0" lang="zh-CN" altLang="en-US"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public:</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Base1(int i) { cout &lt;&lt; "Constructing Base1 " &lt;&lt; i &lt;&lt; endl;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~Base1() { cout &lt;&lt; "Destructing Base1" &lt;&lt; endl;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class Base2 {	//</a:t>
            </a:r>
            <a:r>
              <a:rPr kumimoji="0" lang="zh-CN" altLang="en-US" sz="2000" b="1">
                <a:solidFill>
                  <a:srgbClr val="000000"/>
                </a:solidFill>
                <a:latin typeface="Times New Roman" panose="02020603050405020304" pitchFamily="18" charset="0"/>
                <a:ea typeface="华文楷体" panose="02010600040101010101" pitchFamily="2" charset="-122"/>
              </a:rPr>
              <a:t>基类</a:t>
            </a:r>
            <a:r>
              <a:rPr kumimoji="0" lang="en-US" altLang="zh-CN" sz="2000" b="1">
                <a:solidFill>
                  <a:srgbClr val="000000"/>
                </a:solidFill>
                <a:latin typeface="Times New Roman" panose="02020603050405020304" pitchFamily="18" charset="0"/>
                <a:ea typeface="华文楷体" panose="02010600040101010101" pitchFamily="2" charset="-122"/>
              </a:rPr>
              <a:t>Base2</a:t>
            </a:r>
            <a:r>
              <a:rPr kumimoji="0" lang="zh-CN" altLang="en-US" sz="2000" b="1">
                <a:solidFill>
                  <a:srgbClr val="000000"/>
                </a:solidFill>
                <a:latin typeface="Times New Roman" panose="02020603050405020304" pitchFamily="18" charset="0"/>
                <a:ea typeface="华文楷体" panose="02010600040101010101" pitchFamily="2" charset="-122"/>
              </a:rPr>
              <a:t>，构造函数有参数</a:t>
            </a:r>
            <a:endParaRPr kumimoji="0" lang="zh-CN" altLang="en-US"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public:</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Base2(int j) { cout &lt;&lt; "Constructing Base2 " &lt;&lt; j &lt;&lt; endl;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~Base2() { cout &lt;&lt; "Destructing Base2" &lt;&lt; endl;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class Base3 {	//</a:t>
            </a:r>
            <a:r>
              <a:rPr kumimoji="0" lang="zh-CN" altLang="en-US" sz="2000" b="1">
                <a:solidFill>
                  <a:srgbClr val="000000"/>
                </a:solidFill>
                <a:latin typeface="Times New Roman" panose="02020603050405020304" pitchFamily="18" charset="0"/>
                <a:ea typeface="华文楷体" panose="02010600040101010101" pitchFamily="2" charset="-122"/>
              </a:rPr>
              <a:t>基类</a:t>
            </a:r>
            <a:r>
              <a:rPr kumimoji="0" lang="en-US" altLang="zh-CN" sz="2000" b="1">
                <a:solidFill>
                  <a:srgbClr val="000000"/>
                </a:solidFill>
                <a:latin typeface="Times New Roman" panose="02020603050405020304" pitchFamily="18" charset="0"/>
                <a:ea typeface="华文楷体" panose="02010600040101010101" pitchFamily="2" charset="-122"/>
              </a:rPr>
              <a:t>Base3</a:t>
            </a:r>
            <a:r>
              <a:rPr kumimoji="0" lang="zh-CN" altLang="en-US" sz="2000" b="1">
                <a:solidFill>
                  <a:srgbClr val="000000"/>
                </a:solidFill>
                <a:latin typeface="Times New Roman" panose="02020603050405020304" pitchFamily="18" charset="0"/>
                <a:ea typeface="华文楷体" panose="02010600040101010101" pitchFamily="2" charset="-122"/>
              </a:rPr>
              <a:t>，构造函数无参数</a:t>
            </a:r>
            <a:endParaRPr kumimoji="0" lang="zh-CN" altLang="en-US"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public:</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Base3() { cout &lt;&lt; "Constructing Base3 *" &lt;&lt; endl;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~Base3() { cout &lt;&lt; "Destructing Base3" &lt;&lt; endl;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a:t>
            </a:r>
            <a:endParaRPr kumimoji="0" lang="en-US" altLang="zh-CN" sz="2000" b="1">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9" name="标题 1"/>
          <p:cNvSpPr>
            <a:spLocks noGrp="1"/>
          </p:cNvSpPr>
          <p:nvPr>
            <p:ph type="title"/>
          </p:nvPr>
        </p:nvSpPr>
        <p:spPr/>
        <p:txBody>
          <a:bodyPr/>
          <a:lstStyle/>
          <a:p>
            <a:pPr eaLnBrk="1" hangingPunct="1"/>
            <a:r>
              <a:rPr lang="zh-CN" altLang="en-US" b="1" smtClean="0"/>
              <a:t>例</a:t>
            </a:r>
            <a:r>
              <a:rPr lang="en-US" altLang="zh-CN" b="1" smtClean="0"/>
              <a:t>7-5 (</a:t>
            </a:r>
            <a:r>
              <a:rPr lang="zh-CN" altLang="en-US" b="1" smtClean="0"/>
              <a:t>续</a:t>
            </a:r>
            <a:r>
              <a:rPr lang="en-US" altLang="zh-CN" b="1" smtClean="0"/>
              <a:t>)</a:t>
            </a:r>
            <a:endParaRPr kumimoji="1" lang="zh-CN" altLang="en-US" b="1" smtClean="0"/>
          </a:p>
        </p:txBody>
      </p:sp>
      <p:sp>
        <p:nvSpPr>
          <p:cNvPr id="55300" name="内容占位符 2"/>
          <p:cNvSpPr>
            <a:spLocks noGrp="1"/>
          </p:cNvSpPr>
          <p:nvPr>
            <p:ph idx="1"/>
          </p:nvPr>
        </p:nvSpPr>
        <p:spPr>
          <a:xfrm>
            <a:off x="611560" y="1200809"/>
            <a:ext cx="7886700" cy="5324535"/>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Derived: </a:t>
            </a:r>
            <a:r>
              <a:rPr kumimoji="0" lang="en-US" altLang="zh-CN" sz="2000" b="1" dirty="0">
                <a:solidFill>
                  <a:srgbClr val="FF0000"/>
                </a:solidFill>
                <a:latin typeface="Times New Roman" panose="02020603050405020304" pitchFamily="18" charset="0"/>
                <a:ea typeface="华文楷体" panose="02010600040101010101" pitchFamily="2" charset="-122"/>
              </a:rPr>
              <a:t>public Base2, public Base1, public Base3 </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zh-CN" altLang="en-US" sz="2000" b="1" dirty="0">
                <a:solidFill>
                  <a:srgbClr val="000000"/>
                </a:solidFill>
                <a:latin typeface="Times New Roman" panose="02020603050405020304" pitchFamily="18" charset="0"/>
                <a:ea typeface="华文楷体" panose="02010600040101010101" pitchFamily="2" charset="-122"/>
              </a:rPr>
              <a:t>派生新类</a:t>
            </a:r>
            <a:r>
              <a:rPr kumimoji="0" lang="en-US" altLang="zh-CN" sz="2000" b="1" dirty="0">
                <a:solidFill>
                  <a:srgbClr val="000000"/>
                </a:solidFill>
                <a:latin typeface="Times New Roman" panose="02020603050405020304" pitchFamily="18" charset="0"/>
                <a:ea typeface="华文楷体" panose="02010600040101010101" pitchFamily="2" charset="-122"/>
              </a:rPr>
              <a:t>Derived</a:t>
            </a:r>
            <a:r>
              <a:rPr kumimoji="0" lang="zh-CN" altLang="en-US" sz="2000" b="1" dirty="0">
                <a:solidFill>
                  <a:srgbClr val="000000"/>
                </a:solidFill>
                <a:latin typeface="Times New Roman" panose="02020603050405020304" pitchFamily="18" charset="0"/>
                <a:ea typeface="华文楷体" panose="02010600040101010101" pitchFamily="2" charset="-122"/>
              </a:rPr>
              <a:t>，注意基类名的顺序</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派生类的公有成员</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Derived(</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a,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b,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c,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d): Base1(a), member2(d), member1(c), Base2(b) {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注意基类名的个数与顺序</a:t>
            </a:r>
            <a:r>
              <a:rPr kumimoji="0" lang="zh-CN" altLang="en-US" sz="2000" b="1" dirty="0" smtClean="0">
                <a:solidFill>
                  <a:srgbClr val="000000"/>
                </a:solidFill>
                <a:latin typeface="Times New Roman" panose="02020603050405020304" pitchFamily="18" charset="0"/>
                <a:ea typeface="华文楷体" panose="02010600040101010101" pitchFamily="2" charset="-122"/>
              </a:rPr>
              <a:t>，</a:t>
            </a:r>
            <a:endParaRPr kumimoji="0" lang="en-US" altLang="zh-CN" sz="2000" b="1" dirty="0" smtClean="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smtClean="0">
                <a:solidFill>
                  <a:srgbClr val="000000"/>
                </a:solidFill>
                <a:latin typeface="Times New Roman" panose="02020603050405020304" pitchFamily="18" charset="0"/>
                <a:ea typeface="华文楷体" panose="02010600040101010101" pitchFamily="2" charset="-122"/>
              </a:rPr>
              <a:t>注意</a:t>
            </a:r>
            <a:r>
              <a:rPr kumimoji="0" lang="zh-CN" altLang="en-US" sz="2000" b="1" dirty="0">
                <a:solidFill>
                  <a:srgbClr val="000000"/>
                </a:solidFill>
                <a:latin typeface="Times New Roman" panose="02020603050405020304" pitchFamily="18" charset="0"/>
                <a:ea typeface="华文楷体" panose="02010600040101010101" pitchFamily="2" charset="-122"/>
              </a:rPr>
              <a:t>成员对象名的个数与顺序</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private</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派生类的私有成员对象</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FF0000"/>
                </a:solidFill>
                <a:latin typeface="Times New Roman" panose="02020603050405020304" pitchFamily="18" charset="0"/>
                <a:ea typeface="华文楷体" panose="02010600040101010101" pitchFamily="2" charset="-122"/>
              </a:rPr>
              <a:t>Base1 member1;</a:t>
            </a:r>
            <a:endParaRPr kumimoji="0" lang="en-US" altLang="zh-CN"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FF0000"/>
                </a:solidFill>
                <a:latin typeface="Times New Roman" panose="02020603050405020304" pitchFamily="18" charset="0"/>
                <a:ea typeface="华文楷体" panose="02010600040101010101" pitchFamily="2" charset="-122"/>
              </a:rPr>
              <a:t>	Base2 member2;</a:t>
            </a:r>
            <a:endParaRPr kumimoji="0" lang="en-US" altLang="zh-CN"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FF0000"/>
                </a:solidFill>
                <a:latin typeface="Times New Roman" panose="02020603050405020304" pitchFamily="18" charset="0"/>
                <a:ea typeface="华文楷体" panose="02010600040101010101" pitchFamily="2" charset="-122"/>
              </a:rPr>
              <a:t>	Base3 member3;</a:t>
            </a:r>
            <a:endParaRPr kumimoji="0" lang="en-US" altLang="zh-CN"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main()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Derived </a:t>
            </a:r>
            <a:r>
              <a:rPr kumimoji="0" lang="en-US" altLang="zh-CN" sz="2000" b="1" dirty="0" err="1">
                <a:solidFill>
                  <a:srgbClr val="000000"/>
                </a:solidFill>
                <a:latin typeface="Times New Roman" panose="02020603050405020304" pitchFamily="18" charset="0"/>
                <a:ea typeface="华文楷体" panose="02010600040101010101" pitchFamily="2" charset="-122"/>
              </a:rPr>
              <a:t>obj</a:t>
            </a:r>
            <a:r>
              <a:rPr kumimoji="0" lang="en-US" altLang="zh-CN" sz="2000" b="1" dirty="0">
                <a:solidFill>
                  <a:srgbClr val="000000"/>
                </a:solidFill>
                <a:latin typeface="Times New Roman" panose="02020603050405020304" pitchFamily="18" charset="0"/>
                <a:ea typeface="华文楷体" panose="02010600040101010101" pitchFamily="2" charset="-122"/>
              </a:rPr>
              <a:t>(1, 2, 3, 4);</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return 0;</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4" name="内容占位符 2"/>
          <p:cNvSpPr txBox="1"/>
          <p:nvPr/>
        </p:nvSpPr>
        <p:spPr>
          <a:xfrm>
            <a:off x="6496794" y="2761397"/>
            <a:ext cx="2647206" cy="4093428"/>
          </a:xfrm>
          <a:prstGeom prst="rect">
            <a:avLst/>
          </a:prstGeom>
          <a:solidFill>
            <a:srgbClr val="000000"/>
          </a:solidFill>
          <a:ln>
            <a:noFill/>
          </a:ln>
        </p:spPr>
        <p:txBody>
          <a:bodyPr wrap="square">
            <a:spAutoFit/>
          </a:bodyPr>
          <a:lstStyle>
            <a:lvl1pPr marL="342900" indent="-342900" algn="l" rtl="0" fontAlgn="base">
              <a:spcBef>
                <a:spcPct val="20000"/>
              </a:spcBef>
              <a:spcAft>
                <a:spcPct val="0"/>
              </a:spcAft>
              <a:buClr>
                <a:schemeClr val="tx2"/>
              </a:buClr>
              <a:buSzPct val="75000"/>
              <a:buFont typeface="Monotype Sorts" pitchFamily="2" charset="2"/>
              <a:buChar char="u"/>
              <a:defRPr kumimoji="1" sz="3200" kern="1200">
                <a:solidFill>
                  <a:schemeClr val="tx1"/>
                </a:solidFill>
                <a:latin typeface="+mn-lt"/>
                <a:ea typeface="+mn-ea"/>
                <a:cs typeface="+mn-cs"/>
              </a:defRPr>
            </a:lvl1pPr>
            <a:lvl2pPr marL="742950" indent="-285750" algn="l" rtl="0" fontAlgn="base">
              <a:spcBef>
                <a:spcPct val="20000"/>
              </a:spcBef>
              <a:spcAft>
                <a:spcPct val="0"/>
              </a:spcAft>
              <a:buClr>
                <a:schemeClr val="tx1"/>
              </a:buClr>
              <a:buSzPct val="75000"/>
              <a:buFont typeface="Monotype Sorts" pitchFamily="2" charset="2"/>
              <a:buChar char="u"/>
              <a:defRPr kumimoji="1"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SzPct val="62000"/>
              <a:buFont typeface="Monotype Sorts" pitchFamily="2" charset="2"/>
              <a:buChar char="u"/>
              <a:defRPr kumimoji="1" sz="2400" kern="1200">
                <a:solidFill>
                  <a:schemeClr val="tx1"/>
                </a:solidFill>
                <a:latin typeface="+mn-lt"/>
                <a:ea typeface="+mn-ea"/>
                <a:cs typeface="+mn-cs"/>
              </a:defRPr>
            </a:lvl3pPr>
            <a:lvl4pPr marL="1600200" indent="-228600" algn="l" rtl="0" fontAlgn="base">
              <a:spcBef>
                <a:spcPct val="20000"/>
              </a:spcBef>
              <a:spcAft>
                <a:spcPct val="0"/>
              </a:spcAft>
              <a:buClr>
                <a:schemeClr val="tx1"/>
              </a:buClr>
              <a:buSzPct val="62000"/>
              <a:buFont typeface="Monotype Sorts" pitchFamily="2" charset="2"/>
              <a:buChar char="u"/>
              <a:defRPr kumimoji="1"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SzPct val="62000"/>
              <a:buFont typeface="Monotype Sorts" pitchFamily="2" charset="2"/>
              <a:buChar char="u"/>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buFont typeface="Monotype Sorts" pitchFamily="2" charset="2"/>
              <a:buNone/>
            </a:pPr>
            <a:r>
              <a:rPr lang="zh-CN" altLang="en-US" sz="2000" b="1" dirty="0" smtClean="0">
                <a:latin typeface="Times New Roman" panose="02020603050405020304" pitchFamily="18" charset="0"/>
                <a:ea typeface="隶书" panose="02010509060101010101" pitchFamily="49" charset="-122"/>
              </a:rPr>
              <a:t>运行结果：</a:t>
            </a:r>
            <a:endParaRPr lang="zh-CN" altLang="en-US" sz="2000" b="1" dirty="0" smtClean="0">
              <a:latin typeface="Times New Roman" panose="02020603050405020304" pitchFamily="18" charset="0"/>
              <a:ea typeface="隶书" panose="02010509060101010101" pitchFamily="49" charset="-122"/>
            </a:endParaRPr>
          </a:p>
          <a:p>
            <a:pPr marL="0" indent="0">
              <a:spcBef>
                <a:spcPct val="0"/>
              </a:spcBef>
              <a:buFont typeface="Monotype Sorts" pitchFamily="2" charset="2"/>
              <a:buNone/>
            </a:pPr>
            <a:r>
              <a:rPr lang="en-US" altLang="zh-CN" sz="2000" b="1" dirty="0" smtClean="0">
                <a:latin typeface="Times New Roman" panose="02020603050405020304" pitchFamily="18" charset="0"/>
                <a:ea typeface="隶书" panose="02010509060101010101" pitchFamily="49" charset="-122"/>
              </a:rPr>
              <a:t>Constructing Base2 2</a:t>
            </a:r>
            <a:endParaRPr lang="en-US" altLang="zh-CN" sz="2000" b="1" dirty="0" smtClean="0">
              <a:latin typeface="Times New Roman" panose="02020603050405020304" pitchFamily="18" charset="0"/>
              <a:ea typeface="隶书" panose="02010509060101010101" pitchFamily="49" charset="-122"/>
            </a:endParaRPr>
          </a:p>
          <a:p>
            <a:pPr marL="0" indent="0">
              <a:spcBef>
                <a:spcPct val="0"/>
              </a:spcBef>
              <a:buFont typeface="Monotype Sorts" pitchFamily="2" charset="2"/>
              <a:buNone/>
            </a:pPr>
            <a:r>
              <a:rPr lang="en-US" altLang="zh-CN" sz="2000" b="1" dirty="0" smtClean="0">
                <a:latin typeface="Times New Roman" panose="02020603050405020304" pitchFamily="18" charset="0"/>
                <a:ea typeface="隶书" panose="02010509060101010101" pitchFamily="49" charset="-122"/>
              </a:rPr>
              <a:t>Constructing Base1 1</a:t>
            </a:r>
            <a:endParaRPr lang="en-US" altLang="zh-CN" sz="2000" b="1" dirty="0" smtClean="0">
              <a:latin typeface="Times New Roman" panose="02020603050405020304" pitchFamily="18" charset="0"/>
              <a:ea typeface="隶书" panose="02010509060101010101" pitchFamily="49" charset="-122"/>
            </a:endParaRPr>
          </a:p>
          <a:p>
            <a:pPr marL="0" indent="0">
              <a:spcBef>
                <a:spcPct val="0"/>
              </a:spcBef>
              <a:buFont typeface="Monotype Sorts" pitchFamily="2" charset="2"/>
              <a:buNone/>
            </a:pPr>
            <a:r>
              <a:rPr lang="en-US" altLang="zh-CN" sz="2000" b="1" dirty="0" smtClean="0">
                <a:latin typeface="Times New Roman" panose="02020603050405020304" pitchFamily="18" charset="0"/>
                <a:ea typeface="隶书" panose="02010509060101010101" pitchFamily="49" charset="-122"/>
              </a:rPr>
              <a:t>Constructing Base3 *</a:t>
            </a:r>
            <a:endParaRPr lang="en-US" altLang="zh-CN" sz="2000" b="1" dirty="0" smtClean="0">
              <a:latin typeface="Times New Roman" panose="02020603050405020304" pitchFamily="18" charset="0"/>
              <a:ea typeface="隶书" panose="02010509060101010101" pitchFamily="49" charset="-122"/>
            </a:endParaRPr>
          </a:p>
          <a:p>
            <a:pPr marL="0" indent="0">
              <a:spcBef>
                <a:spcPct val="0"/>
              </a:spcBef>
              <a:buFont typeface="Monotype Sorts" pitchFamily="2" charset="2"/>
              <a:buNone/>
            </a:pPr>
            <a:r>
              <a:rPr lang="en-US" altLang="zh-CN" sz="2000" b="1" dirty="0" smtClean="0">
                <a:latin typeface="Times New Roman" panose="02020603050405020304" pitchFamily="18" charset="0"/>
                <a:ea typeface="隶书" panose="02010509060101010101" pitchFamily="49" charset="-122"/>
              </a:rPr>
              <a:t>Constructing Base1 3</a:t>
            </a:r>
            <a:endParaRPr lang="en-US" altLang="zh-CN" sz="2000" b="1" dirty="0" smtClean="0">
              <a:latin typeface="Times New Roman" panose="02020603050405020304" pitchFamily="18" charset="0"/>
              <a:ea typeface="隶书" panose="02010509060101010101" pitchFamily="49" charset="-122"/>
            </a:endParaRPr>
          </a:p>
          <a:p>
            <a:pPr marL="0" indent="0">
              <a:spcBef>
                <a:spcPct val="0"/>
              </a:spcBef>
              <a:buFont typeface="Monotype Sorts" pitchFamily="2" charset="2"/>
              <a:buNone/>
            </a:pPr>
            <a:r>
              <a:rPr lang="en-US" altLang="zh-CN" sz="2000" b="1" dirty="0" smtClean="0">
                <a:latin typeface="Times New Roman" panose="02020603050405020304" pitchFamily="18" charset="0"/>
                <a:ea typeface="隶书" panose="02010509060101010101" pitchFamily="49" charset="-122"/>
              </a:rPr>
              <a:t>Constructing Base2 4</a:t>
            </a:r>
            <a:endParaRPr lang="en-US" altLang="zh-CN" sz="2000" b="1" dirty="0" smtClean="0">
              <a:latin typeface="Times New Roman" panose="02020603050405020304" pitchFamily="18" charset="0"/>
              <a:ea typeface="隶书" panose="02010509060101010101" pitchFamily="49" charset="-122"/>
            </a:endParaRPr>
          </a:p>
          <a:p>
            <a:pPr marL="0" indent="0">
              <a:spcBef>
                <a:spcPct val="0"/>
              </a:spcBef>
              <a:buFont typeface="Monotype Sorts" pitchFamily="2" charset="2"/>
              <a:buNone/>
            </a:pPr>
            <a:r>
              <a:rPr lang="en-US" altLang="zh-CN" sz="2000" b="1" dirty="0" smtClean="0">
                <a:latin typeface="Times New Roman" panose="02020603050405020304" pitchFamily="18" charset="0"/>
                <a:ea typeface="隶书" panose="02010509060101010101" pitchFamily="49" charset="-122"/>
              </a:rPr>
              <a:t>Constructing Base3 *</a:t>
            </a:r>
            <a:endParaRPr lang="en-US" altLang="zh-CN" sz="2000" b="1" dirty="0" smtClean="0">
              <a:latin typeface="Times New Roman" panose="02020603050405020304" pitchFamily="18" charset="0"/>
              <a:ea typeface="隶书" panose="02010509060101010101" pitchFamily="49" charset="-122"/>
            </a:endParaRPr>
          </a:p>
          <a:p>
            <a:pPr marL="0" indent="0">
              <a:spcBef>
                <a:spcPct val="0"/>
              </a:spcBef>
              <a:buFont typeface="Monotype Sorts" pitchFamily="2" charset="2"/>
              <a:buNone/>
            </a:pPr>
            <a:r>
              <a:rPr lang="en-US" altLang="zh-CN" sz="2000" b="1" dirty="0" smtClean="0">
                <a:latin typeface="Times New Roman" panose="02020603050405020304" pitchFamily="18" charset="0"/>
                <a:ea typeface="隶书" panose="02010509060101010101" pitchFamily="49" charset="-122"/>
              </a:rPr>
              <a:t>Destructing Base3</a:t>
            </a:r>
            <a:endParaRPr lang="en-US" altLang="zh-CN" sz="2000" b="1" dirty="0" smtClean="0">
              <a:latin typeface="Times New Roman" panose="02020603050405020304" pitchFamily="18" charset="0"/>
              <a:ea typeface="隶书" panose="02010509060101010101" pitchFamily="49" charset="-122"/>
            </a:endParaRPr>
          </a:p>
          <a:p>
            <a:pPr marL="0" indent="0">
              <a:spcBef>
                <a:spcPct val="0"/>
              </a:spcBef>
              <a:buFont typeface="Monotype Sorts" pitchFamily="2" charset="2"/>
              <a:buNone/>
            </a:pPr>
            <a:r>
              <a:rPr lang="en-US" altLang="zh-CN" sz="2000" b="1" dirty="0" smtClean="0">
                <a:latin typeface="Times New Roman" panose="02020603050405020304" pitchFamily="18" charset="0"/>
                <a:ea typeface="隶书" panose="02010509060101010101" pitchFamily="49" charset="-122"/>
              </a:rPr>
              <a:t>Destructing Base2</a:t>
            </a:r>
            <a:endParaRPr lang="en-US" altLang="zh-CN" sz="2000" b="1" dirty="0" smtClean="0">
              <a:latin typeface="Times New Roman" panose="02020603050405020304" pitchFamily="18" charset="0"/>
              <a:ea typeface="隶书" panose="02010509060101010101" pitchFamily="49" charset="-122"/>
            </a:endParaRPr>
          </a:p>
          <a:p>
            <a:pPr marL="0" indent="0">
              <a:spcBef>
                <a:spcPct val="0"/>
              </a:spcBef>
              <a:buFont typeface="Monotype Sorts" pitchFamily="2" charset="2"/>
              <a:buNone/>
            </a:pPr>
            <a:r>
              <a:rPr lang="en-US" altLang="zh-CN" sz="2000" b="1" dirty="0" smtClean="0">
                <a:latin typeface="Times New Roman" panose="02020603050405020304" pitchFamily="18" charset="0"/>
                <a:ea typeface="隶书" panose="02010509060101010101" pitchFamily="49" charset="-122"/>
              </a:rPr>
              <a:t>Destructing Base1</a:t>
            </a:r>
            <a:endParaRPr lang="en-US" altLang="zh-CN" sz="2000" b="1" dirty="0" smtClean="0">
              <a:latin typeface="Times New Roman" panose="02020603050405020304" pitchFamily="18" charset="0"/>
              <a:ea typeface="隶书" panose="02010509060101010101" pitchFamily="49" charset="-122"/>
            </a:endParaRPr>
          </a:p>
          <a:p>
            <a:pPr marL="0" indent="0">
              <a:spcBef>
                <a:spcPct val="0"/>
              </a:spcBef>
              <a:buFont typeface="Monotype Sorts" pitchFamily="2" charset="2"/>
              <a:buNone/>
            </a:pPr>
            <a:r>
              <a:rPr lang="en-US" altLang="zh-CN" sz="2000" b="1" dirty="0" smtClean="0">
                <a:latin typeface="Times New Roman" panose="02020603050405020304" pitchFamily="18" charset="0"/>
                <a:ea typeface="隶书" panose="02010509060101010101" pitchFamily="49" charset="-122"/>
              </a:rPr>
              <a:t>Destructing Base3</a:t>
            </a:r>
            <a:endParaRPr lang="en-US" altLang="zh-CN" sz="2000" b="1" dirty="0" smtClean="0">
              <a:latin typeface="Times New Roman" panose="02020603050405020304" pitchFamily="18" charset="0"/>
              <a:ea typeface="隶书" panose="02010509060101010101" pitchFamily="49" charset="-122"/>
            </a:endParaRPr>
          </a:p>
          <a:p>
            <a:pPr marL="0" indent="0">
              <a:spcBef>
                <a:spcPct val="0"/>
              </a:spcBef>
              <a:buFont typeface="Monotype Sorts" pitchFamily="2" charset="2"/>
              <a:buNone/>
            </a:pPr>
            <a:r>
              <a:rPr lang="en-US" altLang="zh-CN" sz="2000" b="1" dirty="0" smtClean="0">
                <a:latin typeface="Times New Roman" panose="02020603050405020304" pitchFamily="18" charset="0"/>
                <a:ea typeface="隶书" panose="02010509060101010101" pitchFamily="49" charset="-122"/>
              </a:rPr>
              <a:t>Destructing Base1</a:t>
            </a:r>
            <a:endParaRPr lang="en-US" altLang="zh-CN" sz="2000" b="1" dirty="0" smtClean="0">
              <a:latin typeface="Times New Roman" panose="02020603050405020304" pitchFamily="18" charset="0"/>
              <a:ea typeface="隶书" panose="02010509060101010101" pitchFamily="49" charset="-122"/>
            </a:endParaRPr>
          </a:p>
          <a:p>
            <a:pPr marL="0" indent="0">
              <a:spcBef>
                <a:spcPct val="0"/>
              </a:spcBef>
              <a:buFont typeface="Monotype Sorts" pitchFamily="2" charset="2"/>
              <a:buNone/>
            </a:pPr>
            <a:r>
              <a:rPr lang="en-US" altLang="zh-CN" sz="2000" b="1" dirty="0" smtClean="0">
                <a:latin typeface="Times New Roman" panose="02020603050405020304" pitchFamily="18" charset="0"/>
                <a:ea typeface="隶书" panose="02010509060101010101" pitchFamily="49" charset="-122"/>
              </a:rPr>
              <a:t>Destructing Base2</a:t>
            </a:r>
            <a:endParaRPr lang="en-US" altLang="zh-CN" sz="2000" b="1" dirty="0">
              <a:latin typeface="Times New Roman" panose="02020603050405020304" pitchFamily="18" charset="0"/>
              <a:ea typeface="隶书" panose="02010509060101010101" pitchFamily="49" charset="-122"/>
            </a:endParaRPr>
          </a:p>
        </p:txBody>
      </p:sp>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a:xfrm>
            <a:off x="782452" y="365483"/>
            <a:ext cx="7886700" cy="1325563"/>
          </a:xfrm>
        </p:spPr>
        <p:txBody>
          <a:bodyPr/>
          <a:lstStyle/>
          <a:p>
            <a:pPr algn="ctr"/>
            <a:r>
              <a:rPr lang="en-US" altLang="zh-CN" sz="4400" b="1" dirty="0" smtClean="0"/>
              <a:t>7.4.4  delete</a:t>
            </a:r>
            <a:r>
              <a:rPr lang="zh-CN" altLang="en-US" sz="4400" b="1" dirty="0"/>
              <a:t>构造函数</a:t>
            </a:r>
            <a:endParaRPr lang="zh-CN" altLang="en-US" sz="4400" b="1" dirty="0"/>
          </a:p>
        </p:txBody>
      </p:sp>
      <p:sp>
        <p:nvSpPr>
          <p:cNvPr id="50179" name="内容占位符 2"/>
          <p:cNvSpPr>
            <a:spLocks noGrp="1"/>
          </p:cNvSpPr>
          <p:nvPr>
            <p:ph idx="1"/>
          </p:nvPr>
        </p:nvSpPr>
        <p:spPr>
          <a:xfrm>
            <a:off x="500576" y="2018768"/>
            <a:ext cx="8229838" cy="973190"/>
          </a:xfrm>
        </p:spPr>
        <p:txBody>
          <a:bodyPr/>
          <a:lstStyle/>
          <a:p>
            <a:r>
              <a:rPr lang="en-US" altLang="zh-CN" sz="1800" b="1">
                <a:latin typeface="微软雅黑" panose="020B0503020204020204" pitchFamily="34" charset="-122"/>
                <a:ea typeface="微软雅黑" panose="020B0503020204020204" pitchFamily="34" charset="-122"/>
              </a:rPr>
              <a:t>delete</a:t>
            </a:r>
            <a:r>
              <a:rPr lang="zh-CN" altLang="en-US" sz="1800" b="1">
                <a:latin typeface="微软雅黑" panose="020B0503020204020204" pitchFamily="34" charset="-122"/>
                <a:ea typeface="微软雅黑" panose="020B0503020204020204" pitchFamily="34" charset="-122"/>
              </a:rPr>
              <a:t>用来禁止默认构造函数或删除复制构造函数阻止拷贝（第</a:t>
            </a:r>
            <a:r>
              <a:rPr lang="en-US" altLang="zh-CN" sz="1800" b="1">
                <a:latin typeface="微软雅黑" panose="020B0503020204020204" pitchFamily="34" charset="-122"/>
                <a:ea typeface="微软雅黑" panose="020B0503020204020204" pitchFamily="34" charset="-122"/>
              </a:rPr>
              <a:t>4</a:t>
            </a:r>
            <a:r>
              <a:rPr lang="zh-CN" altLang="en-US" sz="1800" b="1">
                <a:latin typeface="微软雅黑" panose="020B0503020204020204" pitchFamily="34" charset="-122"/>
                <a:ea typeface="微软雅黑" panose="020B0503020204020204" pitchFamily="34" charset="-122"/>
              </a:rPr>
              <a:t>章）</a:t>
            </a:r>
            <a:endParaRPr lang="en-US" altLang="zh-CN" sz="1800" b="1">
              <a:latin typeface="微软雅黑" panose="020B0503020204020204" pitchFamily="34" charset="-122"/>
              <a:ea typeface="微软雅黑" panose="020B0503020204020204" pitchFamily="34" charset="-122"/>
            </a:endParaRPr>
          </a:p>
          <a:p>
            <a:r>
              <a:rPr lang="zh-CN" altLang="en-US" sz="1800" b="1">
                <a:latin typeface="微软雅黑" panose="020B0503020204020204" pitchFamily="34" charset="-122"/>
                <a:ea typeface="微软雅黑" panose="020B0503020204020204" pitchFamily="34" charset="-122"/>
              </a:rPr>
              <a:t>类的继承中，基类中删除的构造函数，派生类中也是删除状态。</a:t>
            </a:r>
            <a:endParaRPr lang="en-US" altLang="zh-CN" sz="1800" b="1" dirty="0">
              <a:latin typeface="微软雅黑" panose="020B0503020204020204" pitchFamily="34" charset="-122"/>
              <a:ea typeface="微软雅黑" panose="020B0503020204020204" pitchFamily="34" charset="-122"/>
            </a:endParaRPr>
          </a:p>
        </p:txBody>
      </p:sp>
      <p:sp>
        <p:nvSpPr>
          <p:cNvPr id="2" name="文本框 1"/>
          <p:cNvSpPr txBox="1"/>
          <p:nvPr/>
        </p:nvSpPr>
        <p:spPr>
          <a:xfrm>
            <a:off x="552348" y="3319680"/>
            <a:ext cx="4202168" cy="2585323"/>
          </a:xfrm>
          <a:prstGeom prst="rect">
            <a:avLst/>
          </a:prstGeom>
          <a:noFill/>
        </p:spPr>
        <p:txBody>
          <a:bodyPr wrap="square" rtlCol="0">
            <a:spAutoFit/>
          </a:bodyPr>
          <a:lstStyle/>
          <a:p>
            <a:pPr algn="l"/>
            <a:r>
              <a:rPr lang="en-US" altLang="zh-CN" sz="1350" b="1" dirty="0">
                <a:latin typeface="微软雅黑" panose="020B0503020204020204" pitchFamily="34" charset="-122"/>
                <a:ea typeface="微软雅黑" panose="020B0503020204020204" pitchFamily="34" charset="-122"/>
              </a:rPr>
              <a:t>class Base {</a:t>
            </a:r>
            <a:endParaRPr lang="zh-CN" altLang="zh-CN" sz="1350" b="1" dirty="0">
              <a:latin typeface="微软雅黑" panose="020B0503020204020204" pitchFamily="34" charset="-122"/>
              <a:ea typeface="微软雅黑" panose="020B0503020204020204" pitchFamily="34" charset="-122"/>
            </a:endParaRPr>
          </a:p>
          <a:p>
            <a:pPr algn="l"/>
            <a:r>
              <a:rPr lang="en-US" altLang="zh-CN" sz="1350" b="1" dirty="0" smtClean="0">
                <a:latin typeface="微软雅黑" panose="020B0503020204020204" pitchFamily="34" charset="-122"/>
                <a:ea typeface="微软雅黑" panose="020B0503020204020204" pitchFamily="34" charset="-122"/>
              </a:rPr>
              <a:t>public</a:t>
            </a:r>
            <a:r>
              <a:rPr lang="en-US" altLang="zh-CN" sz="1350" b="1" dirty="0">
                <a:latin typeface="微软雅黑" panose="020B0503020204020204" pitchFamily="34" charset="-122"/>
                <a:ea typeface="微软雅黑" panose="020B0503020204020204" pitchFamily="34" charset="-122"/>
              </a:rPr>
              <a:t>:</a:t>
            </a:r>
            <a:endParaRPr lang="zh-CN" altLang="zh-CN" sz="1350" b="1" dirty="0">
              <a:latin typeface="微软雅黑" panose="020B0503020204020204" pitchFamily="34" charset="-122"/>
              <a:ea typeface="微软雅黑" panose="020B0503020204020204" pitchFamily="34" charset="-122"/>
            </a:endParaRPr>
          </a:p>
          <a:p>
            <a:pPr algn="l"/>
            <a:r>
              <a:rPr lang="en-US" altLang="zh-CN" sz="1350" b="1" dirty="0">
                <a:latin typeface="微软雅黑" panose="020B0503020204020204" pitchFamily="34" charset="-122"/>
                <a:ea typeface="微软雅黑" panose="020B0503020204020204" pitchFamily="34" charset="-122"/>
              </a:rPr>
              <a:t>    Base() = default;</a:t>
            </a:r>
            <a:endParaRPr lang="zh-CN" altLang="zh-CN" sz="1350" b="1" dirty="0">
              <a:latin typeface="微软雅黑" panose="020B0503020204020204" pitchFamily="34" charset="-122"/>
              <a:ea typeface="微软雅黑" panose="020B0503020204020204" pitchFamily="34" charset="-122"/>
            </a:endParaRPr>
          </a:p>
          <a:p>
            <a:pPr algn="l"/>
            <a:r>
              <a:rPr lang="en-US" altLang="zh-CN" sz="1350" b="1" dirty="0">
                <a:latin typeface="微软雅黑" panose="020B0503020204020204" pitchFamily="34" charset="-122"/>
                <a:ea typeface="微软雅黑" panose="020B0503020204020204" pitchFamily="34" charset="-122"/>
              </a:rPr>
              <a:t> </a:t>
            </a:r>
            <a:endParaRPr lang="zh-CN" altLang="zh-CN" sz="1350" b="1" dirty="0">
              <a:latin typeface="微软雅黑" panose="020B0503020204020204" pitchFamily="34" charset="-122"/>
              <a:ea typeface="微软雅黑" panose="020B0503020204020204" pitchFamily="34" charset="-122"/>
            </a:endParaRPr>
          </a:p>
          <a:p>
            <a:pPr algn="l"/>
            <a:r>
              <a:rPr lang="en-US" altLang="zh-CN" sz="1350" b="1" dirty="0">
                <a:latin typeface="微软雅黑" panose="020B0503020204020204" pitchFamily="34" charset="-122"/>
                <a:ea typeface="微软雅黑" panose="020B0503020204020204" pitchFamily="34" charset="-122"/>
              </a:rPr>
              <a:t>    Base(string _info) : info(std::move(_info)) {}</a:t>
            </a:r>
            <a:endParaRPr lang="zh-CN" altLang="zh-CN" sz="1350" b="1" dirty="0">
              <a:latin typeface="微软雅黑" panose="020B0503020204020204" pitchFamily="34" charset="-122"/>
              <a:ea typeface="微软雅黑" panose="020B0503020204020204" pitchFamily="34" charset="-122"/>
            </a:endParaRPr>
          </a:p>
          <a:p>
            <a:pPr algn="l"/>
            <a:r>
              <a:rPr lang="en-US" altLang="zh-CN" sz="1350" b="1" dirty="0">
                <a:latin typeface="微软雅黑" panose="020B0503020204020204" pitchFamily="34" charset="-122"/>
                <a:ea typeface="微软雅黑" panose="020B0503020204020204" pitchFamily="34" charset="-122"/>
              </a:rPr>
              <a:t> </a:t>
            </a:r>
            <a:endParaRPr lang="zh-CN" altLang="zh-CN" sz="1350" b="1" dirty="0">
              <a:latin typeface="微软雅黑" panose="020B0503020204020204" pitchFamily="34" charset="-122"/>
              <a:ea typeface="微软雅黑" panose="020B0503020204020204" pitchFamily="34" charset="-122"/>
            </a:endParaRPr>
          </a:p>
          <a:p>
            <a:pPr algn="l"/>
            <a:r>
              <a:rPr lang="en-US" altLang="zh-CN" sz="1350" b="1" dirty="0">
                <a:latin typeface="微软雅黑" panose="020B0503020204020204" pitchFamily="34" charset="-122"/>
                <a:ea typeface="微软雅黑" panose="020B0503020204020204" pitchFamily="34" charset="-122"/>
              </a:rPr>
              <a:t>    Base(Base &amp;) = delete; //</a:t>
            </a:r>
            <a:r>
              <a:rPr lang="zh-CN" altLang="zh-CN" sz="1350" b="1" dirty="0">
                <a:latin typeface="微软雅黑" panose="020B0503020204020204" pitchFamily="34" charset="-122"/>
                <a:ea typeface="微软雅黑" panose="020B0503020204020204" pitchFamily="34" charset="-122"/>
              </a:rPr>
              <a:t>删除复制构造函数</a:t>
            </a:r>
            <a:endParaRPr lang="zh-CN" altLang="zh-CN" sz="1350" b="1" dirty="0">
              <a:latin typeface="微软雅黑" panose="020B0503020204020204" pitchFamily="34" charset="-122"/>
              <a:ea typeface="微软雅黑" panose="020B0503020204020204" pitchFamily="34" charset="-122"/>
            </a:endParaRPr>
          </a:p>
          <a:p>
            <a:pPr algn="l"/>
            <a:r>
              <a:rPr lang="en-US" altLang="zh-CN" sz="1350" b="1" dirty="0">
                <a:latin typeface="微软雅黑" panose="020B0503020204020204" pitchFamily="34" charset="-122"/>
                <a:ea typeface="微软雅黑" panose="020B0503020204020204" pitchFamily="34" charset="-122"/>
              </a:rPr>
              <a:t>    Base(Base &amp;&amp;) = delete;//</a:t>
            </a:r>
            <a:r>
              <a:rPr lang="zh-CN" altLang="zh-CN" sz="1350" b="1" dirty="0">
                <a:latin typeface="微软雅黑" panose="020B0503020204020204" pitchFamily="34" charset="-122"/>
                <a:ea typeface="微软雅黑" panose="020B0503020204020204" pitchFamily="34" charset="-122"/>
              </a:rPr>
              <a:t>删除移动构造函数</a:t>
            </a:r>
            <a:endParaRPr lang="zh-CN" altLang="zh-CN" sz="1350" b="1" dirty="0">
              <a:latin typeface="微软雅黑" panose="020B0503020204020204" pitchFamily="34" charset="-122"/>
              <a:ea typeface="微软雅黑" panose="020B0503020204020204" pitchFamily="34" charset="-122"/>
            </a:endParaRPr>
          </a:p>
          <a:p>
            <a:pPr algn="l"/>
            <a:r>
              <a:rPr lang="en-US" altLang="zh-CN" sz="1350" b="1" dirty="0">
                <a:latin typeface="微软雅黑" panose="020B0503020204020204" pitchFamily="34" charset="-122"/>
                <a:ea typeface="微软雅黑" panose="020B0503020204020204" pitchFamily="34" charset="-122"/>
              </a:rPr>
              <a:t>private:</a:t>
            </a:r>
            <a:endParaRPr lang="zh-CN" altLang="zh-CN" sz="1350" b="1" dirty="0">
              <a:latin typeface="微软雅黑" panose="020B0503020204020204" pitchFamily="34" charset="-122"/>
              <a:ea typeface="微软雅黑" panose="020B0503020204020204" pitchFamily="34" charset="-122"/>
            </a:endParaRPr>
          </a:p>
          <a:p>
            <a:pPr algn="l"/>
            <a:r>
              <a:rPr lang="en-US" altLang="zh-CN" sz="1350" b="1" dirty="0">
                <a:latin typeface="微软雅黑" panose="020B0503020204020204" pitchFamily="34" charset="-122"/>
                <a:ea typeface="微软雅黑" panose="020B0503020204020204" pitchFamily="34" charset="-122"/>
              </a:rPr>
              <a:t>    string info;</a:t>
            </a:r>
            <a:endParaRPr lang="zh-CN" altLang="zh-CN" sz="1350" b="1" dirty="0">
              <a:latin typeface="微软雅黑" panose="020B0503020204020204" pitchFamily="34" charset="-122"/>
              <a:ea typeface="微软雅黑" panose="020B0503020204020204" pitchFamily="34" charset="-122"/>
            </a:endParaRPr>
          </a:p>
          <a:p>
            <a:pPr algn="l"/>
            <a:r>
              <a:rPr lang="en-US" altLang="zh-CN" sz="1350" b="1" dirty="0">
                <a:latin typeface="微软雅黑" panose="020B0503020204020204" pitchFamily="34" charset="-122"/>
                <a:ea typeface="微软雅黑" panose="020B0503020204020204" pitchFamily="34" charset="-122"/>
              </a:rPr>
              <a:t>};</a:t>
            </a:r>
            <a:endParaRPr lang="zh-CN" altLang="zh-CN" sz="1350" b="1" dirty="0">
              <a:latin typeface="微软雅黑" panose="020B0503020204020204" pitchFamily="34" charset="-122"/>
              <a:ea typeface="微软雅黑" panose="020B0503020204020204" pitchFamily="34" charset="-122"/>
            </a:endParaRPr>
          </a:p>
          <a:p>
            <a:pPr algn="l"/>
            <a:endParaRPr lang="zh-CN" altLang="en-US" sz="135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4556776" y="3318344"/>
            <a:ext cx="4767752" cy="1754326"/>
          </a:xfrm>
          <a:prstGeom prst="rect">
            <a:avLst/>
          </a:prstGeom>
          <a:noFill/>
        </p:spPr>
        <p:txBody>
          <a:bodyPr wrap="square" rtlCol="0">
            <a:spAutoFit/>
          </a:bodyPr>
          <a:lstStyle/>
          <a:p>
            <a:pPr algn="l"/>
            <a:r>
              <a:rPr lang="en-US" altLang="zh-CN" sz="1350" b="1" dirty="0">
                <a:latin typeface="微软雅黑" panose="020B0503020204020204" pitchFamily="34" charset="-122"/>
                <a:ea typeface="微软雅黑" panose="020B0503020204020204" pitchFamily="34" charset="-122"/>
              </a:rPr>
              <a:t>class Derived : public Base {</a:t>
            </a:r>
            <a:endParaRPr lang="en-US" altLang="zh-CN" sz="1350" b="1" dirty="0">
              <a:latin typeface="微软雅黑" panose="020B0503020204020204" pitchFamily="34" charset="-122"/>
              <a:ea typeface="微软雅黑" panose="020B0503020204020204" pitchFamily="34" charset="-122"/>
            </a:endParaRPr>
          </a:p>
          <a:p>
            <a:pPr algn="l"/>
            <a:endParaRPr lang="en-US" altLang="zh-CN" sz="1350" b="1" dirty="0">
              <a:latin typeface="微软雅黑" panose="020B0503020204020204" pitchFamily="34" charset="-122"/>
              <a:ea typeface="微软雅黑" panose="020B0503020204020204" pitchFamily="34" charset="-122"/>
            </a:endParaRPr>
          </a:p>
          <a:p>
            <a:pPr algn="l"/>
            <a:r>
              <a:rPr lang="en-US" altLang="zh-CN" sz="1350" b="1" dirty="0">
                <a:latin typeface="微软雅黑" panose="020B0503020204020204" pitchFamily="34" charset="-122"/>
                <a:ea typeface="微软雅黑" panose="020B0503020204020204" pitchFamily="34" charset="-122"/>
              </a:rPr>
              <a:t>};</a:t>
            </a:r>
            <a:endParaRPr lang="en-US" altLang="zh-CN" sz="1350" b="1" dirty="0">
              <a:latin typeface="微软雅黑" panose="020B0503020204020204" pitchFamily="34" charset="-122"/>
              <a:ea typeface="微软雅黑" panose="020B0503020204020204" pitchFamily="34" charset="-122"/>
            </a:endParaRPr>
          </a:p>
          <a:p>
            <a:pPr algn="l"/>
            <a:endParaRPr lang="en-US" altLang="zh-CN" sz="1350" b="1" dirty="0">
              <a:latin typeface="微软雅黑" panose="020B0503020204020204" pitchFamily="34" charset="-122"/>
              <a:ea typeface="微软雅黑" panose="020B0503020204020204" pitchFamily="34" charset="-122"/>
            </a:endParaRPr>
          </a:p>
          <a:p>
            <a:pPr algn="l"/>
            <a:r>
              <a:rPr lang="en-US" altLang="zh-CN" sz="1350" b="1" dirty="0">
                <a:latin typeface="微软雅黑" panose="020B0503020204020204" pitchFamily="34" charset="-122"/>
                <a:ea typeface="微软雅黑" panose="020B0503020204020204" pitchFamily="34" charset="-122"/>
              </a:rPr>
              <a:t>Derived d1; //</a:t>
            </a:r>
            <a:r>
              <a:rPr lang="zh-CN" altLang="en-US" sz="1350" b="1" dirty="0">
                <a:latin typeface="微软雅黑" panose="020B0503020204020204" pitchFamily="34" charset="-122"/>
                <a:ea typeface="微软雅黑" panose="020B0503020204020204" pitchFamily="34" charset="-122"/>
              </a:rPr>
              <a:t>正确，合成了默认构造函数</a:t>
            </a:r>
            <a:endParaRPr lang="zh-CN" altLang="en-US" sz="1350" b="1" dirty="0">
              <a:latin typeface="微软雅黑" panose="020B0503020204020204" pitchFamily="34" charset="-122"/>
              <a:ea typeface="微软雅黑" panose="020B0503020204020204" pitchFamily="34" charset="-122"/>
            </a:endParaRPr>
          </a:p>
          <a:p>
            <a:pPr algn="l"/>
            <a:r>
              <a:rPr lang="en-US" altLang="zh-CN" sz="1350" b="1" dirty="0">
                <a:latin typeface="微软雅黑" panose="020B0503020204020204" pitchFamily="34" charset="-122"/>
                <a:ea typeface="微软雅黑" panose="020B0503020204020204" pitchFamily="34" charset="-122"/>
              </a:rPr>
              <a:t>Derived d2(d1); //</a:t>
            </a:r>
            <a:r>
              <a:rPr lang="zh-CN" altLang="en-US" sz="1350" b="1" dirty="0">
                <a:latin typeface="微软雅黑" panose="020B0503020204020204" pitchFamily="34" charset="-122"/>
                <a:ea typeface="微软雅黑" panose="020B0503020204020204" pitchFamily="34" charset="-122"/>
              </a:rPr>
              <a:t>错误，删除复制构造函数</a:t>
            </a:r>
            <a:endParaRPr lang="zh-CN" altLang="en-US" sz="1350" b="1" dirty="0">
              <a:latin typeface="微软雅黑" panose="020B0503020204020204" pitchFamily="34" charset="-122"/>
              <a:ea typeface="微软雅黑" panose="020B0503020204020204" pitchFamily="34" charset="-122"/>
            </a:endParaRPr>
          </a:p>
          <a:p>
            <a:pPr algn="l"/>
            <a:r>
              <a:rPr lang="en-US" altLang="zh-CN" sz="1350" b="1" dirty="0">
                <a:latin typeface="微软雅黑" panose="020B0503020204020204" pitchFamily="34" charset="-122"/>
                <a:ea typeface="微软雅黑" panose="020B0503020204020204" pitchFamily="34" charset="-122"/>
              </a:rPr>
              <a:t>Derived d3(std::move(d1)); //</a:t>
            </a:r>
            <a:r>
              <a:rPr lang="zh-CN" altLang="en-US" sz="1350" b="1" dirty="0">
                <a:latin typeface="微软雅黑" panose="020B0503020204020204" pitchFamily="34" charset="-122"/>
                <a:ea typeface="微软雅黑" panose="020B0503020204020204" pitchFamily="34" charset="-122"/>
              </a:rPr>
              <a:t>错误，删除移动构造函数</a:t>
            </a:r>
            <a:endParaRPr lang="zh-CN" altLang="en-US" sz="1350" b="1" dirty="0">
              <a:latin typeface="微软雅黑" panose="020B0503020204020204" pitchFamily="34" charset="-122"/>
              <a:ea typeface="微软雅黑" panose="020B0503020204020204" pitchFamily="34" charset="-122"/>
            </a:endParaRPr>
          </a:p>
          <a:p>
            <a:pPr algn="l"/>
            <a:endParaRPr lang="zh-CN" altLang="en-US" sz="1350" b="1" dirty="0">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4" name="Rectangle 2"/>
          <p:cNvSpPr>
            <a:spLocks noGrp="1" noChangeArrowheads="1"/>
          </p:cNvSpPr>
          <p:nvPr>
            <p:ph type="title"/>
          </p:nvPr>
        </p:nvSpPr>
        <p:spPr bwMode="auto">
          <a:xfrm>
            <a:off x="432656" y="1772816"/>
            <a:ext cx="8583488" cy="1244352"/>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startAt="5"/>
            </a:pPr>
            <a:r>
              <a:rPr lang="en-US" altLang="zh-CN" sz="5800" b="1" dirty="0" smtClean="0">
                <a:ea typeface="华文彩云" panose="02010800040101010101" pitchFamily="2" charset="-122"/>
              </a:rPr>
              <a:t>  </a:t>
            </a:r>
            <a:r>
              <a:rPr lang="zh-CN" altLang="en-US" sz="5800" b="1" dirty="0">
                <a:ea typeface="华文彩云" panose="02010800040101010101" pitchFamily="2" charset="-122"/>
              </a:rPr>
              <a:t>派生</a:t>
            </a:r>
            <a:r>
              <a:rPr lang="zh-CN" altLang="en-US" sz="5800" b="1" dirty="0" smtClean="0">
                <a:ea typeface="华文彩云" panose="02010800040101010101" pitchFamily="2" charset="-122"/>
              </a:rPr>
              <a:t>类成员</a:t>
            </a:r>
            <a:br>
              <a:rPr lang="en-US" altLang="zh-CN" sz="5800" b="1" dirty="0" smtClean="0">
                <a:ea typeface="华文彩云" panose="02010800040101010101" pitchFamily="2" charset="-122"/>
              </a:rPr>
            </a:br>
            <a:r>
              <a:rPr lang="zh-CN" altLang="en-US" sz="5800" b="1" dirty="0" smtClean="0">
                <a:ea typeface="华文彩云" panose="02010800040101010101" pitchFamily="2" charset="-122"/>
              </a:rPr>
              <a:t>的标识和访问</a:t>
            </a:r>
            <a:endParaRPr lang="zh-CN" altLang="en-US" dirty="0"/>
          </a:p>
        </p:txBody>
      </p:sp>
      <p:pic>
        <p:nvPicPr>
          <p:cNvPr id="612355" name="Picture 3" descr="BS00580_"/>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133600" y="4038607"/>
            <a:ext cx="2590800" cy="21828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内容占位符 2"/>
          <p:cNvSpPr>
            <a:spLocks noGrp="1"/>
          </p:cNvSpPr>
          <p:nvPr>
            <p:ph idx="1"/>
          </p:nvPr>
        </p:nvSpPr>
        <p:spPr>
          <a:xfrm>
            <a:off x="755576" y="1268760"/>
            <a:ext cx="7886700" cy="3691607"/>
          </a:xfrm>
        </p:spPr>
        <p:txBody>
          <a:bodyPr/>
          <a:lstStyle/>
          <a:p>
            <a:pPr marL="0" indent="0">
              <a:lnSpc>
                <a:spcPct val="150000"/>
              </a:lnSpc>
              <a:spcAft>
                <a:spcPct val="25000"/>
              </a:spcAft>
              <a:buNone/>
            </a:pPr>
            <a:r>
              <a:rPr lang="zh-CN" altLang="en-US" sz="2400" b="1" dirty="0" smtClean="0">
                <a:solidFill>
                  <a:srgbClr val="FFFF00"/>
                </a:solidFill>
                <a:ea typeface="华文楷体" panose="02010600040101010101" pitchFamily="2" charset="-122"/>
              </a:rPr>
              <a:t>在派生类中，成员按访问属性分为：</a:t>
            </a:r>
            <a:endParaRPr lang="zh-CN" altLang="en-US" sz="2400" b="1" dirty="0">
              <a:solidFill>
                <a:srgbClr val="FFFF00"/>
              </a:solidFill>
              <a:ea typeface="华文楷体" panose="02010600040101010101" pitchFamily="2" charset="-122"/>
            </a:endParaRPr>
          </a:p>
          <a:p>
            <a:pPr marL="457200" indent="-457200">
              <a:lnSpc>
                <a:spcPct val="150000"/>
              </a:lnSpc>
              <a:spcAft>
                <a:spcPct val="25000"/>
              </a:spcAft>
              <a:buFont typeface="+mj-ea"/>
              <a:buAutoNum type="circleNumDbPlain"/>
            </a:pPr>
            <a:r>
              <a:rPr lang="zh-CN" altLang="en-US" sz="2400" b="1" dirty="0" smtClean="0">
                <a:ea typeface="华文楷体" panose="02010600040101010101" pitchFamily="2" charset="-122"/>
              </a:rPr>
              <a:t>不可访问的成员：从基类私有成员继承而来</a:t>
            </a:r>
            <a:endParaRPr lang="en-US" altLang="zh-CN" sz="2400" b="1" dirty="0" smtClean="0">
              <a:ea typeface="华文楷体" panose="02010600040101010101" pitchFamily="2" charset="-122"/>
            </a:endParaRPr>
          </a:p>
          <a:p>
            <a:pPr marL="457200" indent="-457200">
              <a:lnSpc>
                <a:spcPct val="150000"/>
              </a:lnSpc>
              <a:spcAft>
                <a:spcPct val="25000"/>
              </a:spcAft>
              <a:buFont typeface="+mj-ea"/>
              <a:buAutoNum type="circleNumDbPlain"/>
            </a:pPr>
            <a:r>
              <a:rPr lang="zh-CN" altLang="en-US" sz="2400" b="1" dirty="0" smtClean="0">
                <a:ea typeface="华文楷体" panose="02010600040101010101" pitchFamily="2" charset="-122"/>
              </a:rPr>
              <a:t>私有成员：新增或从基类继承而来</a:t>
            </a:r>
            <a:endParaRPr lang="en-US" altLang="zh-CN" sz="2400" b="1" dirty="0" smtClean="0">
              <a:ea typeface="华文楷体" panose="02010600040101010101" pitchFamily="2" charset="-122"/>
            </a:endParaRPr>
          </a:p>
          <a:p>
            <a:pPr marL="457200" indent="-457200">
              <a:lnSpc>
                <a:spcPct val="150000"/>
              </a:lnSpc>
              <a:spcAft>
                <a:spcPct val="25000"/>
              </a:spcAft>
              <a:buFont typeface="+mj-ea"/>
              <a:buAutoNum type="circleNumDbPlain"/>
            </a:pPr>
            <a:r>
              <a:rPr lang="zh-CN" altLang="en-US" sz="2400" b="1" dirty="0" smtClean="0">
                <a:ea typeface="华文楷体" panose="02010600040101010101" pitchFamily="2" charset="-122"/>
              </a:rPr>
              <a:t>保护</a:t>
            </a:r>
            <a:r>
              <a:rPr lang="zh-CN" altLang="en-US" sz="2400" b="1" dirty="0">
                <a:ea typeface="华文楷体" panose="02010600040101010101" pitchFamily="2" charset="-122"/>
              </a:rPr>
              <a:t>成员：新增或从基类继承而来</a:t>
            </a:r>
            <a:endParaRPr lang="en-US" altLang="zh-CN" sz="2400" b="1" dirty="0" smtClean="0">
              <a:ea typeface="华文楷体" panose="02010600040101010101" pitchFamily="2" charset="-122"/>
            </a:endParaRPr>
          </a:p>
          <a:p>
            <a:pPr marL="457200" indent="-457200">
              <a:lnSpc>
                <a:spcPct val="150000"/>
              </a:lnSpc>
              <a:spcAft>
                <a:spcPct val="25000"/>
              </a:spcAft>
              <a:buFont typeface="+mj-ea"/>
              <a:buAutoNum type="circleNumDbPlain"/>
            </a:pPr>
            <a:r>
              <a:rPr lang="zh-CN" altLang="en-US" sz="2400" b="1" dirty="0" smtClean="0">
                <a:ea typeface="华文楷体" panose="02010600040101010101" pitchFamily="2" charset="-122"/>
              </a:rPr>
              <a:t>公有成员：对外接口</a:t>
            </a:r>
            <a:endParaRPr lang="zh-CN" altLang="en-US" sz="2400" b="1" dirty="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dirty="0">
                <a:latin typeface="Times New Roman" panose="02020603050405020304" pitchFamily="18" charset="0"/>
                <a:ea typeface="隶书" panose="02010509060101010101" pitchFamily="49" charset="-122"/>
              </a:rPr>
              <a:t>7.5.1 </a:t>
            </a:r>
            <a:r>
              <a:rPr lang="zh-CN" altLang="en-US" sz="4400" b="1" dirty="0" smtClean="0">
                <a:latin typeface="Times New Roman" panose="02020603050405020304" pitchFamily="18" charset="0"/>
                <a:ea typeface="隶书" panose="02010509060101010101" pitchFamily="49" charset="-122"/>
              </a:rPr>
              <a:t>作用域分辨符</a:t>
            </a:r>
            <a:endParaRPr lang="zh-CN" altLang="en-US" sz="4400" b="1" dirty="0">
              <a:latin typeface="Times New Roman" panose="02020603050405020304" pitchFamily="18" charset="0"/>
              <a:ea typeface="隶书" panose="02010509060101010101" pitchFamily="49" charset="-122"/>
            </a:endParaRPr>
          </a:p>
        </p:txBody>
      </p:sp>
      <p:sp>
        <p:nvSpPr>
          <p:cNvPr id="18435" name="内容占位符 2"/>
          <p:cNvSpPr>
            <a:spLocks noGrp="1"/>
          </p:cNvSpPr>
          <p:nvPr>
            <p:ph idx="1"/>
          </p:nvPr>
        </p:nvSpPr>
        <p:spPr>
          <a:xfrm>
            <a:off x="628650" y="1825625"/>
            <a:ext cx="7886700" cy="3691607"/>
          </a:xfrm>
        </p:spPr>
        <p:txBody>
          <a:bodyPr/>
          <a:lstStyle/>
          <a:p>
            <a:pPr marL="0" indent="0">
              <a:lnSpc>
                <a:spcPct val="150000"/>
              </a:lnSpc>
              <a:spcAft>
                <a:spcPct val="25000"/>
              </a:spcAft>
              <a:buNone/>
            </a:pPr>
            <a:r>
              <a:rPr lang="zh-CN" altLang="en-US" sz="2400" b="1" dirty="0">
                <a:solidFill>
                  <a:srgbClr val="FFFF00"/>
                </a:solidFill>
                <a:ea typeface="华文楷体" panose="02010600040101010101" pitchFamily="2" charset="-122"/>
              </a:rPr>
              <a:t>当派生类与基类中有相同成员时：</a:t>
            </a:r>
            <a:endParaRPr lang="zh-CN" altLang="en-US" sz="2400" b="1" dirty="0">
              <a:solidFill>
                <a:srgbClr val="FFFF00"/>
              </a:solidFill>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若未特别限定，则通过派生类对象使用的是派生类中的同名成员。</a:t>
            </a:r>
            <a:endParaRPr lang="zh-CN" altLang="en-US" sz="2400" b="1" dirty="0">
              <a:ea typeface="华文楷体" panose="02010600040101010101" pitchFamily="2" charset="-122"/>
            </a:endParaRPr>
          </a:p>
          <a:p>
            <a:pPr>
              <a:lnSpc>
                <a:spcPct val="150000"/>
              </a:lnSpc>
              <a:spcAft>
                <a:spcPct val="25000"/>
              </a:spcAft>
            </a:pPr>
            <a:r>
              <a:rPr lang="zh-CN" altLang="en-US" sz="2400" b="1" dirty="0">
                <a:ea typeface="华文楷体" panose="02010600040101010101" pitchFamily="2" charset="-122"/>
              </a:rPr>
              <a:t>如要通过派生类对象访问基类中被隐藏的同名成员，应使用基类名和</a:t>
            </a:r>
            <a:r>
              <a:rPr lang="zh-CN" altLang="en-US" sz="2400" b="1" dirty="0" smtClean="0">
                <a:ea typeface="华文楷体" panose="02010600040101010101" pitchFamily="2" charset="-122"/>
              </a:rPr>
              <a:t>作用域分辨符</a:t>
            </a:r>
            <a:r>
              <a:rPr lang="zh-CN" altLang="en-US" sz="2400" b="1" dirty="0">
                <a:ea typeface="华文楷体" panose="02010600040101010101" pitchFamily="2" charset="-122"/>
              </a:rPr>
              <a:t>（</a:t>
            </a:r>
            <a:r>
              <a:rPr lang="en-US" altLang="zh-CN" sz="2400" b="1" dirty="0">
                <a:ea typeface="华文楷体" panose="02010600040101010101" pitchFamily="2" charset="-122"/>
              </a:rPr>
              <a:t>::</a:t>
            </a:r>
            <a:r>
              <a:rPr lang="zh-CN" altLang="en-US" sz="2400" b="1" dirty="0">
                <a:ea typeface="华文楷体" panose="02010600040101010101" pitchFamily="2" charset="-122"/>
              </a:rPr>
              <a:t>）来限定。</a:t>
            </a:r>
            <a:endParaRPr lang="zh-CN" altLang="en-US" sz="2400" b="1" dirty="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1" name="标题 1"/>
          <p:cNvSpPr>
            <a:spLocks noGrp="1"/>
          </p:cNvSpPr>
          <p:nvPr>
            <p:ph type="title"/>
          </p:nvPr>
        </p:nvSpPr>
        <p:spPr/>
        <p:txBody>
          <a:bodyPr/>
          <a:lstStyle/>
          <a:p>
            <a:pPr eaLnBrk="1" hangingPunct="1"/>
            <a:r>
              <a:rPr lang="zh-CN" altLang="en-US" b="1" dirty="0" smtClean="0"/>
              <a:t>例</a:t>
            </a:r>
            <a:r>
              <a:rPr lang="en-US" altLang="zh-CN" b="1" dirty="0" smtClean="0"/>
              <a:t>7-6 </a:t>
            </a:r>
            <a:r>
              <a:rPr lang="zh-CN" altLang="en-US" b="1" dirty="0" smtClean="0"/>
              <a:t>多继承同名隐藏举例</a:t>
            </a:r>
            <a:endParaRPr kumimoji="1" lang="zh-CN" altLang="en-US" b="1" dirty="0" smtClean="0"/>
          </a:p>
        </p:txBody>
      </p:sp>
      <p:sp>
        <p:nvSpPr>
          <p:cNvPr id="58372" name="内容占位符 2"/>
          <p:cNvSpPr>
            <a:spLocks noGrp="1"/>
          </p:cNvSpPr>
          <p:nvPr>
            <p:ph idx="1"/>
          </p:nvPr>
        </p:nvSpPr>
        <p:spPr>
          <a:xfrm>
            <a:off x="611560" y="1052736"/>
            <a:ext cx="8352928" cy="5324535"/>
          </a:xfrm>
          <a:solidFill>
            <a:schemeClr val="tx1"/>
          </a:solidFill>
          <a:ln w="9525">
            <a:solidFill>
              <a:schemeClr val="tx1"/>
            </a:solidFill>
            <a:miter lim="800000"/>
          </a:ln>
        </p:spPr>
        <p:txBody>
          <a:bodyPr wrap="square">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&lt;</a:t>
            </a:r>
            <a:r>
              <a:rPr kumimoji="0" lang="en-US" altLang="zh-CN" sz="2000" b="1" dirty="0" err="1">
                <a:solidFill>
                  <a:srgbClr val="000000"/>
                </a:solidFill>
                <a:latin typeface="Times New Roman" panose="02020603050405020304" pitchFamily="18" charset="0"/>
                <a:ea typeface="华文楷体" panose="02010600040101010101" pitchFamily="2" charset="-122"/>
              </a:rPr>
              <a:t>iostream</a:t>
            </a:r>
            <a:r>
              <a:rPr kumimoji="0" lang="en-US" altLang="zh-CN" sz="2000" b="1" dirty="0">
                <a:solidFill>
                  <a:srgbClr val="000000"/>
                </a:solidFill>
                <a:latin typeface="Times New Roman" panose="02020603050405020304" pitchFamily="18" charset="0"/>
                <a:ea typeface="华文楷体" panose="02010600040101010101" pitchFamily="2" charset="-122"/>
              </a:rPr>
              <a:t>&gt;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using namespace </a:t>
            </a:r>
            <a:r>
              <a:rPr kumimoji="0" lang="en-US" altLang="zh-CN" sz="2000" b="1" dirty="0" err="1">
                <a:solidFill>
                  <a:srgbClr val="000000"/>
                </a:solidFill>
                <a:latin typeface="Times New Roman" panose="02020603050405020304" pitchFamily="18" charset="0"/>
                <a:ea typeface="华文楷体" panose="02010600040101010101" pitchFamily="2" charset="-122"/>
              </a:rPr>
              <a:t>std</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Base1 {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定义基类</a:t>
            </a:r>
            <a:r>
              <a:rPr kumimoji="0" lang="en-US" altLang="zh-CN" sz="2000" b="1" dirty="0">
                <a:solidFill>
                  <a:srgbClr val="000000"/>
                </a:solidFill>
                <a:latin typeface="Times New Roman" panose="02020603050405020304" pitchFamily="18" charset="0"/>
                <a:ea typeface="华文楷体" panose="02010600040101010101" pitchFamily="2" charset="-122"/>
              </a:rPr>
              <a:t>Base1</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FF0000"/>
                </a:solidFill>
                <a:latin typeface="Times New Roman" panose="02020603050405020304" pitchFamily="18" charset="0"/>
                <a:ea typeface="华文楷体" panose="02010600040101010101" pitchFamily="2" charset="-122"/>
              </a:rPr>
              <a:t>int</a:t>
            </a:r>
            <a:r>
              <a:rPr kumimoji="0" lang="en-US" altLang="zh-CN" sz="2000" b="1" dirty="0">
                <a:solidFill>
                  <a:srgbClr val="FF0000"/>
                </a:solidFill>
                <a:latin typeface="Times New Roman" panose="02020603050405020304" pitchFamily="18" charset="0"/>
                <a:ea typeface="华文楷体" panose="02010600040101010101" pitchFamily="2" charset="-122"/>
              </a:rPr>
              <a:t> </a:t>
            </a:r>
            <a:r>
              <a:rPr kumimoji="0" lang="en-US" altLang="zh-CN" sz="2000" b="1" dirty="0" err="1">
                <a:solidFill>
                  <a:srgbClr val="FF0000"/>
                </a:solidFill>
                <a:latin typeface="Times New Roman" panose="02020603050405020304" pitchFamily="18" charset="0"/>
                <a:ea typeface="华文楷体" panose="02010600040101010101" pitchFamily="2" charset="-122"/>
              </a:rPr>
              <a:t>var</a:t>
            </a:r>
            <a:r>
              <a:rPr kumimoji="0" lang="en-US" altLang="zh-CN" sz="2000" b="1" dirty="0">
                <a:solidFill>
                  <a:srgbClr val="FF0000"/>
                </a:solidFill>
                <a:latin typeface="Times New Roman" panose="02020603050405020304" pitchFamily="18" charset="0"/>
                <a:ea typeface="华文楷体" panose="02010600040101010101" pitchFamily="2" charset="-122"/>
              </a:rPr>
              <a:t>;</a:t>
            </a:r>
            <a:endParaRPr kumimoji="0" lang="en-US" altLang="zh-CN"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chemeClr val="accent2">
                    <a:lumMod val="75000"/>
                  </a:schemeClr>
                </a:solidFill>
                <a:latin typeface="Times New Roman" panose="02020603050405020304" pitchFamily="18" charset="0"/>
                <a:ea typeface="华文楷体" panose="02010600040101010101" pitchFamily="2" charset="-122"/>
              </a:rPr>
              <a:t>void fun() { </a:t>
            </a:r>
            <a:r>
              <a:rPr kumimoji="0" lang="en-US" altLang="zh-CN" sz="2000" b="1" dirty="0" err="1">
                <a:solidFill>
                  <a:schemeClr val="accent2">
                    <a:lumMod val="75000"/>
                  </a:schemeClr>
                </a:solidFill>
                <a:latin typeface="Times New Roman" panose="02020603050405020304" pitchFamily="18" charset="0"/>
                <a:ea typeface="华文楷体" panose="02010600040101010101" pitchFamily="2" charset="-122"/>
              </a:rPr>
              <a:t>cout</a:t>
            </a:r>
            <a:r>
              <a:rPr kumimoji="0" lang="en-US" altLang="zh-CN" sz="2000" b="1" dirty="0">
                <a:solidFill>
                  <a:schemeClr val="accent2">
                    <a:lumMod val="75000"/>
                  </a:schemeClr>
                </a:solidFill>
                <a:latin typeface="Times New Roman" panose="02020603050405020304" pitchFamily="18" charset="0"/>
                <a:ea typeface="华文楷体" panose="02010600040101010101" pitchFamily="2" charset="-122"/>
              </a:rPr>
              <a:t> &lt;&lt; "Member of Base1" &lt;&lt; </a:t>
            </a:r>
            <a:r>
              <a:rPr kumimoji="0" lang="en-US" altLang="zh-CN" sz="2000" b="1" dirty="0" err="1">
                <a:solidFill>
                  <a:schemeClr val="accent2">
                    <a:lumMod val="75000"/>
                  </a:schemeClr>
                </a:solidFill>
                <a:latin typeface="Times New Roman" panose="02020603050405020304" pitchFamily="18" charset="0"/>
                <a:ea typeface="华文楷体" panose="02010600040101010101" pitchFamily="2" charset="-122"/>
              </a:rPr>
              <a:t>endl</a:t>
            </a:r>
            <a:r>
              <a:rPr kumimoji="0" lang="en-US" altLang="zh-CN" sz="2000" b="1" dirty="0">
                <a:solidFill>
                  <a:schemeClr val="accent2">
                    <a:lumMod val="75000"/>
                  </a:schemeClr>
                </a:solidFill>
                <a:latin typeface="Times New Roman" panose="02020603050405020304" pitchFamily="18" charset="0"/>
                <a:ea typeface="华文楷体" panose="02010600040101010101" pitchFamily="2" charset="-122"/>
              </a:rPr>
              <a:t>; }</a:t>
            </a:r>
            <a:endParaRPr kumimoji="0" lang="en-US" altLang="zh-CN" sz="2000" b="1" dirty="0">
              <a:solidFill>
                <a:schemeClr val="accent2">
                  <a:lumMod val="75000"/>
                </a:schemeClr>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Base2 {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定义基类</a:t>
            </a:r>
            <a:r>
              <a:rPr kumimoji="0" lang="en-US" altLang="zh-CN" sz="2000" b="1" dirty="0">
                <a:solidFill>
                  <a:srgbClr val="000000"/>
                </a:solidFill>
                <a:latin typeface="Times New Roman" panose="02020603050405020304" pitchFamily="18" charset="0"/>
                <a:ea typeface="华文楷体" panose="02010600040101010101" pitchFamily="2" charset="-122"/>
              </a:rPr>
              <a:t>Base2</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FF0000"/>
                </a:solidFill>
                <a:latin typeface="Times New Roman" panose="02020603050405020304" pitchFamily="18" charset="0"/>
                <a:ea typeface="华文楷体" panose="02010600040101010101" pitchFamily="2" charset="-122"/>
              </a:rPr>
              <a:t>	</a:t>
            </a:r>
            <a:r>
              <a:rPr kumimoji="0" lang="en-US" altLang="zh-CN" sz="2000" b="1" dirty="0" err="1">
                <a:solidFill>
                  <a:srgbClr val="FF0000"/>
                </a:solidFill>
                <a:latin typeface="Times New Roman" panose="02020603050405020304" pitchFamily="18" charset="0"/>
                <a:ea typeface="华文楷体" panose="02010600040101010101" pitchFamily="2" charset="-122"/>
              </a:rPr>
              <a:t>int</a:t>
            </a:r>
            <a:r>
              <a:rPr kumimoji="0" lang="en-US" altLang="zh-CN" sz="2000" b="1" dirty="0">
                <a:solidFill>
                  <a:srgbClr val="FF0000"/>
                </a:solidFill>
                <a:latin typeface="Times New Roman" panose="02020603050405020304" pitchFamily="18" charset="0"/>
                <a:ea typeface="华文楷体" panose="02010600040101010101" pitchFamily="2" charset="-122"/>
              </a:rPr>
              <a:t> </a:t>
            </a:r>
            <a:r>
              <a:rPr kumimoji="0" lang="en-US" altLang="zh-CN" sz="2000" b="1" dirty="0" err="1">
                <a:solidFill>
                  <a:srgbClr val="FF0000"/>
                </a:solidFill>
                <a:latin typeface="Times New Roman" panose="02020603050405020304" pitchFamily="18" charset="0"/>
                <a:ea typeface="华文楷体" panose="02010600040101010101" pitchFamily="2" charset="-122"/>
              </a:rPr>
              <a:t>var</a:t>
            </a:r>
            <a:r>
              <a:rPr kumimoji="0" lang="en-US" altLang="zh-CN" sz="2000" b="1" dirty="0">
                <a:solidFill>
                  <a:srgbClr val="FF0000"/>
                </a:solidFill>
                <a:latin typeface="Times New Roman" panose="02020603050405020304" pitchFamily="18" charset="0"/>
                <a:ea typeface="华文楷体" panose="02010600040101010101" pitchFamily="2" charset="-122"/>
              </a:rPr>
              <a:t>;</a:t>
            </a:r>
            <a:endParaRPr kumimoji="0" lang="en-US" altLang="zh-CN"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chemeClr val="accent2">
                    <a:lumMod val="75000"/>
                  </a:schemeClr>
                </a:solidFill>
                <a:latin typeface="Times New Roman" panose="02020603050405020304" pitchFamily="18" charset="0"/>
                <a:ea typeface="华文楷体" panose="02010600040101010101" pitchFamily="2" charset="-122"/>
              </a:rPr>
              <a:t>void fun() { </a:t>
            </a:r>
            <a:r>
              <a:rPr kumimoji="0" lang="en-US" altLang="zh-CN" sz="2000" b="1" dirty="0" err="1">
                <a:solidFill>
                  <a:schemeClr val="accent2">
                    <a:lumMod val="75000"/>
                  </a:schemeClr>
                </a:solidFill>
                <a:latin typeface="Times New Roman" panose="02020603050405020304" pitchFamily="18" charset="0"/>
                <a:ea typeface="华文楷体" panose="02010600040101010101" pitchFamily="2" charset="-122"/>
              </a:rPr>
              <a:t>cout</a:t>
            </a:r>
            <a:r>
              <a:rPr kumimoji="0" lang="en-US" altLang="zh-CN" sz="2000" b="1" dirty="0">
                <a:solidFill>
                  <a:schemeClr val="accent2">
                    <a:lumMod val="75000"/>
                  </a:schemeClr>
                </a:solidFill>
                <a:latin typeface="Times New Roman" panose="02020603050405020304" pitchFamily="18" charset="0"/>
                <a:ea typeface="华文楷体" panose="02010600040101010101" pitchFamily="2" charset="-122"/>
              </a:rPr>
              <a:t> &lt;&lt; "Member of Base2" &lt;&lt; </a:t>
            </a:r>
            <a:r>
              <a:rPr kumimoji="0" lang="en-US" altLang="zh-CN" sz="2000" b="1" dirty="0" err="1">
                <a:solidFill>
                  <a:schemeClr val="accent2">
                    <a:lumMod val="75000"/>
                  </a:schemeClr>
                </a:solidFill>
                <a:latin typeface="Times New Roman" panose="02020603050405020304" pitchFamily="18" charset="0"/>
                <a:ea typeface="华文楷体" panose="02010600040101010101" pitchFamily="2" charset="-122"/>
              </a:rPr>
              <a:t>endl</a:t>
            </a:r>
            <a:r>
              <a:rPr kumimoji="0" lang="en-US" altLang="zh-CN" sz="2000" b="1" dirty="0">
                <a:solidFill>
                  <a:schemeClr val="accent2">
                    <a:lumMod val="75000"/>
                  </a:schemeClr>
                </a:solidFill>
                <a:latin typeface="Times New Roman" panose="02020603050405020304" pitchFamily="18" charset="0"/>
                <a:ea typeface="华文楷体" panose="02010600040101010101" pitchFamily="2" charset="-122"/>
              </a:rPr>
              <a:t>; }</a:t>
            </a:r>
            <a:endParaRPr kumimoji="0" lang="en-US" altLang="zh-CN" sz="2000" b="1" dirty="0">
              <a:solidFill>
                <a:schemeClr val="accent2">
                  <a:lumMod val="75000"/>
                </a:schemeClr>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Derived: public Base1, public Base2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zh-CN" altLang="en-US" sz="2000" b="1" dirty="0">
                <a:solidFill>
                  <a:srgbClr val="000000"/>
                </a:solidFill>
                <a:latin typeface="Times New Roman" panose="02020603050405020304" pitchFamily="18" charset="0"/>
                <a:ea typeface="华文楷体" panose="02010600040101010101" pitchFamily="2" charset="-122"/>
              </a:rPr>
              <a:t>定义派生类</a:t>
            </a:r>
            <a:r>
              <a:rPr kumimoji="0" lang="en-US" altLang="zh-CN" sz="2000" b="1" dirty="0">
                <a:solidFill>
                  <a:srgbClr val="000000"/>
                </a:solidFill>
                <a:latin typeface="Times New Roman" panose="02020603050405020304" pitchFamily="18" charset="0"/>
                <a:ea typeface="华文楷体" panose="02010600040101010101" pitchFamily="2" charset="-122"/>
              </a:rPr>
              <a:t>Derived</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FF0000"/>
                </a:solidFill>
                <a:latin typeface="Times New Roman" panose="02020603050405020304" pitchFamily="18" charset="0"/>
                <a:ea typeface="华文楷体" panose="02010600040101010101" pitchFamily="2" charset="-122"/>
              </a:rPr>
              <a:t>	</a:t>
            </a:r>
            <a:r>
              <a:rPr kumimoji="0" lang="en-US" altLang="zh-CN" sz="2000" b="1" dirty="0" err="1">
                <a:solidFill>
                  <a:srgbClr val="FF0000"/>
                </a:solidFill>
                <a:latin typeface="Times New Roman" panose="02020603050405020304" pitchFamily="18" charset="0"/>
                <a:ea typeface="华文楷体" panose="02010600040101010101" pitchFamily="2" charset="-122"/>
              </a:rPr>
              <a:t>int</a:t>
            </a:r>
            <a:r>
              <a:rPr kumimoji="0" lang="en-US" altLang="zh-CN" sz="2000" b="1" dirty="0">
                <a:solidFill>
                  <a:srgbClr val="FF0000"/>
                </a:solidFill>
                <a:latin typeface="Times New Roman" panose="02020603050405020304" pitchFamily="18" charset="0"/>
                <a:ea typeface="华文楷体" panose="02010600040101010101" pitchFamily="2" charset="-122"/>
              </a:rPr>
              <a:t> </a:t>
            </a:r>
            <a:r>
              <a:rPr kumimoji="0" lang="en-US" altLang="zh-CN" sz="2000" b="1" dirty="0" err="1">
                <a:solidFill>
                  <a:srgbClr val="FF0000"/>
                </a:solidFill>
                <a:latin typeface="Times New Roman" panose="02020603050405020304" pitchFamily="18" charset="0"/>
                <a:ea typeface="华文楷体" panose="02010600040101010101" pitchFamily="2" charset="-122"/>
              </a:rPr>
              <a:t>var</a:t>
            </a:r>
            <a:r>
              <a:rPr kumimoji="0" lang="en-US" altLang="zh-CN" sz="2000" b="1" dirty="0">
                <a:solidFill>
                  <a:srgbClr val="FF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FF0000"/>
                </a:solidFill>
                <a:latin typeface="Times New Roman" panose="02020603050405020304" pitchFamily="18" charset="0"/>
                <a:ea typeface="华文楷体" panose="02010600040101010101" pitchFamily="2" charset="-122"/>
              </a:rPr>
              <a:t>//</a:t>
            </a:r>
            <a:r>
              <a:rPr kumimoji="0" lang="zh-CN" altLang="en-US" sz="2000" b="1" dirty="0">
                <a:solidFill>
                  <a:srgbClr val="FF0000"/>
                </a:solidFill>
                <a:latin typeface="Times New Roman" panose="02020603050405020304" pitchFamily="18" charset="0"/>
                <a:ea typeface="华文楷体" panose="02010600040101010101" pitchFamily="2" charset="-122"/>
              </a:rPr>
              <a:t>同名数据成员</a:t>
            </a:r>
            <a:endParaRPr kumimoji="0" lang="zh-CN" altLang="en-US"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chemeClr val="accent2">
                    <a:lumMod val="75000"/>
                  </a:schemeClr>
                </a:solidFill>
                <a:latin typeface="Times New Roman" panose="02020603050405020304" pitchFamily="18" charset="0"/>
                <a:ea typeface="华文楷体" panose="02010600040101010101" pitchFamily="2" charset="-122"/>
              </a:rPr>
              <a:t>void fun() { </a:t>
            </a:r>
            <a:r>
              <a:rPr kumimoji="0" lang="en-US" altLang="zh-CN" sz="2000" b="1" dirty="0" err="1">
                <a:solidFill>
                  <a:schemeClr val="accent2">
                    <a:lumMod val="75000"/>
                  </a:schemeClr>
                </a:solidFill>
                <a:latin typeface="Times New Roman" panose="02020603050405020304" pitchFamily="18" charset="0"/>
                <a:ea typeface="华文楷体" panose="02010600040101010101" pitchFamily="2" charset="-122"/>
              </a:rPr>
              <a:t>cout</a:t>
            </a:r>
            <a:r>
              <a:rPr kumimoji="0" lang="en-US" altLang="zh-CN" sz="2000" b="1" dirty="0">
                <a:solidFill>
                  <a:schemeClr val="accent2">
                    <a:lumMod val="75000"/>
                  </a:schemeClr>
                </a:solidFill>
                <a:latin typeface="Times New Roman" panose="02020603050405020304" pitchFamily="18" charset="0"/>
                <a:ea typeface="华文楷体" panose="02010600040101010101" pitchFamily="2" charset="-122"/>
              </a:rPr>
              <a:t> &lt;&lt; "Member of Derived" &lt;&lt; </a:t>
            </a:r>
            <a:r>
              <a:rPr kumimoji="0" lang="en-US" altLang="zh-CN" sz="2000" b="1" dirty="0" err="1">
                <a:solidFill>
                  <a:schemeClr val="accent2">
                    <a:lumMod val="75000"/>
                  </a:schemeClr>
                </a:solidFill>
                <a:latin typeface="Times New Roman" panose="02020603050405020304" pitchFamily="18" charset="0"/>
                <a:ea typeface="华文楷体" panose="02010600040101010101" pitchFamily="2" charset="-122"/>
              </a:rPr>
              <a:t>endl</a:t>
            </a:r>
            <a:r>
              <a:rPr kumimoji="0" lang="en-US" altLang="zh-CN" sz="2000" b="1" dirty="0">
                <a:solidFill>
                  <a:schemeClr val="accent2">
                    <a:lumMod val="75000"/>
                  </a:schemeClr>
                </a:solidFill>
                <a:latin typeface="Times New Roman" panose="02020603050405020304" pitchFamily="18" charset="0"/>
                <a:ea typeface="华文楷体" panose="02010600040101010101" pitchFamily="2" charset="-122"/>
              </a:rPr>
              <a:t>; }	//</a:t>
            </a:r>
            <a:r>
              <a:rPr kumimoji="0" lang="zh-CN" altLang="en-US" sz="2000" b="1" dirty="0">
                <a:solidFill>
                  <a:schemeClr val="accent2">
                    <a:lumMod val="75000"/>
                  </a:schemeClr>
                </a:solidFill>
                <a:latin typeface="Times New Roman" panose="02020603050405020304" pitchFamily="18" charset="0"/>
                <a:ea typeface="华文楷体" panose="02010600040101010101" pitchFamily="2" charset="-122"/>
              </a:rPr>
              <a:t>同名函数成员</a:t>
            </a:r>
            <a:endParaRPr kumimoji="0" lang="zh-CN" altLang="en-US" sz="2000" b="1" dirty="0">
              <a:solidFill>
                <a:schemeClr val="accent2">
                  <a:lumMod val="75000"/>
                </a:schemeClr>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5" name="标题 1"/>
          <p:cNvSpPr>
            <a:spLocks noGrp="1"/>
          </p:cNvSpPr>
          <p:nvPr>
            <p:ph type="title"/>
          </p:nvPr>
        </p:nvSpPr>
        <p:spPr/>
        <p:txBody>
          <a:bodyPr/>
          <a:lstStyle/>
          <a:p>
            <a:pPr eaLnBrk="1" hangingPunct="1"/>
            <a:r>
              <a:rPr lang="zh-CN" altLang="en-US" b="1" dirty="0" smtClean="0"/>
              <a:t>例</a:t>
            </a:r>
            <a:r>
              <a:rPr lang="en-US" altLang="zh-CN" b="1" dirty="0" smtClean="0"/>
              <a:t>7-6 (</a:t>
            </a:r>
            <a:r>
              <a:rPr lang="zh-CN" altLang="en-US" b="1" dirty="0" smtClean="0"/>
              <a:t>续</a:t>
            </a:r>
            <a:r>
              <a:rPr lang="en-US" altLang="zh-CN" b="1" dirty="0" smtClean="0"/>
              <a:t>)</a:t>
            </a:r>
            <a:endParaRPr kumimoji="1" lang="zh-CN" altLang="en-US" b="1" dirty="0" smtClean="0"/>
          </a:p>
        </p:txBody>
      </p:sp>
      <p:sp>
        <p:nvSpPr>
          <p:cNvPr id="59396" name="内容占位符 2"/>
          <p:cNvSpPr>
            <a:spLocks noGrp="1"/>
          </p:cNvSpPr>
          <p:nvPr>
            <p:ph idx="1"/>
          </p:nvPr>
        </p:nvSpPr>
        <p:spPr>
          <a:xfrm>
            <a:off x="683568" y="1628800"/>
            <a:ext cx="7886700" cy="4708981"/>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main()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Derived d;</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Derived *p = &amp;d;</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d.var</a:t>
            </a:r>
            <a:r>
              <a:rPr kumimoji="0" lang="en-US" altLang="zh-CN" sz="2000" b="1" dirty="0">
                <a:solidFill>
                  <a:srgbClr val="000000"/>
                </a:solidFill>
                <a:latin typeface="Times New Roman" panose="02020603050405020304" pitchFamily="18" charset="0"/>
                <a:ea typeface="华文楷体" panose="02010600040101010101" pitchFamily="2" charset="-122"/>
              </a:rPr>
              <a:t> = 1;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对象名</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zh-CN" altLang="en-US" sz="2000" b="1" dirty="0">
                <a:solidFill>
                  <a:srgbClr val="000000"/>
                </a:solidFill>
                <a:latin typeface="Times New Roman" panose="02020603050405020304" pitchFamily="18" charset="0"/>
                <a:ea typeface="华文楷体" panose="02010600040101010101" pitchFamily="2" charset="-122"/>
              </a:rPr>
              <a:t>成员名标识</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d.fun</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访问</a:t>
            </a:r>
            <a:r>
              <a:rPr kumimoji="0" lang="en-US" altLang="zh-CN" sz="2000" b="1" dirty="0">
                <a:solidFill>
                  <a:srgbClr val="000000"/>
                </a:solidFill>
                <a:latin typeface="Times New Roman" panose="02020603050405020304" pitchFamily="18" charset="0"/>
                <a:ea typeface="华文楷体" panose="02010600040101010101" pitchFamily="2" charset="-122"/>
              </a:rPr>
              <a:t>Derived</a:t>
            </a:r>
            <a:r>
              <a:rPr kumimoji="0" lang="zh-CN" altLang="en-US" sz="2000" b="1" dirty="0">
                <a:solidFill>
                  <a:srgbClr val="000000"/>
                </a:solidFill>
                <a:latin typeface="Times New Roman" panose="02020603050405020304" pitchFamily="18" charset="0"/>
                <a:ea typeface="华文楷体" panose="02010600040101010101" pitchFamily="2" charset="-122"/>
              </a:rPr>
              <a:t>类成员</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FF0000"/>
                </a:solidFill>
                <a:latin typeface="Times New Roman" panose="02020603050405020304" pitchFamily="18" charset="0"/>
                <a:ea typeface="华文楷体" panose="02010600040101010101" pitchFamily="2" charset="-122"/>
              </a:rPr>
              <a:t>d.Base1::</a:t>
            </a:r>
            <a:r>
              <a:rPr kumimoji="0" lang="en-US" altLang="zh-CN" sz="2000" b="1" dirty="0" err="1">
                <a:solidFill>
                  <a:srgbClr val="FF0000"/>
                </a:solidFill>
                <a:latin typeface="Times New Roman" panose="02020603050405020304" pitchFamily="18" charset="0"/>
                <a:ea typeface="华文楷体" panose="02010600040101010101" pitchFamily="2" charset="-122"/>
              </a:rPr>
              <a:t>var</a:t>
            </a:r>
            <a:r>
              <a:rPr kumimoji="0" lang="en-US" altLang="zh-CN" sz="2000" b="1" dirty="0">
                <a:solidFill>
                  <a:srgbClr val="FF0000"/>
                </a:solidFill>
                <a:latin typeface="Times New Roman" panose="02020603050405020304" pitchFamily="18" charset="0"/>
                <a:ea typeface="华文楷体" panose="02010600040101010101" pitchFamily="2" charset="-122"/>
              </a:rPr>
              <a:t> = 2;	//</a:t>
            </a:r>
            <a:r>
              <a:rPr kumimoji="0" lang="zh-CN" altLang="en-US" sz="2000" b="1" dirty="0">
                <a:solidFill>
                  <a:srgbClr val="FF0000"/>
                </a:solidFill>
                <a:latin typeface="Times New Roman" panose="02020603050405020304" pitchFamily="18" charset="0"/>
                <a:ea typeface="华文楷体" panose="02010600040101010101" pitchFamily="2" charset="-122"/>
              </a:rPr>
              <a:t>作用域操作符标识</a:t>
            </a:r>
            <a:endParaRPr kumimoji="0" lang="zh-CN" altLang="en-US"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FF0000"/>
                </a:solidFill>
                <a:latin typeface="Times New Roman" panose="02020603050405020304" pitchFamily="18" charset="0"/>
                <a:ea typeface="华文楷体" panose="02010600040101010101" pitchFamily="2" charset="-122"/>
              </a:rPr>
              <a:t>	</a:t>
            </a:r>
            <a:r>
              <a:rPr kumimoji="0" lang="en-US" altLang="zh-CN" sz="2000" b="1" dirty="0">
                <a:solidFill>
                  <a:srgbClr val="FF0000"/>
                </a:solidFill>
                <a:latin typeface="Times New Roman" panose="02020603050405020304" pitchFamily="18" charset="0"/>
                <a:ea typeface="华文楷体" panose="02010600040101010101" pitchFamily="2" charset="-122"/>
              </a:rPr>
              <a:t>d.Base1::fun();	//</a:t>
            </a:r>
            <a:r>
              <a:rPr kumimoji="0" lang="zh-CN" altLang="en-US" sz="2000" b="1" dirty="0">
                <a:solidFill>
                  <a:srgbClr val="FF0000"/>
                </a:solidFill>
                <a:latin typeface="Times New Roman" panose="02020603050405020304" pitchFamily="18" charset="0"/>
                <a:ea typeface="华文楷体" panose="02010600040101010101" pitchFamily="2" charset="-122"/>
              </a:rPr>
              <a:t>访问</a:t>
            </a:r>
            <a:r>
              <a:rPr kumimoji="0" lang="en-US" altLang="zh-CN" sz="2000" b="1" dirty="0">
                <a:solidFill>
                  <a:srgbClr val="FF0000"/>
                </a:solidFill>
                <a:latin typeface="Times New Roman" panose="02020603050405020304" pitchFamily="18" charset="0"/>
                <a:ea typeface="华文楷体" panose="02010600040101010101" pitchFamily="2" charset="-122"/>
              </a:rPr>
              <a:t>Base1</a:t>
            </a:r>
            <a:r>
              <a:rPr kumimoji="0" lang="zh-CN" altLang="en-US" sz="2000" b="1" dirty="0">
                <a:solidFill>
                  <a:srgbClr val="FF0000"/>
                </a:solidFill>
                <a:latin typeface="Times New Roman" panose="02020603050405020304" pitchFamily="18" charset="0"/>
                <a:ea typeface="华文楷体" panose="02010600040101010101" pitchFamily="2" charset="-122"/>
              </a:rPr>
              <a:t>基类成员</a:t>
            </a:r>
            <a:endParaRPr kumimoji="0" lang="zh-CN" altLang="en-US"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endParaRPr kumimoji="0" lang="zh-CN" altLang="en-US" sz="2000" b="1" dirty="0">
              <a:solidFill>
                <a:srgbClr val="0070C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70C0"/>
                </a:solidFill>
                <a:latin typeface="Times New Roman" panose="02020603050405020304" pitchFamily="18" charset="0"/>
                <a:ea typeface="华文楷体" panose="02010600040101010101" pitchFamily="2" charset="-122"/>
              </a:rPr>
              <a:t>	</a:t>
            </a:r>
            <a:r>
              <a:rPr kumimoji="0" lang="en-US" altLang="zh-CN" sz="2000" b="1" dirty="0">
                <a:solidFill>
                  <a:srgbClr val="2F2FC5"/>
                </a:solidFill>
                <a:latin typeface="Times New Roman" panose="02020603050405020304" pitchFamily="18" charset="0"/>
                <a:ea typeface="华文楷体" panose="02010600040101010101" pitchFamily="2" charset="-122"/>
              </a:rPr>
              <a:t>p-&gt;Base2::</a:t>
            </a:r>
            <a:r>
              <a:rPr kumimoji="0" lang="en-US" altLang="zh-CN" sz="2000" b="1" dirty="0" err="1">
                <a:solidFill>
                  <a:srgbClr val="2F2FC5"/>
                </a:solidFill>
                <a:latin typeface="Times New Roman" panose="02020603050405020304" pitchFamily="18" charset="0"/>
                <a:ea typeface="华文楷体" panose="02010600040101010101" pitchFamily="2" charset="-122"/>
              </a:rPr>
              <a:t>var</a:t>
            </a:r>
            <a:r>
              <a:rPr kumimoji="0" lang="en-US" altLang="zh-CN" sz="2000" b="1" dirty="0">
                <a:solidFill>
                  <a:srgbClr val="2F2FC5"/>
                </a:solidFill>
                <a:latin typeface="Times New Roman" panose="02020603050405020304" pitchFamily="18" charset="0"/>
                <a:ea typeface="华文楷体" panose="02010600040101010101" pitchFamily="2" charset="-122"/>
              </a:rPr>
              <a:t> = 3;	//</a:t>
            </a:r>
            <a:r>
              <a:rPr kumimoji="0" lang="zh-CN" altLang="en-US" sz="2000" b="1" dirty="0">
                <a:solidFill>
                  <a:srgbClr val="2F2FC5"/>
                </a:solidFill>
                <a:latin typeface="Times New Roman" panose="02020603050405020304" pitchFamily="18" charset="0"/>
                <a:ea typeface="华文楷体" panose="02010600040101010101" pitchFamily="2" charset="-122"/>
              </a:rPr>
              <a:t>作用域操作符标识</a:t>
            </a:r>
            <a:endParaRPr kumimoji="0" lang="zh-CN" altLang="en-US" sz="2000" b="1" dirty="0">
              <a:solidFill>
                <a:srgbClr val="2F2FC5"/>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2F2FC5"/>
                </a:solidFill>
                <a:latin typeface="Times New Roman" panose="02020603050405020304" pitchFamily="18" charset="0"/>
                <a:ea typeface="华文楷体" panose="02010600040101010101" pitchFamily="2" charset="-122"/>
              </a:rPr>
              <a:t>	</a:t>
            </a:r>
            <a:r>
              <a:rPr kumimoji="0" lang="en-US" altLang="zh-CN" sz="2000" b="1" dirty="0">
                <a:solidFill>
                  <a:srgbClr val="2F2FC5"/>
                </a:solidFill>
                <a:latin typeface="Times New Roman" panose="02020603050405020304" pitchFamily="18" charset="0"/>
                <a:ea typeface="华文楷体" panose="02010600040101010101" pitchFamily="2" charset="-122"/>
              </a:rPr>
              <a:t>p-&gt;Base2::fun();	//</a:t>
            </a:r>
            <a:r>
              <a:rPr kumimoji="0" lang="zh-CN" altLang="en-US" sz="2000" b="1" dirty="0">
                <a:solidFill>
                  <a:srgbClr val="2F2FC5"/>
                </a:solidFill>
                <a:latin typeface="Times New Roman" panose="02020603050405020304" pitchFamily="18" charset="0"/>
                <a:ea typeface="华文楷体" panose="02010600040101010101" pitchFamily="2" charset="-122"/>
              </a:rPr>
              <a:t>访问</a:t>
            </a:r>
            <a:r>
              <a:rPr kumimoji="0" lang="en-US" altLang="zh-CN" sz="2000" b="1" dirty="0">
                <a:solidFill>
                  <a:srgbClr val="2F2FC5"/>
                </a:solidFill>
                <a:latin typeface="Times New Roman" panose="02020603050405020304" pitchFamily="18" charset="0"/>
                <a:ea typeface="华文楷体" panose="02010600040101010101" pitchFamily="2" charset="-122"/>
              </a:rPr>
              <a:t>Base2</a:t>
            </a:r>
            <a:r>
              <a:rPr kumimoji="0" lang="zh-CN" altLang="en-US" sz="2000" b="1" dirty="0">
                <a:solidFill>
                  <a:srgbClr val="2F2FC5"/>
                </a:solidFill>
                <a:latin typeface="Times New Roman" panose="02020603050405020304" pitchFamily="18" charset="0"/>
                <a:ea typeface="华文楷体" panose="02010600040101010101" pitchFamily="2" charset="-122"/>
              </a:rPr>
              <a:t>基类成员</a:t>
            </a:r>
            <a:endParaRPr kumimoji="0" lang="zh-CN" altLang="en-US" sz="2000" b="1" dirty="0">
              <a:solidFill>
                <a:srgbClr val="2F2FC5"/>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return 0;</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二义性问题</a:t>
            </a:r>
            <a:endParaRPr lang="zh-CN" altLang="en-US" sz="4400" b="1">
              <a:latin typeface="Times New Roman" panose="02020603050405020304" pitchFamily="18" charset="0"/>
              <a:ea typeface="隶书" panose="02010509060101010101" pitchFamily="49" charset="-122"/>
            </a:endParaRPr>
          </a:p>
        </p:txBody>
      </p:sp>
      <p:sp>
        <p:nvSpPr>
          <p:cNvPr id="60419" name="内容占位符 2"/>
          <p:cNvSpPr>
            <a:spLocks noGrp="1"/>
          </p:cNvSpPr>
          <p:nvPr>
            <p:ph idx="1"/>
          </p:nvPr>
        </p:nvSpPr>
        <p:spPr/>
        <p:txBody>
          <a:bodyPr/>
          <a:lstStyle/>
          <a:p>
            <a:pPr>
              <a:lnSpc>
                <a:spcPct val="150000"/>
              </a:lnSpc>
              <a:spcAft>
                <a:spcPct val="25000"/>
              </a:spcAft>
            </a:pPr>
            <a:r>
              <a:rPr lang="zh-CN" altLang="en-US" sz="2400" b="1">
                <a:ea typeface="华文楷体" panose="02010600040101010101" pitchFamily="2" charset="-122"/>
              </a:rPr>
              <a:t>当派生类从多个基类派生，而这些基类又从同一个基类派生，则在访问此共同基类中的成员时，将产生二义性</a:t>
            </a:r>
            <a:r>
              <a:rPr lang="en-US" altLang="zh-CN" sz="2400" b="1">
                <a:ea typeface="华文楷体" panose="02010600040101010101" pitchFamily="2" charset="-122"/>
              </a:rPr>
              <a:t>——</a:t>
            </a:r>
            <a:r>
              <a:rPr lang="zh-CN" altLang="en-US" sz="2400" b="1">
                <a:ea typeface="华文楷体" panose="02010600040101010101" pitchFamily="2" charset="-122"/>
              </a:rPr>
              <a:t>采用虚基类来解决。</a:t>
            </a:r>
            <a:endParaRPr lang="zh-CN" altLang="en-US" sz="2400" b="1">
              <a:ea typeface="华文楷体" panose="02010600040101010101" pitchFamily="2" charset="-122"/>
            </a:endParaRPr>
          </a:p>
          <a:p>
            <a:pPr>
              <a:lnSpc>
                <a:spcPct val="150000"/>
              </a:lnSpc>
              <a:spcAft>
                <a:spcPct val="25000"/>
              </a:spcAft>
            </a:pPr>
            <a:r>
              <a:rPr lang="zh-CN" altLang="en-US" sz="2400" b="1">
                <a:ea typeface="华文楷体" panose="02010600040101010101" pitchFamily="2" charset="-122"/>
              </a:rPr>
              <a:t>在多继承时，基类与派生类之间，或基类之间出现同名成员时，将出现访问时的二义性（不确定性）</a:t>
            </a:r>
            <a:r>
              <a:rPr lang="en-US" altLang="zh-CN" sz="2400" b="1">
                <a:ea typeface="华文楷体" panose="02010600040101010101" pitchFamily="2" charset="-122"/>
              </a:rPr>
              <a:t>——</a:t>
            </a:r>
            <a:r>
              <a:rPr lang="zh-CN" altLang="en-US" sz="2400" b="1">
                <a:ea typeface="华文楷体" panose="02010600040101010101" pitchFamily="2" charset="-122"/>
              </a:rPr>
              <a:t>采用虚函数（参见第</a:t>
            </a:r>
            <a:r>
              <a:rPr lang="en-US" altLang="zh-CN" sz="2400" b="1">
                <a:ea typeface="华文楷体" panose="02010600040101010101" pitchFamily="2" charset="-122"/>
              </a:rPr>
              <a:t>8</a:t>
            </a:r>
            <a:r>
              <a:rPr lang="zh-CN" altLang="en-US" sz="2400" b="1">
                <a:ea typeface="华文楷体" panose="02010600040101010101" pitchFamily="2" charset="-122"/>
              </a:rPr>
              <a:t>章）或同名隐藏来解决。</a:t>
            </a:r>
            <a:endParaRPr lang="zh-CN" altLang="en-US" sz="2400" b="1">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二义性问题举例</a:t>
            </a:r>
            <a:endParaRPr lang="zh-CN" altLang="en-US" sz="4400" b="1">
              <a:latin typeface="Times New Roman" panose="02020603050405020304" pitchFamily="18" charset="0"/>
              <a:ea typeface="隶书" panose="02010509060101010101" pitchFamily="49" charset="-122"/>
            </a:endParaRPr>
          </a:p>
        </p:txBody>
      </p:sp>
      <p:sp>
        <p:nvSpPr>
          <p:cNvPr id="61443" name="内容占位符 2"/>
          <p:cNvSpPr>
            <a:spLocks noGrp="1"/>
          </p:cNvSpPr>
          <p:nvPr>
            <p:ph sz="half" idx="1"/>
          </p:nvPr>
        </p:nvSpPr>
        <p:spPr>
          <a:xfrm>
            <a:off x="457200" y="1484313"/>
            <a:ext cx="4038600" cy="2862322"/>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A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FF0000"/>
                </a:solidFill>
                <a:latin typeface="Times New Roman" panose="02020603050405020304" pitchFamily="18" charset="0"/>
                <a:ea typeface="华文楷体" panose="02010600040101010101" pitchFamily="2" charset="-122"/>
              </a:rPr>
              <a:t>	void  f();</a:t>
            </a:r>
            <a:endParaRPr kumimoji="0" lang="en-US" altLang="zh-CN"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B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FF0000"/>
                </a:solidFill>
                <a:latin typeface="Times New Roman" panose="02020603050405020304" pitchFamily="18" charset="0"/>
                <a:ea typeface="华文楷体" panose="02010600040101010101" pitchFamily="2" charset="-122"/>
              </a:rPr>
              <a:t>void f();</a:t>
            </a:r>
            <a:endParaRPr kumimoji="0" lang="en-US" altLang="zh-CN"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2F2FC5"/>
                </a:solidFill>
                <a:latin typeface="Times New Roman" panose="02020603050405020304" pitchFamily="18" charset="0"/>
                <a:ea typeface="华文楷体" panose="02010600040101010101" pitchFamily="2" charset="-122"/>
              </a:rPr>
              <a:t>void g()</a:t>
            </a:r>
            <a:endParaRPr kumimoji="0" lang="en-US" altLang="zh-CN" sz="2000" b="1" dirty="0">
              <a:solidFill>
                <a:srgbClr val="2F2FC5"/>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61444" name="内容占位符 3"/>
          <p:cNvSpPr>
            <a:spLocks noGrp="1"/>
          </p:cNvSpPr>
          <p:nvPr>
            <p:ph sz="half" idx="2"/>
          </p:nvPr>
        </p:nvSpPr>
        <p:spPr>
          <a:xfrm>
            <a:off x="4648200" y="1484313"/>
            <a:ext cx="4038600" cy="2862322"/>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C: public A, </a:t>
            </a:r>
            <a:r>
              <a:rPr kumimoji="0" lang="en-US" altLang="zh-CN" sz="2000" b="1" dirty="0" smtClean="0">
                <a:solidFill>
                  <a:srgbClr val="000000"/>
                </a:solidFill>
                <a:latin typeface="Times New Roman" panose="02020603050405020304" pitchFamily="18" charset="0"/>
                <a:ea typeface="华文楷体" panose="02010600040101010101" pitchFamily="2" charset="-122"/>
              </a:rPr>
              <a:t>public </a:t>
            </a:r>
            <a:r>
              <a:rPr kumimoji="0" lang="en-US" altLang="zh-CN" sz="2000" b="1" dirty="0">
                <a:solidFill>
                  <a:srgbClr val="000000"/>
                </a:solidFill>
                <a:latin typeface="Times New Roman" panose="02020603050405020304" pitchFamily="18" charset="0"/>
                <a:ea typeface="华文楷体" panose="02010600040101010101" pitchFamily="2" charset="-122"/>
              </a:rPr>
              <a:t>B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2F2FC5"/>
                </a:solidFill>
                <a:latin typeface="Times New Roman" panose="02020603050405020304" pitchFamily="18" charset="0"/>
                <a:ea typeface="华文楷体" panose="02010600040101010101" pitchFamily="2" charset="-122"/>
              </a:rPr>
              <a:t>	void g();</a:t>
            </a:r>
            <a:endParaRPr kumimoji="0" lang="en-US" altLang="zh-CN" sz="2000" b="1" dirty="0">
              <a:solidFill>
                <a:srgbClr val="2F2FC5"/>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h();</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如果定义：</a:t>
            </a:r>
            <a:r>
              <a:rPr kumimoji="0" lang="en-US" altLang="zh-CN" sz="2000" b="1" dirty="0">
                <a:solidFill>
                  <a:srgbClr val="000000"/>
                </a:solidFill>
                <a:latin typeface="Times New Roman" panose="02020603050405020304" pitchFamily="18" charset="0"/>
                <a:ea typeface="华文楷体" panose="02010600040101010101" pitchFamily="2" charset="-122"/>
              </a:rPr>
              <a:t>C  c1;</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FF0000"/>
                </a:solidFill>
                <a:latin typeface="Times New Roman" panose="02020603050405020304" pitchFamily="18" charset="0"/>
                <a:ea typeface="华文楷体" panose="02010600040101010101" pitchFamily="2" charset="-122"/>
              </a:rPr>
              <a:t>则 </a:t>
            </a:r>
            <a:r>
              <a:rPr kumimoji="0" lang="en-US" altLang="zh-CN" sz="2000" b="1" dirty="0">
                <a:solidFill>
                  <a:srgbClr val="FF0000"/>
                </a:solidFill>
                <a:latin typeface="Times New Roman" panose="02020603050405020304" pitchFamily="18" charset="0"/>
                <a:ea typeface="华文楷体" panose="02010600040101010101" pitchFamily="2" charset="-122"/>
              </a:rPr>
              <a:t>c1.f() </a:t>
            </a:r>
            <a:r>
              <a:rPr kumimoji="0" lang="zh-CN" altLang="en-US" sz="2000" b="1" dirty="0">
                <a:solidFill>
                  <a:srgbClr val="FF0000"/>
                </a:solidFill>
                <a:latin typeface="Times New Roman" panose="02020603050405020304" pitchFamily="18" charset="0"/>
                <a:ea typeface="华文楷体" panose="02010600040101010101" pitchFamily="2" charset="-122"/>
              </a:rPr>
              <a:t>具有二义性</a:t>
            </a:r>
            <a:endParaRPr kumimoji="0" lang="zh-CN" altLang="en-US"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2F2FC5"/>
                </a:solidFill>
                <a:latin typeface="Times New Roman" panose="02020603050405020304" pitchFamily="18" charset="0"/>
                <a:ea typeface="华文楷体" panose="02010600040101010101" pitchFamily="2" charset="-122"/>
              </a:rPr>
              <a:t>而 </a:t>
            </a:r>
            <a:r>
              <a:rPr kumimoji="0" lang="en-US" altLang="zh-CN" sz="2000" b="1" dirty="0">
                <a:solidFill>
                  <a:srgbClr val="2F2FC5"/>
                </a:solidFill>
                <a:latin typeface="Times New Roman" panose="02020603050405020304" pitchFamily="18" charset="0"/>
                <a:ea typeface="华文楷体" panose="02010600040101010101" pitchFamily="2" charset="-122"/>
              </a:rPr>
              <a:t>c1.g() </a:t>
            </a:r>
            <a:r>
              <a:rPr kumimoji="0" lang="zh-CN" altLang="en-US" sz="2000" b="1" dirty="0">
                <a:solidFill>
                  <a:srgbClr val="2F2FC5"/>
                </a:solidFill>
                <a:latin typeface="Times New Roman" panose="02020603050405020304" pitchFamily="18" charset="0"/>
                <a:ea typeface="华文楷体" panose="02010600040101010101" pitchFamily="2" charset="-122"/>
              </a:rPr>
              <a:t>无二义性（同名隐藏）</a:t>
            </a:r>
            <a:endParaRPr kumimoji="0" lang="zh-CN" altLang="en-US" sz="2000" b="1" dirty="0">
              <a:solidFill>
                <a:srgbClr val="2F2FC5"/>
              </a:solidFill>
              <a:latin typeface="Times New Roman" panose="02020603050405020304" pitchFamily="18" charset="0"/>
              <a:ea typeface="华文楷体" panose="02010600040101010101" pitchFamily="2" charset="-122"/>
            </a:endParaRPr>
          </a:p>
        </p:txBody>
      </p:sp>
      <p:sp>
        <p:nvSpPr>
          <p:cNvPr id="61446" name="Line 5"/>
          <p:cNvSpPr>
            <a:spLocks noChangeShapeType="1"/>
          </p:cNvSpPr>
          <p:nvPr/>
        </p:nvSpPr>
        <p:spPr bwMode="auto">
          <a:xfrm>
            <a:off x="4572000" y="1700213"/>
            <a:ext cx="0" cy="3024187"/>
          </a:xfrm>
          <a:prstGeom prst="line">
            <a:avLst/>
          </a:prstGeom>
          <a:noFill/>
          <a:ln w="9525">
            <a:solidFill>
              <a:schemeClr val="tx1"/>
            </a:solidFill>
            <a:prstDash val="dashDot"/>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内容占位符 2"/>
          <p:cNvSpPr txBox="1"/>
          <p:nvPr/>
        </p:nvSpPr>
        <p:spPr bwMode="auto">
          <a:xfrm>
            <a:off x="487760" y="4509120"/>
            <a:ext cx="8218488" cy="1944688"/>
          </a:xfrm>
          <a:prstGeom prst="rect">
            <a:avLst/>
          </a:prstGeom>
        </p:spPr>
        <p:txBody>
          <a:bodyPr/>
          <a:lstStyle>
            <a:lvl1pPr marL="342900" indent="-342900" algn="l">
              <a:spcBef>
                <a:spcPct val="20000"/>
              </a:spcBef>
              <a:spcAft>
                <a:spcPct val="25000"/>
              </a:spcAft>
              <a:buClr>
                <a:schemeClr val="tx2"/>
              </a:buClr>
              <a:buSzPct val="75000"/>
              <a:buFont typeface="Monotype Sorts" pitchFamily="2" charset="2"/>
              <a:buChar char="u"/>
              <a:defRPr b="1">
                <a:solidFill>
                  <a:srgbClr val="FFFF00"/>
                </a:solidFill>
                <a:latin typeface="+mn-lt"/>
                <a:ea typeface="华文楷体" panose="02010600040101010101" pitchFamily="2" charset="-122"/>
              </a:defRPr>
            </a:lvl1pPr>
            <a:lvl2pPr marL="742950" lvl="1" indent="-285750" algn="l">
              <a:spcBef>
                <a:spcPct val="20000"/>
              </a:spcBef>
              <a:buClr>
                <a:schemeClr val="tx1"/>
              </a:buClr>
              <a:buSzPct val="75000"/>
              <a:buFont typeface="Wingdings" panose="05000000000000000000" pitchFamily="2" charset="2"/>
              <a:buChar char="ü"/>
              <a:defRPr b="1">
                <a:latin typeface="+mn-lt"/>
                <a:ea typeface="华文楷体" panose="02010600040101010101" pitchFamily="2" charset="-122"/>
              </a:defRPr>
            </a:lvl2pPr>
            <a:lvl3pPr marL="1143000" indent="-228600" algn="l">
              <a:spcBef>
                <a:spcPct val="20000"/>
              </a:spcBef>
              <a:buClr>
                <a:schemeClr val="tx2"/>
              </a:buClr>
              <a:buSzPct val="62000"/>
              <a:buFont typeface="Monotype Sorts" pitchFamily="2" charset="2"/>
              <a:buChar char="u"/>
              <a:defRPr>
                <a:latin typeface="+mn-lt"/>
                <a:ea typeface="+mn-ea"/>
              </a:defRPr>
            </a:lvl3pPr>
            <a:lvl4pPr marL="1600200" indent="-228600" algn="l">
              <a:spcBef>
                <a:spcPct val="20000"/>
              </a:spcBef>
              <a:buClr>
                <a:schemeClr val="tx1"/>
              </a:buClr>
              <a:buSzPct val="62000"/>
              <a:buFont typeface="Monotype Sorts" pitchFamily="2" charset="2"/>
              <a:buChar char="u"/>
              <a:defRPr sz="2000">
                <a:latin typeface="+mn-lt"/>
                <a:ea typeface="+mn-ea"/>
              </a:defRPr>
            </a:lvl4pPr>
            <a:lvl5pPr marL="2057400" indent="-228600" algn="l">
              <a:spcBef>
                <a:spcPct val="20000"/>
              </a:spcBef>
              <a:buClr>
                <a:schemeClr val="tx2"/>
              </a:buClr>
              <a:buSzPct val="62000"/>
              <a:buFont typeface="Monotype Sorts" pitchFamily="2" charset="2"/>
              <a:buChar char="u"/>
              <a:defRPr sz="2000">
                <a:latin typeface="+mn-lt"/>
                <a:ea typeface="+mn-ea"/>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r>
              <a:rPr lang="zh-CN" altLang="en-US" dirty="0"/>
              <a:t>解决方法一：用类名来限定</a:t>
            </a:r>
            <a:br>
              <a:rPr lang="zh-CN" altLang="en-US" dirty="0"/>
            </a:br>
            <a:r>
              <a:rPr lang="en-US" altLang="zh-CN" dirty="0"/>
              <a:t>c1.A::f()    </a:t>
            </a:r>
            <a:r>
              <a:rPr lang="zh-CN" altLang="en-US" dirty="0"/>
              <a:t>或    </a:t>
            </a:r>
            <a:r>
              <a:rPr lang="en-US" altLang="zh-CN" dirty="0"/>
              <a:t>c1.B::f()</a:t>
            </a:r>
            <a:endParaRPr lang="en-US" altLang="zh-CN" dirty="0"/>
          </a:p>
          <a:p>
            <a:r>
              <a:rPr lang="zh-CN" altLang="en-US" dirty="0"/>
              <a:t>解决方法二：同名隐藏</a:t>
            </a:r>
            <a:br>
              <a:rPr lang="zh-CN" altLang="en-US" dirty="0"/>
            </a:br>
            <a:r>
              <a:rPr lang="zh-CN" altLang="en-US" dirty="0"/>
              <a:t>在</a:t>
            </a:r>
            <a:r>
              <a:rPr lang="en-US" altLang="zh-CN" dirty="0"/>
              <a:t>C </a:t>
            </a:r>
            <a:r>
              <a:rPr lang="zh-CN" altLang="en-US" dirty="0"/>
              <a:t>中声明一个同名成员函数</a:t>
            </a:r>
            <a:r>
              <a:rPr lang="en-US" altLang="zh-CN" dirty="0"/>
              <a:t>f()</a:t>
            </a:r>
            <a:r>
              <a:rPr lang="zh-CN" altLang="en-US" dirty="0"/>
              <a:t>，</a:t>
            </a:r>
            <a:r>
              <a:rPr lang="en-US" altLang="zh-CN" dirty="0"/>
              <a:t>f()</a:t>
            </a:r>
            <a:r>
              <a:rPr lang="zh-CN" altLang="en-US" dirty="0"/>
              <a:t>再根据需要调用  </a:t>
            </a:r>
            <a:r>
              <a:rPr lang="en-US" altLang="zh-CN" dirty="0"/>
              <a:t>A::f()    </a:t>
            </a:r>
            <a:r>
              <a:rPr lang="zh-CN" altLang="en-US" dirty="0"/>
              <a:t>或    </a:t>
            </a:r>
            <a:r>
              <a:rPr lang="en-US" altLang="zh-CN" dirty="0"/>
              <a:t>B::f()</a:t>
            </a:r>
            <a:endParaRPr lang="en-US" altLang="zh-CN" dirty="0"/>
          </a:p>
        </p:txBody>
      </p:sp>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p:cNvSpPr>
          <p:nvPr>
            <p:ph type="title"/>
          </p:nvPr>
        </p:nvSpPr>
        <p:spPr/>
        <p:txBody>
          <a:bodyPr/>
          <a:lstStyle/>
          <a:p>
            <a:r>
              <a:rPr lang="zh-CN" altLang="en-US" b="1" dirty="0" smtClean="0"/>
              <a:t>例</a:t>
            </a:r>
            <a:r>
              <a:rPr lang="en-US" altLang="zh-CN" b="1" dirty="0" smtClean="0"/>
              <a:t>7-7  </a:t>
            </a:r>
            <a:r>
              <a:rPr lang="zh-CN" altLang="en-US" b="1" dirty="0" smtClean="0"/>
              <a:t>多继承同名隐藏举例</a:t>
            </a:r>
            <a:endParaRPr lang="zh-CN" altLang="en-US" b="1" dirty="0" smtClean="0"/>
          </a:p>
        </p:txBody>
      </p:sp>
      <p:sp>
        <p:nvSpPr>
          <p:cNvPr id="62467" name="内容占位符 2"/>
          <p:cNvSpPr>
            <a:spLocks noGrp="1"/>
          </p:cNvSpPr>
          <p:nvPr>
            <p:ph idx="1"/>
          </p:nvPr>
        </p:nvSpPr>
        <p:spPr>
          <a:xfrm>
            <a:off x="467544" y="1268760"/>
            <a:ext cx="8229600" cy="5324535"/>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//7_7.cpp</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&lt;</a:t>
            </a:r>
            <a:r>
              <a:rPr kumimoji="0" lang="en-US" altLang="zh-CN" sz="2000" b="1" dirty="0" err="1">
                <a:solidFill>
                  <a:srgbClr val="000000"/>
                </a:solidFill>
                <a:latin typeface="Times New Roman" panose="02020603050405020304" pitchFamily="18" charset="0"/>
                <a:ea typeface="华文楷体" panose="02010600040101010101" pitchFamily="2" charset="-122"/>
              </a:rPr>
              <a:t>iostream</a:t>
            </a:r>
            <a:r>
              <a:rPr kumimoji="0" lang="en-US" altLang="zh-CN" sz="2000" b="1" dirty="0">
                <a:solidFill>
                  <a:srgbClr val="000000"/>
                </a:solidFill>
                <a:latin typeface="Times New Roman" panose="02020603050405020304" pitchFamily="18" charset="0"/>
                <a:ea typeface="华文楷体" panose="02010600040101010101" pitchFamily="2" charset="-122"/>
              </a:rPr>
              <a:t>&gt;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using namespace </a:t>
            </a:r>
            <a:r>
              <a:rPr kumimoji="0" lang="en-US" altLang="zh-CN" sz="2000" b="1" dirty="0" err="1">
                <a:solidFill>
                  <a:srgbClr val="000000"/>
                </a:solidFill>
                <a:latin typeface="Times New Roman" panose="02020603050405020304" pitchFamily="18" charset="0"/>
                <a:ea typeface="华文楷体" panose="02010600040101010101" pitchFamily="2" charset="-122"/>
              </a:rPr>
              <a:t>std</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Base0 {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定义基类</a:t>
            </a:r>
            <a:r>
              <a:rPr kumimoji="0" lang="en-US" altLang="zh-CN" sz="2000" b="1" dirty="0">
                <a:solidFill>
                  <a:srgbClr val="000000"/>
                </a:solidFill>
                <a:latin typeface="Times New Roman" panose="02020603050405020304" pitchFamily="18" charset="0"/>
                <a:ea typeface="华文楷体" panose="02010600040101010101" pitchFamily="2" charset="-122"/>
              </a:rPr>
              <a:t>Base0</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var0;</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fun0() {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"Member of Base0"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Base1: public Base0 {	//</a:t>
            </a:r>
            <a:r>
              <a:rPr kumimoji="0" lang="zh-CN" altLang="en-US" sz="2000" b="1" dirty="0">
                <a:solidFill>
                  <a:srgbClr val="000000"/>
                </a:solidFill>
                <a:latin typeface="Times New Roman" panose="02020603050405020304" pitchFamily="18" charset="0"/>
                <a:ea typeface="华文楷体" panose="02010600040101010101" pitchFamily="2" charset="-122"/>
              </a:rPr>
              <a:t>定义派生类</a:t>
            </a:r>
            <a:r>
              <a:rPr kumimoji="0" lang="en-US" altLang="zh-CN" sz="2000" b="1" dirty="0">
                <a:solidFill>
                  <a:srgbClr val="000000"/>
                </a:solidFill>
                <a:latin typeface="Times New Roman" panose="02020603050405020304" pitchFamily="18" charset="0"/>
                <a:ea typeface="华文楷体" panose="02010600040101010101" pitchFamily="2" charset="-122"/>
              </a:rPr>
              <a:t>Base1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新增外部接口</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var1;</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Base2: public Base0 {	//</a:t>
            </a:r>
            <a:r>
              <a:rPr kumimoji="0" lang="zh-CN" altLang="en-US" sz="2000" b="1" dirty="0">
                <a:solidFill>
                  <a:srgbClr val="000000"/>
                </a:solidFill>
                <a:latin typeface="Times New Roman" panose="02020603050405020304" pitchFamily="18" charset="0"/>
                <a:ea typeface="华文楷体" panose="02010600040101010101" pitchFamily="2" charset="-122"/>
              </a:rPr>
              <a:t>定义派生类</a:t>
            </a:r>
            <a:r>
              <a:rPr kumimoji="0" lang="en-US" altLang="zh-CN" sz="2000" b="1" dirty="0">
                <a:solidFill>
                  <a:srgbClr val="000000"/>
                </a:solidFill>
                <a:latin typeface="Times New Roman" panose="02020603050405020304" pitchFamily="18" charset="0"/>
                <a:ea typeface="华文楷体" panose="02010600040101010101" pitchFamily="2" charset="-122"/>
              </a:rPr>
              <a:t>Base2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	//</a:t>
            </a:r>
            <a:r>
              <a:rPr kumimoji="0" lang="zh-CN" altLang="en-US" sz="2000" b="1" dirty="0">
                <a:solidFill>
                  <a:srgbClr val="000000"/>
                </a:solidFill>
                <a:latin typeface="Times New Roman" panose="02020603050405020304" pitchFamily="18" charset="0"/>
                <a:ea typeface="华文楷体" panose="02010600040101010101" pitchFamily="2" charset="-122"/>
              </a:rPr>
              <a:t>新增外部接口</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var2;</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zh-CN" altLang="en-US"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a:lstStyle/>
          <a:p>
            <a:r>
              <a:rPr lang="zh-CN" altLang="en-US" b="1"/>
              <a:t>例</a:t>
            </a:r>
            <a:r>
              <a:rPr lang="en-US" altLang="zh-CN" b="1"/>
              <a:t>7-7</a:t>
            </a:r>
            <a:r>
              <a:rPr lang="zh-CN" altLang="en-US" b="1"/>
              <a:t>（续）</a:t>
            </a:r>
            <a:endParaRPr lang="zh-CN" altLang="en-US" b="1"/>
          </a:p>
        </p:txBody>
      </p:sp>
      <p:sp>
        <p:nvSpPr>
          <p:cNvPr id="63491" name="内容占位符 2"/>
          <p:cNvSpPr>
            <a:spLocks noGrp="1"/>
          </p:cNvSpPr>
          <p:nvPr>
            <p:ph idx="1"/>
          </p:nvPr>
        </p:nvSpPr>
        <p:spPr>
          <a:xfrm>
            <a:off x="142875" y="1643063"/>
            <a:ext cx="8786813" cy="5016758"/>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Derived: public Base1, public Base2 {//</a:t>
            </a:r>
            <a:r>
              <a:rPr kumimoji="0" lang="zh-CN" altLang="en-US" sz="2000" b="1" dirty="0">
                <a:solidFill>
                  <a:srgbClr val="000000"/>
                </a:solidFill>
                <a:latin typeface="Times New Roman" panose="02020603050405020304" pitchFamily="18" charset="0"/>
                <a:ea typeface="华文楷体" panose="02010600040101010101" pitchFamily="2" charset="-122"/>
              </a:rPr>
              <a:t>定义派生类</a:t>
            </a:r>
            <a:r>
              <a:rPr kumimoji="0" lang="en-US" altLang="zh-CN" sz="2000" b="1" dirty="0">
                <a:solidFill>
                  <a:srgbClr val="000000"/>
                </a:solidFill>
                <a:latin typeface="Times New Roman" panose="02020603050405020304" pitchFamily="18" charset="0"/>
                <a:ea typeface="华文楷体" panose="02010600040101010101" pitchFamily="2" charset="-122"/>
              </a:rPr>
              <a:t>Derived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新增外部接口</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var</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fun() {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"Member of Derived"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main() {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程序主函数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Derived d;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定义</a:t>
            </a:r>
            <a:r>
              <a:rPr kumimoji="0" lang="en-US" altLang="zh-CN" sz="2000" b="1" dirty="0">
                <a:solidFill>
                  <a:srgbClr val="000000"/>
                </a:solidFill>
                <a:latin typeface="Times New Roman" panose="02020603050405020304" pitchFamily="18" charset="0"/>
                <a:ea typeface="华文楷体" panose="02010600040101010101" pitchFamily="2" charset="-122"/>
              </a:rPr>
              <a:t>Derived</a:t>
            </a:r>
            <a:r>
              <a:rPr kumimoji="0" lang="zh-CN" altLang="en-US" sz="2000" b="1" dirty="0">
                <a:solidFill>
                  <a:srgbClr val="000000"/>
                </a:solidFill>
                <a:latin typeface="Times New Roman" panose="02020603050405020304" pitchFamily="18" charset="0"/>
                <a:ea typeface="华文楷体" panose="02010600040101010101" pitchFamily="2" charset="-122"/>
              </a:rPr>
              <a:t>类对象</a:t>
            </a:r>
            <a:r>
              <a:rPr kumimoji="0" lang="en-US" altLang="zh-CN" sz="2000" b="1" dirty="0">
                <a:solidFill>
                  <a:srgbClr val="000000"/>
                </a:solidFill>
                <a:latin typeface="Times New Roman" panose="02020603050405020304" pitchFamily="18" charset="0"/>
                <a:ea typeface="华文楷体" panose="02010600040101010101" pitchFamily="2" charset="-122"/>
              </a:rPr>
              <a:t>d</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smtClean="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FF0000"/>
                </a:solidFill>
                <a:latin typeface="Times New Roman" panose="02020603050405020304" pitchFamily="18" charset="0"/>
                <a:ea typeface="华文楷体" panose="02010600040101010101" pitchFamily="2" charset="-122"/>
              </a:rPr>
              <a:t>d.Base1</a:t>
            </a:r>
            <a:r>
              <a:rPr kumimoji="0" lang="en-US" altLang="zh-CN" sz="2000" b="1" dirty="0">
                <a:solidFill>
                  <a:srgbClr val="FF0000"/>
                </a:solidFill>
                <a:latin typeface="Times New Roman" panose="02020603050405020304" pitchFamily="18" charset="0"/>
                <a:ea typeface="华文楷体" panose="02010600040101010101" pitchFamily="2" charset="-122"/>
              </a:rPr>
              <a:t>::var0 = 2;	</a:t>
            </a:r>
            <a:r>
              <a:rPr kumimoji="0" lang="en-US" altLang="zh-CN" sz="2000" b="1" dirty="0" smtClean="0">
                <a:solidFill>
                  <a:srgbClr val="FF0000"/>
                </a:solidFill>
                <a:latin typeface="Times New Roman" panose="02020603050405020304" pitchFamily="18" charset="0"/>
                <a:ea typeface="华文楷体" panose="02010600040101010101" pitchFamily="2" charset="-122"/>
              </a:rPr>
              <a:t>		//</a:t>
            </a:r>
            <a:r>
              <a:rPr kumimoji="0" lang="zh-CN" altLang="en-US" sz="2000" b="1" dirty="0">
                <a:solidFill>
                  <a:srgbClr val="FF0000"/>
                </a:solidFill>
                <a:latin typeface="Times New Roman" panose="02020603050405020304" pitchFamily="18" charset="0"/>
                <a:ea typeface="华文楷体" panose="02010600040101010101" pitchFamily="2" charset="-122"/>
              </a:rPr>
              <a:t>使用直接基类</a:t>
            </a:r>
            <a:endParaRPr kumimoji="0" lang="zh-CN" altLang="en-US"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FF0000"/>
                </a:solidFill>
                <a:latin typeface="Times New Roman" panose="02020603050405020304" pitchFamily="18" charset="0"/>
                <a:ea typeface="华文楷体" panose="02010600040101010101" pitchFamily="2" charset="-122"/>
              </a:rPr>
              <a:t>d.Base1::fun0();</a:t>
            </a:r>
            <a:endParaRPr kumimoji="0" lang="en-US" altLang="zh-CN"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FF0000"/>
                </a:solidFill>
                <a:latin typeface="Times New Roman" panose="02020603050405020304" pitchFamily="18" charset="0"/>
                <a:ea typeface="华文楷体" panose="02010600040101010101" pitchFamily="2" charset="-122"/>
              </a:rPr>
              <a:t>	d.Base2::var0 = 3;	</a:t>
            </a:r>
            <a:r>
              <a:rPr kumimoji="0" lang="en-US" altLang="zh-CN" sz="2000" b="1" dirty="0" smtClean="0">
                <a:solidFill>
                  <a:srgbClr val="FF0000"/>
                </a:solidFill>
                <a:latin typeface="Times New Roman" panose="02020603050405020304" pitchFamily="18" charset="0"/>
                <a:ea typeface="华文楷体" panose="02010600040101010101" pitchFamily="2" charset="-122"/>
              </a:rPr>
              <a:t>		//</a:t>
            </a:r>
            <a:r>
              <a:rPr kumimoji="0" lang="zh-CN" altLang="en-US" sz="2000" b="1" dirty="0">
                <a:solidFill>
                  <a:srgbClr val="FF0000"/>
                </a:solidFill>
                <a:latin typeface="Times New Roman" panose="02020603050405020304" pitchFamily="18" charset="0"/>
                <a:ea typeface="华文楷体" panose="02010600040101010101" pitchFamily="2" charset="-122"/>
              </a:rPr>
              <a:t>使用直接基类</a:t>
            </a:r>
            <a:endParaRPr kumimoji="0" lang="zh-CN" altLang="en-US"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FF0000"/>
                </a:solidFill>
                <a:latin typeface="Times New Roman" panose="02020603050405020304" pitchFamily="18" charset="0"/>
                <a:ea typeface="华文楷体" panose="02010600040101010101" pitchFamily="2" charset="-122"/>
              </a:rPr>
              <a:t>	</a:t>
            </a:r>
            <a:r>
              <a:rPr kumimoji="0" lang="en-US" altLang="zh-CN" sz="2000" b="1" dirty="0">
                <a:solidFill>
                  <a:srgbClr val="FF0000"/>
                </a:solidFill>
                <a:latin typeface="Times New Roman" panose="02020603050405020304" pitchFamily="18" charset="0"/>
                <a:ea typeface="华文楷体" panose="02010600040101010101" pitchFamily="2" charset="-122"/>
              </a:rPr>
              <a:t>d.Base2::fun0</a:t>
            </a:r>
            <a:r>
              <a:rPr kumimoji="0" lang="en-US" altLang="zh-CN" sz="2000" b="1" dirty="0" smtClean="0">
                <a:solidFill>
                  <a:srgbClr val="FF0000"/>
                </a:solidFill>
                <a:latin typeface="Times New Roman" panose="02020603050405020304" pitchFamily="18" charset="0"/>
                <a:ea typeface="华文楷体" panose="02010600040101010101" pitchFamily="2" charset="-122"/>
              </a:rPr>
              <a:t>();</a:t>
            </a:r>
            <a:endParaRPr kumimoji="0" lang="en-US" altLang="zh-CN" sz="2000" b="1" dirty="0" smtClean="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dirty="0">
              <a:solidFill>
                <a:srgbClr val="FF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return 0;</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
          <p:cNvSpPr>
            <a:spLocks noGrp="1" noChangeArrowheads="1"/>
          </p:cNvSpPr>
          <p:nvPr>
            <p:ph type="body" idx="1"/>
          </p:nvPr>
        </p:nvSpPr>
        <p:spPr>
          <a:xfrm>
            <a:off x="684212" y="404664"/>
            <a:ext cx="7772400" cy="593725"/>
          </a:xfrm>
        </p:spPr>
        <p:txBody>
          <a:bodyPr/>
          <a:lstStyle/>
          <a:p>
            <a:pPr eaLnBrk="1" hangingPunct="1">
              <a:buFont typeface="Wingdings" panose="05000000000000000000" pitchFamily="2" charset="2"/>
              <a:buNone/>
            </a:pPr>
            <a:r>
              <a:rPr lang="zh-CN" altLang="en-US" b="1" dirty="0" smtClean="0">
                <a:solidFill>
                  <a:srgbClr val="FFFF00"/>
                </a:solidFill>
                <a:ea typeface="华文楷体" panose="02010600040101010101" pitchFamily="2" charset="-122"/>
              </a:rPr>
              <a:t>派生类</a:t>
            </a:r>
            <a:r>
              <a:rPr lang="en-US" altLang="zh-CN" b="1" dirty="0" smtClean="0">
                <a:solidFill>
                  <a:srgbClr val="FFFF00"/>
                </a:solidFill>
                <a:ea typeface="华文楷体" panose="02010600040101010101" pitchFamily="2" charset="-122"/>
              </a:rPr>
              <a:t>C</a:t>
            </a:r>
            <a:r>
              <a:rPr lang="zh-CN" altLang="en-US" b="1" dirty="0" smtClean="0">
                <a:solidFill>
                  <a:srgbClr val="FFFF00"/>
                </a:solidFill>
                <a:ea typeface="华文楷体" panose="02010600040101010101" pitchFamily="2" charset="-122"/>
              </a:rPr>
              <a:t>的对象的存储结构示意图：</a:t>
            </a:r>
            <a:endParaRPr lang="zh-CN" altLang="en-US" b="1" dirty="0" smtClean="0">
              <a:solidFill>
                <a:srgbClr val="FFFF00"/>
              </a:solidFill>
              <a:ea typeface="华文楷体" panose="02010600040101010101" pitchFamily="2" charset="-122"/>
            </a:endParaRPr>
          </a:p>
        </p:txBody>
      </p:sp>
      <p:grpSp>
        <p:nvGrpSpPr>
          <p:cNvPr id="64515" name="Group 31"/>
          <p:cNvGrpSpPr/>
          <p:nvPr/>
        </p:nvGrpSpPr>
        <p:grpSpPr bwMode="auto">
          <a:xfrm>
            <a:off x="2406650" y="1143000"/>
            <a:ext cx="6629400" cy="3352800"/>
            <a:chOff x="1008" y="1440"/>
            <a:chExt cx="4176" cy="2112"/>
          </a:xfrm>
        </p:grpSpPr>
        <p:sp>
          <p:nvSpPr>
            <p:cNvPr id="64530" name="Freeform 5"/>
            <p:cNvSpPr/>
            <p:nvPr/>
          </p:nvSpPr>
          <p:spPr bwMode="auto">
            <a:xfrm>
              <a:off x="1008" y="1440"/>
              <a:ext cx="3696" cy="2112"/>
            </a:xfrm>
            <a:custGeom>
              <a:avLst/>
              <a:gdLst>
                <a:gd name="T0" fmla="*/ 3648 w 3696"/>
                <a:gd name="T1" fmla="*/ 0 h 2112"/>
                <a:gd name="T2" fmla="*/ 0 w 3696"/>
                <a:gd name="T3" fmla="*/ 0 h 2112"/>
                <a:gd name="T4" fmla="*/ 0 w 3696"/>
                <a:gd name="T5" fmla="*/ 2112 h 2112"/>
                <a:gd name="T6" fmla="*/ 3696 w 3696"/>
                <a:gd name="T7" fmla="*/ 2112 h 2112"/>
                <a:gd name="T8" fmla="*/ 0 60000 65536"/>
                <a:gd name="T9" fmla="*/ 0 60000 65536"/>
                <a:gd name="T10" fmla="*/ 0 60000 65536"/>
                <a:gd name="T11" fmla="*/ 0 60000 65536"/>
                <a:gd name="T12" fmla="*/ 0 w 3696"/>
                <a:gd name="T13" fmla="*/ 0 h 2112"/>
                <a:gd name="T14" fmla="*/ 3696 w 3696"/>
                <a:gd name="T15" fmla="*/ 2112 h 2112"/>
              </a:gdLst>
              <a:ahLst/>
              <a:cxnLst>
                <a:cxn ang="T8">
                  <a:pos x="T0" y="T1"/>
                </a:cxn>
                <a:cxn ang="T9">
                  <a:pos x="T2" y="T3"/>
                </a:cxn>
                <a:cxn ang="T10">
                  <a:pos x="T4" y="T5"/>
                </a:cxn>
                <a:cxn ang="T11">
                  <a:pos x="T6" y="T7"/>
                </a:cxn>
              </a:cxnLst>
              <a:rect l="T12" t="T13" r="T14" b="T15"/>
              <a:pathLst>
                <a:path w="3696" h="2112">
                  <a:moveTo>
                    <a:pt x="3648" y="0"/>
                  </a:moveTo>
                  <a:lnTo>
                    <a:pt x="0" y="0"/>
                  </a:lnTo>
                  <a:lnTo>
                    <a:pt x="0" y="2112"/>
                  </a:lnTo>
                  <a:lnTo>
                    <a:pt x="3696" y="2112"/>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latin typeface="+mn-lt"/>
                <a:ea typeface="华文楷体" panose="02010600040101010101" pitchFamily="2" charset="-122"/>
              </a:endParaRPr>
            </a:p>
          </p:txBody>
        </p:sp>
        <p:sp>
          <p:nvSpPr>
            <p:cNvPr id="64531" name="Line 8"/>
            <p:cNvSpPr>
              <a:spLocks noChangeShapeType="1"/>
            </p:cNvSpPr>
            <p:nvPr/>
          </p:nvSpPr>
          <p:spPr bwMode="auto">
            <a:xfrm>
              <a:off x="1920" y="1440"/>
              <a:ext cx="0" cy="211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sp>
          <p:nvSpPr>
            <p:cNvPr id="64532" name="Line 9"/>
            <p:cNvSpPr>
              <a:spLocks noChangeShapeType="1"/>
            </p:cNvSpPr>
            <p:nvPr/>
          </p:nvSpPr>
          <p:spPr bwMode="auto">
            <a:xfrm>
              <a:off x="1008" y="3156"/>
              <a:ext cx="297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sp>
          <p:nvSpPr>
            <p:cNvPr id="64533" name="Line 10"/>
            <p:cNvSpPr>
              <a:spLocks noChangeShapeType="1"/>
            </p:cNvSpPr>
            <p:nvPr/>
          </p:nvSpPr>
          <p:spPr bwMode="auto">
            <a:xfrm>
              <a:off x="1008" y="2736"/>
              <a:ext cx="192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sp>
          <p:nvSpPr>
            <p:cNvPr id="64534" name="Line 11"/>
            <p:cNvSpPr>
              <a:spLocks noChangeShapeType="1"/>
            </p:cNvSpPr>
            <p:nvPr/>
          </p:nvSpPr>
          <p:spPr bwMode="auto">
            <a:xfrm>
              <a:off x="1008" y="2304"/>
              <a:ext cx="292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sp>
          <p:nvSpPr>
            <p:cNvPr id="64535" name="Line 12"/>
            <p:cNvSpPr>
              <a:spLocks noChangeShapeType="1"/>
            </p:cNvSpPr>
            <p:nvPr/>
          </p:nvSpPr>
          <p:spPr bwMode="auto">
            <a:xfrm>
              <a:off x="1008" y="1860"/>
              <a:ext cx="192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sp>
          <p:nvSpPr>
            <p:cNvPr id="64536" name="Text Box 13"/>
            <p:cNvSpPr txBox="1">
              <a:spLocks noChangeArrowheads="1"/>
            </p:cNvSpPr>
            <p:nvPr/>
          </p:nvSpPr>
          <p:spPr bwMode="auto">
            <a:xfrm>
              <a:off x="1098" y="1488"/>
              <a:ext cx="68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mn-lt"/>
                  <a:ea typeface="华文楷体" panose="02010600040101010101" pitchFamily="2" charset="-122"/>
                </a:rPr>
                <a:t>var0</a:t>
              </a:r>
              <a:endParaRPr lang="en-US" altLang="zh-CN" b="1">
                <a:latin typeface="+mn-lt"/>
                <a:ea typeface="华文楷体" panose="02010600040101010101" pitchFamily="2" charset="-122"/>
              </a:endParaRPr>
            </a:p>
          </p:txBody>
        </p:sp>
        <p:sp>
          <p:nvSpPr>
            <p:cNvPr id="64537" name="Text Box 14"/>
            <p:cNvSpPr txBox="1">
              <a:spLocks noChangeArrowheads="1"/>
            </p:cNvSpPr>
            <p:nvPr/>
          </p:nvSpPr>
          <p:spPr bwMode="auto">
            <a:xfrm>
              <a:off x="1102" y="1920"/>
              <a:ext cx="72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mn-lt"/>
                  <a:ea typeface="华文楷体" panose="02010600040101010101" pitchFamily="2" charset="-122"/>
                </a:rPr>
                <a:t>var1</a:t>
              </a:r>
              <a:endParaRPr lang="en-US" altLang="zh-CN" b="1">
                <a:latin typeface="+mn-lt"/>
                <a:ea typeface="华文楷体" panose="02010600040101010101" pitchFamily="2" charset="-122"/>
              </a:endParaRPr>
            </a:p>
          </p:txBody>
        </p:sp>
        <p:sp>
          <p:nvSpPr>
            <p:cNvPr id="64538" name="Text Box 15"/>
            <p:cNvSpPr txBox="1">
              <a:spLocks noChangeArrowheads="1"/>
            </p:cNvSpPr>
            <p:nvPr/>
          </p:nvSpPr>
          <p:spPr bwMode="auto">
            <a:xfrm>
              <a:off x="1103" y="2352"/>
              <a:ext cx="63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mn-lt"/>
                  <a:ea typeface="华文楷体" panose="02010600040101010101" pitchFamily="2" charset="-122"/>
                </a:rPr>
                <a:t>var0</a:t>
              </a:r>
              <a:endParaRPr lang="en-US" altLang="zh-CN" b="1">
                <a:latin typeface="+mn-lt"/>
                <a:ea typeface="华文楷体" panose="02010600040101010101" pitchFamily="2" charset="-122"/>
              </a:endParaRPr>
            </a:p>
          </p:txBody>
        </p:sp>
        <p:sp>
          <p:nvSpPr>
            <p:cNvPr id="64539" name="Text Box 16"/>
            <p:cNvSpPr txBox="1">
              <a:spLocks noChangeArrowheads="1"/>
            </p:cNvSpPr>
            <p:nvPr/>
          </p:nvSpPr>
          <p:spPr bwMode="auto">
            <a:xfrm>
              <a:off x="1111" y="2784"/>
              <a:ext cx="63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mn-lt"/>
                  <a:ea typeface="华文楷体" panose="02010600040101010101" pitchFamily="2" charset="-122"/>
                </a:rPr>
                <a:t>var2</a:t>
              </a:r>
              <a:endParaRPr lang="en-US" altLang="zh-CN" b="1">
                <a:latin typeface="+mn-lt"/>
                <a:ea typeface="华文楷体" panose="02010600040101010101" pitchFamily="2" charset="-122"/>
              </a:endParaRPr>
            </a:p>
          </p:txBody>
        </p:sp>
        <p:sp>
          <p:nvSpPr>
            <p:cNvPr id="64540" name="Text Box 17"/>
            <p:cNvSpPr txBox="1">
              <a:spLocks noChangeArrowheads="1"/>
            </p:cNvSpPr>
            <p:nvPr/>
          </p:nvSpPr>
          <p:spPr bwMode="auto">
            <a:xfrm>
              <a:off x="1143" y="3216"/>
              <a:ext cx="59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latin typeface="+mn-lt"/>
                  <a:ea typeface="华文楷体" panose="02010600040101010101" pitchFamily="2" charset="-122"/>
                </a:rPr>
                <a:t>var</a:t>
              </a:r>
              <a:endParaRPr lang="en-US" altLang="zh-CN" b="1">
                <a:latin typeface="+mn-lt"/>
                <a:ea typeface="华文楷体" panose="02010600040101010101" pitchFamily="2" charset="-122"/>
              </a:endParaRPr>
            </a:p>
          </p:txBody>
        </p:sp>
        <p:sp>
          <p:nvSpPr>
            <p:cNvPr id="64541" name="Line 19"/>
            <p:cNvSpPr>
              <a:spLocks noChangeShapeType="1"/>
            </p:cNvSpPr>
            <p:nvPr/>
          </p:nvSpPr>
          <p:spPr bwMode="auto">
            <a:xfrm>
              <a:off x="2736" y="1440"/>
              <a:ext cx="0" cy="432"/>
            </a:xfrm>
            <a:prstGeom prst="line">
              <a:avLst/>
            </a:prstGeom>
            <a:noFill/>
            <a:ln w="9525">
              <a:solidFill>
                <a:schemeClr val="tx1"/>
              </a:solidFill>
              <a:round/>
              <a:headEnd type="triangle" w="lg" len="lg"/>
              <a:tailEnd type="triangle" w="lg" len="lg"/>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sp>
          <p:nvSpPr>
            <p:cNvPr id="64542" name="Line 20"/>
            <p:cNvSpPr>
              <a:spLocks noChangeShapeType="1"/>
            </p:cNvSpPr>
            <p:nvPr/>
          </p:nvSpPr>
          <p:spPr bwMode="auto">
            <a:xfrm>
              <a:off x="2736" y="2304"/>
              <a:ext cx="0" cy="432"/>
            </a:xfrm>
            <a:prstGeom prst="line">
              <a:avLst/>
            </a:prstGeom>
            <a:noFill/>
            <a:ln w="9525">
              <a:solidFill>
                <a:schemeClr val="tx1"/>
              </a:solidFill>
              <a:round/>
              <a:headEnd type="triangle" w="lg" len="lg"/>
              <a:tailEnd type="triangle" w="lg" len="lg"/>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sp>
          <p:nvSpPr>
            <p:cNvPr id="64543" name="Line 21"/>
            <p:cNvSpPr>
              <a:spLocks noChangeShapeType="1"/>
            </p:cNvSpPr>
            <p:nvPr/>
          </p:nvSpPr>
          <p:spPr bwMode="auto">
            <a:xfrm>
              <a:off x="3552" y="1440"/>
              <a:ext cx="0" cy="864"/>
            </a:xfrm>
            <a:prstGeom prst="line">
              <a:avLst/>
            </a:prstGeom>
            <a:noFill/>
            <a:ln w="9525">
              <a:solidFill>
                <a:schemeClr val="tx1"/>
              </a:solidFill>
              <a:round/>
              <a:headEnd type="triangle" w="lg" len="lg"/>
              <a:tailEnd type="triangle" w="lg" len="lg"/>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sp>
          <p:nvSpPr>
            <p:cNvPr id="64544" name="Line 23"/>
            <p:cNvSpPr>
              <a:spLocks noChangeShapeType="1"/>
            </p:cNvSpPr>
            <p:nvPr/>
          </p:nvSpPr>
          <p:spPr bwMode="auto">
            <a:xfrm>
              <a:off x="3552" y="2304"/>
              <a:ext cx="0" cy="864"/>
            </a:xfrm>
            <a:prstGeom prst="line">
              <a:avLst/>
            </a:prstGeom>
            <a:noFill/>
            <a:ln w="9525">
              <a:solidFill>
                <a:schemeClr val="tx1"/>
              </a:solidFill>
              <a:round/>
              <a:headEnd type="triangle" w="lg" len="lg"/>
              <a:tailEnd type="triangle" w="lg" len="lg"/>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sp>
          <p:nvSpPr>
            <p:cNvPr id="64545" name="Line 24"/>
            <p:cNvSpPr>
              <a:spLocks noChangeShapeType="1"/>
            </p:cNvSpPr>
            <p:nvPr/>
          </p:nvSpPr>
          <p:spPr bwMode="auto">
            <a:xfrm>
              <a:off x="4272" y="1440"/>
              <a:ext cx="0" cy="2112"/>
            </a:xfrm>
            <a:prstGeom prst="line">
              <a:avLst/>
            </a:prstGeom>
            <a:noFill/>
            <a:ln w="9525">
              <a:solidFill>
                <a:schemeClr val="tx1"/>
              </a:solidFill>
              <a:round/>
              <a:headEnd type="triangle" w="lg" len="lg"/>
              <a:tailEnd type="triangle" w="lg" len="lg"/>
            </a:ln>
            <a:extLst>
              <a:ext uri="{909E8E84-426E-40DD-AFC4-6F175D3DCCD1}">
                <a14:hiddenFill xmlns:a14="http://schemas.microsoft.com/office/drawing/2010/main">
                  <a:noFill/>
                </a14:hiddenFill>
              </a:ext>
            </a:extLst>
          </p:spPr>
          <p:txBody>
            <a:bodyPr wrap="none" anchor="ctr"/>
            <a:lstStyle/>
            <a:p>
              <a:endParaRPr lang="zh-CN" altLang="en-US" b="1">
                <a:latin typeface="+mn-lt"/>
                <a:ea typeface="华文楷体" panose="02010600040101010101" pitchFamily="2" charset="-122"/>
              </a:endParaRPr>
            </a:p>
          </p:txBody>
        </p:sp>
        <p:sp>
          <p:nvSpPr>
            <p:cNvPr id="64546" name="Text Box 25"/>
            <p:cNvSpPr txBox="1">
              <a:spLocks noChangeArrowheads="1"/>
            </p:cNvSpPr>
            <p:nvPr/>
          </p:nvSpPr>
          <p:spPr bwMode="auto">
            <a:xfrm>
              <a:off x="2145" y="1488"/>
              <a:ext cx="116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dirty="0">
                  <a:latin typeface="+mn-lt"/>
                  <a:ea typeface="华文楷体" panose="02010600040101010101" pitchFamily="2" charset="-122"/>
                </a:rPr>
                <a:t>Base0</a:t>
              </a:r>
              <a:r>
                <a:rPr lang="zh-CN" altLang="en-US" sz="2000" b="1" dirty="0">
                  <a:latin typeface="+mn-lt"/>
                  <a:ea typeface="华文楷体" panose="02010600040101010101" pitchFamily="2" charset="-122"/>
                </a:rPr>
                <a:t>类成员</a:t>
              </a:r>
              <a:endParaRPr lang="zh-CN" altLang="en-US" sz="2000" b="1" dirty="0">
                <a:latin typeface="+mn-lt"/>
                <a:ea typeface="华文楷体" panose="02010600040101010101" pitchFamily="2" charset="-122"/>
              </a:endParaRPr>
            </a:p>
          </p:txBody>
        </p:sp>
        <p:sp>
          <p:nvSpPr>
            <p:cNvPr id="64547" name="Text Box 26"/>
            <p:cNvSpPr txBox="1">
              <a:spLocks noChangeArrowheads="1"/>
            </p:cNvSpPr>
            <p:nvPr/>
          </p:nvSpPr>
          <p:spPr bwMode="auto">
            <a:xfrm>
              <a:off x="2191" y="2352"/>
              <a:ext cx="107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latin typeface="+mn-lt"/>
                  <a:ea typeface="华文楷体" panose="02010600040101010101" pitchFamily="2" charset="-122"/>
                </a:rPr>
                <a:t>Base0</a:t>
              </a:r>
              <a:r>
                <a:rPr lang="zh-CN" altLang="en-US" sz="2000" b="1">
                  <a:latin typeface="+mn-lt"/>
                  <a:ea typeface="华文楷体" panose="02010600040101010101" pitchFamily="2" charset="-122"/>
                </a:rPr>
                <a:t>类成员</a:t>
              </a:r>
              <a:endParaRPr lang="zh-CN" altLang="en-US" sz="2000" b="1">
                <a:latin typeface="+mn-lt"/>
                <a:ea typeface="华文楷体" panose="02010600040101010101" pitchFamily="2" charset="-122"/>
              </a:endParaRPr>
            </a:p>
          </p:txBody>
        </p:sp>
        <p:sp>
          <p:nvSpPr>
            <p:cNvPr id="64548" name="Text Box 27"/>
            <p:cNvSpPr txBox="1">
              <a:spLocks noChangeArrowheads="1"/>
            </p:cNvSpPr>
            <p:nvPr/>
          </p:nvSpPr>
          <p:spPr bwMode="auto">
            <a:xfrm>
              <a:off x="3168" y="1728"/>
              <a:ext cx="100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latin typeface="+mn-lt"/>
                  <a:ea typeface="华文楷体" panose="02010600040101010101" pitchFamily="2" charset="-122"/>
                </a:rPr>
                <a:t>Base1</a:t>
              </a:r>
              <a:r>
                <a:rPr lang="zh-CN" altLang="en-US" sz="2000" b="1">
                  <a:latin typeface="+mn-lt"/>
                  <a:ea typeface="华文楷体" panose="02010600040101010101" pitchFamily="2" charset="-122"/>
                </a:rPr>
                <a:t>类成员</a:t>
              </a:r>
              <a:endParaRPr lang="zh-CN" altLang="en-US" sz="2000" b="1">
                <a:latin typeface="+mn-lt"/>
                <a:ea typeface="华文楷体" panose="02010600040101010101" pitchFamily="2" charset="-122"/>
              </a:endParaRPr>
            </a:p>
          </p:txBody>
        </p:sp>
        <p:sp>
          <p:nvSpPr>
            <p:cNvPr id="64549" name="Text Box 28"/>
            <p:cNvSpPr txBox="1">
              <a:spLocks noChangeArrowheads="1"/>
            </p:cNvSpPr>
            <p:nvPr/>
          </p:nvSpPr>
          <p:spPr bwMode="auto">
            <a:xfrm>
              <a:off x="3168" y="2592"/>
              <a:ext cx="10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latin typeface="+mn-lt"/>
                  <a:ea typeface="华文楷体" panose="02010600040101010101" pitchFamily="2" charset="-122"/>
                </a:rPr>
                <a:t>Base2</a:t>
              </a:r>
              <a:r>
                <a:rPr lang="zh-CN" altLang="en-US" sz="2000" b="1">
                  <a:latin typeface="+mn-lt"/>
                  <a:ea typeface="华文楷体" panose="02010600040101010101" pitchFamily="2" charset="-122"/>
                </a:rPr>
                <a:t>类成员</a:t>
              </a:r>
              <a:endParaRPr lang="zh-CN" altLang="en-US" sz="2000" b="1">
                <a:latin typeface="+mn-lt"/>
                <a:ea typeface="华文楷体" panose="02010600040101010101" pitchFamily="2" charset="-122"/>
              </a:endParaRPr>
            </a:p>
          </p:txBody>
        </p:sp>
        <p:sp>
          <p:nvSpPr>
            <p:cNvPr id="64550" name="Text Box 29"/>
            <p:cNvSpPr txBox="1">
              <a:spLocks noChangeArrowheads="1"/>
            </p:cNvSpPr>
            <p:nvPr/>
          </p:nvSpPr>
          <p:spPr bwMode="auto">
            <a:xfrm>
              <a:off x="3960" y="2304"/>
              <a:ext cx="12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dirty="0">
                  <a:latin typeface="+mn-lt"/>
                  <a:ea typeface="华文楷体" panose="02010600040101010101" pitchFamily="2" charset="-122"/>
                </a:rPr>
                <a:t>Derived</a:t>
              </a:r>
              <a:r>
                <a:rPr lang="zh-CN" altLang="en-US" sz="2000" b="1" dirty="0">
                  <a:latin typeface="+mn-lt"/>
                  <a:ea typeface="华文楷体" panose="02010600040101010101" pitchFamily="2" charset="-122"/>
                </a:rPr>
                <a:t>类对象</a:t>
              </a:r>
              <a:endParaRPr lang="zh-CN" altLang="en-US" sz="2000" b="1" dirty="0">
                <a:latin typeface="+mn-lt"/>
                <a:ea typeface="华文楷体" panose="02010600040101010101" pitchFamily="2" charset="-122"/>
              </a:endParaRPr>
            </a:p>
          </p:txBody>
        </p:sp>
      </p:grpSp>
      <p:sp>
        <p:nvSpPr>
          <p:cNvPr id="64516" name="Rectangle 34"/>
          <p:cNvSpPr>
            <a:spLocks noChangeArrowheads="1"/>
          </p:cNvSpPr>
          <p:nvPr/>
        </p:nvSpPr>
        <p:spPr bwMode="auto">
          <a:xfrm>
            <a:off x="395288" y="4941888"/>
            <a:ext cx="2305050"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buClr>
                <a:schemeClr val="accent2"/>
              </a:buClr>
              <a:buSzPct val="80000"/>
              <a:buFont typeface="Wingdings" panose="05000000000000000000" pitchFamily="2" charset="2"/>
              <a:buNone/>
            </a:pPr>
            <a:r>
              <a:rPr lang="zh-CN" altLang="en-US" b="1" dirty="0">
                <a:solidFill>
                  <a:srgbClr val="FFFF00"/>
                </a:solidFill>
                <a:latin typeface="+mn-lt"/>
                <a:ea typeface="华文楷体" panose="02010600040101010101" pitchFamily="2" charset="-122"/>
              </a:rPr>
              <a:t>有二义性：</a:t>
            </a:r>
            <a:endParaRPr lang="zh-CN" altLang="en-US" b="1" dirty="0">
              <a:solidFill>
                <a:srgbClr val="FFFF00"/>
              </a:solidFill>
              <a:latin typeface="+mn-lt"/>
              <a:ea typeface="华文楷体" panose="02010600040101010101" pitchFamily="2" charset="-122"/>
            </a:endParaRPr>
          </a:p>
          <a:p>
            <a:pPr algn="l" eaLnBrk="1" hangingPunct="1">
              <a:buClr>
                <a:schemeClr val="accent2"/>
              </a:buClr>
              <a:buSzPct val="80000"/>
              <a:buFont typeface="Wingdings" panose="05000000000000000000" pitchFamily="2" charset="2"/>
              <a:buNone/>
            </a:pPr>
            <a:r>
              <a:rPr lang="en-US" altLang="zh-CN" b="1" dirty="0">
                <a:latin typeface="+mn-lt"/>
                <a:ea typeface="华文楷体" panose="02010600040101010101" pitchFamily="2" charset="-122"/>
              </a:rPr>
              <a:t>Derived d;</a:t>
            </a:r>
            <a:endParaRPr lang="en-US" altLang="zh-CN" b="1" dirty="0">
              <a:latin typeface="+mn-lt"/>
              <a:ea typeface="华文楷体" panose="02010600040101010101" pitchFamily="2" charset="-122"/>
            </a:endParaRPr>
          </a:p>
          <a:p>
            <a:pPr algn="l" eaLnBrk="1" hangingPunct="1">
              <a:buClr>
                <a:schemeClr val="accent2"/>
              </a:buClr>
              <a:buSzPct val="80000"/>
              <a:buFont typeface="Wingdings" panose="05000000000000000000" pitchFamily="2" charset="2"/>
              <a:buNone/>
            </a:pPr>
            <a:r>
              <a:rPr lang="en-US" altLang="zh-CN" b="1" dirty="0">
                <a:latin typeface="+mn-lt"/>
                <a:ea typeface="华文楷体" panose="02010600040101010101" pitchFamily="2" charset="-122"/>
              </a:rPr>
              <a:t>d.var0</a:t>
            </a:r>
            <a:endParaRPr lang="en-US" altLang="zh-CN" b="1" dirty="0">
              <a:latin typeface="+mn-lt"/>
              <a:ea typeface="华文楷体" panose="02010600040101010101" pitchFamily="2" charset="-122"/>
            </a:endParaRPr>
          </a:p>
          <a:p>
            <a:pPr algn="l" eaLnBrk="1" hangingPunct="1">
              <a:buClr>
                <a:schemeClr val="accent2"/>
              </a:buClr>
              <a:buSzPct val="80000"/>
              <a:buFont typeface="Wingdings" panose="05000000000000000000" pitchFamily="2" charset="2"/>
              <a:buNone/>
            </a:pPr>
            <a:r>
              <a:rPr lang="en-US" altLang="zh-CN" b="1" dirty="0">
                <a:latin typeface="+mn-lt"/>
                <a:ea typeface="华文楷体" panose="02010600040101010101" pitchFamily="2" charset="-122"/>
              </a:rPr>
              <a:t>d.Base0::var0</a:t>
            </a:r>
            <a:endParaRPr lang="en-US" altLang="zh-CN" b="1" dirty="0">
              <a:latin typeface="+mn-lt"/>
              <a:ea typeface="华文楷体" panose="02010600040101010101" pitchFamily="2" charset="-122"/>
            </a:endParaRPr>
          </a:p>
        </p:txBody>
      </p:sp>
      <p:sp>
        <p:nvSpPr>
          <p:cNvPr id="64517" name="Text Box 35"/>
          <p:cNvSpPr txBox="1">
            <a:spLocks noChangeArrowheads="1"/>
          </p:cNvSpPr>
          <p:nvPr/>
        </p:nvSpPr>
        <p:spPr bwMode="auto">
          <a:xfrm>
            <a:off x="2555875" y="5013325"/>
            <a:ext cx="24479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buClr>
                <a:schemeClr val="accent2"/>
              </a:buClr>
              <a:buSzPct val="80000"/>
              <a:buFont typeface="Wingdings" panose="05000000000000000000" pitchFamily="2" charset="2"/>
              <a:buNone/>
            </a:pPr>
            <a:r>
              <a:rPr lang="zh-CN" altLang="en-US" b="1" dirty="0">
                <a:solidFill>
                  <a:srgbClr val="FFFF00"/>
                </a:solidFill>
                <a:latin typeface="+mn-lt"/>
                <a:ea typeface="华文楷体" panose="02010600040101010101" pitchFamily="2" charset="-122"/>
              </a:rPr>
              <a:t>无二义性：</a:t>
            </a:r>
            <a:endParaRPr lang="zh-CN" altLang="en-US" b="1" dirty="0">
              <a:solidFill>
                <a:srgbClr val="FFFF00"/>
              </a:solidFill>
              <a:latin typeface="+mn-lt"/>
              <a:ea typeface="华文楷体" panose="02010600040101010101" pitchFamily="2" charset="-122"/>
            </a:endParaRPr>
          </a:p>
          <a:p>
            <a:pPr algn="l" eaLnBrk="1" hangingPunct="1">
              <a:buClr>
                <a:schemeClr val="accent2"/>
              </a:buClr>
              <a:buSzPct val="80000"/>
              <a:buFont typeface="Wingdings" panose="05000000000000000000" pitchFamily="2" charset="2"/>
              <a:buNone/>
            </a:pPr>
            <a:r>
              <a:rPr lang="en-US" altLang="zh-CN" b="1" dirty="0">
                <a:latin typeface="+mn-lt"/>
                <a:ea typeface="华文楷体" panose="02010600040101010101" pitchFamily="2" charset="-122"/>
              </a:rPr>
              <a:t>d.Base1::var0</a:t>
            </a:r>
            <a:endParaRPr lang="en-US" altLang="zh-CN" b="1" dirty="0">
              <a:latin typeface="+mn-lt"/>
              <a:ea typeface="华文楷体" panose="02010600040101010101" pitchFamily="2" charset="-122"/>
            </a:endParaRPr>
          </a:p>
          <a:p>
            <a:pPr algn="l" eaLnBrk="1" hangingPunct="1">
              <a:buClr>
                <a:schemeClr val="accent2"/>
              </a:buClr>
              <a:buSzPct val="80000"/>
              <a:buFont typeface="Wingdings" panose="05000000000000000000" pitchFamily="2" charset="2"/>
              <a:buNone/>
            </a:pPr>
            <a:r>
              <a:rPr lang="en-US" altLang="zh-CN" b="1" dirty="0">
                <a:latin typeface="+mn-lt"/>
                <a:ea typeface="华文楷体" panose="02010600040101010101" pitchFamily="2" charset="-122"/>
              </a:rPr>
              <a:t>d.Base2::var0</a:t>
            </a:r>
            <a:endParaRPr lang="en-US" altLang="zh-CN" sz="2800" b="1" dirty="0">
              <a:latin typeface="+mn-lt"/>
              <a:ea typeface="华文楷体" panose="02010600040101010101" pitchFamily="2" charset="-122"/>
            </a:endParaRPr>
          </a:p>
        </p:txBody>
      </p:sp>
      <p:sp>
        <p:nvSpPr>
          <p:cNvPr id="64518" name="Text Box 37"/>
          <p:cNvSpPr txBox="1">
            <a:spLocks noChangeArrowheads="1"/>
          </p:cNvSpPr>
          <p:nvPr/>
        </p:nvSpPr>
        <p:spPr bwMode="auto">
          <a:xfrm>
            <a:off x="8518525" y="6467475"/>
            <a:ext cx="611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pPr>
            <a:fld id="{846A2A13-D7A0-4615-839D-6F0DA8AC7205}" type="slidenum">
              <a:rPr lang="en-US" altLang="zh-CN" sz="1400"/>
            </a:fld>
            <a:endParaRPr lang="en-US" altLang="zh-CN" sz="1400"/>
          </a:p>
        </p:txBody>
      </p:sp>
      <p:grpSp>
        <p:nvGrpSpPr>
          <p:cNvPr id="64520" name="Group 19"/>
          <p:cNvGrpSpPr/>
          <p:nvPr/>
        </p:nvGrpSpPr>
        <p:grpSpPr bwMode="auto">
          <a:xfrm>
            <a:off x="-7936" y="1557338"/>
            <a:ext cx="2230438" cy="1697037"/>
            <a:chOff x="3124" y="2976"/>
            <a:chExt cx="1405" cy="1069"/>
          </a:xfrm>
        </p:grpSpPr>
        <p:sp>
          <p:nvSpPr>
            <p:cNvPr id="64522" name="Text Box 10"/>
            <p:cNvSpPr txBox="1">
              <a:spLocks noChangeArrowheads="1"/>
            </p:cNvSpPr>
            <p:nvPr/>
          </p:nvSpPr>
          <p:spPr bwMode="auto">
            <a:xfrm>
              <a:off x="3124" y="3414"/>
              <a:ext cx="52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FF00"/>
                  </a:solidFill>
                </a:rPr>
                <a:t>Base1</a:t>
              </a:r>
              <a:endParaRPr lang="en-US" altLang="zh-CN" sz="2000" b="1">
                <a:solidFill>
                  <a:srgbClr val="FFFF00"/>
                </a:solidFill>
              </a:endParaRPr>
            </a:p>
          </p:txBody>
        </p:sp>
        <p:sp>
          <p:nvSpPr>
            <p:cNvPr id="64523" name="Text Box 11"/>
            <p:cNvSpPr txBox="1">
              <a:spLocks noChangeArrowheads="1"/>
            </p:cNvSpPr>
            <p:nvPr/>
          </p:nvSpPr>
          <p:spPr bwMode="auto">
            <a:xfrm>
              <a:off x="4009" y="3414"/>
              <a:ext cx="52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FF00"/>
                  </a:solidFill>
                </a:rPr>
                <a:t>Base2</a:t>
              </a:r>
              <a:endParaRPr lang="en-US" altLang="zh-CN" sz="2000" b="1">
                <a:solidFill>
                  <a:srgbClr val="FFFF00"/>
                </a:solidFill>
              </a:endParaRPr>
            </a:p>
          </p:txBody>
        </p:sp>
        <p:sp>
          <p:nvSpPr>
            <p:cNvPr id="64524" name="Text Box 12"/>
            <p:cNvSpPr txBox="1">
              <a:spLocks noChangeArrowheads="1"/>
            </p:cNvSpPr>
            <p:nvPr/>
          </p:nvSpPr>
          <p:spPr bwMode="auto">
            <a:xfrm>
              <a:off x="3478" y="3793"/>
              <a:ext cx="66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FF00"/>
                  </a:solidFill>
                </a:rPr>
                <a:t>Derived</a:t>
              </a:r>
              <a:endParaRPr lang="en-US" altLang="zh-CN" sz="2000" b="1">
                <a:solidFill>
                  <a:srgbClr val="FFFF00"/>
                </a:solidFill>
              </a:endParaRPr>
            </a:p>
          </p:txBody>
        </p:sp>
        <p:sp>
          <p:nvSpPr>
            <p:cNvPr id="64525" name="Line 13"/>
            <p:cNvSpPr>
              <a:spLocks noChangeShapeType="1"/>
            </p:cNvSpPr>
            <p:nvPr/>
          </p:nvSpPr>
          <p:spPr bwMode="auto">
            <a:xfrm flipV="1">
              <a:off x="3884" y="3657"/>
              <a:ext cx="402" cy="20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b="1">
                <a:solidFill>
                  <a:srgbClr val="FFFF00"/>
                </a:solidFill>
              </a:endParaRPr>
            </a:p>
          </p:txBody>
        </p:sp>
        <p:sp>
          <p:nvSpPr>
            <p:cNvPr id="64526" name="Line 14"/>
            <p:cNvSpPr>
              <a:spLocks noChangeShapeType="1"/>
            </p:cNvSpPr>
            <p:nvPr/>
          </p:nvSpPr>
          <p:spPr bwMode="auto">
            <a:xfrm flipH="1" flipV="1">
              <a:off x="3334" y="3657"/>
              <a:ext cx="406" cy="208"/>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b="1">
                <a:solidFill>
                  <a:srgbClr val="FFFF00"/>
                </a:solidFill>
              </a:endParaRPr>
            </a:p>
          </p:txBody>
        </p:sp>
        <p:sp>
          <p:nvSpPr>
            <p:cNvPr id="64527" name="Line 16"/>
            <p:cNvSpPr>
              <a:spLocks noChangeShapeType="1"/>
            </p:cNvSpPr>
            <p:nvPr/>
          </p:nvSpPr>
          <p:spPr bwMode="auto">
            <a:xfrm flipH="1" flipV="1">
              <a:off x="4013" y="3202"/>
              <a:ext cx="243" cy="27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b="1">
                <a:solidFill>
                  <a:srgbClr val="FFFF00"/>
                </a:solidFill>
              </a:endParaRPr>
            </a:p>
          </p:txBody>
        </p:sp>
        <p:sp>
          <p:nvSpPr>
            <p:cNvPr id="64528" name="Text Box 17"/>
            <p:cNvSpPr txBox="1">
              <a:spLocks noChangeArrowheads="1"/>
            </p:cNvSpPr>
            <p:nvPr/>
          </p:nvSpPr>
          <p:spPr bwMode="auto">
            <a:xfrm>
              <a:off x="3645" y="2976"/>
              <a:ext cx="52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FF00"/>
                  </a:solidFill>
                </a:rPr>
                <a:t>Base0</a:t>
              </a:r>
              <a:endParaRPr lang="en-US" altLang="zh-CN" sz="2000" b="1">
                <a:solidFill>
                  <a:srgbClr val="FFFF00"/>
                </a:solidFill>
              </a:endParaRPr>
            </a:p>
          </p:txBody>
        </p:sp>
        <p:sp>
          <p:nvSpPr>
            <p:cNvPr id="64529" name="Line 18"/>
            <p:cNvSpPr>
              <a:spLocks noChangeShapeType="1"/>
            </p:cNvSpPr>
            <p:nvPr/>
          </p:nvSpPr>
          <p:spPr bwMode="auto">
            <a:xfrm flipV="1">
              <a:off x="3379" y="3202"/>
              <a:ext cx="362" cy="273"/>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b="1">
                <a:solidFill>
                  <a:srgbClr val="FFFF00"/>
                </a:solidFill>
              </a:endParaRPr>
            </a:p>
          </p:txBody>
        </p:sp>
      </p:grpSp>
      <p:sp>
        <p:nvSpPr>
          <p:cNvPr id="64521" name="TextBox 38"/>
          <p:cNvSpPr txBox="1">
            <a:spLocks noChangeArrowheads="1"/>
          </p:cNvSpPr>
          <p:nvPr/>
        </p:nvSpPr>
        <p:spPr bwMode="auto">
          <a:xfrm>
            <a:off x="5525294" y="5136346"/>
            <a:ext cx="3604419" cy="954107"/>
          </a:xfrm>
          <a:prstGeom prst="rect">
            <a:avLst/>
          </a:prstGeom>
          <a:solidFill>
            <a:srgbClr val="000000"/>
          </a:solidFill>
          <a:ln>
            <a:noFill/>
          </a:ln>
        </p:spPr>
        <p:txBody>
          <a:bodyPr wrap="square">
            <a:spAutoFit/>
          </a:bodyPr>
          <a:lstStyle>
            <a:lvl1pPr marL="0" indent="0" algn="l">
              <a:buClr>
                <a:schemeClr val="tx2"/>
              </a:buClr>
              <a:buSzPct val="75000"/>
              <a:buFont typeface="Monotype Sorts" pitchFamily="2" charset="2"/>
              <a:buNone/>
              <a:defRPr sz="2000" b="1">
                <a:ea typeface="隶书" panose="02010509060101010101" pitchFamily="49" charset="-122"/>
              </a:defRPr>
            </a:lvl1pPr>
            <a:lvl2pPr marL="742950" indent="-285750" algn="l">
              <a:spcBef>
                <a:spcPct val="20000"/>
              </a:spcBef>
              <a:buClr>
                <a:schemeClr val="tx1"/>
              </a:buClr>
              <a:buSzPct val="75000"/>
              <a:buFont typeface="Monotype Sorts" pitchFamily="2" charset="2"/>
              <a:buChar char="u"/>
              <a:defRPr sz="2800">
                <a:latin typeface="+mn-lt"/>
                <a:ea typeface="+mn-ea"/>
              </a:defRPr>
            </a:lvl2pPr>
            <a:lvl3pPr marL="1143000" indent="-228600" algn="l">
              <a:spcBef>
                <a:spcPct val="20000"/>
              </a:spcBef>
              <a:buClr>
                <a:schemeClr val="tx2"/>
              </a:buClr>
              <a:buSzPct val="62000"/>
              <a:buFont typeface="Monotype Sorts" pitchFamily="2" charset="2"/>
              <a:buChar char="u"/>
              <a:defRPr>
                <a:latin typeface="+mn-lt"/>
                <a:ea typeface="+mn-ea"/>
              </a:defRPr>
            </a:lvl3pPr>
            <a:lvl4pPr marL="1600200" indent="-228600" algn="l">
              <a:spcBef>
                <a:spcPct val="20000"/>
              </a:spcBef>
              <a:buClr>
                <a:schemeClr val="tx1"/>
              </a:buClr>
              <a:buSzPct val="62000"/>
              <a:buFont typeface="Monotype Sorts" pitchFamily="2" charset="2"/>
              <a:buChar char="u"/>
              <a:defRPr sz="2000">
                <a:latin typeface="+mn-lt"/>
                <a:ea typeface="+mn-ea"/>
              </a:defRPr>
            </a:lvl4pPr>
            <a:lvl5pPr marL="2057400" indent="-228600" algn="l">
              <a:spcBef>
                <a:spcPct val="20000"/>
              </a:spcBef>
              <a:buClr>
                <a:schemeClr val="tx2"/>
              </a:buClr>
              <a:buSzPct val="62000"/>
              <a:buFont typeface="Monotype Sorts" pitchFamily="2" charset="2"/>
              <a:buChar char="u"/>
              <a:defRPr sz="2000">
                <a:latin typeface="+mn-lt"/>
                <a:ea typeface="+mn-ea"/>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r>
              <a:rPr lang="zh-CN" altLang="en-US" sz="2800" dirty="0">
                <a:latin typeface="华文楷体" panose="02010600040101010101" pitchFamily="2" charset="-122"/>
                <a:ea typeface="华文楷体" panose="02010600040101010101" pitchFamily="2" charset="-122"/>
              </a:rPr>
              <a:t>问题：冗余以及因冗余而导致的不一致性</a:t>
            </a:r>
            <a:endParaRPr lang="zh-CN" altLang="en-US" sz="2800" dirty="0">
              <a:latin typeface="华文楷体" panose="02010600040101010101" pitchFamily="2" charset="-122"/>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7.5.2 </a:t>
            </a:r>
            <a:r>
              <a:rPr lang="zh-CN" altLang="en-US" sz="4400" b="1">
                <a:latin typeface="Times New Roman" panose="02020603050405020304" pitchFamily="18" charset="0"/>
                <a:ea typeface="隶书" panose="02010509060101010101" pitchFamily="49" charset="-122"/>
              </a:rPr>
              <a:t>虚基类</a:t>
            </a:r>
            <a:endParaRPr lang="zh-CN" altLang="en-US" sz="4400" b="1">
              <a:latin typeface="Times New Roman" panose="02020603050405020304" pitchFamily="18" charset="0"/>
              <a:ea typeface="隶书" panose="02010509060101010101" pitchFamily="49" charset="-122"/>
            </a:endParaRPr>
          </a:p>
        </p:txBody>
      </p:sp>
      <p:sp>
        <p:nvSpPr>
          <p:cNvPr id="65539" name="内容占位符 2"/>
          <p:cNvSpPr>
            <a:spLocks noGrp="1"/>
          </p:cNvSpPr>
          <p:nvPr>
            <p:ph idx="1"/>
          </p:nvPr>
        </p:nvSpPr>
        <p:spPr>
          <a:xfrm>
            <a:off x="611560" y="1268760"/>
            <a:ext cx="7886700" cy="5589240"/>
          </a:xfrm>
        </p:spPr>
        <p:txBody>
          <a:bodyPr/>
          <a:lstStyle/>
          <a:p>
            <a:pPr>
              <a:spcAft>
                <a:spcPct val="25000"/>
              </a:spcAft>
            </a:pPr>
            <a:r>
              <a:rPr lang="zh-CN" altLang="en-US" sz="2400" b="1" dirty="0">
                <a:solidFill>
                  <a:srgbClr val="FFFF00"/>
                </a:solidFill>
                <a:ea typeface="华文楷体" panose="02010600040101010101" pitchFamily="2" charset="-122"/>
              </a:rPr>
              <a:t>虚基类的引入</a:t>
            </a:r>
            <a:endParaRPr lang="zh-CN" altLang="en-US" sz="2400" b="1" dirty="0">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用于有共同基类的场合</a:t>
            </a:r>
            <a:endParaRPr lang="zh-CN" altLang="en-US" sz="2400" b="1" dirty="0">
              <a:ea typeface="华文楷体" panose="02010600040101010101" pitchFamily="2" charset="-122"/>
            </a:endParaRPr>
          </a:p>
          <a:p>
            <a:pPr>
              <a:spcAft>
                <a:spcPct val="25000"/>
              </a:spcAft>
            </a:pPr>
            <a:r>
              <a:rPr lang="zh-CN" altLang="en-US" sz="2400" b="1" dirty="0">
                <a:solidFill>
                  <a:srgbClr val="FFFF00"/>
                </a:solidFill>
                <a:ea typeface="华文楷体" panose="02010600040101010101" pitchFamily="2" charset="-122"/>
              </a:rPr>
              <a:t>声明</a:t>
            </a:r>
            <a:endParaRPr lang="zh-CN" altLang="en-US" sz="2400" b="1" dirty="0">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以</a:t>
            </a:r>
            <a:r>
              <a:rPr lang="en-US" altLang="zh-CN" sz="2400" b="1" dirty="0">
                <a:ea typeface="华文楷体" panose="02010600040101010101" pitchFamily="2" charset="-122"/>
              </a:rPr>
              <a:t>virtual</a:t>
            </a:r>
            <a:r>
              <a:rPr lang="zh-CN" altLang="en-US" sz="2400" b="1" dirty="0">
                <a:ea typeface="华文楷体" panose="02010600040101010101" pitchFamily="2" charset="-122"/>
              </a:rPr>
              <a:t>修饰说明基类</a:t>
            </a:r>
            <a:br>
              <a:rPr lang="zh-CN" altLang="en-US" sz="2400" b="1" dirty="0">
                <a:ea typeface="华文楷体" panose="02010600040101010101" pitchFamily="2" charset="-122"/>
              </a:rPr>
            </a:br>
            <a:r>
              <a:rPr lang="zh-CN" altLang="en-US" sz="2400" b="1" dirty="0">
                <a:ea typeface="华文楷体" panose="02010600040101010101" pitchFamily="2" charset="-122"/>
              </a:rPr>
              <a:t>例：</a:t>
            </a:r>
            <a:r>
              <a:rPr lang="en-US" altLang="zh-CN" sz="2400" b="1" dirty="0">
                <a:ea typeface="华文楷体" panose="02010600040101010101" pitchFamily="2" charset="-122"/>
              </a:rPr>
              <a:t>class B1:virtual public B</a:t>
            </a:r>
            <a:endParaRPr lang="en-US" altLang="zh-CN" sz="2400" b="1" dirty="0">
              <a:ea typeface="华文楷体" panose="02010600040101010101" pitchFamily="2" charset="-122"/>
            </a:endParaRPr>
          </a:p>
          <a:p>
            <a:pPr>
              <a:spcAft>
                <a:spcPct val="25000"/>
              </a:spcAft>
            </a:pPr>
            <a:r>
              <a:rPr lang="zh-CN" altLang="en-US" sz="2400" b="1" dirty="0">
                <a:solidFill>
                  <a:srgbClr val="FFFF00"/>
                </a:solidFill>
                <a:ea typeface="华文楷体" panose="02010600040101010101" pitchFamily="2" charset="-122"/>
              </a:rPr>
              <a:t>作用</a:t>
            </a:r>
            <a:endParaRPr lang="zh-CN" altLang="en-US" sz="2400" b="1" dirty="0">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主要用来解决多继承时可能发生的对同一基类继承多次而产生的二义性问题</a:t>
            </a:r>
            <a:r>
              <a:rPr lang="en-US" altLang="zh-CN" sz="2400" b="1" dirty="0">
                <a:ea typeface="华文楷体" panose="02010600040101010101" pitchFamily="2" charset="-122"/>
              </a:rPr>
              <a:t>.</a:t>
            </a:r>
            <a:endParaRPr lang="en-US" altLang="zh-CN"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为最远的派生类提供唯一的基类成员，而不重复产生多次拷贝</a:t>
            </a:r>
            <a:endParaRPr lang="zh-CN" altLang="en-US" sz="2400" b="1" dirty="0">
              <a:ea typeface="华文楷体" panose="02010600040101010101" pitchFamily="2" charset="-122"/>
            </a:endParaRPr>
          </a:p>
          <a:p>
            <a:pPr>
              <a:spcAft>
                <a:spcPct val="25000"/>
              </a:spcAft>
            </a:pPr>
            <a:r>
              <a:rPr lang="zh-CN" altLang="en-US" sz="2400" b="1" dirty="0">
                <a:solidFill>
                  <a:srgbClr val="FFFF00"/>
                </a:solidFill>
                <a:ea typeface="华文楷体" panose="02010600040101010101" pitchFamily="2" charset="-122"/>
              </a:rPr>
              <a:t>注意：</a:t>
            </a:r>
            <a:endParaRPr lang="zh-CN" altLang="en-US" sz="2400" b="1" dirty="0">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在第一级继承时就要将共同基类设计为虚基类。</a:t>
            </a:r>
            <a:endParaRPr lang="zh-CN" altLang="en-US" sz="2400" b="1" dirty="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3" name="标题 1"/>
          <p:cNvSpPr>
            <a:spLocks noGrp="1"/>
          </p:cNvSpPr>
          <p:nvPr>
            <p:ph type="title"/>
          </p:nvPr>
        </p:nvSpPr>
        <p:spPr/>
        <p:txBody>
          <a:bodyPr/>
          <a:lstStyle/>
          <a:p>
            <a:pPr eaLnBrk="1" hangingPunct="1"/>
            <a:r>
              <a:rPr lang="zh-CN" altLang="en-US" b="1" dirty="0" smtClean="0"/>
              <a:t>例</a:t>
            </a:r>
            <a:r>
              <a:rPr lang="en-US" altLang="zh-CN" b="1" dirty="0" smtClean="0"/>
              <a:t>7-8 </a:t>
            </a:r>
            <a:r>
              <a:rPr lang="zh-CN" altLang="en-US" b="1" dirty="0" smtClean="0"/>
              <a:t>虚基类举例</a:t>
            </a:r>
            <a:endParaRPr kumimoji="1" lang="zh-CN" altLang="en-US" b="1" dirty="0" smtClean="0"/>
          </a:p>
        </p:txBody>
      </p:sp>
      <p:grpSp>
        <p:nvGrpSpPr>
          <p:cNvPr id="66565" name="Group 96"/>
          <p:cNvGrpSpPr/>
          <p:nvPr/>
        </p:nvGrpSpPr>
        <p:grpSpPr bwMode="auto">
          <a:xfrm>
            <a:off x="1474543" y="1475900"/>
            <a:ext cx="6400800" cy="4267200"/>
            <a:chOff x="768" y="1296"/>
            <a:chExt cx="4272" cy="2688"/>
          </a:xfrm>
        </p:grpSpPr>
        <p:sp>
          <p:nvSpPr>
            <p:cNvPr id="66566" name="Text Box 65"/>
            <p:cNvSpPr txBox="1">
              <a:spLocks noChangeArrowheads="1"/>
            </p:cNvSpPr>
            <p:nvPr/>
          </p:nvSpPr>
          <p:spPr bwMode="auto">
            <a:xfrm>
              <a:off x="3580" y="2038"/>
              <a:ext cx="1460" cy="239"/>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1800" b="1">
                  <a:solidFill>
                    <a:srgbClr val="FFFF00"/>
                  </a:solidFill>
                </a:rPr>
                <a:t>Derived</a:t>
              </a:r>
              <a:endParaRPr lang="zh-CN" altLang="en-US" sz="1800" b="1">
                <a:solidFill>
                  <a:srgbClr val="FFFF00"/>
                </a:solidFill>
              </a:endParaRPr>
            </a:p>
            <a:p>
              <a:pPr algn="ctr"/>
              <a:endParaRPr kumimoji="0" lang="en-US" altLang="zh-CN" sz="1800" b="1">
                <a:solidFill>
                  <a:srgbClr val="FFFF00"/>
                </a:solidFill>
              </a:endParaRPr>
            </a:p>
          </p:txBody>
        </p:sp>
        <p:sp>
          <p:nvSpPr>
            <p:cNvPr id="66567" name="Text Box 66"/>
            <p:cNvSpPr txBox="1">
              <a:spLocks noChangeArrowheads="1"/>
            </p:cNvSpPr>
            <p:nvPr/>
          </p:nvSpPr>
          <p:spPr bwMode="auto">
            <a:xfrm>
              <a:off x="3579" y="2277"/>
              <a:ext cx="1461" cy="66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sz="1800" b="1">
                  <a:solidFill>
                    <a:srgbClr val="FFFF00"/>
                  </a:solidFill>
                </a:rPr>
                <a:t>Base0::var0:int</a:t>
              </a:r>
              <a:endParaRPr kumimoji="0" lang="en-US" altLang="zh-CN" sz="1800" b="1">
                <a:solidFill>
                  <a:srgbClr val="FFFF00"/>
                </a:solidFill>
              </a:endParaRPr>
            </a:p>
            <a:p>
              <a:pPr algn="ctr"/>
              <a:r>
                <a:rPr kumimoji="0" lang="en-US" altLang="zh-CN" sz="1800" b="1">
                  <a:solidFill>
                    <a:srgbClr val="FFFF00"/>
                  </a:solidFill>
                </a:rPr>
                <a:t>Base1::var1:int</a:t>
              </a:r>
              <a:endParaRPr kumimoji="0" lang="en-US" altLang="zh-CN" sz="1800" b="1">
                <a:solidFill>
                  <a:srgbClr val="FFFF00"/>
                </a:solidFill>
              </a:endParaRPr>
            </a:p>
            <a:p>
              <a:pPr algn="ctr"/>
              <a:r>
                <a:rPr kumimoji="0" lang="en-US" altLang="zh-CN" sz="1800" b="1">
                  <a:solidFill>
                    <a:srgbClr val="FFFF00"/>
                  </a:solidFill>
                </a:rPr>
                <a:t>Base2::var2:int</a:t>
              </a:r>
              <a:endParaRPr kumimoji="0" lang="en-US" altLang="zh-CN" sz="1800" b="1">
                <a:solidFill>
                  <a:srgbClr val="FFFF00"/>
                </a:solidFill>
              </a:endParaRPr>
            </a:p>
            <a:p>
              <a:pPr algn="ctr"/>
              <a:r>
                <a:rPr kumimoji="0" lang="en-US" altLang="zh-CN" sz="1800" b="1">
                  <a:solidFill>
                    <a:srgbClr val="FFFF00"/>
                  </a:solidFill>
                </a:rPr>
                <a:t>var :int</a:t>
              </a:r>
              <a:endParaRPr kumimoji="0" lang="en-US" altLang="zh-CN" sz="1800" b="1">
                <a:solidFill>
                  <a:srgbClr val="FFFF00"/>
                </a:solidFill>
              </a:endParaRPr>
            </a:p>
          </p:txBody>
        </p:sp>
        <p:sp>
          <p:nvSpPr>
            <p:cNvPr id="66568" name="Text Box 67"/>
            <p:cNvSpPr txBox="1">
              <a:spLocks noChangeArrowheads="1"/>
            </p:cNvSpPr>
            <p:nvPr/>
          </p:nvSpPr>
          <p:spPr bwMode="auto">
            <a:xfrm>
              <a:off x="3573" y="2941"/>
              <a:ext cx="1459" cy="603"/>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sz="1800" b="1">
                  <a:solidFill>
                    <a:srgbClr val="FFFF00"/>
                  </a:solidFill>
                </a:rPr>
                <a:t>Base0::fun0():void</a:t>
              </a:r>
              <a:endParaRPr kumimoji="0" lang="en-US" altLang="zh-CN" sz="1800" b="1">
                <a:solidFill>
                  <a:srgbClr val="FFFF00"/>
                </a:solidFill>
              </a:endParaRPr>
            </a:p>
            <a:p>
              <a:pPr algn="ctr"/>
              <a:r>
                <a:rPr kumimoji="0" lang="en-US" altLang="zh-CN" sz="1800" b="1">
                  <a:solidFill>
                    <a:srgbClr val="FFFF00"/>
                  </a:solidFill>
                </a:rPr>
                <a:t>fun():void</a:t>
              </a:r>
              <a:endParaRPr kumimoji="0" lang="en-US" altLang="zh-CN" sz="1800" b="1">
                <a:solidFill>
                  <a:srgbClr val="FFFF00"/>
                </a:solidFill>
              </a:endParaRPr>
            </a:p>
          </p:txBody>
        </p:sp>
        <p:grpSp>
          <p:nvGrpSpPr>
            <p:cNvPr id="66569" name="Group 68"/>
            <p:cNvGrpSpPr/>
            <p:nvPr/>
          </p:nvGrpSpPr>
          <p:grpSpPr bwMode="auto">
            <a:xfrm>
              <a:off x="768" y="2330"/>
              <a:ext cx="1059" cy="607"/>
              <a:chOff x="6978" y="7732"/>
              <a:chExt cx="1816" cy="1665"/>
            </a:xfrm>
          </p:grpSpPr>
          <p:sp>
            <p:nvSpPr>
              <p:cNvPr id="66593" name="Text Box 69"/>
              <p:cNvSpPr txBox="1">
                <a:spLocks noChangeArrowheads="1"/>
              </p:cNvSpPr>
              <p:nvPr/>
            </p:nvSpPr>
            <p:spPr bwMode="auto">
              <a:xfrm>
                <a:off x="6979" y="7732"/>
                <a:ext cx="1815" cy="55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sz="1800" b="1">
                    <a:solidFill>
                      <a:srgbClr val="FFFF00"/>
                    </a:solidFill>
                  </a:rPr>
                  <a:t>Base1</a:t>
                </a:r>
                <a:endParaRPr kumimoji="0" lang="en-US" altLang="zh-CN" sz="1800" b="1">
                  <a:solidFill>
                    <a:srgbClr val="FFFF00"/>
                  </a:solidFill>
                </a:endParaRPr>
              </a:p>
              <a:p>
                <a:pPr algn="ctr"/>
                <a:endParaRPr kumimoji="0" lang="en-US" altLang="zh-CN" sz="1800" b="1">
                  <a:solidFill>
                    <a:srgbClr val="FFFF00"/>
                  </a:solidFill>
                </a:endParaRPr>
              </a:p>
            </p:txBody>
          </p:sp>
          <p:sp>
            <p:nvSpPr>
              <p:cNvPr id="66594" name="Text Box 70"/>
              <p:cNvSpPr txBox="1">
                <a:spLocks noChangeArrowheads="1"/>
              </p:cNvSpPr>
              <p:nvPr/>
            </p:nvSpPr>
            <p:spPr bwMode="auto">
              <a:xfrm>
                <a:off x="6978" y="8287"/>
                <a:ext cx="1815" cy="55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800" b="1">
                    <a:solidFill>
                      <a:srgbClr val="FFFF00"/>
                    </a:solidFill>
                  </a:rPr>
                  <a:t>+ var1 : int</a:t>
                </a:r>
                <a:endParaRPr kumimoji="0" lang="en-US" altLang="zh-CN" sz="1800" b="1">
                  <a:solidFill>
                    <a:srgbClr val="FFFF00"/>
                  </a:solidFill>
                </a:endParaRPr>
              </a:p>
            </p:txBody>
          </p:sp>
          <p:sp>
            <p:nvSpPr>
              <p:cNvPr id="66595" name="Text Box 71"/>
              <p:cNvSpPr txBox="1">
                <a:spLocks noChangeArrowheads="1"/>
              </p:cNvSpPr>
              <p:nvPr/>
            </p:nvSpPr>
            <p:spPr bwMode="auto">
              <a:xfrm>
                <a:off x="6978" y="8842"/>
                <a:ext cx="1815" cy="55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endParaRPr kumimoji="0" lang="zh-CN" altLang="zh-CN" sz="1800" b="1">
                  <a:solidFill>
                    <a:srgbClr val="FFFF00"/>
                  </a:solidFill>
                </a:endParaRPr>
              </a:p>
            </p:txBody>
          </p:sp>
        </p:grpSp>
        <p:grpSp>
          <p:nvGrpSpPr>
            <p:cNvPr id="66570" name="Group 72"/>
            <p:cNvGrpSpPr/>
            <p:nvPr/>
          </p:nvGrpSpPr>
          <p:grpSpPr bwMode="auto">
            <a:xfrm>
              <a:off x="2302" y="2330"/>
              <a:ext cx="1095" cy="607"/>
              <a:chOff x="6978" y="7732"/>
              <a:chExt cx="1816" cy="1665"/>
            </a:xfrm>
          </p:grpSpPr>
          <p:sp>
            <p:nvSpPr>
              <p:cNvPr id="66590" name="Text Box 73"/>
              <p:cNvSpPr txBox="1">
                <a:spLocks noChangeArrowheads="1"/>
              </p:cNvSpPr>
              <p:nvPr/>
            </p:nvSpPr>
            <p:spPr bwMode="auto">
              <a:xfrm>
                <a:off x="6979" y="7732"/>
                <a:ext cx="1815" cy="55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sz="1800" b="1">
                    <a:solidFill>
                      <a:srgbClr val="FFFF00"/>
                    </a:solidFill>
                  </a:rPr>
                  <a:t>Base2</a:t>
                </a:r>
                <a:endParaRPr kumimoji="0" lang="en-US" altLang="zh-CN" sz="1800" b="1">
                  <a:solidFill>
                    <a:srgbClr val="FFFF00"/>
                  </a:solidFill>
                </a:endParaRPr>
              </a:p>
            </p:txBody>
          </p:sp>
          <p:sp>
            <p:nvSpPr>
              <p:cNvPr id="66591" name="Text Box 74"/>
              <p:cNvSpPr txBox="1">
                <a:spLocks noChangeArrowheads="1"/>
              </p:cNvSpPr>
              <p:nvPr/>
            </p:nvSpPr>
            <p:spPr bwMode="auto">
              <a:xfrm>
                <a:off x="6978" y="8287"/>
                <a:ext cx="1815" cy="55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800" b="1">
                    <a:solidFill>
                      <a:srgbClr val="FFFF00"/>
                    </a:solidFill>
                  </a:rPr>
                  <a:t>+ var2 : int</a:t>
                </a:r>
                <a:endParaRPr kumimoji="0" lang="en-US" altLang="zh-CN" sz="1800" b="1">
                  <a:solidFill>
                    <a:srgbClr val="FFFF00"/>
                  </a:solidFill>
                </a:endParaRPr>
              </a:p>
            </p:txBody>
          </p:sp>
          <p:sp>
            <p:nvSpPr>
              <p:cNvPr id="66592" name="Text Box 75"/>
              <p:cNvSpPr txBox="1">
                <a:spLocks noChangeArrowheads="1"/>
              </p:cNvSpPr>
              <p:nvPr/>
            </p:nvSpPr>
            <p:spPr bwMode="auto">
              <a:xfrm>
                <a:off x="6978" y="8842"/>
                <a:ext cx="1815" cy="55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endParaRPr kumimoji="0" lang="zh-CN" altLang="zh-CN" sz="1800" b="1">
                  <a:solidFill>
                    <a:srgbClr val="FFFF00"/>
                  </a:solidFill>
                </a:endParaRPr>
              </a:p>
            </p:txBody>
          </p:sp>
        </p:grpSp>
        <p:grpSp>
          <p:nvGrpSpPr>
            <p:cNvPr id="66571" name="Group 76"/>
            <p:cNvGrpSpPr/>
            <p:nvPr/>
          </p:nvGrpSpPr>
          <p:grpSpPr bwMode="auto">
            <a:xfrm>
              <a:off x="1535" y="3377"/>
              <a:ext cx="1168" cy="607"/>
              <a:chOff x="6978" y="7732"/>
              <a:chExt cx="1816" cy="1665"/>
            </a:xfrm>
          </p:grpSpPr>
          <p:sp>
            <p:nvSpPr>
              <p:cNvPr id="66587" name="Text Box 77"/>
              <p:cNvSpPr txBox="1">
                <a:spLocks noChangeArrowheads="1"/>
              </p:cNvSpPr>
              <p:nvPr/>
            </p:nvSpPr>
            <p:spPr bwMode="auto">
              <a:xfrm>
                <a:off x="6979" y="7732"/>
                <a:ext cx="1815" cy="55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sz="1800" b="1">
                    <a:solidFill>
                      <a:srgbClr val="FFFF00"/>
                    </a:solidFill>
                  </a:rPr>
                  <a:t>Derived</a:t>
                </a:r>
                <a:endParaRPr kumimoji="0" lang="en-US" altLang="zh-CN" sz="1800" b="1">
                  <a:solidFill>
                    <a:srgbClr val="FFFF00"/>
                  </a:solidFill>
                </a:endParaRPr>
              </a:p>
            </p:txBody>
          </p:sp>
          <p:sp>
            <p:nvSpPr>
              <p:cNvPr id="66588" name="Text Box 78"/>
              <p:cNvSpPr txBox="1">
                <a:spLocks noChangeArrowheads="1"/>
              </p:cNvSpPr>
              <p:nvPr/>
            </p:nvSpPr>
            <p:spPr bwMode="auto">
              <a:xfrm>
                <a:off x="6978" y="8287"/>
                <a:ext cx="1815" cy="55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800" b="1">
                    <a:solidFill>
                      <a:srgbClr val="FFFF00"/>
                    </a:solidFill>
                  </a:rPr>
                  <a:t>+ var : int</a:t>
                </a:r>
                <a:endParaRPr kumimoji="0" lang="en-US" altLang="zh-CN" sz="1800" b="1">
                  <a:solidFill>
                    <a:srgbClr val="FFFF00"/>
                  </a:solidFill>
                </a:endParaRPr>
              </a:p>
            </p:txBody>
          </p:sp>
          <p:sp>
            <p:nvSpPr>
              <p:cNvPr id="66589" name="Text Box 79"/>
              <p:cNvSpPr txBox="1">
                <a:spLocks noChangeArrowheads="1"/>
              </p:cNvSpPr>
              <p:nvPr/>
            </p:nvSpPr>
            <p:spPr bwMode="auto">
              <a:xfrm>
                <a:off x="6978" y="8842"/>
                <a:ext cx="1815" cy="55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800" b="1">
                    <a:solidFill>
                      <a:srgbClr val="FFFF00"/>
                    </a:solidFill>
                  </a:rPr>
                  <a:t>+ fun() : void</a:t>
                </a:r>
                <a:endParaRPr kumimoji="0" lang="en-US" altLang="zh-CN" sz="1800" b="1">
                  <a:solidFill>
                    <a:srgbClr val="FFFF00"/>
                  </a:solidFill>
                </a:endParaRPr>
              </a:p>
            </p:txBody>
          </p:sp>
        </p:grpSp>
        <p:sp>
          <p:nvSpPr>
            <p:cNvPr id="66572" name="AutoShape 80"/>
            <p:cNvSpPr>
              <a:spLocks noChangeArrowheads="1"/>
            </p:cNvSpPr>
            <p:nvPr/>
          </p:nvSpPr>
          <p:spPr bwMode="auto">
            <a:xfrm>
              <a:off x="1196" y="2937"/>
              <a:ext cx="180" cy="126"/>
            </a:xfrm>
            <a:prstGeom prst="triangle">
              <a:avLst>
                <a:gd name="adj" fmla="val 50000"/>
              </a:avLst>
            </a:prstGeom>
            <a:solidFill>
              <a:srgbClr val="FFFFFF"/>
            </a:solidFill>
            <a:ln w="9525">
              <a:solidFill>
                <a:schemeClr val="tx1"/>
              </a:solidFill>
              <a:miter lim="800000"/>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800" b="1">
                <a:solidFill>
                  <a:srgbClr val="FFFF00"/>
                </a:solidFill>
                <a:ea typeface="隶书" panose="02010509060101010101" pitchFamily="49" charset="-122"/>
              </a:endParaRPr>
            </a:p>
          </p:txBody>
        </p:sp>
        <p:sp>
          <p:nvSpPr>
            <p:cNvPr id="66573" name="AutoShape 81"/>
            <p:cNvSpPr>
              <a:spLocks noChangeArrowheads="1"/>
            </p:cNvSpPr>
            <p:nvPr/>
          </p:nvSpPr>
          <p:spPr bwMode="auto">
            <a:xfrm>
              <a:off x="2789" y="2938"/>
              <a:ext cx="180" cy="126"/>
            </a:xfrm>
            <a:prstGeom prst="triangle">
              <a:avLst>
                <a:gd name="adj" fmla="val 50000"/>
              </a:avLst>
            </a:prstGeom>
            <a:solidFill>
              <a:srgbClr val="FFFFFF"/>
            </a:solidFill>
            <a:ln w="9525">
              <a:solidFill>
                <a:schemeClr val="tx1"/>
              </a:solidFill>
              <a:miter lim="800000"/>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800" b="1">
                <a:solidFill>
                  <a:srgbClr val="FFFF00"/>
                </a:solidFill>
                <a:ea typeface="隶书" panose="02010509060101010101" pitchFamily="49" charset="-122"/>
              </a:endParaRPr>
            </a:p>
          </p:txBody>
        </p:sp>
        <p:sp>
          <p:nvSpPr>
            <p:cNvPr id="66574" name="Line 82"/>
            <p:cNvSpPr>
              <a:spLocks noChangeShapeType="1"/>
            </p:cNvSpPr>
            <p:nvPr/>
          </p:nvSpPr>
          <p:spPr bwMode="auto">
            <a:xfrm>
              <a:off x="1285" y="3063"/>
              <a:ext cx="0" cy="14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800" b="1">
                <a:solidFill>
                  <a:srgbClr val="FFFF00"/>
                </a:solidFill>
              </a:endParaRPr>
            </a:p>
          </p:txBody>
        </p:sp>
        <p:sp>
          <p:nvSpPr>
            <p:cNvPr id="66575" name="Line 83"/>
            <p:cNvSpPr>
              <a:spLocks noChangeShapeType="1"/>
            </p:cNvSpPr>
            <p:nvPr/>
          </p:nvSpPr>
          <p:spPr bwMode="auto">
            <a:xfrm>
              <a:off x="2880" y="3058"/>
              <a:ext cx="0" cy="14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800" b="1">
                <a:solidFill>
                  <a:srgbClr val="FFFF00"/>
                </a:solidFill>
              </a:endParaRPr>
            </a:p>
          </p:txBody>
        </p:sp>
        <p:sp>
          <p:nvSpPr>
            <p:cNvPr id="66576" name="Line 84"/>
            <p:cNvSpPr>
              <a:spLocks noChangeShapeType="1"/>
            </p:cNvSpPr>
            <p:nvPr/>
          </p:nvSpPr>
          <p:spPr bwMode="auto">
            <a:xfrm>
              <a:off x="1285" y="3209"/>
              <a:ext cx="159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800" b="1">
                <a:solidFill>
                  <a:srgbClr val="FFFF00"/>
                </a:solidFill>
              </a:endParaRPr>
            </a:p>
          </p:txBody>
        </p:sp>
        <p:sp>
          <p:nvSpPr>
            <p:cNvPr id="66577" name="Line 85"/>
            <p:cNvSpPr>
              <a:spLocks noChangeShapeType="1"/>
            </p:cNvSpPr>
            <p:nvPr/>
          </p:nvSpPr>
          <p:spPr bwMode="auto">
            <a:xfrm flipV="1">
              <a:off x="2128" y="3209"/>
              <a:ext cx="0" cy="16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800" b="1">
                <a:solidFill>
                  <a:srgbClr val="FFFF00"/>
                </a:solidFill>
              </a:endParaRPr>
            </a:p>
          </p:txBody>
        </p:sp>
        <p:grpSp>
          <p:nvGrpSpPr>
            <p:cNvPr id="66578" name="Group 86"/>
            <p:cNvGrpSpPr/>
            <p:nvPr/>
          </p:nvGrpSpPr>
          <p:grpSpPr bwMode="auto">
            <a:xfrm>
              <a:off x="1316" y="1296"/>
              <a:ext cx="1789" cy="607"/>
              <a:chOff x="6978" y="7732"/>
              <a:chExt cx="1816" cy="1665"/>
            </a:xfrm>
          </p:grpSpPr>
          <p:sp>
            <p:nvSpPr>
              <p:cNvPr id="66584" name="Text Box 87"/>
              <p:cNvSpPr txBox="1">
                <a:spLocks noChangeArrowheads="1"/>
              </p:cNvSpPr>
              <p:nvPr/>
            </p:nvSpPr>
            <p:spPr bwMode="auto">
              <a:xfrm>
                <a:off x="6979" y="7732"/>
                <a:ext cx="1815" cy="55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kumimoji="0" lang="en-US" altLang="zh-CN" sz="1800" b="1">
                    <a:solidFill>
                      <a:srgbClr val="FFFF00"/>
                    </a:solidFill>
                  </a:rPr>
                  <a:t>&lt;&lt;virtual&gt;&gt; Base0</a:t>
                </a:r>
                <a:endParaRPr kumimoji="0" lang="en-US" altLang="zh-CN" sz="1800" b="1">
                  <a:solidFill>
                    <a:srgbClr val="FFFF00"/>
                  </a:solidFill>
                </a:endParaRPr>
              </a:p>
            </p:txBody>
          </p:sp>
          <p:sp>
            <p:nvSpPr>
              <p:cNvPr id="66585" name="Text Box 88"/>
              <p:cNvSpPr txBox="1">
                <a:spLocks noChangeArrowheads="1"/>
              </p:cNvSpPr>
              <p:nvPr/>
            </p:nvSpPr>
            <p:spPr bwMode="auto">
              <a:xfrm>
                <a:off x="6978" y="8287"/>
                <a:ext cx="1815" cy="55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800" b="1">
                    <a:solidFill>
                      <a:srgbClr val="FFFF00"/>
                    </a:solidFill>
                  </a:rPr>
                  <a:t>+ var0 : int</a:t>
                </a:r>
                <a:endParaRPr kumimoji="0" lang="en-US" altLang="zh-CN" sz="1800" b="1">
                  <a:solidFill>
                    <a:srgbClr val="FFFF00"/>
                  </a:solidFill>
                </a:endParaRPr>
              </a:p>
            </p:txBody>
          </p:sp>
          <p:sp>
            <p:nvSpPr>
              <p:cNvPr id="66586" name="Text Box 89"/>
              <p:cNvSpPr txBox="1">
                <a:spLocks noChangeArrowheads="1"/>
              </p:cNvSpPr>
              <p:nvPr/>
            </p:nvSpPr>
            <p:spPr bwMode="auto">
              <a:xfrm>
                <a:off x="6978" y="8842"/>
                <a:ext cx="1815" cy="555"/>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kumimoji="0" lang="en-US" altLang="zh-CN" sz="1800" b="1">
                    <a:solidFill>
                      <a:srgbClr val="FFFF00"/>
                    </a:solidFill>
                  </a:rPr>
                  <a:t>+ fun0() : void</a:t>
                </a:r>
                <a:endParaRPr kumimoji="0" lang="en-US" altLang="zh-CN" sz="1800" b="1">
                  <a:solidFill>
                    <a:srgbClr val="FFFF00"/>
                  </a:solidFill>
                </a:endParaRPr>
              </a:p>
            </p:txBody>
          </p:sp>
        </p:grpSp>
        <p:sp>
          <p:nvSpPr>
            <p:cNvPr id="66579" name="AutoShape 90"/>
            <p:cNvSpPr>
              <a:spLocks noChangeArrowheads="1"/>
            </p:cNvSpPr>
            <p:nvPr/>
          </p:nvSpPr>
          <p:spPr bwMode="auto">
            <a:xfrm>
              <a:off x="2037" y="1903"/>
              <a:ext cx="181" cy="126"/>
            </a:xfrm>
            <a:prstGeom prst="triangle">
              <a:avLst>
                <a:gd name="adj" fmla="val 50000"/>
              </a:avLst>
            </a:prstGeom>
            <a:solidFill>
              <a:srgbClr val="FFFFFF"/>
            </a:solidFill>
            <a:ln w="9525">
              <a:solidFill>
                <a:schemeClr val="tx1"/>
              </a:solidFill>
              <a:miter lim="800000"/>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800" b="1">
                <a:solidFill>
                  <a:srgbClr val="FFFF00"/>
                </a:solidFill>
                <a:ea typeface="隶书" panose="02010509060101010101" pitchFamily="49" charset="-122"/>
              </a:endParaRPr>
            </a:p>
          </p:txBody>
        </p:sp>
        <p:sp>
          <p:nvSpPr>
            <p:cNvPr id="66580" name="Line 91"/>
            <p:cNvSpPr>
              <a:spLocks noChangeShapeType="1"/>
            </p:cNvSpPr>
            <p:nvPr/>
          </p:nvSpPr>
          <p:spPr bwMode="auto">
            <a:xfrm>
              <a:off x="1285" y="2176"/>
              <a:ext cx="1595"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800" b="1">
                <a:solidFill>
                  <a:srgbClr val="FFFF00"/>
                </a:solidFill>
              </a:endParaRPr>
            </a:p>
          </p:txBody>
        </p:sp>
        <p:sp>
          <p:nvSpPr>
            <p:cNvPr id="66581" name="Line 92"/>
            <p:cNvSpPr>
              <a:spLocks noChangeShapeType="1"/>
            </p:cNvSpPr>
            <p:nvPr/>
          </p:nvSpPr>
          <p:spPr bwMode="auto">
            <a:xfrm>
              <a:off x="1285" y="2176"/>
              <a:ext cx="0" cy="14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800" b="1">
                <a:solidFill>
                  <a:srgbClr val="FFFF00"/>
                </a:solidFill>
              </a:endParaRPr>
            </a:p>
          </p:txBody>
        </p:sp>
        <p:sp>
          <p:nvSpPr>
            <p:cNvPr id="66582" name="Line 93"/>
            <p:cNvSpPr>
              <a:spLocks noChangeShapeType="1"/>
            </p:cNvSpPr>
            <p:nvPr/>
          </p:nvSpPr>
          <p:spPr bwMode="auto">
            <a:xfrm>
              <a:off x="2880" y="2176"/>
              <a:ext cx="0" cy="14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800" b="1">
                <a:solidFill>
                  <a:srgbClr val="FFFF00"/>
                </a:solidFill>
              </a:endParaRPr>
            </a:p>
          </p:txBody>
        </p:sp>
        <p:sp>
          <p:nvSpPr>
            <p:cNvPr id="66583" name="Line 94"/>
            <p:cNvSpPr>
              <a:spLocks noChangeShapeType="1"/>
            </p:cNvSpPr>
            <p:nvPr/>
          </p:nvSpPr>
          <p:spPr bwMode="auto">
            <a:xfrm>
              <a:off x="2128" y="2029"/>
              <a:ext cx="0" cy="147"/>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800" b="1">
                <a:solidFill>
                  <a:srgbClr val="FFFF00"/>
                </a:solidFill>
              </a:endParaRPr>
            </a:p>
          </p:txBody>
        </p:sp>
      </p:grpSp>
    </p:spTree>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7" name="标题 1"/>
          <p:cNvSpPr>
            <a:spLocks noGrp="1"/>
          </p:cNvSpPr>
          <p:nvPr>
            <p:ph type="title"/>
          </p:nvPr>
        </p:nvSpPr>
        <p:spPr/>
        <p:txBody>
          <a:bodyPr/>
          <a:lstStyle/>
          <a:p>
            <a:pPr eaLnBrk="1" hangingPunct="1"/>
            <a:r>
              <a:rPr lang="zh-CN" altLang="en-US" b="1" smtClean="0"/>
              <a:t>例</a:t>
            </a:r>
            <a:r>
              <a:rPr lang="en-US" altLang="zh-CN" b="1" smtClean="0"/>
              <a:t>7-8 (</a:t>
            </a:r>
            <a:r>
              <a:rPr lang="zh-CN" altLang="en-US" b="1" smtClean="0"/>
              <a:t>续</a:t>
            </a:r>
            <a:r>
              <a:rPr lang="en-US" altLang="zh-CN" b="1" smtClean="0"/>
              <a:t>)</a:t>
            </a:r>
            <a:endParaRPr kumimoji="1" lang="zh-CN" altLang="en-US" b="1" smtClean="0"/>
          </a:p>
        </p:txBody>
      </p:sp>
      <p:sp>
        <p:nvSpPr>
          <p:cNvPr id="67588" name="内容占位符 2"/>
          <p:cNvSpPr>
            <a:spLocks noGrp="1"/>
          </p:cNvSpPr>
          <p:nvPr>
            <p:ph idx="1"/>
          </p:nvPr>
        </p:nvSpPr>
        <p:spPr>
          <a:xfrm>
            <a:off x="683568" y="1556792"/>
            <a:ext cx="7886700" cy="4708981"/>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&lt;</a:t>
            </a:r>
            <a:r>
              <a:rPr kumimoji="0" lang="en-US" altLang="zh-CN" sz="2000" b="1" dirty="0" err="1">
                <a:solidFill>
                  <a:srgbClr val="000000"/>
                </a:solidFill>
                <a:latin typeface="Times New Roman" panose="02020603050405020304" pitchFamily="18" charset="0"/>
                <a:ea typeface="华文楷体" panose="02010600040101010101" pitchFamily="2" charset="-122"/>
              </a:rPr>
              <a:t>iostream</a:t>
            </a:r>
            <a:r>
              <a:rPr kumimoji="0" lang="en-US" altLang="zh-CN" sz="2000" b="1" dirty="0">
                <a:solidFill>
                  <a:srgbClr val="000000"/>
                </a:solidFill>
                <a:latin typeface="Times New Roman" panose="02020603050405020304" pitchFamily="18" charset="0"/>
                <a:ea typeface="华文楷体" panose="02010600040101010101" pitchFamily="2" charset="-122"/>
              </a:rPr>
              <a:t>&gt;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using namespace </a:t>
            </a:r>
            <a:r>
              <a:rPr kumimoji="0" lang="en-US" altLang="zh-CN" sz="2000" b="1" dirty="0" err="1">
                <a:solidFill>
                  <a:srgbClr val="000000"/>
                </a:solidFill>
                <a:latin typeface="Times New Roman" panose="02020603050405020304" pitchFamily="18" charset="0"/>
                <a:ea typeface="华文楷体" panose="02010600040101010101" pitchFamily="2" charset="-122"/>
              </a:rPr>
              <a:t>std</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Base0 {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定义基类</a:t>
            </a:r>
            <a:r>
              <a:rPr kumimoji="0" lang="en-US" altLang="zh-CN" sz="2000" b="1" dirty="0">
                <a:solidFill>
                  <a:srgbClr val="000000"/>
                </a:solidFill>
                <a:latin typeface="Times New Roman" panose="02020603050405020304" pitchFamily="18" charset="0"/>
                <a:ea typeface="华文楷体" panose="02010600040101010101" pitchFamily="2" charset="-122"/>
              </a:rPr>
              <a:t>Base0</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var0;</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fun0() {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"Member of Base0"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Base1: </a:t>
            </a:r>
            <a:r>
              <a:rPr kumimoji="0" lang="en-US" altLang="zh-CN" sz="2000" b="1" dirty="0">
                <a:solidFill>
                  <a:srgbClr val="FF0000"/>
                </a:solidFill>
                <a:latin typeface="Times New Roman" panose="02020603050405020304" pitchFamily="18" charset="0"/>
                <a:ea typeface="华文楷体" panose="02010600040101010101" pitchFamily="2" charset="-122"/>
              </a:rPr>
              <a:t>virtual public Base0 </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定义派生类</a:t>
            </a:r>
            <a:r>
              <a:rPr kumimoji="0" lang="en-US" altLang="zh-CN" sz="2000" b="1" dirty="0">
                <a:solidFill>
                  <a:srgbClr val="000000"/>
                </a:solidFill>
                <a:latin typeface="Times New Roman" panose="02020603050405020304" pitchFamily="18" charset="0"/>
                <a:ea typeface="华文楷体" panose="02010600040101010101" pitchFamily="2" charset="-122"/>
              </a:rPr>
              <a:t>Base1</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新增外部接口</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var1;</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Base2: </a:t>
            </a:r>
            <a:r>
              <a:rPr kumimoji="0" lang="en-US" altLang="zh-CN" sz="2000" b="1" dirty="0">
                <a:solidFill>
                  <a:srgbClr val="FF0000"/>
                </a:solidFill>
                <a:latin typeface="Times New Roman" panose="02020603050405020304" pitchFamily="18" charset="0"/>
                <a:ea typeface="华文楷体" panose="02010600040101010101" pitchFamily="2" charset="-122"/>
              </a:rPr>
              <a:t>virtual public Base0 </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定义派生类</a:t>
            </a:r>
            <a:r>
              <a:rPr kumimoji="0" lang="en-US" altLang="zh-CN" sz="2000" b="1" dirty="0">
                <a:solidFill>
                  <a:srgbClr val="000000"/>
                </a:solidFill>
                <a:latin typeface="Times New Roman" panose="02020603050405020304" pitchFamily="18" charset="0"/>
                <a:ea typeface="华文楷体" panose="02010600040101010101" pitchFamily="2" charset="-122"/>
              </a:rPr>
              <a:t>Base2</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新增外部接口</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var2;</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1" name="标题 1"/>
          <p:cNvSpPr>
            <a:spLocks noGrp="1"/>
          </p:cNvSpPr>
          <p:nvPr>
            <p:ph type="title"/>
          </p:nvPr>
        </p:nvSpPr>
        <p:spPr/>
        <p:txBody>
          <a:bodyPr/>
          <a:lstStyle/>
          <a:p>
            <a:pPr eaLnBrk="1" hangingPunct="1"/>
            <a:r>
              <a:rPr lang="zh-CN" altLang="en-US" b="1" dirty="0" smtClean="0"/>
              <a:t>例</a:t>
            </a:r>
            <a:r>
              <a:rPr lang="en-US" altLang="zh-CN" b="1" dirty="0" smtClean="0"/>
              <a:t>7-8 (</a:t>
            </a:r>
            <a:r>
              <a:rPr lang="zh-CN" altLang="en-US" b="1" dirty="0" smtClean="0"/>
              <a:t>续</a:t>
            </a:r>
            <a:r>
              <a:rPr lang="en-US" altLang="zh-CN" b="1" dirty="0" smtClean="0"/>
              <a:t>)</a:t>
            </a:r>
            <a:endParaRPr kumimoji="1" lang="zh-CN" altLang="en-US" b="1" dirty="0" smtClean="0"/>
          </a:p>
        </p:txBody>
      </p:sp>
      <p:sp>
        <p:nvSpPr>
          <p:cNvPr id="68612" name="内容占位符 2"/>
          <p:cNvSpPr>
            <a:spLocks noGrp="1"/>
          </p:cNvSpPr>
          <p:nvPr>
            <p:ph idx="1"/>
          </p:nvPr>
        </p:nvSpPr>
        <p:spPr>
          <a:xfrm>
            <a:off x="628650" y="1825625"/>
            <a:ext cx="7886700" cy="4708981"/>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Derived: public Base1, public Base2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zh-CN" altLang="en-US" sz="2000" b="1" dirty="0">
                <a:solidFill>
                  <a:srgbClr val="000000"/>
                </a:solidFill>
                <a:latin typeface="Times New Roman" panose="02020603050405020304" pitchFamily="18" charset="0"/>
                <a:ea typeface="华文楷体" panose="02010600040101010101" pitchFamily="2" charset="-122"/>
              </a:rPr>
              <a:t>定义派生类</a:t>
            </a:r>
            <a:r>
              <a:rPr kumimoji="0" lang="en-US" altLang="zh-CN" sz="2000" b="1" dirty="0">
                <a:solidFill>
                  <a:srgbClr val="000000"/>
                </a:solidFill>
                <a:latin typeface="Times New Roman" panose="02020603050405020304" pitchFamily="18" charset="0"/>
                <a:ea typeface="华文楷体" panose="02010600040101010101" pitchFamily="2" charset="-122"/>
              </a:rPr>
              <a:t>Derived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新增外部接口</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var</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fun()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"Member of Derived"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main() {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zh-CN" altLang="en-US" sz="2000" b="1" dirty="0">
                <a:solidFill>
                  <a:srgbClr val="000000"/>
                </a:solidFill>
                <a:latin typeface="Times New Roman" panose="02020603050405020304" pitchFamily="18" charset="0"/>
                <a:ea typeface="华文楷体" panose="02010600040101010101" pitchFamily="2" charset="-122"/>
              </a:rPr>
              <a:t>程序主函数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Derived d;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定义</a:t>
            </a:r>
            <a:r>
              <a:rPr kumimoji="0" lang="en-US" altLang="zh-CN" sz="2000" b="1" dirty="0">
                <a:solidFill>
                  <a:srgbClr val="000000"/>
                </a:solidFill>
                <a:latin typeface="Times New Roman" panose="02020603050405020304" pitchFamily="18" charset="0"/>
                <a:ea typeface="华文楷体" panose="02010600040101010101" pitchFamily="2" charset="-122"/>
              </a:rPr>
              <a:t>Derived</a:t>
            </a:r>
            <a:r>
              <a:rPr kumimoji="0" lang="zh-CN" altLang="en-US" sz="2000" b="1" dirty="0">
                <a:solidFill>
                  <a:srgbClr val="000000"/>
                </a:solidFill>
                <a:latin typeface="Times New Roman" panose="02020603050405020304" pitchFamily="18" charset="0"/>
                <a:ea typeface="华文楷体" panose="02010600040101010101" pitchFamily="2" charset="-122"/>
              </a:rPr>
              <a:t>类对象</a:t>
            </a:r>
            <a:r>
              <a:rPr kumimoji="0" lang="en-US" altLang="zh-CN" sz="2000" b="1" dirty="0">
                <a:solidFill>
                  <a:srgbClr val="000000"/>
                </a:solidFill>
                <a:latin typeface="Times New Roman" panose="02020603050405020304" pitchFamily="18" charset="0"/>
                <a:ea typeface="华文楷体" panose="02010600040101010101" pitchFamily="2" charset="-122"/>
              </a:rPr>
              <a:t>d</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d.var0 = 2;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直接访问虚基类的数据成员</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d.fun0();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zh-CN" altLang="en-US" sz="2000" b="1" dirty="0">
                <a:solidFill>
                  <a:srgbClr val="000000"/>
                </a:solidFill>
                <a:latin typeface="Times New Roman" panose="02020603050405020304" pitchFamily="18" charset="0"/>
                <a:ea typeface="华文楷体" panose="02010600040101010101" pitchFamily="2" charset="-122"/>
              </a:rPr>
              <a:t>直接访问虚基类的函数成员</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return 0;</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000" b="1">
                <a:latin typeface="Times New Roman" panose="02020603050405020304" pitchFamily="18" charset="0"/>
                <a:ea typeface="隶书" panose="02010509060101010101" pitchFamily="49" charset="-122"/>
              </a:rPr>
              <a:t>7.5.3 </a:t>
            </a:r>
            <a:r>
              <a:rPr lang="zh-CN" altLang="en-US" sz="4000" b="1">
                <a:latin typeface="Times New Roman" panose="02020603050405020304" pitchFamily="18" charset="0"/>
                <a:ea typeface="隶书" panose="02010509060101010101" pitchFamily="49" charset="-122"/>
              </a:rPr>
              <a:t>虚基类及其派生类构造函数</a:t>
            </a:r>
            <a:endParaRPr lang="zh-CN" altLang="en-US" sz="4000" b="1">
              <a:latin typeface="Times New Roman" panose="02020603050405020304" pitchFamily="18" charset="0"/>
              <a:ea typeface="隶书" panose="02010509060101010101" pitchFamily="49" charset="-122"/>
            </a:endParaRPr>
          </a:p>
        </p:txBody>
      </p:sp>
      <p:sp>
        <p:nvSpPr>
          <p:cNvPr id="69635" name="内容占位符 2"/>
          <p:cNvSpPr>
            <a:spLocks noGrp="1"/>
          </p:cNvSpPr>
          <p:nvPr>
            <p:ph idx="1"/>
          </p:nvPr>
        </p:nvSpPr>
        <p:spPr/>
        <p:txBody>
          <a:bodyPr/>
          <a:lstStyle/>
          <a:p>
            <a:pPr>
              <a:spcAft>
                <a:spcPct val="25000"/>
              </a:spcAft>
            </a:pPr>
            <a:r>
              <a:rPr lang="zh-CN" altLang="en-US" sz="2400" b="1" dirty="0">
                <a:ea typeface="华文楷体" panose="02010600040101010101" pitchFamily="2" charset="-122"/>
              </a:rPr>
              <a:t>建立对象时所指定的类称为最（远）派生类。</a:t>
            </a:r>
            <a:endParaRPr lang="zh-CN" altLang="en-US" sz="2400" b="1" dirty="0">
              <a:ea typeface="华文楷体" panose="02010600040101010101" pitchFamily="2" charset="-122"/>
            </a:endParaRPr>
          </a:p>
          <a:p>
            <a:pPr>
              <a:spcAft>
                <a:spcPct val="25000"/>
              </a:spcAft>
            </a:pPr>
            <a:r>
              <a:rPr lang="zh-CN" altLang="en-US" sz="2400" b="1" dirty="0">
                <a:ea typeface="华文楷体" panose="02010600040101010101" pitchFamily="2" charset="-122"/>
              </a:rPr>
              <a:t>虚基类的成员是由</a:t>
            </a:r>
            <a:r>
              <a:rPr lang="zh-CN" altLang="en-US" sz="2400" b="1" dirty="0">
                <a:solidFill>
                  <a:srgbClr val="FFFF00"/>
                </a:solidFill>
                <a:ea typeface="华文楷体" panose="02010600040101010101" pitchFamily="2" charset="-122"/>
              </a:rPr>
              <a:t>最</a:t>
            </a:r>
            <a:r>
              <a:rPr lang="zh-CN" altLang="en-US" sz="2400" b="1" dirty="0">
                <a:solidFill>
                  <a:srgbClr val="FFFF00"/>
                </a:solidFill>
                <a:ea typeface="华文楷体" panose="02010600040101010101" pitchFamily="2" charset="-122"/>
              </a:rPr>
              <a:t>远派生类的构造函数通过调用虚基类的构造函数进行初始化</a:t>
            </a:r>
            <a:r>
              <a:rPr lang="zh-CN" altLang="en-US" sz="2400" b="1" dirty="0">
                <a:ea typeface="华文楷体" panose="02010600040101010101" pitchFamily="2" charset="-122"/>
              </a:rPr>
              <a:t>的。</a:t>
            </a:r>
            <a:endParaRPr lang="zh-CN" altLang="en-US" sz="2400" b="1" dirty="0">
              <a:ea typeface="华文楷体" panose="02010600040101010101" pitchFamily="2" charset="-122"/>
            </a:endParaRPr>
          </a:p>
          <a:p>
            <a:pPr>
              <a:spcAft>
                <a:spcPct val="25000"/>
              </a:spcAft>
            </a:pPr>
            <a:r>
              <a:rPr lang="zh-CN" altLang="en-US" sz="2400" b="1" dirty="0">
                <a:ea typeface="华文楷体" panose="02010600040101010101" pitchFamily="2" charset="-122"/>
              </a:rPr>
              <a:t>在整个继承结构中，</a:t>
            </a:r>
            <a:r>
              <a:rPr lang="zh-CN" altLang="en-US" sz="2400" b="1" dirty="0">
                <a:solidFill>
                  <a:srgbClr val="FFFF00"/>
                </a:solidFill>
                <a:ea typeface="华文楷体" panose="02010600040101010101" pitchFamily="2" charset="-122"/>
              </a:rPr>
              <a:t>直接或间接继承虚基类的所有派生类，都必须在构造函数的成员初始化表中给出对虚基类的构造函数的调用。</a:t>
            </a:r>
            <a:r>
              <a:rPr lang="zh-CN" altLang="en-US" sz="2400" b="1" dirty="0">
                <a:ea typeface="华文楷体" panose="02010600040101010101" pitchFamily="2" charset="-122"/>
              </a:rPr>
              <a:t>如果未列出，则表示调用该虚基类的默认构造函数。</a:t>
            </a:r>
            <a:endParaRPr lang="zh-CN" altLang="en-US" sz="2400" b="1" dirty="0">
              <a:ea typeface="华文楷体" panose="02010600040101010101" pitchFamily="2" charset="-122"/>
            </a:endParaRPr>
          </a:p>
          <a:p>
            <a:pPr>
              <a:spcAft>
                <a:spcPct val="25000"/>
              </a:spcAft>
            </a:pPr>
            <a:r>
              <a:rPr lang="zh-CN" altLang="en-US" sz="2400" b="1" dirty="0">
                <a:ea typeface="华文楷体" panose="02010600040101010101" pitchFamily="2" charset="-122"/>
              </a:rPr>
              <a:t>在建立对象时，</a:t>
            </a:r>
            <a:r>
              <a:rPr lang="zh-CN" altLang="en-US" sz="2400" b="1" dirty="0">
                <a:solidFill>
                  <a:srgbClr val="FFFF00"/>
                </a:solidFill>
                <a:ea typeface="华文楷体" panose="02010600040101010101" pitchFamily="2" charset="-122"/>
              </a:rPr>
              <a:t>只有最派生类的构造函数调用虚基类的构造函数，</a:t>
            </a:r>
            <a:r>
              <a:rPr lang="zh-CN" altLang="en-US" sz="2400" b="1" dirty="0">
                <a:ea typeface="华文楷体" panose="02010600040101010101" pitchFamily="2" charset="-122"/>
              </a:rPr>
              <a:t>该派生类的其他基类对虚基类构造函数的调用被忽略。</a:t>
            </a:r>
            <a:endParaRPr lang="zh-CN" altLang="en-US" sz="2400" b="1" dirty="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59" name="标题 1"/>
          <p:cNvSpPr>
            <a:spLocks noGrp="1"/>
          </p:cNvSpPr>
          <p:nvPr>
            <p:ph type="title"/>
          </p:nvPr>
        </p:nvSpPr>
        <p:spPr>
          <a:xfrm>
            <a:off x="539552" y="260648"/>
            <a:ext cx="8229600" cy="908050"/>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000" b="1" dirty="0">
                <a:latin typeface="Times New Roman" panose="02020603050405020304" pitchFamily="18" charset="0"/>
                <a:ea typeface="隶书" panose="02010509060101010101" pitchFamily="49" charset="-122"/>
              </a:rPr>
              <a:t>有虚基类时的构造函数举例</a:t>
            </a:r>
            <a:endParaRPr lang="zh-CN" altLang="en-US" sz="4000" b="1" dirty="0">
              <a:latin typeface="Times New Roman" panose="02020603050405020304" pitchFamily="18" charset="0"/>
              <a:ea typeface="隶书" panose="02010509060101010101" pitchFamily="49" charset="-122"/>
            </a:endParaRPr>
          </a:p>
        </p:txBody>
      </p:sp>
      <p:sp>
        <p:nvSpPr>
          <p:cNvPr id="70660" name="内容占位符 2"/>
          <p:cNvSpPr>
            <a:spLocks noGrp="1"/>
          </p:cNvSpPr>
          <p:nvPr>
            <p:ph idx="1"/>
          </p:nvPr>
        </p:nvSpPr>
        <p:spPr>
          <a:xfrm>
            <a:off x="467544" y="917912"/>
            <a:ext cx="8229600" cy="5940088"/>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&lt;</a:t>
            </a:r>
            <a:r>
              <a:rPr kumimoji="0" lang="en-US" altLang="zh-CN" sz="2000" b="1" dirty="0" err="1">
                <a:solidFill>
                  <a:srgbClr val="000000"/>
                </a:solidFill>
                <a:latin typeface="Times New Roman" panose="02020603050405020304" pitchFamily="18" charset="0"/>
                <a:ea typeface="华文楷体" panose="02010600040101010101" pitchFamily="2" charset="-122"/>
              </a:rPr>
              <a:t>iostream</a:t>
            </a:r>
            <a:r>
              <a:rPr kumimoji="0" lang="en-US" altLang="zh-CN" sz="2000" b="1" dirty="0">
                <a:solidFill>
                  <a:srgbClr val="000000"/>
                </a:solidFill>
                <a:latin typeface="Times New Roman" panose="02020603050405020304" pitchFamily="18" charset="0"/>
                <a:ea typeface="华文楷体" panose="02010600040101010101" pitchFamily="2" charset="-122"/>
              </a:rPr>
              <a:t>&gt;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using namespace </a:t>
            </a:r>
            <a:r>
              <a:rPr kumimoji="0" lang="en-US" altLang="zh-CN" sz="2000" b="1" dirty="0" err="1">
                <a:solidFill>
                  <a:srgbClr val="000000"/>
                </a:solidFill>
                <a:latin typeface="Times New Roman" panose="02020603050405020304" pitchFamily="18" charset="0"/>
                <a:ea typeface="华文楷体" panose="02010600040101010101" pitchFamily="2" charset="-122"/>
              </a:rPr>
              <a:t>std</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Base0 {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定义基类</a:t>
            </a:r>
            <a:r>
              <a:rPr kumimoji="0" lang="en-US" altLang="zh-CN" sz="2000" b="1" dirty="0">
                <a:solidFill>
                  <a:srgbClr val="000000"/>
                </a:solidFill>
                <a:latin typeface="Times New Roman" panose="02020603050405020304" pitchFamily="18" charset="0"/>
                <a:ea typeface="华文楷体" panose="02010600040101010101" pitchFamily="2" charset="-122"/>
              </a:rPr>
              <a:t>Base0</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Base0(</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var</a:t>
            </a:r>
            <a:r>
              <a:rPr kumimoji="0" lang="en-US" altLang="zh-CN" sz="2000" b="1" dirty="0">
                <a:solidFill>
                  <a:srgbClr val="000000"/>
                </a:solidFill>
                <a:latin typeface="Times New Roman" panose="02020603050405020304" pitchFamily="18" charset="0"/>
                <a:ea typeface="华文楷体" panose="02010600040101010101" pitchFamily="2" charset="-122"/>
              </a:rPr>
              <a:t>) : var0(</a:t>
            </a:r>
            <a:r>
              <a:rPr kumimoji="0" lang="en-US" altLang="zh-CN" sz="2000" b="1" dirty="0" err="1">
                <a:solidFill>
                  <a:srgbClr val="000000"/>
                </a:solidFill>
                <a:latin typeface="Times New Roman" panose="02020603050405020304" pitchFamily="18" charset="0"/>
                <a:ea typeface="华文楷体" panose="02010600040101010101" pitchFamily="2" charset="-122"/>
              </a:rPr>
              <a:t>var</a:t>
            </a:r>
            <a:r>
              <a:rPr kumimoji="0" lang="en-US" altLang="zh-CN" sz="2000" b="1" dirty="0">
                <a:solidFill>
                  <a:srgbClr val="000000"/>
                </a:solidFill>
                <a:latin typeface="Times New Roman" panose="02020603050405020304" pitchFamily="18" charset="0"/>
                <a:ea typeface="华文楷体" panose="02010600040101010101" pitchFamily="2" charset="-122"/>
              </a:rPr>
              <a:t>) {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var0;</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fun0() {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"Member of Base0"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Base1: virtual public Base0 {	//</a:t>
            </a:r>
            <a:r>
              <a:rPr kumimoji="0" lang="zh-CN" altLang="en-US" sz="2000" b="1" dirty="0">
                <a:solidFill>
                  <a:srgbClr val="000000"/>
                </a:solidFill>
                <a:latin typeface="Times New Roman" panose="02020603050405020304" pitchFamily="18" charset="0"/>
                <a:ea typeface="华文楷体" panose="02010600040101010101" pitchFamily="2" charset="-122"/>
              </a:rPr>
              <a:t>定义派生类</a:t>
            </a:r>
            <a:r>
              <a:rPr kumimoji="0" lang="en-US" altLang="zh-CN" sz="2000" b="1" dirty="0">
                <a:solidFill>
                  <a:srgbClr val="000000"/>
                </a:solidFill>
                <a:latin typeface="Times New Roman" panose="02020603050405020304" pitchFamily="18" charset="0"/>
                <a:ea typeface="华文楷体" panose="02010600040101010101" pitchFamily="2" charset="-122"/>
              </a:rPr>
              <a:t>Base1</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新增外部接口</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Base1(</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var</a:t>
            </a:r>
            <a:r>
              <a:rPr kumimoji="0" lang="en-US" altLang="zh-CN" sz="2000" b="1" dirty="0">
                <a:solidFill>
                  <a:srgbClr val="000000"/>
                </a:solidFill>
                <a:latin typeface="Times New Roman" panose="02020603050405020304" pitchFamily="18" charset="0"/>
                <a:ea typeface="华文楷体" panose="02010600040101010101" pitchFamily="2" charset="-122"/>
              </a:rPr>
              <a:t>) : Base0(</a:t>
            </a:r>
            <a:r>
              <a:rPr kumimoji="0" lang="en-US" altLang="zh-CN" sz="2000" b="1" dirty="0" err="1">
                <a:solidFill>
                  <a:srgbClr val="000000"/>
                </a:solidFill>
                <a:latin typeface="Times New Roman" panose="02020603050405020304" pitchFamily="18" charset="0"/>
                <a:ea typeface="华文楷体" panose="02010600040101010101" pitchFamily="2" charset="-122"/>
              </a:rPr>
              <a:t>var</a:t>
            </a:r>
            <a:r>
              <a:rPr kumimoji="0" lang="en-US" altLang="zh-CN" sz="2000" b="1" dirty="0">
                <a:solidFill>
                  <a:srgbClr val="000000"/>
                </a:solidFill>
                <a:latin typeface="Times New Roman" panose="02020603050405020304" pitchFamily="18" charset="0"/>
                <a:ea typeface="华文楷体" panose="02010600040101010101" pitchFamily="2" charset="-122"/>
              </a:rPr>
              <a:t>) {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var1;</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Base2: virtual public Base0 {	//</a:t>
            </a:r>
            <a:r>
              <a:rPr kumimoji="0" lang="zh-CN" altLang="en-US" sz="2000" b="1" dirty="0">
                <a:solidFill>
                  <a:srgbClr val="000000"/>
                </a:solidFill>
                <a:latin typeface="Times New Roman" panose="02020603050405020304" pitchFamily="18" charset="0"/>
                <a:ea typeface="华文楷体" panose="02010600040101010101" pitchFamily="2" charset="-122"/>
              </a:rPr>
              <a:t>定义派生类</a:t>
            </a:r>
            <a:r>
              <a:rPr kumimoji="0" lang="en-US" altLang="zh-CN" sz="2000" b="1" dirty="0">
                <a:solidFill>
                  <a:srgbClr val="000000"/>
                </a:solidFill>
                <a:latin typeface="Times New Roman" panose="02020603050405020304" pitchFamily="18" charset="0"/>
                <a:ea typeface="华文楷体" panose="02010600040101010101" pitchFamily="2" charset="-122"/>
              </a:rPr>
              <a:t>Base2</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新增外部接口</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Base2(</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var</a:t>
            </a:r>
            <a:r>
              <a:rPr kumimoji="0" lang="en-US" altLang="zh-CN" sz="2000" b="1" dirty="0">
                <a:solidFill>
                  <a:srgbClr val="000000"/>
                </a:solidFill>
                <a:latin typeface="Times New Roman" panose="02020603050405020304" pitchFamily="18" charset="0"/>
                <a:ea typeface="华文楷体" panose="02010600040101010101" pitchFamily="2" charset="-122"/>
              </a:rPr>
              <a:t>) : Base0(</a:t>
            </a:r>
            <a:r>
              <a:rPr kumimoji="0" lang="en-US" altLang="zh-CN" sz="2000" b="1" dirty="0" err="1">
                <a:solidFill>
                  <a:srgbClr val="000000"/>
                </a:solidFill>
                <a:latin typeface="Times New Roman" panose="02020603050405020304" pitchFamily="18" charset="0"/>
                <a:ea typeface="华文楷体" panose="02010600040101010101" pitchFamily="2" charset="-122"/>
              </a:rPr>
              <a:t>var</a:t>
            </a:r>
            <a:r>
              <a:rPr kumimoji="0" lang="en-US" altLang="zh-CN" sz="2000" b="1" dirty="0">
                <a:solidFill>
                  <a:srgbClr val="000000"/>
                </a:solidFill>
                <a:latin typeface="Times New Roman" panose="02020603050405020304" pitchFamily="18" charset="0"/>
                <a:ea typeface="华文楷体" panose="02010600040101010101" pitchFamily="2" charset="-122"/>
              </a:rPr>
              <a:t>) {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var2;</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683"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有虚基类时的构造函数举例</a:t>
            </a:r>
            <a:r>
              <a:rPr lang="en-US" altLang="zh-CN" sz="4400" b="1">
                <a:latin typeface="Times New Roman" panose="02020603050405020304" pitchFamily="18" charset="0"/>
                <a:ea typeface="隶书" panose="02010509060101010101" pitchFamily="49" charset="-122"/>
              </a:rPr>
              <a:t> (</a:t>
            </a:r>
            <a:r>
              <a:rPr lang="zh-CN" altLang="en-US" sz="4400" b="1">
                <a:latin typeface="Times New Roman" panose="02020603050405020304" pitchFamily="18" charset="0"/>
                <a:ea typeface="隶书" panose="02010509060101010101" pitchFamily="49" charset="-122"/>
              </a:rPr>
              <a:t>续</a:t>
            </a:r>
            <a:r>
              <a:rPr lang="en-US" altLang="zh-CN" sz="4400" b="1">
                <a:latin typeface="Times New Roman" panose="02020603050405020304" pitchFamily="18" charset="0"/>
                <a:ea typeface="隶书" panose="02010509060101010101" pitchFamily="49" charset="-122"/>
              </a:rPr>
              <a:t>)</a:t>
            </a:r>
            <a:endParaRPr lang="zh-CN" altLang="en-US" sz="4400" b="1">
              <a:latin typeface="Times New Roman" panose="02020603050405020304" pitchFamily="18" charset="0"/>
              <a:ea typeface="隶书" panose="02010509060101010101" pitchFamily="49" charset="-122"/>
            </a:endParaRPr>
          </a:p>
        </p:txBody>
      </p:sp>
      <p:sp>
        <p:nvSpPr>
          <p:cNvPr id="71684" name="内容占位符 2"/>
          <p:cNvSpPr>
            <a:spLocks noGrp="1"/>
          </p:cNvSpPr>
          <p:nvPr>
            <p:ph idx="1"/>
          </p:nvPr>
        </p:nvSpPr>
        <p:spPr>
          <a:xfrm>
            <a:off x="628650" y="1825625"/>
            <a:ext cx="7886700" cy="4401205"/>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Derived: public Base1, public Base2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r>
              <a:rPr kumimoji="0" lang="zh-CN" altLang="en-US" sz="2000" b="1" dirty="0">
                <a:solidFill>
                  <a:srgbClr val="000000"/>
                </a:solidFill>
                <a:latin typeface="Times New Roman" panose="02020603050405020304" pitchFamily="18" charset="0"/>
                <a:ea typeface="华文楷体" panose="02010600040101010101" pitchFamily="2" charset="-122"/>
              </a:rPr>
              <a:t>定义派生类</a:t>
            </a:r>
            <a:r>
              <a:rPr kumimoji="0" lang="en-US" altLang="zh-CN" sz="2000" b="1" dirty="0">
                <a:solidFill>
                  <a:srgbClr val="000000"/>
                </a:solidFill>
                <a:latin typeface="Times New Roman" panose="02020603050405020304" pitchFamily="18" charset="0"/>
                <a:ea typeface="华文楷体" panose="02010600040101010101" pitchFamily="2" charset="-122"/>
              </a:rPr>
              <a:t>Derived</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新增外部接口</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Derived(</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var</a:t>
            </a:r>
            <a:r>
              <a:rPr kumimoji="0" lang="en-US" altLang="zh-CN" sz="2000" b="1" dirty="0">
                <a:solidFill>
                  <a:srgbClr val="000000"/>
                </a:solidFill>
                <a:latin typeface="Times New Roman" panose="02020603050405020304" pitchFamily="18" charset="0"/>
                <a:ea typeface="华文楷体" panose="02010600040101010101" pitchFamily="2" charset="-122"/>
              </a:rPr>
              <a:t>) : Base0(</a:t>
            </a:r>
            <a:r>
              <a:rPr kumimoji="0" lang="en-US" altLang="zh-CN" sz="2000" b="1" dirty="0" err="1">
                <a:solidFill>
                  <a:srgbClr val="000000"/>
                </a:solidFill>
                <a:latin typeface="Times New Roman" panose="02020603050405020304" pitchFamily="18" charset="0"/>
                <a:ea typeface="华文楷体" panose="02010600040101010101" pitchFamily="2" charset="-122"/>
              </a:rPr>
              <a:t>var</a:t>
            </a:r>
            <a:r>
              <a:rPr kumimoji="0" lang="en-US" altLang="zh-CN" sz="2000" b="1" dirty="0">
                <a:solidFill>
                  <a:srgbClr val="000000"/>
                </a:solidFill>
                <a:latin typeface="Times New Roman" panose="02020603050405020304" pitchFamily="18" charset="0"/>
                <a:ea typeface="华文楷体" panose="02010600040101010101" pitchFamily="2" charset="-122"/>
              </a:rPr>
              <a:t>), Base1(</a:t>
            </a:r>
            <a:r>
              <a:rPr kumimoji="0" lang="en-US" altLang="zh-CN" sz="2000" b="1" dirty="0" err="1">
                <a:solidFill>
                  <a:srgbClr val="000000"/>
                </a:solidFill>
                <a:latin typeface="Times New Roman" panose="02020603050405020304" pitchFamily="18" charset="0"/>
                <a:ea typeface="华文楷体" panose="02010600040101010101" pitchFamily="2" charset="-122"/>
              </a:rPr>
              <a:t>var</a:t>
            </a:r>
            <a:r>
              <a:rPr kumimoji="0" lang="en-US" altLang="zh-CN" sz="2000" b="1" dirty="0">
                <a:solidFill>
                  <a:srgbClr val="000000"/>
                </a:solidFill>
                <a:latin typeface="Times New Roman" panose="02020603050405020304" pitchFamily="18" charset="0"/>
                <a:ea typeface="华文楷体" panose="02010600040101010101" pitchFamily="2" charset="-122"/>
              </a:rPr>
              <a:t>), Base2(</a:t>
            </a:r>
            <a:r>
              <a:rPr kumimoji="0" lang="en-US" altLang="zh-CN" sz="2000" b="1" dirty="0" err="1">
                <a:solidFill>
                  <a:srgbClr val="000000"/>
                </a:solidFill>
                <a:latin typeface="Times New Roman" panose="02020603050405020304" pitchFamily="18" charset="0"/>
                <a:ea typeface="华文楷体" panose="02010600040101010101" pitchFamily="2" charset="-122"/>
              </a:rPr>
              <a:t>var</a:t>
            </a:r>
            <a:r>
              <a:rPr kumimoji="0" lang="en-US" altLang="zh-CN" sz="2000" b="1" dirty="0">
                <a:solidFill>
                  <a:srgbClr val="000000"/>
                </a:solidFill>
                <a:latin typeface="Times New Roman" panose="02020603050405020304" pitchFamily="18" charset="0"/>
                <a:ea typeface="华文楷体" panose="02010600040101010101" pitchFamily="2" charset="-122"/>
              </a:rPr>
              <a:t>) {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var</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fun() {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"Member of Derived"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main() {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程序主函数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Derived d(1);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定义</a:t>
            </a:r>
            <a:r>
              <a:rPr kumimoji="0" lang="en-US" altLang="zh-CN" sz="2000" b="1" dirty="0">
                <a:solidFill>
                  <a:srgbClr val="000000"/>
                </a:solidFill>
                <a:latin typeface="Times New Roman" panose="02020603050405020304" pitchFamily="18" charset="0"/>
                <a:ea typeface="华文楷体" panose="02010600040101010101" pitchFamily="2" charset="-122"/>
              </a:rPr>
              <a:t>Derived</a:t>
            </a:r>
            <a:r>
              <a:rPr kumimoji="0" lang="zh-CN" altLang="en-US" sz="2000" b="1" dirty="0">
                <a:solidFill>
                  <a:srgbClr val="000000"/>
                </a:solidFill>
                <a:latin typeface="Times New Roman" panose="02020603050405020304" pitchFamily="18" charset="0"/>
                <a:ea typeface="华文楷体" panose="02010600040101010101" pitchFamily="2" charset="-122"/>
              </a:rPr>
              <a:t>类对象</a:t>
            </a:r>
            <a:r>
              <a:rPr kumimoji="0" lang="en-US" altLang="zh-CN" sz="2000" b="1" dirty="0">
                <a:solidFill>
                  <a:srgbClr val="000000"/>
                </a:solidFill>
                <a:latin typeface="Times New Roman" panose="02020603050405020304" pitchFamily="18" charset="0"/>
                <a:ea typeface="华文楷体" panose="02010600040101010101" pitchFamily="2" charset="-122"/>
              </a:rPr>
              <a:t>d</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d.var0 = 2;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直接访问虚基类的数据成员</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d.fun0();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直接访问虚基类的函数成员</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return 0;</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6" name="Rectangle 2"/>
          <p:cNvSpPr>
            <a:spLocks noGrp="1" noChangeArrowheads="1"/>
          </p:cNvSpPr>
          <p:nvPr>
            <p:ph type="title"/>
          </p:nvPr>
        </p:nvSpPr>
        <p:spPr bwMode="auto">
          <a:xfrm>
            <a:off x="539552" y="1124744"/>
            <a:ext cx="7990656" cy="12954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lnSpc>
                <a:spcPct val="200000"/>
              </a:lnSpc>
              <a:buFont typeface="+mj-lt"/>
              <a:buAutoNum type="arabicPeriod" startAt="6"/>
            </a:pPr>
            <a:r>
              <a:rPr lang="zh-CN" altLang="en-US" sz="6000" b="1" dirty="0" smtClean="0">
                <a:ea typeface="华文彩云" panose="02010800040101010101" pitchFamily="2" charset="-122"/>
              </a:rPr>
              <a:t>程序实例</a:t>
            </a:r>
            <a:br>
              <a:rPr lang="en-US" altLang="zh-CN" sz="6000" b="1" dirty="0" smtClean="0">
                <a:ea typeface="华文彩云" panose="02010800040101010101" pitchFamily="2" charset="-122"/>
              </a:rPr>
            </a:br>
            <a:r>
              <a:rPr lang="en-US" altLang="zh-CN" b="1" dirty="0" smtClean="0">
                <a:ea typeface="华文彩云" panose="02010800040101010101" pitchFamily="2" charset="-122"/>
              </a:rPr>
              <a:t>——</a:t>
            </a:r>
            <a:r>
              <a:rPr lang="zh-CN" altLang="en-US" b="1" dirty="0" smtClean="0">
                <a:ea typeface="华文彩云" panose="02010800040101010101" pitchFamily="2" charset="-122"/>
              </a:rPr>
              <a:t>用高斯消去法解线性方程组</a:t>
            </a:r>
            <a:endParaRPr lang="zh-CN" altLang="en-US" dirty="0"/>
          </a:p>
        </p:txBody>
      </p:sp>
      <p:pic>
        <p:nvPicPr>
          <p:cNvPr id="641032" name="Picture 8" descr="surfer4"/>
          <p:cNvPicPr>
            <a:picLocks noChangeAspect="1" noChangeArrowheads="1" noCrop="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372200" y="3933056"/>
            <a:ext cx="2000251" cy="2667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内容占位符 2"/>
          <p:cNvSpPr>
            <a:spLocks noGrp="1"/>
          </p:cNvSpPr>
          <p:nvPr>
            <p:ph idx="1"/>
          </p:nvPr>
        </p:nvSpPr>
        <p:spPr>
          <a:xfrm>
            <a:off x="357188" y="1857375"/>
            <a:ext cx="8229600" cy="4787900"/>
          </a:xfrm>
        </p:spPr>
        <p:txBody>
          <a:bodyPr/>
          <a:lstStyle/>
          <a:p>
            <a:pPr>
              <a:spcAft>
                <a:spcPct val="25000"/>
              </a:spcAft>
            </a:pPr>
            <a:r>
              <a:rPr lang="zh-CN" altLang="en-US" sz="2400" b="1">
                <a:solidFill>
                  <a:srgbClr val="FFFF00"/>
                </a:solidFill>
                <a:ea typeface="华文楷体" panose="02010600040101010101" pitchFamily="2" charset="-122"/>
              </a:rPr>
              <a:t>算法原理求解</a:t>
            </a:r>
            <a:r>
              <a:rPr lang="en-US" altLang="zh-CN" sz="2400" b="1">
                <a:solidFill>
                  <a:srgbClr val="FFFF00"/>
                </a:solidFill>
                <a:ea typeface="华文楷体" panose="02010600040101010101" pitchFamily="2" charset="-122"/>
              </a:rPr>
              <a:t>Ax = b</a:t>
            </a:r>
            <a:endParaRPr lang="en-US" altLang="zh-CN" sz="2400" b="1">
              <a:solidFill>
                <a:srgbClr val="FFFF00"/>
              </a:solidFill>
              <a:ea typeface="华文楷体" panose="02010600040101010101" pitchFamily="2" charset="-122"/>
            </a:endParaRPr>
          </a:p>
          <a:p>
            <a:pPr>
              <a:spcAft>
                <a:spcPct val="25000"/>
              </a:spcAft>
            </a:pPr>
            <a:endParaRPr lang="en-US" altLang="zh-CN" sz="2400" b="1">
              <a:solidFill>
                <a:srgbClr val="FFFF00"/>
              </a:solidFill>
              <a:ea typeface="华文楷体" panose="02010600040101010101" pitchFamily="2" charset="-122"/>
            </a:endParaRPr>
          </a:p>
          <a:p>
            <a:pPr>
              <a:spcAft>
                <a:spcPct val="25000"/>
              </a:spcAft>
            </a:pPr>
            <a:endParaRPr lang="en-US" altLang="zh-CN" sz="2400" b="1">
              <a:solidFill>
                <a:srgbClr val="FFFF00"/>
              </a:solidFill>
              <a:ea typeface="华文楷体" panose="02010600040101010101" pitchFamily="2" charset="-122"/>
            </a:endParaRPr>
          </a:p>
          <a:p>
            <a:pPr>
              <a:spcAft>
                <a:spcPct val="25000"/>
              </a:spcAft>
            </a:pPr>
            <a:endParaRPr lang="en-US" altLang="zh-CN" sz="2400" b="1">
              <a:solidFill>
                <a:srgbClr val="FFFF00"/>
              </a:solidFill>
              <a:ea typeface="华文楷体" panose="02010600040101010101" pitchFamily="2" charset="-122"/>
            </a:endParaRPr>
          </a:p>
          <a:p>
            <a:pPr>
              <a:spcAft>
                <a:spcPct val="25000"/>
              </a:spcAft>
            </a:pPr>
            <a:endParaRPr lang="en-US" altLang="zh-CN" sz="2400" b="1">
              <a:solidFill>
                <a:srgbClr val="FFFF00"/>
              </a:solidFill>
              <a:ea typeface="华文楷体" panose="02010600040101010101" pitchFamily="2" charset="-122"/>
            </a:endParaRPr>
          </a:p>
          <a:p>
            <a:pPr>
              <a:spcAft>
                <a:spcPct val="25000"/>
              </a:spcAft>
            </a:pPr>
            <a:r>
              <a:rPr lang="zh-CN" altLang="en-US" sz="2400" b="1">
                <a:solidFill>
                  <a:srgbClr val="FFFF00"/>
                </a:solidFill>
                <a:ea typeface="华文楷体" panose="02010600040101010101" pitchFamily="2" charset="-122"/>
              </a:rPr>
              <a:t>经过推算得到计算公式：</a:t>
            </a:r>
            <a:endParaRPr lang="en-US" altLang="zh-CN" sz="2400" b="1">
              <a:solidFill>
                <a:srgbClr val="FFFF00"/>
              </a:solidFill>
              <a:ea typeface="华文楷体" panose="02010600040101010101" pitchFamily="2" charset="-122"/>
            </a:endParaRPr>
          </a:p>
          <a:p>
            <a:pPr>
              <a:spcAft>
                <a:spcPct val="25000"/>
              </a:spcAft>
            </a:pPr>
            <a:endParaRPr lang="en-US" altLang="zh-CN" sz="2400" b="1">
              <a:solidFill>
                <a:srgbClr val="FFFF00"/>
              </a:solidFill>
              <a:ea typeface="华文楷体" panose="02010600040101010101" pitchFamily="2" charset="-122"/>
            </a:endParaRPr>
          </a:p>
        </p:txBody>
      </p:sp>
      <p:sp>
        <p:nvSpPr>
          <p:cNvPr id="5" name="标题 1"/>
          <p:cNvSpPr txBox="1"/>
          <p:nvPr/>
        </p:nvSpPr>
        <p:spPr bwMode="auto">
          <a:xfrm>
            <a:off x="357188" y="642938"/>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defRPr sz="4400" b="1" i="1">
                <a:effectLst>
                  <a:outerShdw blurRad="38100" dist="38100" dir="2700000" algn="tl">
                    <a:srgbClr val="000000"/>
                  </a:outerShdw>
                </a:effectLst>
                <a:ea typeface="隶书" panose="02010509060101010101" pitchFamily="49" charset="-122"/>
                <a:cs typeface="+mj-cs"/>
              </a:defRPr>
            </a:lvl1pPr>
            <a:lvl2pPr algn="l">
              <a:defRPr sz="3600" i="1">
                <a:effectLst>
                  <a:outerShdw blurRad="38100" dist="38100" dir="2700000" algn="tl">
                    <a:srgbClr val="000000"/>
                  </a:outerShdw>
                </a:effectLst>
                <a:ea typeface="隶书" panose="02010509060101010101" pitchFamily="49" charset="-122"/>
              </a:defRPr>
            </a:lvl2pPr>
            <a:lvl3pPr algn="l">
              <a:defRPr sz="3600" i="1">
                <a:effectLst>
                  <a:outerShdw blurRad="38100" dist="38100" dir="2700000" algn="tl">
                    <a:srgbClr val="000000"/>
                  </a:outerShdw>
                </a:effectLst>
                <a:ea typeface="隶书" panose="02010509060101010101" pitchFamily="49" charset="-122"/>
              </a:defRPr>
            </a:lvl3pPr>
            <a:lvl4pPr algn="l">
              <a:defRPr sz="3600" i="1">
                <a:effectLst>
                  <a:outerShdw blurRad="38100" dist="38100" dir="2700000" algn="tl">
                    <a:srgbClr val="000000"/>
                  </a:outerShdw>
                </a:effectLst>
                <a:ea typeface="隶书" panose="02010509060101010101" pitchFamily="49" charset="-122"/>
              </a:defRPr>
            </a:lvl4pPr>
            <a:lvl5pPr algn="l">
              <a:defRPr sz="3600" i="1">
                <a:effectLst>
                  <a:outerShdw blurRad="38100" dist="38100" dir="2700000" algn="tl">
                    <a:srgbClr val="000000"/>
                  </a:outerShdw>
                </a:effectLst>
                <a:ea typeface="隶书" panose="02010509060101010101" pitchFamily="49" charset="-122"/>
              </a:defRPr>
            </a:lvl5pPr>
            <a:lvl6pPr marL="457200" fontAlgn="base">
              <a:spcBef>
                <a:spcPct val="0"/>
              </a:spcBef>
              <a:spcAft>
                <a:spcPct val="0"/>
              </a:spcAft>
              <a:defRPr sz="3600" i="1">
                <a:effectLst>
                  <a:outerShdw blurRad="38100" dist="38100" dir="2700000" algn="tl">
                    <a:srgbClr val="000000"/>
                  </a:outerShdw>
                </a:effectLst>
                <a:ea typeface="隶书" panose="02010509060101010101" pitchFamily="49" charset="-122"/>
              </a:defRPr>
            </a:lvl6pPr>
            <a:lvl7pPr marL="914400" fontAlgn="base">
              <a:spcBef>
                <a:spcPct val="0"/>
              </a:spcBef>
              <a:spcAft>
                <a:spcPct val="0"/>
              </a:spcAft>
              <a:defRPr sz="3600" i="1">
                <a:effectLst>
                  <a:outerShdw blurRad="38100" dist="38100" dir="2700000" algn="tl">
                    <a:srgbClr val="000000"/>
                  </a:outerShdw>
                </a:effectLst>
                <a:ea typeface="隶书" panose="02010509060101010101" pitchFamily="49" charset="-122"/>
              </a:defRPr>
            </a:lvl7pPr>
            <a:lvl8pPr marL="1371600" fontAlgn="base">
              <a:spcBef>
                <a:spcPct val="0"/>
              </a:spcBef>
              <a:spcAft>
                <a:spcPct val="0"/>
              </a:spcAft>
              <a:defRPr sz="3600" i="1">
                <a:effectLst>
                  <a:outerShdw blurRad="38100" dist="38100" dir="2700000" algn="tl">
                    <a:srgbClr val="000000"/>
                  </a:outerShdw>
                </a:effectLst>
                <a:ea typeface="隶书" panose="02010509060101010101" pitchFamily="49" charset="-122"/>
              </a:defRPr>
            </a:lvl8pPr>
            <a:lvl9pPr marL="1828800" fontAlgn="base">
              <a:spcBef>
                <a:spcPct val="0"/>
              </a:spcBef>
              <a:spcAft>
                <a:spcPct val="0"/>
              </a:spcAft>
              <a:defRPr sz="3600" i="1">
                <a:effectLst>
                  <a:outerShdw blurRad="38100" dist="38100" dir="2700000" algn="tl">
                    <a:srgbClr val="000000"/>
                  </a:outerShdw>
                </a:effectLst>
                <a:ea typeface="隶书" panose="02010509060101010101" pitchFamily="49" charset="-122"/>
              </a:defRPr>
            </a:lvl9pPr>
          </a:lstStyle>
          <a:p>
            <a:r>
              <a:rPr lang="en-US" dirty="0"/>
              <a:t>7.6.1 </a:t>
            </a:r>
            <a:r>
              <a:rPr lang="zh-CN" altLang="en-US" dirty="0"/>
              <a:t>算法基本原理</a:t>
            </a:r>
            <a:endParaRPr lang="zh-CN" altLang="en-US" dirty="0"/>
          </a:p>
        </p:txBody>
      </p:sp>
      <p:graphicFrame>
        <p:nvGraphicFramePr>
          <p:cNvPr id="1026" name="Object 3"/>
          <p:cNvGraphicFramePr>
            <a:graphicFrameLocks noChangeAspect="1"/>
          </p:cNvGraphicFramePr>
          <p:nvPr/>
        </p:nvGraphicFramePr>
        <p:xfrm>
          <a:off x="785813" y="2357438"/>
          <a:ext cx="3435350" cy="1643062"/>
        </p:xfrm>
        <a:graphic>
          <a:graphicData uri="http://schemas.openxmlformats.org/presentationml/2006/ole">
            <mc:AlternateContent xmlns:mc="http://schemas.openxmlformats.org/markup-compatibility/2006">
              <mc:Choice xmlns:v="urn:schemas-microsoft-com:vml" Requires="v">
                <p:oleObj spid="_x0000_s603658" name="Equation" r:id="rId1" imgW="1968500" imgH="939800" progId="">
                  <p:embed/>
                </p:oleObj>
              </mc:Choice>
              <mc:Fallback>
                <p:oleObj name="Equation" r:id="rId1" imgW="1968500" imgH="939800" progId="">
                  <p:embed/>
                  <p:pic>
                    <p:nvPicPr>
                      <p:cNvPr id="0" name="Picture 3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813" y="2357438"/>
                        <a:ext cx="3435350" cy="1643062"/>
                      </a:xfrm>
                      <a:prstGeom prst="rect">
                        <a:avLst/>
                      </a:prstGeom>
                      <a:solidFill>
                        <a:schemeClr val="tx1"/>
                      </a:solidFill>
                    </p:spPr>
                  </p:pic>
                </p:oleObj>
              </mc:Fallback>
            </mc:AlternateContent>
          </a:graphicData>
        </a:graphic>
      </p:graphicFrame>
      <p:graphicFrame>
        <p:nvGraphicFramePr>
          <p:cNvPr id="1027" name="Object 2"/>
          <p:cNvGraphicFramePr>
            <a:graphicFrameLocks noChangeAspect="1"/>
          </p:cNvGraphicFramePr>
          <p:nvPr/>
        </p:nvGraphicFramePr>
        <p:xfrm>
          <a:off x="4429125" y="2357438"/>
          <a:ext cx="1071563" cy="1582737"/>
        </p:xfrm>
        <a:graphic>
          <a:graphicData uri="http://schemas.openxmlformats.org/presentationml/2006/ole">
            <mc:AlternateContent xmlns:mc="http://schemas.openxmlformats.org/markup-compatibility/2006">
              <mc:Choice xmlns:v="urn:schemas-microsoft-com:vml" Requires="v">
                <p:oleObj spid="_x0000_s603659" name="Equation" r:id="rId3" imgW="635000" imgH="939165" progId="">
                  <p:embed/>
                </p:oleObj>
              </mc:Choice>
              <mc:Fallback>
                <p:oleObj name="Equation" r:id="rId3" imgW="635000" imgH="939165" progId="">
                  <p:embed/>
                  <p:pic>
                    <p:nvPicPr>
                      <p:cNvPr id="0" name="Picture 3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9125" y="2357438"/>
                        <a:ext cx="1071563" cy="1582737"/>
                      </a:xfrm>
                      <a:prstGeom prst="rect">
                        <a:avLst/>
                      </a:prstGeom>
                      <a:solidFill>
                        <a:schemeClr val="tx1"/>
                      </a:solidFill>
                    </p:spPr>
                  </p:pic>
                </p:oleObj>
              </mc:Fallback>
            </mc:AlternateContent>
          </a:graphicData>
        </a:graphic>
      </p:graphicFrame>
      <p:graphicFrame>
        <p:nvGraphicFramePr>
          <p:cNvPr id="1028" name="Object 1"/>
          <p:cNvGraphicFramePr>
            <a:graphicFrameLocks noChangeAspect="1"/>
          </p:cNvGraphicFramePr>
          <p:nvPr/>
        </p:nvGraphicFramePr>
        <p:xfrm>
          <a:off x="6572250" y="2500313"/>
          <a:ext cx="985838" cy="1500187"/>
        </p:xfrm>
        <a:graphic>
          <a:graphicData uri="http://schemas.openxmlformats.org/presentationml/2006/ole">
            <mc:AlternateContent xmlns:mc="http://schemas.openxmlformats.org/markup-compatibility/2006">
              <mc:Choice xmlns:v="urn:schemas-microsoft-com:vml" Requires="v">
                <p:oleObj spid="_x0000_s603660" name="Equation" r:id="rId5" imgW="635000" imgH="939165" progId="">
                  <p:embed/>
                </p:oleObj>
              </mc:Choice>
              <mc:Fallback>
                <p:oleObj name="Equation" r:id="rId5" imgW="635000" imgH="939165" progId="">
                  <p:embed/>
                  <p:pic>
                    <p:nvPicPr>
                      <p:cNvPr id="0" name="Picture 3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72250" y="2500313"/>
                        <a:ext cx="985838" cy="1500187"/>
                      </a:xfrm>
                      <a:prstGeom prst="rect">
                        <a:avLst/>
                      </a:prstGeom>
                      <a:solidFill>
                        <a:schemeClr val="tx1"/>
                      </a:solidFill>
                    </p:spPr>
                  </p:pic>
                </p:oleObj>
              </mc:Fallback>
            </mc:AlternateContent>
          </a:graphicData>
        </a:graphic>
      </p:graphicFrame>
      <p:sp>
        <p:nvSpPr>
          <p:cNvPr id="1034"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35" name="Rectangle 7"/>
          <p:cNvSpPr>
            <a:spLocks noChangeArrowheads="1"/>
          </p:cNvSpPr>
          <p:nvPr/>
        </p:nvSpPr>
        <p:spPr bwMode="auto">
          <a:xfrm>
            <a:off x="0" y="28289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000"/>
              <a:t>	</a:t>
            </a:r>
            <a:r>
              <a:rPr lang="en-US" altLang="zh-CN" sz="600"/>
              <a:t> </a:t>
            </a:r>
            <a:endParaRPr lang="en-US" altLang="zh-CN"/>
          </a:p>
        </p:txBody>
      </p:sp>
      <p:sp>
        <p:nvSpPr>
          <p:cNvPr id="1036" name="Rectangle 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37" name="Rectangle 1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1029" name="Object 10"/>
          <p:cNvGraphicFramePr>
            <a:graphicFrameLocks noChangeAspect="1"/>
          </p:cNvGraphicFramePr>
          <p:nvPr/>
        </p:nvGraphicFramePr>
        <p:xfrm>
          <a:off x="1259632" y="5157192"/>
          <a:ext cx="3933825" cy="1214438"/>
        </p:xfrm>
        <a:graphic>
          <a:graphicData uri="http://schemas.openxmlformats.org/presentationml/2006/ole">
            <mc:AlternateContent xmlns:mc="http://schemas.openxmlformats.org/markup-compatibility/2006">
              <mc:Choice xmlns:v="urn:schemas-microsoft-com:vml" Requires="v">
                <p:oleObj spid="_x0000_s603661" name="Equation" r:id="rId7" imgW="2222500" imgH="685800" progId="">
                  <p:embed/>
                </p:oleObj>
              </mc:Choice>
              <mc:Fallback>
                <p:oleObj name="Equation" r:id="rId7" imgW="2222500" imgH="685800" progId="">
                  <p:embed/>
                  <p:pic>
                    <p:nvPicPr>
                      <p:cNvPr id="0" name="Picture 3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9632" y="5157192"/>
                        <a:ext cx="3933825" cy="1214438"/>
                      </a:xfrm>
                      <a:prstGeom prst="rect">
                        <a:avLst/>
                      </a:prstGeom>
                      <a:solidFill>
                        <a:schemeClr val="tx1"/>
                      </a:solidFill>
                    </p:spPr>
                  </p:pic>
                </p:oleObj>
              </mc:Fallback>
            </mc:AlternateContent>
          </a:graphicData>
        </a:graphic>
      </p:graphicFrame>
    </p:spTree>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7.6.2 </a:t>
            </a:r>
            <a:r>
              <a:rPr lang="zh-CN" altLang="en-US" sz="4400" b="1">
                <a:latin typeface="Times New Roman" panose="02020603050405020304" pitchFamily="18" charset="0"/>
                <a:ea typeface="隶书" panose="02010509060101010101" pitchFamily="49" charset="-122"/>
              </a:rPr>
              <a:t>程序设计分析</a:t>
            </a:r>
            <a:endParaRPr lang="zh-CN" altLang="en-US" sz="4400" b="1">
              <a:latin typeface="Times New Roman" panose="02020603050405020304" pitchFamily="18" charset="0"/>
              <a:ea typeface="隶书" panose="02010509060101010101" pitchFamily="49" charset="-122"/>
            </a:endParaRPr>
          </a:p>
        </p:txBody>
      </p:sp>
      <p:sp>
        <p:nvSpPr>
          <p:cNvPr id="73733" name="Rectangle 32"/>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73734" name="Group 3"/>
          <p:cNvGrpSpPr>
            <a:grpSpLocks noChangeAspect="1"/>
          </p:cNvGrpSpPr>
          <p:nvPr/>
        </p:nvGrpSpPr>
        <p:grpSpPr bwMode="auto">
          <a:xfrm>
            <a:off x="1285875" y="1571625"/>
            <a:ext cx="6203850" cy="4916488"/>
            <a:chOff x="1986" y="2535"/>
            <a:chExt cx="8325" cy="6597"/>
          </a:xfrm>
        </p:grpSpPr>
        <p:sp>
          <p:nvSpPr>
            <p:cNvPr id="73736" name="AutoShape 31"/>
            <p:cNvSpPr>
              <a:spLocks noChangeAspect="1" noChangeArrowheads="1" noTextEdit="1"/>
            </p:cNvSpPr>
            <p:nvPr/>
          </p:nvSpPr>
          <p:spPr bwMode="auto">
            <a:xfrm>
              <a:off x="1986" y="2535"/>
              <a:ext cx="7937" cy="6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FFFF00"/>
                </a:solidFill>
              </a:endParaRPr>
            </a:p>
          </p:txBody>
        </p:sp>
        <p:sp>
          <p:nvSpPr>
            <p:cNvPr id="73737" name="Rectangle 30"/>
            <p:cNvSpPr>
              <a:spLocks noChangeArrowheads="1"/>
            </p:cNvSpPr>
            <p:nvPr/>
          </p:nvSpPr>
          <p:spPr bwMode="auto">
            <a:xfrm>
              <a:off x="3790" y="6273"/>
              <a:ext cx="6521" cy="2554"/>
            </a:xfrm>
            <a:prstGeom prst="rect">
              <a:avLst/>
            </a:prstGeom>
            <a:noFill/>
            <a:ln w="4">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4400" b="1">
                <a:solidFill>
                  <a:srgbClr val="FFFF00"/>
                </a:solidFill>
              </a:endParaRPr>
            </a:p>
          </p:txBody>
        </p:sp>
        <p:sp>
          <p:nvSpPr>
            <p:cNvPr id="73738" name="Rectangle 29"/>
            <p:cNvSpPr>
              <a:spLocks noChangeArrowheads="1"/>
            </p:cNvSpPr>
            <p:nvPr/>
          </p:nvSpPr>
          <p:spPr bwMode="auto">
            <a:xfrm>
              <a:off x="3790" y="6330"/>
              <a:ext cx="4310"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1400" b="1">
                  <a:solidFill>
                    <a:srgbClr val="FFFF00"/>
                  </a:solidFill>
                  <a:latin typeface="Arial" panose="020B0604020202020204" pitchFamily="34" charset="0"/>
                  <a:cs typeface="Arial" panose="020B0604020202020204" pitchFamily="34" charset="0"/>
                </a:rPr>
                <a:t>LinearEqu</a:t>
              </a:r>
              <a:endParaRPr lang="en-US" altLang="zh-CN" sz="4400" b="1">
                <a:solidFill>
                  <a:srgbClr val="FFFF00"/>
                </a:solidFill>
              </a:endParaRPr>
            </a:p>
          </p:txBody>
        </p:sp>
        <p:sp>
          <p:nvSpPr>
            <p:cNvPr id="73739" name="Rectangle 28"/>
            <p:cNvSpPr>
              <a:spLocks noChangeArrowheads="1"/>
            </p:cNvSpPr>
            <p:nvPr/>
          </p:nvSpPr>
          <p:spPr bwMode="auto">
            <a:xfrm>
              <a:off x="3790" y="6594"/>
              <a:ext cx="6521" cy="2233"/>
            </a:xfrm>
            <a:prstGeom prst="rect">
              <a:avLst/>
            </a:prstGeom>
            <a:noFill/>
            <a:ln w="4">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4400" b="1">
                <a:solidFill>
                  <a:srgbClr val="FFFF00"/>
                </a:solidFill>
              </a:endParaRPr>
            </a:p>
          </p:txBody>
        </p:sp>
        <p:sp>
          <p:nvSpPr>
            <p:cNvPr id="73740" name="Rectangle 27"/>
            <p:cNvSpPr>
              <a:spLocks noChangeArrowheads="1"/>
            </p:cNvSpPr>
            <p:nvPr/>
          </p:nvSpPr>
          <p:spPr bwMode="auto">
            <a:xfrm>
              <a:off x="3790" y="7192"/>
              <a:ext cx="6521" cy="1635"/>
            </a:xfrm>
            <a:prstGeom prst="rect">
              <a:avLst/>
            </a:prstGeom>
            <a:noFill/>
            <a:ln w="4">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4400" b="1">
                <a:solidFill>
                  <a:srgbClr val="FFFF00"/>
                </a:solidFill>
              </a:endParaRPr>
            </a:p>
          </p:txBody>
        </p:sp>
        <p:sp>
          <p:nvSpPr>
            <p:cNvPr id="73741" name="Rectangle 26"/>
            <p:cNvSpPr>
              <a:spLocks noChangeArrowheads="1"/>
            </p:cNvSpPr>
            <p:nvPr/>
          </p:nvSpPr>
          <p:spPr bwMode="auto">
            <a:xfrm>
              <a:off x="3924" y="6622"/>
              <a:ext cx="1934"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solidFill>
                    <a:srgbClr val="FFFF00"/>
                  </a:solidFill>
                  <a:latin typeface="Arial" panose="020B0604020202020204" pitchFamily="34" charset="0"/>
                  <a:cs typeface="Arial" panose="020B0604020202020204" pitchFamily="34" charset="0"/>
                </a:rPr>
                <a:t>- sums : double *</a:t>
              </a:r>
              <a:endParaRPr lang="en-US" altLang="zh-CN" sz="4400" b="1">
                <a:solidFill>
                  <a:srgbClr val="FFFF00"/>
                </a:solidFill>
              </a:endParaRPr>
            </a:p>
          </p:txBody>
        </p:sp>
        <p:sp>
          <p:nvSpPr>
            <p:cNvPr id="73742" name="Rectangle 25"/>
            <p:cNvSpPr>
              <a:spLocks noChangeArrowheads="1"/>
            </p:cNvSpPr>
            <p:nvPr/>
          </p:nvSpPr>
          <p:spPr bwMode="auto">
            <a:xfrm>
              <a:off x="3920" y="6861"/>
              <a:ext cx="2237"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solidFill>
                    <a:srgbClr val="FFFF00"/>
                  </a:solidFill>
                  <a:latin typeface="Arial" panose="020B0604020202020204" pitchFamily="34" charset="0"/>
                  <a:cs typeface="Arial" panose="020B0604020202020204" pitchFamily="34" charset="0"/>
                </a:rPr>
                <a:t>- solution : double *</a:t>
              </a:r>
              <a:endParaRPr lang="en-US" altLang="zh-CN" sz="4400" b="1">
                <a:solidFill>
                  <a:srgbClr val="FFFF00"/>
                </a:solidFill>
              </a:endParaRPr>
            </a:p>
          </p:txBody>
        </p:sp>
        <p:sp>
          <p:nvSpPr>
            <p:cNvPr id="73743" name="Rectangle 24"/>
            <p:cNvSpPr>
              <a:spLocks noChangeArrowheads="1"/>
            </p:cNvSpPr>
            <p:nvPr/>
          </p:nvSpPr>
          <p:spPr bwMode="auto">
            <a:xfrm>
              <a:off x="3986" y="7341"/>
              <a:ext cx="3014"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solidFill>
                    <a:srgbClr val="FFFF00"/>
                  </a:solidFill>
                  <a:latin typeface="Arial" panose="020B0604020202020204" pitchFamily="34" charset="0"/>
                  <a:cs typeface="Arial" panose="020B0604020202020204" pitchFamily="34" charset="0"/>
                </a:rPr>
                <a:t>+ LinearEqu(dims : int = 2)</a:t>
              </a:r>
              <a:endParaRPr lang="en-US" altLang="zh-CN" sz="4400" b="1">
                <a:solidFill>
                  <a:srgbClr val="FFFF00"/>
                </a:solidFill>
              </a:endParaRPr>
            </a:p>
          </p:txBody>
        </p:sp>
        <p:sp>
          <p:nvSpPr>
            <p:cNvPr id="73744" name="Rectangle 23"/>
            <p:cNvSpPr>
              <a:spLocks noChangeArrowheads="1"/>
            </p:cNvSpPr>
            <p:nvPr/>
          </p:nvSpPr>
          <p:spPr bwMode="auto">
            <a:xfrm>
              <a:off x="3932" y="7581"/>
              <a:ext cx="1680"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solidFill>
                    <a:srgbClr val="FFFF00"/>
                  </a:solidFill>
                  <a:latin typeface="Arial" panose="020B0604020202020204" pitchFamily="34" charset="0"/>
                  <a:cs typeface="Arial" panose="020B0604020202020204" pitchFamily="34" charset="0"/>
                </a:rPr>
                <a:t>+ ~LinearEqu()</a:t>
              </a:r>
              <a:endParaRPr lang="en-US" altLang="zh-CN" sz="4400" b="1">
                <a:solidFill>
                  <a:srgbClr val="FFFF00"/>
                </a:solidFill>
              </a:endParaRPr>
            </a:p>
          </p:txBody>
        </p:sp>
        <p:sp>
          <p:nvSpPr>
            <p:cNvPr id="73745" name="Rectangle 22"/>
            <p:cNvSpPr>
              <a:spLocks noChangeArrowheads="1"/>
            </p:cNvSpPr>
            <p:nvPr/>
          </p:nvSpPr>
          <p:spPr bwMode="auto">
            <a:xfrm>
              <a:off x="4115" y="7820"/>
              <a:ext cx="5963"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solidFill>
                    <a:srgbClr val="FFFF00"/>
                  </a:solidFill>
                  <a:latin typeface="Arial" panose="020B0604020202020204" pitchFamily="34" charset="0"/>
                  <a:cs typeface="Arial" panose="020B0604020202020204" pitchFamily="34" charset="0"/>
                </a:rPr>
                <a:t>+ setLinearEqu(a : const double*, b : double *) : void</a:t>
              </a:r>
              <a:endParaRPr lang="en-US" altLang="zh-CN" sz="4400" b="1">
                <a:solidFill>
                  <a:srgbClr val="FFFF00"/>
                </a:solidFill>
              </a:endParaRPr>
            </a:p>
          </p:txBody>
        </p:sp>
        <p:sp>
          <p:nvSpPr>
            <p:cNvPr id="73746" name="Rectangle 21"/>
            <p:cNvSpPr>
              <a:spLocks noChangeArrowheads="1"/>
            </p:cNvSpPr>
            <p:nvPr/>
          </p:nvSpPr>
          <p:spPr bwMode="auto">
            <a:xfrm>
              <a:off x="4028" y="8285"/>
              <a:ext cx="4111"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solidFill>
                    <a:srgbClr val="FFFF00"/>
                  </a:solidFill>
                  <a:latin typeface="Arial" panose="020B0604020202020204" pitchFamily="34" charset="0"/>
                  <a:cs typeface="Arial" panose="020B0604020202020204" pitchFamily="34" charset="0"/>
                </a:rPr>
                <a:t>&lt;&lt;const&gt;&gt; + printLinearEqu () : void</a:t>
              </a:r>
              <a:endParaRPr lang="en-US" altLang="zh-CN" sz="4400" b="1">
                <a:solidFill>
                  <a:srgbClr val="FFFF00"/>
                </a:solidFill>
              </a:endParaRPr>
            </a:p>
          </p:txBody>
        </p:sp>
        <p:sp>
          <p:nvSpPr>
            <p:cNvPr id="73747" name="Rectangle 20"/>
            <p:cNvSpPr>
              <a:spLocks noChangeArrowheads="1"/>
            </p:cNvSpPr>
            <p:nvPr/>
          </p:nvSpPr>
          <p:spPr bwMode="auto">
            <a:xfrm>
              <a:off x="3912" y="8060"/>
              <a:ext cx="1697"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solidFill>
                    <a:srgbClr val="FFFF00"/>
                  </a:solidFill>
                  <a:latin typeface="Arial" panose="020B0604020202020204" pitchFamily="34" charset="0"/>
                  <a:cs typeface="Arial" panose="020B0604020202020204" pitchFamily="34" charset="0"/>
                </a:rPr>
                <a:t>+ solve() : bool</a:t>
              </a:r>
              <a:endParaRPr lang="en-US" altLang="zh-CN" sz="4400" b="1">
                <a:solidFill>
                  <a:srgbClr val="FFFF00"/>
                </a:solidFill>
              </a:endParaRPr>
            </a:p>
          </p:txBody>
        </p:sp>
        <p:sp>
          <p:nvSpPr>
            <p:cNvPr id="73748" name="Rectangle 19"/>
            <p:cNvSpPr>
              <a:spLocks noChangeArrowheads="1"/>
            </p:cNvSpPr>
            <p:nvPr/>
          </p:nvSpPr>
          <p:spPr bwMode="auto">
            <a:xfrm>
              <a:off x="3998" y="8539"/>
              <a:ext cx="3829"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solidFill>
                    <a:srgbClr val="FFFF00"/>
                  </a:solidFill>
                  <a:latin typeface="Arial" panose="020B0604020202020204" pitchFamily="34" charset="0"/>
                  <a:cs typeface="Arial" panose="020B0604020202020204" pitchFamily="34" charset="0"/>
                </a:rPr>
                <a:t>&lt;&lt;const&gt;&gt; + printSolution() : void</a:t>
              </a:r>
              <a:endParaRPr lang="en-US" altLang="zh-CN" sz="4400" b="1">
                <a:solidFill>
                  <a:srgbClr val="FFFF00"/>
                </a:solidFill>
              </a:endParaRPr>
            </a:p>
          </p:txBody>
        </p:sp>
        <p:sp>
          <p:nvSpPr>
            <p:cNvPr id="73749" name="Rectangle 18"/>
            <p:cNvSpPr>
              <a:spLocks noChangeArrowheads="1"/>
            </p:cNvSpPr>
            <p:nvPr/>
          </p:nvSpPr>
          <p:spPr bwMode="auto">
            <a:xfrm>
              <a:off x="4137" y="2614"/>
              <a:ext cx="5386" cy="2794"/>
            </a:xfrm>
            <a:prstGeom prst="rect">
              <a:avLst/>
            </a:prstGeom>
            <a:noFill/>
            <a:ln w="4">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4400" b="1">
                <a:solidFill>
                  <a:srgbClr val="FFFF00"/>
                </a:solidFill>
              </a:endParaRPr>
            </a:p>
          </p:txBody>
        </p:sp>
        <p:sp>
          <p:nvSpPr>
            <p:cNvPr id="73750" name="Rectangle 17"/>
            <p:cNvSpPr>
              <a:spLocks noChangeArrowheads="1"/>
            </p:cNvSpPr>
            <p:nvPr/>
          </p:nvSpPr>
          <p:spPr bwMode="auto">
            <a:xfrm>
              <a:off x="4137" y="2629"/>
              <a:ext cx="3483"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r>
                <a:rPr lang="en-US" altLang="zh-CN" sz="1400" b="1">
                  <a:solidFill>
                    <a:srgbClr val="FFFF00"/>
                  </a:solidFill>
                  <a:latin typeface="Arial" panose="020B0604020202020204" pitchFamily="34" charset="0"/>
                  <a:cs typeface="Arial" panose="020B0604020202020204" pitchFamily="34" charset="0"/>
                </a:rPr>
                <a:t>Matrix</a:t>
              </a:r>
              <a:endParaRPr lang="en-US" altLang="zh-CN" sz="4400" b="1">
                <a:solidFill>
                  <a:srgbClr val="FFFF00"/>
                </a:solidFill>
              </a:endParaRPr>
            </a:p>
          </p:txBody>
        </p:sp>
        <p:sp>
          <p:nvSpPr>
            <p:cNvPr id="73751" name="Rectangle 16"/>
            <p:cNvSpPr>
              <a:spLocks noChangeArrowheads="1"/>
            </p:cNvSpPr>
            <p:nvPr/>
          </p:nvSpPr>
          <p:spPr bwMode="auto">
            <a:xfrm>
              <a:off x="4137" y="2890"/>
              <a:ext cx="5386" cy="2518"/>
            </a:xfrm>
            <a:prstGeom prst="rect">
              <a:avLst/>
            </a:prstGeom>
            <a:noFill/>
            <a:ln w="4">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4400" b="1">
                <a:solidFill>
                  <a:srgbClr val="FFFF00"/>
                </a:solidFill>
              </a:endParaRPr>
            </a:p>
          </p:txBody>
        </p:sp>
        <p:sp>
          <p:nvSpPr>
            <p:cNvPr id="73752" name="Rectangle 15"/>
            <p:cNvSpPr>
              <a:spLocks noChangeArrowheads="1"/>
            </p:cNvSpPr>
            <p:nvPr/>
          </p:nvSpPr>
          <p:spPr bwMode="auto">
            <a:xfrm>
              <a:off x="4137" y="3503"/>
              <a:ext cx="5386" cy="1905"/>
            </a:xfrm>
            <a:prstGeom prst="rect">
              <a:avLst/>
            </a:prstGeom>
            <a:noFill/>
            <a:ln w="4">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4400" b="1">
                <a:solidFill>
                  <a:srgbClr val="FFFF00"/>
                </a:solidFill>
              </a:endParaRPr>
            </a:p>
          </p:txBody>
        </p:sp>
        <p:sp>
          <p:nvSpPr>
            <p:cNvPr id="73753" name="Rectangle 14"/>
            <p:cNvSpPr>
              <a:spLocks noChangeArrowheads="1"/>
            </p:cNvSpPr>
            <p:nvPr/>
          </p:nvSpPr>
          <p:spPr bwMode="auto">
            <a:xfrm>
              <a:off x="4230" y="2964"/>
              <a:ext cx="1106"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dirty="0">
                  <a:solidFill>
                    <a:srgbClr val="FFFF00"/>
                  </a:solidFill>
                  <a:latin typeface="Arial" panose="020B0604020202020204" pitchFamily="34" charset="0"/>
                  <a:cs typeface="Arial" panose="020B0604020202020204" pitchFamily="34" charset="0"/>
                </a:rPr>
                <a:t>- size : </a:t>
              </a:r>
              <a:r>
                <a:rPr lang="en-US" altLang="zh-CN" sz="1400" b="1" dirty="0" err="1">
                  <a:solidFill>
                    <a:srgbClr val="FFFF00"/>
                  </a:solidFill>
                  <a:latin typeface="Arial" panose="020B0604020202020204" pitchFamily="34" charset="0"/>
                  <a:cs typeface="Arial" panose="020B0604020202020204" pitchFamily="34" charset="0"/>
                </a:rPr>
                <a:t>int</a:t>
              </a:r>
              <a:endParaRPr lang="en-US" altLang="zh-CN" sz="4400" b="1" dirty="0">
                <a:solidFill>
                  <a:srgbClr val="FFFF00"/>
                </a:solidFill>
              </a:endParaRPr>
            </a:p>
          </p:txBody>
        </p:sp>
        <p:sp>
          <p:nvSpPr>
            <p:cNvPr id="73754" name="Rectangle 13"/>
            <p:cNvSpPr>
              <a:spLocks noChangeArrowheads="1"/>
            </p:cNvSpPr>
            <p:nvPr/>
          </p:nvSpPr>
          <p:spPr bwMode="auto">
            <a:xfrm>
              <a:off x="4293" y="3203"/>
              <a:ext cx="2280"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solidFill>
                    <a:srgbClr val="FFFF00"/>
                  </a:solidFill>
                  <a:latin typeface="Arial" panose="020B0604020202020204" pitchFamily="34" charset="0"/>
                  <a:cs typeface="Arial" panose="020B0604020202020204" pitchFamily="34" charset="0"/>
                </a:rPr>
                <a:t>- elements : double*</a:t>
              </a:r>
              <a:endParaRPr lang="en-US" altLang="zh-CN" sz="4400" b="1">
                <a:solidFill>
                  <a:srgbClr val="FFFF00"/>
                </a:solidFill>
              </a:endParaRPr>
            </a:p>
          </p:txBody>
        </p:sp>
        <p:sp>
          <p:nvSpPr>
            <p:cNvPr id="73755" name="Rectangle 12"/>
            <p:cNvSpPr>
              <a:spLocks noChangeArrowheads="1"/>
            </p:cNvSpPr>
            <p:nvPr/>
          </p:nvSpPr>
          <p:spPr bwMode="auto">
            <a:xfrm>
              <a:off x="4314" y="3607"/>
              <a:ext cx="2439"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solidFill>
                    <a:srgbClr val="FFFF00"/>
                  </a:solidFill>
                  <a:latin typeface="Arial" panose="020B0604020202020204" pitchFamily="34" charset="0"/>
                  <a:cs typeface="Arial" panose="020B0604020202020204" pitchFamily="34" charset="0"/>
                </a:rPr>
                <a:t>+ Matrix(size : int = 2)</a:t>
              </a:r>
              <a:endParaRPr lang="en-US" altLang="zh-CN" sz="4400" b="1">
                <a:solidFill>
                  <a:srgbClr val="FFFF00"/>
                </a:solidFill>
              </a:endParaRPr>
            </a:p>
          </p:txBody>
        </p:sp>
        <p:sp>
          <p:nvSpPr>
            <p:cNvPr id="73756" name="Rectangle 11"/>
            <p:cNvSpPr>
              <a:spLocks noChangeArrowheads="1"/>
            </p:cNvSpPr>
            <p:nvPr/>
          </p:nvSpPr>
          <p:spPr bwMode="auto">
            <a:xfrm>
              <a:off x="4253" y="3846"/>
              <a:ext cx="1213"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solidFill>
                    <a:srgbClr val="FFFF00"/>
                  </a:solidFill>
                  <a:latin typeface="Arial" panose="020B0604020202020204" pitchFamily="34" charset="0"/>
                  <a:cs typeface="Arial" panose="020B0604020202020204" pitchFamily="34" charset="0"/>
                </a:rPr>
                <a:t>+ ~Matrix()</a:t>
              </a:r>
              <a:endParaRPr lang="en-US" altLang="zh-CN" sz="4400" b="1">
                <a:solidFill>
                  <a:srgbClr val="FFFF00"/>
                </a:solidFill>
              </a:endParaRPr>
            </a:p>
          </p:txBody>
        </p:sp>
        <p:sp>
          <p:nvSpPr>
            <p:cNvPr id="73757" name="Rectangle 10"/>
            <p:cNvSpPr>
              <a:spLocks noChangeArrowheads="1"/>
            </p:cNvSpPr>
            <p:nvPr/>
          </p:nvSpPr>
          <p:spPr bwMode="auto">
            <a:xfrm>
              <a:off x="4386" y="4103"/>
              <a:ext cx="4670"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solidFill>
                    <a:srgbClr val="FFFF00"/>
                  </a:solidFill>
                  <a:latin typeface="Arial" panose="020B0604020202020204" pitchFamily="34" charset="0"/>
                  <a:cs typeface="Arial" panose="020B0604020202020204" pitchFamily="34" charset="0"/>
                </a:rPr>
                <a:t>+ setMatrix(values : const double*) : void</a:t>
              </a:r>
              <a:endParaRPr lang="en-US" altLang="zh-CN" sz="4400" b="1">
                <a:solidFill>
                  <a:srgbClr val="FFFF00"/>
                </a:solidFill>
              </a:endParaRPr>
            </a:p>
          </p:txBody>
        </p:sp>
        <p:sp>
          <p:nvSpPr>
            <p:cNvPr id="73758" name="Rectangle 9"/>
            <p:cNvSpPr>
              <a:spLocks noChangeArrowheads="1"/>
            </p:cNvSpPr>
            <p:nvPr/>
          </p:nvSpPr>
          <p:spPr bwMode="auto">
            <a:xfrm>
              <a:off x="4344" y="4356"/>
              <a:ext cx="3577"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solidFill>
                    <a:srgbClr val="FFFF00"/>
                  </a:solidFill>
                  <a:latin typeface="Arial" panose="020B0604020202020204" pitchFamily="34" charset="0"/>
                  <a:cs typeface="Arial" panose="020B0604020202020204" pitchFamily="34" charset="0"/>
                </a:rPr>
                <a:t>&lt;&lt;const&gt;&gt; + printMatrix() : void</a:t>
              </a:r>
              <a:endParaRPr lang="en-US" altLang="zh-CN" sz="4400" b="1">
                <a:solidFill>
                  <a:srgbClr val="FFFF00"/>
                </a:solidFill>
              </a:endParaRPr>
            </a:p>
          </p:txBody>
        </p:sp>
        <p:sp>
          <p:nvSpPr>
            <p:cNvPr id="73759" name="Line 8"/>
            <p:cNvSpPr>
              <a:spLocks noChangeShapeType="1"/>
            </p:cNvSpPr>
            <p:nvPr/>
          </p:nvSpPr>
          <p:spPr bwMode="auto">
            <a:xfrm flipV="1">
              <a:off x="5950" y="5408"/>
              <a:ext cx="1" cy="859"/>
            </a:xfrm>
            <a:prstGeom prst="line">
              <a:avLst/>
            </a:prstGeom>
            <a:noFill/>
            <a:ln w="4">
              <a:solidFill>
                <a:srgbClr val="000000"/>
              </a:solidFill>
              <a:round/>
            </a:ln>
            <a:extLst>
              <a:ext uri="{909E8E84-426E-40DD-AFC4-6F175D3DCCD1}">
                <a14:hiddenFill xmlns:a14="http://schemas.microsoft.com/office/drawing/2010/main">
                  <a:noFill/>
                </a14:hiddenFill>
              </a:ext>
            </a:extLst>
          </p:spPr>
          <p:txBody>
            <a:bodyPr/>
            <a:lstStyle/>
            <a:p>
              <a:endParaRPr lang="zh-CN" altLang="en-US" b="1">
                <a:solidFill>
                  <a:srgbClr val="FFFF00"/>
                </a:solidFill>
              </a:endParaRPr>
            </a:p>
          </p:txBody>
        </p:sp>
        <p:sp>
          <p:nvSpPr>
            <p:cNvPr id="73760" name="Freeform 7"/>
            <p:cNvSpPr/>
            <p:nvPr/>
          </p:nvSpPr>
          <p:spPr bwMode="auto">
            <a:xfrm>
              <a:off x="5844" y="5408"/>
              <a:ext cx="211" cy="288"/>
            </a:xfrm>
            <a:custGeom>
              <a:avLst/>
              <a:gdLst>
                <a:gd name="T0" fmla="*/ 350 w 191"/>
                <a:gd name="T1" fmla="*/ 0 h 261"/>
                <a:gd name="T2" fmla="*/ 696 w 191"/>
                <a:gd name="T3" fmla="*/ 938 h 261"/>
                <a:gd name="T4" fmla="*/ 0 w 191"/>
                <a:gd name="T5" fmla="*/ 938 h 261"/>
                <a:gd name="T6" fmla="*/ 350 w 191"/>
                <a:gd name="T7" fmla="*/ 0 h 261"/>
                <a:gd name="T8" fmla="*/ 0 60000 65536"/>
                <a:gd name="T9" fmla="*/ 0 60000 65536"/>
                <a:gd name="T10" fmla="*/ 0 60000 65536"/>
                <a:gd name="T11" fmla="*/ 0 60000 65536"/>
                <a:gd name="T12" fmla="*/ 0 w 191"/>
                <a:gd name="T13" fmla="*/ 0 h 261"/>
                <a:gd name="T14" fmla="*/ 191 w 191"/>
                <a:gd name="T15" fmla="*/ 261 h 261"/>
              </a:gdLst>
              <a:ahLst/>
              <a:cxnLst>
                <a:cxn ang="T8">
                  <a:pos x="T0" y="T1"/>
                </a:cxn>
                <a:cxn ang="T9">
                  <a:pos x="T2" y="T3"/>
                </a:cxn>
                <a:cxn ang="T10">
                  <a:pos x="T4" y="T5"/>
                </a:cxn>
                <a:cxn ang="T11">
                  <a:pos x="T6" y="T7"/>
                </a:cxn>
              </a:cxnLst>
              <a:rect l="T12" t="T13" r="T14" b="T15"/>
              <a:pathLst>
                <a:path w="191" h="261">
                  <a:moveTo>
                    <a:pt x="96" y="0"/>
                  </a:moveTo>
                  <a:lnTo>
                    <a:pt x="191" y="261"/>
                  </a:lnTo>
                  <a:lnTo>
                    <a:pt x="0" y="261"/>
                  </a:lnTo>
                  <a:lnTo>
                    <a:pt x="96" y="0"/>
                  </a:lnTo>
                  <a:close/>
                </a:path>
              </a:pathLst>
            </a:custGeom>
            <a:solidFill>
              <a:srgbClr val="FFFFFF"/>
            </a:solidFill>
            <a:ln w="4">
              <a:solidFill>
                <a:srgbClr val="000000"/>
              </a:solidFill>
              <a:round/>
            </a:ln>
          </p:spPr>
          <p:txBody>
            <a:bodyPr/>
            <a:lstStyle/>
            <a:p>
              <a:endParaRPr lang="zh-CN" altLang="en-US" b="1">
                <a:solidFill>
                  <a:srgbClr val="FFFF00"/>
                </a:solidFill>
              </a:endParaRPr>
            </a:p>
          </p:txBody>
        </p:sp>
        <p:sp>
          <p:nvSpPr>
            <p:cNvPr id="73761" name="Rectangle 6"/>
            <p:cNvSpPr>
              <a:spLocks noChangeArrowheads="1"/>
            </p:cNvSpPr>
            <p:nvPr/>
          </p:nvSpPr>
          <p:spPr bwMode="auto">
            <a:xfrm>
              <a:off x="4352" y="4631"/>
              <a:ext cx="2977"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solidFill>
                    <a:srgbClr val="FFFF00"/>
                  </a:solidFill>
                  <a:latin typeface="Arial" panose="020B0604020202020204" pitchFamily="34" charset="0"/>
                  <a:cs typeface="Arial" panose="020B0604020202020204" pitchFamily="34" charset="0"/>
                </a:rPr>
                <a:t>&lt;&lt;const&gt;&gt; + getSize() : int</a:t>
              </a:r>
              <a:endParaRPr lang="en-US" altLang="zh-CN" sz="4400" b="1">
                <a:solidFill>
                  <a:srgbClr val="FFFF00"/>
                </a:solidFill>
              </a:endParaRPr>
            </a:p>
          </p:txBody>
        </p:sp>
        <p:sp>
          <p:nvSpPr>
            <p:cNvPr id="73762" name="Rectangle 5"/>
            <p:cNvSpPr>
              <a:spLocks noChangeArrowheads="1"/>
            </p:cNvSpPr>
            <p:nvPr/>
          </p:nvSpPr>
          <p:spPr bwMode="auto">
            <a:xfrm>
              <a:off x="4353" y="4883"/>
              <a:ext cx="3790"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solidFill>
                    <a:srgbClr val="FFFF00"/>
                  </a:solidFill>
                  <a:latin typeface="Arial" panose="020B0604020202020204" pitchFamily="34" charset="0"/>
                  <a:cs typeface="Arial" panose="020B0604020202020204" pitchFamily="34" charset="0"/>
                </a:rPr>
                <a:t>+ element(i : int, j : int) : double &amp;</a:t>
              </a:r>
              <a:endParaRPr lang="en-US" altLang="zh-CN" sz="4400" b="1">
                <a:solidFill>
                  <a:srgbClr val="FFFF00"/>
                </a:solidFill>
              </a:endParaRPr>
            </a:p>
          </p:txBody>
        </p:sp>
        <p:sp>
          <p:nvSpPr>
            <p:cNvPr id="73763" name="Rectangle 4"/>
            <p:cNvSpPr>
              <a:spLocks noChangeArrowheads="1"/>
            </p:cNvSpPr>
            <p:nvPr/>
          </p:nvSpPr>
          <p:spPr bwMode="auto">
            <a:xfrm>
              <a:off x="4411" y="5120"/>
              <a:ext cx="4814"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400" b="1">
                  <a:solidFill>
                    <a:srgbClr val="FFFF00"/>
                  </a:solidFill>
                  <a:latin typeface="Arial" panose="020B0604020202020204" pitchFamily="34" charset="0"/>
                  <a:cs typeface="Arial" panose="020B0604020202020204" pitchFamily="34" charset="0"/>
                </a:rPr>
                <a:t>&lt;&lt;const&gt;&gt; + element(i : int, j : int) : double</a:t>
              </a:r>
              <a:endParaRPr lang="en-US" altLang="zh-CN" sz="4400" b="1">
                <a:solidFill>
                  <a:srgbClr val="FFFF00"/>
                </a:solidFill>
              </a:endParaRPr>
            </a:p>
          </p:txBody>
        </p:sp>
      </p:grpSp>
      <p:sp>
        <p:nvSpPr>
          <p:cNvPr id="73735" name="Rectangle 52"/>
          <p:cNvSpPr>
            <a:spLocks noChangeArrowheads="1"/>
          </p:cNvSpPr>
          <p:nvPr/>
        </p:nvSpPr>
        <p:spPr bwMode="auto">
          <a:xfrm>
            <a:off x="0" y="47434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zh-CN"/>
          </a:p>
        </p:txBody>
      </p:sp>
    </p:spTree>
  </p:cSld>
  <p:clrMapOvr>
    <a:masterClrMapping/>
  </p:clrMapOv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7.6.3 </a:t>
            </a:r>
            <a:r>
              <a:rPr lang="zh-CN" altLang="en-US" sz="4400" b="1">
                <a:latin typeface="Times New Roman" panose="02020603050405020304" pitchFamily="18" charset="0"/>
                <a:ea typeface="隶书" panose="02010509060101010101" pitchFamily="49" charset="-122"/>
              </a:rPr>
              <a:t>源程序及说明</a:t>
            </a:r>
            <a:endParaRPr lang="zh-CN" altLang="en-US" sz="4400" b="1">
              <a:latin typeface="Times New Roman" panose="02020603050405020304" pitchFamily="18" charset="0"/>
              <a:ea typeface="隶书" panose="02010509060101010101" pitchFamily="49" charset="-122"/>
            </a:endParaRPr>
          </a:p>
        </p:txBody>
      </p:sp>
      <p:sp>
        <p:nvSpPr>
          <p:cNvPr id="74755" name="内容占位符 2"/>
          <p:cNvSpPr>
            <a:spLocks noGrp="1"/>
          </p:cNvSpPr>
          <p:nvPr>
            <p:ph idx="1"/>
          </p:nvPr>
        </p:nvSpPr>
        <p:spPr>
          <a:xfrm>
            <a:off x="683568" y="1340768"/>
            <a:ext cx="7886700" cy="4351338"/>
          </a:xfrm>
        </p:spPr>
        <p:txBody>
          <a:bodyPr/>
          <a:lstStyle/>
          <a:p>
            <a:pPr marL="0" indent="0">
              <a:lnSpc>
                <a:spcPct val="150000"/>
              </a:lnSpc>
              <a:spcAft>
                <a:spcPct val="25000"/>
              </a:spcAft>
              <a:buNone/>
            </a:pPr>
            <a:r>
              <a:rPr lang="zh-CN" altLang="en-US" sz="2400" b="1" dirty="0">
                <a:solidFill>
                  <a:srgbClr val="FFFF00"/>
                </a:solidFill>
                <a:ea typeface="华文楷体" panose="02010600040101010101" pitchFamily="2" charset="-122"/>
              </a:rPr>
              <a:t>例</a:t>
            </a:r>
            <a:r>
              <a:rPr lang="en-US" altLang="zh-CN" sz="2400" b="1" dirty="0">
                <a:solidFill>
                  <a:srgbClr val="FFFF00"/>
                </a:solidFill>
                <a:ea typeface="华文楷体" panose="02010600040101010101" pitchFamily="2" charset="-122"/>
              </a:rPr>
              <a:t>7-9  </a:t>
            </a:r>
            <a:r>
              <a:rPr lang="zh-CN" altLang="en-US" sz="2400" b="1" dirty="0">
                <a:solidFill>
                  <a:srgbClr val="FFFF00"/>
                </a:solidFill>
                <a:ea typeface="华文楷体" panose="02010600040101010101" pitchFamily="2" charset="-122"/>
              </a:rPr>
              <a:t>全选主元高斯消去法解</a:t>
            </a:r>
            <a:r>
              <a:rPr lang="zh-CN" altLang="en-US" sz="2400" b="1" dirty="0" smtClean="0">
                <a:solidFill>
                  <a:srgbClr val="FFFF00"/>
                </a:solidFill>
                <a:ea typeface="华文楷体" panose="02010600040101010101" pitchFamily="2" charset="-122"/>
              </a:rPr>
              <a:t>线性方程组，</a:t>
            </a:r>
            <a:r>
              <a:rPr lang="zh-CN" altLang="en-US" sz="2400" b="1" dirty="0" smtClean="0">
                <a:ea typeface="华文楷体" panose="02010600040101010101" pitchFamily="2" charset="-122"/>
              </a:rPr>
              <a:t>整个</a:t>
            </a:r>
            <a:r>
              <a:rPr lang="zh-CN" altLang="en-US" sz="2400" b="1" dirty="0">
                <a:ea typeface="华文楷体" panose="02010600040101010101" pitchFamily="2" charset="-122"/>
              </a:rPr>
              <a:t>程序</a:t>
            </a:r>
            <a:r>
              <a:rPr lang="zh-CN" altLang="en-US" sz="2400" b="1" dirty="0" smtClean="0">
                <a:ea typeface="华文楷体" panose="02010600040101010101" pitchFamily="2" charset="-122"/>
              </a:rPr>
              <a:t>分为</a:t>
            </a:r>
            <a:r>
              <a:rPr lang="en-US" altLang="zh-CN" sz="2400" b="1" dirty="0" smtClean="0">
                <a:ea typeface="华文楷体" panose="02010600040101010101" pitchFamily="2" charset="-122"/>
              </a:rPr>
              <a:t>5</a:t>
            </a:r>
            <a:r>
              <a:rPr lang="zh-CN" altLang="en-US" sz="2400" b="1" dirty="0" smtClean="0">
                <a:ea typeface="华文楷体" panose="02010600040101010101" pitchFamily="2" charset="-122"/>
              </a:rPr>
              <a:t>个</a:t>
            </a:r>
            <a:r>
              <a:rPr lang="zh-CN" altLang="en-US" sz="2400" b="1" dirty="0">
                <a:ea typeface="华文楷体" panose="02010600040101010101" pitchFamily="2" charset="-122"/>
              </a:rPr>
              <a:t>独立的</a:t>
            </a:r>
            <a:r>
              <a:rPr lang="zh-CN" altLang="en-US" sz="2400" b="1" dirty="0" smtClean="0">
                <a:ea typeface="华文楷体" panose="02010600040101010101" pitchFamily="2" charset="-122"/>
              </a:rPr>
              <a:t>文档：</a:t>
            </a:r>
            <a:endParaRPr lang="en-US" altLang="zh-CN" sz="2400" b="1" dirty="0" smtClean="0">
              <a:ea typeface="华文楷体" panose="02010600040101010101" pitchFamily="2" charset="-122"/>
            </a:endParaRPr>
          </a:p>
          <a:p>
            <a:pPr lvl="1">
              <a:lnSpc>
                <a:spcPct val="150000"/>
              </a:lnSpc>
              <a:buFont typeface="Wingdings" panose="05000000000000000000" pitchFamily="2" charset="2"/>
              <a:buChar char="ü"/>
            </a:pPr>
            <a:r>
              <a:rPr lang="en-US" altLang="zh-CN" sz="2400" b="1" dirty="0" err="1" smtClean="0">
                <a:ea typeface="华文楷体" panose="02010600040101010101" pitchFamily="2" charset="-122"/>
              </a:rPr>
              <a:t>Matrix.h</a:t>
            </a:r>
            <a:r>
              <a:rPr lang="zh-CN" altLang="en-US" sz="2400" b="1" dirty="0" smtClean="0">
                <a:ea typeface="华文楷体" panose="02010600040101010101" pitchFamily="2" charset="-122"/>
              </a:rPr>
              <a:t>、</a:t>
            </a:r>
            <a:r>
              <a:rPr lang="en-US" altLang="zh-CN" sz="2400" b="1" dirty="0" err="1" smtClean="0">
                <a:ea typeface="华文楷体" panose="02010600040101010101" pitchFamily="2" charset="-122"/>
              </a:rPr>
              <a:t>LinearEqu.h</a:t>
            </a:r>
            <a:r>
              <a:rPr lang="zh-CN" altLang="en-US" sz="2400" b="1" dirty="0">
                <a:ea typeface="华文楷体" panose="02010600040101010101" pitchFamily="2" charset="-122"/>
              </a:rPr>
              <a:t>文件中包括矩阵类</a:t>
            </a:r>
            <a:r>
              <a:rPr lang="en-US" altLang="zh-CN" sz="2400" b="1" dirty="0">
                <a:ea typeface="华文楷体" panose="02010600040101010101" pitchFamily="2" charset="-122"/>
              </a:rPr>
              <a:t>Matrix</a:t>
            </a:r>
            <a:r>
              <a:rPr lang="zh-CN" altLang="en-US" sz="2400" b="1" dirty="0">
                <a:ea typeface="华文楷体" panose="02010600040101010101" pitchFamily="2" charset="-122"/>
              </a:rPr>
              <a:t>和线性方程组类</a:t>
            </a:r>
            <a:r>
              <a:rPr lang="en-US" altLang="zh-CN" sz="2400" b="1" dirty="0" err="1">
                <a:ea typeface="华文楷体" panose="02010600040101010101" pitchFamily="2" charset="-122"/>
              </a:rPr>
              <a:t>LinearEqu</a:t>
            </a:r>
            <a:r>
              <a:rPr lang="zh-CN" altLang="en-US" sz="2400" b="1" dirty="0">
                <a:ea typeface="华文楷体" panose="02010600040101010101" pitchFamily="2" charset="-122"/>
              </a:rPr>
              <a:t>的</a:t>
            </a:r>
            <a:r>
              <a:rPr lang="zh-CN" altLang="en-US" sz="2400" b="1" dirty="0" smtClean="0">
                <a:ea typeface="华文楷体" panose="02010600040101010101" pitchFamily="2" charset="-122"/>
              </a:rPr>
              <a:t>定义</a:t>
            </a:r>
            <a:endParaRPr lang="en-US" altLang="zh-CN" sz="2400" b="1" dirty="0" smtClean="0">
              <a:ea typeface="华文楷体" panose="02010600040101010101" pitchFamily="2" charset="-122"/>
            </a:endParaRPr>
          </a:p>
          <a:p>
            <a:pPr lvl="1">
              <a:lnSpc>
                <a:spcPct val="150000"/>
              </a:lnSpc>
              <a:buFont typeface="Wingdings" panose="05000000000000000000" pitchFamily="2" charset="2"/>
              <a:buChar char="ü"/>
            </a:pPr>
            <a:r>
              <a:rPr lang="en-US" altLang="zh-CN" sz="2400" b="1" dirty="0" smtClean="0">
                <a:ea typeface="华文楷体" panose="02010600040101010101" pitchFamily="2" charset="-122"/>
              </a:rPr>
              <a:t>Matrix.cpp</a:t>
            </a:r>
            <a:r>
              <a:rPr lang="zh-CN" altLang="en-US" sz="2400" b="1" dirty="0" smtClean="0">
                <a:ea typeface="华文楷体" panose="02010600040101010101" pitchFamily="2" charset="-122"/>
              </a:rPr>
              <a:t>、</a:t>
            </a:r>
            <a:r>
              <a:rPr lang="en-US" altLang="zh-CN" sz="2400" b="1" dirty="0" smtClean="0">
                <a:ea typeface="华文楷体" panose="02010600040101010101" pitchFamily="2" charset="-122"/>
              </a:rPr>
              <a:t>LinearEqu.cpp</a:t>
            </a:r>
            <a:r>
              <a:rPr lang="zh-CN" altLang="en-US" sz="2400" b="1" dirty="0">
                <a:ea typeface="华文楷体" panose="02010600040101010101" pitchFamily="2" charset="-122"/>
              </a:rPr>
              <a:t>文件中包括这两个类的成员函数实现文件</a:t>
            </a:r>
            <a:r>
              <a:rPr lang="zh-CN" altLang="en-US" sz="2400" b="1" dirty="0" smtClean="0">
                <a:ea typeface="华文楷体" panose="02010600040101010101" pitchFamily="2" charset="-122"/>
              </a:rPr>
              <a:t>；</a:t>
            </a:r>
            <a:endParaRPr lang="en-US" altLang="zh-CN" sz="2400" b="1" dirty="0" smtClean="0">
              <a:ea typeface="华文楷体" panose="02010600040101010101" pitchFamily="2" charset="-122"/>
            </a:endParaRPr>
          </a:p>
          <a:p>
            <a:pPr lvl="1">
              <a:lnSpc>
                <a:spcPct val="150000"/>
              </a:lnSpc>
              <a:buFont typeface="Wingdings" panose="05000000000000000000" pitchFamily="2" charset="2"/>
              <a:buChar char="ü"/>
            </a:pPr>
            <a:r>
              <a:rPr lang="en-US" altLang="zh-CN" sz="2400" b="1" dirty="0" smtClean="0">
                <a:ea typeface="华文楷体" panose="02010600040101010101" pitchFamily="2" charset="-122"/>
              </a:rPr>
              <a:t>lequmain.cpp</a:t>
            </a:r>
            <a:r>
              <a:rPr lang="zh-CN" altLang="en-US" sz="2400" b="1" dirty="0">
                <a:ea typeface="华文楷体" panose="02010600040101010101" pitchFamily="2" charset="-122"/>
              </a:rPr>
              <a:t>文件包括程序的主函数，主函数中定义了一个类</a:t>
            </a:r>
            <a:r>
              <a:rPr lang="en-US" altLang="zh-CN" sz="2400" b="1" dirty="0" err="1">
                <a:ea typeface="华文楷体" panose="02010600040101010101" pitchFamily="2" charset="-122"/>
              </a:rPr>
              <a:t>LinearEqu</a:t>
            </a:r>
            <a:r>
              <a:rPr lang="zh-CN" altLang="en-US" sz="2400" b="1" dirty="0">
                <a:ea typeface="华文楷体" panose="02010600040101010101" pitchFamily="2" charset="-122"/>
              </a:rPr>
              <a:t>的对象，通过这个对象求解一个四元线性方程组。</a:t>
            </a:r>
            <a:endParaRPr lang="zh-CN" altLang="en-US" sz="2400" b="1" dirty="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内容占位符 2"/>
          <p:cNvSpPr>
            <a:spLocks noGrp="1"/>
          </p:cNvSpPr>
          <p:nvPr>
            <p:ph idx="1"/>
          </p:nvPr>
        </p:nvSpPr>
        <p:spPr>
          <a:xfrm>
            <a:off x="457200" y="714375"/>
            <a:ext cx="8229600" cy="5940088"/>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Matrix.h</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文件一，</a:t>
            </a:r>
            <a:r>
              <a:rPr kumimoji="0" lang="en-US" altLang="zh-CN" sz="2000" b="1" dirty="0">
                <a:solidFill>
                  <a:srgbClr val="000000"/>
                </a:solidFill>
                <a:latin typeface="Times New Roman" panose="02020603050405020304" pitchFamily="18" charset="0"/>
                <a:ea typeface="华文楷体" panose="02010600040101010101" pitchFamily="2" charset="-122"/>
              </a:rPr>
              <a:t>Matrix</a:t>
            </a:r>
            <a:r>
              <a:rPr kumimoji="0" lang="zh-CN" altLang="en-US" sz="2000" b="1" dirty="0">
                <a:solidFill>
                  <a:srgbClr val="000000"/>
                </a:solidFill>
                <a:latin typeface="Times New Roman" panose="02020603050405020304" pitchFamily="18" charset="0"/>
                <a:ea typeface="华文楷体" panose="02010600040101010101" pitchFamily="2" charset="-122"/>
              </a:rPr>
              <a:t>类定义</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ifndef</a:t>
            </a:r>
            <a:r>
              <a:rPr kumimoji="0" lang="en-US" altLang="zh-CN" sz="2000" b="1" dirty="0">
                <a:solidFill>
                  <a:srgbClr val="000000"/>
                </a:solidFill>
                <a:latin typeface="Times New Roman" panose="02020603050405020304" pitchFamily="18" charset="0"/>
                <a:ea typeface="华文楷体" panose="02010600040101010101" pitchFamily="2" charset="-122"/>
              </a:rPr>
              <a:t> _MATRIX_H</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#define _MATRIX_H</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Matrix {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基类</a:t>
            </a:r>
            <a:r>
              <a:rPr kumimoji="0" lang="en-US" altLang="zh-CN" sz="2000" b="1" dirty="0">
                <a:solidFill>
                  <a:srgbClr val="000000"/>
                </a:solidFill>
                <a:latin typeface="Times New Roman" panose="02020603050405020304" pitchFamily="18" charset="0"/>
                <a:ea typeface="华文楷体" panose="02010600040101010101" pitchFamily="2" charset="-122"/>
              </a:rPr>
              <a:t>Matrix</a:t>
            </a:r>
            <a:r>
              <a:rPr kumimoji="0" lang="zh-CN" altLang="en-US" sz="2000" b="1" dirty="0">
                <a:solidFill>
                  <a:srgbClr val="000000"/>
                </a:solidFill>
                <a:latin typeface="Times New Roman" panose="02020603050405020304" pitchFamily="18" charset="0"/>
                <a:ea typeface="华文楷体" panose="02010600040101010101" pitchFamily="2" charset="-122"/>
              </a:rPr>
              <a:t>定义</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外部接口</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Matrix(</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size = 2);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构造函数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~Matrix();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析构函数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void </a:t>
            </a:r>
            <a:r>
              <a:rPr kumimoji="0" lang="en-US" altLang="zh-CN" sz="2000" b="1" dirty="0" err="1">
                <a:solidFill>
                  <a:srgbClr val="000000"/>
                </a:solidFill>
                <a:latin typeface="Times New Roman" panose="02020603050405020304" pitchFamily="18" charset="0"/>
                <a:ea typeface="华文楷体" panose="02010600040101010101" pitchFamily="2" charset="-122"/>
              </a:rPr>
              <a:t>setMatrix</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double *values);//</a:t>
            </a:r>
            <a:r>
              <a:rPr kumimoji="0" lang="zh-CN" altLang="en-US" sz="2000" b="1" dirty="0">
                <a:solidFill>
                  <a:srgbClr val="000000"/>
                </a:solidFill>
                <a:latin typeface="Times New Roman" panose="02020603050405020304" pitchFamily="18" charset="0"/>
                <a:ea typeface="华文楷体" panose="02010600040101010101" pitchFamily="2" charset="-122"/>
              </a:rPr>
              <a:t>矩阵赋初值</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void </a:t>
            </a:r>
            <a:r>
              <a:rPr kumimoji="0" lang="en-US" altLang="zh-CN" sz="2000" b="1" dirty="0" err="1">
                <a:solidFill>
                  <a:srgbClr val="000000"/>
                </a:solidFill>
                <a:latin typeface="Times New Roman" panose="02020603050405020304" pitchFamily="18" charset="0"/>
                <a:ea typeface="华文楷体" panose="02010600040101010101" pitchFamily="2" charset="-122"/>
              </a:rPr>
              <a:t>printMatrix</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显示矩阵</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getSize</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 return size; }	//</a:t>
            </a:r>
            <a:r>
              <a:rPr kumimoji="0" lang="zh-CN" altLang="en-US" sz="2000" b="1" dirty="0">
                <a:solidFill>
                  <a:srgbClr val="000000"/>
                </a:solidFill>
                <a:latin typeface="Times New Roman" panose="02020603050405020304" pitchFamily="18" charset="0"/>
                <a:ea typeface="华文楷体" panose="02010600040101010101" pitchFamily="2" charset="-122"/>
              </a:rPr>
              <a:t>得到矩阵大小</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double &amp;element(</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j)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 return elements[</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 size + j];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double element(</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j)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 return elements[</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 size + j];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private: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保护数据成员</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size;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矩阵的大小</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double *elements;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矩阵存放数组首地址</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endif</a:t>
            </a:r>
            <a:r>
              <a:rPr kumimoji="0" lang="en-US" altLang="zh-CN" sz="2000" b="1" dirty="0">
                <a:solidFill>
                  <a:srgbClr val="000000"/>
                </a:solidFill>
                <a:latin typeface="Times New Roman" panose="02020603050405020304" pitchFamily="18" charset="0"/>
                <a:ea typeface="华文楷体" panose="02010600040101010101" pitchFamily="2" charset="-122"/>
              </a:rPr>
              <a:t> //_MATRIX_H</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75780" name="标题 1"/>
          <p:cNvSpPr>
            <a:spLocks noGrp="1"/>
          </p:cNvSpPr>
          <p:nvPr>
            <p:ph type="title"/>
          </p:nvPr>
        </p:nvSpPr>
        <p:spPr>
          <a:xfrm>
            <a:off x="5643563" y="714375"/>
            <a:ext cx="3043237" cy="770409"/>
          </a:xfrm>
          <a:solidFill>
            <a:schemeClr val="bg1"/>
          </a:solidFill>
        </p:spPr>
        <p:txBody>
          <a:bodyPr/>
          <a:lstStyle/>
          <a:p>
            <a:r>
              <a:rPr lang="zh-CN" altLang="en-US" b="1" dirty="0" smtClean="0"/>
              <a:t>例</a:t>
            </a:r>
            <a:r>
              <a:rPr lang="en-US" altLang="zh-CN" b="1" dirty="0" smtClean="0"/>
              <a:t>7-9</a:t>
            </a:r>
            <a:r>
              <a:rPr lang="zh-CN" altLang="en-US" b="1" dirty="0" smtClean="0"/>
              <a:t>（续）</a:t>
            </a:r>
            <a:endParaRPr lang="zh-CN" altLang="en-US" b="1" dirty="0" smtClean="0"/>
          </a:p>
        </p:txBody>
      </p:sp>
    </p:spTree>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内容占位符 2"/>
          <p:cNvSpPr>
            <a:spLocks noGrp="1"/>
          </p:cNvSpPr>
          <p:nvPr>
            <p:ph idx="1"/>
          </p:nvPr>
        </p:nvSpPr>
        <p:spPr>
          <a:xfrm>
            <a:off x="457200" y="714375"/>
            <a:ext cx="8229600" cy="5632311"/>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LinearEqu.h</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文件二，</a:t>
            </a:r>
            <a:r>
              <a:rPr kumimoji="0" lang="en-US" altLang="zh-CN" sz="2000" b="1" dirty="0" err="1">
                <a:solidFill>
                  <a:srgbClr val="000000"/>
                </a:solidFill>
                <a:latin typeface="Times New Roman" panose="02020603050405020304" pitchFamily="18" charset="0"/>
                <a:ea typeface="华文楷体" panose="02010600040101010101" pitchFamily="2" charset="-122"/>
              </a:rPr>
              <a:t>LinearEqu</a:t>
            </a:r>
            <a:r>
              <a:rPr kumimoji="0" lang="zh-CN" altLang="en-US" sz="2000" b="1" dirty="0">
                <a:solidFill>
                  <a:srgbClr val="000000"/>
                </a:solidFill>
                <a:latin typeface="Times New Roman" panose="02020603050405020304" pitchFamily="18" charset="0"/>
                <a:ea typeface="华文楷体" panose="02010600040101010101" pitchFamily="2" charset="-122"/>
              </a:rPr>
              <a:t>类定义</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ifndef</a:t>
            </a:r>
            <a:r>
              <a:rPr kumimoji="0" lang="en-US" altLang="zh-CN" sz="2000" b="1" dirty="0">
                <a:solidFill>
                  <a:srgbClr val="000000"/>
                </a:solidFill>
                <a:latin typeface="Times New Roman" panose="02020603050405020304" pitchFamily="18" charset="0"/>
                <a:ea typeface="华文楷体" panose="02010600040101010101" pitchFamily="2" charset="-122"/>
              </a:rPr>
              <a:t> _LINEAR_EQU_H</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#define _LINEAR_EQU_H</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a:t>
            </a:r>
            <a:r>
              <a:rPr kumimoji="0" lang="en-US" altLang="zh-CN" sz="2000" b="1" dirty="0" err="1">
                <a:solidFill>
                  <a:srgbClr val="000000"/>
                </a:solidFill>
                <a:latin typeface="Times New Roman" panose="02020603050405020304" pitchFamily="18" charset="0"/>
                <a:ea typeface="华文楷体" panose="02010600040101010101" pitchFamily="2" charset="-122"/>
              </a:rPr>
              <a:t>Matrix.h</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a:t>
            </a:r>
            <a:r>
              <a:rPr kumimoji="0" lang="en-US" altLang="zh-CN" sz="2000" b="1" dirty="0" err="1">
                <a:solidFill>
                  <a:srgbClr val="000000"/>
                </a:solidFill>
                <a:latin typeface="Times New Roman" panose="02020603050405020304" pitchFamily="18" charset="0"/>
                <a:ea typeface="华文楷体" panose="02010600040101010101" pitchFamily="2" charset="-122"/>
              </a:rPr>
              <a:t>LinearEqu</a:t>
            </a:r>
            <a:r>
              <a:rPr kumimoji="0" lang="en-US" altLang="zh-CN" sz="2000" b="1" dirty="0">
                <a:solidFill>
                  <a:srgbClr val="000000"/>
                </a:solidFill>
                <a:latin typeface="Times New Roman" panose="02020603050405020304" pitchFamily="18" charset="0"/>
                <a:ea typeface="华文楷体" panose="02010600040101010101" pitchFamily="2" charset="-122"/>
              </a:rPr>
              <a:t>: public Matrix {	//</a:t>
            </a:r>
            <a:r>
              <a:rPr kumimoji="0" lang="zh-CN" altLang="en-US" sz="2000" b="1" dirty="0">
                <a:solidFill>
                  <a:srgbClr val="000000"/>
                </a:solidFill>
                <a:latin typeface="Times New Roman" panose="02020603050405020304" pitchFamily="18" charset="0"/>
                <a:ea typeface="华文楷体" panose="02010600040101010101" pitchFamily="2" charset="-122"/>
              </a:rPr>
              <a:t>公有派生类</a:t>
            </a:r>
            <a:r>
              <a:rPr kumimoji="0" lang="en-US" altLang="zh-CN" sz="2000" b="1" dirty="0" err="1">
                <a:solidFill>
                  <a:srgbClr val="000000"/>
                </a:solidFill>
                <a:latin typeface="Times New Roman" panose="02020603050405020304" pitchFamily="18" charset="0"/>
                <a:ea typeface="华文楷体" panose="02010600040101010101" pitchFamily="2" charset="-122"/>
              </a:rPr>
              <a:t>LinearEqu</a:t>
            </a:r>
            <a:r>
              <a:rPr kumimoji="0" lang="zh-CN" altLang="en-US" sz="2000" b="1" dirty="0">
                <a:solidFill>
                  <a:srgbClr val="000000"/>
                </a:solidFill>
                <a:latin typeface="Times New Roman" panose="02020603050405020304" pitchFamily="18" charset="0"/>
                <a:ea typeface="华文楷体" panose="02010600040101010101" pitchFamily="2" charset="-122"/>
              </a:rPr>
              <a:t>定义</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外部接口</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LinearEqu</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size = 2);	//</a:t>
            </a:r>
            <a:r>
              <a:rPr kumimoji="0" lang="zh-CN" altLang="en-US" sz="2000" b="1" dirty="0">
                <a:solidFill>
                  <a:srgbClr val="000000"/>
                </a:solidFill>
                <a:latin typeface="Times New Roman" panose="02020603050405020304" pitchFamily="18" charset="0"/>
                <a:ea typeface="华文楷体" panose="02010600040101010101" pitchFamily="2" charset="-122"/>
              </a:rPr>
              <a:t>构造函数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LinearEqu</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析构函数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方程赋值</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void </a:t>
            </a:r>
            <a:r>
              <a:rPr kumimoji="0" lang="en-US" altLang="zh-CN" sz="2000" b="1" dirty="0" err="1">
                <a:solidFill>
                  <a:srgbClr val="000000"/>
                </a:solidFill>
                <a:latin typeface="Times New Roman" panose="02020603050405020304" pitchFamily="18" charset="0"/>
                <a:ea typeface="华文楷体" panose="02010600040101010101" pitchFamily="2" charset="-122"/>
              </a:rPr>
              <a:t>setLinearEqu</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double *a,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double *b);</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bool solve();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全选主元高斯消去法求解方程</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void </a:t>
            </a:r>
            <a:r>
              <a:rPr kumimoji="0" lang="en-US" altLang="zh-CN" sz="2000" b="1" dirty="0" err="1">
                <a:solidFill>
                  <a:srgbClr val="000000"/>
                </a:solidFill>
                <a:latin typeface="Times New Roman" panose="02020603050405020304" pitchFamily="18" charset="0"/>
                <a:ea typeface="华文楷体" panose="02010600040101010101" pitchFamily="2" charset="-122"/>
              </a:rPr>
              <a:t>printLinearEqu</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显示方程</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void </a:t>
            </a:r>
            <a:r>
              <a:rPr kumimoji="0" lang="en-US" altLang="zh-CN" sz="2000" b="1" dirty="0" err="1">
                <a:solidFill>
                  <a:srgbClr val="000000"/>
                </a:solidFill>
                <a:latin typeface="Times New Roman" panose="02020603050405020304" pitchFamily="18" charset="0"/>
                <a:ea typeface="华文楷体" panose="02010600040101010101" pitchFamily="2" charset="-122"/>
              </a:rPr>
              <a:t>printSolution</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显示方程的解</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private: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私有数据</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double *sums;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方程右端项</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double *solution;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方程的解</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endif</a:t>
            </a:r>
            <a:r>
              <a:rPr kumimoji="0" lang="en-US" altLang="zh-CN" sz="2000" b="1" dirty="0">
                <a:solidFill>
                  <a:srgbClr val="000000"/>
                </a:solidFill>
                <a:latin typeface="Times New Roman" panose="02020603050405020304" pitchFamily="18" charset="0"/>
                <a:ea typeface="华文楷体" panose="02010600040101010101" pitchFamily="2" charset="-122"/>
              </a:rPr>
              <a:t> //_LINEAREQU_H</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76804" name="标题 1"/>
          <p:cNvSpPr>
            <a:spLocks noGrp="1"/>
          </p:cNvSpPr>
          <p:nvPr>
            <p:ph type="title"/>
          </p:nvPr>
        </p:nvSpPr>
        <p:spPr>
          <a:xfrm>
            <a:off x="5643563" y="5500688"/>
            <a:ext cx="3043237" cy="1066800"/>
          </a:xfrm>
          <a:solidFill>
            <a:schemeClr val="bg1"/>
          </a:solidFill>
        </p:spPr>
        <p:txBody>
          <a:bodyPr/>
          <a:lstStyle/>
          <a:p>
            <a:r>
              <a:rPr lang="zh-CN" altLang="en-US" b="1" dirty="0" smtClean="0"/>
              <a:t>例</a:t>
            </a:r>
            <a:r>
              <a:rPr lang="en-US" altLang="zh-CN" b="1" dirty="0" smtClean="0"/>
              <a:t>7-9</a:t>
            </a:r>
            <a:r>
              <a:rPr lang="zh-CN" altLang="en-US" b="1" dirty="0" smtClean="0"/>
              <a:t>（续）</a:t>
            </a:r>
            <a:endParaRPr lang="zh-CN" altLang="en-US" b="1" dirty="0" smtClean="0"/>
          </a:p>
        </p:txBody>
      </p:sp>
    </p:spTree>
  </p:cSld>
  <p:clrMapOvr>
    <a:masterClrMapping/>
  </p:clrMapOv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内容占位符 2"/>
          <p:cNvSpPr>
            <a:spLocks noGrp="1"/>
          </p:cNvSpPr>
          <p:nvPr>
            <p:ph idx="1"/>
          </p:nvPr>
        </p:nvSpPr>
        <p:spPr>
          <a:xfrm>
            <a:off x="457200" y="-27384"/>
            <a:ext cx="8229600" cy="6863417"/>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//Matrix.cpp  </a:t>
            </a:r>
            <a:r>
              <a:rPr kumimoji="0" lang="zh-CN" altLang="en-US" sz="2000" b="1" dirty="0">
                <a:solidFill>
                  <a:srgbClr val="000000"/>
                </a:solidFill>
                <a:latin typeface="Times New Roman" panose="02020603050405020304" pitchFamily="18" charset="0"/>
                <a:ea typeface="华文楷体" panose="02010600040101010101" pitchFamily="2" charset="-122"/>
              </a:rPr>
              <a:t>文件三，</a:t>
            </a:r>
            <a:r>
              <a:rPr kumimoji="0" lang="en-US" altLang="zh-CN" sz="2000" b="1" dirty="0">
                <a:solidFill>
                  <a:srgbClr val="000000"/>
                </a:solidFill>
                <a:latin typeface="Times New Roman" panose="02020603050405020304" pitchFamily="18" charset="0"/>
                <a:ea typeface="华文楷体" panose="02010600040101010101" pitchFamily="2" charset="-122"/>
              </a:rPr>
              <a:t>Matrix</a:t>
            </a:r>
            <a:r>
              <a:rPr kumimoji="0" lang="zh-CN" altLang="en-US" sz="2000" b="1" dirty="0">
                <a:solidFill>
                  <a:srgbClr val="000000"/>
                </a:solidFill>
                <a:latin typeface="Times New Roman" panose="02020603050405020304" pitchFamily="18" charset="0"/>
                <a:ea typeface="华文楷体" panose="02010600040101010101" pitchFamily="2" charset="-122"/>
              </a:rPr>
              <a:t>类实现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a:t>
            </a:r>
            <a:r>
              <a:rPr kumimoji="0" lang="en-US" altLang="zh-CN" sz="2000" b="1" dirty="0" err="1" smtClean="0">
                <a:solidFill>
                  <a:srgbClr val="000000"/>
                </a:solidFill>
                <a:latin typeface="Times New Roman" panose="02020603050405020304" pitchFamily="18" charset="0"/>
                <a:ea typeface="华文楷体" panose="02010600040101010101" pitchFamily="2" charset="-122"/>
              </a:rPr>
              <a:t>Matrix.h</a:t>
            </a: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r>
              <a:rPr kumimoji="0" lang="zh-CN" altLang="en-US" sz="2000" b="1" dirty="0">
                <a:solidFill>
                  <a:srgbClr val="000000"/>
                </a:solidFill>
                <a:latin typeface="Times New Roman" panose="02020603050405020304" pitchFamily="18" charset="0"/>
                <a:ea typeface="华文楷体" panose="02010600040101010101" pitchFamily="2" charset="-122"/>
              </a:rPr>
              <a:t>包含类的定义头文件</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&lt;</a:t>
            </a:r>
            <a:r>
              <a:rPr kumimoji="0" lang="en-US" altLang="zh-CN" sz="2000" b="1" dirty="0" err="1">
                <a:solidFill>
                  <a:srgbClr val="000000"/>
                </a:solidFill>
                <a:latin typeface="Times New Roman" panose="02020603050405020304" pitchFamily="18" charset="0"/>
                <a:ea typeface="华文楷体" panose="02010600040101010101" pitchFamily="2" charset="-122"/>
              </a:rPr>
              <a:t>iostream</a:t>
            </a:r>
            <a:r>
              <a:rPr kumimoji="0" lang="en-US" altLang="zh-CN" sz="2000" b="1" dirty="0">
                <a:solidFill>
                  <a:srgbClr val="000000"/>
                </a:solidFill>
                <a:latin typeface="Times New Roman" panose="02020603050405020304" pitchFamily="18" charset="0"/>
                <a:ea typeface="华文楷体" panose="02010600040101010101" pitchFamily="2" charset="-122"/>
              </a:rPr>
              <a:t>&gt;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using namespace </a:t>
            </a:r>
            <a:r>
              <a:rPr kumimoji="0" lang="en-US" altLang="zh-CN" sz="2000" b="1" dirty="0" err="1">
                <a:solidFill>
                  <a:srgbClr val="000000"/>
                </a:solidFill>
                <a:latin typeface="Times New Roman" panose="02020603050405020304" pitchFamily="18" charset="0"/>
                <a:ea typeface="华文楷体" panose="02010600040101010101" pitchFamily="2" charset="-122"/>
              </a:rPr>
              <a:t>std</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void Matrix::</a:t>
            </a:r>
            <a:r>
              <a:rPr kumimoji="0" lang="en-US" altLang="zh-CN" sz="2000" b="1" dirty="0" err="1">
                <a:solidFill>
                  <a:srgbClr val="000000"/>
                </a:solidFill>
                <a:latin typeface="Times New Roman" panose="02020603050405020304" pitchFamily="18" charset="0"/>
                <a:ea typeface="华文楷体" panose="02010600040101010101" pitchFamily="2" charset="-122"/>
              </a:rPr>
              <a:t>setMatrix</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double *values)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设置矩阵</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for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 0; </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&lt; size * size; </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elements[</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 values[</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矩阵成员赋初值</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zh-CN" altLang="en-US" sz="2000" b="1" dirty="0">
                <a:solidFill>
                  <a:srgbClr val="000000"/>
                </a:solidFill>
                <a:latin typeface="Times New Roman" panose="02020603050405020304" pitchFamily="18" charset="0"/>
                <a:ea typeface="华文楷体" panose="02010600040101010101" pitchFamily="2" charset="-122"/>
              </a:rPr>
              <a:t>矩阵</a:t>
            </a:r>
            <a:r>
              <a:rPr kumimoji="0" lang="en-US" altLang="zh-CN" sz="2000" b="1" dirty="0">
                <a:solidFill>
                  <a:srgbClr val="000000"/>
                </a:solidFill>
                <a:latin typeface="Times New Roman" panose="02020603050405020304" pitchFamily="18" charset="0"/>
                <a:ea typeface="华文楷体" panose="02010600040101010101" pitchFamily="2" charset="-122"/>
              </a:rPr>
              <a:t>Matrix</a:t>
            </a:r>
            <a:r>
              <a:rPr kumimoji="0" lang="zh-CN" altLang="en-US" sz="2000" b="1" dirty="0">
                <a:solidFill>
                  <a:srgbClr val="000000"/>
                </a:solidFill>
                <a:latin typeface="Times New Roman" panose="02020603050405020304" pitchFamily="18" charset="0"/>
                <a:ea typeface="华文楷体" panose="02010600040101010101" pitchFamily="2" charset="-122"/>
              </a:rPr>
              <a:t>类的构造函数</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Matrix::Matrix(</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size/* = 2 */) : size(size) {	</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elements = new double[size * size];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动态内存分配</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Matrix::~Matrix() {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矩阵</a:t>
            </a:r>
            <a:r>
              <a:rPr kumimoji="0" lang="en-US" altLang="zh-CN" sz="2000" b="1" dirty="0">
                <a:solidFill>
                  <a:srgbClr val="000000"/>
                </a:solidFill>
                <a:latin typeface="Times New Roman" panose="02020603050405020304" pitchFamily="18" charset="0"/>
                <a:ea typeface="华文楷体" panose="02010600040101010101" pitchFamily="2" charset="-122"/>
              </a:rPr>
              <a:t>Matrix</a:t>
            </a:r>
            <a:r>
              <a:rPr kumimoji="0" lang="zh-CN" altLang="en-US" sz="2000" b="1" dirty="0">
                <a:solidFill>
                  <a:srgbClr val="000000"/>
                </a:solidFill>
                <a:latin typeface="Times New Roman" panose="02020603050405020304" pitchFamily="18" charset="0"/>
                <a:ea typeface="华文楷体" panose="02010600040101010101" pitchFamily="2" charset="-122"/>
              </a:rPr>
              <a:t>类的析构函数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delete[] elements;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内存释放</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void Matrix::</a:t>
            </a:r>
            <a:r>
              <a:rPr kumimoji="0" lang="en-US" altLang="zh-CN" sz="2000" b="1" dirty="0" err="1">
                <a:solidFill>
                  <a:srgbClr val="000000"/>
                </a:solidFill>
                <a:latin typeface="Times New Roman" panose="02020603050405020304" pitchFamily="18" charset="0"/>
                <a:ea typeface="华文楷体" panose="02010600040101010101" pitchFamily="2" charset="-122"/>
              </a:rPr>
              <a:t>printMatrix</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显示矩阵的元素</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"The Matrix is:"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for(</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 0; </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&lt; size; </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for(</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j = 0; j &lt; size; </a:t>
            </a:r>
            <a:r>
              <a:rPr kumimoji="0" lang="en-US" altLang="zh-CN" sz="2000" b="1" dirty="0" err="1">
                <a:solidFill>
                  <a:srgbClr val="000000"/>
                </a:solidFill>
                <a:latin typeface="Times New Roman" panose="02020603050405020304" pitchFamily="18" charset="0"/>
                <a:ea typeface="华文楷体" panose="02010600040101010101" pitchFamily="2" charset="-122"/>
              </a:rPr>
              <a:t>j++</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element(</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j) &lt;&lt; "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77828" name="标题 1"/>
          <p:cNvSpPr>
            <a:spLocks noGrp="1"/>
          </p:cNvSpPr>
          <p:nvPr>
            <p:ph type="title"/>
          </p:nvPr>
        </p:nvSpPr>
        <p:spPr>
          <a:xfrm>
            <a:off x="5940152" y="19472"/>
            <a:ext cx="2971800" cy="785813"/>
          </a:xfrm>
          <a:solidFill>
            <a:schemeClr val="bg1"/>
          </a:solidFill>
        </p:spPr>
        <p:txBody>
          <a:bodyPr/>
          <a:lstStyle/>
          <a:p>
            <a:r>
              <a:rPr lang="zh-CN" altLang="en-US" smtClean="0"/>
              <a:t>例</a:t>
            </a:r>
            <a:r>
              <a:rPr lang="en-US" altLang="zh-CN" smtClean="0"/>
              <a:t>7-9</a:t>
            </a:r>
            <a:r>
              <a:rPr lang="zh-CN" altLang="en-US" smtClean="0"/>
              <a:t>（续）</a:t>
            </a:r>
            <a:endParaRPr lang="zh-CN" altLang="en-US" smtClean="0"/>
          </a:p>
        </p:txBody>
      </p:sp>
    </p:spTree>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内容占位符 2"/>
          <p:cNvSpPr>
            <a:spLocks noGrp="1"/>
          </p:cNvSpPr>
          <p:nvPr>
            <p:ph idx="1"/>
          </p:nvPr>
        </p:nvSpPr>
        <p:spPr>
          <a:xfrm>
            <a:off x="539552" y="116632"/>
            <a:ext cx="8229600" cy="6555641"/>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//LinearEqu.cpp  </a:t>
            </a:r>
            <a:r>
              <a:rPr kumimoji="0" lang="zh-CN" altLang="en-US" sz="2000" b="1" dirty="0">
                <a:solidFill>
                  <a:srgbClr val="000000"/>
                </a:solidFill>
                <a:latin typeface="Times New Roman" panose="02020603050405020304" pitchFamily="18" charset="0"/>
                <a:ea typeface="华文楷体" panose="02010600040101010101" pitchFamily="2" charset="-122"/>
              </a:rPr>
              <a:t>文件四，</a:t>
            </a:r>
            <a:r>
              <a:rPr kumimoji="0" lang="en-US" altLang="zh-CN" sz="2000" b="1" dirty="0" err="1">
                <a:solidFill>
                  <a:srgbClr val="000000"/>
                </a:solidFill>
                <a:latin typeface="Times New Roman" panose="02020603050405020304" pitchFamily="18" charset="0"/>
                <a:ea typeface="华文楷体" panose="02010600040101010101" pitchFamily="2" charset="-122"/>
              </a:rPr>
              <a:t>LinearEqu</a:t>
            </a:r>
            <a:r>
              <a:rPr kumimoji="0" lang="zh-CN" altLang="en-US" sz="2000" b="1" dirty="0">
                <a:solidFill>
                  <a:srgbClr val="000000"/>
                </a:solidFill>
                <a:latin typeface="Times New Roman" panose="02020603050405020304" pitchFamily="18" charset="0"/>
                <a:ea typeface="华文楷体" panose="02010600040101010101" pitchFamily="2" charset="-122"/>
              </a:rPr>
              <a:t>类实现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a:t>
            </a:r>
            <a:r>
              <a:rPr kumimoji="0" lang="en-US" altLang="zh-CN" sz="2000" b="1" dirty="0" err="1">
                <a:solidFill>
                  <a:srgbClr val="000000"/>
                </a:solidFill>
                <a:latin typeface="Times New Roman" panose="02020603050405020304" pitchFamily="18" charset="0"/>
                <a:ea typeface="华文楷体" panose="02010600040101010101" pitchFamily="2" charset="-122"/>
              </a:rPr>
              <a:t>LinearEqu.h</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包含类的定义头文件</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&lt;</a:t>
            </a:r>
            <a:r>
              <a:rPr kumimoji="0" lang="en-US" altLang="zh-CN" sz="2000" b="1" dirty="0" err="1">
                <a:solidFill>
                  <a:srgbClr val="000000"/>
                </a:solidFill>
                <a:latin typeface="Times New Roman" panose="02020603050405020304" pitchFamily="18" charset="0"/>
                <a:ea typeface="华文楷体" panose="02010600040101010101" pitchFamily="2" charset="-122"/>
              </a:rPr>
              <a:t>iostream</a:t>
            </a:r>
            <a:r>
              <a:rPr kumimoji="0" lang="en-US" altLang="zh-CN" sz="2000" b="1" dirty="0">
                <a:solidFill>
                  <a:srgbClr val="000000"/>
                </a:solidFill>
                <a:latin typeface="Times New Roman" panose="02020603050405020304" pitchFamily="18" charset="0"/>
                <a:ea typeface="华文楷体" panose="02010600040101010101" pitchFamily="2" charset="-122"/>
              </a:rPr>
              <a:t>&gt;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&lt;</a:t>
            </a:r>
            <a:r>
              <a:rPr kumimoji="0" lang="en-US" altLang="zh-CN" sz="2000" b="1" dirty="0" err="1">
                <a:solidFill>
                  <a:srgbClr val="000000"/>
                </a:solidFill>
                <a:latin typeface="Times New Roman" panose="02020603050405020304" pitchFamily="18" charset="0"/>
                <a:ea typeface="华文楷体" panose="02010600040101010101" pitchFamily="2" charset="-122"/>
              </a:rPr>
              <a:t>cmath</a:t>
            </a:r>
            <a:r>
              <a:rPr kumimoji="0" lang="en-US" altLang="zh-CN" sz="2000" b="1" dirty="0">
                <a:solidFill>
                  <a:srgbClr val="000000"/>
                </a:solidFill>
                <a:latin typeface="Times New Roman" panose="02020603050405020304" pitchFamily="18" charset="0"/>
                <a:ea typeface="华文楷体" panose="02010600040101010101" pitchFamily="2" charset="-122"/>
              </a:rPr>
              <a:t>&gt;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using namespace </a:t>
            </a:r>
            <a:r>
              <a:rPr kumimoji="0" lang="en-US" altLang="zh-CN" sz="2000" b="1" dirty="0" err="1">
                <a:solidFill>
                  <a:srgbClr val="000000"/>
                </a:solidFill>
                <a:latin typeface="Times New Roman" panose="02020603050405020304" pitchFamily="18" charset="0"/>
                <a:ea typeface="华文楷体" panose="02010600040101010101" pitchFamily="2" charset="-122"/>
              </a:rPr>
              <a:t>std</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err="1">
                <a:solidFill>
                  <a:srgbClr val="000000"/>
                </a:solidFill>
                <a:latin typeface="Times New Roman" panose="02020603050405020304" pitchFamily="18" charset="0"/>
                <a:ea typeface="华文楷体" panose="02010600040101010101" pitchFamily="2" charset="-122"/>
              </a:rPr>
              <a:t>LinearEqu</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LinearEqu</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size/* = 2 */) : Matrix(size) {	</a:t>
            </a:r>
            <a:endParaRPr kumimoji="0" lang="en-US" altLang="zh-CN" sz="2000" b="1" dirty="0" smtClean="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r>
              <a:rPr kumimoji="0" lang="zh-CN" altLang="en-US" sz="2000" b="1" dirty="0">
                <a:solidFill>
                  <a:srgbClr val="000000"/>
                </a:solidFill>
                <a:latin typeface="Times New Roman" panose="02020603050405020304" pitchFamily="18" charset="0"/>
                <a:ea typeface="华文楷体" panose="02010600040101010101" pitchFamily="2" charset="-122"/>
              </a:rPr>
              <a:t>用</a:t>
            </a:r>
            <a:r>
              <a:rPr kumimoji="0" lang="en-US" altLang="zh-CN" sz="2000" b="1" dirty="0">
                <a:solidFill>
                  <a:srgbClr val="000000"/>
                </a:solidFill>
                <a:latin typeface="Times New Roman" panose="02020603050405020304" pitchFamily="18" charset="0"/>
                <a:ea typeface="华文楷体" panose="02010600040101010101" pitchFamily="2" charset="-122"/>
              </a:rPr>
              <a:t>size</a:t>
            </a:r>
            <a:r>
              <a:rPr kumimoji="0" lang="zh-CN" altLang="en-US" sz="2000" b="1" dirty="0">
                <a:solidFill>
                  <a:srgbClr val="000000"/>
                </a:solidFill>
                <a:latin typeface="Times New Roman" panose="02020603050405020304" pitchFamily="18" charset="0"/>
                <a:ea typeface="华文楷体" panose="02010600040101010101" pitchFamily="2" charset="-122"/>
              </a:rPr>
              <a:t>调用基类构造函数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sums = new double[size];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动态内存分配</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solution = new double[size];</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err="1">
                <a:solidFill>
                  <a:srgbClr val="000000"/>
                </a:solidFill>
                <a:latin typeface="Times New Roman" panose="02020603050405020304" pitchFamily="18" charset="0"/>
                <a:ea typeface="华文楷体" panose="02010600040101010101" pitchFamily="2" charset="-122"/>
              </a:rPr>
              <a:t>LinearEqu</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LinearEqu</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zh-CN" altLang="en-US" sz="2000" b="1" dirty="0">
                <a:solidFill>
                  <a:srgbClr val="000000"/>
                </a:solidFill>
                <a:latin typeface="Times New Roman" panose="02020603050405020304" pitchFamily="18" charset="0"/>
                <a:ea typeface="华文楷体" panose="02010600040101010101" pitchFamily="2" charset="-122"/>
              </a:rPr>
              <a:t>派生类</a:t>
            </a:r>
            <a:r>
              <a:rPr kumimoji="0" lang="en-US" altLang="zh-CN" sz="2000" b="1" dirty="0" err="1">
                <a:solidFill>
                  <a:srgbClr val="000000"/>
                </a:solidFill>
                <a:latin typeface="Times New Roman" panose="02020603050405020304" pitchFamily="18" charset="0"/>
                <a:ea typeface="华文楷体" panose="02010600040101010101" pitchFamily="2" charset="-122"/>
              </a:rPr>
              <a:t>LinearEqu</a:t>
            </a:r>
            <a:r>
              <a:rPr kumimoji="0" lang="zh-CN" altLang="en-US" sz="2000" b="1" dirty="0">
                <a:solidFill>
                  <a:srgbClr val="000000"/>
                </a:solidFill>
                <a:latin typeface="Times New Roman" panose="02020603050405020304" pitchFamily="18" charset="0"/>
                <a:ea typeface="华文楷体" panose="02010600040101010101" pitchFamily="2" charset="-122"/>
              </a:rPr>
              <a:t>的析构函数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delete[] sums;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释放内存</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delete[] solution;</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会自动调用基类析构函数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void </a:t>
            </a:r>
            <a:r>
              <a:rPr kumimoji="0" lang="en-US" altLang="zh-CN" sz="2000" b="1" dirty="0" err="1">
                <a:solidFill>
                  <a:srgbClr val="000000"/>
                </a:solidFill>
                <a:latin typeface="Times New Roman" panose="02020603050405020304" pitchFamily="18" charset="0"/>
                <a:ea typeface="华文楷体" panose="02010600040101010101" pitchFamily="2" charset="-122"/>
              </a:rPr>
              <a:t>LinearEqu</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setLinearEqu</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double *a,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double *b) </a:t>
            </a: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endParaRPr kumimoji="0" lang="en-US" altLang="zh-CN" sz="2000" b="1" dirty="0" smtClean="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r>
              <a:rPr kumimoji="0" lang="zh-CN" altLang="en-US" sz="2000" b="1" dirty="0">
                <a:solidFill>
                  <a:srgbClr val="000000"/>
                </a:solidFill>
                <a:latin typeface="Times New Roman" panose="02020603050405020304" pitchFamily="18" charset="0"/>
                <a:ea typeface="华文楷体" panose="02010600040101010101" pitchFamily="2" charset="-122"/>
              </a:rPr>
              <a:t>设置线性方程组</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setMatrix</a:t>
            </a:r>
            <a:r>
              <a:rPr kumimoji="0" lang="en-US" altLang="zh-CN" sz="2000" b="1" dirty="0">
                <a:solidFill>
                  <a:srgbClr val="000000"/>
                </a:solidFill>
                <a:latin typeface="Times New Roman" panose="02020603050405020304" pitchFamily="18" charset="0"/>
                <a:ea typeface="华文楷体" panose="02010600040101010101" pitchFamily="2" charset="-122"/>
              </a:rPr>
              <a:t>(a</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调用基类函数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for(</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 0; </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&lt; </a:t>
            </a:r>
            <a:r>
              <a:rPr kumimoji="0" lang="en-US" altLang="zh-CN" sz="2000" b="1" dirty="0" err="1">
                <a:solidFill>
                  <a:srgbClr val="000000"/>
                </a:solidFill>
                <a:latin typeface="Times New Roman" panose="02020603050405020304" pitchFamily="18" charset="0"/>
                <a:ea typeface="华文楷体" panose="02010600040101010101" pitchFamily="2" charset="-122"/>
              </a:rPr>
              <a:t>getSize</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sums[</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 b[</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78852" name="标题 1"/>
          <p:cNvSpPr>
            <a:spLocks noGrp="1"/>
          </p:cNvSpPr>
          <p:nvPr>
            <p:ph type="title"/>
          </p:nvPr>
        </p:nvSpPr>
        <p:spPr>
          <a:xfrm>
            <a:off x="5715000" y="5715000"/>
            <a:ext cx="2971800" cy="852488"/>
          </a:xfrm>
          <a:solidFill>
            <a:schemeClr val="bg1"/>
          </a:solidFill>
        </p:spPr>
        <p:txBody>
          <a:bodyPr/>
          <a:lstStyle/>
          <a:p>
            <a:r>
              <a:rPr lang="zh-CN" altLang="en-US" smtClean="0"/>
              <a:t>例</a:t>
            </a:r>
            <a:r>
              <a:rPr lang="en-US" altLang="zh-CN" smtClean="0"/>
              <a:t>7-9</a:t>
            </a:r>
            <a:r>
              <a:rPr lang="zh-CN" altLang="en-US" smtClean="0"/>
              <a:t>（续）</a:t>
            </a:r>
            <a:endParaRPr lang="zh-CN" altLang="en-US" smtClean="0"/>
          </a:p>
        </p:txBody>
      </p:sp>
    </p:spTree>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内容占位符 2"/>
          <p:cNvSpPr>
            <a:spLocks noGrp="1"/>
          </p:cNvSpPr>
          <p:nvPr>
            <p:ph idx="1"/>
          </p:nvPr>
        </p:nvSpPr>
        <p:spPr>
          <a:xfrm>
            <a:off x="457200" y="571500"/>
            <a:ext cx="8229600" cy="6247864"/>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void LinearEqu::printLinearEqu() const {//</a:t>
            </a:r>
            <a:r>
              <a:rPr kumimoji="0" lang="zh-CN" altLang="en-US" sz="2000" b="1">
                <a:solidFill>
                  <a:srgbClr val="000000"/>
                </a:solidFill>
                <a:latin typeface="Times New Roman" panose="02020603050405020304" pitchFamily="18" charset="0"/>
                <a:ea typeface="华文楷体" panose="02010600040101010101" pitchFamily="2" charset="-122"/>
              </a:rPr>
              <a:t>显示线性方程组</a:t>
            </a:r>
            <a:endParaRPr kumimoji="0" lang="zh-CN" altLang="en-US"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a:solidFill>
                  <a:srgbClr val="000000"/>
                </a:solidFill>
                <a:latin typeface="Times New Roman" panose="02020603050405020304" pitchFamily="18" charset="0"/>
                <a:ea typeface="华文楷体" panose="02010600040101010101" pitchFamily="2" charset="-122"/>
              </a:rPr>
              <a:t>	</a:t>
            </a:r>
            <a:r>
              <a:rPr kumimoji="0" lang="en-US" altLang="zh-CN" sz="2000" b="1">
                <a:solidFill>
                  <a:srgbClr val="000000"/>
                </a:solidFill>
                <a:latin typeface="Times New Roman" panose="02020603050405020304" pitchFamily="18" charset="0"/>
                <a:ea typeface="华文楷体" panose="02010600040101010101" pitchFamily="2" charset="-122"/>
              </a:rPr>
              <a:t>cout &lt;&lt; "The Line eqution is:" &lt;&lt; endl;</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for (int i = 0; i &lt; getSize(); i++)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for (int j = 0; j &lt; getSize(); j++)</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cout &lt;&lt; element(i, j) &lt;&lt; "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cout &lt;&lt; "     " &lt;&lt; sums[i] &lt;&lt; endl;</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void LinearEqu::printSolution() const {//</a:t>
            </a:r>
            <a:r>
              <a:rPr kumimoji="0" lang="zh-CN" altLang="en-US" sz="2000" b="1">
                <a:solidFill>
                  <a:srgbClr val="000000"/>
                </a:solidFill>
                <a:latin typeface="Times New Roman" panose="02020603050405020304" pitchFamily="18" charset="0"/>
                <a:ea typeface="华文楷体" panose="02010600040101010101" pitchFamily="2" charset="-122"/>
              </a:rPr>
              <a:t>输出方程的解</a:t>
            </a:r>
            <a:endParaRPr kumimoji="0" lang="zh-CN" altLang="en-US"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a:solidFill>
                  <a:srgbClr val="000000"/>
                </a:solidFill>
                <a:latin typeface="Times New Roman" panose="02020603050405020304" pitchFamily="18" charset="0"/>
                <a:ea typeface="华文楷体" panose="02010600040101010101" pitchFamily="2" charset="-122"/>
              </a:rPr>
              <a:t>	</a:t>
            </a:r>
            <a:r>
              <a:rPr kumimoji="0" lang="en-US" altLang="zh-CN" sz="2000" b="1">
                <a:solidFill>
                  <a:srgbClr val="000000"/>
                </a:solidFill>
                <a:latin typeface="Times New Roman" panose="02020603050405020304" pitchFamily="18" charset="0"/>
                <a:ea typeface="华文楷体" panose="02010600040101010101" pitchFamily="2" charset="-122"/>
              </a:rPr>
              <a:t>cout &lt;&lt; "The Result is: " &lt;&lt; endl;</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for (int i = 0; i &lt; getSize(); i++)</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cout &lt;&lt; "x[" &lt;&lt; i &lt;&lt; "] = " &lt;&lt; solution[i] &lt;&lt; endl;</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inline void swap(double &amp;v1, double &amp;v2) {//</a:t>
            </a:r>
            <a:r>
              <a:rPr kumimoji="0" lang="zh-CN" altLang="en-US" sz="2000" b="1">
                <a:solidFill>
                  <a:srgbClr val="000000"/>
                </a:solidFill>
                <a:latin typeface="Times New Roman" panose="02020603050405020304" pitchFamily="18" charset="0"/>
                <a:ea typeface="华文楷体" panose="02010600040101010101" pitchFamily="2" charset="-122"/>
              </a:rPr>
              <a:t>交换两个实数</a:t>
            </a:r>
            <a:endParaRPr kumimoji="0" lang="zh-CN" altLang="en-US"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a:solidFill>
                  <a:srgbClr val="000000"/>
                </a:solidFill>
                <a:latin typeface="Times New Roman" panose="02020603050405020304" pitchFamily="18" charset="0"/>
                <a:ea typeface="华文楷体" panose="02010600040101010101" pitchFamily="2" charset="-122"/>
              </a:rPr>
              <a:t>	</a:t>
            </a:r>
            <a:r>
              <a:rPr kumimoji="0" lang="en-US" altLang="zh-CN" sz="2000" b="1">
                <a:solidFill>
                  <a:srgbClr val="000000"/>
                </a:solidFill>
                <a:latin typeface="Times New Roman" panose="02020603050405020304" pitchFamily="18" charset="0"/>
                <a:ea typeface="华文楷体" panose="02010600040101010101" pitchFamily="2" charset="-122"/>
              </a:rPr>
              <a:t>double temp = v1;</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v1 = v2;</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v2 = temp;</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a:t>
            </a:r>
            <a:endParaRPr kumimoji="0" lang="en-US" altLang="zh-CN" sz="2000" b="1">
              <a:solidFill>
                <a:srgbClr val="000000"/>
              </a:solidFill>
              <a:latin typeface="Times New Roman" panose="02020603050405020304" pitchFamily="18" charset="0"/>
              <a:ea typeface="华文楷体" panose="02010600040101010101" pitchFamily="2" charset="-122"/>
            </a:endParaRPr>
          </a:p>
        </p:txBody>
      </p:sp>
      <p:sp>
        <p:nvSpPr>
          <p:cNvPr id="79876" name="标题 1"/>
          <p:cNvSpPr>
            <a:spLocks noGrp="1"/>
          </p:cNvSpPr>
          <p:nvPr>
            <p:ph type="title"/>
          </p:nvPr>
        </p:nvSpPr>
        <p:spPr>
          <a:xfrm>
            <a:off x="5715000" y="5715000"/>
            <a:ext cx="2971800" cy="852488"/>
          </a:xfrm>
          <a:solidFill>
            <a:schemeClr val="bg1"/>
          </a:solidFill>
        </p:spPr>
        <p:txBody>
          <a:bodyPr/>
          <a:lstStyle/>
          <a:p>
            <a:r>
              <a:rPr lang="zh-CN" altLang="en-US" smtClean="0"/>
              <a:t>例</a:t>
            </a:r>
            <a:r>
              <a:rPr lang="en-US" altLang="zh-CN" smtClean="0"/>
              <a:t>7-9</a:t>
            </a:r>
            <a:r>
              <a:rPr lang="zh-CN" altLang="en-US" smtClean="0"/>
              <a:t>（续）</a:t>
            </a:r>
            <a:endParaRPr lang="zh-CN" altLang="en-US" smtClean="0"/>
          </a:p>
        </p:txBody>
      </p:sp>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内容占位符 2"/>
          <p:cNvSpPr>
            <a:spLocks noGrp="1"/>
          </p:cNvSpPr>
          <p:nvPr>
            <p:ph idx="1"/>
          </p:nvPr>
        </p:nvSpPr>
        <p:spPr>
          <a:xfrm>
            <a:off x="214313" y="500063"/>
            <a:ext cx="8786812" cy="6143625"/>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bool </a:t>
            </a:r>
            <a:r>
              <a:rPr kumimoji="0" lang="en-US" altLang="zh-CN" sz="2000" b="1" dirty="0" err="1">
                <a:solidFill>
                  <a:srgbClr val="000000"/>
                </a:solidFill>
                <a:latin typeface="Times New Roman" panose="02020603050405020304" pitchFamily="18" charset="0"/>
                <a:ea typeface="华文楷体" panose="02010600040101010101" pitchFamily="2" charset="-122"/>
              </a:rPr>
              <a:t>LinearEqu</a:t>
            </a:r>
            <a:r>
              <a:rPr kumimoji="0" lang="en-US" altLang="zh-CN" sz="2000" b="1" dirty="0">
                <a:solidFill>
                  <a:srgbClr val="000000"/>
                </a:solidFill>
                <a:latin typeface="Times New Roman" panose="02020603050405020304" pitchFamily="18" charset="0"/>
                <a:ea typeface="华文楷体" panose="02010600040101010101" pitchFamily="2" charset="-122"/>
              </a:rPr>
              <a:t>::solve() {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全选主元素高斯消去法求解方程</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js</a:t>
            </a:r>
            <a:r>
              <a:rPr kumimoji="0" lang="en-US" altLang="zh-CN" sz="2000" b="1" dirty="0">
                <a:solidFill>
                  <a:srgbClr val="000000"/>
                </a:solidFill>
                <a:latin typeface="Times New Roman" panose="02020603050405020304" pitchFamily="18" charset="0"/>
                <a:ea typeface="华文楷体" panose="02010600040101010101" pitchFamily="2" charset="-122"/>
              </a:rPr>
              <a:t>=new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getSize</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存储主元素所在列号的数组</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for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k = 0; k &lt; </a:t>
            </a:r>
            <a:r>
              <a:rPr kumimoji="0" lang="en-US" altLang="zh-CN" sz="2000" b="1" dirty="0" err="1">
                <a:solidFill>
                  <a:srgbClr val="000000"/>
                </a:solidFill>
                <a:latin typeface="Times New Roman" panose="02020603050405020304" pitchFamily="18" charset="0"/>
                <a:ea typeface="华文楷体" panose="02010600040101010101" pitchFamily="2" charset="-122"/>
              </a:rPr>
              <a:t>getSize</a:t>
            </a:r>
            <a:r>
              <a:rPr kumimoji="0" lang="en-US" altLang="zh-CN" sz="2000" b="1" dirty="0">
                <a:solidFill>
                  <a:srgbClr val="000000"/>
                </a:solidFill>
                <a:latin typeface="Times New Roman" panose="02020603050405020304" pitchFamily="18" charset="0"/>
                <a:ea typeface="华文楷体" panose="02010600040101010101" pitchFamily="2" charset="-122"/>
              </a:rPr>
              <a:t>() - 1; k++)	{//</a:t>
            </a:r>
            <a:r>
              <a:rPr kumimoji="0" lang="zh-CN" altLang="en-US" sz="2000" b="1" dirty="0">
                <a:solidFill>
                  <a:srgbClr val="000000"/>
                </a:solidFill>
                <a:latin typeface="Times New Roman" panose="02020603050405020304" pitchFamily="18" charset="0"/>
                <a:ea typeface="华文楷体" panose="02010600040101010101" pitchFamily="2" charset="-122"/>
              </a:rPr>
              <a:t>选主元素</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is;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主元素所在行号</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double max = 0;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所有元素的最大值</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for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 k; </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&lt; </a:t>
            </a:r>
            <a:r>
              <a:rPr kumimoji="0" lang="en-US" altLang="zh-CN" sz="2000" b="1" dirty="0" err="1">
                <a:solidFill>
                  <a:srgbClr val="000000"/>
                </a:solidFill>
                <a:latin typeface="Times New Roman" panose="02020603050405020304" pitchFamily="18" charset="0"/>
                <a:ea typeface="华文楷体" panose="02010600040101010101" pitchFamily="2" charset="-122"/>
              </a:rPr>
              <a:t>getSize</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for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j = k; j &lt; </a:t>
            </a:r>
            <a:r>
              <a:rPr kumimoji="0" lang="en-US" altLang="zh-CN" sz="2000" b="1" dirty="0" err="1">
                <a:solidFill>
                  <a:srgbClr val="000000"/>
                </a:solidFill>
                <a:latin typeface="Times New Roman" panose="02020603050405020304" pitchFamily="18" charset="0"/>
                <a:ea typeface="华文楷体" panose="02010600040101010101" pitchFamily="2" charset="-122"/>
              </a:rPr>
              <a:t>getSize</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j++</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double t = </a:t>
            </a:r>
            <a:r>
              <a:rPr kumimoji="0" lang="en-US" altLang="zh-CN" sz="2000" b="1" dirty="0" err="1">
                <a:solidFill>
                  <a:srgbClr val="000000"/>
                </a:solidFill>
                <a:latin typeface="Times New Roman" panose="02020603050405020304" pitchFamily="18" charset="0"/>
                <a:ea typeface="华文楷体" panose="02010600040101010101" pitchFamily="2" charset="-122"/>
              </a:rPr>
              <a:t>fabs</a:t>
            </a:r>
            <a:r>
              <a:rPr kumimoji="0" lang="en-US" altLang="zh-CN" sz="2000" b="1" dirty="0">
                <a:solidFill>
                  <a:srgbClr val="000000"/>
                </a:solidFill>
                <a:latin typeface="Times New Roman" panose="02020603050405020304" pitchFamily="18" charset="0"/>
                <a:ea typeface="华文楷体" panose="02010600040101010101" pitchFamily="2" charset="-122"/>
              </a:rPr>
              <a:t>(element(</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j));</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if (t &gt; max)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max = 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js</a:t>
            </a:r>
            <a:r>
              <a:rPr kumimoji="0" lang="en-US" altLang="zh-CN" sz="2000" b="1" dirty="0">
                <a:solidFill>
                  <a:srgbClr val="000000"/>
                </a:solidFill>
                <a:latin typeface="Times New Roman" panose="02020603050405020304" pitchFamily="18" charset="0"/>
                <a:ea typeface="华文楷体" panose="02010600040101010101" pitchFamily="2" charset="-122"/>
              </a:rPr>
              <a:t>[k] = j;</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is = </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if (max == 0)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delete[] </a:t>
            </a:r>
            <a:r>
              <a:rPr kumimoji="0" lang="en-US" altLang="zh-CN" sz="2000" b="1" dirty="0" err="1">
                <a:solidFill>
                  <a:srgbClr val="000000"/>
                </a:solidFill>
                <a:latin typeface="Times New Roman" panose="02020603050405020304" pitchFamily="18" charset="0"/>
                <a:ea typeface="华文楷体" panose="02010600040101010101" pitchFamily="2" charset="-122"/>
              </a:rPr>
              <a:t>js</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return false;</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80900" name="标题 1"/>
          <p:cNvSpPr>
            <a:spLocks noGrp="1"/>
          </p:cNvSpPr>
          <p:nvPr>
            <p:ph type="title"/>
          </p:nvPr>
        </p:nvSpPr>
        <p:spPr>
          <a:xfrm>
            <a:off x="6072188" y="5791200"/>
            <a:ext cx="2971800" cy="852488"/>
          </a:xfrm>
          <a:solidFill>
            <a:schemeClr val="bg1"/>
          </a:solidFill>
        </p:spPr>
        <p:txBody>
          <a:bodyPr/>
          <a:lstStyle/>
          <a:p>
            <a:r>
              <a:rPr lang="zh-CN" altLang="en-US" smtClean="0"/>
              <a:t>例</a:t>
            </a:r>
            <a:r>
              <a:rPr lang="en-US" altLang="zh-CN" smtClean="0"/>
              <a:t>7-9</a:t>
            </a:r>
            <a:r>
              <a:rPr lang="zh-CN" altLang="en-US" smtClean="0"/>
              <a:t>（续）</a:t>
            </a:r>
            <a:endParaRPr lang="zh-CN" altLang="en-US" smtClean="0"/>
          </a:p>
        </p:txBody>
      </p:sp>
    </p:spTree>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内容占位符 2"/>
          <p:cNvSpPr>
            <a:spLocks noGrp="1"/>
          </p:cNvSpPr>
          <p:nvPr>
            <p:ph idx="1"/>
          </p:nvPr>
        </p:nvSpPr>
        <p:spPr>
          <a:xfrm>
            <a:off x="107504" y="185727"/>
            <a:ext cx="8858250" cy="6555641"/>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else {//</a:t>
            </a:r>
            <a:r>
              <a:rPr kumimoji="0" lang="zh-CN" altLang="en-US" sz="2000" b="1" dirty="0">
                <a:solidFill>
                  <a:srgbClr val="000000"/>
                </a:solidFill>
                <a:latin typeface="Times New Roman" panose="02020603050405020304" pitchFamily="18" charset="0"/>
                <a:ea typeface="华文楷体" panose="02010600040101010101" pitchFamily="2" charset="-122"/>
              </a:rPr>
              <a:t>通过行、列交换，把主元素交换到第</a:t>
            </a:r>
            <a:r>
              <a:rPr kumimoji="0" lang="en-US" altLang="zh-CN" sz="2000" b="1" dirty="0">
                <a:solidFill>
                  <a:srgbClr val="000000"/>
                </a:solidFill>
                <a:latin typeface="Times New Roman" panose="02020603050405020304" pitchFamily="18" charset="0"/>
                <a:ea typeface="华文楷体" panose="02010600040101010101" pitchFamily="2" charset="-122"/>
              </a:rPr>
              <a:t>k</a:t>
            </a:r>
            <a:r>
              <a:rPr kumimoji="0" lang="zh-CN" altLang="en-US" sz="2000" b="1" dirty="0">
                <a:solidFill>
                  <a:srgbClr val="000000"/>
                </a:solidFill>
                <a:latin typeface="Times New Roman" panose="02020603050405020304" pitchFamily="18" charset="0"/>
                <a:ea typeface="华文楷体" panose="02010600040101010101" pitchFamily="2" charset="-122"/>
              </a:rPr>
              <a:t>行第</a:t>
            </a:r>
            <a:r>
              <a:rPr kumimoji="0" lang="en-US" altLang="zh-CN" sz="2000" b="1" dirty="0">
                <a:solidFill>
                  <a:srgbClr val="000000"/>
                </a:solidFill>
                <a:latin typeface="Times New Roman" panose="02020603050405020304" pitchFamily="18" charset="0"/>
                <a:ea typeface="华文楷体" panose="02010600040101010101" pitchFamily="2" charset="-122"/>
              </a:rPr>
              <a:t>k</a:t>
            </a:r>
            <a:r>
              <a:rPr kumimoji="0" lang="zh-CN" altLang="en-US" sz="2000" b="1" dirty="0">
                <a:solidFill>
                  <a:srgbClr val="000000"/>
                </a:solidFill>
                <a:latin typeface="Times New Roman" panose="02020603050405020304" pitchFamily="18" charset="0"/>
                <a:ea typeface="华文楷体" panose="02010600040101010101" pitchFamily="2" charset="-122"/>
              </a:rPr>
              <a:t>列</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if (</a:t>
            </a:r>
            <a:r>
              <a:rPr kumimoji="0" lang="en-US" altLang="zh-CN" sz="2000" b="1" dirty="0" err="1">
                <a:solidFill>
                  <a:srgbClr val="000000"/>
                </a:solidFill>
                <a:latin typeface="Times New Roman" panose="02020603050405020304" pitchFamily="18" charset="0"/>
                <a:ea typeface="华文楷体" panose="02010600040101010101" pitchFamily="2" charset="-122"/>
              </a:rPr>
              <a:t>js</a:t>
            </a:r>
            <a:r>
              <a:rPr kumimoji="0" lang="en-US" altLang="zh-CN" sz="2000" b="1" dirty="0">
                <a:solidFill>
                  <a:srgbClr val="000000"/>
                </a:solidFill>
                <a:latin typeface="Times New Roman" panose="02020603050405020304" pitchFamily="18" charset="0"/>
                <a:ea typeface="华文楷体" panose="02010600040101010101" pitchFamily="2" charset="-122"/>
              </a:rPr>
              <a:t>[k] != k)</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for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 0; </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&lt; </a:t>
            </a:r>
            <a:r>
              <a:rPr kumimoji="0" lang="en-US" altLang="zh-CN" sz="2000" b="1" dirty="0" err="1">
                <a:solidFill>
                  <a:srgbClr val="000000"/>
                </a:solidFill>
                <a:latin typeface="Times New Roman" panose="02020603050405020304" pitchFamily="18" charset="0"/>
                <a:ea typeface="华文楷体" panose="02010600040101010101" pitchFamily="2" charset="-122"/>
              </a:rPr>
              <a:t>getSize</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swap(element(</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k), element(</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js</a:t>
            </a:r>
            <a:r>
              <a:rPr kumimoji="0" lang="en-US" altLang="zh-CN" sz="2000" b="1" dirty="0">
                <a:solidFill>
                  <a:srgbClr val="000000"/>
                </a:solidFill>
                <a:latin typeface="Times New Roman" panose="02020603050405020304" pitchFamily="18" charset="0"/>
                <a:ea typeface="华文楷体" panose="02010600040101010101" pitchFamily="2" charset="-122"/>
              </a:rPr>
              <a:t>[k]));</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if (is != k)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for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j = k; j &lt; </a:t>
            </a:r>
            <a:r>
              <a:rPr kumimoji="0" lang="en-US" altLang="zh-CN" sz="2000" b="1" dirty="0" err="1">
                <a:solidFill>
                  <a:srgbClr val="000000"/>
                </a:solidFill>
                <a:latin typeface="Times New Roman" panose="02020603050405020304" pitchFamily="18" charset="0"/>
                <a:ea typeface="华文楷体" panose="02010600040101010101" pitchFamily="2" charset="-122"/>
              </a:rPr>
              <a:t>getSize</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j++</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swap(element(k, j), element(is, j));</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swap(sums[k], sums[is]);</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消去过程</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double major = element(k, k);</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for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j = k + 1; j &lt; </a:t>
            </a:r>
            <a:r>
              <a:rPr kumimoji="0" lang="en-US" altLang="zh-CN" sz="2000" b="1" dirty="0" err="1">
                <a:solidFill>
                  <a:srgbClr val="000000"/>
                </a:solidFill>
                <a:latin typeface="Times New Roman" panose="02020603050405020304" pitchFamily="18" charset="0"/>
                <a:ea typeface="华文楷体" panose="02010600040101010101" pitchFamily="2" charset="-122"/>
              </a:rPr>
              <a:t>getSize</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j++</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element(k, j) /= major;</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sums[k] /= major;</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for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 k + 1; </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&lt; </a:t>
            </a:r>
            <a:r>
              <a:rPr kumimoji="0" lang="en-US" altLang="zh-CN" sz="2000" b="1" dirty="0" err="1">
                <a:solidFill>
                  <a:srgbClr val="000000"/>
                </a:solidFill>
                <a:latin typeface="Times New Roman" panose="02020603050405020304" pitchFamily="18" charset="0"/>
                <a:ea typeface="华文楷体" panose="02010600040101010101" pitchFamily="2" charset="-122"/>
              </a:rPr>
              <a:t>getSize</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for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j = k + 1; j &lt; </a:t>
            </a:r>
            <a:r>
              <a:rPr kumimoji="0" lang="en-US" altLang="zh-CN" sz="2000" b="1" dirty="0" err="1">
                <a:solidFill>
                  <a:srgbClr val="000000"/>
                </a:solidFill>
                <a:latin typeface="Times New Roman" panose="02020603050405020304" pitchFamily="18" charset="0"/>
                <a:ea typeface="华文楷体" panose="02010600040101010101" pitchFamily="2" charset="-122"/>
              </a:rPr>
              <a:t>getSize</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j++</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element(</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j) -= element(</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k) * element(k, j);</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sums[</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 element(</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k) * sums[k];</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81924" name="标题 1"/>
          <p:cNvSpPr>
            <a:spLocks noGrp="1"/>
          </p:cNvSpPr>
          <p:nvPr>
            <p:ph type="title"/>
          </p:nvPr>
        </p:nvSpPr>
        <p:spPr>
          <a:xfrm>
            <a:off x="6139016" y="6143625"/>
            <a:ext cx="2971800" cy="714375"/>
          </a:xfrm>
          <a:solidFill>
            <a:schemeClr val="bg1"/>
          </a:solidFill>
        </p:spPr>
        <p:txBody>
          <a:bodyPr/>
          <a:lstStyle/>
          <a:p>
            <a:r>
              <a:rPr lang="zh-CN" altLang="en-US" dirty="0" smtClean="0"/>
              <a:t>例</a:t>
            </a:r>
            <a:r>
              <a:rPr lang="en-US" altLang="zh-CN" dirty="0" smtClean="0"/>
              <a:t>7-9</a:t>
            </a:r>
            <a:r>
              <a:rPr lang="zh-CN" altLang="en-US" dirty="0" smtClean="0"/>
              <a:t>（续）</a:t>
            </a:r>
            <a:endParaRPr lang="zh-CN" altLang="en-US" dirty="0" smtClean="0"/>
          </a:p>
        </p:txBody>
      </p:sp>
    </p:spTree>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内容占位符 2"/>
          <p:cNvSpPr>
            <a:spLocks noGrp="1"/>
          </p:cNvSpPr>
          <p:nvPr>
            <p:ph idx="1"/>
          </p:nvPr>
        </p:nvSpPr>
        <p:spPr>
          <a:xfrm>
            <a:off x="142875" y="500063"/>
            <a:ext cx="8858250" cy="6247864"/>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判断剩下的一个元素是否等于</a:t>
            </a:r>
            <a:r>
              <a:rPr kumimoji="0" lang="en-US" altLang="zh-CN" sz="2000" b="1" dirty="0">
                <a:solidFill>
                  <a:srgbClr val="000000"/>
                </a:solidFill>
                <a:latin typeface="Times New Roman" panose="02020603050405020304" pitchFamily="18" charset="0"/>
                <a:ea typeface="华文楷体" panose="02010600040101010101" pitchFamily="2" charset="-122"/>
              </a:rPr>
              <a:t>0</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double d = element(</a:t>
            </a:r>
            <a:r>
              <a:rPr kumimoji="0" lang="en-US" altLang="zh-CN" sz="2000" b="1" dirty="0" err="1">
                <a:solidFill>
                  <a:srgbClr val="000000"/>
                </a:solidFill>
                <a:latin typeface="Times New Roman" panose="02020603050405020304" pitchFamily="18" charset="0"/>
                <a:ea typeface="华文楷体" panose="02010600040101010101" pitchFamily="2" charset="-122"/>
              </a:rPr>
              <a:t>getSize</a:t>
            </a:r>
            <a:r>
              <a:rPr kumimoji="0" lang="en-US" altLang="zh-CN" sz="2000" b="1" dirty="0">
                <a:solidFill>
                  <a:srgbClr val="000000"/>
                </a:solidFill>
                <a:latin typeface="Times New Roman" panose="02020603050405020304" pitchFamily="18" charset="0"/>
                <a:ea typeface="华文楷体" panose="02010600040101010101" pitchFamily="2" charset="-122"/>
              </a:rPr>
              <a:t>() - 1, </a:t>
            </a:r>
            <a:r>
              <a:rPr kumimoji="0" lang="en-US" altLang="zh-CN" sz="2000" b="1" dirty="0" err="1">
                <a:solidFill>
                  <a:srgbClr val="000000"/>
                </a:solidFill>
                <a:latin typeface="Times New Roman" panose="02020603050405020304" pitchFamily="18" charset="0"/>
                <a:ea typeface="华文楷体" panose="02010600040101010101" pitchFamily="2" charset="-122"/>
              </a:rPr>
              <a:t>getSize</a:t>
            </a:r>
            <a:r>
              <a:rPr kumimoji="0" lang="en-US" altLang="zh-CN" sz="2000" b="1" dirty="0">
                <a:solidFill>
                  <a:srgbClr val="000000"/>
                </a:solidFill>
                <a:latin typeface="Times New Roman" panose="02020603050405020304" pitchFamily="18" charset="0"/>
                <a:ea typeface="华文楷体" panose="02010600040101010101" pitchFamily="2" charset="-122"/>
              </a:rPr>
              <a:t>() - 1);</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if (</a:t>
            </a:r>
            <a:r>
              <a:rPr kumimoji="0" lang="en-US" altLang="zh-CN" sz="2000" b="1" dirty="0" err="1">
                <a:solidFill>
                  <a:srgbClr val="000000"/>
                </a:solidFill>
                <a:latin typeface="Times New Roman" panose="02020603050405020304" pitchFamily="18" charset="0"/>
                <a:ea typeface="华文楷体" panose="02010600040101010101" pitchFamily="2" charset="-122"/>
              </a:rPr>
              <a:t>fabs</a:t>
            </a:r>
            <a:r>
              <a:rPr kumimoji="0" lang="en-US" altLang="zh-CN" sz="2000" b="1" dirty="0">
                <a:solidFill>
                  <a:srgbClr val="000000"/>
                </a:solidFill>
                <a:latin typeface="Times New Roman" panose="02020603050405020304" pitchFamily="18" charset="0"/>
                <a:ea typeface="华文楷体" panose="02010600040101010101" pitchFamily="2" charset="-122"/>
              </a:rPr>
              <a:t>(d) &lt; 1e-15)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delete[] </a:t>
            </a:r>
            <a:r>
              <a:rPr kumimoji="0" lang="en-US" altLang="zh-CN" sz="2000" b="1" dirty="0" err="1">
                <a:solidFill>
                  <a:srgbClr val="000000"/>
                </a:solidFill>
                <a:latin typeface="Times New Roman" panose="02020603050405020304" pitchFamily="18" charset="0"/>
                <a:ea typeface="华文楷体" panose="02010600040101010101" pitchFamily="2" charset="-122"/>
              </a:rPr>
              <a:t>js</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return false;</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回代过程</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solution[</a:t>
            </a:r>
            <a:r>
              <a:rPr kumimoji="0" lang="en-US" altLang="zh-CN" sz="2000" b="1" dirty="0" err="1">
                <a:solidFill>
                  <a:srgbClr val="000000"/>
                </a:solidFill>
                <a:latin typeface="Times New Roman" panose="02020603050405020304" pitchFamily="18" charset="0"/>
                <a:ea typeface="华文楷体" panose="02010600040101010101" pitchFamily="2" charset="-122"/>
              </a:rPr>
              <a:t>getSize</a:t>
            </a:r>
            <a:r>
              <a:rPr kumimoji="0" lang="en-US" altLang="zh-CN" sz="2000" b="1" dirty="0">
                <a:solidFill>
                  <a:srgbClr val="000000"/>
                </a:solidFill>
                <a:latin typeface="Times New Roman" panose="02020603050405020304" pitchFamily="18" charset="0"/>
                <a:ea typeface="华文楷体" panose="02010600040101010101" pitchFamily="2" charset="-122"/>
              </a:rPr>
              <a:t>() - 1] = sums[</a:t>
            </a:r>
            <a:r>
              <a:rPr kumimoji="0" lang="en-US" altLang="zh-CN" sz="2000" b="1" dirty="0" err="1">
                <a:solidFill>
                  <a:srgbClr val="000000"/>
                </a:solidFill>
                <a:latin typeface="Times New Roman" panose="02020603050405020304" pitchFamily="18" charset="0"/>
                <a:ea typeface="华文楷体" panose="02010600040101010101" pitchFamily="2" charset="-122"/>
              </a:rPr>
              <a:t>getSize</a:t>
            </a:r>
            <a:r>
              <a:rPr kumimoji="0" lang="en-US" altLang="zh-CN" sz="2000" b="1" dirty="0">
                <a:solidFill>
                  <a:srgbClr val="000000"/>
                </a:solidFill>
                <a:latin typeface="Times New Roman" panose="02020603050405020304" pitchFamily="18" charset="0"/>
                <a:ea typeface="华文楷体" panose="02010600040101010101" pitchFamily="2" charset="-122"/>
              </a:rPr>
              <a:t>() - 1] / d;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for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 </a:t>
            </a:r>
            <a:r>
              <a:rPr kumimoji="0" lang="en-US" altLang="zh-CN" sz="2000" b="1" dirty="0" err="1">
                <a:solidFill>
                  <a:srgbClr val="000000"/>
                </a:solidFill>
                <a:latin typeface="Times New Roman" panose="02020603050405020304" pitchFamily="18" charset="0"/>
                <a:ea typeface="华文楷体" panose="02010600040101010101" pitchFamily="2" charset="-122"/>
              </a:rPr>
              <a:t>getSize</a:t>
            </a:r>
            <a:r>
              <a:rPr kumimoji="0" lang="en-US" altLang="zh-CN" sz="2000" b="1" dirty="0">
                <a:solidFill>
                  <a:srgbClr val="000000"/>
                </a:solidFill>
                <a:latin typeface="Times New Roman" panose="02020603050405020304" pitchFamily="18" charset="0"/>
                <a:ea typeface="华文楷体" panose="02010600040101010101" pitchFamily="2" charset="-122"/>
              </a:rPr>
              <a:t>() - 2; </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&gt;= 0; </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double t = 0.0;</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for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j = </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+ 1; j &lt;= </a:t>
            </a:r>
            <a:r>
              <a:rPr kumimoji="0" lang="en-US" altLang="zh-CN" sz="2000" b="1" dirty="0" err="1">
                <a:solidFill>
                  <a:srgbClr val="000000"/>
                </a:solidFill>
                <a:latin typeface="Times New Roman" panose="02020603050405020304" pitchFamily="18" charset="0"/>
                <a:ea typeface="华文楷体" panose="02010600040101010101" pitchFamily="2" charset="-122"/>
              </a:rPr>
              <a:t>getSize</a:t>
            </a:r>
            <a:r>
              <a:rPr kumimoji="0" lang="en-US" altLang="zh-CN" sz="2000" b="1" dirty="0">
                <a:solidFill>
                  <a:srgbClr val="000000"/>
                </a:solidFill>
                <a:latin typeface="Times New Roman" panose="02020603050405020304" pitchFamily="18" charset="0"/>
                <a:ea typeface="华文楷体" panose="02010600040101010101" pitchFamily="2" charset="-122"/>
              </a:rPr>
              <a:t>() - 1; </a:t>
            </a:r>
            <a:r>
              <a:rPr kumimoji="0" lang="en-US" altLang="zh-CN" sz="2000" b="1" dirty="0" err="1">
                <a:solidFill>
                  <a:srgbClr val="000000"/>
                </a:solidFill>
                <a:latin typeface="Times New Roman" panose="02020603050405020304" pitchFamily="18" charset="0"/>
                <a:ea typeface="华文楷体" panose="02010600040101010101" pitchFamily="2" charset="-122"/>
              </a:rPr>
              <a:t>j++</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t += element(</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j) * solution[j];</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solution[</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 sums[</a:t>
            </a:r>
            <a:r>
              <a:rPr kumimoji="0" lang="en-US" altLang="zh-CN" sz="2000" b="1" dirty="0" err="1">
                <a:solidFill>
                  <a:srgbClr val="000000"/>
                </a:solidFill>
                <a:latin typeface="Times New Roman" panose="02020603050405020304" pitchFamily="18" charset="0"/>
                <a:ea typeface="华文楷体" panose="02010600040101010101" pitchFamily="2" charset="-122"/>
              </a:rPr>
              <a:t>i</a:t>
            </a:r>
            <a:r>
              <a:rPr kumimoji="0" lang="en-US" altLang="zh-CN" sz="2000" b="1" dirty="0">
                <a:solidFill>
                  <a:srgbClr val="000000"/>
                </a:solidFill>
                <a:latin typeface="Times New Roman" panose="02020603050405020304" pitchFamily="18" charset="0"/>
                <a:ea typeface="华文楷体" panose="02010600040101010101" pitchFamily="2" charset="-122"/>
              </a:rPr>
              <a:t>] - 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js</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getSize</a:t>
            </a:r>
            <a:r>
              <a:rPr kumimoji="0" lang="en-US" altLang="zh-CN" sz="2000" b="1" dirty="0">
                <a:solidFill>
                  <a:srgbClr val="000000"/>
                </a:solidFill>
                <a:latin typeface="Times New Roman" panose="02020603050405020304" pitchFamily="18" charset="0"/>
                <a:ea typeface="华文楷体" panose="02010600040101010101" pitchFamily="2" charset="-122"/>
              </a:rPr>
              <a:t>() - 1] = </a:t>
            </a:r>
            <a:r>
              <a:rPr kumimoji="0" lang="en-US" altLang="zh-CN" sz="2000" b="1" dirty="0" err="1">
                <a:solidFill>
                  <a:srgbClr val="000000"/>
                </a:solidFill>
                <a:latin typeface="Times New Roman" panose="02020603050405020304" pitchFamily="18" charset="0"/>
                <a:ea typeface="华文楷体" panose="02010600040101010101" pitchFamily="2" charset="-122"/>
              </a:rPr>
              <a:t>getSize</a:t>
            </a:r>
            <a:r>
              <a:rPr kumimoji="0" lang="en-US" altLang="zh-CN" sz="2000" b="1" dirty="0">
                <a:solidFill>
                  <a:srgbClr val="000000"/>
                </a:solidFill>
                <a:latin typeface="Times New Roman" panose="02020603050405020304" pitchFamily="18" charset="0"/>
                <a:ea typeface="华文楷体" panose="02010600040101010101" pitchFamily="2" charset="-122"/>
              </a:rPr>
              <a:t>() - 1;</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for (</a:t>
            </a: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k = </a:t>
            </a:r>
            <a:r>
              <a:rPr kumimoji="0" lang="en-US" altLang="zh-CN" sz="2000" b="1" dirty="0" err="1">
                <a:solidFill>
                  <a:srgbClr val="000000"/>
                </a:solidFill>
                <a:latin typeface="Times New Roman" panose="02020603050405020304" pitchFamily="18" charset="0"/>
                <a:ea typeface="华文楷体" panose="02010600040101010101" pitchFamily="2" charset="-122"/>
              </a:rPr>
              <a:t>getSize</a:t>
            </a:r>
            <a:r>
              <a:rPr kumimoji="0" lang="en-US" altLang="zh-CN" sz="2000" b="1" dirty="0">
                <a:solidFill>
                  <a:srgbClr val="000000"/>
                </a:solidFill>
                <a:latin typeface="Times New Roman" panose="02020603050405020304" pitchFamily="18" charset="0"/>
                <a:ea typeface="华文楷体" panose="02010600040101010101" pitchFamily="2" charset="-122"/>
              </a:rPr>
              <a:t>() - 1; k &gt;= 0; k--)</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if (</a:t>
            </a:r>
            <a:r>
              <a:rPr kumimoji="0" lang="en-US" altLang="zh-CN" sz="2000" b="1" dirty="0" err="1">
                <a:solidFill>
                  <a:srgbClr val="000000"/>
                </a:solidFill>
                <a:latin typeface="Times New Roman" panose="02020603050405020304" pitchFamily="18" charset="0"/>
                <a:ea typeface="华文楷体" panose="02010600040101010101" pitchFamily="2" charset="-122"/>
              </a:rPr>
              <a:t>js</a:t>
            </a:r>
            <a:r>
              <a:rPr kumimoji="0" lang="en-US" altLang="zh-CN" sz="2000" b="1" dirty="0">
                <a:solidFill>
                  <a:srgbClr val="000000"/>
                </a:solidFill>
                <a:latin typeface="Times New Roman" panose="02020603050405020304" pitchFamily="18" charset="0"/>
                <a:ea typeface="华文楷体" panose="02010600040101010101" pitchFamily="2" charset="-122"/>
              </a:rPr>
              <a:t>[k] != k) swap(solution[k], solution[</a:t>
            </a:r>
            <a:r>
              <a:rPr kumimoji="0" lang="en-US" altLang="zh-CN" sz="2000" b="1" dirty="0" err="1">
                <a:solidFill>
                  <a:srgbClr val="000000"/>
                </a:solidFill>
                <a:latin typeface="Times New Roman" panose="02020603050405020304" pitchFamily="18" charset="0"/>
                <a:ea typeface="华文楷体" panose="02010600040101010101" pitchFamily="2" charset="-122"/>
              </a:rPr>
              <a:t>js</a:t>
            </a:r>
            <a:r>
              <a:rPr kumimoji="0" lang="en-US" altLang="zh-CN" sz="2000" b="1" dirty="0">
                <a:solidFill>
                  <a:srgbClr val="000000"/>
                </a:solidFill>
                <a:latin typeface="Times New Roman" panose="02020603050405020304" pitchFamily="18" charset="0"/>
                <a:ea typeface="华文楷体" panose="02010600040101010101" pitchFamily="2" charset="-122"/>
              </a:rPr>
              <a:t>[k]]);</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delete[] </a:t>
            </a:r>
            <a:r>
              <a:rPr kumimoji="0" lang="en-US" altLang="zh-CN" sz="2000" b="1" dirty="0" err="1">
                <a:solidFill>
                  <a:srgbClr val="000000"/>
                </a:solidFill>
                <a:latin typeface="Times New Roman" panose="02020603050405020304" pitchFamily="18" charset="0"/>
                <a:ea typeface="华文楷体" panose="02010600040101010101" pitchFamily="2" charset="-122"/>
              </a:rPr>
              <a:t>js</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return true;</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82948" name="标题 1"/>
          <p:cNvSpPr>
            <a:spLocks noGrp="1"/>
          </p:cNvSpPr>
          <p:nvPr>
            <p:ph type="title"/>
          </p:nvPr>
        </p:nvSpPr>
        <p:spPr>
          <a:xfrm>
            <a:off x="6072188" y="5791200"/>
            <a:ext cx="2971800" cy="852488"/>
          </a:xfrm>
          <a:solidFill>
            <a:schemeClr val="bg1"/>
          </a:solidFill>
        </p:spPr>
        <p:txBody>
          <a:bodyPr/>
          <a:lstStyle/>
          <a:p>
            <a:r>
              <a:rPr lang="zh-CN" altLang="en-US" smtClean="0"/>
              <a:t>例</a:t>
            </a:r>
            <a:r>
              <a:rPr lang="en-US" altLang="zh-CN" smtClean="0"/>
              <a:t>7-9</a:t>
            </a:r>
            <a:r>
              <a:rPr lang="zh-CN" altLang="en-US" smtClean="0"/>
              <a:t>（续）</a:t>
            </a:r>
            <a:endParaRPr lang="zh-CN" altLang="en-US" smtClean="0"/>
          </a:p>
        </p:txBody>
      </p:sp>
    </p:spTree>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内容占位符 2"/>
          <p:cNvSpPr>
            <a:spLocks noGrp="1"/>
          </p:cNvSpPr>
          <p:nvPr>
            <p:ph idx="1"/>
          </p:nvPr>
        </p:nvSpPr>
        <p:spPr>
          <a:xfrm>
            <a:off x="142875" y="260648"/>
            <a:ext cx="8858250" cy="6555641"/>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//7_9.cpp  </a:t>
            </a:r>
            <a:r>
              <a:rPr kumimoji="0" lang="zh-CN" altLang="en-US" sz="2000" b="1" dirty="0">
                <a:solidFill>
                  <a:srgbClr val="000000"/>
                </a:solidFill>
                <a:latin typeface="Times New Roman" panose="02020603050405020304" pitchFamily="18" charset="0"/>
                <a:ea typeface="华文楷体" panose="02010600040101010101" pitchFamily="2" charset="-122"/>
              </a:rPr>
              <a:t>文件五，主函数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a:t>
            </a:r>
            <a:r>
              <a:rPr kumimoji="0" lang="en-US" altLang="zh-CN" sz="2000" b="1" dirty="0" err="1">
                <a:solidFill>
                  <a:srgbClr val="000000"/>
                </a:solidFill>
                <a:latin typeface="Times New Roman" panose="02020603050405020304" pitchFamily="18" charset="0"/>
                <a:ea typeface="华文楷体" panose="02010600040101010101" pitchFamily="2" charset="-122"/>
              </a:rPr>
              <a:t>LinearEqu.h</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类定义头文件</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&lt;</a:t>
            </a:r>
            <a:r>
              <a:rPr kumimoji="0" lang="en-US" altLang="zh-CN" sz="2000" b="1" dirty="0" err="1">
                <a:solidFill>
                  <a:srgbClr val="000000"/>
                </a:solidFill>
                <a:latin typeface="Times New Roman" panose="02020603050405020304" pitchFamily="18" charset="0"/>
                <a:ea typeface="华文楷体" panose="02010600040101010101" pitchFamily="2" charset="-122"/>
              </a:rPr>
              <a:t>iostream</a:t>
            </a:r>
            <a:r>
              <a:rPr kumimoji="0" lang="en-US" altLang="zh-CN" sz="2000" b="1" dirty="0">
                <a:solidFill>
                  <a:srgbClr val="000000"/>
                </a:solidFill>
                <a:latin typeface="Times New Roman" panose="02020603050405020304" pitchFamily="18" charset="0"/>
                <a:ea typeface="华文楷体" panose="02010600040101010101" pitchFamily="2" charset="-122"/>
              </a:rPr>
              <a:t>&gt;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using namespace </a:t>
            </a:r>
            <a:r>
              <a:rPr kumimoji="0" lang="en-US" altLang="zh-CN" sz="2000" b="1" dirty="0" err="1">
                <a:solidFill>
                  <a:srgbClr val="000000"/>
                </a:solidFill>
                <a:latin typeface="Times New Roman" panose="02020603050405020304" pitchFamily="18" charset="0"/>
                <a:ea typeface="华文楷体" panose="02010600040101010101" pitchFamily="2" charset="-122"/>
              </a:rPr>
              <a:t>std</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err="1">
                <a:solidFill>
                  <a:srgbClr val="000000"/>
                </a:solidFill>
                <a:latin typeface="Times New Roman" panose="02020603050405020304" pitchFamily="18" charset="0"/>
                <a:ea typeface="华文楷体" panose="02010600040101010101" pitchFamily="2" charset="-122"/>
              </a:rPr>
              <a:t>int</a:t>
            </a:r>
            <a:r>
              <a:rPr kumimoji="0" lang="en-US" altLang="zh-CN" sz="2000" b="1" dirty="0">
                <a:solidFill>
                  <a:srgbClr val="000000"/>
                </a:solidFill>
                <a:latin typeface="Times New Roman" panose="02020603050405020304" pitchFamily="18" charset="0"/>
                <a:ea typeface="华文楷体" panose="02010600040101010101" pitchFamily="2" charset="-122"/>
              </a:rPr>
              <a:t> main() {	//</a:t>
            </a:r>
            <a:r>
              <a:rPr kumimoji="0" lang="zh-CN" altLang="en-US" sz="2000" b="1" dirty="0">
                <a:solidFill>
                  <a:srgbClr val="000000"/>
                </a:solidFill>
                <a:latin typeface="Times New Roman" panose="02020603050405020304" pitchFamily="18" charset="0"/>
                <a:ea typeface="华文楷体" panose="02010600040101010101" pitchFamily="2" charset="-122"/>
              </a:rPr>
              <a:t>主函数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double a[]=	{ //</a:t>
            </a:r>
            <a:r>
              <a:rPr kumimoji="0" lang="zh-CN" altLang="en-US" sz="2000" b="1" dirty="0">
                <a:solidFill>
                  <a:srgbClr val="000000"/>
                </a:solidFill>
                <a:latin typeface="Times New Roman" panose="02020603050405020304" pitchFamily="18" charset="0"/>
                <a:ea typeface="华文楷体" panose="02010600040101010101" pitchFamily="2" charset="-122"/>
              </a:rPr>
              <a:t>方程系数矩阵</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0.2368, 0.2471, 0.2568, 1.2671,		//</a:t>
            </a:r>
            <a:r>
              <a:rPr kumimoji="0" lang="zh-CN" altLang="en-US" sz="2000" b="1" dirty="0">
                <a:solidFill>
                  <a:srgbClr val="000000"/>
                </a:solidFill>
                <a:latin typeface="Times New Roman" panose="02020603050405020304" pitchFamily="18" charset="0"/>
                <a:ea typeface="华文楷体" panose="02010600040101010101" pitchFamily="2" charset="-122"/>
              </a:rPr>
              <a:t>第一行</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0.1968, 0.2071, 1.2168, 0.2271,		//</a:t>
            </a:r>
            <a:r>
              <a:rPr kumimoji="0" lang="zh-CN" altLang="en-US" sz="2000" b="1" dirty="0">
                <a:solidFill>
                  <a:srgbClr val="000000"/>
                </a:solidFill>
                <a:latin typeface="Times New Roman" panose="02020603050405020304" pitchFamily="18" charset="0"/>
                <a:ea typeface="华文楷体" panose="02010600040101010101" pitchFamily="2" charset="-122"/>
              </a:rPr>
              <a:t>第二行</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0.1581, 1.1675, 0.1768, 0.1871,		//</a:t>
            </a:r>
            <a:r>
              <a:rPr kumimoji="0" lang="zh-CN" altLang="en-US" sz="2000" b="1" dirty="0">
                <a:solidFill>
                  <a:srgbClr val="000000"/>
                </a:solidFill>
                <a:latin typeface="Times New Roman" panose="02020603050405020304" pitchFamily="18" charset="0"/>
                <a:ea typeface="华文楷体" panose="02010600040101010101" pitchFamily="2" charset="-122"/>
              </a:rPr>
              <a:t>第三行</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1.1161, 0.1254, 0.1397, 0.1490 };	//</a:t>
            </a:r>
            <a:r>
              <a:rPr kumimoji="0" lang="zh-CN" altLang="en-US" sz="2000" b="1" dirty="0">
                <a:solidFill>
                  <a:srgbClr val="000000"/>
                </a:solidFill>
                <a:latin typeface="Times New Roman" panose="02020603050405020304" pitchFamily="18" charset="0"/>
                <a:ea typeface="华文楷体" panose="02010600040101010101" pitchFamily="2" charset="-122"/>
              </a:rPr>
              <a:t>第四行</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double b[] = { 1.8471, 1.7471, 1.6471, 1.5471 };//</a:t>
            </a:r>
            <a:r>
              <a:rPr kumimoji="0" lang="zh-CN" altLang="en-US" sz="2000" b="1" dirty="0">
                <a:solidFill>
                  <a:srgbClr val="000000"/>
                </a:solidFill>
                <a:latin typeface="Times New Roman" panose="02020603050405020304" pitchFamily="18" charset="0"/>
                <a:ea typeface="华文楷体" panose="02010600040101010101" pitchFamily="2" charset="-122"/>
              </a:rPr>
              <a:t>方程右端项</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LinearEqu</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equ</a:t>
            </a:r>
            <a:r>
              <a:rPr kumimoji="0" lang="en-US" altLang="zh-CN" sz="2000" b="1" dirty="0">
                <a:solidFill>
                  <a:srgbClr val="000000"/>
                </a:solidFill>
                <a:latin typeface="Times New Roman" panose="02020603050405020304" pitchFamily="18" charset="0"/>
                <a:ea typeface="华文楷体" panose="02010600040101010101" pitchFamily="2" charset="-122"/>
              </a:rPr>
              <a:t>(4);	//</a:t>
            </a:r>
            <a:r>
              <a:rPr kumimoji="0" lang="zh-CN" altLang="en-US" sz="2000" b="1" dirty="0">
                <a:solidFill>
                  <a:srgbClr val="000000"/>
                </a:solidFill>
                <a:latin typeface="Times New Roman" panose="02020603050405020304" pitchFamily="18" charset="0"/>
                <a:ea typeface="华文楷体" panose="02010600040101010101" pitchFamily="2" charset="-122"/>
              </a:rPr>
              <a:t>定义一个四元方程组对象</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equ.setLinearEqu</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a,b</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设置方程组</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equ.printLinearEqu</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输出方程组</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if (</a:t>
            </a:r>
            <a:r>
              <a:rPr kumimoji="0" lang="en-US" altLang="zh-CN" sz="2000" b="1" dirty="0" err="1">
                <a:solidFill>
                  <a:srgbClr val="000000"/>
                </a:solidFill>
                <a:latin typeface="Times New Roman" panose="02020603050405020304" pitchFamily="18" charset="0"/>
                <a:ea typeface="华文楷体" panose="02010600040101010101" pitchFamily="2" charset="-122"/>
              </a:rPr>
              <a:t>equ.solve</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求解方程组</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equ.printSolution</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输出方程组的解</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else</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&lt;&lt;"Fail"&lt;&lt;</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return 0;</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83972" name="标题 1"/>
          <p:cNvSpPr>
            <a:spLocks noGrp="1"/>
          </p:cNvSpPr>
          <p:nvPr>
            <p:ph type="title"/>
          </p:nvPr>
        </p:nvSpPr>
        <p:spPr>
          <a:xfrm>
            <a:off x="6072188" y="5791200"/>
            <a:ext cx="2971800" cy="852488"/>
          </a:xfrm>
          <a:solidFill>
            <a:schemeClr val="bg1"/>
          </a:solidFill>
        </p:spPr>
        <p:txBody>
          <a:bodyPr/>
          <a:lstStyle/>
          <a:p>
            <a:r>
              <a:rPr lang="zh-CN" altLang="en-US" smtClean="0"/>
              <a:t>例</a:t>
            </a:r>
            <a:r>
              <a:rPr lang="en-US" altLang="zh-CN" smtClean="0"/>
              <a:t>7-9</a:t>
            </a:r>
            <a:r>
              <a:rPr lang="zh-CN" altLang="en-US" smtClean="0"/>
              <a:t>（续）</a:t>
            </a:r>
            <a:endParaRPr lang="zh-CN" altLang="en-US" smtClean="0"/>
          </a:p>
        </p:txBody>
      </p:sp>
    </p:spTree>
  </p:cSld>
  <p:clrMapOvr>
    <a:masterClrMapping/>
  </p:clrMapOvr>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标题 1"/>
          <p:cNvSpPr>
            <a:spLocks noGrp="1"/>
          </p:cNvSpPr>
          <p:nvPr>
            <p:ph type="title"/>
          </p:nvPr>
        </p:nvSpPr>
        <p:spPr/>
        <p:txBody>
          <a:bodyPr/>
          <a:lstStyle/>
          <a:p>
            <a:r>
              <a:rPr lang="zh-CN" altLang="en-US" b="1" smtClean="0"/>
              <a:t>例</a:t>
            </a:r>
            <a:r>
              <a:rPr lang="en-US" altLang="zh-CN" b="1" smtClean="0"/>
              <a:t>7-9</a:t>
            </a:r>
            <a:r>
              <a:rPr lang="zh-CN" altLang="en-US" b="1" smtClean="0"/>
              <a:t>（续）</a:t>
            </a:r>
            <a:endParaRPr lang="zh-CN" altLang="en-US" b="1" smtClean="0"/>
          </a:p>
        </p:txBody>
      </p:sp>
      <p:sp>
        <p:nvSpPr>
          <p:cNvPr id="3" name="内容占位符 2"/>
          <p:cNvSpPr>
            <a:spLocks noGrp="1"/>
          </p:cNvSpPr>
          <p:nvPr>
            <p:ph idx="1"/>
          </p:nvPr>
        </p:nvSpPr>
        <p:spPr>
          <a:xfrm>
            <a:off x="628650" y="1825625"/>
            <a:ext cx="7886700" cy="3785652"/>
          </a:xfrm>
          <a:solidFill>
            <a:srgbClr val="000000"/>
          </a:solidFill>
          <a:ln>
            <a:noFill/>
          </a:ln>
        </p:spPr>
        <p:txBody>
          <a:bodyPr wrap="square">
            <a:spAutoFit/>
          </a:bodyPr>
          <a:lstStyle/>
          <a:p>
            <a:pPr marL="0" indent="0">
              <a:spcBef>
                <a:spcPct val="0"/>
              </a:spcBef>
              <a:buNone/>
            </a:pPr>
            <a:r>
              <a:rPr lang="zh-CN" altLang="en-US" sz="2000" b="1" dirty="0">
                <a:latin typeface="Times New Roman" panose="02020603050405020304" pitchFamily="18" charset="0"/>
                <a:ea typeface="隶书" panose="02010509060101010101" pitchFamily="49" charset="-122"/>
              </a:rPr>
              <a:t>运行结果为：</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The Line </a:t>
            </a:r>
            <a:r>
              <a:rPr lang="en-US" altLang="zh-CN" sz="2000" b="1" dirty="0" err="1">
                <a:latin typeface="Times New Roman" panose="02020603050405020304" pitchFamily="18" charset="0"/>
                <a:ea typeface="隶书" panose="02010509060101010101" pitchFamily="49" charset="-122"/>
              </a:rPr>
              <a:t>eqution</a:t>
            </a:r>
            <a:r>
              <a:rPr lang="en-US" altLang="zh-CN" sz="2000" b="1" dirty="0">
                <a:latin typeface="Times New Roman" panose="02020603050405020304" pitchFamily="18" charset="0"/>
                <a:ea typeface="隶书" panose="02010509060101010101" pitchFamily="49" charset="-122"/>
              </a:rPr>
              <a:t> is:	//</a:t>
            </a:r>
            <a:r>
              <a:rPr lang="zh-CN" altLang="en-US" sz="2000" b="1" dirty="0">
                <a:latin typeface="Times New Roman" panose="02020603050405020304" pitchFamily="18" charset="0"/>
                <a:ea typeface="隶书" panose="02010509060101010101" pitchFamily="49" charset="-122"/>
              </a:rPr>
              <a:t>方程组</a:t>
            </a:r>
            <a:endParaRPr lang="zh-CN" altLang="en-US"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0.2368 0.2471 0.2568 1.2671      1.8471</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0.1968 0.2071 1.2168 0.2271      1.7471</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0.1581 1.1675 0.1768 0.1871      1.6471</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1.1161 0.1254 0.1397 0.149      1.5471</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The Result is:	</a:t>
            </a:r>
            <a:r>
              <a:rPr lang="en-US" altLang="zh-CN" sz="2000" b="1" dirty="0" smtClean="0">
                <a:latin typeface="Times New Roman" panose="02020603050405020304" pitchFamily="18" charset="0"/>
                <a:ea typeface="隶书" panose="02010509060101010101" pitchFamily="49" charset="-122"/>
              </a:rPr>
              <a:t>	//</a:t>
            </a:r>
            <a:r>
              <a:rPr lang="zh-CN" altLang="en-US" sz="2000" b="1" dirty="0">
                <a:latin typeface="Times New Roman" panose="02020603050405020304" pitchFamily="18" charset="0"/>
                <a:ea typeface="隶书" panose="02010509060101010101" pitchFamily="49" charset="-122"/>
              </a:rPr>
              <a:t>方程组的解</a:t>
            </a:r>
            <a:endParaRPr lang="zh-CN" altLang="en-US"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X[0]=1.04058</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X[1]=0.987051</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X[2]=0.93504</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X[3]=0.881282</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endParaRPr lang="zh-CN" altLang="en-US" sz="2000" b="1" dirty="0">
              <a:latin typeface="Times New Roman" panose="02020603050405020304" pitchFamily="18" charset="0"/>
              <a:ea typeface="隶书" panose="02010509060101010101" pitchFamily="49" charset="-122"/>
            </a:endParaRPr>
          </a:p>
        </p:txBody>
      </p:sp>
    </p:spTree>
  </p:cSld>
  <p:clrMapOvr>
    <a:masterClrMapping/>
  </p:clrMapOv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41026" name="Rectangle 2"/>
          <p:cNvSpPr>
            <a:spLocks noGrp="1" noChangeArrowheads="1"/>
          </p:cNvSpPr>
          <p:nvPr>
            <p:ph type="title"/>
          </p:nvPr>
        </p:nvSpPr>
        <p:spPr bwMode="auto">
          <a:xfrm>
            <a:off x="683568" y="1124744"/>
            <a:ext cx="7990656" cy="12954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lnSpc>
                <a:spcPct val="200000"/>
              </a:lnSpc>
              <a:buFont typeface="+mj-lt"/>
              <a:buAutoNum type="arabicPeriod" startAt="7"/>
            </a:pPr>
            <a:r>
              <a:rPr lang="zh-CN" altLang="en-US" sz="6000" b="1" dirty="0" smtClean="0">
                <a:ea typeface="华文彩云" panose="02010800040101010101" pitchFamily="2" charset="-122"/>
              </a:rPr>
              <a:t>综合实例</a:t>
            </a:r>
            <a:br>
              <a:rPr lang="en-US" altLang="zh-CN" sz="6000" b="1" dirty="0">
                <a:ea typeface="华文彩云" panose="02010800040101010101" pitchFamily="2" charset="-122"/>
              </a:rPr>
            </a:br>
            <a:r>
              <a:rPr lang="en-US" altLang="zh-CN" b="1" dirty="0" smtClean="0">
                <a:ea typeface="华文彩云" panose="02010800040101010101" pitchFamily="2" charset="-122"/>
              </a:rPr>
              <a:t>——</a:t>
            </a:r>
            <a:r>
              <a:rPr lang="zh-CN" altLang="en-US" b="1" dirty="0" smtClean="0">
                <a:ea typeface="华文彩云" panose="02010800040101010101" pitchFamily="2" charset="-122"/>
              </a:rPr>
              <a:t>个人银行账户管理程序</a:t>
            </a:r>
            <a:endParaRPr lang="zh-CN" altLang="en-US" sz="6000" dirty="0"/>
          </a:p>
        </p:txBody>
      </p:sp>
      <p:pic>
        <p:nvPicPr>
          <p:cNvPr id="641032" name="Picture 8" descr="surfer4"/>
          <p:cNvPicPr>
            <a:picLocks noChangeAspect="1" noChangeArrowheads="1" noCrop="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372200" y="3933056"/>
            <a:ext cx="2000251" cy="2667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6018"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7.7.1 </a:t>
            </a:r>
            <a:r>
              <a:rPr lang="zh-CN" altLang="en-US" sz="4400" b="1">
                <a:latin typeface="Times New Roman" panose="02020603050405020304" pitchFamily="18" charset="0"/>
                <a:ea typeface="隶书" panose="02010509060101010101" pitchFamily="49" charset="-122"/>
              </a:rPr>
              <a:t>问题的提出</a:t>
            </a:r>
            <a:endParaRPr lang="zh-CN" altLang="en-US" sz="4400" b="1">
              <a:latin typeface="Times New Roman" panose="02020603050405020304" pitchFamily="18" charset="0"/>
              <a:ea typeface="隶书" panose="02010509060101010101" pitchFamily="49" charset="-122"/>
            </a:endParaRPr>
          </a:p>
        </p:txBody>
      </p:sp>
      <p:sp>
        <p:nvSpPr>
          <p:cNvPr id="86019" name="内容占位符 2"/>
          <p:cNvSpPr>
            <a:spLocks noGrp="1"/>
          </p:cNvSpPr>
          <p:nvPr>
            <p:ph idx="1"/>
          </p:nvPr>
        </p:nvSpPr>
        <p:spPr>
          <a:xfrm>
            <a:off x="683568" y="1700808"/>
            <a:ext cx="7886700" cy="2952328"/>
          </a:xfrm>
        </p:spPr>
        <p:txBody>
          <a:bodyPr/>
          <a:lstStyle/>
          <a:p>
            <a:pPr>
              <a:lnSpc>
                <a:spcPct val="150000"/>
              </a:lnSpc>
              <a:spcAft>
                <a:spcPct val="25000"/>
              </a:spcAft>
            </a:pPr>
            <a:r>
              <a:rPr lang="zh-CN" altLang="en-US" sz="2400" b="1">
                <a:ea typeface="华文楷体" panose="02010600040101010101" pitchFamily="2" charset="-122"/>
              </a:rPr>
              <a:t>使用继承和派生往个人银行账户管理程序中增加信用账号</a:t>
            </a:r>
            <a:endParaRPr lang="en-US" altLang="zh-CN" sz="2400" b="1">
              <a:ea typeface="华文楷体" panose="02010600040101010101" pitchFamily="2" charset="-122"/>
            </a:endParaRPr>
          </a:p>
          <a:p>
            <a:pPr>
              <a:lnSpc>
                <a:spcPct val="150000"/>
              </a:lnSpc>
              <a:spcAft>
                <a:spcPct val="25000"/>
              </a:spcAft>
            </a:pPr>
            <a:r>
              <a:rPr lang="zh-CN" altLang="en-US" sz="2400" b="1">
                <a:ea typeface="华文楷体" panose="02010600040101010101" pitchFamily="2" charset="-122"/>
              </a:rPr>
              <a:t>平时没有利息，透支时需要支付透支利息，且每个月结算一次</a:t>
            </a:r>
            <a:endParaRPr lang="zh-CN" altLang="en-US" sz="2400" b="1">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标题 4"/>
          <p:cNvSpPr txBox="1"/>
          <p:nvPr/>
        </p:nvSpPr>
        <p:spPr>
          <a:xfrm>
            <a:off x="214313" y="0"/>
            <a:ext cx="8750300" cy="428625"/>
          </a:xfrm>
          <a:prstGeom prst="rect">
            <a:avLst/>
          </a:prstGeom>
        </p:spPr>
        <p:txBody>
          <a:bodyPr anchor="ctr">
            <a:normAutofit/>
          </a:bodyPr>
          <a:lstStyle/>
          <a:p>
            <a:pPr fontAlgn="auto">
              <a:spcAft>
                <a:spcPts val="0"/>
              </a:spcAft>
              <a:defRPr/>
            </a:pPr>
            <a:r>
              <a:rPr kumimoji="0" lang="en-US" altLang="zh-CN" sz="2000" dirty="0" smtClean="0">
                <a:solidFill>
                  <a:prstClr val="white"/>
                </a:solidFill>
                <a:latin typeface="Trebuchet MS" panose="020B0603020202020204"/>
                <a:ea typeface="方正姚体" panose="02010601030101010101" charset="-122"/>
              </a:rPr>
              <a:t> </a:t>
            </a:r>
            <a:r>
              <a:rPr kumimoji="0" lang="en-US" altLang="zh-CN" sz="2000" dirty="0">
                <a:solidFill>
                  <a:prstClr val="white"/>
                </a:solidFill>
                <a:latin typeface="Trebuchet MS" panose="020B0603020202020204"/>
                <a:ea typeface="方正姚体" panose="02010601030101010101" charset="-122"/>
              </a:rPr>
              <a:t>7.7.2 </a:t>
            </a:r>
            <a:r>
              <a:rPr kumimoji="0" lang="zh-CN" altLang="en-US" sz="2000" dirty="0">
                <a:solidFill>
                  <a:prstClr val="white"/>
                </a:solidFill>
                <a:latin typeface="Trebuchet MS" panose="020B0603020202020204"/>
                <a:ea typeface="方正姚体" panose="02010601030101010101" charset="-122"/>
              </a:rPr>
              <a:t>类设计</a:t>
            </a:r>
            <a:endParaRPr kumimoji="0" lang="zh-CN" altLang="en-US" sz="2800" dirty="0">
              <a:solidFill>
                <a:schemeClr val="bg1"/>
              </a:solidFill>
              <a:latin typeface="+mj-ea"/>
              <a:ea typeface="+mj-ea"/>
              <a:cs typeface="+mj-cs"/>
            </a:endParaRPr>
          </a:p>
        </p:txBody>
      </p:sp>
      <p:sp>
        <p:nvSpPr>
          <p:cNvPr id="87044" name="Rectangle 58"/>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87045" name="Group 1"/>
          <p:cNvGrpSpPr>
            <a:grpSpLocks noChangeAspect="1"/>
          </p:cNvGrpSpPr>
          <p:nvPr/>
        </p:nvGrpSpPr>
        <p:grpSpPr bwMode="auto">
          <a:xfrm>
            <a:off x="1527001" y="428625"/>
            <a:ext cx="6429375" cy="6340475"/>
            <a:chOff x="-1276" y="-3970"/>
            <a:chExt cx="8053" cy="9985"/>
          </a:xfrm>
        </p:grpSpPr>
        <p:sp>
          <p:nvSpPr>
            <p:cNvPr id="87048" name="AutoShape 57"/>
            <p:cNvSpPr>
              <a:spLocks noChangeAspect="1" noChangeArrowheads="1" noTextEdit="1"/>
            </p:cNvSpPr>
            <p:nvPr/>
          </p:nvSpPr>
          <p:spPr bwMode="auto">
            <a:xfrm>
              <a:off x="-1276" y="-3970"/>
              <a:ext cx="8053" cy="9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endParaRPr lang="zh-CN" altLang="en-US" b="1"/>
            </a:p>
          </p:txBody>
        </p:sp>
        <p:grpSp>
          <p:nvGrpSpPr>
            <p:cNvPr id="87049" name="Group 49"/>
            <p:cNvGrpSpPr/>
            <p:nvPr/>
          </p:nvGrpSpPr>
          <p:grpSpPr bwMode="auto">
            <a:xfrm>
              <a:off x="1974" y="-3970"/>
              <a:ext cx="4803" cy="2100"/>
              <a:chOff x="-259" y="3766"/>
              <a:chExt cx="4803" cy="2100"/>
            </a:xfrm>
          </p:grpSpPr>
          <p:sp>
            <p:nvSpPr>
              <p:cNvPr id="87096" name="Rectangle 56"/>
              <p:cNvSpPr>
                <a:spLocks noChangeArrowheads="1"/>
              </p:cNvSpPr>
              <p:nvPr/>
            </p:nvSpPr>
            <p:spPr bwMode="auto">
              <a:xfrm>
                <a:off x="-259" y="3766"/>
                <a:ext cx="4803" cy="2100"/>
              </a:xfrm>
              <a:prstGeom prst="rect">
                <a:avLst/>
              </a:prstGeom>
              <a:noFill/>
              <a:ln w="4">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endParaRPr lang="zh-CN" altLang="en-US" b="1"/>
              </a:p>
            </p:txBody>
          </p:sp>
          <p:sp>
            <p:nvSpPr>
              <p:cNvPr id="87097" name="Rectangle 55"/>
              <p:cNvSpPr>
                <a:spLocks noChangeArrowheads="1"/>
              </p:cNvSpPr>
              <p:nvPr/>
            </p:nvSpPr>
            <p:spPr bwMode="auto">
              <a:xfrm>
                <a:off x="-240" y="4136"/>
                <a:ext cx="4347"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1000" b="1">
                    <a:latin typeface="Arial" panose="020B0604020202020204" pitchFamily="34" charset="0"/>
                    <a:cs typeface="Arial" panose="020B0604020202020204" pitchFamily="34" charset="0"/>
                  </a:rPr>
                  <a:t>-	acc : Accumulator</a:t>
                </a:r>
                <a:endParaRPr lang="en-US" altLang="zh-CN" sz="600" b="1"/>
              </a:p>
              <a:p>
                <a:pPr algn="l"/>
                <a:r>
                  <a:rPr lang="en-US" altLang="zh-CN" sz="1000" b="1">
                    <a:latin typeface="Arial" panose="020B0604020202020204" pitchFamily="34" charset="0"/>
                    <a:cs typeface="Arial" panose="020B0604020202020204" pitchFamily="34" charset="0"/>
                  </a:rPr>
                  <a:t>-	rate : double</a:t>
                </a:r>
                <a:endParaRPr lang="en-US" altLang="zh-CN" b="1"/>
              </a:p>
            </p:txBody>
          </p:sp>
          <p:sp>
            <p:nvSpPr>
              <p:cNvPr id="87098" name="Rectangle 54"/>
              <p:cNvSpPr>
                <a:spLocks noChangeArrowheads="1"/>
              </p:cNvSpPr>
              <p:nvPr/>
            </p:nvSpPr>
            <p:spPr bwMode="auto">
              <a:xfrm>
                <a:off x="-259" y="3818"/>
                <a:ext cx="4803"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1100" b="1">
                    <a:latin typeface="Arial" panose="020B0604020202020204" pitchFamily="34" charset="0"/>
                    <a:cs typeface="Arial" panose="020B0604020202020204" pitchFamily="34" charset="0"/>
                  </a:rPr>
                  <a:t>SavingsAccount</a:t>
                </a:r>
                <a:endParaRPr lang="en-US" altLang="zh-CN" sz="3200" b="1"/>
              </a:p>
            </p:txBody>
          </p:sp>
          <p:sp>
            <p:nvSpPr>
              <p:cNvPr id="87099" name="Rectangle 53"/>
              <p:cNvSpPr>
                <a:spLocks noChangeArrowheads="1"/>
              </p:cNvSpPr>
              <p:nvPr/>
            </p:nvSpPr>
            <p:spPr bwMode="auto">
              <a:xfrm>
                <a:off x="-239" y="4670"/>
                <a:ext cx="4783" cy="1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1000" b="1">
                    <a:latin typeface="Arial" panose="020B0604020202020204" pitchFamily="34" charset="0"/>
                    <a:cs typeface="Arial" panose="020B0604020202020204" pitchFamily="34" charset="0"/>
                  </a:rPr>
                  <a:t>+	SavingsAccount(date : Date, id : int, rate : double)</a:t>
                </a:r>
                <a:endParaRPr lang="en-US" altLang="zh-CN" sz="600" b="1"/>
              </a:p>
              <a:p>
                <a:pPr algn="l"/>
                <a:r>
                  <a:rPr lang="en-US" altLang="zh-CN" sz="1000" b="1">
                    <a:latin typeface="Arial" panose="020B0604020202020204" pitchFamily="34" charset="0"/>
                    <a:cs typeface="Arial" panose="020B0604020202020204" pitchFamily="34" charset="0"/>
                  </a:rPr>
                  <a:t>&lt;&lt;const&gt;&gt; +	getRate() : double</a:t>
                </a:r>
                <a:endParaRPr lang="en-US" altLang="zh-CN" sz="600" b="1"/>
              </a:p>
              <a:p>
                <a:pPr algn="l"/>
                <a:r>
                  <a:rPr lang="en-US" altLang="zh-CN" sz="1000" b="1">
                    <a:latin typeface="Arial" panose="020B0604020202020204" pitchFamily="34" charset="0"/>
                    <a:cs typeface="Arial" panose="020B0604020202020204" pitchFamily="34" charset="0"/>
                  </a:rPr>
                  <a:t>+	deposit(date : Date, amount : double, desc : string)</a:t>
                </a:r>
                <a:endParaRPr lang="en-US" altLang="zh-CN" sz="600" b="1"/>
              </a:p>
              <a:p>
                <a:pPr algn="l"/>
                <a:r>
                  <a:rPr lang="en-US" altLang="zh-CN" sz="1000" b="1">
                    <a:latin typeface="Arial" panose="020B0604020202020204" pitchFamily="34" charset="0"/>
                    <a:cs typeface="Arial" panose="020B0604020202020204" pitchFamily="34" charset="0"/>
                  </a:rPr>
                  <a:t>+	withdraw(date : Date, amount : double, desc : string)</a:t>
                </a:r>
                <a:endParaRPr lang="en-US" altLang="zh-CN" sz="600" b="1"/>
              </a:p>
              <a:p>
                <a:pPr algn="l"/>
                <a:r>
                  <a:rPr lang="en-US" altLang="zh-CN" sz="1000" b="1">
                    <a:latin typeface="Arial" panose="020B0604020202020204" pitchFamily="34" charset="0"/>
                    <a:cs typeface="Arial" panose="020B0604020202020204" pitchFamily="34" charset="0"/>
                  </a:rPr>
                  <a:t>+	settle(date : Date)</a:t>
                </a:r>
                <a:endParaRPr lang="en-US" altLang="zh-CN" b="1"/>
              </a:p>
            </p:txBody>
          </p:sp>
          <p:grpSp>
            <p:nvGrpSpPr>
              <p:cNvPr id="87100" name="Group 50"/>
              <p:cNvGrpSpPr/>
              <p:nvPr/>
            </p:nvGrpSpPr>
            <p:grpSpPr bwMode="auto">
              <a:xfrm>
                <a:off x="-258" y="4110"/>
                <a:ext cx="4802" cy="560"/>
                <a:chOff x="-258" y="4110"/>
                <a:chExt cx="4918" cy="560"/>
              </a:xfrm>
            </p:grpSpPr>
            <p:cxnSp>
              <p:nvCxnSpPr>
                <p:cNvPr id="87101" name="AutoShape 52"/>
                <p:cNvCxnSpPr>
                  <a:cxnSpLocks noChangeShapeType="1"/>
                </p:cNvCxnSpPr>
                <p:nvPr/>
              </p:nvCxnSpPr>
              <p:spPr bwMode="auto">
                <a:xfrm>
                  <a:off x="-258" y="4110"/>
                  <a:ext cx="4918" cy="1"/>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cxnSp>
              <p:nvCxnSpPr>
                <p:cNvPr id="87102" name="AutoShape 51"/>
                <p:cNvCxnSpPr>
                  <a:cxnSpLocks noChangeShapeType="1"/>
                </p:cNvCxnSpPr>
                <p:nvPr/>
              </p:nvCxnSpPr>
              <p:spPr bwMode="auto">
                <a:xfrm>
                  <a:off x="-258" y="4669"/>
                  <a:ext cx="4918" cy="1"/>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grpSp>
        </p:grpSp>
        <p:cxnSp>
          <p:nvCxnSpPr>
            <p:cNvPr id="87050" name="AutoShape 48"/>
            <p:cNvCxnSpPr>
              <a:cxnSpLocks noChangeShapeType="1"/>
            </p:cNvCxnSpPr>
            <p:nvPr/>
          </p:nvCxnSpPr>
          <p:spPr bwMode="auto">
            <a:xfrm rot="10800000" flipV="1">
              <a:off x="1630" y="-2920"/>
              <a:ext cx="344" cy="4239"/>
            </a:xfrm>
            <a:prstGeom prst="bentConnector3">
              <a:avLst>
                <a:gd name="adj1" fmla="val 50000"/>
              </a:avLst>
            </a:prstGeom>
            <a:noFill/>
            <a:ln w="9525">
              <a:solidFill>
                <a:srgbClr val="000000"/>
              </a:solidFill>
              <a:prstDash val="dash"/>
              <a:miter lim="800000"/>
              <a:tailEnd type="arrow" w="med" len="med"/>
            </a:ln>
            <a:extLst>
              <a:ext uri="{909E8E84-426E-40DD-AFC4-6F175D3DCCD1}">
                <a14:hiddenFill xmlns:a14="http://schemas.microsoft.com/office/drawing/2010/main">
                  <a:noFill/>
                </a14:hiddenFill>
              </a:ext>
            </a:extLst>
          </p:spPr>
        </p:cxnSp>
        <p:sp>
          <p:nvSpPr>
            <p:cNvPr id="87051" name="AutoShape 47"/>
            <p:cNvSpPr>
              <a:spLocks noChangeArrowheads="1"/>
            </p:cNvSpPr>
            <p:nvPr/>
          </p:nvSpPr>
          <p:spPr bwMode="auto">
            <a:xfrm rot="10800000">
              <a:off x="2887" y="1628"/>
              <a:ext cx="210" cy="310"/>
            </a:xfrm>
            <a:prstGeom prst="diamond">
              <a:avLst/>
            </a:prstGeom>
            <a:solidFill>
              <a:srgbClr val="000000"/>
            </a:solidFill>
            <a:ln w="9525">
              <a:solidFill>
                <a:srgbClr val="000000"/>
              </a:solidFill>
              <a:miter lim="800000"/>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endParaRPr lang="zh-CN" altLang="en-US" b="1"/>
            </a:p>
          </p:txBody>
        </p:sp>
        <p:sp>
          <p:nvSpPr>
            <p:cNvPr id="87052" name="Rectangle 46"/>
            <p:cNvSpPr>
              <a:spLocks noChangeArrowheads="1"/>
            </p:cNvSpPr>
            <p:nvPr/>
          </p:nvSpPr>
          <p:spPr bwMode="auto">
            <a:xfrm>
              <a:off x="1526" y="-665"/>
              <a:ext cx="88"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1000" b="1">
                  <a:latin typeface="Arial" panose="020B0604020202020204" pitchFamily="34" charset="0"/>
                  <a:cs typeface="Arial" panose="020B0604020202020204" pitchFamily="34" charset="0"/>
                </a:rPr>
                <a:t>1</a:t>
              </a:r>
              <a:endParaRPr lang="en-US" altLang="zh-CN" b="1"/>
            </a:p>
          </p:txBody>
        </p:sp>
        <p:sp>
          <p:nvSpPr>
            <p:cNvPr id="87053" name="Rectangle 45"/>
            <p:cNvSpPr>
              <a:spLocks noChangeArrowheads="1"/>
            </p:cNvSpPr>
            <p:nvPr/>
          </p:nvSpPr>
          <p:spPr bwMode="auto">
            <a:xfrm>
              <a:off x="194" y="-2989"/>
              <a:ext cx="88"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1000" b="1">
                  <a:latin typeface="Arial" panose="020B0604020202020204" pitchFamily="34" charset="0"/>
                  <a:cs typeface="Arial" panose="020B0604020202020204" pitchFamily="34" charset="0"/>
                </a:rPr>
                <a:t>1</a:t>
              </a:r>
              <a:endParaRPr lang="en-US" altLang="zh-CN" b="1"/>
            </a:p>
          </p:txBody>
        </p:sp>
        <p:grpSp>
          <p:nvGrpSpPr>
            <p:cNvPr id="87054" name="Group 37"/>
            <p:cNvGrpSpPr/>
            <p:nvPr/>
          </p:nvGrpSpPr>
          <p:grpSpPr bwMode="auto">
            <a:xfrm>
              <a:off x="1986" y="1965"/>
              <a:ext cx="4756" cy="3883"/>
              <a:chOff x="-429" y="2697"/>
              <a:chExt cx="4756" cy="3883"/>
            </a:xfrm>
          </p:grpSpPr>
          <p:sp>
            <p:nvSpPr>
              <p:cNvPr id="87089" name="Rectangle 44"/>
              <p:cNvSpPr>
                <a:spLocks noChangeArrowheads="1"/>
              </p:cNvSpPr>
              <p:nvPr/>
            </p:nvSpPr>
            <p:spPr bwMode="auto">
              <a:xfrm>
                <a:off x="-428" y="2697"/>
                <a:ext cx="4755" cy="3883"/>
              </a:xfrm>
              <a:prstGeom prst="rect">
                <a:avLst/>
              </a:prstGeom>
              <a:noFill/>
              <a:ln w="4">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endParaRPr lang="zh-CN" altLang="en-US" b="1"/>
              </a:p>
            </p:txBody>
          </p:sp>
          <p:sp>
            <p:nvSpPr>
              <p:cNvPr id="87090" name="Rectangle 43"/>
              <p:cNvSpPr>
                <a:spLocks noChangeArrowheads="1"/>
              </p:cNvSpPr>
              <p:nvPr/>
            </p:nvSpPr>
            <p:spPr bwMode="auto">
              <a:xfrm>
                <a:off x="-428" y="2922"/>
                <a:ext cx="4347"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1000" b="1">
                    <a:latin typeface="Arial" panose="020B0604020202020204" pitchFamily="34" charset="0"/>
                    <a:cs typeface="Arial" panose="020B0604020202020204" pitchFamily="34" charset="0"/>
                  </a:rPr>
                  <a:t>-	acc : Accumulator</a:t>
                </a:r>
                <a:endParaRPr lang="en-US" altLang="zh-CN" sz="600" b="1"/>
              </a:p>
              <a:p>
                <a:pPr algn="l"/>
                <a:r>
                  <a:rPr lang="en-US" altLang="zh-CN" sz="1000" b="1">
                    <a:latin typeface="Arial" panose="020B0604020202020204" pitchFamily="34" charset="0"/>
                    <a:cs typeface="Arial" panose="020B0604020202020204" pitchFamily="34" charset="0"/>
                  </a:rPr>
                  <a:t>-	credit : double</a:t>
                </a:r>
                <a:endParaRPr lang="en-US" altLang="zh-CN" sz="600" b="1"/>
              </a:p>
              <a:p>
                <a:pPr algn="l"/>
                <a:r>
                  <a:rPr lang="en-US" altLang="zh-CN" sz="1000" b="1">
                    <a:latin typeface="Arial" panose="020B0604020202020204" pitchFamily="34" charset="0"/>
                    <a:cs typeface="Arial" panose="020B0604020202020204" pitchFamily="34" charset="0"/>
                  </a:rPr>
                  <a:t>-	rate : double</a:t>
                </a:r>
                <a:endParaRPr lang="en-US" altLang="zh-CN" sz="600" b="1"/>
              </a:p>
              <a:p>
                <a:pPr algn="l"/>
                <a:r>
                  <a:rPr lang="en-US" altLang="zh-CN" sz="1000" b="1">
                    <a:latin typeface="Arial" panose="020B0604020202020204" pitchFamily="34" charset="0"/>
                    <a:cs typeface="Arial" panose="020B0604020202020204" pitchFamily="34" charset="0"/>
                  </a:rPr>
                  <a:t>-	fee : double</a:t>
                </a:r>
                <a:endParaRPr lang="en-US" altLang="zh-CN" b="1"/>
              </a:p>
            </p:txBody>
          </p:sp>
          <p:sp>
            <p:nvSpPr>
              <p:cNvPr id="87091" name="Rectangle 42"/>
              <p:cNvSpPr>
                <a:spLocks noChangeArrowheads="1"/>
              </p:cNvSpPr>
              <p:nvPr/>
            </p:nvSpPr>
            <p:spPr bwMode="auto">
              <a:xfrm>
                <a:off x="-428" y="2697"/>
                <a:ext cx="4755"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1100" b="1">
                    <a:latin typeface="Arial" panose="020B0604020202020204" pitchFamily="34" charset="0"/>
                    <a:cs typeface="Arial" panose="020B0604020202020204" pitchFamily="34" charset="0"/>
                  </a:rPr>
                  <a:t>CreditAccount</a:t>
                </a:r>
                <a:endParaRPr lang="en-US" altLang="zh-CN" b="1"/>
              </a:p>
            </p:txBody>
          </p:sp>
          <p:sp>
            <p:nvSpPr>
              <p:cNvPr id="87092" name="Rectangle 41"/>
              <p:cNvSpPr>
                <a:spLocks noChangeArrowheads="1"/>
              </p:cNvSpPr>
              <p:nvPr/>
            </p:nvSpPr>
            <p:spPr bwMode="auto">
              <a:xfrm>
                <a:off x="-428" y="3935"/>
                <a:ext cx="4736" cy="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1000" b="1">
                    <a:latin typeface="Arial" panose="020B0604020202020204" pitchFamily="34" charset="0"/>
                    <a:cs typeface="Arial" panose="020B0604020202020204" pitchFamily="34" charset="0"/>
                  </a:rPr>
                  <a:t>&lt;&lt;const&gt;&gt; -	getDebt() : double</a:t>
                </a:r>
                <a:endParaRPr lang="en-US" altLang="zh-CN" sz="600" b="1"/>
              </a:p>
              <a:p>
                <a:pPr algn="l"/>
                <a:r>
                  <a:rPr lang="en-US" altLang="zh-CN" sz="1000" b="1">
                    <a:latin typeface="Arial" panose="020B0604020202020204" pitchFamily="34" charset="0"/>
                    <a:cs typeface="Arial" panose="020B0604020202020204" pitchFamily="34" charset="0"/>
                  </a:rPr>
                  <a:t>+	CreditAccount(date : Date, id : int, credit : double, rate : double, fee : double)</a:t>
                </a:r>
                <a:endParaRPr lang="en-US" altLang="zh-CN" sz="600" b="1"/>
              </a:p>
              <a:p>
                <a:pPr algn="l"/>
                <a:r>
                  <a:rPr lang="en-US" altLang="zh-CN" sz="1000" b="1">
                    <a:latin typeface="Arial" panose="020B0604020202020204" pitchFamily="34" charset="0"/>
                    <a:cs typeface="Arial" panose="020B0604020202020204" pitchFamily="34" charset="0"/>
                  </a:rPr>
                  <a:t>&lt;&lt;const&gt;&gt; +	getCredit() : double</a:t>
                </a:r>
                <a:endParaRPr lang="en-US" altLang="zh-CN" sz="600" b="1"/>
              </a:p>
              <a:p>
                <a:pPr algn="l"/>
                <a:r>
                  <a:rPr lang="en-US" altLang="zh-CN" sz="1000" b="1">
                    <a:latin typeface="Arial" panose="020B0604020202020204" pitchFamily="34" charset="0"/>
                    <a:cs typeface="Arial" panose="020B0604020202020204" pitchFamily="34" charset="0"/>
                  </a:rPr>
                  <a:t>&lt;&lt;const&gt;&gt; +	getRate() : double</a:t>
                </a:r>
                <a:endParaRPr lang="en-US" altLang="zh-CN" sz="600" b="1"/>
              </a:p>
              <a:p>
                <a:pPr algn="l"/>
                <a:r>
                  <a:rPr lang="en-US" altLang="zh-CN" sz="1000" b="1">
                    <a:latin typeface="Arial" panose="020B0604020202020204" pitchFamily="34" charset="0"/>
                    <a:cs typeface="Arial" panose="020B0604020202020204" pitchFamily="34" charset="0"/>
                  </a:rPr>
                  <a:t>&lt;&lt;const&gt;&gt; +	getFee() : double</a:t>
                </a:r>
                <a:endParaRPr lang="en-US" altLang="zh-CN" sz="600" b="1"/>
              </a:p>
              <a:p>
                <a:pPr algn="l"/>
                <a:r>
                  <a:rPr lang="en-US" altLang="zh-CN" sz="1000" b="1">
                    <a:latin typeface="Arial" panose="020B0604020202020204" pitchFamily="34" charset="0"/>
                    <a:cs typeface="Arial" panose="020B0604020202020204" pitchFamily="34" charset="0"/>
                  </a:rPr>
                  <a:t>&lt;&lt;const&gt;&gt; +	getAvailableCredit() : double</a:t>
                </a:r>
                <a:endParaRPr lang="en-US" altLang="zh-CN" sz="600" b="1"/>
              </a:p>
              <a:p>
                <a:pPr algn="l"/>
                <a:r>
                  <a:rPr lang="en-US" altLang="zh-CN" sz="1000" b="1">
                    <a:latin typeface="Arial" panose="020B0604020202020204" pitchFamily="34" charset="0"/>
                    <a:cs typeface="Arial" panose="020B0604020202020204" pitchFamily="34" charset="0"/>
                  </a:rPr>
                  <a:t>+	deposit(date : Date, amount : double, desc : string)</a:t>
                </a:r>
                <a:endParaRPr lang="en-US" altLang="zh-CN" sz="600" b="1"/>
              </a:p>
              <a:p>
                <a:pPr algn="l"/>
                <a:r>
                  <a:rPr lang="en-US" altLang="zh-CN" sz="1000" b="1">
                    <a:latin typeface="Arial" panose="020B0604020202020204" pitchFamily="34" charset="0"/>
                    <a:cs typeface="Arial" panose="020B0604020202020204" pitchFamily="34" charset="0"/>
                  </a:rPr>
                  <a:t>+	withdraw(date : Date, amount : double, desc : string)</a:t>
                </a:r>
                <a:endParaRPr lang="en-US" altLang="zh-CN" sz="600" b="1"/>
              </a:p>
              <a:p>
                <a:pPr algn="l"/>
                <a:r>
                  <a:rPr lang="en-US" altLang="zh-CN" sz="1000" b="1">
                    <a:latin typeface="Arial" panose="020B0604020202020204" pitchFamily="34" charset="0"/>
                    <a:cs typeface="Arial" panose="020B0604020202020204" pitchFamily="34" charset="0"/>
                  </a:rPr>
                  <a:t>+	settle(date : Date)</a:t>
                </a:r>
                <a:endParaRPr lang="en-US" altLang="zh-CN" sz="600" b="1"/>
              </a:p>
              <a:p>
                <a:pPr algn="l"/>
                <a:r>
                  <a:rPr lang="en-US" altLang="zh-CN" sz="1000" b="1">
                    <a:latin typeface="Arial" panose="020B0604020202020204" pitchFamily="34" charset="0"/>
                    <a:cs typeface="Arial" panose="020B0604020202020204" pitchFamily="34" charset="0"/>
                  </a:rPr>
                  <a:t>&lt;&lt;const&gt;&gt; +	show()</a:t>
                </a:r>
                <a:endParaRPr lang="en-US" altLang="zh-CN" sz="600" b="1"/>
              </a:p>
            </p:txBody>
          </p:sp>
          <p:grpSp>
            <p:nvGrpSpPr>
              <p:cNvPr id="87093" name="Group 38"/>
              <p:cNvGrpSpPr/>
              <p:nvPr/>
            </p:nvGrpSpPr>
            <p:grpSpPr bwMode="auto">
              <a:xfrm>
                <a:off x="-429" y="2922"/>
                <a:ext cx="4755" cy="1014"/>
                <a:chOff x="620" y="1784"/>
                <a:chExt cx="4919" cy="1014"/>
              </a:xfrm>
            </p:grpSpPr>
            <p:cxnSp>
              <p:nvCxnSpPr>
                <p:cNvPr id="87094" name="AutoShape 40"/>
                <p:cNvCxnSpPr>
                  <a:cxnSpLocks noChangeShapeType="1"/>
                </p:cNvCxnSpPr>
                <p:nvPr/>
              </p:nvCxnSpPr>
              <p:spPr bwMode="auto">
                <a:xfrm>
                  <a:off x="620" y="1784"/>
                  <a:ext cx="4918" cy="1"/>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cxnSp>
              <p:nvCxnSpPr>
                <p:cNvPr id="87095" name="AutoShape 39"/>
                <p:cNvCxnSpPr>
                  <a:cxnSpLocks noChangeShapeType="1"/>
                </p:cNvCxnSpPr>
                <p:nvPr/>
              </p:nvCxnSpPr>
              <p:spPr bwMode="auto">
                <a:xfrm>
                  <a:off x="621" y="2797"/>
                  <a:ext cx="4918" cy="1"/>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grpSp>
        </p:grpSp>
        <p:grpSp>
          <p:nvGrpSpPr>
            <p:cNvPr id="87055" name="Group 29"/>
            <p:cNvGrpSpPr/>
            <p:nvPr/>
          </p:nvGrpSpPr>
          <p:grpSpPr bwMode="auto">
            <a:xfrm>
              <a:off x="-1276" y="1154"/>
              <a:ext cx="2906" cy="3715"/>
              <a:chOff x="-1212" y="-2699"/>
              <a:chExt cx="2906" cy="3715"/>
            </a:xfrm>
          </p:grpSpPr>
          <p:sp>
            <p:nvSpPr>
              <p:cNvPr id="87082" name="Rectangle 36"/>
              <p:cNvSpPr>
                <a:spLocks noChangeArrowheads="1"/>
              </p:cNvSpPr>
              <p:nvPr/>
            </p:nvSpPr>
            <p:spPr bwMode="auto">
              <a:xfrm>
                <a:off x="-1212" y="-2699"/>
                <a:ext cx="2906" cy="3715"/>
              </a:xfrm>
              <a:prstGeom prst="rect">
                <a:avLst/>
              </a:prstGeom>
              <a:noFill/>
              <a:ln w="4">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endParaRPr lang="zh-CN" altLang="en-US" b="1"/>
              </a:p>
            </p:txBody>
          </p:sp>
          <p:sp>
            <p:nvSpPr>
              <p:cNvPr id="87083" name="Rectangle 35"/>
              <p:cNvSpPr>
                <a:spLocks noChangeArrowheads="1"/>
              </p:cNvSpPr>
              <p:nvPr/>
            </p:nvSpPr>
            <p:spPr bwMode="auto">
              <a:xfrm>
                <a:off x="-1185" y="-2343"/>
                <a:ext cx="2064" cy="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1000" b="1">
                    <a:latin typeface="Arial" panose="020B0604020202020204" pitchFamily="34" charset="0"/>
                    <a:cs typeface="Arial" panose="020B0604020202020204" pitchFamily="34" charset="0"/>
                  </a:rPr>
                  <a:t>-	year : int</a:t>
                </a:r>
                <a:endParaRPr lang="en-US" altLang="zh-CN" sz="600" b="1"/>
              </a:p>
              <a:p>
                <a:pPr algn="l"/>
                <a:r>
                  <a:rPr lang="en-US" altLang="zh-CN" sz="1000" b="1">
                    <a:latin typeface="Arial" panose="020B0604020202020204" pitchFamily="34" charset="0"/>
                    <a:cs typeface="Arial" panose="020B0604020202020204" pitchFamily="34" charset="0"/>
                  </a:rPr>
                  <a:t>-	month : int</a:t>
                </a:r>
                <a:endParaRPr lang="en-US" altLang="zh-CN" sz="600" b="1"/>
              </a:p>
              <a:p>
                <a:pPr algn="l"/>
                <a:r>
                  <a:rPr lang="en-US" altLang="zh-CN" sz="1000" b="1">
                    <a:latin typeface="Arial" panose="020B0604020202020204" pitchFamily="34" charset="0"/>
                    <a:cs typeface="Arial" panose="020B0604020202020204" pitchFamily="34" charset="0"/>
                  </a:rPr>
                  <a:t>-	day : int</a:t>
                </a:r>
                <a:endParaRPr lang="en-US" altLang="zh-CN" sz="600" b="1"/>
              </a:p>
              <a:p>
                <a:pPr algn="l"/>
                <a:r>
                  <a:rPr lang="en-US" altLang="zh-CN" sz="1000" b="1">
                    <a:latin typeface="Arial" panose="020B0604020202020204" pitchFamily="34" charset="0"/>
                    <a:cs typeface="Arial" panose="020B0604020202020204" pitchFamily="34" charset="0"/>
                  </a:rPr>
                  <a:t>-	totalDays : int</a:t>
                </a:r>
                <a:endParaRPr lang="en-US" altLang="zh-CN" b="1"/>
              </a:p>
            </p:txBody>
          </p:sp>
          <p:sp>
            <p:nvSpPr>
              <p:cNvPr id="87084" name="Rectangle 34"/>
              <p:cNvSpPr>
                <a:spLocks noChangeArrowheads="1"/>
              </p:cNvSpPr>
              <p:nvPr/>
            </p:nvSpPr>
            <p:spPr bwMode="auto">
              <a:xfrm>
                <a:off x="-1185" y="-1321"/>
                <a:ext cx="2879" cy="1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1000" b="1">
                    <a:latin typeface="Arial" panose="020B0604020202020204" pitchFamily="34" charset="0"/>
                    <a:cs typeface="Arial" panose="020B0604020202020204" pitchFamily="34" charset="0"/>
                  </a:rPr>
                  <a:t>+	Date(year : int, month : int, day : int)</a:t>
                </a:r>
                <a:endParaRPr lang="en-US" altLang="zh-CN" sz="600" b="1"/>
              </a:p>
              <a:p>
                <a:pPr algn="l"/>
                <a:r>
                  <a:rPr lang="en-US" altLang="zh-CN" sz="1000" b="1">
                    <a:latin typeface="Arial" panose="020B0604020202020204" pitchFamily="34" charset="0"/>
                    <a:cs typeface="Arial" panose="020B0604020202020204" pitchFamily="34" charset="0"/>
                  </a:rPr>
                  <a:t>&lt;&lt;const&gt;&gt; +	getYear() : int</a:t>
                </a:r>
                <a:endParaRPr lang="en-US" altLang="zh-CN" sz="600" b="1"/>
              </a:p>
              <a:p>
                <a:pPr algn="l"/>
                <a:r>
                  <a:rPr lang="en-US" altLang="zh-CN" sz="1000" b="1">
                    <a:latin typeface="Arial" panose="020B0604020202020204" pitchFamily="34" charset="0"/>
                    <a:cs typeface="Arial" panose="020B0604020202020204" pitchFamily="34" charset="0"/>
                  </a:rPr>
                  <a:t>&lt;&lt;const&gt;&gt; +	getMonth() : int</a:t>
                </a:r>
                <a:endParaRPr lang="en-US" altLang="zh-CN" sz="600" b="1"/>
              </a:p>
              <a:p>
                <a:pPr algn="l"/>
                <a:r>
                  <a:rPr lang="en-US" altLang="zh-CN" sz="1000" b="1">
                    <a:latin typeface="Arial" panose="020B0604020202020204" pitchFamily="34" charset="0"/>
                    <a:cs typeface="Arial" panose="020B0604020202020204" pitchFamily="34" charset="0"/>
                  </a:rPr>
                  <a:t>&lt;&lt;const&gt;&gt; +	getDay() : int</a:t>
                </a:r>
                <a:endParaRPr lang="en-US" altLang="zh-CN" sz="600" b="1"/>
              </a:p>
              <a:p>
                <a:pPr algn="l"/>
                <a:r>
                  <a:rPr lang="en-US" altLang="zh-CN" sz="1000" b="1">
                    <a:latin typeface="Arial" panose="020B0604020202020204" pitchFamily="34" charset="0"/>
                    <a:cs typeface="Arial" panose="020B0604020202020204" pitchFamily="34" charset="0"/>
                  </a:rPr>
                  <a:t>&lt;&lt;const&gt;&gt; + getMaxDay() : int</a:t>
                </a:r>
                <a:endParaRPr lang="en-US" altLang="zh-CN" sz="600" b="1"/>
              </a:p>
              <a:p>
                <a:pPr algn="l"/>
                <a:r>
                  <a:rPr lang="en-US" altLang="zh-CN" sz="1000" b="1">
                    <a:latin typeface="Arial" panose="020B0604020202020204" pitchFamily="34" charset="0"/>
                    <a:cs typeface="Arial" panose="020B0604020202020204" pitchFamily="34" charset="0"/>
                  </a:rPr>
                  <a:t>&lt;&lt;const&gt;&gt; + isLeapYear() : bool</a:t>
                </a:r>
                <a:endParaRPr lang="en-US" altLang="zh-CN" sz="600" b="1"/>
              </a:p>
              <a:p>
                <a:pPr algn="l"/>
                <a:r>
                  <a:rPr lang="en-US" altLang="zh-CN" sz="1000" b="1">
                    <a:latin typeface="Arial" panose="020B0604020202020204" pitchFamily="34" charset="0"/>
                    <a:cs typeface="Arial" panose="020B0604020202020204" pitchFamily="34" charset="0"/>
                  </a:rPr>
                  <a:t>&lt;&lt;const&gt;&gt; + show()</a:t>
                </a:r>
                <a:endParaRPr lang="en-US" altLang="zh-CN" sz="600" b="1"/>
              </a:p>
              <a:p>
                <a:pPr algn="l"/>
                <a:r>
                  <a:rPr lang="en-US" altLang="zh-CN" sz="1000" b="1">
                    <a:latin typeface="Arial" panose="020B0604020202020204" pitchFamily="34" charset="0"/>
                    <a:cs typeface="Arial" panose="020B0604020202020204" pitchFamily="34" charset="0"/>
                  </a:rPr>
                  <a:t>&lt;&lt;const&gt;&gt; + distance(date : Date) : int</a:t>
                </a:r>
                <a:endParaRPr lang="en-US" altLang="zh-CN" b="1"/>
              </a:p>
            </p:txBody>
          </p:sp>
          <p:sp>
            <p:nvSpPr>
              <p:cNvPr id="87085" name="Rectangle 33"/>
              <p:cNvSpPr>
                <a:spLocks noChangeArrowheads="1"/>
              </p:cNvSpPr>
              <p:nvPr/>
            </p:nvSpPr>
            <p:spPr bwMode="auto">
              <a:xfrm>
                <a:off x="-1212" y="-2678"/>
                <a:ext cx="290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1100" b="1">
                    <a:latin typeface="Arial" panose="020B0604020202020204" pitchFamily="34" charset="0"/>
                    <a:cs typeface="Arial" panose="020B0604020202020204" pitchFamily="34" charset="0"/>
                  </a:rPr>
                  <a:t>Date</a:t>
                </a:r>
                <a:endParaRPr lang="en-US" altLang="zh-CN" sz="3200" b="1"/>
              </a:p>
            </p:txBody>
          </p:sp>
          <p:grpSp>
            <p:nvGrpSpPr>
              <p:cNvPr id="87086" name="Group 30"/>
              <p:cNvGrpSpPr/>
              <p:nvPr/>
            </p:nvGrpSpPr>
            <p:grpSpPr bwMode="auto">
              <a:xfrm>
                <a:off x="-1212" y="-2390"/>
                <a:ext cx="2906" cy="1029"/>
                <a:chOff x="445" y="2828"/>
                <a:chExt cx="3035" cy="1029"/>
              </a:xfrm>
            </p:grpSpPr>
            <p:cxnSp>
              <p:nvCxnSpPr>
                <p:cNvPr id="87087" name="AutoShape 32"/>
                <p:cNvCxnSpPr>
                  <a:cxnSpLocks noChangeShapeType="1"/>
                </p:cNvCxnSpPr>
                <p:nvPr/>
              </p:nvCxnSpPr>
              <p:spPr bwMode="auto">
                <a:xfrm>
                  <a:off x="445" y="3856"/>
                  <a:ext cx="3035" cy="1"/>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cxnSp>
              <p:nvCxnSpPr>
                <p:cNvPr id="87088" name="AutoShape 31"/>
                <p:cNvCxnSpPr>
                  <a:cxnSpLocks noChangeShapeType="1"/>
                </p:cNvCxnSpPr>
                <p:nvPr/>
              </p:nvCxnSpPr>
              <p:spPr bwMode="auto">
                <a:xfrm>
                  <a:off x="445" y="2828"/>
                  <a:ext cx="3035" cy="1"/>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grpSp>
        </p:grpSp>
        <p:grpSp>
          <p:nvGrpSpPr>
            <p:cNvPr id="87056" name="Group 21"/>
            <p:cNvGrpSpPr/>
            <p:nvPr/>
          </p:nvGrpSpPr>
          <p:grpSpPr bwMode="auto">
            <a:xfrm>
              <a:off x="-1052" y="-2600"/>
              <a:ext cx="2430" cy="3051"/>
              <a:chOff x="3871" y="2166"/>
              <a:chExt cx="2430" cy="3051"/>
            </a:xfrm>
          </p:grpSpPr>
          <p:sp>
            <p:nvSpPr>
              <p:cNvPr id="87075" name="Rectangle 28"/>
              <p:cNvSpPr>
                <a:spLocks noChangeArrowheads="1"/>
              </p:cNvSpPr>
              <p:nvPr/>
            </p:nvSpPr>
            <p:spPr bwMode="auto">
              <a:xfrm>
                <a:off x="3871" y="2166"/>
                <a:ext cx="2430" cy="2952"/>
              </a:xfrm>
              <a:prstGeom prst="rect">
                <a:avLst/>
              </a:prstGeom>
              <a:noFill/>
              <a:ln w="4">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endParaRPr lang="zh-CN" altLang="en-US" b="1"/>
              </a:p>
            </p:txBody>
          </p:sp>
          <p:sp>
            <p:nvSpPr>
              <p:cNvPr id="87076" name="Rectangle 27"/>
              <p:cNvSpPr>
                <a:spLocks noChangeArrowheads="1"/>
              </p:cNvSpPr>
              <p:nvPr/>
            </p:nvSpPr>
            <p:spPr bwMode="auto">
              <a:xfrm>
                <a:off x="3907" y="2519"/>
                <a:ext cx="2064"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1000" b="1">
                    <a:latin typeface="Arial" panose="020B0604020202020204" pitchFamily="34" charset="0"/>
                    <a:cs typeface="Arial" panose="020B0604020202020204" pitchFamily="34" charset="0"/>
                  </a:rPr>
                  <a:t>-	lastDate : Date</a:t>
                </a:r>
                <a:endParaRPr lang="en-US" altLang="zh-CN" sz="600" b="1"/>
              </a:p>
              <a:p>
                <a:pPr algn="l"/>
                <a:r>
                  <a:rPr lang="en-US" altLang="zh-CN" sz="1000" b="1">
                    <a:latin typeface="Arial" panose="020B0604020202020204" pitchFamily="34" charset="0"/>
                    <a:cs typeface="Arial" panose="020B0604020202020204" pitchFamily="34" charset="0"/>
                  </a:rPr>
                  <a:t>-	value : double</a:t>
                </a:r>
                <a:endParaRPr lang="en-US" altLang="zh-CN" sz="600" b="1"/>
              </a:p>
              <a:p>
                <a:pPr algn="l"/>
                <a:r>
                  <a:rPr lang="en-US" altLang="zh-CN" sz="1000" b="1">
                    <a:latin typeface="Arial" panose="020B0604020202020204" pitchFamily="34" charset="0"/>
                    <a:cs typeface="Arial" panose="020B0604020202020204" pitchFamily="34" charset="0"/>
                  </a:rPr>
                  <a:t>-	sum : double</a:t>
                </a:r>
                <a:endParaRPr lang="en-US" altLang="zh-CN" b="1"/>
              </a:p>
            </p:txBody>
          </p:sp>
          <p:sp>
            <p:nvSpPr>
              <p:cNvPr id="87077" name="Rectangle 26"/>
              <p:cNvSpPr>
                <a:spLocks noChangeArrowheads="1"/>
              </p:cNvSpPr>
              <p:nvPr/>
            </p:nvSpPr>
            <p:spPr bwMode="auto">
              <a:xfrm>
                <a:off x="3884" y="3278"/>
                <a:ext cx="2417" cy="1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1000" b="1">
                    <a:latin typeface="Arial" panose="020B0604020202020204" pitchFamily="34" charset="0"/>
                    <a:cs typeface="Arial" panose="020B0604020202020204" pitchFamily="34" charset="0"/>
                  </a:rPr>
                  <a:t>+	Accumulator(date : Date, value : double)</a:t>
                </a:r>
                <a:endParaRPr lang="en-US" altLang="zh-CN" sz="600" b="1"/>
              </a:p>
              <a:p>
                <a:pPr algn="l"/>
                <a:r>
                  <a:rPr lang="en-US" altLang="zh-CN" sz="1000" b="1">
                    <a:latin typeface="Arial" panose="020B0604020202020204" pitchFamily="34" charset="0"/>
                    <a:cs typeface="Arial" panose="020B0604020202020204" pitchFamily="34" charset="0"/>
                  </a:rPr>
                  <a:t>&lt;&lt;const&gt;&gt; +	getSum(date : Date) : double</a:t>
                </a:r>
                <a:endParaRPr lang="en-US" altLang="zh-CN" sz="600" b="1"/>
              </a:p>
              <a:p>
                <a:pPr algn="l"/>
                <a:r>
                  <a:rPr lang="en-US" altLang="zh-CN" sz="1000" b="1">
                    <a:latin typeface="Arial" panose="020B0604020202020204" pitchFamily="34" charset="0"/>
                    <a:cs typeface="Arial" panose="020B0604020202020204" pitchFamily="34" charset="0"/>
                  </a:rPr>
                  <a:t>+	change(date : Date, value : double)</a:t>
                </a:r>
                <a:endParaRPr lang="en-US" altLang="zh-CN" sz="600" b="1"/>
              </a:p>
              <a:p>
                <a:pPr algn="l"/>
                <a:r>
                  <a:rPr lang="en-US" altLang="zh-CN" sz="1000" b="1">
                    <a:latin typeface="Arial" panose="020B0604020202020204" pitchFamily="34" charset="0"/>
                    <a:cs typeface="Arial" panose="020B0604020202020204" pitchFamily="34" charset="0"/>
                  </a:rPr>
                  <a:t>+	reset(date : Date, value : double)</a:t>
                </a:r>
                <a:endParaRPr lang="en-US" altLang="zh-CN" b="1"/>
              </a:p>
            </p:txBody>
          </p:sp>
          <p:sp>
            <p:nvSpPr>
              <p:cNvPr id="87078" name="Rectangle 25"/>
              <p:cNvSpPr>
                <a:spLocks noChangeArrowheads="1"/>
              </p:cNvSpPr>
              <p:nvPr/>
            </p:nvSpPr>
            <p:spPr bwMode="auto">
              <a:xfrm>
                <a:off x="3871" y="2187"/>
                <a:ext cx="2430"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1100" b="1">
                    <a:latin typeface="Arial" panose="020B0604020202020204" pitchFamily="34" charset="0"/>
                    <a:cs typeface="Arial" panose="020B0604020202020204" pitchFamily="34" charset="0"/>
                  </a:rPr>
                  <a:t>Accumulator</a:t>
                </a:r>
                <a:endParaRPr lang="en-US" altLang="zh-CN" sz="3200" b="1"/>
              </a:p>
            </p:txBody>
          </p:sp>
          <p:grpSp>
            <p:nvGrpSpPr>
              <p:cNvPr id="87079" name="Group 22"/>
              <p:cNvGrpSpPr/>
              <p:nvPr/>
            </p:nvGrpSpPr>
            <p:grpSpPr bwMode="auto">
              <a:xfrm>
                <a:off x="3871" y="2461"/>
                <a:ext cx="2430" cy="803"/>
                <a:chOff x="445" y="2828"/>
                <a:chExt cx="3035" cy="1029"/>
              </a:xfrm>
            </p:grpSpPr>
            <p:cxnSp>
              <p:nvCxnSpPr>
                <p:cNvPr id="87080" name="AutoShape 24"/>
                <p:cNvCxnSpPr>
                  <a:cxnSpLocks noChangeShapeType="1"/>
                </p:cNvCxnSpPr>
                <p:nvPr/>
              </p:nvCxnSpPr>
              <p:spPr bwMode="auto">
                <a:xfrm>
                  <a:off x="445" y="3856"/>
                  <a:ext cx="3035" cy="1"/>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cxnSp>
              <p:nvCxnSpPr>
                <p:cNvPr id="87081" name="AutoShape 23"/>
                <p:cNvCxnSpPr>
                  <a:cxnSpLocks noChangeShapeType="1"/>
                </p:cNvCxnSpPr>
                <p:nvPr/>
              </p:nvCxnSpPr>
              <p:spPr bwMode="auto">
                <a:xfrm>
                  <a:off x="445" y="2828"/>
                  <a:ext cx="3035" cy="1"/>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grpSp>
        </p:grpSp>
        <p:sp>
          <p:nvSpPr>
            <p:cNvPr id="87057" name="Line 19"/>
            <p:cNvSpPr>
              <a:spLocks noChangeShapeType="1"/>
            </p:cNvSpPr>
            <p:nvPr/>
          </p:nvSpPr>
          <p:spPr bwMode="auto">
            <a:xfrm flipV="1">
              <a:off x="4394" y="-1870"/>
              <a:ext cx="1" cy="295"/>
            </a:xfrm>
            <a:prstGeom prst="line">
              <a:avLst/>
            </a:prstGeom>
            <a:noFill/>
            <a:ln w="4">
              <a:solidFill>
                <a:srgbClr val="000000"/>
              </a:solidFill>
              <a:round/>
            </a:ln>
            <a:extLst>
              <a:ext uri="{909E8E84-426E-40DD-AFC4-6F175D3DCCD1}">
                <a14:hiddenFill xmlns:a14="http://schemas.microsoft.com/office/drawing/2010/main">
                  <a:noFill/>
                </a14:hiddenFill>
              </a:ext>
            </a:extLst>
          </p:spPr>
          <p:txBody>
            <a:bodyPr/>
            <a:lstStyle/>
            <a:p>
              <a:pPr algn="l"/>
              <a:endParaRPr lang="zh-CN" altLang="en-US" b="1"/>
            </a:p>
          </p:txBody>
        </p:sp>
        <p:cxnSp>
          <p:nvCxnSpPr>
            <p:cNvPr id="87058" name="AutoShape 18"/>
            <p:cNvCxnSpPr>
              <a:cxnSpLocks noChangeShapeType="1"/>
            </p:cNvCxnSpPr>
            <p:nvPr/>
          </p:nvCxnSpPr>
          <p:spPr bwMode="auto">
            <a:xfrm rot="5400000" flipH="1">
              <a:off x="1088" y="-174"/>
              <a:ext cx="2230" cy="1558"/>
            </a:xfrm>
            <a:prstGeom prst="bentConnector4">
              <a:avLst>
                <a:gd name="adj1" fmla="val 5199"/>
                <a:gd name="adj2" fmla="val 57958"/>
              </a:avLst>
            </a:prstGeom>
            <a:noFill/>
            <a:ln w="9525">
              <a:solidFill>
                <a:srgbClr val="000000"/>
              </a:solidFill>
              <a:miter lim="800000"/>
              <a:tailEnd type="arrow" w="med" len="med"/>
            </a:ln>
            <a:extLst>
              <a:ext uri="{909E8E84-426E-40DD-AFC4-6F175D3DCCD1}">
                <a14:hiddenFill xmlns:a14="http://schemas.microsoft.com/office/drawing/2010/main">
                  <a:noFill/>
                </a14:hiddenFill>
              </a:ext>
            </a:extLst>
          </p:spPr>
        </p:cxnSp>
        <p:sp>
          <p:nvSpPr>
            <p:cNvPr id="87059" name="Freeform 17"/>
            <p:cNvSpPr/>
            <p:nvPr/>
          </p:nvSpPr>
          <p:spPr bwMode="auto">
            <a:xfrm>
              <a:off x="4257" y="1555"/>
              <a:ext cx="211" cy="155"/>
            </a:xfrm>
            <a:custGeom>
              <a:avLst/>
              <a:gdLst>
                <a:gd name="T0" fmla="*/ 106 w 211"/>
                <a:gd name="T1" fmla="*/ 0 h 287"/>
                <a:gd name="T2" fmla="*/ 211 w 211"/>
                <a:gd name="T3" fmla="*/ 1 h 287"/>
                <a:gd name="T4" fmla="*/ 0 w 211"/>
                <a:gd name="T5" fmla="*/ 1 h 287"/>
                <a:gd name="T6" fmla="*/ 106 w 211"/>
                <a:gd name="T7" fmla="*/ 0 h 287"/>
                <a:gd name="T8" fmla="*/ 0 60000 65536"/>
                <a:gd name="T9" fmla="*/ 0 60000 65536"/>
                <a:gd name="T10" fmla="*/ 0 60000 65536"/>
                <a:gd name="T11" fmla="*/ 0 60000 65536"/>
                <a:gd name="T12" fmla="*/ 0 w 211"/>
                <a:gd name="T13" fmla="*/ 0 h 287"/>
                <a:gd name="T14" fmla="*/ 211 w 211"/>
                <a:gd name="T15" fmla="*/ 287 h 287"/>
              </a:gdLst>
              <a:ahLst/>
              <a:cxnLst>
                <a:cxn ang="T8">
                  <a:pos x="T0" y="T1"/>
                </a:cxn>
                <a:cxn ang="T9">
                  <a:pos x="T2" y="T3"/>
                </a:cxn>
                <a:cxn ang="T10">
                  <a:pos x="T4" y="T5"/>
                </a:cxn>
                <a:cxn ang="T11">
                  <a:pos x="T6" y="T7"/>
                </a:cxn>
              </a:cxnLst>
              <a:rect l="T12" t="T13" r="T14" b="T15"/>
              <a:pathLst>
                <a:path w="211" h="287">
                  <a:moveTo>
                    <a:pt x="106" y="0"/>
                  </a:moveTo>
                  <a:lnTo>
                    <a:pt x="211" y="287"/>
                  </a:lnTo>
                  <a:lnTo>
                    <a:pt x="0" y="287"/>
                  </a:lnTo>
                  <a:lnTo>
                    <a:pt x="106" y="0"/>
                  </a:lnTo>
                  <a:close/>
                </a:path>
              </a:pathLst>
            </a:custGeom>
            <a:noFill/>
            <a:ln w="4">
              <a:solidFill>
                <a:srgbClr val="000000"/>
              </a:solidFill>
              <a:round/>
            </a:ln>
            <a:extLst>
              <a:ext uri="{909E8E84-426E-40DD-AFC4-6F175D3DCCD1}">
                <a14:hiddenFill xmlns:a14="http://schemas.microsoft.com/office/drawing/2010/main">
                  <a:solidFill>
                    <a:srgbClr val="FFFFFF"/>
                  </a:solidFill>
                </a14:hiddenFill>
              </a:ext>
            </a:extLst>
          </p:spPr>
          <p:txBody>
            <a:bodyPr/>
            <a:lstStyle/>
            <a:p>
              <a:pPr algn="l"/>
              <a:endParaRPr lang="zh-CN" altLang="en-US" b="1"/>
            </a:p>
          </p:txBody>
        </p:sp>
        <p:grpSp>
          <p:nvGrpSpPr>
            <p:cNvPr id="87060" name="Group 10"/>
            <p:cNvGrpSpPr/>
            <p:nvPr/>
          </p:nvGrpSpPr>
          <p:grpSpPr bwMode="auto">
            <a:xfrm>
              <a:off x="2179" y="-1410"/>
              <a:ext cx="4442" cy="2958"/>
              <a:chOff x="2179" y="-1410"/>
              <a:chExt cx="4442" cy="2958"/>
            </a:xfrm>
          </p:grpSpPr>
          <p:cxnSp>
            <p:nvCxnSpPr>
              <p:cNvPr id="87069" name="AutoShape 16"/>
              <p:cNvCxnSpPr>
                <a:cxnSpLocks noChangeShapeType="1"/>
              </p:cNvCxnSpPr>
              <p:nvPr/>
            </p:nvCxnSpPr>
            <p:spPr bwMode="auto">
              <a:xfrm>
                <a:off x="2183" y="-343"/>
                <a:ext cx="4427" cy="6"/>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sp>
            <p:nvSpPr>
              <p:cNvPr id="87070" name="Rectangle 15"/>
              <p:cNvSpPr>
                <a:spLocks noChangeArrowheads="1"/>
              </p:cNvSpPr>
              <p:nvPr/>
            </p:nvSpPr>
            <p:spPr bwMode="auto">
              <a:xfrm>
                <a:off x="2275" y="-323"/>
                <a:ext cx="4346" cy="1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1000" b="1">
                    <a:latin typeface="Arial" panose="020B0604020202020204" pitchFamily="34" charset="0"/>
                    <a:cs typeface="Arial" panose="020B0604020202020204" pitchFamily="34" charset="0"/>
                  </a:rPr>
                  <a:t>#	Account(date : Date, id : int)</a:t>
                </a:r>
                <a:endParaRPr lang="en-US" altLang="zh-CN" sz="600" b="1"/>
              </a:p>
              <a:p>
                <a:pPr algn="l"/>
                <a:r>
                  <a:rPr lang="en-US" altLang="zh-CN" sz="1000" b="1">
                    <a:latin typeface="Arial" panose="020B0604020202020204" pitchFamily="34" charset="0"/>
                    <a:cs typeface="Arial" panose="020B0604020202020204" pitchFamily="34" charset="0"/>
                  </a:rPr>
                  <a:t>#	record(date: Date, amount : double, desc : string)</a:t>
                </a:r>
                <a:endParaRPr lang="en-US" altLang="zh-CN" sz="600" b="1"/>
              </a:p>
              <a:p>
                <a:pPr algn="l"/>
                <a:r>
                  <a:rPr lang="en-US" altLang="zh-CN" sz="1000" b="1">
                    <a:latin typeface="Arial" panose="020B0604020202020204" pitchFamily="34" charset="0"/>
                    <a:cs typeface="Arial" panose="020B0604020202020204" pitchFamily="34" charset="0"/>
                  </a:rPr>
                  <a:t>&lt;&lt;const&gt;&gt; # error (msg : string)	</a:t>
                </a:r>
                <a:endParaRPr lang="en-US" altLang="zh-CN" sz="600" b="1"/>
              </a:p>
              <a:p>
                <a:pPr algn="l"/>
                <a:r>
                  <a:rPr lang="en-US" altLang="zh-CN" sz="1000" b="1">
                    <a:latin typeface="Arial" panose="020B0604020202020204" pitchFamily="34" charset="0"/>
                    <a:cs typeface="Arial" panose="020B0604020202020204" pitchFamily="34" charset="0"/>
                  </a:rPr>
                  <a:t>&lt;&lt;const&gt;&gt; +	getId() : int</a:t>
                </a:r>
                <a:endParaRPr lang="en-US" altLang="zh-CN" sz="600" b="1"/>
              </a:p>
              <a:p>
                <a:pPr algn="l"/>
                <a:r>
                  <a:rPr lang="en-US" altLang="zh-CN" sz="1000" b="1">
                    <a:latin typeface="Arial" panose="020B0604020202020204" pitchFamily="34" charset="0"/>
                    <a:cs typeface="Arial" panose="020B0604020202020204" pitchFamily="34" charset="0"/>
                  </a:rPr>
                  <a:t>&lt;&lt;const&gt;&gt; +	getBalance() : double</a:t>
                </a:r>
                <a:endParaRPr lang="en-US" altLang="zh-CN" sz="600" b="1"/>
              </a:p>
              <a:p>
                <a:pPr algn="l"/>
                <a:r>
                  <a:rPr lang="en-US" altLang="zh-CN" sz="1000" b="1">
                    <a:latin typeface="Arial" panose="020B0604020202020204" pitchFamily="34" charset="0"/>
                    <a:cs typeface="Arial" panose="020B0604020202020204" pitchFamily="34" charset="0"/>
                  </a:rPr>
                  <a:t>&lt;&lt;const&gt;&gt; +	show()</a:t>
                </a:r>
                <a:endParaRPr lang="en-US" altLang="zh-CN" sz="600" b="1"/>
              </a:p>
              <a:p>
                <a:pPr algn="l"/>
                <a:r>
                  <a:rPr lang="en-US" altLang="zh-CN" sz="1000" b="1">
                    <a:latin typeface="Arial" panose="020B0604020202020204" pitchFamily="34" charset="0"/>
                    <a:cs typeface="Arial" panose="020B0604020202020204" pitchFamily="34" charset="0"/>
                  </a:rPr>
                  <a:t>&lt;&lt;static&gt;&gt; +	getTotal() : double</a:t>
                </a:r>
                <a:endParaRPr lang="en-US" altLang="zh-CN" b="1"/>
              </a:p>
            </p:txBody>
          </p:sp>
          <p:cxnSp>
            <p:nvCxnSpPr>
              <p:cNvPr id="87071" name="AutoShape 14"/>
              <p:cNvCxnSpPr>
                <a:cxnSpLocks noChangeShapeType="1"/>
              </p:cNvCxnSpPr>
              <p:nvPr/>
            </p:nvCxnSpPr>
            <p:spPr bwMode="auto">
              <a:xfrm>
                <a:off x="2184" y="-1098"/>
                <a:ext cx="4437" cy="1"/>
              </a:xfrm>
              <a:prstGeom prst="straightConnector1">
                <a:avLst/>
              </a:prstGeom>
              <a:noFill/>
              <a:ln w="9525">
                <a:solidFill>
                  <a:srgbClr val="000000"/>
                </a:solidFill>
                <a:round/>
              </a:ln>
              <a:extLst>
                <a:ext uri="{909E8E84-426E-40DD-AFC4-6F175D3DCCD1}">
                  <a14:hiddenFill xmlns:a14="http://schemas.microsoft.com/office/drawing/2010/main">
                    <a:noFill/>
                  </a14:hiddenFill>
                </a:ext>
              </a:extLst>
            </p:spPr>
          </p:cxnSp>
          <p:sp>
            <p:nvSpPr>
              <p:cNvPr id="87072" name="Rectangle 13"/>
              <p:cNvSpPr>
                <a:spLocks noChangeArrowheads="1"/>
              </p:cNvSpPr>
              <p:nvPr/>
            </p:nvSpPr>
            <p:spPr bwMode="auto">
              <a:xfrm>
                <a:off x="2179" y="-1358"/>
                <a:ext cx="4427"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1100" b="1">
                    <a:latin typeface="Arial" panose="020B0604020202020204" pitchFamily="34" charset="0"/>
                    <a:cs typeface="Arial" panose="020B0604020202020204" pitchFamily="34" charset="0"/>
                  </a:rPr>
                  <a:t>Account</a:t>
                </a:r>
                <a:endParaRPr lang="en-US" altLang="zh-CN" b="1"/>
              </a:p>
            </p:txBody>
          </p:sp>
          <p:sp>
            <p:nvSpPr>
              <p:cNvPr id="87073" name="Rectangle 12"/>
              <p:cNvSpPr>
                <a:spLocks noChangeArrowheads="1"/>
              </p:cNvSpPr>
              <p:nvPr/>
            </p:nvSpPr>
            <p:spPr bwMode="auto">
              <a:xfrm>
                <a:off x="2179" y="-1410"/>
                <a:ext cx="4438" cy="2958"/>
              </a:xfrm>
              <a:prstGeom prst="rect">
                <a:avLst/>
              </a:prstGeom>
              <a:noFill/>
              <a:ln w="4">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endParaRPr lang="zh-CN" altLang="en-US" b="1"/>
              </a:p>
            </p:txBody>
          </p:sp>
          <p:sp>
            <p:nvSpPr>
              <p:cNvPr id="87074" name="Rectangle 11"/>
              <p:cNvSpPr>
                <a:spLocks noChangeArrowheads="1"/>
              </p:cNvSpPr>
              <p:nvPr/>
            </p:nvSpPr>
            <p:spPr bwMode="auto">
              <a:xfrm>
                <a:off x="2270" y="-1067"/>
                <a:ext cx="4347"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tabLst>
                    <a:tab pos="90170" algn="l"/>
                  </a:tabLst>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tabLst>
                    <a:tab pos="90170" algn="l"/>
                  </a:tabLs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1000" b="1">
                    <a:latin typeface="Arial" panose="020B0604020202020204" pitchFamily="34" charset="0"/>
                    <a:cs typeface="Arial" panose="020B0604020202020204" pitchFamily="34" charset="0"/>
                  </a:rPr>
                  <a:t>-	id : string</a:t>
                </a:r>
                <a:endParaRPr lang="en-US" altLang="zh-CN" sz="600" b="1"/>
              </a:p>
              <a:p>
                <a:pPr algn="l"/>
                <a:r>
                  <a:rPr lang="en-US" altLang="zh-CN" sz="1000" b="1">
                    <a:latin typeface="Arial" panose="020B0604020202020204" pitchFamily="34" charset="0"/>
                    <a:cs typeface="Arial" panose="020B0604020202020204" pitchFamily="34" charset="0"/>
                  </a:rPr>
                  <a:t>-	balance : double</a:t>
                </a:r>
                <a:endParaRPr lang="en-US" altLang="zh-CN" sz="600" b="1"/>
              </a:p>
              <a:p>
                <a:pPr algn="l"/>
                <a:r>
                  <a:rPr lang="en-US" altLang="zh-CN" sz="1000" b="1" u="sng">
                    <a:latin typeface="Arial" panose="020B0604020202020204" pitchFamily="34" charset="0"/>
                    <a:cs typeface="Arial" panose="020B0604020202020204" pitchFamily="34" charset="0"/>
                  </a:rPr>
                  <a:t>-	total : double</a:t>
                </a:r>
                <a:endParaRPr lang="en-US" altLang="zh-CN" b="1"/>
              </a:p>
            </p:txBody>
          </p:sp>
        </p:grpSp>
        <p:sp>
          <p:nvSpPr>
            <p:cNvPr id="87061" name="AutoShape 9"/>
            <p:cNvSpPr>
              <a:spLocks noChangeArrowheads="1"/>
            </p:cNvSpPr>
            <p:nvPr/>
          </p:nvSpPr>
          <p:spPr bwMode="auto">
            <a:xfrm rot="-5400000">
              <a:off x="1701" y="-3522"/>
              <a:ext cx="210" cy="310"/>
            </a:xfrm>
            <a:prstGeom prst="diamond">
              <a:avLst/>
            </a:prstGeom>
            <a:solidFill>
              <a:srgbClr val="000000"/>
            </a:solidFill>
            <a:ln w="9525">
              <a:solidFill>
                <a:srgbClr val="000000"/>
              </a:solidFill>
              <a:miter lim="800000"/>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endParaRPr lang="zh-CN" altLang="en-US" b="1"/>
            </a:p>
          </p:txBody>
        </p:sp>
        <p:cxnSp>
          <p:nvCxnSpPr>
            <p:cNvPr id="87062" name="AutoShape 8"/>
            <p:cNvCxnSpPr>
              <a:cxnSpLocks noChangeShapeType="1"/>
            </p:cNvCxnSpPr>
            <p:nvPr/>
          </p:nvCxnSpPr>
          <p:spPr bwMode="auto">
            <a:xfrm rot="10800000" flipV="1">
              <a:off x="163" y="-3367"/>
              <a:ext cx="1488" cy="767"/>
            </a:xfrm>
            <a:prstGeom prst="bentConnector2">
              <a:avLst/>
            </a:prstGeom>
            <a:noFill/>
            <a:ln w="9525">
              <a:solidFill>
                <a:srgbClr val="000000"/>
              </a:solidFill>
              <a:miter lim="800000"/>
              <a:tailEnd type="arrow" w="med" len="med"/>
            </a:ln>
            <a:extLst>
              <a:ext uri="{909E8E84-426E-40DD-AFC4-6F175D3DCCD1}">
                <a14:hiddenFill xmlns:a14="http://schemas.microsoft.com/office/drawing/2010/main">
                  <a:noFill/>
                </a14:hiddenFill>
              </a:ext>
            </a:extLst>
          </p:spPr>
        </p:cxnSp>
        <p:sp>
          <p:nvSpPr>
            <p:cNvPr id="87063" name="AutoShape 7"/>
            <p:cNvSpPr>
              <a:spLocks noChangeArrowheads="1"/>
            </p:cNvSpPr>
            <p:nvPr/>
          </p:nvSpPr>
          <p:spPr bwMode="auto">
            <a:xfrm rot="10800000" flipH="1">
              <a:off x="71" y="352"/>
              <a:ext cx="210" cy="310"/>
            </a:xfrm>
            <a:prstGeom prst="diamond">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endParaRPr lang="zh-CN" altLang="en-US" b="1"/>
            </a:p>
          </p:txBody>
        </p:sp>
        <p:sp>
          <p:nvSpPr>
            <p:cNvPr id="87064" name="Freeform 6"/>
            <p:cNvSpPr/>
            <p:nvPr/>
          </p:nvSpPr>
          <p:spPr bwMode="auto">
            <a:xfrm flipV="1">
              <a:off x="4286" y="-1575"/>
              <a:ext cx="211" cy="155"/>
            </a:xfrm>
            <a:custGeom>
              <a:avLst/>
              <a:gdLst>
                <a:gd name="T0" fmla="*/ 106 w 211"/>
                <a:gd name="T1" fmla="*/ 0 h 287"/>
                <a:gd name="T2" fmla="*/ 211 w 211"/>
                <a:gd name="T3" fmla="*/ 1 h 287"/>
                <a:gd name="T4" fmla="*/ 0 w 211"/>
                <a:gd name="T5" fmla="*/ 1 h 287"/>
                <a:gd name="T6" fmla="*/ 106 w 211"/>
                <a:gd name="T7" fmla="*/ 0 h 287"/>
                <a:gd name="T8" fmla="*/ 0 60000 65536"/>
                <a:gd name="T9" fmla="*/ 0 60000 65536"/>
                <a:gd name="T10" fmla="*/ 0 60000 65536"/>
                <a:gd name="T11" fmla="*/ 0 60000 65536"/>
                <a:gd name="T12" fmla="*/ 0 w 211"/>
                <a:gd name="T13" fmla="*/ 0 h 287"/>
                <a:gd name="T14" fmla="*/ 211 w 211"/>
                <a:gd name="T15" fmla="*/ 287 h 287"/>
              </a:gdLst>
              <a:ahLst/>
              <a:cxnLst>
                <a:cxn ang="T8">
                  <a:pos x="T0" y="T1"/>
                </a:cxn>
                <a:cxn ang="T9">
                  <a:pos x="T2" y="T3"/>
                </a:cxn>
                <a:cxn ang="T10">
                  <a:pos x="T4" y="T5"/>
                </a:cxn>
                <a:cxn ang="T11">
                  <a:pos x="T6" y="T7"/>
                </a:cxn>
              </a:cxnLst>
              <a:rect l="T12" t="T13" r="T14" b="T15"/>
              <a:pathLst>
                <a:path w="211" h="287">
                  <a:moveTo>
                    <a:pt x="106" y="0"/>
                  </a:moveTo>
                  <a:lnTo>
                    <a:pt x="211" y="287"/>
                  </a:lnTo>
                  <a:lnTo>
                    <a:pt x="0" y="287"/>
                  </a:lnTo>
                  <a:lnTo>
                    <a:pt x="106" y="0"/>
                  </a:lnTo>
                  <a:close/>
                </a:path>
              </a:pathLst>
            </a:custGeom>
            <a:noFill/>
            <a:ln w="4">
              <a:solidFill>
                <a:srgbClr val="000000"/>
              </a:solidFill>
              <a:round/>
            </a:ln>
            <a:extLst>
              <a:ext uri="{909E8E84-426E-40DD-AFC4-6F175D3DCCD1}">
                <a14:hiddenFill xmlns:a14="http://schemas.microsoft.com/office/drawing/2010/main">
                  <a:solidFill>
                    <a:srgbClr val="FFFFFF"/>
                  </a:solidFill>
                </a14:hiddenFill>
              </a:ext>
            </a:extLst>
          </p:spPr>
          <p:txBody>
            <a:bodyPr/>
            <a:lstStyle/>
            <a:p>
              <a:pPr algn="l"/>
              <a:endParaRPr lang="zh-CN" altLang="en-US" b="1"/>
            </a:p>
          </p:txBody>
        </p:sp>
        <p:cxnSp>
          <p:nvCxnSpPr>
            <p:cNvPr id="87065" name="AutoShape 5"/>
            <p:cNvCxnSpPr>
              <a:cxnSpLocks noChangeShapeType="1"/>
            </p:cNvCxnSpPr>
            <p:nvPr/>
          </p:nvCxnSpPr>
          <p:spPr bwMode="auto">
            <a:xfrm>
              <a:off x="176" y="662"/>
              <a:ext cx="1" cy="513"/>
            </a:xfrm>
            <a:prstGeom prst="straightConnector1">
              <a:avLst/>
            </a:prstGeom>
            <a:noFill/>
            <a:ln w="9525">
              <a:solidFill>
                <a:srgbClr val="000000"/>
              </a:solidFill>
              <a:round/>
              <a:tailEnd type="arrow" w="med" len="med"/>
            </a:ln>
            <a:extLst>
              <a:ext uri="{909E8E84-426E-40DD-AFC4-6F175D3DCCD1}">
                <a14:hiddenFill xmlns:a14="http://schemas.microsoft.com/office/drawing/2010/main">
                  <a:noFill/>
                </a14:hiddenFill>
              </a:ext>
            </a:extLst>
          </p:spPr>
        </p:cxnSp>
        <p:cxnSp>
          <p:nvCxnSpPr>
            <p:cNvPr id="87066" name="AutoShape 4"/>
            <p:cNvCxnSpPr>
              <a:cxnSpLocks noChangeShapeType="1"/>
            </p:cNvCxnSpPr>
            <p:nvPr/>
          </p:nvCxnSpPr>
          <p:spPr bwMode="auto">
            <a:xfrm rot="10800000">
              <a:off x="1609" y="3938"/>
              <a:ext cx="411" cy="1"/>
            </a:xfrm>
            <a:prstGeom prst="straightConnector1">
              <a:avLst/>
            </a:prstGeom>
            <a:noFill/>
            <a:ln w="9525">
              <a:solidFill>
                <a:srgbClr val="000000"/>
              </a:solidFill>
              <a:prstDash val="dash"/>
              <a:round/>
              <a:tailEnd type="arrow" w="med" len="med"/>
            </a:ln>
            <a:extLst>
              <a:ext uri="{909E8E84-426E-40DD-AFC4-6F175D3DCCD1}">
                <a14:hiddenFill xmlns:a14="http://schemas.microsoft.com/office/drawing/2010/main">
                  <a:noFill/>
                </a14:hiddenFill>
              </a:ext>
            </a:extLst>
          </p:spPr>
        </p:cxnSp>
        <p:sp>
          <p:nvSpPr>
            <p:cNvPr id="87067" name="Rectangle 3"/>
            <p:cNvSpPr>
              <a:spLocks noChangeArrowheads="1"/>
            </p:cNvSpPr>
            <p:nvPr/>
          </p:nvSpPr>
          <p:spPr bwMode="auto">
            <a:xfrm>
              <a:off x="238" y="793"/>
              <a:ext cx="88"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a:r>
                <a:rPr lang="en-US" altLang="zh-CN" sz="1000" b="1">
                  <a:latin typeface="Arial" panose="020B0604020202020204" pitchFamily="34" charset="0"/>
                  <a:cs typeface="Arial" panose="020B0604020202020204" pitchFamily="34" charset="0"/>
                </a:rPr>
                <a:t>1</a:t>
              </a:r>
              <a:endParaRPr lang="en-US" altLang="zh-CN" b="1"/>
            </a:p>
          </p:txBody>
        </p:sp>
        <p:cxnSp>
          <p:nvCxnSpPr>
            <p:cNvPr id="87068" name="AutoShape 2"/>
            <p:cNvCxnSpPr>
              <a:cxnSpLocks noChangeShapeType="1"/>
            </p:cNvCxnSpPr>
            <p:nvPr/>
          </p:nvCxnSpPr>
          <p:spPr bwMode="auto">
            <a:xfrm rot="10800000" flipV="1">
              <a:off x="1093" y="665"/>
              <a:ext cx="1078" cy="486"/>
            </a:xfrm>
            <a:prstGeom prst="bentConnector3">
              <a:avLst>
                <a:gd name="adj1" fmla="val 100093"/>
              </a:avLst>
            </a:prstGeom>
            <a:noFill/>
            <a:ln w="9525">
              <a:solidFill>
                <a:srgbClr val="000000"/>
              </a:solidFill>
              <a:prstDash val="dash"/>
              <a:miter lim="800000"/>
              <a:tailEnd type="arrow" w="med" len="med"/>
            </a:ln>
            <a:extLst>
              <a:ext uri="{909E8E84-426E-40DD-AFC4-6F175D3DCCD1}">
                <a14:hiddenFill xmlns:a14="http://schemas.microsoft.com/office/drawing/2010/main">
                  <a:noFill/>
                </a14:hiddenFill>
              </a:ext>
            </a:extLst>
          </p:spPr>
        </p:cxnSp>
      </p:grpSp>
      <p:sp>
        <p:nvSpPr>
          <p:cNvPr id="87046" name="Rectangle 77"/>
          <p:cNvSpPr>
            <a:spLocks noChangeArrowheads="1"/>
          </p:cNvSpPr>
          <p:nvPr/>
        </p:nvSpPr>
        <p:spPr bwMode="auto">
          <a:xfrm>
            <a:off x="0" y="67976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zh-CN"/>
          </a:p>
        </p:txBody>
      </p:sp>
      <p:sp>
        <p:nvSpPr>
          <p:cNvPr id="87047" name="Line 19"/>
          <p:cNvSpPr>
            <a:spLocks noChangeShapeType="1"/>
          </p:cNvSpPr>
          <p:nvPr/>
        </p:nvSpPr>
        <p:spPr bwMode="auto">
          <a:xfrm flipV="1">
            <a:off x="6023208" y="4033763"/>
            <a:ext cx="0" cy="187325"/>
          </a:xfrm>
          <a:prstGeom prst="line">
            <a:avLst/>
          </a:prstGeom>
          <a:noFill/>
          <a:ln w="4">
            <a:solidFill>
              <a:srgbClr val="000000"/>
            </a:solidFill>
            <a:round/>
          </a:ln>
          <a:extLst>
            <a:ext uri="{909E8E84-426E-40DD-AFC4-6F175D3DCCD1}">
              <a14:hiddenFill xmlns:a14="http://schemas.microsoft.com/office/drawing/2010/main">
                <a:noFill/>
              </a14:hiddenFill>
            </a:ext>
          </a:extLst>
        </p:spPr>
        <p:txBody>
          <a:bodyPr/>
          <a:lstStyle/>
          <a:p>
            <a:pPr algn="l"/>
            <a:endParaRPr lang="zh-CN" altLang="en-US" b="1"/>
          </a:p>
        </p:txBody>
      </p:sp>
    </p:spTree>
  </p:cSld>
  <p:clrMapOvr>
    <a:masterClrMapping/>
  </p:clrMapOvr>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8066"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7.7.3 </a:t>
            </a:r>
            <a:r>
              <a:rPr lang="zh-CN" altLang="en-US" sz="4400" b="1">
                <a:latin typeface="Times New Roman" panose="02020603050405020304" pitchFamily="18" charset="0"/>
                <a:ea typeface="隶书" panose="02010509060101010101" pitchFamily="49" charset="-122"/>
              </a:rPr>
              <a:t>源程序及说明</a:t>
            </a:r>
            <a:endParaRPr lang="zh-CN" altLang="en-US" sz="4400" b="1">
              <a:latin typeface="Times New Roman" panose="02020603050405020304" pitchFamily="18" charset="0"/>
              <a:ea typeface="隶书" panose="02010509060101010101" pitchFamily="49" charset="-122"/>
            </a:endParaRPr>
          </a:p>
        </p:txBody>
      </p:sp>
      <p:sp>
        <p:nvSpPr>
          <p:cNvPr id="88067" name="内容占位符 2"/>
          <p:cNvSpPr>
            <a:spLocks noGrp="1"/>
          </p:cNvSpPr>
          <p:nvPr>
            <p:ph idx="1"/>
          </p:nvPr>
        </p:nvSpPr>
        <p:spPr>
          <a:xfrm>
            <a:off x="611560" y="1628800"/>
            <a:ext cx="7886700" cy="4351338"/>
          </a:xfrm>
        </p:spPr>
        <p:txBody>
          <a:bodyPr/>
          <a:lstStyle/>
          <a:p>
            <a:pPr marL="0" indent="0">
              <a:buNone/>
            </a:pPr>
            <a:r>
              <a:rPr lang="zh-CN" altLang="en-US" b="1" dirty="0" smtClean="0">
                <a:solidFill>
                  <a:srgbClr val="FFFF00"/>
                </a:solidFill>
                <a:ea typeface="华文楷体" panose="02010600040101010101" pitchFamily="2" charset="-122"/>
              </a:rPr>
              <a:t>例</a:t>
            </a:r>
            <a:r>
              <a:rPr lang="en-US" altLang="zh-CN" b="1" dirty="0" smtClean="0">
                <a:solidFill>
                  <a:srgbClr val="FFFF00"/>
                </a:solidFill>
                <a:ea typeface="华文楷体" panose="02010600040101010101" pitchFamily="2" charset="-122"/>
              </a:rPr>
              <a:t>7-10 </a:t>
            </a:r>
            <a:r>
              <a:rPr lang="zh-CN" altLang="en-US" b="1" dirty="0" smtClean="0">
                <a:solidFill>
                  <a:srgbClr val="FFFF00"/>
                </a:solidFill>
                <a:ea typeface="华文楷体" panose="02010600040101010101" pitchFamily="2" charset="-122"/>
              </a:rPr>
              <a:t>个人银行账户管理程序</a:t>
            </a:r>
            <a:endParaRPr lang="zh-CN" altLang="en-US" b="1" dirty="0" smtClean="0">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dirty="0" smtClean="0">
                <a:ea typeface="华文楷体" panose="02010600040101010101" pitchFamily="2" charset="-122"/>
              </a:rPr>
              <a:t>整个程序分为</a:t>
            </a:r>
            <a:r>
              <a:rPr lang="en-US" altLang="zh-CN" sz="2400" b="1" dirty="0" smtClean="0">
                <a:ea typeface="华文楷体" panose="02010600040101010101" pitchFamily="2" charset="-122"/>
              </a:rPr>
              <a:t>6</a:t>
            </a:r>
            <a:r>
              <a:rPr lang="zh-CN" altLang="en-US" sz="2400" b="1" dirty="0" smtClean="0">
                <a:ea typeface="华文楷体" panose="02010600040101010101" pitchFamily="2" charset="-122"/>
              </a:rPr>
              <a:t>个文件：</a:t>
            </a:r>
            <a:br>
              <a:rPr lang="en-US" altLang="zh-CN" sz="2400" b="1" dirty="0" smtClean="0">
                <a:ea typeface="华文楷体" panose="02010600040101010101" pitchFamily="2" charset="-122"/>
              </a:rPr>
            </a:br>
            <a:r>
              <a:rPr lang="en-US" altLang="zh-CN" sz="2400" b="1" dirty="0" err="1" smtClean="0">
                <a:ea typeface="华文楷体" panose="02010600040101010101" pitchFamily="2" charset="-122"/>
              </a:rPr>
              <a:t>date.h</a:t>
            </a:r>
            <a:r>
              <a:rPr lang="zh-CN" altLang="en-US" sz="2400" b="1" dirty="0" smtClean="0">
                <a:ea typeface="华文楷体" panose="02010600040101010101" pitchFamily="2" charset="-122"/>
              </a:rPr>
              <a:t>是日期类头文件</a:t>
            </a:r>
            <a:br>
              <a:rPr lang="en-US" altLang="zh-CN" sz="2400" b="1" dirty="0" smtClean="0">
                <a:ea typeface="华文楷体" panose="02010600040101010101" pitchFamily="2" charset="-122"/>
              </a:rPr>
            </a:br>
            <a:r>
              <a:rPr lang="en-US" altLang="zh-CN" sz="2400" b="1" dirty="0" smtClean="0">
                <a:ea typeface="华文楷体" panose="02010600040101010101" pitchFamily="2" charset="-122"/>
              </a:rPr>
              <a:t>date.cpp</a:t>
            </a:r>
            <a:r>
              <a:rPr lang="zh-CN" altLang="en-US" sz="2400" b="1" dirty="0" smtClean="0">
                <a:ea typeface="华文楷体" panose="02010600040101010101" pitchFamily="2" charset="-122"/>
              </a:rPr>
              <a:t>是日期类实现文件</a:t>
            </a:r>
            <a:br>
              <a:rPr lang="en-US" altLang="zh-CN" sz="2400" b="1" dirty="0" smtClean="0">
                <a:ea typeface="华文楷体" panose="02010600040101010101" pitchFamily="2" charset="-122"/>
              </a:rPr>
            </a:br>
            <a:r>
              <a:rPr lang="en-US" altLang="zh-CN" sz="2400" b="1" dirty="0" err="1" smtClean="0">
                <a:ea typeface="华文楷体" panose="02010600040101010101" pitchFamily="2" charset="-122"/>
              </a:rPr>
              <a:t>accumulator.h</a:t>
            </a:r>
            <a:r>
              <a:rPr lang="zh-CN" altLang="en-US" sz="2400" b="1" dirty="0" smtClean="0">
                <a:ea typeface="华文楷体" panose="02010600040101010101" pitchFamily="2" charset="-122"/>
              </a:rPr>
              <a:t>为按日将数值累加的</a:t>
            </a:r>
            <a:r>
              <a:rPr lang="en-US" altLang="zh-CN" sz="2400" b="1" dirty="0" smtClean="0">
                <a:ea typeface="华文楷体" panose="02010600040101010101" pitchFamily="2" charset="-122"/>
              </a:rPr>
              <a:t>Accumulator</a:t>
            </a:r>
            <a:r>
              <a:rPr lang="zh-CN" altLang="en-US" sz="2400" b="1" dirty="0" smtClean="0">
                <a:ea typeface="华文楷体" panose="02010600040101010101" pitchFamily="2" charset="-122"/>
              </a:rPr>
              <a:t>类的头文件</a:t>
            </a:r>
            <a:br>
              <a:rPr lang="en-US" altLang="zh-CN" sz="2400" b="1" dirty="0" smtClean="0">
                <a:ea typeface="华文楷体" panose="02010600040101010101" pitchFamily="2" charset="-122"/>
              </a:rPr>
            </a:br>
            <a:r>
              <a:rPr lang="en-US" altLang="zh-CN" sz="2400" b="1" dirty="0" err="1" smtClean="0">
                <a:ea typeface="华文楷体" panose="02010600040101010101" pitchFamily="2" charset="-122"/>
              </a:rPr>
              <a:t>account.h</a:t>
            </a:r>
            <a:r>
              <a:rPr lang="zh-CN" altLang="en-US" sz="2400" b="1" dirty="0" smtClean="0">
                <a:ea typeface="华文楷体" panose="02010600040101010101" pitchFamily="2" charset="-122"/>
              </a:rPr>
              <a:t>是各个储蓄账户类定义头文件</a:t>
            </a:r>
            <a:br>
              <a:rPr lang="en-US" altLang="zh-CN" sz="2400" b="1" dirty="0" smtClean="0">
                <a:ea typeface="华文楷体" panose="02010600040101010101" pitchFamily="2" charset="-122"/>
              </a:rPr>
            </a:br>
            <a:r>
              <a:rPr lang="en-US" altLang="zh-CN" sz="2400" b="1" dirty="0" smtClean="0">
                <a:ea typeface="华文楷体" panose="02010600040101010101" pitchFamily="2" charset="-122"/>
              </a:rPr>
              <a:t>account.cpp</a:t>
            </a:r>
            <a:r>
              <a:rPr lang="zh-CN" altLang="en-US" sz="2400" b="1" dirty="0" smtClean="0">
                <a:ea typeface="华文楷体" panose="02010600040101010101" pitchFamily="2" charset="-122"/>
              </a:rPr>
              <a:t>是各个储蓄账户类实现文件</a:t>
            </a:r>
            <a:br>
              <a:rPr lang="en-US" altLang="zh-CN" sz="2400" b="1" dirty="0" smtClean="0">
                <a:ea typeface="华文楷体" panose="02010600040101010101" pitchFamily="2" charset="-122"/>
              </a:rPr>
            </a:br>
            <a:r>
              <a:rPr lang="en-US" altLang="zh-CN" sz="2400" b="1" dirty="0" smtClean="0">
                <a:ea typeface="华文楷体" panose="02010600040101010101" pitchFamily="2" charset="-122"/>
              </a:rPr>
              <a:t>7_10.cpp</a:t>
            </a:r>
            <a:r>
              <a:rPr lang="zh-CN" altLang="en-US" sz="2400" b="1" dirty="0" smtClean="0">
                <a:ea typeface="华文楷体" panose="02010600040101010101" pitchFamily="2" charset="-122"/>
              </a:rPr>
              <a:t>是主函数文件。</a:t>
            </a:r>
            <a:endParaRPr lang="en-US" altLang="zh-CN" sz="2400" b="1" dirty="0" smtClean="0">
              <a:ea typeface="华文楷体" panose="02010600040101010101" pitchFamily="2" charset="-122"/>
            </a:endParaRPr>
          </a:p>
          <a:p>
            <a:pPr lvl="1">
              <a:buFont typeface="Wingdings" panose="05000000000000000000" pitchFamily="2" charset="2"/>
              <a:buChar char="ü"/>
            </a:pPr>
            <a:endParaRPr lang="en-US" altLang="zh-CN" sz="2400" b="1" dirty="0" smtClean="0">
              <a:ea typeface="华文楷体" panose="02010600040101010101" pitchFamily="2" charset="-122"/>
            </a:endParaRPr>
          </a:p>
          <a:p>
            <a:pPr lvl="1">
              <a:buFont typeface="Wingdings" panose="05000000000000000000" pitchFamily="2" charset="2"/>
              <a:buChar char="ü"/>
            </a:pPr>
            <a:r>
              <a:rPr lang="zh-CN" altLang="en-US" sz="2400" b="1" dirty="0" smtClean="0">
                <a:ea typeface="华文楷体" panose="02010600040101010101" pitchFamily="2" charset="-122"/>
              </a:rPr>
              <a:t>重复的文件或内容不再给出</a:t>
            </a:r>
            <a:endParaRPr lang="zh-CN" altLang="en-US" sz="2400" b="1" dirty="0" smtClean="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9090" name="内容占位符 2"/>
          <p:cNvSpPr>
            <a:spLocks noGrp="1"/>
          </p:cNvSpPr>
          <p:nvPr>
            <p:ph idx="1"/>
          </p:nvPr>
        </p:nvSpPr>
        <p:spPr>
          <a:xfrm>
            <a:off x="467544" y="4584"/>
            <a:ext cx="8229600" cy="6863417"/>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accumulator.h</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ifndef</a:t>
            </a:r>
            <a:r>
              <a:rPr kumimoji="0" lang="en-US" altLang="zh-CN" sz="2000" b="1" dirty="0">
                <a:solidFill>
                  <a:srgbClr val="000000"/>
                </a:solidFill>
                <a:latin typeface="Times New Roman" panose="02020603050405020304" pitchFamily="18" charset="0"/>
                <a:ea typeface="华文楷体" panose="02010600040101010101" pitchFamily="2" charset="-122"/>
              </a:rPr>
              <a:t> __ACCUMULATOR_H__</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#define __ACCUMULATOR_H__</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a:t>
            </a:r>
            <a:r>
              <a:rPr kumimoji="0" lang="en-US" altLang="zh-CN" sz="2000" b="1" dirty="0" err="1">
                <a:solidFill>
                  <a:srgbClr val="000000"/>
                </a:solidFill>
                <a:latin typeface="Times New Roman" panose="02020603050405020304" pitchFamily="18" charset="0"/>
                <a:ea typeface="华文楷体" panose="02010600040101010101" pitchFamily="2" charset="-122"/>
              </a:rPr>
              <a:t>date.h</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Accumulator {	//</a:t>
            </a:r>
            <a:r>
              <a:rPr kumimoji="0" lang="zh-CN" altLang="en-US" sz="2000" b="1" dirty="0">
                <a:solidFill>
                  <a:srgbClr val="000000"/>
                </a:solidFill>
                <a:latin typeface="Times New Roman" panose="02020603050405020304" pitchFamily="18" charset="0"/>
                <a:ea typeface="华文楷体" panose="02010600040101010101" pitchFamily="2" charset="-122"/>
              </a:rPr>
              <a:t>将某个数值按日累加</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private:</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Date </a:t>
            </a:r>
            <a:r>
              <a:rPr kumimoji="0" lang="en-US" altLang="zh-CN" sz="2000" b="1" dirty="0" err="1">
                <a:solidFill>
                  <a:srgbClr val="000000"/>
                </a:solidFill>
                <a:latin typeface="Times New Roman" panose="02020603050405020304" pitchFamily="18" charset="0"/>
                <a:ea typeface="华文楷体" panose="02010600040101010101" pitchFamily="2" charset="-122"/>
              </a:rPr>
              <a:t>lastDate</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上次变更数值的时期</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double value;	//</a:t>
            </a:r>
            <a:r>
              <a:rPr kumimoji="0" lang="zh-CN" altLang="en-US" sz="2000" b="1" dirty="0">
                <a:solidFill>
                  <a:srgbClr val="000000"/>
                </a:solidFill>
                <a:latin typeface="Times New Roman" panose="02020603050405020304" pitchFamily="18" charset="0"/>
                <a:ea typeface="华文楷体" panose="02010600040101010101" pitchFamily="2" charset="-122"/>
              </a:rPr>
              <a:t>数值的当前值</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double sum;		//</a:t>
            </a:r>
            <a:r>
              <a:rPr kumimoji="0" lang="zh-CN" altLang="en-US" sz="2000" b="1" dirty="0">
                <a:solidFill>
                  <a:srgbClr val="000000"/>
                </a:solidFill>
                <a:latin typeface="Times New Roman" panose="02020603050405020304" pitchFamily="18" charset="0"/>
                <a:ea typeface="华文楷体" panose="02010600040101010101" pitchFamily="2" charset="-122"/>
              </a:rPr>
              <a:t>数值按日累加之和</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构造函数，</a:t>
            </a:r>
            <a:r>
              <a:rPr kumimoji="0" lang="en-US" altLang="zh-CN" sz="2000" b="1" dirty="0">
                <a:solidFill>
                  <a:srgbClr val="000000"/>
                </a:solidFill>
                <a:latin typeface="Times New Roman" panose="02020603050405020304" pitchFamily="18" charset="0"/>
                <a:ea typeface="华文楷体" panose="02010600040101010101" pitchFamily="2" charset="-122"/>
              </a:rPr>
              <a:t>date</a:t>
            </a:r>
            <a:r>
              <a:rPr kumimoji="0" lang="zh-CN" altLang="en-US" sz="2000" b="1" dirty="0">
                <a:solidFill>
                  <a:srgbClr val="000000"/>
                </a:solidFill>
                <a:latin typeface="Times New Roman" panose="02020603050405020304" pitchFamily="18" charset="0"/>
                <a:ea typeface="华文楷体" panose="02010600040101010101" pitchFamily="2" charset="-122"/>
              </a:rPr>
              <a:t>为开始累加的日期，</a:t>
            </a:r>
            <a:r>
              <a:rPr kumimoji="0" lang="en-US" altLang="zh-CN" sz="2000" b="1" dirty="0">
                <a:solidFill>
                  <a:srgbClr val="000000"/>
                </a:solidFill>
                <a:latin typeface="Times New Roman" panose="02020603050405020304" pitchFamily="18" charset="0"/>
                <a:ea typeface="华文楷体" panose="02010600040101010101" pitchFamily="2" charset="-122"/>
              </a:rPr>
              <a:t>value</a:t>
            </a:r>
            <a:r>
              <a:rPr kumimoji="0" lang="zh-CN" altLang="en-US" sz="2000" b="1" dirty="0">
                <a:solidFill>
                  <a:srgbClr val="000000"/>
                </a:solidFill>
                <a:latin typeface="Times New Roman" panose="02020603050405020304" pitchFamily="18" charset="0"/>
                <a:ea typeface="华文楷体" panose="02010600040101010101" pitchFamily="2" charset="-122"/>
              </a:rPr>
              <a:t>为初始值</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Accumulator(</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Date &amp;date, double value)</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 </a:t>
            </a:r>
            <a:r>
              <a:rPr kumimoji="0" lang="en-US" altLang="zh-CN" sz="2000" b="1" dirty="0" err="1">
                <a:solidFill>
                  <a:srgbClr val="000000"/>
                </a:solidFill>
                <a:latin typeface="Times New Roman" panose="02020603050405020304" pitchFamily="18" charset="0"/>
                <a:ea typeface="华文楷体" panose="02010600040101010101" pitchFamily="2" charset="-122"/>
              </a:rPr>
              <a:t>lastDate</a:t>
            </a:r>
            <a:r>
              <a:rPr kumimoji="0" lang="en-US" altLang="zh-CN" sz="2000" b="1" dirty="0">
                <a:solidFill>
                  <a:srgbClr val="000000"/>
                </a:solidFill>
                <a:latin typeface="Times New Roman" panose="02020603050405020304" pitchFamily="18" charset="0"/>
                <a:ea typeface="华文楷体" panose="02010600040101010101" pitchFamily="2" charset="-122"/>
              </a:rPr>
              <a:t>(date), value(value), sum(0) {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获得到日期</a:t>
            </a:r>
            <a:r>
              <a:rPr kumimoji="0" lang="en-US" altLang="zh-CN" sz="2000" b="1" dirty="0">
                <a:solidFill>
                  <a:srgbClr val="000000"/>
                </a:solidFill>
                <a:latin typeface="Times New Roman" panose="02020603050405020304" pitchFamily="18" charset="0"/>
                <a:ea typeface="华文楷体" panose="02010600040101010101" pitchFamily="2" charset="-122"/>
              </a:rPr>
              <a:t>date</a:t>
            </a:r>
            <a:r>
              <a:rPr kumimoji="0" lang="zh-CN" altLang="en-US" sz="2000" b="1" dirty="0">
                <a:solidFill>
                  <a:srgbClr val="000000"/>
                </a:solidFill>
                <a:latin typeface="Times New Roman" panose="02020603050405020304" pitchFamily="18" charset="0"/>
                <a:ea typeface="华文楷体" panose="02010600040101010101" pitchFamily="2" charset="-122"/>
              </a:rPr>
              <a:t>的累加结果</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double </a:t>
            </a:r>
            <a:r>
              <a:rPr kumimoji="0" lang="en-US" altLang="zh-CN" sz="2000" b="1" dirty="0" err="1">
                <a:solidFill>
                  <a:srgbClr val="000000"/>
                </a:solidFill>
                <a:latin typeface="Times New Roman" panose="02020603050405020304" pitchFamily="18" charset="0"/>
                <a:ea typeface="华文楷体" panose="02010600040101010101" pitchFamily="2" charset="-122"/>
              </a:rPr>
              <a:t>getSum</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Date &amp;date)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return sum + value * </a:t>
            </a:r>
            <a:r>
              <a:rPr kumimoji="0" lang="en-US" altLang="zh-CN" sz="2000" b="1" dirty="0" err="1">
                <a:solidFill>
                  <a:srgbClr val="000000"/>
                </a:solidFill>
                <a:latin typeface="Times New Roman" panose="02020603050405020304" pitchFamily="18" charset="0"/>
                <a:ea typeface="华文楷体" panose="02010600040101010101" pitchFamily="2" charset="-122"/>
              </a:rPr>
              <a:t>date.distance</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lastDate</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在</a:t>
            </a:r>
            <a:r>
              <a:rPr kumimoji="0" lang="en-US" altLang="zh-CN" sz="2000" b="1" dirty="0">
                <a:solidFill>
                  <a:srgbClr val="000000"/>
                </a:solidFill>
                <a:latin typeface="Times New Roman" panose="02020603050405020304" pitchFamily="18" charset="0"/>
                <a:ea typeface="华文楷体" panose="02010600040101010101" pitchFamily="2" charset="-122"/>
              </a:rPr>
              <a:t>date</a:t>
            </a:r>
            <a:r>
              <a:rPr kumimoji="0" lang="zh-CN" altLang="en-US" sz="2000" b="1" dirty="0">
                <a:solidFill>
                  <a:srgbClr val="000000"/>
                </a:solidFill>
                <a:latin typeface="Times New Roman" panose="02020603050405020304" pitchFamily="18" charset="0"/>
                <a:ea typeface="华文楷体" panose="02010600040101010101" pitchFamily="2" charset="-122"/>
              </a:rPr>
              <a:t>将数值变更为</a:t>
            </a:r>
            <a:r>
              <a:rPr kumimoji="0" lang="en-US" altLang="zh-CN" sz="2000" b="1" dirty="0">
                <a:solidFill>
                  <a:srgbClr val="000000"/>
                </a:solidFill>
                <a:latin typeface="Times New Roman" panose="02020603050405020304" pitchFamily="18" charset="0"/>
                <a:ea typeface="华文楷体" panose="02010600040101010101" pitchFamily="2" charset="-122"/>
              </a:rPr>
              <a:t>value</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change(</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Date &amp;date, double value)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sum = </a:t>
            </a:r>
            <a:r>
              <a:rPr kumimoji="0" lang="en-US" altLang="zh-CN" sz="2000" b="1" dirty="0" err="1">
                <a:solidFill>
                  <a:srgbClr val="000000"/>
                </a:solidFill>
                <a:latin typeface="Times New Roman" panose="02020603050405020304" pitchFamily="18" charset="0"/>
                <a:ea typeface="华文楷体" panose="02010600040101010101" pitchFamily="2" charset="-122"/>
              </a:rPr>
              <a:t>getSum</a:t>
            </a:r>
            <a:r>
              <a:rPr kumimoji="0" lang="en-US" altLang="zh-CN" sz="2000" b="1" dirty="0">
                <a:solidFill>
                  <a:srgbClr val="000000"/>
                </a:solidFill>
                <a:latin typeface="Times New Roman" panose="02020603050405020304" pitchFamily="18" charset="0"/>
                <a:ea typeface="华文楷体" panose="02010600040101010101" pitchFamily="2" charset="-122"/>
              </a:rPr>
              <a:t>(date);</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lastDate</a:t>
            </a:r>
            <a:r>
              <a:rPr kumimoji="0" lang="en-US" altLang="zh-CN" sz="2000" b="1" dirty="0">
                <a:solidFill>
                  <a:srgbClr val="000000"/>
                </a:solidFill>
                <a:latin typeface="Times New Roman" panose="02020603050405020304" pitchFamily="18" charset="0"/>
                <a:ea typeface="华文楷体" panose="02010600040101010101" pitchFamily="2" charset="-122"/>
              </a:rPr>
              <a:t> = date; this-&gt;value = value;</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endParaRPr kumimoji="0" lang="zh-CN" altLang="en-US" sz="2000" b="1" dirty="0">
              <a:solidFill>
                <a:srgbClr val="000000"/>
              </a:solidFill>
              <a:latin typeface="Times New Roman" panose="02020603050405020304" pitchFamily="18" charset="0"/>
              <a:ea typeface="华文楷体" panose="02010600040101010101" pitchFamily="2" charset="-122"/>
            </a:endParaRPr>
          </a:p>
        </p:txBody>
      </p:sp>
      <p:sp>
        <p:nvSpPr>
          <p:cNvPr id="89093" name="标题 1"/>
          <p:cNvSpPr>
            <a:spLocks noGrp="1"/>
          </p:cNvSpPr>
          <p:nvPr>
            <p:ph type="title"/>
          </p:nvPr>
        </p:nvSpPr>
        <p:spPr>
          <a:xfrm>
            <a:off x="5805488" y="53340"/>
            <a:ext cx="3214687" cy="1066800"/>
          </a:xfrm>
          <a:solidFill>
            <a:schemeClr val="bg1"/>
          </a:solidFill>
        </p:spPr>
        <p:txBody>
          <a:bodyPr/>
          <a:lstStyle/>
          <a:p>
            <a:r>
              <a:rPr lang="zh-CN" altLang="en-US" dirty="0" smtClean="0"/>
              <a:t>例</a:t>
            </a:r>
            <a:r>
              <a:rPr lang="en-US" altLang="zh-CN" dirty="0" smtClean="0"/>
              <a:t>7-10</a:t>
            </a:r>
            <a:r>
              <a:rPr lang="zh-CN" altLang="en-US" dirty="0" smtClean="0"/>
              <a:t>（续）</a:t>
            </a:r>
            <a:endParaRPr lang="zh-CN" altLang="en-US" dirty="0" smtClean="0"/>
          </a:p>
        </p:txBody>
      </p:sp>
    </p:spTree>
  </p:cSld>
  <p:clrMapOvr>
    <a:masterClrMapping/>
  </p:clrMapOvr>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0114" name="内容占位符 2"/>
          <p:cNvSpPr>
            <a:spLocks noGrp="1"/>
          </p:cNvSpPr>
          <p:nvPr>
            <p:ph idx="1"/>
          </p:nvPr>
        </p:nvSpPr>
        <p:spPr>
          <a:xfrm>
            <a:off x="467544" y="22880"/>
            <a:ext cx="8229600" cy="6863417"/>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accumulator.h</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ifndef</a:t>
            </a:r>
            <a:r>
              <a:rPr kumimoji="0" lang="en-US" altLang="zh-CN" sz="2000" b="1" dirty="0">
                <a:solidFill>
                  <a:srgbClr val="000000"/>
                </a:solidFill>
                <a:latin typeface="Times New Roman" panose="02020603050405020304" pitchFamily="18" charset="0"/>
                <a:ea typeface="华文楷体" panose="02010600040101010101" pitchFamily="2" charset="-122"/>
              </a:rPr>
              <a:t> __ACCUMULATOR_H__</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#define __ACCUMULATOR_H__</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a:t>
            </a:r>
            <a:r>
              <a:rPr kumimoji="0" lang="en-US" altLang="zh-CN" sz="2000" b="1" dirty="0" err="1">
                <a:solidFill>
                  <a:srgbClr val="000000"/>
                </a:solidFill>
                <a:latin typeface="Times New Roman" panose="02020603050405020304" pitchFamily="18" charset="0"/>
                <a:ea typeface="华文楷体" panose="02010600040101010101" pitchFamily="2" charset="-122"/>
              </a:rPr>
              <a:t>date.h</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Accumulator {	//</a:t>
            </a:r>
            <a:r>
              <a:rPr kumimoji="0" lang="zh-CN" altLang="en-US" sz="2000" b="1" dirty="0">
                <a:solidFill>
                  <a:srgbClr val="000000"/>
                </a:solidFill>
                <a:latin typeface="Times New Roman" panose="02020603050405020304" pitchFamily="18" charset="0"/>
                <a:ea typeface="华文楷体" panose="02010600040101010101" pitchFamily="2" charset="-122"/>
              </a:rPr>
              <a:t>将某个数值按日累加</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private:</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Date </a:t>
            </a:r>
            <a:r>
              <a:rPr kumimoji="0" lang="en-US" altLang="zh-CN" sz="2000" b="1" dirty="0" err="1">
                <a:solidFill>
                  <a:srgbClr val="000000"/>
                </a:solidFill>
                <a:latin typeface="Times New Roman" panose="02020603050405020304" pitchFamily="18" charset="0"/>
                <a:ea typeface="华文楷体" panose="02010600040101010101" pitchFamily="2" charset="-122"/>
              </a:rPr>
              <a:t>lastDate</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上次变更数值的时期</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double value;	//</a:t>
            </a:r>
            <a:r>
              <a:rPr kumimoji="0" lang="zh-CN" altLang="en-US" sz="2000" b="1" dirty="0">
                <a:solidFill>
                  <a:srgbClr val="000000"/>
                </a:solidFill>
                <a:latin typeface="Times New Roman" panose="02020603050405020304" pitchFamily="18" charset="0"/>
                <a:ea typeface="华文楷体" panose="02010600040101010101" pitchFamily="2" charset="-122"/>
              </a:rPr>
              <a:t>数值的当前值</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double sum;		//</a:t>
            </a:r>
            <a:r>
              <a:rPr kumimoji="0" lang="zh-CN" altLang="en-US" sz="2000" b="1" dirty="0">
                <a:solidFill>
                  <a:srgbClr val="000000"/>
                </a:solidFill>
                <a:latin typeface="Times New Roman" panose="02020603050405020304" pitchFamily="18" charset="0"/>
                <a:ea typeface="华文楷体" panose="02010600040101010101" pitchFamily="2" charset="-122"/>
              </a:rPr>
              <a:t>数值按日累加之和</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构造函数，</a:t>
            </a:r>
            <a:r>
              <a:rPr kumimoji="0" lang="en-US" altLang="zh-CN" sz="2000" b="1" dirty="0">
                <a:solidFill>
                  <a:srgbClr val="000000"/>
                </a:solidFill>
                <a:latin typeface="Times New Roman" panose="02020603050405020304" pitchFamily="18" charset="0"/>
                <a:ea typeface="华文楷体" panose="02010600040101010101" pitchFamily="2" charset="-122"/>
              </a:rPr>
              <a:t>date</a:t>
            </a:r>
            <a:r>
              <a:rPr kumimoji="0" lang="zh-CN" altLang="en-US" sz="2000" b="1" dirty="0">
                <a:solidFill>
                  <a:srgbClr val="000000"/>
                </a:solidFill>
                <a:latin typeface="Times New Roman" panose="02020603050405020304" pitchFamily="18" charset="0"/>
                <a:ea typeface="华文楷体" panose="02010600040101010101" pitchFamily="2" charset="-122"/>
              </a:rPr>
              <a:t>为开始累加的日期，</a:t>
            </a:r>
            <a:r>
              <a:rPr kumimoji="0" lang="en-US" altLang="zh-CN" sz="2000" b="1" dirty="0">
                <a:solidFill>
                  <a:srgbClr val="000000"/>
                </a:solidFill>
                <a:latin typeface="Times New Roman" panose="02020603050405020304" pitchFamily="18" charset="0"/>
                <a:ea typeface="华文楷体" panose="02010600040101010101" pitchFamily="2" charset="-122"/>
              </a:rPr>
              <a:t>value</a:t>
            </a:r>
            <a:r>
              <a:rPr kumimoji="0" lang="zh-CN" altLang="en-US" sz="2000" b="1" dirty="0">
                <a:solidFill>
                  <a:srgbClr val="000000"/>
                </a:solidFill>
                <a:latin typeface="Times New Roman" panose="02020603050405020304" pitchFamily="18" charset="0"/>
                <a:ea typeface="华文楷体" panose="02010600040101010101" pitchFamily="2" charset="-122"/>
              </a:rPr>
              <a:t>为初始值</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Accumulator(</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Date &amp;date, double value)</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 </a:t>
            </a:r>
            <a:r>
              <a:rPr kumimoji="0" lang="en-US" altLang="zh-CN" sz="2000" b="1" dirty="0" err="1">
                <a:solidFill>
                  <a:srgbClr val="000000"/>
                </a:solidFill>
                <a:latin typeface="Times New Roman" panose="02020603050405020304" pitchFamily="18" charset="0"/>
                <a:ea typeface="华文楷体" panose="02010600040101010101" pitchFamily="2" charset="-122"/>
              </a:rPr>
              <a:t>lastDate</a:t>
            </a:r>
            <a:r>
              <a:rPr kumimoji="0" lang="en-US" altLang="zh-CN" sz="2000" b="1" dirty="0">
                <a:solidFill>
                  <a:srgbClr val="000000"/>
                </a:solidFill>
                <a:latin typeface="Times New Roman" panose="02020603050405020304" pitchFamily="18" charset="0"/>
                <a:ea typeface="华文楷体" panose="02010600040101010101" pitchFamily="2" charset="-122"/>
              </a:rPr>
              <a:t>(date), value(value), sum(0) {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获得到日期</a:t>
            </a:r>
            <a:r>
              <a:rPr kumimoji="0" lang="en-US" altLang="zh-CN" sz="2000" b="1" dirty="0">
                <a:solidFill>
                  <a:srgbClr val="000000"/>
                </a:solidFill>
                <a:latin typeface="Times New Roman" panose="02020603050405020304" pitchFamily="18" charset="0"/>
                <a:ea typeface="华文楷体" panose="02010600040101010101" pitchFamily="2" charset="-122"/>
              </a:rPr>
              <a:t>date</a:t>
            </a:r>
            <a:r>
              <a:rPr kumimoji="0" lang="zh-CN" altLang="en-US" sz="2000" b="1" dirty="0">
                <a:solidFill>
                  <a:srgbClr val="000000"/>
                </a:solidFill>
                <a:latin typeface="Times New Roman" panose="02020603050405020304" pitchFamily="18" charset="0"/>
                <a:ea typeface="华文楷体" panose="02010600040101010101" pitchFamily="2" charset="-122"/>
              </a:rPr>
              <a:t>的累加结果</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double </a:t>
            </a:r>
            <a:r>
              <a:rPr kumimoji="0" lang="en-US" altLang="zh-CN" sz="2000" b="1" dirty="0" err="1">
                <a:solidFill>
                  <a:srgbClr val="000000"/>
                </a:solidFill>
                <a:latin typeface="Times New Roman" panose="02020603050405020304" pitchFamily="18" charset="0"/>
                <a:ea typeface="华文楷体" panose="02010600040101010101" pitchFamily="2" charset="-122"/>
              </a:rPr>
              <a:t>getSum</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Date &amp;date)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return sum + value * </a:t>
            </a:r>
            <a:r>
              <a:rPr kumimoji="0" lang="en-US" altLang="zh-CN" sz="2000" b="1" dirty="0" err="1">
                <a:solidFill>
                  <a:srgbClr val="000000"/>
                </a:solidFill>
                <a:latin typeface="Times New Roman" panose="02020603050405020304" pitchFamily="18" charset="0"/>
                <a:ea typeface="华文楷体" panose="02010600040101010101" pitchFamily="2" charset="-122"/>
              </a:rPr>
              <a:t>date.distance</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lastDate</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在</a:t>
            </a:r>
            <a:r>
              <a:rPr kumimoji="0" lang="en-US" altLang="zh-CN" sz="2000" b="1" dirty="0">
                <a:solidFill>
                  <a:srgbClr val="000000"/>
                </a:solidFill>
                <a:latin typeface="Times New Roman" panose="02020603050405020304" pitchFamily="18" charset="0"/>
                <a:ea typeface="华文楷体" panose="02010600040101010101" pitchFamily="2" charset="-122"/>
              </a:rPr>
              <a:t>date</a:t>
            </a:r>
            <a:r>
              <a:rPr kumimoji="0" lang="zh-CN" altLang="en-US" sz="2000" b="1" dirty="0">
                <a:solidFill>
                  <a:srgbClr val="000000"/>
                </a:solidFill>
                <a:latin typeface="Times New Roman" panose="02020603050405020304" pitchFamily="18" charset="0"/>
                <a:ea typeface="华文楷体" panose="02010600040101010101" pitchFamily="2" charset="-122"/>
              </a:rPr>
              <a:t>将数值变更为</a:t>
            </a:r>
            <a:r>
              <a:rPr kumimoji="0" lang="en-US" altLang="zh-CN" sz="2000" b="1" dirty="0">
                <a:solidFill>
                  <a:srgbClr val="000000"/>
                </a:solidFill>
                <a:latin typeface="Times New Roman" panose="02020603050405020304" pitchFamily="18" charset="0"/>
                <a:ea typeface="华文楷体" panose="02010600040101010101" pitchFamily="2" charset="-122"/>
              </a:rPr>
              <a:t>value</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change(</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Date &amp;date, double value)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sum = </a:t>
            </a:r>
            <a:r>
              <a:rPr kumimoji="0" lang="en-US" altLang="zh-CN" sz="2000" b="1" dirty="0" err="1">
                <a:solidFill>
                  <a:srgbClr val="000000"/>
                </a:solidFill>
                <a:latin typeface="Times New Roman" panose="02020603050405020304" pitchFamily="18" charset="0"/>
                <a:ea typeface="华文楷体" panose="02010600040101010101" pitchFamily="2" charset="-122"/>
              </a:rPr>
              <a:t>getSum</a:t>
            </a:r>
            <a:r>
              <a:rPr kumimoji="0" lang="en-US" altLang="zh-CN" sz="2000" b="1" dirty="0">
                <a:solidFill>
                  <a:srgbClr val="000000"/>
                </a:solidFill>
                <a:latin typeface="Times New Roman" panose="02020603050405020304" pitchFamily="18" charset="0"/>
                <a:ea typeface="华文楷体" panose="02010600040101010101" pitchFamily="2" charset="-122"/>
              </a:rPr>
              <a:t>(date);</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lastDate</a:t>
            </a:r>
            <a:r>
              <a:rPr kumimoji="0" lang="en-US" altLang="zh-CN" sz="2000" b="1" dirty="0">
                <a:solidFill>
                  <a:srgbClr val="000000"/>
                </a:solidFill>
                <a:latin typeface="Times New Roman" panose="02020603050405020304" pitchFamily="18" charset="0"/>
                <a:ea typeface="华文楷体" panose="02010600040101010101" pitchFamily="2" charset="-122"/>
              </a:rPr>
              <a:t> = date; this-&gt;value = value;</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endParaRPr kumimoji="0" lang="zh-CN" altLang="en-US" sz="2000" b="1" dirty="0">
              <a:solidFill>
                <a:srgbClr val="000000"/>
              </a:solidFill>
              <a:latin typeface="Times New Roman" panose="02020603050405020304" pitchFamily="18" charset="0"/>
              <a:ea typeface="华文楷体" panose="02010600040101010101" pitchFamily="2" charset="-122"/>
            </a:endParaRPr>
          </a:p>
        </p:txBody>
      </p:sp>
      <p:sp>
        <p:nvSpPr>
          <p:cNvPr id="90117" name="标题 1"/>
          <p:cNvSpPr>
            <a:spLocks noGrp="1"/>
          </p:cNvSpPr>
          <p:nvPr>
            <p:ph type="title"/>
          </p:nvPr>
        </p:nvSpPr>
        <p:spPr>
          <a:xfrm>
            <a:off x="5929313" y="0"/>
            <a:ext cx="3214687" cy="1066800"/>
          </a:xfrm>
          <a:solidFill>
            <a:schemeClr val="bg1"/>
          </a:solidFill>
        </p:spPr>
        <p:txBody>
          <a:bodyPr/>
          <a:lstStyle/>
          <a:p>
            <a:r>
              <a:rPr lang="zh-CN" altLang="en-US" smtClean="0"/>
              <a:t>例</a:t>
            </a:r>
            <a:r>
              <a:rPr lang="en-US" altLang="zh-CN" smtClean="0"/>
              <a:t>7-10</a:t>
            </a:r>
            <a:r>
              <a:rPr lang="zh-CN" altLang="en-US" smtClean="0"/>
              <a:t>（续）</a:t>
            </a:r>
            <a:endParaRPr lang="zh-CN" altLang="en-US" smtClean="0"/>
          </a:p>
        </p:txBody>
      </p:sp>
    </p:spTree>
  </p:cSld>
  <p:clrMapOvr>
    <a:masterClrMapping/>
  </p:clrMapOvr>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1138" name="内容占位符 2"/>
          <p:cNvSpPr>
            <a:spLocks noGrp="1"/>
          </p:cNvSpPr>
          <p:nvPr>
            <p:ph idx="1"/>
          </p:nvPr>
        </p:nvSpPr>
        <p:spPr>
          <a:xfrm>
            <a:off x="539552" y="188640"/>
            <a:ext cx="8229600" cy="6555641"/>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zh-CN" altLang="en-US" sz="2000" b="1" dirty="0">
                <a:solidFill>
                  <a:srgbClr val="000000"/>
                </a:solidFill>
                <a:latin typeface="Times New Roman" panose="02020603050405020304" pitchFamily="18" charset="0"/>
                <a:ea typeface="华文楷体" panose="02010600040101010101" pitchFamily="2" charset="-122"/>
              </a:rPr>
              <a:t>初始化，将日期变为</a:t>
            </a:r>
            <a:r>
              <a:rPr kumimoji="0" lang="en-US" altLang="zh-CN" sz="2000" b="1" dirty="0">
                <a:solidFill>
                  <a:srgbClr val="000000"/>
                </a:solidFill>
                <a:latin typeface="Times New Roman" panose="02020603050405020304" pitchFamily="18" charset="0"/>
                <a:ea typeface="华文楷体" panose="02010600040101010101" pitchFamily="2" charset="-122"/>
              </a:rPr>
              <a:t>date</a:t>
            </a:r>
            <a:r>
              <a:rPr kumimoji="0" lang="zh-CN" altLang="en-US" sz="2000" b="1" dirty="0">
                <a:solidFill>
                  <a:srgbClr val="000000"/>
                </a:solidFill>
                <a:latin typeface="Times New Roman" panose="02020603050405020304" pitchFamily="18" charset="0"/>
                <a:ea typeface="华文楷体" panose="02010600040101010101" pitchFamily="2" charset="-122"/>
              </a:rPr>
              <a:t>，数值变为</a:t>
            </a:r>
            <a:r>
              <a:rPr kumimoji="0" lang="en-US" altLang="zh-CN" sz="2000" b="1" dirty="0">
                <a:solidFill>
                  <a:srgbClr val="000000"/>
                </a:solidFill>
                <a:latin typeface="Times New Roman" panose="02020603050405020304" pitchFamily="18" charset="0"/>
                <a:ea typeface="华文楷体" panose="02010600040101010101" pitchFamily="2" charset="-122"/>
              </a:rPr>
              <a:t>value</a:t>
            </a:r>
            <a:r>
              <a:rPr kumimoji="0" lang="zh-CN" altLang="en-US" sz="2000" b="1" dirty="0">
                <a:solidFill>
                  <a:srgbClr val="000000"/>
                </a:solidFill>
                <a:latin typeface="Times New Roman" panose="02020603050405020304" pitchFamily="18" charset="0"/>
                <a:ea typeface="华文楷体" panose="02010600040101010101" pitchFamily="2" charset="-122"/>
              </a:rPr>
              <a:t>，累加器清零</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void reset(</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Date &amp;date, double value)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lastDate</a:t>
            </a:r>
            <a:r>
              <a:rPr kumimoji="0" lang="en-US" altLang="zh-CN" sz="2000" b="1" dirty="0">
                <a:solidFill>
                  <a:srgbClr val="000000"/>
                </a:solidFill>
                <a:latin typeface="Times New Roman" panose="02020603050405020304" pitchFamily="18" charset="0"/>
                <a:ea typeface="华文楷体" panose="02010600040101010101" pitchFamily="2" charset="-122"/>
              </a:rPr>
              <a:t> = date; this-&gt;value = value; sum = 0;</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endif</a:t>
            </a:r>
            <a:r>
              <a:rPr kumimoji="0" lang="en-US" altLang="zh-CN" sz="2000" b="1" dirty="0">
                <a:solidFill>
                  <a:srgbClr val="000000"/>
                </a:solidFill>
                <a:latin typeface="Times New Roman" panose="02020603050405020304" pitchFamily="18" charset="0"/>
                <a:ea typeface="华文楷体" panose="02010600040101010101" pitchFamily="2" charset="-122"/>
              </a:rPr>
              <a:t> //__ACCUMULATOR_H__</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account.h</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ifndef</a:t>
            </a:r>
            <a:r>
              <a:rPr kumimoji="0" lang="en-US" altLang="zh-CN" sz="2000" b="1" dirty="0">
                <a:solidFill>
                  <a:srgbClr val="000000"/>
                </a:solidFill>
                <a:latin typeface="Times New Roman" panose="02020603050405020304" pitchFamily="18" charset="0"/>
                <a:ea typeface="华文楷体" panose="02010600040101010101" pitchFamily="2" charset="-122"/>
              </a:rPr>
              <a:t> __ACCOUNT_H__</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#define __ACCOUNT_H__</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a:t>
            </a:r>
            <a:r>
              <a:rPr kumimoji="0" lang="en-US" altLang="zh-CN" sz="2000" b="1" dirty="0" err="1">
                <a:solidFill>
                  <a:srgbClr val="000000"/>
                </a:solidFill>
                <a:latin typeface="Times New Roman" panose="02020603050405020304" pitchFamily="18" charset="0"/>
                <a:ea typeface="华文楷体" panose="02010600040101010101" pitchFamily="2" charset="-122"/>
              </a:rPr>
              <a:t>date.h</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a:t>
            </a:r>
            <a:r>
              <a:rPr kumimoji="0" lang="en-US" altLang="zh-CN" sz="2000" b="1" dirty="0" err="1">
                <a:solidFill>
                  <a:srgbClr val="000000"/>
                </a:solidFill>
                <a:latin typeface="Times New Roman" panose="02020603050405020304" pitchFamily="18" charset="0"/>
                <a:ea typeface="华文楷体" panose="02010600040101010101" pitchFamily="2" charset="-122"/>
              </a:rPr>
              <a:t>accumulator.h</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&lt;string&gt;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Account { //</a:t>
            </a:r>
            <a:r>
              <a:rPr kumimoji="0" lang="zh-CN" altLang="en-US" sz="2000" b="1" dirty="0">
                <a:solidFill>
                  <a:srgbClr val="000000"/>
                </a:solidFill>
                <a:latin typeface="Times New Roman" panose="02020603050405020304" pitchFamily="18" charset="0"/>
                <a:ea typeface="华文楷体" panose="02010600040101010101" pitchFamily="2" charset="-122"/>
              </a:rPr>
              <a:t>账户类</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private:</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std</a:t>
            </a:r>
            <a:r>
              <a:rPr kumimoji="0" lang="en-US" altLang="zh-CN" sz="2000" b="1" dirty="0">
                <a:solidFill>
                  <a:srgbClr val="000000"/>
                </a:solidFill>
                <a:latin typeface="Times New Roman" panose="02020603050405020304" pitchFamily="18" charset="0"/>
                <a:ea typeface="华文楷体" panose="02010600040101010101" pitchFamily="2" charset="-122"/>
              </a:rPr>
              <a:t>::string id;	//</a:t>
            </a:r>
            <a:r>
              <a:rPr kumimoji="0" lang="zh-CN" altLang="en-US" sz="2000" b="1" dirty="0">
                <a:solidFill>
                  <a:srgbClr val="000000"/>
                </a:solidFill>
                <a:latin typeface="Times New Roman" panose="02020603050405020304" pitchFamily="18" charset="0"/>
                <a:ea typeface="华文楷体" panose="02010600040101010101" pitchFamily="2" charset="-122"/>
              </a:rPr>
              <a:t>帐号</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double balance;	//</a:t>
            </a:r>
            <a:r>
              <a:rPr kumimoji="0" lang="zh-CN" altLang="en-US" sz="2000" b="1" dirty="0">
                <a:solidFill>
                  <a:srgbClr val="000000"/>
                </a:solidFill>
                <a:latin typeface="Times New Roman" panose="02020603050405020304" pitchFamily="18" charset="0"/>
                <a:ea typeface="华文楷体" panose="02010600040101010101" pitchFamily="2" charset="-122"/>
              </a:rPr>
              <a:t>余额</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static double total; //</a:t>
            </a:r>
            <a:r>
              <a:rPr kumimoji="0" lang="zh-CN" altLang="en-US" sz="2000" b="1" dirty="0">
                <a:solidFill>
                  <a:srgbClr val="000000"/>
                </a:solidFill>
                <a:latin typeface="Times New Roman" panose="02020603050405020304" pitchFamily="18" charset="0"/>
                <a:ea typeface="华文楷体" panose="02010600040101010101" pitchFamily="2" charset="-122"/>
              </a:rPr>
              <a:t>所有账户的总金额</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protected:</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供派生类调用的构造函数，</a:t>
            </a:r>
            <a:r>
              <a:rPr kumimoji="0" lang="en-US" altLang="zh-CN" sz="2000" b="1" dirty="0">
                <a:solidFill>
                  <a:srgbClr val="000000"/>
                </a:solidFill>
                <a:latin typeface="Times New Roman" panose="02020603050405020304" pitchFamily="18" charset="0"/>
                <a:ea typeface="华文楷体" panose="02010600040101010101" pitchFamily="2" charset="-122"/>
              </a:rPr>
              <a:t>id</a:t>
            </a:r>
            <a:r>
              <a:rPr kumimoji="0" lang="zh-CN" altLang="en-US" sz="2000" b="1" dirty="0">
                <a:solidFill>
                  <a:srgbClr val="000000"/>
                </a:solidFill>
                <a:latin typeface="Times New Roman" panose="02020603050405020304" pitchFamily="18" charset="0"/>
                <a:ea typeface="华文楷体" panose="02010600040101010101" pitchFamily="2" charset="-122"/>
              </a:rPr>
              <a:t>为账户</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Account(</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Date &amp;date,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std</a:t>
            </a:r>
            <a:r>
              <a:rPr kumimoji="0" lang="en-US" altLang="zh-CN" sz="2000" b="1" dirty="0">
                <a:solidFill>
                  <a:srgbClr val="000000"/>
                </a:solidFill>
                <a:latin typeface="Times New Roman" panose="02020603050405020304" pitchFamily="18" charset="0"/>
                <a:ea typeface="华文楷体" panose="02010600040101010101" pitchFamily="2" charset="-122"/>
              </a:rPr>
              <a:t>::string &amp;id</a:t>
            </a: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91141" name="标题 1"/>
          <p:cNvSpPr>
            <a:spLocks noGrp="1"/>
          </p:cNvSpPr>
          <p:nvPr>
            <p:ph type="title"/>
          </p:nvPr>
        </p:nvSpPr>
        <p:spPr>
          <a:xfrm>
            <a:off x="5508104" y="1772816"/>
            <a:ext cx="3500437" cy="638175"/>
          </a:xfrm>
          <a:solidFill>
            <a:schemeClr val="bg1"/>
          </a:solidFill>
        </p:spPr>
        <p:txBody>
          <a:bodyPr/>
          <a:lstStyle/>
          <a:p>
            <a:r>
              <a:rPr lang="zh-CN" altLang="en-US" dirty="0" smtClean="0"/>
              <a:t>例</a:t>
            </a:r>
            <a:r>
              <a:rPr lang="en-US" altLang="zh-CN" dirty="0" smtClean="0"/>
              <a:t>7-10</a:t>
            </a:r>
            <a:r>
              <a:rPr lang="zh-CN" altLang="en-US" dirty="0" smtClean="0"/>
              <a:t>（续）</a:t>
            </a:r>
            <a:endParaRPr lang="zh-CN" altLang="en-US" dirty="0" smtClean="0"/>
          </a:p>
        </p:txBody>
      </p:sp>
    </p:spTree>
  </p:cSld>
  <p:clrMapOvr>
    <a:masterClrMapping/>
  </p:clrMapOvr>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162" name="内容占位符 2"/>
          <p:cNvSpPr>
            <a:spLocks noGrp="1"/>
          </p:cNvSpPr>
          <p:nvPr>
            <p:ph idx="1"/>
          </p:nvPr>
        </p:nvSpPr>
        <p:spPr>
          <a:xfrm>
            <a:off x="539552" y="188640"/>
            <a:ext cx="8229600" cy="5940088"/>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zh-CN" altLang="en-US" sz="2000" b="1" dirty="0">
                <a:solidFill>
                  <a:srgbClr val="000000"/>
                </a:solidFill>
                <a:latin typeface="Times New Roman" panose="02020603050405020304" pitchFamily="18" charset="0"/>
                <a:ea typeface="华文楷体" panose="02010600040101010101" pitchFamily="2" charset="-122"/>
              </a:rPr>
              <a:t>记录一笔帐，</a:t>
            </a:r>
            <a:r>
              <a:rPr kumimoji="0" lang="en-US" altLang="zh-CN" sz="2000" b="1" dirty="0">
                <a:solidFill>
                  <a:srgbClr val="000000"/>
                </a:solidFill>
                <a:latin typeface="Times New Roman" panose="02020603050405020304" pitchFamily="18" charset="0"/>
                <a:ea typeface="华文楷体" panose="02010600040101010101" pitchFamily="2" charset="-122"/>
              </a:rPr>
              <a:t>date</a:t>
            </a:r>
            <a:r>
              <a:rPr kumimoji="0" lang="zh-CN" altLang="en-US" sz="2000" b="1" dirty="0">
                <a:solidFill>
                  <a:srgbClr val="000000"/>
                </a:solidFill>
                <a:latin typeface="Times New Roman" panose="02020603050405020304" pitchFamily="18" charset="0"/>
                <a:ea typeface="华文楷体" panose="02010600040101010101" pitchFamily="2" charset="-122"/>
              </a:rPr>
              <a:t>为日期，</a:t>
            </a:r>
            <a:r>
              <a:rPr kumimoji="0" lang="en-US" altLang="zh-CN" sz="2000" b="1" dirty="0">
                <a:solidFill>
                  <a:srgbClr val="000000"/>
                </a:solidFill>
                <a:latin typeface="Times New Roman" panose="02020603050405020304" pitchFamily="18" charset="0"/>
                <a:ea typeface="华文楷体" panose="02010600040101010101" pitchFamily="2" charset="-122"/>
              </a:rPr>
              <a:t>amount</a:t>
            </a:r>
            <a:r>
              <a:rPr kumimoji="0" lang="zh-CN" altLang="en-US" sz="2000" b="1" dirty="0">
                <a:solidFill>
                  <a:srgbClr val="000000"/>
                </a:solidFill>
                <a:latin typeface="Times New Roman" panose="02020603050405020304" pitchFamily="18" charset="0"/>
                <a:ea typeface="华文楷体" panose="02010600040101010101" pitchFamily="2" charset="-122"/>
              </a:rPr>
              <a:t>为金额，</a:t>
            </a:r>
            <a:r>
              <a:rPr kumimoji="0" lang="en-US" altLang="zh-CN" sz="2000" b="1" dirty="0" err="1">
                <a:solidFill>
                  <a:srgbClr val="000000"/>
                </a:solidFill>
                <a:latin typeface="Times New Roman" panose="02020603050405020304" pitchFamily="18" charset="0"/>
                <a:ea typeface="华文楷体" panose="02010600040101010101" pitchFamily="2" charset="-122"/>
              </a:rPr>
              <a:t>desc</a:t>
            </a:r>
            <a:r>
              <a:rPr kumimoji="0" lang="zh-CN" altLang="en-US" sz="2000" b="1" dirty="0">
                <a:solidFill>
                  <a:srgbClr val="000000"/>
                </a:solidFill>
                <a:latin typeface="Times New Roman" panose="02020603050405020304" pitchFamily="18" charset="0"/>
                <a:ea typeface="华文楷体" panose="02010600040101010101" pitchFamily="2" charset="-122"/>
              </a:rPr>
              <a:t>为说明</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void record(</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Date &amp;date, double amount,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std</a:t>
            </a:r>
            <a:r>
              <a:rPr kumimoji="0" lang="en-US" altLang="zh-CN" sz="2000" b="1" dirty="0">
                <a:solidFill>
                  <a:srgbClr val="000000"/>
                </a:solidFill>
                <a:latin typeface="Times New Roman" panose="02020603050405020304" pitchFamily="18" charset="0"/>
                <a:ea typeface="华文楷体" panose="02010600040101010101" pitchFamily="2" charset="-122"/>
              </a:rPr>
              <a:t>::string &amp;</a:t>
            </a:r>
            <a:r>
              <a:rPr kumimoji="0" lang="en-US" altLang="zh-CN" sz="2000" b="1" dirty="0" err="1">
                <a:solidFill>
                  <a:srgbClr val="000000"/>
                </a:solidFill>
                <a:latin typeface="Times New Roman" panose="02020603050405020304" pitchFamily="18" charset="0"/>
                <a:ea typeface="华文楷体" panose="02010600040101010101" pitchFamily="2" charset="-122"/>
              </a:rPr>
              <a:t>desc</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报告错误信息</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void error(</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std</a:t>
            </a:r>
            <a:r>
              <a:rPr kumimoji="0" lang="en-US" altLang="zh-CN" sz="2000" b="1" dirty="0">
                <a:solidFill>
                  <a:srgbClr val="000000"/>
                </a:solidFill>
                <a:latin typeface="Times New Roman" panose="02020603050405020304" pitchFamily="18" charset="0"/>
                <a:ea typeface="华文楷体" panose="02010600040101010101" pitchFamily="2" charset="-122"/>
              </a:rPr>
              <a:t>::string &amp;</a:t>
            </a:r>
            <a:r>
              <a:rPr kumimoji="0" lang="en-US" altLang="zh-CN" sz="2000" b="1" dirty="0" err="1">
                <a:solidFill>
                  <a:srgbClr val="000000"/>
                </a:solidFill>
                <a:latin typeface="Times New Roman" panose="02020603050405020304" pitchFamily="18" charset="0"/>
                <a:ea typeface="华文楷体" panose="02010600040101010101" pitchFamily="2" charset="-122"/>
              </a:rPr>
              <a:t>msg</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std</a:t>
            </a:r>
            <a:r>
              <a:rPr kumimoji="0" lang="en-US" altLang="zh-CN" sz="2000" b="1" dirty="0">
                <a:solidFill>
                  <a:srgbClr val="000000"/>
                </a:solidFill>
                <a:latin typeface="Times New Roman" panose="02020603050405020304" pitchFamily="18" charset="0"/>
                <a:ea typeface="华文楷体" panose="02010600040101010101" pitchFamily="2" charset="-122"/>
              </a:rPr>
              <a:t>::string &amp;</a:t>
            </a:r>
            <a:r>
              <a:rPr kumimoji="0" lang="en-US" altLang="zh-CN" sz="2000" b="1" dirty="0" err="1">
                <a:solidFill>
                  <a:srgbClr val="000000"/>
                </a:solidFill>
                <a:latin typeface="Times New Roman" panose="02020603050405020304" pitchFamily="18" charset="0"/>
                <a:ea typeface="华文楷体" panose="02010600040101010101" pitchFamily="2" charset="-122"/>
              </a:rPr>
              <a:t>getId</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 return id;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double </a:t>
            </a:r>
            <a:r>
              <a:rPr kumimoji="0" lang="en-US" altLang="zh-CN" sz="2000" b="1" dirty="0" err="1">
                <a:solidFill>
                  <a:srgbClr val="000000"/>
                </a:solidFill>
                <a:latin typeface="Times New Roman" panose="02020603050405020304" pitchFamily="18" charset="0"/>
                <a:ea typeface="华文楷体" panose="02010600040101010101" pitchFamily="2" charset="-122"/>
              </a:rPr>
              <a:t>getBalance</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 return balance;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static double </a:t>
            </a:r>
            <a:r>
              <a:rPr kumimoji="0" lang="en-US" altLang="zh-CN" sz="2000" b="1" dirty="0" err="1">
                <a:solidFill>
                  <a:srgbClr val="000000"/>
                </a:solidFill>
                <a:latin typeface="Times New Roman" panose="02020603050405020304" pitchFamily="18" charset="0"/>
                <a:ea typeface="华文楷体" panose="02010600040101010101" pitchFamily="2" charset="-122"/>
              </a:rPr>
              <a:t>getTotal</a:t>
            </a:r>
            <a:r>
              <a:rPr kumimoji="0" lang="en-US" altLang="zh-CN" sz="2000" b="1" dirty="0">
                <a:solidFill>
                  <a:srgbClr val="000000"/>
                </a:solidFill>
                <a:latin typeface="Times New Roman" panose="02020603050405020304" pitchFamily="18" charset="0"/>
                <a:ea typeface="华文楷体" panose="02010600040101010101" pitchFamily="2" charset="-122"/>
              </a:rPr>
              <a:t>() { return total;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显示账户信息</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void show()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a:t>
            </a:r>
            <a:r>
              <a:rPr kumimoji="0" lang="en-US" altLang="zh-CN" sz="2000" b="1" dirty="0" err="1">
                <a:solidFill>
                  <a:srgbClr val="000000"/>
                </a:solidFill>
                <a:latin typeface="Times New Roman" panose="02020603050405020304" pitchFamily="18" charset="0"/>
                <a:ea typeface="华文楷体" panose="02010600040101010101" pitchFamily="2" charset="-122"/>
              </a:rPr>
              <a:t>SavingsAccount</a:t>
            </a:r>
            <a:r>
              <a:rPr kumimoji="0" lang="en-US" altLang="zh-CN" sz="2000" b="1" dirty="0">
                <a:solidFill>
                  <a:srgbClr val="000000"/>
                </a:solidFill>
                <a:latin typeface="Times New Roman" panose="02020603050405020304" pitchFamily="18" charset="0"/>
                <a:ea typeface="华文楷体" panose="02010600040101010101" pitchFamily="2" charset="-122"/>
              </a:rPr>
              <a:t> : public Account { //</a:t>
            </a:r>
            <a:r>
              <a:rPr kumimoji="0" lang="zh-CN" altLang="en-US" sz="2000" b="1" dirty="0">
                <a:solidFill>
                  <a:srgbClr val="000000"/>
                </a:solidFill>
                <a:latin typeface="Times New Roman" panose="02020603050405020304" pitchFamily="18" charset="0"/>
                <a:ea typeface="华文楷体" panose="02010600040101010101" pitchFamily="2" charset="-122"/>
              </a:rPr>
              <a:t>储蓄账户类</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private:</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Accumulator </a:t>
            </a:r>
            <a:r>
              <a:rPr kumimoji="0" lang="en-US" altLang="zh-CN" sz="2000" b="1" dirty="0" err="1">
                <a:solidFill>
                  <a:srgbClr val="000000"/>
                </a:solidFill>
                <a:latin typeface="Times New Roman" panose="02020603050405020304" pitchFamily="18" charset="0"/>
                <a:ea typeface="华文楷体" panose="02010600040101010101" pitchFamily="2" charset="-122"/>
              </a:rPr>
              <a:t>acc</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辅助计算利息的累加器</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double rate;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存款的年利率</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构造函数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SavingsAccount</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Date &amp;date,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std</a:t>
            </a:r>
            <a:r>
              <a:rPr kumimoji="0" lang="en-US" altLang="zh-CN" sz="2000" b="1" dirty="0">
                <a:solidFill>
                  <a:srgbClr val="000000"/>
                </a:solidFill>
                <a:latin typeface="Times New Roman" panose="02020603050405020304" pitchFamily="18" charset="0"/>
                <a:ea typeface="华文楷体" panose="02010600040101010101" pitchFamily="2" charset="-122"/>
              </a:rPr>
              <a:t>::string &amp;id, double rate);</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double </a:t>
            </a:r>
            <a:r>
              <a:rPr kumimoji="0" lang="en-US" altLang="zh-CN" sz="2000" b="1" dirty="0" err="1">
                <a:solidFill>
                  <a:srgbClr val="000000"/>
                </a:solidFill>
                <a:latin typeface="Times New Roman" panose="02020603050405020304" pitchFamily="18" charset="0"/>
                <a:ea typeface="华文楷体" panose="02010600040101010101" pitchFamily="2" charset="-122"/>
              </a:rPr>
              <a:t>getRate</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 return rate; </a:t>
            </a: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endParaRPr kumimoji="0" lang="zh-CN" altLang="en-US" sz="2000" b="1" dirty="0">
              <a:solidFill>
                <a:srgbClr val="000000"/>
              </a:solidFill>
              <a:latin typeface="Times New Roman" panose="02020603050405020304" pitchFamily="18" charset="0"/>
              <a:ea typeface="华文楷体" panose="02010600040101010101" pitchFamily="2" charset="-122"/>
            </a:endParaRPr>
          </a:p>
        </p:txBody>
      </p:sp>
      <p:sp>
        <p:nvSpPr>
          <p:cNvPr id="92165" name="标题 1"/>
          <p:cNvSpPr>
            <a:spLocks noGrp="1"/>
          </p:cNvSpPr>
          <p:nvPr>
            <p:ph type="title"/>
          </p:nvPr>
        </p:nvSpPr>
        <p:spPr>
          <a:xfrm>
            <a:off x="5214938" y="5929313"/>
            <a:ext cx="3643312" cy="638175"/>
          </a:xfrm>
          <a:solidFill>
            <a:schemeClr val="bg1"/>
          </a:solidFill>
        </p:spPr>
        <p:txBody>
          <a:bodyPr/>
          <a:lstStyle/>
          <a:p>
            <a:r>
              <a:rPr lang="zh-CN" altLang="en-US" smtClean="0"/>
              <a:t>例</a:t>
            </a:r>
            <a:r>
              <a:rPr lang="en-US" altLang="zh-CN" smtClean="0"/>
              <a:t>7-10</a:t>
            </a:r>
            <a:r>
              <a:rPr lang="zh-CN" altLang="en-US" smtClean="0"/>
              <a:t>（续）</a:t>
            </a:r>
            <a:endParaRPr lang="zh-CN" altLang="en-US" smtClean="0"/>
          </a:p>
        </p:txBody>
      </p:sp>
    </p:spTree>
  </p:cSld>
  <p:clrMapOvr>
    <a:masterClrMapping/>
  </p:clrMapOvr>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3186" name="内容占位符 2"/>
          <p:cNvSpPr>
            <a:spLocks noGrp="1"/>
          </p:cNvSpPr>
          <p:nvPr>
            <p:ph idx="1"/>
          </p:nvPr>
        </p:nvSpPr>
        <p:spPr>
          <a:xfrm>
            <a:off x="539552" y="21967"/>
            <a:ext cx="8229600" cy="6863417"/>
          </a:xfrm>
          <a:solidFill>
            <a:schemeClr val="tx1"/>
          </a:solidFill>
          <a:ln w="9525">
            <a:solidFill>
              <a:schemeClr val="tx1"/>
            </a:solidFill>
            <a:miter lim="800000"/>
          </a:ln>
        </p:spPr>
        <p:txBody>
          <a:bodyPr>
            <a:spAutoFit/>
          </a:bodyPr>
          <a:lstStyle/>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void deposit(</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Date &amp;date, double amount,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std</a:t>
            </a:r>
            <a:r>
              <a:rPr kumimoji="0" lang="en-US" altLang="zh-CN" sz="2000" b="1" dirty="0">
                <a:solidFill>
                  <a:srgbClr val="000000"/>
                </a:solidFill>
                <a:latin typeface="Times New Roman" panose="02020603050405020304" pitchFamily="18" charset="0"/>
                <a:ea typeface="华文楷体" panose="02010600040101010101" pitchFamily="2" charset="-122"/>
              </a:rPr>
              <a:t>::string &amp;</a:t>
            </a:r>
            <a:r>
              <a:rPr kumimoji="0" lang="en-US" altLang="zh-CN" sz="2000" b="1" dirty="0" err="1">
                <a:solidFill>
                  <a:srgbClr val="000000"/>
                </a:solidFill>
                <a:latin typeface="Times New Roman" panose="02020603050405020304" pitchFamily="18" charset="0"/>
                <a:ea typeface="华文楷体" panose="02010600040101010101" pitchFamily="2" charset="-122"/>
              </a:rPr>
              <a:t>desc</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存入现金</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取出现金</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void withdraw(</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Date &amp;date, double amount,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std</a:t>
            </a:r>
            <a:r>
              <a:rPr kumimoji="0" lang="en-US" altLang="zh-CN" sz="2000" b="1" dirty="0">
                <a:solidFill>
                  <a:srgbClr val="000000"/>
                </a:solidFill>
                <a:latin typeface="Times New Roman" panose="02020603050405020304" pitchFamily="18" charset="0"/>
                <a:ea typeface="华文楷体" panose="02010600040101010101" pitchFamily="2" charset="-122"/>
              </a:rPr>
              <a:t>::string &amp;</a:t>
            </a:r>
            <a:r>
              <a:rPr kumimoji="0" lang="en-US" altLang="zh-CN" sz="2000" b="1" dirty="0" err="1">
                <a:solidFill>
                  <a:srgbClr val="000000"/>
                </a:solidFill>
                <a:latin typeface="Times New Roman" panose="02020603050405020304" pitchFamily="18" charset="0"/>
                <a:ea typeface="华文楷体" panose="02010600040101010101" pitchFamily="2" charset="-122"/>
              </a:rPr>
              <a:t>desc</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settle(</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Date &amp;date</a:t>
            </a: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endParaRPr kumimoji="0" lang="en-US" altLang="zh-CN" sz="2000" b="1" dirty="0" smtClean="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结算利息，每年</a:t>
            </a:r>
            <a:r>
              <a:rPr kumimoji="0" lang="en-US" altLang="zh-CN" sz="2000" b="1" dirty="0">
                <a:solidFill>
                  <a:srgbClr val="000000"/>
                </a:solidFill>
                <a:latin typeface="Times New Roman" panose="02020603050405020304" pitchFamily="18" charset="0"/>
                <a:ea typeface="华文楷体" panose="02010600040101010101" pitchFamily="2" charset="-122"/>
              </a:rPr>
              <a:t>1</a:t>
            </a:r>
            <a:r>
              <a:rPr kumimoji="0" lang="zh-CN" altLang="en-US" sz="2000" b="1" dirty="0">
                <a:solidFill>
                  <a:srgbClr val="000000"/>
                </a:solidFill>
                <a:latin typeface="Times New Roman" panose="02020603050405020304" pitchFamily="18" charset="0"/>
                <a:ea typeface="华文楷体" panose="02010600040101010101" pitchFamily="2" charset="-122"/>
              </a:rPr>
              <a:t>月</a:t>
            </a:r>
            <a:r>
              <a:rPr kumimoji="0" lang="en-US" altLang="zh-CN" sz="2000" b="1" dirty="0">
                <a:solidFill>
                  <a:srgbClr val="000000"/>
                </a:solidFill>
                <a:latin typeface="Times New Roman" panose="02020603050405020304" pitchFamily="18" charset="0"/>
                <a:ea typeface="华文楷体" panose="02010600040101010101" pitchFamily="2" charset="-122"/>
              </a:rPr>
              <a:t>1</a:t>
            </a:r>
            <a:r>
              <a:rPr kumimoji="0" lang="zh-CN" altLang="en-US" sz="2000" b="1" dirty="0">
                <a:solidFill>
                  <a:srgbClr val="000000"/>
                </a:solidFill>
                <a:latin typeface="Times New Roman" panose="02020603050405020304" pitchFamily="18" charset="0"/>
                <a:ea typeface="华文楷体" panose="02010600040101010101" pitchFamily="2" charset="-122"/>
              </a:rPr>
              <a:t>日调用一次该函数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a:t>
            </a:r>
            <a:r>
              <a:rPr kumimoji="0" lang="en-US" altLang="zh-CN" sz="2000" b="1" dirty="0" err="1">
                <a:solidFill>
                  <a:srgbClr val="000000"/>
                </a:solidFill>
                <a:latin typeface="Times New Roman" panose="02020603050405020304" pitchFamily="18" charset="0"/>
                <a:ea typeface="华文楷体" panose="02010600040101010101" pitchFamily="2" charset="-122"/>
              </a:rPr>
              <a:t>CreditAccount</a:t>
            </a:r>
            <a:r>
              <a:rPr kumimoji="0" lang="en-US" altLang="zh-CN" sz="2000" b="1" dirty="0">
                <a:solidFill>
                  <a:srgbClr val="000000"/>
                </a:solidFill>
                <a:latin typeface="Times New Roman" panose="02020603050405020304" pitchFamily="18" charset="0"/>
                <a:ea typeface="华文楷体" panose="02010600040101010101" pitchFamily="2" charset="-122"/>
              </a:rPr>
              <a:t> : public Account {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信用账户类</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private:</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Accumulator </a:t>
            </a:r>
            <a:r>
              <a:rPr kumimoji="0" lang="en-US" altLang="zh-CN" sz="2000" b="1" dirty="0" err="1">
                <a:solidFill>
                  <a:srgbClr val="000000"/>
                </a:solidFill>
                <a:latin typeface="Times New Roman" panose="02020603050405020304" pitchFamily="18" charset="0"/>
                <a:ea typeface="华文楷体" panose="02010600040101010101" pitchFamily="2" charset="-122"/>
              </a:rPr>
              <a:t>acc</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辅助计算利息的累加器</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double credit;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信用额度</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double rate;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欠款的日利率</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double fee;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信用卡年费</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double </a:t>
            </a:r>
            <a:r>
              <a:rPr kumimoji="0" lang="en-US" altLang="zh-CN" sz="2000" b="1" dirty="0" err="1">
                <a:solidFill>
                  <a:srgbClr val="000000"/>
                </a:solidFill>
                <a:latin typeface="Times New Roman" panose="02020603050405020304" pitchFamily="18" charset="0"/>
                <a:ea typeface="华文楷体" panose="02010600040101010101" pitchFamily="2" charset="-122"/>
              </a:rPr>
              <a:t>getDebt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获得欠款额</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double balance = </a:t>
            </a:r>
            <a:r>
              <a:rPr kumimoji="0" lang="en-US" altLang="zh-CN" sz="2000" b="1" dirty="0" err="1">
                <a:solidFill>
                  <a:srgbClr val="000000"/>
                </a:solidFill>
                <a:latin typeface="Times New Roman" panose="02020603050405020304" pitchFamily="18" charset="0"/>
                <a:ea typeface="华文楷体" panose="02010600040101010101" pitchFamily="2" charset="-122"/>
              </a:rPr>
              <a:t>getBalance</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return (balance &lt; 0 ? balance : 0);</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构造函数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CreditAccount</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Date &amp;date,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std</a:t>
            </a:r>
            <a:r>
              <a:rPr kumimoji="0" lang="en-US" altLang="zh-CN" sz="2000" b="1" dirty="0">
                <a:solidFill>
                  <a:srgbClr val="000000"/>
                </a:solidFill>
                <a:latin typeface="Times New Roman" panose="02020603050405020304" pitchFamily="18" charset="0"/>
                <a:ea typeface="华文楷体" panose="02010600040101010101" pitchFamily="2" charset="-122"/>
              </a:rPr>
              <a:t>::string &amp;id, double credit, double rate, double fee</a:t>
            </a: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endParaRPr kumimoji="0" lang="zh-CN" altLang="en-US" sz="2000" b="1" dirty="0">
              <a:solidFill>
                <a:srgbClr val="000000"/>
              </a:solidFill>
              <a:latin typeface="Times New Roman" panose="02020603050405020304" pitchFamily="18" charset="0"/>
              <a:ea typeface="华文楷体" panose="02010600040101010101" pitchFamily="2" charset="-122"/>
            </a:endParaRPr>
          </a:p>
        </p:txBody>
      </p:sp>
      <p:sp>
        <p:nvSpPr>
          <p:cNvPr id="93189" name="标题 1"/>
          <p:cNvSpPr>
            <a:spLocks noGrp="1"/>
          </p:cNvSpPr>
          <p:nvPr>
            <p:ph type="title"/>
          </p:nvPr>
        </p:nvSpPr>
        <p:spPr>
          <a:xfrm>
            <a:off x="5652120" y="5013176"/>
            <a:ext cx="3357562" cy="709613"/>
          </a:xfrm>
          <a:solidFill>
            <a:schemeClr val="bg1"/>
          </a:solidFill>
        </p:spPr>
        <p:txBody>
          <a:bodyPr/>
          <a:lstStyle/>
          <a:p>
            <a:r>
              <a:rPr lang="zh-CN" altLang="en-US" dirty="0" smtClean="0"/>
              <a:t>例</a:t>
            </a:r>
            <a:r>
              <a:rPr lang="en-US" altLang="zh-CN" dirty="0" smtClean="0"/>
              <a:t>7-10</a:t>
            </a:r>
            <a:r>
              <a:rPr lang="zh-CN" altLang="en-US" dirty="0" smtClean="0"/>
              <a:t>（续）</a:t>
            </a:r>
            <a:endParaRPr lang="zh-CN" altLang="en-US" dirty="0" smtClean="0"/>
          </a:p>
        </p:txBody>
      </p:sp>
    </p:spTree>
  </p:cSld>
  <p:clrMapOvr>
    <a:masterClrMapping/>
  </p:clrMapOvr>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4210" name="内容占位符 2"/>
          <p:cNvSpPr>
            <a:spLocks noGrp="1"/>
          </p:cNvSpPr>
          <p:nvPr>
            <p:ph idx="1"/>
          </p:nvPr>
        </p:nvSpPr>
        <p:spPr>
          <a:xfrm>
            <a:off x="467544" y="260648"/>
            <a:ext cx="8229600" cy="6247864"/>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double </a:t>
            </a:r>
            <a:r>
              <a:rPr kumimoji="0" lang="en-US" altLang="zh-CN" sz="2000" b="1" dirty="0" err="1">
                <a:solidFill>
                  <a:srgbClr val="000000"/>
                </a:solidFill>
                <a:latin typeface="Times New Roman" panose="02020603050405020304" pitchFamily="18" charset="0"/>
                <a:ea typeface="华文楷体" panose="02010600040101010101" pitchFamily="2" charset="-122"/>
              </a:rPr>
              <a:t>getCredit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 return credit;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double </a:t>
            </a:r>
            <a:r>
              <a:rPr kumimoji="0" lang="en-US" altLang="zh-CN" sz="2000" b="1" dirty="0" err="1">
                <a:solidFill>
                  <a:srgbClr val="000000"/>
                </a:solidFill>
                <a:latin typeface="Times New Roman" panose="02020603050405020304" pitchFamily="18" charset="0"/>
                <a:ea typeface="华文楷体" panose="02010600040101010101" pitchFamily="2" charset="-122"/>
              </a:rPr>
              <a:t>getRate</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 return rate;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double </a:t>
            </a:r>
            <a:r>
              <a:rPr kumimoji="0" lang="en-US" altLang="zh-CN" sz="2000" b="1" dirty="0" err="1">
                <a:solidFill>
                  <a:srgbClr val="000000"/>
                </a:solidFill>
                <a:latin typeface="Times New Roman" panose="02020603050405020304" pitchFamily="18" charset="0"/>
                <a:ea typeface="华文楷体" panose="02010600040101010101" pitchFamily="2" charset="-122"/>
              </a:rPr>
              <a:t>getFee</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 return fee;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double </a:t>
            </a:r>
            <a:r>
              <a:rPr kumimoji="0" lang="en-US" altLang="zh-CN" sz="2000" b="1" dirty="0" err="1">
                <a:solidFill>
                  <a:srgbClr val="000000"/>
                </a:solidFill>
                <a:latin typeface="Times New Roman" panose="02020603050405020304" pitchFamily="18" charset="0"/>
                <a:ea typeface="华文楷体" panose="02010600040101010101" pitchFamily="2" charset="-122"/>
              </a:rPr>
              <a:t>getAvailableCredit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	//</a:t>
            </a:r>
            <a:r>
              <a:rPr kumimoji="0" lang="zh-CN" altLang="en-US" sz="2000" b="1" dirty="0">
                <a:solidFill>
                  <a:srgbClr val="000000"/>
                </a:solidFill>
                <a:latin typeface="Times New Roman" panose="02020603050405020304" pitchFamily="18" charset="0"/>
                <a:ea typeface="华文楷体" panose="02010600040101010101" pitchFamily="2" charset="-122"/>
              </a:rPr>
              <a:t>获得可用信用</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if (</a:t>
            </a:r>
            <a:r>
              <a:rPr kumimoji="0" lang="en-US" altLang="zh-CN" sz="2000" b="1" dirty="0" err="1">
                <a:solidFill>
                  <a:srgbClr val="000000"/>
                </a:solidFill>
                <a:latin typeface="Times New Roman" panose="02020603050405020304" pitchFamily="18" charset="0"/>
                <a:ea typeface="华文楷体" panose="02010600040101010101" pitchFamily="2" charset="-122"/>
              </a:rPr>
              <a:t>getBalance</a:t>
            </a:r>
            <a:r>
              <a:rPr kumimoji="0" lang="en-US" altLang="zh-CN" sz="2000" b="1" dirty="0">
                <a:solidFill>
                  <a:srgbClr val="000000"/>
                </a:solidFill>
                <a:latin typeface="Times New Roman" panose="02020603050405020304" pitchFamily="18" charset="0"/>
                <a:ea typeface="华文楷体" panose="02010600040101010101" pitchFamily="2" charset="-122"/>
              </a:rPr>
              <a:t>() &lt; 0)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return credit + </a:t>
            </a:r>
            <a:r>
              <a:rPr kumimoji="0" lang="en-US" altLang="zh-CN" sz="2000" b="1" dirty="0" err="1">
                <a:solidFill>
                  <a:srgbClr val="000000"/>
                </a:solidFill>
                <a:latin typeface="Times New Roman" panose="02020603050405020304" pitchFamily="18" charset="0"/>
                <a:ea typeface="华文楷体" panose="02010600040101010101" pitchFamily="2" charset="-122"/>
              </a:rPr>
              <a:t>getBalance</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else</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return credit;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存入现金</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void deposit(</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Date &amp;date, double amount,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std</a:t>
            </a:r>
            <a:r>
              <a:rPr kumimoji="0" lang="en-US" altLang="zh-CN" sz="2000" b="1" dirty="0">
                <a:solidFill>
                  <a:srgbClr val="000000"/>
                </a:solidFill>
                <a:latin typeface="Times New Roman" panose="02020603050405020304" pitchFamily="18" charset="0"/>
                <a:ea typeface="华文楷体" panose="02010600040101010101" pitchFamily="2" charset="-122"/>
              </a:rPr>
              <a:t>::string &amp;</a:t>
            </a:r>
            <a:r>
              <a:rPr kumimoji="0" lang="en-US" altLang="zh-CN" sz="2000" b="1" dirty="0" err="1">
                <a:solidFill>
                  <a:srgbClr val="000000"/>
                </a:solidFill>
                <a:latin typeface="Times New Roman" panose="02020603050405020304" pitchFamily="18" charset="0"/>
                <a:ea typeface="华文楷体" panose="02010600040101010101" pitchFamily="2" charset="-122"/>
              </a:rPr>
              <a:t>desc</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取出现金</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void withdraw(</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Date &amp;date, double amount,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std</a:t>
            </a:r>
            <a:r>
              <a:rPr kumimoji="0" lang="en-US" altLang="zh-CN" sz="2000" b="1" dirty="0">
                <a:solidFill>
                  <a:srgbClr val="000000"/>
                </a:solidFill>
                <a:latin typeface="Times New Roman" panose="02020603050405020304" pitchFamily="18" charset="0"/>
                <a:ea typeface="华文楷体" panose="02010600040101010101" pitchFamily="2" charset="-122"/>
              </a:rPr>
              <a:t>::string &amp;</a:t>
            </a:r>
            <a:r>
              <a:rPr kumimoji="0" lang="en-US" altLang="zh-CN" sz="2000" b="1" dirty="0" err="1">
                <a:solidFill>
                  <a:srgbClr val="000000"/>
                </a:solidFill>
                <a:latin typeface="Times New Roman" panose="02020603050405020304" pitchFamily="18" charset="0"/>
                <a:ea typeface="华文楷体" panose="02010600040101010101" pitchFamily="2" charset="-122"/>
              </a:rPr>
              <a:t>desc</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settle(</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Date &amp;date);	</a:t>
            </a:r>
            <a:endParaRPr kumimoji="0" lang="en-US" altLang="zh-CN" sz="2000" b="1" dirty="0" smtClean="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结算利息和年费，每月</a:t>
            </a:r>
            <a:r>
              <a:rPr kumimoji="0" lang="en-US" altLang="zh-CN" sz="2000" b="1" dirty="0">
                <a:solidFill>
                  <a:srgbClr val="000000"/>
                </a:solidFill>
                <a:latin typeface="Times New Roman" panose="02020603050405020304" pitchFamily="18" charset="0"/>
                <a:ea typeface="华文楷体" panose="02010600040101010101" pitchFamily="2" charset="-122"/>
              </a:rPr>
              <a:t>1</a:t>
            </a:r>
            <a:r>
              <a:rPr kumimoji="0" lang="zh-CN" altLang="en-US" sz="2000" b="1" dirty="0">
                <a:solidFill>
                  <a:srgbClr val="000000"/>
                </a:solidFill>
                <a:latin typeface="Times New Roman" panose="02020603050405020304" pitchFamily="18" charset="0"/>
                <a:ea typeface="华文楷体" panose="02010600040101010101" pitchFamily="2" charset="-122"/>
              </a:rPr>
              <a:t>日调用一次该函数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void show()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en-US" altLang="zh-CN" sz="2000" b="1" dirty="0" err="1">
                <a:solidFill>
                  <a:srgbClr val="000000"/>
                </a:solidFill>
                <a:latin typeface="Times New Roman" panose="02020603050405020304" pitchFamily="18" charset="0"/>
                <a:ea typeface="华文楷体" panose="02010600040101010101" pitchFamily="2" charset="-122"/>
              </a:rPr>
              <a:t>endif</a:t>
            </a:r>
            <a:r>
              <a:rPr kumimoji="0" lang="en-US" altLang="zh-CN" sz="2000" b="1" dirty="0">
                <a:solidFill>
                  <a:srgbClr val="000000"/>
                </a:solidFill>
                <a:latin typeface="Times New Roman" panose="02020603050405020304" pitchFamily="18" charset="0"/>
                <a:ea typeface="华文楷体" panose="02010600040101010101" pitchFamily="2" charset="-122"/>
              </a:rPr>
              <a:t> //__ACCOUNT_H</a:t>
            </a:r>
            <a:r>
              <a:rPr kumimoji="0" lang="en-US" altLang="zh-CN" sz="2000" b="1" dirty="0" smtClean="0">
                <a:solidFill>
                  <a:srgbClr val="000000"/>
                </a:solidFill>
                <a:latin typeface="Times New Roman" panose="02020603050405020304" pitchFamily="18" charset="0"/>
                <a:ea typeface="华文楷体" panose="02010600040101010101" pitchFamily="2" charset="-122"/>
              </a:rPr>
              <a:t>__</a:t>
            </a:r>
            <a:endParaRPr kumimoji="0" lang="zh-CN" altLang="en-US" sz="2000" b="1" dirty="0">
              <a:solidFill>
                <a:srgbClr val="000000"/>
              </a:solidFill>
              <a:latin typeface="Times New Roman" panose="02020603050405020304" pitchFamily="18" charset="0"/>
              <a:ea typeface="华文楷体" panose="02010600040101010101" pitchFamily="2" charset="-122"/>
            </a:endParaRPr>
          </a:p>
        </p:txBody>
      </p:sp>
      <p:sp>
        <p:nvSpPr>
          <p:cNvPr id="94213" name="标题 1"/>
          <p:cNvSpPr>
            <a:spLocks noGrp="1"/>
          </p:cNvSpPr>
          <p:nvPr>
            <p:ph type="title"/>
          </p:nvPr>
        </p:nvSpPr>
        <p:spPr>
          <a:xfrm>
            <a:off x="5500688" y="5500688"/>
            <a:ext cx="3214687" cy="1066800"/>
          </a:xfrm>
          <a:solidFill>
            <a:schemeClr val="bg1"/>
          </a:solidFill>
        </p:spPr>
        <p:txBody>
          <a:bodyPr/>
          <a:lstStyle/>
          <a:p>
            <a:r>
              <a:rPr lang="zh-CN" altLang="en-US" smtClean="0"/>
              <a:t>例</a:t>
            </a:r>
            <a:r>
              <a:rPr lang="en-US" altLang="zh-CN" smtClean="0"/>
              <a:t>7-10</a:t>
            </a:r>
            <a:r>
              <a:rPr lang="zh-CN" altLang="en-US" smtClean="0"/>
              <a:t>（续）</a:t>
            </a:r>
            <a:endParaRPr lang="zh-CN" altLang="en-US" smtClean="0"/>
          </a:p>
        </p:txBody>
      </p:sp>
    </p:spTree>
  </p:cSld>
  <p:clrMapOvr>
    <a:masterClrMapping/>
  </p:clrMapOv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5234" name="内容占位符 2"/>
          <p:cNvSpPr>
            <a:spLocks noGrp="1"/>
          </p:cNvSpPr>
          <p:nvPr>
            <p:ph idx="1"/>
          </p:nvPr>
        </p:nvSpPr>
        <p:spPr>
          <a:xfrm>
            <a:off x="467544" y="29736"/>
            <a:ext cx="8676456" cy="6863417"/>
          </a:xfrm>
          <a:solidFill>
            <a:schemeClr val="tx1"/>
          </a:solidFill>
          <a:ln w="9525">
            <a:solidFill>
              <a:schemeClr val="tx1"/>
            </a:solidFill>
            <a:miter lim="800000"/>
          </a:ln>
        </p:spPr>
        <p:txBody>
          <a:bodyPr wrap="square">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//account.cpp</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a:t>
            </a:r>
            <a:r>
              <a:rPr kumimoji="0" lang="en-US" altLang="zh-CN" sz="2000" b="1" dirty="0" err="1">
                <a:solidFill>
                  <a:srgbClr val="000000"/>
                </a:solidFill>
                <a:latin typeface="Times New Roman" panose="02020603050405020304" pitchFamily="18" charset="0"/>
                <a:ea typeface="华文楷体" panose="02010600040101010101" pitchFamily="2" charset="-122"/>
              </a:rPr>
              <a:t>account.h</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&lt;</a:t>
            </a:r>
            <a:r>
              <a:rPr kumimoji="0" lang="en-US" altLang="zh-CN" sz="2000" b="1" dirty="0" err="1">
                <a:solidFill>
                  <a:srgbClr val="000000"/>
                </a:solidFill>
                <a:latin typeface="Times New Roman" panose="02020603050405020304" pitchFamily="18" charset="0"/>
                <a:ea typeface="华文楷体" panose="02010600040101010101" pitchFamily="2" charset="-122"/>
              </a:rPr>
              <a:t>cmath</a:t>
            </a:r>
            <a:r>
              <a:rPr kumimoji="0" lang="en-US" altLang="zh-CN" sz="2000" b="1" dirty="0">
                <a:solidFill>
                  <a:srgbClr val="000000"/>
                </a:solidFill>
                <a:latin typeface="Times New Roman" panose="02020603050405020304" pitchFamily="18" charset="0"/>
                <a:ea typeface="华文楷体" panose="02010600040101010101" pitchFamily="2" charset="-122"/>
              </a:rPr>
              <a:t>&gt;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&lt;</a:t>
            </a:r>
            <a:r>
              <a:rPr kumimoji="0" lang="en-US" altLang="zh-CN" sz="2000" b="1" dirty="0" err="1">
                <a:solidFill>
                  <a:srgbClr val="000000"/>
                </a:solidFill>
                <a:latin typeface="Times New Roman" panose="02020603050405020304" pitchFamily="18" charset="0"/>
                <a:ea typeface="华文楷体" panose="02010600040101010101" pitchFamily="2" charset="-122"/>
              </a:rPr>
              <a:t>iostream</a:t>
            </a:r>
            <a:r>
              <a:rPr kumimoji="0" lang="en-US" altLang="zh-CN" sz="2000" b="1" dirty="0">
                <a:solidFill>
                  <a:srgbClr val="000000"/>
                </a:solidFill>
                <a:latin typeface="Times New Roman" panose="02020603050405020304" pitchFamily="18" charset="0"/>
                <a:ea typeface="华文楷体" panose="02010600040101010101" pitchFamily="2" charset="-122"/>
              </a:rPr>
              <a:t>&gt;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using namespace </a:t>
            </a:r>
            <a:r>
              <a:rPr kumimoji="0" lang="en-US" altLang="zh-CN" sz="2000" b="1" dirty="0" err="1">
                <a:solidFill>
                  <a:srgbClr val="000000"/>
                </a:solidFill>
                <a:latin typeface="Times New Roman" panose="02020603050405020304" pitchFamily="18" charset="0"/>
                <a:ea typeface="华文楷体" panose="02010600040101010101" pitchFamily="2" charset="-122"/>
              </a:rPr>
              <a:t>std</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double Account::total = 0;</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//Account</a:t>
            </a:r>
            <a:r>
              <a:rPr kumimoji="0" lang="zh-CN" altLang="en-US" sz="2000" b="1" dirty="0">
                <a:solidFill>
                  <a:srgbClr val="000000"/>
                </a:solidFill>
                <a:latin typeface="Times New Roman" panose="02020603050405020304" pitchFamily="18" charset="0"/>
                <a:ea typeface="华文楷体" panose="02010600040101010101" pitchFamily="2" charset="-122"/>
              </a:rPr>
              <a:t>类的实现</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Account::Account(</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Date &amp;date,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string &amp;id)</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 id(id), balance(0)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date.show</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"\t#" &lt;&lt; id &lt;&lt; " created"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void Account::record(</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Date &amp;date, double amount,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string &amp;</a:t>
            </a:r>
            <a:r>
              <a:rPr kumimoji="0" lang="en-US" altLang="zh-CN" sz="2000" b="1" dirty="0" err="1">
                <a:solidFill>
                  <a:srgbClr val="000000"/>
                </a:solidFill>
                <a:latin typeface="Times New Roman" panose="02020603050405020304" pitchFamily="18" charset="0"/>
                <a:ea typeface="华文楷体" panose="02010600040101010101" pitchFamily="2" charset="-122"/>
              </a:rPr>
              <a:t>desc</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amount = floor(amount * 100 + 0.5) / 100;//</a:t>
            </a:r>
            <a:r>
              <a:rPr kumimoji="0" lang="zh-CN" altLang="en-US" sz="2000" b="1" dirty="0">
                <a:solidFill>
                  <a:srgbClr val="000000"/>
                </a:solidFill>
                <a:latin typeface="Times New Roman" panose="02020603050405020304" pitchFamily="18" charset="0"/>
                <a:ea typeface="华文楷体" panose="02010600040101010101" pitchFamily="2" charset="-122"/>
              </a:rPr>
              <a:t>保留小数点后两位</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balance += amount; total += amount;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date.show</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"\t#" &lt;&lt; id &lt;&lt; "\t" &lt;&lt; amount &lt;&lt; "\t" &lt;&lt; balance &lt;&lt; "\t" &lt;&lt; </a:t>
            </a:r>
            <a:r>
              <a:rPr kumimoji="0" lang="en-US" altLang="zh-CN" sz="2000" b="1" dirty="0" err="1">
                <a:solidFill>
                  <a:srgbClr val="000000"/>
                </a:solidFill>
                <a:latin typeface="Times New Roman" panose="02020603050405020304" pitchFamily="18" charset="0"/>
                <a:ea typeface="华文楷体" panose="02010600040101010101" pitchFamily="2" charset="-122"/>
              </a:rPr>
              <a:t>desc</a:t>
            </a:r>
            <a:r>
              <a:rPr kumimoji="0" lang="en-US" altLang="zh-CN" sz="2000" b="1" dirty="0">
                <a:solidFill>
                  <a:srgbClr val="000000"/>
                </a:solidFill>
                <a:latin typeface="Times New Roman" panose="02020603050405020304" pitchFamily="18" charset="0"/>
                <a:ea typeface="华文楷体" panose="02010600040101010101" pitchFamily="2" charset="-122"/>
              </a:rPr>
              <a:t>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void Account::show()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id &lt;&lt; "\</a:t>
            </a:r>
            <a:r>
              <a:rPr kumimoji="0" lang="en-US" altLang="zh-CN" sz="2000" b="1" dirty="0" err="1">
                <a:solidFill>
                  <a:srgbClr val="000000"/>
                </a:solidFill>
                <a:latin typeface="Times New Roman" panose="02020603050405020304" pitchFamily="18" charset="0"/>
                <a:ea typeface="华文楷体" panose="02010600040101010101" pitchFamily="2" charset="-122"/>
              </a:rPr>
              <a:t>tBalance</a:t>
            </a:r>
            <a:r>
              <a:rPr kumimoji="0" lang="en-US" altLang="zh-CN" sz="2000" b="1" dirty="0">
                <a:solidFill>
                  <a:srgbClr val="000000"/>
                </a:solidFill>
                <a:latin typeface="Times New Roman" panose="02020603050405020304" pitchFamily="18" charset="0"/>
                <a:ea typeface="华文楷体" panose="02010600040101010101" pitchFamily="2" charset="-122"/>
              </a:rPr>
              <a:t>: " &lt;&lt; balance;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void Account::error(</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string &amp;</a:t>
            </a:r>
            <a:r>
              <a:rPr kumimoji="0" lang="en-US" altLang="zh-CN" sz="2000" b="1" dirty="0" err="1">
                <a:solidFill>
                  <a:srgbClr val="000000"/>
                </a:solidFill>
                <a:latin typeface="Times New Roman" panose="02020603050405020304" pitchFamily="18" charset="0"/>
                <a:ea typeface="华文楷体" panose="02010600040101010101" pitchFamily="2" charset="-122"/>
              </a:rPr>
              <a:t>msg</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"Error(#" &lt;&lt; id &lt;&lt; "): " &lt;&lt; </a:t>
            </a:r>
            <a:r>
              <a:rPr kumimoji="0" lang="en-US" altLang="zh-CN" sz="2000" b="1" dirty="0" err="1">
                <a:solidFill>
                  <a:srgbClr val="000000"/>
                </a:solidFill>
                <a:latin typeface="Times New Roman" panose="02020603050405020304" pitchFamily="18" charset="0"/>
                <a:ea typeface="华文楷体" panose="02010600040101010101" pitchFamily="2" charset="-122"/>
              </a:rPr>
              <a:t>msg</a:t>
            </a:r>
            <a:r>
              <a:rPr kumimoji="0" lang="en-US" altLang="zh-CN" sz="2000" b="1" dirty="0">
                <a:solidFill>
                  <a:srgbClr val="000000"/>
                </a:solidFill>
                <a:latin typeface="Times New Roman" panose="02020603050405020304" pitchFamily="18" charset="0"/>
                <a:ea typeface="华文楷体" panose="02010600040101010101" pitchFamily="2" charset="-122"/>
              </a:rPr>
              <a:t> &lt;&lt; </a:t>
            </a:r>
            <a:r>
              <a:rPr kumimoji="0" lang="en-US" altLang="zh-CN" sz="2000" b="1" dirty="0" err="1">
                <a:solidFill>
                  <a:srgbClr val="000000"/>
                </a:solidFill>
                <a:latin typeface="Times New Roman" panose="02020603050405020304" pitchFamily="18" charset="0"/>
                <a:ea typeface="华文楷体" panose="02010600040101010101" pitchFamily="2" charset="-122"/>
              </a:rPr>
              <a:t>endl</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95237" name="标题 1"/>
          <p:cNvSpPr>
            <a:spLocks noGrp="1"/>
          </p:cNvSpPr>
          <p:nvPr>
            <p:ph type="title"/>
          </p:nvPr>
        </p:nvSpPr>
        <p:spPr>
          <a:xfrm>
            <a:off x="5500688" y="500063"/>
            <a:ext cx="3214687" cy="1066800"/>
          </a:xfrm>
          <a:solidFill>
            <a:schemeClr val="bg1"/>
          </a:solidFill>
        </p:spPr>
        <p:txBody>
          <a:bodyPr/>
          <a:lstStyle/>
          <a:p>
            <a:r>
              <a:rPr lang="zh-CN" altLang="en-US" smtClean="0"/>
              <a:t>例</a:t>
            </a:r>
            <a:r>
              <a:rPr lang="en-US" altLang="zh-CN" smtClean="0"/>
              <a:t>7-10</a:t>
            </a:r>
            <a:r>
              <a:rPr lang="zh-CN" altLang="en-US" smtClean="0"/>
              <a:t>（续）</a:t>
            </a:r>
            <a:endParaRPr lang="zh-CN" altLang="en-US" smtClean="0"/>
          </a:p>
        </p:txBody>
      </p:sp>
    </p:spTree>
  </p:cSld>
  <p:clrMapOvr>
    <a:masterClrMapping/>
  </p:clrMapOvr>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6258" name="内容占位符 2"/>
          <p:cNvSpPr>
            <a:spLocks noGrp="1"/>
          </p:cNvSpPr>
          <p:nvPr>
            <p:ph idx="1"/>
          </p:nvPr>
        </p:nvSpPr>
        <p:spPr>
          <a:xfrm>
            <a:off x="11872" y="332656"/>
            <a:ext cx="9132128" cy="5909310"/>
          </a:xfrm>
          <a:solidFill>
            <a:schemeClr val="tx1"/>
          </a:solidFill>
          <a:ln w="9525">
            <a:solidFill>
              <a:schemeClr val="tx1"/>
            </a:solidFill>
            <a:miter lim="800000"/>
          </a:ln>
        </p:spPr>
        <p:txBody>
          <a:bodyPr wrap="square">
            <a:spAutoFit/>
          </a:bodyPr>
          <a:lstStyle/>
          <a:p>
            <a:pPr>
              <a:spcBef>
                <a:spcPct val="0"/>
              </a:spcBef>
              <a:buClrTx/>
              <a:buSzTx/>
              <a:buFontTx/>
              <a:buNone/>
            </a:pPr>
            <a:r>
              <a:rPr kumimoji="0" lang="en-US" altLang="zh-CN" sz="1800" b="1" dirty="0">
                <a:solidFill>
                  <a:srgbClr val="000000"/>
                </a:solidFill>
                <a:latin typeface="Times New Roman" panose="02020603050405020304" pitchFamily="18" charset="0"/>
                <a:ea typeface="华文楷体" panose="02010600040101010101" pitchFamily="2" charset="-122"/>
              </a:rPr>
              <a:t>//</a:t>
            </a:r>
            <a:r>
              <a:rPr kumimoji="0" lang="en-US" altLang="zh-CN" sz="1800" b="1" dirty="0" err="1">
                <a:solidFill>
                  <a:srgbClr val="000000"/>
                </a:solidFill>
                <a:latin typeface="Times New Roman" panose="02020603050405020304" pitchFamily="18" charset="0"/>
                <a:ea typeface="华文楷体" panose="02010600040101010101" pitchFamily="2" charset="-122"/>
              </a:rPr>
              <a:t>SavingsAccount</a:t>
            </a:r>
            <a:r>
              <a:rPr kumimoji="0" lang="zh-CN" altLang="en-US" sz="1800" b="1" dirty="0">
                <a:solidFill>
                  <a:srgbClr val="000000"/>
                </a:solidFill>
                <a:latin typeface="Times New Roman" panose="02020603050405020304" pitchFamily="18" charset="0"/>
                <a:ea typeface="华文楷体" panose="02010600040101010101" pitchFamily="2" charset="-122"/>
              </a:rPr>
              <a:t>类相关成员函数的实现</a:t>
            </a:r>
            <a:endParaRPr kumimoji="0" lang="zh-CN" altLang="en-US" sz="18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1800" b="1" dirty="0" err="1">
                <a:solidFill>
                  <a:srgbClr val="000000"/>
                </a:solidFill>
                <a:latin typeface="Times New Roman" panose="02020603050405020304" pitchFamily="18" charset="0"/>
                <a:ea typeface="华文楷体" panose="02010600040101010101" pitchFamily="2" charset="-122"/>
              </a:rPr>
              <a:t>SavingsAccount</a:t>
            </a:r>
            <a:r>
              <a:rPr kumimoji="0" lang="en-US" altLang="zh-CN" sz="1800" b="1" dirty="0">
                <a:solidFill>
                  <a:srgbClr val="000000"/>
                </a:solidFill>
                <a:latin typeface="Times New Roman" panose="02020603050405020304" pitchFamily="18" charset="0"/>
                <a:ea typeface="华文楷体" panose="02010600040101010101" pitchFamily="2" charset="-122"/>
              </a:rPr>
              <a:t>::</a:t>
            </a:r>
            <a:r>
              <a:rPr kumimoji="0" lang="en-US" altLang="zh-CN" sz="1800" b="1" dirty="0" err="1">
                <a:solidFill>
                  <a:srgbClr val="000000"/>
                </a:solidFill>
                <a:latin typeface="Times New Roman" panose="02020603050405020304" pitchFamily="18" charset="0"/>
                <a:ea typeface="华文楷体" panose="02010600040101010101" pitchFamily="2" charset="-122"/>
              </a:rPr>
              <a:t>SavingsAccount</a:t>
            </a:r>
            <a:r>
              <a:rPr kumimoji="0" lang="en-US" altLang="zh-CN" sz="1800" b="1" dirty="0">
                <a:solidFill>
                  <a:srgbClr val="000000"/>
                </a:solidFill>
                <a:latin typeface="Times New Roman" panose="02020603050405020304" pitchFamily="18" charset="0"/>
                <a:ea typeface="华文楷体" panose="02010600040101010101" pitchFamily="2" charset="-122"/>
              </a:rPr>
              <a:t>(</a:t>
            </a:r>
            <a:r>
              <a:rPr kumimoji="0" lang="en-US" altLang="zh-CN" sz="1800" b="1" dirty="0" err="1">
                <a:solidFill>
                  <a:srgbClr val="000000"/>
                </a:solidFill>
                <a:latin typeface="Times New Roman" panose="02020603050405020304" pitchFamily="18" charset="0"/>
                <a:ea typeface="华文楷体" panose="02010600040101010101" pitchFamily="2" charset="-122"/>
              </a:rPr>
              <a:t>const</a:t>
            </a:r>
            <a:r>
              <a:rPr kumimoji="0" lang="en-US" altLang="zh-CN" sz="1800" b="1" dirty="0">
                <a:solidFill>
                  <a:srgbClr val="000000"/>
                </a:solidFill>
                <a:latin typeface="Times New Roman" panose="02020603050405020304" pitchFamily="18" charset="0"/>
                <a:ea typeface="华文楷体" panose="02010600040101010101" pitchFamily="2" charset="-122"/>
              </a:rPr>
              <a:t> Date &amp;date, </a:t>
            </a:r>
            <a:r>
              <a:rPr kumimoji="0" lang="en-US" altLang="zh-CN" sz="1800" b="1" dirty="0" err="1">
                <a:solidFill>
                  <a:srgbClr val="000000"/>
                </a:solidFill>
                <a:latin typeface="Times New Roman" panose="02020603050405020304" pitchFamily="18" charset="0"/>
                <a:ea typeface="华文楷体" panose="02010600040101010101" pitchFamily="2" charset="-122"/>
              </a:rPr>
              <a:t>const</a:t>
            </a:r>
            <a:r>
              <a:rPr kumimoji="0" lang="en-US" altLang="zh-CN" sz="1800" b="1" dirty="0">
                <a:solidFill>
                  <a:srgbClr val="000000"/>
                </a:solidFill>
                <a:latin typeface="Times New Roman" panose="02020603050405020304" pitchFamily="18" charset="0"/>
                <a:ea typeface="华文楷体" panose="02010600040101010101" pitchFamily="2" charset="-122"/>
              </a:rPr>
              <a:t> string &amp;id, double rate) : Account(date, id), rate(rate), </a:t>
            </a:r>
            <a:r>
              <a:rPr kumimoji="0" lang="en-US" altLang="zh-CN" sz="1800" b="1" dirty="0" err="1">
                <a:solidFill>
                  <a:srgbClr val="000000"/>
                </a:solidFill>
                <a:latin typeface="Times New Roman" panose="02020603050405020304" pitchFamily="18" charset="0"/>
                <a:ea typeface="华文楷体" panose="02010600040101010101" pitchFamily="2" charset="-122"/>
              </a:rPr>
              <a:t>acc</a:t>
            </a:r>
            <a:r>
              <a:rPr kumimoji="0" lang="en-US" altLang="zh-CN" sz="1800" b="1" dirty="0">
                <a:solidFill>
                  <a:srgbClr val="000000"/>
                </a:solidFill>
                <a:latin typeface="Times New Roman" panose="02020603050405020304" pitchFamily="18" charset="0"/>
                <a:ea typeface="华文楷体" panose="02010600040101010101" pitchFamily="2" charset="-122"/>
              </a:rPr>
              <a:t>(date, 0) { }</a:t>
            </a:r>
            <a:endParaRPr kumimoji="0" lang="en-US" altLang="zh-CN" sz="18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1800" b="1" dirty="0" smtClean="0">
                <a:solidFill>
                  <a:srgbClr val="000000"/>
                </a:solidFill>
                <a:latin typeface="Times New Roman" panose="02020603050405020304" pitchFamily="18" charset="0"/>
                <a:ea typeface="华文楷体" panose="02010600040101010101" pitchFamily="2" charset="-122"/>
              </a:rPr>
              <a:t>void </a:t>
            </a:r>
            <a:r>
              <a:rPr kumimoji="0" lang="en-US" altLang="zh-CN" sz="1800" b="1" dirty="0" err="1">
                <a:solidFill>
                  <a:srgbClr val="000000"/>
                </a:solidFill>
                <a:latin typeface="Times New Roman" panose="02020603050405020304" pitchFamily="18" charset="0"/>
                <a:ea typeface="华文楷体" panose="02010600040101010101" pitchFamily="2" charset="-122"/>
              </a:rPr>
              <a:t>SavingsAccount</a:t>
            </a:r>
            <a:r>
              <a:rPr kumimoji="0" lang="en-US" altLang="zh-CN" sz="1800" b="1" dirty="0">
                <a:solidFill>
                  <a:srgbClr val="000000"/>
                </a:solidFill>
                <a:latin typeface="Times New Roman" panose="02020603050405020304" pitchFamily="18" charset="0"/>
                <a:ea typeface="华文楷体" panose="02010600040101010101" pitchFamily="2" charset="-122"/>
              </a:rPr>
              <a:t>::deposit(</a:t>
            </a:r>
            <a:r>
              <a:rPr kumimoji="0" lang="en-US" altLang="zh-CN" sz="1800" b="1" dirty="0" err="1">
                <a:solidFill>
                  <a:srgbClr val="000000"/>
                </a:solidFill>
                <a:latin typeface="Times New Roman" panose="02020603050405020304" pitchFamily="18" charset="0"/>
                <a:ea typeface="华文楷体" panose="02010600040101010101" pitchFamily="2" charset="-122"/>
              </a:rPr>
              <a:t>const</a:t>
            </a:r>
            <a:r>
              <a:rPr kumimoji="0" lang="en-US" altLang="zh-CN" sz="1800" b="1" dirty="0">
                <a:solidFill>
                  <a:srgbClr val="000000"/>
                </a:solidFill>
                <a:latin typeface="Times New Roman" panose="02020603050405020304" pitchFamily="18" charset="0"/>
                <a:ea typeface="华文楷体" panose="02010600040101010101" pitchFamily="2" charset="-122"/>
              </a:rPr>
              <a:t> Date &amp;date, double amount, </a:t>
            </a:r>
            <a:r>
              <a:rPr kumimoji="0" lang="en-US" altLang="zh-CN" sz="1800" b="1" dirty="0" err="1">
                <a:solidFill>
                  <a:srgbClr val="000000"/>
                </a:solidFill>
                <a:latin typeface="Times New Roman" panose="02020603050405020304" pitchFamily="18" charset="0"/>
                <a:ea typeface="华文楷体" panose="02010600040101010101" pitchFamily="2" charset="-122"/>
              </a:rPr>
              <a:t>const</a:t>
            </a:r>
            <a:r>
              <a:rPr kumimoji="0" lang="en-US" altLang="zh-CN" sz="1800" b="1" dirty="0">
                <a:solidFill>
                  <a:srgbClr val="000000"/>
                </a:solidFill>
                <a:latin typeface="Times New Roman" panose="02020603050405020304" pitchFamily="18" charset="0"/>
                <a:ea typeface="华文楷体" panose="02010600040101010101" pitchFamily="2" charset="-122"/>
              </a:rPr>
              <a:t> string &amp;</a:t>
            </a:r>
            <a:r>
              <a:rPr kumimoji="0" lang="en-US" altLang="zh-CN" sz="1800" b="1" dirty="0" err="1">
                <a:solidFill>
                  <a:srgbClr val="000000"/>
                </a:solidFill>
                <a:latin typeface="Times New Roman" panose="02020603050405020304" pitchFamily="18" charset="0"/>
                <a:ea typeface="华文楷体" panose="02010600040101010101" pitchFamily="2" charset="-122"/>
              </a:rPr>
              <a:t>desc</a:t>
            </a:r>
            <a:r>
              <a:rPr kumimoji="0" lang="en-US" altLang="zh-CN" sz="1800" b="1" dirty="0">
                <a:solidFill>
                  <a:srgbClr val="000000"/>
                </a:solidFill>
                <a:latin typeface="Times New Roman" panose="02020603050405020304" pitchFamily="18" charset="0"/>
                <a:ea typeface="华文楷体" panose="02010600040101010101" pitchFamily="2" charset="-122"/>
              </a:rPr>
              <a:t>) {</a:t>
            </a:r>
            <a:endParaRPr kumimoji="0" lang="en-US" altLang="zh-CN" sz="18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1800" b="1" dirty="0">
                <a:solidFill>
                  <a:srgbClr val="000000"/>
                </a:solidFill>
                <a:latin typeface="Times New Roman" panose="02020603050405020304" pitchFamily="18" charset="0"/>
                <a:ea typeface="华文楷体" panose="02010600040101010101" pitchFamily="2" charset="-122"/>
              </a:rPr>
              <a:t>	record(date, amount, </a:t>
            </a:r>
            <a:r>
              <a:rPr kumimoji="0" lang="en-US" altLang="zh-CN" sz="1800" b="1" dirty="0" err="1">
                <a:solidFill>
                  <a:srgbClr val="000000"/>
                </a:solidFill>
                <a:latin typeface="Times New Roman" panose="02020603050405020304" pitchFamily="18" charset="0"/>
                <a:ea typeface="华文楷体" panose="02010600040101010101" pitchFamily="2" charset="-122"/>
              </a:rPr>
              <a:t>desc</a:t>
            </a:r>
            <a:r>
              <a:rPr kumimoji="0" lang="en-US" altLang="zh-CN" sz="1800" b="1" dirty="0">
                <a:solidFill>
                  <a:srgbClr val="000000"/>
                </a:solidFill>
                <a:latin typeface="Times New Roman" panose="02020603050405020304" pitchFamily="18" charset="0"/>
                <a:ea typeface="华文楷体" panose="02010600040101010101" pitchFamily="2" charset="-122"/>
              </a:rPr>
              <a:t>);</a:t>
            </a:r>
            <a:endParaRPr kumimoji="0" lang="en-US" altLang="zh-CN" sz="18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1800" b="1" dirty="0">
                <a:solidFill>
                  <a:srgbClr val="000000"/>
                </a:solidFill>
                <a:latin typeface="Times New Roman" panose="02020603050405020304" pitchFamily="18" charset="0"/>
                <a:ea typeface="华文楷体" panose="02010600040101010101" pitchFamily="2" charset="-122"/>
              </a:rPr>
              <a:t>	</a:t>
            </a:r>
            <a:r>
              <a:rPr kumimoji="0" lang="en-US" altLang="zh-CN" sz="1800" b="1" dirty="0" err="1">
                <a:solidFill>
                  <a:srgbClr val="000000"/>
                </a:solidFill>
                <a:latin typeface="Times New Roman" panose="02020603050405020304" pitchFamily="18" charset="0"/>
                <a:ea typeface="华文楷体" panose="02010600040101010101" pitchFamily="2" charset="-122"/>
              </a:rPr>
              <a:t>acc.change</a:t>
            </a:r>
            <a:r>
              <a:rPr kumimoji="0" lang="en-US" altLang="zh-CN" sz="1800" b="1" dirty="0">
                <a:solidFill>
                  <a:srgbClr val="000000"/>
                </a:solidFill>
                <a:latin typeface="Times New Roman" panose="02020603050405020304" pitchFamily="18" charset="0"/>
                <a:ea typeface="华文楷体" panose="02010600040101010101" pitchFamily="2" charset="-122"/>
              </a:rPr>
              <a:t>(date, </a:t>
            </a:r>
            <a:r>
              <a:rPr kumimoji="0" lang="en-US" altLang="zh-CN" sz="1800" b="1" dirty="0" err="1">
                <a:solidFill>
                  <a:srgbClr val="000000"/>
                </a:solidFill>
                <a:latin typeface="Times New Roman" panose="02020603050405020304" pitchFamily="18" charset="0"/>
                <a:ea typeface="华文楷体" panose="02010600040101010101" pitchFamily="2" charset="-122"/>
              </a:rPr>
              <a:t>getBalance</a:t>
            </a:r>
            <a:r>
              <a:rPr kumimoji="0" lang="en-US" altLang="zh-CN" sz="1800" b="1" dirty="0">
                <a:solidFill>
                  <a:srgbClr val="000000"/>
                </a:solidFill>
                <a:latin typeface="Times New Roman" panose="02020603050405020304" pitchFamily="18" charset="0"/>
                <a:ea typeface="华文楷体" panose="02010600040101010101" pitchFamily="2" charset="-122"/>
              </a:rPr>
              <a:t>());</a:t>
            </a:r>
            <a:endParaRPr kumimoji="0" lang="en-US" altLang="zh-CN" sz="18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1800" b="1" dirty="0">
                <a:solidFill>
                  <a:srgbClr val="000000"/>
                </a:solidFill>
                <a:latin typeface="Times New Roman" panose="02020603050405020304" pitchFamily="18" charset="0"/>
                <a:ea typeface="华文楷体" panose="02010600040101010101" pitchFamily="2" charset="-122"/>
              </a:rPr>
              <a:t>}</a:t>
            </a:r>
            <a:endParaRPr kumimoji="0" lang="en-US" altLang="zh-CN" sz="18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1800" b="1" dirty="0">
                <a:solidFill>
                  <a:srgbClr val="000000"/>
                </a:solidFill>
                <a:latin typeface="Times New Roman" panose="02020603050405020304" pitchFamily="18" charset="0"/>
                <a:ea typeface="华文楷体" panose="02010600040101010101" pitchFamily="2" charset="-122"/>
              </a:rPr>
              <a:t>void </a:t>
            </a:r>
            <a:r>
              <a:rPr kumimoji="0" lang="en-US" altLang="zh-CN" sz="1800" b="1" dirty="0" err="1">
                <a:solidFill>
                  <a:srgbClr val="000000"/>
                </a:solidFill>
                <a:latin typeface="Times New Roman" panose="02020603050405020304" pitchFamily="18" charset="0"/>
                <a:ea typeface="华文楷体" panose="02010600040101010101" pitchFamily="2" charset="-122"/>
              </a:rPr>
              <a:t>SavingsAccount</a:t>
            </a:r>
            <a:r>
              <a:rPr kumimoji="0" lang="en-US" altLang="zh-CN" sz="1800" b="1" dirty="0">
                <a:solidFill>
                  <a:srgbClr val="000000"/>
                </a:solidFill>
                <a:latin typeface="Times New Roman" panose="02020603050405020304" pitchFamily="18" charset="0"/>
                <a:ea typeface="华文楷体" panose="02010600040101010101" pitchFamily="2" charset="-122"/>
              </a:rPr>
              <a:t>::withdraw(</a:t>
            </a:r>
            <a:r>
              <a:rPr kumimoji="0" lang="en-US" altLang="zh-CN" sz="1800" b="1" dirty="0" err="1">
                <a:solidFill>
                  <a:srgbClr val="000000"/>
                </a:solidFill>
                <a:latin typeface="Times New Roman" panose="02020603050405020304" pitchFamily="18" charset="0"/>
                <a:ea typeface="华文楷体" panose="02010600040101010101" pitchFamily="2" charset="-122"/>
              </a:rPr>
              <a:t>const</a:t>
            </a:r>
            <a:r>
              <a:rPr kumimoji="0" lang="en-US" altLang="zh-CN" sz="1800" b="1" dirty="0">
                <a:solidFill>
                  <a:srgbClr val="000000"/>
                </a:solidFill>
                <a:latin typeface="Times New Roman" panose="02020603050405020304" pitchFamily="18" charset="0"/>
                <a:ea typeface="华文楷体" panose="02010600040101010101" pitchFamily="2" charset="-122"/>
              </a:rPr>
              <a:t> Date &amp;date, double amount, </a:t>
            </a:r>
            <a:r>
              <a:rPr kumimoji="0" lang="en-US" altLang="zh-CN" sz="1800" b="1" dirty="0" err="1">
                <a:solidFill>
                  <a:srgbClr val="000000"/>
                </a:solidFill>
                <a:latin typeface="Times New Roman" panose="02020603050405020304" pitchFamily="18" charset="0"/>
                <a:ea typeface="华文楷体" panose="02010600040101010101" pitchFamily="2" charset="-122"/>
              </a:rPr>
              <a:t>const</a:t>
            </a:r>
            <a:r>
              <a:rPr kumimoji="0" lang="en-US" altLang="zh-CN" sz="1800" b="1" dirty="0">
                <a:solidFill>
                  <a:srgbClr val="000000"/>
                </a:solidFill>
                <a:latin typeface="Times New Roman" panose="02020603050405020304" pitchFamily="18" charset="0"/>
                <a:ea typeface="华文楷体" panose="02010600040101010101" pitchFamily="2" charset="-122"/>
              </a:rPr>
              <a:t> string &amp;</a:t>
            </a:r>
            <a:r>
              <a:rPr kumimoji="0" lang="en-US" altLang="zh-CN" sz="1800" b="1" dirty="0" err="1">
                <a:solidFill>
                  <a:srgbClr val="000000"/>
                </a:solidFill>
                <a:latin typeface="Times New Roman" panose="02020603050405020304" pitchFamily="18" charset="0"/>
                <a:ea typeface="华文楷体" panose="02010600040101010101" pitchFamily="2" charset="-122"/>
              </a:rPr>
              <a:t>desc</a:t>
            </a:r>
            <a:r>
              <a:rPr kumimoji="0" lang="en-US" altLang="zh-CN" sz="1800" b="1" dirty="0">
                <a:solidFill>
                  <a:srgbClr val="000000"/>
                </a:solidFill>
                <a:latin typeface="Times New Roman" panose="02020603050405020304" pitchFamily="18" charset="0"/>
                <a:ea typeface="华文楷体" panose="02010600040101010101" pitchFamily="2" charset="-122"/>
              </a:rPr>
              <a:t>) {</a:t>
            </a:r>
            <a:endParaRPr kumimoji="0" lang="en-US" altLang="zh-CN" sz="18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1800" b="1" dirty="0">
                <a:solidFill>
                  <a:srgbClr val="000000"/>
                </a:solidFill>
                <a:latin typeface="Times New Roman" panose="02020603050405020304" pitchFamily="18" charset="0"/>
                <a:ea typeface="华文楷体" panose="02010600040101010101" pitchFamily="2" charset="-122"/>
              </a:rPr>
              <a:t>	if (amount &gt; </a:t>
            </a:r>
            <a:r>
              <a:rPr kumimoji="0" lang="en-US" altLang="zh-CN" sz="1800" b="1" dirty="0" err="1">
                <a:solidFill>
                  <a:srgbClr val="000000"/>
                </a:solidFill>
                <a:latin typeface="Times New Roman" panose="02020603050405020304" pitchFamily="18" charset="0"/>
                <a:ea typeface="华文楷体" panose="02010600040101010101" pitchFamily="2" charset="-122"/>
              </a:rPr>
              <a:t>getBalance</a:t>
            </a:r>
            <a:r>
              <a:rPr kumimoji="0" lang="en-US" altLang="zh-CN" sz="1800" b="1" dirty="0">
                <a:solidFill>
                  <a:srgbClr val="000000"/>
                </a:solidFill>
                <a:latin typeface="Times New Roman" panose="02020603050405020304" pitchFamily="18" charset="0"/>
                <a:ea typeface="华文楷体" panose="02010600040101010101" pitchFamily="2" charset="-122"/>
              </a:rPr>
              <a:t>()) {</a:t>
            </a:r>
            <a:endParaRPr kumimoji="0" lang="en-US" altLang="zh-CN" sz="18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1800" b="1" dirty="0">
                <a:solidFill>
                  <a:srgbClr val="000000"/>
                </a:solidFill>
                <a:latin typeface="Times New Roman" panose="02020603050405020304" pitchFamily="18" charset="0"/>
                <a:ea typeface="华文楷体" panose="02010600040101010101" pitchFamily="2" charset="-122"/>
              </a:rPr>
              <a:t>		error("not enough money");</a:t>
            </a:r>
            <a:endParaRPr kumimoji="0" lang="en-US" altLang="zh-CN" sz="18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1800" b="1" dirty="0">
                <a:solidFill>
                  <a:srgbClr val="000000"/>
                </a:solidFill>
                <a:latin typeface="Times New Roman" panose="02020603050405020304" pitchFamily="18" charset="0"/>
                <a:ea typeface="华文楷体" panose="02010600040101010101" pitchFamily="2" charset="-122"/>
              </a:rPr>
              <a:t>	} else {</a:t>
            </a:r>
            <a:endParaRPr kumimoji="0" lang="en-US" altLang="zh-CN" sz="18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1800" b="1" dirty="0">
                <a:solidFill>
                  <a:srgbClr val="000000"/>
                </a:solidFill>
                <a:latin typeface="Times New Roman" panose="02020603050405020304" pitchFamily="18" charset="0"/>
                <a:ea typeface="华文楷体" panose="02010600040101010101" pitchFamily="2" charset="-122"/>
              </a:rPr>
              <a:t>		record(date, -amount, </a:t>
            </a:r>
            <a:r>
              <a:rPr kumimoji="0" lang="en-US" altLang="zh-CN" sz="1800" b="1" dirty="0" err="1">
                <a:solidFill>
                  <a:srgbClr val="000000"/>
                </a:solidFill>
                <a:latin typeface="Times New Roman" panose="02020603050405020304" pitchFamily="18" charset="0"/>
                <a:ea typeface="华文楷体" panose="02010600040101010101" pitchFamily="2" charset="-122"/>
              </a:rPr>
              <a:t>desc</a:t>
            </a:r>
            <a:r>
              <a:rPr kumimoji="0" lang="en-US" altLang="zh-CN" sz="1800" b="1" dirty="0">
                <a:solidFill>
                  <a:srgbClr val="000000"/>
                </a:solidFill>
                <a:latin typeface="Times New Roman" panose="02020603050405020304" pitchFamily="18" charset="0"/>
                <a:ea typeface="华文楷体" panose="02010600040101010101" pitchFamily="2" charset="-122"/>
              </a:rPr>
              <a:t>);</a:t>
            </a:r>
            <a:endParaRPr kumimoji="0" lang="en-US" altLang="zh-CN" sz="18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1800" b="1" dirty="0">
                <a:solidFill>
                  <a:srgbClr val="000000"/>
                </a:solidFill>
                <a:latin typeface="Times New Roman" panose="02020603050405020304" pitchFamily="18" charset="0"/>
                <a:ea typeface="华文楷体" panose="02010600040101010101" pitchFamily="2" charset="-122"/>
              </a:rPr>
              <a:t>		</a:t>
            </a:r>
            <a:r>
              <a:rPr kumimoji="0" lang="en-US" altLang="zh-CN" sz="1800" b="1" dirty="0" err="1">
                <a:solidFill>
                  <a:srgbClr val="000000"/>
                </a:solidFill>
                <a:latin typeface="Times New Roman" panose="02020603050405020304" pitchFamily="18" charset="0"/>
                <a:ea typeface="华文楷体" panose="02010600040101010101" pitchFamily="2" charset="-122"/>
              </a:rPr>
              <a:t>acc.change</a:t>
            </a:r>
            <a:r>
              <a:rPr kumimoji="0" lang="en-US" altLang="zh-CN" sz="1800" b="1" dirty="0">
                <a:solidFill>
                  <a:srgbClr val="000000"/>
                </a:solidFill>
                <a:latin typeface="Times New Roman" panose="02020603050405020304" pitchFamily="18" charset="0"/>
                <a:ea typeface="华文楷体" panose="02010600040101010101" pitchFamily="2" charset="-122"/>
              </a:rPr>
              <a:t>(date, </a:t>
            </a:r>
            <a:r>
              <a:rPr kumimoji="0" lang="en-US" altLang="zh-CN" sz="1800" b="1" dirty="0" err="1">
                <a:solidFill>
                  <a:srgbClr val="000000"/>
                </a:solidFill>
                <a:latin typeface="Times New Roman" panose="02020603050405020304" pitchFamily="18" charset="0"/>
                <a:ea typeface="华文楷体" panose="02010600040101010101" pitchFamily="2" charset="-122"/>
              </a:rPr>
              <a:t>getBalance</a:t>
            </a:r>
            <a:r>
              <a:rPr kumimoji="0" lang="en-US" altLang="zh-CN" sz="1800" b="1" dirty="0">
                <a:solidFill>
                  <a:srgbClr val="000000"/>
                </a:solidFill>
                <a:latin typeface="Times New Roman" panose="02020603050405020304" pitchFamily="18" charset="0"/>
                <a:ea typeface="华文楷体" panose="02010600040101010101" pitchFamily="2" charset="-122"/>
              </a:rPr>
              <a:t>());</a:t>
            </a:r>
            <a:endParaRPr kumimoji="0" lang="en-US" altLang="zh-CN" sz="18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1800" b="1" dirty="0">
                <a:solidFill>
                  <a:srgbClr val="000000"/>
                </a:solidFill>
                <a:latin typeface="Times New Roman" panose="02020603050405020304" pitchFamily="18" charset="0"/>
                <a:ea typeface="华文楷体" panose="02010600040101010101" pitchFamily="2" charset="-122"/>
              </a:rPr>
              <a:t>	}</a:t>
            </a:r>
            <a:endParaRPr kumimoji="0" lang="en-US" altLang="zh-CN" sz="18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1800" b="1" dirty="0">
                <a:solidFill>
                  <a:srgbClr val="000000"/>
                </a:solidFill>
                <a:latin typeface="Times New Roman" panose="02020603050405020304" pitchFamily="18" charset="0"/>
                <a:ea typeface="华文楷体" panose="02010600040101010101" pitchFamily="2" charset="-122"/>
              </a:rPr>
              <a:t>}</a:t>
            </a:r>
            <a:endParaRPr kumimoji="0" lang="en-US" altLang="zh-CN" sz="18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1800" b="1" dirty="0">
                <a:solidFill>
                  <a:srgbClr val="000000"/>
                </a:solidFill>
                <a:latin typeface="Times New Roman" panose="02020603050405020304" pitchFamily="18" charset="0"/>
                <a:ea typeface="华文楷体" panose="02010600040101010101" pitchFamily="2" charset="-122"/>
              </a:rPr>
              <a:t>void </a:t>
            </a:r>
            <a:r>
              <a:rPr kumimoji="0" lang="en-US" altLang="zh-CN" sz="1800" b="1" dirty="0" err="1">
                <a:solidFill>
                  <a:srgbClr val="000000"/>
                </a:solidFill>
                <a:latin typeface="Times New Roman" panose="02020603050405020304" pitchFamily="18" charset="0"/>
                <a:ea typeface="华文楷体" panose="02010600040101010101" pitchFamily="2" charset="-122"/>
              </a:rPr>
              <a:t>SavingsAccount</a:t>
            </a:r>
            <a:r>
              <a:rPr kumimoji="0" lang="en-US" altLang="zh-CN" sz="1800" b="1" dirty="0">
                <a:solidFill>
                  <a:srgbClr val="000000"/>
                </a:solidFill>
                <a:latin typeface="Times New Roman" panose="02020603050405020304" pitchFamily="18" charset="0"/>
                <a:ea typeface="华文楷体" panose="02010600040101010101" pitchFamily="2" charset="-122"/>
              </a:rPr>
              <a:t>::settle(</a:t>
            </a:r>
            <a:r>
              <a:rPr kumimoji="0" lang="en-US" altLang="zh-CN" sz="1800" b="1" dirty="0" err="1">
                <a:solidFill>
                  <a:srgbClr val="000000"/>
                </a:solidFill>
                <a:latin typeface="Times New Roman" panose="02020603050405020304" pitchFamily="18" charset="0"/>
                <a:ea typeface="华文楷体" panose="02010600040101010101" pitchFamily="2" charset="-122"/>
              </a:rPr>
              <a:t>const</a:t>
            </a:r>
            <a:r>
              <a:rPr kumimoji="0" lang="en-US" altLang="zh-CN" sz="1800" b="1" dirty="0">
                <a:solidFill>
                  <a:srgbClr val="000000"/>
                </a:solidFill>
                <a:latin typeface="Times New Roman" panose="02020603050405020304" pitchFamily="18" charset="0"/>
                <a:ea typeface="华文楷体" panose="02010600040101010101" pitchFamily="2" charset="-122"/>
              </a:rPr>
              <a:t> Date &amp;date) {</a:t>
            </a:r>
            <a:endParaRPr kumimoji="0" lang="en-US" altLang="zh-CN" sz="18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1800" b="1" dirty="0">
                <a:solidFill>
                  <a:srgbClr val="000000"/>
                </a:solidFill>
                <a:latin typeface="Times New Roman" panose="02020603050405020304" pitchFamily="18" charset="0"/>
                <a:ea typeface="华文楷体" panose="02010600040101010101" pitchFamily="2" charset="-122"/>
              </a:rPr>
              <a:t>	double interest = </a:t>
            </a:r>
            <a:r>
              <a:rPr kumimoji="0" lang="en-US" altLang="zh-CN" sz="1800" b="1" dirty="0" err="1">
                <a:solidFill>
                  <a:srgbClr val="000000"/>
                </a:solidFill>
                <a:latin typeface="Times New Roman" panose="02020603050405020304" pitchFamily="18" charset="0"/>
                <a:ea typeface="华文楷体" panose="02010600040101010101" pitchFamily="2" charset="-122"/>
              </a:rPr>
              <a:t>acc.getSum</a:t>
            </a:r>
            <a:r>
              <a:rPr kumimoji="0" lang="en-US" altLang="zh-CN" sz="1800" b="1" dirty="0">
                <a:solidFill>
                  <a:srgbClr val="000000"/>
                </a:solidFill>
                <a:latin typeface="Times New Roman" panose="02020603050405020304" pitchFamily="18" charset="0"/>
                <a:ea typeface="华文楷体" panose="02010600040101010101" pitchFamily="2" charset="-122"/>
              </a:rPr>
              <a:t>(date) * rate	//</a:t>
            </a:r>
            <a:r>
              <a:rPr kumimoji="0" lang="zh-CN" altLang="en-US" sz="1800" b="1" dirty="0">
                <a:solidFill>
                  <a:srgbClr val="000000"/>
                </a:solidFill>
                <a:latin typeface="Times New Roman" panose="02020603050405020304" pitchFamily="18" charset="0"/>
                <a:ea typeface="华文楷体" panose="02010600040101010101" pitchFamily="2" charset="-122"/>
              </a:rPr>
              <a:t>计算年息</a:t>
            </a:r>
            <a:endParaRPr kumimoji="0" lang="zh-CN" altLang="en-US" sz="18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1800" b="1" dirty="0">
                <a:solidFill>
                  <a:srgbClr val="000000"/>
                </a:solidFill>
                <a:latin typeface="Times New Roman" panose="02020603050405020304" pitchFamily="18" charset="0"/>
                <a:ea typeface="华文楷体" panose="02010600040101010101" pitchFamily="2" charset="-122"/>
              </a:rPr>
              <a:t>		</a:t>
            </a:r>
            <a:r>
              <a:rPr kumimoji="0" lang="en-US" altLang="zh-CN" sz="1800" b="1" dirty="0">
                <a:solidFill>
                  <a:srgbClr val="000000"/>
                </a:solidFill>
                <a:latin typeface="Times New Roman" panose="02020603050405020304" pitchFamily="18" charset="0"/>
                <a:ea typeface="华文楷体" panose="02010600040101010101" pitchFamily="2" charset="-122"/>
              </a:rPr>
              <a:t>/ </a:t>
            </a:r>
            <a:r>
              <a:rPr kumimoji="0" lang="en-US" altLang="zh-CN" sz="1800" b="1" dirty="0" err="1">
                <a:solidFill>
                  <a:srgbClr val="000000"/>
                </a:solidFill>
                <a:latin typeface="Times New Roman" panose="02020603050405020304" pitchFamily="18" charset="0"/>
                <a:ea typeface="华文楷体" panose="02010600040101010101" pitchFamily="2" charset="-122"/>
              </a:rPr>
              <a:t>date.distance</a:t>
            </a:r>
            <a:r>
              <a:rPr kumimoji="0" lang="en-US" altLang="zh-CN" sz="1800" b="1" dirty="0">
                <a:solidFill>
                  <a:srgbClr val="000000"/>
                </a:solidFill>
                <a:latin typeface="Times New Roman" panose="02020603050405020304" pitchFamily="18" charset="0"/>
                <a:ea typeface="华文楷体" panose="02010600040101010101" pitchFamily="2" charset="-122"/>
              </a:rPr>
              <a:t>(Date(</a:t>
            </a:r>
            <a:r>
              <a:rPr kumimoji="0" lang="en-US" altLang="zh-CN" sz="1800" b="1" dirty="0" err="1">
                <a:solidFill>
                  <a:srgbClr val="000000"/>
                </a:solidFill>
                <a:latin typeface="Times New Roman" panose="02020603050405020304" pitchFamily="18" charset="0"/>
                <a:ea typeface="华文楷体" panose="02010600040101010101" pitchFamily="2" charset="-122"/>
              </a:rPr>
              <a:t>date.getYear</a:t>
            </a:r>
            <a:r>
              <a:rPr kumimoji="0" lang="en-US" altLang="zh-CN" sz="1800" b="1" dirty="0">
                <a:solidFill>
                  <a:srgbClr val="000000"/>
                </a:solidFill>
                <a:latin typeface="Times New Roman" panose="02020603050405020304" pitchFamily="18" charset="0"/>
                <a:ea typeface="华文楷体" panose="02010600040101010101" pitchFamily="2" charset="-122"/>
              </a:rPr>
              <a:t>() - 1, 1, 1));</a:t>
            </a:r>
            <a:endParaRPr kumimoji="0" lang="en-US" altLang="zh-CN" sz="18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1800" b="1" dirty="0">
                <a:solidFill>
                  <a:srgbClr val="000000"/>
                </a:solidFill>
                <a:latin typeface="Times New Roman" panose="02020603050405020304" pitchFamily="18" charset="0"/>
                <a:ea typeface="华文楷体" panose="02010600040101010101" pitchFamily="2" charset="-122"/>
              </a:rPr>
              <a:t>	if (interest != 0) record(date, interest, "interest");</a:t>
            </a:r>
            <a:endParaRPr kumimoji="0" lang="en-US" altLang="zh-CN" sz="18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1800" b="1" dirty="0">
                <a:solidFill>
                  <a:srgbClr val="000000"/>
                </a:solidFill>
                <a:latin typeface="Times New Roman" panose="02020603050405020304" pitchFamily="18" charset="0"/>
                <a:ea typeface="华文楷体" panose="02010600040101010101" pitchFamily="2" charset="-122"/>
              </a:rPr>
              <a:t>	</a:t>
            </a:r>
            <a:r>
              <a:rPr kumimoji="0" lang="en-US" altLang="zh-CN" sz="1800" b="1" dirty="0" err="1">
                <a:solidFill>
                  <a:srgbClr val="000000"/>
                </a:solidFill>
                <a:latin typeface="Times New Roman" panose="02020603050405020304" pitchFamily="18" charset="0"/>
                <a:ea typeface="华文楷体" panose="02010600040101010101" pitchFamily="2" charset="-122"/>
              </a:rPr>
              <a:t>acc.reset</a:t>
            </a:r>
            <a:r>
              <a:rPr kumimoji="0" lang="en-US" altLang="zh-CN" sz="1800" b="1" dirty="0">
                <a:solidFill>
                  <a:srgbClr val="000000"/>
                </a:solidFill>
                <a:latin typeface="Times New Roman" panose="02020603050405020304" pitchFamily="18" charset="0"/>
                <a:ea typeface="华文楷体" panose="02010600040101010101" pitchFamily="2" charset="-122"/>
              </a:rPr>
              <a:t>(date, </a:t>
            </a:r>
            <a:r>
              <a:rPr kumimoji="0" lang="en-US" altLang="zh-CN" sz="1800" b="1" dirty="0" err="1">
                <a:solidFill>
                  <a:srgbClr val="000000"/>
                </a:solidFill>
                <a:latin typeface="Times New Roman" panose="02020603050405020304" pitchFamily="18" charset="0"/>
                <a:ea typeface="华文楷体" panose="02010600040101010101" pitchFamily="2" charset="-122"/>
              </a:rPr>
              <a:t>getBalance</a:t>
            </a:r>
            <a:r>
              <a:rPr kumimoji="0" lang="en-US" altLang="zh-CN" sz="1800" b="1" dirty="0">
                <a:solidFill>
                  <a:srgbClr val="000000"/>
                </a:solidFill>
                <a:latin typeface="Times New Roman" panose="02020603050405020304" pitchFamily="18" charset="0"/>
                <a:ea typeface="华文楷体" panose="02010600040101010101" pitchFamily="2" charset="-122"/>
              </a:rPr>
              <a:t>());</a:t>
            </a:r>
            <a:endParaRPr kumimoji="0" lang="en-US" altLang="zh-CN" sz="18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1800" b="1" dirty="0" smtClean="0">
                <a:solidFill>
                  <a:srgbClr val="000000"/>
                </a:solidFill>
                <a:latin typeface="Times New Roman" panose="02020603050405020304" pitchFamily="18" charset="0"/>
                <a:ea typeface="华文楷体" panose="02010600040101010101" pitchFamily="2" charset="-122"/>
              </a:rPr>
              <a:t>}</a:t>
            </a:r>
            <a:endParaRPr kumimoji="0" lang="en-US" altLang="zh-CN" sz="1800" b="1" dirty="0">
              <a:solidFill>
                <a:srgbClr val="000000"/>
              </a:solidFill>
              <a:latin typeface="Times New Roman" panose="02020603050405020304" pitchFamily="18" charset="0"/>
              <a:ea typeface="华文楷体" panose="02010600040101010101" pitchFamily="2" charset="-122"/>
            </a:endParaRPr>
          </a:p>
        </p:txBody>
      </p:sp>
      <p:sp>
        <p:nvSpPr>
          <p:cNvPr id="96261" name="标题 1"/>
          <p:cNvSpPr>
            <a:spLocks noGrp="1"/>
          </p:cNvSpPr>
          <p:nvPr>
            <p:ph type="title"/>
          </p:nvPr>
        </p:nvSpPr>
        <p:spPr>
          <a:xfrm>
            <a:off x="6143625" y="6072188"/>
            <a:ext cx="3000375" cy="500062"/>
          </a:xfrm>
          <a:solidFill>
            <a:schemeClr val="bg1"/>
          </a:solidFill>
        </p:spPr>
        <p:txBody>
          <a:bodyPr/>
          <a:lstStyle/>
          <a:p>
            <a:r>
              <a:rPr lang="zh-CN" altLang="en-US" sz="3600" smtClean="0"/>
              <a:t>例</a:t>
            </a:r>
            <a:r>
              <a:rPr lang="en-US" altLang="zh-CN" sz="3600" smtClean="0"/>
              <a:t>7-10</a:t>
            </a:r>
            <a:r>
              <a:rPr lang="zh-CN" altLang="en-US" sz="3600" smtClean="0"/>
              <a:t>（续）</a:t>
            </a:r>
            <a:endParaRPr lang="zh-CN" altLang="en-US" sz="3600" smtClean="0"/>
          </a:p>
        </p:txBody>
      </p:sp>
    </p:spTree>
  </p:cSld>
  <p:clrMapOvr>
    <a:masterClrMapping/>
  </p:clrMapOvr>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7282" name="内容占位符 2"/>
          <p:cNvSpPr>
            <a:spLocks noGrp="1"/>
          </p:cNvSpPr>
          <p:nvPr>
            <p:ph idx="1"/>
          </p:nvPr>
        </p:nvSpPr>
        <p:spPr>
          <a:xfrm>
            <a:off x="457200" y="500063"/>
            <a:ext cx="8229600" cy="5632311"/>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//CreditAccount</a:t>
            </a:r>
            <a:r>
              <a:rPr kumimoji="0" lang="zh-CN" altLang="en-US" sz="2000" b="1">
                <a:solidFill>
                  <a:srgbClr val="000000"/>
                </a:solidFill>
                <a:latin typeface="Times New Roman" panose="02020603050405020304" pitchFamily="18" charset="0"/>
                <a:ea typeface="华文楷体" panose="02010600040101010101" pitchFamily="2" charset="-122"/>
              </a:rPr>
              <a:t>类相关成员函数的实现</a:t>
            </a:r>
            <a:endParaRPr kumimoji="0" lang="zh-CN" altLang="en-US"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CreditAccount::CreditAccount(const Date&amp; date, const string&amp; id, double credit, double rate, double fee)</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 Account(date, id), credit(credit), rate(rate), fee(fee), acc(date, 0) {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void CreditAccount::deposit(const Date &amp;date, double amount, const string &amp;desc)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record(date, amount, desc);</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acc.change(date, getDebt());</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void CreditAccount::withdraw(const Date &amp;date, double amount, const string &amp;desc)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if (amount - getBalance() &gt; credit)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error("not enough credit");</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 else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record(date, -amount, desc);</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acc.change(date, getDebt());</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a:t>
            </a:r>
            <a:endParaRPr kumimoji="0" lang="en-US" altLang="zh-CN" sz="2000" b="1">
              <a:solidFill>
                <a:srgbClr val="000000"/>
              </a:solidFill>
              <a:latin typeface="Times New Roman" panose="02020603050405020304" pitchFamily="18" charset="0"/>
              <a:ea typeface="华文楷体" panose="02010600040101010101" pitchFamily="2" charset="-122"/>
            </a:endParaRPr>
          </a:p>
        </p:txBody>
      </p:sp>
      <p:sp>
        <p:nvSpPr>
          <p:cNvPr id="97285" name="标题 1"/>
          <p:cNvSpPr>
            <a:spLocks noGrp="1"/>
          </p:cNvSpPr>
          <p:nvPr>
            <p:ph type="title"/>
          </p:nvPr>
        </p:nvSpPr>
        <p:spPr>
          <a:xfrm>
            <a:off x="5643563" y="5500688"/>
            <a:ext cx="3214687" cy="1066800"/>
          </a:xfrm>
          <a:solidFill>
            <a:schemeClr val="bg1"/>
          </a:solidFill>
        </p:spPr>
        <p:txBody>
          <a:bodyPr/>
          <a:lstStyle/>
          <a:p>
            <a:r>
              <a:rPr lang="zh-CN" altLang="en-US" smtClean="0"/>
              <a:t>例</a:t>
            </a:r>
            <a:r>
              <a:rPr lang="en-US" altLang="zh-CN" smtClean="0"/>
              <a:t>7-10</a:t>
            </a:r>
            <a:r>
              <a:rPr lang="zh-CN" altLang="en-US" smtClean="0"/>
              <a:t>（续）</a:t>
            </a:r>
            <a:endParaRPr lang="zh-CN" altLang="en-US" smtClean="0"/>
          </a:p>
        </p:txBody>
      </p:sp>
    </p:spTree>
  </p:cSld>
  <p:clrMapOvr>
    <a:masterClrMapping/>
  </p:clrMapOvr>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8306" name="内容占位符 2"/>
          <p:cNvSpPr>
            <a:spLocks noGrp="1"/>
          </p:cNvSpPr>
          <p:nvPr>
            <p:ph idx="1"/>
          </p:nvPr>
        </p:nvSpPr>
        <p:spPr>
          <a:xfrm>
            <a:off x="467544" y="764704"/>
            <a:ext cx="8229600" cy="3785652"/>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void </a:t>
            </a:r>
            <a:r>
              <a:rPr kumimoji="0" lang="en-US" altLang="zh-CN" sz="2000" b="1" dirty="0" err="1">
                <a:solidFill>
                  <a:srgbClr val="000000"/>
                </a:solidFill>
                <a:latin typeface="Times New Roman" panose="02020603050405020304" pitchFamily="18" charset="0"/>
                <a:ea typeface="华文楷体" panose="02010600040101010101" pitchFamily="2" charset="-122"/>
              </a:rPr>
              <a:t>CreditAccount</a:t>
            </a:r>
            <a:r>
              <a:rPr kumimoji="0" lang="en-US" altLang="zh-CN" sz="2000" b="1" dirty="0">
                <a:solidFill>
                  <a:srgbClr val="000000"/>
                </a:solidFill>
                <a:latin typeface="Times New Roman" panose="02020603050405020304" pitchFamily="18" charset="0"/>
                <a:ea typeface="华文楷体" panose="02010600040101010101" pitchFamily="2" charset="-122"/>
              </a:rPr>
              <a:t>::settle(</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Date &amp;date)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double interest = </a:t>
            </a:r>
            <a:r>
              <a:rPr kumimoji="0" lang="en-US" altLang="zh-CN" sz="2000" b="1" dirty="0" err="1">
                <a:solidFill>
                  <a:srgbClr val="000000"/>
                </a:solidFill>
                <a:latin typeface="Times New Roman" panose="02020603050405020304" pitchFamily="18" charset="0"/>
                <a:ea typeface="华文楷体" panose="02010600040101010101" pitchFamily="2" charset="-122"/>
              </a:rPr>
              <a:t>acc.getSum</a:t>
            </a:r>
            <a:r>
              <a:rPr kumimoji="0" lang="en-US" altLang="zh-CN" sz="2000" b="1" dirty="0">
                <a:solidFill>
                  <a:srgbClr val="000000"/>
                </a:solidFill>
                <a:latin typeface="Times New Roman" panose="02020603050405020304" pitchFamily="18" charset="0"/>
                <a:ea typeface="华文楷体" panose="02010600040101010101" pitchFamily="2" charset="-122"/>
              </a:rPr>
              <a:t>(date) * rate;</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if (interest != 0) record(date, interest, "interest");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if (</a:t>
            </a:r>
            <a:r>
              <a:rPr kumimoji="0" lang="en-US" altLang="zh-CN" sz="2000" b="1" dirty="0" err="1">
                <a:solidFill>
                  <a:srgbClr val="000000"/>
                </a:solidFill>
                <a:latin typeface="Times New Roman" panose="02020603050405020304" pitchFamily="18" charset="0"/>
                <a:ea typeface="华文楷体" panose="02010600040101010101" pitchFamily="2" charset="-122"/>
              </a:rPr>
              <a:t>date.getMonth</a:t>
            </a:r>
            <a:r>
              <a:rPr kumimoji="0" lang="en-US" altLang="zh-CN" sz="2000" b="1" dirty="0">
                <a:solidFill>
                  <a:srgbClr val="000000"/>
                </a:solidFill>
                <a:latin typeface="Times New Roman" panose="02020603050405020304" pitchFamily="18" charset="0"/>
                <a:ea typeface="华文楷体" panose="02010600040101010101" pitchFamily="2" charset="-122"/>
              </a:rPr>
              <a:t>() == 1)</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record(date, -fee, "annual fee");</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acc.reset</a:t>
            </a:r>
            <a:r>
              <a:rPr kumimoji="0" lang="en-US" altLang="zh-CN" sz="2000" b="1" dirty="0">
                <a:solidFill>
                  <a:srgbClr val="000000"/>
                </a:solidFill>
                <a:latin typeface="Times New Roman" panose="02020603050405020304" pitchFamily="18" charset="0"/>
                <a:ea typeface="华文楷体" panose="02010600040101010101" pitchFamily="2" charset="-122"/>
              </a:rPr>
              <a:t>(date, </a:t>
            </a:r>
            <a:r>
              <a:rPr kumimoji="0" lang="en-US" altLang="zh-CN" sz="2000" b="1" dirty="0" err="1">
                <a:solidFill>
                  <a:srgbClr val="000000"/>
                </a:solidFill>
                <a:latin typeface="Times New Roman" panose="02020603050405020304" pitchFamily="18" charset="0"/>
                <a:ea typeface="华文楷体" panose="02010600040101010101" pitchFamily="2" charset="-122"/>
              </a:rPr>
              <a:t>getDebt</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void </a:t>
            </a:r>
            <a:r>
              <a:rPr kumimoji="0" lang="en-US" altLang="zh-CN" sz="2000" b="1" dirty="0" err="1">
                <a:solidFill>
                  <a:srgbClr val="000000"/>
                </a:solidFill>
                <a:latin typeface="Times New Roman" panose="02020603050405020304" pitchFamily="18" charset="0"/>
                <a:ea typeface="华文楷体" panose="02010600040101010101" pitchFamily="2" charset="-122"/>
              </a:rPr>
              <a:t>CreditAccount</a:t>
            </a:r>
            <a:r>
              <a:rPr kumimoji="0" lang="en-US" altLang="zh-CN" sz="2000" b="1" dirty="0">
                <a:solidFill>
                  <a:srgbClr val="000000"/>
                </a:solidFill>
                <a:latin typeface="Times New Roman" panose="02020603050405020304" pitchFamily="18" charset="0"/>
                <a:ea typeface="华文楷体" panose="02010600040101010101" pitchFamily="2" charset="-122"/>
              </a:rPr>
              <a:t>::show() </a:t>
            </a:r>
            <a:r>
              <a:rPr kumimoji="0" lang="en-US" altLang="zh-CN" sz="2000" b="1" dirty="0" err="1">
                <a:solidFill>
                  <a:srgbClr val="000000"/>
                </a:solidFill>
                <a:latin typeface="Times New Roman" panose="02020603050405020304" pitchFamily="18" charset="0"/>
                <a:ea typeface="华文楷体" panose="02010600040101010101" pitchFamily="2" charset="-122"/>
              </a:rPr>
              <a:t>const</a:t>
            </a: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Account::show();</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cout</a:t>
            </a:r>
            <a:r>
              <a:rPr kumimoji="0" lang="en-US" altLang="zh-CN" sz="2000" b="1" dirty="0">
                <a:solidFill>
                  <a:srgbClr val="000000"/>
                </a:solidFill>
                <a:latin typeface="Times New Roman" panose="02020603050405020304" pitchFamily="18" charset="0"/>
                <a:ea typeface="华文楷体" panose="02010600040101010101" pitchFamily="2" charset="-122"/>
              </a:rPr>
              <a:t> &lt;&lt; "\</a:t>
            </a:r>
            <a:r>
              <a:rPr kumimoji="0" lang="en-US" altLang="zh-CN" sz="2000" b="1" dirty="0" err="1">
                <a:solidFill>
                  <a:srgbClr val="000000"/>
                </a:solidFill>
                <a:latin typeface="Times New Roman" panose="02020603050405020304" pitchFamily="18" charset="0"/>
                <a:ea typeface="华文楷体" panose="02010600040101010101" pitchFamily="2" charset="-122"/>
              </a:rPr>
              <a:t>tAvailable</a:t>
            </a:r>
            <a:r>
              <a:rPr kumimoji="0" lang="en-US" altLang="zh-CN" sz="2000" b="1" dirty="0">
                <a:solidFill>
                  <a:srgbClr val="000000"/>
                </a:solidFill>
                <a:latin typeface="Times New Roman" panose="02020603050405020304" pitchFamily="18" charset="0"/>
                <a:ea typeface="华文楷体" panose="02010600040101010101" pitchFamily="2" charset="-122"/>
              </a:rPr>
              <a:t> credit:" &lt;&lt; </a:t>
            </a:r>
            <a:r>
              <a:rPr kumimoji="0" lang="en-US" altLang="zh-CN" sz="2000" b="1" dirty="0" err="1">
                <a:solidFill>
                  <a:srgbClr val="000000"/>
                </a:solidFill>
                <a:latin typeface="Times New Roman" panose="02020603050405020304" pitchFamily="18" charset="0"/>
                <a:ea typeface="华文楷体" panose="02010600040101010101" pitchFamily="2" charset="-122"/>
              </a:rPr>
              <a:t>getAvailableCredit</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98309" name="标题 1"/>
          <p:cNvSpPr>
            <a:spLocks noGrp="1"/>
          </p:cNvSpPr>
          <p:nvPr>
            <p:ph type="title"/>
          </p:nvPr>
        </p:nvSpPr>
        <p:spPr>
          <a:xfrm>
            <a:off x="5643563" y="5500688"/>
            <a:ext cx="3214687" cy="1066800"/>
          </a:xfrm>
          <a:solidFill>
            <a:schemeClr val="bg1"/>
          </a:solidFill>
        </p:spPr>
        <p:txBody>
          <a:bodyPr/>
          <a:lstStyle/>
          <a:p>
            <a:r>
              <a:rPr lang="zh-CN" altLang="en-US" smtClean="0"/>
              <a:t>例</a:t>
            </a:r>
            <a:r>
              <a:rPr lang="en-US" altLang="zh-CN" smtClean="0"/>
              <a:t>7-10</a:t>
            </a:r>
            <a:r>
              <a:rPr lang="zh-CN" altLang="en-US" smtClean="0"/>
              <a:t>（续）</a:t>
            </a:r>
            <a:endParaRPr lang="zh-CN" altLang="en-US" smtClean="0"/>
          </a:p>
        </p:txBody>
      </p:sp>
    </p:spTree>
  </p:cSld>
  <p:clrMapOvr>
    <a:masterClrMapping/>
  </p:clrMapOvr>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9330" name="内容占位符 2"/>
          <p:cNvSpPr>
            <a:spLocks noGrp="1"/>
          </p:cNvSpPr>
          <p:nvPr>
            <p:ph idx="1"/>
          </p:nvPr>
        </p:nvSpPr>
        <p:spPr>
          <a:xfrm>
            <a:off x="142875" y="500063"/>
            <a:ext cx="8858250" cy="5940088"/>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//7_10.cpp</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a:t>
            </a:r>
            <a:r>
              <a:rPr kumimoji="0" lang="en-US" altLang="zh-CN" sz="2000" b="1" dirty="0" err="1">
                <a:solidFill>
                  <a:srgbClr val="000000"/>
                </a:solidFill>
                <a:latin typeface="Times New Roman" panose="02020603050405020304" pitchFamily="18" charset="0"/>
                <a:ea typeface="华文楷体" panose="02010600040101010101" pitchFamily="2" charset="-122"/>
              </a:rPr>
              <a:t>account.h</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#include &lt;</a:t>
            </a:r>
            <a:r>
              <a:rPr kumimoji="0" lang="en-US" altLang="zh-CN" sz="2000" b="1" dirty="0" err="1">
                <a:solidFill>
                  <a:srgbClr val="000000"/>
                </a:solidFill>
                <a:latin typeface="Times New Roman" panose="02020603050405020304" pitchFamily="18" charset="0"/>
                <a:ea typeface="华文楷体" panose="02010600040101010101" pitchFamily="2" charset="-122"/>
              </a:rPr>
              <a:t>iostream</a:t>
            </a:r>
            <a:r>
              <a:rPr kumimoji="0" lang="en-US" altLang="zh-CN" sz="2000" b="1" dirty="0">
                <a:solidFill>
                  <a:srgbClr val="000000"/>
                </a:solidFill>
                <a:latin typeface="Times New Roman" panose="02020603050405020304" pitchFamily="18" charset="0"/>
                <a:ea typeface="华文楷体" panose="02010600040101010101" pitchFamily="2" charset="-122"/>
              </a:rPr>
              <a:t>&gt;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using namespace </a:t>
            </a:r>
            <a:r>
              <a:rPr kumimoji="0" lang="en-US" altLang="zh-CN" sz="2000" b="1" dirty="0" err="1">
                <a:solidFill>
                  <a:srgbClr val="000000"/>
                </a:solidFill>
                <a:latin typeface="Times New Roman" panose="02020603050405020304" pitchFamily="18" charset="0"/>
                <a:ea typeface="华文楷体" panose="02010600040101010101" pitchFamily="2" charset="-122"/>
              </a:rPr>
              <a:t>std</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err="1" smtClean="0">
                <a:solidFill>
                  <a:srgbClr val="000000"/>
                </a:solidFill>
                <a:latin typeface="Times New Roman" panose="02020603050405020304" pitchFamily="18" charset="0"/>
                <a:ea typeface="华文楷体" panose="02010600040101010101" pitchFamily="2" charset="-122"/>
              </a:rPr>
              <a:t>int</a:t>
            </a:r>
            <a:r>
              <a:rPr kumimoji="0" lang="en-US" altLang="zh-CN" sz="2000" b="1" dirty="0" smtClean="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main()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Date date(2008, 11, 1);	//</a:t>
            </a:r>
            <a:r>
              <a:rPr kumimoji="0" lang="zh-CN" altLang="en-US" sz="2000" b="1" dirty="0">
                <a:solidFill>
                  <a:srgbClr val="000000"/>
                </a:solidFill>
                <a:latin typeface="Times New Roman" panose="02020603050405020304" pitchFamily="18" charset="0"/>
                <a:ea typeface="华文楷体" panose="02010600040101010101" pitchFamily="2" charset="-122"/>
              </a:rPr>
              <a:t>起始日期</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a:t>
            </a:r>
            <a:r>
              <a:rPr kumimoji="0" lang="zh-CN" altLang="en-US" sz="2000" b="1" dirty="0">
                <a:solidFill>
                  <a:srgbClr val="000000"/>
                </a:solidFill>
                <a:latin typeface="Times New Roman" panose="02020603050405020304" pitchFamily="18" charset="0"/>
                <a:ea typeface="华文楷体" panose="02010600040101010101" pitchFamily="2" charset="-122"/>
              </a:rPr>
              <a:t>建立几个账户</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SavingsAccount</a:t>
            </a:r>
            <a:r>
              <a:rPr kumimoji="0" lang="en-US" altLang="zh-CN" sz="2000" b="1" dirty="0">
                <a:solidFill>
                  <a:srgbClr val="000000"/>
                </a:solidFill>
                <a:latin typeface="Times New Roman" panose="02020603050405020304" pitchFamily="18" charset="0"/>
                <a:ea typeface="华文楷体" panose="02010600040101010101" pitchFamily="2" charset="-122"/>
              </a:rPr>
              <a:t> sa1(date, "S3755217", 0.015);</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SavingsAccount</a:t>
            </a:r>
            <a:r>
              <a:rPr kumimoji="0" lang="en-US" altLang="zh-CN" sz="2000" b="1" dirty="0">
                <a:solidFill>
                  <a:srgbClr val="000000"/>
                </a:solidFill>
                <a:latin typeface="Times New Roman" panose="02020603050405020304" pitchFamily="18" charset="0"/>
                <a:ea typeface="华文楷体" panose="02010600040101010101" pitchFamily="2" charset="-122"/>
              </a:rPr>
              <a:t> sa2(date, "02342342", 0.015);</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CreditAccount</a:t>
            </a:r>
            <a:r>
              <a:rPr kumimoji="0" lang="en-US" altLang="zh-CN" sz="2000" b="1" dirty="0">
                <a:solidFill>
                  <a:srgbClr val="000000"/>
                </a:solidFill>
                <a:latin typeface="Times New Roman" panose="02020603050405020304" pitchFamily="18" charset="0"/>
                <a:ea typeface="华文楷体" panose="02010600040101010101" pitchFamily="2" charset="-122"/>
              </a:rPr>
              <a:t> ca(date, "C5392394", 10000, 0.0005, 50);</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//11</a:t>
            </a:r>
            <a:r>
              <a:rPr kumimoji="0" lang="zh-CN" altLang="en-US" sz="2000" b="1" dirty="0">
                <a:solidFill>
                  <a:srgbClr val="000000"/>
                </a:solidFill>
                <a:latin typeface="Times New Roman" panose="02020603050405020304" pitchFamily="18" charset="0"/>
                <a:ea typeface="华文楷体" panose="02010600040101010101" pitchFamily="2" charset="-122"/>
              </a:rPr>
              <a:t>月份的几笔账目</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sa1.deposit(Date(2008, 11, 5), 5000, "salary");</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ca.withdraw</a:t>
            </a:r>
            <a:r>
              <a:rPr kumimoji="0" lang="en-US" altLang="zh-CN" sz="2000" b="1" dirty="0">
                <a:solidFill>
                  <a:srgbClr val="000000"/>
                </a:solidFill>
                <a:latin typeface="Times New Roman" panose="02020603050405020304" pitchFamily="18" charset="0"/>
                <a:ea typeface="华文楷体" panose="02010600040101010101" pitchFamily="2" charset="-122"/>
              </a:rPr>
              <a:t>(Date(2008, 11, 15), 2000, "buy a cell");</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sa2.deposit(Date(2008, 11, 25), 10000, "sell stock 0323");</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ca.settle</a:t>
            </a:r>
            <a:r>
              <a:rPr kumimoji="0" lang="en-US" altLang="zh-CN" sz="2000" b="1" dirty="0">
                <a:solidFill>
                  <a:srgbClr val="000000"/>
                </a:solidFill>
                <a:latin typeface="Times New Roman" panose="02020603050405020304" pitchFamily="18" charset="0"/>
                <a:ea typeface="华文楷体" panose="02010600040101010101" pitchFamily="2" charset="-122"/>
              </a:rPr>
              <a:t>(Date(2008, 12, 1)); //</a:t>
            </a:r>
            <a:r>
              <a:rPr kumimoji="0" lang="zh-CN" altLang="en-US" sz="2000" b="1" dirty="0">
                <a:solidFill>
                  <a:srgbClr val="000000"/>
                </a:solidFill>
                <a:latin typeface="Times New Roman" panose="02020603050405020304" pitchFamily="18" charset="0"/>
                <a:ea typeface="华文楷体" panose="02010600040101010101" pitchFamily="2" charset="-122"/>
              </a:rPr>
              <a:t>结算信用卡</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//12</a:t>
            </a:r>
            <a:r>
              <a:rPr kumimoji="0" lang="zh-CN" altLang="en-US" sz="2000" b="1" dirty="0">
                <a:solidFill>
                  <a:srgbClr val="000000"/>
                </a:solidFill>
                <a:latin typeface="Times New Roman" panose="02020603050405020304" pitchFamily="18" charset="0"/>
                <a:ea typeface="华文楷体" panose="02010600040101010101" pitchFamily="2" charset="-122"/>
              </a:rPr>
              <a:t>月份的几笔账目</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err="1">
                <a:solidFill>
                  <a:srgbClr val="000000"/>
                </a:solidFill>
                <a:latin typeface="Times New Roman" panose="02020603050405020304" pitchFamily="18" charset="0"/>
                <a:ea typeface="华文楷体" panose="02010600040101010101" pitchFamily="2" charset="-122"/>
              </a:rPr>
              <a:t>ca.deposit</a:t>
            </a:r>
            <a:r>
              <a:rPr kumimoji="0" lang="en-US" altLang="zh-CN" sz="2000" b="1" dirty="0">
                <a:solidFill>
                  <a:srgbClr val="000000"/>
                </a:solidFill>
                <a:latin typeface="Times New Roman" panose="02020603050405020304" pitchFamily="18" charset="0"/>
                <a:ea typeface="华文楷体" panose="02010600040101010101" pitchFamily="2" charset="-122"/>
              </a:rPr>
              <a:t>(Date(2008, 12, 1), 2016, "repay the credit");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sa1.deposit(Date(2008, 12, 5), 5500, "salary");</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99333" name="标题 1"/>
          <p:cNvSpPr>
            <a:spLocks noGrp="1"/>
          </p:cNvSpPr>
          <p:nvPr>
            <p:ph type="title"/>
          </p:nvPr>
        </p:nvSpPr>
        <p:spPr>
          <a:xfrm>
            <a:off x="5929313" y="260648"/>
            <a:ext cx="3214687" cy="1066800"/>
          </a:xfrm>
          <a:solidFill>
            <a:schemeClr val="bg1"/>
          </a:solidFill>
        </p:spPr>
        <p:txBody>
          <a:bodyPr/>
          <a:lstStyle/>
          <a:p>
            <a:r>
              <a:rPr lang="zh-CN" altLang="en-US" dirty="0" smtClean="0"/>
              <a:t>例</a:t>
            </a:r>
            <a:r>
              <a:rPr lang="en-US" altLang="zh-CN" dirty="0" smtClean="0"/>
              <a:t>7-10</a:t>
            </a:r>
            <a:r>
              <a:rPr lang="zh-CN" altLang="en-US" dirty="0" smtClean="0"/>
              <a:t>（续）</a:t>
            </a:r>
            <a:endParaRPr lang="zh-CN" altLang="en-US" dirty="0" smtClean="0"/>
          </a:p>
        </p:txBody>
      </p:sp>
    </p:spTree>
  </p:cSld>
  <p:clrMapOvr>
    <a:masterClrMapping/>
  </p:clrMapOvr>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0354" name="内容占位符 2"/>
          <p:cNvSpPr>
            <a:spLocks noGrp="1"/>
          </p:cNvSpPr>
          <p:nvPr>
            <p:ph idx="1"/>
          </p:nvPr>
        </p:nvSpPr>
        <p:spPr>
          <a:xfrm>
            <a:off x="142875" y="500063"/>
            <a:ext cx="8858250" cy="4093428"/>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a:t>
            </a:r>
            <a:r>
              <a:rPr kumimoji="0" lang="zh-CN" altLang="en-US" sz="2000" b="1">
                <a:solidFill>
                  <a:srgbClr val="000000"/>
                </a:solidFill>
                <a:latin typeface="Times New Roman" panose="02020603050405020304" pitchFamily="18" charset="0"/>
                <a:ea typeface="华文楷体" panose="02010600040101010101" pitchFamily="2" charset="-122"/>
              </a:rPr>
              <a:t>结算所有账户</a:t>
            </a:r>
            <a:endParaRPr kumimoji="0" lang="zh-CN" altLang="en-US"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a:solidFill>
                  <a:srgbClr val="000000"/>
                </a:solidFill>
                <a:latin typeface="Times New Roman" panose="02020603050405020304" pitchFamily="18" charset="0"/>
                <a:ea typeface="华文楷体" panose="02010600040101010101" pitchFamily="2" charset="-122"/>
              </a:rPr>
              <a:t>	</a:t>
            </a:r>
            <a:r>
              <a:rPr kumimoji="0" lang="en-US" altLang="zh-CN" sz="2000" b="1">
                <a:solidFill>
                  <a:srgbClr val="000000"/>
                </a:solidFill>
                <a:latin typeface="Times New Roman" panose="02020603050405020304" pitchFamily="18" charset="0"/>
                <a:ea typeface="华文楷体" panose="02010600040101010101" pitchFamily="2" charset="-122"/>
              </a:rPr>
              <a:t>sa1.settle(Date(2009, 1, 1));</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sa2.settle(Date(2009, 1, 1));</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ca.settle(Date(2009, 1, 1));</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a:t>
            </a:r>
            <a:r>
              <a:rPr kumimoji="0" lang="zh-CN" altLang="en-US" sz="2000" b="1">
                <a:solidFill>
                  <a:srgbClr val="000000"/>
                </a:solidFill>
                <a:latin typeface="Times New Roman" panose="02020603050405020304" pitchFamily="18" charset="0"/>
                <a:ea typeface="华文楷体" panose="02010600040101010101" pitchFamily="2" charset="-122"/>
              </a:rPr>
              <a:t>输出各个账户信息</a:t>
            </a:r>
            <a:endParaRPr kumimoji="0" lang="zh-CN" altLang="en-US"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a:solidFill>
                  <a:srgbClr val="000000"/>
                </a:solidFill>
                <a:latin typeface="Times New Roman" panose="02020603050405020304" pitchFamily="18" charset="0"/>
                <a:ea typeface="华文楷体" panose="02010600040101010101" pitchFamily="2" charset="-122"/>
              </a:rPr>
              <a:t>	</a:t>
            </a:r>
            <a:r>
              <a:rPr kumimoji="0" lang="en-US" altLang="zh-CN" sz="2000" b="1">
                <a:solidFill>
                  <a:srgbClr val="000000"/>
                </a:solidFill>
                <a:latin typeface="Times New Roman" panose="02020603050405020304" pitchFamily="18" charset="0"/>
                <a:ea typeface="华文楷体" panose="02010600040101010101" pitchFamily="2" charset="-122"/>
              </a:rPr>
              <a:t>cout &lt;&lt; endl;</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sa1.show(); cout &lt;&lt; endl;</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sa2.show(); cout &lt;&lt; endl;</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ca.show(); cout &lt;&lt; endl;</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cout &lt;&lt; "Total: " &lt;&lt; Account::getTotal() &lt;&lt; endl;</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return 0;</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a:solidFill>
                <a:srgbClr val="000000"/>
              </a:solidFill>
              <a:latin typeface="Times New Roman" panose="02020603050405020304" pitchFamily="18" charset="0"/>
              <a:ea typeface="华文楷体" panose="02010600040101010101" pitchFamily="2" charset="-122"/>
            </a:endParaRPr>
          </a:p>
        </p:txBody>
      </p:sp>
      <p:sp>
        <p:nvSpPr>
          <p:cNvPr id="100357" name="标题 1"/>
          <p:cNvSpPr>
            <a:spLocks noGrp="1"/>
          </p:cNvSpPr>
          <p:nvPr>
            <p:ph type="title"/>
          </p:nvPr>
        </p:nvSpPr>
        <p:spPr>
          <a:xfrm>
            <a:off x="5643563" y="5500688"/>
            <a:ext cx="3214687" cy="1066800"/>
          </a:xfrm>
          <a:solidFill>
            <a:schemeClr val="bg1"/>
          </a:solidFill>
        </p:spPr>
        <p:txBody>
          <a:bodyPr/>
          <a:lstStyle/>
          <a:p>
            <a:r>
              <a:rPr lang="zh-CN" altLang="en-US" smtClean="0"/>
              <a:t>例</a:t>
            </a:r>
            <a:r>
              <a:rPr lang="en-US" altLang="zh-CN" smtClean="0"/>
              <a:t>7-10</a:t>
            </a:r>
            <a:r>
              <a:rPr lang="zh-CN" altLang="en-US" smtClean="0"/>
              <a:t>（续）</a:t>
            </a:r>
            <a:endParaRPr lang="zh-CN" altLang="en-US" smtClean="0"/>
          </a:p>
        </p:txBody>
      </p:sp>
    </p:spTree>
  </p:cSld>
  <p:clrMapOvr>
    <a:masterClrMapping/>
  </p:clrMapOvr>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1378"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r>
              <a:rPr lang="zh-CN" altLang="en-US" b="1" dirty="0">
                <a:latin typeface="Times New Roman" panose="02020603050405020304" pitchFamily="18" charset="0"/>
                <a:ea typeface="隶书" panose="02010509060101010101" pitchFamily="49" charset="-122"/>
              </a:rPr>
              <a:t>例</a:t>
            </a:r>
            <a:r>
              <a:rPr lang="en-US" altLang="zh-CN" b="1" dirty="0">
                <a:latin typeface="Times New Roman" panose="02020603050405020304" pitchFamily="18" charset="0"/>
                <a:ea typeface="隶书" panose="02010509060101010101" pitchFamily="49" charset="-122"/>
              </a:rPr>
              <a:t>7-10</a:t>
            </a:r>
            <a:r>
              <a:rPr lang="zh-CN" altLang="en-US" b="1" dirty="0">
                <a:latin typeface="Times New Roman" panose="02020603050405020304" pitchFamily="18" charset="0"/>
                <a:ea typeface="隶书" panose="02010509060101010101" pitchFamily="49" charset="-122"/>
              </a:rPr>
              <a:t>（续）</a:t>
            </a:r>
            <a:r>
              <a:rPr lang="en-US" altLang="zh-CN" b="1" dirty="0">
                <a:latin typeface="Times New Roman" panose="02020603050405020304" pitchFamily="18" charset="0"/>
                <a:ea typeface="隶书" panose="02010509060101010101" pitchFamily="49" charset="-122"/>
              </a:rPr>
              <a:t>——</a:t>
            </a:r>
            <a:r>
              <a:rPr lang="zh-CN" altLang="en-US" b="1" dirty="0">
                <a:latin typeface="Times New Roman" panose="02020603050405020304" pitchFamily="18" charset="0"/>
                <a:ea typeface="隶书" panose="02010509060101010101" pitchFamily="49" charset="-122"/>
              </a:rPr>
              <a:t>结果</a:t>
            </a:r>
            <a:endParaRPr lang="zh-CN" altLang="en-US" b="1" dirty="0">
              <a:latin typeface="Times New Roman" panose="02020603050405020304" pitchFamily="18" charset="0"/>
              <a:ea typeface="隶书" panose="02010509060101010101" pitchFamily="49" charset="-122"/>
            </a:endParaRPr>
          </a:p>
        </p:txBody>
      </p:sp>
      <p:sp>
        <p:nvSpPr>
          <p:cNvPr id="3" name="内容占位符 2"/>
          <p:cNvSpPr>
            <a:spLocks noGrp="1"/>
          </p:cNvSpPr>
          <p:nvPr>
            <p:ph idx="1"/>
          </p:nvPr>
        </p:nvSpPr>
        <p:spPr>
          <a:xfrm>
            <a:off x="971600" y="1124744"/>
            <a:ext cx="6877397" cy="5324535"/>
          </a:xfrm>
          <a:solidFill>
            <a:srgbClr val="000000"/>
          </a:solidFill>
          <a:ln>
            <a:noFill/>
          </a:ln>
        </p:spPr>
        <p:txBody>
          <a:bodyPr wrap="square">
            <a:spAutoFit/>
          </a:bodyPr>
          <a:lstStyle/>
          <a:p>
            <a:pPr marL="0" indent="0">
              <a:spcBef>
                <a:spcPct val="0"/>
              </a:spcBef>
              <a:buNone/>
            </a:pPr>
            <a:r>
              <a:rPr lang="en-US" altLang="zh-CN" sz="2000" b="1" dirty="0">
                <a:latin typeface="Times New Roman" panose="02020603050405020304" pitchFamily="18" charset="0"/>
                <a:ea typeface="隶书" panose="02010509060101010101" pitchFamily="49" charset="-122"/>
              </a:rPr>
              <a:t>2008-11-1       #S3755217 created</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2008-11-1       #02342342 created</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2008-11-1       #C5392394 created</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2008-11-5       #S3755217       5000    5000    salary</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2008-11-15      #C5392394       -2000   -2000   buy a cell</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2008-11-25      #02342342       10000   10000   sell stock 0323</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2008-12-1       #C5392394       -16     -2016   interest</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2008-12-1       #C5392394       2016    0       repay the credit</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2008-12-5       #S3755217       5500    10500   salary</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2009-1-1        #S3755217       17.77   10517.8 interest</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2009-1-1        #02342342       15.16   10015.2 interest</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2009-1-1        #C5392394       -50     -50     annual fee</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 </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S3755217        Balance: 10517.8</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02342342        Balance: 10015.2</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C5392394        Balance: -50    Available credit:9950</a:t>
            </a:r>
            <a:endParaRPr lang="en-US" altLang="zh-CN" sz="2000" b="1" dirty="0">
              <a:latin typeface="Times New Roman" panose="02020603050405020304" pitchFamily="18" charset="0"/>
              <a:ea typeface="隶书" panose="02010509060101010101" pitchFamily="49" charset="-122"/>
            </a:endParaRPr>
          </a:p>
          <a:p>
            <a:pPr marL="0" indent="0">
              <a:spcBef>
                <a:spcPct val="0"/>
              </a:spcBef>
              <a:buNone/>
            </a:pPr>
            <a:r>
              <a:rPr lang="en-US" altLang="zh-CN" sz="2000" b="1" dirty="0">
                <a:latin typeface="Times New Roman" panose="02020603050405020304" pitchFamily="18" charset="0"/>
                <a:ea typeface="隶书" panose="02010509060101010101" pitchFamily="49" charset="-122"/>
              </a:rPr>
              <a:t>Total: 20482.9</a:t>
            </a:r>
            <a:endParaRPr lang="en-US" altLang="zh-CN" sz="2000" b="1" dirty="0">
              <a:latin typeface="Times New Roman" panose="02020603050405020304" pitchFamily="18" charset="0"/>
              <a:ea typeface="隶书" panose="02010509060101010101" pitchFamily="49" charset="-122"/>
            </a:endParaRPr>
          </a:p>
        </p:txBody>
      </p:sp>
    </p:spTree>
  </p:cSld>
  <p:clrMapOvr>
    <a:masterClrMapping/>
  </p:clrMapOvr>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bwMode="auto">
          <a:xfrm>
            <a:off x="251520" y="2057400"/>
            <a:ext cx="8712968" cy="1143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1143000" indent="-1143000" algn="ctr">
              <a:buFont typeface="+mj-lt"/>
              <a:buAutoNum type="arabicPeriod" startAt="8"/>
            </a:pPr>
            <a:r>
              <a:rPr lang="zh-CN" altLang="en-US" sz="6000" b="1" dirty="0" smtClean="0">
                <a:ea typeface="华文彩云" panose="02010800040101010101" pitchFamily="2" charset="-122"/>
              </a:rPr>
              <a:t>深度探索</a:t>
            </a:r>
            <a:endParaRPr lang="zh-CN" altLang="en-US" sz="6000" dirty="0"/>
          </a:p>
        </p:txBody>
      </p:sp>
      <p:grpSp>
        <p:nvGrpSpPr>
          <p:cNvPr id="642052" name="Group 4"/>
          <p:cNvGrpSpPr/>
          <p:nvPr/>
        </p:nvGrpSpPr>
        <p:grpSpPr bwMode="auto">
          <a:xfrm>
            <a:off x="5181600" y="4800600"/>
            <a:ext cx="2438400" cy="1219200"/>
            <a:chOff x="2358" y="2934"/>
            <a:chExt cx="450" cy="283"/>
          </a:xfrm>
        </p:grpSpPr>
        <p:grpSp>
          <p:nvGrpSpPr>
            <p:cNvPr id="642053" name="Group 5"/>
            <p:cNvGrpSpPr/>
            <p:nvPr/>
          </p:nvGrpSpPr>
          <p:grpSpPr bwMode="auto">
            <a:xfrm>
              <a:off x="2401" y="2996"/>
              <a:ext cx="407" cy="221"/>
              <a:chOff x="2401" y="2996"/>
              <a:chExt cx="407" cy="221"/>
            </a:xfrm>
          </p:grpSpPr>
          <p:grpSp>
            <p:nvGrpSpPr>
              <p:cNvPr id="642054" name="Group 6"/>
              <p:cNvGrpSpPr/>
              <p:nvPr/>
            </p:nvGrpSpPr>
            <p:grpSpPr bwMode="auto">
              <a:xfrm>
                <a:off x="2733" y="3096"/>
                <a:ext cx="75" cy="121"/>
                <a:chOff x="2733" y="3096"/>
                <a:chExt cx="75" cy="121"/>
              </a:xfrm>
            </p:grpSpPr>
            <p:sp>
              <p:nvSpPr>
                <p:cNvPr id="642055" name="Freeform 7"/>
                <p:cNvSpPr/>
                <p:nvPr/>
              </p:nvSpPr>
              <p:spPr bwMode="auto">
                <a:xfrm>
                  <a:off x="2733" y="3096"/>
                  <a:ext cx="75" cy="121"/>
                </a:xfrm>
                <a:custGeom>
                  <a:avLst/>
                  <a:gdLst>
                    <a:gd name="T0" fmla="*/ 531 w 531"/>
                    <a:gd name="T1" fmla="*/ 54 h 967"/>
                    <a:gd name="T2" fmla="*/ 531 w 531"/>
                    <a:gd name="T3" fmla="*/ 967 h 967"/>
                    <a:gd name="T4" fmla="*/ 154 w 531"/>
                    <a:gd name="T5" fmla="*/ 967 h 967"/>
                    <a:gd name="T6" fmla="*/ 0 w 531"/>
                    <a:gd name="T7" fmla="*/ 330 h 967"/>
                    <a:gd name="T8" fmla="*/ 120 w 531"/>
                    <a:gd name="T9" fmla="*/ 0 h 967"/>
                    <a:gd name="T10" fmla="*/ 531 w 531"/>
                    <a:gd name="T11" fmla="*/ 54 h 967"/>
                  </a:gdLst>
                  <a:ahLst/>
                  <a:cxnLst>
                    <a:cxn ang="0">
                      <a:pos x="T0" y="T1"/>
                    </a:cxn>
                    <a:cxn ang="0">
                      <a:pos x="T2" y="T3"/>
                    </a:cxn>
                    <a:cxn ang="0">
                      <a:pos x="T4" y="T5"/>
                    </a:cxn>
                    <a:cxn ang="0">
                      <a:pos x="T6" y="T7"/>
                    </a:cxn>
                    <a:cxn ang="0">
                      <a:pos x="T8" y="T9"/>
                    </a:cxn>
                    <a:cxn ang="0">
                      <a:pos x="T10" y="T11"/>
                    </a:cxn>
                  </a:cxnLst>
                  <a:rect l="0" t="0" r="r" b="b"/>
                  <a:pathLst>
                    <a:path w="531" h="967">
                      <a:moveTo>
                        <a:pt x="531" y="54"/>
                      </a:moveTo>
                      <a:lnTo>
                        <a:pt x="531" y="967"/>
                      </a:lnTo>
                      <a:lnTo>
                        <a:pt x="154" y="967"/>
                      </a:lnTo>
                      <a:lnTo>
                        <a:pt x="0" y="330"/>
                      </a:lnTo>
                      <a:lnTo>
                        <a:pt x="120" y="0"/>
                      </a:lnTo>
                      <a:lnTo>
                        <a:pt x="531" y="54"/>
                      </a:lnTo>
                      <a:close/>
                    </a:path>
                  </a:pathLst>
                </a:custGeom>
                <a:solidFill>
                  <a:srgbClr val="A04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6" name="Freeform 8"/>
                <p:cNvSpPr/>
                <p:nvPr/>
              </p:nvSpPr>
              <p:spPr bwMode="auto">
                <a:xfrm>
                  <a:off x="2739" y="3106"/>
                  <a:ext cx="36" cy="111"/>
                </a:xfrm>
                <a:custGeom>
                  <a:avLst/>
                  <a:gdLst>
                    <a:gd name="T0" fmla="*/ 55 w 253"/>
                    <a:gd name="T1" fmla="*/ 142 h 889"/>
                    <a:gd name="T2" fmla="*/ 121 w 253"/>
                    <a:gd name="T3" fmla="*/ 209 h 889"/>
                    <a:gd name="T4" fmla="*/ 146 w 253"/>
                    <a:gd name="T5" fmla="*/ 232 h 889"/>
                    <a:gd name="T6" fmla="*/ 181 w 253"/>
                    <a:gd name="T7" fmla="*/ 0 h 889"/>
                    <a:gd name="T8" fmla="*/ 175 w 253"/>
                    <a:gd name="T9" fmla="*/ 256 h 889"/>
                    <a:gd name="T10" fmla="*/ 242 w 253"/>
                    <a:gd name="T11" fmla="*/ 360 h 889"/>
                    <a:gd name="T12" fmla="*/ 235 w 253"/>
                    <a:gd name="T13" fmla="*/ 683 h 889"/>
                    <a:gd name="T14" fmla="*/ 253 w 253"/>
                    <a:gd name="T15" fmla="*/ 889 h 889"/>
                    <a:gd name="T16" fmla="*/ 36 w 253"/>
                    <a:gd name="T17" fmla="*/ 889 h 889"/>
                    <a:gd name="T18" fmla="*/ 0 w 253"/>
                    <a:gd name="T19" fmla="*/ 383 h 889"/>
                    <a:gd name="T20" fmla="*/ 55 w 253"/>
                    <a:gd name="T21" fmla="*/ 142 h 8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3" h="889">
                      <a:moveTo>
                        <a:pt x="55" y="142"/>
                      </a:moveTo>
                      <a:lnTo>
                        <a:pt x="121" y="209"/>
                      </a:lnTo>
                      <a:lnTo>
                        <a:pt x="146" y="232"/>
                      </a:lnTo>
                      <a:lnTo>
                        <a:pt x="181" y="0"/>
                      </a:lnTo>
                      <a:lnTo>
                        <a:pt x="175" y="256"/>
                      </a:lnTo>
                      <a:lnTo>
                        <a:pt x="242" y="360"/>
                      </a:lnTo>
                      <a:lnTo>
                        <a:pt x="235" y="683"/>
                      </a:lnTo>
                      <a:lnTo>
                        <a:pt x="253" y="889"/>
                      </a:lnTo>
                      <a:lnTo>
                        <a:pt x="36" y="889"/>
                      </a:lnTo>
                      <a:lnTo>
                        <a:pt x="0" y="383"/>
                      </a:lnTo>
                      <a:lnTo>
                        <a:pt x="55" y="142"/>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7" name="Freeform 9"/>
                <p:cNvSpPr/>
                <p:nvPr/>
              </p:nvSpPr>
              <p:spPr bwMode="auto">
                <a:xfrm>
                  <a:off x="2785" y="3107"/>
                  <a:ext cx="22" cy="110"/>
                </a:xfrm>
                <a:custGeom>
                  <a:avLst/>
                  <a:gdLst>
                    <a:gd name="T0" fmla="*/ 18 w 152"/>
                    <a:gd name="T1" fmla="*/ 0 h 883"/>
                    <a:gd name="T2" fmla="*/ 6 w 152"/>
                    <a:gd name="T3" fmla="*/ 179 h 883"/>
                    <a:gd name="T4" fmla="*/ 0 w 152"/>
                    <a:gd name="T5" fmla="*/ 287 h 883"/>
                    <a:gd name="T6" fmla="*/ 29 w 152"/>
                    <a:gd name="T7" fmla="*/ 305 h 883"/>
                    <a:gd name="T8" fmla="*/ 40 w 152"/>
                    <a:gd name="T9" fmla="*/ 546 h 883"/>
                    <a:gd name="T10" fmla="*/ 90 w 152"/>
                    <a:gd name="T11" fmla="*/ 768 h 883"/>
                    <a:gd name="T12" fmla="*/ 109 w 152"/>
                    <a:gd name="T13" fmla="*/ 883 h 883"/>
                    <a:gd name="T14" fmla="*/ 136 w 152"/>
                    <a:gd name="T15" fmla="*/ 883 h 883"/>
                    <a:gd name="T16" fmla="*/ 138 w 152"/>
                    <a:gd name="T17" fmla="*/ 762 h 883"/>
                    <a:gd name="T18" fmla="*/ 152 w 152"/>
                    <a:gd name="T19" fmla="*/ 647 h 883"/>
                    <a:gd name="T20" fmla="*/ 133 w 152"/>
                    <a:gd name="T21" fmla="*/ 510 h 883"/>
                    <a:gd name="T22" fmla="*/ 102 w 152"/>
                    <a:gd name="T23" fmla="*/ 445 h 883"/>
                    <a:gd name="T24" fmla="*/ 78 w 152"/>
                    <a:gd name="T25" fmla="*/ 402 h 883"/>
                    <a:gd name="T26" fmla="*/ 53 w 152"/>
                    <a:gd name="T27" fmla="*/ 239 h 883"/>
                    <a:gd name="T28" fmla="*/ 18 w 152"/>
                    <a:gd name="T29" fmla="*/ 0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2" h="883">
                      <a:moveTo>
                        <a:pt x="18" y="0"/>
                      </a:moveTo>
                      <a:lnTo>
                        <a:pt x="6" y="179"/>
                      </a:lnTo>
                      <a:lnTo>
                        <a:pt x="0" y="287"/>
                      </a:lnTo>
                      <a:lnTo>
                        <a:pt x="29" y="305"/>
                      </a:lnTo>
                      <a:lnTo>
                        <a:pt x="40" y="546"/>
                      </a:lnTo>
                      <a:lnTo>
                        <a:pt x="90" y="768"/>
                      </a:lnTo>
                      <a:lnTo>
                        <a:pt x="109" y="883"/>
                      </a:lnTo>
                      <a:lnTo>
                        <a:pt x="136" y="883"/>
                      </a:lnTo>
                      <a:lnTo>
                        <a:pt x="138" y="762"/>
                      </a:lnTo>
                      <a:lnTo>
                        <a:pt x="152" y="647"/>
                      </a:lnTo>
                      <a:lnTo>
                        <a:pt x="133" y="510"/>
                      </a:lnTo>
                      <a:lnTo>
                        <a:pt x="102" y="445"/>
                      </a:lnTo>
                      <a:lnTo>
                        <a:pt x="78" y="402"/>
                      </a:lnTo>
                      <a:lnTo>
                        <a:pt x="53" y="239"/>
                      </a:lnTo>
                      <a:lnTo>
                        <a:pt x="18" y="0"/>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8" name="Freeform 10"/>
                <p:cNvSpPr/>
                <p:nvPr/>
              </p:nvSpPr>
              <p:spPr bwMode="auto">
                <a:xfrm>
                  <a:off x="2791" y="3100"/>
                  <a:ext cx="13" cy="53"/>
                </a:xfrm>
                <a:custGeom>
                  <a:avLst/>
                  <a:gdLst>
                    <a:gd name="T0" fmla="*/ 0 w 90"/>
                    <a:gd name="T1" fmla="*/ 79 h 425"/>
                    <a:gd name="T2" fmla="*/ 90 w 90"/>
                    <a:gd name="T3" fmla="*/ 425 h 425"/>
                    <a:gd name="T4" fmla="*/ 13 w 90"/>
                    <a:gd name="T5" fmla="*/ 0 h 425"/>
                    <a:gd name="T6" fmla="*/ 0 w 90"/>
                    <a:gd name="T7" fmla="*/ 79 h 425"/>
                  </a:gdLst>
                  <a:ahLst/>
                  <a:cxnLst>
                    <a:cxn ang="0">
                      <a:pos x="T0" y="T1"/>
                    </a:cxn>
                    <a:cxn ang="0">
                      <a:pos x="T2" y="T3"/>
                    </a:cxn>
                    <a:cxn ang="0">
                      <a:pos x="T4" y="T5"/>
                    </a:cxn>
                    <a:cxn ang="0">
                      <a:pos x="T6" y="T7"/>
                    </a:cxn>
                  </a:cxnLst>
                  <a:rect l="0" t="0" r="r" b="b"/>
                  <a:pathLst>
                    <a:path w="90" h="425">
                      <a:moveTo>
                        <a:pt x="0" y="79"/>
                      </a:moveTo>
                      <a:lnTo>
                        <a:pt x="90" y="425"/>
                      </a:lnTo>
                      <a:lnTo>
                        <a:pt x="13" y="0"/>
                      </a:lnTo>
                      <a:lnTo>
                        <a:pt x="0" y="79"/>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59" name="Freeform 11"/>
                <p:cNvSpPr/>
                <p:nvPr/>
              </p:nvSpPr>
              <p:spPr bwMode="auto">
                <a:xfrm>
                  <a:off x="2775" y="3110"/>
                  <a:ext cx="20" cy="107"/>
                </a:xfrm>
                <a:custGeom>
                  <a:avLst/>
                  <a:gdLst>
                    <a:gd name="T0" fmla="*/ 18 w 140"/>
                    <a:gd name="T1" fmla="*/ 0 h 859"/>
                    <a:gd name="T2" fmla="*/ 31 w 140"/>
                    <a:gd name="T3" fmla="*/ 232 h 859"/>
                    <a:gd name="T4" fmla="*/ 42 w 140"/>
                    <a:gd name="T5" fmla="*/ 366 h 859"/>
                    <a:gd name="T6" fmla="*/ 74 w 140"/>
                    <a:gd name="T7" fmla="*/ 402 h 859"/>
                    <a:gd name="T8" fmla="*/ 87 w 140"/>
                    <a:gd name="T9" fmla="*/ 462 h 859"/>
                    <a:gd name="T10" fmla="*/ 140 w 140"/>
                    <a:gd name="T11" fmla="*/ 859 h 859"/>
                    <a:gd name="T12" fmla="*/ 37 w 140"/>
                    <a:gd name="T13" fmla="*/ 856 h 859"/>
                    <a:gd name="T14" fmla="*/ 0 w 140"/>
                    <a:gd name="T15" fmla="*/ 421 h 859"/>
                    <a:gd name="T16" fmla="*/ 6 w 140"/>
                    <a:gd name="T17" fmla="*/ 179 h 859"/>
                    <a:gd name="T18" fmla="*/ 18 w 140"/>
                    <a:gd name="T19" fmla="*/ 0 h 8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0" h="859">
                      <a:moveTo>
                        <a:pt x="18" y="0"/>
                      </a:moveTo>
                      <a:lnTo>
                        <a:pt x="31" y="232"/>
                      </a:lnTo>
                      <a:lnTo>
                        <a:pt x="42" y="366"/>
                      </a:lnTo>
                      <a:lnTo>
                        <a:pt x="74" y="402"/>
                      </a:lnTo>
                      <a:lnTo>
                        <a:pt x="87" y="462"/>
                      </a:lnTo>
                      <a:lnTo>
                        <a:pt x="140" y="859"/>
                      </a:lnTo>
                      <a:lnTo>
                        <a:pt x="37" y="856"/>
                      </a:lnTo>
                      <a:lnTo>
                        <a:pt x="0" y="421"/>
                      </a:lnTo>
                      <a:lnTo>
                        <a:pt x="6" y="179"/>
                      </a:lnTo>
                      <a:lnTo>
                        <a:pt x="18" y="0"/>
                      </a:lnTo>
                      <a:close/>
                    </a:path>
                  </a:pathLst>
                </a:custGeom>
                <a:solidFill>
                  <a:srgbClr val="600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0" name="Freeform 12"/>
                <p:cNvSpPr/>
                <p:nvPr/>
              </p:nvSpPr>
              <p:spPr bwMode="auto">
                <a:xfrm>
                  <a:off x="2794" y="3105"/>
                  <a:ext cx="13" cy="51"/>
                </a:xfrm>
                <a:custGeom>
                  <a:avLst/>
                  <a:gdLst>
                    <a:gd name="T0" fmla="*/ 0 w 90"/>
                    <a:gd name="T1" fmla="*/ 17 h 407"/>
                    <a:gd name="T2" fmla="*/ 45 w 90"/>
                    <a:gd name="T3" fmla="*/ 217 h 407"/>
                    <a:gd name="T4" fmla="*/ 90 w 90"/>
                    <a:gd name="T5" fmla="*/ 407 h 407"/>
                    <a:gd name="T6" fmla="*/ 70 w 90"/>
                    <a:gd name="T7" fmla="*/ 0 h 407"/>
                    <a:gd name="T8" fmla="*/ 0 w 90"/>
                    <a:gd name="T9" fmla="*/ 17 h 407"/>
                  </a:gdLst>
                  <a:ahLst/>
                  <a:cxnLst>
                    <a:cxn ang="0">
                      <a:pos x="T0" y="T1"/>
                    </a:cxn>
                    <a:cxn ang="0">
                      <a:pos x="T2" y="T3"/>
                    </a:cxn>
                    <a:cxn ang="0">
                      <a:pos x="T4" y="T5"/>
                    </a:cxn>
                    <a:cxn ang="0">
                      <a:pos x="T6" y="T7"/>
                    </a:cxn>
                    <a:cxn ang="0">
                      <a:pos x="T8" y="T9"/>
                    </a:cxn>
                  </a:cxnLst>
                  <a:rect l="0" t="0" r="r" b="b"/>
                  <a:pathLst>
                    <a:path w="90" h="407">
                      <a:moveTo>
                        <a:pt x="0" y="17"/>
                      </a:moveTo>
                      <a:lnTo>
                        <a:pt x="45" y="217"/>
                      </a:lnTo>
                      <a:lnTo>
                        <a:pt x="90" y="407"/>
                      </a:lnTo>
                      <a:lnTo>
                        <a:pt x="70" y="0"/>
                      </a:lnTo>
                      <a:lnTo>
                        <a:pt x="0" y="17"/>
                      </a:lnTo>
                      <a:close/>
                    </a:path>
                  </a:pathLst>
                </a:custGeom>
                <a:solidFill>
                  <a:srgbClr val="C06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1" name="Freeform 13"/>
                <p:cNvSpPr/>
                <p:nvPr/>
              </p:nvSpPr>
              <p:spPr bwMode="auto">
                <a:xfrm>
                  <a:off x="2796" y="3163"/>
                  <a:ext cx="9" cy="54"/>
                </a:xfrm>
                <a:custGeom>
                  <a:avLst/>
                  <a:gdLst>
                    <a:gd name="T0" fmla="*/ 0 w 65"/>
                    <a:gd name="T1" fmla="*/ 0 h 431"/>
                    <a:gd name="T2" fmla="*/ 26 w 65"/>
                    <a:gd name="T3" fmla="*/ 187 h 431"/>
                    <a:gd name="T4" fmla="*/ 52 w 65"/>
                    <a:gd name="T5" fmla="*/ 393 h 431"/>
                    <a:gd name="T6" fmla="*/ 65 w 65"/>
                    <a:gd name="T7" fmla="*/ 431 h 431"/>
                    <a:gd name="T8" fmla="*/ 65 w 65"/>
                    <a:gd name="T9" fmla="*/ 296 h 431"/>
                    <a:gd name="T10" fmla="*/ 59 w 65"/>
                    <a:gd name="T11" fmla="*/ 175 h 431"/>
                    <a:gd name="T12" fmla="*/ 39 w 65"/>
                    <a:gd name="T13" fmla="*/ 91 h 431"/>
                    <a:gd name="T14" fmla="*/ 0 w 65"/>
                    <a:gd name="T15" fmla="*/ 0 h 4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5" h="431">
                      <a:moveTo>
                        <a:pt x="0" y="0"/>
                      </a:moveTo>
                      <a:lnTo>
                        <a:pt x="26" y="187"/>
                      </a:lnTo>
                      <a:lnTo>
                        <a:pt x="52" y="393"/>
                      </a:lnTo>
                      <a:lnTo>
                        <a:pt x="65" y="431"/>
                      </a:lnTo>
                      <a:lnTo>
                        <a:pt x="65" y="296"/>
                      </a:lnTo>
                      <a:lnTo>
                        <a:pt x="59" y="175"/>
                      </a:lnTo>
                      <a:lnTo>
                        <a:pt x="39" y="91"/>
                      </a:lnTo>
                      <a:lnTo>
                        <a:pt x="0"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2" name="Freeform 14"/>
                <p:cNvSpPr/>
                <p:nvPr/>
              </p:nvSpPr>
              <p:spPr bwMode="auto">
                <a:xfrm>
                  <a:off x="2773" y="3108"/>
                  <a:ext cx="6" cy="47"/>
                </a:xfrm>
                <a:custGeom>
                  <a:avLst/>
                  <a:gdLst>
                    <a:gd name="T0" fmla="*/ 42 w 42"/>
                    <a:gd name="T1" fmla="*/ 0 h 372"/>
                    <a:gd name="T2" fmla="*/ 28 w 42"/>
                    <a:gd name="T3" fmla="*/ 206 h 372"/>
                    <a:gd name="T4" fmla="*/ 28 w 42"/>
                    <a:gd name="T5" fmla="*/ 372 h 372"/>
                    <a:gd name="T6" fmla="*/ 0 w 42"/>
                    <a:gd name="T7" fmla="*/ 262 h 372"/>
                    <a:gd name="T8" fmla="*/ 42 w 42"/>
                    <a:gd name="T9" fmla="*/ 0 h 372"/>
                  </a:gdLst>
                  <a:ahLst/>
                  <a:cxnLst>
                    <a:cxn ang="0">
                      <a:pos x="T0" y="T1"/>
                    </a:cxn>
                    <a:cxn ang="0">
                      <a:pos x="T2" y="T3"/>
                    </a:cxn>
                    <a:cxn ang="0">
                      <a:pos x="T4" y="T5"/>
                    </a:cxn>
                    <a:cxn ang="0">
                      <a:pos x="T6" y="T7"/>
                    </a:cxn>
                    <a:cxn ang="0">
                      <a:pos x="T8" y="T9"/>
                    </a:cxn>
                  </a:cxnLst>
                  <a:rect l="0" t="0" r="r" b="b"/>
                  <a:pathLst>
                    <a:path w="42" h="372">
                      <a:moveTo>
                        <a:pt x="42" y="0"/>
                      </a:moveTo>
                      <a:lnTo>
                        <a:pt x="28" y="206"/>
                      </a:lnTo>
                      <a:lnTo>
                        <a:pt x="28" y="372"/>
                      </a:lnTo>
                      <a:lnTo>
                        <a:pt x="0" y="262"/>
                      </a:lnTo>
                      <a:lnTo>
                        <a:pt x="42"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3" name="Freeform 15"/>
                <p:cNvSpPr/>
                <p:nvPr/>
              </p:nvSpPr>
              <p:spPr bwMode="auto">
                <a:xfrm>
                  <a:off x="2774" y="3161"/>
                  <a:ext cx="11" cy="56"/>
                </a:xfrm>
                <a:custGeom>
                  <a:avLst/>
                  <a:gdLst>
                    <a:gd name="T0" fmla="*/ 13 w 78"/>
                    <a:gd name="T1" fmla="*/ 0 h 449"/>
                    <a:gd name="T2" fmla="*/ 32 w 78"/>
                    <a:gd name="T3" fmla="*/ 181 h 449"/>
                    <a:gd name="T4" fmla="*/ 46 w 78"/>
                    <a:gd name="T5" fmla="*/ 309 h 449"/>
                    <a:gd name="T6" fmla="*/ 78 w 78"/>
                    <a:gd name="T7" fmla="*/ 449 h 449"/>
                    <a:gd name="T8" fmla="*/ 39 w 78"/>
                    <a:gd name="T9" fmla="*/ 449 h 449"/>
                    <a:gd name="T10" fmla="*/ 7 w 78"/>
                    <a:gd name="T11" fmla="*/ 255 h 449"/>
                    <a:gd name="T12" fmla="*/ 0 w 78"/>
                    <a:gd name="T13" fmla="*/ 120 h 449"/>
                    <a:gd name="T14" fmla="*/ 13 w 78"/>
                    <a:gd name="T15" fmla="*/ 0 h 4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449">
                      <a:moveTo>
                        <a:pt x="13" y="0"/>
                      </a:moveTo>
                      <a:lnTo>
                        <a:pt x="32" y="181"/>
                      </a:lnTo>
                      <a:lnTo>
                        <a:pt x="46" y="309"/>
                      </a:lnTo>
                      <a:lnTo>
                        <a:pt x="78" y="449"/>
                      </a:lnTo>
                      <a:lnTo>
                        <a:pt x="39" y="449"/>
                      </a:lnTo>
                      <a:lnTo>
                        <a:pt x="7" y="255"/>
                      </a:lnTo>
                      <a:lnTo>
                        <a:pt x="0" y="120"/>
                      </a:lnTo>
                      <a:lnTo>
                        <a:pt x="13"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4" name="Freeform 16"/>
                <p:cNvSpPr/>
                <p:nvPr/>
              </p:nvSpPr>
              <p:spPr bwMode="auto">
                <a:xfrm>
                  <a:off x="2755" y="3172"/>
                  <a:ext cx="12" cy="45"/>
                </a:xfrm>
                <a:custGeom>
                  <a:avLst/>
                  <a:gdLst>
                    <a:gd name="T0" fmla="*/ 0 w 84"/>
                    <a:gd name="T1" fmla="*/ 0 h 359"/>
                    <a:gd name="T2" fmla="*/ 59 w 84"/>
                    <a:gd name="T3" fmla="*/ 221 h 359"/>
                    <a:gd name="T4" fmla="*/ 84 w 84"/>
                    <a:gd name="T5" fmla="*/ 359 h 359"/>
                    <a:gd name="T6" fmla="*/ 0 w 84"/>
                    <a:gd name="T7" fmla="*/ 0 h 359"/>
                  </a:gdLst>
                  <a:ahLst/>
                  <a:cxnLst>
                    <a:cxn ang="0">
                      <a:pos x="T0" y="T1"/>
                    </a:cxn>
                    <a:cxn ang="0">
                      <a:pos x="T2" y="T3"/>
                    </a:cxn>
                    <a:cxn ang="0">
                      <a:pos x="T4" y="T5"/>
                    </a:cxn>
                    <a:cxn ang="0">
                      <a:pos x="T6" y="T7"/>
                    </a:cxn>
                  </a:cxnLst>
                  <a:rect l="0" t="0" r="r" b="b"/>
                  <a:pathLst>
                    <a:path w="84" h="359">
                      <a:moveTo>
                        <a:pt x="0" y="0"/>
                      </a:moveTo>
                      <a:lnTo>
                        <a:pt x="59" y="221"/>
                      </a:lnTo>
                      <a:lnTo>
                        <a:pt x="84" y="359"/>
                      </a:lnTo>
                      <a:lnTo>
                        <a:pt x="0" y="0"/>
                      </a:lnTo>
                      <a:close/>
                    </a:path>
                  </a:pathLst>
                </a:custGeom>
                <a:solidFill>
                  <a:srgbClr val="E0A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5" name="Freeform 17"/>
                <p:cNvSpPr/>
                <p:nvPr/>
              </p:nvSpPr>
              <p:spPr bwMode="auto">
                <a:xfrm>
                  <a:off x="2789" y="3113"/>
                  <a:ext cx="9" cy="49"/>
                </a:xfrm>
                <a:custGeom>
                  <a:avLst/>
                  <a:gdLst>
                    <a:gd name="T0" fmla="*/ 0 w 61"/>
                    <a:gd name="T1" fmla="*/ 0 h 390"/>
                    <a:gd name="T2" fmla="*/ 13 w 61"/>
                    <a:gd name="T3" fmla="*/ 163 h 390"/>
                    <a:gd name="T4" fmla="*/ 40 w 61"/>
                    <a:gd name="T5" fmla="*/ 292 h 390"/>
                    <a:gd name="T6" fmla="*/ 61 w 61"/>
                    <a:gd name="T7" fmla="*/ 390 h 390"/>
                    <a:gd name="T8" fmla="*/ 54 w 61"/>
                    <a:gd name="T9" fmla="*/ 219 h 390"/>
                    <a:gd name="T10" fmla="*/ 40 w 61"/>
                    <a:gd name="T11" fmla="*/ 127 h 390"/>
                    <a:gd name="T12" fmla="*/ 0 w 61"/>
                    <a:gd name="T13" fmla="*/ 0 h 390"/>
                  </a:gdLst>
                  <a:ahLst/>
                  <a:cxnLst>
                    <a:cxn ang="0">
                      <a:pos x="T0" y="T1"/>
                    </a:cxn>
                    <a:cxn ang="0">
                      <a:pos x="T2" y="T3"/>
                    </a:cxn>
                    <a:cxn ang="0">
                      <a:pos x="T4" y="T5"/>
                    </a:cxn>
                    <a:cxn ang="0">
                      <a:pos x="T6" y="T7"/>
                    </a:cxn>
                    <a:cxn ang="0">
                      <a:pos x="T8" y="T9"/>
                    </a:cxn>
                    <a:cxn ang="0">
                      <a:pos x="T10" y="T11"/>
                    </a:cxn>
                    <a:cxn ang="0">
                      <a:pos x="T12" y="T13"/>
                    </a:cxn>
                  </a:cxnLst>
                  <a:rect l="0" t="0" r="r" b="b"/>
                  <a:pathLst>
                    <a:path w="61" h="390">
                      <a:moveTo>
                        <a:pt x="0" y="0"/>
                      </a:moveTo>
                      <a:lnTo>
                        <a:pt x="13" y="163"/>
                      </a:lnTo>
                      <a:lnTo>
                        <a:pt x="40" y="292"/>
                      </a:lnTo>
                      <a:lnTo>
                        <a:pt x="61" y="390"/>
                      </a:lnTo>
                      <a:lnTo>
                        <a:pt x="54" y="219"/>
                      </a:lnTo>
                      <a:lnTo>
                        <a:pt x="40" y="127"/>
                      </a:lnTo>
                      <a:lnTo>
                        <a:pt x="0" y="0"/>
                      </a:lnTo>
                      <a:close/>
                    </a:path>
                  </a:pathLst>
                </a:custGeom>
                <a:solidFill>
                  <a:srgbClr val="C06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66" name="Freeform 18"/>
                <p:cNvSpPr/>
                <p:nvPr/>
              </p:nvSpPr>
              <p:spPr bwMode="auto">
                <a:xfrm>
                  <a:off x="2754" y="3108"/>
                  <a:ext cx="11" cy="56"/>
                </a:xfrm>
                <a:custGeom>
                  <a:avLst/>
                  <a:gdLst>
                    <a:gd name="T0" fmla="*/ 72 w 72"/>
                    <a:gd name="T1" fmla="*/ 0 h 449"/>
                    <a:gd name="T2" fmla="*/ 53 w 72"/>
                    <a:gd name="T3" fmla="*/ 133 h 449"/>
                    <a:gd name="T4" fmla="*/ 46 w 72"/>
                    <a:gd name="T5" fmla="*/ 247 h 449"/>
                    <a:gd name="T6" fmla="*/ 34 w 72"/>
                    <a:gd name="T7" fmla="*/ 371 h 449"/>
                    <a:gd name="T8" fmla="*/ 34 w 72"/>
                    <a:gd name="T9" fmla="*/ 449 h 449"/>
                    <a:gd name="T10" fmla="*/ 0 w 72"/>
                    <a:gd name="T11" fmla="*/ 279 h 449"/>
                    <a:gd name="T12" fmla="*/ 14 w 72"/>
                    <a:gd name="T13" fmla="*/ 151 h 449"/>
                    <a:gd name="T14" fmla="*/ 72 w 72"/>
                    <a:gd name="T15" fmla="*/ 0 h 4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449">
                      <a:moveTo>
                        <a:pt x="72" y="0"/>
                      </a:moveTo>
                      <a:lnTo>
                        <a:pt x="53" y="133"/>
                      </a:lnTo>
                      <a:lnTo>
                        <a:pt x="46" y="247"/>
                      </a:lnTo>
                      <a:lnTo>
                        <a:pt x="34" y="371"/>
                      </a:lnTo>
                      <a:lnTo>
                        <a:pt x="34" y="449"/>
                      </a:lnTo>
                      <a:lnTo>
                        <a:pt x="0" y="279"/>
                      </a:lnTo>
                      <a:lnTo>
                        <a:pt x="14" y="151"/>
                      </a:lnTo>
                      <a:lnTo>
                        <a:pt x="72" y="0"/>
                      </a:lnTo>
                      <a:close/>
                    </a:path>
                  </a:pathLst>
                </a:custGeom>
                <a:solidFill>
                  <a:srgbClr val="C06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067" name="Group 19"/>
              <p:cNvGrpSpPr/>
              <p:nvPr/>
            </p:nvGrpSpPr>
            <p:grpSpPr bwMode="auto">
              <a:xfrm>
                <a:off x="2401" y="2996"/>
                <a:ext cx="365" cy="221"/>
                <a:chOff x="2401" y="2996"/>
                <a:chExt cx="365" cy="221"/>
              </a:xfrm>
            </p:grpSpPr>
            <p:sp>
              <p:nvSpPr>
                <p:cNvPr id="642068" name="Freeform 20"/>
                <p:cNvSpPr/>
                <p:nvPr/>
              </p:nvSpPr>
              <p:spPr bwMode="auto">
                <a:xfrm>
                  <a:off x="2401" y="3053"/>
                  <a:ext cx="365" cy="164"/>
                </a:xfrm>
                <a:custGeom>
                  <a:avLst/>
                  <a:gdLst>
                    <a:gd name="T0" fmla="*/ 0 w 2559"/>
                    <a:gd name="T1" fmla="*/ 1310 h 1310"/>
                    <a:gd name="T2" fmla="*/ 1081 w 2559"/>
                    <a:gd name="T3" fmla="*/ 0 h 1310"/>
                    <a:gd name="T4" fmla="*/ 2308 w 2559"/>
                    <a:gd name="T5" fmla="*/ 0 h 1310"/>
                    <a:gd name="T6" fmla="*/ 2559 w 2559"/>
                    <a:gd name="T7" fmla="*/ 1310 h 1310"/>
                    <a:gd name="T8" fmla="*/ 0 w 2559"/>
                    <a:gd name="T9" fmla="*/ 1310 h 1310"/>
                  </a:gdLst>
                  <a:ahLst/>
                  <a:cxnLst>
                    <a:cxn ang="0">
                      <a:pos x="T0" y="T1"/>
                    </a:cxn>
                    <a:cxn ang="0">
                      <a:pos x="T2" y="T3"/>
                    </a:cxn>
                    <a:cxn ang="0">
                      <a:pos x="T4" y="T5"/>
                    </a:cxn>
                    <a:cxn ang="0">
                      <a:pos x="T6" y="T7"/>
                    </a:cxn>
                    <a:cxn ang="0">
                      <a:pos x="T8" y="T9"/>
                    </a:cxn>
                  </a:cxnLst>
                  <a:rect l="0" t="0" r="r" b="b"/>
                  <a:pathLst>
                    <a:path w="2559" h="1310">
                      <a:moveTo>
                        <a:pt x="0" y="1310"/>
                      </a:moveTo>
                      <a:lnTo>
                        <a:pt x="1081" y="0"/>
                      </a:lnTo>
                      <a:lnTo>
                        <a:pt x="2308" y="0"/>
                      </a:lnTo>
                      <a:lnTo>
                        <a:pt x="2559" y="1310"/>
                      </a:lnTo>
                      <a:lnTo>
                        <a:pt x="0" y="1310"/>
                      </a:lnTo>
                      <a:close/>
                    </a:path>
                  </a:pathLst>
                </a:custGeom>
                <a:solidFill>
                  <a:srgbClr val="A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069" name="Group 21"/>
                <p:cNvGrpSpPr/>
                <p:nvPr/>
              </p:nvGrpSpPr>
              <p:grpSpPr bwMode="auto">
                <a:xfrm>
                  <a:off x="2506" y="2996"/>
                  <a:ext cx="212" cy="221"/>
                  <a:chOff x="2506" y="2996"/>
                  <a:chExt cx="212" cy="221"/>
                </a:xfrm>
              </p:grpSpPr>
              <p:grpSp>
                <p:nvGrpSpPr>
                  <p:cNvPr id="642070" name="Group 22"/>
                  <p:cNvGrpSpPr/>
                  <p:nvPr/>
                </p:nvGrpSpPr>
                <p:grpSpPr bwMode="auto">
                  <a:xfrm>
                    <a:off x="2509" y="3148"/>
                    <a:ext cx="118" cy="69"/>
                    <a:chOff x="2509" y="3148"/>
                    <a:chExt cx="118" cy="69"/>
                  </a:xfrm>
                </p:grpSpPr>
                <p:sp>
                  <p:nvSpPr>
                    <p:cNvPr id="642071" name="Freeform 23"/>
                    <p:cNvSpPr/>
                    <p:nvPr/>
                  </p:nvSpPr>
                  <p:spPr bwMode="auto">
                    <a:xfrm>
                      <a:off x="2509" y="3148"/>
                      <a:ext cx="118" cy="69"/>
                    </a:xfrm>
                    <a:custGeom>
                      <a:avLst/>
                      <a:gdLst>
                        <a:gd name="T0" fmla="*/ 183 w 824"/>
                        <a:gd name="T1" fmla="*/ 0 h 550"/>
                        <a:gd name="T2" fmla="*/ 824 w 824"/>
                        <a:gd name="T3" fmla="*/ 0 h 550"/>
                        <a:gd name="T4" fmla="*/ 801 w 824"/>
                        <a:gd name="T5" fmla="*/ 550 h 550"/>
                        <a:gd name="T6" fmla="*/ 0 w 824"/>
                        <a:gd name="T7" fmla="*/ 550 h 550"/>
                        <a:gd name="T8" fmla="*/ 183 w 824"/>
                        <a:gd name="T9" fmla="*/ 0 h 550"/>
                      </a:gdLst>
                      <a:ahLst/>
                      <a:cxnLst>
                        <a:cxn ang="0">
                          <a:pos x="T0" y="T1"/>
                        </a:cxn>
                        <a:cxn ang="0">
                          <a:pos x="T2" y="T3"/>
                        </a:cxn>
                        <a:cxn ang="0">
                          <a:pos x="T4" y="T5"/>
                        </a:cxn>
                        <a:cxn ang="0">
                          <a:pos x="T6" y="T7"/>
                        </a:cxn>
                        <a:cxn ang="0">
                          <a:pos x="T8" y="T9"/>
                        </a:cxn>
                      </a:cxnLst>
                      <a:rect l="0" t="0" r="r" b="b"/>
                      <a:pathLst>
                        <a:path w="824" h="550">
                          <a:moveTo>
                            <a:pt x="183" y="0"/>
                          </a:moveTo>
                          <a:lnTo>
                            <a:pt x="824" y="0"/>
                          </a:lnTo>
                          <a:lnTo>
                            <a:pt x="801" y="550"/>
                          </a:lnTo>
                          <a:lnTo>
                            <a:pt x="0" y="550"/>
                          </a:lnTo>
                          <a:lnTo>
                            <a:pt x="183" y="0"/>
                          </a:lnTo>
                          <a:close/>
                        </a:path>
                      </a:pathLst>
                    </a:custGeom>
                    <a:solidFill>
                      <a:srgbClr val="C0E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72" name="Freeform 24"/>
                    <p:cNvSpPr/>
                    <p:nvPr/>
                  </p:nvSpPr>
                  <p:spPr bwMode="auto">
                    <a:xfrm>
                      <a:off x="2532" y="3148"/>
                      <a:ext cx="95" cy="8"/>
                    </a:xfrm>
                    <a:custGeom>
                      <a:avLst/>
                      <a:gdLst>
                        <a:gd name="T0" fmla="*/ 17 w 661"/>
                        <a:gd name="T1" fmla="*/ 0 h 63"/>
                        <a:gd name="T2" fmla="*/ 0 w 661"/>
                        <a:gd name="T3" fmla="*/ 63 h 63"/>
                        <a:gd name="T4" fmla="*/ 659 w 661"/>
                        <a:gd name="T5" fmla="*/ 63 h 63"/>
                        <a:gd name="T6" fmla="*/ 661 w 661"/>
                        <a:gd name="T7" fmla="*/ 0 h 63"/>
                        <a:gd name="T8" fmla="*/ 17 w 661"/>
                        <a:gd name="T9" fmla="*/ 0 h 63"/>
                      </a:gdLst>
                      <a:ahLst/>
                      <a:cxnLst>
                        <a:cxn ang="0">
                          <a:pos x="T0" y="T1"/>
                        </a:cxn>
                        <a:cxn ang="0">
                          <a:pos x="T2" y="T3"/>
                        </a:cxn>
                        <a:cxn ang="0">
                          <a:pos x="T4" y="T5"/>
                        </a:cxn>
                        <a:cxn ang="0">
                          <a:pos x="T6" y="T7"/>
                        </a:cxn>
                        <a:cxn ang="0">
                          <a:pos x="T8" y="T9"/>
                        </a:cxn>
                      </a:cxnLst>
                      <a:rect l="0" t="0" r="r" b="b"/>
                      <a:pathLst>
                        <a:path w="661" h="63">
                          <a:moveTo>
                            <a:pt x="17" y="0"/>
                          </a:moveTo>
                          <a:lnTo>
                            <a:pt x="0" y="63"/>
                          </a:lnTo>
                          <a:lnTo>
                            <a:pt x="659" y="63"/>
                          </a:lnTo>
                          <a:lnTo>
                            <a:pt x="661" y="0"/>
                          </a:lnTo>
                          <a:lnTo>
                            <a:pt x="17"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073" name="Group 25"/>
                  <p:cNvGrpSpPr/>
                  <p:nvPr/>
                </p:nvGrpSpPr>
                <p:grpSpPr bwMode="auto">
                  <a:xfrm>
                    <a:off x="2506" y="2996"/>
                    <a:ext cx="212" cy="148"/>
                    <a:chOff x="2506" y="2996"/>
                    <a:chExt cx="212" cy="148"/>
                  </a:xfrm>
                </p:grpSpPr>
                <p:grpSp>
                  <p:nvGrpSpPr>
                    <p:cNvPr id="642074" name="Group 26"/>
                    <p:cNvGrpSpPr/>
                    <p:nvPr/>
                  </p:nvGrpSpPr>
                  <p:grpSpPr bwMode="auto">
                    <a:xfrm>
                      <a:off x="2506" y="2996"/>
                      <a:ext cx="203" cy="135"/>
                      <a:chOff x="2506" y="2996"/>
                      <a:chExt cx="203" cy="135"/>
                    </a:xfrm>
                  </p:grpSpPr>
                  <p:grpSp>
                    <p:nvGrpSpPr>
                      <p:cNvPr id="642075" name="Group 27"/>
                      <p:cNvGrpSpPr/>
                      <p:nvPr/>
                    </p:nvGrpSpPr>
                    <p:grpSpPr bwMode="auto">
                      <a:xfrm>
                        <a:off x="2506" y="3042"/>
                        <a:ext cx="203" cy="89"/>
                        <a:chOff x="2506" y="3042"/>
                        <a:chExt cx="203" cy="89"/>
                      </a:xfrm>
                    </p:grpSpPr>
                    <p:grpSp>
                      <p:nvGrpSpPr>
                        <p:cNvPr id="642076" name="Group 28"/>
                        <p:cNvGrpSpPr/>
                        <p:nvPr/>
                      </p:nvGrpSpPr>
                      <p:grpSpPr bwMode="auto">
                        <a:xfrm>
                          <a:off x="2508" y="3042"/>
                          <a:ext cx="201" cy="89"/>
                          <a:chOff x="2508" y="3042"/>
                          <a:chExt cx="201" cy="89"/>
                        </a:xfrm>
                      </p:grpSpPr>
                      <p:sp>
                        <p:nvSpPr>
                          <p:cNvPr id="642077" name="Freeform 29"/>
                          <p:cNvSpPr/>
                          <p:nvPr/>
                        </p:nvSpPr>
                        <p:spPr bwMode="auto">
                          <a:xfrm>
                            <a:off x="2508" y="3061"/>
                            <a:ext cx="71" cy="25"/>
                          </a:xfrm>
                          <a:custGeom>
                            <a:avLst/>
                            <a:gdLst>
                              <a:gd name="T0" fmla="*/ 0 w 501"/>
                              <a:gd name="T1" fmla="*/ 194 h 194"/>
                              <a:gd name="T2" fmla="*/ 33 w 501"/>
                              <a:gd name="T3" fmla="*/ 194 h 194"/>
                              <a:gd name="T4" fmla="*/ 501 w 501"/>
                              <a:gd name="T5" fmla="*/ 7 h 194"/>
                              <a:gd name="T6" fmla="*/ 486 w 501"/>
                              <a:gd name="T7" fmla="*/ 0 h 194"/>
                              <a:gd name="T8" fmla="*/ 0 w 501"/>
                              <a:gd name="T9" fmla="*/ 194 h 194"/>
                            </a:gdLst>
                            <a:ahLst/>
                            <a:cxnLst>
                              <a:cxn ang="0">
                                <a:pos x="T0" y="T1"/>
                              </a:cxn>
                              <a:cxn ang="0">
                                <a:pos x="T2" y="T3"/>
                              </a:cxn>
                              <a:cxn ang="0">
                                <a:pos x="T4" y="T5"/>
                              </a:cxn>
                              <a:cxn ang="0">
                                <a:pos x="T6" y="T7"/>
                              </a:cxn>
                              <a:cxn ang="0">
                                <a:pos x="T8" y="T9"/>
                              </a:cxn>
                            </a:cxnLst>
                            <a:rect l="0" t="0" r="r" b="b"/>
                            <a:pathLst>
                              <a:path w="501" h="194">
                                <a:moveTo>
                                  <a:pt x="0" y="194"/>
                                </a:moveTo>
                                <a:lnTo>
                                  <a:pt x="33" y="194"/>
                                </a:lnTo>
                                <a:lnTo>
                                  <a:pt x="501" y="7"/>
                                </a:lnTo>
                                <a:lnTo>
                                  <a:pt x="486" y="0"/>
                                </a:lnTo>
                                <a:lnTo>
                                  <a:pt x="0" y="194"/>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078" name="Group 30"/>
                          <p:cNvGrpSpPr/>
                          <p:nvPr/>
                        </p:nvGrpSpPr>
                        <p:grpSpPr bwMode="auto">
                          <a:xfrm>
                            <a:off x="2525" y="3042"/>
                            <a:ext cx="184" cy="89"/>
                            <a:chOff x="2525" y="3042"/>
                            <a:chExt cx="184" cy="89"/>
                          </a:xfrm>
                        </p:grpSpPr>
                        <p:sp>
                          <p:nvSpPr>
                            <p:cNvPr id="642079" name="Freeform 31"/>
                            <p:cNvSpPr/>
                            <p:nvPr/>
                          </p:nvSpPr>
                          <p:spPr bwMode="auto">
                            <a:xfrm>
                              <a:off x="2598" y="3078"/>
                              <a:ext cx="109" cy="53"/>
                            </a:xfrm>
                            <a:custGeom>
                              <a:avLst/>
                              <a:gdLst>
                                <a:gd name="T0" fmla="*/ 759 w 759"/>
                                <a:gd name="T1" fmla="*/ 0 h 424"/>
                                <a:gd name="T2" fmla="*/ 332 w 759"/>
                                <a:gd name="T3" fmla="*/ 171 h 424"/>
                                <a:gd name="T4" fmla="*/ 332 w 759"/>
                                <a:gd name="T5" fmla="*/ 192 h 424"/>
                                <a:gd name="T6" fmla="*/ 328 w 759"/>
                                <a:gd name="T7" fmla="*/ 204 h 424"/>
                                <a:gd name="T8" fmla="*/ 326 w 759"/>
                                <a:gd name="T9" fmla="*/ 209 h 424"/>
                                <a:gd name="T10" fmla="*/ 320 w 759"/>
                                <a:gd name="T11" fmla="*/ 218 h 424"/>
                                <a:gd name="T12" fmla="*/ 239 w 759"/>
                                <a:gd name="T13" fmla="*/ 256 h 424"/>
                                <a:gd name="T14" fmla="*/ 235 w 759"/>
                                <a:gd name="T15" fmla="*/ 267 h 424"/>
                                <a:gd name="T16" fmla="*/ 0 w 759"/>
                                <a:gd name="T17" fmla="*/ 369 h 424"/>
                                <a:gd name="T18" fmla="*/ 0 w 759"/>
                                <a:gd name="T19" fmla="*/ 424 h 424"/>
                                <a:gd name="T20" fmla="*/ 9 w 759"/>
                                <a:gd name="T21" fmla="*/ 424 h 424"/>
                                <a:gd name="T22" fmla="*/ 751 w 759"/>
                                <a:gd name="T23" fmla="*/ 93 h 424"/>
                                <a:gd name="T24" fmla="*/ 754 w 759"/>
                                <a:gd name="T25" fmla="*/ 91 h 424"/>
                                <a:gd name="T26" fmla="*/ 757 w 759"/>
                                <a:gd name="T27" fmla="*/ 87 h 424"/>
                                <a:gd name="T28" fmla="*/ 759 w 759"/>
                                <a:gd name="T29" fmla="*/ 79 h 424"/>
                                <a:gd name="T30" fmla="*/ 759 w 759"/>
                                <a:gd name="T3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9" h="424">
                                  <a:moveTo>
                                    <a:pt x="759" y="0"/>
                                  </a:moveTo>
                                  <a:lnTo>
                                    <a:pt x="332" y="171"/>
                                  </a:lnTo>
                                  <a:lnTo>
                                    <a:pt x="332" y="192"/>
                                  </a:lnTo>
                                  <a:lnTo>
                                    <a:pt x="328" y="204"/>
                                  </a:lnTo>
                                  <a:lnTo>
                                    <a:pt x="326" y="209"/>
                                  </a:lnTo>
                                  <a:lnTo>
                                    <a:pt x="320" y="218"/>
                                  </a:lnTo>
                                  <a:lnTo>
                                    <a:pt x="239" y="256"/>
                                  </a:lnTo>
                                  <a:lnTo>
                                    <a:pt x="235" y="267"/>
                                  </a:lnTo>
                                  <a:lnTo>
                                    <a:pt x="0" y="369"/>
                                  </a:lnTo>
                                  <a:lnTo>
                                    <a:pt x="0" y="424"/>
                                  </a:lnTo>
                                  <a:lnTo>
                                    <a:pt x="9" y="424"/>
                                  </a:lnTo>
                                  <a:lnTo>
                                    <a:pt x="751" y="93"/>
                                  </a:lnTo>
                                  <a:lnTo>
                                    <a:pt x="754" y="91"/>
                                  </a:lnTo>
                                  <a:lnTo>
                                    <a:pt x="757" y="87"/>
                                  </a:lnTo>
                                  <a:lnTo>
                                    <a:pt x="759" y="79"/>
                                  </a:lnTo>
                                  <a:lnTo>
                                    <a:pt x="759" y="0"/>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0" name="Freeform 32"/>
                            <p:cNvSpPr/>
                            <p:nvPr/>
                          </p:nvSpPr>
                          <p:spPr bwMode="auto">
                            <a:xfrm>
                              <a:off x="2694" y="3082"/>
                              <a:ext cx="7" cy="7"/>
                            </a:xfrm>
                            <a:custGeom>
                              <a:avLst/>
                              <a:gdLst>
                                <a:gd name="T0" fmla="*/ 0 w 53"/>
                                <a:gd name="T1" fmla="*/ 23 h 57"/>
                                <a:gd name="T2" fmla="*/ 53 w 53"/>
                                <a:gd name="T3" fmla="*/ 0 h 57"/>
                                <a:gd name="T4" fmla="*/ 53 w 53"/>
                                <a:gd name="T5" fmla="*/ 33 h 57"/>
                                <a:gd name="T6" fmla="*/ 0 w 53"/>
                                <a:gd name="T7" fmla="*/ 57 h 57"/>
                                <a:gd name="T8" fmla="*/ 0 w 53"/>
                                <a:gd name="T9" fmla="*/ 23 h 57"/>
                              </a:gdLst>
                              <a:ahLst/>
                              <a:cxnLst>
                                <a:cxn ang="0">
                                  <a:pos x="T0" y="T1"/>
                                </a:cxn>
                                <a:cxn ang="0">
                                  <a:pos x="T2" y="T3"/>
                                </a:cxn>
                                <a:cxn ang="0">
                                  <a:pos x="T4" y="T5"/>
                                </a:cxn>
                                <a:cxn ang="0">
                                  <a:pos x="T6" y="T7"/>
                                </a:cxn>
                                <a:cxn ang="0">
                                  <a:pos x="T8" y="T9"/>
                                </a:cxn>
                              </a:cxnLst>
                              <a:rect l="0" t="0" r="r" b="b"/>
                              <a:pathLst>
                                <a:path w="53" h="57">
                                  <a:moveTo>
                                    <a:pt x="0" y="23"/>
                                  </a:moveTo>
                                  <a:lnTo>
                                    <a:pt x="53" y="0"/>
                                  </a:lnTo>
                                  <a:lnTo>
                                    <a:pt x="53" y="33"/>
                                  </a:lnTo>
                                  <a:lnTo>
                                    <a:pt x="0" y="57"/>
                                  </a:lnTo>
                                  <a:lnTo>
                                    <a:pt x="0" y="23"/>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081" name="Group 33"/>
                            <p:cNvGrpSpPr/>
                            <p:nvPr/>
                          </p:nvGrpSpPr>
                          <p:grpSpPr bwMode="auto">
                            <a:xfrm>
                              <a:off x="2525" y="3042"/>
                              <a:ext cx="184" cy="89"/>
                              <a:chOff x="2525" y="3042"/>
                              <a:chExt cx="184" cy="89"/>
                            </a:xfrm>
                          </p:grpSpPr>
                          <p:sp>
                            <p:nvSpPr>
                              <p:cNvPr id="642082" name="Freeform 34"/>
                              <p:cNvSpPr/>
                              <p:nvPr/>
                            </p:nvSpPr>
                            <p:spPr bwMode="auto">
                              <a:xfrm>
                                <a:off x="2570" y="3049"/>
                                <a:ext cx="12" cy="16"/>
                              </a:xfrm>
                              <a:custGeom>
                                <a:avLst/>
                                <a:gdLst>
                                  <a:gd name="T0" fmla="*/ 68 w 85"/>
                                  <a:gd name="T1" fmla="*/ 0 h 129"/>
                                  <a:gd name="T2" fmla="*/ 85 w 85"/>
                                  <a:gd name="T3" fmla="*/ 129 h 129"/>
                                  <a:gd name="T4" fmla="*/ 0 w 85"/>
                                  <a:gd name="T5" fmla="*/ 97 h 129"/>
                                  <a:gd name="T6" fmla="*/ 68 w 85"/>
                                  <a:gd name="T7" fmla="*/ 0 h 129"/>
                                </a:gdLst>
                                <a:ahLst/>
                                <a:cxnLst>
                                  <a:cxn ang="0">
                                    <a:pos x="T0" y="T1"/>
                                  </a:cxn>
                                  <a:cxn ang="0">
                                    <a:pos x="T2" y="T3"/>
                                  </a:cxn>
                                  <a:cxn ang="0">
                                    <a:pos x="T4" y="T5"/>
                                  </a:cxn>
                                  <a:cxn ang="0">
                                    <a:pos x="T6" y="T7"/>
                                  </a:cxn>
                                </a:cxnLst>
                                <a:rect l="0" t="0" r="r" b="b"/>
                                <a:pathLst>
                                  <a:path w="85" h="129">
                                    <a:moveTo>
                                      <a:pt x="68" y="0"/>
                                    </a:moveTo>
                                    <a:lnTo>
                                      <a:pt x="85" y="129"/>
                                    </a:lnTo>
                                    <a:lnTo>
                                      <a:pt x="0" y="97"/>
                                    </a:lnTo>
                                    <a:lnTo>
                                      <a:pt x="68" y="0"/>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3" name="Freeform 35"/>
                              <p:cNvSpPr/>
                              <p:nvPr/>
                            </p:nvSpPr>
                            <p:spPr bwMode="auto">
                              <a:xfrm>
                                <a:off x="2525" y="3079"/>
                                <a:ext cx="75" cy="46"/>
                              </a:xfrm>
                              <a:custGeom>
                                <a:avLst/>
                                <a:gdLst>
                                  <a:gd name="T0" fmla="*/ 0 w 523"/>
                                  <a:gd name="T1" fmla="*/ 21 h 367"/>
                                  <a:gd name="T2" fmla="*/ 523 w 523"/>
                                  <a:gd name="T3" fmla="*/ 367 h 367"/>
                                  <a:gd name="T4" fmla="*/ 523 w 523"/>
                                  <a:gd name="T5" fmla="*/ 316 h 367"/>
                                  <a:gd name="T6" fmla="*/ 16 w 523"/>
                                  <a:gd name="T7" fmla="*/ 0 h 367"/>
                                  <a:gd name="T8" fmla="*/ 0 w 523"/>
                                  <a:gd name="T9" fmla="*/ 21 h 367"/>
                                </a:gdLst>
                                <a:ahLst/>
                                <a:cxnLst>
                                  <a:cxn ang="0">
                                    <a:pos x="T0" y="T1"/>
                                  </a:cxn>
                                  <a:cxn ang="0">
                                    <a:pos x="T2" y="T3"/>
                                  </a:cxn>
                                  <a:cxn ang="0">
                                    <a:pos x="T4" y="T5"/>
                                  </a:cxn>
                                  <a:cxn ang="0">
                                    <a:pos x="T6" y="T7"/>
                                  </a:cxn>
                                  <a:cxn ang="0">
                                    <a:pos x="T8" y="T9"/>
                                  </a:cxn>
                                </a:cxnLst>
                                <a:rect l="0" t="0" r="r" b="b"/>
                                <a:pathLst>
                                  <a:path w="523" h="367">
                                    <a:moveTo>
                                      <a:pt x="0" y="21"/>
                                    </a:moveTo>
                                    <a:lnTo>
                                      <a:pt x="523" y="367"/>
                                    </a:lnTo>
                                    <a:lnTo>
                                      <a:pt x="523" y="316"/>
                                    </a:lnTo>
                                    <a:lnTo>
                                      <a:pt x="16" y="0"/>
                                    </a:lnTo>
                                    <a:lnTo>
                                      <a:pt x="0" y="21"/>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4" name="Freeform 36"/>
                              <p:cNvSpPr/>
                              <p:nvPr/>
                            </p:nvSpPr>
                            <p:spPr bwMode="auto">
                              <a:xfrm>
                                <a:off x="2598" y="3097"/>
                                <a:ext cx="49" cy="28"/>
                              </a:xfrm>
                              <a:custGeom>
                                <a:avLst/>
                                <a:gdLst>
                                  <a:gd name="T0" fmla="*/ 0 w 340"/>
                                  <a:gd name="T1" fmla="*/ 230 h 230"/>
                                  <a:gd name="T2" fmla="*/ 0 w 340"/>
                                  <a:gd name="T3" fmla="*/ 167 h 230"/>
                                  <a:gd name="T4" fmla="*/ 340 w 340"/>
                                  <a:gd name="T5" fmla="*/ 0 h 230"/>
                                  <a:gd name="T6" fmla="*/ 340 w 340"/>
                                  <a:gd name="T7" fmla="*/ 82 h 230"/>
                                  <a:gd name="T8" fmla="*/ 0 w 340"/>
                                  <a:gd name="T9" fmla="*/ 230 h 230"/>
                                </a:gdLst>
                                <a:ahLst/>
                                <a:cxnLst>
                                  <a:cxn ang="0">
                                    <a:pos x="T0" y="T1"/>
                                  </a:cxn>
                                  <a:cxn ang="0">
                                    <a:pos x="T2" y="T3"/>
                                  </a:cxn>
                                  <a:cxn ang="0">
                                    <a:pos x="T4" y="T5"/>
                                  </a:cxn>
                                  <a:cxn ang="0">
                                    <a:pos x="T6" y="T7"/>
                                  </a:cxn>
                                  <a:cxn ang="0">
                                    <a:pos x="T8" y="T9"/>
                                  </a:cxn>
                                </a:cxnLst>
                                <a:rect l="0" t="0" r="r" b="b"/>
                                <a:pathLst>
                                  <a:path w="340" h="230">
                                    <a:moveTo>
                                      <a:pt x="0" y="230"/>
                                    </a:moveTo>
                                    <a:lnTo>
                                      <a:pt x="0" y="167"/>
                                    </a:lnTo>
                                    <a:lnTo>
                                      <a:pt x="340" y="0"/>
                                    </a:lnTo>
                                    <a:lnTo>
                                      <a:pt x="340" y="82"/>
                                    </a:lnTo>
                                    <a:lnTo>
                                      <a:pt x="0" y="23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5" name="Freeform 37"/>
                              <p:cNvSpPr/>
                              <p:nvPr/>
                            </p:nvSpPr>
                            <p:spPr bwMode="auto">
                              <a:xfrm>
                                <a:off x="2623" y="3067"/>
                                <a:ext cx="31" cy="30"/>
                              </a:xfrm>
                              <a:custGeom>
                                <a:avLst/>
                                <a:gdLst>
                                  <a:gd name="T0" fmla="*/ 6 w 219"/>
                                  <a:gd name="T1" fmla="*/ 0 h 234"/>
                                  <a:gd name="T2" fmla="*/ 0 w 219"/>
                                  <a:gd name="T3" fmla="*/ 164 h 234"/>
                                  <a:gd name="T4" fmla="*/ 165 w 219"/>
                                  <a:gd name="T5" fmla="*/ 234 h 234"/>
                                  <a:gd name="T6" fmla="*/ 219 w 219"/>
                                  <a:gd name="T7" fmla="*/ 105 h 234"/>
                                  <a:gd name="T8" fmla="*/ 6 w 219"/>
                                  <a:gd name="T9" fmla="*/ 0 h 234"/>
                                </a:gdLst>
                                <a:ahLst/>
                                <a:cxnLst>
                                  <a:cxn ang="0">
                                    <a:pos x="T0" y="T1"/>
                                  </a:cxn>
                                  <a:cxn ang="0">
                                    <a:pos x="T2" y="T3"/>
                                  </a:cxn>
                                  <a:cxn ang="0">
                                    <a:pos x="T4" y="T5"/>
                                  </a:cxn>
                                  <a:cxn ang="0">
                                    <a:pos x="T6" y="T7"/>
                                  </a:cxn>
                                  <a:cxn ang="0">
                                    <a:pos x="T8" y="T9"/>
                                  </a:cxn>
                                </a:cxnLst>
                                <a:rect l="0" t="0" r="r" b="b"/>
                                <a:pathLst>
                                  <a:path w="219" h="234">
                                    <a:moveTo>
                                      <a:pt x="6" y="0"/>
                                    </a:moveTo>
                                    <a:lnTo>
                                      <a:pt x="0" y="164"/>
                                    </a:lnTo>
                                    <a:lnTo>
                                      <a:pt x="165" y="234"/>
                                    </a:lnTo>
                                    <a:lnTo>
                                      <a:pt x="219" y="105"/>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6" name="Freeform 38"/>
                              <p:cNvSpPr/>
                              <p:nvPr/>
                            </p:nvSpPr>
                            <p:spPr bwMode="auto">
                              <a:xfrm>
                                <a:off x="2577" y="3050"/>
                                <a:ext cx="28" cy="25"/>
                              </a:xfrm>
                              <a:custGeom>
                                <a:avLst/>
                                <a:gdLst>
                                  <a:gd name="T0" fmla="*/ 14 w 197"/>
                                  <a:gd name="T1" fmla="*/ 0 h 199"/>
                                  <a:gd name="T2" fmla="*/ 0 w 197"/>
                                  <a:gd name="T3" fmla="*/ 133 h 199"/>
                                  <a:gd name="T4" fmla="*/ 136 w 197"/>
                                  <a:gd name="T5" fmla="*/ 199 h 199"/>
                                  <a:gd name="T6" fmla="*/ 197 w 197"/>
                                  <a:gd name="T7" fmla="*/ 88 h 199"/>
                                  <a:gd name="T8" fmla="*/ 14 w 197"/>
                                  <a:gd name="T9" fmla="*/ 0 h 199"/>
                                </a:gdLst>
                                <a:ahLst/>
                                <a:cxnLst>
                                  <a:cxn ang="0">
                                    <a:pos x="T0" y="T1"/>
                                  </a:cxn>
                                  <a:cxn ang="0">
                                    <a:pos x="T2" y="T3"/>
                                  </a:cxn>
                                  <a:cxn ang="0">
                                    <a:pos x="T4" y="T5"/>
                                  </a:cxn>
                                  <a:cxn ang="0">
                                    <a:pos x="T6" y="T7"/>
                                  </a:cxn>
                                  <a:cxn ang="0">
                                    <a:pos x="T8" y="T9"/>
                                  </a:cxn>
                                </a:cxnLst>
                                <a:rect l="0" t="0" r="r" b="b"/>
                                <a:pathLst>
                                  <a:path w="197" h="199">
                                    <a:moveTo>
                                      <a:pt x="14" y="0"/>
                                    </a:moveTo>
                                    <a:lnTo>
                                      <a:pt x="0" y="133"/>
                                    </a:lnTo>
                                    <a:lnTo>
                                      <a:pt x="136" y="199"/>
                                    </a:lnTo>
                                    <a:lnTo>
                                      <a:pt x="197" y="88"/>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7" name="Freeform 39"/>
                              <p:cNvSpPr/>
                              <p:nvPr/>
                            </p:nvSpPr>
                            <p:spPr bwMode="auto">
                              <a:xfrm>
                                <a:off x="2615" y="3070"/>
                                <a:ext cx="10" cy="17"/>
                              </a:xfrm>
                              <a:custGeom>
                                <a:avLst/>
                                <a:gdLst>
                                  <a:gd name="T0" fmla="*/ 70 w 70"/>
                                  <a:gd name="T1" fmla="*/ 0 h 135"/>
                                  <a:gd name="T2" fmla="*/ 70 w 70"/>
                                  <a:gd name="T3" fmla="*/ 135 h 135"/>
                                  <a:gd name="T4" fmla="*/ 0 w 70"/>
                                  <a:gd name="T5" fmla="*/ 97 h 135"/>
                                  <a:gd name="T6" fmla="*/ 70 w 70"/>
                                  <a:gd name="T7" fmla="*/ 0 h 135"/>
                                </a:gdLst>
                                <a:ahLst/>
                                <a:cxnLst>
                                  <a:cxn ang="0">
                                    <a:pos x="T0" y="T1"/>
                                  </a:cxn>
                                  <a:cxn ang="0">
                                    <a:pos x="T2" y="T3"/>
                                  </a:cxn>
                                  <a:cxn ang="0">
                                    <a:pos x="T4" y="T5"/>
                                  </a:cxn>
                                  <a:cxn ang="0">
                                    <a:pos x="T6" y="T7"/>
                                  </a:cxn>
                                </a:cxnLst>
                                <a:rect l="0" t="0" r="r" b="b"/>
                                <a:pathLst>
                                  <a:path w="70" h="135">
                                    <a:moveTo>
                                      <a:pt x="70" y="0"/>
                                    </a:moveTo>
                                    <a:lnTo>
                                      <a:pt x="70" y="135"/>
                                    </a:lnTo>
                                    <a:lnTo>
                                      <a:pt x="0" y="97"/>
                                    </a:lnTo>
                                    <a:lnTo>
                                      <a:pt x="70" y="0"/>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8" name="Freeform 40"/>
                              <p:cNvSpPr/>
                              <p:nvPr/>
                            </p:nvSpPr>
                            <p:spPr bwMode="auto">
                              <a:xfrm>
                                <a:off x="2525" y="3082"/>
                                <a:ext cx="75" cy="49"/>
                              </a:xfrm>
                              <a:custGeom>
                                <a:avLst/>
                                <a:gdLst>
                                  <a:gd name="T0" fmla="*/ 523 w 523"/>
                                  <a:gd name="T1" fmla="*/ 340 h 394"/>
                                  <a:gd name="T2" fmla="*/ 523 w 523"/>
                                  <a:gd name="T3" fmla="*/ 394 h 394"/>
                                  <a:gd name="T4" fmla="*/ 0 w 523"/>
                                  <a:gd name="T5" fmla="*/ 51 h 394"/>
                                  <a:gd name="T6" fmla="*/ 0 w 523"/>
                                  <a:gd name="T7" fmla="*/ 0 h 394"/>
                                  <a:gd name="T8" fmla="*/ 523 w 523"/>
                                  <a:gd name="T9" fmla="*/ 340 h 394"/>
                                </a:gdLst>
                                <a:ahLst/>
                                <a:cxnLst>
                                  <a:cxn ang="0">
                                    <a:pos x="T0" y="T1"/>
                                  </a:cxn>
                                  <a:cxn ang="0">
                                    <a:pos x="T2" y="T3"/>
                                  </a:cxn>
                                  <a:cxn ang="0">
                                    <a:pos x="T4" y="T5"/>
                                  </a:cxn>
                                  <a:cxn ang="0">
                                    <a:pos x="T6" y="T7"/>
                                  </a:cxn>
                                  <a:cxn ang="0">
                                    <a:pos x="T8" y="T9"/>
                                  </a:cxn>
                                </a:cxnLst>
                                <a:rect l="0" t="0" r="r" b="b"/>
                                <a:pathLst>
                                  <a:path w="523" h="394">
                                    <a:moveTo>
                                      <a:pt x="523" y="340"/>
                                    </a:moveTo>
                                    <a:lnTo>
                                      <a:pt x="523" y="394"/>
                                    </a:lnTo>
                                    <a:lnTo>
                                      <a:pt x="0" y="51"/>
                                    </a:lnTo>
                                    <a:lnTo>
                                      <a:pt x="0" y="0"/>
                                    </a:lnTo>
                                    <a:lnTo>
                                      <a:pt x="523" y="34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89" name="Freeform 41"/>
                              <p:cNvSpPr/>
                              <p:nvPr/>
                            </p:nvSpPr>
                            <p:spPr bwMode="auto">
                              <a:xfrm>
                                <a:off x="2624" y="3042"/>
                                <a:ext cx="85" cy="30"/>
                              </a:xfrm>
                              <a:custGeom>
                                <a:avLst/>
                                <a:gdLst>
                                  <a:gd name="T0" fmla="*/ 0 w 589"/>
                                  <a:gd name="T1" fmla="*/ 19 h 243"/>
                                  <a:gd name="T2" fmla="*/ 503 w 589"/>
                                  <a:gd name="T3" fmla="*/ 243 h 243"/>
                                  <a:gd name="T4" fmla="*/ 589 w 589"/>
                                  <a:gd name="T5" fmla="*/ 213 h 243"/>
                                  <a:gd name="T6" fmla="*/ 104 w 589"/>
                                  <a:gd name="T7" fmla="*/ 0 h 243"/>
                                  <a:gd name="T8" fmla="*/ 0 w 589"/>
                                  <a:gd name="T9" fmla="*/ 19 h 243"/>
                                </a:gdLst>
                                <a:ahLst/>
                                <a:cxnLst>
                                  <a:cxn ang="0">
                                    <a:pos x="T0" y="T1"/>
                                  </a:cxn>
                                  <a:cxn ang="0">
                                    <a:pos x="T2" y="T3"/>
                                  </a:cxn>
                                  <a:cxn ang="0">
                                    <a:pos x="T4" y="T5"/>
                                  </a:cxn>
                                  <a:cxn ang="0">
                                    <a:pos x="T6" y="T7"/>
                                  </a:cxn>
                                  <a:cxn ang="0">
                                    <a:pos x="T8" y="T9"/>
                                  </a:cxn>
                                </a:cxnLst>
                                <a:rect l="0" t="0" r="r" b="b"/>
                                <a:pathLst>
                                  <a:path w="589" h="243">
                                    <a:moveTo>
                                      <a:pt x="0" y="19"/>
                                    </a:moveTo>
                                    <a:lnTo>
                                      <a:pt x="503" y="243"/>
                                    </a:lnTo>
                                    <a:lnTo>
                                      <a:pt x="589" y="213"/>
                                    </a:lnTo>
                                    <a:lnTo>
                                      <a:pt x="104" y="0"/>
                                    </a:lnTo>
                                    <a:lnTo>
                                      <a:pt x="0" y="19"/>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0" name="Freeform 42"/>
                              <p:cNvSpPr/>
                              <p:nvPr/>
                            </p:nvSpPr>
                            <p:spPr bwMode="auto">
                              <a:xfrm>
                                <a:off x="2690" y="3067"/>
                                <a:ext cx="19" cy="18"/>
                              </a:xfrm>
                              <a:custGeom>
                                <a:avLst/>
                                <a:gdLst>
                                  <a:gd name="T0" fmla="*/ 131 w 131"/>
                                  <a:gd name="T1" fmla="*/ 0 h 136"/>
                                  <a:gd name="T2" fmla="*/ 37 w 131"/>
                                  <a:gd name="T3" fmla="*/ 31 h 136"/>
                                  <a:gd name="T4" fmla="*/ 0 w 131"/>
                                  <a:gd name="T5" fmla="*/ 136 h 136"/>
                                  <a:gd name="T6" fmla="*/ 131 w 131"/>
                                  <a:gd name="T7" fmla="*/ 86 h 136"/>
                                  <a:gd name="T8" fmla="*/ 131 w 131"/>
                                  <a:gd name="T9" fmla="*/ 0 h 136"/>
                                </a:gdLst>
                                <a:ahLst/>
                                <a:cxnLst>
                                  <a:cxn ang="0">
                                    <a:pos x="T0" y="T1"/>
                                  </a:cxn>
                                  <a:cxn ang="0">
                                    <a:pos x="T2" y="T3"/>
                                  </a:cxn>
                                  <a:cxn ang="0">
                                    <a:pos x="T4" y="T5"/>
                                  </a:cxn>
                                  <a:cxn ang="0">
                                    <a:pos x="T6" y="T7"/>
                                  </a:cxn>
                                  <a:cxn ang="0">
                                    <a:pos x="T8" y="T9"/>
                                  </a:cxn>
                                </a:cxnLst>
                                <a:rect l="0" t="0" r="r" b="b"/>
                                <a:pathLst>
                                  <a:path w="131" h="136">
                                    <a:moveTo>
                                      <a:pt x="131" y="0"/>
                                    </a:moveTo>
                                    <a:lnTo>
                                      <a:pt x="37" y="31"/>
                                    </a:lnTo>
                                    <a:lnTo>
                                      <a:pt x="0" y="136"/>
                                    </a:lnTo>
                                    <a:lnTo>
                                      <a:pt x="131" y="86"/>
                                    </a:lnTo>
                                    <a:lnTo>
                                      <a:pt x="13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1" name="Freeform 43"/>
                              <p:cNvSpPr/>
                              <p:nvPr/>
                            </p:nvSpPr>
                            <p:spPr bwMode="auto">
                              <a:xfrm>
                                <a:off x="2568" y="3044"/>
                                <a:ext cx="129" cy="39"/>
                              </a:xfrm>
                              <a:custGeom>
                                <a:avLst/>
                                <a:gdLst>
                                  <a:gd name="T0" fmla="*/ 402 w 898"/>
                                  <a:gd name="T1" fmla="*/ 0 h 312"/>
                                  <a:gd name="T2" fmla="*/ 53 w 898"/>
                                  <a:gd name="T3" fmla="*/ 42 h 312"/>
                                  <a:gd name="T4" fmla="*/ 0 w 898"/>
                                  <a:gd name="T5" fmla="*/ 120 h 312"/>
                                  <a:gd name="T6" fmla="*/ 12 w 898"/>
                                  <a:gd name="T7" fmla="*/ 143 h 312"/>
                                  <a:gd name="T8" fmla="*/ 73 w 898"/>
                                  <a:gd name="T9" fmla="*/ 51 h 312"/>
                                  <a:gd name="T10" fmla="*/ 232 w 898"/>
                                  <a:gd name="T11" fmla="*/ 134 h 312"/>
                                  <a:gd name="T12" fmla="*/ 175 w 898"/>
                                  <a:gd name="T13" fmla="*/ 220 h 312"/>
                                  <a:gd name="T14" fmla="*/ 337 w 898"/>
                                  <a:gd name="T15" fmla="*/ 309 h 312"/>
                                  <a:gd name="T16" fmla="*/ 396 w 898"/>
                                  <a:gd name="T17" fmla="*/ 218 h 312"/>
                                  <a:gd name="T18" fmla="*/ 576 w 898"/>
                                  <a:gd name="T19" fmla="*/ 312 h 312"/>
                                  <a:gd name="T20" fmla="*/ 898 w 898"/>
                                  <a:gd name="T21" fmla="*/ 223 h 312"/>
                                  <a:gd name="T22" fmla="*/ 402 w 898"/>
                                  <a:gd name="T23" fmla="*/ 0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98" h="312">
                                    <a:moveTo>
                                      <a:pt x="402" y="0"/>
                                    </a:moveTo>
                                    <a:lnTo>
                                      <a:pt x="53" y="42"/>
                                    </a:lnTo>
                                    <a:lnTo>
                                      <a:pt x="0" y="120"/>
                                    </a:lnTo>
                                    <a:lnTo>
                                      <a:pt x="12" y="143"/>
                                    </a:lnTo>
                                    <a:lnTo>
                                      <a:pt x="73" y="51"/>
                                    </a:lnTo>
                                    <a:lnTo>
                                      <a:pt x="232" y="134"/>
                                    </a:lnTo>
                                    <a:lnTo>
                                      <a:pt x="175" y="220"/>
                                    </a:lnTo>
                                    <a:lnTo>
                                      <a:pt x="337" y="309"/>
                                    </a:lnTo>
                                    <a:lnTo>
                                      <a:pt x="396" y="218"/>
                                    </a:lnTo>
                                    <a:lnTo>
                                      <a:pt x="576" y="312"/>
                                    </a:lnTo>
                                    <a:lnTo>
                                      <a:pt x="898" y="223"/>
                                    </a:lnTo>
                                    <a:lnTo>
                                      <a:pt x="402"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2" name="Freeform 44"/>
                              <p:cNvSpPr/>
                              <p:nvPr/>
                            </p:nvSpPr>
                            <p:spPr bwMode="auto">
                              <a:xfrm>
                                <a:off x="2645" y="3071"/>
                                <a:ext cx="51" cy="25"/>
                              </a:xfrm>
                              <a:custGeom>
                                <a:avLst/>
                                <a:gdLst>
                                  <a:gd name="T0" fmla="*/ 359 w 359"/>
                                  <a:gd name="T1" fmla="*/ 0 h 198"/>
                                  <a:gd name="T2" fmla="*/ 322 w 359"/>
                                  <a:gd name="T3" fmla="*/ 104 h 198"/>
                                  <a:gd name="T4" fmla="*/ 0 w 359"/>
                                  <a:gd name="T5" fmla="*/ 198 h 198"/>
                                  <a:gd name="T6" fmla="*/ 34 w 359"/>
                                  <a:gd name="T7" fmla="*/ 91 h 198"/>
                                  <a:gd name="T8" fmla="*/ 359 w 359"/>
                                  <a:gd name="T9" fmla="*/ 0 h 198"/>
                                </a:gdLst>
                                <a:ahLst/>
                                <a:cxnLst>
                                  <a:cxn ang="0">
                                    <a:pos x="T0" y="T1"/>
                                  </a:cxn>
                                  <a:cxn ang="0">
                                    <a:pos x="T2" y="T3"/>
                                  </a:cxn>
                                  <a:cxn ang="0">
                                    <a:pos x="T4" y="T5"/>
                                  </a:cxn>
                                  <a:cxn ang="0">
                                    <a:pos x="T6" y="T7"/>
                                  </a:cxn>
                                  <a:cxn ang="0">
                                    <a:pos x="T8" y="T9"/>
                                  </a:cxn>
                                </a:cxnLst>
                                <a:rect l="0" t="0" r="r" b="b"/>
                                <a:pathLst>
                                  <a:path w="359" h="198">
                                    <a:moveTo>
                                      <a:pt x="359" y="0"/>
                                    </a:moveTo>
                                    <a:lnTo>
                                      <a:pt x="322" y="104"/>
                                    </a:lnTo>
                                    <a:lnTo>
                                      <a:pt x="0" y="198"/>
                                    </a:lnTo>
                                    <a:lnTo>
                                      <a:pt x="34" y="91"/>
                                    </a:lnTo>
                                    <a:lnTo>
                                      <a:pt x="359" y="0"/>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3" name="Freeform 45"/>
                              <p:cNvSpPr/>
                              <p:nvPr/>
                            </p:nvSpPr>
                            <p:spPr bwMode="auto">
                              <a:xfrm>
                                <a:off x="2645" y="3083"/>
                                <a:ext cx="47" cy="18"/>
                              </a:xfrm>
                              <a:custGeom>
                                <a:avLst/>
                                <a:gdLst>
                                  <a:gd name="T0" fmla="*/ 0 w 326"/>
                                  <a:gd name="T1" fmla="*/ 96 h 142"/>
                                  <a:gd name="T2" fmla="*/ 0 w 326"/>
                                  <a:gd name="T3" fmla="*/ 142 h 142"/>
                                  <a:gd name="T4" fmla="*/ 326 w 326"/>
                                  <a:gd name="T5" fmla="*/ 0 h 142"/>
                                  <a:gd name="T6" fmla="*/ 0 w 326"/>
                                  <a:gd name="T7" fmla="*/ 96 h 142"/>
                                </a:gdLst>
                                <a:ahLst/>
                                <a:cxnLst>
                                  <a:cxn ang="0">
                                    <a:pos x="T0" y="T1"/>
                                  </a:cxn>
                                  <a:cxn ang="0">
                                    <a:pos x="T2" y="T3"/>
                                  </a:cxn>
                                  <a:cxn ang="0">
                                    <a:pos x="T4" y="T5"/>
                                  </a:cxn>
                                  <a:cxn ang="0">
                                    <a:pos x="T6" y="T7"/>
                                  </a:cxn>
                                </a:cxnLst>
                                <a:rect l="0" t="0" r="r" b="b"/>
                                <a:pathLst>
                                  <a:path w="326" h="142">
                                    <a:moveTo>
                                      <a:pt x="0" y="96"/>
                                    </a:moveTo>
                                    <a:lnTo>
                                      <a:pt x="0" y="142"/>
                                    </a:lnTo>
                                    <a:lnTo>
                                      <a:pt x="326" y="0"/>
                                    </a:lnTo>
                                    <a:lnTo>
                                      <a:pt x="0" y="96"/>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4" name="Freeform 46"/>
                              <p:cNvSpPr/>
                              <p:nvPr/>
                            </p:nvSpPr>
                            <p:spPr bwMode="auto">
                              <a:xfrm>
                                <a:off x="2527" y="3063"/>
                                <a:ext cx="119" cy="56"/>
                              </a:xfrm>
                              <a:custGeom>
                                <a:avLst/>
                                <a:gdLst>
                                  <a:gd name="T0" fmla="*/ 0 w 836"/>
                                  <a:gd name="T1" fmla="*/ 136 h 453"/>
                                  <a:gd name="T2" fmla="*/ 506 w 836"/>
                                  <a:gd name="T3" fmla="*/ 453 h 453"/>
                                  <a:gd name="T4" fmla="*/ 810 w 836"/>
                                  <a:gd name="T5" fmla="*/ 273 h 453"/>
                                  <a:gd name="T6" fmla="*/ 836 w 836"/>
                                  <a:gd name="T7" fmla="*/ 262 h 453"/>
                                  <a:gd name="T8" fmla="*/ 351 w 836"/>
                                  <a:gd name="T9" fmla="*/ 0 h 453"/>
                                  <a:gd name="T10" fmla="*/ 0 w 836"/>
                                  <a:gd name="T11" fmla="*/ 136 h 453"/>
                                </a:gdLst>
                                <a:ahLst/>
                                <a:cxnLst>
                                  <a:cxn ang="0">
                                    <a:pos x="T0" y="T1"/>
                                  </a:cxn>
                                  <a:cxn ang="0">
                                    <a:pos x="T2" y="T3"/>
                                  </a:cxn>
                                  <a:cxn ang="0">
                                    <a:pos x="T4" y="T5"/>
                                  </a:cxn>
                                  <a:cxn ang="0">
                                    <a:pos x="T6" y="T7"/>
                                  </a:cxn>
                                  <a:cxn ang="0">
                                    <a:pos x="T8" y="T9"/>
                                  </a:cxn>
                                  <a:cxn ang="0">
                                    <a:pos x="T10" y="T11"/>
                                  </a:cxn>
                                </a:cxnLst>
                                <a:rect l="0" t="0" r="r" b="b"/>
                                <a:pathLst>
                                  <a:path w="836" h="453">
                                    <a:moveTo>
                                      <a:pt x="0" y="136"/>
                                    </a:moveTo>
                                    <a:lnTo>
                                      <a:pt x="506" y="453"/>
                                    </a:lnTo>
                                    <a:lnTo>
                                      <a:pt x="810" y="273"/>
                                    </a:lnTo>
                                    <a:lnTo>
                                      <a:pt x="836" y="262"/>
                                    </a:lnTo>
                                    <a:lnTo>
                                      <a:pt x="351" y="0"/>
                                    </a:lnTo>
                                    <a:lnTo>
                                      <a:pt x="0" y="136"/>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095" name="Freeform 47"/>
                              <p:cNvSpPr/>
                              <p:nvPr/>
                            </p:nvSpPr>
                            <p:spPr bwMode="auto">
                              <a:xfrm>
                                <a:off x="2598" y="3094"/>
                                <a:ext cx="48" cy="25"/>
                              </a:xfrm>
                              <a:custGeom>
                                <a:avLst/>
                                <a:gdLst>
                                  <a:gd name="T0" fmla="*/ 0 w 336"/>
                                  <a:gd name="T1" fmla="*/ 197 h 197"/>
                                  <a:gd name="T2" fmla="*/ 308 w 336"/>
                                  <a:gd name="T3" fmla="*/ 11 h 197"/>
                                  <a:gd name="T4" fmla="*/ 336 w 336"/>
                                  <a:gd name="T5" fmla="*/ 0 h 197"/>
                                  <a:gd name="T6" fmla="*/ 336 w 336"/>
                                  <a:gd name="T7" fmla="*/ 22 h 197"/>
                                  <a:gd name="T8" fmla="*/ 0 w 336"/>
                                  <a:gd name="T9" fmla="*/ 197 h 197"/>
                                </a:gdLst>
                                <a:ahLst/>
                                <a:cxnLst>
                                  <a:cxn ang="0">
                                    <a:pos x="T0" y="T1"/>
                                  </a:cxn>
                                  <a:cxn ang="0">
                                    <a:pos x="T2" y="T3"/>
                                  </a:cxn>
                                  <a:cxn ang="0">
                                    <a:pos x="T4" y="T5"/>
                                  </a:cxn>
                                  <a:cxn ang="0">
                                    <a:pos x="T6" y="T7"/>
                                  </a:cxn>
                                  <a:cxn ang="0">
                                    <a:pos x="T8" y="T9"/>
                                  </a:cxn>
                                </a:cxnLst>
                                <a:rect l="0" t="0" r="r" b="b"/>
                                <a:pathLst>
                                  <a:path w="336" h="197">
                                    <a:moveTo>
                                      <a:pt x="0" y="197"/>
                                    </a:moveTo>
                                    <a:lnTo>
                                      <a:pt x="308" y="11"/>
                                    </a:lnTo>
                                    <a:lnTo>
                                      <a:pt x="336" y="0"/>
                                    </a:lnTo>
                                    <a:lnTo>
                                      <a:pt x="336" y="22"/>
                                    </a:lnTo>
                                    <a:lnTo>
                                      <a:pt x="0" y="197"/>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642096" name="Line 48"/>
                            <p:cNvSpPr>
                              <a:spLocks noChangeShapeType="1"/>
                            </p:cNvSpPr>
                            <p:nvPr/>
                          </p:nvSpPr>
                          <p:spPr bwMode="auto">
                            <a:xfrm>
                              <a:off x="2598" y="3068"/>
                              <a:ext cx="20" cy="10"/>
                            </a:xfrm>
                            <a:prstGeom prst="line">
                              <a:avLst/>
                            </a:prstGeom>
                            <a:noFill/>
                            <a:ln w="158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642097" name="Group 49"/>
                        <p:cNvGrpSpPr/>
                        <p:nvPr/>
                      </p:nvGrpSpPr>
                      <p:grpSpPr bwMode="auto">
                        <a:xfrm>
                          <a:off x="2533" y="3064"/>
                          <a:ext cx="107" cy="50"/>
                          <a:chOff x="2533" y="3064"/>
                          <a:chExt cx="107" cy="50"/>
                        </a:xfrm>
                      </p:grpSpPr>
                      <p:grpSp>
                        <p:nvGrpSpPr>
                          <p:cNvPr id="642098" name="Group 50"/>
                          <p:cNvGrpSpPr/>
                          <p:nvPr/>
                        </p:nvGrpSpPr>
                        <p:grpSpPr bwMode="auto">
                          <a:xfrm>
                            <a:off x="2533" y="3065"/>
                            <a:ext cx="107" cy="49"/>
                            <a:chOff x="2533" y="3065"/>
                            <a:chExt cx="107" cy="49"/>
                          </a:xfrm>
                        </p:grpSpPr>
                        <p:sp>
                          <p:nvSpPr>
                            <p:cNvPr id="642099" name="Freeform 51"/>
                            <p:cNvSpPr/>
                            <p:nvPr/>
                          </p:nvSpPr>
                          <p:spPr bwMode="auto">
                            <a:xfrm>
                              <a:off x="2558" y="3085"/>
                              <a:ext cx="29" cy="16"/>
                            </a:xfrm>
                            <a:custGeom>
                              <a:avLst/>
                              <a:gdLst>
                                <a:gd name="T0" fmla="*/ 35 w 202"/>
                                <a:gd name="T1" fmla="*/ 0 h 121"/>
                                <a:gd name="T2" fmla="*/ 202 w 202"/>
                                <a:gd name="T3" fmla="*/ 104 h 121"/>
                                <a:gd name="T4" fmla="*/ 167 w 202"/>
                                <a:gd name="T5" fmla="*/ 121 h 121"/>
                                <a:gd name="T6" fmla="*/ 0 w 202"/>
                                <a:gd name="T7" fmla="*/ 17 h 121"/>
                                <a:gd name="T8" fmla="*/ 35 w 202"/>
                                <a:gd name="T9" fmla="*/ 0 h 121"/>
                              </a:gdLst>
                              <a:ahLst/>
                              <a:cxnLst>
                                <a:cxn ang="0">
                                  <a:pos x="T0" y="T1"/>
                                </a:cxn>
                                <a:cxn ang="0">
                                  <a:pos x="T2" y="T3"/>
                                </a:cxn>
                                <a:cxn ang="0">
                                  <a:pos x="T4" y="T5"/>
                                </a:cxn>
                                <a:cxn ang="0">
                                  <a:pos x="T6" y="T7"/>
                                </a:cxn>
                                <a:cxn ang="0">
                                  <a:pos x="T8" y="T9"/>
                                </a:cxn>
                              </a:cxnLst>
                              <a:rect l="0" t="0" r="r" b="b"/>
                              <a:pathLst>
                                <a:path w="202" h="121">
                                  <a:moveTo>
                                    <a:pt x="35" y="0"/>
                                  </a:moveTo>
                                  <a:lnTo>
                                    <a:pt x="202" y="104"/>
                                  </a:lnTo>
                                  <a:lnTo>
                                    <a:pt x="167" y="121"/>
                                  </a:lnTo>
                                  <a:lnTo>
                                    <a:pt x="0" y="17"/>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0" name="Freeform 52"/>
                            <p:cNvSpPr/>
                            <p:nvPr/>
                          </p:nvSpPr>
                          <p:spPr bwMode="auto">
                            <a:xfrm>
                              <a:off x="2582" y="3098"/>
                              <a:ext cx="14" cy="7"/>
                            </a:xfrm>
                            <a:custGeom>
                              <a:avLst/>
                              <a:gdLst>
                                <a:gd name="T0" fmla="*/ 37 w 98"/>
                                <a:gd name="T1" fmla="*/ 0 h 60"/>
                                <a:gd name="T2" fmla="*/ 98 w 98"/>
                                <a:gd name="T3" fmla="*/ 38 h 60"/>
                                <a:gd name="T4" fmla="*/ 64 w 98"/>
                                <a:gd name="T5" fmla="*/ 60 h 60"/>
                                <a:gd name="T6" fmla="*/ 0 w 98"/>
                                <a:gd name="T7" fmla="*/ 17 h 60"/>
                                <a:gd name="T8" fmla="*/ 37 w 98"/>
                                <a:gd name="T9" fmla="*/ 0 h 60"/>
                              </a:gdLst>
                              <a:ahLst/>
                              <a:cxnLst>
                                <a:cxn ang="0">
                                  <a:pos x="T0" y="T1"/>
                                </a:cxn>
                                <a:cxn ang="0">
                                  <a:pos x="T2" y="T3"/>
                                </a:cxn>
                                <a:cxn ang="0">
                                  <a:pos x="T4" y="T5"/>
                                </a:cxn>
                                <a:cxn ang="0">
                                  <a:pos x="T6" y="T7"/>
                                </a:cxn>
                                <a:cxn ang="0">
                                  <a:pos x="T8" y="T9"/>
                                </a:cxn>
                              </a:cxnLst>
                              <a:rect l="0" t="0" r="r" b="b"/>
                              <a:pathLst>
                                <a:path w="98" h="60">
                                  <a:moveTo>
                                    <a:pt x="37" y="0"/>
                                  </a:moveTo>
                                  <a:lnTo>
                                    <a:pt x="98" y="38"/>
                                  </a:lnTo>
                                  <a:lnTo>
                                    <a:pt x="64" y="60"/>
                                  </a:lnTo>
                                  <a:lnTo>
                                    <a:pt x="0" y="17"/>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1" name="Freeform 53"/>
                            <p:cNvSpPr/>
                            <p:nvPr/>
                          </p:nvSpPr>
                          <p:spPr bwMode="auto">
                            <a:xfrm>
                              <a:off x="2587" y="3102"/>
                              <a:ext cx="15" cy="8"/>
                            </a:xfrm>
                            <a:custGeom>
                              <a:avLst/>
                              <a:gdLst>
                                <a:gd name="T0" fmla="*/ 63 w 107"/>
                                <a:gd name="T1" fmla="*/ 0 h 64"/>
                                <a:gd name="T2" fmla="*/ 107 w 107"/>
                                <a:gd name="T3" fmla="*/ 30 h 64"/>
                                <a:gd name="T4" fmla="*/ 70 w 107"/>
                                <a:gd name="T5" fmla="*/ 54 h 64"/>
                                <a:gd name="T6" fmla="*/ 64 w 107"/>
                                <a:gd name="T7" fmla="*/ 47 h 64"/>
                                <a:gd name="T8" fmla="*/ 39 w 107"/>
                                <a:gd name="T9" fmla="*/ 64 h 64"/>
                                <a:gd name="T10" fmla="*/ 0 w 107"/>
                                <a:gd name="T11" fmla="*/ 38 h 64"/>
                                <a:gd name="T12" fmla="*/ 63 w 107"/>
                                <a:gd name="T13" fmla="*/ 0 h 64"/>
                              </a:gdLst>
                              <a:ahLst/>
                              <a:cxnLst>
                                <a:cxn ang="0">
                                  <a:pos x="T0" y="T1"/>
                                </a:cxn>
                                <a:cxn ang="0">
                                  <a:pos x="T2" y="T3"/>
                                </a:cxn>
                                <a:cxn ang="0">
                                  <a:pos x="T4" y="T5"/>
                                </a:cxn>
                                <a:cxn ang="0">
                                  <a:pos x="T6" y="T7"/>
                                </a:cxn>
                                <a:cxn ang="0">
                                  <a:pos x="T8" y="T9"/>
                                </a:cxn>
                                <a:cxn ang="0">
                                  <a:pos x="T10" y="T11"/>
                                </a:cxn>
                                <a:cxn ang="0">
                                  <a:pos x="T12" y="T13"/>
                                </a:cxn>
                              </a:cxnLst>
                              <a:rect l="0" t="0" r="r" b="b"/>
                              <a:pathLst>
                                <a:path w="107" h="64">
                                  <a:moveTo>
                                    <a:pt x="63" y="0"/>
                                  </a:moveTo>
                                  <a:lnTo>
                                    <a:pt x="107" y="30"/>
                                  </a:lnTo>
                                  <a:lnTo>
                                    <a:pt x="70" y="54"/>
                                  </a:lnTo>
                                  <a:lnTo>
                                    <a:pt x="64" y="47"/>
                                  </a:lnTo>
                                  <a:lnTo>
                                    <a:pt x="39" y="64"/>
                                  </a:lnTo>
                                  <a:lnTo>
                                    <a:pt x="0" y="38"/>
                                  </a:lnTo>
                                  <a:lnTo>
                                    <a:pt x="63"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2" name="Freeform 54"/>
                            <p:cNvSpPr/>
                            <p:nvPr/>
                          </p:nvSpPr>
                          <p:spPr bwMode="auto">
                            <a:xfrm>
                              <a:off x="2597" y="3106"/>
                              <a:ext cx="15" cy="8"/>
                            </a:xfrm>
                            <a:custGeom>
                              <a:avLst/>
                              <a:gdLst>
                                <a:gd name="T0" fmla="*/ 35 w 103"/>
                                <a:gd name="T1" fmla="*/ 0 h 65"/>
                                <a:gd name="T2" fmla="*/ 103 w 103"/>
                                <a:gd name="T3" fmla="*/ 45 h 65"/>
                                <a:gd name="T4" fmla="*/ 66 w 103"/>
                                <a:gd name="T5" fmla="*/ 65 h 65"/>
                                <a:gd name="T6" fmla="*/ 0 w 103"/>
                                <a:gd name="T7" fmla="*/ 21 h 65"/>
                                <a:gd name="T8" fmla="*/ 35 w 103"/>
                                <a:gd name="T9" fmla="*/ 0 h 65"/>
                              </a:gdLst>
                              <a:ahLst/>
                              <a:cxnLst>
                                <a:cxn ang="0">
                                  <a:pos x="T0" y="T1"/>
                                </a:cxn>
                                <a:cxn ang="0">
                                  <a:pos x="T2" y="T3"/>
                                </a:cxn>
                                <a:cxn ang="0">
                                  <a:pos x="T4" y="T5"/>
                                </a:cxn>
                                <a:cxn ang="0">
                                  <a:pos x="T6" y="T7"/>
                                </a:cxn>
                                <a:cxn ang="0">
                                  <a:pos x="T8" y="T9"/>
                                </a:cxn>
                              </a:cxnLst>
                              <a:rect l="0" t="0" r="r" b="b"/>
                              <a:pathLst>
                                <a:path w="103" h="65">
                                  <a:moveTo>
                                    <a:pt x="35" y="0"/>
                                  </a:moveTo>
                                  <a:lnTo>
                                    <a:pt x="103" y="45"/>
                                  </a:lnTo>
                                  <a:lnTo>
                                    <a:pt x="66" y="65"/>
                                  </a:lnTo>
                                  <a:lnTo>
                                    <a:pt x="0" y="21"/>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3" name="Freeform 55"/>
                            <p:cNvSpPr/>
                            <p:nvPr/>
                          </p:nvSpPr>
                          <p:spPr bwMode="auto">
                            <a:xfrm>
                              <a:off x="2551" y="3081"/>
                              <a:ext cx="12" cy="7"/>
                            </a:xfrm>
                            <a:custGeom>
                              <a:avLst/>
                              <a:gdLst>
                                <a:gd name="T0" fmla="*/ 34 w 86"/>
                                <a:gd name="T1" fmla="*/ 0 h 52"/>
                                <a:gd name="T2" fmla="*/ 86 w 86"/>
                                <a:gd name="T3" fmla="*/ 34 h 52"/>
                                <a:gd name="T4" fmla="*/ 50 w 86"/>
                                <a:gd name="T5" fmla="*/ 52 h 52"/>
                                <a:gd name="T6" fmla="*/ 0 w 86"/>
                                <a:gd name="T7" fmla="*/ 19 h 52"/>
                                <a:gd name="T8" fmla="*/ 34 w 86"/>
                                <a:gd name="T9" fmla="*/ 0 h 52"/>
                              </a:gdLst>
                              <a:ahLst/>
                              <a:cxnLst>
                                <a:cxn ang="0">
                                  <a:pos x="T0" y="T1"/>
                                </a:cxn>
                                <a:cxn ang="0">
                                  <a:pos x="T2" y="T3"/>
                                </a:cxn>
                                <a:cxn ang="0">
                                  <a:pos x="T4" y="T5"/>
                                </a:cxn>
                                <a:cxn ang="0">
                                  <a:pos x="T6" y="T7"/>
                                </a:cxn>
                                <a:cxn ang="0">
                                  <a:pos x="T8" y="T9"/>
                                </a:cxn>
                              </a:cxnLst>
                              <a:rect l="0" t="0" r="r" b="b"/>
                              <a:pathLst>
                                <a:path w="86" h="52">
                                  <a:moveTo>
                                    <a:pt x="34" y="0"/>
                                  </a:moveTo>
                                  <a:lnTo>
                                    <a:pt x="86" y="34"/>
                                  </a:lnTo>
                                  <a:lnTo>
                                    <a:pt x="50" y="52"/>
                                  </a:lnTo>
                                  <a:lnTo>
                                    <a:pt x="0" y="19"/>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4" name="Freeform 56"/>
                            <p:cNvSpPr/>
                            <p:nvPr/>
                          </p:nvSpPr>
                          <p:spPr bwMode="auto">
                            <a:xfrm>
                              <a:off x="2542" y="3077"/>
                              <a:ext cx="11" cy="5"/>
                            </a:xfrm>
                            <a:custGeom>
                              <a:avLst/>
                              <a:gdLst>
                                <a:gd name="T0" fmla="*/ 39 w 78"/>
                                <a:gd name="T1" fmla="*/ 0 h 45"/>
                                <a:gd name="T2" fmla="*/ 78 w 78"/>
                                <a:gd name="T3" fmla="*/ 25 h 45"/>
                                <a:gd name="T4" fmla="*/ 39 w 78"/>
                                <a:gd name="T5" fmla="*/ 45 h 45"/>
                                <a:gd name="T6" fmla="*/ 0 w 78"/>
                                <a:gd name="T7" fmla="*/ 19 h 45"/>
                                <a:gd name="T8" fmla="*/ 39 w 78"/>
                                <a:gd name="T9" fmla="*/ 0 h 45"/>
                              </a:gdLst>
                              <a:ahLst/>
                              <a:cxnLst>
                                <a:cxn ang="0">
                                  <a:pos x="T0" y="T1"/>
                                </a:cxn>
                                <a:cxn ang="0">
                                  <a:pos x="T2" y="T3"/>
                                </a:cxn>
                                <a:cxn ang="0">
                                  <a:pos x="T4" y="T5"/>
                                </a:cxn>
                                <a:cxn ang="0">
                                  <a:pos x="T6" y="T7"/>
                                </a:cxn>
                                <a:cxn ang="0">
                                  <a:pos x="T8" y="T9"/>
                                </a:cxn>
                              </a:cxnLst>
                              <a:rect l="0" t="0" r="r" b="b"/>
                              <a:pathLst>
                                <a:path w="78" h="45">
                                  <a:moveTo>
                                    <a:pt x="39" y="0"/>
                                  </a:moveTo>
                                  <a:lnTo>
                                    <a:pt x="78" y="25"/>
                                  </a:lnTo>
                                  <a:lnTo>
                                    <a:pt x="39" y="45"/>
                                  </a:lnTo>
                                  <a:lnTo>
                                    <a:pt x="0" y="19"/>
                                  </a:lnTo>
                                  <a:lnTo>
                                    <a:pt x="3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5" name="Freeform 57"/>
                            <p:cNvSpPr/>
                            <p:nvPr/>
                          </p:nvSpPr>
                          <p:spPr bwMode="auto">
                            <a:xfrm>
                              <a:off x="2536" y="3079"/>
                              <a:ext cx="10" cy="6"/>
                            </a:xfrm>
                            <a:custGeom>
                              <a:avLst/>
                              <a:gdLst>
                                <a:gd name="T0" fmla="*/ 36 w 72"/>
                                <a:gd name="T1" fmla="*/ 0 h 42"/>
                                <a:gd name="T2" fmla="*/ 72 w 72"/>
                                <a:gd name="T3" fmla="*/ 25 h 42"/>
                                <a:gd name="T4" fmla="*/ 35 w 72"/>
                                <a:gd name="T5" fmla="*/ 42 h 42"/>
                                <a:gd name="T6" fmla="*/ 0 w 72"/>
                                <a:gd name="T7" fmla="*/ 15 h 42"/>
                                <a:gd name="T8" fmla="*/ 36 w 72"/>
                                <a:gd name="T9" fmla="*/ 0 h 42"/>
                              </a:gdLst>
                              <a:ahLst/>
                              <a:cxnLst>
                                <a:cxn ang="0">
                                  <a:pos x="T0" y="T1"/>
                                </a:cxn>
                                <a:cxn ang="0">
                                  <a:pos x="T2" y="T3"/>
                                </a:cxn>
                                <a:cxn ang="0">
                                  <a:pos x="T4" y="T5"/>
                                </a:cxn>
                                <a:cxn ang="0">
                                  <a:pos x="T6" y="T7"/>
                                </a:cxn>
                                <a:cxn ang="0">
                                  <a:pos x="T8" y="T9"/>
                                </a:cxn>
                              </a:cxnLst>
                              <a:rect l="0" t="0" r="r" b="b"/>
                              <a:pathLst>
                                <a:path w="72" h="42">
                                  <a:moveTo>
                                    <a:pt x="36" y="0"/>
                                  </a:moveTo>
                                  <a:lnTo>
                                    <a:pt x="72" y="25"/>
                                  </a:lnTo>
                                  <a:lnTo>
                                    <a:pt x="35" y="42"/>
                                  </a:lnTo>
                                  <a:lnTo>
                                    <a:pt x="0" y="15"/>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6" name="Freeform 58"/>
                            <p:cNvSpPr/>
                            <p:nvPr/>
                          </p:nvSpPr>
                          <p:spPr bwMode="auto">
                            <a:xfrm>
                              <a:off x="2541" y="3082"/>
                              <a:ext cx="9" cy="5"/>
                            </a:xfrm>
                            <a:custGeom>
                              <a:avLst/>
                              <a:gdLst>
                                <a:gd name="T0" fmla="*/ 36 w 63"/>
                                <a:gd name="T1" fmla="*/ 0 h 41"/>
                                <a:gd name="T2" fmla="*/ 63 w 63"/>
                                <a:gd name="T3" fmla="*/ 21 h 41"/>
                                <a:gd name="T4" fmla="*/ 32 w 63"/>
                                <a:gd name="T5" fmla="*/ 41 h 41"/>
                                <a:gd name="T6" fmla="*/ 0 w 63"/>
                                <a:gd name="T7" fmla="*/ 19 h 41"/>
                                <a:gd name="T8" fmla="*/ 36 w 63"/>
                                <a:gd name="T9" fmla="*/ 0 h 41"/>
                              </a:gdLst>
                              <a:ahLst/>
                              <a:cxnLst>
                                <a:cxn ang="0">
                                  <a:pos x="T0" y="T1"/>
                                </a:cxn>
                                <a:cxn ang="0">
                                  <a:pos x="T2" y="T3"/>
                                </a:cxn>
                                <a:cxn ang="0">
                                  <a:pos x="T4" y="T5"/>
                                </a:cxn>
                                <a:cxn ang="0">
                                  <a:pos x="T6" y="T7"/>
                                </a:cxn>
                                <a:cxn ang="0">
                                  <a:pos x="T8" y="T9"/>
                                </a:cxn>
                              </a:cxnLst>
                              <a:rect l="0" t="0" r="r" b="b"/>
                              <a:pathLst>
                                <a:path w="63" h="41">
                                  <a:moveTo>
                                    <a:pt x="36" y="0"/>
                                  </a:moveTo>
                                  <a:lnTo>
                                    <a:pt x="63" y="21"/>
                                  </a:lnTo>
                                  <a:lnTo>
                                    <a:pt x="32" y="41"/>
                                  </a:lnTo>
                                  <a:lnTo>
                                    <a:pt x="0" y="19"/>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7" name="Freeform 59"/>
                            <p:cNvSpPr/>
                            <p:nvPr/>
                          </p:nvSpPr>
                          <p:spPr bwMode="auto">
                            <a:xfrm>
                              <a:off x="2533" y="3078"/>
                              <a:ext cx="8" cy="4"/>
                            </a:xfrm>
                            <a:custGeom>
                              <a:avLst/>
                              <a:gdLst>
                                <a:gd name="T0" fmla="*/ 37 w 58"/>
                                <a:gd name="T1" fmla="*/ 0 h 33"/>
                                <a:gd name="T2" fmla="*/ 58 w 58"/>
                                <a:gd name="T3" fmla="*/ 16 h 33"/>
                                <a:gd name="T4" fmla="*/ 21 w 58"/>
                                <a:gd name="T5" fmla="*/ 33 h 33"/>
                                <a:gd name="T6" fmla="*/ 0 w 58"/>
                                <a:gd name="T7" fmla="*/ 17 h 33"/>
                                <a:gd name="T8" fmla="*/ 37 w 58"/>
                                <a:gd name="T9" fmla="*/ 0 h 33"/>
                              </a:gdLst>
                              <a:ahLst/>
                              <a:cxnLst>
                                <a:cxn ang="0">
                                  <a:pos x="T0" y="T1"/>
                                </a:cxn>
                                <a:cxn ang="0">
                                  <a:pos x="T2" y="T3"/>
                                </a:cxn>
                                <a:cxn ang="0">
                                  <a:pos x="T4" y="T5"/>
                                </a:cxn>
                                <a:cxn ang="0">
                                  <a:pos x="T6" y="T7"/>
                                </a:cxn>
                                <a:cxn ang="0">
                                  <a:pos x="T8" y="T9"/>
                                </a:cxn>
                              </a:cxnLst>
                              <a:rect l="0" t="0" r="r" b="b"/>
                              <a:pathLst>
                                <a:path w="58" h="33">
                                  <a:moveTo>
                                    <a:pt x="37" y="0"/>
                                  </a:moveTo>
                                  <a:lnTo>
                                    <a:pt x="58" y="16"/>
                                  </a:lnTo>
                                  <a:lnTo>
                                    <a:pt x="21" y="33"/>
                                  </a:lnTo>
                                  <a:lnTo>
                                    <a:pt x="0" y="17"/>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8" name="Freeform 60"/>
                            <p:cNvSpPr/>
                            <p:nvPr/>
                          </p:nvSpPr>
                          <p:spPr bwMode="auto">
                            <a:xfrm>
                              <a:off x="2603" y="3103"/>
                              <a:ext cx="15" cy="8"/>
                            </a:xfrm>
                            <a:custGeom>
                              <a:avLst/>
                              <a:gdLst>
                                <a:gd name="T0" fmla="*/ 34 w 102"/>
                                <a:gd name="T1" fmla="*/ 0 h 64"/>
                                <a:gd name="T2" fmla="*/ 102 w 102"/>
                                <a:gd name="T3" fmla="*/ 42 h 64"/>
                                <a:gd name="T4" fmla="*/ 66 w 102"/>
                                <a:gd name="T5" fmla="*/ 64 h 64"/>
                                <a:gd name="T6" fmla="*/ 0 w 102"/>
                                <a:gd name="T7" fmla="*/ 22 h 64"/>
                                <a:gd name="T8" fmla="*/ 34 w 102"/>
                                <a:gd name="T9" fmla="*/ 0 h 64"/>
                              </a:gdLst>
                              <a:ahLst/>
                              <a:cxnLst>
                                <a:cxn ang="0">
                                  <a:pos x="T0" y="T1"/>
                                </a:cxn>
                                <a:cxn ang="0">
                                  <a:pos x="T2" y="T3"/>
                                </a:cxn>
                                <a:cxn ang="0">
                                  <a:pos x="T4" y="T5"/>
                                </a:cxn>
                                <a:cxn ang="0">
                                  <a:pos x="T6" y="T7"/>
                                </a:cxn>
                                <a:cxn ang="0">
                                  <a:pos x="T8" y="T9"/>
                                </a:cxn>
                              </a:cxnLst>
                              <a:rect l="0" t="0" r="r" b="b"/>
                              <a:pathLst>
                                <a:path w="102" h="64">
                                  <a:moveTo>
                                    <a:pt x="34" y="0"/>
                                  </a:moveTo>
                                  <a:lnTo>
                                    <a:pt x="102" y="42"/>
                                  </a:lnTo>
                                  <a:lnTo>
                                    <a:pt x="66" y="64"/>
                                  </a:lnTo>
                                  <a:lnTo>
                                    <a:pt x="0" y="22"/>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09" name="Freeform 61"/>
                            <p:cNvSpPr/>
                            <p:nvPr/>
                          </p:nvSpPr>
                          <p:spPr bwMode="auto">
                            <a:xfrm>
                              <a:off x="2609" y="3100"/>
                              <a:ext cx="15" cy="8"/>
                            </a:xfrm>
                            <a:custGeom>
                              <a:avLst/>
                              <a:gdLst>
                                <a:gd name="T0" fmla="*/ 34 w 101"/>
                                <a:gd name="T1" fmla="*/ 0 h 63"/>
                                <a:gd name="T2" fmla="*/ 101 w 101"/>
                                <a:gd name="T3" fmla="*/ 43 h 63"/>
                                <a:gd name="T4" fmla="*/ 66 w 101"/>
                                <a:gd name="T5" fmla="*/ 63 h 63"/>
                                <a:gd name="T6" fmla="*/ 0 w 101"/>
                                <a:gd name="T7" fmla="*/ 21 h 63"/>
                                <a:gd name="T8" fmla="*/ 34 w 101"/>
                                <a:gd name="T9" fmla="*/ 0 h 63"/>
                              </a:gdLst>
                              <a:ahLst/>
                              <a:cxnLst>
                                <a:cxn ang="0">
                                  <a:pos x="T0" y="T1"/>
                                </a:cxn>
                                <a:cxn ang="0">
                                  <a:pos x="T2" y="T3"/>
                                </a:cxn>
                                <a:cxn ang="0">
                                  <a:pos x="T4" y="T5"/>
                                </a:cxn>
                                <a:cxn ang="0">
                                  <a:pos x="T6" y="T7"/>
                                </a:cxn>
                                <a:cxn ang="0">
                                  <a:pos x="T8" y="T9"/>
                                </a:cxn>
                              </a:cxnLst>
                              <a:rect l="0" t="0" r="r" b="b"/>
                              <a:pathLst>
                                <a:path w="101" h="63">
                                  <a:moveTo>
                                    <a:pt x="34" y="0"/>
                                  </a:moveTo>
                                  <a:lnTo>
                                    <a:pt x="101" y="43"/>
                                  </a:lnTo>
                                  <a:lnTo>
                                    <a:pt x="66" y="63"/>
                                  </a:lnTo>
                                  <a:lnTo>
                                    <a:pt x="0" y="21"/>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0" name="Freeform 62"/>
                            <p:cNvSpPr/>
                            <p:nvPr/>
                          </p:nvSpPr>
                          <p:spPr bwMode="auto">
                            <a:xfrm>
                              <a:off x="2615" y="3097"/>
                              <a:ext cx="15" cy="8"/>
                            </a:xfrm>
                            <a:custGeom>
                              <a:avLst/>
                              <a:gdLst>
                                <a:gd name="T0" fmla="*/ 31 w 102"/>
                                <a:gd name="T1" fmla="*/ 0 h 61"/>
                                <a:gd name="T2" fmla="*/ 102 w 102"/>
                                <a:gd name="T3" fmla="*/ 42 h 61"/>
                                <a:gd name="T4" fmla="*/ 65 w 102"/>
                                <a:gd name="T5" fmla="*/ 61 h 61"/>
                                <a:gd name="T6" fmla="*/ 0 w 102"/>
                                <a:gd name="T7" fmla="*/ 21 h 61"/>
                                <a:gd name="T8" fmla="*/ 31 w 102"/>
                                <a:gd name="T9" fmla="*/ 0 h 61"/>
                              </a:gdLst>
                              <a:ahLst/>
                              <a:cxnLst>
                                <a:cxn ang="0">
                                  <a:pos x="T0" y="T1"/>
                                </a:cxn>
                                <a:cxn ang="0">
                                  <a:pos x="T2" y="T3"/>
                                </a:cxn>
                                <a:cxn ang="0">
                                  <a:pos x="T4" y="T5"/>
                                </a:cxn>
                                <a:cxn ang="0">
                                  <a:pos x="T6" y="T7"/>
                                </a:cxn>
                                <a:cxn ang="0">
                                  <a:pos x="T8" y="T9"/>
                                </a:cxn>
                              </a:cxnLst>
                              <a:rect l="0" t="0" r="r" b="b"/>
                              <a:pathLst>
                                <a:path w="102" h="61">
                                  <a:moveTo>
                                    <a:pt x="31" y="0"/>
                                  </a:moveTo>
                                  <a:lnTo>
                                    <a:pt x="102" y="42"/>
                                  </a:lnTo>
                                  <a:lnTo>
                                    <a:pt x="65" y="61"/>
                                  </a:lnTo>
                                  <a:lnTo>
                                    <a:pt x="0" y="21"/>
                                  </a:lnTo>
                                  <a:lnTo>
                                    <a:pt x="3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1" name="Freeform 63"/>
                            <p:cNvSpPr/>
                            <p:nvPr/>
                          </p:nvSpPr>
                          <p:spPr bwMode="auto">
                            <a:xfrm>
                              <a:off x="2598" y="3100"/>
                              <a:ext cx="10" cy="6"/>
                            </a:xfrm>
                            <a:custGeom>
                              <a:avLst/>
                              <a:gdLst>
                                <a:gd name="T0" fmla="*/ 38 w 71"/>
                                <a:gd name="T1" fmla="*/ 0 h 45"/>
                                <a:gd name="T2" fmla="*/ 71 w 71"/>
                                <a:gd name="T3" fmla="*/ 22 h 45"/>
                                <a:gd name="T4" fmla="*/ 35 w 71"/>
                                <a:gd name="T5" fmla="*/ 45 h 45"/>
                                <a:gd name="T6" fmla="*/ 0 w 71"/>
                                <a:gd name="T7" fmla="*/ 22 h 45"/>
                                <a:gd name="T8" fmla="*/ 38 w 71"/>
                                <a:gd name="T9" fmla="*/ 0 h 45"/>
                              </a:gdLst>
                              <a:ahLst/>
                              <a:cxnLst>
                                <a:cxn ang="0">
                                  <a:pos x="T0" y="T1"/>
                                </a:cxn>
                                <a:cxn ang="0">
                                  <a:pos x="T2" y="T3"/>
                                </a:cxn>
                                <a:cxn ang="0">
                                  <a:pos x="T4" y="T5"/>
                                </a:cxn>
                                <a:cxn ang="0">
                                  <a:pos x="T6" y="T7"/>
                                </a:cxn>
                                <a:cxn ang="0">
                                  <a:pos x="T8" y="T9"/>
                                </a:cxn>
                              </a:cxnLst>
                              <a:rect l="0" t="0" r="r" b="b"/>
                              <a:pathLst>
                                <a:path w="71" h="45">
                                  <a:moveTo>
                                    <a:pt x="38" y="0"/>
                                  </a:moveTo>
                                  <a:lnTo>
                                    <a:pt x="71" y="22"/>
                                  </a:lnTo>
                                  <a:lnTo>
                                    <a:pt x="35" y="45"/>
                                  </a:lnTo>
                                  <a:lnTo>
                                    <a:pt x="0" y="22"/>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2" name="Freeform 64"/>
                            <p:cNvSpPr/>
                            <p:nvPr/>
                          </p:nvSpPr>
                          <p:spPr bwMode="auto">
                            <a:xfrm>
                              <a:off x="2604" y="3097"/>
                              <a:ext cx="10" cy="6"/>
                            </a:xfrm>
                            <a:custGeom>
                              <a:avLst/>
                              <a:gdLst>
                                <a:gd name="T0" fmla="*/ 34 w 68"/>
                                <a:gd name="T1" fmla="*/ 0 h 45"/>
                                <a:gd name="T2" fmla="*/ 68 w 68"/>
                                <a:gd name="T3" fmla="*/ 22 h 45"/>
                                <a:gd name="T4" fmla="*/ 31 w 68"/>
                                <a:gd name="T5" fmla="*/ 45 h 45"/>
                                <a:gd name="T6" fmla="*/ 0 w 68"/>
                                <a:gd name="T7" fmla="*/ 22 h 45"/>
                                <a:gd name="T8" fmla="*/ 34 w 68"/>
                                <a:gd name="T9" fmla="*/ 0 h 45"/>
                              </a:gdLst>
                              <a:ahLst/>
                              <a:cxnLst>
                                <a:cxn ang="0">
                                  <a:pos x="T0" y="T1"/>
                                </a:cxn>
                                <a:cxn ang="0">
                                  <a:pos x="T2" y="T3"/>
                                </a:cxn>
                                <a:cxn ang="0">
                                  <a:pos x="T4" y="T5"/>
                                </a:cxn>
                                <a:cxn ang="0">
                                  <a:pos x="T6" y="T7"/>
                                </a:cxn>
                                <a:cxn ang="0">
                                  <a:pos x="T8" y="T9"/>
                                </a:cxn>
                              </a:cxnLst>
                              <a:rect l="0" t="0" r="r" b="b"/>
                              <a:pathLst>
                                <a:path w="68" h="45">
                                  <a:moveTo>
                                    <a:pt x="34" y="0"/>
                                  </a:moveTo>
                                  <a:lnTo>
                                    <a:pt x="68" y="22"/>
                                  </a:lnTo>
                                  <a:lnTo>
                                    <a:pt x="31" y="45"/>
                                  </a:lnTo>
                                  <a:lnTo>
                                    <a:pt x="0" y="22"/>
                                  </a:lnTo>
                                  <a:lnTo>
                                    <a:pt x="3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3" name="Freeform 65"/>
                            <p:cNvSpPr/>
                            <p:nvPr/>
                          </p:nvSpPr>
                          <p:spPr bwMode="auto">
                            <a:xfrm>
                              <a:off x="2610" y="3094"/>
                              <a:ext cx="10" cy="6"/>
                            </a:xfrm>
                            <a:custGeom>
                              <a:avLst/>
                              <a:gdLst>
                                <a:gd name="T0" fmla="*/ 36 w 69"/>
                                <a:gd name="T1" fmla="*/ 0 h 41"/>
                                <a:gd name="T2" fmla="*/ 69 w 69"/>
                                <a:gd name="T3" fmla="*/ 20 h 41"/>
                                <a:gd name="T4" fmla="*/ 34 w 69"/>
                                <a:gd name="T5" fmla="*/ 41 h 41"/>
                                <a:gd name="T6" fmla="*/ 0 w 69"/>
                                <a:gd name="T7" fmla="*/ 21 h 41"/>
                                <a:gd name="T8" fmla="*/ 36 w 69"/>
                                <a:gd name="T9" fmla="*/ 0 h 41"/>
                              </a:gdLst>
                              <a:ahLst/>
                              <a:cxnLst>
                                <a:cxn ang="0">
                                  <a:pos x="T0" y="T1"/>
                                </a:cxn>
                                <a:cxn ang="0">
                                  <a:pos x="T2" y="T3"/>
                                </a:cxn>
                                <a:cxn ang="0">
                                  <a:pos x="T4" y="T5"/>
                                </a:cxn>
                                <a:cxn ang="0">
                                  <a:pos x="T6" y="T7"/>
                                </a:cxn>
                                <a:cxn ang="0">
                                  <a:pos x="T8" y="T9"/>
                                </a:cxn>
                              </a:cxnLst>
                              <a:rect l="0" t="0" r="r" b="b"/>
                              <a:pathLst>
                                <a:path w="69" h="41">
                                  <a:moveTo>
                                    <a:pt x="36" y="0"/>
                                  </a:moveTo>
                                  <a:lnTo>
                                    <a:pt x="69" y="20"/>
                                  </a:lnTo>
                                  <a:lnTo>
                                    <a:pt x="34" y="41"/>
                                  </a:lnTo>
                                  <a:lnTo>
                                    <a:pt x="0" y="21"/>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4" name="Freeform 66"/>
                            <p:cNvSpPr/>
                            <p:nvPr/>
                          </p:nvSpPr>
                          <p:spPr bwMode="auto">
                            <a:xfrm>
                              <a:off x="2616" y="3091"/>
                              <a:ext cx="10" cy="6"/>
                            </a:xfrm>
                            <a:custGeom>
                              <a:avLst/>
                              <a:gdLst>
                                <a:gd name="T0" fmla="*/ 35 w 68"/>
                                <a:gd name="T1" fmla="*/ 0 h 41"/>
                                <a:gd name="T2" fmla="*/ 68 w 68"/>
                                <a:gd name="T3" fmla="*/ 20 h 41"/>
                                <a:gd name="T4" fmla="*/ 32 w 68"/>
                                <a:gd name="T5" fmla="*/ 41 h 41"/>
                                <a:gd name="T6" fmla="*/ 0 w 68"/>
                                <a:gd name="T7" fmla="*/ 24 h 41"/>
                                <a:gd name="T8" fmla="*/ 35 w 68"/>
                                <a:gd name="T9" fmla="*/ 0 h 41"/>
                              </a:gdLst>
                              <a:ahLst/>
                              <a:cxnLst>
                                <a:cxn ang="0">
                                  <a:pos x="T0" y="T1"/>
                                </a:cxn>
                                <a:cxn ang="0">
                                  <a:pos x="T2" y="T3"/>
                                </a:cxn>
                                <a:cxn ang="0">
                                  <a:pos x="T4" y="T5"/>
                                </a:cxn>
                                <a:cxn ang="0">
                                  <a:pos x="T6" y="T7"/>
                                </a:cxn>
                                <a:cxn ang="0">
                                  <a:pos x="T8" y="T9"/>
                                </a:cxn>
                              </a:cxnLst>
                              <a:rect l="0" t="0" r="r" b="b"/>
                              <a:pathLst>
                                <a:path w="68" h="41">
                                  <a:moveTo>
                                    <a:pt x="35" y="0"/>
                                  </a:moveTo>
                                  <a:lnTo>
                                    <a:pt x="68" y="20"/>
                                  </a:lnTo>
                                  <a:lnTo>
                                    <a:pt x="32" y="41"/>
                                  </a:lnTo>
                                  <a:lnTo>
                                    <a:pt x="0" y="24"/>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5" name="Freeform 67"/>
                            <p:cNvSpPr/>
                            <p:nvPr/>
                          </p:nvSpPr>
                          <p:spPr bwMode="auto">
                            <a:xfrm>
                              <a:off x="2622" y="3089"/>
                              <a:ext cx="8" cy="5"/>
                            </a:xfrm>
                            <a:custGeom>
                              <a:avLst/>
                              <a:gdLst>
                                <a:gd name="T0" fmla="*/ 28 w 59"/>
                                <a:gd name="T1" fmla="*/ 0 h 38"/>
                                <a:gd name="T2" fmla="*/ 59 w 59"/>
                                <a:gd name="T3" fmla="*/ 20 h 38"/>
                                <a:gd name="T4" fmla="*/ 32 w 59"/>
                                <a:gd name="T5" fmla="*/ 38 h 38"/>
                                <a:gd name="T6" fmla="*/ 0 w 59"/>
                                <a:gd name="T7" fmla="*/ 16 h 38"/>
                                <a:gd name="T8" fmla="*/ 28 w 59"/>
                                <a:gd name="T9" fmla="*/ 0 h 38"/>
                              </a:gdLst>
                              <a:ahLst/>
                              <a:cxnLst>
                                <a:cxn ang="0">
                                  <a:pos x="T0" y="T1"/>
                                </a:cxn>
                                <a:cxn ang="0">
                                  <a:pos x="T2" y="T3"/>
                                </a:cxn>
                                <a:cxn ang="0">
                                  <a:pos x="T4" y="T5"/>
                                </a:cxn>
                                <a:cxn ang="0">
                                  <a:pos x="T6" y="T7"/>
                                </a:cxn>
                                <a:cxn ang="0">
                                  <a:pos x="T8" y="T9"/>
                                </a:cxn>
                              </a:cxnLst>
                              <a:rect l="0" t="0" r="r" b="b"/>
                              <a:pathLst>
                                <a:path w="59" h="38">
                                  <a:moveTo>
                                    <a:pt x="28" y="0"/>
                                  </a:moveTo>
                                  <a:lnTo>
                                    <a:pt x="59" y="20"/>
                                  </a:lnTo>
                                  <a:lnTo>
                                    <a:pt x="32" y="38"/>
                                  </a:lnTo>
                                  <a:lnTo>
                                    <a:pt x="0" y="16"/>
                                  </a:lnTo>
                                  <a:lnTo>
                                    <a:pt x="2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6" name="Freeform 68"/>
                            <p:cNvSpPr/>
                            <p:nvPr/>
                          </p:nvSpPr>
                          <p:spPr bwMode="auto">
                            <a:xfrm>
                              <a:off x="2627" y="3092"/>
                              <a:ext cx="8" cy="4"/>
                            </a:xfrm>
                            <a:custGeom>
                              <a:avLst/>
                              <a:gdLst>
                                <a:gd name="T0" fmla="*/ 29 w 61"/>
                                <a:gd name="T1" fmla="*/ 0 h 38"/>
                                <a:gd name="T2" fmla="*/ 61 w 61"/>
                                <a:gd name="T3" fmla="*/ 19 h 38"/>
                                <a:gd name="T4" fmla="*/ 32 w 61"/>
                                <a:gd name="T5" fmla="*/ 38 h 38"/>
                                <a:gd name="T6" fmla="*/ 0 w 61"/>
                                <a:gd name="T7" fmla="*/ 19 h 38"/>
                                <a:gd name="T8" fmla="*/ 29 w 61"/>
                                <a:gd name="T9" fmla="*/ 0 h 38"/>
                              </a:gdLst>
                              <a:ahLst/>
                              <a:cxnLst>
                                <a:cxn ang="0">
                                  <a:pos x="T0" y="T1"/>
                                </a:cxn>
                                <a:cxn ang="0">
                                  <a:pos x="T2" y="T3"/>
                                </a:cxn>
                                <a:cxn ang="0">
                                  <a:pos x="T4" y="T5"/>
                                </a:cxn>
                                <a:cxn ang="0">
                                  <a:pos x="T6" y="T7"/>
                                </a:cxn>
                                <a:cxn ang="0">
                                  <a:pos x="T8" y="T9"/>
                                </a:cxn>
                              </a:cxnLst>
                              <a:rect l="0" t="0" r="r" b="b"/>
                              <a:pathLst>
                                <a:path w="61" h="38">
                                  <a:moveTo>
                                    <a:pt x="29" y="0"/>
                                  </a:moveTo>
                                  <a:lnTo>
                                    <a:pt x="61" y="19"/>
                                  </a:lnTo>
                                  <a:lnTo>
                                    <a:pt x="32" y="38"/>
                                  </a:lnTo>
                                  <a:lnTo>
                                    <a:pt x="0" y="19"/>
                                  </a:lnTo>
                                  <a:lnTo>
                                    <a:pt x="2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7" name="Freeform 69"/>
                            <p:cNvSpPr/>
                            <p:nvPr/>
                          </p:nvSpPr>
                          <p:spPr bwMode="auto">
                            <a:xfrm>
                              <a:off x="2621" y="3094"/>
                              <a:ext cx="10" cy="5"/>
                            </a:xfrm>
                            <a:custGeom>
                              <a:avLst/>
                              <a:gdLst>
                                <a:gd name="T0" fmla="*/ 37 w 69"/>
                                <a:gd name="T1" fmla="*/ 0 h 41"/>
                                <a:gd name="T2" fmla="*/ 69 w 69"/>
                                <a:gd name="T3" fmla="*/ 18 h 41"/>
                                <a:gd name="T4" fmla="*/ 33 w 69"/>
                                <a:gd name="T5" fmla="*/ 41 h 41"/>
                                <a:gd name="T6" fmla="*/ 0 w 69"/>
                                <a:gd name="T7" fmla="*/ 20 h 41"/>
                                <a:gd name="T8" fmla="*/ 37 w 69"/>
                                <a:gd name="T9" fmla="*/ 0 h 41"/>
                              </a:gdLst>
                              <a:ahLst/>
                              <a:cxnLst>
                                <a:cxn ang="0">
                                  <a:pos x="T0" y="T1"/>
                                </a:cxn>
                                <a:cxn ang="0">
                                  <a:pos x="T2" y="T3"/>
                                </a:cxn>
                                <a:cxn ang="0">
                                  <a:pos x="T4" y="T5"/>
                                </a:cxn>
                                <a:cxn ang="0">
                                  <a:pos x="T6" y="T7"/>
                                </a:cxn>
                                <a:cxn ang="0">
                                  <a:pos x="T8" y="T9"/>
                                </a:cxn>
                              </a:cxnLst>
                              <a:rect l="0" t="0" r="r" b="b"/>
                              <a:pathLst>
                                <a:path w="69" h="41">
                                  <a:moveTo>
                                    <a:pt x="37" y="0"/>
                                  </a:moveTo>
                                  <a:lnTo>
                                    <a:pt x="69" y="18"/>
                                  </a:lnTo>
                                  <a:lnTo>
                                    <a:pt x="33" y="41"/>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8" name="Freeform 70"/>
                            <p:cNvSpPr/>
                            <p:nvPr/>
                          </p:nvSpPr>
                          <p:spPr bwMode="auto">
                            <a:xfrm>
                              <a:off x="2632" y="3094"/>
                              <a:ext cx="8" cy="5"/>
                            </a:xfrm>
                            <a:custGeom>
                              <a:avLst/>
                              <a:gdLst>
                                <a:gd name="T0" fmla="*/ 28 w 60"/>
                                <a:gd name="T1" fmla="*/ 0 h 39"/>
                                <a:gd name="T2" fmla="*/ 60 w 60"/>
                                <a:gd name="T3" fmla="*/ 19 h 39"/>
                                <a:gd name="T4" fmla="*/ 32 w 60"/>
                                <a:gd name="T5" fmla="*/ 39 h 39"/>
                                <a:gd name="T6" fmla="*/ 0 w 60"/>
                                <a:gd name="T7" fmla="*/ 18 h 39"/>
                                <a:gd name="T8" fmla="*/ 28 w 60"/>
                                <a:gd name="T9" fmla="*/ 0 h 39"/>
                              </a:gdLst>
                              <a:ahLst/>
                              <a:cxnLst>
                                <a:cxn ang="0">
                                  <a:pos x="T0" y="T1"/>
                                </a:cxn>
                                <a:cxn ang="0">
                                  <a:pos x="T2" y="T3"/>
                                </a:cxn>
                                <a:cxn ang="0">
                                  <a:pos x="T4" y="T5"/>
                                </a:cxn>
                                <a:cxn ang="0">
                                  <a:pos x="T6" y="T7"/>
                                </a:cxn>
                                <a:cxn ang="0">
                                  <a:pos x="T8" y="T9"/>
                                </a:cxn>
                              </a:cxnLst>
                              <a:rect l="0" t="0" r="r" b="b"/>
                              <a:pathLst>
                                <a:path w="60" h="39">
                                  <a:moveTo>
                                    <a:pt x="28" y="0"/>
                                  </a:moveTo>
                                  <a:lnTo>
                                    <a:pt x="60" y="19"/>
                                  </a:lnTo>
                                  <a:lnTo>
                                    <a:pt x="32" y="39"/>
                                  </a:lnTo>
                                  <a:lnTo>
                                    <a:pt x="0" y="18"/>
                                  </a:lnTo>
                                  <a:lnTo>
                                    <a:pt x="2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19" name="Freeform 71"/>
                            <p:cNvSpPr/>
                            <p:nvPr/>
                          </p:nvSpPr>
                          <p:spPr bwMode="auto">
                            <a:xfrm>
                              <a:off x="2626" y="3096"/>
                              <a:ext cx="10" cy="6"/>
                            </a:xfrm>
                            <a:custGeom>
                              <a:avLst/>
                              <a:gdLst>
                                <a:gd name="T0" fmla="*/ 35 w 69"/>
                                <a:gd name="T1" fmla="*/ 0 h 44"/>
                                <a:gd name="T2" fmla="*/ 69 w 69"/>
                                <a:gd name="T3" fmla="*/ 21 h 44"/>
                                <a:gd name="T4" fmla="*/ 31 w 69"/>
                                <a:gd name="T5" fmla="*/ 44 h 44"/>
                                <a:gd name="T6" fmla="*/ 0 w 69"/>
                                <a:gd name="T7" fmla="*/ 23 h 44"/>
                                <a:gd name="T8" fmla="*/ 35 w 69"/>
                                <a:gd name="T9" fmla="*/ 0 h 44"/>
                              </a:gdLst>
                              <a:ahLst/>
                              <a:cxnLst>
                                <a:cxn ang="0">
                                  <a:pos x="T0" y="T1"/>
                                </a:cxn>
                                <a:cxn ang="0">
                                  <a:pos x="T2" y="T3"/>
                                </a:cxn>
                                <a:cxn ang="0">
                                  <a:pos x="T4" y="T5"/>
                                </a:cxn>
                                <a:cxn ang="0">
                                  <a:pos x="T6" y="T7"/>
                                </a:cxn>
                                <a:cxn ang="0">
                                  <a:pos x="T8" y="T9"/>
                                </a:cxn>
                              </a:cxnLst>
                              <a:rect l="0" t="0" r="r" b="b"/>
                              <a:pathLst>
                                <a:path w="69" h="44">
                                  <a:moveTo>
                                    <a:pt x="35" y="0"/>
                                  </a:moveTo>
                                  <a:lnTo>
                                    <a:pt x="69" y="21"/>
                                  </a:lnTo>
                                  <a:lnTo>
                                    <a:pt x="31" y="44"/>
                                  </a:lnTo>
                                  <a:lnTo>
                                    <a:pt x="0" y="23"/>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0" name="Freeform 72"/>
                            <p:cNvSpPr/>
                            <p:nvPr/>
                          </p:nvSpPr>
                          <p:spPr bwMode="auto">
                            <a:xfrm>
                              <a:off x="2599" y="3095"/>
                              <a:ext cx="10" cy="5"/>
                            </a:xfrm>
                            <a:custGeom>
                              <a:avLst/>
                              <a:gdLst>
                                <a:gd name="T0" fmla="*/ 35 w 69"/>
                                <a:gd name="T1" fmla="*/ 0 h 43"/>
                                <a:gd name="T2" fmla="*/ 69 w 69"/>
                                <a:gd name="T3" fmla="*/ 21 h 43"/>
                                <a:gd name="T4" fmla="*/ 34 w 69"/>
                                <a:gd name="T5" fmla="*/ 43 h 43"/>
                                <a:gd name="T6" fmla="*/ 0 w 69"/>
                                <a:gd name="T7" fmla="*/ 21 h 43"/>
                                <a:gd name="T8" fmla="*/ 35 w 69"/>
                                <a:gd name="T9" fmla="*/ 0 h 43"/>
                              </a:gdLst>
                              <a:ahLst/>
                              <a:cxnLst>
                                <a:cxn ang="0">
                                  <a:pos x="T0" y="T1"/>
                                </a:cxn>
                                <a:cxn ang="0">
                                  <a:pos x="T2" y="T3"/>
                                </a:cxn>
                                <a:cxn ang="0">
                                  <a:pos x="T4" y="T5"/>
                                </a:cxn>
                                <a:cxn ang="0">
                                  <a:pos x="T6" y="T7"/>
                                </a:cxn>
                                <a:cxn ang="0">
                                  <a:pos x="T8" y="T9"/>
                                </a:cxn>
                              </a:cxnLst>
                              <a:rect l="0" t="0" r="r" b="b"/>
                              <a:pathLst>
                                <a:path w="69" h="43">
                                  <a:moveTo>
                                    <a:pt x="35" y="0"/>
                                  </a:moveTo>
                                  <a:lnTo>
                                    <a:pt x="69" y="21"/>
                                  </a:lnTo>
                                  <a:lnTo>
                                    <a:pt x="34" y="43"/>
                                  </a:lnTo>
                                  <a:lnTo>
                                    <a:pt x="0" y="21"/>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1" name="Freeform 73"/>
                            <p:cNvSpPr/>
                            <p:nvPr/>
                          </p:nvSpPr>
                          <p:spPr bwMode="auto">
                            <a:xfrm>
                              <a:off x="2605" y="3092"/>
                              <a:ext cx="10" cy="5"/>
                            </a:xfrm>
                            <a:custGeom>
                              <a:avLst/>
                              <a:gdLst>
                                <a:gd name="T0" fmla="*/ 36 w 70"/>
                                <a:gd name="T1" fmla="*/ 0 h 42"/>
                                <a:gd name="T2" fmla="*/ 70 w 70"/>
                                <a:gd name="T3" fmla="*/ 22 h 42"/>
                                <a:gd name="T4" fmla="*/ 34 w 70"/>
                                <a:gd name="T5" fmla="*/ 42 h 42"/>
                                <a:gd name="T6" fmla="*/ 0 w 70"/>
                                <a:gd name="T7" fmla="*/ 22 h 42"/>
                                <a:gd name="T8" fmla="*/ 36 w 70"/>
                                <a:gd name="T9" fmla="*/ 0 h 42"/>
                              </a:gdLst>
                              <a:ahLst/>
                              <a:cxnLst>
                                <a:cxn ang="0">
                                  <a:pos x="T0" y="T1"/>
                                </a:cxn>
                                <a:cxn ang="0">
                                  <a:pos x="T2" y="T3"/>
                                </a:cxn>
                                <a:cxn ang="0">
                                  <a:pos x="T4" y="T5"/>
                                </a:cxn>
                                <a:cxn ang="0">
                                  <a:pos x="T6" y="T7"/>
                                </a:cxn>
                                <a:cxn ang="0">
                                  <a:pos x="T8" y="T9"/>
                                </a:cxn>
                              </a:cxnLst>
                              <a:rect l="0" t="0" r="r" b="b"/>
                              <a:pathLst>
                                <a:path w="70" h="42">
                                  <a:moveTo>
                                    <a:pt x="36" y="0"/>
                                  </a:moveTo>
                                  <a:lnTo>
                                    <a:pt x="70" y="22"/>
                                  </a:lnTo>
                                  <a:lnTo>
                                    <a:pt x="34" y="42"/>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2" name="Freeform 74"/>
                            <p:cNvSpPr/>
                            <p:nvPr/>
                          </p:nvSpPr>
                          <p:spPr bwMode="auto">
                            <a:xfrm>
                              <a:off x="2612" y="3089"/>
                              <a:ext cx="9" cy="5"/>
                            </a:xfrm>
                            <a:custGeom>
                              <a:avLst/>
                              <a:gdLst>
                                <a:gd name="T0" fmla="*/ 35 w 67"/>
                                <a:gd name="T1" fmla="*/ 0 h 42"/>
                                <a:gd name="T2" fmla="*/ 67 w 67"/>
                                <a:gd name="T3" fmla="*/ 19 h 42"/>
                                <a:gd name="T4" fmla="*/ 31 w 67"/>
                                <a:gd name="T5" fmla="*/ 42 h 42"/>
                                <a:gd name="T6" fmla="*/ 0 w 67"/>
                                <a:gd name="T7" fmla="*/ 22 h 42"/>
                                <a:gd name="T8" fmla="*/ 35 w 67"/>
                                <a:gd name="T9" fmla="*/ 0 h 42"/>
                              </a:gdLst>
                              <a:ahLst/>
                              <a:cxnLst>
                                <a:cxn ang="0">
                                  <a:pos x="T0" y="T1"/>
                                </a:cxn>
                                <a:cxn ang="0">
                                  <a:pos x="T2" y="T3"/>
                                </a:cxn>
                                <a:cxn ang="0">
                                  <a:pos x="T4" y="T5"/>
                                </a:cxn>
                                <a:cxn ang="0">
                                  <a:pos x="T6" y="T7"/>
                                </a:cxn>
                                <a:cxn ang="0">
                                  <a:pos x="T8" y="T9"/>
                                </a:cxn>
                              </a:cxnLst>
                              <a:rect l="0" t="0" r="r" b="b"/>
                              <a:pathLst>
                                <a:path w="67" h="42">
                                  <a:moveTo>
                                    <a:pt x="35" y="0"/>
                                  </a:moveTo>
                                  <a:lnTo>
                                    <a:pt x="67" y="19"/>
                                  </a:lnTo>
                                  <a:lnTo>
                                    <a:pt x="31" y="42"/>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3" name="Freeform 75"/>
                            <p:cNvSpPr/>
                            <p:nvPr/>
                          </p:nvSpPr>
                          <p:spPr bwMode="auto">
                            <a:xfrm>
                              <a:off x="2617" y="3087"/>
                              <a:ext cx="9" cy="5"/>
                            </a:xfrm>
                            <a:custGeom>
                              <a:avLst/>
                              <a:gdLst>
                                <a:gd name="T0" fmla="*/ 26 w 58"/>
                                <a:gd name="T1" fmla="*/ 0 h 36"/>
                                <a:gd name="T2" fmla="*/ 58 w 58"/>
                                <a:gd name="T3" fmla="*/ 19 h 36"/>
                                <a:gd name="T4" fmla="*/ 29 w 58"/>
                                <a:gd name="T5" fmla="*/ 36 h 36"/>
                                <a:gd name="T6" fmla="*/ 0 w 58"/>
                                <a:gd name="T7" fmla="*/ 17 h 36"/>
                                <a:gd name="T8" fmla="*/ 26 w 58"/>
                                <a:gd name="T9" fmla="*/ 0 h 36"/>
                              </a:gdLst>
                              <a:ahLst/>
                              <a:cxnLst>
                                <a:cxn ang="0">
                                  <a:pos x="T0" y="T1"/>
                                </a:cxn>
                                <a:cxn ang="0">
                                  <a:pos x="T2" y="T3"/>
                                </a:cxn>
                                <a:cxn ang="0">
                                  <a:pos x="T4" y="T5"/>
                                </a:cxn>
                                <a:cxn ang="0">
                                  <a:pos x="T6" y="T7"/>
                                </a:cxn>
                                <a:cxn ang="0">
                                  <a:pos x="T8" y="T9"/>
                                </a:cxn>
                              </a:cxnLst>
                              <a:rect l="0" t="0" r="r" b="b"/>
                              <a:pathLst>
                                <a:path w="58" h="36">
                                  <a:moveTo>
                                    <a:pt x="26" y="0"/>
                                  </a:moveTo>
                                  <a:lnTo>
                                    <a:pt x="58" y="19"/>
                                  </a:lnTo>
                                  <a:lnTo>
                                    <a:pt x="29" y="36"/>
                                  </a:lnTo>
                                  <a:lnTo>
                                    <a:pt x="0" y="17"/>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4" name="Freeform 76"/>
                            <p:cNvSpPr/>
                            <p:nvPr/>
                          </p:nvSpPr>
                          <p:spPr bwMode="auto">
                            <a:xfrm>
                              <a:off x="2593" y="3097"/>
                              <a:ext cx="10" cy="6"/>
                            </a:xfrm>
                            <a:custGeom>
                              <a:avLst/>
                              <a:gdLst>
                                <a:gd name="T0" fmla="*/ 36 w 72"/>
                                <a:gd name="T1" fmla="*/ 0 h 46"/>
                                <a:gd name="T2" fmla="*/ 72 w 72"/>
                                <a:gd name="T3" fmla="*/ 23 h 46"/>
                                <a:gd name="T4" fmla="*/ 35 w 72"/>
                                <a:gd name="T5" fmla="*/ 46 h 46"/>
                                <a:gd name="T6" fmla="*/ 0 w 72"/>
                                <a:gd name="T7" fmla="*/ 22 h 46"/>
                                <a:gd name="T8" fmla="*/ 36 w 72"/>
                                <a:gd name="T9" fmla="*/ 0 h 46"/>
                              </a:gdLst>
                              <a:ahLst/>
                              <a:cxnLst>
                                <a:cxn ang="0">
                                  <a:pos x="T0" y="T1"/>
                                </a:cxn>
                                <a:cxn ang="0">
                                  <a:pos x="T2" y="T3"/>
                                </a:cxn>
                                <a:cxn ang="0">
                                  <a:pos x="T4" y="T5"/>
                                </a:cxn>
                                <a:cxn ang="0">
                                  <a:pos x="T6" y="T7"/>
                                </a:cxn>
                                <a:cxn ang="0">
                                  <a:pos x="T8" y="T9"/>
                                </a:cxn>
                              </a:cxnLst>
                              <a:rect l="0" t="0" r="r" b="b"/>
                              <a:pathLst>
                                <a:path w="72" h="46">
                                  <a:moveTo>
                                    <a:pt x="36" y="0"/>
                                  </a:moveTo>
                                  <a:lnTo>
                                    <a:pt x="72" y="23"/>
                                  </a:lnTo>
                                  <a:lnTo>
                                    <a:pt x="35" y="46"/>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5" name="Freeform 77"/>
                            <p:cNvSpPr/>
                            <p:nvPr/>
                          </p:nvSpPr>
                          <p:spPr bwMode="auto">
                            <a:xfrm>
                              <a:off x="2588" y="3095"/>
                              <a:ext cx="10" cy="5"/>
                            </a:xfrm>
                            <a:custGeom>
                              <a:avLst/>
                              <a:gdLst>
                                <a:gd name="T0" fmla="*/ 37 w 70"/>
                                <a:gd name="T1" fmla="*/ 0 h 45"/>
                                <a:gd name="T2" fmla="*/ 70 w 70"/>
                                <a:gd name="T3" fmla="*/ 22 h 45"/>
                                <a:gd name="T4" fmla="*/ 35 w 70"/>
                                <a:gd name="T5" fmla="*/ 45 h 45"/>
                                <a:gd name="T6" fmla="*/ 0 w 70"/>
                                <a:gd name="T7" fmla="*/ 22 h 45"/>
                                <a:gd name="T8" fmla="*/ 37 w 70"/>
                                <a:gd name="T9" fmla="*/ 0 h 45"/>
                              </a:gdLst>
                              <a:ahLst/>
                              <a:cxnLst>
                                <a:cxn ang="0">
                                  <a:pos x="T0" y="T1"/>
                                </a:cxn>
                                <a:cxn ang="0">
                                  <a:pos x="T2" y="T3"/>
                                </a:cxn>
                                <a:cxn ang="0">
                                  <a:pos x="T4" y="T5"/>
                                </a:cxn>
                                <a:cxn ang="0">
                                  <a:pos x="T6" y="T7"/>
                                </a:cxn>
                                <a:cxn ang="0">
                                  <a:pos x="T8" y="T9"/>
                                </a:cxn>
                              </a:cxnLst>
                              <a:rect l="0" t="0" r="r" b="b"/>
                              <a:pathLst>
                                <a:path w="70" h="45">
                                  <a:moveTo>
                                    <a:pt x="37" y="0"/>
                                  </a:moveTo>
                                  <a:lnTo>
                                    <a:pt x="70" y="22"/>
                                  </a:lnTo>
                                  <a:lnTo>
                                    <a:pt x="35" y="45"/>
                                  </a:lnTo>
                                  <a:lnTo>
                                    <a:pt x="0" y="22"/>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6" name="Freeform 78"/>
                            <p:cNvSpPr/>
                            <p:nvPr/>
                          </p:nvSpPr>
                          <p:spPr bwMode="auto">
                            <a:xfrm>
                              <a:off x="2594" y="3092"/>
                              <a:ext cx="10" cy="6"/>
                            </a:xfrm>
                            <a:custGeom>
                              <a:avLst/>
                              <a:gdLst>
                                <a:gd name="T0" fmla="*/ 37 w 69"/>
                                <a:gd name="T1" fmla="*/ 0 h 44"/>
                                <a:gd name="T2" fmla="*/ 69 w 69"/>
                                <a:gd name="T3" fmla="*/ 23 h 44"/>
                                <a:gd name="T4" fmla="*/ 33 w 69"/>
                                <a:gd name="T5" fmla="*/ 44 h 44"/>
                                <a:gd name="T6" fmla="*/ 0 w 69"/>
                                <a:gd name="T7" fmla="*/ 23 h 44"/>
                                <a:gd name="T8" fmla="*/ 37 w 69"/>
                                <a:gd name="T9" fmla="*/ 0 h 44"/>
                              </a:gdLst>
                              <a:ahLst/>
                              <a:cxnLst>
                                <a:cxn ang="0">
                                  <a:pos x="T0" y="T1"/>
                                </a:cxn>
                                <a:cxn ang="0">
                                  <a:pos x="T2" y="T3"/>
                                </a:cxn>
                                <a:cxn ang="0">
                                  <a:pos x="T4" y="T5"/>
                                </a:cxn>
                                <a:cxn ang="0">
                                  <a:pos x="T6" y="T7"/>
                                </a:cxn>
                                <a:cxn ang="0">
                                  <a:pos x="T8" y="T9"/>
                                </a:cxn>
                              </a:cxnLst>
                              <a:rect l="0" t="0" r="r" b="b"/>
                              <a:pathLst>
                                <a:path w="69" h="44">
                                  <a:moveTo>
                                    <a:pt x="37" y="0"/>
                                  </a:moveTo>
                                  <a:lnTo>
                                    <a:pt x="69" y="23"/>
                                  </a:lnTo>
                                  <a:lnTo>
                                    <a:pt x="33" y="44"/>
                                  </a:lnTo>
                                  <a:lnTo>
                                    <a:pt x="0" y="23"/>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7" name="Freeform 79"/>
                            <p:cNvSpPr/>
                            <p:nvPr/>
                          </p:nvSpPr>
                          <p:spPr bwMode="auto">
                            <a:xfrm>
                              <a:off x="2601" y="3090"/>
                              <a:ext cx="9" cy="5"/>
                            </a:xfrm>
                            <a:custGeom>
                              <a:avLst/>
                              <a:gdLst>
                                <a:gd name="T0" fmla="*/ 35 w 67"/>
                                <a:gd name="T1" fmla="*/ 0 h 44"/>
                                <a:gd name="T2" fmla="*/ 67 w 67"/>
                                <a:gd name="T3" fmla="*/ 21 h 44"/>
                                <a:gd name="T4" fmla="*/ 33 w 67"/>
                                <a:gd name="T5" fmla="*/ 44 h 44"/>
                                <a:gd name="T6" fmla="*/ 0 w 67"/>
                                <a:gd name="T7" fmla="*/ 22 h 44"/>
                                <a:gd name="T8" fmla="*/ 35 w 67"/>
                                <a:gd name="T9" fmla="*/ 0 h 44"/>
                              </a:gdLst>
                              <a:ahLst/>
                              <a:cxnLst>
                                <a:cxn ang="0">
                                  <a:pos x="T0" y="T1"/>
                                </a:cxn>
                                <a:cxn ang="0">
                                  <a:pos x="T2" y="T3"/>
                                </a:cxn>
                                <a:cxn ang="0">
                                  <a:pos x="T4" y="T5"/>
                                </a:cxn>
                                <a:cxn ang="0">
                                  <a:pos x="T6" y="T7"/>
                                </a:cxn>
                                <a:cxn ang="0">
                                  <a:pos x="T8" y="T9"/>
                                </a:cxn>
                              </a:cxnLst>
                              <a:rect l="0" t="0" r="r" b="b"/>
                              <a:pathLst>
                                <a:path w="67" h="44">
                                  <a:moveTo>
                                    <a:pt x="35" y="0"/>
                                  </a:moveTo>
                                  <a:lnTo>
                                    <a:pt x="67" y="21"/>
                                  </a:lnTo>
                                  <a:lnTo>
                                    <a:pt x="33" y="44"/>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8" name="Freeform 80"/>
                            <p:cNvSpPr/>
                            <p:nvPr/>
                          </p:nvSpPr>
                          <p:spPr bwMode="auto">
                            <a:xfrm>
                              <a:off x="2607" y="3087"/>
                              <a:ext cx="9" cy="5"/>
                            </a:xfrm>
                            <a:custGeom>
                              <a:avLst/>
                              <a:gdLst>
                                <a:gd name="T0" fmla="*/ 36 w 67"/>
                                <a:gd name="T1" fmla="*/ 0 h 41"/>
                                <a:gd name="T2" fmla="*/ 67 w 67"/>
                                <a:gd name="T3" fmla="*/ 18 h 41"/>
                                <a:gd name="T4" fmla="*/ 32 w 67"/>
                                <a:gd name="T5" fmla="*/ 41 h 41"/>
                                <a:gd name="T6" fmla="*/ 0 w 67"/>
                                <a:gd name="T7" fmla="*/ 21 h 41"/>
                                <a:gd name="T8" fmla="*/ 36 w 67"/>
                                <a:gd name="T9" fmla="*/ 0 h 41"/>
                              </a:gdLst>
                              <a:ahLst/>
                              <a:cxnLst>
                                <a:cxn ang="0">
                                  <a:pos x="T0" y="T1"/>
                                </a:cxn>
                                <a:cxn ang="0">
                                  <a:pos x="T2" y="T3"/>
                                </a:cxn>
                                <a:cxn ang="0">
                                  <a:pos x="T4" y="T5"/>
                                </a:cxn>
                                <a:cxn ang="0">
                                  <a:pos x="T6" y="T7"/>
                                </a:cxn>
                                <a:cxn ang="0">
                                  <a:pos x="T8" y="T9"/>
                                </a:cxn>
                              </a:cxnLst>
                              <a:rect l="0" t="0" r="r" b="b"/>
                              <a:pathLst>
                                <a:path w="67" h="41">
                                  <a:moveTo>
                                    <a:pt x="36" y="0"/>
                                  </a:moveTo>
                                  <a:lnTo>
                                    <a:pt x="67" y="18"/>
                                  </a:lnTo>
                                  <a:lnTo>
                                    <a:pt x="32" y="41"/>
                                  </a:lnTo>
                                  <a:lnTo>
                                    <a:pt x="0" y="21"/>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29" name="Freeform 81"/>
                            <p:cNvSpPr/>
                            <p:nvPr/>
                          </p:nvSpPr>
                          <p:spPr bwMode="auto">
                            <a:xfrm>
                              <a:off x="2612" y="3085"/>
                              <a:ext cx="9" cy="4"/>
                            </a:xfrm>
                            <a:custGeom>
                              <a:avLst/>
                              <a:gdLst>
                                <a:gd name="T0" fmla="*/ 27 w 57"/>
                                <a:gd name="T1" fmla="*/ 0 h 36"/>
                                <a:gd name="T2" fmla="*/ 57 w 57"/>
                                <a:gd name="T3" fmla="*/ 20 h 36"/>
                                <a:gd name="T4" fmla="*/ 31 w 57"/>
                                <a:gd name="T5" fmla="*/ 36 h 36"/>
                                <a:gd name="T6" fmla="*/ 0 w 57"/>
                                <a:gd name="T7" fmla="*/ 17 h 36"/>
                                <a:gd name="T8" fmla="*/ 27 w 57"/>
                                <a:gd name="T9" fmla="*/ 0 h 36"/>
                              </a:gdLst>
                              <a:ahLst/>
                              <a:cxnLst>
                                <a:cxn ang="0">
                                  <a:pos x="T0" y="T1"/>
                                </a:cxn>
                                <a:cxn ang="0">
                                  <a:pos x="T2" y="T3"/>
                                </a:cxn>
                                <a:cxn ang="0">
                                  <a:pos x="T4" y="T5"/>
                                </a:cxn>
                                <a:cxn ang="0">
                                  <a:pos x="T6" y="T7"/>
                                </a:cxn>
                                <a:cxn ang="0">
                                  <a:pos x="T8" y="T9"/>
                                </a:cxn>
                              </a:cxnLst>
                              <a:rect l="0" t="0" r="r" b="b"/>
                              <a:pathLst>
                                <a:path w="57" h="36">
                                  <a:moveTo>
                                    <a:pt x="27" y="0"/>
                                  </a:moveTo>
                                  <a:lnTo>
                                    <a:pt x="57" y="20"/>
                                  </a:lnTo>
                                  <a:lnTo>
                                    <a:pt x="31" y="36"/>
                                  </a:lnTo>
                                  <a:lnTo>
                                    <a:pt x="0" y="17"/>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0" name="Freeform 82"/>
                            <p:cNvSpPr/>
                            <p:nvPr/>
                          </p:nvSpPr>
                          <p:spPr bwMode="auto">
                            <a:xfrm>
                              <a:off x="2589" y="3090"/>
                              <a:ext cx="10" cy="5"/>
                            </a:xfrm>
                            <a:custGeom>
                              <a:avLst/>
                              <a:gdLst>
                                <a:gd name="T0" fmla="*/ 35 w 69"/>
                                <a:gd name="T1" fmla="*/ 0 h 44"/>
                                <a:gd name="T2" fmla="*/ 69 w 69"/>
                                <a:gd name="T3" fmla="*/ 22 h 44"/>
                                <a:gd name="T4" fmla="*/ 34 w 69"/>
                                <a:gd name="T5" fmla="*/ 44 h 44"/>
                                <a:gd name="T6" fmla="*/ 0 w 69"/>
                                <a:gd name="T7" fmla="*/ 22 h 44"/>
                                <a:gd name="T8" fmla="*/ 35 w 69"/>
                                <a:gd name="T9" fmla="*/ 0 h 44"/>
                              </a:gdLst>
                              <a:ahLst/>
                              <a:cxnLst>
                                <a:cxn ang="0">
                                  <a:pos x="T0" y="T1"/>
                                </a:cxn>
                                <a:cxn ang="0">
                                  <a:pos x="T2" y="T3"/>
                                </a:cxn>
                                <a:cxn ang="0">
                                  <a:pos x="T4" y="T5"/>
                                </a:cxn>
                                <a:cxn ang="0">
                                  <a:pos x="T6" y="T7"/>
                                </a:cxn>
                                <a:cxn ang="0">
                                  <a:pos x="T8" y="T9"/>
                                </a:cxn>
                              </a:cxnLst>
                              <a:rect l="0" t="0" r="r" b="b"/>
                              <a:pathLst>
                                <a:path w="69" h="44">
                                  <a:moveTo>
                                    <a:pt x="35" y="0"/>
                                  </a:moveTo>
                                  <a:lnTo>
                                    <a:pt x="69" y="22"/>
                                  </a:lnTo>
                                  <a:lnTo>
                                    <a:pt x="34" y="44"/>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1" name="Freeform 83"/>
                            <p:cNvSpPr/>
                            <p:nvPr/>
                          </p:nvSpPr>
                          <p:spPr bwMode="auto">
                            <a:xfrm>
                              <a:off x="2595" y="3087"/>
                              <a:ext cx="11" cy="5"/>
                            </a:xfrm>
                            <a:custGeom>
                              <a:avLst/>
                              <a:gdLst>
                                <a:gd name="T0" fmla="*/ 38 w 71"/>
                                <a:gd name="T1" fmla="*/ 0 h 43"/>
                                <a:gd name="T2" fmla="*/ 71 w 71"/>
                                <a:gd name="T3" fmla="*/ 20 h 43"/>
                                <a:gd name="T4" fmla="*/ 34 w 71"/>
                                <a:gd name="T5" fmla="*/ 43 h 43"/>
                                <a:gd name="T6" fmla="*/ 0 w 71"/>
                                <a:gd name="T7" fmla="*/ 20 h 43"/>
                                <a:gd name="T8" fmla="*/ 38 w 71"/>
                                <a:gd name="T9" fmla="*/ 0 h 43"/>
                              </a:gdLst>
                              <a:ahLst/>
                              <a:cxnLst>
                                <a:cxn ang="0">
                                  <a:pos x="T0" y="T1"/>
                                </a:cxn>
                                <a:cxn ang="0">
                                  <a:pos x="T2" y="T3"/>
                                </a:cxn>
                                <a:cxn ang="0">
                                  <a:pos x="T4" y="T5"/>
                                </a:cxn>
                                <a:cxn ang="0">
                                  <a:pos x="T6" y="T7"/>
                                </a:cxn>
                                <a:cxn ang="0">
                                  <a:pos x="T8" y="T9"/>
                                </a:cxn>
                              </a:cxnLst>
                              <a:rect l="0" t="0" r="r" b="b"/>
                              <a:pathLst>
                                <a:path w="71" h="43">
                                  <a:moveTo>
                                    <a:pt x="38" y="0"/>
                                  </a:moveTo>
                                  <a:lnTo>
                                    <a:pt x="71" y="20"/>
                                  </a:lnTo>
                                  <a:lnTo>
                                    <a:pt x="34" y="43"/>
                                  </a:lnTo>
                                  <a:lnTo>
                                    <a:pt x="0" y="20"/>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2" name="Freeform 84"/>
                            <p:cNvSpPr/>
                            <p:nvPr/>
                          </p:nvSpPr>
                          <p:spPr bwMode="auto">
                            <a:xfrm>
                              <a:off x="2602" y="3084"/>
                              <a:ext cx="10" cy="5"/>
                            </a:xfrm>
                            <a:custGeom>
                              <a:avLst/>
                              <a:gdLst>
                                <a:gd name="T0" fmla="*/ 35 w 68"/>
                                <a:gd name="T1" fmla="*/ 0 h 40"/>
                                <a:gd name="T2" fmla="*/ 68 w 68"/>
                                <a:gd name="T3" fmla="*/ 20 h 40"/>
                                <a:gd name="T4" fmla="*/ 32 w 68"/>
                                <a:gd name="T5" fmla="*/ 40 h 40"/>
                                <a:gd name="T6" fmla="*/ 0 w 68"/>
                                <a:gd name="T7" fmla="*/ 22 h 40"/>
                                <a:gd name="T8" fmla="*/ 35 w 68"/>
                                <a:gd name="T9" fmla="*/ 0 h 40"/>
                              </a:gdLst>
                              <a:ahLst/>
                              <a:cxnLst>
                                <a:cxn ang="0">
                                  <a:pos x="T0" y="T1"/>
                                </a:cxn>
                                <a:cxn ang="0">
                                  <a:pos x="T2" y="T3"/>
                                </a:cxn>
                                <a:cxn ang="0">
                                  <a:pos x="T4" y="T5"/>
                                </a:cxn>
                                <a:cxn ang="0">
                                  <a:pos x="T6" y="T7"/>
                                </a:cxn>
                                <a:cxn ang="0">
                                  <a:pos x="T8" y="T9"/>
                                </a:cxn>
                              </a:cxnLst>
                              <a:rect l="0" t="0" r="r" b="b"/>
                              <a:pathLst>
                                <a:path w="68" h="40">
                                  <a:moveTo>
                                    <a:pt x="35" y="0"/>
                                  </a:moveTo>
                                  <a:lnTo>
                                    <a:pt x="68" y="20"/>
                                  </a:lnTo>
                                  <a:lnTo>
                                    <a:pt x="32" y="40"/>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3" name="Freeform 85"/>
                            <p:cNvSpPr/>
                            <p:nvPr/>
                          </p:nvSpPr>
                          <p:spPr bwMode="auto">
                            <a:xfrm>
                              <a:off x="2608" y="3083"/>
                              <a:ext cx="8" cy="4"/>
                            </a:xfrm>
                            <a:custGeom>
                              <a:avLst/>
                              <a:gdLst>
                                <a:gd name="T0" fmla="*/ 27 w 57"/>
                                <a:gd name="T1" fmla="*/ 0 h 33"/>
                                <a:gd name="T2" fmla="*/ 57 w 57"/>
                                <a:gd name="T3" fmla="*/ 17 h 33"/>
                                <a:gd name="T4" fmla="*/ 31 w 57"/>
                                <a:gd name="T5" fmla="*/ 33 h 33"/>
                                <a:gd name="T6" fmla="*/ 0 w 57"/>
                                <a:gd name="T7" fmla="*/ 13 h 33"/>
                                <a:gd name="T8" fmla="*/ 27 w 57"/>
                                <a:gd name="T9" fmla="*/ 0 h 33"/>
                              </a:gdLst>
                              <a:ahLst/>
                              <a:cxnLst>
                                <a:cxn ang="0">
                                  <a:pos x="T0" y="T1"/>
                                </a:cxn>
                                <a:cxn ang="0">
                                  <a:pos x="T2" y="T3"/>
                                </a:cxn>
                                <a:cxn ang="0">
                                  <a:pos x="T4" y="T5"/>
                                </a:cxn>
                                <a:cxn ang="0">
                                  <a:pos x="T6" y="T7"/>
                                </a:cxn>
                                <a:cxn ang="0">
                                  <a:pos x="T8" y="T9"/>
                                </a:cxn>
                              </a:cxnLst>
                              <a:rect l="0" t="0" r="r" b="b"/>
                              <a:pathLst>
                                <a:path w="57" h="33">
                                  <a:moveTo>
                                    <a:pt x="27" y="0"/>
                                  </a:moveTo>
                                  <a:lnTo>
                                    <a:pt x="57" y="17"/>
                                  </a:lnTo>
                                  <a:lnTo>
                                    <a:pt x="31" y="33"/>
                                  </a:lnTo>
                                  <a:lnTo>
                                    <a:pt x="0" y="13"/>
                                  </a:lnTo>
                                  <a:lnTo>
                                    <a:pt x="2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4" name="Freeform 86"/>
                            <p:cNvSpPr/>
                            <p:nvPr/>
                          </p:nvSpPr>
                          <p:spPr bwMode="auto">
                            <a:xfrm>
                              <a:off x="2583" y="3092"/>
                              <a:ext cx="10" cy="6"/>
                            </a:xfrm>
                            <a:custGeom>
                              <a:avLst/>
                              <a:gdLst>
                                <a:gd name="T0" fmla="*/ 39 w 73"/>
                                <a:gd name="T1" fmla="*/ 0 h 45"/>
                                <a:gd name="T2" fmla="*/ 73 w 73"/>
                                <a:gd name="T3" fmla="*/ 22 h 45"/>
                                <a:gd name="T4" fmla="*/ 38 w 73"/>
                                <a:gd name="T5" fmla="*/ 45 h 45"/>
                                <a:gd name="T6" fmla="*/ 0 w 73"/>
                                <a:gd name="T7" fmla="*/ 22 h 45"/>
                                <a:gd name="T8" fmla="*/ 39 w 73"/>
                                <a:gd name="T9" fmla="*/ 0 h 45"/>
                              </a:gdLst>
                              <a:ahLst/>
                              <a:cxnLst>
                                <a:cxn ang="0">
                                  <a:pos x="T0" y="T1"/>
                                </a:cxn>
                                <a:cxn ang="0">
                                  <a:pos x="T2" y="T3"/>
                                </a:cxn>
                                <a:cxn ang="0">
                                  <a:pos x="T4" y="T5"/>
                                </a:cxn>
                                <a:cxn ang="0">
                                  <a:pos x="T6" y="T7"/>
                                </a:cxn>
                                <a:cxn ang="0">
                                  <a:pos x="T8" y="T9"/>
                                </a:cxn>
                              </a:cxnLst>
                              <a:rect l="0" t="0" r="r" b="b"/>
                              <a:pathLst>
                                <a:path w="73" h="45">
                                  <a:moveTo>
                                    <a:pt x="39" y="0"/>
                                  </a:moveTo>
                                  <a:lnTo>
                                    <a:pt x="73" y="22"/>
                                  </a:lnTo>
                                  <a:lnTo>
                                    <a:pt x="38" y="45"/>
                                  </a:lnTo>
                                  <a:lnTo>
                                    <a:pt x="0" y="22"/>
                                  </a:lnTo>
                                  <a:lnTo>
                                    <a:pt x="3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5" name="Freeform 87"/>
                            <p:cNvSpPr/>
                            <p:nvPr/>
                          </p:nvSpPr>
                          <p:spPr bwMode="auto">
                            <a:xfrm>
                              <a:off x="2578" y="3090"/>
                              <a:ext cx="10" cy="5"/>
                            </a:xfrm>
                            <a:custGeom>
                              <a:avLst/>
                              <a:gdLst>
                                <a:gd name="T0" fmla="*/ 36 w 68"/>
                                <a:gd name="T1" fmla="*/ 0 h 44"/>
                                <a:gd name="T2" fmla="*/ 68 w 68"/>
                                <a:gd name="T3" fmla="*/ 21 h 44"/>
                                <a:gd name="T4" fmla="*/ 32 w 68"/>
                                <a:gd name="T5" fmla="*/ 44 h 44"/>
                                <a:gd name="T6" fmla="*/ 0 w 68"/>
                                <a:gd name="T7" fmla="*/ 22 h 44"/>
                                <a:gd name="T8" fmla="*/ 36 w 68"/>
                                <a:gd name="T9" fmla="*/ 0 h 44"/>
                              </a:gdLst>
                              <a:ahLst/>
                              <a:cxnLst>
                                <a:cxn ang="0">
                                  <a:pos x="T0" y="T1"/>
                                </a:cxn>
                                <a:cxn ang="0">
                                  <a:pos x="T2" y="T3"/>
                                </a:cxn>
                                <a:cxn ang="0">
                                  <a:pos x="T4" y="T5"/>
                                </a:cxn>
                                <a:cxn ang="0">
                                  <a:pos x="T6" y="T7"/>
                                </a:cxn>
                                <a:cxn ang="0">
                                  <a:pos x="T8" y="T9"/>
                                </a:cxn>
                              </a:cxnLst>
                              <a:rect l="0" t="0" r="r" b="b"/>
                              <a:pathLst>
                                <a:path w="68" h="44">
                                  <a:moveTo>
                                    <a:pt x="36" y="0"/>
                                  </a:moveTo>
                                  <a:lnTo>
                                    <a:pt x="68" y="21"/>
                                  </a:lnTo>
                                  <a:lnTo>
                                    <a:pt x="32" y="44"/>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6" name="Freeform 88"/>
                            <p:cNvSpPr/>
                            <p:nvPr/>
                          </p:nvSpPr>
                          <p:spPr bwMode="auto">
                            <a:xfrm>
                              <a:off x="2584" y="3087"/>
                              <a:ext cx="10" cy="6"/>
                            </a:xfrm>
                            <a:custGeom>
                              <a:avLst/>
                              <a:gdLst>
                                <a:gd name="T0" fmla="*/ 37 w 70"/>
                                <a:gd name="T1" fmla="*/ 0 h 43"/>
                                <a:gd name="T2" fmla="*/ 70 w 70"/>
                                <a:gd name="T3" fmla="*/ 21 h 43"/>
                                <a:gd name="T4" fmla="*/ 34 w 70"/>
                                <a:gd name="T5" fmla="*/ 43 h 43"/>
                                <a:gd name="T6" fmla="*/ 0 w 70"/>
                                <a:gd name="T7" fmla="*/ 21 h 43"/>
                                <a:gd name="T8" fmla="*/ 37 w 70"/>
                                <a:gd name="T9" fmla="*/ 0 h 43"/>
                              </a:gdLst>
                              <a:ahLst/>
                              <a:cxnLst>
                                <a:cxn ang="0">
                                  <a:pos x="T0" y="T1"/>
                                </a:cxn>
                                <a:cxn ang="0">
                                  <a:pos x="T2" y="T3"/>
                                </a:cxn>
                                <a:cxn ang="0">
                                  <a:pos x="T4" y="T5"/>
                                </a:cxn>
                                <a:cxn ang="0">
                                  <a:pos x="T6" y="T7"/>
                                </a:cxn>
                                <a:cxn ang="0">
                                  <a:pos x="T8" y="T9"/>
                                </a:cxn>
                              </a:cxnLst>
                              <a:rect l="0" t="0" r="r" b="b"/>
                              <a:pathLst>
                                <a:path w="70" h="43">
                                  <a:moveTo>
                                    <a:pt x="37" y="0"/>
                                  </a:moveTo>
                                  <a:lnTo>
                                    <a:pt x="70" y="21"/>
                                  </a:lnTo>
                                  <a:lnTo>
                                    <a:pt x="34" y="43"/>
                                  </a:lnTo>
                                  <a:lnTo>
                                    <a:pt x="0" y="21"/>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7" name="Freeform 89"/>
                            <p:cNvSpPr/>
                            <p:nvPr/>
                          </p:nvSpPr>
                          <p:spPr bwMode="auto">
                            <a:xfrm>
                              <a:off x="2591" y="3085"/>
                              <a:ext cx="9" cy="5"/>
                            </a:xfrm>
                            <a:custGeom>
                              <a:avLst/>
                              <a:gdLst>
                                <a:gd name="T0" fmla="*/ 35 w 68"/>
                                <a:gd name="T1" fmla="*/ 0 h 43"/>
                                <a:gd name="T2" fmla="*/ 68 w 68"/>
                                <a:gd name="T3" fmla="*/ 21 h 43"/>
                                <a:gd name="T4" fmla="*/ 33 w 68"/>
                                <a:gd name="T5" fmla="*/ 43 h 43"/>
                                <a:gd name="T6" fmla="*/ 0 w 68"/>
                                <a:gd name="T7" fmla="*/ 22 h 43"/>
                                <a:gd name="T8" fmla="*/ 35 w 68"/>
                                <a:gd name="T9" fmla="*/ 0 h 43"/>
                              </a:gdLst>
                              <a:ahLst/>
                              <a:cxnLst>
                                <a:cxn ang="0">
                                  <a:pos x="T0" y="T1"/>
                                </a:cxn>
                                <a:cxn ang="0">
                                  <a:pos x="T2" y="T3"/>
                                </a:cxn>
                                <a:cxn ang="0">
                                  <a:pos x="T4" y="T5"/>
                                </a:cxn>
                                <a:cxn ang="0">
                                  <a:pos x="T6" y="T7"/>
                                </a:cxn>
                                <a:cxn ang="0">
                                  <a:pos x="T8" y="T9"/>
                                </a:cxn>
                              </a:cxnLst>
                              <a:rect l="0" t="0" r="r" b="b"/>
                              <a:pathLst>
                                <a:path w="68" h="43">
                                  <a:moveTo>
                                    <a:pt x="35" y="0"/>
                                  </a:moveTo>
                                  <a:lnTo>
                                    <a:pt x="68" y="21"/>
                                  </a:lnTo>
                                  <a:lnTo>
                                    <a:pt x="33" y="43"/>
                                  </a:lnTo>
                                  <a:lnTo>
                                    <a:pt x="0" y="22"/>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8" name="Freeform 90"/>
                            <p:cNvSpPr/>
                            <p:nvPr/>
                          </p:nvSpPr>
                          <p:spPr bwMode="auto">
                            <a:xfrm>
                              <a:off x="2597" y="3082"/>
                              <a:ext cx="9" cy="5"/>
                            </a:xfrm>
                            <a:custGeom>
                              <a:avLst/>
                              <a:gdLst>
                                <a:gd name="T0" fmla="*/ 36 w 67"/>
                                <a:gd name="T1" fmla="*/ 0 h 41"/>
                                <a:gd name="T2" fmla="*/ 67 w 67"/>
                                <a:gd name="T3" fmla="*/ 20 h 41"/>
                                <a:gd name="T4" fmla="*/ 32 w 67"/>
                                <a:gd name="T5" fmla="*/ 41 h 41"/>
                                <a:gd name="T6" fmla="*/ 0 w 67"/>
                                <a:gd name="T7" fmla="*/ 22 h 41"/>
                                <a:gd name="T8" fmla="*/ 36 w 67"/>
                                <a:gd name="T9" fmla="*/ 0 h 41"/>
                              </a:gdLst>
                              <a:ahLst/>
                              <a:cxnLst>
                                <a:cxn ang="0">
                                  <a:pos x="T0" y="T1"/>
                                </a:cxn>
                                <a:cxn ang="0">
                                  <a:pos x="T2" y="T3"/>
                                </a:cxn>
                                <a:cxn ang="0">
                                  <a:pos x="T4" y="T5"/>
                                </a:cxn>
                                <a:cxn ang="0">
                                  <a:pos x="T6" y="T7"/>
                                </a:cxn>
                                <a:cxn ang="0">
                                  <a:pos x="T8" y="T9"/>
                                </a:cxn>
                              </a:cxnLst>
                              <a:rect l="0" t="0" r="r" b="b"/>
                              <a:pathLst>
                                <a:path w="67" h="41">
                                  <a:moveTo>
                                    <a:pt x="36" y="0"/>
                                  </a:moveTo>
                                  <a:lnTo>
                                    <a:pt x="67" y="20"/>
                                  </a:lnTo>
                                  <a:lnTo>
                                    <a:pt x="32" y="41"/>
                                  </a:lnTo>
                                  <a:lnTo>
                                    <a:pt x="0" y="22"/>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39" name="Freeform 91"/>
                            <p:cNvSpPr/>
                            <p:nvPr/>
                          </p:nvSpPr>
                          <p:spPr bwMode="auto">
                            <a:xfrm>
                              <a:off x="2603" y="3080"/>
                              <a:ext cx="8" cy="5"/>
                            </a:xfrm>
                            <a:custGeom>
                              <a:avLst/>
                              <a:gdLst>
                                <a:gd name="T0" fmla="*/ 26 w 56"/>
                                <a:gd name="T1" fmla="*/ 0 h 34"/>
                                <a:gd name="T2" fmla="*/ 56 w 56"/>
                                <a:gd name="T3" fmla="*/ 19 h 34"/>
                                <a:gd name="T4" fmla="*/ 29 w 56"/>
                                <a:gd name="T5" fmla="*/ 34 h 34"/>
                                <a:gd name="T6" fmla="*/ 0 w 56"/>
                                <a:gd name="T7" fmla="*/ 15 h 34"/>
                                <a:gd name="T8" fmla="*/ 26 w 56"/>
                                <a:gd name="T9" fmla="*/ 0 h 34"/>
                              </a:gdLst>
                              <a:ahLst/>
                              <a:cxnLst>
                                <a:cxn ang="0">
                                  <a:pos x="T0" y="T1"/>
                                </a:cxn>
                                <a:cxn ang="0">
                                  <a:pos x="T2" y="T3"/>
                                </a:cxn>
                                <a:cxn ang="0">
                                  <a:pos x="T4" y="T5"/>
                                </a:cxn>
                                <a:cxn ang="0">
                                  <a:pos x="T6" y="T7"/>
                                </a:cxn>
                                <a:cxn ang="0">
                                  <a:pos x="T8" y="T9"/>
                                </a:cxn>
                              </a:cxnLst>
                              <a:rect l="0" t="0" r="r" b="b"/>
                              <a:pathLst>
                                <a:path w="56" h="34">
                                  <a:moveTo>
                                    <a:pt x="26" y="0"/>
                                  </a:moveTo>
                                  <a:lnTo>
                                    <a:pt x="56" y="19"/>
                                  </a:lnTo>
                                  <a:lnTo>
                                    <a:pt x="29" y="34"/>
                                  </a:lnTo>
                                  <a:lnTo>
                                    <a:pt x="0" y="15"/>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0" name="Freeform 92"/>
                            <p:cNvSpPr/>
                            <p:nvPr/>
                          </p:nvSpPr>
                          <p:spPr bwMode="auto">
                            <a:xfrm>
                              <a:off x="2580" y="3085"/>
                              <a:ext cx="9" cy="5"/>
                            </a:xfrm>
                            <a:custGeom>
                              <a:avLst/>
                              <a:gdLst>
                                <a:gd name="T0" fmla="*/ 35 w 67"/>
                                <a:gd name="T1" fmla="*/ 0 h 43"/>
                                <a:gd name="T2" fmla="*/ 67 w 67"/>
                                <a:gd name="T3" fmla="*/ 21 h 43"/>
                                <a:gd name="T4" fmla="*/ 31 w 67"/>
                                <a:gd name="T5" fmla="*/ 43 h 43"/>
                                <a:gd name="T6" fmla="*/ 0 w 67"/>
                                <a:gd name="T7" fmla="*/ 21 h 43"/>
                                <a:gd name="T8" fmla="*/ 35 w 67"/>
                                <a:gd name="T9" fmla="*/ 0 h 43"/>
                              </a:gdLst>
                              <a:ahLst/>
                              <a:cxnLst>
                                <a:cxn ang="0">
                                  <a:pos x="T0" y="T1"/>
                                </a:cxn>
                                <a:cxn ang="0">
                                  <a:pos x="T2" y="T3"/>
                                </a:cxn>
                                <a:cxn ang="0">
                                  <a:pos x="T4" y="T5"/>
                                </a:cxn>
                                <a:cxn ang="0">
                                  <a:pos x="T6" y="T7"/>
                                </a:cxn>
                                <a:cxn ang="0">
                                  <a:pos x="T8" y="T9"/>
                                </a:cxn>
                              </a:cxnLst>
                              <a:rect l="0" t="0" r="r" b="b"/>
                              <a:pathLst>
                                <a:path w="67" h="43">
                                  <a:moveTo>
                                    <a:pt x="35" y="0"/>
                                  </a:moveTo>
                                  <a:lnTo>
                                    <a:pt x="67" y="21"/>
                                  </a:lnTo>
                                  <a:lnTo>
                                    <a:pt x="31" y="43"/>
                                  </a:lnTo>
                                  <a:lnTo>
                                    <a:pt x="0" y="21"/>
                                  </a:lnTo>
                                  <a:lnTo>
                                    <a:pt x="3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1" name="Freeform 93"/>
                            <p:cNvSpPr/>
                            <p:nvPr/>
                          </p:nvSpPr>
                          <p:spPr bwMode="auto">
                            <a:xfrm>
                              <a:off x="2586" y="3082"/>
                              <a:ext cx="9" cy="5"/>
                            </a:xfrm>
                            <a:custGeom>
                              <a:avLst/>
                              <a:gdLst>
                                <a:gd name="T0" fmla="*/ 37 w 66"/>
                                <a:gd name="T1" fmla="*/ 0 h 42"/>
                                <a:gd name="T2" fmla="*/ 66 w 66"/>
                                <a:gd name="T3" fmla="*/ 20 h 42"/>
                                <a:gd name="T4" fmla="*/ 31 w 66"/>
                                <a:gd name="T5" fmla="*/ 42 h 42"/>
                                <a:gd name="T6" fmla="*/ 0 w 66"/>
                                <a:gd name="T7" fmla="*/ 21 h 42"/>
                                <a:gd name="T8" fmla="*/ 37 w 66"/>
                                <a:gd name="T9" fmla="*/ 0 h 42"/>
                              </a:gdLst>
                              <a:ahLst/>
                              <a:cxnLst>
                                <a:cxn ang="0">
                                  <a:pos x="T0" y="T1"/>
                                </a:cxn>
                                <a:cxn ang="0">
                                  <a:pos x="T2" y="T3"/>
                                </a:cxn>
                                <a:cxn ang="0">
                                  <a:pos x="T4" y="T5"/>
                                </a:cxn>
                                <a:cxn ang="0">
                                  <a:pos x="T6" y="T7"/>
                                </a:cxn>
                                <a:cxn ang="0">
                                  <a:pos x="T8" y="T9"/>
                                </a:cxn>
                              </a:cxnLst>
                              <a:rect l="0" t="0" r="r" b="b"/>
                              <a:pathLst>
                                <a:path w="66" h="42">
                                  <a:moveTo>
                                    <a:pt x="37" y="0"/>
                                  </a:moveTo>
                                  <a:lnTo>
                                    <a:pt x="66" y="20"/>
                                  </a:lnTo>
                                  <a:lnTo>
                                    <a:pt x="31" y="42"/>
                                  </a:lnTo>
                                  <a:lnTo>
                                    <a:pt x="0" y="21"/>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2" name="Freeform 94"/>
                            <p:cNvSpPr/>
                            <p:nvPr/>
                          </p:nvSpPr>
                          <p:spPr bwMode="auto">
                            <a:xfrm>
                              <a:off x="2592" y="3080"/>
                              <a:ext cx="10" cy="5"/>
                            </a:xfrm>
                            <a:custGeom>
                              <a:avLst/>
                              <a:gdLst>
                                <a:gd name="T0" fmla="*/ 36 w 68"/>
                                <a:gd name="T1" fmla="*/ 0 h 41"/>
                                <a:gd name="T2" fmla="*/ 68 w 68"/>
                                <a:gd name="T3" fmla="*/ 19 h 41"/>
                                <a:gd name="T4" fmla="*/ 31 w 68"/>
                                <a:gd name="T5" fmla="*/ 41 h 41"/>
                                <a:gd name="T6" fmla="*/ 0 w 68"/>
                                <a:gd name="T7" fmla="*/ 20 h 41"/>
                                <a:gd name="T8" fmla="*/ 36 w 68"/>
                                <a:gd name="T9" fmla="*/ 0 h 41"/>
                              </a:gdLst>
                              <a:ahLst/>
                              <a:cxnLst>
                                <a:cxn ang="0">
                                  <a:pos x="T0" y="T1"/>
                                </a:cxn>
                                <a:cxn ang="0">
                                  <a:pos x="T2" y="T3"/>
                                </a:cxn>
                                <a:cxn ang="0">
                                  <a:pos x="T4" y="T5"/>
                                </a:cxn>
                                <a:cxn ang="0">
                                  <a:pos x="T6" y="T7"/>
                                </a:cxn>
                                <a:cxn ang="0">
                                  <a:pos x="T8" y="T9"/>
                                </a:cxn>
                              </a:cxnLst>
                              <a:rect l="0" t="0" r="r" b="b"/>
                              <a:pathLst>
                                <a:path w="68" h="41">
                                  <a:moveTo>
                                    <a:pt x="36" y="0"/>
                                  </a:moveTo>
                                  <a:lnTo>
                                    <a:pt x="68" y="19"/>
                                  </a:lnTo>
                                  <a:lnTo>
                                    <a:pt x="31" y="41"/>
                                  </a:lnTo>
                                  <a:lnTo>
                                    <a:pt x="0" y="20"/>
                                  </a:lnTo>
                                  <a:lnTo>
                                    <a:pt x="3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3" name="Freeform 95"/>
                            <p:cNvSpPr/>
                            <p:nvPr/>
                          </p:nvSpPr>
                          <p:spPr bwMode="auto">
                            <a:xfrm>
                              <a:off x="2598" y="3078"/>
                              <a:ext cx="8" cy="4"/>
                            </a:xfrm>
                            <a:custGeom>
                              <a:avLst/>
                              <a:gdLst>
                                <a:gd name="T0" fmla="*/ 26 w 57"/>
                                <a:gd name="T1" fmla="*/ 0 h 35"/>
                                <a:gd name="T2" fmla="*/ 57 w 57"/>
                                <a:gd name="T3" fmla="*/ 19 h 35"/>
                                <a:gd name="T4" fmla="*/ 33 w 57"/>
                                <a:gd name="T5" fmla="*/ 35 h 35"/>
                                <a:gd name="T6" fmla="*/ 0 w 57"/>
                                <a:gd name="T7" fmla="*/ 14 h 35"/>
                                <a:gd name="T8" fmla="*/ 26 w 57"/>
                                <a:gd name="T9" fmla="*/ 0 h 35"/>
                              </a:gdLst>
                              <a:ahLst/>
                              <a:cxnLst>
                                <a:cxn ang="0">
                                  <a:pos x="T0" y="T1"/>
                                </a:cxn>
                                <a:cxn ang="0">
                                  <a:pos x="T2" y="T3"/>
                                </a:cxn>
                                <a:cxn ang="0">
                                  <a:pos x="T4" y="T5"/>
                                </a:cxn>
                                <a:cxn ang="0">
                                  <a:pos x="T6" y="T7"/>
                                </a:cxn>
                                <a:cxn ang="0">
                                  <a:pos x="T8" y="T9"/>
                                </a:cxn>
                              </a:cxnLst>
                              <a:rect l="0" t="0" r="r" b="b"/>
                              <a:pathLst>
                                <a:path w="57" h="35">
                                  <a:moveTo>
                                    <a:pt x="26" y="0"/>
                                  </a:moveTo>
                                  <a:lnTo>
                                    <a:pt x="57" y="19"/>
                                  </a:lnTo>
                                  <a:lnTo>
                                    <a:pt x="33" y="35"/>
                                  </a:lnTo>
                                  <a:lnTo>
                                    <a:pt x="0" y="14"/>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4" name="Freeform 96"/>
                            <p:cNvSpPr/>
                            <p:nvPr/>
                          </p:nvSpPr>
                          <p:spPr bwMode="auto">
                            <a:xfrm>
                              <a:off x="2573" y="3087"/>
                              <a:ext cx="10" cy="6"/>
                            </a:xfrm>
                            <a:custGeom>
                              <a:avLst/>
                              <a:gdLst>
                                <a:gd name="T0" fmla="*/ 37 w 70"/>
                                <a:gd name="T1" fmla="*/ 0 h 42"/>
                                <a:gd name="T2" fmla="*/ 70 w 70"/>
                                <a:gd name="T3" fmla="*/ 22 h 42"/>
                                <a:gd name="T4" fmla="*/ 30 w 70"/>
                                <a:gd name="T5" fmla="*/ 42 h 42"/>
                                <a:gd name="T6" fmla="*/ 0 w 70"/>
                                <a:gd name="T7" fmla="*/ 20 h 42"/>
                                <a:gd name="T8" fmla="*/ 37 w 70"/>
                                <a:gd name="T9" fmla="*/ 0 h 42"/>
                              </a:gdLst>
                              <a:ahLst/>
                              <a:cxnLst>
                                <a:cxn ang="0">
                                  <a:pos x="T0" y="T1"/>
                                </a:cxn>
                                <a:cxn ang="0">
                                  <a:pos x="T2" y="T3"/>
                                </a:cxn>
                                <a:cxn ang="0">
                                  <a:pos x="T4" y="T5"/>
                                </a:cxn>
                                <a:cxn ang="0">
                                  <a:pos x="T6" y="T7"/>
                                </a:cxn>
                                <a:cxn ang="0">
                                  <a:pos x="T8" y="T9"/>
                                </a:cxn>
                              </a:cxnLst>
                              <a:rect l="0" t="0" r="r" b="b"/>
                              <a:pathLst>
                                <a:path w="70" h="42">
                                  <a:moveTo>
                                    <a:pt x="37" y="0"/>
                                  </a:moveTo>
                                  <a:lnTo>
                                    <a:pt x="70" y="22"/>
                                  </a:lnTo>
                                  <a:lnTo>
                                    <a:pt x="30" y="42"/>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5" name="Freeform 97"/>
                            <p:cNvSpPr/>
                            <p:nvPr/>
                          </p:nvSpPr>
                          <p:spPr bwMode="auto">
                            <a:xfrm>
                              <a:off x="2568" y="3085"/>
                              <a:ext cx="10" cy="5"/>
                            </a:xfrm>
                            <a:custGeom>
                              <a:avLst/>
                              <a:gdLst>
                                <a:gd name="T0" fmla="*/ 41 w 70"/>
                                <a:gd name="T1" fmla="*/ 0 h 43"/>
                                <a:gd name="T2" fmla="*/ 70 w 70"/>
                                <a:gd name="T3" fmla="*/ 21 h 43"/>
                                <a:gd name="T4" fmla="*/ 33 w 70"/>
                                <a:gd name="T5" fmla="*/ 43 h 43"/>
                                <a:gd name="T6" fmla="*/ 0 w 70"/>
                                <a:gd name="T7" fmla="*/ 21 h 43"/>
                                <a:gd name="T8" fmla="*/ 41 w 70"/>
                                <a:gd name="T9" fmla="*/ 0 h 43"/>
                              </a:gdLst>
                              <a:ahLst/>
                              <a:cxnLst>
                                <a:cxn ang="0">
                                  <a:pos x="T0" y="T1"/>
                                </a:cxn>
                                <a:cxn ang="0">
                                  <a:pos x="T2" y="T3"/>
                                </a:cxn>
                                <a:cxn ang="0">
                                  <a:pos x="T4" y="T5"/>
                                </a:cxn>
                                <a:cxn ang="0">
                                  <a:pos x="T6" y="T7"/>
                                </a:cxn>
                                <a:cxn ang="0">
                                  <a:pos x="T8" y="T9"/>
                                </a:cxn>
                              </a:cxnLst>
                              <a:rect l="0" t="0" r="r" b="b"/>
                              <a:pathLst>
                                <a:path w="70" h="43">
                                  <a:moveTo>
                                    <a:pt x="41" y="0"/>
                                  </a:moveTo>
                                  <a:lnTo>
                                    <a:pt x="70" y="21"/>
                                  </a:lnTo>
                                  <a:lnTo>
                                    <a:pt x="33" y="43"/>
                                  </a:lnTo>
                                  <a:lnTo>
                                    <a:pt x="0" y="21"/>
                                  </a:lnTo>
                                  <a:lnTo>
                                    <a:pt x="4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6" name="Freeform 98"/>
                            <p:cNvSpPr/>
                            <p:nvPr/>
                          </p:nvSpPr>
                          <p:spPr bwMode="auto">
                            <a:xfrm>
                              <a:off x="2575" y="3083"/>
                              <a:ext cx="10" cy="4"/>
                            </a:xfrm>
                            <a:custGeom>
                              <a:avLst/>
                              <a:gdLst>
                                <a:gd name="T0" fmla="*/ 37 w 69"/>
                                <a:gd name="T1" fmla="*/ 0 h 39"/>
                                <a:gd name="T2" fmla="*/ 69 w 69"/>
                                <a:gd name="T3" fmla="*/ 18 h 39"/>
                                <a:gd name="T4" fmla="*/ 32 w 69"/>
                                <a:gd name="T5" fmla="*/ 39 h 39"/>
                                <a:gd name="T6" fmla="*/ 0 w 69"/>
                                <a:gd name="T7" fmla="*/ 18 h 39"/>
                                <a:gd name="T8" fmla="*/ 37 w 69"/>
                                <a:gd name="T9" fmla="*/ 0 h 39"/>
                              </a:gdLst>
                              <a:ahLst/>
                              <a:cxnLst>
                                <a:cxn ang="0">
                                  <a:pos x="T0" y="T1"/>
                                </a:cxn>
                                <a:cxn ang="0">
                                  <a:pos x="T2" y="T3"/>
                                </a:cxn>
                                <a:cxn ang="0">
                                  <a:pos x="T4" y="T5"/>
                                </a:cxn>
                                <a:cxn ang="0">
                                  <a:pos x="T6" y="T7"/>
                                </a:cxn>
                                <a:cxn ang="0">
                                  <a:pos x="T8" y="T9"/>
                                </a:cxn>
                              </a:cxnLst>
                              <a:rect l="0" t="0" r="r" b="b"/>
                              <a:pathLst>
                                <a:path w="69" h="39">
                                  <a:moveTo>
                                    <a:pt x="37" y="0"/>
                                  </a:moveTo>
                                  <a:lnTo>
                                    <a:pt x="69" y="18"/>
                                  </a:lnTo>
                                  <a:lnTo>
                                    <a:pt x="32" y="39"/>
                                  </a:lnTo>
                                  <a:lnTo>
                                    <a:pt x="0" y="18"/>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7" name="Freeform 99"/>
                            <p:cNvSpPr/>
                            <p:nvPr/>
                          </p:nvSpPr>
                          <p:spPr bwMode="auto">
                            <a:xfrm>
                              <a:off x="2581" y="3080"/>
                              <a:ext cx="10" cy="5"/>
                            </a:xfrm>
                            <a:custGeom>
                              <a:avLst/>
                              <a:gdLst>
                                <a:gd name="T0" fmla="*/ 37 w 69"/>
                                <a:gd name="T1" fmla="*/ 0 h 42"/>
                                <a:gd name="T2" fmla="*/ 69 w 69"/>
                                <a:gd name="T3" fmla="*/ 20 h 42"/>
                                <a:gd name="T4" fmla="*/ 33 w 69"/>
                                <a:gd name="T5" fmla="*/ 42 h 42"/>
                                <a:gd name="T6" fmla="*/ 0 w 69"/>
                                <a:gd name="T7" fmla="*/ 20 h 42"/>
                                <a:gd name="T8" fmla="*/ 37 w 69"/>
                                <a:gd name="T9" fmla="*/ 0 h 42"/>
                              </a:gdLst>
                              <a:ahLst/>
                              <a:cxnLst>
                                <a:cxn ang="0">
                                  <a:pos x="T0" y="T1"/>
                                </a:cxn>
                                <a:cxn ang="0">
                                  <a:pos x="T2" y="T3"/>
                                </a:cxn>
                                <a:cxn ang="0">
                                  <a:pos x="T4" y="T5"/>
                                </a:cxn>
                                <a:cxn ang="0">
                                  <a:pos x="T6" y="T7"/>
                                </a:cxn>
                                <a:cxn ang="0">
                                  <a:pos x="T8" y="T9"/>
                                </a:cxn>
                              </a:cxnLst>
                              <a:rect l="0" t="0" r="r" b="b"/>
                              <a:pathLst>
                                <a:path w="69" h="42">
                                  <a:moveTo>
                                    <a:pt x="37" y="0"/>
                                  </a:moveTo>
                                  <a:lnTo>
                                    <a:pt x="69" y="20"/>
                                  </a:lnTo>
                                  <a:lnTo>
                                    <a:pt x="33" y="42"/>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8" name="Freeform 100"/>
                            <p:cNvSpPr/>
                            <p:nvPr/>
                          </p:nvSpPr>
                          <p:spPr bwMode="auto">
                            <a:xfrm>
                              <a:off x="2587" y="3077"/>
                              <a:ext cx="10" cy="5"/>
                            </a:xfrm>
                            <a:custGeom>
                              <a:avLst/>
                              <a:gdLst>
                                <a:gd name="T0" fmla="*/ 38 w 70"/>
                                <a:gd name="T1" fmla="*/ 0 h 40"/>
                                <a:gd name="T2" fmla="*/ 70 w 70"/>
                                <a:gd name="T3" fmla="*/ 19 h 40"/>
                                <a:gd name="T4" fmla="*/ 32 w 70"/>
                                <a:gd name="T5" fmla="*/ 40 h 40"/>
                                <a:gd name="T6" fmla="*/ 0 w 70"/>
                                <a:gd name="T7" fmla="*/ 20 h 40"/>
                                <a:gd name="T8" fmla="*/ 38 w 70"/>
                                <a:gd name="T9" fmla="*/ 0 h 40"/>
                              </a:gdLst>
                              <a:ahLst/>
                              <a:cxnLst>
                                <a:cxn ang="0">
                                  <a:pos x="T0" y="T1"/>
                                </a:cxn>
                                <a:cxn ang="0">
                                  <a:pos x="T2" y="T3"/>
                                </a:cxn>
                                <a:cxn ang="0">
                                  <a:pos x="T4" y="T5"/>
                                </a:cxn>
                                <a:cxn ang="0">
                                  <a:pos x="T6" y="T7"/>
                                </a:cxn>
                                <a:cxn ang="0">
                                  <a:pos x="T8" y="T9"/>
                                </a:cxn>
                              </a:cxnLst>
                              <a:rect l="0" t="0" r="r" b="b"/>
                              <a:pathLst>
                                <a:path w="70" h="40">
                                  <a:moveTo>
                                    <a:pt x="38" y="0"/>
                                  </a:moveTo>
                                  <a:lnTo>
                                    <a:pt x="70" y="19"/>
                                  </a:lnTo>
                                  <a:lnTo>
                                    <a:pt x="32" y="40"/>
                                  </a:lnTo>
                                  <a:lnTo>
                                    <a:pt x="0" y="20"/>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49" name="Freeform 101"/>
                            <p:cNvSpPr/>
                            <p:nvPr/>
                          </p:nvSpPr>
                          <p:spPr bwMode="auto">
                            <a:xfrm>
                              <a:off x="2593" y="3076"/>
                              <a:ext cx="8" cy="4"/>
                            </a:xfrm>
                            <a:custGeom>
                              <a:avLst/>
                              <a:gdLst>
                                <a:gd name="T0" fmla="*/ 23 w 56"/>
                                <a:gd name="T1" fmla="*/ 0 h 34"/>
                                <a:gd name="T2" fmla="*/ 56 w 56"/>
                                <a:gd name="T3" fmla="*/ 20 h 34"/>
                                <a:gd name="T4" fmla="*/ 32 w 56"/>
                                <a:gd name="T5" fmla="*/ 34 h 34"/>
                                <a:gd name="T6" fmla="*/ 0 w 56"/>
                                <a:gd name="T7" fmla="*/ 12 h 34"/>
                                <a:gd name="T8" fmla="*/ 23 w 56"/>
                                <a:gd name="T9" fmla="*/ 0 h 34"/>
                              </a:gdLst>
                              <a:ahLst/>
                              <a:cxnLst>
                                <a:cxn ang="0">
                                  <a:pos x="T0" y="T1"/>
                                </a:cxn>
                                <a:cxn ang="0">
                                  <a:pos x="T2" y="T3"/>
                                </a:cxn>
                                <a:cxn ang="0">
                                  <a:pos x="T4" y="T5"/>
                                </a:cxn>
                                <a:cxn ang="0">
                                  <a:pos x="T6" y="T7"/>
                                </a:cxn>
                                <a:cxn ang="0">
                                  <a:pos x="T8" y="T9"/>
                                </a:cxn>
                              </a:cxnLst>
                              <a:rect l="0" t="0" r="r" b="b"/>
                              <a:pathLst>
                                <a:path w="56" h="34">
                                  <a:moveTo>
                                    <a:pt x="23" y="0"/>
                                  </a:moveTo>
                                  <a:lnTo>
                                    <a:pt x="56" y="20"/>
                                  </a:lnTo>
                                  <a:lnTo>
                                    <a:pt x="32" y="34"/>
                                  </a:lnTo>
                                  <a:lnTo>
                                    <a:pt x="0" y="12"/>
                                  </a:lnTo>
                                  <a:lnTo>
                                    <a:pt x="23"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0" name="Freeform 102"/>
                            <p:cNvSpPr/>
                            <p:nvPr/>
                          </p:nvSpPr>
                          <p:spPr bwMode="auto">
                            <a:xfrm>
                              <a:off x="2571" y="3080"/>
                              <a:ext cx="9" cy="5"/>
                            </a:xfrm>
                            <a:custGeom>
                              <a:avLst/>
                              <a:gdLst>
                                <a:gd name="T0" fmla="*/ 39 w 64"/>
                                <a:gd name="T1" fmla="*/ 0 h 38"/>
                                <a:gd name="T2" fmla="*/ 64 w 64"/>
                                <a:gd name="T3" fmla="*/ 19 h 38"/>
                                <a:gd name="T4" fmla="*/ 27 w 64"/>
                                <a:gd name="T5" fmla="*/ 38 h 38"/>
                                <a:gd name="T6" fmla="*/ 0 w 64"/>
                                <a:gd name="T7" fmla="*/ 20 h 38"/>
                                <a:gd name="T8" fmla="*/ 39 w 64"/>
                                <a:gd name="T9" fmla="*/ 0 h 38"/>
                              </a:gdLst>
                              <a:ahLst/>
                              <a:cxnLst>
                                <a:cxn ang="0">
                                  <a:pos x="T0" y="T1"/>
                                </a:cxn>
                                <a:cxn ang="0">
                                  <a:pos x="T2" y="T3"/>
                                </a:cxn>
                                <a:cxn ang="0">
                                  <a:pos x="T4" y="T5"/>
                                </a:cxn>
                                <a:cxn ang="0">
                                  <a:pos x="T6" y="T7"/>
                                </a:cxn>
                                <a:cxn ang="0">
                                  <a:pos x="T8" y="T9"/>
                                </a:cxn>
                              </a:cxnLst>
                              <a:rect l="0" t="0" r="r" b="b"/>
                              <a:pathLst>
                                <a:path w="64" h="38">
                                  <a:moveTo>
                                    <a:pt x="39" y="0"/>
                                  </a:moveTo>
                                  <a:lnTo>
                                    <a:pt x="64" y="19"/>
                                  </a:lnTo>
                                  <a:lnTo>
                                    <a:pt x="27" y="38"/>
                                  </a:lnTo>
                                  <a:lnTo>
                                    <a:pt x="0" y="20"/>
                                  </a:lnTo>
                                  <a:lnTo>
                                    <a:pt x="39"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1" name="Freeform 103"/>
                            <p:cNvSpPr/>
                            <p:nvPr/>
                          </p:nvSpPr>
                          <p:spPr bwMode="auto">
                            <a:xfrm>
                              <a:off x="2577" y="3078"/>
                              <a:ext cx="9" cy="4"/>
                            </a:xfrm>
                            <a:custGeom>
                              <a:avLst/>
                              <a:gdLst>
                                <a:gd name="T0" fmla="*/ 37 w 64"/>
                                <a:gd name="T1" fmla="*/ 0 h 37"/>
                                <a:gd name="T2" fmla="*/ 64 w 64"/>
                                <a:gd name="T3" fmla="*/ 18 h 37"/>
                                <a:gd name="T4" fmla="*/ 26 w 64"/>
                                <a:gd name="T5" fmla="*/ 37 h 37"/>
                                <a:gd name="T6" fmla="*/ 0 w 64"/>
                                <a:gd name="T7" fmla="*/ 20 h 37"/>
                                <a:gd name="T8" fmla="*/ 37 w 64"/>
                                <a:gd name="T9" fmla="*/ 0 h 37"/>
                              </a:gdLst>
                              <a:ahLst/>
                              <a:cxnLst>
                                <a:cxn ang="0">
                                  <a:pos x="T0" y="T1"/>
                                </a:cxn>
                                <a:cxn ang="0">
                                  <a:pos x="T2" y="T3"/>
                                </a:cxn>
                                <a:cxn ang="0">
                                  <a:pos x="T4" y="T5"/>
                                </a:cxn>
                                <a:cxn ang="0">
                                  <a:pos x="T6" y="T7"/>
                                </a:cxn>
                                <a:cxn ang="0">
                                  <a:pos x="T8" y="T9"/>
                                </a:cxn>
                              </a:cxnLst>
                              <a:rect l="0" t="0" r="r" b="b"/>
                              <a:pathLst>
                                <a:path w="64" h="37">
                                  <a:moveTo>
                                    <a:pt x="37" y="0"/>
                                  </a:moveTo>
                                  <a:lnTo>
                                    <a:pt x="64" y="18"/>
                                  </a:lnTo>
                                  <a:lnTo>
                                    <a:pt x="26" y="37"/>
                                  </a:lnTo>
                                  <a:lnTo>
                                    <a:pt x="0" y="20"/>
                                  </a:lnTo>
                                  <a:lnTo>
                                    <a:pt x="37"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2" name="Freeform 104"/>
                            <p:cNvSpPr/>
                            <p:nvPr/>
                          </p:nvSpPr>
                          <p:spPr bwMode="auto">
                            <a:xfrm>
                              <a:off x="2583" y="3075"/>
                              <a:ext cx="9" cy="5"/>
                            </a:xfrm>
                            <a:custGeom>
                              <a:avLst/>
                              <a:gdLst>
                                <a:gd name="T0" fmla="*/ 42 w 68"/>
                                <a:gd name="T1" fmla="*/ 0 h 39"/>
                                <a:gd name="T2" fmla="*/ 68 w 68"/>
                                <a:gd name="T3" fmla="*/ 17 h 39"/>
                                <a:gd name="T4" fmla="*/ 30 w 68"/>
                                <a:gd name="T5" fmla="*/ 39 h 39"/>
                                <a:gd name="T6" fmla="*/ 0 w 68"/>
                                <a:gd name="T7" fmla="*/ 20 h 39"/>
                                <a:gd name="T8" fmla="*/ 42 w 68"/>
                                <a:gd name="T9" fmla="*/ 0 h 39"/>
                              </a:gdLst>
                              <a:ahLst/>
                              <a:cxnLst>
                                <a:cxn ang="0">
                                  <a:pos x="T0" y="T1"/>
                                </a:cxn>
                                <a:cxn ang="0">
                                  <a:pos x="T2" y="T3"/>
                                </a:cxn>
                                <a:cxn ang="0">
                                  <a:pos x="T4" y="T5"/>
                                </a:cxn>
                                <a:cxn ang="0">
                                  <a:pos x="T6" y="T7"/>
                                </a:cxn>
                                <a:cxn ang="0">
                                  <a:pos x="T8" y="T9"/>
                                </a:cxn>
                              </a:cxnLst>
                              <a:rect l="0" t="0" r="r" b="b"/>
                              <a:pathLst>
                                <a:path w="68" h="39">
                                  <a:moveTo>
                                    <a:pt x="42" y="0"/>
                                  </a:moveTo>
                                  <a:lnTo>
                                    <a:pt x="68" y="17"/>
                                  </a:lnTo>
                                  <a:lnTo>
                                    <a:pt x="30" y="39"/>
                                  </a:lnTo>
                                  <a:lnTo>
                                    <a:pt x="0" y="20"/>
                                  </a:lnTo>
                                  <a:lnTo>
                                    <a:pt x="42"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3" name="Freeform 105"/>
                            <p:cNvSpPr/>
                            <p:nvPr/>
                          </p:nvSpPr>
                          <p:spPr bwMode="auto">
                            <a:xfrm>
                              <a:off x="2589" y="3073"/>
                              <a:ext cx="7" cy="5"/>
                            </a:xfrm>
                            <a:custGeom>
                              <a:avLst/>
                              <a:gdLst>
                                <a:gd name="T0" fmla="*/ 25 w 54"/>
                                <a:gd name="T1" fmla="*/ 0 h 34"/>
                                <a:gd name="T2" fmla="*/ 54 w 54"/>
                                <a:gd name="T3" fmla="*/ 22 h 34"/>
                                <a:gd name="T4" fmla="*/ 31 w 54"/>
                                <a:gd name="T5" fmla="*/ 34 h 34"/>
                                <a:gd name="T6" fmla="*/ 0 w 54"/>
                                <a:gd name="T7" fmla="*/ 13 h 34"/>
                                <a:gd name="T8" fmla="*/ 25 w 54"/>
                                <a:gd name="T9" fmla="*/ 0 h 34"/>
                              </a:gdLst>
                              <a:ahLst/>
                              <a:cxnLst>
                                <a:cxn ang="0">
                                  <a:pos x="T0" y="T1"/>
                                </a:cxn>
                                <a:cxn ang="0">
                                  <a:pos x="T2" y="T3"/>
                                </a:cxn>
                                <a:cxn ang="0">
                                  <a:pos x="T4" y="T5"/>
                                </a:cxn>
                                <a:cxn ang="0">
                                  <a:pos x="T6" y="T7"/>
                                </a:cxn>
                                <a:cxn ang="0">
                                  <a:pos x="T8" y="T9"/>
                                </a:cxn>
                              </a:cxnLst>
                              <a:rect l="0" t="0" r="r" b="b"/>
                              <a:pathLst>
                                <a:path w="54" h="34">
                                  <a:moveTo>
                                    <a:pt x="25" y="0"/>
                                  </a:moveTo>
                                  <a:lnTo>
                                    <a:pt x="54" y="22"/>
                                  </a:lnTo>
                                  <a:lnTo>
                                    <a:pt x="31" y="34"/>
                                  </a:lnTo>
                                  <a:lnTo>
                                    <a:pt x="0" y="13"/>
                                  </a:lnTo>
                                  <a:lnTo>
                                    <a:pt x="25"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4" name="Freeform 106"/>
                            <p:cNvSpPr/>
                            <p:nvPr/>
                          </p:nvSpPr>
                          <p:spPr bwMode="auto">
                            <a:xfrm>
                              <a:off x="2564" y="3083"/>
                              <a:ext cx="10" cy="4"/>
                            </a:xfrm>
                            <a:custGeom>
                              <a:avLst/>
                              <a:gdLst>
                                <a:gd name="T0" fmla="*/ 40 w 64"/>
                                <a:gd name="T1" fmla="*/ 0 h 37"/>
                                <a:gd name="T2" fmla="*/ 64 w 64"/>
                                <a:gd name="T3" fmla="*/ 15 h 37"/>
                                <a:gd name="T4" fmla="*/ 25 w 64"/>
                                <a:gd name="T5" fmla="*/ 37 h 37"/>
                                <a:gd name="T6" fmla="*/ 0 w 64"/>
                                <a:gd name="T7" fmla="*/ 19 h 37"/>
                                <a:gd name="T8" fmla="*/ 40 w 64"/>
                                <a:gd name="T9" fmla="*/ 0 h 37"/>
                              </a:gdLst>
                              <a:ahLst/>
                              <a:cxnLst>
                                <a:cxn ang="0">
                                  <a:pos x="T0" y="T1"/>
                                </a:cxn>
                                <a:cxn ang="0">
                                  <a:pos x="T2" y="T3"/>
                                </a:cxn>
                                <a:cxn ang="0">
                                  <a:pos x="T4" y="T5"/>
                                </a:cxn>
                                <a:cxn ang="0">
                                  <a:pos x="T6" y="T7"/>
                                </a:cxn>
                                <a:cxn ang="0">
                                  <a:pos x="T8" y="T9"/>
                                </a:cxn>
                              </a:cxnLst>
                              <a:rect l="0" t="0" r="r" b="b"/>
                              <a:pathLst>
                                <a:path w="64" h="37">
                                  <a:moveTo>
                                    <a:pt x="40" y="0"/>
                                  </a:moveTo>
                                  <a:lnTo>
                                    <a:pt x="64" y="15"/>
                                  </a:lnTo>
                                  <a:lnTo>
                                    <a:pt x="25" y="37"/>
                                  </a:lnTo>
                                  <a:lnTo>
                                    <a:pt x="0" y="19"/>
                                  </a:lnTo>
                                  <a:lnTo>
                                    <a:pt x="40"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5" name="Freeform 107"/>
                            <p:cNvSpPr/>
                            <p:nvPr/>
                          </p:nvSpPr>
                          <p:spPr bwMode="auto">
                            <a:xfrm>
                              <a:off x="2565" y="3077"/>
                              <a:ext cx="11" cy="6"/>
                            </a:xfrm>
                            <a:custGeom>
                              <a:avLst/>
                              <a:gdLst>
                                <a:gd name="T0" fmla="*/ 38 w 74"/>
                                <a:gd name="T1" fmla="*/ 0 h 44"/>
                                <a:gd name="T2" fmla="*/ 74 w 74"/>
                                <a:gd name="T3" fmla="*/ 23 h 44"/>
                                <a:gd name="T4" fmla="*/ 38 w 74"/>
                                <a:gd name="T5" fmla="*/ 44 h 44"/>
                                <a:gd name="T6" fmla="*/ 0 w 74"/>
                                <a:gd name="T7" fmla="*/ 18 h 44"/>
                                <a:gd name="T8" fmla="*/ 38 w 74"/>
                                <a:gd name="T9" fmla="*/ 0 h 44"/>
                              </a:gdLst>
                              <a:ahLst/>
                              <a:cxnLst>
                                <a:cxn ang="0">
                                  <a:pos x="T0" y="T1"/>
                                </a:cxn>
                                <a:cxn ang="0">
                                  <a:pos x="T2" y="T3"/>
                                </a:cxn>
                                <a:cxn ang="0">
                                  <a:pos x="T4" y="T5"/>
                                </a:cxn>
                                <a:cxn ang="0">
                                  <a:pos x="T6" y="T7"/>
                                </a:cxn>
                                <a:cxn ang="0">
                                  <a:pos x="T8" y="T9"/>
                                </a:cxn>
                              </a:cxnLst>
                              <a:rect l="0" t="0" r="r" b="b"/>
                              <a:pathLst>
                                <a:path w="74" h="44">
                                  <a:moveTo>
                                    <a:pt x="38" y="0"/>
                                  </a:moveTo>
                                  <a:lnTo>
                                    <a:pt x="74" y="23"/>
                                  </a:lnTo>
                                  <a:lnTo>
                                    <a:pt x="38" y="44"/>
                                  </a:lnTo>
                                  <a:lnTo>
                                    <a:pt x="0" y="18"/>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6" name="Freeform 108"/>
                            <p:cNvSpPr/>
                            <p:nvPr/>
                          </p:nvSpPr>
                          <p:spPr bwMode="auto">
                            <a:xfrm>
                              <a:off x="2571" y="3075"/>
                              <a:ext cx="11" cy="5"/>
                            </a:xfrm>
                            <a:custGeom>
                              <a:avLst/>
                              <a:gdLst>
                                <a:gd name="T0" fmla="*/ 40 w 75"/>
                                <a:gd name="T1" fmla="*/ 0 h 43"/>
                                <a:gd name="T2" fmla="*/ 75 w 75"/>
                                <a:gd name="T3" fmla="*/ 24 h 43"/>
                                <a:gd name="T4" fmla="*/ 37 w 75"/>
                                <a:gd name="T5" fmla="*/ 43 h 43"/>
                                <a:gd name="T6" fmla="*/ 0 w 75"/>
                                <a:gd name="T7" fmla="*/ 19 h 43"/>
                                <a:gd name="T8" fmla="*/ 40 w 75"/>
                                <a:gd name="T9" fmla="*/ 0 h 43"/>
                              </a:gdLst>
                              <a:ahLst/>
                              <a:cxnLst>
                                <a:cxn ang="0">
                                  <a:pos x="T0" y="T1"/>
                                </a:cxn>
                                <a:cxn ang="0">
                                  <a:pos x="T2" y="T3"/>
                                </a:cxn>
                                <a:cxn ang="0">
                                  <a:pos x="T4" y="T5"/>
                                </a:cxn>
                                <a:cxn ang="0">
                                  <a:pos x="T6" y="T7"/>
                                </a:cxn>
                                <a:cxn ang="0">
                                  <a:pos x="T8" y="T9"/>
                                </a:cxn>
                              </a:cxnLst>
                              <a:rect l="0" t="0" r="r" b="b"/>
                              <a:pathLst>
                                <a:path w="75" h="43">
                                  <a:moveTo>
                                    <a:pt x="40" y="0"/>
                                  </a:moveTo>
                                  <a:lnTo>
                                    <a:pt x="75" y="24"/>
                                  </a:lnTo>
                                  <a:lnTo>
                                    <a:pt x="37" y="43"/>
                                  </a:lnTo>
                                  <a:lnTo>
                                    <a:pt x="0" y="19"/>
                                  </a:lnTo>
                                  <a:lnTo>
                                    <a:pt x="40"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7" name="Freeform 109"/>
                            <p:cNvSpPr/>
                            <p:nvPr/>
                          </p:nvSpPr>
                          <p:spPr bwMode="auto">
                            <a:xfrm>
                              <a:off x="2577" y="3072"/>
                              <a:ext cx="11" cy="6"/>
                            </a:xfrm>
                            <a:custGeom>
                              <a:avLst/>
                              <a:gdLst>
                                <a:gd name="T0" fmla="*/ 38 w 74"/>
                                <a:gd name="T1" fmla="*/ 0 h 42"/>
                                <a:gd name="T2" fmla="*/ 74 w 74"/>
                                <a:gd name="T3" fmla="*/ 21 h 42"/>
                                <a:gd name="T4" fmla="*/ 36 w 74"/>
                                <a:gd name="T5" fmla="*/ 42 h 42"/>
                                <a:gd name="T6" fmla="*/ 0 w 74"/>
                                <a:gd name="T7" fmla="*/ 19 h 42"/>
                                <a:gd name="T8" fmla="*/ 38 w 74"/>
                                <a:gd name="T9" fmla="*/ 0 h 42"/>
                              </a:gdLst>
                              <a:ahLst/>
                              <a:cxnLst>
                                <a:cxn ang="0">
                                  <a:pos x="T0" y="T1"/>
                                </a:cxn>
                                <a:cxn ang="0">
                                  <a:pos x="T2" y="T3"/>
                                </a:cxn>
                                <a:cxn ang="0">
                                  <a:pos x="T4" y="T5"/>
                                </a:cxn>
                                <a:cxn ang="0">
                                  <a:pos x="T6" y="T7"/>
                                </a:cxn>
                                <a:cxn ang="0">
                                  <a:pos x="T8" y="T9"/>
                                </a:cxn>
                              </a:cxnLst>
                              <a:rect l="0" t="0" r="r" b="b"/>
                              <a:pathLst>
                                <a:path w="74" h="42">
                                  <a:moveTo>
                                    <a:pt x="38" y="0"/>
                                  </a:moveTo>
                                  <a:lnTo>
                                    <a:pt x="74" y="21"/>
                                  </a:lnTo>
                                  <a:lnTo>
                                    <a:pt x="36" y="42"/>
                                  </a:lnTo>
                                  <a:lnTo>
                                    <a:pt x="0" y="19"/>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8" name="Freeform 110"/>
                            <p:cNvSpPr/>
                            <p:nvPr/>
                          </p:nvSpPr>
                          <p:spPr bwMode="auto">
                            <a:xfrm>
                              <a:off x="2584" y="3071"/>
                              <a:ext cx="8" cy="4"/>
                            </a:xfrm>
                            <a:custGeom>
                              <a:avLst/>
                              <a:gdLst>
                                <a:gd name="T0" fmla="*/ 26 w 57"/>
                                <a:gd name="T1" fmla="*/ 0 h 34"/>
                                <a:gd name="T2" fmla="*/ 57 w 57"/>
                                <a:gd name="T3" fmla="*/ 20 h 34"/>
                                <a:gd name="T4" fmla="*/ 35 w 57"/>
                                <a:gd name="T5" fmla="*/ 34 h 34"/>
                                <a:gd name="T6" fmla="*/ 0 w 57"/>
                                <a:gd name="T7" fmla="*/ 13 h 34"/>
                                <a:gd name="T8" fmla="*/ 26 w 57"/>
                                <a:gd name="T9" fmla="*/ 0 h 34"/>
                              </a:gdLst>
                              <a:ahLst/>
                              <a:cxnLst>
                                <a:cxn ang="0">
                                  <a:pos x="T0" y="T1"/>
                                </a:cxn>
                                <a:cxn ang="0">
                                  <a:pos x="T2" y="T3"/>
                                </a:cxn>
                                <a:cxn ang="0">
                                  <a:pos x="T4" y="T5"/>
                                </a:cxn>
                                <a:cxn ang="0">
                                  <a:pos x="T6" y="T7"/>
                                </a:cxn>
                                <a:cxn ang="0">
                                  <a:pos x="T8" y="T9"/>
                                </a:cxn>
                              </a:cxnLst>
                              <a:rect l="0" t="0" r="r" b="b"/>
                              <a:pathLst>
                                <a:path w="57" h="34">
                                  <a:moveTo>
                                    <a:pt x="26" y="0"/>
                                  </a:moveTo>
                                  <a:lnTo>
                                    <a:pt x="57" y="20"/>
                                  </a:lnTo>
                                  <a:lnTo>
                                    <a:pt x="35" y="34"/>
                                  </a:lnTo>
                                  <a:lnTo>
                                    <a:pt x="0" y="13"/>
                                  </a:lnTo>
                                  <a:lnTo>
                                    <a:pt x="26"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59" name="Freeform 111"/>
                            <p:cNvSpPr/>
                            <p:nvPr/>
                          </p:nvSpPr>
                          <p:spPr bwMode="auto">
                            <a:xfrm>
                              <a:off x="2558" y="3080"/>
                              <a:ext cx="12" cy="5"/>
                            </a:xfrm>
                            <a:custGeom>
                              <a:avLst/>
                              <a:gdLst>
                                <a:gd name="T0" fmla="*/ 41 w 79"/>
                                <a:gd name="T1" fmla="*/ 0 h 45"/>
                                <a:gd name="T2" fmla="*/ 79 w 79"/>
                                <a:gd name="T3" fmla="*/ 24 h 45"/>
                                <a:gd name="T4" fmla="*/ 42 w 79"/>
                                <a:gd name="T5" fmla="*/ 45 h 45"/>
                                <a:gd name="T6" fmla="*/ 0 w 79"/>
                                <a:gd name="T7" fmla="*/ 18 h 45"/>
                                <a:gd name="T8" fmla="*/ 41 w 79"/>
                                <a:gd name="T9" fmla="*/ 0 h 45"/>
                              </a:gdLst>
                              <a:ahLst/>
                              <a:cxnLst>
                                <a:cxn ang="0">
                                  <a:pos x="T0" y="T1"/>
                                </a:cxn>
                                <a:cxn ang="0">
                                  <a:pos x="T2" y="T3"/>
                                </a:cxn>
                                <a:cxn ang="0">
                                  <a:pos x="T4" y="T5"/>
                                </a:cxn>
                                <a:cxn ang="0">
                                  <a:pos x="T6" y="T7"/>
                                </a:cxn>
                                <a:cxn ang="0">
                                  <a:pos x="T8" y="T9"/>
                                </a:cxn>
                              </a:cxnLst>
                              <a:rect l="0" t="0" r="r" b="b"/>
                              <a:pathLst>
                                <a:path w="79" h="45">
                                  <a:moveTo>
                                    <a:pt x="41" y="0"/>
                                  </a:moveTo>
                                  <a:lnTo>
                                    <a:pt x="79" y="24"/>
                                  </a:lnTo>
                                  <a:lnTo>
                                    <a:pt x="42" y="45"/>
                                  </a:lnTo>
                                  <a:lnTo>
                                    <a:pt x="0" y="18"/>
                                  </a:lnTo>
                                  <a:lnTo>
                                    <a:pt x="41"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0" name="Freeform 112"/>
                            <p:cNvSpPr/>
                            <p:nvPr/>
                          </p:nvSpPr>
                          <p:spPr bwMode="auto">
                            <a:xfrm>
                              <a:off x="2550" y="3075"/>
                              <a:ext cx="14" cy="7"/>
                            </a:xfrm>
                            <a:custGeom>
                              <a:avLst/>
                              <a:gdLst>
                                <a:gd name="T0" fmla="*/ 38 w 99"/>
                                <a:gd name="T1" fmla="*/ 0 h 57"/>
                                <a:gd name="T2" fmla="*/ 99 w 99"/>
                                <a:gd name="T3" fmla="*/ 39 h 57"/>
                                <a:gd name="T4" fmla="*/ 60 w 99"/>
                                <a:gd name="T5" fmla="*/ 57 h 57"/>
                                <a:gd name="T6" fmla="*/ 0 w 99"/>
                                <a:gd name="T7" fmla="*/ 17 h 57"/>
                                <a:gd name="T8" fmla="*/ 38 w 99"/>
                                <a:gd name="T9" fmla="*/ 0 h 57"/>
                              </a:gdLst>
                              <a:ahLst/>
                              <a:cxnLst>
                                <a:cxn ang="0">
                                  <a:pos x="T0" y="T1"/>
                                </a:cxn>
                                <a:cxn ang="0">
                                  <a:pos x="T2" y="T3"/>
                                </a:cxn>
                                <a:cxn ang="0">
                                  <a:pos x="T4" y="T5"/>
                                </a:cxn>
                                <a:cxn ang="0">
                                  <a:pos x="T6" y="T7"/>
                                </a:cxn>
                                <a:cxn ang="0">
                                  <a:pos x="T8" y="T9"/>
                                </a:cxn>
                              </a:cxnLst>
                              <a:rect l="0" t="0" r="r" b="b"/>
                              <a:pathLst>
                                <a:path w="99" h="57">
                                  <a:moveTo>
                                    <a:pt x="38" y="0"/>
                                  </a:moveTo>
                                  <a:lnTo>
                                    <a:pt x="99" y="39"/>
                                  </a:lnTo>
                                  <a:lnTo>
                                    <a:pt x="60" y="57"/>
                                  </a:lnTo>
                                  <a:lnTo>
                                    <a:pt x="0" y="17"/>
                                  </a:lnTo>
                                  <a:lnTo>
                                    <a:pt x="3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1" name="Freeform 113"/>
                            <p:cNvSpPr/>
                            <p:nvPr/>
                          </p:nvSpPr>
                          <p:spPr bwMode="auto">
                            <a:xfrm>
                              <a:off x="2551" y="3068"/>
                              <a:ext cx="19" cy="12"/>
                            </a:xfrm>
                            <a:custGeom>
                              <a:avLst/>
                              <a:gdLst>
                                <a:gd name="T0" fmla="*/ 0 w 130"/>
                                <a:gd name="T1" fmla="*/ 33 h 91"/>
                                <a:gd name="T2" fmla="*/ 94 w 130"/>
                                <a:gd name="T3" fmla="*/ 91 h 91"/>
                                <a:gd name="T4" fmla="*/ 130 w 130"/>
                                <a:gd name="T5" fmla="*/ 73 h 91"/>
                                <a:gd name="T6" fmla="*/ 64 w 130"/>
                                <a:gd name="T7" fmla="*/ 33 h 91"/>
                                <a:gd name="T8" fmla="*/ 110 w 130"/>
                                <a:gd name="T9" fmla="*/ 12 h 91"/>
                                <a:gd name="T10" fmla="*/ 88 w 130"/>
                                <a:gd name="T11" fmla="*/ 0 h 91"/>
                                <a:gd name="T12" fmla="*/ 0 w 130"/>
                                <a:gd name="T13" fmla="*/ 33 h 91"/>
                              </a:gdLst>
                              <a:ahLst/>
                              <a:cxnLst>
                                <a:cxn ang="0">
                                  <a:pos x="T0" y="T1"/>
                                </a:cxn>
                                <a:cxn ang="0">
                                  <a:pos x="T2" y="T3"/>
                                </a:cxn>
                                <a:cxn ang="0">
                                  <a:pos x="T4" y="T5"/>
                                </a:cxn>
                                <a:cxn ang="0">
                                  <a:pos x="T6" y="T7"/>
                                </a:cxn>
                                <a:cxn ang="0">
                                  <a:pos x="T8" y="T9"/>
                                </a:cxn>
                                <a:cxn ang="0">
                                  <a:pos x="T10" y="T11"/>
                                </a:cxn>
                                <a:cxn ang="0">
                                  <a:pos x="T12" y="T13"/>
                                </a:cxn>
                              </a:cxnLst>
                              <a:rect l="0" t="0" r="r" b="b"/>
                              <a:pathLst>
                                <a:path w="130" h="91">
                                  <a:moveTo>
                                    <a:pt x="0" y="33"/>
                                  </a:moveTo>
                                  <a:lnTo>
                                    <a:pt x="94" y="91"/>
                                  </a:lnTo>
                                  <a:lnTo>
                                    <a:pt x="130" y="73"/>
                                  </a:lnTo>
                                  <a:lnTo>
                                    <a:pt x="64" y="33"/>
                                  </a:lnTo>
                                  <a:lnTo>
                                    <a:pt x="110" y="12"/>
                                  </a:lnTo>
                                  <a:lnTo>
                                    <a:pt x="88" y="0"/>
                                  </a:lnTo>
                                  <a:lnTo>
                                    <a:pt x="0" y="33"/>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2" name="Freeform 114"/>
                            <p:cNvSpPr/>
                            <p:nvPr/>
                          </p:nvSpPr>
                          <p:spPr bwMode="auto">
                            <a:xfrm>
                              <a:off x="2562" y="3070"/>
                              <a:ext cx="15" cy="8"/>
                            </a:xfrm>
                            <a:custGeom>
                              <a:avLst/>
                              <a:gdLst>
                                <a:gd name="T0" fmla="*/ 0 w 100"/>
                                <a:gd name="T1" fmla="*/ 19 h 58"/>
                                <a:gd name="T2" fmla="*/ 61 w 100"/>
                                <a:gd name="T3" fmla="*/ 58 h 58"/>
                                <a:gd name="T4" fmla="*/ 100 w 100"/>
                                <a:gd name="T5" fmla="*/ 40 h 58"/>
                                <a:gd name="T6" fmla="*/ 37 w 100"/>
                                <a:gd name="T7" fmla="*/ 0 h 58"/>
                                <a:gd name="T8" fmla="*/ 0 w 100"/>
                                <a:gd name="T9" fmla="*/ 19 h 58"/>
                              </a:gdLst>
                              <a:ahLst/>
                              <a:cxnLst>
                                <a:cxn ang="0">
                                  <a:pos x="T0" y="T1"/>
                                </a:cxn>
                                <a:cxn ang="0">
                                  <a:pos x="T2" y="T3"/>
                                </a:cxn>
                                <a:cxn ang="0">
                                  <a:pos x="T4" y="T5"/>
                                </a:cxn>
                                <a:cxn ang="0">
                                  <a:pos x="T6" y="T7"/>
                                </a:cxn>
                                <a:cxn ang="0">
                                  <a:pos x="T8" y="T9"/>
                                </a:cxn>
                              </a:cxnLst>
                              <a:rect l="0" t="0" r="r" b="b"/>
                              <a:pathLst>
                                <a:path w="100" h="58">
                                  <a:moveTo>
                                    <a:pt x="0" y="19"/>
                                  </a:moveTo>
                                  <a:lnTo>
                                    <a:pt x="61" y="58"/>
                                  </a:lnTo>
                                  <a:lnTo>
                                    <a:pt x="100" y="40"/>
                                  </a:lnTo>
                                  <a:lnTo>
                                    <a:pt x="37" y="0"/>
                                  </a:lnTo>
                                  <a:lnTo>
                                    <a:pt x="0" y="19"/>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3" name="Freeform 115"/>
                            <p:cNvSpPr/>
                            <p:nvPr/>
                          </p:nvSpPr>
                          <p:spPr bwMode="auto">
                            <a:xfrm>
                              <a:off x="2573" y="3070"/>
                              <a:ext cx="10" cy="5"/>
                            </a:xfrm>
                            <a:custGeom>
                              <a:avLst/>
                              <a:gdLst>
                                <a:gd name="T0" fmla="*/ 0 w 67"/>
                                <a:gd name="T1" fmla="*/ 20 h 39"/>
                                <a:gd name="T2" fmla="*/ 28 w 67"/>
                                <a:gd name="T3" fmla="*/ 39 h 39"/>
                                <a:gd name="T4" fmla="*/ 67 w 67"/>
                                <a:gd name="T5" fmla="*/ 19 h 39"/>
                                <a:gd name="T6" fmla="*/ 40 w 67"/>
                                <a:gd name="T7" fmla="*/ 0 h 39"/>
                                <a:gd name="T8" fmla="*/ 0 w 67"/>
                                <a:gd name="T9" fmla="*/ 20 h 39"/>
                              </a:gdLst>
                              <a:ahLst/>
                              <a:cxnLst>
                                <a:cxn ang="0">
                                  <a:pos x="T0" y="T1"/>
                                </a:cxn>
                                <a:cxn ang="0">
                                  <a:pos x="T2" y="T3"/>
                                </a:cxn>
                                <a:cxn ang="0">
                                  <a:pos x="T4" y="T5"/>
                                </a:cxn>
                                <a:cxn ang="0">
                                  <a:pos x="T6" y="T7"/>
                                </a:cxn>
                                <a:cxn ang="0">
                                  <a:pos x="T8" y="T9"/>
                                </a:cxn>
                              </a:cxnLst>
                              <a:rect l="0" t="0" r="r" b="b"/>
                              <a:pathLst>
                                <a:path w="67" h="39">
                                  <a:moveTo>
                                    <a:pt x="0" y="20"/>
                                  </a:moveTo>
                                  <a:lnTo>
                                    <a:pt x="28" y="39"/>
                                  </a:lnTo>
                                  <a:lnTo>
                                    <a:pt x="67" y="19"/>
                                  </a:lnTo>
                                  <a:lnTo>
                                    <a:pt x="40" y="0"/>
                                  </a:lnTo>
                                  <a:lnTo>
                                    <a:pt x="0" y="2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4" name="Freeform 116"/>
                            <p:cNvSpPr/>
                            <p:nvPr/>
                          </p:nvSpPr>
                          <p:spPr bwMode="auto">
                            <a:xfrm>
                              <a:off x="2568" y="3068"/>
                              <a:ext cx="10" cy="5"/>
                            </a:xfrm>
                            <a:custGeom>
                              <a:avLst/>
                              <a:gdLst>
                                <a:gd name="T0" fmla="*/ 0 w 70"/>
                                <a:gd name="T1" fmla="*/ 20 h 39"/>
                                <a:gd name="T2" fmla="*/ 32 w 70"/>
                                <a:gd name="T3" fmla="*/ 39 h 39"/>
                                <a:gd name="T4" fmla="*/ 70 w 70"/>
                                <a:gd name="T5" fmla="*/ 20 h 39"/>
                                <a:gd name="T6" fmla="*/ 38 w 70"/>
                                <a:gd name="T7" fmla="*/ 0 h 39"/>
                                <a:gd name="T8" fmla="*/ 0 w 70"/>
                                <a:gd name="T9" fmla="*/ 20 h 39"/>
                              </a:gdLst>
                              <a:ahLst/>
                              <a:cxnLst>
                                <a:cxn ang="0">
                                  <a:pos x="T0" y="T1"/>
                                </a:cxn>
                                <a:cxn ang="0">
                                  <a:pos x="T2" y="T3"/>
                                </a:cxn>
                                <a:cxn ang="0">
                                  <a:pos x="T4" y="T5"/>
                                </a:cxn>
                                <a:cxn ang="0">
                                  <a:pos x="T6" y="T7"/>
                                </a:cxn>
                                <a:cxn ang="0">
                                  <a:pos x="T8" y="T9"/>
                                </a:cxn>
                              </a:cxnLst>
                              <a:rect l="0" t="0" r="r" b="b"/>
                              <a:pathLst>
                                <a:path w="70" h="39">
                                  <a:moveTo>
                                    <a:pt x="0" y="20"/>
                                  </a:moveTo>
                                  <a:lnTo>
                                    <a:pt x="32" y="39"/>
                                  </a:lnTo>
                                  <a:lnTo>
                                    <a:pt x="70" y="20"/>
                                  </a:lnTo>
                                  <a:lnTo>
                                    <a:pt x="38" y="0"/>
                                  </a:lnTo>
                                  <a:lnTo>
                                    <a:pt x="0" y="2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5" name="Freeform 117"/>
                            <p:cNvSpPr/>
                            <p:nvPr/>
                          </p:nvSpPr>
                          <p:spPr bwMode="auto">
                            <a:xfrm>
                              <a:off x="2564" y="3066"/>
                              <a:ext cx="9" cy="4"/>
                            </a:xfrm>
                            <a:custGeom>
                              <a:avLst/>
                              <a:gdLst>
                                <a:gd name="T0" fmla="*/ 0 w 66"/>
                                <a:gd name="T1" fmla="*/ 18 h 34"/>
                                <a:gd name="T2" fmla="*/ 26 w 66"/>
                                <a:gd name="T3" fmla="*/ 34 h 34"/>
                                <a:gd name="T4" fmla="*/ 66 w 66"/>
                                <a:gd name="T5" fmla="*/ 16 h 34"/>
                                <a:gd name="T6" fmla="*/ 43 w 66"/>
                                <a:gd name="T7" fmla="*/ 0 h 34"/>
                                <a:gd name="T8" fmla="*/ 0 w 66"/>
                                <a:gd name="T9" fmla="*/ 18 h 34"/>
                              </a:gdLst>
                              <a:ahLst/>
                              <a:cxnLst>
                                <a:cxn ang="0">
                                  <a:pos x="T0" y="T1"/>
                                </a:cxn>
                                <a:cxn ang="0">
                                  <a:pos x="T2" y="T3"/>
                                </a:cxn>
                                <a:cxn ang="0">
                                  <a:pos x="T4" y="T5"/>
                                </a:cxn>
                                <a:cxn ang="0">
                                  <a:pos x="T6" y="T7"/>
                                </a:cxn>
                                <a:cxn ang="0">
                                  <a:pos x="T8" y="T9"/>
                                </a:cxn>
                              </a:cxnLst>
                              <a:rect l="0" t="0" r="r" b="b"/>
                              <a:pathLst>
                                <a:path w="66" h="34">
                                  <a:moveTo>
                                    <a:pt x="0" y="18"/>
                                  </a:moveTo>
                                  <a:lnTo>
                                    <a:pt x="26" y="34"/>
                                  </a:lnTo>
                                  <a:lnTo>
                                    <a:pt x="66" y="16"/>
                                  </a:lnTo>
                                  <a:lnTo>
                                    <a:pt x="43" y="0"/>
                                  </a:lnTo>
                                  <a:lnTo>
                                    <a:pt x="0" y="18"/>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6" name="Freeform 118"/>
                            <p:cNvSpPr/>
                            <p:nvPr/>
                          </p:nvSpPr>
                          <p:spPr bwMode="auto">
                            <a:xfrm>
                              <a:off x="2571" y="3065"/>
                              <a:ext cx="7" cy="3"/>
                            </a:xfrm>
                            <a:custGeom>
                              <a:avLst/>
                              <a:gdLst>
                                <a:gd name="T0" fmla="*/ 0 w 48"/>
                                <a:gd name="T1" fmla="*/ 10 h 28"/>
                                <a:gd name="T2" fmla="*/ 26 w 48"/>
                                <a:gd name="T3" fmla="*/ 28 h 28"/>
                                <a:gd name="T4" fmla="*/ 48 w 48"/>
                                <a:gd name="T5" fmla="*/ 16 h 28"/>
                                <a:gd name="T6" fmla="*/ 23 w 48"/>
                                <a:gd name="T7" fmla="*/ 0 h 28"/>
                                <a:gd name="T8" fmla="*/ 0 w 48"/>
                                <a:gd name="T9" fmla="*/ 10 h 28"/>
                              </a:gdLst>
                              <a:ahLst/>
                              <a:cxnLst>
                                <a:cxn ang="0">
                                  <a:pos x="T0" y="T1"/>
                                </a:cxn>
                                <a:cxn ang="0">
                                  <a:pos x="T2" y="T3"/>
                                </a:cxn>
                                <a:cxn ang="0">
                                  <a:pos x="T4" y="T5"/>
                                </a:cxn>
                                <a:cxn ang="0">
                                  <a:pos x="T6" y="T7"/>
                                </a:cxn>
                                <a:cxn ang="0">
                                  <a:pos x="T8" y="T9"/>
                                </a:cxn>
                              </a:cxnLst>
                              <a:rect l="0" t="0" r="r" b="b"/>
                              <a:pathLst>
                                <a:path w="48" h="28">
                                  <a:moveTo>
                                    <a:pt x="0" y="10"/>
                                  </a:moveTo>
                                  <a:lnTo>
                                    <a:pt x="26" y="28"/>
                                  </a:lnTo>
                                  <a:lnTo>
                                    <a:pt x="48" y="16"/>
                                  </a:lnTo>
                                  <a:lnTo>
                                    <a:pt x="23" y="0"/>
                                  </a:lnTo>
                                  <a:lnTo>
                                    <a:pt x="0" y="1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7" name="Freeform 119"/>
                            <p:cNvSpPr/>
                            <p:nvPr/>
                          </p:nvSpPr>
                          <p:spPr bwMode="auto">
                            <a:xfrm>
                              <a:off x="2574" y="3066"/>
                              <a:ext cx="8" cy="4"/>
                            </a:xfrm>
                            <a:custGeom>
                              <a:avLst/>
                              <a:gdLst>
                                <a:gd name="T0" fmla="*/ 0 w 54"/>
                                <a:gd name="T1" fmla="*/ 13 h 32"/>
                                <a:gd name="T2" fmla="*/ 33 w 54"/>
                                <a:gd name="T3" fmla="*/ 32 h 32"/>
                                <a:gd name="T4" fmla="*/ 54 w 54"/>
                                <a:gd name="T5" fmla="*/ 23 h 32"/>
                                <a:gd name="T6" fmla="*/ 23 w 54"/>
                                <a:gd name="T7" fmla="*/ 0 h 32"/>
                                <a:gd name="T8" fmla="*/ 0 w 54"/>
                                <a:gd name="T9" fmla="*/ 13 h 32"/>
                              </a:gdLst>
                              <a:ahLst/>
                              <a:cxnLst>
                                <a:cxn ang="0">
                                  <a:pos x="T0" y="T1"/>
                                </a:cxn>
                                <a:cxn ang="0">
                                  <a:pos x="T2" y="T3"/>
                                </a:cxn>
                                <a:cxn ang="0">
                                  <a:pos x="T4" y="T5"/>
                                </a:cxn>
                                <a:cxn ang="0">
                                  <a:pos x="T6" y="T7"/>
                                </a:cxn>
                                <a:cxn ang="0">
                                  <a:pos x="T8" y="T9"/>
                                </a:cxn>
                              </a:cxnLst>
                              <a:rect l="0" t="0" r="r" b="b"/>
                              <a:pathLst>
                                <a:path w="54" h="32">
                                  <a:moveTo>
                                    <a:pt x="0" y="13"/>
                                  </a:moveTo>
                                  <a:lnTo>
                                    <a:pt x="33" y="32"/>
                                  </a:lnTo>
                                  <a:lnTo>
                                    <a:pt x="54" y="23"/>
                                  </a:lnTo>
                                  <a:lnTo>
                                    <a:pt x="23" y="0"/>
                                  </a:lnTo>
                                  <a:lnTo>
                                    <a:pt x="0" y="13"/>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8" name="Freeform 120"/>
                            <p:cNvSpPr/>
                            <p:nvPr/>
                          </p:nvSpPr>
                          <p:spPr bwMode="auto">
                            <a:xfrm>
                              <a:off x="2545" y="3073"/>
                              <a:ext cx="10" cy="5"/>
                            </a:xfrm>
                            <a:custGeom>
                              <a:avLst/>
                              <a:gdLst>
                                <a:gd name="T0" fmla="*/ 0 w 68"/>
                                <a:gd name="T1" fmla="*/ 17 h 39"/>
                                <a:gd name="T2" fmla="*/ 28 w 68"/>
                                <a:gd name="T3" fmla="*/ 39 h 39"/>
                                <a:gd name="T4" fmla="*/ 68 w 68"/>
                                <a:gd name="T5" fmla="*/ 19 h 39"/>
                                <a:gd name="T6" fmla="*/ 43 w 68"/>
                                <a:gd name="T7" fmla="*/ 0 h 39"/>
                                <a:gd name="T8" fmla="*/ 0 w 68"/>
                                <a:gd name="T9" fmla="*/ 17 h 39"/>
                              </a:gdLst>
                              <a:ahLst/>
                              <a:cxnLst>
                                <a:cxn ang="0">
                                  <a:pos x="T0" y="T1"/>
                                </a:cxn>
                                <a:cxn ang="0">
                                  <a:pos x="T2" y="T3"/>
                                </a:cxn>
                                <a:cxn ang="0">
                                  <a:pos x="T4" y="T5"/>
                                </a:cxn>
                                <a:cxn ang="0">
                                  <a:pos x="T6" y="T7"/>
                                </a:cxn>
                                <a:cxn ang="0">
                                  <a:pos x="T8" y="T9"/>
                                </a:cxn>
                              </a:cxnLst>
                              <a:rect l="0" t="0" r="r" b="b"/>
                              <a:pathLst>
                                <a:path w="68" h="39">
                                  <a:moveTo>
                                    <a:pt x="0" y="17"/>
                                  </a:moveTo>
                                  <a:lnTo>
                                    <a:pt x="28" y="39"/>
                                  </a:lnTo>
                                  <a:lnTo>
                                    <a:pt x="68" y="19"/>
                                  </a:lnTo>
                                  <a:lnTo>
                                    <a:pt x="43" y="0"/>
                                  </a:lnTo>
                                  <a:lnTo>
                                    <a:pt x="0" y="17"/>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69" name="Freeform 121"/>
                            <p:cNvSpPr/>
                            <p:nvPr/>
                          </p:nvSpPr>
                          <p:spPr bwMode="auto">
                            <a:xfrm>
                              <a:off x="2579" y="3069"/>
                              <a:ext cx="8" cy="4"/>
                            </a:xfrm>
                            <a:custGeom>
                              <a:avLst/>
                              <a:gdLst>
                                <a:gd name="T0" fmla="*/ 0 w 54"/>
                                <a:gd name="T1" fmla="*/ 12 h 32"/>
                                <a:gd name="T2" fmla="*/ 31 w 54"/>
                                <a:gd name="T3" fmla="*/ 32 h 32"/>
                                <a:gd name="T4" fmla="*/ 54 w 54"/>
                                <a:gd name="T5" fmla="*/ 20 h 32"/>
                                <a:gd name="T6" fmla="*/ 22 w 54"/>
                                <a:gd name="T7" fmla="*/ 0 h 32"/>
                                <a:gd name="T8" fmla="*/ 0 w 54"/>
                                <a:gd name="T9" fmla="*/ 12 h 32"/>
                              </a:gdLst>
                              <a:ahLst/>
                              <a:cxnLst>
                                <a:cxn ang="0">
                                  <a:pos x="T0" y="T1"/>
                                </a:cxn>
                                <a:cxn ang="0">
                                  <a:pos x="T2" y="T3"/>
                                </a:cxn>
                                <a:cxn ang="0">
                                  <a:pos x="T4" y="T5"/>
                                </a:cxn>
                                <a:cxn ang="0">
                                  <a:pos x="T6" y="T7"/>
                                </a:cxn>
                                <a:cxn ang="0">
                                  <a:pos x="T8" y="T9"/>
                                </a:cxn>
                              </a:cxnLst>
                              <a:rect l="0" t="0" r="r" b="b"/>
                              <a:pathLst>
                                <a:path w="54" h="32">
                                  <a:moveTo>
                                    <a:pt x="0" y="12"/>
                                  </a:moveTo>
                                  <a:lnTo>
                                    <a:pt x="31" y="32"/>
                                  </a:lnTo>
                                  <a:lnTo>
                                    <a:pt x="54" y="20"/>
                                  </a:lnTo>
                                  <a:lnTo>
                                    <a:pt x="22" y="0"/>
                                  </a:lnTo>
                                  <a:lnTo>
                                    <a:pt x="0" y="12"/>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170" name="Group 122"/>
                          <p:cNvGrpSpPr/>
                          <p:nvPr/>
                        </p:nvGrpSpPr>
                        <p:grpSpPr bwMode="auto">
                          <a:xfrm>
                            <a:off x="2533" y="3064"/>
                            <a:ext cx="107" cy="49"/>
                            <a:chOff x="2533" y="3064"/>
                            <a:chExt cx="107" cy="49"/>
                          </a:xfrm>
                        </p:grpSpPr>
                        <p:sp>
                          <p:nvSpPr>
                            <p:cNvPr id="642171" name="Freeform 123"/>
                            <p:cNvSpPr/>
                            <p:nvPr/>
                          </p:nvSpPr>
                          <p:spPr bwMode="auto">
                            <a:xfrm>
                              <a:off x="2558" y="3085"/>
                              <a:ext cx="29" cy="15"/>
                            </a:xfrm>
                            <a:custGeom>
                              <a:avLst/>
                              <a:gdLst>
                                <a:gd name="T0" fmla="*/ 35 w 202"/>
                                <a:gd name="T1" fmla="*/ 0 h 123"/>
                                <a:gd name="T2" fmla="*/ 202 w 202"/>
                                <a:gd name="T3" fmla="*/ 105 h 123"/>
                                <a:gd name="T4" fmla="*/ 167 w 202"/>
                                <a:gd name="T5" fmla="*/ 123 h 123"/>
                                <a:gd name="T6" fmla="*/ 0 w 202"/>
                                <a:gd name="T7" fmla="*/ 18 h 123"/>
                                <a:gd name="T8" fmla="*/ 35 w 202"/>
                                <a:gd name="T9" fmla="*/ 0 h 123"/>
                              </a:gdLst>
                              <a:ahLst/>
                              <a:cxnLst>
                                <a:cxn ang="0">
                                  <a:pos x="T0" y="T1"/>
                                </a:cxn>
                                <a:cxn ang="0">
                                  <a:pos x="T2" y="T3"/>
                                </a:cxn>
                                <a:cxn ang="0">
                                  <a:pos x="T4" y="T5"/>
                                </a:cxn>
                                <a:cxn ang="0">
                                  <a:pos x="T6" y="T7"/>
                                </a:cxn>
                                <a:cxn ang="0">
                                  <a:pos x="T8" y="T9"/>
                                </a:cxn>
                              </a:cxnLst>
                              <a:rect l="0" t="0" r="r" b="b"/>
                              <a:pathLst>
                                <a:path w="202" h="123">
                                  <a:moveTo>
                                    <a:pt x="35" y="0"/>
                                  </a:moveTo>
                                  <a:lnTo>
                                    <a:pt x="202" y="105"/>
                                  </a:lnTo>
                                  <a:lnTo>
                                    <a:pt x="167" y="123"/>
                                  </a:lnTo>
                                  <a:lnTo>
                                    <a:pt x="0" y="18"/>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2" name="Freeform 124"/>
                            <p:cNvSpPr/>
                            <p:nvPr/>
                          </p:nvSpPr>
                          <p:spPr bwMode="auto">
                            <a:xfrm>
                              <a:off x="2582" y="3097"/>
                              <a:ext cx="14" cy="8"/>
                            </a:xfrm>
                            <a:custGeom>
                              <a:avLst/>
                              <a:gdLst>
                                <a:gd name="T0" fmla="*/ 37 w 98"/>
                                <a:gd name="T1" fmla="*/ 0 h 60"/>
                                <a:gd name="T2" fmla="*/ 98 w 98"/>
                                <a:gd name="T3" fmla="*/ 41 h 60"/>
                                <a:gd name="T4" fmla="*/ 64 w 98"/>
                                <a:gd name="T5" fmla="*/ 60 h 60"/>
                                <a:gd name="T6" fmla="*/ 0 w 98"/>
                                <a:gd name="T7" fmla="*/ 20 h 60"/>
                                <a:gd name="T8" fmla="*/ 37 w 98"/>
                                <a:gd name="T9" fmla="*/ 0 h 60"/>
                              </a:gdLst>
                              <a:ahLst/>
                              <a:cxnLst>
                                <a:cxn ang="0">
                                  <a:pos x="T0" y="T1"/>
                                </a:cxn>
                                <a:cxn ang="0">
                                  <a:pos x="T2" y="T3"/>
                                </a:cxn>
                                <a:cxn ang="0">
                                  <a:pos x="T4" y="T5"/>
                                </a:cxn>
                                <a:cxn ang="0">
                                  <a:pos x="T6" y="T7"/>
                                </a:cxn>
                                <a:cxn ang="0">
                                  <a:pos x="T8" y="T9"/>
                                </a:cxn>
                              </a:cxnLst>
                              <a:rect l="0" t="0" r="r" b="b"/>
                              <a:pathLst>
                                <a:path w="98" h="60">
                                  <a:moveTo>
                                    <a:pt x="37" y="0"/>
                                  </a:moveTo>
                                  <a:lnTo>
                                    <a:pt x="98" y="41"/>
                                  </a:lnTo>
                                  <a:lnTo>
                                    <a:pt x="64" y="60"/>
                                  </a:lnTo>
                                  <a:lnTo>
                                    <a:pt x="0" y="20"/>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3" name="Freeform 125"/>
                            <p:cNvSpPr/>
                            <p:nvPr/>
                          </p:nvSpPr>
                          <p:spPr bwMode="auto">
                            <a:xfrm>
                              <a:off x="2587" y="3102"/>
                              <a:ext cx="15" cy="8"/>
                            </a:xfrm>
                            <a:custGeom>
                              <a:avLst/>
                              <a:gdLst>
                                <a:gd name="T0" fmla="*/ 63 w 107"/>
                                <a:gd name="T1" fmla="*/ 0 h 64"/>
                                <a:gd name="T2" fmla="*/ 107 w 107"/>
                                <a:gd name="T3" fmla="*/ 29 h 64"/>
                                <a:gd name="T4" fmla="*/ 70 w 107"/>
                                <a:gd name="T5" fmla="*/ 52 h 64"/>
                                <a:gd name="T6" fmla="*/ 65 w 107"/>
                                <a:gd name="T7" fmla="*/ 48 h 64"/>
                                <a:gd name="T8" fmla="*/ 40 w 107"/>
                                <a:gd name="T9" fmla="*/ 64 h 64"/>
                                <a:gd name="T10" fmla="*/ 0 w 107"/>
                                <a:gd name="T11" fmla="*/ 38 h 64"/>
                                <a:gd name="T12" fmla="*/ 63 w 107"/>
                                <a:gd name="T13" fmla="*/ 0 h 64"/>
                              </a:gdLst>
                              <a:ahLst/>
                              <a:cxnLst>
                                <a:cxn ang="0">
                                  <a:pos x="T0" y="T1"/>
                                </a:cxn>
                                <a:cxn ang="0">
                                  <a:pos x="T2" y="T3"/>
                                </a:cxn>
                                <a:cxn ang="0">
                                  <a:pos x="T4" y="T5"/>
                                </a:cxn>
                                <a:cxn ang="0">
                                  <a:pos x="T6" y="T7"/>
                                </a:cxn>
                                <a:cxn ang="0">
                                  <a:pos x="T8" y="T9"/>
                                </a:cxn>
                                <a:cxn ang="0">
                                  <a:pos x="T10" y="T11"/>
                                </a:cxn>
                                <a:cxn ang="0">
                                  <a:pos x="T12" y="T13"/>
                                </a:cxn>
                              </a:cxnLst>
                              <a:rect l="0" t="0" r="r" b="b"/>
                              <a:pathLst>
                                <a:path w="107" h="64">
                                  <a:moveTo>
                                    <a:pt x="63" y="0"/>
                                  </a:moveTo>
                                  <a:lnTo>
                                    <a:pt x="107" y="29"/>
                                  </a:lnTo>
                                  <a:lnTo>
                                    <a:pt x="70" y="52"/>
                                  </a:lnTo>
                                  <a:lnTo>
                                    <a:pt x="65" y="48"/>
                                  </a:lnTo>
                                  <a:lnTo>
                                    <a:pt x="40" y="64"/>
                                  </a:lnTo>
                                  <a:lnTo>
                                    <a:pt x="0" y="38"/>
                                  </a:lnTo>
                                  <a:lnTo>
                                    <a:pt x="6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4" name="Freeform 126"/>
                            <p:cNvSpPr/>
                            <p:nvPr/>
                          </p:nvSpPr>
                          <p:spPr bwMode="auto">
                            <a:xfrm>
                              <a:off x="2597" y="3105"/>
                              <a:ext cx="15" cy="8"/>
                            </a:xfrm>
                            <a:custGeom>
                              <a:avLst/>
                              <a:gdLst>
                                <a:gd name="T0" fmla="*/ 34 w 103"/>
                                <a:gd name="T1" fmla="*/ 0 h 65"/>
                                <a:gd name="T2" fmla="*/ 103 w 103"/>
                                <a:gd name="T3" fmla="*/ 43 h 65"/>
                                <a:gd name="T4" fmla="*/ 66 w 103"/>
                                <a:gd name="T5" fmla="*/ 65 h 65"/>
                                <a:gd name="T6" fmla="*/ 0 w 103"/>
                                <a:gd name="T7" fmla="*/ 21 h 65"/>
                                <a:gd name="T8" fmla="*/ 34 w 103"/>
                                <a:gd name="T9" fmla="*/ 0 h 65"/>
                              </a:gdLst>
                              <a:ahLst/>
                              <a:cxnLst>
                                <a:cxn ang="0">
                                  <a:pos x="T0" y="T1"/>
                                </a:cxn>
                                <a:cxn ang="0">
                                  <a:pos x="T2" y="T3"/>
                                </a:cxn>
                                <a:cxn ang="0">
                                  <a:pos x="T4" y="T5"/>
                                </a:cxn>
                                <a:cxn ang="0">
                                  <a:pos x="T6" y="T7"/>
                                </a:cxn>
                                <a:cxn ang="0">
                                  <a:pos x="T8" y="T9"/>
                                </a:cxn>
                              </a:cxnLst>
                              <a:rect l="0" t="0" r="r" b="b"/>
                              <a:pathLst>
                                <a:path w="103" h="65">
                                  <a:moveTo>
                                    <a:pt x="34" y="0"/>
                                  </a:moveTo>
                                  <a:lnTo>
                                    <a:pt x="103" y="43"/>
                                  </a:lnTo>
                                  <a:lnTo>
                                    <a:pt x="66" y="65"/>
                                  </a:lnTo>
                                  <a:lnTo>
                                    <a:pt x="0" y="21"/>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5" name="Freeform 127"/>
                            <p:cNvSpPr/>
                            <p:nvPr/>
                          </p:nvSpPr>
                          <p:spPr bwMode="auto">
                            <a:xfrm>
                              <a:off x="2551" y="3081"/>
                              <a:ext cx="13" cy="6"/>
                            </a:xfrm>
                            <a:custGeom>
                              <a:avLst/>
                              <a:gdLst>
                                <a:gd name="T0" fmla="*/ 34 w 86"/>
                                <a:gd name="T1" fmla="*/ 0 h 53"/>
                                <a:gd name="T2" fmla="*/ 86 w 86"/>
                                <a:gd name="T3" fmla="*/ 33 h 53"/>
                                <a:gd name="T4" fmla="*/ 49 w 86"/>
                                <a:gd name="T5" fmla="*/ 53 h 53"/>
                                <a:gd name="T6" fmla="*/ 0 w 86"/>
                                <a:gd name="T7" fmla="*/ 19 h 53"/>
                                <a:gd name="T8" fmla="*/ 34 w 86"/>
                                <a:gd name="T9" fmla="*/ 0 h 53"/>
                              </a:gdLst>
                              <a:ahLst/>
                              <a:cxnLst>
                                <a:cxn ang="0">
                                  <a:pos x="T0" y="T1"/>
                                </a:cxn>
                                <a:cxn ang="0">
                                  <a:pos x="T2" y="T3"/>
                                </a:cxn>
                                <a:cxn ang="0">
                                  <a:pos x="T4" y="T5"/>
                                </a:cxn>
                                <a:cxn ang="0">
                                  <a:pos x="T6" y="T7"/>
                                </a:cxn>
                                <a:cxn ang="0">
                                  <a:pos x="T8" y="T9"/>
                                </a:cxn>
                              </a:cxnLst>
                              <a:rect l="0" t="0" r="r" b="b"/>
                              <a:pathLst>
                                <a:path w="86" h="53">
                                  <a:moveTo>
                                    <a:pt x="34" y="0"/>
                                  </a:moveTo>
                                  <a:lnTo>
                                    <a:pt x="86" y="33"/>
                                  </a:lnTo>
                                  <a:lnTo>
                                    <a:pt x="49" y="53"/>
                                  </a:lnTo>
                                  <a:lnTo>
                                    <a:pt x="0" y="19"/>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6" name="Freeform 128"/>
                            <p:cNvSpPr/>
                            <p:nvPr/>
                          </p:nvSpPr>
                          <p:spPr bwMode="auto">
                            <a:xfrm>
                              <a:off x="2542" y="3076"/>
                              <a:ext cx="12" cy="6"/>
                            </a:xfrm>
                            <a:custGeom>
                              <a:avLst/>
                              <a:gdLst>
                                <a:gd name="T0" fmla="*/ 40 w 80"/>
                                <a:gd name="T1" fmla="*/ 0 h 46"/>
                                <a:gd name="T2" fmla="*/ 80 w 80"/>
                                <a:gd name="T3" fmla="*/ 28 h 46"/>
                                <a:gd name="T4" fmla="*/ 40 w 80"/>
                                <a:gd name="T5" fmla="*/ 46 h 46"/>
                                <a:gd name="T6" fmla="*/ 0 w 80"/>
                                <a:gd name="T7" fmla="*/ 18 h 46"/>
                                <a:gd name="T8" fmla="*/ 40 w 80"/>
                                <a:gd name="T9" fmla="*/ 0 h 46"/>
                              </a:gdLst>
                              <a:ahLst/>
                              <a:cxnLst>
                                <a:cxn ang="0">
                                  <a:pos x="T0" y="T1"/>
                                </a:cxn>
                                <a:cxn ang="0">
                                  <a:pos x="T2" y="T3"/>
                                </a:cxn>
                                <a:cxn ang="0">
                                  <a:pos x="T4" y="T5"/>
                                </a:cxn>
                                <a:cxn ang="0">
                                  <a:pos x="T6" y="T7"/>
                                </a:cxn>
                                <a:cxn ang="0">
                                  <a:pos x="T8" y="T9"/>
                                </a:cxn>
                              </a:cxnLst>
                              <a:rect l="0" t="0" r="r" b="b"/>
                              <a:pathLst>
                                <a:path w="80" h="46">
                                  <a:moveTo>
                                    <a:pt x="40" y="0"/>
                                  </a:moveTo>
                                  <a:lnTo>
                                    <a:pt x="80" y="28"/>
                                  </a:lnTo>
                                  <a:lnTo>
                                    <a:pt x="40" y="46"/>
                                  </a:lnTo>
                                  <a:lnTo>
                                    <a:pt x="0" y="18"/>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7" name="Freeform 129"/>
                            <p:cNvSpPr/>
                            <p:nvPr/>
                          </p:nvSpPr>
                          <p:spPr bwMode="auto">
                            <a:xfrm>
                              <a:off x="2536" y="3079"/>
                              <a:ext cx="10" cy="5"/>
                            </a:xfrm>
                            <a:custGeom>
                              <a:avLst/>
                              <a:gdLst>
                                <a:gd name="T0" fmla="*/ 37 w 72"/>
                                <a:gd name="T1" fmla="*/ 0 h 41"/>
                                <a:gd name="T2" fmla="*/ 72 w 72"/>
                                <a:gd name="T3" fmla="*/ 24 h 41"/>
                                <a:gd name="T4" fmla="*/ 36 w 72"/>
                                <a:gd name="T5" fmla="*/ 41 h 41"/>
                                <a:gd name="T6" fmla="*/ 0 w 72"/>
                                <a:gd name="T7" fmla="*/ 15 h 41"/>
                                <a:gd name="T8" fmla="*/ 37 w 72"/>
                                <a:gd name="T9" fmla="*/ 0 h 41"/>
                              </a:gdLst>
                              <a:ahLst/>
                              <a:cxnLst>
                                <a:cxn ang="0">
                                  <a:pos x="T0" y="T1"/>
                                </a:cxn>
                                <a:cxn ang="0">
                                  <a:pos x="T2" y="T3"/>
                                </a:cxn>
                                <a:cxn ang="0">
                                  <a:pos x="T4" y="T5"/>
                                </a:cxn>
                                <a:cxn ang="0">
                                  <a:pos x="T6" y="T7"/>
                                </a:cxn>
                                <a:cxn ang="0">
                                  <a:pos x="T8" y="T9"/>
                                </a:cxn>
                              </a:cxnLst>
                              <a:rect l="0" t="0" r="r" b="b"/>
                              <a:pathLst>
                                <a:path w="72" h="41">
                                  <a:moveTo>
                                    <a:pt x="37" y="0"/>
                                  </a:moveTo>
                                  <a:lnTo>
                                    <a:pt x="72" y="24"/>
                                  </a:lnTo>
                                  <a:lnTo>
                                    <a:pt x="36" y="41"/>
                                  </a:lnTo>
                                  <a:lnTo>
                                    <a:pt x="0" y="15"/>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8" name="Freeform 130"/>
                            <p:cNvSpPr/>
                            <p:nvPr/>
                          </p:nvSpPr>
                          <p:spPr bwMode="auto">
                            <a:xfrm>
                              <a:off x="2542" y="3082"/>
                              <a:ext cx="9" cy="5"/>
                            </a:xfrm>
                            <a:custGeom>
                              <a:avLst/>
                              <a:gdLst>
                                <a:gd name="T0" fmla="*/ 36 w 64"/>
                                <a:gd name="T1" fmla="*/ 0 h 40"/>
                                <a:gd name="T2" fmla="*/ 64 w 64"/>
                                <a:gd name="T3" fmla="*/ 20 h 40"/>
                                <a:gd name="T4" fmla="*/ 32 w 64"/>
                                <a:gd name="T5" fmla="*/ 40 h 40"/>
                                <a:gd name="T6" fmla="*/ 0 w 64"/>
                                <a:gd name="T7" fmla="*/ 16 h 40"/>
                                <a:gd name="T8" fmla="*/ 36 w 64"/>
                                <a:gd name="T9" fmla="*/ 0 h 40"/>
                              </a:gdLst>
                              <a:ahLst/>
                              <a:cxnLst>
                                <a:cxn ang="0">
                                  <a:pos x="T0" y="T1"/>
                                </a:cxn>
                                <a:cxn ang="0">
                                  <a:pos x="T2" y="T3"/>
                                </a:cxn>
                                <a:cxn ang="0">
                                  <a:pos x="T4" y="T5"/>
                                </a:cxn>
                                <a:cxn ang="0">
                                  <a:pos x="T6" y="T7"/>
                                </a:cxn>
                                <a:cxn ang="0">
                                  <a:pos x="T8" y="T9"/>
                                </a:cxn>
                              </a:cxnLst>
                              <a:rect l="0" t="0" r="r" b="b"/>
                              <a:pathLst>
                                <a:path w="64" h="40">
                                  <a:moveTo>
                                    <a:pt x="36" y="0"/>
                                  </a:moveTo>
                                  <a:lnTo>
                                    <a:pt x="64" y="20"/>
                                  </a:lnTo>
                                  <a:lnTo>
                                    <a:pt x="32" y="40"/>
                                  </a:lnTo>
                                  <a:lnTo>
                                    <a:pt x="0" y="16"/>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79" name="Freeform 131"/>
                            <p:cNvSpPr/>
                            <p:nvPr/>
                          </p:nvSpPr>
                          <p:spPr bwMode="auto">
                            <a:xfrm>
                              <a:off x="2533" y="3077"/>
                              <a:ext cx="8" cy="4"/>
                            </a:xfrm>
                            <a:custGeom>
                              <a:avLst/>
                              <a:gdLst>
                                <a:gd name="T0" fmla="*/ 38 w 59"/>
                                <a:gd name="T1" fmla="*/ 0 h 34"/>
                                <a:gd name="T2" fmla="*/ 59 w 59"/>
                                <a:gd name="T3" fmla="*/ 16 h 34"/>
                                <a:gd name="T4" fmla="*/ 22 w 59"/>
                                <a:gd name="T5" fmla="*/ 34 h 34"/>
                                <a:gd name="T6" fmla="*/ 0 w 59"/>
                                <a:gd name="T7" fmla="*/ 19 h 34"/>
                                <a:gd name="T8" fmla="*/ 38 w 59"/>
                                <a:gd name="T9" fmla="*/ 0 h 34"/>
                              </a:gdLst>
                              <a:ahLst/>
                              <a:cxnLst>
                                <a:cxn ang="0">
                                  <a:pos x="T0" y="T1"/>
                                </a:cxn>
                                <a:cxn ang="0">
                                  <a:pos x="T2" y="T3"/>
                                </a:cxn>
                                <a:cxn ang="0">
                                  <a:pos x="T4" y="T5"/>
                                </a:cxn>
                                <a:cxn ang="0">
                                  <a:pos x="T6" y="T7"/>
                                </a:cxn>
                                <a:cxn ang="0">
                                  <a:pos x="T8" y="T9"/>
                                </a:cxn>
                              </a:cxnLst>
                              <a:rect l="0" t="0" r="r" b="b"/>
                              <a:pathLst>
                                <a:path w="59" h="34">
                                  <a:moveTo>
                                    <a:pt x="38" y="0"/>
                                  </a:moveTo>
                                  <a:lnTo>
                                    <a:pt x="59" y="16"/>
                                  </a:lnTo>
                                  <a:lnTo>
                                    <a:pt x="22" y="34"/>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0" name="Freeform 132"/>
                            <p:cNvSpPr/>
                            <p:nvPr/>
                          </p:nvSpPr>
                          <p:spPr bwMode="auto">
                            <a:xfrm>
                              <a:off x="2603" y="3102"/>
                              <a:ext cx="15" cy="8"/>
                            </a:xfrm>
                            <a:custGeom>
                              <a:avLst/>
                              <a:gdLst>
                                <a:gd name="T0" fmla="*/ 34 w 102"/>
                                <a:gd name="T1" fmla="*/ 0 h 65"/>
                                <a:gd name="T2" fmla="*/ 102 w 102"/>
                                <a:gd name="T3" fmla="*/ 45 h 65"/>
                                <a:gd name="T4" fmla="*/ 65 w 102"/>
                                <a:gd name="T5" fmla="*/ 65 h 65"/>
                                <a:gd name="T6" fmla="*/ 0 w 102"/>
                                <a:gd name="T7" fmla="*/ 22 h 65"/>
                                <a:gd name="T8" fmla="*/ 34 w 102"/>
                                <a:gd name="T9" fmla="*/ 0 h 65"/>
                              </a:gdLst>
                              <a:ahLst/>
                              <a:cxnLst>
                                <a:cxn ang="0">
                                  <a:pos x="T0" y="T1"/>
                                </a:cxn>
                                <a:cxn ang="0">
                                  <a:pos x="T2" y="T3"/>
                                </a:cxn>
                                <a:cxn ang="0">
                                  <a:pos x="T4" y="T5"/>
                                </a:cxn>
                                <a:cxn ang="0">
                                  <a:pos x="T6" y="T7"/>
                                </a:cxn>
                                <a:cxn ang="0">
                                  <a:pos x="T8" y="T9"/>
                                </a:cxn>
                              </a:cxnLst>
                              <a:rect l="0" t="0" r="r" b="b"/>
                              <a:pathLst>
                                <a:path w="102" h="65">
                                  <a:moveTo>
                                    <a:pt x="34" y="0"/>
                                  </a:moveTo>
                                  <a:lnTo>
                                    <a:pt x="102" y="45"/>
                                  </a:lnTo>
                                  <a:lnTo>
                                    <a:pt x="65" y="65"/>
                                  </a:lnTo>
                                  <a:lnTo>
                                    <a:pt x="0" y="22"/>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1" name="Freeform 133"/>
                            <p:cNvSpPr/>
                            <p:nvPr/>
                          </p:nvSpPr>
                          <p:spPr bwMode="auto">
                            <a:xfrm>
                              <a:off x="2609" y="3099"/>
                              <a:ext cx="15" cy="8"/>
                            </a:xfrm>
                            <a:custGeom>
                              <a:avLst/>
                              <a:gdLst>
                                <a:gd name="T0" fmla="*/ 34 w 103"/>
                                <a:gd name="T1" fmla="*/ 0 h 62"/>
                                <a:gd name="T2" fmla="*/ 103 w 103"/>
                                <a:gd name="T3" fmla="*/ 44 h 62"/>
                                <a:gd name="T4" fmla="*/ 66 w 103"/>
                                <a:gd name="T5" fmla="*/ 62 h 62"/>
                                <a:gd name="T6" fmla="*/ 0 w 103"/>
                                <a:gd name="T7" fmla="*/ 22 h 62"/>
                                <a:gd name="T8" fmla="*/ 34 w 103"/>
                                <a:gd name="T9" fmla="*/ 0 h 62"/>
                              </a:gdLst>
                              <a:ahLst/>
                              <a:cxnLst>
                                <a:cxn ang="0">
                                  <a:pos x="T0" y="T1"/>
                                </a:cxn>
                                <a:cxn ang="0">
                                  <a:pos x="T2" y="T3"/>
                                </a:cxn>
                                <a:cxn ang="0">
                                  <a:pos x="T4" y="T5"/>
                                </a:cxn>
                                <a:cxn ang="0">
                                  <a:pos x="T6" y="T7"/>
                                </a:cxn>
                                <a:cxn ang="0">
                                  <a:pos x="T8" y="T9"/>
                                </a:cxn>
                              </a:cxnLst>
                              <a:rect l="0" t="0" r="r" b="b"/>
                              <a:pathLst>
                                <a:path w="103" h="62">
                                  <a:moveTo>
                                    <a:pt x="34" y="0"/>
                                  </a:moveTo>
                                  <a:lnTo>
                                    <a:pt x="103" y="44"/>
                                  </a:lnTo>
                                  <a:lnTo>
                                    <a:pt x="66" y="62"/>
                                  </a:lnTo>
                                  <a:lnTo>
                                    <a:pt x="0" y="22"/>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2" name="Freeform 134"/>
                            <p:cNvSpPr/>
                            <p:nvPr/>
                          </p:nvSpPr>
                          <p:spPr bwMode="auto">
                            <a:xfrm>
                              <a:off x="2615" y="3096"/>
                              <a:ext cx="15" cy="8"/>
                            </a:xfrm>
                            <a:custGeom>
                              <a:avLst/>
                              <a:gdLst>
                                <a:gd name="T0" fmla="*/ 32 w 101"/>
                                <a:gd name="T1" fmla="*/ 0 h 62"/>
                                <a:gd name="T2" fmla="*/ 101 w 101"/>
                                <a:gd name="T3" fmla="*/ 41 h 62"/>
                                <a:gd name="T4" fmla="*/ 64 w 101"/>
                                <a:gd name="T5" fmla="*/ 62 h 62"/>
                                <a:gd name="T6" fmla="*/ 0 w 101"/>
                                <a:gd name="T7" fmla="*/ 22 h 62"/>
                                <a:gd name="T8" fmla="*/ 32 w 101"/>
                                <a:gd name="T9" fmla="*/ 0 h 62"/>
                              </a:gdLst>
                              <a:ahLst/>
                              <a:cxnLst>
                                <a:cxn ang="0">
                                  <a:pos x="T0" y="T1"/>
                                </a:cxn>
                                <a:cxn ang="0">
                                  <a:pos x="T2" y="T3"/>
                                </a:cxn>
                                <a:cxn ang="0">
                                  <a:pos x="T4" y="T5"/>
                                </a:cxn>
                                <a:cxn ang="0">
                                  <a:pos x="T6" y="T7"/>
                                </a:cxn>
                                <a:cxn ang="0">
                                  <a:pos x="T8" y="T9"/>
                                </a:cxn>
                              </a:cxnLst>
                              <a:rect l="0" t="0" r="r" b="b"/>
                              <a:pathLst>
                                <a:path w="101" h="62">
                                  <a:moveTo>
                                    <a:pt x="32" y="0"/>
                                  </a:moveTo>
                                  <a:lnTo>
                                    <a:pt x="101" y="41"/>
                                  </a:lnTo>
                                  <a:lnTo>
                                    <a:pt x="64" y="62"/>
                                  </a:lnTo>
                                  <a:lnTo>
                                    <a:pt x="0" y="22"/>
                                  </a:lnTo>
                                  <a:lnTo>
                                    <a:pt x="32"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3" name="Freeform 135"/>
                            <p:cNvSpPr/>
                            <p:nvPr/>
                          </p:nvSpPr>
                          <p:spPr bwMode="auto">
                            <a:xfrm>
                              <a:off x="2598" y="3100"/>
                              <a:ext cx="10" cy="5"/>
                            </a:xfrm>
                            <a:custGeom>
                              <a:avLst/>
                              <a:gdLst>
                                <a:gd name="T0" fmla="*/ 38 w 73"/>
                                <a:gd name="T1" fmla="*/ 0 h 46"/>
                                <a:gd name="T2" fmla="*/ 73 w 73"/>
                                <a:gd name="T3" fmla="*/ 23 h 46"/>
                                <a:gd name="T4" fmla="*/ 36 w 73"/>
                                <a:gd name="T5" fmla="*/ 46 h 46"/>
                                <a:gd name="T6" fmla="*/ 0 w 73"/>
                                <a:gd name="T7" fmla="*/ 23 h 46"/>
                                <a:gd name="T8" fmla="*/ 38 w 73"/>
                                <a:gd name="T9" fmla="*/ 0 h 46"/>
                              </a:gdLst>
                              <a:ahLst/>
                              <a:cxnLst>
                                <a:cxn ang="0">
                                  <a:pos x="T0" y="T1"/>
                                </a:cxn>
                                <a:cxn ang="0">
                                  <a:pos x="T2" y="T3"/>
                                </a:cxn>
                                <a:cxn ang="0">
                                  <a:pos x="T4" y="T5"/>
                                </a:cxn>
                                <a:cxn ang="0">
                                  <a:pos x="T6" y="T7"/>
                                </a:cxn>
                                <a:cxn ang="0">
                                  <a:pos x="T8" y="T9"/>
                                </a:cxn>
                              </a:cxnLst>
                              <a:rect l="0" t="0" r="r" b="b"/>
                              <a:pathLst>
                                <a:path w="73" h="46">
                                  <a:moveTo>
                                    <a:pt x="38" y="0"/>
                                  </a:moveTo>
                                  <a:lnTo>
                                    <a:pt x="73" y="23"/>
                                  </a:lnTo>
                                  <a:lnTo>
                                    <a:pt x="36" y="46"/>
                                  </a:lnTo>
                                  <a:lnTo>
                                    <a:pt x="0" y="23"/>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4" name="Freeform 136"/>
                            <p:cNvSpPr/>
                            <p:nvPr/>
                          </p:nvSpPr>
                          <p:spPr bwMode="auto">
                            <a:xfrm>
                              <a:off x="2604" y="3097"/>
                              <a:ext cx="10" cy="5"/>
                            </a:xfrm>
                            <a:custGeom>
                              <a:avLst/>
                              <a:gdLst>
                                <a:gd name="T0" fmla="*/ 35 w 69"/>
                                <a:gd name="T1" fmla="*/ 0 h 43"/>
                                <a:gd name="T2" fmla="*/ 69 w 69"/>
                                <a:gd name="T3" fmla="*/ 22 h 43"/>
                                <a:gd name="T4" fmla="*/ 31 w 69"/>
                                <a:gd name="T5" fmla="*/ 43 h 43"/>
                                <a:gd name="T6" fmla="*/ 0 w 69"/>
                                <a:gd name="T7" fmla="*/ 22 h 43"/>
                                <a:gd name="T8" fmla="*/ 35 w 69"/>
                                <a:gd name="T9" fmla="*/ 0 h 43"/>
                              </a:gdLst>
                              <a:ahLst/>
                              <a:cxnLst>
                                <a:cxn ang="0">
                                  <a:pos x="T0" y="T1"/>
                                </a:cxn>
                                <a:cxn ang="0">
                                  <a:pos x="T2" y="T3"/>
                                </a:cxn>
                                <a:cxn ang="0">
                                  <a:pos x="T4" y="T5"/>
                                </a:cxn>
                                <a:cxn ang="0">
                                  <a:pos x="T6" y="T7"/>
                                </a:cxn>
                                <a:cxn ang="0">
                                  <a:pos x="T8" y="T9"/>
                                </a:cxn>
                              </a:cxnLst>
                              <a:rect l="0" t="0" r="r" b="b"/>
                              <a:pathLst>
                                <a:path w="69" h="43">
                                  <a:moveTo>
                                    <a:pt x="35" y="0"/>
                                  </a:moveTo>
                                  <a:lnTo>
                                    <a:pt x="69" y="22"/>
                                  </a:lnTo>
                                  <a:lnTo>
                                    <a:pt x="31" y="43"/>
                                  </a:lnTo>
                                  <a:lnTo>
                                    <a:pt x="0" y="22"/>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5" name="Freeform 137"/>
                            <p:cNvSpPr/>
                            <p:nvPr/>
                          </p:nvSpPr>
                          <p:spPr bwMode="auto">
                            <a:xfrm>
                              <a:off x="2610" y="3094"/>
                              <a:ext cx="10" cy="5"/>
                            </a:xfrm>
                            <a:custGeom>
                              <a:avLst/>
                              <a:gdLst>
                                <a:gd name="T0" fmla="*/ 36 w 68"/>
                                <a:gd name="T1" fmla="*/ 0 h 43"/>
                                <a:gd name="T2" fmla="*/ 68 w 68"/>
                                <a:gd name="T3" fmla="*/ 20 h 43"/>
                                <a:gd name="T4" fmla="*/ 34 w 68"/>
                                <a:gd name="T5" fmla="*/ 43 h 43"/>
                                <a:gd name="T6" fmla="*/ 0 w 68"/>
                                <a:gd name="T7" fmla="*/ 21 h 43"/>
                                <a:gd name="T8" fmla="*/ 36 w 68"/>
                                <a:gd name="T9" fmla="*/ 0 h 43"/>
                              </a:gdLst>
                              <a:ahLst/>
                              <a:cxnLst>
                                <a:cxn ang="0">
                                  <a:pos x="T0" y="T1"/>
                                </a:cxn>
                                <a:cxn ang="0">
                                  <a:pos x="T2" y="T3"/>
                                </a:cxn>
                                <a:cxn ang="0">
                                  <a:pos x="T4" y="T5"/>
                                </a:cxn>
                                <a:cxn ang="0">
                                  <a:pos x="T6" y="T7"/>
                                </a:cxn>
                                <a:cxn ang="0">
                                  <a:pos x="T8" y="T9"/>
                                </a:cxn>
                              </a:cxnLst>
                              <a:rect l="0" t="0" r="r" b="b"/>
                              <a:pathLst>
                                <a:path w="68" h="43">
                                  <a:moveTo>
                                    <a:pt x="36" y="0"/>
                                  </a:moveTo>
                                  <a:lnTo>
                                    <a:pt x="68" y="20"/>
                                  </a:lnTo>
                                  <a:lnTo>
                                    <a:pt x="34" y="43"/>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6" name="Freeform 138"/>
                            <p:cNvSpPr/>
                            <p:nvPr/>
                          </p:nvSpPr>
                          <p:spPr bwMode="auto">
                            <a:xfrm>
                              <a:off x="2616" y="3091"/>
                              <a:ext cx="10" cy="5"/>
                            </a:xfrm>
                            <a:custGeom>
                              <a:avLst/>
                              <a:gdLst>
                                <a:gd name="T0" fmla="*/ 35 w 67"/>
                                <a:gd name="T1" fmla="*/ 0 h 42"/>
                                <a:gd name="T2" fmla="*/ 67 w 67"/>
                                <a:gd name="T3" fmla="*/ 19 h 42"/>
                                <a:gd name="T4" fmla="*/ 31 w 67"/>
                                <a:gd name="T5" fmla="*/ 42 h 42"/>
                                <a:gd name="T6" fmla="*/ 0 w 67"/>
                                <a:gd name="T7" fmla="*/ 21 h 42"/>
                                <a:gd name="T8" fmla="*/ 35 w 67"/>
                                <a:gd name="T9" fmla="*/ 0 h 42"/>
                              </a:gdLst>
                              <a:ahLst/>
                              <a:cxnLst>
                                <a:cxn ang="0">
                                  <a:pos x="T0" y="T1"/>
                                </a:cxn>
                                <a:cxn ang="0">
                                  <a:pos x="T2" y="T3"/>
                                </a:cxn>
                                <a:cxn ang="0">
                                  <a:pos x="T4" y="T5"/>
                                </a:cxn>
                                <a:cxn ang="0">
                                  <a:pos x="T6" y="T7"/>
                                </a:cxn>
                                <a:cxn ang="0">
                                  <a:pos x="T8" y="T9"/>
                                </a:cxn>
                              </a:cxnLst>
                              <a:rect l="0" t="0" r="r" b="b"/>
                              <a:pathLst>
                                <a:path w="67" h="42">
                                  <a:moveTo>
                                    <a:pt x="35" y="0"/>
                                  </a:moveTo>
                                  <a:lnTo>
                                    <a:pt x="67" y="19"/>
                                  </a:lnTo>
                                  <a:lnTo>
                                    <a:pt x="31" y="42"/>
                                  </a:lnTo>
                                  <a:lnTo>
                                    <a:pt x="0" y="21"/>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7" name="Freeform 139"/>
                            <p:cNvSpPr/>
                            <p:nvPr/>
                          </p:nvSpPr>
                          <p:spPr bwMode="auto">
                            <a:xfrm>
                              <a:off x="2622" y="3089"/>
                              <a:ext cx="8" cy="4"/>
                            </a:xfrm>
                            <a:custGeom>
                              <a:avLst/>
                              <a:gdLst>
                                <a:gd name="T0" fmla="*/ 28 w 59"/>
                                <a:gd name="T1" fmla="*/ 0 h 36"/>
                                <a:gd name="T2" fmla="*/ 59 w 59"/>
                                <a:gd name="T3" fmla="*/ 19 h 36"/>
                                <a:gd name="T4" fmla="*/ 32 w 59"/>
                                <a:gd name="T5" fmla="*/ 36 h 36"/>
                                <a:gd name="T6" fmla="*/ 0 w 59"/>
                                <a:gd name="T7" fmla="*/ 18 h 36"/>
                                <a:gd name="T8" fmla="*/ 28 w 59"/>
                                <a:gd name="T9" fmla="*/ 0 h 36"/>
                              </a:gdLst>
                              <a:ahLst/>
                              <a:cxnLst>
                                <a:cxn ang="0">
                                  <a:pos x="T0" y="T1"/>
                                </a:cxn>
                                <a:cxn ang="0">
                                  <a:pos x="T2" y="T3"/>
                                </a:cxn>
                                <a:cxn ang="0">
                                  <a:pos x="T4" y="T5"/>
                                </a:cxn>
                                <a:cxn ang="0">
                                  <a:pos x="T6" y="T7"/>
                                </a:cxn>
                                <a:cxn ang="0">
                                  <a:pos x="T8" y="T9"/>
                                </a:cxn>
                              </a:cxnLst>
                              <a:rect l="0" t="0" r="r" b="b"/>
                              <a:pathLst>
                                <a:path w="59" h="36">
                                  <a:moveTo>
                                    <a:pt x="28" y="0"/>
                                  </a:moveTo>
                                  <a:lnTo>
                                    <a:pt x="59" y="19"/>
                                  </a:lnTo>
                                  <a:lnTo>
                                    <a:pt x="32" y="36"/>
                                  </a:lnTo>
                                  <a:lnTo>
                                    <a:pt x="0" y="18"/>
                                  </a:lnTo>
                                  <a:lnTo>
                                    <a:pt x="2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8" name="Freeform 140"/>
                            <p:cNvSpPr/>
                            <p:nvPr/>
                          </p:nvSpPr>
                          <p:spPr bwMode="auto">
                            <a:xfrm>
                              <a:off x="2627" y="3091"/>
                              <a:ext cx="8" cy="5"/>
                            </a:xfrm>
                            <a:custGeom>
                              <a:avLst/>
                              <a:gdLst>
                                <a:gd name="T0" fmla="*/ 28 w 61"/>
                                <a:gd name="T1" fmla="*/ 0 h 39"/>
                                <a:gd name="T2" fmla="*/ 61 w 61"/>
                                <a:gd name="T3" fmla="*/ 20 h 39"/>
                                <a:gd name="T4" fmla="*/ 31 w 61"/>
                                <a:gd name="T5" fmla="*/ 39 h 39"/>
                                <a:gd name="T6" fmla="*/ 0 w 61"/>
                                <a:gd name="T7" fmla="*/ 19 h 39"/>
                                <a:gd name="T8" fmla="*/ 28 w 61"/>
                                <a:gd name="T9" fmla="*/ 0 h 39"/>
                              </a:gdLst>
                              <a:ahLst/>
                              <a:cxnLst>
                                <a:cxn ang="0">
                                  <a:pos x="T0" y="T1"/>
                                </a:cxn>
                                <a:cxn ang="0">
                                  <a:pos x="T2" y="T3"/>
                                </a:cxn>
                                <a:cxn ang="0">
                                  <a:pos x="T4" y="T5"/>
                                </a:cxn>
                                <a:cxn ang="0">
                                  <a:pos x="T6" y="T7"/>
                                </a:cxn>
                                <a:cxn ang="0">
                                  <a:pos x="T8" y="T9"/>
                                </a:cxn>
                              </a:cxnLst>
                              <a:rect l="0" t="0" r="r" b="b"/>
                              <a:pathLst>
                                <a:path w="61" h="39">
                                  <a:moveTo>
                                    <a:pt x="28" y="0"/>
                                  </a:moveTo>
                                  <a:lnTo>
                                    <a:pt x="61" y="20"/>
                                  </a:lnTo>
                                  <a:lnTo>
                                    <a:pt x="31" y="39"/>
                                  </a:lnTo>
                                  <a:lnTo>
                                    <a:pt x="0" y="19"/>
                                  </a:lnTo>
                                  <a:lnTo>
                                    <a:pt x="2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89" name="Freeform 141"/>
                            <p:cNvSpPr/>
                            <p:nvPr/>
                          </p:nvSpPr>
                          <p:spPr bwMode="auto">
                            <a:xfrm>
                              <a:off x="2621" y="3093"/>
                              <a:ext cx="10" cy="5"/>
                            </a:xfrm>
                            <a:custGeom>
                              <a:avLst/>
                              <a:gdLst>
                                <a:gd name="T0" fmla="*/ 36 w 68"/>
                                <a:gd name="T1" fmla="*/ 0 h 42"/>
                                <a:gd name="T2" fmla="*/ 68 w 68"/>
                                <a:gd name="T3" fmla="*/ 21 h 42"/>
                                <a:gd name="T4" fmla="*/ 32 w 68"/>
                                <a:gd name="T5" fmla="*/ 42 h 42"/>
                                <a:gd name="T6" fmla="*/ 0 w 68"/>
                                <a:gd name="T7" fmla="*/ 24 h 42"/>
                                <a:gd name="T8" fmla="*/ 36 w 68"/>
                                <a:gd name="T9" fmla="*/ 0 h 42"/>
                              </a:gdLst>
                              <a:ahLst/>
                              <a:cxnLst>
                                <a:cxn ang="0">
                                  <a:pos x="T0" y="T1"/>
                                </a:cxn>
                                <a:cxn ang="0">
                                  <a:pos x="T2" y="T3"/>
                                </a:cxn>
                                <a:cxn ang="0">
                                  <a:pos x="T4" y="T5"/>
                                </a:cxn>
                                <a:cxn ang="0">
                                  <a:pos x="T6" y="T7"/>
                                </a:cxn>
                                <a:cxn ang="0">
                                  <a:pos x="T8" y="T9"/>
                                </a:cxn>
                              </a:cxnLst>
                              <a:rect l="0" t="0" r="r" b="b"/>
                              <a:pathLst>
                                <a:path w="68" h="42">
                                  <a:moveTo>
                                    <a:pt x="36" y="0"/>
                                  </a:moveTo>
                                  <a:lnTo>
                                    <a:pt x="68" y="21"/>
                                  </a:lnTo>
                                  <a:lnTo>
                                    <a:pt x="32" y="42"/>
                                  </a:lnTo>
                                  <a:lnTo>
                                    <a:pt x="0" y="24"/>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0" name="Freeform 142"/>
                            <p:cNvSpPr/>
                            <p:nvPr/>
                          </p:nvSpPr>
                          <p:spPr bwMode="auto">
                            <a:xfrm>
                              <a:off x="2632" y="3093"/>
                              <a:ext cx="8" cy="5"/>
                            </a:xfrm>
                            <a:custGeom>
                              <a:avLst/>
                              <a:gdLst>
                                <a:gd name="T0" fmla="*/ 29 w 61"/>
                                <a:gd name="T1" fmla="*/ 0 h 39"/>
                                <a:gd name="T2" fmla="*/ 61 w 61"/>
                                <a:gd name="T3" fmla="*/ 20 h 39"/>
                                <a:gd name="T4" fmla="*/ 32 w 61"/>
                                <a:gd name="T5" fmla="*/ 39 h 39"/>
                                <a:gd name="T6" fmla="*/ 0 w 61"/>
                                <a:gd name="T7" fmla="*/ 20 h 39"/>
                                <a:gd name="T8" fmla="*/ 29 w 61"/>
                                <a:gd name="T9" fmla="*/ 0 h 39"/>
                              </a:gdLst>
                              <a:ahLst/>
                              <a:cxnLst>
                                <a:cxn ang="0">
                                  <a:pos x="T0" y="T1"/>
                                </a:cxn>
                                <a:cxn ang="0">
                                  <a:pos x="T2" y="T3"/>
                                </a:cxn>
                                <a:cxn ang="0">
                                  <a:pos x="T4" y="T5"/>
                                </a:cxn>
                                <a:cxn ang="0">
                                  <a:pos x="T6" y="T7"/>
                                </a:cxn>
                                <a:cxn ang="0">
                                  <a:pos x="T8" y="T9"/>
                                </a:cxn>
                              </a:cxnLst>
                              <a:rect l="0" t="0" r="r" b="b"/>
                              <a:pathLst>
                                <a:path w="61" h="39">
                                  <a:moveTo>
                                    <a:pt x="29" y="0"/>
                                  </a:moveTo>
                                  <a:lnTo>
                                    <a:pt x="61" y="20"/>
                                  </a:lnTo>
                                  <a:lnTo>
                                    <a:pt x="32" y="39"/>
                                  </a:lnTo>
                                  <a:lnTo>
                                    <a:pt x="0" y="20"/>
                                  </a:lnTo>
                                  <a:lnTo>
                                    <a:pt x="2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1" name="Freeform 143"/>
                            <p:cNvSpPr/>
                            <p:nvPr/>
                          </p:nvSpPr>
                          <p:spPr bwMode="auto">
                            <a:xfrm>
                              <a:off x="2626" y="3095"/>
                              <a:ext cx="10" cy="6"/>
                            </a:xfrm>
                            <a:custGeom>
                              <a:avLst/>
                              <a:gdLst>
                                <a:gd name="T0" fmla="*/ 36 w 69"/>
                                <a:gd name="T1" fmla="*/ 0 h 42"/>
                                <a:gd name="T2" fmla="*/ 69 w 69"/>
                                <a:gd name="T3" fmla="*/ 20 h 42"/>
                                <a:gd name="T4" fmla="*/ 32 w 69"/>
                                <a:gd name="T5" fmla="*/ 42 h 42"/>
                                <a:gd name="T6" fmla="*/ 0 w 69"/>
                                <a:gd name="T7" fmla="*/ 23 h 42"/>
                                <a:gd name="T8" fmla="*/ 36 w 69"/>
                                <a:gd name="T9" fmla="*/ 0 h 42"/>
                              </a:gdLst>
                              <a:ahLst/>
                              <a:cxnLst>
                                <a:cxn ang="0">
                                  <a:pos x="T0" y="T1"/>
                                </a:cxn>
                                <a:cxn ang="0">
                                  <a:pos x="T2" y="T3"/>
                                </a:cxn>
                                <a:cxn ang="0">
                                  <a:pos x="T4" y="T5"/>
                                </a:cxn>
                                <a:cxn ang="0">
                                  <a:pos x="T6" y="T7"/>
                                </a:cxn>
                                <a:cxn ang="0">
                                  <a:pos x="T8" y="T9"/>
                                </a:cxn>
                              </a:cxnLst>
                              <a:rect l="0" t="0" r="r" b="b"/>
                              <a:pathLst>
                                <a:path w="69" h="42">
                                  <a:moveTo>
                                    <a:pt x="36" y="0"/>
                                  </a:moveTo>
                                  <a:lnTo>
                                    <a:pt x="69" y="20"/>
                                  </a:lnTo>
                                  <a:lnTo>
                                    <a:pt x="32" y="42"/>
                                  </a:lnTo>
                                  <a:lnTo>
                                    <a:pt x="0" y="23"/>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2" name="Freeform 144"/>
                            <p:cNvSpPr/>
                            <p:nvPr/>
                          </p:nvSpPr>
                          <p:spPr bwMode="auto">
                            <a:xfrm>
                              <a:off x="2599" y="3094"/>
                              <a:ext cx="10" cy="6"/>
                            </a:xfrm>
                            <a:custGeom>
                              <a:avLst/>
                              <a:gdLst>
                                <a:gd name="T0" fmla="*/ 35 w 68"/>
                                <a:gd name="T1" fmla="*/ 0 h 42"/>
                                <a:gd name="T2" fmla="*/ 68 w 68"/>
                                <a:gd name="T3" fmla="*/ 21 h 42"/>
                                <a:gd name="T4" fmla="*/ 33 w 68"/>
                                <a:gd name="T5" fmla="*/ 42 h 42"/>
                                <a:gd name="T6" fmla="*/ 0 w 68"/>
                                <a:gd name="T7" fmla="*/ 19 h 42"/>
                                <a:gd name="T8" fmla="*/ 35 w 68"/>
                                <a:gd name="T9" fmla="*/ 0 h 42"/>
                              </a:gdLst>
                              <a:ahLst/>
                              <a:cxnLst>
                                <a:cxn ang="0">
                                  <a:pos x="T0" y="T1"/>
                                </a:cxn>
                                <a:cxn ang="0">
                                  <a:pos x="T2" y="T3"/>
                                </a:cxn>
                                <a:cxn ang="0">
                                  <a:pos x="T4" y="T5"/>
                                </a:cxn>
                                <a:cxn ang="0">
                                  <a:pos x="T6" y="T7"/>
                                </a:cxn>
                                <a:cxn ang="0">
                                  <a:pos x="T8" y="T9"/>
                                </a:cxn>
                              </a:cxnLst>
                              <a:rect l="0" t="0" r="r" b="b"/>
                              <a:pathLst>
                                <a:path w="68" h="42">
                                  <a:moveTo>
                                    <a:pt x="35" y="0"/>
                                  </a:moveTo>
                                  <a:lnTo>
                                    <a:pt x="68" y="21"/>
                                  </a:lnTo>
                                  <a:lnTo>
                                    <a:pt x="33" y="42"/>
                                  </a:lnTo>
                                  <a:lnTo>
                                    <a:pt x="0" y="19"/>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3" name="Freeform 145"/>
                            <p:cNvSpPr/>
                            <p:nvPr/>
                          </p:nvSpPr>
                          <p:spPr bwMode="auto">
                            <a:xfrm>
                              <a:off x="2605" y="3091"/>
                              <a:ext cx="10" cy="6"/>
                            </a:xfrm>
                            <a:custGeom>
                              <a:avLst/>
                              <a:gdLst>
                                <a:gd name="T0" fmla="*/ 37 w 69"/>
                                <a:gd name="T1" fmla="*/ 0 h 42"/>
                                <a:gd name="T2" fmla="*/ 69 w 69"/>
                                <a:gd name="T3" fmla="*/ 21 h 42"/>
                                <a:gd name="T4" fmla="*/ 33 w 69"/>
                                <a:gd name="T5" fmla="*/ 42 h 42"/>
                                <a:gd name="T6" fmla="*/ 0 w 69"/>
                                <a:gd name="T7" fmla="*/ 21 h 42"/>
                                <a:gd name="T8" fmla="*/ 37 w 69"/>
                                <a:gd name="T9" fmla="*/ 0 h 42"/>
                              </a:gdLst>
                              <a:ahLst/>
                              <a:cxnLst>
                                <a:cxn ang="0">
                                  <a:pos x="T0" y="T1"/>
                                </a:cxn>
                                <a:cxn ang="0">
                                  <a:pos x="T2" y="T3"/>
                                </a:cxn>
                                <a:cxn ang="0">
                                  <a:pos x="T4" y="T5"/>
                                </a:cxn>
                                <a:cxn ang="0">
                                  <a:pos x="T6" y="T7"/>
                                </a:cxn>
                                <a:cxn ang="0">
                                  <a:pos x="T8" y="T9"/>
                                </a:cxn>
                              </a:cxnLst>
                              <a:rect l="0" t="0" r="r" b="b"/>
                              <a:pathLst>
                                <a:path w="69" h="42">
                                  <a:moveTo>
                                    <a:pt x="37" y="0"/>
                                  </a:moveTo>
                                  <a:lnTo>
                                    <a:pt x="69" y="21"/>
                                  </a:lnTo>
                                  <a:lnTo>
                                    <a:pt x="33" y="42"/>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4" name="Freeform 146"/>
                            <p:cNvSpPr/>
                            <p:nvPr/>
                          </p:nvSpPr>
                          <p:spPr bwMode="auto">
                            <a:xfrm>
                              <a:off x="2612" y="3088"/>
                              <a:ext cx="9" cy="6"/>
                            </a:xfrm>
                            <a:custGeom>
                              <a:avLst/>
                              <a:gdLst>
                                <a:gd name="T0" fmla="*/ 35 w 66"/>
                                <a:gd name="T1" fmla="*/ 0 h 42"/>
                                <a:gd name="T2" fmla="*/ 66 w 66"/>
                                <a:gd name="T3" fmla="*/ 21 h 42"/>
                                <a:gd name="T4" fmla="*/ 30 w 66"/>
                                <a:gd name="T5" fmla="*/ 42 h 42"/>
                                <a:gd name="T6" fmla="*/ 0 w 66"/>
                                <a:gd name="T7" fmla="*/ 22 h 42"/>
                                <a:gd name="T8" fmla="*/ 35 w 66"/>
                                <a:gd name="T9" fmla="*/ 0 h 42"/>
                              </a:gdLst>
                              <a:ahLst/>
                              <a:cxnLst>
                                <a:cxn ang="0">
                                  <a:pos x="T0" y="T1"/>
                                </a:cxn>
                                <a:cxn ang="0">
                                  <a:pos x="T2" y="T3"/>
                                </a:cxn>
                                <a:cxn ang="0">
                                  <a:pos x="T4" y="T5"/>
                                </a:cxn>
                                <a:cxn ang="0">
                                  <a:pos x="T6" y="T7"/>
                                </a:cxn>
                                <a:cxn ang="0">
                                  <a:pos x="T8" y="T9"/>
                                </a:cxn>
                              </a:cxnLst>
                              <a:rect l="0" t="0" r="r" b="b"/>
                              <a:pathLst>
                                <a:path w="66" h="42">
                                  <a:moveTo>
                                    <a:pt x="35" y="0"/>
                                  </a:moveTo>
                                  <a:lnTo>
                                    <a:pt x="66" y="21"/>
                                  </a:lnTo>
                                  <a:lnTo>
                                    <a:pt x="30" y="42"/>
                                  </a:lnTo>
                                  <a:lnTo>
                                    <a:pt x="0" y="22"/>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5" name="Freeform 147"/>
                            <p:cNvSpPr/>
                            <p:nvPr/>
                          </p:nvSpPr>
                          <p:spPr bwMode="auto">
                            <a:xfrm>
                              <a:off x="2617" y="3086"/>
                              <a:ext cx="9" cy="5"/>
                            </a:xfrm>
                            <a:custGeom>
                              <a:avLst/>
                              <a:gdLst>
                                <a:gd name="T0" fmla="*/ 25 w 57"/>
                                <a:gd name="T1" fmla="*/ 0 h 35"/>
                                <a:gd name="T2" fmla="*/ 57 w 57"/>
                                <a:gd name="T3" fmla="*/ 20 h 35"/>
                                <a:gd name="T4" fmla="*/ 29 w 57"/>
                                <a:gd name="T5" fmla="*/ 35 h 35"/>
                                <a:gd name="T6" fmla="*/ 0 w 57"/>
                                <a:gd name="T7" fmla="*/ 16 h 35"/>
                                <a:gd name="T8" fmla="*/ 25 w 57"/>
                                <a:gd name="T9" fmla="*/ 0 h 35"/>
                              </a:gdLst>
                              <a:ahLst/>
                              <a:cxnLst>
                                <a:cxn ang="0">
                                  <a:pos x="T0" y="T1"/>
                                </a:cxn>
                                <a:cxn ang="0">
                                  <a:pos x="T2" y="T3"/>
                                </a:cxn>
                                <a:cxn ang="0">
                                  <a:pos x="T4" y="T5"/>
                                </a:cxn>
                                <a:cxn ang="0">
                                  <a:pos x="T6" y="T7"/>
                                </a:cxn>
                                <a:cxn ang="0">
                                  <a:pos x="T8" y="T9"/>
                                </a:cxn>
                              </a:cxnLst>
                              <a:rect l="0" t="0" r="r" b="b"/>
                              <a:pathLst>
                                <a:path w="57" h="35">
                                  <a:moveTo>
                                    <a:pt x="25" y="0"/>
                                  </a:moveTo>
                                  <a:lnTo>
                                    <a:pt x="57" y="20"/>
                                  </a:lnTo>
                                  <a:lnTo>
                                    <a:pt x="29" y="35"/>
                                  </a:lnTo>
                                  <a:lnTo>
                                    <a:pt x="0" y="16"/>
                                  </a:lnTo>
                                  <a:lnTo>
                                    <a:pt x="2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6" name="Freeform 148"/>
                            <p:cNvSpPr/>
                            <p:nvPr/>
                          </p:nvSpPr>
                          <p:spPr bwMode="auto">
                            <a:xfrm>
                              <a:off x="2593" y="3097"/>
                              <a:ext cx="10" cy="6"/>
                            </a:xfrm>
                            <a:custGeom>
                              <a:avLst/>
                              <a:gdLst>
                                <a:gd name="T0" fmla="*/ 37 w 72"/>
                                <a:gd name="T1" fmla="*/ 0 h 46"/>
                                <a:gd name="T2" fmla="*/ 72 w 72"/>
                                <a:gd name="T3" fmla="*/ 23 h 46"/>
                                <a:gd name="T4" fmla="*/ 36 w 72"/>
                                <a:gd name="T5" fmla="*/ 46 h 46"/>
                                <a:gd name="T6" fmla="*/ 0 w 72"/>
                                <a:gd name="T7" fmla="*/ 22 h 46"/>
                                <a:gd name="T8" fmla="*/ 37 w 72"/>
                                <a:gd name="T9" fmla="*/ 0 h 46"/>
                              </a:gdLst>
                              <a:ahLst/>
                              <a:cxnLst>
                                <a:cxn ang="0">
                                  <a:pos x="T0" y="T1"/>
                                </a:cxn>
                                <a:cxn ang="0">
                                  <a:pos x="T2" y="T3"/>
                                </a:cxn>
                                <a:cxn ang="0">
                                  <a:pos x="T4" y="T5"/>
                                </a:cxn>
                                <a:cxn ang="0">
                                  <a:pos x="T6" y="T7"/>
                                </a:cxn>
                                <a:cxn ang="0">
                                  <a:pos x="T8" y="T9"/>
                                </a:cxn>
                              </a:cxnLst>
                              <a:rect l="0" t="0" r="r" b="b"/>
                              <a:pathLst>
                                <a:path w="72" h="46">
                                  <a:moveTo>
                                    <a:pt x="37" y="0"/>
                                  </a:moveTo>
                                  <a:lnTo>
                                    <a:pt x="72" y="23"/>
                                  </a:lnTo>
                                  <a:lnTo>
                                    <a:pt x="36" y="46"/>
                                  </a:lnTo>
                                  <a:lnTo>
                                    <a:pt x="0" y="22"/>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7" name="Freeform 149"/>
                            <p:cNvSpPr/>
                            <p:nvPr/>
                          </p:nvSpPr>
                          <p:spPr bwMode="auto">
                            <a:xfrm>
                              <a:off x="2588" y="3094"/>
                              <a:ext cx="10" cy="6"/>
                            </a:xfrm>
                            <a:custGeom>
                              <a:avLst/>
                              <a:gdLst>
                                <a:gd name="T0" fmla="*/ 38 w 71"/>
                                <a:gd name="T1" fmla="*/ 0 h 43"/>
                                <a:gd name="T2" fmla="*/ 71 w 71"/>
                                <a:gd name="T3" fmla="*/ 21 h 43"/>
                                <a:gd name="T4" fmla="*/ 35 w 71"/>
                                <a:gd name="T5" fmla="*/ 43 h 43"/>
                                <a:gd name="T6" fmla="*/ 0 w 71"/>
                                <a:gd name="T7" fmla="*/ 21 h 43"/>
                                <a:gd name="T8" fmla="*/ 38 w 71"/>
                                <a:gd name="T9" fmla="*/ 0 h 43"/>
                              </a:gdLst>
                              <a:ahLst/>
                              <a:cxnLst>
                                <a:cxn ang="0">
                                  <a:pos x="T0" y="T1"/>
                                </a:cxn>
                                <a:cxn ang="0">
                                  <a:pos x="T2" y="T3"/>
                                </a:cxn>
                                <a:cxn ang="0">
                                  <a:pos x="T4" y="T5"/>
                                </a:cxn>
                                <a:cxn ang="0">
                                  <a:pos x="T6" y="T7"/>
                                </a:cxn>
                                <a:cxn ang="0">
                                  <a:pos x="T8" y="T9"/>
                                </a:cxn>
                              </a:cxnLst>
                              <a:rect l="0" t="0" r="r" b="b"/>
                              <a:pathLst>
                                <a:path w="71" h="43">
                                  <a:moveTo>
                                    <a:pt x="38" y="0"/>
                                  </a:moveTo>
                                  <a:lnTo>
                                    <a:pt x="71" y="21"/>
                                  </a:lnTo>
                                  <a:lnTo>
                                    <a:pt x="35" y="43"/>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8" name="Freeform 150"/>
                            <p:cNvSpPr/>
                            <p:nvPr/>
                          </p:nvSpPr>
                          <p:spPr bwMode="auto">
                            <a:xfrm>
                              <a:off x="2594" y="3091"/>
                              <a:ext cx="10" cy="6"/>
                            </a:xfrm>
                            <a:custGeom>
                              <a:avLst/>
                              <a:gdLst>
                                <a:gd name="T0" fmla="*/ 37 w 70"/>
                                <a:gd name="T1" fmla="*/ 0 h 43"/>
                                <a:gd name="T2" fmla="*/ 70 w 70"/>
                                <a:gd name="T3" fmla="*/ 21 h 43"/>
                                <a:gd name="T4" fmla="*/ 33 w 70"/>
                                <a:gd name="T5" fmla="*/ 43 h 43"/>
                                <a:gd name="T6" fmla="*/ 0 w 70"/>
                                <a:gd name="T7" fmla="*/ 21 h 43"/>
                                <a:gd name="T8" fmla="*/ 37 w 70"/>
                                <a:gd name="T9" fmla="*/ 0 h 43"/>
                              </a:gdLst>
                              <a:ahLst/>
                              <a:cxnLst>
                                <a:cxn ang="0">
                                  <a:pos x="T0" y="T1"/>
                                </a:cxn>
                                <a:cxn ang="0">
                                  <a:pos x="T2" y="T3"/>
                                </a:cxn>
                                <a:cxn ang="0">
                                  <a:pos x="T4" y="T5"/>
                                </a:cxn>
                                <a:cxn ang="0">
                                  <a:pos x="T6" y="T7"/>
                                </a:cxn>
                                <a:cxn ang="0">
                                  <a:pos x="T8" y="T9"/>
                                </a:cxn>
                              </a:cxnLst>
                              <a:rect l="0" t="0" r="r" b="b"/>
                              <a:pathLst>
                                <a:path w="70" h="43">
                                  <a:moveTo>
                                    <a:pt x="37" y="0"/>
                                  </a:moveTo>
                                  <a:lnTo>
                                    <a:pt x="70" y="21"/>
                                  </a:lnTo>
                                  <a:lnTo>
                                    <a:pt x="33" y="43"/>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199" name="Freeform 151"/>
                            <p:cNvSpPr/>
                            <p:nvPr/>
                          </p:nvSpPr>
                          <p:spPr bwMode="auto">
                            <a:xfrm>
                              <a:off x="2601" y="3089"/>
                              <a:ext cx="9" cy="5"/>
                            </a:xfrm>
                            <a:custGeom>
                              <a:avLst/>
                              <a:gdLst>
                                <a:gd name="T0" fmla="*/ 34 w 67"/>
                                <a:gd name="T1" fmla="*/ 0 h 43"/>
                                <a:gd name="T2" fmla="*/ 67 w 67"/>
                                <a:gd name="T3" fmla="*/ 20 h 43"/>
                                <a:gd name="T4" fmla="*/ 32 w 67"/>
                                <a:gd name="T5" fmla="*/ 43 h 43"/>
                                <a:gd name="T6" fmla="*/ 0 w 67"/>
                                <a:gd name="T7" fmla="*/ 21 h 43"/>
                                <a:gd name="T8" fmla="*/ 34 w 67"/>
                                <a:gd name="T9" fmla="*/ 0 h 43"/>
                              </a:gdLst>
                              <a:ahLst/>
                              <a:cxnLst>
                                <a:cxn ang="0">
                                  <a:pos x="T0" y="T1"/>
                                </a:cxn>
                                <a:cxn ang="0">
                                  <a:pos x="T2" y="T3"/>
                                </a:cxn>
                                <a:cxn ang="0">
                                  <a:pos x="T4" y="T5"/>
                                </a:cxn>
                                <a:cxn ang="0">
                                  <a:pos x="T6" y="T7"/>
                                </a:cxn>
                                <a:cxn ang="0">
                                  <a:pos x="T8" y="T9"/>
                                </a:cxn>
                              </a:cxnLst>
                              <a:rect l="0" t="0" r="r" b="b"/>
                              <a:pathLst>
                                <a:path w="67" h="43">
                                  <a:moveTo>
                                    <a:pt x="34" y="0"/>
                                  </a:moveTo>
                                  <a:lnTo>
                                    <a:pt x="67" y="20"/>
                                  </a:lnTo>
                                  <a:lnTo>
                                    <a:pt x="32" y="43"/>
                                  </a:lnTo>
                                  <a:lnTo>
                                    <a:pt x="0" y="21"/>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0" name="Freeform 152"/>
                            <p:cNvSpPr/>
                            <p:nvPr/>
                          </p:nvSpPr>
                          <p:spPr bwMode="auto">
                            <a:xfrm>
                              <a:off x="2607" y="3086"/>
                              <a:ext cx="9" cy="5"/>
                            </a:xfrm>
                            <a:custGeom>
                              <a:avLst/>
                              <a:gdLst>
                                <a:gd name="T0" fmla="*/ 38 w 68"/>
                                <a:gd name="T1" fmla="*/ 0 h 43"/>
                                <a:gd name="T2" fmla="*/ 68 w 68"/>
                                <a:gd name="T3" fmla="*/ 20 h 43"/>
                                <a:gd name="T4" fmla="*/ 33 w 68"/>
                                <a:gd name="T5" fmla="*/ 43 h 43"/>
                                <a:gd name="T6" fmla="*/ 0 w 68"/>
                                <a:gd name="T7" fmla="*/ 22 h 43"/>
                                <a:gd name="T8" fmla="*/ 38 w 68"/>
                                <a:gd name="T9" fmla="*/ 0 h 43"/>
                              </a:gdLst>
                              <a:ahLst/>
                              <a:cxnLst>
                                <a:cxn ang="0">
                                  <a:pos x="T0" y="T1"/>
                                </a:cxn>
                                <a:cxn ang="0">
                                  <a:pos x="T2" y="T3"/>
                                </a:cxn>
                                <a:cxn ang="0">
                                  <a:pos x="T4" y="T5"/>
                                </a:cxn>
                                <a:cxn ang="0">
                                  <a:pos x="T6" y="T7"/>
                                </a:cxn>
                                <a:cxn ang="0">
                                  <a:pos x="T8" y="T9"/>
                                </a:cxn>
                              </a:cxnLst>
                              <a:rect l="0" t="0" r="r" b="b"/>
                              <a:pathLst>
                                <a:path w="68" h="43">
                                  <a:moveTo>
                                    <a:pt x="38" y="0"/>
                                  </a:moveTo>
                                  <a:lnTo>
                                    <a:pt x="68" y="20"/>
                                  </a:lnTo>
                                  <a:lnTo>
                                    <a:pt x="33" y="43"/>
                                  </a:lnTo>
                                  <a:lnTo>
                                    <a:pt x="0" y="22"/>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1" name="Freeform 153"/>
                            <p:cNvSpPr/>
                            <p:nvPr/>
                          </p:nvSpPr>
                          <p:spPr bwMode="auto">
                            <a:xfrm>
                              <a:off x="2612" y="3084"/>
                              <a:ext cx="9" cy="5"/>
                            </a:xfrm>
                            <a:custGeom>
                              <a:avLst/>
                              <a:gdLst>
                                <a:gd name="T0" fmla="*/ 27 w 57"/>
                                <a:gd name="T1" fmla="*/ 0 h 36"/>
                                <a:gd name="T2" fmla="*/ 57 w 57"/>
                                <a:gd name="T3" fmla="*/ 19 h 36"/>
                                <a:gd name="T4" fmla="*/ 31 w 57"/>
                                <a:gd name="T5" fmla="*/ 36 h 36"/>
                                <a:gd name="T6" fmla="*/ 0 w 57"/>
                                <a:gd name="T7" fmla="*/ 16 h 36"/>
                                <a:gd name="T8" fmla="*/ 27 w 57"/>
                                <a:gd name="T9" fmla="*/ 0 h 36"/>
                              </a:gdLst>
                              <a:ahLst/>
                              <a:cxnLst>
                                <a:cxn ang="0">
                                  <a:pos x="T0" y="T1"/>
                                </a:cxn>
                                <a:cxn ang="0">
                                  <a:pos x="T2" y="T3"/>
                                </a:cxn>
                                <a:cxn ang="0">
                                  <a:pos x="T4" y="T5"/>
                                </a:cxn>
                                <a:cxn ang="0">
                                  <a:pos x="T6" y="T7"/>
                                </a:cxn>
                                <a:cxn ang="0">
                                  <a:pos x="T8" y="T9"/>
                                </a:cxn>
                              </a:cxnLst>
                              <a:rect l="0" t="0" r="r" b="b"/>
                              <a:pathLst>
                                <a:path w="57" h="36">
                                  <a:moveTo>
                                    <a:pt x="27" y="0"/>
                                  </a:moveTo>
                                  <a:lnTo>
                                    <a:pt x="57" y="19"/>
                                  </a:lnTo>
                                  <a:lnTo>
                                    <a:pt x="31" y="36"/>
                                  </a:lnTo>
                                  <a:lnTo>
                                    <a:pt x="0" y="16"/>
                                  </a:lnTo>
                                  <a:lnTo>
                                    <a:pt x="2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2" name="Freeform 154"/>
                            <p:cNvSpPr/>
                            <p:nvPr/>
                          </p:nvSpPr>
                          <p:spPr bwMode="auto">
                            <a:xfrm>
                              <a:off x="2590" y="3089"/>
                              <a:ext cx="9" cy="5"/>
                            </a:xfrm>
                            <a:custGeom>
                              <a:avLst/>
                              <a:gdLst>
                                <a:gd name="T0" fmla="*/ 35 w 69"/>
                                <a:gd name="T1" fmla="*/ 0 h 44"/>
                                <a:gd name="T2" fmla="*/ 69 w 69"/>
                                <a:gd name="T3" fmla="*/ 23 h 44"/>
                                <a:gd name="T4" fmla="*/ 33 w 69"/>
                                <a:gd name="T5" fmla="*/ 44 h 44"/>
                                <a:gd name="T6" fmla="*/ 0 w 69"/>
                                <a:gd name="T7" fmla="*/ 21 h 44"/>
                                <a:gd name="T8" fmla="*/ 35 w 69"/>
                                <a:gd name="T9" fmla="*/ 0 h 44"/>
                              </a:gdLst>
                              <a:ahLst/>
                              <a:cxnLst>
                                <a:cxn ang="0">
                                  <a:pos x="T0" y="T1"/>
                                </a:cxn>
                                <a:cxn ang="0">
                                  <a:pos x="T2" y="T3"/>
                                </a:cxn>
                                <a:cxn ang="0">
                                  <a:pos x="T4" y="T5"/>
                                </a:cxn>
                                <a:cxn ang="0">
                                  <a:pos x="T6" y="T7"/>
                                </a:cxn>
                                <a:cxn ang="0">
                                  <a:pos x="T8" y="T9"/>
                                </a:cxn>
                              </a:cxnLst>
                              <a:rect l="0" t="0" r="r" b="b"/>
                              <a:pathLst>
                                <a:path w="69" h="44">
                                  <a:moveTo>
                                    <a:pt x="35" y="0"/>
                                  </a:moveTo>
                                  <a:lnTo>
                                    <a:pt x="69" y="23"/>
                                  </a:lnTo>
                                  <a:lnTo>
                                    <a:pt x="33" y="44"/>
                                  </a:lnTo>
                                  <a:lnTo>
                                    <a:pt x="0" y="21"/>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3" name="Freeform 155"/>
                            <p:cNvSpPr/>
                            <p:nvPr/>
                          </p:nvSpPr>
                          <p:spPr bwMode="auto">
                            <a:xfrm>
                              <a:off x="2596" y="3086"/>
                              <a:ext cx="10" cy="6"/>
                            </a:xfrm>
                            <a:custGeom>
                              <a:avLst/>
                              <a:gdLst>
                                <a:gd name="T0" fmla="*/ 37 w 70"/>
                                <a:gd name="T1" fmla="*/ 0 h 42"/>
                                <a:gd name="T2" fmla="*/ 70 w 70"/>
                                <a:gd name="T3" fmla="*/ 20 h 42"/>
                                <a:gd name="T4" fmla="*/ 34 w 70"/>
                                <a:gd name="T5" fmla="*/ 42 h 42"/>
                                <a:gd name="T6" fmla="*/ 0 w 70"/>
                                <a:gd name="T7" fmla="*/ 20 h 42"/>
                                <a:gd name="T8" fmla="*/ 37 w 70"/>
                                <a:gd name="T9" fmla="*/ 0 h 42"/>
                              </a:gdLst>
                              <a:ahLst/>
                              <a:cxnLst>
                                <a:cxn ang="0">
                                  <a:pos x="T0" y="T1"/>
                                </a:cxn>
                                <a:cxn ang="0">
                                  <a:pos x="T2" y="T3"/>
                                </a:cxn>
                                <a:cxn ang="0">
                                  <a:pos x="T4" y="T5"/>
                                </a:cxn>
                                <a:cxn ang="0">
                                  <a:pos x="T6" y="T7"/>
                                </a:cxn>
                                <a:cxn ang="0">
                                  <a:pos x="T8" y="T9"/>
                                </a:cxn>
                              </a:cxnLst>
                              <a:rect l="0" t="0" r="r" b="b"/>
                              <a:pathLst>
                                <a:path w="70" h="42">
                                  <a:moveTo>
                                    <a:pt x="37" y="0"/>
                                  </a:moveTo>
                                  <a:lnTo>
                                    <a:pt x="70" y="20"/>
                                  </a:lnTo>
                                  <a:lnTo>
                                    <a:pt x="34" y="42"/>
                                  </a:lnTo>
                                  <a:lnTo>
                                    <a:pt x="0" y="20"/>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4" name="Freeform 156"/>
                            <p:cNvSpPr/>
                            <p:nvPr/>
                          </p:nvSpPr>
                          <p:spPr bwMode="auto">
                            <a:xfrm>
                              <a:off x="2602" y="3084"/>
                              <a:ext cx="10" cy="5"/>
                            </a:xfrm>
                            <a:custGeom>
                              <a:avLst/>
                              <a:gdLst>
                                <a:gd name="T0" fmla="*/ 36 w 68"/>
                                <a:gd name="T1" fmla="*/ 0 h 41"/>
                                <a:gd name="T2" fmla="*/ 68 w 68"/>
                                <a:gd name="T3" fmla="*/ 19 h 41"/>
                                <a:gd name="T4" fmla="*/ 32 w 68"/>
                                <a:gd name="T5" fmla="*/ 41 h 41"/>
                                <a:gd name="T6" fmla="*/ 0 w 68"/>
                                <a:gd name="T7" fmla="*/ 21 h 41"/>
                                <a:gd name="T8" fmla="*/ 36 w 68"/>
                                <a:gd name="T9" fmla="*/ 0 h 41"/>
                              </a:gdLst>
                              <a:ahLst/>
                              <a:cxnLst>
                                <a:cxn ang="0">
                                  <a:pos x="T0" y="T1"/>
                                </a:cxn>
                                <a:cxn ang="0">
                                  <a:pos x="T2" y="T3"/>
                                </a:cxn>
                                <a:cxn ang="0">
                                  <a:pos x="T4" y="T5"/>
                                </a:cxn>
                                <a:cxn ang="0">
                                  <a:pos x="T6" y="T7"/>
                                </a:cxn>
                                <a:cxn ang="0">
                                  <a:pos x="T8" y="T9"/>
                                </a:cxn>
                              </a:cxnLst>
                              <a:rect l="0" t="0" r="r" b="b"/>
                              <a:pathLst>
                                <a:path w="68" h="41">
                                  <a:moveTo>
                                    <a:pt x="36" y="0"/>
                                  </a:moveTo>
                                  <a:lnTo>
                                    <a:pt x="68" y="19"/>
                                  </a:lnTo>
                                  <a:lnTo>
                                    <a:pt x="32" y="41"/>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5" name="Freeform 157"/>
                            <p:cNvSpPr/>
                            <p:nvPr/>
                          </p:nvSpPr>
                          <p:spPr bwMode="auto">
                            <a:xfrm>
                              <a:off x="2608" y="3082"/>
                              <a:ext cx="8" cy="4"/>
                            </a:xfrm>
                            <a:custGeom>
                              <a:avLst/>
                              <a:gdLst>
                                <a:gd name="T0" fmla="*/ 27 w 57"/>
                                <a:gd name="T1" fmla="*/ 0 h 36"/>
                                <a:gd name="T2" fmla="*/ 57 w 57"/>
                                <a:gd name="T3" fmla="*/ 21 h 36"/>
                                <a:gd name="T4" fmla="*/ 33 w 57"/>
                                <a:gd name="T5" fmla="*/ 36 h 36"/>
                                <a:gd name="T6" fmla="*/ 0 w 57"/>
                                <a:gd name="T7" fmla="*/ 15 h 36"/>
                                <a:gd name="T8" fmla="*/ 27 w 57"/>
                                <a:gd name="T9" fmla="*/ 0 h 36"/>
                              </a:gdLst>
                              <a:ahLst/>
                              <a:cxnLst>
                                <a:cxn ang="0">
                                  <a:pos x="T0" y="T1"/>
                                </a:cxn>
                                <a:cxn ang="0">
                                  <a:pos x="T2" y="T3"/>
                                </a:cxn>
                                <a:cxn ang="0">
                                  <a:pos x="T4" y="T5"/>
                                </a:cxn>
                                <a:cxn ang="0">
                                  <a:pos x="T6" y="T7"/>
                                </a:cxn>
                                <a:cxn ang="0">
                                  <a:pos x="T8" y="T9"/>
                                </a:cxn>
                              </a:cxnLst>
                              <a:rect l="0" t="0" r="r" b="b"/>
                              <a:pathLst>
                                <a:path w="57" h="36">
                                  <a:moveTo>
                                    <a:pt x="27" y="0"/>
                                  </a:moveTo>
                                  <a:lnTo>
                                    <a:pt x="57" y="21"/>
                                  </a:lnTo>
                                  <a:lnTo>
                                    <a:pt x="33" y="36"/>
                                  </a:lnTo>
                                  <a:lnTo>
                                    <a:pt x="0" y="15"/>
                                  </a:lnTo>
                                  <a:lnTo>
                                    <a:pt x="2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6" name="Freeform 158"/>
                            <p:cNvSpPr/>
                            <p:nvPr/>
                          </p:nvSpPr>
                          <p:spPr bwMode="auto">
                            <a:xfrm>
                              <a:off x="2583" y="3092"/>
                              <a:ext cx="10" cy="5"/>
                            </a:xfrm>
                            <a:custGeom>
                              <a:avLst/>
                              <a:gdLst>
                                <a:gd name="T0" fmla="*/ 38 w 73"/>
                                <a:gd name="T1" fmla="*/ 0 h 44"/>
                                <a:gd name="T2" fmla="*/ 73 w 73"/>
                                <a:gd name="T3" fmla="*/ 23 h 44"/>
                                <a:gd name="T4" fmla="*/ 37 w 73"/>
                                <a:gd name="T5" fmla="*/ 44 h 44"/>
                                <a:gd name="T6" fmla="*/ 0 w 73"/>
                                <a:gd name="T7" fmla="*/ 22 h 44"/>
                                <a:gd name="T8" fmla="*/ 38 w 73"/>
                                <a:gd name="T9" fmla="*/ 0 h 44"/>
                              </a:gdLst>
                              <a:ahLst/>
                              <a:cxnLst>
                                <a:cxn ang="0">
                                  <a:pos x="T0" y="T1"/>
                                </a:cxn>
                                <a:cxn ang="0">
                                  <a:pos x="T2" y="T3"/>
                                </a:cxn>
                                <a:cxn ang="0">
                                  <a:pos x="T4" y="T5"/>
                                </a:cxn>
                                <a:cxn ang="0">
                                  <a:pos x="T6" y="T7"/>
                                </a:cxn>
                                <a:cxn ang="0">
                                  <a:pos x="T8" y="T9"/>
                                </a:cxn>
                              </a:cxnLst>
                              <a:rect l="0" t="0" r="r" b="b"/>
                              <a:pathLst>
                                <a:path w="73" h="44">
                                  <a:moveTo>
                                    <a:pt x="38" y="0"/>
                                  </a:moveTo>
                                  <a:lnTo>
                                    <a:pt x="73" y="23"/>
                                  </a:lnTo>
                                  <a:lnTo>
                                    <a:pt x="37" y="44"/>
                                  </a:lnTo>
                                  <a:lnTo>
                                    <a:pt x="0" y="22"/>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7" name="Freeform 159"/>
                            <p:cNvSpPr/>
                            <p:nvPr/>
                          </p:nvSpPr>
                          <p:spPr bwMode="auto">
                            <a:xfrm>
                              <a:off x="2578" y="3089"/>
                              <a:ext cx="10" cy="5"/>
                            </a:xfrm>
                            <a:custGeom>
                              <a:avLst/>
                              <a:gdLst>
                                <a:gd name="T0" fmla="*/ 36 w 68"/>
                                <a:gd name="T1" fmla="*/ 0 h 43"/>
                                <a:gd name="T2" fmla="*/ 68 w 68"/>
                                <a:gd name="T3" fmla="*/ 22 h 43"/>
                                <a:gd name="T4" fmla="*/ 31 w 68"/>
                                <a:gd name="T5" fmla="*/ 43 h 43"/>
                                <a:gd name="T6" fmla="*/ 0 w 68"/>
                                <a:gd name="T7" fmla="*/ 23 h 43"/>
                                <a:gd name="T8" fmla="*/ 36 w 68"/>
                                <a:gd name="T9" fmla="*/ 0 h 43"/>
                              </a:gdLst>
                              <a:ahLst/>
                              <a:cxnLst>
                                <a:cxn ang="0">
                                  <a:pos x="T0" y="T1"/>
                                </a:cxn>
                                <a:cxn ang="0">
                                  <a:pos x="T2" y="T3"/>
                                </a:cxn>
                                <a:cxn ang="0">
                                  <a:pos x="T4" y="T5"/>
                                </a:cxn>
                                <a:cxn ang="0">
                                  <a:pos x="T6" y="T7"/>
                                </a:cxn>
                                <a:cxn ang="0">
                                  <a:pos x="T8" y="T9"/>
                                </a:cxn>
                              </a:cxnLst>
                              <a:rect l="0" t="0" r="r" b="b"/>
                              <a:pathLst>
                                <a:path w="68" h="43">
                                  <a:moveTo>
                                    <a:pt x="36" y="0"/>
                                  </a:moveTo>
                                  <a:lnTo>
                                    <a:pt x="68" y="22"/>
                                  </a:lnTo>
                                  <a:lnTo>
                                    <a:pt x="31" y="43"/>
                                  </a:lnTo>
                                  <a:lnTo>
                                    <a:pt x="0" y="23"/>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8" name="Freeform 160"/>
                            <p:cNvSpPr/>
                            <p:nvPr/>
                          </p:nvSpPr>
                          <p:spPr bwMode="auto">
                            <a:xfrm>
                              <a:off x="2584" y="3086"/>
                              <a:ext cx="10" cy="6"/>
                            </a:xfrm>
                            <a:custGeom>
                              <a:avLst/>
                              <a:gdLst>
                                <a:gd name="T0" fmla="*/ 37 w 70"/>
                                <a:gd name="T1" fmla="*/ 0 h 43"/>
                                <a:gd name="T2" fmla="*/ 70 w 70"/>
                                <a:gd name="T3" fmla="*/ 20 h 43"/>
                                <a:gd name="T4" fmla="*/ 33 w 70"/>
                                <a:gd name="T5" fmla="*/ 43 h 43"/>
                                <a:gd name="T6" fmla="*/ 0 w 70"/>
                                <a:gd name="T7" fmla="*/ 20 h 43"/>
                                <a:gd name="T8" fmla="*/ 37 w 70"/>
                                <a:gd name="T9" fmla="*/ 0 h 43"/>
                              </a:gdLst>
                              <a:ahLst/>
                              <a:cxnLst>
                                <a:cxn ang="0">
                                  <a:pos x="T0" y="T1"/>
                                </a:cxn>
                                <a:cxn ang="0">
                                  <a:pos x="T2" y="T3"/>
                                </a:cxn>
                                <a:cxn ang="0">
                                  <a:pos x="T4" y="T5"/>
                                </a:cxn>
                                <a:cxn ang="0">
                                  <a:pos x="T6" y="T7"/>
                                </a:cxn>
                                <a:cxn ang="0">
                                  <a:pos x="T8" y="T9"/>
                                </a:cxn>
                              </a:cxnLst>
                              <a:rect l="0" t="0" r="r" b="b"/>
                              <a:pathLst>
                                <a:path w="70" h="43">
                                  <a:moveTo>
                                    <a:pt x="37" y="0"/>
                                  </a:moveTo>
                                  <a:lnTo>
                                    <a:pt x="70" y="20"/>
                                  </a:lnTo>
                                  <a:lnTo>
                                    <a:pt x="33" y="43"/>
                                  </a:lnTo>
                                  <a:lnTo>
                                    <a:pt x="0" y="20"/>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09" name="Freeform 161"/>
                            <p:cNvSpPr/>
                            <p:nvPr/>
                          </p:nvSpPr>
                          <p:spPr bwMode="auto">
                            <a:xfrm>
                              <a:off x="2591" y="3084"/>
                              <a:ext cx="10" cy="5"/>
                            </a:xfrm>
                            <a:custGeom>
                              <a:avLst/>
                              <a:gdLst>
                                <a:gd name="T0" fmla="*/ 34 w 68"/>
                                <a:gd name="T1" fmla="*/ 0 h 42"/>
                                <a:gd name="T2" fmla="*/ 68 w 68"/>
                                <a:gd name="T3" fmla="*/ 20 h 42"/>
                                <a:gd name="T4" fmla="*/ 32 w 68"/>
                                <a:gd name="T5" fmla="*/ 42 h 42"/>
                                <a:gd name="T6" fmla="*/ 0 w 68"/>
                                <a:gd name="T7" fmla="*/ 21 h 42"/>
                                <a:gd name="T8" fmla="*/ 34 w 68"/>
                                <a:gd name="T9" fmla="*/ 0 h 42"/>
                              </a:gdLst>
                              <a:ahLst/>
                              <a:cxnLst>
                                <a:cxn ang="0">
                                  <a:pos x="T0" y="T1"/>
                                </a:cxn>
                                <a:cxn ang="0">
                                  <a:pos x="T2" y="T3"/>
                                </a:cxn>
                                <a:cxn ang="0">
                                  <a:pos x="T4" y="T5"/>
                                </a:cxn>
                                <a:cxn ang="0">
                                  <a:pos x="T6" y="T7"/>
                                </a:cxn>
                                <a:cxn ang="0">
                                  <a:pos x="T8" y="T9"/>
                                </a:cxn>
                              </a:cxnLst>
                              <a:rect l="0" t="0" r="r" b="b"/>
                              <a:pathLst>
                                <a:path w="68" h="42">
                                  <a:moveTo>
                                    <a:pt x="34" y="0"/>
                                  </a:moveTo>
                                  <a:lnTo>
                                    <a:pt x="68" y="20"/>
                                  </a:lnTo>
                                  <a:lnTo>
                                    <a:pt x="32" y="42"/>
                                  </a:lnTo>
                                  <a:lnTo>
                                    <a:pt x="0" y="21"/>
                                  </a:lnTo>
                                  <a:lnTo>
                                    <a:pt x="3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0" name="Freeform 162"/>
                            <p:cNvSpPr/>
                            <p:nvPr/>
                          </p:nvSpPr>
                          <p:spPr bwMode="auto">
                            <a:xfrm>
                              <a:off x="2597" y="3081"/>
                              <a:ext cx="10" cy="6"/>
                            </a:xfrm>
                            <a:custGeom>
                              <a:avLst/>
                              <a:gdLst>
                                <a:gd name="T0" fmla="*/ 38 w 68"/>
                                <a:gd name="T1" fmla="*/ 0 h 42"/>
                                <a:gd name="T2" fmla="*/ 68 w 68"/>
                                <a:gd name="T3" fmla="*/ 19 h 42"/>
                                <a:gd name="T4" fmla="*/ 33 w 68"/>
                                <a:gd name="T5" fmla="*/ 42 h 42"/>
                                <a:gd name="T6" fmla="*/ 0 w 68"/>
                                <a:gd name="T7" fmla="*/ 21 h 42"/>
                                <a:gd name="T8" fmla="*/ 38 w 68"/>
                                <a:gd name="T9" fmla="*/ 0 h 42"/>
                              </a:gdLst>
                              <a:ahLst/>
                              <a:cxnLst>
                                <a:cxn ang="0">
                                  <a:pos x="T0" y="T1"/>
                                </a:cxn>
                                <a:cxn ang="0">
                                  <a:pos x="T2" y="T3"/>
                                </a:cxn>
                                <a:cxn ang="0">
                                  <a:pos x="T4" y="T5"/>
                                </a:cxn>
                                <a:cxn ang="0">
                                  <a:pos x="T6" y="T7"/>
                                </a:cxn>
                                <a:cxn ang="0">
                                  <a:pos x="T8" y="T9"/>
                                </a:cxn>
                              </a:cxnLst>
                              <a:rect l="0" t="0" r="r" b="b"/>
                              <a:pathLst>
                                <a:path w="68" h="42">
                                  <a:moveTo>
                                    <a:pt x="38" y="0"/>
                                  </a:moveTo>
                                  <a:lnTo>
                                    <a:pt x="68" y="19"/>
                                  </a:lnTo>
                                  <a:lnTo>
                                    <a:pt x="33" y="42"/>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1" name="Freeform 163"/>
                            <p:cNvSpPr/>
                            <p:nvPr/>
                          </p:nvSpPr>
                          <p:spPr bwMode="auto">
                            <a:xfrm>
                              <a:off x="2603" y="3080"/>
                              <a:ext cx="8" cy="4"/>
                            </a:xfrm>
                            <a:custGeom>
                              <a:avLst/>
                              <a:gdLst>
                                <a:gd name="T0" fmla="*/ 25 w 57"/>
                                <a:gd name="T1" fmla="*/ 0 h 34"/>
                                <a:gd name="T2" fmla="*/ 57 w 57"/>
                                <a:gd name="T3" fmla="*/ 18 h 34"/>
                                <a:gd name="T4" fmla="*/ 29 w 57"/>
                                <a:gd name="T5" fmla="*/ 34 h 34"/>
                                <a:gd name="T6" fmla="*/ 0 w 57"/>
                                <a:gd name="T7" fmla="*/ 15 h 34"/>
                                <a:gd name="T8" fmla="*/ 25 w 57"/>
                                <a:gd name="T9" fmla="*/ 0 h 34"/>
                              </a:gdLst>
                              <a:ahLst/>
                              <a:cxnLst>
                                <a:cxn ang="0">
                                  <a:pos x="T0" y="T1"/>
                                </a:cxn>
                                <a:cxn ang="0">
                                  <a:pos x="T2" y="T3"/>
                                </a:cxn>
                                <a:cxn ang="0">
                                  <a:pos x="T4" y="T5"/>
                                </a:cxn>
                                <a:cxn ang="0">
                                  <a:pos x="T6" y="T7"/>
                                </a:cxn>
                                <a:cxn ang="0">
                                  <a:pos x="T8" y="T9"/>
                                </a:cxn>
                              </a:cxnLst>
                              <a:rect l="0" t="0" r="r" b="b"/>
                              <a:pathLst>
                                <a:path w="57" h="34">
                                  <a:moveTo>
                                    <a:pt x="25" y="0"/>
                                  </a:moveTo>
                                  <a:lnTo>
                                    <a:pt x="57" y="18"/>
                                  </a:lnTo>
                                  <a:lnTo>
                                    <a:pt x="29" y="34"/>
                                  </a:lnTo>
                                  <a:lnTo>
                                    <a:pt x="0" y="15"/>
                                  </a:lnTo>
                                  <a:lnTo>
                                    <a:pt x="2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2" name="Freeform 164"/>
                            <p:cNvSpPr/>
                            <p:nvPr/>
                          </p:nvSpPr>
                          <p:spPr bwMode="auto">
                            <a:xfrm>
                              <a:off x="2580" y="3084"/>
                              <a:ext cx="9" cy="5"/>
                            </a:xfrm>
                            <a:custGeom>
                              <a:avLst/>
                              <a:gdLst>
                                <a:gd name="T0" fmla="*/ 36 w 67"/>
                                <a:gd name="T1" fmla="*/ 0 h 41"/>
                                <a:gd name="T2" fmla="*/ 67 w 67"/>
                                <a:gd name="T3" fmla="*/ 19 h 41"/>
                                <a:gd name="T4" fmla="*/ 32 w 67"/>
                                <a:gd name="T5" fmla="*/ 41 h 41"/>
                                <a:gd name="T6" fmla="*/ 0 w 67"/>
                                <a:gd name="T7" fmla="*/ 21 h 41"/>
                                <a:gd name="T8" fmla="*/ 36 w 67"/>
                                <a:gd name="T9" fmla="*/ 0 h 41"/>
                              </a:gdLst>
                              <a:ahLst/>
                              <a:cxnLst>
                                <a:cxn ang="0">
                                  <a:pos x="T0" y="T1"/>
                                </a:cxn>
                                <a:cxn ang="0">
                                  <a:pos x="T2" y="T3"/>
                                </a:cxn>
                                <a:cxn ang="0">
                                  <a:pos x="T4" y="T5"/>
                                </a:cxn>
                                <a:cxn ang="0">
                                  <a:pos x="T6" y="T7"/>
                                </a:cxn>
                                <a:cxn ang="0">
                                  <a:pos x="T8" y="T9"/>
                                </a:cxn>
                              </a:cxnLst>
                              <a:rect l="0" t="0" r="r" b="b"/>
                              <a:pathLst>
                                <a:path w="67" h="41">
                                  <a:moveTo>
                                    <a:pt x="36" y="0"/>
                                  </a:moveTo>
                                  <a:lnTo>
                                    <a:pt x="67" y="19"/>
                                  </a:lnTo>
                                  <a:lnTo>
                                    <a:pt x="32" y="41"/>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3" name="Freeform 165"/>
                            <p:cNvSpPr/>
                            <p:nvPr/>
                          </p:nvSpPr>
                          <p:spPr bwMode="auto">
                            <a:xfrm>
                              <a:off x="2586" y="3082"/>
                              <a:ext cx="10" cy="5"/>
                            </a:xfrm>
                            <a:custGeom>
                              <a:avLst/>
                              <a:gdLst>
                                <a:gd name="T0" fmla="*/ 37 w 67"/>
                                <a:gd name="T1" fmla="*/ 0 h 41"/>
                                <a:gd name="T2" fmla="*/ 67 w 67"/>
                                <a:gd name="T3" fmla="*/ 19 h 41"/>
                                <a:gd name="T4" fmla="*/ 29 w 67"/>
                                <a:gd name="T5" fmla="*/ 41 h 41"/>
                                <a:gd name="T6" fmla="*/ 0 w 67"/>
                                <a:gd name="T7" fmla="*/ 21 h 41"/>
                                <a:gd name="T8" fmla="*/ 37 w 67"/>
                                <a:gd name="T9" fmla="*/ 0 h 41"/>
                              </a:gdLst>
                              <a:ahLst/>
                              <a:cxnLst>
                                <a:cxn ang="0">
                                  <a:pos x="T0" y="T1"/>
                                </a:cxn>
                                <a:cxn ang="0">
                                  <a:pos x="T2" y="T3"/>
                                </a:cxn>
                                <a:cxn ang="0">
                                  <a:pos x="T4" y="T5"/>
                                </a:cxn>
                                <a:cxn ang="0">
                                  <a:pos x="T6" y="T7"/>
                                </a:cxn>
                                <a:cxn ang="0">
                                  <a:pos x="T8" y="T9"/>
                                </a:cxn>
                              </a:cxnLst>
                              <a:rect l="0" t="0" r="r" b="b"/>
                              <a:pathLst>
                                <a:path w="67" h="41">
                                  <a:moveTo>
                                    <a:pt x="37" y="0"/>
                                  </a:moveTo>
                                  <a:lnTo>
                                    <a:pt x="67" y="19"/>
                                  </a:lnTo>
                                  <a:lnTo>
                                    <a:pt x="29" y="41"/>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4" name="Freeform 166"/>
                            <p:cNvSpPr/>
                            <p:nvPr/>
                          </p:nvSpPr>
                          <p:spPr bwMode="auto">
                            <a:xfrm>
                              <a:off x="2592" y="3079"/>
                              <a:ext cx="10" cy="5"/>
                            </a:xfrm>
                            <a:custGeom>
                              <a:avLst/>
                              <a:gdLst>
                                <a:gd name="T0" fmla="*/ 37 w 69"/>
                                <a:gd name="T1" fmla="*/ 0 h 40"/>
                                <a:gd name="T2" fmla="*/ 69 w 69"/>
                                <a:gd name="T3" fmla="*/ 19 h 40"/>
                                <a:gd name="T4" fmla="*/ 32 w 69"/>
                                <a:gd name="T5" fmla="*/ 40 h 40"/>
                                <a:gd name="T6" fmla="*/ 0 w 69"/>
                                <a:gd name="T7" fmla="*/ 21 h 40"/>
                                <a:gd name="T8" fmla="*/ 37 w 69"/>
                                <a:gd name="T9" fmla="*/ 0 h 40"/>
                              </a:gdLst>
                              <a:ahLst/>
                              <a:cxnLst>
                                <a:cxn ang="0">
                                  <a:pos x="T0" y="T1"/>
                                </a:cxn>
                                <a:cxn ang="0">
                                  <a:pos x="T2" y="T3"/>
                                </a:cxn>
                                <a:cxn ang="0">
                                  <a:pos x="T4" y="T5"/>
                                </a:cxn>
                                <a:cxn ang="0">
                                  <a:pos x="T6" y="T7"/>
                                </a:cxn>
                                <a:cxn ang="0">
                                  <a:pos x="T8" y="T9"/>
                                </a:cxn>
                              </a:cxnLst>
                              <a:rect l="0" t="0" r="r" b="b"/>
                              <a:pathLst>
                                <a:path w="69" h="40">
                                  <a:moveTo>
                                    <a:pt x="37" y="0"/>
                                  </a:moveTo>
                                  <a:lnTo>
                                    <a:pt x="69" y="19"/>
                                  </a:lnTo>
                                  <a:lnTo>
                                    <a:pt x="32" y="40"/>
                                  </a:lnTo>
                                  <a:lnTo>
                                    <a:pt x="0" y="21"/>
                                  </a:lnTo>
                                  <a:lnTo>
                                    <a:pt x="3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5" name="Freeform 167"/>
                            <p:cNvSpPr/>
                            <p:nvPr/>
                          </p:nvSpPr>
                          <p:spPr bwMode="auto">
                            <a:xfrm>
                              <a:off x="2598" y="3077"/>
                              <a:ext cx="8" cy="5"/>
                            </a:xfrm>
                            <a:custGeom>
                              <a:avLst/>
                              <a:gdLst>
                                <a:gd name="T0" fmla="*/ 24 w 56"/>
                                <a:gd name="T1" fmla="*/ 0 h 34"/>
                                <a:gd name="T2" fmla="*/ 56 w 56"/>
                                <a:gd name="T3" fmla="*/ 19 h 34"/>
                                <a:gd name="T4" fmla="*/ 33 w 56"/>
                                <a:gd name="T5" fmla="*/ 34 h 34"/>
                                <a:gd name="T6" fmla="*/ 0 w 56"/>
                                <a:gd name="T7" fmla="*/ 14 h 34"/>
                                <a:gd name="T8" fmla="*/ 24 w 56"/>
                                <a:gd name="T9" fmla="*/ 0 h 34"/>
                              </a:gdLst>
                              <a:ahLst/>
                              <a:cxnLst>
                                <a:cxn ang="0">
                                  <a:pos x="T0" y="T1"/>
                                </a:cxn>
                                <a:cxn ang="0">
                                  <a:pos x="T2" y="T3"/>
                                </a:cxn>
                                <a:cxn ang="0">
                                  <a:pos x="T4" y="T5"/>
                                </a:cxn>
                                <a:cxn ang="0">
                                  <a:pos x="T6" y="T7"/>
                                </a:cxn>
                                <a:cxn ang="0">
                                  <a:pos x="T8" y="T9"/>
                                </a:cxn>
                              </a:cxnLst>
                              <a:rect l="0" t="0" r="r" b="b"/>
                              <a:pathLst>
                                <a:path w="56" h="34">
                                  <a:moveTo>
                                    <a:pt x="24" y="0"/>
                                  </a:moveTo>
                                  <a:lnTo>
                                    <a:pt x="56" y="19"/>
                                  </a:lnTo>
                                  <a:lnTo>
                                    <a:pt x="33" y="34"/>
                                  </a:lnTo>
                                  <a:lnTo>
                                    <a:pt x="0" y="14"/>
                                  </a:lnTo>
                                  <a:lnTo>
                                    <a:pt x="24"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6" name="Freeform 168"/>
                            <p:cNvSpPr/>
                            <p:nvPr/>
                          </p:nvSpPr>
                          <p:spPr bwMode="auto">
                            <a:xfrm>
                              <a:off x="2573" y="3087"/>
                              <a:ext cx="10" cy="5"/>
                            </a:xfrm>
                            <a:custGeom>
                              <a:avLst/>
                              <a:gdLst>
                                <a:gd name="T0" fmla="*/ 38 w 70"/>
                                <a:gd name="T1" fmla="*/ 0 h 41"/>
                                <a:gd name="T2" fmla="*/ 70 w 70"/>
                                <a:gd name="T3" fmla="*/ 21 h 41"/>
                                <a:gd name="T4" fmla="*/ 32 w 70"/>
                                <a:gd name="T5" fmla="*/ 41 h 41"/>
                                <a:gd name="T6" fmla="*/ 0 w 70"/>
                                <a:gd name="T7" fmla="*/ 21 h 41"/>
                                <a:gd name="T8" fmla="*/ 38 w 70"/>
                                <a:gd name="T9" fmla="*/ 0 h 41"/>
                              </a:gdLst>
                              <a:ahLst/>
                              <a:cxnLst>
                                <a:cxn ang="0">
                                  <a:pos x="T0" y="T1"/>
                                </a:cxn>
                                <a:cxn ang="0">
                                  <a:pos x="T2" y="T3"/>
                                </a:cxn>
                                <a:cxn ang="0">
                                  <a:pos x="T4" y="T5"/>
                                </a:cxn>
                                <a:cxn ang="0">
                                  <a:pos x="T6" y="T7"/>
                                </a:cxn>
                                <a:cxn ang="0">
                                  <a:pos x="T8" y="T9"/>
                                </a:cxn>
                              </a:cxnLst>
                              <a:rect l="0" t="0" r="r" b="b"/>
                              <a:pathLst>
                                <a:path w="70" h="41">
                                  <a:moveTo>
                                    <a:pt x="38" y="0"/>
                                  </a:moveTo>
                                  <a:lnTo>
                                    <a:pt x="70" y="21"/>
                                  </a:lnTo>
                                  <a:lnTo>
                                    <a:pt x="32" y="41"/>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7" name="Freeform 169"/>
                            <p:cNvSpPr/>
                            <p:nvPr/>
                          </p:nvSpPr>
                          <p:spPr bwMode="auto">
                            <a:xfrm>
                              <a:off x="2568" y="3084"/>
                              <a:ext cx="10" cy="5"/>
                            </a:xfrm>
                            <a:custGeom>
                              <a:avLst/>
                              <a:gdLst>
                                <a:gd name="T0" fmla="*/ 40 w 70"/>
                                <a:gd name="T1" fmla="*/ 0 h 41"/>
                                <a:gd name="T2" fmla="*/ 70 w 70"/>
                                <a:gd name="T3" fmla="*/ 21 h 41"/>
                                <a:gd name="T4" fmla="*/ 33 w 70"/>
                                <a:gd name="T5" fmla="*/ 41 h 41"/>
                                <a:gd name="T6" fmla="*/ 0 w 70"/>
                                <a:gd name="T7" fmla="*/ 21 h 41"/>
                                <a:gd name="T8" fmla="*/ 40 w 70"/>
                                <a:gd name="T9" fmla="*/ 0 h 41"/>
                              </a:gdLst>
                              <a:ahLst/>
                              <a:cxnLst>
                                <a:cxn ang="0">
                                  <a:pos x="T0" y="T1"/>
                                </a:cxn>
                                <a:cxn ang="0">
                                  <a:pos x="T2" y="T3"/>
                                </a:cxn>
                                <a:cxn ang="0">
                                  <a:pos x="T4" y="T5"/>
                                </a:cxn>
                                <a:cxn ang="0">
                                  <a:pos x="T6" y="T7"/>
                                </a:cxn>
                                <a:cxn ang="0">
                                  <a:pos x="T8" y="T9"/>
                                </a:cxn>
                              </a:cxnLst>
                              <a:rect l="0" t="0" r="r" b="b"/>
                              <a:pathLst>
                                <a:path w="70" h="41">
                                  <a:moveTo>
                                    <a:pt x="40" y="0"/>
                                  </a:moveTo>
                                  <a:lnTo>
                                    <a:pt x="70" y="21"/>
                                  </a:lnTo>
                                  <a:lnTo>
                                    <a:pt x="33" y="41"/>
                                  </a:lnTo>
                                  <a:lnTo>
                                    <a:pt x="0" y="21"/>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8" name="Freeform 170"/>
                            <p:cNvSpPr/>
                            <p:nvPr/>
                          </p:nvSpPr>
                          <p:spPr bwMode="auto">
                            <a:xfrm>
                              <a:off x="2575" y="3082"/>
                              <a:ext cx="10" cy="5"/>
                            </a:xfrm>
                            <a:custGeom>
                              <a:avLst/>
                              <a:gdLst>
                                <a:gd name="T0" fmla="*/ 36 w 68"/>
                                <a:gd name="T1" fmla="*/ 0 h 41"/>
                                <a:gd name="T2" fmla="*/ 68 w 68"/>
                                <a:gd name="T3" fmla="*/ 21 h 41"/>
                                <a:gd name="T4" fmla="*/ 30 w 68"/>
                                <a:gd name="T5" fmla="*/ 41 h 41"/>
                                <a:gd name="T6" fmla="*/ 0 w 68"/>
                                <a:gd name="T7" fmla="*/ 20 h 41"/>
                                <a:gd name="T8" fmla="*/ 36 w 68"/>
                                <a:gd name="T9" fmla="*/ 0 h 41"/>
                              </a:gdLst>
                              <a:ahLst/>
                              <a:cxnLst>
                                <a:cxn ang="0">
                                  <a:pos x="T0" y="T1"/>
                                </a:cxn>
                                <a:cxn ang="0">
                                  <a:pos x="T2" y="T3"/>
                                </a:cxn>
                                <a:cxn ang="0">
                                  <a:pos x="T4" y="T5"/>
                                </a:cxn>
                                <a:cxn ang="0">
                                  <a:pos x="T6" y="T7"/>
                                </a:cxn>
                                <a:cxn ang="0">
                                  <a:pos x="T8" y="T9"/>
                                </a:cxn>
                              </a:cxnLst>
                              <a:rect l="0" t="0" r="r" b="b"/>
                              <a:pathLst>
                                <a:path w="68" h="41">
                                  <a:moveTo>
                                    <a:pt x="36" y="0"/>
                                  </a:moveTo>
                                  <a:lnTo>
                                    <a:pt x="68" y="21"/>
                                  </a:lnTo>
                                  <a:lnTo>
                                    <a:pt x="30" y="41"/>
                                  </a:lnTo>
                                  <a:lnTo>
                                    <a:pt x="0" y="20"/>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19" name="Freeform 171"/>
                            <p:cNvSpPr/>
                            <p:nvPr/>
                          </p:nvSpPr>
                          <p:spPr bwMode="auto">
                            <a:xfrm>
                              <a:off x="2581" y="3079"/>
                              <a:ext cx="10" cy="5"/>
                            </a:xfrm>
                            <a:custGeom>
                              <a:avLst/>
                              <a:gdLst>
                                <a:gd name="T0" fmla="*/ 36 w 69"/>
                                <a:gd name="T1" fmla="*/ 0 h 40"/>
                                <a:gd name="T2" fmla="*/ 69 w 69"/>
                                <a:gd name="T3" fmla="*/ 20 h 40"/>
                                <a:gd name="T4" fmla="*/ 33 w 69"/>
                                <a:gd name="T5" fmla="*/ 40 h 40"/>
                                <a:gd name="T6" fmla="*/ 0 w 69"/>
                                <a:gd name="T7" fmla="*/ 20 h 40"/>
                                <a:gd name="T8" fmla="*/ 36 w 69"/>
                                <a:gd name="T9" fmla="*/ 0 h 40"/>
                              </a:gdLst>
                              <a:ahLst/>
                              <a:cxnLst>
                                <a:cxn ang="0">
                                  <a:pos x="T0" y="T1"/>
                                </a:cxn>
                                <a:cxn ang="0">
                                  <a:pos x="T2" y="T3"/>
                                </a:cxn>
                                <a:cxn ang="0">
                                  <a:pos x="T4" y="T5"/>
                                </a:cxn>
                                <a:cxn ang="0">
                                  <a:pos x="T6" y="T7"/>
                                </a:cxn>
                                <a:cxn ang="0">
                                  <a:pos x="T8" y="T9"/>
                                </a:cxn>
                              </a:cxnLst>
                              <a:rect l="0" t="0" r="r" b="b"/>
                              <a:pathLst>
                                <a:path w="69" h="40">
                                  <a:moveTo>
                                    <a:pt x="36" y="0"/>
                                  </a:moveTo>
                                  <a:lnTo>
                                    <a:pt x="69" y="20"/>
                                  </a:lnTo>
                                  <a:lnTo>
                                    <a:pt x="33" y="40"/>
                                  </a:lnTo>
                                  <a:lnTo>
                                    <a:pt x="0" y="20"/>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0" name="Freeform 172"/>
                            <p:cNvSpPr/>
                            <p:nvPr/>
                          </p:nvSpPr>
                          <p:spPr bwMode="auto">
                            <a:xfrm>
                              <a:off x="2587" y="3077"/>
                              <a:ext cx="10" cy="5"/>
                            </a:xfrm>
                            <a:custGeom>
                              <a:avLst/>
                              <a:gdLst>
                                <a:gd name="T0" fmla="*/ 38 w 70"/>
                                <a:gd name="T1" fmla="*/ 0 h 40"/>
                                <a:gd name="T2" fmla="*/ 70 w 70"/>
                                <a:gd name="T3" fmla="*/ 20 h 40"/>
                                <a:gd name="T4" fmla="*/ 32 w 70"/>
                                <a:gd name="T5" fmla="*/ 40 h 40"/>
                                <a:gd name="T6" fmla="*/ 0 w 70"/>
                                <a:gd name="T7" fmla="*/ 21 h 40"/>
                                <a:gd name="T8" fmla="*/ 38 w 70"/>
                                <a:gd name="T9" fmla="*/ 0 h 40"/>
                              </a:gdLst>
                              <a:ahLst/>
                              <a:cxnLst>
                                <a:cxn ang="0">
                                  <a:pos x="T0" y="T1"/>
                                </a:cxn>
                                <a:cxn ang="0">
                                  <a:pos x="T2" y="T3"/>
                                </a:cxn>
                                <a:cxn ang="0">
                                  <a:pos x="T4" y="T5"/>
                                </a:cxn>
                                <a:cxn ang="0">
                                  <a:pos x="T6" y="T7"/>
                                </a:cxn>
                                <a:cxn ang="0">
                                  <a:pos x="T8" y="T9"/>
                                </a:cxn>
                              </a:cxnLst>
                              <a:rect l="0" t="0" r="r" b="b"/>
                              <a:pathLst>
                                <a:path w="70" h="40">
                                  <a:moveTo>
                                    <a:pt x="38" y="0"/>
                                  </a:moveTo>
                                  <a:lnTo>
                                    <a:pt x="70" y="20"/>
                                  </a:lnTo>
                                  <a:lnTo>
                                    <a:pt x="32" y="40"/>
                                  </a:lnTo>
                                  <a:lnTo>
                                    <a:pt x="0" y="21"/>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1" name="Freeform 173"/>
                            <p:cNvSpPr/>
                            <p:nvPr/>
                          </p:nvSpPr>
                          <p:spPr bwMode="auto">
                            <a:xfrm>
                              <a:off x="2594" y="3075"/>
                              <a:ext cx="8" cy="4"/>
                            </a:xfrm>
                            <a:custGeom>
                              <a:avLst/>
                              <a:gdLst>
                                <a:gd name="T0" fmla="*/ 23 w 56"/>
                                <a:gd name="T1" fmla="*/ 0 h 35"/>
                                <a:gd name="T2" fmla="*/ 56 w 56"/>
                                <a:gd name="T3" fmla="*/ 21 h 35"/>
                                <a:gd name="T4" fmla="*/ 32 w 56"/>
                                <a:gd name="T5" fmla="*/ 35 h 35"/>
                                <a:gd name="T6" fmla="*/ 0 w 56"/>
                                <a:gd name="T7" fmla="*/ 15 h 35"/>
                                <a:gd name="T8" fmla="*/ 23 w 56"/>
                                <a:gd name="T9" fmla="*/ 0 h 35"/>
                              </a:gdLst>
                              <a:ahLst/>
                              <a:cxnLst>
                                <a:cxn ang="0">
                                  <a:pos x="T0" y="T1"/>
                                </a:cxn>
                                <a:cxn ang="0">
                                  <a:pos x="T2" y="T3"/>
                                </a:cxn>
                                <a:cxn ang="0">
                                  <a:pos x="T4" y="T5"/>
                                </a:cxn>
                                <a:cxn ang="0">
                                  <a:pos x="T6" y="T7"/>
                                </a:cxn>
                                <a:cxn ang="0">
                                  <a:pos x="T8" y="T9"/>
                                </a:cxn>
                              </a:cxnLst>
                              <a:rect l="0" t="0" r="r" b="b"/>
                              <a:pathLst>
                                <a:path w="56" h="35">
                                  <a:moveTo>
                                    <a:pt x="23" y="0"/>
                                  </a:moveTo>
                                  <a:lnTo>
                                    <a:pt x="56" y="21"/>
                                  </a:lnTo>
                                  <a:lnTo>
                                    <a:pt x="32" y="35"/>
                                  </a:lnTo>
                                  <a:lnTo>
                                    <a:pt x="0" y="15"/>
                                  </a:lnTo>
                                  <a:lnTo>
                                    <a:pt x="2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2" name="Freeform 174"/>
                            <p:cNvSpPr/>
                            <p:nvPr/>
                          </p:nvSpPr>
                          <p:spPr bwMode="auto">
                            <a:xfrm>
                              <a:off x="2571" y="3080"/>
                              <a:ext cx="9" cy="4"/>
                            </a:xfrm>
                            <a:custGeom>
                              <a:avLst/>
                              <a:gdLst>
                                <a:gd name="T0" fmla="*/ 40 w 65"/>
                                <a:gd name="T1" fmla="*/ 0 h 37"/>
                                <a:gd name="T2" fmla="*/ 65 w 65"/>
                                <a:gd name="T3" fmla="*/ 18 h 37"/>
                                <a:gd name="T4" fmla="*/ 28 w 65"/>
                                <a:gd name="T5" fmla="*/ 37 h 37"/>
                                <a:gd name="T6" fmla="*/ 0 w 65"/>
                                <a:gd name="T7" fmla="*/ 19 h 37"/>
                                <a:gd name="T8" fmla="*/ 40 w 65"/>
                                <a:gd name="T9" fmla="*/ 0 h 37"/>
                              </a:gdLst>
                              <a:ahLst/>
                              <a:cxnLst>
                                <a:cxn ang="0">
                                  <a:pos x="T0" y="T1"/>
                                </a:cxn>
                                <a:cxn ang="0">
                                  <a:pos x="T2" y="T3"/>
                                </a:cxn>
                                <a:cxn ang="0">
                                  <a:pos x="T4" y="T5"/>
                                </a:cxn>
                                <a:cxn ang="0">
                                  <a:pos x="T6" y="T7"/>
                                </a:cxn>
                                <a:cxn ang="0">
                                  <a:pos x="T8" y="T9"/>
                                </a:cxn>
                              </a:cxnLst>
                              <a:rect l="0" t="0" r="r" b="b"/>
                              <a:pathLst>
                                <a:path w="65" h="37">
                                  <a:moveTo>
                                    <a:pt x="40" y="0"/>
                                  </a:moveTo>
                                  <a:lnTo>
                                    <a:pt x="65" y="18"/>
                                  </a:lnTo>
                                  <a:lnTo>
                                    <a:pt x="28" y="37"/>
                                  </a:lnTo>
                                  <a:lnTo>
                                    <a:pt x="0" y="19"/>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3" name="Freeform 175"/>
                            <p:cNvSpPr/>
                            <p:nvPr/>
                          </p:nvSpPr>
                          <p:spPr bwMode="auto">
                            <a:xfrm>
                              <a:off x="2577" y="3077"/>
                              <a:ext cx="9" cy="5"/>
                            </a:xfrm>
                            <a:custGeom>
                              <a:avLst/>
                              <a:gdLst>
                                <a:gd name="T0" fmla="*/ 36 w 64"/>
                                <a:gd name="T1" fmla="*/ 0 h 38"/>
                                <a:gd name="T2" fmla="*/ 64 w 64"/>
                                <a:gd name="T3" fmla="*/ 19 h 38"/>
                                <a:gd name="T4" fmla="*/ 25 w 64"/>
                                <a:gd name="T5" fmla="*/ 38 h 38"/>
                                <a:gd name="T6" fmla="*/ 0 w 64"/>
                                <a:gd name="T7" fmla="*/ 21 h 38"/>
                                <a:gd name="T8" fmla="*/ 36 w 64"/>
                                <a:gd name="T9" fmla="*/ 0 h 38"/>
                              </a:gdLst>
                              <a:ahLst/>
                              <a:cxnLst>
                                <a:cxn ang="0">
                                  <a:pos x="T0" y="T1"/>
                                </a:cxn>
                                <a:cxn ang="0">
                                  <a:pos x="T2" y="T3"/>
                                </a:cxn>
                                <a:cxn ang="0">
                                  <a:pos x="T4" y="T5"/>
                                </a:cxn>
                                <a:cxn ang="0">
                                  <a:pos x="T6" y="T7"/>
                                </a:cxn>
                                <a:cxn ang="0">
                                  <a:pos x="T8" y="T9"/>
                                </a:cxn>
                              </a:cxnLst>
                              <a:rect l="0" t="0" r="r" b="b"/>
                              <a:pathLst>
                                <a:path w="64" h="38">
                                  <a:moveTo>
                                    <a:pt x="36" y="0"/>
                                  </a:moveTo>
                                  <a:lnTo>
                                    <a:pt x="64" y="19"/>
                                  </a:lnTo>
                                  <a:lnTo>
                                    <a:pt x="25" y="38"/>
                                  </a:lnTo>
                                  <a:lnTo>
                                    <a:pt x="0" y="21"/>
                                  </a:lnTo>
                                  <a:lnTo>
                                    <a:pt x="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4" name="Freeform 176"/>
                            <p:cNvSpPr/>
                            <p:nvPr/>
                          </p:nvSpPr>
                          <p:spPr bwMode="auto">
                            <a:xfrm>
                              <a:off x="2583" y="3074"/>
                              <a:ext cx="9" cy="5"/>
                            </a:xfrm>
                            <a:custGeom>
                              <a:avLst/>
                              <a:gdLst>
                                <a:gd name="T0" fmla="*/ 43 w 69"/>
                                <a:gd name="T1" fmla="*/ 0 h 39"/>
                                <a:gd name="T2" fmla="*/ 69 w 69"/>
                                <a:gd name="T3" fmla="*/ 20 h 39"/>
                                <a:gd name="T4" fmla="*/ 30 w 69"/>
                                <a:gd name="T5" fmla="*/ 39 h 39"/>
                                <a:gd name="T6" fmla="*/ 0 w 69"/>
                                <a:gd name="T7" fmla="*/ 22 h 39"/>
                                <a:gd name="T8" fmla="*/ 43 w 69"/>
                                <a:gd name="T9" fmla="*/ 0 h 39"/>
                              </a:gdLst>
                              <a:ahLst/>
                              <a:cxnLst>
                                <a:cxn ang="0">
                                  <a:pos x="T0" y="T1"/>
                                </a:cxn>
                                <a:cxn ang="0">
                                  <a:pos x="T2" y="T3"/>
                                </a:cxn>
                                <a:cxn ang="0">
                                  <a:pos x="T4" y="T5"/>
                                </a:cxn>
                                <a:cxn ang="0">
                                  <a:pos x="T6" y="T7"/>
                                </a:cxn>
                                <a:cxn ang="0">
                                  <a:pos x="T8" y="T9"/>
                                </a:cxn>
                              </a:cxnLst>
                              <a:rect l="0" t="0" r="r" b="b"/>
                              <a:pathLst>
                                <a:path w="69" h="39">
                                  <a:moveTo>
                                    <a:pt x="43" y="0"/>
                                  </a:moveTo>
                                  <a:lnTo>
                                    <a:pt x="69" y="20"/>
                                  </a:lnTo>
                                  <a:lnTo>
                                    <a:pt x="30" y="39"/>
                                  </a:lnTo>
                                  <a:lnTo>
                                    <a:pt x="0" y="22"/>
                                  </a:lnTo>
                                  <a:lnTo>
                                    <a:pt x="4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5" name="Freeform 177"/>
                            <p:cNvSpPr/>
                            <p:nvPr/>
                          </p:nvSpPr>
                          <p:spPr bwMode="auto">
                            <a:xfrm>
                              <a:off x="2589" y="3073"/>
                              <a:ext cx="8" cy="4"/>
                            </a:xfrm>
                            <a:custGeom>
                              <a:avLst/>
                              <a:gdLst>
                                <a:gd name="T0" fmla="*/ 26 w 55"/>
                                <a:gd name="T1" fmla="*/ 0 h 33"/>
                                <a:gd name="T2" fmla="*/ 55 w 55"/>
                                <a:gd name="T3" fmla="*/ 19 h 33"/>
                                <a:gd name="T4" fmla="*/ 30 w 55"/>
                                <a:gd name="T5" fmla="*/ 33 h 33"/>
                                <a:gd name="T6" fmla="*/ 0 w 55"/>
                                <a:gd name="T7" fmla="*/ 12 h 33"/>
                                <a:gd name="T8" fmla="*/ 26 w 55"/>
                                <a:gd name="T9" fmla="*/ 0 h 33"/>
                              </a:gdLst>
                              <a:ahLst/>
                              <a:cxnLst>
                                <a:cxn ang="0">
                                  <a:pos x="T0" y="T1"/>
                                </a:cxn>
                                <a:cxn ang="0">
                                  <a:pos x="T2" y="T3"/>
                                </a:cxn>
                                <a:cxn ang="0">
                                  <a:pos x="T4" y="T5"/>
                                </a:cxn>
                                <a:cxn ang="0">
                                  <a:pos x="T6" y="T7"/>
                                </a:cxn>
                                <a:cxn ang="0">
                                  <a:pos x="T8" y="T9"/>
                                </a:cxn>
                              </a:cxnLst>
                              <a:rect l="0" t="0" r="r" b="b"/>
                              <a:pathLst>
                                <a:path w="55" h="33">
                                  <a:moveTo>
                                    <a:pt x="26" y="0"/>
                                  </a:moveTo>
                                  <a:lnTo>
                                    <a:pt x="55" y="19"/>
                                  </a:lnTo>
                                  <a:lnTo>
                                    <a:pt x="30" y="33"/>
                                  </a:lnTo>
                                  <a:lnTo>
                                    <a:pt x="0" y="12"/>
                                  </a:lnTo>
                                  <a:lnTo>
                                    <a:pt x="2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6" name="Freeform 178"/>
                            <p:cNvSpPr/>
                            <p:nvPr/>
                          </p:nvSpPr>
                          <p:spPr bwMode="auto">
                            <a:xfrm>
                              <a:off x="2564" y="3082"/>
                              <a:ext cx="10" cy="5"/>
                            </a:xfrm>
                            <a:custGeom>
                              <a:avLst/>
                              <a:gdLst>
                                <a:gd name="T0" fmla="*/ 40 w 65"/>
                                <a:gd name="T1" fmla="*/ 0 h 38"/>
                                <a:gd name="T2" fmla="*/ 65 w 65"/>
                                <a:gd name="T3" fmla="*/ 18 h 38"/>
                                <a:gd name="T4" fmla="*/ 27 w 65"/>
                                <a:gd name="T5" fmla="*/ 38 h 38"/>
                                <a:gd name="T6" fmla="*/ 0 w 65"/>
                                <a:gd name="T7" fmla="*/ 22 h 38"/>
                                <a:gd name="T8" fmla="*/ 40 w 65"/>
                                <a:gd name="T9" fmla="*/ 0 h 38"/>
                              </a:gdLst>
                              <a:ahLst/>
                              <a:cxnLst>
                                <a:cxn ang="0">
                                  <a:pos x="T0" y="T1"/>
                                </a:cxn>
                                <a:cxn ang="0">
                                  <a:pos x="T2" y="T3"/>
                                </a:cxn>
                                <a:cxn ang="0">
                                  <a:pos x="T4" y="T5"/>
                                </a:cxn>
                                <a:cxn ang="0">
                                  <a:pos x="T6" y="T7"/>
                                </a:cxn>
                                <a:cxn ang="0">
                                  <a:pos x="T8" y="T9"/>
                                </a:cxn>
                              </a:cxnLst>
                              <a:rect l="0" t="0" r="r" b="b"/>
                              <a:pathLst>
                                <a:path w="65" h="38">
                                  <a:moveTo>
                                    <a:pt x="40" y="0"/>
                                  </a:moveTo>
                                  <a:lnTo>
                                    <a:pt x="65" y="18"/>
                                  </a:lnTo>
                                  <a:lnTo>
                                    <a:pt x="27" y="38"/>
                                  </a:lnTo>
                                  <a:lnTo>
                                    <a:pt x="0" y="22"/>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7" name="Freeform 179"/>
                            <p:cNvSpPr/>
                            <p:nvPr/>
                          </p:nvSpPr>
                          <p:spPr bwMode="auto">
                            <a:xfrm>
                              <a:off x="2565" y="3077"/>
                              <a:ext cx="11" cy="5"/>
                            </a:xfrm>
                            <a:custGeom>
                              <a:avLst/>
                              <a:gdLst>
                                <a:gd name="T0" fmla="*/ 38 w 74"/>
                                <a:gd name="T1" fmla="*/ 0 h 44"/>
                                <a:gd name="T2" fmla="*/ 74 w 74"/>
                                <a:gd name="T3" fmla="*/ 24 h 44"/>
                                <a:gd name="T4" fmla="*/ 37 w 74"/>
                                <a:gd name="T5" fmla="*/ 44 h 44"/>
                                <a:gd name="T6" fmla="*/ 0 w 74"/>
                                <a:gd name="T7" fmla="*/ 19 h 44"/>
                                <a:gd name="T8" fmla="*/ 38 w 74"/>
                                <a:gd name="T9" fmla="*/ 0 h 44"/>
                              </a:gdLst>
                              <a:ahLst/>
                              <a:cxnLst>
                                <a:cxn ang="0">
                                  <a:pos x="T0" y="T1"/>
                                </a:cxn>
                                <a:cxn ang="0">
                                  <a:pos x="T2" y="T3"/>
                                </a:cxn>
                                <a:cxn ang="0">
                                  <a:pos x="T4" y="T5"/>
                                </a:cxn>
                                <a:cxn ang="0">
                                  <a:pos x="T6" y="T7"/>
                                </a:cxn>
                                <a:cxn ang="0">
                                  <a:pos x="T8" y="T9"/>
                                </a:cxn>
                              </a:cxnLst>
                              <a:rect l="0" t="0" r="r" b="b"/>
                              <a:pathLst>
                                <a:path w="74" h="44">
                                  <a:moveTo>
                                    <a:pt x="38" y="0"/>
                                  </a:moveTo>
                                  <a:lnTo>
                                    <a:pt x="74" y="24"/>
                                  </a:lnTo>
                                  <a:lnTo>
                                    <a:pt x="37" y="44"/>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8" name="Freeform 180"/>
                            <p:cNvSpPr/>
                            <p:nvPr/>
                          </p:nvSpPr>
                          <p:spPr bwMode="auto">
                            <a:xfrm>
                              <a:off x="2571" y="3074"/>
                              <a:ext cx="11" cy="6"/>
                            </a:xfrm>
                            <a:custGeom>
                              <a:avLst/>
                              <a:gdLst>
                                <a:gd name="T0" fmla="*/ 39 w 75"/>
                                <a:gd name="T1" fmla="*/ 0 h 44"/>
                                <a:gd name="T2" fmla="*/ 75 w 75"/>
                                <a:gd name="T3" fmla="*/ 24 h 44"/>
                                <a:gd name="T4" fmla="*/ 37 w 75"/>
                                <a:gd name="T5" fmla="*/ 44 h 44"/>
                                <a:gd name="T6" fmla="*/ 0 w 75"/>
                                <a:gd name="T7" fmla="*/ 19 h 44"/>
                                <a:gd name="T8" fmla="*/ 39 w 75"/>
                                <a:gd name="T9" fmla="*/ 0 h 44"/>
                              </a:gdLst>
                              <a:ahLst/>
                              <a:cxnLst>
                                <a:cxn ang="0">
                                  <a:pos x="T0" y="T1"/>
                                </a:cxn>
                                <a:cxn ang="0">
                                  <a:pos x="T2" y="T3"/>
                                </a:cxn>
                                <a:cxn ang="0">
                                  <a:pos x="T4" y="T5"/>
                                </a:cxn>
                                <a:cxn ang="0">
                                  <a:pos x="T6" y="T7"/>
                                </a:cxn>
                                <a:cxn ang="0">
                                  <a:pos x="T8" y="T9"/>
                                </a:cxn>
                              </a:cxnLst>
                              <a:rect l="0" t="0" r="r" b="b"/>
                              <a:pathLst>
                                <a:path w="75" h="44">
                                  <a:moveTo>
                                    <a:pt x="39" y="0"/>
                                  </a:moveTo>
                                  <a:lnTo>
                                    <a:pt x="75" y="24"/>
                                  </a:lnTo>
                                  <a:lnTo>
                                    <a:pt x="37" y="44"/>
                                  </a:lnTo>
                                  <a:lnTo>
                                    <a:pt x="0" y="19"/>
                                  </a:lnTo>
                                  <a:lnTo>
                                    <a:pt x="39"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29" name="Freeform 181"/>
                            <p:cNvSpPr/>
                            <p:nvPr/>
                          </p:nvSpPr>
                          <p:spPr bwMode="auto">
                            <a:xfrm>
                              <a:off x="2578" y="3072"/>
                              <a:ext cx="10" cy="5"/>
                            </a:xfrm>
                            <a:custGeom>
                              <a:avLst/>
                              <a:gdLst>
                                <a:gd name="T0" fmla="*/ 38 w 72"/>
                                <a:gd name="T1" fmla="*/ 0 h 41"/>
                                <a:gd name="T2" fmla="*/ 72 w 72"/>
                                <a:gd name="T3" fmla="*/ 22 h 41"/>
                                <a:gd name="T4" fmla="*/ 34 w 72"/>
                                <a:gd name="T5" fmla="*/ 41 h 41"/>
                                <a:gd name="T6" fmla="*/ 0 w 72"/>
                                <a:gd name="T7" fmla="*/ 19 h 41"/>
                                <a:gd name="T8" fmla="*/ 38 w 72"/>
                                <a:gd name="T9" fmla="*/ 0 h 41"/>
                              </a:gdLst>
                              <a:ahLst/>
                              <a:cxnLst>
                                <a:cxn ang="0">
                                  <a:pos x="T0" y="T1"/>
                                </a:cxn>
                                <a:cxn ang="0">
                                  <a:pos x="T2" y="T3"/>
                                </a:cxn>
                                <a:cxn ang="0">
                                  <a:pos x="T4" y="T5"/>
                                </a:cxn>
                                <a:cxn ang="0">
                                  <a:pos x="T6" y="T7"/>
                                </a:cxn>
                                <a:cxn ang="0">
                                  <a:pos x="T8" y="T9"/>
                                </a:cxn>
                              </a:cxnLst>
                              <a:rect l="0" t="0" r="r" b="b"/>
                              <a:pathLst>
                                <a:path w="72" h="41">
                                  <a:moveTo>
                                    <a:pt x="38" y="0"/>
                                  </a:moveTo>
                                  <a:lnTo>
                                    <a:pt x="72" y="22"/>
                                  </a:lnTo>
                                  <a:lnTo>
                                    <a:pt x="34" y="41"/>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0" name="Freeform 182"/>
                            <p:cNvSpPr/>
                            <p:nvPr/>
                          </p:nvSpPr>
                          <p:spPr bwMode="auto">
                            <a:xfrm>
                              <a:off x="2584" y="3070"/>
                              <a:ext cx="8" cy="5"/>
                            </a:xfrm>
                            <a:custGeom>
                              <a:avLst/>
                              <a:gdLst>
                                <a:gd name="T0" fmla="*/ 25 w 58"/>
                                <a:gd name="T1" fmla="*/ 0 h 33"/>
                                <a:gd name="T2" fmla="*/ 58 w 58"/>
                                <a:gd name="T3" fmla="*/ 21 h 33"/>
                                <a:gd name="T4" fmla="*/ 36 w 58"/>
                                <a:gd name="T5" fmla="*/ 33 h 33"/>
                                <a:gd name="T6" fmla="*/ 0 w 58"/>
                                <a:gd name="T7" fmla="*/ 12 h 33"/>
                                <a:gd name="T8" fmla="*/ 25 w 58"/>
                                <a:gd name="T9" fmla="*/ 0 h 33"/>
                              </a:gdLst>
                              <a:ahLst/>
                              <a:cxnLst>
                                <a:cxn ang="0">
                                  <a:pos x="T0" y="T1"/>
                                </a:cxn>
                                <a:cxn ang="0">
                                  <a:pos x="T2" y="T3"/>
                                </a:cxn>
                                <a:cxn ang="0">
                                  <a:pos x="T4" y="T5"/>
                                </a:cxn>
                                <a:cxn ang="0">
                                  <a:pos x="T6" y="T7"/>
                                </a:cxn>
                                <a:cxn ang="0">
                                  <a:pos x="T8" y="T9"/>
                                </a:cxn>
                              </a:cxnLst>
                              <a:rect l="0" t="0" r="r" b="b"/>
                              <a:pathLst>
                                <a:path w="58" h="33">
                                  <a:moveTo>
                                    <a:pt x="25" y="0"/>
                                  </a:moveTo>
                                  <a:lnTo>
                                    <a:pt x="58" y="21"/>
                                  </a:lnTo>
                                  <a:lnTo>
                                    <a:pt x="36" y="33"/>
                                  </a:lnTo>
                                  <a:lnTo>
                                    <a:pt x="0" y="12"/>
                                  </a:lnTo>
                                  <a:lnTo>
                                    <a:pt x="25"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1" name="Freeform 183"/>
                            <p:cNvSpPr/>
                            <p:nvPr/>
                          </p:nvSpPr>
                          <p:spPr bwMode="auto">
                            <a:xfrm>
                              <a:off x="2559" y="3079"/>
                              <a:ext cx="11" cy="6"/>
                            </a:xfrm>
                            <a:custGeom>
                              <a:avLst/>
                              <a:gdLst>
                                <a:gd name="T0" fmla="*/ 40 w 79"/>
                                <a:gd name="T1" fmla="*/ 0 h 45"/>
                                <a:gd name="T2" fmla="*/ 79 w 79"/>
                                <a:gd name="T3" fmla="*/ 24 h 45"/>
                                <a:gd name="T4" fmla="*/ 41 w 79"/>
                                <a:gd name="T5" fmla="*/ 45 h 45"/>
                                <a:gd name="T6" fmla="*/ 0 w 79"/>
                                <a:gd name="T7" fmla="*/ 18 h 45"/>
                                <a:gd name="T8" fmla="*/ 40 w 79"/>
                                <a:gd name="T9" fmla="*/ 0 h 45"/>
                              </a:gdLst>
                              <a:ahLst/>
                              <a:cxnLst>
                                <a:cxn ang="0">
                                  <a:pos x="T0" y="T1"/>
                                </a:cxn>
                                <a:cxn ang="0">
                                  <a:pos x="T2" y="T3"/>
                                </a:cxn>
                                <a:cxn ang="0">
                                  <a:pos x="T4" y="T5"/>
                                </a:cxn>
                                <a:cxn ang="0">
                                  <a:pos x="T6" y="T7"/>
                                </a:cxn>
                                <a:cxn ang="0">
                                  <a:pos x="T8" y="T9"/>
                                </a:cxn>
                              </a:cxnLst>
                              <a:rect l="0" t="0" r="r" b="b"/>
                              <a:pathLst>
                                <a:path w="79" h="45">
                                  <a:moveTo>
                                    <a:pt x="40" y="0"/>
                                  </a:moveTo>
                                  <a:lnTo>
                                    <a:pt x="79" y="24"/>
                                  </a:lnTo>
                                  <a:lnTo>
                                    <a:pt x="41" y="45"/>
                                  </a:lnTo>
                                  <a:lnTo>
                                    <a:pt x="0" y="18"/>
                                  </a:lnTo>
                                  <a:lnTo>
                                    <a:pt x="4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2" name="Freeform 184"/>
                            <p:cNvSpPr/>
                            <p:nvPr/>
                          </p:nvSpPr>
                          <p:spPr bwMode="auto">
                            <a:xfrm>
                              <a:off x="2550" y="3074"/>
                              <a:ext cx="14" cy="8"/>
                            </a:xfrm>
                            <a:custGeom>
                              <a:avLst/>
                              <a:gdLst>
                                <a:gd name="T0" fmla="*/ 38 w 98"/>
                                <a:gd name="T1" fmla="*/ 0 h 58"/>
                                <a:gd name="T2" fmla="*/ 98 w 98"/>
                                <a:gd name="T3" fmla="*/ 43 h 58"/>
                                <a:gd name="T4" fmla="*/ 60 w 98"/>
                                <a:gd name="T5" fmla="*/ 58 h 58"/>
                                <a:gd name="T6" fmla="*/ 0 w 98"/>
                                <a:gd name="T7" fmla="*/ 19 h 58"/>
                                <a:gd name="T8" fmla="*/ 38 w 98"/>
                                <a:gd name="T9" fmla="*/ 0 h 58"/>
                              </a:gdLst>
                              <a:ahLst/>
                              <a:cxnLst>
                                <a:cxn ang="0">
                                  <a:pos x="T0" y="T1"/>
                                </a:cxn>
                                <a:cxn ang="0">
                                  <a:pos x="T2" y="T3"/>
                                </a:cxn>
                                <a:cxn ang="0">
                                  <a:pos x="T4" y="T5"/>
                                </a:cxn>
                                <a:cxn ang="0">
                                  <a:pos x="T6" y="T7"/>
                                </a:cxn>
                                <a:cxn ang="0">
                                  <a:pos x="T8" y="T9"/>
                                </a:cxn>
                              </a:cxnLst>
                              <a:rect l="0" t="0" r="r" b="b"/>
                              <a:pathLst>
                                <a:path w="98" h="58">
                                  <a:moveTo>
                                    <a:pt x="38" y="0"/>
                                  </a:moveTo>
                                  <a:lnTo>
                                    <a:pt x="98" y="43"/>
                                  </a:lnTo>
                                  <a:lnTo>
                                    <a:pt x="60" y="58"/>
                                  </a:lnTo>
                                  <a:lnTo>
                                    <a:pt x="0" y="19"/>
                                  </a:lnTo>
                                  <a:lnTo>
                                    <a:pt x="3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3" name="Freeform 185"/>
                            <p:cNvSpPr/>
                            <p:nvPr/>
                          </p:nvSpPr>
                          <p:spPr bwMode="auto">
                            <a:xfrm>
                              <a:off x="2551" y="3068"/>
                              <a:ext cx="19" cy="11"/>
                            </a:xfrm>
                            <a:custGeom>
                              <a:avLst/>
                              <a:gdLst>
                                <a:gd name="T0" fmla="*/ 0 w 130"/>
                                <a:gd name="T1" fmla="*/ 33 h 92"/>
                                <a:gd name="T2" fmla="*/ 95 w 130"/>
                                <a:gd name="T3" fmla="*/ 92 h 92"/>
                                <a:gd name="T4" fmla="*/ 130 w 130"/>
                                <a:gd name="T5" fmla="*/ 76 h 92"/>
                                <a:gd name="T6" fmla="*/ 64 w 130"/>
                                <a:gd name="T7" fmla="*/ 33 h 92"/>
                                <a:gd name="T8" fmla="*/ 112 w 130"/>
                                <a:gd name="T9" fmla="*/ 13 h 92"/>
                                <a:gd name="T10" fmla="*/ 88 w 130"/>
                                <a:gd name="T11" fmla="*/ 0 h 92"/>
                                <a:gd name="T12" fmla="*/ 0 w 130"/>
                                <a:gd name="T13" fmla="*/ 33 h 92"/>
                              </a:gdLst>
                              <a:ahLst/>
                              <a:cxnLst>
                                <a:cxn ang="0">
                                  <a:pos x="T0" y="T1"/>
                                </a:cxn>
                                <a:cxn ang="0">
                                  <a:pos x="T2" y="T3"/>
                                </a:cxn>
                                <a:cxn ang="0">
                                  <a:pos x="T4" y="T5"/>
                                </a:cxn>
                                <a:cxn ang="0">
                                  <a:pos x="T6" y="T7"/>
                                </a:cxn>
                                <a:cxn ang="0">
                                  <a:pos x="T8" y="T9"/>
                                </a:cxn>
                                <a:cxn ang="0">
                                  <a:pos x="T10" y="T11"/>
                                </a:cxn>
                                <a:cxn ang="0">
                                  <a:pos x="T12" y="T13"/>
                                </a:cxn>
                              </a:cxnLst>
                              <a:rect l="0" t="0" r="r" b="b"/>
                              <a:pathLst>
                                <a:path w="130" h="92">
                                  <a:moveTo>
                                    <a:pt x="0" y="33"/>
                                  </a:moveTo>
                                  <a:lnTo>
                                    <a:pt x="95" y="92"/>
                                  </a:lnTo>
                                  <a:lnTo>
                                    <a:pt x="130" y="76"/>
                                  </a:lnTo>
                                  <a:lnTo>
                                    <a:pt x="64" y="33"/>
                                  </a:lnTo>
                                  <a:lnTo>
                                    <a:pt x="112" y="13"/>
                                  </a:lnTo>
                                  <a:lnTo>
                                    <a:pt x="88" y="0"/>
                                  </a:lnTo>
                                  <a:lnTo>
                                    <a:pt x="0" y="3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4" name="Freeform 186"/>
                            <p:cNvSpPr/>
                            <p:nvPr/>
                          </p:nvSpPr>
                          <p:spPr bwMode="auto">
                            <a:xfrm>
                              <a:off x="2562" y="3070"/>
                              <a:ext cx="15" cy="7"/>
                            </a:xfrm>
                            <a:custGeom>
                              <a:avLst/>
                              <a:gdLst>
                                <a:gd name="T0" fmla="*/ 0 w 100"/>
                                <a:gd name="T1" fmla="*/ 19 h 59"/>
                                <a:gd name="T2" fmla="*/ 61 w 100"/>
                                <a:gd name="T3" fmla="*/ 59 h 59"/>
                                <a:gd name="T4" fmla="*/ 100 w 100"/>
                                <a:gd name="T5" fmla="*/ 41 h 59"/>
                                <a:gd name="T6" fmla="*/ 37 w 100"/>
                                <a:gd name="T7" fmla="*/ 0 h 59"/>
                                <a:gd name="T8" fmla="*/ 0 w 100"/>
                                <a:gd name="T9" fmla="*/ 19 h 59"/>
                              </a:gdLst>
                              <a:ahLst/>
                              <a:cxnLst>
                                <a:cxn ang="0">
                                  <a:pos x="T0" y="T1"/>
                                </a:cxn>
                                <a:cxn ang="0">
                                  <a:pos x="T2" y="T3"/>
                                </a:cxn>
                                <a:cxn ang="0">
                                  <a:pos x="T4" y="T5"/>
                                </a:cxn>
                                <a:cxn ang="0">
                                  <a:pos x="T6" y="T7"/>
                                </a:cxn>
                                <a:cxn ang="0">
                                  <a:pos x="T8" y="T9"/>
                                </a:cxn>
                              </a:cxnLst>
                              <a:rect l="0" t="0" r="r" b="b"/>
                              <a:pathLst>
                                <a:path w="100" h="59">
                                  <a:moveTo>
                                    <a:pt x="0" y="19"/>
                                  </a:moveTo>
                                  <a:lnTo>
                                    <a:pt x="61" y="59"/>
                                  </a:lnTo>
                                  <a:lnTo>
                                    <a:pt x="100" y="41"/>
                                  </a:lnTo>
                                  <a:lnTo>
                                    <a:pt x="37" y="0"/>
                                  </a:lnTo>
                                  <a:lnTo>
                                    <a:pt x="0" y="1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5" name="Freeform 187"/>
                            <p:cNvSpPr/>
                            <p:nvPr/>
                          </p:nvSpPr>
                          <p:spPr bwMode="auto">
                            <a:xfrm>
                              <a:off x="2573" y="3070"/>
                              <a:ext cx="10" cy="5"/>
                            </a:xfrm>
                            <a:custGeom>
                              <a:avLst/>
                              <a:gdLst>
                                <a:gd name="T0" fmla="*/ 0 w 70"/>
                                <a:gd name="T1" fmla="*/ 20 h 38"/>
                                <a:gd name="T2" fmla="*/ 29 w 70"/>
                                <a:gd name="T3" fmla="*/ 38 h 38"/>
                                <a:gd name="T4" fmla="*/ 70 w 70"/>
                                <a:gd name="T5" fmla="*/ 18 h 38"/>
                                <a:gd name="T6" fmla="*/ 40 w 70"/>
                                <a:gd name="T7" fmla="*/ 0 h 38"/>
                                <a:gd name="T8" fmla="*/ 0 w 70"/>
                                <a:gd name="T9" fmla="*/ 20 h 38"/>
                              </a:gdLst>
                              <a:ahLst/>
                              <a:cxnLst>
                                <a:cxn ang="0">
                                  <a:pos x="T0" y="T1"/>
                                </a:cxn>
                                <a:cxn ang="0">
                                  <a:pos x="T2" y="T3"/>
                                </a:cxn>
                                <a:cxn ang="0">
                                  <a:pos x="T4" y="T5"/>
                                </a:cxn>
                                <a:cxn ang="0">
                                  <a:pos x="T6" y="T7"/>
                                </a:cxn>
                                <a:cxn ang="0">
                                  <a:pos x="T8" y="T9"/>
                                </a:cxn>
                              </a:cxnLst>
                              <a:rect l="0" t="0" r="r" b="b"/>
                              <a:pathLst>
                                <a:path w="70" h="38">
                                  <a:moveTo>
                                    <a:pt x="0" y="20"/>
                                  </a:moveTo>
                                  <a:lnTo>
                                    <a:pt x="29" y="38"/>
                                  </a:lnTo>
                                  <a:lnTo>
                                    <a:pt x="70" y="18"/>
                                  </a:lnTo>
                                  <a:lnTo>
                                    <a:pt x="40" y="0"/>
                                  </a:lnTo>
                                  <a:lnTo>
                                    <a:pt x="0" y="2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6" name="Freeform 188"/>
                            <p:cNvSpPr/>
                            <p:nvPr/>
                          </p:nvSpPr>
                          <p:spPr bwMode="auto">
                            <a:xfrm>
                              <a:off x="2568" y="3067"/>
                              <a:ext cx="10" cy="5"/>
                            </a:xfrm>
                            <a:custGeom>
                              <a:avLst/>
                              <a:gdLst>
                                <a:gd name="T0" fmla="*/ 0 w 70"/>
                                <a:gd name="T1" fmla="*/ 18 h 39"/>
                                <a:gd name="T2" fmla="*/ 32 w 70"/>
                                <a:gd name="T3" fmla="*/ 39 h 39"/>
                                <a:gd name="T4" fmla="*/ 70 w 70"/>
                                <a:gd name="T5" fmla="*/ 18 h 39"/>
                                <a:gd name="T6" fmla="*/ 38 w 70"/>
                                <a:gd name="T7" fmla="*/ 0 h 39"/>
                                <a:gd name="T8" fmla="*/ 0 w 70"/>
                                <a:gd name="T9" fmla="*/ 18 h 39"/>
                              </a:gdLst>
                              <a:ahLst/>
                              <a:cxnLst>
                                <a:cxn ang="0">
                                  <a:pos x="T0" y="T1"/>
                                </a:cxn>
                                <a:cxn ang="0">
                                  <a:pos x="T2" y="T3"/>
                                </a:cxn>
                                <a:cxn ang="0">
                                  <a:pos x="T4" y="T5"/>
                                </a:cxn>
                                <a:cxn ang="0">
                                  <a:pos x="T6" y="T7"/>
                                </a:cxn>
                                <a:cxn ang="0">
                                  <a:pos x="T8" y="T9"/>
                                </a:cxn>
                              </a:cxnLst>
                              <a:rect l="0" t="0" r="r" b="b"/>
                              <a:pathLst>
                                <a:path w="70" h="39">
                                  <a:moveTo>
                                    <a:pt x="0" y="18"/>
                                  </a:moveTo>
                                  <a:lnTo>
                                    <a:pt x="32" y="39"/>
                                  </a:lnTo>
                                  <a:lnTo>
                                    <a:pt x="70" y="18"/>
                                  </a:lnTo>
                                  <a:lnTo>
                                    <a:pt x="38" y="0"/>
                                  </a:lnTo>
                                  <a:lnTo>
                                    <a:pt x="0" y="1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7" name="Freeform 189"/>
                            <p:cNvSpPr/>
                            <p:nvPr/>
                          </p:nvSpPr>
                          <p:spPr bwMode="auto">
                            <a:xfrm>
                              <a:off x="2564" y="3065"/>
                              <a:ext cx="9" cy="5"/>
                            </a:xfrm>
                            <a:custGeom>
                              <a:avLst/>
                              <a:gdLst>
                                <a:gd name="T0" fmla="*/ 0 w 65"/>
                                <a:gd name="T1" fmla="*/ 19 h 36"/>
                                <a:gd name="T2" fmla="*/ 26 w 65"/>
                                <a:gd name="T3" fmla="*/ 36 h 36"/>
                                <a:gd name="T4" fmla="*/ 65 w 65"/>
                                <a:gd name="T5" fmla="*/ 17 h 36"/>
                                <a:gd name="T6" fmla="*/ 42 w 65"/>
                                <a:gd name="T7" fmla="*/ 0 h 36"/>
                                <a:gd name="T8" fmla="*/ 0 w 65"/>
                                <a:gd name="T9" fmla="*/ 19 h 36"/>
                              </a:gdLst>
                              <a:ahLst/>
                              <a:cxnLst>
                                <a:cxn ang="0">
                                  <a:pos x="T0" y="T1"/>
                                </a:cxn>
                                <a:cxn ang="0">
                                  <a:pos x="T2" y="T3"/>
                                </a:cxn>
                                <a:cxn ang="0">
                                  <a:pos x="T4" y="T5"/>
                                </a:cxn>
                                <a:cxn ang="0">
                                  <a:pos x="T6" y="T7"/>
                                </a:cxn>
                                <a:cxn ang="0">
                                  <a:pos x="T8" y="T9"/>
                                </a:cxn>
                              </a:cxnLst>
                              <a:rect l="0" t="0" r="r" b="b"/>
                              <a:pathLst>
                                <a:path w="65" h="36">
                                  <a:moveTo>
                                    <a:pt x="0" y="19"/>
                                  </a:moveTo>
                                  <a:lnTo>
                                    <a:pt x="26" y="36"/>
                                  </a:lnTo>
                                  <a:lnTo>
                                    <a:pt x="65" y="17"/>
                                  </a:lnTo>
                                  <a:lnTo>
                                    <a:pt x="42" y="0"/>
                                  </a:lnTo>
                                  <a:lnTo>
                                    <a:pt x="0" y="1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8" name="Freeform 190"/>
                            <p:cNvSpPr/>
                            <p:nvPr/>
                          </p:nvSpPr>
                          <p:spPr bwMode="auto">
                            <a:xfrm>
                              <a:off x="2571" y="3064"/>
                              <a:ext cx="7" cy="3"/>
                            </a:xfrm>
                            <a:custGeom>
                              <a:avLst/>
                              <a:gdLst>
                                <a:gd name="T0" fmla="*/ 0 w 47"/>
                                <a:gd name="T1" fmla="*/ 12 h 27"/>
                                <a:gd name="T2" fmla="*/ 25 w 47"/>
                                <a:gd name="T3" fmla="*/ 27 h 27"/>
                                <a:gd name="T4" fmla="*/ 47 w 47"/>
                                <a:gd name="T5" fmla="*/ 14 h 27"/>
                                <a:gd name="T6" fmla="*/ 22 w 47"/>
                                <a:gd name="T7" fmla="*/ 0 h 27"/>
                                <a:gd name="T8" fmla="*/ 0 w 47"/>
                                <a:gd name="T9" fmla="*/ 12 h 27"/>
                              </a:gdLst>
                              <a:ahLst/>
                              <a:cxnLst>
                                <a:cxn ang="0">
                                  <a:pos x="T0" y="T1"/>
                                </a:cxn>
                                <a:cxn ang="0">
                                  <a:pos x="T2" y="T3"/>
                                </a:cxn>
                                <a:cxn ang="0">
                                  <a:pos x="T4" y="T5"/>
                                </a:cxn>
                                <a:cxn ang="0">
                                  <a:pos x="T6" y="T7"/>
                                </a:cxn>
                                <a:cxn ang="0">
                                  <a:pos x="T8" y="T9"/>
                                </a:cxn>
                              </a:cxnLst>
                              <a:rect l="0" t="0" r="r" b="b"/>
                              <a:pathLst>
                                <a:path w="47" h="27">
                                  <a:moveTo>
                                    <a:pt x="0" y="12"/>
                                  </a:moveTo>
                                  <a:lnTo>
                                    <a:pt x="25" y="27"/>
                                  </a:lnTo>
                                  <a:lnTo>
                                    <a:pt x="47" y="14"/>
                                  </a:lnTo>
                                  <a:lnTo>
                                    <a:pt x="22" y="0"/>
                                  </a:lnTo>
                                  <a:lnTo>
                                    <a:pt x="0" y="1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39" name="Freeform 191"/>
                            <p:cNvSpPr/>
                            <p:nvPr/>
                          </p:nvSpPr>
                          <p:spPr bwMode="auto">
                            <a:xfrm>
                              <a:off x="2575" y="3066"/>
                              <a:ext cx="7" cy="4"/>
                            </a:xfrm>
                            <a:custGeom>
                              <a:avLst/>
                              <a:gdLst>
                                <a:gd name="T0" fmla="*/ 0 w 53"/>
                                <a:gd name="T1" fmla="*/ 12 h 33"/>
                                <a:gd name="T2" fmla="*/ 32 w 53"/>
                                <a:gd name="T3" fmla="*/ 33 h 33"/>
                                <a:gd name="T4" fmla="*/ 53 w 53"/>
                                <a:gd name="T5" fmla="*/ 21 h 33"/>
                                <a:gd name="T6" fmla="*/ 22 w 53"/>
                                <a:gd name="T7" fmla="*/ 0 h 33"/>
                                <a:gd name="T8" fmla="*/ 0 w 53"/>
                                <a:gd name="T9" fmla="*/ 12 h 33"/>
                              </a:gdLst>
                              <a:ahLst/>
                              <a:cxnLst>
                                <a:cxn ang="0">
                                  <a:pos x="T0" y="T1"/>
                                </a:cxn>
                                <a:cxn ang="0">
                                  <a:pos x="T2" y="T3"/>
                                </a:cxn>
                                <a:cxn ang="0">
                                  <a:pos x="T4" y="T5"/>
                                </a:cxn>
                                <a:cxn ang="0">
                                  <a:pos x="T6" y="T7"/>
                                </a:cxn>
                                <a:cxn ang="0">
                                  <a:pos x="T8" y="T9"/>
                                </a:cxn>
                              </a:cxnLst>
                              <a:rect l="0" t="0" r="r" b="b"/>
                              <a:pathLst>
                                <a:path w="53" h="33">
                                  <a:moveTo>
                                    <a:pt x="0" y="12"/>
                                  </a:moveTo>
                                  <a:lnTo>
                                    <a:pt x="32" y="33"/>
                                  </a:lnTo>
                                  <a:lnTo>
                                    <a:pt x="53" y="21"/>
                                  </a:lnTo>
                                  <a:lnTo>
                                    <a:pt x="22" y="0"/>
                                  </a:lnTo>
                                  <a:lnTo>
                                    <a:pt x="0" y="1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0" name="Freeform 192"/>
                            <p:cNvSpPr/>
                            <p:nvPr/>
                          </p:nvSpPr>
                          <p:spPr bwMode="auto">
                            <a:xfrm>
                              <a:off x="2545" y="3072"/>
                              <a:ext cx="10" cy="5"/>
                            </a:xfrm>
                            <a:custGeom>
                              <a:avLst/>
                              <a:gdLst>
                                <a:gd name="T0" fmla="*/ 0 w 68"/>
                                <a:gd name="T1" fmla="*/ 19 h 39"/>
                                <a:gd name="T2" fmla="*/ 27 w 68"/>
                                <a:gd name="T3" fmla="*/ 39 h 39"/>
                                <a:gd name="T4" fmla="*/ 68 w 68"/>
                                <a:gd name="T5" fmla="*/ 19 h 39"/>
                                <a:gd name="T6" fmla="*/ 41 w 68"/>
                                <a:gd name="T7" fmla="*/ 0 h 39"/>
                                <a:gd name="T8" fmla="*/ 0 w 68"/>
                                <a:gd name="T9" fmla="*/ 19 h 39"/>
                              </a:gdLst>
                              <a:ahLst/>
                              <a:cxnLst>
                                <a:cxn ang="0">
                                  <a:pos x="T0" y="T1"/>
                                </a:cxn>
                                <a:cxn ang="0">
                                  <a:pos x="T2" y="T3"/>
                                </a:cxn>
                                <a:cxn ang="0">
                                  <a:pos x="T4" y="T5"/>
                                </a:cxn>
                                <a:cxn ang="0">
                                  <a:pos x="T6" y="T7"/>
                                </a:cxn>
                                <a:cxn ang="0">
                                  <a:pos x="T8" y="T9"/>
                                </a:cxn>
                              </a:cxnLst>
                              <a:rect l="0" t="0" r="r" b="b"/>
                              <a:pathLst>
                                <a:path w="68" h="39">
                                  <a:moveTo>
                                    <a:pt x="0" y="19"/>
                                  </a:moveTo>
                                  <a:lnTo>
                                    <a:pt x="27" y="39"/>
                                  </a:lnTo>
                                  <a:lnTo>
                                    <a:pt x="68" y="19"/>
                                  </a:lnTo>
                                  <a:lnTo>
                                    <a:pt x="41" y="0"/>
                                  </a:lnTo>
                                  <a:lnTo>
                                    <a:pt x="0" y="1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1" name="Freeform 193"/>
                            <p:cNvSpPr/>
                            <p:nvPr/>
                          </p:nvSpPr>
                          <p:spPr bwMode="auto">
                            <a:xfrm>
                              <a:off x="2579" y="3068"/>
                              <a:ext cx="8" cy="4"/>
                            </a:xfrm>
                            <a:custGeom>
                              <a:avLst/>
                              <a:gdLst>
                                <a:gd name="T0" fmla="*/ 0 w 54"/>
                                <a:gd name="T1" fmla="*/ 13 h 33"/>
                                <a:gd name="T2" fmla="*/ 31 w 54"/>
                                <a:gd name="T3" fmla="*/ 33 h 33"/>
                                <a:gd name="T4" fmla="*/ 54 w 54"/>
                                <a:gd name="T5" fmla="*/ 21 h 33"/>
                                <a:gd name="T6" fmla="*/ 22 w 54"/>
                                <a:gd name="T7" fmla="*/ 0 h 33"/>
                                <a:gd name="T8" fmla="*/ 0 w 54"/>
                                <a:gd name="T9" fmla="*/ 13 h 33"/>
                              </a:gdLst>
                              <a:ahLst/>
                              <a:cxnLst>
                                <a:cxn ang="0">
                                  <a:pos x="T0" y="T1"/>
                                </a:cxn>
                                <a:cxn ang="0">
                                  <a:pos x="T2" y="T3"/>
                                </a:cxn>
                                <a:cxn ang="0">
                                  <a:pos x="T4" y="T5"/>
                                </a:cxn>
                                <a:cxn ang="0">
                                  <a:pos x="T6" y="T7"/>
                                </a:cxn>
                                <a:cxn ang="0">
                                  <a:pos x="T8" y="T9"/>
                                </a:cxn>
                              </a:cxnLst>
                              <a:rect l="0" t="0" r="r" b="b"/>
                              <a:pathLst>
                                <a:path w="54" h="33">
                                  <a:moveTo>
                                    <a:pt x="0" y="13"/>
                                  </a:moveTo>
                                  <a:lnTo>
                                    <a:pt x="31" y="33"/>
                                  </a:lnTo>
                                  <a:lnTo>
                                    <a:pt x="54" y="21"/>
                                  </a:lnTo>
                                  <a:lnTo>
                                    <a:pt x="22" y="0"/>
                                  </a:lnTo>
                                  <a:lnTo>
                                    <a:pt x="0"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242" name="Group 194"/>
                        <p:cNvGrpSpPr/>
                        <p:nvPr/>
                      </p:nvGrpSpPr>
                      <p:grpSpPr bwMode="auto">
                        <a:xfrm>
                          <a:off x="2506" y="3084"/>
                          <a:ext cx="128" cy="47"/>
                          <a:chOff x="2506" y="3084"/>
                          <a:chExt cx="128" cy="47"/>
                        </a:xfrm>
                      </p:grpSpPr>
                      <p:sp>
                        <p:nvSpPr>
                          <p:cNvPr id="642243" name="Freeform 195"/>
                          <p:cNvSpPr/>
                          <p:nvPr/>
                        </p:nvSpPr>
                        <p:spPr bwMode="auto">
                          <a:xfrm>
                            <a:off x="2578" y="3106"/>
                            <a:ext cx="56" cy="25"/>
                          </a:xfrm>
                          <a:custGeom>
                            <a:avLst/>
                            <a:gdLst>
                              <a:gd name="T0" fmla="*/ 393 w 393"/>
                              <a:gd name="T1" fmla="*/ 0 h 204"/>
                              <a:gd name="T2" fmla="*/ 11 w 393"/>
                              <a:gd name="T3" fmla="*/ 162 h 204"/>
                              <a:gd name="T4" fmla="*/ 3 w 393"/>
                              <a:gd name="T5" fmla="*/ 172 h 204"/>
                              <a:gd name="T6" fmla="*/ 0 w 393"/>
                              <a:gd name="T7" fmla="*/ 183 h 204"/>
                              <a:gd name="T8" fmla="*/ 3 w 393"/>
                              <a:gd name="T9" fmla="*/ 190 h 204"/>
                              <a:gd name="T10" fmla="*/ 7 w 393"/>
                              <a:gd name="T11" fmla="*/ 200 h 204"/>
                              <a:gd name="T12" fmla="*/ 14 w 393"/>
                              <a:gd name="T13" fmla="*/ 204 h 204"/>
                              <a:gd name="T14" fmla="*/ 384 w 393"/>
                              <a:gd name="T15" fmla="*/ 42 h 204"/>
                              <a:gd name="T16" fmla="*/ 393 w 393"/>
                              <a:gd name="T17" fmla="*/ 0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3" h="204">
                                <a:moveTo>
                                  <a:pt x="393" y="0"/>
                                </a:moveTo>
                                <a:lnTo>
                                  <a:pt x="11" y="162"/>
                                </a:lnTo>
                                <a:lnTo>
                                  <a:pt x="3" y="172"/>
                                </a:lnTo>
                                <a:lnTo>
                                  <a:pt x="0" y="183"/>
                                </a:lnTo>
                                <a:lnTo>
                                  <a:pt x="3" y="190"/>
                                </a:lnTo>
                                <a:lnTo>
                                  <a:pt x="7" y="200"/>
                                </a:lnTo>
                                <a:lnTo>
                                  <a:pt x="14" y="204"/>
                                </a:lnTo>
                                <a:lnTo>
                                  <a:pt x="384" y="42"/>
                                </a:lnTo>
                                <a:lnTo>
                                  <a:pt x="393"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4" name="Freeform 196"/>
                          <p:cNvSpPr/>
                          <p:nvPr/>
                        </p:nvSpPr>
                        <p:spPr bwMode="auto">
                          <a:xfrm>
                            <a:off x="2507" y="3084"/>
                            <a:ext cx="76" cy="43"/>
                          </a:xfrm>
                          <a:custGeom>
                            <a:avLst/>
                            <a:gdLst>
                              <a:gd name="T0" fmla="*/ 535 w 535"/>
                              <a:gd name="T1" fmla="*/ 329 h 343"/>
                              <a:gd name="T2" fmla="*/ 515 w 535"/>
                              <a:gd name="T3" fmla="*/ 336 h 343"/>
                              <a:gd name="T4" fmla="*/ 507 w 535"/>
                              <a:gd name="T5" fmla="*/ 343 h 343"/>
                              <a:gd name="T6" fmla="*/ 0 w 535"/>
                              <a:gd name="T7" fmla="*/ 3 h 343"/>
                              <a:gd name="T8" fmla="*/ 12 w 535"/>
                              <a:gd name="T9" fmla="*/ 1 h 343"/>
                              <a:gd name="T10" fmla="*/ 23 w 535"/>
                              <a:gd name="T11" fmla="*/ 0 h 343"/>
                              <a:gd name="T12" fmla="*/ 35 w 535"/>
                              <a:gd name="T13" fmla="*/ 0 h 343"/>
                              <a:gd name="T14" fmla="*/ 49 w 535"/>
                              <a:gd name="T15" fmla="*/ 2 h 343"/>
                              <a:gd name="T16" fmla="*/ 535 w 535"/>
                              <a:gd name="T17" fmla="*/ 329 h 3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5" h="343">
                                <a:moveTo>
                                  <a:pt x="535" y="329"/>
                                </a:moveTo>
                                <a:lnTo>
                                  <a:pt x="515" y="336"/>
                                </a:lnTo>
                                <a:lnTo>
                                  <a:pt x="507" y="343"/>
                                </a:lnTo>
                                <a:lnTo>
                                  <a:pt x="0" y="3"/>
                                </a:lnTo>
                                <a:lnTo>
                                  <a:pt x="12" y="1"/>
                                </a:lnTo>
                                <a:lnTo>
                                  <a:pt x="23" y="0"/>
                                </a:lnTo>
                                <a:lnTo>
                                  <a:pt x="35" y="0"/>
                                </a:lnTo>
                                <a:lnTo>
                                  <a:pt x="49" y="2"/>
                                </a:lnTo>
                                <a:lnTo>
                                  <a:pt x="535" y="329"/>
                                </a:lnTo>
                                <a:close/>
                              </a:path>
                            </a:pathLst>
                          </a:custGeom>
                          <a:solidFill>
                            <a:srgbClr val="A0A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5" name="Freeform 197"/>
                          <p:cNvSpPr/>
                          <p:nvPr/>
                        </p:nvSpPr>
                        <p:spPr bwMode="auto">
                          <a:xfrm>
                            <a:off x="2506" y="3085"/>
                            <a:ext cx="74" cy="46"/>
                          </a:xfrm>
                          <a:custGeom>
                            <a:avLst/>
                            <a:gdLst>
                              <a:gd name="T0" fmla="*/ 8 w 518"/>
                              <a:gd name="T1" fmla="*/ 0 h 368"/>
                              <a:gd name="T2" fmla="*/ 514 w 518"/>
                              <a:gd name="T3" fmla="*/ 339 h 368"/>
                              <a:gd name="T4" fmla="*/ 512 w 518"/>
                              <a:gd name="T5" fmla="*/ 354 h 368"/>
                              <a:gd name="T6" fmla="*/ 518 w 518"/>
                              <a:gd name="T7" fmla="*/ 368 h 368"/>
                              <a:gd name="T8" fmla="*/ 0 w 518"/>
                              <a:gd name="T9" fmla="*/ 17 h 368"/>
                              <a:gd name="T10" fmla="*/ 0 w 518"/>
                              <a:gd name="T11" fmla="*/ 7 h 368"/>
                              <a:gd name="T12" fmla="*/ 8 w 518"/>
                              <a:gd name="T13" fmla="*/ 0 h 368"/>
                            </a:gdLst>
                            <a:ahLst/>
                            <a:cxnLst>
                              <a:cxn ang="0">
                                <a:pos x="T0" y="T1"/>
                              </a:cxn>
                              <a:cxn ang="0">
                                <a:pos x="T2" y="T3"/>
                              </a:cxn>
                              <a:cxn ang="0">
                                <a:pos x="T4" y="T5"/>
                              </a:cxn>
                              <a:cxn ang="0">
                                <a:pos x="T6" y="T7"/>
                              </a:cxn>
                              <a:cxn ang="0">
                                <a:pos x="T8" y="T9"/>
                              </a:cxn>
                              <a:cxn ang="0">
                                <a:pos x="T10" y="T11"/>
                              </a:cxn>
                              <a:cxn ang="0">
                                <a:pos x="T12" y="T13"/>
                              </a:cxn>
                            </a:cxnLst>
                            <a:rect l="0" t="0" r="r" b="b"/>
                            <a:pathLst>
                              <a:path w="518" h="368">
                                <a:moveTo>
                                  <a:pt x="8" y="0"/>
                                </a:moveTo>
                                <a:lnTo>
                                  <a:pt x="514" y="339"/>
                                </a:lnTo>
                                <a:lnTo>
                                  <a:pt x="512" y="354"/>
                                </a:lnTo>
                                <a:lnTo>
                                  <a:pt x="518" y="368"/>
                                </a:lnTo>
                                <a:lnTo>
                                  <a:pt x="0" y="17"/>
                                </a:lnTo>
                                <a:lnTo>
                                  <a:pt x="0" y="7"/>
                                </a:lnTo>
                                <a:lnTo>
                                  <a:pt x="8"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246" name="Group 198"/>
                      <p:cNvGrpSpPr/>
                      <p:nvPr/>
                    </p:nvGrpSpPr>
                    <p:grpSpPr bwMode="auto">
                      <a:xfrm>
                        <a:off x="2582" y="2996"/>
                        <a:ext cx="100" cy="84"/>
                        <a:chOff x="2582" y="2996"/>
                        <a:chExt cx="100" cy="84"/>
                      </a:xfrm>
                    </p:grpSpPr>
                    <p:sp>
                      <p:nvSpPr>
                        <p:cNvPr id="642247" name="Freeform 199"/>
                        <p:cNvSpPr/>
                        <p:nvPr/>
                      </p:nvSpPr>
                      <p:spPr bwMode="auto">
                        <a:xfrm>
                          <a:off x="2653" y="3028"/>
                          <a:ext cx="29" cy="52"/>
                        </a:xfrm>
                        <a:custGeom>
                          <a:avLst/>
                          <a:gdLst>
                            <a:gd name="T0" fmla="*/ 194 w 208"/>
                            <a:gd name="T1" fmla="*/ 0 h 419"/>
                            <a:gd name="T2" fmla="*/ 208 w 208"/>
                            <a:gd name="T3" fmla="*/ 28 h 419"/>
                            <a:gd name="T4" fmla="*/ 15 w 208"/>
                            <a:gd name="T5" fmla="*/ 419 h 419"/>
                            <a:gd name="T6" fmla="*/ 0 w 208"/>
                            <a:gd name="T7" fmla="*/ 389 h 419"/>
                            <a:gd name="T8" fmla="*/ 194 w 208"/>
                            <a:gd name="T9" fmla="*/ 0 h 419"/>
                          </a:gdLst>
                          <a:ahLst/>
                          <a:cxnLst>
                            <a:cxn ang="0">
                              <a:pos x="T0" y="T1"/>
                            </a:cxn>
                            <a:cxn ang="0">
                              <a:pos x="T2" y="T3"/>
                            </a:cxn>
                            <a:cxn ang="0">
                              <a:pos x="T4" y="T5"/>
                            </a:cxn>
                            <a:cxn ang="0">
                              <a:pos x="T6" y="T7"/>
                            </a:cxn>
                            <a:cxn ang="0">
                              <a:pos x="T8" y="T9"/>
                            </a:cxn>
                          </a:cxnLst>
                          <a:rect l="0" t="0" r="r" b="b"/>
                          <a:pathLst>
                            <a:path w="208" h="419">
                              <a:moveTo>
                                <a:pt x="194" y="0"/>
                              </a:moveTo>
                              <a:lnTo>
                                <a:pt x="208" y="28"/>
                              </a:lnTo>
                              <a:lnTo>
                                <a:pt x="15" y="419"/>
                              </a:lnTo>
                              <a:lnTo>
                                <a:pt x="0" y="389"/>
                              </a:lnTo>
                              <a:lnTo>
                                <a:pt x="194" y="0"/>
                              </a:lnTo>
                              <a:close/>
                            </a:path>
                          </a:pathLst>
                        </a:custGeom>
                        <a:solidFill>
                          <a:srgbClr val="808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8" name="Freeform 200"/>
                        <p:cNvSpPr/>
                        <p:nvPr/>
                      </p:nvSpPr>
                      <p:spPr bwMode="auto">
                        <a:xfrm>
                          <a:off x="2582" y="2996"/>
                          <a:ext cx="99" cy="81"/>
                        </a:xfrm>
                        <a:custGeom>
                          <a:avLst/>
                          <a:gdLst>
                            <a:gd name="T0" fmla="*/ 188 w 690"/>
                            <a:gd name="T1" fmla="*/ 0 h 644"/>
                            <a:gd name="T2" fmla="*/ 690 w 690"/>
                            <a:gd name="T3" fmla="*/ 256 h 644"/>
                            <a:gd name="T4" fmla="*/ 501 w 690"/>
                            <a:gd name="T5" fmla="*/ 644 h 644"/>
                            <a:gd name="T6" fmla="*/ 0 w 690"/>
                            <a:gd name="T7" fmla="*/ 385 h 644"/>
                            <a:gd name="T8" fmla="*/ 188 w 690"/>
                            <a:gd name="T9" fmla="*/ 0 h 644"/>
                          </a:gdLst>
                          <a:ahLst/>
                          <a:cxnLst>
                            <a:cxn ang="0">
                              <a:pos x="T0" y="T1"/>
                            </a:cxn>
                            <a:cxn ang="0">
                              <a:pos x="T2" y="T3"/>
                            </a:cxn>
                            <a:cxn ang="0">
                              <a:pos x="T4" y="T5"/>
                            </a:cxn>
                            <a:cxn ang="0">
                              <a:pos x="T6" y="T7"/>
                            </a:cxn>
                            <a:cxn ang="0">
                              <a:pos x="T8" y="T9"/>
                            </a:cxn>
                          </a:cxnLst>
                          <a:rect l="0" t="0" r="r" b="b"/>
                          <a:pathLst>
                            <a:path w="690" h="644">
                              <a:moveTo>
                                <a:pt x="188" y="0"/>
                              </a:moveTo>
                              <a:lnTo>
                                <a:pt x="690" y="256"/>
                              </a:lnTo>
                              <a:lnTo>
                                <a:pt x="501" y="644"/>
                              </a:lnTo>
                              <a:lnTo>
                                <a:pt x="0" y="385"/>
                              </a:lnTo>
                              <a:lnTo>
                                <a:pt x="188"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49" name="Freeform 201"/>
                        <p:cNvSpPr/>
                        <p:nvPr/>
                      </p:nvSpPr>
                      <p:spPr bwMode="auto">
                        <a:xfrm>
                          <a:off x="2588" y="3002"/>
                          <a:ext cx="88" cy="69"/>
                        </a:xfrm>
                        <a:custGeom>
                          <a:avLst/>
                          <a:gdLst>
                            <a:gd name="T0" fmla="*/ 614 w 614"/>
                            <a:gd name="T1" fmla="*/ 235 h 554"/>
                            <a:gd name="T2" fmla="*/ 457 w 614"/>
                            <a:gd name="T3" fmla="*/ 554 h 554"/>
                            <a:gd name="T4" fmla="*/ 0 w 614"/>
                            <a:gd name="T5" fmla="*/ 322 h 554"/>
                            <a:gd name="T6" fmla="*/ 155 w 614"/>
                            <a:gd name="T7" fmla="*/ 0 h 554"/>
                            <a:gd name="T8" fmla="*/ 614 w 614"/>
                            <a:gd name="T9" fmla="*/ 235 h 554"/>
                          </a:gdLst>
                          <a:ahLst/>
                          <a:cxnLst>
                            <a:cxn ang="0">
                              <a:pos x="T0" y="T1"/>
                            </a:cxn>
                            <a:cxn ang="0">
                              <a:pos x="T2" y="T3"/>
                            </a:cxn>
                            <a:cxn ang="0">
                              <a:pos x="T4" y="T5"/>
                            </a:cxn>
                            <a:cxn ang="0">
                              <a:pos x="T6" y="T7"/>
                            </a:cxn>
                            <a:cxn ang="0">
                              <a:pos x="T8" y="T9"/>
                            </a:cxn>
                          </a:cxnLst>
                          <a:rect l="0" t="0" r="r" b="b"/>
                          <a:pathLst>
                            <a:path w="614" h="554">
                              <a:moveTo>
                                <a:pt x="614" y="235"/>
                              </a:moveTo>
                              <a:lnTo>
                                <a:pt x="457" y="554"/>
                              </a:lnTo>
                              <a:lnTo>
                                <a:pt x="0" y="322"/>
                              </a:lnTo>
                              <a:lnTo>
                                <a:pt x="155" y="0"/>
                              </a:lnTo>
                              <a:lnTo>
                                <a:pt x="614" y="235"/>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0" name="Freeform 202"/>
                        <p:cNvSpPr/>
                        <p:nvPr/>
                      </p:nvSpPr>
                      <p:spPr bwMode="auto">
                        <a:xfrm>
                          <a:off x="2592" y="3005"/>
                          <a:ext cx="80" cy="63"/>
                        </a:xfrm>
                        <a:custGeom>
                          <a:avLst/>
                          <a:gdLst>
                            <a:gd name="T0" fmla="*/ 560 w 560"/>
                            <a:gd name="T1" fmla="*/ 214 h 502"/>
                            <a:gd name="T2" fmla="*/ 423 w 560"/>
                            <a:gd name="T3" fmla="*/ 502 h 502"/>
                            <a:gd name="T4" fmla="*/ 0 w 560"/>
                            <a:gd name="T5" fmla="*/ 286 h 502"/>
                            <a:gd name="T6" fmla="*/ 140 w 560"/>
                            <a:gd name="T7" fmla="*/ 0 h 502"/>
                            <a:gd name="T8" fmla="*/ 560 w 560"/>
                            <a:gd name="T9" fmla="*/ 214 h 502"/>
                          </a:gdLst>
                          <a:ahLst/>
                          <a:cxnLst>
                            <a:cxn ang="0">
                              <a:pos x="T0" y="T1"/>
                            </a:cxn>
                            <a:cxn ang="0">
                              <a:pos x="T2" y="T3"/>
                            </a:cxn>
                            <a:cxn ang="0">
                              <a:pos x="T4" y="T5"/>
                            </a:cxn>
                            <a:cxn ang="0">
                              <a:pos x="T6" y="T7"/>
                            </a:cxn>
                            <a:cxn ang="0">
                              <a:pos x="T8" y="T9"/>
                            </a:cxn>
                          </a:cxnLst>
                          <a:rect l="0" t="0" r="r" b="b"/>
                          <a:pathLst>
                            <a:path w="560" h="502">
                              <a:moveTo>
                                <a:pt x="560" y="214"/>
                              </a:moveTo>
                              <a:lnTo>
                                <a:pt x="423" y="502"/>
                              </a:lnTo>
                              <a:lnTo>
                                <a:pt x="0" y="286"/>
                              </a:lnTo>
                              <a:lnTo>
                                <a:pt x="140" y="0"/>
                              </a:lnTo>
                              <a:lnTo>
                                <a:pt x="560" y="214"/>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1" name="Freeform 203"/>
                        <p:cNvSpPr/>
                        <p:nvPr/>
                      </p:nvSpPr>
                      <p:spPr bwMode="auto">
                        <a:xfrm>
                          <a:off x="2646" y="3069"/>
                          <a:ext cx="7" cy="6"/>
                        </a:xfrm>
                        <a:custGeom>
                          <a:avLst/>
                          <a:gdLst>
                            <a:gd name="T0" fmla="*/ 15 w 52"/>
                            <a:gd name="T1" fmla="*/ 0 h 47"/>
                            <a:gd name="T2" fmla="*/ 52 w 52"/>
                            <a:gd name="T3" fmla="*/ 19 h 47"/>
                            <a:gd name="T4" fmla="*/ 38 w 52"/>
                            <a:gd name="T5" fmla="*/ 47 h 47"/>
                            <a:gd name="T6" fmla="*/ 0 w 52"/>
                            <a:gd name="T7" fmla="*/ 28 h 47"/>
                            <a:gd name="T8" fmla="*/ 15 w 52"/>
                            <a:gd name="T9" fmla="*/ 0 h 47"/>
                          </a:gdLst>
                          <a:ahLst/>
                          <a:cxnLst>
                            <a:cxn ang="0">
                              <a:pos x="T0" y="T1"/>
                            </a:cxn>
                            <a:cxn ang="0">
                              <a:pos x="T2" y="T3"/>
                            </a:cxn>
                            <a:cxn ang="0">
                              <a:pos x="T4" y="T5"/>
                            </a:cxn>
                            <a:cxn ang="0">
                              <a:pos x="T6" y="T7"/>
                            </a:cxn>
                            <a:cxn ang="0">
                              <a:pos x="T8" y="T9"/>
                            </a:cxn>
                          </a:cxnLst>
                          <a:rect l="0" t="0" r="r" b="b"/>
                          <a:pathLst>
                            <a:path w="52" h="47">
                              <a:moveTo>
                                <a:pt x="15" y="0"/>
                              </a:moveTo>
                              <a:lnTo>
                                <a:pt x="52" y="19"/>
                              </a:lnTo>
                              <a:lnTo>
                                <a:pt x="38" y="47"/>
                              </a:lnTo>
                              <a:lnTo>
                                <a:pt x="0" y="28"/>
                              </a:lnTo>
                              <a:lnTo>
                                <a:pt x="15" y="0"/>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2" name="Freeform 204"/>
                        <p:cNvSpPr/>
                        <p:nvPr/>
                      </p:nvSpPr>
                      <p:spPr bwMode="auto">
                        <a:xfrm>
                          <a:off x="2583" y="3044"/>
                          <a:ext cx="73" cy="36"/>
                        </a:xfrm>
                        <a:custGeom>
                          <a:avLst/>
                          <a:gdLst>
                            <a:gd name="T0" fmla="*/ 511 w 511"/>
                            <a:gd name="T1" fmla="*/ 291 h 291"/>
                            <a:gd name="T2" fmla="*/ 15 w 511"/>
                            <a:gd name="T3" fmla="*/ 33 h 291"/>
                            <a:gd name="T4" fmla="*/ 0 w 511"/>
                            <a:gd name="T5" fmla="*/ 0 h 291"/>
                            <a:gd name="T6" fmla="*/ 502 w 511"/>
                            <a:gd name="T7" fmla="*/ 262 h 291"/>
                            <a:gd name="T8" fmla="*/ 511 w 511"/>
                            <a:gd name="T9" fmla="*/ 291 h 291"/>
                          </a:gdLst>
                          <a:ahLst/>
                          <a:cxnLst>
                            <a:cxn ang="0">
                              <a:pos x="T0" y="T1"/>
                            </a:cxn>
                            <a:cxn ang="0">
                              <a:pos x="T2" y="T3"/>
                            </a:cxn>
                            <a:cxn ang="0">
                              <a:pos x="T4" y="T5"/>
                            </a:cxn>
                            <a:cxn ang="0">
                              <a:pos x="T6" y="T7"/>
                            </a:cxn>
                            <a:cxn ang="0">
                              <a:pos x="T8" y="T9"/>
                            </a:cxn>
                          </a:cxnLst>
                          <a:rect l="0" t="0" r="r" b="b"/>
                          <a:pathLst>
                            <a:path w="511" h="291">
                              <a:moveTo>
                                <a:pt x="511" y="291"/>
                              </a:moveTo>
                              <a:lnTo>
                                <a:pt x="15" y="33"/>
                              </a:lnTo>
                              <a:lnTo>
                                <a:pt x="0" y="0"/>
                              </a:lnTo>
                              <a:lnTo>
                                <a:pt x="502" y="262"/>
                              </a:lnTo>
                              <a:lnTo>
                                <a:pt x="511" y="291"/>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3" name="Freeform 205"/>
                        <p:cNvSpPr/>
                        <p:nvPr/>
                      </p:nvSpPr>
                      <p:spPr bwMode="auto">
                        <a:xfrm>
                          <a:off x="2600" y="3053"/>
                          <a:ext cx="31" cy="21"/>
                        </a:xfrm>
                        <a:custGeom>
                          <a:avLst/>
                          <a:gdLst>
                            <a:gd name="T0" fmla="*/ 0 w 222"/>
                            <a:gd name="T1" fmla="*/ 83 h 172"/>
                            <a:gd name="T2" fmla="*/ 57 w 222"/>
                            <a:gd name="T3" fmla="*/ 0 h 172"/>
                            <a:gd name="T4" fmla="*/ 222 w 222"/>
                            <a:gd name="T5" fmla="*/ 84 h 172"/>
                            <a:gd name="T6" fmla="*/ 165 w 222"/>
                            <a:gd name="T7" fmla="*/ 172 h 172"/>
                            <a:gd name="T8" fmla="*/ 0 w 222"/>
                            <a:gd name="T9" fmla="*/ 83 h 172"/>
                          </a:gdLst>
                          <a:ahLst/>
                          <a:cxnLst>
                            <a:cxn ang="0">
                              <a:pos x="T0" y="T1"/>
                            </a:cxn>
                            <a:cxn ang="0">
                              <a:pos x="T2" y="T3"/>
                            </a:cxn>
                            <a:cxn ang="0">
                              <a:pos x="T4" y="T5"/>
                            </a:cxn>
                            <a:cxn ang="0">
                              <a:pos x="T6" y="T7"/>
                            </a:cxn>
                            <a:cxn ang="0">
                              <a:pos x="T8" y="T9"/>
                            </a:cxn>
                          </a:cxnLst>
                          <a:rect l="0" t="0" r="r" b="b"/>
                          <a:pathLst>
                            <a:path w="222" h="172">
                              <a:moveTo>
                                <a:pt x="0" y="83"/>
                              </a:moveTo>
                              <a:lnTo>
                                <a:pt x="57" y="0"/>
                              </a:lnTo>
                              <a:lnTo>
                                <a:pt x="222" y="84"/>
                              </a:lnTo>
                              <a:lnTo>
                                <a:pt x="165" y="172"/>
                              </a:lnTo>
                              <a:lnTo>
                                <a:pt x="0" y="83"/>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254" name="Group 206"/>
                    <p:cNvGrpSpPr/>
                    <p:nvPr/>
                  </p:nvGrpSpPr>
                  <p:grpSpPr bwMode="auto">
                    <a:xfrm>
                      <a:off x="2644" y="3109"/>
                      <a:ext cx="74" cy="35"/>
                      <a:chOff x="2644" y="3109"/>
                      <a:chExt cx="74" cy="35"/>
                    </a:xfrm>
                  </p:grpSpPr>
                  <p:sp>
                    <p:nvSpPr>
                      <p:cNvPr id="642255" name="Freeform 207"/>
                      <p:cNvSpPr/>
                      <p:nvPr/>
                    </p:nvSpPr>
                    <p:spPr bwMode="auto">
                      <a:xfrm>
                        <a:off x="2645" y="3112"/>
                        <a:ext cx="59" cy="32"/>
                      </a:xfrm>
                      <a:custGeom>
                        <a:avLst/>
                        <a:gdLst>
                          <a:gd name="T0" fmla="*/ 0 w 412"/>
                          <a:gd name="T1" fmla="*/ 147 h 252"/>
                          <a:gd name="T2" fmla="*/ 266 w 412"/>
                          <a:gd name="T3" fmla="*/ 252 h 252"/>
                          <a:gd name="T4" fmla="*/ 412 w 412"/>
                          <a:gd name="T5" fmla="*/ 111 h 252"/>
                          <a:gd name="T6" fmla="*/ 148 w 412"/>
                          <a:gd name="T7" fmla="*/ 0 h 252"/>
                          <a:gd name="T8" fmla="*/ 0 w 412"/>
                          <a:gd name="T9" fmla="*/ 147 h 252"/>
                        </a:gdLst>
                        <a:ahLst/>
                        <a:cxnLst>
                          <a:cxn ang="0">
                            <a:pos x="T0" y="T1"/>
                          </a:cxn>
                          <a:cxn ang="0">
                            <a:pos x="T2" y="T3"/>
                          </a:cxn>
                          <a:cxn ang="0">
                            <a:pos x="T4" y="T5"/>
                          </a:cxn>
                          <a:cxn ang="0">
                            <a:pos x="T6" y="T7"/>
                          </a:cxn>
                          <a:cxn ang="0">
                            <a:pos x="T8" y="T9"/>
                          </a:cxn>
                        </a:cxnLst>
                        <a:rect l="0" t="0" r="r" b="b"/>
                        <a:pathLst>
                          <a:path w="412" h="252">
                            <a:moveTo>
                              <a:pt x="0" y="147"/>
                            </a:moveTo>
                            <a:lnTo>
                              <a:pt x="266" y="252"/>
                            </a:lnTo>
                            <a:lnTo>
                              <a:pt x="412" y="111"/>
                            </a:lnTo>
                            <a:lnTo>
                              <a:pt x="148" y="0"/>
                            </a:lnTo>
                            <a:lnTo>
                              <a:pt x="0" y="147"/>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256" name="Group 208"/>
                      <p:cNvGrpSpPr/>
                      <p:nvPr/>
                    </p:nvGrpSpPr>
                    <p:grpSpPr bwMode="auto">
                      <a:xfrm>
                        <a:off x="2644" y="3109"/>
                        <a:ext cx="61" cy="28"/>
                        <a:chOff x="2644" y="3109"/>
                        <a:chExt cx="61" cy="28"/>
                      </a:xfrm>
                    </p:grpSpPr>
                    <p:sp>
                      <p:nvSpPr>
                        <p:cNvPr id="642257" name="Freeform 209"/>
                        <p:cNvSpPr/>
                        <p:nvPr/>
                      </p:nvSpPr>
                      <p:spPr bwMode="auto">
                        <a:xfrm>
                          <a:off x="2644" y="3109"/>
                          <a:ext cx="61" cy="28"/>
                        </a:xfrm>
                        <a:custGeom>
                          <a:avLst/>
                          <a:gdLst>
                            <a:gd name="T0" fmla="*/ 0 w 431"/>
                            <a:gd name="T1" fmla="*/ 68 h 221"/>
                            <a:gd name="T2" fmla="*/ 165 w 431"/>
                            <a:gd name="T3" fmla="*/ 221 h 221"/>
                            <a:gd name="T4" fmla="*/ 431 w 431"/>
                            <a:gd name="T5" fmla="*/ 150 h 221"/>
                            <a:gd name="T6" fmla="*/ 266 w 431"/>
                            <a:gd name="T7" fmla="*/ 0 h 221"/>
                            <a:gd name="T8" fmla="*/ 0 w 431"/>
                            <a:gd name="T9" fmla="*/ 68 h 221"/>
                          </a:gdLst>
                          <a:ahLst/>
                          <a:cxnLst>
                            <a:cxn ang="0">
                              <a:pos x="T0" y="T1"/>
                            </a:cxn>
                            <a:cxn ang="0">
                              <a:pos x="T2" y="T3"/>
                            </a:cxn>
                            <a:cxn ang="0">
                              <a:pos x="T4" y="T5"/>
                            </a:cxn>
                            <a:cxn ang="0">
                              <a:pos x="T6" y="T7"/>
                            </a:cxn>
                            <a:cxn ang="0">
                              <a:pos x="T8" y="T9"/>
                            </a:cxn>
                          </a:cxnLst>
                          <a:rect l="0" t="0" r="r" b="b"/>
                          <a:pathLst>
                            <a:path w="431" h="221">
                              <a:moveTo>
                                <a:pt x="0" y="68"/>
                              </a:moveTo>
                              <a:lnTo>
                                <a:pt x="165" y="221"/>
                              </a:lnTo>
                              <a:lnTo>
                                <a:pt x="431" y="150"/>
                              </a:lnTo>
                              <a:lnTo>
                                <a:pt x="266" y="0"/>
                              </a:lnTo>
                              <a:lnTo>
                                <a:pt x="0" y="68"/>
                              </a:lnTo>
                              <a:close/>
                            </a:path>
                          </a:pathLst>
                        </a:custGeom>
                        <a:solidFill>
                          <a:srgbClr val="404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58" name="Freeform 210"/>
                        <p:cNvSpPr/>
                        <p:nvPr/>
                      </p:nvSpPr>
                      <p:spPr bwMode="auto">
                        <a:xfrm>
                          <a:off x="2646" y="3114"/>
                          <a:ext cx="21" cy="9"/>
                        </a:xfrm>
                        <a:custGeom>
                          <a:avLst/>
                          <a:gdLst>
                            <a:gd name="T0" fmla="*/ 0 w 147"/>
                            <a:gd name="T1" fmla="*/ 31 h 67"/>
                            <a:gd name="T2" fmla="*/ 37 w 147"/>
                            <a:gd name="T3" fmla="*/ 67 h 67"/>
                            <a:gd name="T4" fmla="*/ 147 w 147"/>
                            <a:gd name="T5" fmla="*/ 35 h 67"/>
                            <a:gd name="T6" fmla="*/ 112 w 147"/>
                            <a:gd name="T7" fmla="*/ 0 h 67"/>
                            <a:gd name="T8" fmla="*/ 0 w 147"/>
                            <a:gd name="T9" fmla="*/ 31 h 67"/>
                          </a:gdLst>
                          <a:ahLst/>
                          <a:cxnLst>
                            <a:cxn ang="0">
                              <a:pos x="T0" y="T1"/>
                            </a:cxn>
                            <a:cxn ang="0">
                              <a:pos x="T2" y="T3"/>
                            </a:cxn>
                            <a:cxn ang="0">
                              <a:pos x="T4" y="T5"/>
                            </a:cxn>
                            <a:cxn ang="0">
                              <a:pos x="T6" y="T7"/>
                            </a:cxn>
                            <a:cxn ang="0">
                              <a:pos x="T8" y="T9"/>
                            </a:cxn>
                          </a:cxnLst>
                          <a:rect l="0" t="0" r="r" b="b"/>
                          <a:pathLst>
                            <a:path w="147" h="67">
                              <a:moveTo>
                                <a:pt x="0" y="31"/>
                              </a:moveTo>
                              <a:lnTo>
                                <a:pt x="37" y="67"/>
                              </a:lnTo>
                              <a:lnTo>
                                <a:pt x="147" y="35"/>
                              </a:lnTo>
                              <a:lnTo>
                                <a:pt x="112" y="0"/>
                              </a:lnTo>
                              <a:lnTo>
                                <a:pt x="0" y="31"/>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259" name="Group 211"/>
                      <p:cNvGrpSpPr/>
                      <p:nvPr/>
                    </p:nvGrpSpPr>
                    <p:grpSpPr bwMode="auto">
                      <a:xfrm>
                        <a:off x="2657" y="3114"/>
                        <a:ext cx="61" cy="28"/>
                        <a:chOff x="2657" y="3114"/>
                        <a:chExt cx="61" cy="28"/>
                      </a:xfrm>
                    </p:grpSpPr>
                    <p:sp>
                      <p:nvSpPr>
                        <p:cNvPr id="642260" name="Freeform 212"/>
                        <p:cNvSpPr/>
                        <p:nvPr/>
                      </p:nvSpPr>
                      <p:spPr bwMode="auto">
                        <a:xfrm>
                          <a:off x="2657" y="3114"/>
                          <a:ext cx="61" cy="28"/>
                        </a:xfrm>
                        <a:custGeom>
                          <a:avLst/>
                          <a:gdLst>
                            <a:gd name="T0" fmla="*/ 0 w 427"/>
                            <a:gd name="T1" fmla="*/ 67 h 220"/>
                            <a:gd name="T2" fmla="*/ 164 w 427"/>
                            <a:gd name="T3" fmla="*/ 220 h 220"/>
                            <a:gd name="T4" fmla="*/ 427 w 427"/>
                            <a:gd name="T5" fmla="*/ 153 h 220"/>
                            <a:gd name="T6" fmla="*/ 260 w 427"/>
                            <a:gd name="T7" fmla="*/ 0 h 220"/>
                            <a:gd name="T8" fmla="*/ 0 w 427"/>
                            <a:gd name="T9" fmla="*/ 67 h 220"/>
                          </a:gdLst>
                          <a:ahLst/>
                          <a:cxnLst>
                            <a:cxn ang="0">
                              <a:pos x="T0" y="T1"/>
                            </a:cxn>
                            <a:cxn ang="0">
                              <a:pos x="T2" y="T3"/>
                            </a:cxn>
                            <a:cxn ang="0">
                              <a:pos x="T4" y="T5"/>
                            </a:cxn>
                            <a:cxn ang="0">
                              <a:pos x="T6" y="T7"/>
                            </a:cxn>
                            <a:cxn ang="0">
                              <a:pos x="T8" y="T9"/>
                            </a:cxn>
                          </a:cxnLst>
                          <a:rect l="0" t="0" r="r" b="b"/>
                          <a:pathLst>
                            <a:path w="427" h="220">
                              <a:moveTo>
                                <a:pt x="0" y="67"/>
                              </a:moveTo>
                              <a:lnTo>
                                <a:pt x="164" y="220"/>
                              </a:lnTo>
                              <a:lnTo>
                                <a:pt x="427" y="153"/>
                              </a:lnTo>
                              <a:lnTo>
                                <a:pt x="260" y="0"/>
                              </a:lnTo>
                              <a:lnTo>
                                <a:pt x="0" y="67"/>
                              </a:lnTo>
                              <a:close/>
                            </a:path>
                          </a:pathLst>
                        </a:custGeom>
                        <a:solidFill>
                          <a:srgbClr val="606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1" name="Oval 213"/>
                        <p:cNvSpPr>
                          <a:spLocks noChangeArrowheads="1"/>
                        </p:cNvSpPr>
                        <p:nvPr/>
                      </p:nvSpPr>
                      <p:spPr bwMode="auto">
                        <a:xfrm>
                          <a:off x="2681" y="3123"/>
                          <a:ext cx="14" cy="9"/>
                        </a:xfrm>
                        <a:prstGeom prst="ellipse">
                          <a:avLst/>
                        </a:prstGeom>
                        <a:solidFill>
                          <a:srgbClr val="404040"/>
                        </a:solidFill>
                        <a:ln w="1588">
                          <a:solidFill>
                            <a:srgbClr val="000000"/>
                          </a:solidFill>
                          <a:round/>
                        </a:ln>
                      </p:spPr>
                      <p:txBody>
                        <a:bodyPr/>
                        <a:lstStyle/>
                        <a:p>
                          <a:endParaRPr lang="zh-CN" altLang="en-US"/>
                        </a:p>
                      </p:txBody>
                    </p:sp>
                    <p:sp>
                      <p:nvSpPr>
                        <p:cNvPr id="642262" name="Freeform 214"/>
                        <p:cNvSpPr/>
                        <p:nvPr/>
                      </p:nvSpPr>
                      <p:spPr bwMode="auto">
                        <a:xfrm>
                          <a:off x="2658" y="3119"/>
                          <a:ext cx="21" cy="8"/>
                        </a:xfrm>
                        <a:custGeom>
                          <a:avLst/>
                          <a:gdLst>
                            <a:gd name="T0" fmla="*/ 0 w 148"/>
                            <a:gd name="T1" fmla="*/ 31 h 66"/>
                            <a:gd name="T2" fmla="*/ 37 w 148"/>
                            <a:gd name="T3" fmla="*/ 66 h 66"/>
                            <a:gd name="T4" fmla="*/ 148 w 148"/>
                            <a:gd name="T5" fmla="*/ 34 h 66"/>
                            <a:gd name="T6" fmla="*/ 113 w 148"/>
                            <a:gd name="T7" fmla="*/ 0 h 66"/>
                            <a:gd name="T8" fmla="*/ 0 w 148"/>
                            <a:gd name="T9" fmla="*/ 31 h 66"/>
                          </a:gdLst>
                          <a:ahLst/>
                          <a:cxnLst>
                            <a:cxn ang="0">
                              <a:pos x="T0" y="T1"/>
                            </a:cxn>
                            <a:cxn ang="0">
                              <a:pos x="T2" y="T3"/>
                            </a:cxn>
                            <a:cxn ang="0">
                              <a:pos x="T4" y="T5"/>
                            </a:cxn>
                            <a:cxn ang="0">
                              <a:pos x="T6" y="T7"/>
                            </a:cxn>
                            <a:cxn ang="0">
                              <a:pos x="T8" y="T9"/>
                            </a:cxn>
                          </a:cxnLst>
                          <a:rect l="0" t="0" r="r" b="b"/>
                          <a:pathLst>
                            <a:path w="148" h="66">
                              <a:moveTo>
                                <a:pt x="0" y="31"/>
                              </a:moveTo>
                              <a:lnTo>
                                <a:pt x="37" y="66"/>
                              </a:lnTo>
                              <a:lnTo>
                                <a:pt x="148" y="34"/>
                              </a:lnTo>
                              <a:lnTo>
                                <a:pt x="113" y="0"/>
                              </a:lnTo>
                              <a:lnTo>
                                <a:pt x="0" y="3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grpSp>
        </p:grpSp>
        <p:grpSp>
          <p:nvGrpSpPr>
            <p:cNvPr id="642263" name="Group 215"/>
            <p:cNvGrpSpPr/>
            <p:nvPr/>
          </p:nvGrpSpPr>
          <p:grpSpPr bwMode="auto">
            <a:xfrm>
              <a:off x="2358" y="3018"/>
              <a:ext cx="168" cy="199"/>
              <a:chOff x="2358" y="3018"/>
              <a:chExt cx="168" cy="199"/>
            </a:xfrm>
          </p:grpSpPr>
          <p:grpSp>
            <p:nvGrpSpPr>
              <p:cNvPr id="642264" name="Group 216"/>
              <p:cNvGrpSpPr/>
              <p:nvPr/>
            </p:nvGrpSpPr>
            <p:grpSpPr bwMode="auto">
              <a:xfrm>
                <a:off x="2358" y="3075"/>
                <a:ext cx="168" cy="142"/>
                <a:chOff x="2358" y="3075"/>
                <a:chExt cx="168" cy="142"/>
              </a:xfrm>
            </p:grpSpPr>
            <p:grpSp>
              <p:nvGrpSpPr>
                <p:cNvPr id="642265" name="Group 217"/>
                <p:cNvGrpSpPr/>
                <p:nvPr/>
              </p:nvGrpSpPr>
              <p:grpSpPr bwMode="auto">
                <a:xfrm>
                  <a:off x="2451" y="3129"/>
                  <a:ext cx="56" cy="62"/>
                  <a:chOff x="2451" y="3129"/>
                  <a:chExt cx="56" cy="62"/>
                </a:xfrm>
              </p:grpSpPr>
              <p:sp>
                <p:nvSpPr>
                  <p:cNvPr id="642266" name="Freeform 218"/>
                  <p:cNvSpPr/>
                  <p:nvPr/>
                </p:nvSpPr>
                <p:spPr bwMode="auto">
                  <a:xfrm>
                    <a:off x="2458" y="3129"/>
                    <a:ext cx="48" cy="31"/>
                  </a:xfrm>
                  <a:custGeom>
                    <a:avLst/>
                    <a:gdLst>
                      <a:gd name="T0" fmla="*/ 334 w 334"/>
                      <a:gd name="T1" fmla="*/ 49 h 252"/>
                      <a:gd name="T2" fmla="*/ 320 w 334"/>
                      <a:gd name="T3" fmla="*/ 104 h 252"/>
                      <a:gd name="T4" fmla="*/ 307 w 334"/>
                      <a:gd name="T5" fmla="*/ 122 h 252"/>
                      <a:gd name="T6" fmla="*/ 303 w 334"/>
                      <a:gd name="T7" fmla="*/ 129 h 252"/>
                      <a:gd name="T8" fmla="*/ 305 w 334"/>
                      <a:gd name="T9" fmla="*/ 145 h 252"/>
                      <a:gd name="T10" fmla="*/ 309 w 334"/>
                      <a:gd name="T11" fmla="*/ 160 h 252"/>
                      <a:gd name="T12" fmla="*/ 310 w 334"/>
                      <a:gd name="T13" fmla="*/ 177 h 252"/>
                      <a:gd name="T14" fmla="*/ 292 w 334"/>
                      <a:gd name="T15" fmla="*/ 204 h 252"/>
                      <a:gd name="T16" fmla="*/ 113 w 334"/>
                      <a:gd name="T17" fmla="*/ 167 h 252"/>
                      <a:gd name="T18" fmla="*/ 58 w 334"/>
                      <a:gd name="T19" fmla="*/ 209 h 252"/>
                      <a:gd name="T20" fmla="*/ 42 w 334"/>
                      <a:gd name="T21" fmla="*/ 227 h 252"/>
                      <a:gd name="T22" fmla="*/ 30 w 334"/>
                      <a:gd name="T23" fmla="*/ 245 h 252"/>
                      <a:gd name="T24" fmla="*/ 16 w 334"/>
                      <a:gd name="T25" fmla="*/ 252 h 252"/>
                      <a:gd name="T26" fmla="*/ 7 w 334"/>
                      <a:gd name="T27" fmla="*/ 251 h 252"/>
                      <a:gd name="T28" fmla="*/ 2 w 334"/>
                      <a:gd name="T29" fmla="*/ 246 h 252"/>
                      <a:gd name="T30" fmla="*/ 0 w 334"/>
                      <a:gd name="T31" fmla="*/ 236 h 252"/>
                      <a:gd name="T32" fmla="*/ 2 w 334"/>
                      <a:gd name="T33" fmla="*/ 224 h 252"/>
                      <a:gd name="T34" fmla="*/ 7 w 334"/>
                      <a:gd name="T35" fmla="*/ 215 h 252"/>
                      <a:gd name="T36" fmla="*/ 22 w 334"/>
                      <a:gd name="T37" fmla="*/ 192 h 252"/>
                      <a:gd name="T38" fmla="*/ 33 w 334"/>
                      <a:gd name="T39" fmla="*/ 182 h 252"/>
                      <a:gd name="T40" fmla="*/ 46 w 334"/>
                      <a:gd name="T41" fmla="*/ 170 h 252"/>
                      <a:gd name="T42" fmla="*/ 59 w 334"/>
                      <a:gd name="T43" fmla="*/ 151 h 252"/>
                      <a:gd name="T44" fmla="*/ 69 w 334"/>
                      <a:gd name="T45" fmla="*/ 135 h 252"/>
                      <a:gd name="T46" fmla="*/ 80 w 334"/>
                      <a:gd name="T47" fmla="*/ 124 h 252"/>
                      <a:gd name="T48" fmla="*/ 91 w 334"/>
                      <a:gd name="T49" fmla="*/ 117 h 252"/>
                      <a:gd name="T50" fmla="*/ 125 w 334"/>
                      <a:gd name="T51" fmla="*/ 93 h 252"/>
                      <a:gd name="T52" fmla="*/ 153 w 334"/>
                      <a:gd name="T53" fmla="*/ 73 h 252"/>
                      <a:gd name="T54" fmla="*/ 178 w 334"/>
                      <a:gd name="T55" fmla="*/ 59 h 252"/>
                      <a:gd name="T56" fmla="*/ 197 w 334"/>
                      <a:gd name="T57" fmla="*/ 48 h 252"/>
                      <a:gd name="T58" fmla="*/ 193 w 334"/>
                      <a:gd name="T59" fmla="*/ 37 h 252"/>
                      <a:gd name="T60" fmla="*/ 197 w 334"/>
                      <a:gd name="T61" fmla="*/ 23 h 252"/>
                      <a:gd name="T62" fmla="*/ 221 w 334"/>
                      <a:gd name="T63" fmla="*/ 0 h 252"/>
                      <a:gd name="T64" fmla="*/ 334 w 334"/>
                      <a:gd name="T65" fmla="*/ 49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4" h="252">
                        <a:moveTo>
                          <a:pt x="334" y="49"/>
                        </a:moveTo>
                        <a:lnTo>
                          <a:pt x="320" y="104"/>
                        </a:lnTo>
                        <a:lnTo>
                          <a:pt x="307" y="122"/>
                        </a:lnTo>
                        <a:lnTo>
                          <a:pt x="303" y="129"/>
                        </a:lnTo>
                        <a:lnTo>
                          <a:pt x="305" y="145"/>
                        </a:lnTo>
                        <a:lnTo>
                          <a:pt x="309" y="160"/>
                        </a:lnTo>
                        <a:lnTo>
                          <a:pt x="310" y="177"/>
                        </a:lnTo>
                        <a:lnTo>
                          <a:pt x="292" y="204"/>
                        </a:lnTo>
                        <a:lnTo>
                          <a:pt x="113" y="167"/>
                        </a:lnTo>
                        <a:lnTo>
                          <a:pt x="58" y="209"/>
                        </a:lnTo>
                        <a:lnTo>
                          <a:pt x="42" y="227"/>
                        </a:lnTo>
                        <a:lnTo>
                          <a:pt x="30" y="245"/>
                        </a:lnTo>
                        <a:lnTo>
                          <a:pt x="16" y="252"/>
                        </a:lnTo>
                        <a:lnTo>
                          <a:pt x="7" y="251"/>
                        </a:lnTo>
                        <a:lnTo>
                          <a:pt x="2" y="246"/>
                        </a:lnTo>
                        <a:lnTo>
                          <a:pt x="0" y="236"/>
                        </a:lnTo>
                        <a:lnTo>
                          <a:pt x="2" y="224"/>
                        </a:lnTo>
                        <a:lnTo>
                          <a:pt x="7" y="215"/>
                        </a:lnTo>
                        <a:lnTo>
                          <a:pt x="22" y="192"/>
                        </a:lnTo>
                        <a:lnTo>
                          <a:pt x="33" y="182"/>
                        </a:lnTo>
                        <a:lnTo>
                          <a:pt x="46" y="170"/>
                        </a:lnTo>
                        <a:lnTo>
                          <a:pt x="59" y="151"/>
                        </a:lnTo>
                        <a:lnTo>
                          <a:pt x="69" y="135"/>
                        </a:lnTo>
                        <a:lnTo>
                          <a:pt x="80" y="124"/>
                        </a:lnTo>
                        <a:lnTo>
                          <a:pt x="91" y="117"/>
                        </a:lnTo>
                        <a:lnTo>
                          <a:pt x="125" y="93"/>
                        </a:lnTo>
                        <a:lnTo>
                          <a:pt x="153" y="73"/>
                        </a:lnTo>
                        <a:lnTo>
                          <a:pt x="178" y="59"/>
                        </a:lnTo>
                        <a:lnTo>
                          <a:pt x="197" y="48"/>
                        </a:lnTo>
                        <a:lnTo>
                          <a:pt x="193" y="37"/>
                        </a:lnTo>
                        <a:lnTo>
                          <a:pt x="197" y="23"/>
                        </a:lnTo>
                        <a:lnTo>
                          <a:pt x="221" y="0"/>
                        </a:lnTo>
                        <a:lnTo>
                          <a:pt x="334" y="4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7" name="Freeform 219"/>
                  <p:cNvSpPr/>
                  <p:nvPr/>
                </p:nvSpPr>
                <p:spPr bwMode="auto">
                  <a:xfrm>
                    <a:off x="2451" y="3140"/>
                    <a:ext cx="56" cy="51"/>
                  </a:xfrm>
                  <a:custGeom>
                    <a:avLst/>
                    <a:gdLst>
                      <a:gd name="T0" fmla="*/ 0 w 389"/>
                      <a:gd name="T1" fmla="*/ 301 h 409"/>
                      <a:gd name="T2" fmla="*/ 22 w 389"/>
                      <a:gd name="T3" fmla="*/ 275 h 409"/>
                      <a:gd name="T4" fmla="*/ 42 w 389"/>
                      <a:gd name="T5" fmla="*/ 259 h 409"/>
                      <a:gd name="T6" fmla="*/ 81 w 389"/>
                      <a:gd name="T7" fmla="*/ 232 h 409"/>
                      <a:gd name="T8" fmla="*/ 80 w 389"/>
                      <a:gd name="T9" fmla="*/ 204 h 409"/>
                      <a:gd name="T10" fmla="*/ 79 w 389"/>
                      <a:gd name="T11" fmla="*/ 171 h 409"/>
                      <a:gd name="T12" fmla="*/ 81 w 389"/>
                      <a:gd name="T13" fmla="*/ 142 h 409"/>
                      <a:gd name="T14" fmla="*/ 84 w 389"/>
                      <a:gd name="T15" fmla="*/ 112 h 409"/>
                      <a:gd name="T16" fmla="*/ 89 w 389"/>
                      <a:gd name="T17" fmla="*/ 102 h 409"/>
                      <a:gd name="T18" fmla="*/ 99 w 389"/>
                      <a:gd name="T19" fmla="*/ 94 h 409"/>
                      <a:gd name="T20" fmla="*/ 113 w 389"/>
                      <a:gd name="T21" fmla="*/ 84 h 409"/>
                      <a:gd name="T22" fmla="*/ 127 w 389"/>
                      <a:gd name="T23" fmla="*/ 74 h 409"/>
                      <a:gd name="T24" fmla="*/ 138 w 389"/>
                      <a:gd name="T25" fmla="*/ 62 h 409"/>
                      <a:gd name="T26" fmla="*/ 141 w 389"/>
                      <a:gd name="T27" fmla="*/ 52 h 409"/>
                      <a:gd name="T28" fmla="*/ 147 w 389"/>
                      <a:gd name="T29" fmla="*/ 43 h 409"/>
                      <a:gd name="T30" fmla="*/ 159 w 389"/>
                      <a:gd name="T31" fmla="*/ 18 h 409"/>
                      <a:gd name="T32" fmla="*/ 165 w 389"/>
                      <a:gd name="T33" fmla="*/ 14 h 409"/>
                      <a:gd name="T34" fmla="*/ 174 w 389"/>
                      <a:gd name="T35" fmla="*/ 12 h 409"/>
                      <a:gd name="T36" fmla="*/ 182 w 389"/>
                      <a:gd name="T37" fmla="*/ 14 h 409"/>
                      <a:gd name="T38" fmla="*/ 185 w 389"/>
                      <a:gd name="T39" fmla="*/ 22 h 409"/>
                      <a:gd name="T40" fmla="*/ 188 w 389"/>
                      <a:gd name="T41" fmla="*/ 38 h 409"/>
                      <a:gd name="T42" fmla="*/ 186 w 389"/>
                      <a:gd name="T43" fmla="*/ 57 h 409"/>
                      <a:gd name="T44" fmla="*/ 181 w 389"/>
                      <a:gd name="T45" fmla="*/ 73 h 409"/>
                      <a:gd name="T46" fmla="*/ 202 w 389"/>
                      <a:gd name="T47" fmla="*/ 45 h 409"/>
                      <a:gd name="T48" fmla="*/ 224 w 389"/>
                      <a:gd name="T49" fmla="*/ 22 h 409"/>
                      <a:gd name="T50" fmla="*/ 251 w 389"/>
                      <a:gd name="T51" fmla="*/ 5 h 409"/>
                      <a:gd name="T52" fmla="*/ 265 w 389"/>
                      <a:gd name="T53" fmla="*/ 0 h 409"/>
                      <a:gd name="T54" fmla="*/ 281 w 389"/>
                      <a:gd name="T55" fmla="*/ 3 h 409"/>
                      <a:gd name="T56" fmla="*/ 295 w 389"/>
                      <a:gd name="T57" fmla="*/ 8 h 409"/>
                      <a:gd name="T58" fmla="*/ 308 w 389"/>
                      <a:gd name="T59" fmla="*/ 14 h 409"/>
                      <a:gd name="T60" fmla="*/ 324 w 389"/>
                      <a:gd name="T61" fmla="*/ 22 h 409"/>
                      <a:gd name="T62" fmla="*/ 330 w 389"/>
                      <a:gd name="T63" fmla="*/ 29 h 409"/>
                      <a:gd name="T64" fmla="*/ 337 w 389"/>
                      <a:gd name="T65" fmla="*/ 41 h 409"/>
                      <a:gd name="T66" fmla="*/ 339 w 389"/>
                      <a:gd name="T67" fmla="*/ 56 h 409"/>
                      <a:gd name="T68" fmla="*/ 347 w 389"/>
                      <a:gd name="T69" fmla="*/ 62 h 409"/>
                      <a:gd name="T70" fmla="*/ 354 w 389"/>
                      <a:gd name="T71" fmla="*/ 70 h 409"/>
                      <a:gd name="T72" fmla="*/ 359 w 389"/>
                      <a:gd name="T73" fmla="*/ 86 h 409"/>
                      <a:gd name="T74" fmla="*/ 362 w 389"/>
                      <a:gd name="T75" fmla="*/ 97 h 409"/>
                      <a:gd name="T76" fmla="*/ 359 w 389"/>
                      <a:gd name="T77" fmla="*/ 107 h 409"/>
                      <a:gd name="T78" fmla="*/ 369 w 389"/>
                      <a:gd name="T79" fmla="*/ 112 h 409"/>
                      <a:gd name="T80" fmla="*/ 373 w 389"/>
                      <a:gd name="T81" fmla="*/ 120 h 409"/>
                      <a:gd name="T82" fmla="*/ 370 w 389"/>
                      <a:gd name="T83" fmla="*/ 135 h 409"/>
                      <a:gd name="T84" fmla="*/ 359 w 389"/>
                      <a:gd name="T85" fmla="*/ 150 h 409"/>
                      <a:gd name="T86" fmla="*/ 371 w 389"/>
                      <a:gd name="T87" fmla="*/ 166 h 409"/>
                      <a:gd name="T88" fmla="*/ 381 w 389"/>
                      <a:gd name="T89" fmla="*/ 181 h 409"/>
                      <a:gd name="T90" fmla="*/ 389 w 389"/>
                      <a:gd name="T91" fmla="*/ 204 h 409"/>
                      <a:gd name="T92" fmla="*/ 384 w 389"/>
                      <a:gd name="T93" fmla="*/ 210 h 409"/>
                      <a:gd name="T94" fmla="*/ 371 w 389"/>
                      <a:gd name="T95" fmla="*/ 211 h 409"/>
                      <a:gd name="T96" fmla="*/ 360 w 389"/>
                      <a:gd name="T97" fmla="*/ 202 h 409"/>
                      <a:gd name="T98" fmla="*/ 348 w 389"/>
                      <a:gd name="T99" fmla="*/ 197 h 409"/>
                      <a:gd name="T100" fmla="*/ 337 w 389"/>
                      <a:gd name="T101" fmla="*/ 196 h 409"/>
                      <a:gd name="T102" fmla="*/ 326 w 389"/>
                      <a:gd name="T103" fmla="*/ 198 h 409"/>
                      <a:gd name="T104" fmla="*/ 311 w 389"/>
                      <a:gd name="T105" fmla="*/ 212 h 409"/>
                      <a:gd name="T106" fmla="*/ 302 w 389"/>
                      <a:gd name="T107" fmla="*/ 231 h 409"/>
                      <a:gd name="T108" fmla="*/ 291 w 389"/>
                      <a:gd name="T109" fmla="*/ 255 h 409"/>
                      <a:gd name="T110" fmla="*/ 275 w 389"/>
                      <a:gd name="T111" fmla="*/ 273 h 409"/>
                      <a:gd name="T112" fmla="*/ 256 w 389"/>
                      <a:gd name="T113" fmla="*/ 283 h 409"/>
                      <a:gd name="T114" fmla="*/ 230 w 389"/>
                      <a:gd name="T115" fmla="*/ 305 h 409"/>
                      <a:gd name="T116" fmla="*/ 209 w 389"/>
                      <a:gd name="T117" fmla="*/ 323 h 409"/>
                      <a:gd name="T118" fmla="*/ 168 w 389"/>
                      <a:gd name="T119" fmla="*/ 349 h 409"/>
                      <a:gd name="T120" fmla="*/ 71 w 389"/>
                      <a:gd name="T121" fmla="*/ 409 h 409"/>
                      <a:gd name="T122" fmla="*/ 0 w 389"/>
                      <a:gd name="T123" fmla="*/ 301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89" h="409">
                        <a:moveTo>
                          <a:pt x="0" y="301"/>
                        </a:moveTo>
                        <a:lnTo>
                          <a:pt x="22" y="275"/>
                        </a:lnTo>
                        <a:lnTo>
                          <a:pt x="42" y="259"/>
                        </a:lnTo>
                        <a:lnTo>
                          <a:pt x="81" y="232"/>
                        </a:lnTo>
                        <a:lnTo>
                          <a:pt x="80" y="204"/>
                        </a:lnTo>
                        <a:lnTo>
                          <a:pt x="79" y="171"/>
                        </a:lnTo>
                        <a:lnTo>
                          <a:pt x="81" y="142"/>
                        </a:lnTo>
                        <a:lnTo>
                          <a:pt x="84" y="112"/>
                        </a:lnTo>
                        <a:lnTo>
                          <a:pt x="89" y="102"/>
                        </a:lnTo>
                        <a:lnTo>
                          <a:pt x="99" y="94"/>
                        </a:lnTo>
                        <a:lnTo>
                          <a:pt x="113" y="84"/>
                        </a:lnTo>
                        <a:lnTo>
                          <a:pt x="127" y="74"/>
                        </a:lnTo>
                        <a:lnTo>
                          <a:pt x="138" y="62"/>
                        </a:lnTo>
                        <a:lnTo>
                          <a:pt x="141" y="52"/>
                        </a:lnTo>
                        <a:lnTo>
                          <a:pt x="147" y="43"/>
                        </a:lnTo>
                        <a:lnTo>
                          <a:pt x="159" y="18"/>
                        </a:lnTo>
                        <a:lnTo>
                          <a:pt x="165" y="14"/>
                        </a:lnTo>
                        <a:lnTo>
                          <a:pt x="174" y="12"/>
                        </a:lnTo>
                        <a:lnTo>
                          <a:pt x="182" y="14"/>
                        </a:lnTo>
                        <a:lnTo>
                          <a:pt x="185" y="22"/>
                        </a:lnTo>
                        <a:lnTo>
                          <a:pt x="188" y="38"/>
                        </a:lnTo>
                        <a:lnTo>
                          <a:pt x="186" y="57"/>
                        </a:lnTo>
                        <a:lnTo>
                          <a:pt x="181" y="73"/>
                        </a:lnTo>
                        <a:lnTo>
                          <a:pt x="202" y="45"/>
                        </a:lnTo>
                        <a:lnTo>
                          <a:pt x="224" y="22"/>
                        </a:lnTo>
                        <a:lnTo>
                          <a:pt x="251" y="5"/>
                        </a:lnTo>
                        <a:lnTo>
                          <a:pt x="265" y="0"/>
                        </a:lnTo>
                        <a:lnTo>
                          <a:pt x="281" y="3"/>
                        </a:lnTo>
                        <a:lnTo>
                          <a:pt x="295" y="8"/>
                        </a:lnTo>
                        <a:lnTo>
                          <a:pt x="308" y="14"/>
                        </a:lnTo>
                        <a:lnTo>
                          <a:pt x="324" y="22"/>
                        </a:lnTo>
                        <a:lnTo>
                          <a:pt x="330" y="29"/>
                        </a:lnTo>
                        <a:lnTo>
                          <a:pt x="337" y="41"/>
                        </a:lnTo>
                        <a:lnTo>
                          <a:pt x="339" y="56"/>
                        </a:lnTo>
                        <a:lnTo>
                          <a:pt x="347" y="62"/>
                        </a:lnTo>
                        <a:lnTo>
                          <a:pt x="354" y="70"/>
                        </a:lnTo>
                        <a:lnTo>
                          <a:pt x="359" y="86"/>
                        </a:lnTo>
                        <a:lnTo>
                          <a:pt x="362" y="97"/>
                        </a:lnTo>
                        <a:lnTo>
                          <a:pt x="359" y="107"/>
                        </a:lnTo>
                        <a:lnTo>
                          <a:pt x="369" y="112"/>
                        </a:lnTo>
                        <a:lnTo>
                          <a:pt x="373" y="120"/>
                        </a:lnTo>
                        <a:lnTo>
                          <a:pt x="370" y="135"/>
                        </a:lnTo>
                        <a:lnTo>
                          <a:pt x="359" y="150"/>
                        </a:lnTo>
                        <a:lnTo>
                          <a:pt x="371" y="166"/>
                        </a:lnTo>
                        <a:lnTo>
                          <a:pt x="381" y="181"/>
                        </a:lnTo>
                        <a:lnTo>
                          <a:pt x="389" y="204"/>
                        </a:lnTo>
                        <a:lnTo>
                          <a:pt x="384" y="210"/>
                        </a:lnTo>
                        <a:lnTo>
                          <a:pt x="371" y="211"/>
                        </a:lnTo>
                        <a:lnTo>
                          <a:pt x="360" y="202"/>
                        </a:lnTo>
                        <a:lnTo>
                          <a:pt x="348" y="197"/>
                        </a:lnTo>
                        <a:lnTo>
                          <a:pt x="337" y="196"/>
                        </a:lnTo>
                        <a:lnTo>
                          <a:pt x="326" y="198"/>
                        </a:lnTo>
                        <a:lnTo>
                          <a:pt x="311" y="212"/>
                        </a:lnTo>
                        <a:lnTo>
                          <a:pt x="302" y="231"/>
                        </a:lnTo>
                        <a:lnTo>
                          <a:pt x="291" y="255"/>
                        </a:lnTo>
                        <a:lnTo>
                          <a:pt x="275" y="273"/>
                        </a:lnTo>
                        <a:lnTo>
                          <a:pt x="256" y="283"/>
                        </a:lnTo>
                        <a:lnTo>
                          <a:pt x="230" y="305"/>
                        </a:lnTo>
                        <a:lnTo>
                          <a:pt x="209" y="323"/>
                        </a:lnTo>
                        <a:lnTo>
                          <a:pt x="168" y="349"/>
                        </a:lnTo>
                        <a:lnTo>
                          <a:pt x="71" y="409"/>
                        </a:lnTo>
                        <a:lnTo>
                          <a:pt x="0" y="301"/>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8" name="Freeform 220"/>
                  <p:cNvSpPr/>
                  <p:nvPr/>
                </p:nvSpPr>
                <p:spPr bwMode="auto">
                  <a:xfrm>
                    <a:off x="2455" y="3148"/>
                    <a:ext cx="26" cy="40"/>
                  </a:xfrm>
                  <a:custGeom>
                    <a:avLst/>
                    <a:gdLst>
                      <a:gd name="T0" fmla="*/ 88 w 185"/>
                      <a:gd name="T1" fmla="*/ 67 h 319"/>
                      <a:gd name="T2" fmla="*/ 96 w 185"/>
                      <a:gd name="T3" fmla="*/ 55 h 319"/>
                      <a:gd name="T4" fmla="*/ 113 w 185"/>
                      <a:gd name="T5" fmla="*/ 49 h 319"/>
                      <a:gd name="T6" fmla="*/ 128 w 185"/>
                      <a:gd name="T7" fmla="*/ 38 h 319"/>
                      <a:gd name="T8" fmla="*/ 140 w 185"/>
                      <a:gd name="T9" fmla="*/ 24 h 319"/>
                      <a:gd name="T10" fmla="*/ 156 w 185"/>
                      <a:gd name="T11" fmla="*/ 0 h 319"/>
                      <a:gd name="T12" fmla="*/ 139 w 185"/>
                      <a:gd name="T13" fmla="*/ 33 h 319"/>
                      <a:gd name="T14" fmla="*/ 129 w 185"/>
                      <a:gd name="T15" fmla="*/ 46 h 319"/>
                      <a:gd name="T16" fmla="*/ 117 w 185"/>
                      <a:gd name="T17" fmla="*/ 65 h 319"/>
                      <a:gd name="T18" fmla="*/ 109 w 185"/>
                      <a:gd name="T19" fmla="*/ 82 h 319"/>
                      <a:gd name="T20" fmla="*/ 105 w 185"/>
                      <a:gd name="T21" fmla="*/ 104 h 319"/>
                      <a:gd name="T22" fmla="*/ 112 w 185"/>
                      <a:gd name="T23" fmla="*/ 119 h 319"/>
                      <a:gd name="T24" fmla="*/ 129 w 185"/>
                      <a:gd name="T25" fmla="*/ 121 h 319"/>
                      <a:gd name="T26" fmla="*/ 147 w 185"/>
                      <a:gd name="T27" fmla="*/ 118 h 319"/>
                      <a:gd name="T28" fmla="*/ 166 w 185"/>
                      <a:gd name="T29" fmla="*/ 114 h 319"/>
                      <a:gd name="T30" fmla="*/ 172 w 185"/>
                      <a:gd name="T31" fmla="*/ 125 h 319"/>
                      <a:gd name="T32" fmla="*/ 175 w 185"/>
                      <a:gd name="T33" fmla="*/ 141 h 319"/>
                      <a:gd name="T34" fmla="*/ 170 w 185"/>
                      <a:gd name="T35" fmla="*/ 156 h 319"/>
                      <a:gd name="T36" fmla="*/ 161 w 185"/>
                      <a:gd name="T37" fmla="*/ 174 h 319"/>
                      <a:gd name="T38" fmla="*/ 166 w 185"/>
                      <a:gd name="T39" fmla="*/ 185 h 319"/>
                      <a:gd name="T40" fmla="*/ 173 w 185"/>
                      <a:gd name="T41" fmla="*/ 196 h 319"/>
                      <a:gd name="T42" fmla="*/ 185 w 185"/>
                      <a:gd name="T43" fmla="*/ 204 h 319"/>
                      <a:gd name="T44" fmla="*/ 170 w 185"/>
                      <a:gd name="T45" fmla="*/ 205 h 319"/>
                      <a:gd name="T46" fmla="*/ 158 w 185"/>
                      <a:gd name="T47" fmla="*/ 208 h 319"/>
                      <a:gd name="T48" fmla="*/ 144 w 185"/>
                      <a:gd name="T49" fmla="*/ 216 h 319"/>
                      <a:gd name="T50" fmla="*/ 139 w 185"/>
                      <a:gd name="T51" fmla="*/ 230 h 319"/>
                      <a:gd name="T52" fmla="*/ 140 w 185"/>
                      <a:gd name="T53" fmla="*/ 247 h 319"/>
                      <a:gd name="T54" fmla="*/ 143 w 185"/>
                      <a:gd name="T55" fmla="*/ 266 h 319"/>
                      <a:gd name="T56" fmla="*/ 147 w 185"/>
                      <a:gd name="T57" fmla="*/ 282 h 319"/>
                      <a:gd name="T58" fmla="*/ 91 w 185"/>
                      <a:gd name="T59" fmla="*/ 319 h 319"/>
                      <a:gd name="T60" fmla="*/ 24 w 185"/>
                      <a:gd name="T61" fmla="*/ 246 h 319"/>
                      <a:gd name="T62" fmla="*/ 0 w 185"/>
                      <a:gd name="T63" fmla="*/ 204 h 319"/>
                      <a:gd name="T64" fmla="*/ 31 w 185"/>
                      <a:gd name="T65" fmla="*/ 182 h 319"/>
                      <a:gd name="T66" fmla="*/ 59 w 185"/>
                      <a:gd name="T67" fmla="*/ 163 h 319"/>
                      <a:gd name="T68" fmla="*/ 68 w 185"/>
                      <a:gd name="T69" fmla="*/ 148 h 319"/>
                      <a:gd name="T70" fmla="*/ 73 w 185"/>
                      <a:gd name="T71" fmla="*/ 118 h 319"/>
                      <a:gd name="T72" fmla="*/ 76 w 185"/>
                      <a:gd name="T73" fmla="*/ 87 h 319"/>
                      <a:gd name="T74" fmla="*/ 88 w 185"/>
                      <a:gd name="T75" fmla="*/ 67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5" h="319">
                        <a:moveTo>
                          <a:pt x="88" y="67"/>
                        </a:moveTo>
                        <a:lnTo>
                          <a:pt x="96" y="55"/>
                        </a:lnTo>
                        <a:lnTo>
                          <a:pt x="113" y="49"/>
                        </a:lnTo>
                        <a:lnTo>
                          <a:pt x="128" y="38"/>
                        </a:lnTo>
                        <a:lnTo>
                          <a:pt x="140" y="24"/>
                        </a:lnTo>
                        <a:lnTo>
                          <a:pt x="156" y="0"/>
                        </a:lnTo>
                        <a:lnTo>
                          <a:pt x="139" y="33"/>
                        </a:lnTo>
                        <a:lnTo>
                          <a:pt x="129" y="46"/>
                        </a:lnTo>
                        <a:lnTo>
                          <a:pt x="117" y="65"/>
                        </a:lnTo>
                        <a:lnTo>
                          <a:pt x="109" y="82"/>
                        </a:lnTo>
                        <a:lnTo>
                          <a:pt x="105" y="104"/>
                        </a:lnTo>
                        <a:lnTo>
                          <a:pt x="112" y="119"/>
                        </a:lnTo>
                        <a:lnTo>
                          <a:pt x="129" y="121"/>
                        </a:lnTo>
                        <a:lnTo>
                          <a:pt x="147" y="118"/>
                        </a:lnTo>
                        <a:lnTo>
                          <a:pt x="166" y="114"/>
                        </a:lnTo>
                        <a:lnTo>
                          <a:pt x="172" y="125"/>
                        </a:lnTo>
                        <a:lnTo>
                          <a:pt x="175" y="141"/>
                        </a:lnTo>
                        <a:lnTo>
                          <a:pt x="170" y="156"/>
                        </a:lnTo>
                        <a:lnTo>
                          <a:pt x="161" y="174"/>
                        </a:lnTo>
                        <a:lnTo>
                          <a:pt x="166" y="185"/>
                        </a:lnTo>
                        <a:lnTo>
                          <a:pt x="173" y="196"/>
                        </a:lnTo>
                        <a:lnTo>
                          <a:pt x="185" y="204"/>
                        </a:lnTo>
                        <a:lnTo>
                          <a:pt x="170" y="205"/>
                        </a:lnTo>
                        <a:lnTo>
                          <a:pt x="158" y="208"/>
                        </a:lnTo>
                        <a:lnTo>
                          <a:pt x="144" y="216"/>
                        </a:lnTo>
                        <a:lnTo>
                          <a:pt x="139" y="230"/>
                        </a:lnTo>
                        <a:lnTo>
                          <a:pt x="140" y="247"/>
                        </a:lnTo>
                        <a:lnTo>
                          <a:pt x="143" y="266"/>
                        </a:lnTo>
                        <a:lnTo>
                          <a:pt x="147" y="282"/>
                        </a:lnTo>
                        <a:lnTo>
                          <a:pt x="91" y="319"/>
                        </a:lnTo>
                        <a:lnTo>
                          <a:pt x="24" y="246"/>
                        </a:lnTo>
                        <a:lnTo>
                          <a:pt x="0" y="204"/>
                        </a:lnTo>
                        <a:lnTo>
                          <a:pt x="31" y="182"/>
                        </a:lnTo>
                        <a:lnTo>
                          <a:pt x="59" y="163"/>
                        </a:lnTo>
                        <a:lnTo>
                          <a:pt x="68" y="148"/>
                        </a:lnTo>
                        <a:lnTo>
                          <a:pt x="73" y="118"/>
                        </a:lnTo>
                        <a:lnTo>
                          <a:pt x="76" y="87"/>
                        </a:lnTo>
                        <a:lnTo>
                          <a:pt x="88" y="6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69" name="Freeform 221"/>
                  <p:cNvSpPr/>
                  <p:nvPr/>
                </p:nvSpPr>
                <p:spPr bwMode="auto">
                  <a:xfrm>
                    <a:off x="2491" y="3157"/>
                    <a:ext cx="12" cy="5"/>
                  </a:xfrm>
                  <a:custGeom>
                    <a:avLst/>
                    <a:gdLst>
                      <a:gd name="T0" fmla="*/ 79 w 79"/>
                      <a:gd name="T1" fmla="*/ 12 h 41"/>
                      <a:gd name="T2" fmla="*/ 61 w 79"/>
                      <a:gd name="T3" fmla="*/ 9 h 41"/>
                      <a:gd name="T4" fmla="*/ 46 w 79"/>
                      <a:gd name="T5" fmla="*/ 10 h 41"/>
                      <a:gd name="T6" fmla="*/ 29 w 79"/>
                      <a:gd name="T7" fmla="*/ 20 h 41"/>
                      <a:gd name="T8" fmla="*/ 0 w 79"/>
                      <a:gd name="T9" fmla="*/ 41 h 41"/>
                      <a:gd name="T10" fmla="*/ 16 w 79"/>
                      <a:gd name="T11" fmla="*/ 25 h 41"/>
                      <a:gd name="T12" fmla="*/ 30 w 79"/>
                      <a:gd name="T13" fmla="*/ 11 h 41"/>
                      <a:gd name="T14" fmla="*/ 47 w 79"/>
                      <a:gd name="T15" fmla="*/ 1 h 41"/>
                      <a:gd name="T16" fmla="*/ 59 w 79"/>
                      <a:gd name="T17" fmla="*/ 0 h 41"/>
                      <a:gd name="T18" fmla="*/ 73 w 79"/>
                      <a:gd name="T19" fmla="*/ 4 h 41"/>
                      <a:gd name="T20" fmla="*/ 79 w 79"/>
                      <a:gd name="T21" fmla="*/ 1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9" h="41">
                        <a:moveTo>
                          <a:pt x="79" y="12"/>
                        </a:moveTo>
                        <a:lnTo>
                          <a:pt x="61" y="9"/>
                        </a:lnTo>
                        <a:lnTo>
                          <a:pt x="46" y="10"/>
                        </a:lnTo>
                        <a:lnTo>
                          <a:pt x="29" y="20"/>
                        </a:lnTo>
                        <a:lnTo>
                          <a:pt x="0" y="41"/>
                        </a:lnTo>
                        <a:lnTo>
                          <a:pt x="16" y="25"/>
                        </a:lnTo>
                        <a:lnTo>
                          <a:pt x="30" y="11"/>
                        </a:lnTo>
                        <a:lnTo>
                          <a:pt x="47" y="1"/>
                        </a:lnTo>
                        <a:lnTo>
                          <a:pt x="59" y="0"/>
                        </a:lnTo>
                        <a:lnTo>
                          <a:pt x="73" y="4"/>
                        </a:lnTo>
                        <a:lnTo>
                          <a:pt x="79" y="12"/>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0" name="Freeform 222"/>
                  <p:cNvSpPr/>
                  <p:nvPr/>
                </p:nvSpPr>
                <p:spPr bwMode="auto">
                  <a:xfrm>
                    <a:off x="2489" y="3152"/>
                    <a:ext cx="14" cy="5"/>
                  </a:xfrm>
                  <a:custGeom>
                    <a:avLst/>
                    <a:gdLst>
                      <a:gd name="T0" fmla="*/ 93 w 93"/>
                      <a:gd name="T1" fmla="*/ 13 h 39"/>
                      <a:gd name="T2" fmla="*/ 77 w 93"/>
                      <a:gd name="T3" fmla="*/ 8 h 39"/>
                      <a:gd name="T4" fmla="*/ 61 w 93"/>
                      <a:gd name="T5" fmla="*/ 5 h 39"/>
                      <a:gd name="T6" fmla="*/ 42 w 93"/>
                      <a:gd name="T7" fmla="*/ 11 h 39"/>
                      <a:gd name="T8" fmla="*/ 15 w 93"/>
                      <a:gd name="T9" fmla="*/ 31 h 39"/>
                      <a:gd name="T10" fmla="*/ 0 w 93"/>
                      <a:gd name="T11" fmla="*/ 39 h 39"/>
                      <a:gd name="T12" fmla="*/ 21 w 93"/>
                      <a:gd name="T13" fmla="*/ 24 h 39"/>
                      <a:gd name="T14" fmla="*/ 34 w 93"/>
                      <a:gd name="T15" fmla="*/ 11 h 39"/>
                      <a:gd name="T16" fmla="*/ 45 w 93"/>
                      <a:gd name="T17" fmla="*/ 5 h 39"/>
                      <a:gd name="T18" fmla="*/ 59 w 93"/>
                      <a:gd name="T19" fmla="*/ 0 h 39"/>
                      <a:gd name="T20" fmla="*/ 71 w 93"/>
                      <a:gd name="T21" fmla="*/ 1 h 39"/>
                      <a:gd name="T22" fmla="*/ 93 w 93"/>
                      <a:gd name="T23" fmla="*/ 13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3" h="39">
                        <a:moveTo>
                          <a:pt x="93" y="13"/>
                        </a:moveTo>
                        <a:lnTo>
                          <a:pt x="77" y="8"/>
                        </a:lnTo>
                        <a:lnTo>
                          <a:pt x="61" y="5"/>
                        </a:lnTo>
                        <a:lnTo>
                          <a:pt x="42" y="11"/>
                        </a:lnTo>
                        <a:lnTo>
                          <a:pt x="15" y="31"/>
                        </a:lnTo>
                        <a:lnTo>
                          <a:pt x="0" y="39"/>
                        </a:lnTo>
                        <a:lnTo>
                          <a:pt x="21" y="24"/>
                        </a:lnTo>
                        <a:lnTo>
                          <a:pt x="34" y="11"/>
                        </a:lnTo>
                        <a:lnTo>
                          <a:pt x="45" y="5"/>
                        </a:lnTo>
                        <a:lnTo>
                          <a:pt x="59" y="0"/>
                        </a:lnTo>
                        <a:lnTo>
                          <a:pt x="71" y="1"/>
                        </a:lnTo>
                        <a:lnTo>
                          <a:pt x="93" y="13"/>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1" name="Freeform 223"/>
                  <p:cNvSpPr/>
                  <p:nvPr/>
                </p:nvSpPr>
                <p:spPr bwMode="auto">
                  <a:xfrm>
                    <a:off x="2486" y="3145"/>
                    <a:ext cx="14" cy="8"/>
                  </a:xfrm>
                  <a:custGeom>
                    <a:avLst/>
                    <a:gdLst>
                      <a:gd name="T0" fmla="*/ 93 w 93"/>
                      <a:gd name="T1" fmla="*/ 17 h 64"/>
                      <a:gd name="T2" fmla="*/ 82 w 93"/>
                      <a:gd name="T3" fmla="*/ 20 h 64"/>
                      <a:gd name="T4" fmla="*/ 73 w 93"/>
                      <a:gd name="T5" fmla="*/ 20 h 64"/>
                      <a:gd name="T6" fmla="*/ 63 w 93"/>
                      <a:gd name="T7" fmla="*/ 17 h 64"/>
                      <a:gd name="T8" fmla="*/ 55 w 93"/>
                      <a:gd name="T9" fmla="*/ 8 h 64"/>
                      <a:gd name="T10" fmla="*/ 36 w 93"/>
                      <a:gd name="T11" fmla="*/ 20 h 64"/>
                      <a:gd name="T12" fmla="*/ 24 w 93"/>
                      <a:gd name="T13" fmla="*/ 32 h 64"/>
                      <a:gd name="T14" fmla="*/ 10 w 93"/>
                      <a:gd name="T15" fmla="*/ 49 h 64"/>
                      <a:gd name="T16" fmla="*/ 0 w 93"/>
                      <a:gd name="T17" fmla="*/ 64 h 64"/>
                      <a:gd name="T18" fmla="*/ 12 w 93"/>
                      <a:gd name="T19" fmla="*/ 40 h 64"/>
                      <a:gd name="T20" fmla="*/ 27 w 93"/>
                      <a:gd name="T21" fmla="*/ 20 h 64"/>
                      <a:gd name="T22" fmla="*/ 39 w 93"/>
                      <a:gd name="T23" fmla="*/ 8 h 64"/>
                      <a:gd name="T24" fmla="*/ 51 w 93"/>
                      <a:gd name="T25" fmla="*/ 3 h 64"/>
                      <a:gd name="T26" fmla="*/ 57 w 93"/>
                      <a:gd name="T27" fmla="*/ 0 h 64"/>
                      <a:gd name="T28" fmla="*/ 66 w 93"/>
                      <a:gd name="T29" fmla="*/ 9 h 64"/>
                      <a:gd name="T30" fmla="*/ 73 w 93"/>
                      <a:gd name="T31" fmla="*/ 14 h 64"/>
                      <a:gd name="T32" fmla="*/ 82 w 93"/>
                      <a:gd name="T33" fmla="*/ 17 h 64"/>
                      <a:gd name="T34" fmla="*/ 93 w 93"/>
                      <a:gd name="T35" fmla="*/ 1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3" h="64">
                        <a:moveTo>
                          <a:pt x="93" y="17"/>
                        </a:moveTo>
                        <a:lnTo>
                          <a:pt x="82" y="20"/>
                        </a:lnTo>
                        <a:lnTo>
                          <a:pt x="73" y="20"/>
                        </a:lnTo>
                        <a:lnTo>
                          <a:pt x="63" y="17"/>
                        </a:lnTo>
                        <a:lnTo>
                          <a:pt x="55" y="8"/>
                        </a:lnTo>
                        <a:lnTo>
                          <a:pt x="36" y="20"/>
                        </a:lnTo>
                        <a:lnTo>
                          <a:pt x="24" y="32"/>
                        </a:lnTo>
                        <a:lnTo>
                          <a:pt x="10" y="49"/>
                        </a:lnTo>
                        <a:lnTo>
                          <a:pt x="0" y="64"/>
                        </a:lnTo>
                        <a:lnTo>
                          <a:pt x="12" y="40"/>
                        </a:lnTo>
                        <a:lnTo>
                          <a:pt x="27" y="20"/>
                        </a:lnTo>
                        <a:lnTo>
                          <a:pt x="39" y="8"/>
                        </a:lnTo>
                        <a:lnTo>
                          <a:pt x="51" y="3"/>
                        </a:lnTo>
                        <a:lnTo>
                          <a:pt x="57" y="0"/>
                        </a:lnTo>
                        <a:lnTo>
                          <a:pt x="66" y="9"/>
                        </a:lnTo>
                        <a:lnTo>
                          <a:pt x="73" y="14"/>
                        </a:lnTo>
                        <a:lnTo>
                          <a:pt x="82" y="17"/>
                        </a:lnTo>
                        <a:lnTo>
                          <a:pt x="93" y="1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272" name="Group 224"/>
                <p:cNvGrpSpPr/>
                <p:nvPr/>
              </p:nvGrpSpPr>
              <p:grpSpPr bwMode="auto">
                <a:xfrm>
                  <a:off x="2358" y="3075"/>
                  <a:ext cx="168" cy="142"/>
                  <a:chOff x="2358" y="3075"/>
                  <a:chExt cx="168" cy="142"/>
                </a:xfrm>
              </p:grpSpPr>
              <p:grpSp>
                <p:nvGrpSpPr>
                  <p:cNvPr id="642273" name="Group 225"/>
                  <p:cNvGrpSpPr/>
                  <p:nvPr/>
                </p:nvGrpSpPr>
                <p:grpSpPr bwMode="auto">
                  <a:xfrm>
                    <a:off x="2358" y="3075"/>
                    <a:ext cx="168" cy="142"/>
                    <a:chOff x="2358" y="3075"/>
                    <a:chExt cx="168" cy="142"/>
                  </a:xfrm>
                </p:grpSpPr>
                <p:sp>
                  <p:nvSpPr>
                    <p:cNvPr id="642274" name="Freeform 226"/>
                    <p:cNvSpPr/>
                    <p:nvPr/>
                  </p:nvSpPr>
                  <p:spPr bwMode="auto">
                    <a:xfrm>
                      <a:off x="2358" y="3075"/>
                      <a:ext cx="168" cy="142"/>
                    </a:xfrm>
                    <a:custGeom>
                      <a:avLst/>
                      <a:gdLst>
                        <a:gd name="T0" fmla="*/ 314 w 1177"/>
                        <a:gd name="T1" fmla="*/ 24 h 1140"/>
                        <a:gd name="T2" fmla="*/ 275 w 1177"/>
                        <a:gd name="T3" fmla="*/ 40 h 1140"/>
                        <a:gd name="T4" fmla="*/ 218 w 1177"/>
                        <a:gd name="T5" fmla="*/ 85 h 1140"/>
                        <a:gd name="T6" fmla="*/ 165 w 1177"/>
                        <a:gd name="T7" fmla="*/ 149 h 1140"/>
                        <a:gd name="T8" fmla="*/ 119 w 1177"/>
                        <a:gd name="T9" fmla="*/ 202 h 1140"/>
                        <a:gd name="T10" fmla="*/ 77 w 1177"/>
                        <a:gd name="T11" fmla="*/ 267 h 1140"/>
                        <a:gd name="T12" fmla="*/ 43 w 1177"/>
                        <a:gd name="T13" fmla="*/ 354 h 1140"/>
                        <a:gd name="T14" fmla="*/ 32 w 1177"/>
                        <a:gd name="T15" fmla="*/ 397 h 1140"/>
                        <a:gd name="T16" fmla="*/ 25 w 1177"/>
                        <a:gd name="T17" fmla="*/ 458 h 1140"/>
                        <a:gd name="T18" fmla="*/ 12 w 1177"/>
                        <a:gd name="T19" fmla="*/ 504 h 1140"/>
                        <a:gd name="T20" fmla="*/ 0 w 1177"/>
                        <a:gd name="T21" fmla="*/ 569 h 1140"/>
                        <a:gd name="T22" fmla="*/ 2 w 1177"/>
                        <a:gd name="T23" fmla="*/ 695 h 1140"/>
                        <a:gd name="T24" fmla="*/ 4 w 1177"/>
                        <a:gd name="T25" fmla="*/ 809 h 1140"/>
                        <a:gd name="T26" fmla="*/ 14 w 1177"/>
                        <a:gd name="T27" fmla="*/ 852 h 1140"/>
                        <a:gd name="T28" fmla="*/ 13 w 1177"/>
                        <a:gd name="T29" fmla="*/ 944 h 1140"/>
                        <a:gd name="T30" fmla="*/ 33 w 1177"/>
                        <a:gd name="T31" fmla="*/ 1025 h 1140"/>
                        <a:gd name="T32" fmla="*/ 69 w 1177"/>
                        <a:gd name="T33" fmla="*/ 1092 h 1140"/>
                        <a:gd name="T34" fmla="*/ 130 w 1177"/>
                        <a:gd name="T35" fmla="*/ 1140 h 1140"/>
                        <a:gd name="T36" fmla="*/ 630 w 1177"/>
                        <a:gd name="T37" fmla="*/ 1109 h 1140"/>
                        <a:gd name="T38" fmla="*/ 659 w 1177"/>
                        <a:gd name="T39" fmla="*/ 1067 h 1140"/>
                        <a:gd name="T40" fmla="*/ 707 w 1177"/>
                        <a:gd name="T41" fmla="*/ 1031 h 1140"/>
                        <a:gd name="T42" fmla="*/ 745 w 1177"/>
                        <a:gd name="T43" fmla="*/ 1000 h 1140"/>
                        <a:gd name="T44" fmla="*/ 782 w 1177"/>
                        <a:gd name="T45" fmla="*/ 974 h 1140"/>
                        <a:gd name="T46" fmla="*/ 784 w 1177"/>
                        <a:gd name="T47" fmla="*/ 912 h 1140"/>
                        <a:gd name="T48" fmla="*/ 772 w 1177"/>
                        <a:gd name="T49" fmla="*/ 841 h 1140"/>
                        <a:gd name="T50" fmla="*/ 719 w 1177"/>
                        <a:gd name="T51" fmla="*/ 796 h 1140"/>
                        <a:gd name="T52" fmla="*/ 667 w 1177"/>
                        <a:gd name="T53" fmla="*/ 792 h 1140"/>
                        <a:gd name="T54" fmla="*/ 630 w 1177"/>
                        <a:gd name="T55" fmla="*/ 822 h 1140"/>
                        <a:gd name="T56" fmla="*/ 604 w 1177"/>
                        <a:gd name="T57" fmla="*/ 842 h 1140"/>
                        <a:gd name="T58" fmla="*/ 572 w 1177"/>
                        <a:gd name="T59" fmla="*/ 857 h 1140"/>
                        <a:gd name="T60" fmla="*/ 548 w 1177"/>
                        <a:gd name="T61" fmla="*/ 872 h 1140"/>
                        <a:gd name="T62" fmla="*/ 564 w 1177"/>
                        <a:gd name="T63" fmla="*/ 827 h 1140"/>
                        <a:gd name="T64" fmla="*/ 768 w 1177"/>
                        <a:gd name="T65" fmla="*/ 565 h 1140"/>
                        <a:gd name="T66" fmla="*/ 783 w 1177"/>
                        <a:gd name="T67" fmla="*/ 504 h 1140"/>
                        <a:gd name="T68" fmla="*/ 785 w 1177"/>
                        <a:gd name="T69" fmla="*/ 458 h 1140"/>
                        <a:gd name="T70" fmla="*/ 784 w 1177"/>
                        <a:gd name="T71" fmla="*/ 369 h 1140"/>
                        <a:gd name="T72" fmla="*/ 820 w 1177"/>
                        <a:gd name="T73" fmla="*/ 367 h 1140"/>
                        <a:gd name="T74" fmla="*/ 881 w 1177"/>
                        <a:gd name="T75" fmla="*/ 374 h 1140"/>
                        <a:gd name="T76" fmla="*/ 949 w 1177"/>
                        <a:gd name="T77" fmla="*/ 361 h 1140"/>
                        <a:gd name="T78" fmla="*/ 920 w 1177"/>
                        <a:gd name="T79" fmla="*/ 423 h 1140"/>
                        <a:gd name="T80" fmla="*/ 894 w 1177"/>
                        <a:gd name="T81" fmla="*/ 464 h 1140"/>
                        <a:gd name="T82" fmla="*/ 900 w 1177"/>
                        <a:gd name="T83" fmla="*/ 473 h 1140"/>
                        <a:gd name="T84" fmla="*/ 928 w 1177"/>
                        <a:gd name="T85" fmla="*/ 461 h 1140"/>
                        <a:gd name="T86" fmla="*/ 977 w 1177"/>
                        <a:gd name="T87" fmla="*/ 476 h 1140"/>
                        <a:gd name="T88" fmla="*/ 1018 w 1177"/>
                        <a:gd name="T89" fmla="*/ 518 h 1140"/>
                        <a:gd name="T90" fmla="*/ 1015 w 1177"/>
                        <a:gd name="T91" fmla="*/ 547 h 1140"/>
                        <a:gd name="T92" fmla="*/ 1041 w 1177"/>
                        <a:gd name="T93" fmla="*/ 540 h 1140"/>
                        <a:gd name="T94" fmla="*/ 1068 w 1177"/>
                        <a:gd name="T95" fmla="*/ 499 h 1140"/>
                        <a:gd name="T96" fmla="*/ 1108 w 1177"/>
                        <a:gd name="T97" fmla="*/ 482 h 1140"/>
                        <a:gd name="T98" fmla="*/ 1142 w 1177"/>
                        <a:gd name="T99" fmla="*/ 437 h 1140"/>
                        <a:gd name="T100" fmla="*/ 1165 w 1177"/>
                        <a:gd name="T101" fmla="*/ 385 h 1140"/>
                        <a:gd name="T102" fmla="*/ 1175 w 1177"/>
                        <a:gd name="T103" fmla="*/ 285 h 1140"/>
                        <a:gd name="T104" fmla="*/ 1153 w 1177"/>
                        <a:gd name="T105" fmla="*/ 223 h 1140"/>
                        <a:gd name="T106" fmla="*/ 1117 w 1177"/>
                        <a:gd name="T107" fmla="*/ 176 h 1140"/>
                        <a:gd name="T108" fmla="*/ 963 w 1177"/>
                        <a:gd name="T109" fmla="*/ 101 h 1140"/>
                        <a:gd name="T110" fmla="*/ 813 w 1177"/>
                        <a:gd name="T111" fmla="*/ 26 h 1140"/>
                        <a:gd name="T112" fmla="*/ 590 w 1177"/>
                        <a:gd name="T113" fmla="*/ 235 h 1140"/>
                        <a:gd name="T114" fmla="*/ 476 w 1177"/>
                        <a:gd name="T115" fmla="*/ 185 h 1140"/>
                        <a:gd name="T116" fmla="*/ 397 w 1177"/>
                        <a:gd name="T117" fmla="*/ 103 h 1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177" h="1140">
                          <a:moveTo>
                            <a:pt x="333" y="13"/>
                          </a:moveTo>
                          <a:lnTo>
                            <a:pt x="323" y="15"/>
                          </a:lnTo>
                          <a:lnTo>
                            <a:pt x="314" y="24"/>
                          </a:lnTo>
                          <a:lnTo>
                            <a:pt x="305" y="31"/>
                          </a:lnTo>
                          <a:lnTo>
                            <a:pt x="291" y="37"/>
                          </a:lnTo>
                          <a:lnTo>
                            <a:pt x="275" y="40"/>
                          </a:lnTo>
                          <a:lnTo>
                            <a:pt x="262" y="46"/>
                          </a:lnTo>
                          <a:lnTo>
                            <a:pt x="243" y="64"/>
                          </a:lnTo>
                          <a:lnTo>
                            <a:pt x="218" y="85"/>
                          </a:lnTo>
                          <a:lnTo>
                            <a:pt x="194" y="109"/>
                          </a:lnTo>
                          <a:lnTo>
                            <a:pt x="174" y="133"/>
                          </a:lnTo>
                          <a:lnTo>
                            <a:pt x="165" y="149"/>
                          </a:lnTo>
                          <a:lnTo>
                            <a:pt x="153" y="165"/>
                          </a:lnTo>
                          <a:lnTo>
                            <a:pt x="138" y="180"/>
                          </a:lnTo>
                          <a:lnTo>
                            <a:pt x="119" y="202"/>
                          </a:lnTo>
                          <a:lnTo>
                            <a:pt x="104" y="223"/>
                          </a:lnTo>
                          <a:lnTo>
                            <a:pt x="89" y="245"/>
                          </a:lnTo>
                          <a:lnTo>
                            <a:pt x="77" y="267"/>
                          </a:lnTo>
                          <a:lnTo>
                            <a:pt x="63" y="295"/>
                          </a:lnTo>
                          <a:lnTo>
                            <a:pt x="51" y="326"/>
                          </a:lnTo>
                          <a:lnTo>
                            <a:pt x="43" y="354"/>
                          </a:lnTo>
                          <a:lnTo>
                            <a:pt x="37" y="368"/>
                          </a:lnTo>
                          <a:lnTo>
                            <a:pt x="39" y="379"/>
                          </a:lnTo>
                          <a:lnTo>
                            <a:pt x="32" y="397"/>
                          </a:lnTo>
                          <a:lnTo>
                            <a:pt x="26" y="413"/>
                          </a:lnTo>
                          <a:lnTo>
                            <a:pt x="22" y="437"/>
                          </a:lnTo>
                          <a:lnTo>
                            <a:pt x="25" y="458"/>
                          </a:lnTo>
                          <a:lnTo>
                            <a:pt x="27" y="478"/>
                          </a:lnTo>
                          <a:lnTo>
                            <a:pt x="22" y="497"/>
                          </a:lnTo>
                          <a:lnTo>
                            <a:pt x="12" y="504"/>
                          </a:lnTo>
                          <a:lnTo>
                            <a:pt x="5" y="518"/>
                          </a:lnTo>
                          <a:lnTo>
                            <a:pt x="2" y="538"/>
                          </a:lnTo>
                          <a:lnTo>
                            <a:pt x="0" y="569"/>
                          </a:lnTo>
                          <a:lnTo>
                            <a:pt x="1" y="609"/>
                          </a:lnTo>
                          <a:lnTo>
                            <a:pt x="4" y="660"/>
                          </a:lnTo>
                          <a:lnTo>
                            <a:pt x="2" y="695"/>
                          </a:lnTo>
                          <a:lnTo>
                            <a:pt x="1" y="733"/>
                          </a:lnTo>
                          <a:lnTo>
                            <a:pt x="2" y="767"/>
                          </a:lnTo>
                          <a:lnTo>
                            <a:pt x="4" y="809"/>
                          </a:lnTo>
                          <a:lnTo>
                            <a:pt x="9" y="820"/>
                          </a:lnTo>
                          <a:lnTo>
                            <a:pt x="16" y="828"/>
                          </a:lnTo>
                          <a:lnTo>
                            <a:pt x="14" y="852"/>
                          </a:lnTo>
                          <a:lnTo>
                            <a:pt x="12" y="887"/>
                          </a:lnTo>
                          <a:lnTo>
                            <a:pt x="16" y="911"/>
                          </a:lnTo>
                          <a:lnTo>
                            <a:pt x="13" y="944"/>
                          </a:lnTo>
                          <a:lnTo>
                            <a:pt x="16" y="974"/>
                          </a:lnTo>
                          <a:lnTo>
                            <a:pt x="24" y="1002"/>
                          </a:lnTo>
                          <a:lnTo>
                            <a:pt x="33" y="1025"/>
                          </a:lnTo>
                          <a:lnTo>
                            <a:pt x="45" y="1052"/>
                          </a:lnTo>
                          <a:lnTo>
                            <a:pt x="56" y="1073"/>
                          </a:lnTo>
                          <a:lnTo>
                            <a:pt x="69" y="1092"/>
                          </a:lnTo>
                          <a:lnTo>
                            <a:pt x="88" y="1106"/>
                          </a:lnTo>
                          <a:lnTo>
                            <a:pt x="110" y="1124"/>
                          </a:lnTo>
                          <a:lnTo>
                            <a:pt x="130" y="1140"/>
                          </a:lnTo>
                          <a:lnTo>
                            <a:pt x="590" y="1140"/>
                          </a:lnTo>
                          <a:lnTo>
                            <a:pt x="607" y="1122"/>
                          </a:lnTo>
                          <a:lnTo>
                            <a:pt x="630" y="1109"/>
                          </a:lnTo>
                          <a:lnTo>
                            <a:pt x="642" y="1103"/>
                          </a:lnTo>
                          <a:lnTo>
                            <a:pt x="647" y="1098"/>
                          </a:lnTo>
                          <a:lnTo>
                            <a:pt x="659" y="1067"/>
                          </a:lnTo>
                          <a:lnTo>
                            <a:pt x="672" y="1049"/>
                          </a:lnTo>
                          <a:lnTo>
                            <a:pt x="691" y="1036"/>
                          </a:lnTo>
                          <a:lnTo>
                            <a:pt x="707" y="1031"/>
                          </a:lnTo>
                          <a:lnTo>
                            <a:pt x="717" y="1020"/>
                          </a:lnTo>
                          <a:lnTo>
                            <a:pt x="724" y="1007"/>
                          </a:lnTo>
                          <a:lnTo>
                            <a:pt x="745" y="1000"/>
                          </a:lnTo>
                          <a:lnTo>
                            <a:pt x="762" y="990"/>
                          </a:lnTo>
                          <a:lnTo>
                            <a:pt x="771" y="978"/>
                          </a:lnTo>
                          <a:lnTo>
                            <a:pt x="782" y="974"/>
                          </a:lnTo>
                          <a:lnTo>
                            <a:pt x="787" y="964"/>
                          </a:lnTo>
                          <a:lnTo>
                            <a:pt x="785" y="948"/>
                          </a:lnTo>
                          <a:lnTo>
                            <a:pt x="784" y="912"/>
                          </a:lnTo>
                          <a:lnTo>
                            <a:pt x="787" y="890"/>
                          </a:lnTo>
                          <a:lnTo>
                            <a:pt x="785" y="864"/>
                          </a:lnTo>
                          <a:lnTo>
                            <a:pt x="772" y="841"/>
                          </a:lnTo>
                          <a:lnTo>
                            <a:pt x="754" y="822"/>
                          </a:lnTo>
                          <a:lnTo>
                            <a:pt x="738" y="808"/>
                          </a:lnTo>
                          <a:lnTo>
                            <a:pt x="719" y="796"/>
                          </a:lnTo>
                          <a:lnTo>
                            <a:pt x="701" y="784"/>
                          </a:lnTo>
                          <a:lnTo>
                            <a:pt x="683" y="785"/>
                          </a:lnTo>
                          <a:lnTo>
                            <a:pt x="667" y="792"/>
                          </a:lnTo>
                          <a:lnTo>
                            <a:pt x="654" y="804"/>
                          </a:lnTo>
                          <a:lnTo>
                            <a:pt x="644" y="811"/>
                          </a:lnTo>
                          <a:lnTo>
                            <a:pt x="630" y="822"/>
                          </a:lnTo>
                          <a:lnTo>
                            <a:pt x="623" y="831"/>
                          </a:lnTo>
                          <a:lnTo>
                            <a:pt x="613" y="833"/>
                          </a:lnTo>
                          <a:lnTo>
                            <a:pt x="604" y="842"/>
                          </a:lnTo>
                          <a:lnTo>
                            <a:pt x="596" y="857"/>
                          </a:lnTo>
                          <a:lnTo>
                            <a:pt x="583" y="854"/>
                          </a:lnTo>
                          <a:lnTo>
                            <a:pt x="572" y="857"/>
                          </a:lnTo>
                          <a:lnTo>
                            <a:pt x="567" y="865"/>
                          </a:lnTo>
                          <a:lnTo>
                            <a:pt x="560" y="869"/>
                          </a:lnTo>
                          <a:lnTo>
                            <a:pt x="548" y="872"/>
                          </a:lnTo>
                          <a:lnTo>
                            <a:pt x="537" y="869"/>
                          </a:lnTo>
                          <a:lnTo>
                            <a:pt x="526" y="852"/>
                          </a:lnTo>
                          <a:lnTo>
                            <a:pt x="564" y="827"/>
                          </a:lnTo>
                          <a:lnTo>
                            <a:pt x="637" y="740"/>
                          </a:lnTo>
                          <a:lnTo>
                            <a:pt x="761" y="588"/>
                          </a:lnTo>
                          <a:lnTo>
                            <a:pt x="768" y="565"/>
                          </a:lnTo>
                          <a:lnTo>
                            <a:pt x="770" y="539"/>
                          </a:lnTo>
                          <a:lnTo>
                            <a:pt x="766" y="509"/>
                          </a:lnTo>
                          <a:lnTo>
                            <a:pt x="783" y="504"/>
                          </a:lnTo>
                          <a:lnTo>
                            <a:pt x="799" y="493"/>
                          </a:lnTo>
                          <a:lnTo>
                            <a:pt x="798" y="483"/>
                          </a:lnTo>
                          <a:lnTo>
                            <a:pt x="785" y="458"/>
                          </a:lnTo>
                          <a:lnTo>
                            <a:pt x="777" y="437"/>
                          </a:lnTo>
                          <a:lnTo>
                            <a:pt x="782" y="396"/>
                          </a:lnTo>
                          <a:lnTo>
                            <a:pt x="784" y="369"/>
                          </a:lnTo>
                          <a:lnTo>
                            <a:pt x="783" y="342"/>
                          </a:lnTo>
                          <a:lnTo>
                            <a:pt x="804" y="353"/>
                          </a:lnTo>
                          <a:lnTo>
                            <a:pt x="820" y="367"/>
                          </a:lnTo>
                          <a:lnTo>
                            <a:pt x="839" y="373"/>
                          </a:lnTo>
                          <a:lnTo>
                            <a:pt x="861" y="376"/>
                          </a:lnTo>
                          <a:lnTo>
                            <a:pt x="881" y="374"/>
                          </a:lnTo>
                          <a:lnTo>
                            <a:pt x="910" y="368"/>
                          </a:lnTo>
                          <a:lnTo>
                            <a:pt x="930" y="362"/>
                          </a:lnTo>
                          <a:lnTo>
                            <a:pt x="949" y="361"/>
                          </a:lnTo>
                          <a:lnTo>
                            <a:pt x="939" y="385"/>
                          </a:lnTo>
                          <a:lnTo>
                            <a:pt x="933" y="407"/>
                          </a:lnTo>
                          <a:lnTo>
                            <a:pt x="920" y="423"/>
                          </a:lnTo>
                          <a:lnTo>
                            <a:pt x="907" y="439"/>
                          </a:lnTo>
                          <a:lnTo>
                            <a:pt x="899" y="451"/>
                          </a:lnTo>
                          <a:lnTo>
                            <a:pt x="894" y="464"/>
                          </a:lnTo>
                          <a:lnTo>
                            <a:pt x="896" y="472"/>
                          </a:lnTo>
                          <a:lnTo>
                            <a:pt x="903" y="484"/>
                          </a:lnTo>
                          <a:lnTo>
                            <a:pt x="900" y="473"/>
                          </a:lnTo>
                          <a:lnTo>
                            <a:pt x="905" y="465"/>
                          </a:lnTo>
                          <a:lnTo>
                            <a:pt x="915" y="462"/>
                          </a:lnTo>
                          <a:lnTo>
                            <a:pt x="928" y="461"/>
                          </a:lnTo>
                          <a:lnTo>
                            <a:pt x="944" y="463"/>
                          </a:lnTo>
                          <a:lnTo>
                            <a:pt x="961" y="468"/>
                          </a:lnTo>
                          <a:lnTo>
                            <a:pt x="977" y="476"/>
                          </a:lnTo>
                          <a:lnTo>
                            <a:pt x="992" y="487"/>
                          </a:lnTo>
                          <a:lnTo>
                            <a:pt x="1005" y="500"/>
                          </a:lnTo>
                          <a:lnTo>
                            <a:pt x="1018" y="518"/>
                          </a:lnTo>
                          <a:lnTo>
                            <a:pt x="1023" y="533"/>
                          </a:lnTo>
                          <a:lnTo>
                            <a:pt x="1019" y="540"/>
                          </a:lnTo>
                          <a:lnTo>
                            <a:pt x="1015" y="547"/>
                          </a:lnTo>
                          <a:lnTo>
                            <a:pt x="1024" y="547"/>
                          </a:lnTo>
                          <a:lnTo>
                            <a:pt x="1034" y="543"/>
                          </a:lnTo>
                          <a:lnTo>
                            <a:pt x="1041" y="540"/>
                          </a:lnTo>
                          <a:lnTo>
                            <a:pt x="1049" y="528"/>
                          </a:lnTo>
                          <a:lnTo>
                            <a:pt x="1055" y="513"/>
                          </a:lnTo>
                          <a:lnTo>
                            <a:pt x="1068" y="499"/>
                          </a:lnTo>
                          <a:lnTo>
                            <a:pt x="1077" y="484"/>
                          </a:lnTo>
                          <a:lnTo>
                            <a:pt x="1093" y="482"/>
                          </a:lnTo>
                          <a:lnTo>
                            <a:pt x="1108" y="482"/>
                          </a:lnTo>
                          <a:lnTo>
                            <a:pt x="1119" y="479"/>
                          </a:lnTo>
                          <a:lnTo>
                            <a:pt x="1130" y="461"/>
                          </a:lnTo>
                          <a:lnTo>
                            <a:pt x="1142" y="437"/>
                          </a:lnTo>
                          <a:lnTo>
                            <a:pt x="1153" y="413"/>
                          </a:lnTo>
                          <a:lnTo>
                            <a:pt x="1163" y="397"/>
                          </a:lnTo>
                          <a:lnTo>
                            <a:pt x="1165" y="385"/>
                          </a:lnTo>
                          <a:lnTo>
                            <a:pt x="1173" y="345"/>
                          </a:lnTo>
                          <a:lnTo>
                            <a:pt x="1177" y="312"/>
                          </a:lnTo>
                          <a:lnTo>
                            <a:pt x="1175" y="285"/>
                          </a:lnTo>
                          <a:lnTo>
                            <a:pt x="1171" y="259"/>
                          </a:lnTo>
                          <a:lnTo>
                            <a:pt x="1167" y="246"/>
                          </a:lnTo>
                          <a:lnTo>
                            <a:pt x="1153" y="223"/>
                          </a:lnTo>
                          <a:lnTo>
                            <a:pt x="1138" y="198"/>
                          </a:lnTo>
                          <a:lnTo>
                            <a:pt x="1125" y="180"/>
                          </a:lnTo>
                          <a:lnTo>
                            <a:pt x="1117" y="176"/>
                          </a:lnTo>
                          <a:lnTo>
                            <a:pt x="1067" y="162"/>
                          </a:lnTo>
                          <a:lnTo>
                            <a:pt x="1025" y="135"/>
                          </a:lnTo>
                          <a:lnTo>
                            <a:pt x="963" y="101"/>
                          </a:lnTo>
                          <a:lnTo>
                            <a:pt x="875" y="62"/>
                          </a:lnTo>
                          <a:lnTo>
                            <a:pt x="844" y="47"/>
                          </a:lnTo>
                          <a:lnTo>
                            <a:pt x="813" y="26"/>
                          </a:lnTo>
                          <a:lnTo>
                            <a:pt x="781" y="0"/>
                          </a:lnTo>
                          <a:lnTo>
                            <a:pt x="730" y="5"/>
                          </a:lnTo>
                          <a:lnTo>
                            <a:pt x="590" y="235"/>
                          </a:lnTo>
                          <a:lnTo>
                            <a:pt x="523" y="210"/>
                          </a:lnTo>
                          <a:lnTo>
                            <a:pt x="498" y="198"/>
                          </a:lnTo>
                          <a:lnTo>
                            <a:pt x="476" y="185"/>
                          </a:lnTo>
                          <a:lnTo>
                            <a:pt x="452" y="165"/>
                          </a:lnTo>
                          <a:lnTo>
                            <a:pt x="427" y="139"/>
                          </a:lnTo>
                          <a:lnTo>
                            <a:pt x="397" y="103"/>
                          </a:lnTo>
                          <a:lnTo>
                            <a:pt x="333" y="13"/>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275" name="Group 227"/>
                    <p:cNvGrpSpPr/>
                    <p:nvPr/>
                  </p:nvGrpSpPr>
                  <p:grpSpPr bwMode="auto">
                    <a:xfrm>
                      <a:off x="2360" y="3075"/>
                      <a:ext cx="162" cy="142"/>
                      <a:chOff x="2360" y="3075"/>
                      <a:chExt cx="162" cy="142"/>
                    </a:xfrm>
                  </p:grpSpPr>
                  <p:sp>
                    <p:nvSpPr>
                      <p:cNvPr id="642276" name="Freeform 228"/>
                      <p:cNvSpPr/>
                      <p:nvPr/>
                    </p:nvSpPr>
                    <p:spPr bwMode="auto">
                      <a:xfrm>
                        <a:off x="2469" y="3098"/>
                        <a:ext cx="19" cy="20"/>
                      </a:xfrm>
                      <a:custGeom>
                        <a:avLst/>
                        <a:gdLst>
                          <a:gd name="T0" fmla="*/ 0 w 129"/>
                          <a:gd name="T1" fmla="*/ 154 h 156"/>
                          <a:gd name="T2" fmla="*/ 7 w 129"/>
                          <a:gd name="T3" fmla="*/ 121 h 156"/>
                          <a:gd name="T4" fmla="*/ 13 w 129"/>
                          <a:gd name="T5" fmla="*/ 91 h 156"/>
                          <a:gd name="T6" fmla="*/ 12 w 129"/>
                          <a:gd name="T7" fmla="*/ 59 h 156"/>
                          <a:gd name="T8" fmla="*/ 7 w 129"/>
                          <a:gd name="T9" fmla="*/ 25 h 156"/>
                          <a:gd name="T10" fmla="*/ 4 w 129"/>
                          <a:gd name="T11" fmla="*/ 0 h 156"/>
                          <a:gd name="T12" fmla="*/ 17 w 129"/>
                          <a:gd name="T13" fmla="*/ 27 h 156"/>
                          <a:gd name="T14" fmla="*/ 24 w 129"/>
                          <a:gd name="T15" fmla="*/ 49 h 156"/>
                          <a:gd name="T16" fmla="*/ 39 w 129"/>
                          <a:gd name="T17" fmla="*/ 64 h 156"/>
                          <a:gd name="T18" fmla="*/ 59 w 129"/>
                          <a:gd name="T19" fmla="*/ 72 h 156"/>
                          <a:gd name="T20" fmla="*/ 80 w 129"/>
                          <a:gd name="T21" fmla="*/ 74 h 156"/>
                          <a:gd name="T22" fmla="*/ 98 w 129"/>
                          <a:gd name="T23" fmla="*/ 75 h 156"/>
                          <a:gd name="T24" fmla="*/ 129 w 129"/>
                          <a:gd name="T25" fmla="*/ 81 h 156"/>
                          <a:gd name="T26" fmla="*/ 112 w 129"/>
                          <a:gd name="T27" fmla="*/ 85 h 156"/>
                          <a:gd name="T28" fmla="*/ 93 w 129"/>
                          <a:gd name="T29" fmla="*/ 90 h 156"/>
                          <a:gd name="T30" fmla="*/ 79 w 129"/>
                          <a:gd name="T31" fmla="*/ 92 h 156"/>
                          <a:gd name="T32" fmla="*/ 62 w 129"/>
                          <a:gd name="T33" fmla="*/ 93 h 156"/>
                          <a:gd name="T34" fmla="*/ 38 w 129"/>
                          <a:gd name="T35" fmla="*/ 92 h 156"/>
                          <a:gd name="T36" fmla="*/ 54 w 129"/>
                          <a:gd name="T37" fmla="*/ 99 h 156"/>
                          <a:gd name="T38" fmla="*/ 76 w 129"/>
                          <a:gd name="T39" fmla="*/ 102 h 156"/>
                          <a:gd name="T40" fmla="*/ 94 w 129"/>
                          <a:gd name="T41" fmla="*/ 103 h 156"/>
                          <a:gd name="T42" fmla="*/ 129 w 129"/>
                          <a:gd name="T43" fmla="*/ 110 h 156"/>
                          <a:gd name="T44" fmla="*/ 110 w 129"/>
                          <a:gd name="T45" fmla="*/ 115 h 156"/>
                          <a:gd name="T46" fmla="*/ 94 w 129"/>
                          <a:gd name="T47" fmla="*/ 118 h 156"/>
                          <a:gd name="T48" fmla="*/ 75 w 129"/>
                          <a:gd name="T49" fmla="*/ 119 h 156"/>
                          <a:gd name="T50" fmla="*/ 57 w 129"/>
                          <a:gd name="T51" fmla="*/ 120 h 156"/>
                          <a:gd name="T52" fmla="*/ 70 w 129"/>
                          <a:gd name="T53" fmla="*/ 126 h 156"/>
                          <a:gd name="T54" fmla="*/ 85 w 129"/>
                          <a:gd name="T55" fmla="*/ 133 h 156"/>
                          <a:gd name="T56" fmla="*/ 101 w 129"/>
                          <a:gd name="T57" fmla="*/ 137 h 156"/>
                          <a:gd name="T58" fmla="*/ 124 w 129"/>
                          <a:gd name="T59" fmla="*/ 142 h 156"/>
                          <a:gd name="T60" fmla="*/ 104 w 129"/>
                          <a:gd name="T61" fmla="*/ 148 h 156"/>
                          <a:gd name="T62" fmla="*/ 85 w 129"/>
                          <a:gd name="T63" fmla="*/ 144 h 156"/>
                          <a:gd name="T64" fmla="*/ 69 w 129"/>
                          <a:gd name="T65" fmla="*/ 139 h 156"/>
                          <a:gd name="T66" fmla="*/ 57 w 129"/>
                          <a:gd name="T67" fmla="*/ 150 h 156"/>
                          <a:gd name="T68" fmla="*/ 40 w 129"/>
                          <a:gd name="T69" fmla="*/ 155 h 156"/>
                          <a:gd name="T70" fmla="*/ 22 w 129"/>
                          <a:gd name="T71" fmla="*/ 156 h 156"/>
                          <a:gd name="T72" fmla="*/ 0 w 129"/>
                          <a:gd name="T73" fmla="*/ 15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9" h="156">
                            <a:moveTo>
                              <a:pt x="0" y="154"/>
                            </a:moveTo>
                            <a:lnTo>
                              <a:pt x="7" y="121"/>
                            </a:lnTo>
                            <a:lnTo>
                              <a:pt x="13" y="91"/>
                            </a:lnTo>
                            <a:lnTo>
                              <a:pt x="12" y="59"/>
                            </a:lnTo>
                            <a:lnTo>
                              <a:pt x="7" y="25"/>
                            </a:lnTo>
                            <a:lnTo>
                              <a:pt x="4" y="0"/>
                            </a:lnTo>
                            <a:lnTo>
                              <a:pt x="17" y="27"/>
                            </a:lnTo>
                            <a:lnTo>
                              <a:pt x="24" y="49"/>
                            </a:lnTo>
                            <a:lnTo>
                              <a:pt x="39" y="64"/>
                            </a:lnTo>
                            <a:lnTo>
                              <a:pt x="59" y="72"/>
                            </a:lnTo>
                            <a:lnTo>
                              <a:pt x="80" y="74"/>
                            </a:lnTo>
                            <a:lnTo>
                              <a:pt x="98" y="75"/>
                            </a:lnTo>
                            <a:lnTo>
                              <a:pt x="129" y="81"/>
                            </a:lnTo>
                            <a:lnTo>
                              <a:pt x="112" y="85"/>
                            </a:lnTo>
                            <a:lnTo>
                              <a:pt x="93" y="90"/>
                            </a:lnTo>
                            <a:lnTo>
                              <a:pt x="79" y="92"/>
                            </a:lnTo>
                            <a:lnTo>
                              <a:pt x="62" y="93"/>
                            </a:lnTo>
                            <a:lnTo>
                              <a:pt x="38" y="92"/>
                            </a:lnTo>
                            <a:lnTo>
                              <a:pt x="54" y="99"/>
                            </a:lnTo>
                            <a:lnTo>
                              <a:pt x="76" y="102"/>
                            </a:lnTo>
                            <a:lnTo>
                              <a:pt x="94" y="103"/>
                            </a:lnTo>
                            <a:lnTo>
                              <a:pt x="129" y="110"/>
                            </a:lnTo>
                            <a:lnTo>
                              <a:pt x="110" y="115"/>
                            </a:lnTo>
                            <a:lnTo>
                              <a:pt x="94" y="118"/>
                            </a:lnTo>
                            <a:lnTo>
                              <a:pt x="75" y="119"/>
                            </a:lnTo>
                            <a:lnTo>
                              <a:pt x="57" y="120"/>
                            </a:lnTo>
                            <a:lnTo>
                              <a:pt x="70" y="126"/>
                            </a:lnTo>
                            <a:lnTo>
                              <a:pt x="85" y="133"/>
                            </a:lnTo>
                            <a:lnTo>
                              <a:pt x="101" y="137"/>
                            </a:lnTo>
                            <a:lnTo>
                              <a:pt x="124" y="142"/>
                            </a:lnTo>
                            <a:lnTo>
                              <a:pt x="104" y="148"/>
                            </a:lnTo>
                            <a:lnTo>
                              <a:pt x="85" y="144"/>
                            </a:lnTo>
                            <a:lnTo>
                              <a:pt x="69" y="139"/>
                            </a:lnTo>
                            <a:lnTo>
                              <a:pt x="57" y="150"/>
                            </a:lnTo>
                            <a:lnTo>
                              <a:pt x="40" y="155"/>
                            </a:lnTo>
                            <a:lnTo>
                              <a:pt x="22" y="156"/>
                            </a:lnTo>
                            <a:lnTo>
                              <a:pt x="0" y="154"/>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7" name="Freeform 229"/>
                      <p:cNvSpPr/>
                      <p:nvPr/>
                    </p:nvSpPr>
                    <p:spPr bwMode="auto">
                      <a:xfrm>
                        <a:off x="2463" y="3097"/>
                        <a:ext cx="10" cy="42"/>
                      </a:xfrm>
                      <a:custGeom>
                        <a:avLst/>
                        <a:gdLst>
                          <a:gd name="T0" fmla="*/ 20 w 69"/>
                          <a:gd name="T1" fmla="*/ 0 h 338"/>
                          <a:gd name="T2" fmla="*/ 29 w 69"/>
                          <a:gd name="T3" fmla="*/ 97 h 338"/>
                          <a:gd name="T4" fmla="*/ 26 w 69"/>
                          <a:gd name="T5" fmla="*/ 177 h 338"/>
                          <a:gd name="T6" fmla="*/ 29 w 69"/>
                          <a:gd name="T7" fmla="*/ 197 h 338"/>
                          <a:gd name="T8" fmla="*/ 26 w 69"/>
                          <a:gd name="T9" fmla="*/ 231 h 338"/>
                          <a:gd name="T10" fmla="*/ 40 w 69"/>
                          <a:gd name="T11" fmla="*/ 243 h 338"/>
                          <a:gd name="T12" fmla="*/ 37 w 69"/>
                          <a:gd name="T13" fmla="*/ 265 h 338"/>
                          <a:gd name="T14" fmla="*/ 48 w 69"/>
                          <a:gd name="T15" fmla="*/ 278 h 338"/>
                          <a:gd name="T16" fmla="*/ 59 w 69"/>
                          <a:gd name="T17" fmla="*/ 293 h 338"/>
                          <a:gd name="T18" fmla="*/ 68 w 69"/>
                          <a:gd name="T19" fmla="*/ 307 h 338"/>
                          <a:gd name="T20" fmla="*/ 69 w 69"/>
                          <a:gd name="T21" fmla="*/ 317 h 338"/>
                          <a:gd name="T22" fmla="*/ 66 w 69"/>
                          <a:gd name="T23" fmla="*/ 328 h 338"/>
                          <a:gd name="T24" fmla="*/ 55 w 69"/>
                          <a:gd name="T25" fmla="*/ 334 h 338"/>
                          <a:gd name="T26" fmla="*/ 45 w 69"/>
                          <a:gd name="T27" fmla="*/ 338 h 338"/>
                          <a:gd name="T28" fmla="*/ 34 w 69"/>
                          <a:gd name="T29" fmla="*/ 338 h 338"/>
                          <a:gd name="T30" fmla="*/ 24 w 69"/>
                          <a:gd name="T31" fmla="*/ 337 h 338"/>
                          <a:gd name="T32" fmla="*/ 0 w 69"/>
                          <a:gd name="T33" fmla="*/ 329 h 338"/>
                          <a:gd name="T34" fmla="*/ 23 w 69"/>
                          <a:gd name="T35" fmla="*/ 327 h 338"/>
                          <a:gd name="T36" fmla="*/ 33 w 69"/>
                          <a:gd name="T37" fmla="*/ 324 h 338"/>
                          <a:gd name="T38" fmla="*/ 40 w 69"/>
                          <a:gd name="T39" fmla="*/ 317 h 338"/>
                          <a:gd name="T40" fmla="*/ 33 w 69"/>
                          <a:gd name="T41" fmla="*/ 305 h 338"/>
                          <a:gd name="T42" fmla="*/ 20 w 69"/>
                          <a:gd name="T43" fmla="*/ 293 h 338"/>
                          <a:gd name="T44" fmla="*/ 6 w 69"/>
                          <a:gd name="T45" fmla="*/ 287 h 338"/>
                          <a:gd name="T46" fmla="*/ 12 w 69"/>
                          <a:gd name="T47" fmla="*/ 272 h 338"/>
                          <a:gd name="T48" fmla="*/ 14 w 69"/>
                          <a:gd name="T49" fmla="*/ 259 h 338"/>
                          <a:gd name="T50" fmla="*/ 10 w 69"/>
                          <a:gd name="T51" fmla="*/ 215 h 338"/>
                          <a:gd name="T52" fmla="*/ 6 w 69"/>
                          <a:gd name="T53" fmla="*/ 135 h 338"/>
                          <a:gd name="T54" fmla="*/ 17 w 69"/>
                          <a:gd name="T55" fmla="*/ 77 h 338"/>
                          <a:gd name="T56" fmla="*/ 20 w 69"/>
                          <a:gd name="T57" fmla="*/ 0 h 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9" h="338">
                            <a:moveTo>
                              <a:pt x="20" y="0"/>
                            </a:moveTo>
                            <a:lnTo>
                              <a:pt x="29" y="97"/>
                            </a:lnTo>
                            <a:lnTo>
                              <a:pt x="26" y="177"/>
                            </a:lnTo>
                            <a:lnTo>
                              <a:pt x="29" y="197"/>
                            </a:lnTo>
                            <a:lnTo>
                              <a:pt x="26" y="231"/>
                            </a:lnTo>
                            <a:lnTo>
                              <a:pt x="40" y="243"/>
                            </a:lnTo>
                            <a:lnTo>
                              <a:pt x="37" y="265"/>
                            </a:lnTo>
                            <a:lnTo>
                              <a:pt x="48" y="278"/>
                            </a:lnTo>
                            <a:lnTo>
                              <a:pt x="59" y="293"/>
                            </a:lnTo>
                            <a:lnTo>
                              <a:pt x="68" y="307"/>
                            </a:lnTo>
                            <a:lnTo>
                              <a:pt x="69" y="317"/>
                            </a:lnTo>
                            <a:lnTo>
                              <a:pt x="66" y="328"/>
                            </a:lnTo>
                            <a:lnTo>
                              <a:pt x="55" y="334"/>
                            </a:lnTo>
                            <a:lnTo>
                              <a:pt x="45" y="338"/>
                            </a:lnTo>
                            <a:lnTo>
                              <a:pt x="34" y="338"/>
                            </a:lnTo>
                            <a:lnTo>
                              <a:pt x="24" y="337"/>
                            </a:lnTo>
                            <a:lnTo>
                              <a:pt x="0" y="329"/>
                            </a:lnTo>
                            <a:lnTo>
                              <a:pt x="23" y="327"/>
                            </a:lnTo>
                            <a:lnTo>
                              <a:pt x="33" y="324"/>
                            </a:lnTo>
                            <a:lnTo>
                              <a:pt x="40" y="317"/>
                            </a:lnTo>
                            <a:lnTo>
                              <a:pt x="33" y="305"/>
                            </a:lnTo>
                            <a:lnTo>
                              <a:pt x="20" y="293"/>
                            </a:lnTo>
                            <a:lnTo>
                              <a:pt x="6" y="287"/>
                            </a:lnTo>
                            <a:lnTo>
                              <a:pt x="12" y="272"/>
                            </a:lnTo>
                            <a:lnTo>
                              <a:pt x="14" y="259"/>
                            </a:lnTo>
                            <a:lnTo>
                              <a:pt x="10" y="215"/>
                            </a:lnTo>
                            <a:lnTo>
                              <a:pt x="6" y="135"/>
                            </a:lnTo>
                            <a:lnTo>
                              <a:pt x="17" y="77"/>
                            </a:lnTo>
                            <a:lnTo>
                              <a:pt x="2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8" name="Freeform 230"/>
                      <p:cNvSpPr/>
                      <p:nvPr/>
                    </p:nvSpPr>
                    <p:spPr bwMode="auto">
                      <a:xfrm>
                        <a:off x="2454" y="3138"/>
                        <a:ext cx="14" cy="18"/>
                      </a:xfrm>
                      <a:custGeom>
                        <a:avLst/>
                        <a:gdLst>
                          <a:gd name="T0" fmla="*/ 28 w 95"/>
                          <a:gd name="T1" fmla="*/ 0 h 146"/>
                          <a:gd name="T2" fmla="*/ 38 w 95"/>
                          <a:gd name="T3" fmla="*/ 17 h 146"/>
                          <a:gd name="T4" fmla="*/ 44 w 95"/>
                          <a:gd name="T5" fmla="*/ 34 h 146"/>
                          <a:gd name="T6" fmla="*/ 47 w 95"/>
                          <a:gd name="T7" fmla="*/ 52 h 146"/>
                          <a:gd name="T8" fmla="*/ 48 w 95"/>
                          <a:gd name="T9" fmla="*/ 74 h 146"/>
                          <a:gd name="T10" fmla="*/ 59 w 95"/>
                          <a:gd name="T11" fmla="*/ 78 h 146"/>
                          <a:gd name="T12" fmla="*/ 74 w 95"/>
                          <a:gd name="T13" fmla="*/ 77 h 146"/>
                          <a:gd name="T14" fmla="*/ 85 w 95"/>
                          <a:gd name="T15" fmla="*/ 69 h 146"/>
                          <a:gd name="T16" fmla="*/ 95 w 95"/>
                          <a:gd name="T17" fmla="*/ 56 h 146"/>
                          <a:gd name="T18" fmla="*/ 92 w 95"/>
                          <a:gd name="T19" fmla="*/ 73 h 146"/>
                          <a:gd name="T20" fmla="*/ 87 w 95"/>
                          <a:gd name="T21" fmla="*/ 85 h 146"/>
                          <a:gd name="T22" fmla="*/ 68 w 95"/>
                          <a:gd name="T23" fmla="*/ 107 h 146"/>
                          <a:gd name="T24" fmla="*/ 35 w 95"/>
                          <a:gd name="T25" fmla="*/ 146 h 146"/>
                          <a:gd name="T26" fmla="*/ 0 w 95"/>
                          <a:gd name="T27" fmla="*/ 74 h 146"/>
                          <a:gd name="T28" fmla="*/ 28 w 95"/>
                          <a:gd name="T29" fmla="*/ 0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5" h="146">
                            <a:moveTo>
                              <a:pt x="28" y="0"/>
                            </a:moveTo>
                            <a:lnTo>
                              <a:pt x="38" y="17"/>
                            </a:lnTo>
                            <a:lnTo>
                              <a:pt x="44" y="34"/>
                            </a:lnTo>
                            <a:lnTo>
                              <a:pt x="47" y="52"/>
                            </a:lnTo>
                            <a:lnTo>
                              <a:pt x="48" y="74"/>
                            </a:lnTo>
                            <a:lnTo>
                              <a:pt x="59" y="78"/>
                            </a:lnTo>
                            <a:lnTo>
                              <a:pt x="74" y="77"/>
                            </a:lnTo>
                            <a:lnTo>
                              <a:pt x="85" y="69"/>
                            </a:lnTo>
                            <a:lnTo>
                              <a:pt x="95" y="56"/>
                            </a:lnTo>
                            <a:lnTo>
                              <a:pt x="92" y="73"/>
                            </a:lnTo>
                            <a:lnTo>
                              <a:pt x="87" y="85"/>
                            </a:lnTo>
                            <a:lnTo>
                              <a:pt x="68" y="107"/>
                            </a:lnTo>
                            <a:lnTo>
                              <a:pt x="35" y="146"/>
                            </a:lnTo>
                            <a:lnTo>
                              <a:pt x="0" y="74"/>
                            </a:lnTo>
                            <a:lnTo>
                              <a:pt x="28"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79" name="Freeform 231"/>
                      <p:cNvSpPr/>
                      <p:nvPr/>
                    </p:nvSpPr>
                    <p:spPr bwMode="auto">
                      <a:xfrm>
                        <a:off x="2426" y="3162"/>
                        <a:ext cx="25" cy="33"/>
                      </a:xfrm>
                      <a:custGeom>
                        <a:avLst/>
                        <a:gdLst>
                          <a:gd name="T0" fmla="*/ 0 w 176"/>
                          <a:gd name="T1" fmla="*/ 105 h 263"/>
                          <a:gd name="T2" fmla="*/ 23 w 176"/>
                          <a:gd name="T3" fmla="*/ 111 h 263"/>
                          <a:gd name="T4" fmla="*/ 41 w 176"/>
                          <a:gd name="T5" fmla="*/ 98 h 263"/>
                          <a:gd name="T6" fmla="*/ 58 w 176"/>
                          <a:gd name="T7" fmla="*/ 77 h 263"/>
                          <a:gd name="T8" fmla="*/ 73 w 176"/>
                          <a:gd name="T9" fmla="*/ 59 h 263"/>
                          <a:gd name="T10" fmla="*/ 83 w 176"/>
                          <a:gd name="T11" fmla="*/ 39 h 263"/>
                          <a:gd name="T12" fmla="*/ 94 w 176"/>
                          <a:gd name="T13" fmla="*/ 0 h 263"/>
                          <a:gd name="T14" fmla="*/ 95 w 176"/>
                          <a:gd name="T15" fmla="*/ 20 h 263"/>
                          <a:gd name="T16" fmla="*/ 92 w 176"/>
                          <a:gd name="T17" fmla="*/ 46 h 263"/>
                          <a:gd name="T18" fmla="*/ 83 w 176"/>
                          <a:gd name="T19" fmla="*/ 75 h 263"/>
                          <a:gd name="T20" fmla="*/ 73 w 176"/>
                          <a:gd name="T21" fmla="*/ 102 h 263"/>
                          <a:gd name="T22" fmla="*/ 79 w 176"/>
                          <a:gd name="T23" fmla="*/ 119 h 263"/>
                          <a:gd name="T24" fmla="*/ 91 w 176"/>
                          <a:gd name="T25" fmla="*/ 100 h 263"/>
                          <a:gd name="T26" fmla="*/ 108 w 176"/>
                          <a:gd name="T27" fmla="*/ 77 h 263"/>
                          <a:gd name="T28" fmla="*/ 130 w 176"/>
                          <a:gd name="T29" fmla="*/ 53 h 263"/>
                          <a:gd name="T30" fmla="*/ 153 w 176"/>
                          <a:gd name="T31" fmla="*/ 39 h 263"/>
                          <a:gd name="T32" fmla="*/ 176 w 176"/>
                          <a:gd name="T33" fmla="*/ 23 h 263"/>
                          <a:gd name="T34" fmla="*/ 51 w 176"/>
                          <a:gd name="T35" fmla="*/ 169 h 263"/>
                          <a:gd name="T36" fmla="*/ 50 w 176"/>
                          <a:gd name="T37" fmla="*/ 184 h 263"/>
                          <a:gd name="T38" fmla="*/ 47 w 176"/>
                          <a:gd name="T39" fmla="*/ 199 h 263"/>
                          <a:gd name="T40" fmla="*/ 40 w 176"/>
                          <a:gd name="T41" fmla="*/ 211 h 263"/>
                          <a:gd name="T42" fmla="*/ 31 w 176"/>
                          <a:gd name="T43" fmla="*/ 231 h 263"/>
                          <a:gd name="T44" fmla="*/ 26 w 176"/>
                          <a:gd name="T45" fmla="*/ 263 h 263"/>
                          <a:gd name="T46" fmla="*/ 23 w 176"/>
                          <a:gd name="T47" fmla="*/ 210 h 263"/>
                          <a:gd name="T48" fmla="*/ 18 w 176"/>
                          <a:gd name="T49" fmla="*/ 169 h 263"/>
                          <a:gd name="T50" fmla="*/ 8 w 176"/>
                          <a:gd name="T51" fmla="*/ 133 h 263"/>
                          <a:gd name="T52" fmla="*/ 0 w 176"/>
                          <a:gd name="T53" fmla="*/ 105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6" h="263">
                            <a:moveTo>
                              <a:pt x="0" y="105"/>
                            </a:moveTo>
                            <a:lnTo>
                              <a:pt x="23" y="111"/>
                            </a:lnTo>
                            <a:lnTo>
                              <a:pt x="41" y="98"/>
                            </a:lnTo>
                            <a:lnTo>
                              <a:pt x="58" y="77"/>
                            </a:lnTo>
                            <a:lnTo>
                              <a:pt x="73" y="59"/>
                            </a:lnTo>
                            <a:lnTo>
                              <a:pt x="83" y="39"/>
                            </a:lnTo>
                            <a:lnTo>
                              <a:pt x="94" y="0"/>
                            </a:lnTo>
                            <a:lnTo>
                              <a:pt x="95" y="20"/>
                            </a:lnTo>
                            <a:lnTo>
                              <a:pt x="92" y="46"/>
                            </a:lnTo>
                            <a:lnTo>
                              <a:pt x="83" y="75"/>
                            </a:lnTo>
                            <a:lnTo>
                              <a:pt x="73" y="102"/>
                            </a:lnTo>
                            <a:lnTo>
                              <a:pt x="79" y="119"/>
                            </a:lnTo>
                            <a:lnTo>
                              <a:pt x="91" y="100"/>
                            </a:lnTo>
                            <a:lnTo>
                              <a:pt x="108" y="77"/>
                            </a:lnTo>
                            <a:lnTo>
                              <a:pt x="130" y="53"/>
                            </a:lnTo>
                            <a:lnTo>
                              <a:pt x="153" y="39"/>
                            </a:lnTo>
                            <a:lnTo>
                              <a:pt x="176" y="23"/>
                            </a:lnTo>
                            <a:lnTo>
                              <a:pt x="51" y="169"/>
                            </a:lnTo>
                            <a:lnTo>
                              <a:pt x="50" y="184"/>
                            </a:lnTo>
                            <a:lnTo>
                              <a:pt x="47" y="199"/>
                            </a:lnTo>
                            <a:lnTo>
                              <a:pt x="40" y="211"/>
                            </a:lnTo>
                            <a:lnTo>
                              <a:pt x="31" y="231"/>
                            </a:lnTo>
                            <a:lnTo>
                              <a:pt x="26" y="263"/>
                            </a:lnTo>
                            <a:lnTo>
                              <a:pt x="23" y="210"/>
                            </a:lnTo>
                            <a:lnTo>
                              <a:pt x="18" y="169"/>
                            </a:lnTo>
                            <a:lnTo>
                              <a:pt x="8" y="133"/>
                            </a:lnTo>
                            <a:lnTo>
                              <a:pt x="0" y="105"/>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0" name="Freeform 232"/>
                      <p:cNvSpPr/>
                      <p:nvPr/>
                    </p:nvSpPr>
                    <p:spPr bwMode="auto">
                      <a:xfrm>
                        <a:off x="2415" y="3135"/>
                        <a:ext cx="14" cy="42"/>
                      </a:xfrm>
                      <a:custGeom>
                        <a:avLst/>
                        <a:gdLst>
                          <a:gd name="T0" fmla="*/ 21 w 102"/>
                          <a:gd name="T1" fmla="*/ 263 h 337"/>
                          <a:gd name="T2" fmla="*/ 39 w 102"/>
                          <a:gd name="T3" fmla="*/ 281 h 337"/>
                          <a:gd name="T4" fmla="*/ 53 w 102"/>
                          <a:gd name="T5" fmla="*/ 294 h 337"/>
                          <a:gd name="T6" fmla="*/ 69 w 102"/>
                          <a:gd name="T7" fmla="*/ 309 h 337"/>
                          <a:gd name="T8" fmla="*/ 87 w 102"/>
                          <a:gd name="T9" fmla="*/ 337 h 337"/>
                          <a:gd name="T10" fmla="*/ 95 w 102"/>
                          <a:gd name="T11" fmla="*/ 313 h 337"/>
                          <a:gd name="T12" fmla="*/ 100 w 102"/>
                          <a:gd name="T13" fmla="*/ 283 h 337"/>
                          <a:gd name="T14" fmla="*/ 102 w 102"/>
                          <a:gd name="T15" fmla="*/ 235 h 337"/>
                          <a:gd name="T16" fmla="*/ 98 w 102"/>
                          <a:gd name="T17" fmla="*/ 202 h 337"/>
                          <a:gd name="T18" fmla="*/ 87 w 102"/>
                          <a:gd name="T19" fmla="*/ 151 h 337"/>
                          <a:gd name="T20" fmla="*/ 75 w 102"/>
                          <a:gd name="T21" fmla="*/ 101 h 337"/>
                          <a:gd name="T22" fmla="*/ 65 w 102"/>
                          <a:gd name="T23" fmla="*/ 69 h 337"/>
                          <a:gd name="T24" fmla="*/ 52 w 102"/>
                          <a:gd name="T25" fmla="*/ 38 h 337"/>
                          <a:gd name="T26" fmla="*/ 31 w 102"/>
                          <a:gd name="T27" fmla="*/ 0 h 337"/>
                          <a:gd name="T28" fmla="*/ 42 w 102"/>
                          <a:gd name="T29" fmla="*/ 38 h 337"/>
                          <a:gd name="T30" fmla="*/ 50 w 102"/>
                          <a:gd name="T31" fmla="*/ 69 h 337"/>
                          <a:gd name="T32" fmla="*/ 54 w 102"/>
                          <a:gd name="T33" fmla="*/ 102 h 337"/>
                          <a:gd name="T34" fmla="*/ 59 w 102"/>
                          <a:gd name="T35" fmla="*/ 143 h 337"/>
                          <a:gd name="T36" fmla="*/ 61 w 102"/>
                          <a:gd name="T37" fmla="*/ 194 h 337"/>
                          <a:gd name="T38" fmla="*/ 58 w 102"/>
                          <a:gd name="T39" fmla="*/ 234 h 337"/>
                          <a:gd name="T40" fmla="*/ 50 w 102"/>
                          <a:gd name="T41" fmla="*/ 243 h 337"/>
                          <a:gd name="T42" fmla="*/ 39 w 102"/>
                          <a:gd name="T43" fmla="*/ 249 h 337"/>
                          <a:gd name="T44" fmla="*/ 24 w 102"/>
                          <a:gd name="T45" fmla="*/ 251 h 337"/>
                          <a:gd name="T46" fmla="*/ 0 w 102"/>
                          <a:gd name="T47" fmla="*/ 248 h 337"/>
                          <a:gd name="T48" fmla="*/ 21 w 102"/>
                          <a:gd name="T49" fmla="*/ 263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2" h="337">
                            <a:moveTo>
                              <a:pt x="21" y="263"/>
                            </a:moveTo>
                            <a:lnTo>
                              <a:pt x="39" y="281"/>
                            </a:lnTo>
                            <a:lnTo>
                              <a:pt x="53" y="294"/>
                            </a:lnTo>
                            <a:lnTo>
                              <a:pt x="69" y="309"/>
                            </a:lnTo>
                            <a:lnTo>
                              <a:pt x="87" y="337"/>
                            </a:lnTo>
                            <a:lnTo>
                              <a:pt x="95" y="313"/>
                            </a:lnTo>
                            <a:lnTo>
                              <a:pt x="100" y="283"/>
                            </a:lnTo>
                            <a:lnTo>
                              <a:pt x="102" y="235"/>
                            </a:lnTo>
                            <a:lnTo>
                              <a:pt x="98" y="202"/>
                            </a:lnTo>
                            <a:lnTo>
                              <a:pt x="87" y="151"/>
                            </a:lnTo>
                            <a:lnTo>
                              <a:pt x="75" y="101"/>
                            </a:lnTo>
                            <a:lnTo>
                              <a:pt x="65" y="69"/>
                            </a:lnTo>
                            <a:lnTo>
                              <a:pt x="52" y="38"/>
                            </a:lnTo>
                            <a:lnTo>
                              <a:pt x="31" y="0"/>
                            </a:lnTo>
                            <a:lnTo>
                              <a:pt x="42" y="38"/>
                            </a:lnTo>
                            <a:lnTo>
                              <a:pt x="50" y="69"/>
                            </a:lnTo>
                            <a:lnTo>
                              <a:pt x="54" y="102"/>
                            </a:lnTo>
                            <a:lnTo>
                              <a:pt x="59" y="143"/>
                            </a:lnTo>
                            <a:lnTo>
                              <a:pt x="61" y="194"/>
                            </a:lnTo>
                            <a:lnTo>
                              <a:pt x="58" y="234"/>
                            </a:lnTo>
                            <a:lnTo>
                              <a:pt x="50" y="243"/>
                            </a:lnTo>
                            <a:lnTo>
                              <a:pt x="39" y="249"/>
                            </a:lnTo>
                            <a:lnTo>
                              <a:pt x="24" y="251"/>
                            </a:lnTo>
                            <a:lnTo>
                              <a:pt x="0" y="248"/>
                            </a:lnTo>
                            <a:lnTo>
                              <a:pt x="21" y="263"/>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1" name="Freeform 233"/>
                      <p:cNvSpPr/>
                      <p:nvPr/>
                    </p:nvSpPr>
                    <p:spPr bwMode="auto">
                      <a:xfrm>
                        <a:off x="2396" y="3078"/>
                        <a:ext cx="49" cy="39"/>
                      </a:xfrm>
                      <a:custGeom>
                        <a:avLst/>
                        <a:gdLst>
                          <a:gd name="T0" fmla="*/ 81 w 340"/>
                          <a:gd name="T1" fmla="*/ 10 h 316"/>
                          <a:gd name="T2" fmla="*/ 69 w 340"/>
                          <a:gd name="T3" fmla="*/ 0 h 316"/>
                          <a:gd name="T4" fmla="*/ 55 w 340"/>
                          <a:gd name="T5" fmla="*/ 1 h 316"/>
                          <a:gd name="T6" fmla="*/ 37 w 340"/>
                          <a:gd name="T7" fmla="*/ 11 h 316"/>
                          <a:gd name="T8" fmla="*/ 24 w 340"/>
                          <a:gd name="T9" fmla="*/ 22 h 316"/>
                          <a:gd name="T10" fmla="*/ 10 w 340"/>
                          <a:gd name="T11" fmla="*/ 39 h 316"/>
                          <a:gd name="T12" fmla="*/ 3 w 340"/>
                          <a:gd name="T13" fmla="*/ 55 h 316"/>
                          <a:gd name="T14" fmla="*/ 0 w 340"/>
                          <a:gd name="T15" fmla="*/ 72 h 316"/>
                          <a:gd name="T16" fmla="*/ 7 w 340"/>
                          <a:gd name="T17" fmla="*/ 77 h 316"/>
                          <a:gd name="T18" fmla="*/ 20 w 340"/>
                          <a:gd name="T19" fmla="*/ 81 h 316"/>
                          <a:gd name="T20" fmla="*/ 35 w 340"/>
                          <a:gd name="T21" fmla="*/ 82 h 316"/>
                          <a:gd name="T22" fmla="*/ 44 w 340"/>
                          <a:gd name="T23" fmla="*/ 80 h 316"/>
                          <a:gd name="T24" fmla="*/ 47 w 340"/>
                          <a:gd name="T25" fmla="*/ 94 h 316"/>
                          <a:gd name="T26" fmla="*/ 54 w 340"/>
                          <a:gd name="T27" fmla="*/ 112 h 316"/>
                          <a:gd name="T28" fmla="*/ 66 w 340"/>
                          <a:gd name="T29" fmla="*/ 127 h 316"/>
                          <a:gd name="T30" fmla="*/ 87 w 340"/>
                          <a:gd name="T31" fmla="*/ 147 h 316"/>
                          <a:gd name="T32" fmla="*/ 108 w 340"/>
                          <a:gd name="T33" fmla="*/ 163 h 316"/>
                          <a:gd name="T34" fmla="*/ 131 w 340"/>
                          <a:gd name="T35" fmla="*/ 184 h 316"/>
                          <a:gd name="T36" fmla="*/ 147 w 340"/>
                          <a:gd name="T37" fmla="*/ 208 h 316"/>
                          <a:gd name="T38" fmla="*/ 161 w 340"/>
                          <a:gd name="T39" fmla="*/ 231 h 316"/>
                          <a:gd name="T40" fmla="*/ 187 w 340"/>
                          <a:gd name="T41" fmla="*/ 244 h 316"/>
                          <a:gd name="T42" fmla="*/ 217 w 340"/>
                          <a:gd name="T43" fmla="*/ 267 h 316"/>
                          <a:gd name="T44" fmla="*/ 242 w 340"/>
                          <a:gd name="T45" fmla="*/ 282 h 316"/>
                          <a:gd name="T46" fmla="*/ 270 w 340"/>
                          <a:gd name="T47" fmla="*/ 288 h 316"/>
                          <a:gd name="T48" fmla="*/ 298 w 340"/>
                          <a:gd name="T49" fmla="*/ 298 h 316"/>
                          <a:gd name="T50" fmla="*/ 324 w 340"/>
                          <a:gd name="T51" fmla="*/ 305 h 316"/>
                          <a:gd name="T52" fmla="*/ 340 w 340"/>
                          <a:gd name="T53" fmla="*/ 316 h 316"/>
                          <a:gd name="T54" fmla="*/ 324 w 340"/>
                          <a:gd name="T55" fmla="*/ 300 h 316"/>
                          <a:gd name="T56" fmla="*/ 298 w 340"/>
                          <a:gd name="T57" fmla="*/ 288 h 316"/>
                          <a:gd name="T58" fmla="*/ 266 w 340"/>
                          <a:gd name="T59" fmla="*/ 276 h 316"/>
                          <a:gd name="T60" fmla="*/ 239 w 340"/>
                          <a:gd name="T61" fmla="*/ 267 h 316"/>
                          <a:gd name="T62" fmla="*/ 217 w 340"/>
                          <a:gd name="T63" fmla="*/ 247 h 316"/>
                          <a:gd name="T64" fmla="*/ 194 w 340"/>
                          <a:gd name="T65" fmla="*/ 233 h 316"/>
                          <a:gd name="T66" fmla="*/ 173 w 340"/>
                          <a:gd name="T67" fmla="*/ 221 h 316"/>
                          <a:gd name="T68" fmla="*/ 164 w 340"/>
                          <a:gd name="T69" fmla="*/ 199 h 316"/>
                          <a:gd name="T70" fmla="*/ 138 w 340"/>
                          <a:gd name="T71" fmla="*/ 166 h 316"/>
                          <a:gd name="T72" fmla="*/ 116 w 340"/>
                          <a:gd name="T73" fmla="*/ 150 h 316"/>
                          <a:gd name="T74" fmla="*/ 101 w 340"/>
                          <a:gd name="T75" fmla="*/ 139 h 316"/>
                          <a:gd name="T76" fmla="*/ 84 w 340"/>
                          <a:gd name="T77" fmla="*/ 122 h 316"/>
                          <a:gd name="T78" fmla="*/ 70 w 340"/>
                          <a:gd name="T79" fmla="*/ 105 h 316"/>
                          <a:gd name="T80" fmla="*/ 63 w 340"/>
                          <a:gd name="T81" fmla="*/ 86 h 316"/>
                          <a:gd name="T82" fmla="*/ 60 w 340"/>
                          <a:gd name="T83" fmla="*/ 64 h 316"/>
                          <a:gd name="T84" fmla="*/ 63 w 340"/>
                          <a:gd name="T85" fmla="*/ 45 h 316"/>
                          <a:gd name="T86" fmla="*/ 72 w 340"/>
                          <a:gd name="T87" fmla="*/ 25 h 316"/>
                          <a:gd name="T88" fmla="*/ 81 w 340"/>
                          <a:gd name="T89" fmla="*/ 1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40" h="316">
                            <a:moveTo>
                              <a:pt x="81" y="10"/>
                            </a:moveTo>
                            <a:lnTo>
                              <a:pt x="69" y="0"/>
                            </a:lnTo>
                            <a:lnTo>
                              <a:pt x="55" y="1"/>
                            </a:lnTo>
                            <a:lnTo>
                              <a:pt x="37" y="11"/>
                            </a:lnTo>
                            <a:lnTo>
                              <a:pt x="24" y="22"/>
                            </a:lnTo>
                            <a:lnTo>
                              <a:pt x="10" y="39"/>
                            </a:lnTo>
                            <a:lnTo>
                              <a:pt x="3" y="55"/>
                            </a:lnTo>
                            <a:lnTo>
                              <a:pt x="0" y="72"/>
                            </a:lnTo>
                            <a:lnTo>
                              <a:pt x="7" y="77"/>
                            </a:lnTo>
                            <a:lnTo>
                              <a:pt x="20" y="81"/>
                            </a:lnTo>
                            <a:lnTo>
                              <a:pt x="35" y="82"/>
                            </a:lnTo>
                            <a:lnTo>
                              <a:pt x="44" y="80"/>
                            </a:lnTo>
                            <a:lnTo>
                              <a:pt x="47" y="94"/>
                            </a:lnTo>
                            <a:lnTo>
                              <a:pt x="54" y="112"/>
                            </a:lnTo>
                            <a:lnTo>
                              <a:pt x="66" y="127"/>
                            </a:lnTo>
                            <a:lnTo>
                              <a:pt x="87" y="147"/>
                            </a:lnTo>
                            <a:lnTo>
                              <a:pt x="108" y="163"/>
                            </a:lnTo>
                            <a:lnTo>
                              <a:pt x="131" y="184"/>
                            </a:lnTo>
                            <a:lnTo>
                              <a:pt x="147" y="208"/>
                            </a:lnTo>
                            <a:lnTo>
                              <a:pt x="161" y="231"/>
                            </a:lnTo>
                            <a:lnTo>
                              <a:pt x="187" y="244"/>
                            </a:lnTo>
                            <a:lnTo>
                              <a:pt x="217" y="267"/>
                            </a:lnTo>
                            <a:lnTo>
                              <a:pt x="242" y="282"/>
                            </a:lnTo>
                            <a:lnTo>
                              <a:pt x="270" y="288"/>
                            </a:lnTo>
                            <a:lnTo>
                              <a:pt x="298" y="298"/>
                            </a:lnTo>
                            <a:lnTo>
                              <a:pt x="324" y="305"/>
                            </a:lnTo>
                            <a:lnTo>
                              <a:pt x="340" y="316"/>
                            </a:lnTo>
                            <a:lnTo>
                              <a:pt x="324" y="300"/>
                            </a:lnTo>
                            <a:lnTo>
                              <a:pt x="298" y="288"/>
                            </a:lnTo>
                            <a:lnTo>
                              <a:pt x="266" y="276"/>
                            </a:lnTo>
                            <a:lnTo>
                              <a:pt x="239" y="267"/>
                            </a:lnTo>
                            <a:lnTo>
                              <a:pt x="217" y="247"/>
                            </a:lnTo>
                            <a:lnTo>
                              <a:pt x="194" y="233"/>
                            </a:lnTo>
                            <a:lnTo>
                              <a:pt x="173" y="221"/>
                            </a:lnTo>
                            <a:lnTo>
                              <a:pt x="164" y="199"/>
                            </a:lnTo>
                            <a:lnTo>
                              <a:pt x="138" y="166"/>
                            </a:lnTo>
                            <a:lnTo>
                              <a:pt x="116" y="150"/>
                            </a:lnTo>
                            <a:lnTo>
                              <a:pt x="101" y="139"/>
                            </a:lnTo>
                            <a:lnTo>
                              <a:pt x="84" y="122"/>
                            </a:lnTo>
                            <a:lnTo>
                              <a:pt x="70" y="105"/>
                            </a:lnTo>
                            <a:lnTo>
                              <a:pt x="63" y="86"/>
                            </a:lnTo>
                            <a:lnTo>
                              <a:pt x="60" y="64"/>
                            </a:lnTo>
                            <a:lnTo>
                              <a:pt x="63" y="45"/>
                            </a:lnTo>
                            <a:lnTo>
                              <a:pt x="72" y="25"/>
                            </a:lnTo>
                            <a:lnTo>
                              <a:pt x="81" y="1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2" name="Freeform 234"/>
                      <p:cNvSpPr/>
                      <p:nvPr/>
                    </p:nvSpPr>
                    <p:spPr bwMode="auto">
                      <a:xfrm>
                        <a:off x="2429" y="3101"/>
                        <a:ext cx="17" cy="10"/>
                      </a:xfrm>
                      <a:custGeom>
                        <a:avLst/>
                        <a:gdLst>
                          <a:gd name="T0" fmla="*/ 0 w 120"/>
                          <a:gd name="T1" fmla="*/ 0 h 83"/>
                          <a:gd name="T2" fmla="*/ 24 w 120"/>
                          <a:gd name="T3" fmla="*/ 20 h 83"/>
                          <a:gd name="T4" fmla="*/ 45 w 120"/>
                          <a:gd name="T5" fmla="*/ 32 h 83"/>
                          <a:gd name="T6" fmla="*/ 66 w 120"/>
                          <a:gd name="T7" fmla="*/ 42 h 83"/>
                          <a:gd name="T8" fmla="*/ 90 w 120"/>
                          <a:gd name="T9" fmla="*/ 45 h 83"/>
                          <a:gd name="T10" fmla="*/ 117 w 120"/>
                          <a:gd name="T11" fmla="*/ 43 h 83"/>
                          <a:gd name="T12" fmla="*/ 120 w 120"/>
                          <a:gd name="T13" fmla="*/ 83 h 83"/>
                          <a:gd name="T14" fmla="*/ 95 w 120"/>
                          <a:gd name="T15" fmla="*/ 81 h 83"/>
                          <a:gd name="T16" fmla="*/ 69 w 120"/>
                          <a:gd name="T17" fmla="*/ 73 h 83"/>
                          <a:gd name="T18" fmla="*/ 48 w 120"/>
                          <a:gd name="T19" fmla="*/ 60 h 83"/>
                          <a:gd name="T20" fmla="*/ 32 w 120"/>
                          <a:gd name="T21" fmla="*/ 46 h 83"/>
                          <a:gd name="T22" fmla="*/ 15 w 120"/>
                          <a:gd name="T23" fmla="*/ 23 h 83"/>
                          <a:gd name="T24" fmla="*/ 0 w 120"/>
                          <a:gd name="T25" fmla="*/ 0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0" h="83">
                            <a:moveTo>
                              <a:pt x="0" y="0"/>
                            </a:moveTo>
                            <a:lnTo>
                              <a:pt x="24" y="20"/>
                            </a:lnTo>
                            <a:lnTo>
                              <a:pt x="45" y="32"/>
                            </a:lnTo>
                            <a:lnTo>
                              <a:pt x="66" y="42"/>
                            </a:lnTo>
                            <a:lnTo>
                              <a:pt x="90" y="45"/>
                            </a:lnTo>
                            <a:lnTo>
                              <a:pt x="117" y="43"/>
                            </a:lnTo>
                            <a:lnTo>
                              <a:pt x="120" y="83"/>
                            </a:lnTo>
                            <a:lnTo>
                              <a:pt x="95" y="81"/>
                            </a:lnTo>
                            <a:lnTo>
                              <a:pt x="69" y="73"/>
                            </a:lnTo>
                            <a:lnTo>
                              <a:pt x="48" y="60"/>
                            </a:lnTo>
                            <a:lnTo>
                              <a:pt x="32" y="46"/>
                            </a:lnTo>
                            <a:lnTo>
                              <a:pt x="15" y="23"/>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3" name="Freeform 235"/>
                      <p:cNvSpPr/>
                      <p:nvPr/>
                    </p:nvSpPr>
                    <p:spPr bwMode="auto">
                      <a:xfrm>
                        <a:off x="2360" y="3155"/>
                        <a:ext cx="16" cy="21"/>
                      </a:xfrm>
                      <a:custGeom>
                        <a:avLst/>
                        <a:gdLst>
                          <a:gd name="T0" fmla="*/ 0 w 114"/>
                          <a:gd name="T1" fmla="*/ 0 h 167"/>
                          <a:gd name="T2" fmla="*/ 37 w 114"/>
                          <a:gd name="T3" fmla="*/ 16 h 167"/>
                          <a:gd name="T4" fmla="*/ 82 w 114"/>
                          <a:gd name="T5" fmla="*/ 39 h 167"/>
                          <a:gd name="T6" fmla="*/ 114 w 114"/>
                          <a:gd name="T7" fmla="*/ 63 h 167"/>
                          <a:gd name="T8" fmla="*/ 108 w 114"/>
                          <a:gd name="T9" fmla="*/ 108 h 167"/>
                          <a:gd name="T10" fmla="*/ 112 w 114"/>
                          <a:gd name="T11" fmla="*/ 167 h 167"/>
                          <a:gd name="T12" fmla="*/ 87 w 114"/>
                          <a:gd name="T13" fmla="*/ 161 h 167"/>
                          <a:gd name="T14" fmla="*/ 69 w 114"/>
                          <a:gd name="T15" fmla="*/ 148 h 167"/>
                          <a:gd name="T16" fmla="*/ 47 w 114"/>
                          <a:gd name="T17" fmla="*/ 120 h 167"/>
                          <a:gd name="T18" fmla="*/ 33 w 114"/>
                          <a:gd name="T19" fmla="*/ 92 h 167"/>
                          <a:gd name="T20" fmla="*/ 27 w 114"/>
                          <a:gd name="T21" fmla="*/ 61 h 167"/>
                          <a:gd name="T22" fmla="*/ 16 w 114"/>
                          <a:gd name="T23" fmla="*/ 25 h 167"/>
                          <a:gd name="T24" fmla="*/ 0 w 114"/>
                          <a:gd name="T25"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67">
                            <a:moveTo>
                              <a:pt x="0" y="0"/>
                            </a:moveTo>
                            <a:lnTo>
                              <a:pt x="37" y="16"/>
                            </a:lnTo>
                            <a:lnTo>
                              <a:pt x="82" y="39"/>
                            </a:lnTo>
                            <a:lnTo>
                              <a:pt x="114" y="63"/>
                            </a:lnTo>
                            <a:lnTo>
                              <a:pt x="108" y="108"/>
                            </a:lnTo>
                            <a:lnTo>
                              <a:pt x="112" y="167"/>
                            </a:lnTo>
                            <a:lnTo>
                              <a:pt x="87" y="161"/>
                            </a:lnTo>
                            <a:lnTo>
                              <a:pt x="69" y="148"/>
                            </a:lnTo>
                            <a:lnTo>
                              <a:pt x="47" y="120"/>
                            </a:lnTo>
                            <a:lnTo>
                              <a:pt x="33" y="92"/>
                            </a:lnTo>
                            <a:lnTo>
                              <a:pt x="27" y="61"/>
                            </a:lnTo>
                            <a:lnTo>
                              <a:pt x="16" y="25"/>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4" name="Freeform 236"/>
                      <p:cNvSpPr/>
                      <p:nvPr/>
                    </p:nvSpPr>
                    <p:spPr bwMode="auto">
                      <a:xfrm>
                        <a:off x="2404" y="3160"/>
                        <a:ext cx="23" cy="30"/>
                      </a:xfrm>
                      <a:custGeom>
                        <a:avLst/>
                        <a:gdLst>
                          <a:gd name="T0" fmla="*/ 0 w 161"/>
                          <a:gd name="T1" fmla="*/ 0 h 245"/>
                          <a:gd name="T2" fmla="*/ 29 w 161"/>
                          <a:gd name="T3" fmla="*/ 19 h 245"/>
                          <a:gd name="T4" fmla="*/ 54 w 161"/>
                          <a:gd name="T5" fmla="*/ 36 h 245"/>
                          <a:gd name="T6" fmla="*/ 79 w 161"/>
                          <a:gd name="T7" fmla="*/ 59 h 245"/>
                          <a:gd name="T8" fmla="*/ 101 w 161"/>
                          <a:gd name="T9" fmla="*/ 80 h 245"/>
                          <a:gd name="T10" fmla="*/ 119 w 161"/>
                          <a:gd name="T11" fmla="*/ 101 h 245"/>
                          <a:gd name="T12" fmla="*/ 133 w 161"/>
                          <a:gd name="T13" fmla="*/ 130 h 245"/>
                          <a:gd name="T14" fmla="*/ 139 w 161"/>
                          <a:gd name="T15" fmla="*/ 163 h 245"/>
                          <a:gd name="T16" fmla="*/ 136 w 161"/>
                          <a:gd name="T17" fmla="*/ 210 h 245"/>
                          <a:gd name="T18" fmla="*/ 128 w 161"/>
                          <a:gd name="T19" fmla="*/ 245 h 245"/>
                          <a:gd name="T20" fmla="*/ 156 w 161"/>
                          <a:gd name="T21" fmla="*/ 234 h 245"/>
                          <a:gd name="T22" fmla="*/ 160 w 161"/>
                          <a:gd name="T23" fmla="*/ 203 h 245"/>
                          <a:gd name="T24" fmla="*/ 161 w 161"/>
                          <a:gd name="T25" fmla="*/ 172 h 245"/>
                          <a:gd name="T26" fmla="*/ 158 w 161"/>
                          <a:gd name="T27" fmla="*/ 143 h 245"/>
                          <a:gd name="T28" fmla="*/ 149 w 161"/>
                          <a:gd name="T29" fmla="*/ 119 h 245"/>
                          <a:gd name="T30" fmla="*/ 137 w 161"/>
                          <a:gd name="T31" fmla="*/ 95 h 245"/>
                          <a:gd name="T32" fmla="*/ 118 w 161"/>
                          <a:gd name="T33" fmla="*/ 73 h 245"/>
                          <a:gd name="T34" fmla="*/ 97 w 161"/>
                          <a:gd name="T35" fmla="*/ 55 h 245"/>
                          <a:gd name="T36" fmla="*/ 73 w 161"/>
                          <a:gd name="T37" fmla="*/ 36 h 245"/>
                          <a:gd name="T38" fmla="*/ 49 w 161"/>
                          <a:gd name="T39" fmla="*/ 20 h 245"/>
                          <a:gd name="T40" fmla="*/ 24 w 161"/>
                          <a:gd name="T41" fmla="*/ 7 h 245"/>
                          <a:gd name="T42" fmla="*/ 0 w 161"/>
                          <a:gd name="T43"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1" h="245">
                            <a:moveTo>
                              <a:pt x="0" y="0"/>
                            </a:moveTo>
                            <a:lnTo>
                              <a:pt x="29" y="19"/>
                            </a:lnTo>
                            <a:lnTo>
                              <a:pt x="54" y="36"/>
                            </a:lnTo>
                            <a:lnTo>
                              <a:pt x="79" y="59"/>
                            </a:lnTo>
                            <a:lnTo>
                              <a:pt x="101" y="80"/>
                            </a:lnTo>
                            <a:lnTo>
                              <a:pt x="119" y="101"/>
                            </a:lnTo>
                            <a:lnTo>
                              <a:pt x="133" y="130"/>
                            </a:lnTo>
                            <a:lnTo>
                              <a:pt x="139" y="163"/>
                            </a:lnTo>
                            <a:lnTo>
                              <a:pt x="136" y="210"/>
                            </a:lnTo>
                            <a:lnTo>
                              <a:pt x="128" y="245"/>
                            </a:lnTo>
                            <a:lnTo>
                              <a:pt x="156" y="234"/>
                            </a:lnTo>
                            <a:lnTo>
                              <a:pt x="160" y="203"/>
                            </a:lnTo>
                            <a:lnTo>
                              <a:pt x="161" y="172"/>
                            </a:lnTo>
                            <a:lnTo>
                              <a:pt x="158" y="143"/>
                            </a:lnTo>
                            <a:lnTo>
                              <a:pt x="149" y="119"/>
                            </a:lnTo>
                            <a:lnTo>
                              <a:pt x="137" y="95"/>
                            </a:lnTo>
                            <a:lnTo>
                              <a:pt x="118" y="73"/>
                            </a:lnTo>
                            <a:lnTo>
                              <a:pt x="97" y="55"/>
                            </a:lnTo>
                            <a:lnTo>
                              <a:pt x="73" y="36"/>
                            </a:lnTo>
                            <a:lnTo>
                              <a:pt x="49" y="20"/>
                            </a:lnTo>
                            <a:lnTo>
                              <a:pt x="24" y="7"/>
                            </a:lnTo>
                            <a:lnTo>
                              <a:pt x="0"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5" name="Freeform 237"/>
                      <p:cNvSpPr/>
                      <p:nvPr/>
                    </p:nvSpPr>
                    <p:spPr bwMode="auto">
                      <a:xfrm>
                        <a:off x="2436" y="3125"/>
                        <a:ext cx="14" cy="20"/>
                      </a:xfrm>
                      <a:custGeom>
                        <a:avLst/>
                        <a:gdLst>
                          <a:gd name="T0" fmla="*/ 0 w 96"/>
                          <a:gd name="T1" fmla="*/ 0 h 160"/>
                          <a:gd name="T2" fmla="*/ 16 w 96"/>
                          <a:gd name="T3" fmla="*/ 31 h 160"/>
                          <a:gd name="T4" fmla="*/ 27 w 96"/>
                          <a:gd name="T5" fmla="*/ 51 h 160"/>
                          <a:gd name="T6" fmla="*/ 45 w 96"/>
                          <a:gd name="T7" fmla="*/ 71 h 160"/>
                          <a:gd name="T8" fmla="*/ 69 w 96"/>
                          <a:gd name="T9" fmla="*/ 97 h 160"/>
                          <a:gd name="T10" fmla="*/ 96 w 96"/>
                          <a:gd name="T11" fmla="*/ 122 h 160"/>
                          <a:gd name="T12" fmla="*/ 93 w 96"/>
                          <a:gd name="T13" fmla="*/ 160 h 160"/>
                          <a:gd name="T14" fmla="*/ 74 w 96"/>
                          <a:gd name="T15" fmla="*/ 153 h 160"/>
                          <a:gd name="T16" fmla="*/ 50 w 96"/>
                          <a:gd name="T17" fmla="*/ 132 h 160"/>
                          <a:gd name="T18" fmla="*/ 28 w 96"/>
                          <a:gd name="T19" fmla="*/ 104 h 160"/>
                          <a:gd name="T20" fmla="*/ 14 w 96"/>
                          <a:gd name="T21" fmla="*/ 69 h 160"/>
                          <a:gd name="T22" fmla="*/ 7 w 96"/>
                          <a:gd name="T23" fmla="*/ 42 h 160"/>
                          <a:gd name="T24" fmla="*/ 0 w 96"/>
                          <a:gd name="T2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6" h="160">
                            <a:moveTo>
                              <a:pt x="0" y="0"/>
                            </a:moveTo>
                            <a:lnTo>
                              <a:pt x="16" y="31"/>
                            </a:lnTo>
                            <a:lnTo>
                              <a:pt x="27" y="51"/>
                            </a:lnTo>
                            <a:lnTo>
                              <a:pt x="45" y="71"/>
                            </a:lnTo>
                            <a:lnTo>
                              <a:pt x="69" y="97"/>
                            </a:lnTo>
                            <a:lnTo>
                              <a:pt x="96" y="122"/>
                            </a:lnTo>
                            <a:lnTo>
                              <a:pt x="93" y="160"/>
                            </a:lnTo>
                            <a:lnTo>
                              <a:pt x="74" y="153"/>
                            </a:lnTo>
                            <a:lnTo>
                              <a:pt x="50" y="132"/>
                            </a:lnTo>
                            <a:lnTo>
                              <a:pt x="28" y="104"/>
                            </a:lnTo>
                            <a:lnTo>
                              <a:pt x="14" y="69"/>
                            </a:lnTo>
                            <a:lnTo>
                              <a:pt x="7" y="42"/>
                            </a:lnTo>
                            <a:lnTo>
                              <a:pt x="0"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6" name="Freeform 238"/>
                      <p:cNvSpPr/>
                      <p:nvPr/>
                    </p:nvSpPr>
                    <p:spPr bwMode="auto">
                      <a:xfrm>
                        <a:off x="2446" y="3146"/>
                        <a:ext cx="9" cy="23"/>
                      </a:xfrm>
                      <a:custGeom>
                        <a:avLst/>
                        <a:gdLst>
                          <a:gd name="T0" fmla="*/ 7 w 63"/>
                          <a:gd name="T1" fmla="*/ 0 h 182"/>
                          <a:gd name="T2" fmla="*/ 3 w 63"/>
                          <a:gd name="T3" fmla="*/ 52 h 182"/>
                          <a:gd name="T4" fmla="*/ 1 w 63"/>
                          <a:gd name="T5" fmla="*/ 87 h 182"/>
                          <a:gd name="T6" fmla="*/ 0 w 63"/>
                          <a:gd name="T7" fmla="*/ 121 h 182"/>
                          <a:gd name="T8" fmla="*/ 2 w 63"/>
                          <a:gd name="T9" fmla="*/ 150 h 182"/>
                          <a:gd name="T10" fmla="*/ 5 w 63"/>
                          <a:gd name="T11" fmla="*/ 182 h 182"/>
                          <a:gd name="T12" fmla="*/ 26 w 63"/>
                          <a:gd name="T13" fmla="*/ 157 h 182"/>
                          <a:gd name="T14" fmla="*/ 63 w 63"/>
                          <a:gd name="T15" fmla="*/ 62 h 182"/>
                          <a:gd name="T16" fmla="*/ 7 w 63"/>
                          <a:gd name="T17" fmla="*/ 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 h="182">
                            <a:moveTo>
                              <a:pt x="7" y="0"/>
                            </a:moveTo>
                            <a:lnTo>
                              <a:pt x="3" y="52"/>
                            </a:lnTo>
                            <a:lnTo>
                              <a:pt x="1" y="87"/>
                            </a:lnTo>
                            <a:lnTo>
                              <a:pt x="0" y="121"/>
                            </a:lnTo>
                            <a:lnTo>
                              <a:pt x="2" y="150"/>
                            </a:lnTo>
                            <a:lnTo>
                              <a:pt x="5" y="182"/>
                            </a:lnTo>
                            <a:lnTo>
                              <a:pt x="26" y="157"/>
                            </a:lnTo>
                            <a:lnTo>
                              <a:pt x="63" y="62"/>
                            </a:lnTo>
                            <a:lnTo>
                              <a:pt x="7"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7" name="Freeform 239"/>
                      <p:cNvSpPr/>
                      <p:nvPr/>
                    </p:nvSpPr>
                    <p:spPr bwMode="auto">
                      <a:xfrm>
                        <a:off x="2492" y="3100"/>
                        <a:ext cx="30" cy="21"/>
                      </a:xfrm>
                      <a:custGeom>
                        <a:avLst/>
                        <a:gdLst>
                          <a:gd name="T0" fmla="*/ 0 w 211"/>
                          <a:gd name="T1" fmla="*/ 163 h 165"/>
                          <a:gd name="T2" fmla="*/ 12 w 211"/>
                          <a:gd name="T3" fmla="*/ 143 h 165"/>
                          <a:gd name="T4" fmla="*/ 25 w 211"/>
                          <a:gd name="T5" fmla="*/ 120 h 165"/>
                          <a:gd name="T6" fmla="*/ 41 w 211"/>
                          <a:gd name="T7" fmla="*/ 99 h 165"/>
                          <a:gd name="T8" fmla="*/ 58 w 211"/>
                          <a:gd name="T9" fmla="*/ 88 h 165"/>
                          <a:gd name="T10" fmla="*/ 81 w 211"/>
                          <a:gd name="T11" fmla="*/ 75 h 165"/>
                          <a:gd name="T12" fmla="*/ 91 w 211"/>
                          <a:gd name="T13" fmla="*/ 64 h 165"/>
                          <a:gd name="T14" fmla="*/ 97 w 211"/>
                          <a:gd name="T15" fmla="*/ 45 h 165"/>
                          <a:gd name="T16" fmla="*/ 110 w 211"/>
                          <a:gd name="T17" fmla="*/ 37 h 165"/>
                          <a:gd name="T18" fmla="*/ 125 w 211"/>
                          <a:gd name="T19" fmla="*/ 28 h 165"/>
                          <a:gd name="T20" fmla="*/ 142 w 211"/>
                          <a:gd name="T21" fmla="*/ 18 h 165"/>
                          <a:gd name="T22" fmla="*/ 176 w 211"/>
                          <a:gd name="T23" fmla="*/ 0 h 165"/>
                          <a:gd name="T24" fmla="*/ 151 w 211"/>
                          <a:gd name="T25" fmla="*/ 20 h 165"/>
                          <a:gd name="T26" fmla="*/ 132 w 211"/>
                          <a:gd name="T27" fmla="*/ 33 h 165"/>
                          <a:gd name="T28" fmla="*/ 120 w 211"/>
                          <a:gd name="T29" fmla="*/ 46 h 165"/>
                          <a:gd name="T30" fmla="*/ 109 w 211"/>
                          <a:gd name="T31" fmla="*/ 60 h 165"/>
                          <a:gd name="T32" fmla="*/ 124 w 211"/>
                          <a:gd name="T33" fmla="*/ 59 h 165"/>
                          <a:gd name="T34" fmla="*/ 149 w 211"/>
                          <a:gd name="T35" fmla="*/ 60 h 165"/>
                          <a:gd name="T36" fmla="*/ 173 w 211"/>
                          <a:gd name="T37" fmla="*/ 65 h 165"/>
                          <a:gd name="T38" fmla="*/ 190 w 211"/>
                          <a:gd name="T39" fmla="*/ 75 h 165"/>
                          <a:gd name="T40" fmla="*/ 201 w 211"/>
                          <a:gd name="T41" fmla="*/ 82 h 165"/>
                          <a:gd name="T42" fmla="*/ 209 w 211"/>
                          <a:gd name="T43" fmla="*/ 96 h 165"/>
                          <a:gd name="T44" fmla="*/ 211 w 211"/>
                          <a:gd name="T45" fmla="*/ 117 h 165"/>
                          <a:gd name="T46" fmla="*/ 202 w 211"/>
                          <a:gd name="T47" fmla="*/ 101 h 165"/>
                          <a:gd name="T48" fmla="*/ 188 w 211"/>
                          <a:gd name="T49" fmla="*/ 87 h 165"/>
                          <a:gd name="T50" fmla="*/ 174 w 211"/>
                          <a:gd name="T51" fmla="*/ 80 h 165"/>
                          <a:gd name="T52" fmla="*/ 157 w 211"/>
                          <a:gd name="T53" fmla="*/ 76 h 165"/>
                          <a:gd name="T54" fmla="*/ 138 w 211"/>
                          <a:gd name="T55" fmla="*/ 74 h 165"/>
                          <a:gd name="T56" fmla="*/ 120 w 211"/>
                          <a:gd name="T57" fmla="*/ 75 h 165"/>
                          <a:gd name="T58" fmla="*/ 104 w 211"/>
                          <a:gd name="T59" fmla="*/ 78 h 165"/>
                          <a:gd name="T60" fmla="*/ 88 w 211"/>
                          <a:gd name="T61" fmla="*/ 85 h 165"/>
                          <a:gd name="T62" fmla="*/ 77 w 211"/>
                          <a:gd name="T63" fmla="*/ 95 h 165"/>
                          <a:gd name="T64" fmla="*/ 82 w 211"/>
                          <a:gd name="T65" fmla="*/ 103 h 165"/>
                          <a:gd name="T66" fmla="*/ 86 w 211"/>
                          <a:gd name="T67" fmla="*/ 114 h 165"/>
                          <a:gd name="T68" fmla="*/ 76 w 211"/>
                          <a:gd name="T69" fmla="*/ 111 h 165"/>
                          <a:gd name="T70" fmla="*/ 64 w 211"/>
                          <a:gd name="T71" fmla="*/ 105 h 165"/>
                          <a:gd name="T72" fmla="*/ 71 w 211"/>
                          <a:gd name="T73" fmla="*/ 116 h 165"/>
                          <a:gd name="T74" fmla="*/ 74 w 211"/>
                          <a:gd name="T75" fmla="*/ 126 h 165"/>
                          <a:gd name="T76" fmla="*/ 58 w 211"/>
                          <a:gd name="T77" fmla="*/ 125 h 165"/>
                          <a:gd name="T78" fmla="*/ 46 w 211"/>
                          <a:gd name="T79" fmla="*/ 123 h 165"/>
                          <a:gd name="T80" fmla="*/ 37 w 211"/>
                          <a:gd name="T81" fmla="*/ 137 h 165"/>
                          <a:gd name="T82" fmla="*/ 20 w 211"/>
                          <a:gd name="T83" fmla="*/ 145 h 165"/>
                          <a:gd name="T84" fmla="*/ 4 w 211"/>
                          <a:gd name="T85" fmla="*/ 165 h 165"/>
                          <a:gd name="T86" fmla="*/ 0 w 211"/>
                          <a:gd name="T87" fmla="*/ 163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11" h="165">
                            <a:moveTo>
                              <a:pt x="0" y="163"/>
                            </a:moveTo>
                            <a:lnTo>
                              <a:pt x="12" y="143"/>
                            </a:lnTo>
                            <a:lnTo>
                              <a:pt x="25" y="120"/>
                            </a:lnTo>
                            <a:lnTo>
                              <a:pt x="41" y="99"/>
                            </a:lnTo>
                            <a:lnTo>
                              <a:pt x="58" y="88"/>
                            </a:lnTo>
                            <a:lnTo>
                              <a:pt x="81" y="75"/>
                            </a:lnTo>
                            <a:lnTo>
                              <a:pt x="91" y="64"/>
                            </a:lnTo>
                            <a:lnTo>
                              <a:pt x="97" y="45"/>
                            </a:lnTo>
                            <a:lnTo>
                              <a:pt x="110" y="37"/>
                            </a:lnTo>
                            <a:lnTo>
                              <a:pt x="125" y="28"/>
                            </a:lnTo>
                            <a:lnTo>
                              <a:pt x="142" y="18"/>
                            </a:lnTo>
                            <a:lnTo>
                              <a:pt x="176" y="0"/>
                            </a:lnTo>
                            <a:lnTo>
                              <a:pt x="151" y="20"/>
                            </a:lnTo>
                            <a:lnTo>
                              <a:pt x="132" y="33"/>
                            </a:lnTo>
                            <a:lnTo>
                              <a:pt x="120" y="46"/>
                            </a:lnTo>
                            <a:lnTo>
                              <a:pt x="109" y="60"/>
                            </a:lnTo>
                            <a:lnTo>
                              <a:pt x="124" y="59"/>
                            </a:lnTo>
                            <a:lnTo>
                              <a:pt x="149" y="60"/>
                            </a:lnTo>
                            <a:lnTo>
                              <a:pt x="173" y="65"/>
                            </a:lnTo>
                            <a:lnTo>
                              <a:pt x="190" y="75"/>
                            </a:lnTo>
                            <a:lnTo>
                              <a:pt x="201" y="82"/>
                            </a:lnTo>
                            <a:lnTo>
                              <a:pt x="209" y="96"/>
                            </a:lnTo>
                            <a:lnTo>
                              <a:pt x="211" y="117"/>
                            </a:lnTo>
                            <a:lnTo>
                              <a:pt x="202" y="101"/>
                            </a:lnTo>
                            <a:lnTo>
                              <a:pt x="188" y="87"/>
                            </a:lnTo>
                            <a:lnTo>
                              <a:pt x="174" y="80"/>
                            </a:lnTo>
                            <a:lnTo>
                              <a:pt x="157" y="76"/>
                            </a:lnTo>
                            <a:lnTo>
                              <a:pt x="138" y="74"/>
                            </a:lnTo>
                            <a:lnTo>
                              <a:pt x="120" y="75"/>
                            </a:lnTo>
                            <a:lnTo>
                              <a:pt x="104" y="78"/>
                            </a:lnTo>
                            <a:lnTo>
                              <a:pt x="88" y="85"/>
                            </a:lnTo>
                            <a:lnTo>
                              <a:pt x="77" y="95"/>
                            </a:lnTo>
                            <a:lnTo>
                              <a:pt x="82" y="103"/>
                            </a:lnTo>
                            <a:lnTo>
                              <a:pt x="86" y="114"/>
                            </a:lnTo>
                            <a:lnTo>
                              <a:pt x="76" y="111"/>
                            </a:lnTo>
                            <a:lnTo>
                              <a:pt x="64" y="105"/>
                            </a:lnTo>
                            <a:lnTo>
                              <a:pt x="71" y="116"/>
                            </a:lnTo>
                            <a:lnTo>
                              <a:pt x="74" y="126"/>
                            </a:lnTo>
                            <a:lnTo>
                              <a:pt x="58" y="125"/>
                            </a:lnTo>
                            <a:lnTo>
                              <a:pt x="46" y="123"/>
                            </a:lnTo>
                            <a:lnTo>
                              <a:pt x="37" y="137"/>
                            </a:lnTo>
                            <a:lnTo>
                              <a:pt x="20" y="145"/>
                            </a:lnTo>
                            <a:lnTo>
                              <a:pt x="4" y="165"/>
                            </a:lnTo>
                            <a:lnTo>
                              <a:pt x="0" y="163"/>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8" name="Freeform 240"/>
                      <p:cNvSpPr/>
                      <p:nvPr/>
                    </p:nvSpPr>
                    <p:spPr bwMode="auto">
                      <a:xfrm>
                        <a:off x="2488" y="3120"/>
                        <a:ext cx="14" cy="8"/>
                      </a:xfrm>
                      <a:custGeom>
                        <a:avLst/>
                        <a:gdLst>
                          <a:gd name="T0" fmla="*/ 26 w 93"/>
                          <a:gd name="T1" fmla="*/ 4 h 64"/>
                          <a:gd name="T2" fmla="*/ 20 w 93"/>
                          <a:gd name="T3" fmla="*/ 21 h 64"/>
                          <a:gd name="T4" fmla="*/ 16 w 93"/>
                          <a:gd name="T5" fmla="*/ 34 h 64"/>
                          <a:gd name="T6" fmla="*/ 14 w 93"/>
                          <a:gd name="T7" fmla="*/ 47 h 64"/>
                          <a:gd name="T8" fmla="*/ 0 w 93"/>
                          <a:gd name="T9" fmla="*/ 64 h 64"/>
                          <a:gd name="T10" fmla="*/ 14 w 93"/>
                          <a:gd name="T11" fmla="*/ 61 h 64"/>
                          <a:gd name="T12" fmla="*/ 25 w 93"/>
                          <a:gd name="T13" fmla="*/ 54 h 64"/>
                          <a:gd name="T14" fmla="*/ 38 w 93"/>
                          <a:gd name="T15" fmla="*/ 34 h 64"/>
                          <a:gd name="T16" fmla="*/ 54 w 93"/>
                          <a:gd name="T17" fmla="*/ 24 h 64"/>
                          <a:gd name="T18" fmla="*/ 72 w 93"/>
                          <a:gd name="T19" fmla="*/ 19 h 64"/>
                          <a:gd name="T20" fmla="*/ 93 w 93"/>
                          <a:gd name="T21" fmla="*/ 22 h 64"/>
                          <a:gd name="T22" fmla="*/ 79 w 93"/>
                          <a:gd name="T23" fmla="*/ 11 h 64"/>
                          <a:gd name="T24" fmla="*/ 60 w 93"/>
                          <a:gd name="T25" fmla="*/ 1 h 64"/>
                          <a:gd name="T26" fmla="*/ 42 w 93"/>
                          <a:gd name="T27" fmla="*/ 0 h 64"/>
                          <a:gd name="T28" fmla="*/ 26 w 93"/>
                          <a:gd name="T29" fmla="*/ 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3" h="64">
                            <a:moveTo>
                              <a:pt x="26" y="4"/>
                            </a:moveTo>
                            <a:lnTo>
                              <a:pt x="20" y="21"/>
                            </a:lnTo>
                            <a:lnTo>
                              <a:pt x="16" y="34"/>
                            </a:lnTo>
                            <a:lnTo>
                              <a:pt x="14" y="47"/>
                            </a:lnTo>
                            <a:lnTo>
                              <a:pt x="0" y="64"/>
                            </a:lnTo>
                            <a:lnTo>
                              <a:pt x="14" y="61"/>
                            </a:lnTo>
                            <a:lnTo>
                              <a:pt x="25" y="54"/>
                            </a:lnTo>
                            <a:lnTo>
                              <a:pt x="38" y="34"/>
                            </a:lnTo>
                            <a:lnTo>
                              <a:pt x="54" y="24"/>
                            </a:lnTo>
                            <a:lnTo>
                              <a:pt x="72" y="19"/>
                            </a:lnTo>
                            <a:lnTo>
                              <a:pt x="93" y="22"/>
                            </a:lnTo>
                            <a:lnTo>
                              <a:pt x="79" y="11"/>
                            </a:lnTo>
                            <a:lnTo>
                              <a:pt x="60" y="1"/>
                            </a:lnTo>
                            <a:lnTo>
                              <a:pt x="42" y="0"/>
                            </a:lnTo>
                            <a:lnTo>
                              <a:pt x="26" y="4"/>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89" name="Freeform 241"/>
                      <p:cNvSpPr/>
                      <p:nvPr/>
                    </p:nvSpPr>
                    <p:spPr bwMode="auto">
                      <a:xfrm>
                        <a:off x="2469" y="3075"/>
                        <a:ext cx="47" cy="29"/>
                      </a:xfrm>
                      <a:custGeom>
                        <a:avLst/>
                        <a:gdLst>
                          <a:gd name="T0" fmla="*/ 10 w 332"/>
                          <a:gd name="T1" fmla="*/ 195 h 230"/>
                          <a:gd name="T2" fmla="*/ 6 w 332"/>
                          <a:gd name="T3" fmla="*/ 168 h 230"/>
                          <a:gd name="T4" fmla="*/ 7 w 332"/>
                          <a:gd name="T5" fmla="*/ 138 h 230"/>
                          <a:gd name="T6" fmla="*/ 12 w 332"/>
                          <a:gd name="T7" fmla="*/ 104 h 230"/>
                          <a:gd name="T8" fmla="*/ 17 w 332"/>
                          <a:gd name="T9" fmla="*/ 78 h 230"/>
                          <a:gd name="T10" fmla="*/ 18 w 332"/>
                          <a:gd name="T11" fmla="*/ 50 h 230"/>
                          <a:gd name="T12" fmla="*/ 12 w 332"/>
                          <a:gd name="T13" fmla="*/ 29 h 230"/>
                          <a:gd name="T14" fmla="*/ 0 w 332"/>
                          <a:gd name="T15" fmla="*/ 0 h 230"/>
                          <a:gd name="T16" fmla="*/ 32 w 332"/>
                          <a:gd name="T17" fmla="*/ 26 h 230"/>
                          <a:gd name="T18" fmla="*/ 62 w 332"/>
                          <a:gd name="T19" fmla="*/ 48 h 230"/>
                          <a:gd name="T20" fmla="*/ 91 w 332"/>
                          <a:gd name="T21" fmla="*/ 60 h 230"/>
                          <a:gd name="T22" fmla="*/ 126 w 332"/>
                          <a:gd name="T23" fmla="*/ 77 h 230"/>
                          <a:gd name="T24" fmla="*/ 165 w 332"/>
                          <a:gd name="T25" fmla="*/ 93 h 230"/>
                          <a:gd name="T26" fmla="*/ 201 w 332"/>
                          <a:gd name="T27" fmla="*/ 111 h 230"/>
                          <a:gd name="T28" fmla="*/ 232 w 332"/>
                          <a:gd name="T29" fmla="*/ 128 h 230"/>
                          <a:gd name="T30" fmla="*/ 277 w 332"/>
                          <a:gd name="T31" fmla="*/ 155 h 230"/>
                          <a:gd name="T32" fmla="*/ 292 w 332"/>
                          <a:gd name="T33" fmla="*/ 167 h 230"/>
                          <a:gd name="T34" fmla="*/ 306 w 332"/>
                          <a:gd name="T35" fmla="*/ 171 h 230"/>
                          <a:gd name="T36" fmla="*/ 318 w 332"/>
                          <a:gd name="T37" fmla="*/ 180 h 230"/>
                          <a:gd name="T38" fmla="*/ 332 w 332"/>
                          <a:gd name="T39" fmla="*/ 187 h 230"/>
                          <a:gd name="T40" fmla="*/ 309 w 332"/>
                          <a:gd name="T41" fmla="*/ 195 h 230"/>
                          <a:gd name="T42" fmla="*/ 290 w 332"/>
                          <a:gd name="T43" fmla="*/ 197 h 230"/>
                          <a:gd name="T44" fmla="*/ 274 w 332"/>
                          <a:gd name="T45" fmla="*/ 196 h 230"/>
                          <a:gd name="T46" fmla="*/ 254 w 332"/>
                          <a:gd name="T47" fmla="*/ 210 h 230"/>
                          <a:gd name="T48" fmla="*/ 233 w 332"/>
                          <a:gd name="T49" fmla="*/ 224 h 230"/>
                          <a:gd name="T50" fmla="*/ 208 w 332"/>
                          <a:gd name="T51" fmla="*/ 229 h 230"/>
                          <a:gd name="T52" fmla="*/ 180 w 332"/>
                          <a:gd name="T53" fmla="*/ 230 h 230"/>
                          <a:gd name="T54" fmla="*/ 150 w 332"/>
                          <a:gd name="T55" fmla="*/ 229 h 230"/>
                          <a:gd name="T56" fmla="*/ 114 w 332"/>
                          <a:gd name="T57" fmla="*/ 226 h 230"/>
                          <a:gd name="T58" fmla="*/ 83 w 332"/>
                          <a:gd name="T59" fmla="*/ 222 h 230"/>
                          <a:gd name="T60" fmla="*/ 53 w 332"/>
                          <a:gd name="T61" fmla="*/ 215 h 230"/>
                          <a:gd name="T62" fmla="*/ 29 w 332"/>
                          <a:gd name="T63" fmla="*/ 205 h 230"/>
                          <a:gd name="T64" fmla="*/ 10 w 332"/>
                          <a:gd name="T65" fmla="*/ 195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32" h="230">
                            <a:moveTo>
                              <a:pt x="10" y="195"/>
                            </a:moveTo>
                            <a:lnTo>
                              <a:pt x="6" y="168"/>
                            </a:lnTo>
                            <a:lnTo>
                              <a:pt x="7" y="138"/>
                            </a:lnTo>
                            <a:lnTo>
                              <a:pt x="12" y="104"/>
                            </a:lnTo>
                            <a:lnTo>
                              <a:pt x="17" y="78"/>
                            </a:lnTo>
                            <a:lnTo>
                              <a:pt x="18" y="50"/>
                            </a:lnTo>
                            <a:lnTo>
                              <a:pt x="12" y="29"/>
                            </a:lnTo>
                            <a:lnTo>
                              <a:pt x="0" y="0"/>
                            </a:lnTo>
                            <a:lnTo>
                              <a:pt x="32" y="26"/>
                            </a:lnTo>
                            <a:lnTo>
                              <a:pt x="62" y="48"/>
                            </a:lnTo>
                            <a:lnTo>
                              <a:pt x="91" y="60"/>
                            </a:lnTo>
                            <a:lnTo>
                              <a:pt x="126" y="77"/>
                            </a:lnTo>
                            <a:lnTo>
                              <a:pt x="165" y="93"/>
                            </a:lnTo>
                            <a:lnTo>
                              <a:pt x="201" y="111"/>
                            </a:lnTo>
                            <a:lnTo>
                              <a:pt x="232" y="128"/>
                            </a:lnTo>
                            <a:lnTo>
                              <a:pt x="277" y="155"/>
                            </a:lnTo>
                            <a:lnTo>
                              <a:pt x="292" y="167"/>
                            </a:lnTo>
                            <a:lnTo>
                              <a:pt x="306" y="171"/>
                            </a:lnTo>
                            <a:lnTo>
                              <a:pt x="318" y="180"/>
                            </a:lnTo>
                            <a:lnTo>
                              <a:pt x="332" y="187"/>
                            </a:lnTo>
                            <a:lnTo>
                              <a:pt x="309" y="195"/>
                            </a:lnTo>
                            <a:lnTo>
                              <a:pt x="290" y="197"/>
                            </a:lnTo>
                            <a:lnTo>
                              <a:pt x="274" y="196"/>
                            </a:lnTo>
                            <a:lnTo>
                              <a:pt x="254" y="210"/>
                            </a:lnTo>
                            <a:lnTo>
                              <a:pt x="233" y="224"/>
                            </a:lnTo>
                            <a:lnTo>
                              <a:pt x="208" y="229"/>
                            </a:lnTo>
                            <a:lnTo>
                              <a:pt x="180" y="230"/>
                            </a:lnTo>
                            <a:lnTo>
                              <a:pt x="150" y="229"/>
                            </a:lnTo>
                            <a:lnTo>
                              <a:pt x="114" y="226"/>
                            </a:lnTo>
                            <a:lnTo>
                              <a:pt x="83" y="222"/>
                            </a:lnTo>
                            <a:lnTo>
                              <a:pt x="53" y="215"/>
                            </a:lnTo>
                            <a:lnTo>
                              <a:pt x="29" y="205"/>
                            </a:lnTo>
                            <a:lnTo>
                              <a:pt x="10" y="195"/>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0" name="Freeform 242"/>
                      <p:cNvSpPr/>
                      <p:nvPr/>
                    </p:nvSpPr>
                    <p:spPr bwMode="auto">
                      <a:xfrm>
                        <a:off x="2505" y="3130"/>
                        <a:ext cx="14" cy="11"/>
                      </a:xfrm>
                      <a:custGeom>
                        <a:avLst/>
                        <a:gdLst>
                          <a:gd name="T0" fmla="*/ 0 w 95"/>
                          <a:gd name="T1" fmla="*/ 83 h 83"/>
                          <a:gd name="T2" fmla="*/ 10 w 95"/>
                          <a:gd name="T3" fmla="*/ 56 h 83"/>
                          <a:gd name="T4" fmla="*/ 27 w 95"/>
                          <a:gd name="T5" fmla="*/ 39 h 83"/>
                          <a:gd name="T6" fmla="*/ 31 w 95"/>
                          <a:gd name="T7" fmla="*/ 20 h 83"/>
                          <a:gd name="T8" fmla="*/ 49 w 95"/>
                          <a:gd name="T9" fmla="*/ 33 h 83"/>
                          <a:gd name="T10" fmla="*/ 72 w 95"/>
                          <a:gd name="T11" fmla="*/ 20 h 83"/>
                          <a:gd name="T12" fmla="*/ 95 w 95"/>
                          <a:gd name="T13" fmla="*/ 0 h 83"/>
                          <a:gd name="T14" fmla="*/ 75 w 95"/>
                          <a:gd name="T15" fmla="*/ 30 h 83"/>
                          <a:gd name="T16" fmla="*/ 60 w 95"/>
                          <a:gd name="T17" fmla="*/ 43 h 83"/>
                          <a:gd name="T18" fmla="*/ 43 w 95"/>
                          <a:gd name="T19" fmla="*/ 50 h 83"/>
                          <a:gd name="T20" fmla="*/ 0 w 95"/>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5" h="83">
                            <a:moveTo>
                              <a:pt x="0" y="83"/>
                            </a:moveTo>
                            <a:lnTo>
                              <a:pt x="10" y="56"/>
                            </a:lnTo>
                            <a:lnTo>
                              <a:pt x="27" y="39"/>
                            </a:lnTo>
                            <a:lnTo>
                              <a:pt x="31" y="20"/>
                            </a:lnTo>
                            <a:lnTo>
                              <a:pt x="49" y="33"/>
                            </a:lnTo>
                            <a:lnTo>
                              <a:pt x="72" y="20"/>
                            </a:lnTo>
                            <a:lnTo>
                              <a:pt x="95" y="0"/>
                            </a:lnTo>
                            <a:lnTo>
                              <a:pt x="75" y="30"/>
                            </a:lnTo>
                            <a:lnTo>
                              <a:pt x="60" y="43"/>
                            </a:lnTo>
                            <a:lnTo>
                              <a:pt x="43" y="50"/>
                            </a:lnTo>
                            <a:lnTo>
                              <a:pt x="0" y="83"/>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1" name="Freeform 243"/>
                      <p:cNvSpPr/>
                      <p:nvPr/>
                    </p:nvSpPr>
                    <p:spPr bwMode="auto">
                      <a:xfrm>
                        <a:off x="2446" y="3175"/>
                        <a:ext cx="12" cy="9"/>
                      </a:xfrm>
                      <a:custGeom>
                        <a:avLst/>
                        <a:gdLst>
                          <a:gd name="T0" fmla="*/ 85 w 85"/>
                          <a:gd name="T1" fmla="*/ 7 h 71"/>
                          <a:gd name="T2" fmla="*/ 70 w 85"/>
                          <a:gd name="T3" fmla="*/ 8 h 71"/>
                          <a:gd name="T4" fmla="*/ 54 w 85"/>
                          <a:gd name="T5" fmla="*/ 3 h 71"/>
                          <a:gd name="T6" fmla="*/ 39 w 85"/>
                          <a:gd name="T7" fmla="*/ 1 h 71"/>
                          <a:gd name="T8" fmla="*/ 28 w 85"/>
                          <a:gd name="T9" fmla="*/ 0 h 71"/>
                          <a:gd name="T10" fmla="*/ 15 w 85"/>
                          <a:gd name="T11" fmla="*/ 9 h 71"/>
                          <a:gd name="T12" fmla="*/ 9 w 85"/>
                          <a:gd name="T13" fmla="*/ 15 h 71"/>
                          <a:gd name="T14" fmla="*/ 2 w 85"/>
                          <a:gd name="T15" fmla="*/ 27 h 71"/>
                          <a:gd name="T16" fmla="*/ 0 w 85"/>
                          <a:gd name="T17" fmla="*/ 44 h 71"/>
                          <a:gd name="T18" fmla="*/ 15 w 85"/>
                          <a:gd name="T19" fmla="*/ 50 h 71"/>
                          <a:gd name="T20" fmla="*/ 30 w 85"/>
                          <a:gd name="T21" fmla="*/ 57 h 71"/>
                          <a:gd name="T22" fmla="*/ 40 w 85"/>
                          <a:gd name="T23" fmla="*/ 71 h 71"/>
                          <a:gd name="T24" fmla="*/ 53 w 85"/>
                          <a:gd name="T25" fmla="*/ 65 h 71"/>
                          <a:gd name="T26" fmla="*/ 62 w 85"/>
                          <a:gd name="T27" fmla="*/ 56 h 71"/>
                          <a:gd name="T28" fmla="*/ 70 w 85"/>
                          <a:gd name="T29" fmla="*/ 41 h 71"/>
                          <a:gd name="T30" fmla="*/ 77 w 85"/>
                          <a:gd name="T31" fmla="*/ 25 h 71"/>
                          <a:gd name="T32" fmla="*/ 85 w 85"/>
                          <a:gd name="T33" fmla="*/ 7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5" h="71">
                            <a:moveTo>
                              <a:pt x="85" y="7"/>
                            </a:moveTo>
                            <a:lnTo>
                              <a:pt x="70" y="8"/>
                            </a:lnTo>
                            <a:lnTo>
                              <a:pt x="54" y="3"/>
                            </a:lnTo>
                            <a:lnTo>
                              <a:pt x="39" y="1"/>
                            </a:lnTo>
                            <a:lnTo>
                              <a:pt x="28" y="0"/>
                            </a:lnTo>
                            <a:lnTo>
                              <a:pt x="15" y="9"/>
                            </a:lnTo>
                            <a:lnTo>
                              <a:pt x="9" y="15"/>
                            </a:lnTo>
                            <a:lnTo>
                              <a:pt x="2" y="27"/>
                            </a:lnTo>
                            <a:lnTo>
                              <a:pt x="0" y="44"/>
                            </a:lnTo>
                            <a:lnTo>
                              <a:pt x="15" y="50"/>
                            </a:lnTo>
                            <a:lnTo>
                              <a:pt x="30" y="57"/>
                            </a:lnTo>
                            <a:lnTo>
                              <a:pt x="40" y="71"/>
                            </a:lnTo>
                            <a:lnTo>
                              <a:pt x="53" y="65"/>
                            </a:lnTo>
                            <a:lnTo>
                              <a:pt x="62" y="56"/>
                            </a:lnTo>
                            <a:lnTo>
                              <a:pt x="70" y="41"/>
                            </a:lnTo>
                            <a:lnTo>
                              <a:pt x="77" y="25"/>
                            </a:lnTo>
                            <a:lnTo>
                              <a:pt x="85" y="7"/>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2" name="Freeform 244"/>
                      <p:cNvSpPr/>
                      <p:nvPr/>
                    </p:nvSpPr>
                    <p:spPr bwMode="auto">
                      <a:xfrm>
                        <a:off x="2362" y="3176"/>
                        <a:ext cx="24" cy="41"/>
                      </a:xfrm>
                      <a:custGeom>
                        <a:avLst/>
                        <a:gdLst>
                          <a:gd name="T0" fmla="*/ 0 w 171"/>
                          <a:gd name="T1" fmla="*/ 0 h 330"/>
                          <a:gd name="T2" fmla="*/ 46 w 171"/>
                          <a:gd name="T3" fmla="*/ 9 h 330"/>
                          <a:gd name="T4" fmla="*/ 73 w 171"/>
                          <a:gd name="T5" fmla="*/ 28 h 330"/>
                          <a:gd name="T6" fmla="*/ 87 w 171"/>
                          <a:gd name="T7" fmla="*/ 52 h 330"/>
                          <a:gd name="T8" fmla="*/ 100 w 171"/>
                          <a:gd name="T9" fmla="*/ 28 h 330"/>
                          <a:gd name="T10" fmla="*/ 110 w 171"/>
                          <a:gd name="T11" fmla="*/ 128 h 330"/>
                          <a:gd name="T12" fmla="*/ 119 w 171"/>
                          <a:gd name="T13" fmla="*/ 199 h 330"/>
                          <a:gd name="T14" fmla="*/ 132 w 171"/>
                          <a:gd name="T15" fmla="*/ 254 h 330"/>
                          <a:gd name="T16" fmla="*/ 171 w 171"/>
                          <a:gd name="T17" fmla="*/ 330 h 330"/>
                          <a:gd name="T18" fmla="*/ 146 w 171"/>
                          <a:gd name="T19" fmla="*/ 315 h 330"/>
                          <a:gd name="T20" fmla="*/ 123 w 171"/>
                          <a:gd name="T21" fmla="*/ 296 h 330"/>
                          <a:gd name="T22" fmla="*/ 98 w 171"/>
                          <a:gd name="T23" fmla="*/ 278 h 330"/>
                          <a:gd name="T24" fmla="*/ 69 w 171"/>
                          <a:gd name="T25" fmla="*/ 268 h 330"/>
                          <a:gd name="T26" fmla="*/ 39 w 171"/>
                          <a:gd name="T27" fmla="*/ 262 h 330"/>
                          <a:gd name="T28" fmla="*/ 64 w 171"/>
                          <a:gd name="T29" fmla="*/ 253 h 330"/>
                          <a:gd name="T30" fmla="*/ 87 w 171"/>
                          <a:gd name="T31" fmla="*/ 252 h 330"/>
                          <a:gd name="T32" fmla="*/ 109 w 171"/>
                          <a:gd name="T33" fmla="*/ 258 h 330"/>
                          <a:gd name="T34" fmla="*/ 126 w 171"/>
                          <a:gd name="T35" fmla="*/ 272 h 330"/>
                          <a:gd name="T36" fmla="*/ 110 w 171"/>
                          <a:gd name="T37" fmla="*/ 219 h 330"/>
                          <a:gd name="T38" fmla="*/ 104 w 171"/>
                          <a:gd name="T39" fmla="*/ 174 h 330"/>
                          <a:gd name="T40" fmla="*/ 72 w 171"/>
                          <a:gd name="T41" fmla="*/ 159 h 330"/>
                          <a:gd name="T42" fmla="*/ 52 w 171"/>
                          <a:gd name="T43" fmla="*/ 143 h 330"/>
                          <a:gd name="T44" fmla="*/ 43 w 171"/>
                          <a:gd name="T45" fmla="*/ 128 h 330"/>
                          <a:gd name="T46" fmla="*/ 49 w 171"/>
                          <a:gd name="T47" fmla="*/ 114 h 330"/>
                          <a:gd name="T48" fmla="*/ 61 w 171"/>
                          <a:gd name="T49" fmla="*/ 108 h 330"/>
                          <a:gd name="T50" fmla="*/ 77 w 171"/>
                          <a:gd name="T51" fmla="*/ 103 h 330"/>
                          <a:gd name="T52" fmla="*/ 90 w 171"/>
                          <a:gd name="T53" fmla="*/ 105 h 330"/>
                          <a:gd name="T54" fmla="*/ 89 w 171"/>
                          <a:gd name="T55" fmla="*/ 86 h 330"/>
                          <a:gd name="T56" fmla="*/ 66 w 171"/>
                          <a:gd name="T57" fmla="*/ 82 h 330"/>
                          <a:gd name="T58" fmla="*/ 46 w 171"/>
                          <a:gd name="T59" fmla="*/ 71 h 330"/>
                          <a:gd name="T60" fmla="*/ 31 w 171"/>
                          <a:gd name="T61" fmla="*/ 49 h 330"/>
                          <a:gd name="T62" fmla="*/ 27 w 171"/>
                          <a:gd name="T63" fmla="*/ 18 h 330"/>
                          <a:gd name="T64" fmla="*/ 0 w 171"/>
                          <a:gd name="T65"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1" h="330">
                            <a:moveTo>
                              <a:pt x="0" y="0"/>
                            </a:moveTo>
                            <a:lnTo>
                              <a:pt x="46" y="9"/>
                            </a:lnTo>
                            <a:lnTo>
                              <a:pt x="73" y="28"/>
                            </a:lnTo>
                            <a:lnTo>
                              <a:pt x="87" y="52"/>
                            </a:lnTo>
                            <a:lnTo>
                              <a:pt x="100" y="28"/>
                            </a:lnTo>
                            <a:lnTo>
                              <a:pt x="110" y="128"/>
                            </a:lnTo>
                            <a:lnTo>
                              <a:pt x="119" y="199"/>
                            </a:lnTo>
                            <a:lnTo>
                              <a:pt x="132" y="254"/>
                            </a:lnTo>
                            <a:lnTo>
                              <a:pt x="171" y="330"/>
                            </a:lnTo>
                            <a:lnTo>
                              <a:pt x="146" y="315"/>
                            </a:lnTo>
                            <a:lnTo>
                              <a:pt x="123" y="296"/>
                            </a:lnTo>
                            <a:lnTo>
                              <a:pt x="98" y="278"/>
                            </a:lnTo>
                            <a:lnTo>
                              <a:pt x="69" y="268"/>
                            </a:lnTo>
                            <a:lnTo>
                              <a:pt x="39" y="262"/>
                            </a:lnTo>
                            <a:lnTo>
                              <a:pt x="64" y="253"/>
                            </a:lnTo>
                            <a:lnTo>
                              <a:pt x="87" y="252"/>
                            </a:lnTo>
                            <a:lnTo>
                              <a:pt x="109" y="258"/>
                            </a:lnTo>
                            <a:lnTo>
                              <a:pt x="126" y="272"/>
                            </a:lnTo>
                            <a:lnTo>
                              <a:pt x="110" y="219"/>
                            </a:lnTo>
                            <a:lnTo>
                              <a:pt x="104" y="174"/>
                            </a:lnTo>
                            <a:lnTo>
                              <a:pt x="72" y="159"/>
                            </a:lnTo>
                            <a:lnTo>
                              <a:pt x="52" y="143"/>
                            </a:lnTo>
                            <a:lnTo>
                              <a:pt x="43" y="128"/>
                            </a:lnTo>
                            <a:lnTo>
                              <a:pt x="49" y="114"/>
                            </a:lnTo>
                            <a:lnTo>
                              <a:pt x="61" y="108"/>
                            </a:lnTo>
                            <a:lnTo>
                              <a:pt x="77" y="103"/>
                            </a:lnTo>
                            <a:lnTo>
                              <a:pt x="90" y="105"/>
                            </a:lnTo>
                            <a:lnTo>
                              <a:pt x="89" y="86"/>
                            </a:lnTo>
                            <a:lnTo>
                              <a:pt x="66" y="82"/>
                            </a:lnTo>
                            <a:lnTo>
                              <a:pt x="46" y="71"/>
                            </a:lnTo>
                            <a:lnTo>
                              <a:pt x="31" y="49"/>
                            </a:lnTo>
                            <a:lnTo>
                              <a:pt x="27" y="18"/>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3" name="Freeform 245"/>
                      <p:cNvSpPr/>
                      <p:nvPr/>
                    </p:nvSpPr>
                    <p:spPr bwMode="auto">
                      <a:xfrm>
                        <a:off x="2401" y="3190"/>
                        <a:ext cx="16" cy="20"/>
                      </a:xfrm>
                      <a:custGeom>
                        <a:avLst/>
                        <a:gdLst>
                          <a:gd name="T0" fmla="*/ 0 w 113"/>
                          <a:gd name="T1" fmla="*/ 157 h 157"/>
                          <a:gd name="T2" fmla="*/ 11 w 113"/>
                          <a:gd name="T3" fmla="*/ 120 h 157"/>
                          <a:gd name="T4" fmla="*/ 14 w 113"/>
                          <a:gd name="T5" fmla="*/ 91 h 157"/>
                          <a:gd name="T6" fmla="*/ 19 w 113"/>
                          <a:gd name="T7" fmla="*/ 66 h 157"/>
                          <a:gd name="T8" fmla="*/ 25 w 113"/>
                          <a:gd name="T9" fmla="*/ 53 h 157"/>
                          <a:gd name="T10" fmla="*/ 34 w 113"/>
                          <a:gd name="T11" fmla="*/ 38 h 157"/>
                          <a:gd name="T12" fmla="*/ 47 w 113"/>
                          <a:gd name="T13" fmla="*/ 27 h 157"/>
                          <a:gd name="T14" fmla="*/ 68 w 113"/>
                          <a:gd name="T15" fmla="*/ 18 h 157"/>
                          <a:gd name="T16" fmla="*/ 88 w 113"/>
                          <a:gd name="T17" fmla="*/ 10 h 157"/>
                          <a:gd name="T18" fmla="*/ 113 w 113"/>
                          <a:gd name="T19" fmla="*/ 0 h 157"/>
                          <a:gd name="T20" fmla="*/ 92 w 113"/>
                          <a:gd name="T21" fmla="*/ 23 h 157"/>
                          <a:gd name="T22" fmla="*/ 78 w 113"/>
                          <a:gd name="T23" fmla="*/ 34 h 157"/>
                          <a:gd name="T24" fmla="*/ 60 w 113"/>
                          <a:gd name="T25" fmla="*/ 51 h 157"/>
                          <a:gd name="T26" fmla="*/ 51 w 113"/>
                          <a:gd name="T27" fmla="*/ 76 h 157"/>
                          <a:gd name="T28" fmla="*/ 44 w 113"/>
                          <a:gd name="T29" fmla="*/ 100 h 157"/>
                          <a:gd name="T30" fmla="*/ 33 w 113"/>
                          <a:gd name="T31" fmla="*/ 121 h 157"/>
                          <a:gd name="T32" fmla="*/ 21 w 113"/>
                          <a:gd name="T33" fmla="*/ 138 h 157"/>
                          <a:gd name="T34" fmla="*/ 0 w 113"/>
                          <a:gd name="T35" fmla="*/ 157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3" h="157">
                            <a:moveTo>
                              <a:pt x="0" y="157"/>
                            </a:moveTo>
                            <a:lnTo>
                              <a:pt x="11" y="120"/>
                            </a:lnTo>
                            <a:lnTo>
                              <a:pt x="14" y="91"/>
                            </a:lnTo>
                            <a:lnTo>
                              <a:pt x="19" y="66"/>
                            </a:lnTo>
                            <a:lnTo>
                              <a:pt x="25" y="53"/>
                            </a:lnTo>
                            <a:lnTo>
                              <a:pt x="34" y="38"/>
                            </a:lnTo>
                            <a:lnTo>
                              <a:pt x="47" y="27"/>
                            </a:lnTo>
                            <a:lnTo>
                              <a:pt x="68" y="18"/>
                            </a:lnTo>
                            <a:lnTo>
                              <a:pt x="88" y="10"/>
                            </a:lnTo>
                            <a:lnTo>
                              <a:pt x="113" y="0"/>
                            </a:lnTo>
                            <a:lnTo>
                              <a:pt x="92" y="23"/>
                            </a:lnTo>
                            <a:lnTo>
                              <a:pt x="78" y="34"/>
                            </a:lnTo>
                            <a:lnTo>
                              <a:pt x="60" y="51"/>
                            </a:lnTo>
                            <a:lnTo>
                              <a:pt x="51" y="76"/>
                            </a:lnTo>
                            <a:lnTo>
                              <a:pt x="44" y="100"/>
                            </a:lnTo>
                            <a:lnTo>
                              <a:pt x="33" y="121"/>
                            </a:lnTo>
                            <a:lnTo>
                              <a:pt x="21" y="138"/>
                            </a:lnTo>
                            <a:lnTo>
                              <a:pt x="0" y="157"/>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4" name="Freeform 246"/>
                      <p:cNvSpPr/>
                      <p:nvPr/>
                    </p:nvSpPr>
                    <p:spPr bwMode="auto">
                      <a:xfrm>
                        <a:off x="2415" y="3188"/>
                        <a:ext cx="12" cy="10"/>
                      </a:xfrm>
                      <a:custGeom>
                        <a:avLst/>
                        <a:gdLst>
                          <a:gd name="T0" fmla="*/ 10 w 83"/>
                          <a:gd name="T1" fmla="*/ 23 h 83"/>
                          <a:gd name="T2" fmla="*/ 17 w 83"/>
                          <a:gd name="T3" fmla="*/ 34 h 83"/>
                          <a:gd name="T4" fmla="*/ 19 w 83"/>
                          <a:gd name="T5" fmla="*/ 52 h 83"/>
                          <a:gd name="T6" fmla="*/ 14 w 83"/>
                          <a:gd name="T7" fmla="*/ 67 h 83"/>
                          <a:gd name="T8" fmla="*/ 0 w 83"/>
                          <a:gd name="T9" fmla="*/ 83 h 83"/>
                          <a:gd name="T10" fmla="*/ 21 w 83"/>
                          <a:gd name="T11" fmla="*/ 79 h 83"/>
                          <a:gd name="T12" fmla="*/ 36 w 83"/>
                          <a:gd name="T13" fmla="*/ 72 h 83"/>
                          <a:gd name="T14" fmla="*/ 49 w 83"/>
                          <a:gd name="T15" fmla="*/ 61 h 83"/>
                          <a:gd name="T16" fmla="*/ 58 w 83"/>
                          <a:gd name="T17" fmla="*/ 50 h 83"/>
                          <a:gd name="T18" fmla="*/ 66 w 83"/>
                          <a:gd name="T19" fmla="*/ 58 h 83"/>
                          <a:gd name="T20" fmla="*/ 72 w 83"/>
                          <a:gd name="T21" fmla="*/ 65 h 83"/>
                          <a:gd name="T22" fmla="*/ 74 w 83"/>
                          <a:gd name="T23" fmla="*/ 83 h 83"/>
                          <a:gd name="T24" fmla="*/ 81 w 83"/>
                          <a:gd name="T25" fmla="*/ 53 h 83"/>
                          <a:gd name="T26" fmla="*/ 83 w 83"/>
                          <a:gd name="T27" fmla="*/ 30 h 83"/>
                          <a:gd name="T28" fmla="*/ 80 w 83"/>
                          <a:gd name="T29" fmla="*/ 11 h 83"/>
                          <a:gd name="T30" fmla="*/ 74 w 83"/>
                          <a:gd name="T31" fmla="*/ 0 h 83"/>
                          <a:gd name="T32" fmla="*/ 59 w 83"/>
                          <a:gd name="T33" fmla="*/ 0 h 83"/>
                          <a:gd name="T34" fmla="*/ 38 w 83"/>
                          <a:gd name="T35" fmla="*/ 7 h 83"/>
                          <a:gd name="T36" fmla="*/ 21 w 83"/>
                          <a:gd name="T37" fmla="*/ 14 h 83"/>
                          <a:gd name="T38" fmla="*/ 10 w 83"/>
                          <a:gd name="T39" fmla="*/ 2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3" h="83">
                            <a:moveTo>
                              <a:pt x="10" y="23"/>
                            </a:moveTo>
                            <a:lnTo>
                              <a:pt x="17" y="34"/>
                            </a:lnTo>
                            <a:lnTo>
                              <a:pt x="19" y="52"/>
                            </a:lnTo>
                            <a:lnTo>
                              <a:pt x="14" y="67"/>
                            </a:lnTo>
                            <a:lnTo>
                              <a:pt x="0" y="83"/>
                            </a:lnTo>
                            <a:lnTo>
                              <a:pt x="21" y="79"/>
                            </a:lnTo>
                            <a:lnTo>
                              <a:pt x="36" y="72"/>
                            </a:lnTo>
                            <a:lnTo>
                              <a:pt x="49" y="61"/>
                            </a:lnTo>
                            <a:lnTo>
                              <a:pt x="58" y="50"/>
                            </a:lnTo>
                            <a:lnTo>
                              <a:pt x="66" y="58"/>
                            </a:lnTo>
                            <a:lnTo>
                              <a:pt x="72" y="65"/>
                            </a:lnTo>
                            <a:lnTo>
                              <a:pt x="74" y="83"/>
                            </a:lnTo>
                            <a:lnTo>
                              <a:pt x="81" y="53"/>
                            </a:lnTo>
                            <a:lnTo>
                              <a:pt x="83" y="30"/>
                            </a:lnTo>
                            <a:lnTo>
                              <a:pt x="80" y="11"/>
                            </a:lnTo>
                            <a:lnTo>
                              <a:pt x="74" y="0"/>
                            </a:lnTo>
                            <a:lnTo>
                              <a:pt x="59" y="0"/>
                            </a:lnTo>
                            <a:lnTo>
                              <a:pt x="38" y="7"/>
                            </a:lnTo>
                            <a:lnTo>
                              <a:pt x="21" y="14"/>
                            </a:lnTo>
                            <a:lnTo>
                              <a:pt x="10" y="23"/>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5" name="Freeform 247"/>
                      <p:cNvSpPr/>
                      <p:nvPr/>
                    </p:nvSpPr>
                    <p:spPr bwMode="auto">
                      <a:xfrm>
                        <a:off x="2427" y="3193"/>
                        <a:ext cx="11" cy="23"/>
                      </a:xfrm>
                      <a:custGeom>
                        <a:avLst/>
                        <a:gdLst>
                          <a:gd name="T0" fmla="*/ 0 w 72"/>
                          <a:gd name="T1" fmla="*/ 0 h 186"/>
                          <a:gd name="T2" fmla="*/ 27 w 72"/>
                          <a:gd name="T3" fmla="*/ 22 h 186"/>
                          <a:gd name="T4" fmla="*/ 40 w 72"/>
                          <a:gd name="T5" fmla="*/ 44 h 186"/>
                          <a:gd name="T6" fmla="*/ 47 w 72"/>
                          <a:gd name="T7" fmla="*/ 74 h 186"/>
                          <a:gd name="T8" fmla="*/ 48 w 72"/>
                          <a:gd name="T9" fmla="*/ 106 h 186"/>
                          <a:gd name="T10" fmla="*/ 45 w 72"/>
                          <a:gd name="T11" fmla="*/ 134 h 186"/>
                          <a:gd name="T12" fmla="*/ 36 w 72"/>
                          <a:gd name="T13" fmla="*/ 158 h 186"/>
                          <a:gd name="T14" fmla="*/ 15 w 72"/>
                          <a:gd name="T15" fmla="*/ 186 h 186"/>
                          <a:gd name="T16" fmla="*/ 39 w 72"/>
                          <a:gd name="T17" fmla="*/ 171 h 186"/>
                          <a:gd name="T18" fmla="*/ 58 w 72"/>
                          <a:gd name="T19" fmla="*/ 148 h 186"/>
                          <a:gd name="T20" fmla="*/ 70 w 72"/>
                          <a:gd name="T21" fmla="*/ 118 h 186"/>
                          <a:gd name="T22" fmla="*/ 72 w 72"/>
                          <a:gd name="T23" fmla="*/ 82 h 186"/>
                          <a:gd name="T24" fmla="*/ 66 w 72"/>
                          <a:gd name="T25" fmla="*/ 50 h 186"/>
                          <a:gd name="T26" fmla="*/ 48 w 72"/>
                          <a:gd name="T27" fmla="*/ 26 h 186"/>
                          <a:gd name="T28" fmla="*/ 28 w 72"/>
                          <a:gd name="T29" fmla="*/ 10 h 186"/>
                          <a:gd name="T30" fmla="*/ 0 w 72"/>
                          <a:gd name="T31"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2" h="186">
                            <a:moveTo>
                              <a:pt x="0" y="0"/>
                            </a:moveTo>
                            <a:lnTo>
                              <a:pt x="27" y="22"/>
                            </a:lnTo>
                            <a:lnTo>
                              <a:pt x="40" y="44"/>
                            </a:lnTo>
                            <a:lnTo>
                              <a:pt x="47" y="74"/>
                            </a:lnTo>
                            <a:lnTo>
                              <a:pt x="48" y="106"/>
                            </a:lnTo>
                            <a:lnTo>
                              <a:pt x="45" y="134"/>
                            </a:lnTo>
                            <a:lnTo>
                              <a:pt x="36" y="158"/>
                            </a:lnTo>
                            <a:lnTo>
                              <a:pt x="15" y="186"/>
                            </a:lnTo>
                            <a:lnTo>
                              <a:pt x="39" y="171"/>
                            </a:lnTo>
                            <a:lnTo>
                              <a:pt x="58" y="148"/>
                            </a:lnTo>
                            <a:lnTo>
                              <a:pt x="70" y="118"/>
                            </a:lnTo>
                            <a:lnTo>
                              <a:pt x="72" y="82"/>
                            </a:lnTo>
                            <a:lnTo>
                              <a:pt x="66" y="50"/>
                            </a:lnTo>
                            <a:lnTo>
                              <a:pt x="48" y="26"/>
                            </a:lnTo>
                            <a:lnTo>
                              <a:pt x="28" y="10"/>
                            </a:lnTo>
                            <a:lnTo>
                              <a:pt x="0"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6" name="Freeform 248"/>
                      <p:cNvSpPr/>
                      <p:nvPr/>
                    </p:nvSpPr>
                    <p:spPr bwMode="auto">
                      <a:xfrm>
                        <a:off x="2458" y="3188"/>
                        <a:ext cx="11" cy="12"/>
                      </a:xfrm>
                      <a:custGeom>
                        <a:avLst/>
                        <a:gdLst>
                          <a:gd name="T0" fmla="*/ 0 w 75"/>
                          <a:gd name="T1" fmla="*/ 94 h 94"/>
                          <a:gd name="T2" fmla="*/ 26 w 75"/>
                          <a:gd name="T3" fmla="*/ 68 h 94"/>
                          <a:gd name="T4" fmla="*/ 49 w 75"/>
                          <a:gd name="T5" fmla="*/ 45 h 94"/>
                          <a:gd name="T6" fmla="*/ 75 w 75"/>
                          <a:gd name="T7" fmla="*/ 0 h 94"/>
                          <a:gd name="T8" fmla="*/ 49 w 75"/>
                          <a:gd name="T9" fmla="*/ 19 h 94"/>
                          <a:gd name="T10" fmla="*/ 26 w 75"/>
                          <a:gd name="T11" fmla="*/ 51 h 94"/>
                          <a:gd name="T12" fmla="*/ 0 w 75"/>
                          <a:gd name="T13" fmla="*/ 94 h 94"/>
                        </a:gdLst>
                        <a:ahLst/>
                        <a:cxnLst>
                          <a:cxn ang="0">
                            <a:pos x="T0" y="T1"/>
                          </a:cxn>
                          <a:cxn ang="0">
                            <a:pos x="T2" y="T3"/>
                          </a:cxn>
                          <a:cxn ang="0">
                            <a:pos x="T4" y="T5"/>
                          </a:cxn>
                          <a:cxn ang="0">
                            <a:pos x="T6" y="T7"/>
                          </a:cxn>
                          <a:cxn ang="0">
                            <a:pos x="T8" y="T9"/>
                          </a:cxn>
                          <a:cxn ang="0">
                            <a:pos x="T10" y="T11"/>
                          </a:cxn>
                          <a:cxn ang="0">
                            <a:pos x="T12" y="T13"/>
                          </a:cxn>
                        </a:cxnLst>
                        <a:rect l="0" t="0" r="r" b="b"/>
                        <a:pathLst>
                          <a:path w="75" h="94">
                            <a:moveTo>
                              <a:pt x="0" y="94"/>
                            </a:moveTo>
                            <a:lnTo>
                              <a:pt x="26" y="68"/>
                            </a:lnTo>
                            <a:lnTo>
                              <a:pt x="49" y="45"/>
                            </a:lnTo>
                            <a:lnTo>
                              <a:pt x="75" y="0"/>
                            </a:lnTo>
                            <a:lnTo>
                              <a:pt x="49" y="19"/>
                            </a:lnTo>
                            <a:lnTo>
                              <a:pt x="26" y="51"/>
                            </a:lnTo>
                            <a:lnTo>
                              <a:pt x="0" y="94"/>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7" name="Freeform 249"/>
                      <p:cNvSpPr/>
                      <p:nvPr/>
                    </p:nvSpPr>
                    <p:spPr bwMode="auto">
                      <a:xfrm>
                        <a:off x="2413" y="3198"/>
                        <a:ext cx="7" cy="19"/>
                      </a:xfrm>
                      <a:custGeom>
                        <a:avLst/>
                        <a:gdLst>
                          <a:gd name="T0" fmla="*/ 31 w 50"/>
                          <a:gd name="T1" fmla="*/ 152 h 152"/>
                          <a:gd name="T2" fmla="*/ 37 w 50"/>
                          <a:gd name="T3" fmla="*/ 128 h 152"/>
                          <a:gd name="T4" fmla="*/ 46 w 50"/>
                          <a:gd name="T5" fmla="*/ 108 h 152"/>
                          <a:gd name="T6" fmla="*/ 37 w 50"/>
                          <a:gd name="T7" fmla="*/ 89 h 152"/>
                          <a:gd name="T8" fmla="*/ 31 w 50"/>
                          <a:gd name="T9" fmla="*/ 68 h 152"/>
                          <a:gd name="T10" fmla="*/ 33 w 50"/>
                          <a:gd name="T11" fmla="*/ 41 h 152"/>
                          <a:gd name="T12" fmla="*/ 38 w 50"/>
                          <a:gd name="T13" fmla="*/ 24 h 152"/>
                          <a:gd name="T14" fmla="*/ 50 w 50"/>
                          <a:gd name="T15" fmla="*/ 0 h 152"/>
                          <a:gd name="T16" fmla="*/ 30 w 50"/>
                          <a:gd name="T17" fmla="*/ 19 h 152"/>
                          <a:gd name="T18" fmla="*/ 14 w 50"/>
                          <a:gd name="T19" fmla="*/ 37 h 152"/>
                          <a:gd name="T20" fmla="*/ 6 w 50"/>
                          <a:gd name="T21" fmla="*/ 56 h 152"/>
                          <a:gd name="T22" fmla="*/ 0 w 50"/>
                          <a:gd name="T23" fmla="*/ 88 h 152"/>
                          <a:gd name="T24" fmla="*/ 6 w 50"/>
                          <a:gd name="T25" fmla="*/ 113 h 152"/>
                          <a:gd name="T26" fmla="*/ 17 w 50"/>
                          <a:gd name="T27" fmla="*/ 135 h 152"/>
                          <a:gd name="T28" fmla="*/ 31 w 50"/>
                          <a:gd name="T29" fmla="*/ 15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 h="152">
                            <a:moveTo>
                              <a:pt x="31" y="152"/>
                            </a:moveTo>
                            <a:lnTo>
                              <a:pt x="37" y="128"/>
                            </a:lnTo>
                            <a:lnTo>
                              <a:pt x="46" y="108"/>
                            </a:lnTo>
                            <a:lnTo>
                              <a:pt x="37" y="89"/>
                            </a:lnTo>
                            <a:lnTo>
                              <a:pt x="31" y="68"/>
                            </a:lnTo>
                            <a:lnTo>
                              <a:pt x="33" y="41"/>
                            </a:lnTo>
                            <a:lnTo>
                              <a:pt x="38" y="24"/>
                            </a:lnTo>
                            <a:lnTo>
                              <a:pt x="50" y="0"/>
                            </a:lnTo>
                            <a:lnTo>
                              <a:pt x="30" y="19"/>
                            </a:lnTo>
                            <a:lnTo>
                              <a:pt x="14" y="37"/>
                            </a:lnTo>
                            <a:lnTo>
                              <a:pt x="6" y="56"/>
                            </a:lnTo>
                            <a:lnTo>
                              <a:pt x="0" y="88"/>
                            </a:lnTo>
                            <a:lnTo>
                              <a:pt x="6" y="113"/>
                            </a:lnTo>
                            <a:lnTo>
                              <a:pt x="17" y="135"/>
                            </a:lnTo>
                            <a:lnTo>
                              <a:pt x="31" y="152"/>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298" name="Freeform 250"/>
                      <p:cNvSpPr/>
                      <p:nvPr/>
                    </p:nvSpPr>
                    <p:spPr bwMode="auto">
                      <a:xfrm>
                        <a:off x="2403" y="3080"/>
                        <a:ext cx="5" cy="10"/>
                      </a:xfrm>
                      <a:custGeom>
                        <a:avLst/>
                        <a:gdLst>
                          <a:gd name="T0" fmla="*/ 37 w 37"/>
                          <a:gd name="T1" fmla="*/ 0 h 81"/>
                          <a:gd name="T2" fmla="*/ 28 w 37"/>
                          <a:gd name="T3" fmla="*/ 14 h 81"/>
                          <a:gd name="T4" fmla="*/ 23 w 37"/>
                          <a:gd name="T5" fmla="*/ 27 h 81"/>
                          <a:gd name="T6" fmla="*/ 18 w 37"/>
                          <a:gd name="T7" fmla="*/ 39 h 81"/>
                          <a:gd name="T8" fmla="*/ 16 w 37"/>
                          <a:gd name="T9" fmla="*/ 52 h 81"/>
                          <a:gd name="T10" fmla="*/ 18 w 37"/>
                          <a:gd name="T11" fmla="*/ 65 h 81"/>
                          <a:gd name="T12" fmla="*/ 20 w 37"/>
                          <a:gd name="T13" fmla="*/ 81 h 81"/>
                          <a:gd name="T14" fmla="*/ 14 w 37"/>
                          <a:gd name="T15" fmla="*/ 69 h 81"/>
                          <a:gd name="T16" fmla="*/ 10 w 37"/>
                          <a:gd name="T17" fmla="*/ 52 h 81"/>
                          <a:gd name="T18" fmla="*/ 7 w 37"/>
                          <a:gd name="T19" fmla="*/ 43 h 81"/>
                          <a:gd name="T20" fmla="*/ 0 w 37"/>
                          <a:gd name="T21" fmla="*/ 33 h 81"/>
                          <a:gd name="T22" fmla="*/ 10 w 37"/>
                          <a:gd name="T23" fmla="*/ 32 h 81"/>
                          <a:gd name="T24" fmla="*/ 18 w 37"/>
                          <a:gd name="T25" fmla="*/ 22 h 81"/>
                          <a:gd name="T26" fmla="*/ 27 w 37"/>
                          <a:gd name="T27" fmla="*/ 11 h 81"/>
                          <a:gd name="T28" fmla="*/ 37 w 37"/>
                          <a:gd name="T29"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7" h="81">
                            <a:moveTo>
                              <a:pt x="37" y="0"/>
                            </a:moveTo>
                            <a:lnTo>
                              <a:pt x="28" y="14"/>
                            </a:lnTo>
                            <a:lnTo>
                              <a:pt x="23" y="27"/>
                            </a:lnTo>
                            <a:lnTo>
                              <a:pt x="18" y="39"/>
                            </a:lnTo>
                            <a:lnTo>
                              <a:pt x="16" y="52"/>
                            </a:lnTo>
                            <a:lnTo>
                              <a:pt x="18" y="65"/>
                            </a:lnTo>
                            <a:lnTo>
                              <a:pt x="20" y="81"/>
                            </a:lnTo>
                            <a:lnTo>
                              <a:pt x="14" y="69"/>
                            </a:lnTo>
                            <a:lnTo>
                              <a:pt x="10" y="52"/>
                            </a:lnTo>
                            <a:lnTo>
                              <a:pt x="7" y="43"/>
                            </a:lnTo>
                            <a:lnTo>
                              <a:pt x="0" y="33"/>
                            </a:lnTo>
                            <a:lnTo>
                              <a:pt x="10" y="32"/>
                            </a:lnTo>
                            <a:lnTo>
                              <a:pt x="18" y="22"/>
                            </a:lnTo>
                            <a:lnTo>
                              <a:pt x="27" y="11"/>
                            </a:lnTo>
                            <a:lnTo>
                              <a:pt x="37" y="0"/>
                            </a:lnTo>
                            <a:close/>
                          </a:path>
                        </a:pathLst>
                      </a:custGeom>
                      <a:solidFill>
                        <a:srgbClr val="C0C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299" name="Group 251"/>
                  <p:cNvGrpSpPr/>
                  <p:nvPr/>
                </p:nvGrpSpPr>
                <p:grpSpPr bwMode="auto">
                  <a:xfrm>
                    <a:off x="2442" y="3102"/>
                    <a:ext cx="18" cy="67"/>
                    <a:chOff x="2442" y="3102"/>
                    <a:chExt cx="18" cy="67"/>
                  </a:xfrm>
                </p:grpSpPr>
                <p:sp>
                  <p:nvSpPr>
                    <p:cNvPr id="642300" name="Freeform 252"/>
                    <p:cNvSpPr/>
                    <p:nvPr/>
                  </p:nvSpPr>
                  <p:spPr bwMode="auto">
                    <a:xfrm>
                      <a:off x="2442" y="3102"/>
                      <a:ext cx="18" cy="67"/>
                    </a:xfrm>
                    <a:custGeom>
                      <a:avLst/>
                      <a:gdLst>
                        <a:gd name="T0" fmla="*/ 5 w 131"/>
                        <a:gd name="T1" fmla="*/ 0 h 528"/>
                        <a:gd name="T2" fmla="*/ 3 w 131"/>
                        <a:gd name="T3" fmla="*/ 10 h 528"/>
                        <a:gd name="T4" fmla="*/ 7 w 131"/>
                        <a:gd name="T5" fmla="*/ 28 h 528"/>
                        <a:gd name="T6" fmla="*/ 9 w 131"/>
                        <a:gd name="T7" fmla="*/ 48 h 528"/>
                        <a:gd name="T8" fmla="*/ 5 w 131"/>
                        <a:gd name="T9" fmla="*/ 68 h 528"/>
                        <a:gd name="T10" fmla="*/ 0 w 131"/>
                        <a:gd name="T11" fmla="*/ 78 h 528"/>
                        <a:gd name="T12" fmla="*/ 3 w 131"/>
                        <a:gd name="T13" fmla="*/ 90 h 528"/>
                        <a:gd name="T14" fmla="*/ 11 w 131"/>
                        <a:gd name="T15" fmla="*/ 96 h 528"/>
                        <a:gd name="T16" fmla="*/ 15 w 131"/>
                        <a:gd name="T17" fmla="*/ 117 h 528"/>
                        <a:gd name="T18" fmla="*/ 16 w 131"/>
                        <a:gd name="T19" fmla="*/ 139 h 528"/>
                        <a:gd name="T20" fmla="*/ 10 w 131"/>
                        <a:gd name="T21" fmla="*/ 150 h 528"/>
                        <a:gd name="T22" fmla="*/ 5 w 131"/>
                        <a:gd name="T23" fmla="*/ 162 h 528"/>
                        <a:gd name="T24" fmla="*/ 9 w 131"/>
                        <a:gd name="T25" fmla="*/ 186 h 528"/>
                        <a:gd name="T26" fmla="*/ 16 w 131"/>
                        <a:gd name="T27" fmla="*/ 208 h 528"/>
                        <a:gd name="T28" fmla="*/ 26 w 131"/>
                        <a:gd name="T29" fmla="*/ 222 h 528"/>
                        <a:gd name="T30" fmla="*/ 34 w 131"/>
                        <a:gd name="T31" fmla="*/ 251 h 528"/>
                        <a:gd name="T32" fmla="*/ 38 w 131"/>
                        <a:gd name="T33" fmla="*/ 284 h 528"/>
                        <a:gd name="T34" fmla="*/ 33 w 131"/>
                        <a:gd name="T35" fmla="*/ 300 h 528"/>
                        <a:gd name="T36" fmla="*/ 30 w 131"/>
                        <a:gd name="T37" fmla="*/ 314 h 528"/>
                        <a:gd name="T38" fmla="*/ 32 w 131"/>
                        <a:gd name="T39" fmla="*/ 330 h 528"/>
                        <a:gd name="T40" fmla="*/ 37 w 131"/>
                        <a:gd name="T41" fmla="*/ 345 h 528"/>
                        <a:gd name="T42" fmla="*/ 42 w 131"/>
                        <a:gd name="T43" fmla="*/ 363 h 528"/>
                        <a:gd name="T44" fmla="*/ 39 w 131"/>
                        <a:gd name="T45" fmla="*/ 445 h 528"/>
                        <a:gd name="T46" fmla="*/ 43 w 131"/>
                        <a:gd name="T47" fmla="*/ 528 h 528"/>
                        <a:gd name="T48" fmla="*/ 129 w 131"/>
                        <a:gd name="T49" fmla="*/ 428 h 528"/>
                        <a:gd name="T50" fmla="*/ 122 w 131"/>
                        <a:gd name="T51" fmla="*/ 375 h 528"/>
                        <a:gd name="T52" fmla="*/ 129 w 131"/>
                        <a:gd name="T53" fmla="*/ 308 h 528"/>
                        <a:gd name="T54" fmla="*/ 131 w 131"/>
                        <a:gd name="T55" fmla="*/ 241 h 528"/>
                        <a:gd name="T56" fmla="*/ 122 w 131"/>
                        <a:gd name="T57" fmla="*/ 162 h 528"/>
                        <a:gd name="T58" fmla="*/ 104 w 131"/>
                        <a:gd name="T59" fmla="*/ 135 h 528"/>
                        <a:gd name="T60" fmla="*/ 88 w 131"/>
                        <a:gd name="T61" fmla="*/ 117 h 528"/>
                        <a:gd name="T62" fmla="*/ 76 w 131"/>
                        <a:gd name="T63" fmla="*/ 101 h 528"/>
                        <a:gd name="T64" fmla="*/ 86 w 131"/>
                        <a:gd name="T65" fmla="*/ 96 h 528"/>
                        <a:gd name="T66" fmla="*/ 92 w 131"/>
                        <a:gd name="T67" fmla="*/ 90 h 528"/>
                        <a:gd name="T68" fmla="*/ 86 w 131"/>
                        <a:gd name="T69" fmla="*/ 68 h 528"/>
                        <a:gd name="T70" fmla="*/ 79 w 131"/>
                        <a:gd name="T71" fmla="*/ 45 h 528"/>
                        <a:gd name="T72" fmla="*/ 70 w 131"/>
                        <a:gd name="T73" fmla="*/ 23 h 528"/>
                        <a:gd name="T74" fmla="*/ 60 w 131"/>
                        <a:gd name="T75" fmla="*/ 0 h 528"/>
                        <a:gd name="T76" fmla="*/ 5 w 131"/>
                        <a:gd name="T77" fmla="*/ 0 h 5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1" h="528">
                          <a:moveTo>
                            <a:pt x="5" y="0"/>
                          </a:moveTo>
                          <a:lnTo>
                            <a:pt x="3" y="10"/>
                          </a:lnTo>
                          <a:lnTo>
                            <a:pt x="7" y="28"/>
                          </a:lnTo>
                          <a:lnTo>
                            <a:pt x="9" y="48"/>
                          </a:lnTo>
                          <a:lnTo>
                            <a:pt x="5" y="68"/>
                          </a:lnTo>
                          <a:lnTo>
                            <a:pt x="0" y="78"/>
                          </a:lnTo>
                          <a:lnTo>
                            <a:pt x="3" y="90"/>
                          </a:lnTo>
                          <a:lnTo>
                            <a:pt x="11" y="96"/>
                          </a:lnTo>
                          <a:lnTo>
                            <a:pt x="15" y="117"/>
                          </a:lnTo>
                          <a:lnTo>
                            <a:pt x="16" y="139"/>
                          </a:lnTo>
                          <a:lnTo>
                            <a:pt x="10" y="150"/>
                          </a:lnTo>
                          <a:lnTo>
                            <a:pt x="5" y="162"/>
                          </a:lnTo>
                          <a:lnTo>
                            <a:pt x="9" y="186"/>
                          </a:lnTo>
                          <a:lnTo>
                            <a:pt x="16" y="208"/>
                          </a:lnTo>
                          <a:lnTo>
                            <a:pt x="26" y="222"/>
                          </a:lnTo>
                          <a:lnTo>
                            <a:pt x="34" y="251"/>
                          </a:lnTo>
                          <a:lnTo>
                            <a:pt x="38" y="284"/>
                          </a:lnTo>
                          <a:lnTo>
                            <a:pt x="33" y="300"/>
                          </a:lnTo>
                          <a:lnTo>
                            <a:pt x="30" y="314"/>
                          </a:lnTo>
                          <a:lnTo>
                            <a:pt x="32" y="330"/>
                          </a:lnTo>
                          <a:lnTo>
                            <a:pt x="37" y="345"/>
                          </a:lnTo>
                          <a:lnTo>
                            <a:pt x="42" y="363"/>
                          </a:lnTo>
                          <a:lnTo>
                            <a:pt x="39" y="445"/>
                          </a:lnTo>
                          <a:lnTo>
                            <a:pt x="43" y="528"/>
                          </a:lnTo>
                          <a:lnTo>
                            <a:pt x="129" y="428"/>
                          </a:lnTo>
                          <a:lnTo>
                            <a:pt x="122" y="375"/>
                          </a:lnTo>
                          <a:lnTo>
                            <a:pt x="129" y="308"/>
                          </a:lnTo>
                          <a:lnTo>
                            <a:pt x="131" y="241"/>
                          </a:lnTo>
                          <a:lnTo>
                            <a:pt x="122" y="162"/>
                          </a:lnTo>
                          <a:lnTo>
                            <a:pt x="104" y="135"/>
                          </a:lnTo>
                          <a:lnTo>
                            <a:pt x="88" y="117"/>
                          </a:lnTo>
                          <a:lnTo>
                            <a:pt x="76" y="101"/>
                          </a:lnTo>
                          <a:lnTo>
                            <a:pt x="86" y="96"/>
                          </a:lnTo>
                          <a:lnTo>
                            <a:pt x="92" y="90"/>
                          </a:lnTo>
                          <a:lnTo>
                            <a:pt x="86" y="68"/>
                          </a:lnTo>
                          <a:lnTo>
                            <a:pt x="79" y="45"/>
                          </a:lnTo>
                          <a:lnTo>
                            <a:pt x="70" y="23"/>
                          </a:lnTo>
                          <a:lnTo>
                            <a:pt x="60" y="0"/>
                          </a:lnTo>
                          <a:lnTo>
                            <a:pt x="5" y="0"/>
                          </a:lnTo>
                          <a:close/>
                        </a:path>
                      </a:pathLst>
                    </a:custGeom>
                    <a:solidFill>
                      <a:srgbClr val="0000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1" name="Freeform 253"/>
                    <p:cNvSpPr/>
                    <p:nvPr/>
                  </p:nvSpPr>
                  <p:spPr bwMode="auto">
                    <a:xfrm>
                      <a:off x="2449" y="3114"/>
                      <a:ext cx="9" cy="8"/>
                    </a:xfrm>
                    <a:custGeom>
                      <a:avLst/>
                      <a:gdLst>
                        <a:gd name="T0" fmla="*/ 68 w 68"/>
                        <a:gd name="T1" fmla="*/ 69 h 69"/>
                        <a:gd name="T2" fmla="*/ 33 w 68"/>
                        <a:gd name="T3" fmla="*/ 45 h 69"/>
                        <a:gd name="T4" fmla="*/ 0 w 68"/>
                        <a:gd name="T5" fmla="*/ 27 h 69"/>
                        <a:gd name="T6" fmla="*/ 8 w 68"/>
                        <a:gd name="T7" fmla="*/ 0 h 69"/>
                        <a:gd name="T8" fmla="*/ 27 w 68"/>
                        <a:gd name="T9" fmla="*/ 14 h 69"/>
                        <a:gd name="T10" fmla="*/ 37 w 68"/>
                        <a:gd name="T11" fmla="*/ 25 h 69"/>
                        <a:gd name="T12" fmla="*/ 56 w 68"/>
                        <a:gd name="T13" fmla="*/ 46 h 69"/>
                        <a:gd name="T14" fmla="*/ 68 w 68"/>
                        <a:gd name="T15" fmla="*/ 69 h 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69">
                          <a:moveTo>
                            <a:pt x="68" y="69"/>
                          </a:moveTo>
                          <a:lnTo>
                            <a:pt x="33" y="45"/>
                          </a:lnTo>
                          <a:lnTo>
                            <a:pt x="0" y="27"/>
                          </a:lnTo>
                          <a:lnTo>
                            <a:pt x="8" y="0"/>
                          </a:lnTo>
                          <a:lnTo>
                            <a:pt x="27" y="14"/>
                          </a:lnTo>
                          <a:lnTo>
                            <a:pt x="37" y="25"/>
                          </a:lnTo>
                          <a:lnTo>
                            <a:pt x="56" y="46"/>
                          </a:lnTo>
                          <a:lnTo>
                            <a:pt x="68" y="69"/>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2" name="Freeform 254"/>
                    <p:cNvSpPr/>
                    <p:nvPr/>
                  </p:nvSpPr>
                  <p:spPr bwMode="auto">
                    <a:xfrm>
                      <a:off x="2443" y="3114"/>
                      <a:ext cx="17" cy="23"/>
                    </a:xfrm>
                    <a:custGeom>
                      <a:avLst/>
                      <a:gdLst>
                        <a:gd name="T0" fmla="*/ 5 w 121"/>
                        <a:gd name="T1" fmla="*/ 48 h 189"/>
                        <a:gd name="T2" fmla="*/ 3 w 121"/>
                        <a:gd name="T3" fmla="*/ 30 h 189"/>
                        <a:gd name="T4" fmla="*/ 0 w 121"/>
                        <a:gd name="T5" fmla="*/ 0 h 189"/>
                        <a:gd name="T6" fmla="*/ 10 w 121"/>
                        <a:gd name="T7" fmla="*/ 32 h 189"/>
                        <a:gd name="T8" fmla="*/ 19 w 121"/>
                        <a:gd name="T9" fmla="*/ 51 h 189"/>
                        <a:gd name="T10" fmla="*/ 41 w 121"/>
                        <a:gd name="T11" fmla="*/ 80 h 189"/>
                        <a:gd name="T12" fmla="*/ 59 w 121"/>
                        <a:gd name="T13" fmla="*/ 98 h 189"/>
                        <a:gd name="T14" fmla="*/ 91 w 121"/>
                        <a:gd name="T15" fmla="*/ 125 h 189"/>
                        <a:gd name="T16" fmla="*/ 121 w 121"/>
                        <a:gd name="T17" fmla="*/ 150 h 189"/>
                        <a:gd name="T18" fmla="*/ 121 w 121"/>
                        <a:gd name="T19" fmla="*/ 189 h 189"/>
                        <a:gd name="T20" fmla="*/ 90 w 121"/>
                        <a:gd name="T21" fmla="*/ 162 h 189"/>
                        <a:gd name="T22" fmla="*/ 59 w 121"/>
                        <a:gd name="T23" fmla="*/ 138 h 189"/>
                        <a:gd name="T24" fmla="*/ 39 w 121"/>
                        <a:gd name="T25" fmla="*/ 123 h 189"/>
                        <a:gd name="T26" fmla="*/ 41 w 121"/>
                        <a:gd name="T27" fmla="*/ 108 h 189"/>
                        <a:gd name="T28" fmla="*/ 38 w 121"/>
                        <a:gd name="T29" fmla="*/ 88 h 189"/>
                        <a:gd name="T30" fmla="*/ 23 w 121"/>
                        <a:gd name="T31" fmla="*/ 72 h 189"/>
                        <a:gd name="T32" fmla="*/ 5 w 121"/>
                        <a:gd name="T33" fmla="*/ 48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1" h="189">
                          <a:moveTo>
                            <a:pt x="5" y="48"/>
                          </a:moveTo>
                          <a:lnTo>
                            <a:pt x="3" y="30"/>
                          </a:lnTo>
                          <a:lnTo>
                            <a:pt x="0" y="0"/>
                          </a:lnTo>
                          <a:lnTo>
                            <a:pt x="10" y="32"/>
                          </a:lnTo>
                          <a:lnTo>
                            <a:pt x="19" y="51"/>
                          </a:lnTo>
                          <a:lnTo>
                            <a:pt x="41" y="80"/>
                          </a:lnTo>
                          <a:lnTo>
                            <a:pt x="59" y="98"/>
                          </a:lnTo>
                          <a:lnTo>
                            <a:pt x="91" y="125"/>
                          </a:lnTo>
                          <a:lnTo>
                            <a:pt x="121" y="150"/>
                          </a:lnTo>
                          <a:lnTo>
                            <a:pt x="121" y="189"/>
                          </a:lnTo>
                          <a:lnTo>
                            <a:pt x="90" y="162"/>
                          </a:lnTo>
                          <a:lnTo>
                            <a:pt x="59" y="138"/>
                          </a:lnTo>
                          <a:lnTo>
                            <a:pt x="39" y="123"/>
                          </a:lnTo>
                          <a:lnTo>
                            <a:pt x="41" y="108"/>
                          </a:lnTo>
                          <a:lnTo>
                            <a:pt x="38" y="88"/>
                          </a:lnTo>
                          <a:lnTo>
                            <a:pt x="23" y="72"/>
                          </a:lnTo>
                          <a:lnTo>
                            <a:pt x="5" y="48"/>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3" name="Freeform 255"/>
                    <p:cNvSpPr/>
                    <p:nvPr/>
                  </p:nvSpPr>
                  <p:spPr bwMode="auto">
                    <a:xfrm>
                      <a:off x="2445" y="3138"/>
                      <a:ext cx="15" cy="17"/>
                    </a:xfrm>
                    <a:custGeom>
                      <a:avLst/>
                      <a:gdLst>
                        <a:gd name="T0" fmla="*/ 9 w 101"/>
                        <a:gd name="T1" fmla="*/ 0 h 133"/>
                        <a:gd name="T2" fmla="*/ 3 w 101"/>
                        <a:gd name="T3" fmla="*/ 12 h 133"/>
                        <a:gd name="T4" fmla="*/ 0 w 101"/>
                        <a:gd name="T5" fmla="*/ 26 h 133"/>
                        <a:gd name="T6" fmla="*/ 20 w 101"/>
                        <a:gd name="T7" fmla="*/ 31 h 133"/>
                        <a:gd name="T8" fmla="*/ 15 w 101"/>
                        <a:gd name="T9" fmla="*/ 64 h 133"/>
                        <a:gd name="T10" fmla="*/ 56 w 101"/>
                        <a:gd name="T11" fmla="*/ 93 h 133"/>
                        <a:gd name="T12" fmla="*/ 101 w 101"/>
                        <a:gd name="T13" fmla="*/ 133 h 133"/>
                        <a:gd name="T14" fmla="*/ 97 w 101"/>
                        <a:gd name="T15" fmla="*/ 89 h 133"/>
                        <a:gd name="T16" fmla="*/ 98 w 101"/>
                        <a:gd name="T17" fmla="*/ 73 h 133"/>
                        <a:gd name="T18" fmla="*/ 59 w 101"/>
                        <a:gd name="T19" fmla="*/ 41 h 133"/>
                        <a:gd name="T20" fmla="*/ 9 w 101"/>
                        <a:gd name="T21" fmla="*/ 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1" h="133">
                          <a:moveTo>
                            <a:pt x="9" y="0"/>
                          </a:moveTo>
                          <a:lnTo>
                            <a:pt x="3" y="12"/>
                          </a:lnTo>
                          <a:lnTo>
                            <a:pt x="0" y="26"/>
                          </a:lnTo>
                          <a:lnTo>
                            <a:pt x="20" y="31"/>
                          </a:lnTo>
                          <a:lnTo>
                            <a:pt x="15" y="64"/>
                          </a:lnTo>
                          <a:lnTo>
                            <a:pt x="56" y="93"/>
                          </a:lnTo>
                          <a:lnTo>
                            <a:pt x="101" y="133"/>
                          </a:lnTo>
                          <a:lnTo>
                            <a:pt x="97" y="89"/>
                          </a:lnTo>
                          <a:lnTo>
                            <a:pt x="98" y="73"/>
                          </a:lnTo>
                          <a:lnTo>
                            <a:pt x="59" y="41"/>
                          </a:lnTo>
                          <a:lnTo>
                            <a:pt x="9" y="0"/>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04" name="Freeform 256"/>
                    <p:cNvSpPr/>
                    <p:nvPr/>
                  </p:nvSpPr>
                  <p:spPr bwMode="auto">
                    <a:xfrm>
                      <a:off x="2443" y="3114"/>
                      <a:ext cx="8" cy="3"/>
                    </a:xfrm>
                    <a:custGeom>
                      <a:avLst/>
                      <a:gdLst>
                        <a:gd name="T0" fmla="*/ 0 w 54"/>
                        <a:gd name="T1" fmla="*/ 5 h 23"/>
                        <a:gd name="T2" fmla="*/ 25 w 54"/>
                        <a:gd name="T3" fmla="*/ 11 h 23"/>
                        <a:gd name="T4" fmla="*/ 40 w 54"/>
                        <a:gd name="T5" fmla="*/ 9 h 23"/>
                        <a:gd name="T6" fmla="*/ 54 w 54"/>
                        <a:gd name="T7" fmla="*/ 0 h 23"/>
                        <a:gd name="T8" fmla="*/ 45 w 54"/>
                        <a:gd name="T9" fmla="*/ 13 h 23"/>
                        <a:gd name="T10" fmla="*/ 36 w 54"/>
                        <a:gd name="T11" fmla="*/ 20 h 23"/>
                        <a:gd name="T12" fmla="*/ 23 w 54"/>
                        <a:gd name="T13" fmla="*/ 23 h 23"/>
                        <a:gd name="T14" fmla="*/ 0 w 54"/>
                        <a:gd name="T15" fmla="*/ 5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23">
                          <a:moveTo>
                            <a:pt x="0" y="5"/>
                          </a:moveTo>
                          <a:lnTo>
                            <a:pt x="25" y="11"/>
                          </a:lnTo>
                          <a:lnTo>
                            <a:pt x="40" y="9"/>
                          </a:lnTo>
                          <a:lnTo>
                            <a:pt x="54" y="0"/>
                          </a:lnTo>
                          <a:lnTo>
                            <a:pt x="45" y="13"/>
                          </a:lnTo>
                          <a:lnTo>
                            <a:pt x="36" y="20"/>
                          </a:lnTo>
                          <a:lnTo>
                            <a:pt x="23" y="23"/>
                          </a:lnTo>
                          <a:lnTo>
                            <a:pt x="0" y="5"/>
                          </a:lnTo>
                          <a:close/>
                        </a:path>
                      </a:pathLst>
                    </a:custGeom>
                    <a:solidFill>
                      <a:srgbClr val="000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nvGrpSpPr>
              <p:cNvPr id="642305" name="Group 257"/>
              <p:cNvGrpSpPr/>
              <p:nvPr/>
            </p:nvGrpSpPr>
            <p:grpSpPr bwMode="auto">
              <a:xfrm>
                <a:off x="2398" y="3018"/>
                <a:ext cx="78" cy="88"/>
                <a:chOff x="2398" y="3018"/>
                <a:chExt cx="78" cy="88"/>
              </a:xfrm>
            </p:grpSpPr>
            <p:grpSp>
              <p:nvGrpSpPr>
                <p:cNvPr id="642306" name="Group 258"/>
                <p:cNvGrpSpPr/>
                <p:nvPr/>
              </p:nvGrpSpPr>
              <p:grpSpPr bwMode="auto">
                <a:xfrm>
                  <a:off x="2405" y="3044"/>
                  <a:ext cx="70" cy="62"/>
                  <a:chOff x="2405" y="3044"/>
                  <a:chExt cx="70" cy="62"/>
                </a:xfrm>
              </p:grpSpPr>
              <p:sp>
                <p:nvSpPr>
                  <p:cNvPr id="642307" name="Freeform 259"/>
                  <p:cNvSpPr/>
                  <p:nvPr/>
                </p:nvSpPr>
                <p:spPr bwMode="auto">
                  <a:xfrm>
                    <a:off x="2405" y="3044"/>
                    <a:ext cx="70" cy="62"/>
                  </a:xfrm>
                  <a:custGeom>
                    <a:avLst/>
                    <a:gdLst>
                      <a:gd name="T0" fmla="*/ 445 w 496"/>
                      <a:gd name="T1" fmla="*/ 18 h 497"/>
                      <a:gd name="T2" fmla="*/ 476 w 496"/>
                      <a:gd name="T3" fmla="*/ 47 h 497"/>
                      <a:gd name="T4" fmla="*/ 482 w 496"/>
                      <a:gd name="T5" fmla="*/ 60 h 497"/>
                      <a:gd name="T6" fmla="*/ 490 w 496"/>
                      <a:gd name="T7" fmla="*/ 88 h 497"/>
                      <a:gd name="T8" fmla="*/ 496 w 496"/>
                      <a:gd name="T9" fmla="*/ 116 h 497"/>
                      <a:gd name="T10" fmla="*/ 494 w 496"/>
                      <a:gd name="T11" fmla="*/ 143 h 497"/>
                      <a:gd name="T12" fmla="*/ 486 w 496"/>
                      <a:gd name="T13" fmla="*/ 156 h 497"/>
                      <a:gd name="T14" fmla="*/ 481 w 496"/>
                      <a:gd name="T15" fmla="*/ 166 h 497"/>
                      <a:gd name="T16" fmla="*/ 483 w 496"/>
                      <a:gd name="T17" fmla="*/ 186 h 497"/>
                      <a:gd name="T18" fmla="*/ 486 w 496"/>
                      <a:gd name="T19" fmla="*/ 199 h 497"/>
                      <a:gd name="T20" fmla="*/ 483 w 496"/>
                      <a:gd name="T21" fmla="*/ 219 h 497"/>
                      <a:gd name="T22" fmla="*/ 478 w 496"/>
                      <a:gd name="T23" fmla="*/ 233 h 497"/>
                      <a:gd name="T24" fmla="*/ 468 w 496"/>
                      <a:gd name="T25" fmla="*/ 247 h 497"/>
                      <a:gd name="T26" fmla="*/ 462 w 496"/>
                      <a:gd name="T27" fmla="*/ 256 h 497"/>
                      <a:gd name="T28" fmla="*/ 462 w 496"/>
                      <a:gd name="T29" fmla="*/ 287 h 497"/>
                      <a:gd name="T30" fmla="*/ 466 w 496"/>
                      <a:gd name="T31" fmla="*/ 308 h 497"/>
                      <a:gd name="T32" fmla="*/ 466 w 496"/>
                      <a:gd name="T33" fmla="*/ 319 h 497"/>
                      <a:gd name="T34" fmla="*/ 448 w 496"/>
                      <a:gd name="T35" fmla="*/ 325 h 497"/>
                      <a:gd name="T36" fmla="*/ 440 w 496"/>
                      <a:gd name="T37" fmla="*/ 328 h 497"/>
                      <a:gd name="T38" fmla="*/ 437 w 496"/>
                      <a:gd name="T39" fmla="*/ 353 h 497"/>
                      <a:gd name="T40" fmla="*/ 437 w 496"/>
                      <a:gd name="T41" fmla="*/ 365 h 497"/>
                      <a:gd name="T42" fmla="*/ 418 w 496"/>
                      <a:gd name="T43" fmla="*/ 377 h 497"/>
                      <a:gd name="T44" fmla="*/ 418 w 496"/>
                      <a:gd name="T45" fmla="*/ 383 h 497"/>
                      <a:gd name="T46" fmla="*/ 422 w 496"/>
                      <a:gd name="T47" fmla="*/ 398 h 497"/>
                      <a:gd name="T48" fmla="*/ 416 w 496"/>
                      <a:gd name="T49" fmla="*/ 410 h 497"/>
                      <a:gd name="T50" fmla="*/ 413 w 496"/>
                      <a:gd name="T51" fmla="*/ 416 h 497"/>
                      <a:gd name="T52" fmla="*/ 411 w 496"/>
                      <a:gd name="T53" fmla="*/ 430 h 497"/>
                      <a:gd name="T54" fmla="*/ 416 w 496"/>
                      <a:gd name="T55" fmla="*/ 446 h 497"/>
                      <a:gd name="T56" fmla="*/ 418 w 496"/>
                      <a:gd name="T57" fmla="*/ 463 h 497"/>
                      <a:gd name="T58" fmla="*/ 416 w 496"/>
                      <a:gd name="T59" fmla="*/ 474 h 497"/>
                      <a:gd name="T60" fmla="*/ 410 w 496"/>
                      <a:gd name="T61" fmla="*/ 483 h 497"/>
                      <a:gd name="T62" fmla="*/ 399 w 496"/>
                      <a:gd name="T63" fmla="*/ 491 h 497"/>
                      <a:gd name="T64" fmla="*/ 382 w 496"/>
                      <a:gd name="T65" fmla="*/ 493 h 497"/>
                      <a:gd name="T66" fmla="*/ 354 w 496"/>
                      <a:gd name="T67" fmla="*/ 494 h 497"/>
                      <a:gd name="T68" fmla="*/ 321 w 496"/>
                      <a:gd name="T69" fmla="*/ 497 h 497"/>
                      <a:gd name="T70" fmla="*/ 295 w 496"/>
                      <a:gd name="T71" fmla="*/ 491 h 497"/>
                      <a:gd name="T72" fmla="*/ 269 w 496"/>
                      <a:gd name="T73" fmla="*/ 490 h 497"/>
                      <a:gd name="T74" fmla="*/ 237 w 496"/>
                      <a:gd name="T75" fmla="*/ 479 h 497"/>
                      <a:gd name="T76" fmla="*/ 193 w 496"/>
                      <a:gd name="T77" fmla="*/ 460 h 497"/>
                      <a:gd name="T78" fmla="*/ 158 w 496"/>
                      <a:gd name="T79" fmla="*/ 442 h 497"/>
                      <a:gd name="T80" fmla="*/ 123 w 496"/>
                      <a:gd name="T81" fmla="*/ 416 h 497"/>
                      <a:gd name="T82" fmla="*/ 92 w 496"/>
                      <a:gd name="T83" fmla="*/ 384 h 497"/>
                      <a:gd name="T84" fmla="*/ 62 w 496"/>
                      <a:gd name="T85" fmla="*/ 347 h 497"/>
                      <a:gd name="T86" fmla="*/ 24 w 496"/>
                      <a:gd name="T87" fmla="*/ 293 h 497"/>
                      <a:gd name="T88" fmla="*/ 20 w 496"/>
                      <a:gd name="T89" fmla="*/ 273 h 497"/>
                      <a:gd name="T90" fmla="*/ 35 w 496"/>
                      <a:gd name="T91" fmla="*/ 245 h 497"/>
                      <a:gd name="T92" fmla="*/ 0 w 496"/>
                      <a:gd name="T93" fmla="*/ 173 h 497"/>
                      <a:gd name="T94" fmla="*/ 32 w 496"/>
                      <a:gd name="T95" fmla="*/ 113 h 497"/>
                      <a:gd name="T96" fmla="*/ 121 w 496"/>
                      <a:gd name="T97" fmla="*/ 137 h 497"/>
                      <a:gd name="T98" fmla="*/ 195 w 496"/>
                      <a:gd name="T99" fmla="*/ 98 h 497"/>
                      <a:gd name="T100" fmla="*/ 197 w 496"/>
                      <a:gd name="T101" fmla="*/ 38 h 497"/>
                      <a:gd name="T102" fmla="*/ 295 w 496"/>
                      <a:gd name="T103" fmla="*/ 0 h 497"/>
                      <a:gd name="T104" fmla="*/ 371 w 496"/>
                      <a:gd name="T105" fmla="*/ 0 h 497"/>
                      <a:gd name="T106" fmla="*/ 445 w 496"/>
                      <a:gd name="T107" fmla="*/ 18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96" h="497">
                        <a:moveTo>
                          <a:pt x="445" y="18"/>
                        </a:moveTo>
                        <a:lnTo>
                          <a:pt x="476" y="47"/>
                        </a:lnTo>
                        <a:lnTo>
                          <a:pt x="482" y="60"/>
                        </a:lnTo>
                        <a:lnTo>
                          <a:pt x="490" y="88"/>
                        </a:lnTo>
                        <a:lnTo>
                          <a:pt x="496" y="116"/>
                        </a:lnTo>
                        <a:lnTo>
                          <a:pt x="494" y="143"/>
                        </a:lnTo>
                        <a:lnTo>
                          <a:pt x="486" y="156"/>
                        </a:lnTo>
                        <a:lnTo>
                          <a:pt x="481" y="166"/>
                        </a:lnTo>
                        <a:lnTo>
                          <a:pt x="483" y="186"/>
                        </a:lnTo>
                        <a:lnTo>
                          <a:pt x="486" y="199"/>
                        </a:lnTo>
                        <a:lnTo>
                          <a:pt x="483" y="219"/>
                        </a:lnTo>
                        <a:lnTo>
                          <a:pt x="478" y="233"/>
                        </a:lnTo>
                        <a:lnTo>
                          <a:pt x="468" y="247"/>
                        </a:lnTo>
                        <a:lnTo>
                          <a:pt x="462" y="256"/>
                        </a:lnTo>
                        <a:lnTo>
                          <a:pt x="462" y="287"/>
                        </a:lnTo>
                        <a:lnTo>
                          <a:pt x="466" y="308"/>
                        </a:lnTo>
                        <a:lnTo>
                          <a:pt x="466" y="319"/>
                        </a:lnTo>
                        <a:lnTo>
                          <a:pt x="448" y="325"/>
                        </a:lnTo>
                        <a:lnTo>
                          <a:pt x="440" y="328"/>
                        </a:lnTo>
                        <a:lnTo>
                          <a:pt x="437" y="353"/>
                        </a:lnTo>
                        <a:lnTo>
                          <a:pt x="437" y="365"/>
                        </a:lnTo>
                        <a:lnTo>
                          <a:pt x="418" y="377"/>
                        </a:lnTo>
                        <a:lnTo>
                          <a:pt x="418" y="383"/>
                        </a:lnTo>
                        <a:lnTo>
                          <a:pt x="422" y="398"/>
                        </a:lnTo>
                        <a:lnTo>
                          <a:pt x="416" y="410"/>
                        </a:lnTo>
                        <a:lnTo>
                          <a:pt x="413" y="416"/>
                        </a:lnTo>
                        <a:lnTo>
                          <a:pt x="411" y="430"/>
                        </a:lnTo>
                        <a:lnTo>
                          <a:pt x="416" y="446"/>
                        </a:lnTo>
                        <a:lnTo>
                          <a:pt x="418" y="463"/>
                        </a:lnTo>
                        <a:lnTo>
                          <a:pt x="416" y="474"/>
                        </a:lnTo>
                        <a:lnTo>
                          <a:pt x="410" y="483"/>
                        </a:lnTo>
                        <a:lnTo>
                          <a:pt x="399" y="491"/>
                        </a:lnTo>
                        <a:lnTo>
                          <a:pt x="382" y="493"/>
                        </a:lnTo>
                        <a:lnTo>
                          <a:pt x="354" y="494"/>
                        </a:lnTo>
                        <a:lnTo>
                          <a:pt x="321" y="497"/>
                        </a:lnTo>
                        <a:lnTo>
                          <a:pt x="295" y="491"/>
                        </a:lnTo>
                        <a:lnTo>
                          <a:pt x="269" y="490"/>
                        </a:lnTo>
                        <a:lnTo>
                          <a:pt x="237" y="479"/>
                        </a:lnTo>
                        <a:lnTo>
                          <a:pt x="193" y="460"/>
                        </a:lnTo>
                        <a:lnTo>
                          <a:pt x="158" y="442"/>
                        </a:lnTo>
                        <a:lnTo>
                          <a:pt x="123" y="416"/>
                        </a:lnTo>
                        <a:lnTo>
                          <a:pt x="92" y="384"/>
                        </a:lnTo>
                        <a:lnTo>
                          <a:pt x="62" y="347"/>
                        </a:lnTo>
                        <a:lnTo>
                          <a:pt x="24" y="293"/>
                        </a:lnTo>
                        <a:lnTo>
                          <a:pt x="20" y="273"/>
                        </a:lnTo>
                        <a:lnTo>
                          <a:pt x="35" y="245"/>
                        </a:lnTo>
                        <a:lnTo>
                          <a:pt x="0" y="173"/>
                        </a:lnTo>
                        <a:lnTo>
                          <a:pt x="32" y="113"/>
                        </a:lnTo>
                        <a:lnTo>
                          <a:pt x="121" y="137"/>
                        </a:lnTo>
                        <a:lnTo>
                          <a:pt x="195" y="98"/>
                        </a:lnTo>
                        <a:lnTo>
                          <a:pt x="197" y="38"/>
                        </a:lnTo>
                        <a:lnTo>
                          <a:pt x="295" y="0"/>
                        </a:lnTo>
                        <a:lnTo>
                          <a:pt x="371" y="0"/>
                        </a:lnTo>
                        <a:lnTo>
                          <a:pt x="445" y="18"/>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308" name="Group 260"/>
                  <p:cNvGrpSpPr/>
                  <p:nvPr/>
                </p:nvGrpSpPr>
                <p:grpSpPr bwMode="auto">
                  <a:xfrm>
                    <a:off x="2416" y="3061"/>
                    <a:ext cx="59" cy="45"/>
                    <a:chOff x="2416" y="3061"/>
                    <a:chExt cx="59" cy="45"/>
                  </a:xfrm>
                </p:grpSpPr>
                <p:grpSp>
                  <p:nvGrpSpPr>
                    <p:cNvPr id="642309" name="Group 261"/>
                    <p:cNvGrpSpPr/>
                    <p:nvPr/>
                  </p:nvGrpSpPr>
                  <p:grpSpPr bwMode="auto">
                    <a:xfrm>
                      <a:off x="2438" y="3061"/>
                      <a:ext cx="37" cy="15"/>
                      <a:chOff x="2438" y="3061"/>
                      <a:chExt cx="37" cy="15"/>
                    </a:xfrm>
                  </p:grpSpPr>
                  <p:grpSp>
                    <p:nvGrpSpPr>
                      <p:cNvPr id="642310" name="Group 262"/>
                      <p:cNvGrpSpPr/>
                      <p:nvPr/>
                    </p:nvGrpSpPr>
                    <p:grpSpPr bwMode="auto">
                      <a:xfrm>
                        <a:off x="2465" y="3061"/>
                        <a:ext cx="10" cy="11"/>
                        <a:chOff x="2465" y="3061"/>
                        <a:chExt cx="10" cy="11"/>
                      </a:xfrm>
                    </p:grpSpPr>
                    <p:sp>
                      <p:nvSpPr>
                        <p:cNvPr id="642311" name="Freeform 263"/>
                        <p:cNvSpPr/>
                        <p:nvPr/>
                      </p:nvSpPr>
                      <p:spPr bwMode="auto">
                        <a:xfrm>
                          <a:off x="2465" y="3061"/>
                          <a:ext cx="10" cy="11"/>
                        </a:xfrm>
                        <a:custGeom>
                          <a:avLst/>
                          <a:gdLst>
                            <a:gd name="T0" fmla="*/ 19 w 69"/>
                            <a:gd name="T1" fmla="*/ 82 h 84"/>
                            <a:gd name="T2" fmla="*/ 6 w 69"/>
                            <a:gd name="T3" fmla="*/ 84 h 84"/>
                            <a:gd name="T4" fmla="*/ 0 w 69"/>
                            <a:gd name="T5" fmla="*/ 70 h 84"/>
                            <a:gd name="T6" fmla="*/ 0 w 69"/>
                            <a:gd name="T7" fmla="*/ 50 h 84"/>
                            <a:gd name="T8" fmla="*/ 6 w 69"/>
                            <a:gd name="T9" fmla="*/ 28 h 84"/>
                            <a:gd name="T10" fmla="*/ 16 w 69"/>
                            <a:gd name="T11" fmla="*/ 12 h 84"/>
                            <a:gd name="T12" fmla="*/ 33 w 69"/>
                            <a:gd name="T13" fmla="*/ 3 h 84"/>
                            <a:gd name="T14" fmla="*/ 51 w 69"/>
                            <a:gd name="T15" fmla="*/ 0 h 84"/>
                            <a:gd name="T16" fmla="*/ 69 w 69"/>
                            <a:gd name="T17" fmla="*/ 4 h 84"/>
                            <a:gd name="T18" fmla="*/ 62 w 69"/>
                            <a:gd name="T19" fmla="*/ 16 h 84"/>
                            <a:gd name="T20" fmla="*/ 54 w 69"/>
                            <a:gd name="T21" fmla="*/ 30 h 84"/>
                            <a:gd name="T22" fmla="*/ 57 w 69"/>
                            <a:gd name="T23" fmla="*/ 52 h 84"/>
                            <a:gd name="T24" fmla="*/ 42 w 69"/>
                            <a:gd name="T25" fmla="*/ 57 h 84"/>
                            <a:gd name="T26" fmla="*/ 27 w 69"/>
                            <a:gd name="T27" fmla="*/ 69 h 84"/>
                            <a:gd name="T28" fmla="*/ 19 w 69"/>
                            <a:gd name="T29" fmla="*/ 8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 h="84">
                              <a:moveTo>
                                <a:pt x="19" y="82"/>
                              </a:moveTo>
                              <a:lnTo>
                                <a:pt x="6" y="84"/>
                              </a:lnTo>
                              <a:lnTo>
                                <a:pt x="0" y="70"/>
                              </a:lnTo>
                              <a:lnTo>
                                <a:pt x="0" y="50"/>
                              </a:lnTo>
                              <a:lnTo>
                                <a:pt x="6" y="28"/>
                              </a:lnTo>
                              <a:lnTo>
                                <a:pt x="16" y="12"/>
                              </a:lnTo>
                              <a:lnTo>
                                <a:pt x="33" y="3"/>
                              </a:lnTo>
                              <a:lnTo>
                                <a:pt x="51" y="0"/>
                              </a:lnTo>
                              <a:lnTo>
                                <a:pt x="69" y="4"/>
                              </a:lnTo>
                              <a:lnTo>
                                <a:pt x="62" y="16"/>
                              </a:lnTo>
                              <a:lnTo>
                                <a:pt x="54" y="30"/>
                              </a:lnTo>
                              <a:lnTo>
                                <a:pt x="57" y="52"/>
                              </a:lnTo>
                              <a:lnTo>
                                <a:pt x="42" y="57"/>
                              </a:lnTo>
                              <a:lnTo>
                                <a:pt x="27" y="69"/>
                              </a:lnTo>
                              <a:lnTo>
                                <a:pt x="19" y="82"/>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2" name="Freeform 264"/>
                        <p:cNvSpPr/>
                        <p:nvPr/>
                      </p:nvSpPr>
                      <p:spPr bwMode="auto">
                        <a:xfrm>
                          <a:off x="2466" y="3067"/>
                          <a:ext cx="9" cy="4"/>
                        </a:xfrm>
                        <a:custGeom>
                          <a:avLst/>
                          <a:gdLst>
                            <a:gd name="T0" fmla="*/ 0 w 61"/>
                            <a:gd name="T1" fmla="*/ 4 h 30"/>
                            <a:gd name="T2" fmla="*/ 17 w 61"/>
                            <a:gd name="T3" fmla="*/ 11 h 30"/>
                            <a:gd name="T4" fmla="*/ 34 w 61"/>
                            <a:gd name="T5" fmla="*/ 18 h 30"/>
                            <a:gd name="T6" fmla="*/ 47 w 61"/>
                            <a:gd name="T7" fmla="*/ 22 h 30"/>
                            <a:gd name="T8" fmla="*/ 61 w 61"/>
                            <a:gd name="T9" fmla="*/ 30 h 30"/>
                            <a:gd name="T10" fmla="*/ 54 w 61"/>
                            <a:gd name="T11" fmla="*/ 13 h 30"/>
                            <a:gd name="T12" fmla="*/ 52 w 61"/>
                            <a:gd name="T13" fmla="*/ 0 h 30"/>
                            <a:gd name="T14" fmla="*/ 44 w 61"/>
                            <a:gd name="T15" fmla="*/ 4 h 30"/>
                            <a:gd name="T16" fmla="*/ 32 w 61"/>
                            <a:gd name="T17" fmla="*/ 9 h 30"/>
                            <a:gd name="T18" fmla="*/ 21 w 61"/>
                            <a:gd name="T19" fmla="*/ 8 h 30"/>
                            <a:gd name="T20" fmla="*/ 0 w 61"/>
                            <a:gd name="T21" fmla="*/ 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30">
                              <a:moveTo>
                                <a:pt x="0" y="4"/>
                              </a:moveTo>
                              <a:lnTo>
                                <a:pt x="17" y="11"/>
                              </a:lnTo>
                              <a:lnTo>
                                <a:pt x="34" y="18"/>
                              </a:lnTo>
                              <a:lnTo>
                                <a:pt x="47" y="22"/>
                              </a:lnTo>
                              <a:lnTo>
                                <a:pt x="61" y="30"/>
                              </a:lnTo>
                              <a:lnTo>
                                <a:pt x="54" y="13"/>
                              </a:lnTo>
                              <a:lnTo>
                                <a:pt x="52" y="0"/>
                              </a:lnTo>
                              <a:lnTo>
                                <a:pt x="44" y="4"/>
                              </a:lnTo>
                              <a:lnTo>
                                <a:pt x="32" y="9"/>
                              </a:lnTo>
                              <a:lnTo>
                                <a:pt x="21" y="8"/>
                              </a:lnTo>
                              <a:lnTo>
                                <a:pt x="0" y="4"/>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3" name="Freeform 265"/>
                        <p:cNvSpPr/>
                        <p:nvPr/>
                      </p:nvSpPr>
                      <p:spPr bwMode="auto">
                        <a:xfrm>
                          <a:off x="2466" y="3061"/>
                          <a:ext cx="9" cy="5"/>
                        </a:xfrm>
                        <a:custGeom>
                          <a:avLst/>
                          <a:gdLst>
                            <a:gd name="T0" fmla="*/ 67 w 67"/>
                            <a:gd name="T1" fmla="*/ 4 h 36"/>
                            <a:gd name="T2" fmla="*/ 53 w 67"/>
                            <a:gd name="T3" fmla="*/ 0 h 36"/>
                            <a:gd name="T4" fmla="*/ 41 w 67"/>
                            <a:gd name="T5" fmla="*/ 0 h 36"/>
                            <a:gd name="T6" fmla="*/ 24 w 67"/>
                            <a:gd name="T7" fmla="*/ 5 h 36"/>
                            <a:gd name="T8" fmla="*/ 13 w 67"/>
                            <a:gd name="T9" fmla="*/ 13 h 36"/>
                            <a:gd name="T10" fmla="*/ 5 w 67"/>
                            <a:gd name="T11" fmla="*/ 24 h 36"/>
                            <a:gd name="T12" fmla="*/ 0 w 67"/>
                            <a:gd name="T13" fmla="*/ 36 h 36"/>
                            <a:gd name="T14" fmla="*/ 10 w 67"/>
                            <a:gd name="T15" fmla="*/ 26 h 36"/>
                            <a:gd name="T16" fmla="*/ 22 w 67"/>
                            <a:gd name="T17" fmla="*/ 17 h 36"/>
                            <a:gd name="T18" fmla="*/ 38 w 67"/>
                            <a:gd name="T19" fmla="*/ 13 h 36"/>
                            <a:gd name="T20" fmla="*/ 49 w 67"/>
                            <a:gd name="T21" fmla="*/ 14 h 36"/>
                            <a:gd name="T22" fmla="*/ 60 w 67"/>
                            <a:gd name="T23" fmla="*/ 20 h 36"/>
                            <a:gd name="T24" fmla="*/ 62 w 67"/>
                            <a:gd name="T25" fmla="*/ 12 h 36"/>
                            <a:gd name="T26" fmla="*/ 67 w 67"/>
                            <a:gd name="T27" fmla="*/ 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 h="36">
                              <a:moveTo>
                                <a:pt x="67" y="4"/>
                              </a:moveTo>
                              <a:lnTo>
                                <a:pt x="53" y="0"/>
                              </a:lnTo>
                              <a:lnTo>
                                <a:pt x="41" y="0"/>
                              </a:lnTo>
                              <a:lnTo>
                                <a:pt x="24" y="5"/>
                              </a:lnTo>
                              <a:lnTo>
                                <a:pt x="13" y="13"/>
                              </a:lnTo>
                              <a:lnTo>
                                <a:pt x="5" y="24"/>
                              </a:lnTo>
                              <a:lnTo>
                                <a:pt x="0" y="36"/>
                              </a:lnTo>
                              <a:lnTo>
                                <a:pt x="10" y="26"/>
                              </a:lnTo>
                              <a:lnTo>
                                <a:pt x="22" y="17"/>
                              </a:lnTo>
                              <a:lnTo>
                                <a:pt x="38" y="13"/>
                              </a:lnTo>
                              <a:lnTo>
                                <a:pt x="49" y="14"/>
                              </a:lnTo>
                              <a:lnTo>
                                <a:pt x="60" y="20"/>
                              </a:lnTo>
                              <a:lnTo>
                                <a:pt x="62" y="12"/>
                              </a:lnTo>
                              <a:lnTo>
                                <a:pt x="67" y="4"/>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14" name="Group 266"/>
                      <p:cNvGrpSpPr/>
                      <p:nvPr/>
                    </p:nvGrpSpPr>
                    <p:grpSpPr bwMode="auto">
                      <a:xfrm>
                        <a:off x="2438" y="3062"/>
                        <a:ext cx="26" cy="14"/>
                        <a:chOff x="2438" y="3062"/>
                        <a:chExt cx="26" cy="14"/>
                      </a:xfrm>
                    </p:grpSpPr>
                    <p:sp>
                      <p:nvSpPr>
                        <p:cNvPr id="642315" name="Freeform 267"/>
                        <p:cNvSpPr/>
                        <p:nvPr/>
                      </p:nvSpPr>
                      <p:spPr bwMode="auto">
                        <a:xfrm>
                          <a:off x="2438" y="3062"/>
                          <a:ext cx="26" cy="14"/>
                        </a:xfrm>
                        <a:custGeom>
                          <a:avLst/>
                          <a:gdLst>
                            <a:gd name="T0" fmla="*/ 0 w 179"/>
                            <a:gd name="T1" fmla="*/ 61 h 114"/>
                            <a:gd name="T2" fmla="*/ 20 w 179"/>
                            <a:gd name="T3" fmla="*/ 38 h 114"/>
                            <a:gd name="T4" fmla="*/ 37 w 179"/>
                            <a:gd name="T5" fmla="*/ 23 h 114"/>
                            <a:gd name="T6" fmla="*/ 53 w 179"/>
                            <a:gd name="T7" fmla="*/ 12 h 114"/>
                            <a:gd name="T8" fmla="*/ 73 w 179"/>
                            <a:gd name="T9" fmla="*/ 3 h 114"/>
                            <a:gd name="T10" fmla="*/ 93 w 179"/>
                            <a:gd name="T11" fmla="*/ 0 h 114"/>
                            <a:gd name="T12" fmla="*/ 114 w 179"/>
                            <a:gd name="T13" fmla="*/ 0 h 114"/>
                            <a:gd name="T14" fmla="*/ 133 w 179"/>
                            <a:gd name="T15" fmla="*/ 3 h 114"/>
                            <a:gd name="T16" fmla="*/ 153 w 179"/>
                            <a:gd name="T17" fmla="*/ 10 h 114"/>
                            <a:gd name="T18" fmla="*/ 164 w 179"/>
                            <a:gd name="T19" fmla="*/ 14 h 114"/>
                            <a:gd name="T20" fmla="*/ 179 w 179"/>
                            <a:gd name="T21" fmla="*/ 8 h 114"/>
                            <a:gd name="T22" fmla="*/ 175 w 179"/>
                            <a:gd name="T23" fmla="*/ 23 h 114"/>
                            <a:gd name="T24" fmla="*/ 174 w 179"/>
                            <a:gd name="T25" fmla="*/ 37 h 114"/>
                            <a:gd name="T26" fmla="*/ 176 w 179"/>
                            <a:gd name="T27" fmla="*/ 56 h 114"/>
                            <a:gd name="T28" fmla="*/ 178 w 179"/>
                            <a:gd name="T29" fmla="*/ 75 h 114"/>
                            <a:gd name="T30" fmla="*/ 175 w 179"/>
                            <a:gd name="T31" fmla="*/ 94 h 114"/>
                            <a:gd name="T32" fmla="*/ 167 w 179"/>
                            <a:gd name="T33" fmla="*/ 104 h 114"/>
                            <a:gd name="T34" fmla="*/ 156 w 179"/>
                            <a:gd name="T35" fmla="*/ 114 h 114"/>
                            <a:gd name="T36" fmla="*/ 160 w 179"/>
                            <a:gd name="T37" fmla="*/ 96 h 114"/>
                            <a:gd name="T38" fmla="*/ 162 w 179"/>
                            <a:gd name="T39" fmla="*/ 81 h 114"/>
                            <a:gd name="T40" fmla="*/ 158 w 179"/>
                            <a:gd name="T41" fmla="*/ 70 h 114"/>
                            <a:gd name="T42" fmla="*/ 151 w 179"/>
                            <a:gd name="T43" fmla="*/ 62 h 114"/>
                            <a:gd name="T44" fmla="*/ 137 w 179"/>
                            <a:gd name="T45" fmla="*/ 76 h 114"/>
                            <a:gd name="T46" fmla="*/ 123 w 179"/>
                            <a:gd name="T47" fmla="*/ 83 h 114"/>
                            <a:gd name="T48" fmla="*/ 107 w 179"/>
                            <a:gd name="T49" fmla="*/ 86 h 114"/>
                            <a:gd name="T50" fmla="*/ 88 w 179"/>
                            <a:gd name="T51" fmla="*/ 85 h 114"/>
                            <a:gd name="T52" fmla="*/ 71 w 179"/>
                            <a:gd name="T53" fmla="*/ 76 h 114"/>
                            <a:gd name="T54" fmla="*/ 55 w 179"/>
                            <a:gd name="T55" fmla="*/ 62 h 114"/>
                            <a:gd name="T56" fmla="*/ 43 w 179"/>
                            <a:gd name="T57" fmla="*/ 55 h 114"/>
                            <a:gd name="T58" fmla="*/ 0 w 179"/>
                            <a:gd name="T59" fmla="*/ 61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79" h="114">
                              <a:moveTo>
                                <a:pt x="0" y="61"/>
                              </a:moveTo>
                              <a:lnTo>
                                <a:pt x="20" y="38"/>
                              </a:lnTo>
                              <a:lnTo>
                                <a:pt x="37" y="23"/>
                              </a:lnTo>
                              <a:lnTo>
                                <a:pt x="53" y="12"/>
                              </a:lnTo>
                              <a:lnTo>
                                <a:pt x="73" y="3"/>
                              </a:lnTo>
                              <a:lnTo>
                                <a:pt x="93" y="0"/>
                              </a:lnTo>
                              <a:lnTo>
                                <a:pt x="114" y="0"/>
                              </a:lnTo>
                              <a:lnTo>
                                <a:pt x="133" y="3"/>
                              </a:lnTo>
                              <a:lnTo>
                                <a:pt x="153" y="10"/>
                              </a:lnTo>
                              <a:lnTo>
                                <a:pt x="164" y="14"/>
                              </a:lnTo>
                              <a:lnTo>
                                <a:pt x="179" y="8"/>
                              </a:lnTo>
                              <a:lnTo>
                                <a:pt x="175" y="23"/>
                              </a:lnTo>
                              <a:lnTo>
                                <a:pt x="174" y="37"/>
                              </a:lnTo>
                              <a:lnTo>
                                <a:pt x="176" y="56"/>
                              </a:lnTo>
                              <a:lnTo>
                                <a:pt x="178" y="75"/>
                              </a:lnTo>
                              <a:lnTo>
                                <a:pt x="175" y="94"/>
                              </a:lnTo>
                              <a:lnTo>
                                <a:pt x="167" y="104"/>
                              </a:lnTo>
                              <a:lnTo>
                                <a:pt x="156" y="114"/>
                              </a:lnTo>
                              <a:lnTo>
                                <a:pt x="160" y="96"/>
                              </a:lnTo>
                              <a:lnTo>
                                <a:pt x="162" y="81"/>
                              </a:lnTo>
                              <a:lnTo>
                                <a:pt x="158" y="70"/>
                              </a:lnTo>
                              <a:lnTo>
                                <a:pt x="151" y="62"/>
                              </a:lnTo>
                              <a:lnTo>
                                <a:pt x="137" y="76"/>
                              </a:lnTo>
                              <a:lnTo>
                                <a:pt x="123" y="83"/>
                              </a:lnTo>
                              <a:lnTo>
                                <a:pt x="107" y="86"/>
                              </a:lnTo>
                              <a:lnTo>
                                <a:pt x="88" y="85"/>
                              </a:lnTo>
                              <a:lnTo>
                                <a:pt x="71" y="76"/>
                              </a:lnTo>
                              <a:lnTo>
                                <a:pt x="55" y="62"/>
                              </a:lnTo>
                              <a:lnTo>
                                <a:pt x="43" y="55"/>
                              </a:lnTo>
                              <a:lnTo>
                                <a:pt x="0" y="61"/>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6" name="Freeform 268"/>
                        <p:cNvSpPr/>
                        <p:nvPr/>
                      </p:nvSpPr>
                      <p:spPr bwMode="auto">
                        <a:xfrm>
                          <a:off x="2445" y="3067"/>
                          <a:ext cx="13" cy="6"/>
                        </a:xfrm>
                        <a:custGeom>
                          <a:avLst/>
                          <a:gdLst>
                            <a:gd name="T0" fmla="*/ 0 w 93"/>
                            <a:gd name="T1" fmla="*/ 0 h 43"/>
                            <a:gd name="T2" fmla="*/ 14 w 93"/>
                            <a:gd name="T3" fmla="*/ 12 h 43"/>
                            <a:gd name="T4" fmla="*/ 28 w 93"/>
                            <a:gd name="T5" fmla="*/ 20 h 43"/>
                            <a:gd name="T6" fmla="*/ 46 w 93"/>
                            <a:gd name="T7" fmla="*/ 23 h 43"/>
                            <a:gd name="T8" fmla="*/ 57 w 93"/>
                            <a:gd name="T9" fmla="*/ 23 h 43"/>
                            <a:gd name="T10" fmla="*/ 68 w 93"/>
                            <a:gd name="T11" fmla="*/ 20 h 43"/>
                            <a:gd name="T12" fmla="*/ 85 w 93"/>
                            <a:gd name="T13" fmla="*/ 8 h 43"/>
                            <a:gd name="T14" fmla="*/ 74 w 93"/>
                            <a:gd name="T15" fmla="*/ 21 h 43"/>
                            <a:gd name="T16" fmla="*/ 93 w 93"/>
                            <a:gd name="T17" fmla="*/ 32 h 43"/>
                            <a:gd name="T18" fmla="*/ 75 w 93"/>
                            <a:gd name="T19" fmla="*/ 38 h 43"/>
                            <a:gd name="T20" fmla="*/ 61 w 93"/>
                            <a:gd name="T21" fmla="*/ 43 h 43"/>
                            <a:gd name="T22" fmla="*/ 41 w 93"/>
                            <a:gd name="T23" fmla="*/ 42 h 43"/>
                            <a:gd name="T24" fmla="*/ 26 w 93"/>
                            <a:gd name="T25" fmla="*/ 34 h 43"/>
                            <a:gd name="T26" fmla="*/ 12 w 93"/>
                            <a:gd name="T27" fmla="*/ 20 h 43"/>
                            <a:gd name="T28" fmla="*/ 0 w 93"/>
                            <a:gd name="T29"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3" h="43">
                              <a:moveTo>
                                <a:pt x="0" y="0"/>
                              </a:moveTo>
                              <a:lnTo>
                                <a:pt x="14" y="12"/>
                              </a:lnTo>
                              <a:lnTo>
                                <a:pt x="28" y="20"/>
                              </a:lnTo>
                              <a:lnTo>
                                <a:pt x="46" y="23"/>
                              </a:lnTo>
                              <a:lnTo>
                                <a:pt x="57" y="23"/>
                              </a:lnTo>
                              <a:lnTo>
                                <a:pt x="68" y="20"/>
                              </a:lnTo>
                              <a:lnTo>
                                <a:pt x="85" y="8"/>
                              </a:lnTo>
                              <a:lnTo>
                                <a:pt x="74" y="21"/>
                              </a:lnTo>
                              <a:lnTo>
                                <a:pt x="93" y="32"/>
                              </a:lnTo>
                              <a:lnTo>
                                <a:pt x="75" y="38"/>
                              </a:lnTo>
                              <a:lnTo>
                                <a:pt x="61" y="43"/>
                              </a:lnTo>
                              <a:lnTo>
                                <a:pt x="41" y="42"/>
                              </a:lnTo>
                              <a:lnTo>
                                <a:pt x="26" y="34"/>
                              </a:lnTo>
                              <a:lnTo>
                                <a:pt x="12" y="20"/>
                              </a:lnTo>
                              <a:lnTo>
                                <a:pt x="0" y="0"/>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17" name="Freeform 269"/>
                        <p:cNvSpPr/>
                        <p:nvPr/>
                      </p:nvSpPr>
                      <p:spPr bwMode="auto">
                        <a:xfrm>
                          <a:off x="2441" y="3062"/>
                          <a:ext cx="22" cy="6"/>
                        </a:xfrm>
                        <a:custGeom>
                          <a:avLst/>
                          <a:gdLst>
                            <a:gd name="T0" fmla="*/ 0 w 158"/>
                            <a:gd name="T1" fmla="*/ 47 h 48"/>
                            <a:gd name="T2" fmla="*/ 13 w 158"/>
                            <a:gd name="T3" fmla="*/ 31 h 48"/>
                            <a:gd name="T4" fmla="*/ 18 w 158"/>
                            <a:gd name="T5" fmla="*/ 24 h 48"/>
                            <a:gd name="T6" fmla="*/ 26 w 158"/>
                            <a:gd name="T7" fmla="*/ 19 h 48"/>
                            <a:gd name="T8" fmla="*/ 33 w 158"/>
                            <a:gd name="T9" fmla="*/ 12 h 48"/>
                            <a:gd name="T10" fmla="*/ 42 w 158"/>
                            <a:gd name="T11" fmla="*/ 8 h 48"/>
                            <a:gd name="T12" fmla="*/ 51 w 158"/>
                            <a:gd name="T13" fmla="*/ 5 h 48"/>
                            <a:gd name="T14" fmla="*/ 64 w 158"/>
                            <a:gd name="T15" fmla="*/ 1 h 48"/>
                            <a:gd name="T16" fmla="*/ 77 w 158"/>
                            <a:gd name="T17" fmla="*/ 0 h 48"/>
                            <a:gd name="T18" fmla="*/ 93 w 158"/>
                            <a:gd name="T19" fmla="*/ 1 h 48"/>
                            <a:gd name="T20" fmla="*/ 106 w 158"/>
                            <a:gd name="T21" fmla="*/ 5 h 48"/>
                            <a:gd name="T22" fmla="*/ 119 w 158"/>
                            <a:gd name="T23" fmla="*/ 8 h 48"/>
                            <a:gd name="T24" fmla="*/ 136 w 158"/>
                            <a:gd name="T25" fmla="*/ 13 h 48"/>
                            <a:gd name="T26" fmla="*/ 145 w 158"/>
                            <a:gd name="T27" fmla="*/ 12 h 48"/>
                            <a:gd name="T28" fmla="*/ 154 w 158"/>
                            <a:gd name="T29" fmla="*/ 11 h 48"/>
                            <a:gd name="T30" fmla="*/ 157 w 158"/>
                            <a:gd name="T31" fmla="*/ 16 h 48"/>
                            <a:gd name="T32" fmla="*/ 158 w 158"/>
                            <a:gd name="T33" fmla="*/ 22 h 48"/>
                            <a:gd name="T34" fmla="*/ 156 w 158"/>
                            <a:gd name="T35" fmla="*/ 31 h 48"/>
                            <a:gd name="T36" fmla="*/ 152 w 158"/>
                            <a:gd name="T37" fmla="*/ 37 h 48"/>
                            <a:gd name="T38" fmla="*/ 145 w 158"/>
                            <a:gd name="T39" fmla="*/ 35 h 48"/>
                            <a:gd name="T40" fmla="*/ 135 w 158"/>
                            <a:gd name="T41" fmla="*/ 36 h 48"/>
                            <a:gd name="T42" fmla="*/ 125 w 158"/>
                            <a:gd name="T43" fmla="*/ 32 h 48"/>
                            <a:gd name="T44" fmla="*/ 116 w 158"/>
                            <a:gd name="T45" fmla="*/ 30 h 48"/>
                            <a:gd name="T46" fmla="*/ 106 w 158"/>
                            <a:gd name="T47" fmla="*/ 30 h 48"/>
                            <a:gd name="T48" fmla="*/ 100 w 158"/>
                            <a:gd name="T49" fmla="*/ 26 h 48"/>
                            <a:gd name="T50" fmla="*/ 93 w 158"/>
                            <a:gd name="T51" fmla="*/ 24 h 48"/>
                            <a:gd name="T52" fmla="*/ 84 w 158"/>
                            <a:gd name="T53" fmla="*/ 22 h 48"/>
                            <a:gd name="T54" fmla="*/ 74 w 158"/>
                            <a:gd name="T55" fmla="*/ 22 h 48"/>
                            <a:gd name="T56" fmla="*/ 64 w 158"/>
                            <a:gd name="T57" fmla="*/ 24 h 48"/>
                            <a:gd name="T58" fmla="*/ 55 w 158"/>
                            <a:gd name="T59" fmla="*/ 23 h 48"/>
                            <a:gd name="T60" fmla="*/ 44 w 158"/>
                            <a:gd name="T61" fmla="*/ 22 h 48"/>
                            <a:gd name="T62" fmla="*/ 34 w 158"/>
                            <a:gd name="T63" fmla="*/ 26 h 48"/>
                            <a:gd name="T64" fmla="*/ 23 w 158"/>
                            <a:gd name="T65" fmla="*/ 32 h 48"/>
                            <a:gd name="T66" fmla="*/ 14 w 158"/>
                            <a:gd name="T67" fmla="*/ 39 h 48"/>
                            <a:gd name="T68" fmla="*/ 9 w 158"/>
                            <a:gd name="T69" fmla="*/ 48 h 48"/>
                            <a:gd name="T70" fmla="*/ 0 w 158"/>
                            <a:gd name="T71" fmla="*/ 4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8" h="48">
                              <a:moveTo>
                                <a:pt x="0" y="47"/>
                              </a:moveTo>
                              <a:lnTo>
                                <a:pt x="13" y="31"/>
                              </a:lnTo>
                              <a:lnTo>
                                <a:pt x="18" y="24"/>
                              </a:lnTo>
                              <a:lnTo>
                                <a:pt x="26" y="19"/>
                              </a:lnTo>
                              <a:lnTo>
                                <a:pt x="33" y="12"/>
                              </a:lnTo>
                              <a:lnTo>
                                <a:pt x="42" y="8"/>
                              </a:lnTo>
                              <a:lnTo>
                                <a:pt x="51" y="5"/>
                              </a:lnTo>
                              <a:lnTo>
                                <a:pt x="64" y="1"/>
                              </a:lnTo>
                              <a:lnTo>
                                <a:pt x="77" y="0"/>
                              </a:lnTo>
                              <a:lnTo>
                                <a:pt x="93" y="1"/>
                              </a:lnTo>
                              <a:lnTo>
                                <a:pt x="106" y="5"/>
                              </a:lnTo>
                              <a:lnTo>
                                <a:pt x="119" y="8"/>
                              </a:lnTo>
                              <a:lnTo>
                                <a:pt x="136" y="13"/>
                              </a:lnTo>
                              <a:lnTo>
                                <a:pt x="145" y="12"/>
                              </a:lnTo>
                              <a:lnTo>
                                <a:pt x="154" y="11"/>
                              </a:lnTo>
                              <a:lnTo>
                                <a:pt x="157" y="16"/>
                              </a:lnTo>
                              <a:lnTo>
                                <a:pt x="158" y="22"/>
                              </a:lnTo>
                              <a:lnTo>
                                <a:pt x="156" y="31"/>
                              </a:lnTo>
                              <a:lnTo>
                                <a:pt x="152" y="37"/>
                              </a:lnTo>
                              <a:lnTo>
                                <a:pt x="145" y="35"/>
                              </a:lnTo>
                              <a:lnTo>
                                <a:pt x="135" y="36"/>
                              </a:lnTo>
                              <a:lnTo>
                                <a:pt x="125" y="32"/>
                              </a:lnTo>
                              <a:lnTo>
                                <a:pt x="116" y="30"/>
                              </a:lnTo>
                              <a:lnTo>
                                <a:pt x="106" y="30"/>
                              </a:lnTo>
                              <a:lnTo>
                                <a:pt x="100" y="26"/>
                              </a:lnTo>
                              <a:lnTo>
                                <a:pt x="93" y="24"/>
                              </a:lnTo>
                              <a:lnTo>
                                <a:pt x="84" y="22"/>
                              </a:lnTo>
                              <a:lnTo>
                                <a:pt x="74" y="22"/>
                              </a:lnTo>
                              <a:lnTo>
                                <a:pt x="64" y="24"/>
                              </a:lnTo>
                              <a:lnTo>
                                <a:pt x="55" y="23"/>
                              </a:lnTo>
                              <a:lnTo>
                                <a:pt x="44" y="22"/>
                              </a:lnTo>
                              <a:lnTo>
                                <a:pt x="34" y="26"/>
                              </a:lnTo>
                              <a:lnTo>
                                <a:pt x="23" y="32"/>
                              </a:lnTo>
                              <a:lnTo>
                                <a:pt x="14" y="39"/>
                              </a:lnTo>
                              <a:lnTo>
                                <a:pt x="9" y="48"/>
                              </a:lnTo>
                              <a:lnTo>
                                <a:pt x="0" y="47"/>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318" name="Group 270"/>
                    <p:cNvGrpSpPr/>
                    <p:nvPr/>
                  </p:nvGrpSpPr>
                  <p:grpSpPr bwMode="auto">
                    <a:xfrm>
                      <a:off x="2416" y="3070"/>
                      <a:ext cx="56" cy="36"/>
                      <a:chOff x="2416" y="3070"/>
                      <a:chExt cx="56" cy="36"/>
                    </a:xfrm>
                  </p:grpSpPr>
                  <p:grpSp>
                    <p:nvGrpSpPr>
                      <p:cNvPr id="642319" name="Group 271"/>
                      <p:cNvGrpSpPr/>
                      <p:nvPr/>
                    </p:nvGrpSpPr>
                    <p:grpSpPr bwMode="auto">
                      <a:xfrm>
                        <a:off x="2457" y="3070"/>
                        <a:ext cx="15" cy="20"/>
                        <a:chOff x="2457" y="3070"/>
                        <a:chExt cx="15" cy="20"/>
                      </a:xfrm>
                    </p:grpSpPr>
                    <p:sp>
                      <p:nvSpPr>
                        <p:cNvPr id="642320" name="Freeform 272"/>
                        <p:cNvSpPr/>
                        <p:nvPr/>
                      </p:nvSpPr>
                      <p:spPr bwMode="auto">
                        <a:xfrm>
                          <a:off x="2457" y="3073"/>
                          <a:ext cx="9" cy="14"/>
                        </a:xfrm>
                        <a:custGeom>
                          <a:avLst/>
                          <a:gdLst>
                            <a:gd name="T0" fmla="*/ 29 w 66"/>
                            <a:gd name="T1" fmla="*/ 0 h 109"/>
                            <a:gd name="T2" fmla="*/ 19 w 66"/>
                            <a:gd name="T3" fmla="*/ 24 h 109"/>
                            <a:gd name="T4" fmla="*/ 13 w 66"/>
                            <a:gd name="T5" fmla="*/ 46 h 109"/>
                            <a:gd name="T6" fmla="*/ 23 w 66"/>
                            <a:gd name="T7" fmla="*/ 38 h 109"/>
                            <a:gd name="T8" fmla="*/ 34 w 66"/>
                            <a:gd name="T9" fmla="*/ 34 h 109"/>
                            <a:gd name="T10" fmla="*/ 43 w 66"/>
                            <a:gd name="T11" fmla="*/ 37 h 109"/>
                            <a:gd name="T12" fmla="*/ 50 w 66"/>
                            <a:gd name="T13" fmla="*/ 45 h 109"/>
                            <a:gd name="T14" fmla="*/ 51 w 66"/>
                            <a:gd name="T15" fmla="*/ 55 h 109"/>
                            <a:gd name="T16" fmla="*/ 44 w 66"/>
                            <a:gd name="T17" fmla="*/ 51 h 109"/>
                            <a:gd name="T18" fmla="*/ 35 w 66"/>
                            <a:gd name="T19" fmla="*/ 47 h 109"/>
                            <a:gd name="T20" fmla="*/ 23 w 66"/>
                            <a:gd name="T21" fmla="*/ 46 h 109"/>
                            <a:gd name="T22" fmla="*/ 14 w 66"/>
                            <a:gd name="T23" fmla="*/ 50 h 109"/>
                            <a:gd name="T24" fmla="*/ 9 w 66"/>
                            <a:gd name="T25" fmla="*/ 61 h 109"/>
                            <a:gd name="T26" fmla="*/ 10 w 66"/>
                            <a:gd name="T27" fmla="*/ 74 h 109"/>
                            <a:gd name="T28" fmla="*/ 17 w 66"/>
                            <a:gd name="T29" fmla="*/ 82 h 109"/>
                            <a:gd name="T30" fmla="*/ 31 w 66"/>
                            <a:gd name="T31" fmla="*/ 83 h 109"/>
                            <a:gd name="T32" fmla="*/ 47 w 66"/>
                            <a:gd name="T33" fmla="*/ 85 h 109"/>
                            <a:gd name="T34" fmla="*/ 58 w 66"/>
                            <a:gd name="T35" fmla="*/ 90 h 109"/>
                            <a:gd name="T36" fmla="*/ 66 w 66"/>
                            <a:gd name="T37" fmla="*/ 100 h 109"/>
                            <a:gd name="T38" fmla="*/ 60 w 66"/>
                            <a:gd name="T39" fmla="*/ 108 h 109"/>
                            <a:gd name="T40" fmla="*/ 44 w 66"/>
                            <a:gd name="T41" fmla="*/ 109 h 109"/>
                            <a:gd name="T42" fmla="*/ 29 w 66"/>
                            <a:gd name="T43" fmla="*/ 105 h 109"/>
                            <a:gd name="T44" fmla="*/ 13 w 66"/>
                            <a:gd name="T45" fmla="*/ 94 h 109"/>
                            <a:gd name="T46" fmla="*/ 3 w 66"/>
                            <a:gd name="T47" fmla="*/ 85 h 109"/>
                            <a:gd name="T48" fmla="*/ 0 w 66"/>
                            <a:gd name="T49" fmla="*/ 70 h 109"/>
                            <a:gd name="T50" fmla="*/ 1 w 66"/>
                            <a:gd name="T51" fmla="*/ 59 h 109"/>
                            <a:gd name="T52" fmla="*/ 7 w 66"/>
                            <a:gd name="T53" fmla="*/ 44 h 109"/>
                            <a:gd name="T54" fmla="*/ 29 w 66"/>
                            <a:gd name="T55" fmla="*/ 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6" h="109">
                              <a:moveTo>
                                <a:pt x="29" y="0"/>
                              </a:moveTo>
                              <a:lnTo>
                                <a:pt x="19" y="24"/>
                              </a:lnTo>
                              <a:lnTo>
                                <a:pt x="13" y="46"/>
                              </a:lnTo>
                              <a:lnTo>
                                <a:pt x="23" y="38"/>
                              </a:lnTo>
                              <a:lnTo>
                                <a:pt x="34" y="34"/>
                              </a:lnTo>
                              <a:lnTo>
                                <a:pt x="43" y="37"/>
                              </a:lnTo>
                              <a:lnTo>
                                <a:pt x="50" y="45"/>
                              </a:lnTo>
                              <a:lnTo>
                                <a:pt x="51" y="55"/>
                              </a:lnTo>
                              <a:lnTo>
                                <a:pt x="44" y="51"/>
                              </a:lnTo>
                              <a:lnTo>
                                <a:pt x="35" y="47"/>
                              </a:lnTo>
                              <a:lnTo>
                                <a:pt x="23" y="46"/>
                              </a:lnTo>
                              <a:lnTo>
                                <a:pt x="14" y="50"/>
                              </a:lnTo>
                              <a:lnTo>
                                <a:pt x="9" y="61"/>
                              </a:lnTo>
                              <a:lnTo>
                                <a:pt x="10" y="74"/>
                              </a:lnTo>
                              <a:lnTo>
                                <a:pt x="17" y="82"/>
                              </a:lnTo>
                              <a:lnTo>
                                <a:pt x="31" y="83"/>
                              </a:lnTo>
                              <a:lnTo>
                                <a:pt x="47" y="85"/>
                              </a:lnTo>
                              <a:lnTo>
                                <a:pt x="58" y="90"/>
                              </a:lnTo>
                              <a:lnTo>
                                <a:pt x="66" y="100"/>
                              </a:lnTo>
                              <a:lnTo>
                                <a:pt x="60" y="108"/>
                              </a:lnTo>
                              <a:lnTo>
                                <a:pt x="44" y="109"/>
                              </a:lnTo>
                              <a:lnTo>
                                <a:pt x="29" y="105"/>
                              </a:lnTo>
                              <a:lnTo>
                                <a:pt x="13" y="94"/>
                              </a:lnTo>
                              <a:lnTo>
                                <a:pt x="3" y="85"/>
                              </a:lnTo>
                              <a:lnTo>
                                <a:pt x="0" y="70"/>
                              </a:lnTo>
                              <a:lnTo>
                                <a:pt x="1" y="59"/>
                              </a:lnTo>
                              <a:lnTo>
                                <a:pt x="7" y="44"/>
                              </a:lnTo>
                              <a:lnTo>
                                <a:pt x="29"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1" name="Freeform 273"/>
                        <p:cNvSpPr/>
                        <p:nvPr/>
                      </p:nvSpPr>
                      <p:spPr bwMode="auto">
                        <a:xfrm>
                          <a:off x="2465" y="3070"/>
                          <a:ext cx="7" cy="20"/>
                        </a:xfrm>
                        <a:custGeom>
                          <a:avLst/>
                          <a:gdLst>
                            <a:gd name="T0" fmla="*/ 7 w 50"/>
                            <a:gd name="T1" fmla="*/ 0 h 159"/>
                            <a:gd name="T2" fmla="*/ 28 w 50"/>
                            <a:gd name="T3" fmla="*/ 34 h 159"/>
                            <a:gd name="T4" fmla="*/ 35 w 50"/>
                            <a:gd name="T5" fmla="*/ 50 h 159"/>
                            <a:gd name="T6" fmla="*/ 43 w 50"/>
                            <a:gd name="T7" fmla="*/ 72 h 159"/>
                            <a:gd name="T8" fmla="*/ 48 w 50"/>
                            <a:gd name="T9" fmla="*/ 86 h 159"/>
                            <a:gd name="T10" fmla="*/ 50 w 50"/>
                            <a:gd name="T11" fmla="*/ 102 h 159"/>
                            <a:gd name="T12" fmla="*/ 45 w 50"/>
                            <a:gd name="T13" fmla="*/ 114 h 159"/>
                            <a:gd name="T14" fmla="*/ 36 w 50"/>
                            <a:gd name="T15" fmla="*/ 119 h 159"/>
                            <a:gd name="T16" fmla="*/ 24 w 50"/>
                            <a:gd name="T17" fmla="*/ 122 h 159"/>
                            <a:gd name="T18" fmla="*/ 14 w 50"/>
                            <a:gd name="T19" fmla="*/ 125 h 159"/>
                            <a:gd name="T20" fmla="*/ 11 w 50"/>
                            <a:gd name="T21" fmla="*/ 159 h 159"/>
                            <a:gd name="T22" fmla="*/ 7 w 50"/>
                            <a:gd name="T23" fmla="*/ 139 h 159"/>
                            <a:gd name="T24" fmla="*/ 0 w 50"/>
                            <a:gd name="T25" fmla="*/ 126 h 159"/>
                            <a:gd name="T26" fmla="*/ 16 w 50"/>
                            <a:gd name="T27" fmla="*/ 119 h 159"/>
                            <a:gd name="T28" fmla="*/ 29 w 50"/>
                            <a:gd name="T29" fmla="*/ 112 h 159"/>
                            <a:gd name="T30" fmla="*/ 38 w 50"/>
                            <a:gd name="T31" fmla="*/ 99 h 159"/>
                            <a:gd name="T32" fmla="*/ 35 w 50"/>
                            <a:gd name="T33" fmla="*/ 77 h 159"/>
                            <a:gd name="T34" fmla="*/ 28 w 50"/>
                            <a:gd name="T35" fmla="*/ 54 h 159"/>
                            <a:gd name="T36" fmla="*/ 22 w 50"/>
                            <a:gd name="T37" fmla="*/ 33 h 159"/>
                            <a:gd name="T38" fmla="*/ 7 w 50"/>
                            <a:gd name="T3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 h="159">
                              <a:moveTo>
                                <a:pt x="7" y="0"/>
                              </a:moveTo>
                              <a:lnTo>
                                <a:pt x="28" y="34"/>
                              </a:lnTo>
                              <a:lnTo>
                                <a:pt x="35" y="50"/>
                              </a:lnTo>
                              <a:lnTo>
                                <a:pt x="43" y="72"/>
                              </a:lnTo>
                              <a:lnTo>
                                <a:pt x="48" y="86"/>
                              </a:lnTo>
                              <a:lnTo>
                                <a:pt x="50" y="102"/>
                              </a:lnTo>
                              <a:lnTo>
                                <a:pt x="45" y="114"/>
                              </a:lnTo>
                              <a:lnTo>
                                <a:pt x="36" y="119"/>
                              </a:lnTo>
                              <a:lnTo>
                                <a:pt x="24" y="122"/>
                              </a:lnTo>
                              <a:lnTo>
                                <a:pt x="14" y="125"/>
                              </a:lnTo>
                              <a:lnTo>
                                <a:pt x="11" y="159"/>
                              </a:lnTo>
                              <a:lnTo>
                                <a:pt x="7" y="139"/>
                              </a:lnTo>
                              <a:lnTo>
                                <a:pt x="0" y="126"/>
                              </a:lnTo>
                              <a:lnTo>
                                <a:pt x="16" y="119"/>
                              </a:lnTo>
                              <a:lnTo>
                                <a:pt x="29" y="112"/>
                              </a:lnTo>
                              <a:lnTo>
                                <a:pt x="38" y="99"/>
                              </a:lnTo>
                              <a:lnTo>
                                <a:pt x="35" y="77"/>
                              </a:lnTo>
                              <a:lnTo>
                                <a:pt x="28" y="54"/>
                              </a:lnTo>
                              <a:lnTo>
                                <a:pt x="22" y="33"/>
                              </a:lnTo>
                              <a:lnTo>
                                <a:pt x="7"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22" name="Group 274"/>
                      <p:cNvGrpSpPr/>
                      <p:nvPr/>
                    </p:nvGrpSpPr>
                    <p:grpSpPr bwMode="auto">
                      <a:xfrm>
                        <a:off x="2416" y="3082"/>
                        <a:ext cx="51" cy="24"/>
                        <a:chOff x="2416" y="3082"/>
                        <a:chExt cx="51" cy="24"/>
                      </a:xfrm>
                    </p:grpSpPr>
                    <p:grpSp>
                      <p:nvGrpSpPr>
                        <p:cNvPr id="642323" name="Group 275"/>
                        <p:cNvGrpSpPr/>
                        <p:nvPr/>
                      </p:nvGrpSpPr>
                      <p:grpSpPr bwMode="auto">
                        <a:xfrm>
                          <a:off x="2416" y="3082"/>
                          <a:ext cx="47" cy="24"/>
                          <a:chOff x="2416" y="3082"/>
                          <a:chExt cx="47" cy="24"/>
                        </a:xfrm>
                      </p:grpSpPr>
                      <p:sp>
                        <p:nvSpPr>
                          <p:cNvPr id="642324" name="Freeform 276"/>
                          <p:cNvSpPr/>
                          <p:nvPr/>
                        </p:nvSpPr>
                        <p:spPr bwMode="auto">
                          <a:xfrm>
                            <a:off x="2431" y="3097"/>
                            <a:ext cx="16" cy="9"/>
                          </a:xfrm>
                          <a:custGeom>
                            <a:avLst/>
                            <a:gdLst>
                              <a:gd name="T0" fmla="*/ 0 w 112"/>
                              <a:gd name="T1" fmla="*/ 0 h 69"/>
                              <a:gd name="T2" fmla="*/ 30 w 112"/>
                              <a:gd name="T3" fmla="*/ 24 h 69"/>
                              <a:gd name="T4" fmla="*/ 57 w 112"/>
                              <a:gd name="T5" fmla="*/ 41 h 69"/>
                              <a:gd name="T6" fmla="*/ 81 w 112"/>
                              <a:gd name="T7" fmla="*/ 51 h 69"/>
                              <a:gd name="T8" fmla="*/ 112 w 112"/>
                              <a:gd name="T9" fmla="*/ 61 h 69"/>
                              <a:gd name="T10" fmla="*/ 92 w 112"/>
                              <a:gd name="T11" fmla="*/ 69 h 69"/>
                              <a:gd name="T12" fmla="*/ 44 w 112"/>
                              <a:gd name="T13" fmla="*/ 51 h 69"/>
                              <a:gd name="T14" fmla="*/ 27 w 112"/>
                              <a:gd name="T15" fmla="*/ 40 h 69"/>
                              <a:gd name="T16" fmla="*/ 14 w 112"/>
                              <a:gd name="T17" fmla="*/ 23 h 69"/>
                              <a:gd name="T18" fmla="*/ 0 w 112"/>
                              <a:gd name="T1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2" h="69">
                                <a:moveTo>
                                  <a:pt x="0" y="0"/>
                                </a:moveTo>
                                <a:lnTo>
                                  <a:pt x="30" y="24"/>
                                </a:lnTo>
                                <a:lnTo>
                                  <a:pt x="57" y="41"/>
                                </a:lnTo>
                                <a:lnTo>
                                  <a:pt x="81" y="51"/>
                                </a:lnTo>
                                <a:lnTo>
                                  <a:pt x="112" y="61"/>
                                </a:lnTo>
                                <a:lnTo>
                                  <a:pt x="92" y="69"/>
                                </a:lnTo>
                                <a:lnTo>
                                  <a:pt x="44" y="51"/>
                                </a:lnTo>
                                <a:lnTo>
                                  <a:pt x="27" y="40"/>
                                </a:lnTo>
                                <a:lnTo>
                                  <a:pt x="14" y="23"/>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5" name="Freeform 277"/>
                          <p:cNvSpPr/>
                          <p:nvPr/>
                        </p:nvSpPr>
                        <p:spPr bwMode="auto">
                          <a:xfrm>
                            <a:off x="2416" y="3082"/>
                            <a:ext cx="16" cy="19"/>
                          </a:xfrm>
                          <a:custGeom>
                            <a:avLst/>
                            <a:gdLst>
                              <a:gd name="T0" fmla="*/ 0 w 115"/>
                              <a:gd name="T1" fmla="*/ 0 h 149"/>
                              <a:gd name="T2" fmla="*/ 14 w 115"/>
                              <a:gd name="T3" fmla="*/ 35 h 149"/>
                              <a:gd name="T4" fmla="*/ 23 w 115"/>
                              <a:gd name="T5" fmla="*/ 54 h 149"/>
                              <a:gd name="T6" fmla="*/ 38 w 115"/>
                              <a:gd name="T7" fmla="*/ 70 h 149"/>
                              <a:gd name="T8" fmla="*/ 57 w 115"/>
                              <a:gd name="T9" fmla="*/ 90 h 149"/>
                              <a:gd name="T10" fmla="*/ 80 w 115"/>
                              <a:gd name="T11" fmla="*/ 111 h 149"/>
                              <a:gd name="T12" fmla="*/ 100 w 115"/>
                              <a:gd name="T13" fmla="*/ 126 h 149"/>
                              <a:gd name="T14" fmla="*/ 115 w 115"/>
                              <a:gd name="T15" fmla="*/ 149 h 149"/>
                              <a:gd name="T16" fmla="*/ 81 w 115"/>
                              <a:gd name="T17" fmla="*/ 124 h 149"/>
                              <a:gd name="T18" fmla="*/ 57 w 115"/>
                              <a:gd name="T19" fmla="*/ 104 h 149"/>
                              <a:gd name="T20" fmla="*/ 27 w 115"/>
                              <a:gd name="T21" fmla="*/ 75 h 149"/>
                              <a:gd name="T22" fmla="*/ 11 w 115"/>
                              <a:gd name="T23" fmla="*/ 48 h 149"/>
                              <a:gd name="T24" fmla="*/ 3 w 115"/>
                              <a:gd name="T25" fmla="*/ 23 h 149"/>
                              <a:gd name="T26" fmla="*/ 0 w 115"/>
                              <a:gd name="T27" fmla="*/ 0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5" h="149">
                                <a:moveTo>
                                  <a:pt x="0" y="0"/>
                                </a:moveTo>
                                <a:lnTo>
                                  <a:pt x="14" y="35"/>
                                </a:lnTo>
                                <a:lnTo>
                                  <a:pt x="23" y="54"/>
                                </a:lnTo>
                                <a:lnTo>
                                  <a:pt x="38" y="70"/>
                                </a:lnTo>
                                <a:lnTo>
                                  <a:pt x="57" y="90"/>
                                </a:lnTo>
                                <a:lnTo>
                                  <a:pt x="80" y="111"/>
                                </a:lnTo>
                                <a:lnTo>
                                  <a:pt x="100" y="126"/>
                                </a:lnTo>
                                <a:lnTo>
                                  <a:pt x="115" y="149"/>
                                </a:lnTo>
                                <a:lnTo>
                                  <a:pt x="81" y="124"/>
                                </a:lnTo>
                                <a:lnTo>
                                  <a:pt x="57" y="104"/>
                                </a:lnTo>
                                <a:lnTo>
                                  <a:pt x="27" y="75"/>
                                </a:lnTo>
                                <a:lnTo>
                                  <a:pt x="11" y="48"/>
                                </a:lnTo>
                                <a:lnTo>
                                  <a:pt x="3" y="23"/>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6" name="Freeform 278"/>
                          <p:cNvSpPr/>
                          <p:nvPr/>
                        </p:nvSpPr>
                        <p:spPr bwMode="auto">
                          <a:xfrm>
                            <a:off x="2448" y="3102"/>
                            <a:ext cx="15" cy="4"/>
                          </a:xfrm>
                          <a:custGeom>
                            <a:avLst/>
                            <a:gdLst>
                              <a:gd name="T0" fmla="*/ 0 w 103"/>
                              <a:gd name="T1" fmla="*/ 26 h 36"/>
                              <a:gd name="T2" fmla="*/ 17 w 103"/>
                              <a:gd name="T3" fmla="*/ 22 h 36"/>
                              <a:gd name="T4" fmla="*/ 34 w 103"/>
                              <a:gd name="T5" fmla="*/ 17 h 36"/>
                              <a:gd name="T6" fmla="*/ 47 w 103"/>
                              <a:gd name="T7" fmla="*/ 9 h 36"/>
                              <a:gd name="T8" fmla="*/ 57 w 103"/>
                              <a:gd name="T9" fmla="*/ 0 h 36"/>
                              <a:gd name="T10" fmla="*/ 64 w 103"/>
                              <a:gd name="T11" fmla="*/ 12 h 36"/>
                              <a:gd name="T12" fmla="*/ 76 w 103"/>
                              <a:gd name="T13" fmla="*/ 19 h 36"/>
                              <a:gd name="T14" fmla="*/ 87 w 103"/>
                              <a:gd name="T15" fmla="*/ 22 h 36"/>
                              <a:gd name="T16" fmla="*/ 103 w 103"/>
                              <a:gd name="T17" fmla="*/ 19 h 36"/>
                              <a:gd name="T18" fmla="*/ 96 w 103"/>
                              <a:gd name="T19" fmla="*/ 28 h 36"/>
                              <a:gd name="T20" fmla="*/ 86 w 103"/>
                              <a:gd name="T21" fmla="*/ 33 h 36"/>
                              <a:gd name="T22" fmla="*/ 74 w 103"/>
                              <a:gd name="T23" fmla="*/ 36 h 36"/>
                              <a:gd name="T24" fmla="*/ 54 w 103"/>
                              <a:gd name="T25" fmla="*/ 36 h 36"/>
                              <a:gd name="T26" fmla="*/ 35 w 103"/>
                              <a:gd name="T27" fmla="*/ 33 h 36"/>
                              <a:gd name="T28" fmla="*/ 15 w 103"/>
                              <a:gd name="T29" fmla="*/ 32 h 36"/>
                              <a:gd name="T30" fmla="*/ 0 w 103"/>
                              <a:gd name="T31" fmla="*/ 2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3" h="36">
                                <a:moveTo>
                                  <a:pt x="0" y="26"/>
                                </a:moveTo>
                                <a:lnTo>
                                  <a:pt x="17" y="22"/>
                                </a:lnTo>
                                <a:lnTo>
                                  <a:pt x="34" y="17"/>
                                </a:lnTo>
                                <a:lnTo>
                                  <a:pt x="47" y="9"/>
                                </a:lnTo>
                                <a:lnTo>
                                  <a:pt x="57" y="0"/>
                                </a:lnTo>
                                <a:lnTo>
                                  <a:pt x="64" y="12"/>
                                </a:lnTo>
                                <a:lnTo>
                                  <a:pt x="76" y="19"/>
                                </a:lnTo>
                                <a:lnTo>
                                  <a:pt x="87" y="22"/>
                                </a:lnTo>
                                <a:lnTo>
                                  <a:pt x="103" y="19"/>
                                </a:lnTo>
                                <a:lnTo>
                                  <a:pt x="96" y="28"/>
                                </a:lnTo>
                                <a:lnTo>
                                  <a:pt x="86" y="33"/>
                                </a:lnTo>
                                <a:lnTo>
                                  <a:pt x="74" y="36"/>
                                </a:lnTo>
                                <a:lnTo>
                                  <a:pt x="54" y="36"/>
                                </a:lnTo>
                                <a:lnTo>
                                  <a:pt x="35" y="33"/>
                                </a:lnTo>
                                <a:lnTo>
                                  <a:pt x="15" y="32"/>
                                </a:lnTo>
                                <a:lnTo>
                                  <a:pt x="0" y="26"/>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27" name="Group 279"/>
                        <p:cNvGrpSpPr/>
                        <p:nvPr/>
                      </p:nvGrpSpPr>
                      <p:grpSpPr bwMode="auto">
                        <a:xfrm>
                          <a:off x="2450" y="3087"/>
                          <a:ext cx="17" cy="11"/>
                          <a:chOff x="2450" y="3087"/>
                          <a:chExt cx="17" cy="11"/>
                        </a:xfrm>
                      </p:grpSpPr>
                      <p:sp>
                        <p:nvSpPr>
                          <p:cNvPr id="642328" name="Freeform 280"/>
                          <p:cNvSpPr/>
                          <p:nvPr/>
                        </p:nvSpPr>
                        <p:spPr bwMode="auto">
                          <a:xfrm>
                            <a:off x="2454" y="3092"/>
                            <a:ext cx="10" cy="6"/>
                          </a:xfrm>
                          <a:custGeom>
                            <a:avLst/>
                            <a:gdLst>
                              <a:gd name="T0" fmla="*/ 8 w 73"/>
                              <a:gd name="T1" fmla="*/ 0 h 49"/>
                              <a:gd name="T2" fmla="*/ 22 w 73"/>
                              <a:gd name="T3" fmla="*/ 7 h 49"/>
                              <a:gd name="T4" fmla="*/ 48 w 73"/>
                              <a:gd name="T5" fmla="*/ 19 h 49"/>
                              <a:gd name="T6" fmla="*/ 73 w 73"/>
                              <a:gd name="T7" fmla="*/ 21 h 49"/>
                              <a:gd name="T8" fmla="*/ 65 w 73"/>
                              <a:gd name="T9" fmla="*/ 36 h 49"/>
                              <a:gd name="T10" fmla="*/ 55 w 73"/>
                              <a:gd name="T11" fmla="*/ 38 h 49"/>
                              <a:gd name="T12" fmla="*/ 46 w 73"/>
                              <a:gd name="T13" fmla="*/ 37 h 49"/>
                              <a:gd name="T14" fmla="*/ 30 w 73"/>
                              <a:gd name="T15" fmla="*/ 32 h 49"/>
                              <a:gd name="T16" fmla="*/ 20 w 73"/>
                              <a:gd name="T17" fmla="*/ 34 h 49"/>
                              <a:gd name="T18" fmla="*/ 10 w 73"/>
                              <a:gd name="T19" fmla="*/ 40 h 49"/>
                              <a:gd name="T20" fmla="*/ 0 w 73"/>
                              <a:gd name="T21" fmla="*/ 49 h 49"/>
                              <a:gd name="T22" fmla="*/ 12 w 73"/>
                              <a:gd name="T23" fmla="*/ 30 h 49"/>
                              <a:gd name="T24" fmla="*/ 15 w 73"/>
                              <a:gd name="T25" fmla="*/ 19 h 49"/>
                              <a:gd name="T26" fmla="*/ 8 w 73"/>
                              <a:gd name="T27"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3" h="49">
                                <a:moveTo>
                                  <a:pt x="8" y="0"/>
                                </a:moveTo>
                                <a:lnTo>
                                  <a:pt x="22" y="7"/>
                                </a:lnTo>
                                <a:lnTo>
                                  <a:pt x="48" y="19"/>
                                </a:lnTo>
                                <a:lnTo>
                                  <a:pt x="73" y="21"/>
                                </a:lnTo>
                                <a:lnTo>
                                  <a:pt x="65" y="36"/>
                                </a:lnTo>
                                <a:lnTo>
                                  <a:pt x="55" y="38"/>
                                </a:lnTo>
                                <a:lnTo>
                                  <a:pt x="46" y="37"/>
                                </a:lnTo>
                                <a:lnTo>
                                  <a:pt x="30" y="32"/>
                                </a:lnTo>
                                <a:lnTo>
                                  <a:pt x="20" y="34"/>
                                </a:lnTo>
                                <a:lnTo>
                                  <a:pt x="10" y="40"/>
                                </a:lnTo>
                                <a:lnTo>
                                  <a:pt x="0" y="49"/>
                                </a:lnTo>
                                <a:lnTo>
                                  <a:pt x="12" y="30"/>
                                </a:lnTo>
                                <a:lnTo>
                                  <a:pt x="15" y="19"/>
                                </a:lnTo>
                                <a:lnTo>
                                  <a:pt x="8" y="0"/>
                                </a:lnTo>
                                <a:close/>
                              </a:path>
                            </a:pathLst>
                          </a:custGeom>
                          <a:solidFill>
                            <a:srgbClr val="FF803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29" name="Freeform 281"/>
                          <p:cNvSpPr/>
                          <p:nvPr/>
                        </p:nvSpPr>
                        <p:spPr bwMode="auto">
                          <a:xfrm>
                            <a:off x="2451" y="3089"/>
                            <a:ext cx="13" cy="4"/>
                          </a:xfrm>
                          <a:custGeom>
                            <a:avLst/>
                            <a:gdLst>
                              <a:gd name="T0" fmla="*/ 0 w 95"/>
                              <a:gd name="T1" fmla="*/ 14 h 32"/>
                              <a:gd name="T2" fmla="*/ 41 w 95"/>
                              <a:gd name="T3" fmla="*/ 4 h 32"/>
                              <a:gd name="T4" fmla="*/ 73 w 95"/>
                              <a:gd name="T5" fmla="*/ 0 h 32"/>
                              <a:gd name="T6" fmla="*/ 95 w 95"/>
                              <a:gd name="T7" fmla="*/ 10 h 32"/>
                              <a:gd name="T8" fmla="*/ 95 w 95"/>
                              <a:gd name="T9" fmla="*/ 25 h 32"/>
                              <a:gd name="T10" fmla="*/ 90 w 95"/>
                              <a:gd name="T11" fmla="*/ 32 h 32"/>
                              <a:gd name="T12" fmla="*/ 64 w 95"/>
                              <a:gd name="T13" fmla="*/ 32 h 32"/>
                              <a:gd name="T14" fmla="*/ 0 w 95"/>
                              <a:gd name="T15" fmla="*/ 14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5" h="32">
                                <a:moveTo>
                                  <a:pt x="0" y="14"/>
                                </a:moveTo>
                                <a:lnTo>
                                  <a:pt x="41" y="4"/>
                                </a:lnTo>
                                <a:lnTo>
                                  <a:pt x="73" y="0"/>
                                </a:lnTo>
                                <a:lnTo>
                                  <a:pt x="95" y="10"/>
                                </a:lnTo>
                                <a:lnTo>
                                  <a:pt x="95" y="25"/>
                                </a:lnTo>
                                <a:lnTo>
                                  <a:pt x="90" y="32"/>
                                </a:lnTo>
                                <a:lnTo>
                                  <a:pt x="64" y="32"/>
                                </a:lnTo>
                                <a:lnTo>
                                  <a:pt x="0" y="14"/>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30" name="Freeform 282"/>
                          <p:cNvSpPr/>
                          <p:nvPr/>
                        </p:nvSpPr>
                        <p:spPr bwMode="auto">
                          <a:xfrm>
                            <a:off x="2450" y="3087"/>
                            <a:ext cx="17" cy="5"/>
                          </a:xfrm>
                          <a:custGeom>
                            <a:avLst/>
                            <a:gdLst>
                              <a:gd name="T0" fmla="*/ 0 w 121"/>
                              <a:gd name="T1" fmla="*/ 33 h 34"/>
                              <a:gd name="T2" fmla="*/ 16 w 121"/>
                              <a:gd name="T3" fmla="*/ 34 h 34"/>
                              <a:gd name="T4" fmla="*/ 35 w 121"/>
                              <a:gd name="T5" fmla="*/ 31 h 34"/>
                              <a:gd name="T6" fmla="*/ 59 w 121"/>
                              <a:gd name="T7" fmla="*/ 31 h 34"/>
                              <a:gd name="T8" fmla="*/ 77 w 121"/>
                              <a:gd name="T9" fmla="*/ 29 h 34"/>
                              <a:gd name="T10" fmla="*/ 88 w 121"/>
                              <a:gd name="T11" fmla="*/ 29 h 34"/>
                              <a:gd name="T12" fmla="*/ 105 w 121"/>
                              <a:gd name="T13" fmla="*/ 31 h 34"/>
                              <a:gd name="T14" fmla="*/ 112 w 121"/>
                              <a:gd name="T15" fmla="*/ 27 h 34"/>
                              <a:gd name="T16" fmla="*/ 117 w 121"/>
                              <a:gd name="T17" fmla="*/ 22 h 34"/>
                              <a:gd name="T18" fmla="*/ 121 w 121"/>
                              <a:gd name="T19" fmla="*/ 17 h 34"/>
                              <a:gd name="T20" fmla="*/ 113 w 121"/>
                              <a:gd name="T21" fmla="*/ 8 h 34"/>
                              <a:gd name="T22" fmla="*/ 101 w 121"/>
                              <a:gd name="T23" fmla="*/ 1 h 34"/>
                              <a:gd name="T24" fmla="*/ 90 w 121"/>
                              <a:gd name="T25" fmla="*/ 0 h 34"/>
                              <a:gd name="T26" fmla="*/ 76 w 121"/>
                              <a:gd name="T27" fmla="*/ 1 h 34"/>
                              <a:gd name="T28" fmla="*/ 55 w 121"/>
                              <a:gd name="T29" fmla="*/ 11 h 34"/>
                              <a:gd name="T30" fmla="*/ 37 w 121"/>
                              <a:gd name="T31" fmla="*/ 21 h 34"/>
                              <a:gd name="T32" fmla="*/ 16 w 121"/>
                              <a:gd name="T33" fmla="*/ 26 h 34"/>
                              <a:gd name="T34" fmla="*/ 0 w 121"/>
                              <a:gd name="T35"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 h="34">
                                <a:moveTo>
                                  <a:pt x="0" y="33"/>
                                </a:moveTo>
                                <a:lnTo>
                                  <a:pt x="16" y="34"/>
                                </a:lnTo>
                                <a:lnTo>
                                  <a:pt x="35" y="31"/>
                                </a:lnTo>
                                <a:lnTo>
                                  <a:pt x="59" y="31"/>
                                </a:lnTo>
                                <a:lnTo>
                                  <a:pt x="77" y="29"/>
                                </a:lnTo>
                                <a:lnTo>
                                  <a:pt x="88" y="29"/>
                                </a:lnTo>
                                <a:lnTo>
                                  <a:pt x="105" y="31"/>
                                </a:lnTo>
                                <a:lnTo>
                                  <a:pt x="112" y="27"/>
                                </a:lnTo>
                                <a:lnTo>
                                  <a:pt x="117" y="22"/>
                                </a:lnTo>
                                <a:lnTo>
                                  <a:pt x="121" y="17"/>
                                </a:lnTo>
                                <a:lnTo>
                                  <a:pt x="113" y="8"/>
                                </a:lnTo>
                                <a:lnTo>
                                  <a:pt x="101" y="1"/>
                                </a:lnTo>
                                <a:lnTo>
                                  <a:pt x="90" y="0"/>
                                </a:lnTo>
                                <a:lnTo>
                                  <a:pt x="76" y="1"/>
                                </a:lnTo>
                                <a:lnTo>
                                  <a:pt x="55" y="11"/>
                                </a:lnTo>
                                <a:lnTo>
                                  <a:pt x="37" y="21"/>
                                </a:lnTo>
                                <a:lnTo>
                                  <a:pt x="16" y="26"/>
                                </a:lnTo>
                                <a:lnTo>
                                  <a:pt x="0" y="33"/>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31" name="Freeform 283"/>
                          <p:cNvSpPr/>
                          <p:nvPr/>
                        </p:nvSpPr>
                        <p:spPr bwMode="auto">
                          <a:xfrm>
                            <a:off x="2450" y="3090"/>
                            <a:ext cx="15" cy="6"/>
                          </a:xfrm>
                          <a:custGeom>
                            <a:avLst/>
                            <a:gdLst>
                              <a:gd name="T0" fmla="*/ 0 w 107"/>
                              <a:gd name="T1" fmla="*/ 0 h 43"/>
                              <a:gd name="T2" fmla="*/ 42 w 107"/>
                              <a:gd name="T3" fmla="*/ 10 h 43"/>
                              <a:gd name="T4" fmla="*/ 69 w 107"/>
                              <a:gd name="T5" fmla="*/ 12 h 43"/>
                              <a:gd name="T6" fmla="*/ 82 w 107"/>
                              <a:gd name="T7" fmla="*/ 12 h 43"/>
                              <a:gd name="T8" fmla="*/ 94 w 107"/>
                              <a:gd name="T9" fmla="*/ 10 h 43"/>
                              <a:gd name="T10" fmla="*/ 102 w 107"/>
                              <a:gd name="T11" fmla="*/ 5 h 43"/>
                              <a:gd name="T12" fmla="*/ 106 w 107"/>
                              <a:gd name="T13" fmla="*/ 14 h 43"/>
                              <a:gd name="T14" fmla="*/ 107 w 107"/>
                              <a:gd name="T15" fmla="*/ 23 h 43"/>
                              <a:gd name="T16" fmla="*/ 105 w 107"/>
                              <a:gd name="T17" fmla="*/ 36 h 43"/>
                              <a:gd name="T18" fmla="*/ 97 w 107"/>
                              <a:gd name="T19" fmla="*/ 41 h 43"/>
                              <a:gd name="T20" fmla="*/ 90 w 107"/>
                              <a:gd name="T21" fmla="*/ 43 h 43"/>
                              <a:gd name="T22" fmla="*/ 80 w 107"/>
                              <a:gd name="T23" fmla="*/ 42 h 43"/>
                              <a:gd name="T24" fmla="*/ 64 w 107"/>
                              <a:gd name="T25" fmla="*/ 36 h 43"/>
                              <a:gd name="T26" fmla="*/ 46 w 107"/>
                              <a:gd name="T27" fmla="*/ 29 h 43"/>
                              <a:gd name="T28" fmla="*/ 31 w 107"/>
                              <a:gd name="T29" fmla="*/ 20 h 43"/>
                              <a:gd name="T30" fmla="*/ 19 w 107"/>
                              <a:gd name="T31" fmla="*/ 12 h 43"/>
                              <a:gd name="T32" fmla="*/ 0 w 107"/>
                              <a:gd name="T33"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7" h="43">
                                <a:moveTo>
                                  <a:pt x="0" y="0"/>
                                </a:moveTo>
                                <a:lnTo>
                                  <a:pt x="42" y="10"/>
                                </a:lnTo>
                                <a:lnTo>
                                  <a:pt x="69" y="12"/>
                                </a:lnTo>
                                <a:lnTo>
                                  <a:pt x="82" y="12"/>
                                </a:lnTo>
                                <a:lnTo>
                                  <a:pt x="94" y="10"/>
                                </a:lnTo>
                                <a:lnTo>
                                  <a:pt x="102" y="5"/>
                                </a:lnTo>
                                <a:lnTo>
                                  <a:pt x="106" y="14"/>
                                </a:lnTo>
                                <a:lnTo>
                                  <a:pt x="107" y="23"/>
                                </a:lnTo>
                                <a:lnTo>
                                  <a:pt x="105" y="36"/>
                                </a:lnTo>
                                <a:lnTo>
                                  <a:pt x="97" y="41"/>
                                </a:lnTo>
                                <a:lnTo>
                                  <a:pt x="90" y="43"/>
                                </a:lnTo>
                                <a:lnTo>
                                  <a:pt x="80" y="42"/>
                                </a:lnTo>
                                <a:lnTo>
                                  <a:pt x="64" y="36"/>
                                </a:lnTo>
                                <a:lnTo>
                                  <a:pt x="46" y="29"/>
                                </a:lnTo>
                                <a:lnTo>
                                  <a:pt x="31" y="20"/>
                                </a:lnTo>
                                <a:lnTo>
                                  <a:pt x="19" y="12"/>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grpSp>
            <p:sp>
              <p:nvSpPr>
                <p:cNvPr id="642332" name="Freeform 284"/>
                <p:cNvSpPr/>
                <p:nvPr/>
              </p:nvSpPr>
              <p:spPr bwMode="auto">
                <a:xfrm>
                  <a:off x="2398" y="3018"/>
                  <a:ext cx="78" cy="63"/>
                </a:xfrm>
                <a:custGeom>
                  <a:avLst/>
                  <a:gdLst>
                    <a:gd name="T0" fmla="*/ 545 w 547"/>
                    <a:gd name="T1" fmla="*/ 229 h 502"/>
                    <a:gd name="T2" fmla="*/ 541 w 547"/>
                    <a:gd name="T3" fmla="*/ 166 h 502"/>
                    <a:gd name="T4" fmla="*/ 524 w 547"/>
                    <a:gd name="T5" fmla="*/ 146 h 502"/>
                    <a:gd name="T6" fmla="*/ 511 w 547"/>
                    <a:gd name="T7" fmla="*/ 112 h 502"/>
                    <a:gd name="T8" fmla="*/ 466 w 547"/>
                    <a:gd name="T9" fmla="*/ 86 h 502"/>
                    <a:gd name="T10" fmla="*/ 426 w 547"/>
                    <a:gd name="T11" fmla="*/ 52 h 502"/>
                    <a:gd name="T12" fmla="*/ 374 w 547"/>
                    <a:gd name="T13" fmla="*/ 22 h 502"/>
                    <a:gd name="T14" fmla="*/ 327 w 547"/>
                    <a:gd name="T15" fmla="*/ 9 h 502"/>
                    <a:gd name="T16" fmla="*/ 250 w 547"/>
                    <a:gd name="T17" fmla="*/ 3 h 502"/>
                    <a:gd name="T18" fmla="*/ 197 w 547"/>
                    <a:gd name="T19" fmla="*/ 15 h 502"/>
                    <a:gd name="T20" fmla="*/ 143 w 547"/>
                    <a:gd name="T21" fmla="*/ 20 h 502"/>
                    <a:gd name="T22" fmla="*/ 109 w 547"/>
                    <a:gd name="T23" fmla="*/ 51 h 502"/>
                    <a:gd name="T24" fmla="*/ 84 w 547"/>
                    <a:gd name="T25" fmla="*/ 76 h 502"/>
                    <a:gd name="T26" fmla="*/ 63 w 547"/>
                    <a:gd name="T27" fmla="*/ 101 h 502"/>
                    <a:gd name="T28" fmla="*/ 45 w 547"/>
                    <a:gd name="T29" fmla="*/ 153 h 502"/>
                    <a:gd name="T30" fmla="*/ 11 w 547"/>
                    <a:gd name="T31" fmla="*/ 178 h 502"/>
                    <a:gd name="T32" fmla="*/ 6 w 547"/>
                    <a:gd name="T33" fmla="*/ 229 h 502"/>
                    <a:gd name="T34" fmla="*/ 12 w 547"/>
                    <a:gd name="T35" fmla="*/ 293 h 502"/>
                    <a:gd name="T36" fmla="*/ 0 w 547"/>
                    <a:gd name="T37" fmla="*/ 357 h 502"/>
                    <a:gd name="T38" fmla="*/ 20 w 547"/>
                    <a:gd name="T39" fmla="*/ 432 h 502"/>
                    <a:gd name="T40" fmla="*/ 52 w 547"/>
                    <a:gd name="T41" fmla="*/ 476 h 502"/>
                    <a:gd name="T42" fmla="*/ 84 w 547"/>
                    <a:gd name="T43" fmla="*/ 500 h 502"/>
                    <a:gd name="T44" fmla="*/ 103 w 547"/>
                    <a:gd name="T45" fmla="*/ 469 h 502"/>
                    <a:gd name="T46" fmla="*/ 88 w 547"/>
                    <a:gd name="T47" fmla="*/ 435 h 502"/>
                    <a:gd name="T48" fmla="*/ 64 w 547"/>
                    <a:gd name="T49" fmla="*/ 404 h 502"/>
                    <a:gd name="T50" fmla="*/ 68 w 547"/>
                    <a:gd name="T51" fmla="*/ 359 h 502"/>
                    <a:gd name="T52" fmla="*/ 133 w 547"/>
                    <a:gd name="T53" fmla="*/ 348 h 502"/>
                    <a:gd name="T54" fmla="*/ 150 w 547"/>
                    <a:gd name="T55" fmla="*/ 389 h 502"/>
                    <a:gd name="T56" fmla="*/ 192 w 547"/>
                    <a:gd name="T57" fmla="*/ 389 h 502"/>
                    <a:gd name="T58" fmla="*/ 231 w 547"/>
                    <a:gd name="T59" fmla="*/ 362 h 502"/>
                    <a:gd name="T60" fmla="*/ 270 w 547"/>
                    <a:gd name="T61" fmla="*/ 332 h 502"/>
                    <a:gd name="T62" fmla="*/ 279 w 547"/>
                    <a:gd name="T63" fmla="*/ 274 h 502"/>
                    <a:gd name="T64" fmla="*/ 331 w 547"/>
                    <a:gd name="T65" fmla="*/ 276 h 502"/>
                    <a:gd name="T66" fmla="*/ 339 w 547"/>
                    <a:gd name="T67" fmla="*/ 287 h 502"/>
                    <a:gd name="T68" fmla="*/ 306 w 547"/>
                    <a:gd name="T69" fmla="*/ 308 h 502"/>
                    <a:gd name="T70" fmla="*/ 327 w 547"/>
                    <a:gd name="T71" fmla="*/ 322 h 502"/>
                    <a:gd name="T72" fmla="*/ 378 w 547"/>
                    <a:gd name="T73" fmla="*/ 319 h 502"/>
                    <a:gd name="T74" fmla="*/ 380 w 547"/>
                    <a:gd name="T75" fmla="*/ 335 h 502"/>
                    <a:gd name="T76" fmla="*/ 403 w 547"/>
                    <a:gd name="T77" fmla="*/ 342 h 502"/>
                    <a:gd name="T78" fmla="*/ 451 w 547"/>
                    <a:gd name="T79" fmla="*/ 317 h 502"/>
                    <a:gd name="T80" fmla="*/ 433 w 547"/>
                    <a:gd name="T81" fmla="*/ 348 h 502"/>
                    <a:gd name="T82" fmla="*/ 484 w 547"/>
                    <a:gd name="T83" fmla="*/ 340 h 502"/>
                    <a:gd name="T84" fmla="*/ 530 w 547"/>
                    <a:gd name="T85" fmla="*/ 280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547" h="502">
                      <a:moveTo>
                        <a:pt x="530" y="280"/>
                      </a:moveTo>
                      <a:lnTo>
                        <a:pt x="540" y="250"/>
                      </a:lnTo>
                      <a:lnTo>
                        <a:pt x="545" y="229"/>
                      </a:lnTo>
                      <a:lnTo>
                        <a:pt x="547" y="207"/>
                      </a:lnTo>
                      <a:lnTo>
                        <a:pt x="546" y="187"/>
                      </a:lnTo>
                      <a:lnTo>
                        <a:pt x="541" y="166"/>
                      </a:lnTo>
                      <a:lnTo>
                        <a:pt x="529" y="162"/>
                      </a:lnTo>
                      <a:lnTo>
                        <a:pt x="518" y="160"/>
                      </a:lnTo>
                      <a:lnTo>
                        <a:pt x="524" y="146"/>
                      </a:lnTo>
                      <a:lnTo>
                        <a:pt x="527" y="133"/>
                      </a:lnTo>
                      <a:lnTo>
                        <a:pt x="524" y="123"/>
                      </a:lnTo>
                      <a:lnTo>
                        <a:pt x="511" y="112"/>
                      </a:lnTo>
                      <a:lnTo>
                        <a:pt x="491" y="104"/>
                      </a:lnTo>
                      <a:lnTo>
                        <a:pt x="475" y="99"/>
                      </a:lnTo>
                      <a:lnTo>
                        <a:pt x="466" y="86"/>
                      </a:lnTo>
                      <a:lnTo>
                        <a:pt x="454" y="77"/>
                      </a:lnTo>
                      <a:lnTo>
                        <a:pt x="438" y="70"/>
                      </a:lnTo>
                      <a:lnTo>
                        <a:pt x="426" y="52"/>
                      </a:lnTo>
                      <a:lnTo>
                        <a:pt x="410" y="40"/>
                      </a:lnTo>
                      <a:lnTo>
                        <a:pt x="387" y="34"/>
                      </a:lnTo>
                      <a:lnTo>
                        <a:pt x="374" y="22"/>
                      </a:lnTo>
                      <a:lnTo>
                        <a:pt x="362" y="15"/>
                      </a:lnTo>
                      <a:lnTo>
                        <a:pt x="341" y="12"/>
                      </a:lnTo>
                      <a:lnTo>
                        <a:pt x="327" y="9"/>
                      </a:lnTo>
                      <a:lnTo>
                        <a:pt x="298" y="3"/>
                      </a:lnTo>
                      <a:lnTo>
                        <a:pt x="272" y="0"/>
                      </a:lnTo>
                      <a:lnTo>
                        <a:pt x="250" y="3"/>
                      </a:lnTo>
                      <a:lnTo>
                        <a:pt x="231" y="11"/>
                      </a:lnTo>
                      <a:lnTo>
                        <a:pt x="212" y="13"/>
                      </a:lnTo>
                      <a:lnTo>
                        <a:pt x="197" y="15"/>
                      </a:lnTo>
                      <a:lnTo>
                        <a:pt x="181" y="12"/>
                      </a:lnTo>
                      <a:lnTo>
                        <a:pt x="162" y="15"/>
                      </a:lnTo>
                      <a:lnTo>
                        <a:pt x="143" y="20"/>
                      </a:lnTo>
                      <a:lnTo>
                        <a:pt x="128" y="32"/>
                      </a:lnTo>
                      <a:lnTo>
                        <a:pt x="121" y="46"/>
                      </a:lnTo>
                      <a:lnTo>
                        <a:pt x="109" y="51"/>
                      </a:lnTo>
                      <a:lnTo>
                        <a:pt x="100" y="61"/>
                      </a:lnTo>
                      <a:lnTo>
                        <a:pt x="93" y="72"/>
                      </a:lnTo>
                      <a:lnTo>
                        <a:pt x="84" y="76"/>
                      </a:lnTo>
                      <a:lnTo>
                        <a:pt x="78" y="81"/>
                      </a:lnTo>
                      <a:lnTo>
                        <a:pt x="74" y="93"/>
                      </a:lnTo>
                      <a:lnTo>
                        <a:pt x="63" y="101"/>
                      </a:lnTo>
                      <a:lnTo>
                        <a:pt x="56" y="111"/>
                      </a:lnTo>
                      <a:lnTo>
                        <a:pt x="51" y="129"/>
                      </a:lnTo>
                      <a:lnTo>
                        <a:pt x="45" y="153"/>
                      </a:lnTo>
                      <a:lnTo>
                        <a:pt x="27" y="158"/>
                      </a:lnTo>
                      <a:lnTo>
                        <a:pt x="16" y="165"/>
                      </a:lnTo>
                      <a:lnTo>
                        <a:pt x="11" y="178"/>
                      </a:lnTo>
                      <a:lnTo>
                        <a:pt x="14" y="190"/>
                      </a:lnTo>
                      <a:lnTo>
                        <a:pt x="9" y="209"/>
                      </a:lnTo>
                      <a:lnTo>
                        <a:pt x="6" y="229"/>
                      </a:lnTo>
                      <a:lnTo>
                        <a:pt x="7" y="249"/>
                      </a:lnTo>
                      <a:lnTo>
                        <a:pt x="11" y="273"/>
                      </a:lnTo>
                      <a:lnTo>
                        <a:pt x="12" y="293"/>
                      </a:lnTo>
                      <a:lnTo>
                        <a:pt x="9" y="315"/>
                      </a:lnTo>
                      <a:lnTo>
                        <a:pt x="3" y="335"/>
                      </a:lnTo>
                      <a:lnTo>
                        <a:pt x="0" y="357"/>
                      </a:lnTo>
                      <a:lnTo>
                        <a:pt x="3" y="383"/>
                      </a:lnTo>
                      <a:lnTo>
                        <a:pt x="8" y="407"/>
                      </a:lnTo>
                      <a:lnTo>
                        <a:pt x="20" y="432"/>
                      </a:lnTo>
                      <a:lnTo>
                        <a:pt x="28" y="449"/>
                      </a:lnTo>
                      <a:lnTo>
                        <a:pt x="39" y="461"/>
                      </a:lnTo>
                      <a:lnTo>
                        <a:pt x="52" y="476"/>
                      </a:lnTo>
                      <a:lnTo>
                        <a:pt x="58" y="492"/>
                      </a:lnTo>
                      <a:lnTo>
                        <a:pt x="69" y="502"/>
                      </a:lnTo>
                      <a:lnTo>
                        <a:pt x="84" y="500"/>
                      </a:lnTo>
                      <a:lnTo>
                        <a:pt x="97" y="494"/>
                      </a:lnTo>
                      <a:lnTo>
                        <a:pt x="103" y="480"/>
                      </a:lnTo>
                      <a:lnTo>
                        <a:pt x="103" y="469"/>
                      </a:lnTo>
                      <a:lnTo>
                        <a:pt x="99" y="447"/>
                      </a:lnTo>
                      <a:lnTo>
                        <a:pt x="103" y="438"/>
                      </a:lnTo>
                      <a:lnTo>
                        <a:pt x="88" y="435"/>
                      </a:lnTo>
                      <a:lnTo>
                        <a:pt x="74" y="438"/>
                      </a:lnTo>
                      <a:lnTo>
                        <a:pt x="70" y="419"/>
                      </a:lnTo>
                      <a:lnTo>
                        <a:pt x="64" y="404"/>
                      </a:lnTo>
                      <a:lnTo>
                        <a:pt x="69" y="385"/>
                      </a:lnTo>
                      <a:lnTo>
                        <a:pt x="70" y="372"/>
                      </a:lnTo>
                      <a:lnTo>
                        <a:pt x="68" y="359"/>
                      </a:lnTo>
                      <a:lnTo>
                        <a:pt x="88" y="347"/>
                      </a:lnTo>
                      <a:lnTo>
                        <a:pt x="110" y="343"/>
                      </a:lnTo>
                      <a:lnTo>
                        <a:pt x="133" y="348"/>
                      </a:lnTo>
                      <a:lnTo>
                        <a:pt x="134" y="363"/>
                      </a:lnTo>
                      <a:lnTo>
                        <a:pt x="141" y="377"/>
                      </a:lnTo>
                      <a:lnTo>
                        <a:pt x="150" y="389"/>
                      </a:lnTo>
                      <a:lnTo>
                        <a:pt x="164" y="393"/>
                      </a:lnTo>
                      <a:lnTo>
                        <a:pt x="180" y="394"/>
                      </a:lnTo>
                      <a:lnTo>
                        <a:pt x="192" y="389"/>
                      </a:lnTo>
                      <a:lnTo>
                        <a:pt x="206" y="377"/>
                      </a:lnTo>
                      <a:lnTo>
                        <a:pt x="216" y="359"/>
                      </a:lnTo>
                      <a:lnTo>
                        <a:pt x="231" y="362"/>
                      </a:lnTo>
                      <a:lnTo>
                        <a:pt x="245" y="359"/>
                      </a:lnTo>
                      <a:lnTo>
                        <a:pt x="262" y="348"/>
                      </a:lnTo>
                      <a:lnTo>
                        <a:pt x="270" y="332"/>
                      </a:lnTo>
                      <a:lnTo>
                        <a:pt x="273" y="317"/>
                      </a:lnTo>
                      <a:lnTo>
                        <a:pt x="268" y="293"/>
                      </a:lnTo>
                      <a:lnTo>
                        <a:pt x="279" y="274"/>
                      </a:lnTo>
                      <a:lnTo>
                        <a:pt x="298" y="277"/>
                      </a:lnTo>
                      <a:lnTo>
                        <a:pt x="318" y="280"/>
                      </a:lnTo>
                      <a:lnTo>
                        <a:pt x="331" y="276"/>
                      </a:lnTo>
                      <a:lnTo>
                        <a:pt x="339" y="268"/>
                      </a:lnTo>
                      <a:lnTo>
                        <a:pt x="342" y="275"/>
                      </a:lnTo>
                      <a:lnTo>
                        <a:pt x="339" y="287"/>
                      </a:lnTo>
                      <a:lnTo>
                        <a:pt x="331" y="296"/>
                      </a:lnTo>
                      <a:lnTo>
                        <a:pt x="321" y="303"/>
                      </a:lnTo>
                      <a:lnTo>
                        <a:pt x="306" y="308"/>
                      </a:lnTo>
                      <a:lnTo>
                        <a:pt x="291" y="311"/>
                      </a:lnTo>
                      <a:lnTo>
                        <a:pt x="310" y="319"/>
                      </a:lnTo>
                      <a:lnTo>
                        <a:pt x="327" y="322"/>
                      </a:lnTo>
                      <a:lnTo>
                        <a:pt x="343" y="323"/>
                      </a:lnTo>
                      <a:lnTo>
                        <a:pt x="362" y="322"/>
                      </a:lnTo>
                      <a:lnTo>
                        <a:pt x="378" y="319"/>
                      </a:lnTo>
                      <a:lnTo>
                        <a:pt x="398" y="317"/>
                      </a:lnTo>
                      <a:lnTo>
                        <a:pt x="390" y="328"/>
                      </a:lnTo>
                      <a:lnTo>
                        <a:pt x="380" y="335"/>
                      </a:lnTo>
                      <a:lnTo>
                        <a:pt x="367" y="341"/>
                      </a:lnTo>
                      <a:lnTo>
                        <a:pt x="382" y="343"/>
                      </a:lnTo>
                      <a:lnTo>
                        <a:pt x="403" y="342"/>
                      </a:lnTo>
                      <a:lnTo>
                        <a:pt x="419" y="339"/>
                      </a:lnTo>
                      <a:lnTo>
                        <a:pt x="432" y="332"/>
                      </a:lnTo>
                      <a:lnTo>
                        <a:pt x="451" y="317"/>
                      </a:lnTo>
                      <a:lnTo>
                        <a:pt x="450" y="327"/>
                      </a:lnTo>
                      <a:lnTo>
                        <a:pt x="442" y="339"/>
                      </a:lnTo>
                      <a:lnTo>
                        <a:pt x="433" y="348"/>
                      </a:lnTo>
                      <a:lnTo>
                        <a:pt x="450" y="350"/>
                      </a:lnTo>
                      <a:lnTo>
                        <a:pt x="469" y="347"/>
                      </a:lnTo>
                      <a:lnTo>
                        <a:pt x="484" y="340"/>
                      </a:lnTo>
                      <a:lnTo>
                        <a:pt x="502" y="324"/>
                      </a:lnTo>
                      <a:lnTo>
                        <a:pt x="517" y="306"/>
                      </a:lnTo>
                      <a:lnTo>
                        <a:pt x="530" y="280"/>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333" name="Group 285"/>
            <p:cNvGrpSpPr/>
            <p:nvPr/>
          </p:nvGrpSpPr>
          <p:grpSpPr bwMode="auto">
            <a:xfrm>
              <a:off x="2570" y="2934"/>
              <a:ext cx="238" cy="267"/>
              <a:chOff x="2570" y="2934"/>
              <a:chExt cx="238" cy="267"/>
            </a:xfrm>
          </p:grpSpPr>
          <p:grpSp>
            <p:nvGrpSpPr>
              <p:cNvPr id="642334" name="Group 286"/>
              <p:cNvGrpSpPr/>
              <p:nvPr/>
            </p:nvGrpSpPr>
            <p:grpSpPr bwMode="auto">
              <a:xfrm>
                <a:off x="2570" y="2992"/>
                <a:ext cx="154" cy="209"/>
                <a:chOff x="2570" y="2992"/>
                <a:chExt cx="154" cy="209"/>
              </a:xfrm>
            </p:grpSpPr>
            <p:grpSp>
              <p:nvGrpSpPr>
                <p:cNvPr id="642335" name="Group 287"/>
                <p:cNvGrpSpPr/>
                <p:nvPr/>
              </p:nvGrpSpPr>
              <p:grpSpPr bwMode="auto">
                <a:xfrm>
                  <a:off x="2570" y="2992"/>
                  <a:ext cx="154" cy="209"/>
                  <a:chOff x="2570" y="2992"/>
                  <a:chExt cx="154" cy="209"/>
                </a:xfrm>
              </p:grpSpPr>
              <p:grpSp>
                <p:nvGrpSpPr>
                  <p:cNvPr id="642336" name="Group 288"/>
                  <p:cNvGrpSpPr/>
                  <p:nvPr/>
                </p:nvGrpSpPr>
                <p:grpSpPr bwMode="auto">
                  <a:xfrm>
                    <a:off x="2570" y="3112"/>
                    <a:ext cx="67" cy="89"/>
                    <a:chOff x="2570" y="3112"/>
                    <a:chExt cx="67" cy="89"/>
                  </a:xfrm>
                </p:grpSpPr>
                <p:grpSp>
                  <p:nvGrpSpPr>
                    <p:cNvPr id="642337" name="Group 289"/>
                    <p:cNvGrpSpPr/>
                    <p:nvPr/>
                  </p:nvGrpSpPr>
                  <p:grpSpPr bwMode="auto">
                    <a:xfrm>
                      <a:off x="2570" y="3133"/>
                      <a:ext cx="51" cy="68"/>
                      <a:chOff x="2570" y="3133"/>
                      <a:chExt cx="51" cy="68"/>
                    </a:xfrm>
                  </p:grpSpPr>
                  <p:sp>
                    <p:nvSpPr>
                      <p:cNvPr id="642338" name="Freeform 290"/>
                      <p:cNvSpPr/>
                      <p:nvPr/>
                    </p:nvSpPr>
                    <p:spPr bwMode="auto">
                      <a:xfrm>
                        <a:off x="2587" y="3178"/>
                        <a:ext cx="16" cy="9"/>
                      </a:xfrm>
                      <a:custGeom>
                        <a:avLst/>
                        <a:gdLst>
                          <a:gd name="T0" fmla="*/ 0 w 116"/>
                          <a:gd name="T1" fmla="*/ 43 h 67"/>
                          <a:gd name="T2" fmla="*/ 26 w 116"/>
                          <a:gd name="T3" fmla="*/ 0 h 67"/>
                          <a:gd name="T4" fmla="*/ 52 w 116"/>
                          <a:gd name="T5" fmla="*/ 2 h 67"/>
                          <a:gd name="T6" fmla="*/ 75 w 116"/>
                          <a:gd name="T7" fmla="*/ 9 h 67"/>
                          <a:gd name="T8" fmla="*/ 116 w 116"/>
                          <a:gd name="T9" fmla="*/ 25 h 67"/>
                          <a:gd name="T10" fmla="*/ 103 w 116"/>
                          <a:gd name="T11" fmla="*/ 67 h 67"/>
                          <a:gd name="T12" fmla="*/ 0 w 116"/>
                          <a:gd name="T13" fmla="*/ 43 h 67"/>
                        </a:gdLst>
                        <a:ahLst/>
                        <a:cxnLst>
                          <a:cxn ang="0">
                            <a:pos x="T0" y="T1"/>
                          </a:cxn>
                          <a:cxn ang="0">
                            <a:pos x="T2" y="T3"/>
                          </a:cxn>
                          <a:cxn ang="0">
                            <a:pos x="T4" y="T5"/>
                          </a:cxn>
                          <a:cxn ang="0">
                            <a:pos x="T6" y="T7"/>
                          </a:cxn>
                          <a:cxn ang="0">
                            <a:pos x="T8" y="T9"/>
                          </a:cxn>
                          <a:cxn ang="0">
                            <a:pos x="T10" y="T11"/>
                          </a:cxn>
                          <a:cxn ang="0">
                            <a:pos x="T12" y="T13"/>
                          </a:cxn>
                        </a:cxnLst>
                        <a:rect l="0" t="0" r="r" b="b"/>
                        <a:pathLst>
                          <a:path w="116" h="67">
                            <a:moveTo>
                              <a:pt x="0" y="43"/>
                            </a:moveTo>
                            <a:lnTo>
                              <a:pt x="26" y="0"/>
                            </a:lnTo>
                            <a:lnTo>
                              <a:pt x="52" y="2"/>
                            </a:lnTo>
                            <a:lnTo>
                              <a:pt x="75" y="9"/>
                            </a:lnTo>
                            <a:lnTo>
                              <a:pt x="116" y="25"/>
                            </a:lnTo>
                            <a:lnTo>
                              <a:pt x="103" y="67"/>
                            </a:lnTo>
                            <a:lnTo>
                              <a:pt x="0" y="43"/>
                            </a:lnTo>
                            <a:close/>
                          </a:path>
                        </a:pathLst>
                      </a:custGeom>
                      <a:solidFill>
                        <a:srgbClr val="C04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39" name="Freeform 291"/>
                      <p:cNvSpPr/>
                      <p:nvPr/>
                    </p:nvSpPr>
                    <p:spPr bwMode="auto">
                      <a:xfrm>
                        <a:off x="2583" y="3183"/>
                        <a:ext cx="18" cy="7"/>
                      </a:xfrm>
                      <a:custGeom>
                        <a:avLst/>
                        <a:gdLst>
                          <a:gd name="T0" fmla="*/ 32 w 127"/>
                          <a:gd name="T1" fmla="*/ 0 h 61"/>
                          <a:gd name="T2" fmla="*/ 49 w 127"/>
                          <a:gd name="T3" fmla="*/ 1 h 61"/>
                          <a:gd name="T4" fmla="*/ 77 w 127"/>
                          <a:gd name="T5" fmla="*/ 8 h 61"/>
                          <a:gd name="T6" fmla="*/ 105 w 127"/>
                          <a:gd name="T7" fmla="*/ 16 h 61"/>
                          <a:gd name="T8" fmla="*/ 124 w 127"/>
                          <a:gd name="T9" fmla="*/ 20 h 61"/>
                          <a:gd name="T10" fmla="*/ 127 w 127"/>
                          <a:gd name="T11" fmla="*/ 29 h 61"/>
                          <a:gd name="T12" fmla="*/ 126 w 127"/>
                          <a:gd name="T13" fmla="*/ 41 h 61"/>
                          <a:gd name="T14" fmla="*/ 116 w 127"/>
                          <a:gd name="T15" fmla="*/ 54 h 61"/>
                          <a:gd name="T16" fmla="*/ 102 w 127"/>
                          <a:gd name="T17" fmla="*/ 61 h 61"/>
                          <a:gd name="T18" fmla="*/ 77 w 127"/>
                          <a:gd name="T19" fmla="*/ 56 h 61"/>
                          <a:gd name="T20" fmla="*/ 35 w 127"/>
                          <a:gd name="T21" fmla="*/ 44 h 61"/>
                          <a:gd name="T22" fmla="*/ 0 w 127"/>
                          <a:gd name="T23" fmla="*/ 22 h 61"/>
                          <a:gd name="T24" fmla="*/ 32 w 127"/>
                          <a:gd name="T25"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7" h="61">
                            <a:moveTo>
                              <a:pt x="32" y="0"/>
                            </a:moveTo>
                            <a:lnTo>
                              <a:pt x="49" y="1"/>
                            </a:lnTo>
                            <a:lnTo>
                              <a:pt x="77" y="8"/>
                            </a:lnTo>
                            <a:lnTo>
                              <a:pt x="105" y="16"/>
                            </a:lnTo>
                            <a:lnTo>
                              <a:pt x="124" y="20"/>
                            </a:lnTo>
                            <a:lnTo>
                              <a:pt x="127" y="29"/>
                            </a:lnTo>
                            <a:lnTo>
                              <a:pt x="126" y="41"/>
                            </a:lnTo>
                            <a:lnTo>
                              <a:pt x="116" y="54"/>
                            </a:lnTo>
                            <a:lnTo>
                              <a:pt x="102" y="61"/>
                            </a:lnTo>
                            <a:lnTo>
                              <a:pt x="77" y="56"/>
                            </a:lnTo>
                            <a:lnTo>
                              <a:pt x="35" y="44"/>
                            </a:lnTo>
                            <a:lnTo>
                              <a:pt x="0" y="22"/>
                            </a:lnTo>
                            <a:lnTo>
                              <a:pt x="32"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0" name="Freeform 292"/>
                      <p:cNvSpPr/>
                      <p:nvPr/>
                    </p:nvSpPr>
                    <p:spPr bwMode="auto">
                      <a:xfrm>
                        <a:off x="2570" y="3133"/>
                        <a:ext cx="51" cy="68"/>
                      </a:xfrm>
                      <a:custGeom>
                        <a:avLst/>
                        <a:gdLst>
                          <a:gd name="T0" fmla="*/ 250 w 352"/>
                          <a:gd name="T1" fmla="*/ 21 h 544"/>
                          <a:gd name="T2" fmla="*/ 231 w 352"/>
                          <a:gd name="T3" fmla="*/ 69 h 544"/>
                          <a:gd name="T4" fmla="*/ 211 w 352"/>
                          <a:gd name="T5" fmla="*/ 103 h 544"/>
                          <a:gd name="T6" fmla="*/ 177 w 352"/>
                          <a:gd name="T7" fmla="*/ 135 h 544"/>
                          <a:gd name="T8" fmla="*/ 170 w 352"/>
                          <a:gd name="T9" fmla="*/ 152 h 544"/>
                          <a:gd name="T10" fmla="*/ 161 w 352"/>
                          <a:gd name="T11" fmla="*/ 194 h 544"/>
                          <a:gd name="T12" fmla="*/ 134 w 352"/>
                          <a:gd name="T13" fmla="*/ 227 h 544"/>
                          <a:gd name="T14" fmla="*/ 108 w 352"/>
                          <a:gd name="T15" fmla="*/ 275 h 544"/>
                          <a:gd name="T16" fmla="*/ 86 w 352"/>
                          <a:gd name="T17" fmla="*/ 320 h 544"/>
                          <a:gd name="T18" fmla="*/ 84 w 352"/>
                          <a:gd name="T19" fmla="*/ 366 h 544"/>
                          <a:gd name="T20" fmla="*/ 87 w 352"/>
                          <a:gd name="T21" fmla="*/ 405 h 544"/>
                          <a:gd name="T22" fmla="*/ 72 w 352"/>
                          <a:gd name="T23" fmla="*/ 443 h 544"/>
                          <a:gd name="T24" fmla="*/ 0 w 352"/>
                          <a:gd name="T25" fmla="*/ 532 h 544"/>
                          <a:gd name="T26" fmla="*/ 60 w 352"/>
                          <a:gd name="T27" fmla="*/ 520 h 544"/>
                          <a:gd name="T28" fmla="*/ 113 w 352"/>
                          <a:gd name="T29" fmla="*/ 466 h 544"/>
                          <a:gd name="T30" fmla="*/ 147 w 352"/>
                          <a:gd name="T31" fmla="*/ 421 h 544"/>
                          <a:gd name="T32" fmla="*/ 183 w 352"/>
                          <a:gd name="T33" fmla="*/ 371 h 544"/>
                          <a:gd name="T34" fmla="*/ 210 w 352"/>
                          <a:gd name="T35" fmla="*/ 344 h 544"/>
                          <a:gd name="T36" fmla="*/ 196 w 352"/>
                          <a:gd name="T37" fmla="*/ 394 h 544"/>
                          <a:gd name="T38" fmla="*/ 194 w 352"/>
                          <a:gd name="T39" fmla="*/ 451 h 544"/>
                          <a:gd name="T40" fmla="*/ 209 w 352"/>
                          <a:gd name="T41" fmla="*/ 500 h 544"/>
                          <a:gd name="T42" fmla="*/ 226 w 352"/>
                          <a:gd name="T43" fmla="*/ 517 h 544"/>
                          <a:gd name="T44" fmla="*/ 249 w 352"/>
                          <a:gd name="T45" fmla="*/ 518 h 544"/>
                          <a:gd name="T46" fmla="*/ 261 w 352"/>
                          <a:gd name="T47" fmla="*/ 503 h 544"/>
                          <a:gd name="T48" fmla="*/ 248 w 352"/>
                          <a:gd name="T49" fmla="*/ 480 h 544"/>
                          <a:gd name="T50" fmla="*/ 237 w 352"/>
                          <a:gd name="T51" fmla="*/ 440 h 544"/>
                          <a:gd name="T52" fmla="*/ 246 w 352"/>
                          <a:gd name="T53" fmla="*/ 387 h 544"/>
                          <a:gd name="T54" fmla="*/ 261 w 352"/>
                          <a:gd name="T55" fmla="*/ 350 h 544"/>
                          <a:gd name="T56" fmla="*/ 274 w 352"/>
                          <a:gd name="T57" fmla="*/ 320 h 544"/>
                          <a:gd name="T58" fmla="*/ 280 w 352"/>
                          <a:gd name="T59" fmla="*/ 261 h 544"/>
                          <a:gd name="T60" fmla="*/ 317 w 352"/>
                          <a:gd name="T61" fmla="*/ 175 h 544"/>
                          <a:gd name="T62" fmla="*/ 345 w 352"/>
                          <a:gd name="T63" fmla="*/ 91 h 544"/>
                          <a:gd name="T64" fmla="*/ 262 w 352"/>
                          <a:gd name="T65" fmla="*/ 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52" h="544">
                            <a:moveTo>
                              <a:pt x="262" y="0"/>
                            </a:moveTo>
                            <a:lnTo>
                              <a:pt x="250" y="21"/>
                            </a:lnTo>
                            <a:lnTo>
                              <a:pt x="244" y="45"/>
                            </a:lnTo>
                            <a:lnTo>
                              <a:pt x="231" y="69"/>
                            </a:lnTo>
                            <a:lnTo>
                              <a:pt x="221" y="85"/>
                            </a:lnTo>
                            <a:lnTo>
                              <a:pt x="211" y="103"/>
                            </a:lnTo>
                            <a:lnTo>
                              <a:pt x="195" y="121"/>
                            </a:lnTo>
                            <a:lnTo>
                              <a:pt x="177" y="135"/>
                            </a:lnTo>
                            <a:lnTo>
                              <a:pt x="173" y="140"/>
                            </a:lnTo>
                            <a:lnTo>
                              <a:pt x="170" y="152"/>
                            </a:lnTo>
                            <a:lnTo>
                              <a:pt x="168" y="171"/>
                            </a:lnTo>
                            <a:lnTo>
                              <a:pt x="161" y="194"/>
                            </a:lnTo>
                            <a:lnTo>
                              <a:pt x="146" y="210"/>
                            </a:lnTo>
                            <a:lnTo>
                              <a:pt x="134" y="227"/>
                            </a:lnTo>
                            <a:lnTo>
                              <a:pt x="126" y="243"/>
                            </a:lnTo>
                            <a:lnTo>
                              <a:pt x="108" y="275"/>
                            </a:lnTo>
                            <a:lnTo>
                              <a:pt x="89" y="309"/>
                            </a:lnTo>
                            <a:lnTo>
                              <a:pt x="86" y="320"/>
                            </a:lnTo>
                            <a:lnTo>
                              <a:pt x="85" y="341"/>
                            </a:lnTo>
                            <a:lnTo>
                              <a:pt x="84" y="366"/>
                            </a:lnTo>
                            <a:lnTo>
                              <a:pt x="85" y="387"/>
                            </a:lnTo>
                            <a:lnTo>
                              <a:pt x="87" y="405"/>
                            </a:lnTo>
                            <a:lnTo>
                              <a:pt x="84" y="421"/>
                            </a:lnTo>
                            <a:lnTo>
                              <a:pt x="72" y="443"/>
                            </a:lnTo>
                            <a:lnTo>
                              <a:pt x="55" y="465"/>
                            </a:lnTo>
                            <a:lnTo>
                              <a:pt x="0" y="532"/>
                            </a:lnTo>
                            <a:lnTo>
                              <a:pt x="37" y="544"/>
                            </a:lnTo>
                            <a:lnTo>
                              <a:pt x="60" y="520"/>
                            </a:lnTo>
                            <a:lnTo>
                              <a:pt x="90" y="490"/>
                            </a:lnTo>
                            <a:lnTo>
                              <a:pt x="113" y="466"/>
                            </a:lnTo>
                            <a:lnTo>
                              <a:pt x="133" y="441"/>
                            </a:lnTo>
                            <a:lnTo>
                              <a:pt x="147" y="421"/>
                            </a:lnTo>
                            <a:lnTo>
                              <a:pt x="161" y="389"/>
                            </a:lnTo>
                            <a:lnTo>
                              <a:pt x="183" y="371"/>
                            </a:lnTo>
                            <a:lnTo>
                              <a:pt x="201" y="358"/>
                            </a:lnTo>
                            <a:lnTo>
                              <a:pt x="210" y="344"/>
                            </a:lnTo>
                            <a:lnTo>
                              <a:pt x="204" y="370"/>
                            </a:lnTo>
                            <a:lnTo>
                              <a:pt x="196" y="394"/>
                            </a:lnTo>
                            <a:lnTo>
                              <a:pt x="192" y="422"/>
                            </a:lnTo>
                            <a:lnTo>
                              <a:pt x="194" y="451"/>
                            </a:lnTo>
                            <a:lnTo>
                              <a:pt x="203" y="482"/>
                            </a:lnTo>
                            <a:lnTo>
                              <a:pt x="209" y="500"/>
                            </a:lnTo>
                            <a:lnTo>
                              <a:pt x="216" y="511"/>
                            </a:lnTo>
                            <a:lnTo>
                              <a:pt x="226" y="517"/>
                            </a:lnTo>
                            <a:lnTo>
                              <a:pt x="238" y="520"/>
                            </a:lnTo>
                            <a:lnTo>
                              <a:pt x="249" y="518"/>
                            </a:lnTo>
                            <a:lnTo>
                              <a:pt x="257" y="515"/>
                            </a:lnTo>
                            <a:lnTo>
                              <a:pt x="261" y="503"/>
                            </a:lnTo>
                            <a:lnTo>
                              <a:pt x="257" y="489"/>
                            </a:lnTo>
                            <a:lnTo>
                              <a:pt x="248" y="480"/>
                            </a:lnTo>
                            <a:lnTo>
                              <a:pt x="239" y="469"/>
                            </a:lnTo>
                            <a:lnTo>
                              <a:pt x="237" y="440"/>
                            </a:lnTo>
                            <a:lnTo>
                              <a:pt x="244" y="409"/>
                            </a:lnTo>
                            <a:lnTo>
                              <a:pt x="246" y="387"/>
                            </a:lnTo>
                            <a:lnTo>
                              <a:pt x="254" y="367"/>
                            </a:lnTo>
                            <a:lnTo>
                              <a:pt x="261" y="350"/>
                            </a:lnTo>
                            <a:lnTo>
                              <a:pt x="272" y="332"/>
                            </a:lnTo>
                            <a:lnTo>
                              <a:pt x="274" y="320"/>
                            </a:lnTo>
                            <a:lnTo>
                              <a:pt x="279" y="288"/>
                            </a:lnTo>
                            <a:lnTo>
                              <a:pt x="280" y="261"/>
                            </a:lnTo>
                            <a:lnTo>
                              <a:pt x="301" y="215"/>
                            </a:lnTo>
                            <a:lnTo>
                              <a:pt x="317" y="175"/>
                            </a:lnTo>
                            <a:lnTo>
                              <a:pt x="329" y="135"/>
                            </a:lnTo>
                            <a:lnTo>
                              <a:pt x="345" y="91"/>
                            </a:lnTo>
                            <a:lnTo>
                              <a:pt x="352" y="17"/>
                            </a:lnTo>
                            <a:lnTo>
                              <a:pt x="262" y="0"/>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1" name="Freeform 293"/>
                      <p:cNvSpPr/>
                      <p:nvPr/>
                    </p:nvSpPr>
                    <p:spPr bwMode="auto">
                      <a:xfrm>
                        <a:off x="2596" y="3174"/>
                        <a:ext cx="6" cy="9"/>
                      </a:xfrm>
                      <a:custGeom>
                        <a:avLst/>
                        <a:gdLst>
                          <a:gd name="T0" fmla="*/ 0 w 37"/>
                          <a:gd name="T1" fmla="*/ 38 h 71"/>
                          <a:gd name="T2" fmla="*/ 12 w 37"/>
                          <a:gd name="T3" fmla="*/ 30 h 71"/>
                          <a:gd name="T4" fmla="*/ 22 w 37"/>
                          <a:gd name="T5" fmla="*/ 20 h 71"/>
                          <a:gd name="T6" fmla="*/ 28 w 37"/>
                          <a:gd name="T7" fmla="*/ 12 h 71"/>
                          <a:gd name="T8" fmla="*/ 37 w 37"/>
                          <a:gd name="T9" fmla="*/ 0 h 71"/>
                          <a:gd name="T10" fmla="*/ 29 w 37"/>
                          <a:gd name="T11" fmla="*/ 23 h 71"/>
                          <a:gd name="T12" fmla="*/ 24 w 37"/>
                          <a:gd name="T13" fmla="*/ 35 h 71"/>
                          <a:gd name="T14" fmla="*/ 18 w 37"/>
                          <a:gd name="T15" fmla="*/ 54 h 71"/>
                          <a:gd name="T16" fmla="*/ 12 w 37"/>
                          <a:gd name="T17" fmla="*/ 71 h 71"/>
                          <a:gd name="T18" fmla="*/ 6 w 37"/>
                          <a:gd name="T19" fmla="*/ 49 h 71"/>
                          <a:gd name="T20" fmla="*/ 0 w 37"/>
                          <a:gd name="T21" fmla="*/ 38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71">
                            <a:moveTo>
                              <a:pt x="0" y="38"/>
                            </a:moveTo>
                            <a:lnTo>
                              <a:pt x="12" y="30"/>
                            </a:lnTo>
                            <a:lnTo>
                              <a:pt x="22" y="20"/>
                            </a:lnTo>
                            <a:lnTo>
                              <a:pt x="28" y="12"/>
                            </a:lnTo>
                            <a:lnTo>
                              <a:pt x="37" y="0"/>
                            </a:lnTo>
                            <a:lnTo>
                              <a:pt x="29" y="23"/>
                            </a:lnTo>
                            <a:lnTo>
                              <a:pt x="24" y="35"/>
                            </a:lnTo>
                            <a:lnTo>
                              <a:pt x="18" y="54"/>
                            </a:lnTo>
                            <a:lnTo>
                              <a:pt x="12" y="71"/>
                            </a:lnTo>
                            <a:lnTo>
                              <a:pt x="6" y="49"/>
                            </a:lnTo>
                            <a:lnTo>
                              <a:pt x="0" y="38"/>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2" name="Freeform 294"/>
                      <p:cNvSpPr/>
                      <p:nvPr/>
                    </p:nvSpPr>
                    <p:spPr bwMode="auto">
                      <a:xfrm>
                        <a:off x="2601" y="3180"/>
                        <a:ext cx="5" cy="15"/>
                      </a:xfrm>
                      <a:custGeom>
                        <a:avLst/>
                        <a:gdLst>
                          <a:gd name="T0" fmla="*/ 35 w 35"/>
                          <a:gd name="T1" fmla="*/ 107 h 126"/>
                          <a:gd name="T2" fmla="*/ 23 w 35"/>
                          <a:gd name="T3" fmla="*/ 106 h 126"/>
                          <a:gd name="T4" fmla="*/ 13 w 35"/>
                          <a:gd name="T5" fmla="*/ 110 h 126"/>
                          <a:gd name="T6" fmla="*/ 4 w 35"/>
                          <a:gd name="T7" fmla="*/ 120 h 126"/>
                          <a:gd name="T8" fmla="*/ 0 w 35"/>
                          <a:gd name="T9" fmla="*/ 126 h 126"/>
                          <a:gd name="T10" fmla="*/ 4 w 35"/>
                          <a:gd name="T11" fmla="*/ 114 h 126"/>
                          <a:gd name="T12" fmla="*/ 10 w 35"/>
                          <a:gd name="T13" fmla="*/ 105 h 126"/>
                          <a:gd name="T14" fmla="*/ 18 w 35"/>
                          <a:gd name="T15" fmla="*/ 98 h 126"/>
                          <a:gd name="T16" fmla="*/ 16 w 35"/>
                          <a:gd name="T17" fmla="*/ 86 h 126"/>
                          <a:gd name="T18" fmla="*/ 14 w 35"/>
                          <a:gd name="T19" fmla="*/ 63 h 126"/>
                          <a:gd name="T20" fmla="*/ 17 w 35"/>
                          <a:gd name="T21" fmla="*/ 44 h 126"/>
                          <a:gd name="T22" fmla="*/ 22 w 35"/>
                          <a:gd name="T23" fmla="*/ 27 h 126"/>
                          <a:gd name="T24" fmla="*/ 32 w 35"/>
                          <a:gd name="T25" fmla="*/ 0 h 126"/>
                          <a:gd name="T26" fmla="*/ 30 w 35"/>
                          <a:gd name="T27" fmla="*/ 20 h 126"/>
                          <a:gd name="T28" fmla="*/ 27 w 35"/>
                          <a:gd name="T29" fmla="*/ 38 h 126"/>
                          <a:gd name="T30" fmla="*/ 23 w 35"/>
                          <a:gd name="T31" fmla="*/ 58 h 126"/>
                          <a:gd name="T32" fmla="*/ 22 w 35"/>
                          <a:gd name="T33" fmla="*/ 68 h 126"/>
                          <a:gd name="T34" fmla="*/ 23 w 35"/>
                          <a:gd name="T35" fmla="*/ 80 h 126"/>
                          <a:gd name="T36" fmla="*/ 26 w 35"/>
                          <a:gd name="T37" fmla="*/ 93 h 126"/>
                          <a:gd name="T38" fmla="*/ 35 w 35"/>
                          <a:gd name="T39" fmla="*/ 107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5" h="126">
                            <a:moveTo>
                              <a:pt x="35" y="107"/>
                            </a:moveTo>
                            <a:lnTo>
                              <a:pt x="23" y="106"/>
                            </a:lnTo>
                            <a:lnTo>
                              <a:pt x="13" y="110"/>
                            </a:lnTo>
                            <a:lnTo>
                              <a:pt x="4" y="120"/>
                            </a:lnTo>
                            <a:lnTo>
                              <a:pt x="0" y="126"/>
                            </a:lnTo>
                            <a:lnTo>
                              <a:pt x="4" y="114"/>
                            </a:lnTo>
                            <a:lnTo>
                              <a:pt x="10" y="105"/>
                            </a:lnTo>
                            <a:lnTo>
                              <a:pt x="18" y="98"/>
                            </a:lnTo>
                            <a:lnTo>
                              <a:pt x="16" y="86"/>
                            </a:lnTo>
                            <a:lnTo>
                              <a:pt x="14" y="63"/>
                            </a:lnTo>
                            <a:lnTo>
                              <a:pt x="17" y="44"/>
                            </a:lnTo>
                            <a:lnTo>
                              <a:pt x="22" y="27"/>
                            </a:lnTo>
                            <a:lnTo>
                              <a:pt x="32" y="0"/>
                            </a:lnTo>
                            <a:lnTo>
                              <a:pt x="30" y="20"/>
                            </a:lnTo>
                            <a:lnTo>
                              <a:pt x="27" y="38"/>
                            </a:lnTo>
                            <a:lnTo>
                              <a:pt x="23" y="58"/>
                            </a:lnTo>
                            <a:lnTo>
                              <a:pt x="22" y="68"/>
                            </a:lnTo>
                            <a:lnTo>
                              <a:pt x="23" y="80"/>
                            </a:lnTo>
                            <a:lnTo>
                              <a:pt x="26" y="93"/>
                            </a:lnTo>
                            <a:lnTo>
                              <a:pt x="35" y="10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3" name="Freeform 295"/>
                      <p:cNvSpPr/>
                      <p:nvPr/>
                    </p:nvSpPr>
                    <p:spPr bwMode="auto">
                      <a:xfrm>
                        <a:off x="2582" y="3171"/>
                        <a:ext cx="8" cy="14"/>
                      </a:xfrm>
                      <a:custGeom>
                        <a:avLst/>
                        <a:gdLst>
                          <a:gd name="T0" fmla="*/ 1 w 54"/>
                          <a:gd name="T1" fmla="*/ 119 h 119"/>
                          <a:gd name="T2" fmla="*/ 8 w 54"/>
                          <a:gd name="T3" fmla="*/ 109 h 119"/>
                          <a:gd name="T4" fmla="*/ 15 w 54"/>
                          <a:gd name="T5" fmla="*/ 95 h 119"/>
                          <a:gd name="T6" fmla="*/ 19 w 54"/>
                          <a:gd name="T7" fmla="*/ 83 h 119"/>
                          <a:gd name="T8" fmla="*/ 18 w 54"/>
                          <a:gd name="T9" fmla="*/ 64 h 119"/>
                          <a:gd name="T10" fmla="*/ 18 w 54"/>
                          <a:gd name="T11" fmla="*/ 46 h 119"/>
                          <a:gd name="T12" fmla="*/ 20 w 54"/>
                          <a:gd name="T13" fmla="*/ 30 h 119"/>
                          <a:gd name="T14" fmla="*/ 22 w 54"/>
                          <a:gd name="T15" fmla="*/ 20 h 119"/>
                          <a:gd name="T16" fmla="*/ 29 w 54"/>
                          <a:gd name="T17" fmla="*/ 12 h 119"/>
                          <a:gd name="T18" fmla="*/ 41 w 54"/>
                          <a:gd name="T19" fmla="*/ 6 h 119"/>
                          <a:gd name="T20" fmla="*/ 54 w 54"/>
                          <a:gd name="T21" fmla="*/ 0 h 119"/>
                          <a:gd name="T22" fmla="*/ 36 w 54"/>
                          <a:gd name="T23" fmla="*/ 6 h 119"/>
                          <a:gd name="T24" fmla="*/ 23 w 54"/>
                          <a:gd name="T25" fmla="*/ 12 h 119"/>
                          <a:gd name="T26" fmla="*/ 12 w 54"/>
                          <a:gd name="T27" fmla="*/ 12 h 119"/>
                          <a:gd name="T28" fmla="*/ 5 w 54"/>
                          <a:gd name="T29" fmla="*/ 8 h 119"/>
                          <a:gd name="T30" fmla="*/ 2 w 54"/>
                          <a:gd name="T31" fmla="*/ 16 h 119"/>
                          <a:gd name="T32" fmla="*/ 1 w 54"/>
                          <a:gd name="T33" fmla="*/ 31 h 119"/>
                          <a:gd name="T34" fmla="*/ 1 w 54"/>
                          <a:gd name="T35" fmla="*/ 44 h 119"/>
                          <a:gd name="T36" fmla="*/ 0 w 54"/>
                          <a:gd name="T37" fmla="*/ 63 h 119"/>
                          <a:gd name="T38" fmla="*/ 1 w 54"/>
                          <a:gd name="T39" fmla="*/ 78 h 119"/>
                          <a:gd name="T40" fmla="*/ 2 w 54"/>
                          <a:gd name="T41" fmla="*/ 92 h 119"/>
                          <a:gd name="T42" fmla="*/ 4 w 54"/>
                          <a:gd name="T43" fmla="*/ 101 h 119"/>
                          <a:gd name="T44" fmla="*/ 1 w 54"/>
                          <a:gd name="T4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4" h="119">
                            <a:moveTo>
                              <a:pt x="1" y="119"/>
                            </a:moveTo>
                            <a:lnTo>
                              <a:pt x="8" y="109"/>
                            </a:lnTo>
                            <a:lnTo>
                              <a:pt x="15" y="95"/>
                            </a:lnTo>
                            <a:lnTo>
                              <a:pt x="19" y="83"/>
                            </a:lnTo>
                            <a:lnTo>
                              <a:pt x="18" y="64"/>
                            </a:lnTo>
                            <a:lnTo>
                              <a:pt x="18" y="46"/>
                            </a:lnTo>
                            <a:lnTo>
                              <a:pt x="20" y="30"/>
                            </a:lnTo>
                            <a:lnTo>
                              <a:pt x="22" y="20"/>
                            </a:lnTo>
                            <a:lnTo>
                              <a:pt x="29" y="12"/>
                            </a:lnTo>
                            <a:lnTo>
                              <a:pt x="41" y="6"/>
                            </a:lnTo>
                            <a:lnTo>
                              <a:pt x="54" y="0"/>
                            </a:lnTo>
                            <a:lnTo>
                              <a:pt x="36" y="6"/>
                            </a:lnTo>
                            <a:lnTo>
                              <a:pt x="23" y="12"/>
                            </a:lnTo>
                            <a:lnTo>
                              <a:pt x="12" y="12"/>
                            </a:lnTo>
                            <a:lnTo>
                              <a:pt x="5" y="8"/>
                            </a:lnTo>
                            <a:lnTo>
                              <a:pt x="2" y="16"/>
                            </a:lnTo>
                            <a:lnTo>
                              <a:pt x="1" y="31"/>
                            </a:lnTo>
                            <a:lnTo>
                              <a:pt x="1" y="44"/>
                            </a:lnTo>
                            <a:lnTo>
                              <a:pt x="0" y="63"/>
                            </a:lnTo>
                            <a:lnTo>
                              <a:pt x="1" y="78"/>
                            </a:lnTo>
                            <a:lnTo>
                              <a:pt x="2" y="92"/>
                            </a:lnTo>
                            <a:lnTo>
                              <a:pt x="4" y="101"/>
                            </a:lnTo>
                            <a:lnTo>
                              <a:pt x="1" y="11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44" name="Group 296"/>
                    <p:cNvGrpSpPr/>
                    <p:nvPr/>
                  </p:nvGrpSpPr>
                  <p:grpSpPr bwMode="auto">
                    <a:xfrm>
                      <a:off x="2605" y="3112"/>
                      <a:ext cx="32" cy="35"/>
                      <a:chOff x="2605" y="3112"/>
                      <a:chExt cx="32" cy="35"/>
                    </a:xfrm>
                  </p:grpSpPr>
                  <p:sp>
                    <p:nvSpPr>
                      <p:cNvPr id="642345" name="Freeform 297"/>
                      <p:cNvSpPr/>
                      <p:nvPr/>
                    </p:nvSpPr>
                    <p:spPr bwMode="auto">
                      <a:xfrm>
                        <a:off x="2605" y="3112"/>
                        <a:ext cx="32" cy="35"/>
                      </a:xfrm>
                      <a:custGeom>
                        <a:avLst/>
                        <a:gdLst>
                          <a:gd name="T0" fmla="*/ 67 w 229"/>
                          <a:gd name="T1" fmla="*/ 0 h 275"/>
                          <a:gd name="T2" fmla="*/ 102 w 229"/>
                          <a:gd name="T3" fmla="*/ 11 h 275"/>
                          <a:gd name="T4" fmla="*/ 167 w 229"/>
                          <a:gd name="T5" fmla="*/ 37 h 275"/>
                          <a:gd name="T6" fmla="*/ 209 w 229"/>
                          <a:gd name="T7" fmla="*/ 72 h 275"/>
                          <a:gd name="T8" fmla="*/ 229 w 229"/>
                          <a:gd name="T9" fmla="*/ 108 h 275"/>
                          <a:gd name="T10" fmla="*/ 223 w 229"/>
                          <a:gd name="T11" fmla="*/ 133 h 275"/>
                          <a:gd name="T12" fmla="*/ 208 w 229"/>
                          <a:gd name="T13" fmla="*/ 151 h 275"/>
                          <a:gd name="T14" fmla="*/ 196 w 229"/>
                          <a:gd name="T15" fmla="*/ 165 h 275"/>
                          <a:gd name="T16" fmla="*/ 180 w 229"/>
                          <a:gd name="T17" fmla="*/ 178 h 275"/>
                          <a:gd name="T18" fmla="*/ 164 w 229"/>
                          <a:gd name="T19" fmla="*/ 200 h 275"/>
                          <a:gd name="T20" fmla="*/ 150 w 229"/>
                          <a:gd name="T21" fmla="*/ 222 h 275"/>
                          <a:gd name="T22" fmla="*/ 140 w 229"/>
                          <a:gd name="T23" fmla="*/ 240 h 275"/>
                          <a:gd name="T24" fmla="*/ 132 w 229"/>
                          <a:gd name="T25" fmla="*/ 255 h 275"/>
                          <a:gd name="T26" fmla="*/ 119 w 229"/>
                          <a:gd name="T27" fmla="*/ 266 h 275"/>
                          <a:gd name="T28" fmla="*/ 109 w 229"/>
                          <a:gd name="T29" fmla="*/ 272 h 275"/>
                          <a:gd name="T30" fmla="*/ 96 w 229"/>
                          <a:gd name="T31" fmla="*/ 275 h 275"/>
                          <a:gd name="T32" fmla="*/ 99 w 229"/>
                          <a:gd name="T33" fmla="*/ 263 h 275"/>
                          <a:gd name="T34" fmla="*/ 103 w 229"/>
                          <a:gd name="T35" fmla="*/ 253 h 275"/>
                          <a:gd name="T36" fmla="*/ 99 w 229"/>
                          <a:gd name="T37" fmla="*/ 228 h 275"/>
                          <a:gd name="T38" fmla="*/ 81 w 229"/>
                          <a:gd name="T39" fmla="*/ 209 h 275"/>
                          <a:gd name="T40" fmla="*/ 45 w 229"/>
                          <a:gd name="T41" fmla="*/ 191 h 275"/>
                          <a:gd name="T42" fmla="*/ 13 w 229"/>
                          <a:gd name="T43" fmla="*/ 187 h 275"/>
                          <a:gd name="T44" fmla="*/ 5 w 229"/>
                          <a:gd name="T45" fmla="*/ 192 h 275"/>
                          <a:gd name="T46" fmla="*/ 0 w 229"/>
                          <a:gd name="T47" fmla="*/ 183 h 275"/>
                          <a:gd name="T48" fmla="*/ 1 w 229"/>
                          <a:gd name="T49" fmla="*/ 175 h 275"/>
                          <a:gd name="T50" fmla="*/ 3 w 229"/>
                          <a:gd name="T51" fmla="*/ 166 h 275"/>
                          <a:gd name="T52" fmla="*/ 9 w 229"/>
                          <a:gd name="T53" fmla="*/ 157 h 275"/>
                          <a:gd name="T54" fmla="*/ 22 w 229"/>
                          <a:gd name="T55" fmla="*/ 133 h 275"/>
                          <a:gd name="T56" fmla="*/ 29 w 229"/>
                          <a:gd name="T57" fmla="*/ 102 h 275"/>
                          <a:gd name="T58" fmla="*/ 44 w 229"/>
                          <a:gd name="T59" fmla="*/ 56 h 275"/>
                          <a:gd name="T60" fmla="*/ 60 w 229"/>
                          <a:gd name="T61" fmla="*/ 15 h 275"/>
                          <a:gd name="T62" fmla="*/ 67 w 229"/>
                          <a:gd name="T63" fmla="*/ 0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29" h="275">
                            <a:moveTo>
                              <a:pt x="67" y="0"/>
                            </a:moveTo>
                            <a:lnTo>
                              <a:pt x="102" y="11"/>
                            </a:lnTo>
                            <a:lnTo>
                              <a:pt x="167" y="37"/>
                            </a:lnTo>
                            <a:lnTo>
                              <a:pt x="209" y="72"/>
                            </a:lnTo>
                            <a:lnTo>
                              <a:pt x="229" y="108"/>
                            </a:lnTo>
                            <a:lnTo>
                              <a:pt x="223" y="133"/>
                            </a:lnTo>
                            <a:lnTo>
                              <a:pt x="208" y="151"/>
                            </a:lnTo>
                            <a:lnTo>
                              <a:pt x="196" y="165"/>
                            </a:lnTo>
                            <a:lnTo>
                              <a:pt x="180" y="178"/>
                            </a:lnTo>
                            <a:lnTo>
                              <a:pt x="164" y="200"/>
                            </a:lnTo>
                            <a:lnTo>
                              <a:pt x="150" y="222"/>
                            </a:lnTo>
                            <a:lnTo>
                              <a:pt x="140" y="240"/>
                            </a:lnTo>
                            <a:lnTo>
                              <a:pt x="132" y="255"/>
                            </a:lnTo>
                            <a:lnTo>
                              <a:pt x="119" y="266"/>
                            </a:lnTo>
                            <a:lnTo>
                              <a:pt x="109" y="272"/>
                            </a:lnTo>
                            <a:lnTo>
                              <a:pt x="96" y="275"/>
                            </a:lnTo>
                            <a:lnTo>
                              <a:pt x="99" y="263"/>
                            </a:lnTo>
                            <a:lnTo>
                              <a:pt x="103" y="253"/>
                            </a:lnTo>
                            <a:lnTo>
                              <a:pt x="99" y="228"/>
                            </a:lnTo>
                            <a:lnTo>
                              <a:pt x="81" y="209"/>
                            </a:lnTo>
                            <a:lnTo>
                              <a:pt x="45" y="191"/>
                            </a:lnTo>
                            <a:lnTo>
                              <a:pt x="13" y="187"/>
                            </a:lnTo>
                            <a:lnTo>
                              <a:pt x="5" y="192"/>
                            </a:lnTo>
                            <a:lnTo>
                              <a:pt x="0" y="183"/>
                            </a:lnTo>
                            <a:lnTo>
                              <a:pt x="1" y="175"/>
                            </a:lnTo>
                            <a:lnTo>
                              <a:pt x="3" y="166"/>
                            </a:lnTo>
                            <a:lnTo>
                              <a:pt x="9" y="157"/>
                            </a:lnTo>
                            <a:lnTo>
                              <a:pt x="22" y="133"/>
                            </a:lnTo>
                            <a:lnTo>
                              <a:pt x="29" y="102"/>
                            </a:lnTo>
                            <a:lnTo>
                              <a:pt x="44" y="56"/>
                            </a:lnTo>
                            <a:lnTo>
                              <a:pt x="60" y="15"/>
                            </a:lnTo>
                            <a:lnTo>
                              <a:pt x="6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46" name="Freeform 298"/>
                      <p:cNvSpPr/>
                      <p:nvPr/>
                    </p:nvSpPr>
                    <p:spPr bwMode="auto">
                      <a:xfrm>
                        <a:off x="2605" y="3134"/>
                        <a:ext cx="16" cy="12"/>
                      </a:xfrm>
                      <a:custGeom>
                        <a:avLst/>
                        <a:gdLst>
                          <a:gd name="T0" fmla="*/ 0 w 106"/>
                          <a:gd name="T1" fmla="*/ 11 h 98"/>
                          <a:gd name="T2" fmla="*/ 3 w 106"/>
                          <a:gd name="T3" fmla="*/ 4 h 98"/>
                          <a:gd name="T4" fmla="*/ 9 w 106"/>
                          <a:gd name="T5" fmla="*/ 2 h 98"/>
                          <a:gd name="T6" fmla="*/ 23 w 106"/>
                          <a:gd name="T7" fmla="*/ 0 h 98"/>
                          <a:gd name="T8" fmla="*/ 35 w 106"/>
                          <a:gd name="T9" fmla="*/ 1 h 98"/>
                          <a:gd name="T10" fmla="*/ 50 w 106"/>
                          <a:gd name="T11" fmla="*/ 5 h 98"/>
                          <a:gd name="T12" fmla="*/ 63 w 106"/>
                          <a:gd name="T13" fmla="*/ 12 h 98"/>
                          <a:gd name="T14" fmla="*/ 77 w 106"/>
                          <a:gd name="T15" fmla="*/ 21 h 98"/>
                          <a:gd name="T16" fmla="*/ 89 w 106"/>
                          <a:gd name="T17" fmla="*/ 29 h 98"/>
                          <a:gd name="T18" fmla="*/ 98 w 106"/>
                          <a:gd name="T19" fmla="*/ 42 h 98"/>
                          <a:gd name="T20" fmla="*/ 105 w 106"/>
                          <a:gd name="T21" fmla="*/ 56 h 98"/>
                          <a:gd name="T22" fmla="*/ 106 w 106"/>
                          <a:gd name="T23" fmla="*/ 68 h 98"/>
                          <a:gd name="T24" fmla="*/ 104 w 106"/>
                          <a:gd name="T25" fmla="*/ 83 h 98"/>
                          <a:gd name="T26" fmla="*/ 100 w 106"/>
                          <a:gd name="T27" fmla="*/ 89 h 98"/>
                          <a:gd name="T28" fmla="*/ 94 w 106"/>
                          <a:gd name="T29" fmla="*/ 98 h 98"/>
                          <a:gd name="T30" fmla="*/ 98 w 106"/>
                          <a:gd name="T31" fmla="*/ 82 h 98"/>
                          <a:gd name="T32" fmla="*/ 100 w 106"/>
                          <a:gd name="T33" fmla="*/ 66 h 98"/>
                          <a:gd name="T34" fmla="*/ 94 w 106"/>
                          <a:gd name="T35" fmla="*/ 50 h 98"/>
                          <a:gd name="T36" fmla="*/ 85 w 106"/>
                          <a:gd name="T37" fmla="*/ 38 h 98"/>
                          <a:gd name="T38" fmla="*/ 69 w 106"/>
                          <a:gd name="T39" fmla="*/ 26 h 98"/>
                          <a:gd name="T40" fmla="*/ 53 w 106"/>
                          <a:gd name="T41" fmla="*/ 18 h 98"/>
                          <a:gd name="T42" fmla="*/ 36 w 106"/>
                          <a:gd name="T43" fmla="*/ 13 h 98"/>
                          <a:gd name="T44" fmla="*/ 21 w 106"/>
                          <a:gd name="T45" fmla="*/ 9 h 98"/>
                          <a:gd name="T46" fmla="*/ 0 w 106"/>
                          <a:gd name="T47" fmla="*/ 11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6" h="98">
                            <a:moveTo>
                              <a:pt x="0" y="11"/>
                            </a:moveTo>
                            <a:lnTo>
                              <a:pt x="3" y="4"/>
                            </a:lnTo>
                            <a:lnTo>
                              <a:pt x="9" y="2"/>
                            </a:lnTo>
                            <a:lnTo>
                              <a:pt x="23" y="0"/>
                            </a:lnTo>
                            <a:lnTo>
                              <a:pt x="35" y="1"/>
                            </a:lnTo>
                            <a:lnTo>
                              <a:pt x="50" y="5"/>
                            </a:lnTo>
                            <a:lnTo>
                              <a:pt x="63" y="12"/>
                            </a:lnTo>
                            <a:lnTo>
                              <a:pt x="77" y="21"/>
                            </a:lnTo>
                            <a:lnTo>
                              <a:pt x="89" y="29"/>
                            </a:lnTo>
                            <a:lnTo>
                              <a:pt x="98" y="42"/>
                            </a:lnTo>
                            <a:lnTo>
                              <a:pt x="105" y="56"/>
                            </a:lnTo>
                            <a:lnTo>
                              <a:pt x="106" y="68"/>
                            </a:lnTo>
                            <a:lnTo>
                              <a:pt x="104" y="83"/>
                            </a:lnTo>
                            <a:lnTo>
                              <a:pt x="100" y="89"/>
                            </a:lnTo>
                            <a:lnTo>
                              <a:pt x="94" y="98"/>
                            </a:lnTo>
                            <a:lnTo>
                              <a:pt x="98" y="82"/>
                            </a:lnTo>
                            <a:lnTo>
                              <a:pt x="100" y="66"/>
                            </a:lnTo>
                            <a:lnTo>
                              <a:pt x="94" y="50"/>
                            </a:lnTo>
                            <a:lnTo>
                              <a:pt x="85" y="38"/>
                            </a:lnTo>
                            <a:lnTo>
                              <a:pt x="69" y="26"/>
                            </a:lnTo>
                            <a:lnTo>
                              <a:pt x="53" y="18"/>
                            </a:lnTo>
                            <a:lnTo>
                              <a:pt x="36" y="13"/>
                            </a:lnTo>
                            <a:lnTo>
                              <a:pt x="21" y="9"/>
                            </a:lnTo>
                            <a:lnTo>
                              <a:pt x="0" y="11"/>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347" name="Group 299"/>
                  <p:cNvGrpSpPr/>
                  <p:nvPr/>
                </p:nvGrpSpPr>
                <p:grpSpPr bwMode="auto">
                  <a:xfrm>
                    <a:off x="2613" y="2992"/>
                    <a:ext cx="111" cy="138"/>
                    <a:chOff x="2613" y="2992"/>
                    <a:chExt cx="111" cy="138"/>
                  </a:xfrm>
                </p:grpSpPr>
                <p:sp>
                  <p:nvSpPr>
                    <p:cNvPr id="642348" name="Freeform 300"/>
                    <p:cNvSpPr/>
                    <p:nvPr/>
                  </p:nvSpPr>
                  <p:spPr bwMode="auto">
                    <a:xfrm>
                      <a:off x="2613" y="2992"/>
                      <a:ext cx="111" cy="136"/>
                    </a:xfrm>
                    <a:custGeom>
                      <a:avLst/>
                      <a:gdLst>
                        <a:gd name="T0" fmla="*/ 618 w 777"/>
                        <a:gd name="T1" fmla="*/ 181 h 1093"/>
                        <a:gd name="T2" fmla="*/ 777 w 777"/>
                        <a:gd name="T3" fmla="*/ 553 h 1093"/>
                        <a:gd name="T4" fmla="*/ 701 w 777"/>
                        <a:gd name="T5" fmla="*/ 631 h 1093"/>
                        <a:gd name="T6" fmla="*/ 557 w 777"/>
                        <a:gd name="T7" fmla="*/ 564 h 1093"/>
                        <a:gd name="T8" fmla="*/ 505 w 777"/>
                        <a:gd name="T9" fmla="*/ 523 h 1093"/>
                        <a:gd name="T10" fmla="*/ 434 w 777"/>
                        <a:gd name="T11" fmla="*/ 667 h 1093"/>
                        <a:gd name="T12" fmla="*/ 383 w 777"/>
                        <a:gd name="T13" fmla="*/ 750 h 1093"/>
                        <a:gd name="T14" fmla="*/ 369 w 777"/>
                        <a:gd name="T15" fmla="*/ 764 h 1093"/>
                        <a:gd name="T16" fmla="*/ 352 w 777"/>
                        <a:gd name="T17" fmla="*/ 811 h 1093"/>
                        <a:gd name="T18" fmla="*/ 334 w 777"/>
                        <a:gd name="T19" fmla="*/ 839 h 1093"/>
                        <a:gd name="T20" fmla="*/ 315 w 777"/>
                        <a:gd name="T21" fmla="*/ 871 h 1093"/>
                        <a:gd name="T22" fmla="*/ 294 w 777"/>
                        <a:gd name="T23" fmla="*/ 917 h 1093"/>
                        <a:gd name="T24" fmla="*/ 265 w 777"/>
                        <a:gd name="T25" fmla="*/ 926 h 1093"/>
                        <a:gd name="T26" fmla="*/ 259 w 777"/>
                        <a:gd name="T27" fmla="*/ 968 h 1093"/>
                        <a:gd name="T28" fmla="*/ 228 w 777"/>
                        <a:gd name="T29" fmla="*/ 991 h 1093"/>
                        <a:gd name="T30" fmla="*/ 205 w 777"/>
                        <a:gd name="T31" fmla="*/ 1034 h 1093"/>
                        <a:gd name="T32" fmla="*/ 196 w 777"/>
                        <a:gd name="T33" fmla="*/ 1068 h 1093"/>
                        <a:gd name="T34" fmla="*/ 177 w 777"/>
                        <a:gd name="T35" fmla="*/ 1090 h 1093"/>
                        <a:gd name="T36" fmla="*/ 152 w 777"/>
                        <a:gd name="T37" fmla="*/ 1052 h 1093"/>
                        <a:gd name="T38" fmla="*/ 63 w 777"/>
                        <a:gd name="T39" fmla="*/ 993 h 1093"/>
                        <a:gd name="T40" fmla="*/ 0 w 777"/>
                        <a:gd name="T41" fmla="*/ 985 h 1093"/>
                        <a:gd name="T42" fmla="*/ 17 w 777"/>
                        <a:gd name="T43" fmla="*/ 914 h 1093"/>
                        <a:gd name="T44" fmla="*/ 31 w 777"/>
                        <a:gd name="T45" fmla="*/ 862 h 1093"/>
                        <a:gd name="T46" fmla="*/ 82 w 777"/>
                        <a:gd name="T47" fmla="*/ 818 h 1093"/>
                        <a:gd name="T48" fmla="*/ 82 w 777"/>
                        <a:gd name="T49" fmla="*/ 770 h 1093"/>
                        <a:gd name="T50" fmla="*/ 99 w 777"/>
                        <a:gd name="T51" fmla="*/ 721 h 1093"/>
                        <a:gd name="T52" fmla="*/ 128 w 777"/>
                        <a:gd name="T53" fmla="*/ 692 h 1093"/>
                        <a:gd name="T54" fmla="*/ 137 w 777"/>
                        <a:gd name="T55" fmla="*/ 672 h 1093"/>
                        <a:gd name="T56" fmla="*/ 131 w 777"/>
                        <a:gd name="T57" fmla="*/ 636 h 1093"/>
                        <a:gd name="T58" fmla="*/ 141 w 777"/>
                        <a:gd name="T59" fmla="*/ 602 h 1093"/>
                        <a:gd name="T60" fmla="*/ 165 w 777"/>
                        <a:gd name="T61" fmla="*/ 583 h 1093"/>
                        <a:gd name="T62" fmla="*/ 176 w 777"/>
                        <a:gd name="T63" fmla="*/ 562 h 1093"/>
                        <a:gd name="T64" fmla="*/ 191 w 777"/>
                        <a:gd name="T65" fmla="*/ 543 h 1093"/>
                        <a:gd name="T66" fmla="*/ 214 w 777"/>
                        <a:gd name="T67" fmla="*/ 525 h 1093"/>
                        <a:gd name="T68" fmla="*/ 227 w 777"/>
                        <a:gd name="T69" fmla="*/ 508 h 1093"/>
                        <a:gd name="T70" fmla="*/ 229 w 777"/>
                        <a:gd name="T71" fmla="*/ 483 h 1093"/>
                        <a:gd name="T72" fmla="*/ 223 w 777"/>
                        <a:gd name="T73" fmla="*/ 448 h 1093"/>
                        <a:gd name="T74" fmla="*/ 227 w 777"/>
                        <a:gd name="T75" fmla="*/ 419 h 1093"/>
                        <a:gd name="T76" fmla="*/ 245 w 777"/>
                        <a:gd name="T77" fmla="*/ 397 h 1093"/>
                        <a:gd name="T78" fmla="*/ 254 w 777"/>
                        <a:gd name="T79" fmla="*/ 374 h 1093"/>
                        <a:gd name="T80" fmla="*/ 253 w 777"/>
                        <a:gd name="T81" fmla="*/ 339 h 1093"/>
                        <a:gd name="T82" fmla="*/ 261 w 777"/>
                        <a:gd name="T83" fmla="*/ 281 h 1093"/>
                        <a:gd name="T84" fmla="*/ 283 w 777"/>
                        <a:gd name="T85" fmla="*/ 191 h 1093"/>
                        <a:gd name="T86" fmla="*/ 334 w 777"/>
                        <a:gd name="T87" fmla="*/ 0 h 10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77" h="1093">
                          <a:moveTo>
                            <a:pt x="334" y="0"/>
                          </a:moveTo>
                          <a:lnTo>
                            <a:pt x="618" y="181"/>
                          </a:lnTo>
                          <a:lnTo>
                            <a:pt x="677" y="390"/>
                          </a:lnTo>
                          <a:lnTo>
                            <a:pt x="777" y="553"/>
                          </a:lnTo>
                          <a:lnTo>
                            <a:pt x="730" y="680"/>
                          </a:lnTo>
                          <a:lnTo>
                            <a:pt x="701" y="631"/>
                          </a:lnTo>
                          <a:lnTo>
                            <a:pt x="636" y="583"/>
                          </a:lnTo>
                          <a:lnTo>
                            <a:pt x="557" y="564"/>
                          </a:lnTo>
                          <a:lnTo>
                            <a:pt x="528" y="547"/>
                          </a:lnTo>
                          <a:lnTo>
                            <a:pt x="505" y="523"/>
                          </a:lnTo>
                          <a:lnTo>
                            <a:pt x="486" y="570"/>
                          </a:lnTo>
                          <a:lnTo>
                            <a:pt x="434" y="667"/>
                          </a:lnTo>
                          <a:lnTo>
                            <a:pt x="386" y="739"/>
                          </a:lnTo>
                          <a:lnTo>
                            <a:pt x="383" y="750"/>
                          </a:lnTo>
                          <a:lnTo>
                            <a:pt x="377" y="760"/>
                          </a:lnTo>
                          <a:lnTo>
                            <a:pt x="369" y="764"/>
                          </a:lnTo>
                          <a:lnTo>
                            <a:pt x="362" y="777"/>
                          </a:lnTo>
                          <a:lnTo>
                            <a:pt x="352" y="811"/>
                          </a:lnTo>
                          <a:lnTo>
                            <a:pt x="342" y="841"/>
                          </a:lnTo>
                          <a:lnTo>
                            <a:pt x="334" y="839"/>
                          </a:lnTo>
                          <a:lnTo>
                            <a:pt x="328" y="841"/>
                          </a:lnTo>
                          <a:lnTo>
                            <a:pt x="315" y="871"/>
                          </a:lnTo>
                          <a:lnTo>
                            <a:pt x="305" y="908"/>
                          </a:lnTo>
                          <a:lnTo>
                            <a:pt x="294" y="917"/>
                          </a:lnTo>
                          <a:lnTo>
                            <a:pt x="282" y="922"/>
                          </a:lnTo>
                          <a:lnTo>
                            <a:pt x="265" y="926"/>
                          </a:lnTo>
                          <a:lnTo>
                            <a:pt x="263" y="948"/>
                          </a:lnTo>
                          <a:lnTo>
                            <a:pt x="259" y="968"/>
                          </a:lnTo>
                          <a:lnTo>
                            <a:pt x="245" y="983"/>
                          </a:lnTo>
                          <a:lnTo>
                            <a:pt x="228" y="991"/>
                          </a:lnTo>
                          <a:lnTo>
                            <a:pt x="213" y="1014"/>
                          </a:lnTo>
                          <a:lnTo>
                            <a:pt x="205" y="1034"/>
                          </a:lnTo>
                          <a:lnTo>
                            <a:pt x="202" y="1051"/>
                          </a:lnTo>
                          <a:lnTo>
                            <a:pt x="196" y="1068"/>
                          </a:lnTo>
                          <a:lnTo>
                            <a:pt x="191" y="1084"/>
                          </a:lnTo>
                          <a:lnTo>
                            <a:pt x="177" y="1090"/>
                          </a:lnTo>
                          <a:lnTo>
                            <a:pt x="159" y="1093"/>
                          </a:lnTo>
                          <a:lnTo>
                            <a:pt x="152" y="1052"/>
                          </a:lnTo>
                          <a:lnTo>
                            <a:pt x="121" y="1013"/>
                          </a:lnTo>
                          <a:lnTo>
                            <a:pt x="63" y="993"/>
                          </a:lnTo>
                          <a:lnTo>
                            <a:pt x="36" y="981"/>
                          </a:lnTo>
                          <a:lnTo>
                            <a:pt x="0" y="985"/>
                          </a:lnTo>
                          <a:lnTo>
                            <a:pt x="13" y="941"/>
                          </a:lnTo>
                          <a:lnTo>
                            <a:pt x="17" y="914"/>
                          </a:lnTo>
                          <a:lnTo>
                            <a:pt x="22" y="885"/>
                          </a:lnTo>
                          <a:lnTo>
                            <a:pt x="31" y="862"/>
                          </a:lnTo>
                          <a:lnTo>
                            <a:pt x="40" y="848"/>
                          </a:lnTo>
                          <a:lnTo>
                            <a:pt x="82" y="818"/>
                          </a:lnTo>
                          <a:lnTo>
                            <a:pt x="79" y="792"/>
                          </a:lnTo>
                          <a:lnTo>
                            <a:pt x="82" y="770"/>
                          </a:lnTo>
                          <a:lnTo>
                            <a:pt x="88" y="746"/>
                          </a:lnTo>
                          <a:lnTo>
                            <a:pt x="99" y="721"/>
                          </a:lnTo>
                          <a:lnTo>
                            <a:pt x="111" y="707"/>
                          </a:lnTo>
                          <a:lnTo>
                            <a:pt x="128" y="692"/>
                          </a:lnTo>
                          <a:lnTo>
                            <a:pt x="146" y="685"/>
                          </a:lnTo>
                          <a:lnTo>
                            <a:pt x="137" y="672"/>
                          </a:lnTo>
                          <a:lnTo>
                            <a:pt x="134" y="655"/>
                          </a:lnTo>
                          <a:lnTo>
                            <a:pt x="131" y="636"/>
                          </a:lnTo>
                          <a:lnTo>
                            <a:pt x="134" y="619"/>
                          </a:lnTo>
                          <a:lnTo>
                            <a:pt x="141" y="602"/>
                          </a:lnTo>
                          <a:lnTo>
                            <a:pt x="153" y="591"/>
                          </a:lnTo>
                          <a:lnTo>
                            <a:pt x="165" y="583"/>
                          </a:lnTo>
                          <a:lnTo>
                            <a:pt x="168" y="570"/>
                          </a:lnTo>
                          <a:lnTo>
                            <a:pt x="176" y="562"/>
                          </a:lnTo>
                          <a:lnTo>
                            <a:pt x="188" y="559"/>
                          </a:lnTo>
                          <a:lnTo>
                            <a:pt x="191" y="543"/>
                          </a:lnTo>
                          <a:lnTo>
                            <a:pt x="203" y="529"/>
                          </a:lnTo>
                          <a:lnTo>
                            <a:pt x="214" y="525"/>
                          </a:lnTo>
                          <a:lnTo>
                            <a:pt x="225" y="522"/>
                          </a:lnTo>
                          <a:lnTo>
                            <a:pt x="227" y="508"/>
                          </a:lnTo>
                          <a:lnTo>
                            <a:pt x="231" y="499"/>
                          </a:lnTo>
                          <a:lnTo>
                            <a:pt x="229" y="483"/>
                          </a:lnTo>
                          <a:lnTo>
                            <a:pt x="225" y="468"/>
                          </a:lnTo>
                          <a:lnTo>
                            <a:pt x="223" y="448"/>
                          </a:lnTo>
                          <a:lnTo>
                            <a:pt x="222" y="433"/>
                          </a:lnTo>
                          <a:lnTo>
                            <a:pt x="227" y="419"/>
                          </a:lnTo>
                          <a:lnTo>
                            <a:pt x="236" y="406"/>
                          </a:lnTo>
                          <a:lnTo>
                            <a:pt x="245" y="397"/>
                          </a:lnTo>
                          <a:lnTo>
                            <a:pt x="253" y="390"/>
                          </a:lnTo>
                          <a:lnTo>
                            <a:pt x="254" y="374"/>
                          </a:lnTo>
                          <a:lnTo>
                            <a:pt x="256" y="359"/>
                          </a:lnTo>
                          <a:lnTo>
                            <a:pt x="253" y="339"/>
                          </a:lnTo>
                          <a:lnTo>
                            <a:pt x="247" y="324"/>
                          </a:lnTo>
                          <a:lnTo>
                            <a:pt x="261" y="281"/>
                          </a:lnTo>
                          <a:lnTo>
                            <a:pt x="276" y="241"/>
                          </a:lnTo>
                          <a:lnTo>
                            <a:pt x="283" y="191"/>
                          </a:lnTo>
                          <a:lnTo>
                            <a:pt x="293" y="148"/>
                          </a:lnTo>
                          <a:lnTo>
                            <a:pt x="334" y="0"/>
                          </a:lnTo>
                          <a:close/>
                        </a:path>
                      </a:pathLst>
                    </a:custGeom>
                    <a:solidFill>
                      <a:srgbClr val="A0A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349" name="Group 301"/>
                    <p:cNvGrpSpPr/>
                    <p:nvPr/>
                  </p:nvGrpSpPr>
                  <p:grpSpPr bwMode="auto">
                    <a:xfrm>
                      <a:off x="2613" y="3011"/>
                      <a:ext cx="109" cy="119"/>
                      <a:chOff x="2613" y="3011"/>
                      <a:chExt cx="109" cy="119"/>
                    </a:xfrm>
                  </p:grpSpPr>
                  <p:sp>
                    <p:nvSpPr>
                      <p:cNvPr id="642350" name="Freeform 302"/>
                      <p:cNvSpPr/>
                      <p:nvPr/>
                    </p:nvSpPr>
                    <p:spPr bwMode="auto">
                      <a:xfrm>
                        <a:off x="2642" y="3011"/>
                        <a:ext cx="80" cy="70"/>
                      </a:xfrm>
                      <a:custGeom>
                        <a:avLst/>
                        <a:gdLst>
                          <a:gd name="T0" fmla="*/ 228 w 557"/>
                          <a:gd name="T1" fmla="*/ 518 h 558"/>
                          <a:gd name="T2" fmla="*/ 269 w 557"/>
                          <a:gd name="T3" fmla="*/ 444 h 558"/>
                          <a:gd name="T4" fmla="*/ 301 w 557"/>
                          <a:gd name="T5" fmla="*/ 373 h 558"/>
                          <a:gd name="T6" fmla="*/ 339 w 557"/>
                          <a:gd name="T7" fmla="*/ 406 h 558"/>
                          <a:gd name="T8" fmla="*/ 395 w 557"/>
                          <a:gd name="T9" fmla="*/ 423 h 558"/>
                          <a:gd name="T10" fmla="*/ 447 w 557"/>
                          <a:gd name="T11" fmla="*/ 441 h 558"/>
                          <a:gd name="T12" fmla="*/ 489 w 557"/>
                          <a:gd name="T13" fmla="*/ 473 h 558"/>
                          <a:gd name="T14" fmla="*/ 525 w 557"/>
                          <a:gd name="T15" fmla="*/ 525 h 558"/>
                          <a:gd name="T16" fmla="*/ 545 w 557"/>
                          <a:gd name="T17" fmla="*/ 526 h 558"/>
                          <a:gd name="T18" fmla="*/ 474 w 557"/>
                          <a:gd name="T19" fmla="*/ 277 h 558"/>
                          <a:gd name="T20" fmla="*/ 392 w 557"/>
                          <a:gd name="T21" fmla="*/ 121 h 558"/>
                          <a:gd name="T22" fmla="*/ 241 w 557"/>
                          <a:gd name="T23" fmla="*/ 11 h 558"/>
                          <a:gd name="T24" fmla="*/ 200 w 557"/>
                          <a:gd name="T25" fmla="*/ 114 h 558"/>
                          <a:gd name="T26" fmla="*/ 200 w 557"/>
                          <a:gd name="T27" fmla="*/ 210 h 558"/>
                          <a:gd name="T28" fmla="*/ 265 w 557"/>
                          <a:gd name="T29" fmla="*/ 325 h 558"/>
                          <a:gd name="T30" fmla="*/ 156 w 557"/>
                          <a:gd name="T31" fmla="*/ 246 h 558"/>
                          <a:gd name="T32" fmla="*/ 54 w 557"/>
                          <a:gd name="T33" fmla="*/ 180 h 558"/>
                          <a:gd name="T34" fmla="*/ 146 w 557"/>
                          <a:gd name="T35" fmla="*/ 272 h 558"/>
                          <a:gd name="T36" fmla="*/ 159 w 557"/>
                          <a:gd name="T37" fmla="*/ 311 h 558"/>
                          <a:gd name="T38" fmla="*/ 140 w 557"/>
                          <a:gd name="T39" fmla="*/ 329 h 558"/>
                          <a:gd name="T40" fmla="*/ 102 w 557"/>
                          <a:gd name="T41" fmla="*/ 324 h 558"/>
                          <a:gd name="T42" fmla="*/ 67 w 557"/>
                          <a:gd name="T43" fmla="*/ 320 h 558"/>
                          <a:gd name="T44" fmla="*/ 103 w 557"/>
                          <a:gd name="T45" fmla="*/ 364 h 558"/>
                          <a:gd name="T46" fmla="*/ 158 w 557"/>
                          <a:gd name="T47" fmla="*/ 409 h 558"/>
                          <a:gd name="T48" fmla="*/ 106 w 557"/>
                          <a:gd name="T49" fmla="*/ 396 h 558"/>
                          <a:gd name="T50" fmla="*/ 40 w 557"/>
                          <a:gd name="T51" fmla="*/ 400 h 558"/>
                          <a:gd name="T52" fmla="*/ 43 w 557"/>
                          <a:gd name="T53" fmla="*/ 413 h 558"/>
                          <a:gd name="T54" fmla="*/ 95 w 557"/>
                          <a:gd name="T55" fmla="*/ 436 h 558"/>
                          <a:gd name="T56" fmla="*/ 80 w 557"/>
                          <a:gd name="T57" fmla="*/ 445 h 558"/>
                          <a:gd name="T58" fmla="*/ 26 w 557"/>
                          <a:gd name="T59" fmla="*/ 450 h 558"/>
                          <a:gd name="T60" fmla="*/ 52 w 557"/>
                          <a:gd name="T61" fmla="*/ 470 h 558"/>
                          <a:gd name="T62" fmla="*/ 137 w 557"/>
                          <a:gd name="T63" fmla="*/ 500 h 558"/>
                          <a:gd name="T64" fmla="*/ 186 w 557"/>
                          <a:gd name="T65" fmla="*/ 537 h 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57" h="558">
                            <a:moveTo>
                              <a:pt x="200" y="558"/>
                            </a:moveTo>
                            <a:lnTo>
                              <a:pt x="228" y="518"/>
                            </a:lnTo>
                            <a:lnTo>
                              <a:pt x="250" y="482"/>
                            </a:lnTo>
                            <a:lnTo>
                              <a:pt x="269" y="444"/>
                            </a:lnTo>
                            <a:lnTo>
                              <a:pt x="290" y="402"/>
                            </a:lnTo>
                            <a:lnTo>
                              <a:pt x="301" y="373"/>
                            </a:lnTo>
                            <a:lnTo>
                              <a:pt x="322" y="392"/>
                            </a:lnTo>
                            <a:lnTo>
                              <a:pt x="339" y="406"/>
                            </a:lnTo>
                            <a:lnTo>
                              <a:pt x="361" y="415"/>
                            </a:lnTo>
                            <a:lnTo>
                              <a:pt x="395" y="423"/>
                            </a:lnTo>
                            <a:lnTo>
                              <a:pt x="426" y="433"/>
                            </a:lnTo>
                            <a:lnTo>
                              <a:pt x="447" y="441"/>
                            </a:lnTo>
                            <a:lnTo>
                              <a:pt x="469" y="458"/>
                            </a:lnTo>
                            <a:lnTo>
                              <a:pt x="489" y="473"/>
                            </a:lnTo>
                            <a:lnTo>
                              <a:pt x="510" y="499"/>
                            </a:lnTo>
                            <a:lnTo>
                              <a:pt x="525" y="525"/>
                            </a:lnTo>
                            <a:lnTo>
                              <a:pt x="536" y="557"/>
                            </a:lnTo>
                            <a:lnTo>
                              <a:pt x="545" y="526"/>
                            </a:lnTo>
                            <a:lnTo>
                              <a:pt x="557" y="325"/>
                            </a:lnTo>
                            <a:lnTo>
                              <a:pt x="474" y="277"/>
                            </a:lnTo>
                            <a:lnTo>
                              <a:pt x="426" y="216"/>
                            </a:lnTo>
                            <a:lnTo>
                              <a:pt x="392" y="121"/>
                            </a:lnTo>
                            <a:lnTo>
                              <a:pt x="365" y="0"/>
                            </a:lnTo>
                            <a:lnTo>
                              <a:pt x="241" y="11"/>
                            </a:lnTo>
                            <a:lnTo>
                              <a:pt x="213" y="71"/>
                            </a:lnTo>
                            <a:lnTo>
                              <a:pt x="200" y="114"/>
                            </a:lnTo>
                            <a:lnTo>
                              <a:pt x="196" y="167"/>
                            </a:lnTo>
                            <a:lnTo>
                              <a:pt x="200" y="210"/>
                            </a:lnTo>
                            <a:lnTo>
                              <a:pt x="237" y="288"/>
                            </a:lnTo>
                            <a:lnTo>
                              <a:pt x="265" y="325"/>
                            </a:lnTo>
                            <a:lnTo>
                              <a:pt x="206" y="277"/>
                            </a:lnTo>
                            <a:lnTo>
                              <a:pt x="156" y="246"/>
                            </a:lnTo>
                            <a:lnTo>
                              <a:pt x="110" y="215"/>
                            </a:lnTo>
                            <a:lnTo>
                              <a:pt x="54" y="180"/>
                            </a:lnTo>
                            <a:lnTo>
                              <a:pt x="114" y="232"/>
                            </a:lnTo>
                            <a:lnTo>
                              <a:pt x="146" y="272"/>
                            </a:lnTo>
                            <a:lnTo>
                              <a:pt x="161" y="297"/>
                            </a:lnTo>
                            <a:lnTo>
                              <a:pt x="159" y="311"/>
                            </a:lnTo>
                            <a:lnTo>
                              <a:pt x="153" y="322"/>
                            </a:lnTo>
                            <a:lnTo>
                              <a:pt x="140" y="329"/>
                            </a:lnTo>
                            <a:lnTo>
                              <a:pt x="125" y="331"/>
                            </a:lnTo>
                            <a:lnTo>
                              <a:pt x="102" y="324"/>
                            </a:lnTo>
                            <a:lnTo>
                              <a:pt x="48" y="288"/>
                            </a:lnTo>
                            <a:lnTo>
                              <a:pt x="67" y="320"/>
                            </a:lnTo>
                            <a:lnTo>
                              <a:pt x="83" y="341"/>
                            </a:lnTo>
                            <a:lnTo>
                              <a:pt x="103" y="364"/>
                            </a:lnTo>
                            <a:lnTo>
                              <a:pt x="125" y="383"/>
                            </a:lnTo>
                            <a:lnTo>
                              <a:pt x="158" y="409"/>
                            </a:lnTo>
                            <a:lnTo>
                              <a:pt x="132" y="400"/>
                            </a:lnTo>
                            <a:lnTo>
                              <a:pt x="106" y="396"/>
                            </a:lnTo>
                            <a:lnTo>
                              <a:pt x="72" y="395"/>
                            </a:lnTo>
                            <a:lnTo>
                              <a:pt x="40" y="400"/>
                            </a:lnTo>
                            <a:lnTo>
                              <a:pt x="6" y="404"/>
                            </a:lnTo>
                            <a:lnTo>
                              <a:pt x="43" y="413"/>
                            </a:lnTo>
                            <a:lnTo>
                              <a:pt x="73" y="426"/>
                            </a:lnTo>
                            <a:lnTo>
                              <a:pt x="95" y="436"/>
                            </a:lnTo>
                            <a:lnTo>
                              <a:pt x="117" y="453"/>
                            </a:lnTo>
                            <a:lnTo>
                              <a:pt x="80" y="445"/>
                            </a:lnTo>
                            <a:lnTo>
                              <a:pt x="55" y="444"/>
                            </a:lnTo>
                            <a:lnTo>
                              <a:pt x="26" y="450"/>
                            </a:lnTo>
                            <a:lnTo>
                              <a:pt x="0" y="458"/>
                            </a:lnTo>
                            <a:lnTo>
                              <a:pt x="52" y="470"/>
                            </a:lnTo>
                            <a:lnTo>
                              <a:pt x="101" y="486"/>
                            </a:lnTo>
                            <a:lnTo>
                              <a:pt x="137" y="500"/>
                            </a:lnTo>
                            <a:lnTo>
                              <a:pt x="164" y="518"/>
                            </a:lnTo>
                            <a:lnTo>
                              <a:pt x="186" y="537"/>
                            </a:lnTo>
                            <a:lnTo>
                              <a:pt x="200" y="55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1" name="Freeform 303"/>
                      <p:cNvSpPr/>
                      <p:nvPr/>
                    </p:nvSpPr>
                    <p:spPr bwMode="auto">
                      <a:xfrm>
                        <a:off x="2616" y="3098"/>
                        <a:ext cx="34" cy="19"/>
                      </a:xfrm>
                      <a:custGeom>
                        <a:avLst/>
                        <a:gdLst>
                          <a:gd name="T0" fmla="*/ 0 w 238"/>
                          <a:gd name="T1" fmla="*/ 37 h 152"/>
                          <a:gd name="T2" fmla="*/ 26 w 238"/>
                          <a:gd name="T3" fmla="*/ 38 h 152"/>
                          <a:gd name="T4" fmla="*/ 58 w 238"/>
                          <a:gd name="T5" fmla="*/ 42 h 152"/>
                          <a:gd name="T6" fmla="*/ 92 w 238"/>
                          <a:gd name="T7" fmla="*/ 52 h 152"/>
                          <a:gd name="T8" fmla="*/ 113 w 238"/>
                          <a:gd name="T9" fmla="*/ 63 h 152"/>
                          <a:gd name="T10" fmla="*/ 140 w 238"/>
                          <a:gd name="T11" fmla="*/ 80 h 152"/>
                          <a:gd name="T12" fmla="*/ 168 w 238"/>
                          <a:gd name="T13" fmla="*/ 102 h 152"/>
                          <a:gd name="T14" fmla="*/ 186 w 238"/>
                          <a:gd name="T15" fmla="*/ 126 h 152"/>
                          <a:gd name="T16" fmla="*/ 205 w 238"/>
                          <a:gd name="T17" fmla="*/ 152 h 152"/>
                          <a:gd name="T18" fmla="*/ 214 w 238"/>
                          <a:gd name="T19" fmla="*/ 145 h 152"/>
                          <a:gd name="T20" fmla="*/ 225 w 238"/>
                          <a:gd name="T21" fmla="*/ 140 h 152"/>
                          <a:gd name="T22" fmla="*/ 238 w 238"/>
                          <a:gd name="T23" fmla="*/ 126 h 152"/>
                          <a:gd name="T24" fmla="*/ 230 w 238"/>
                          <a:gd name="T25" fmla="*/ 112 h 152"/>
                          <a:gd name="T26" fmla="*/ 204 w 238"/>
                          <a:gd name="T27" fmla="*/ 95 h 152"/>
                          <a:gd name="T28" fmla="*/ 182 w 238"/>
                          <a:gd name="T29" fmla="*/ 77 h 152"/>
                          <a:gd name="T30" fmla="*/ 168 w 238"/>
                          <a:gd name="T31" fmla="*/ 63 h 152"/>
                          <a:gd name="T32" fmla="*/ 138 w 238"/>
                          <a:gd name="T33" fmla="*/ 41 h 152"/>
                          <a:gd name="T34" fmla="*/ 106 w 238"/>
                          <a:gd name="T35" fmla="*/ 23 h 152"/>
                          <a:gd name="T36" fmla="*/ 73 w 238"/>
                          <a:gd name="T37" fmla="*/ 11 h 152"/>
                          <a:gd name="T38" fmla="*/ 42 w 238"/>
                          <a:gd name="T39" fmla="*/ 3 h 152"/>
                          <a:gd name="T40" fmla="*/ 14 w 238"/>
                          <a:gd name="T41" fmla="*/ 0 h 152"/>
                          <a:gd name="T42" fmla="*/ 9 w 238"/>
                          <a:gd name="T43" fmla="*/ 7 h 152"/>
                          <a:gd name="T44" fmla="*/ 3 w 238"/>
                          <a:gd name="T45" fmla="*/ 21 h 152"/>
                          <a:gd name="T46" fmla="*/ 0 w 238"/>
                          <a:gd name="T47" fmla="*/ 37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8" h="152">
                            <a:moveTo>
                              <a:pt x="0" y="37"/>
                            </a:moveTo>
                            <a:lnTo>
                              <a:pt x="26" y="38"/>
                            </a:lnTo>
                            <a:lnTo>
                              <a:pt x="58" y="42"/>
                            </a:lnTo>
                            <a:lnTo>
                              <a:pt x="92" y="52"/>
                            </a:lnTo>
                            <a:lnTo>
                              <a:pt x="113" y="63"/>
                            </a:lnTo>
                            <a:lnTo>
                              <a:pt x="140" y="80"/>
                            </a:lnTo>
                            <a:lnTo>
                              <a:pt x="168" y="102"/>
                            </a:lnTo>
                            <a:lnTo>
                              <a:pt x="186" y="126"/>
                            </a:lnTo>
                            <a:lnTo>
                              <a:pt x="205" y="152"/>
                            </a:lnTo>
                            <a:lnTo>
                              <a:pt x="214" y="145"/>
                            </a:lnTo>
                            <a:lnTo>
                              <a:pt x="225" y="140"/>
                            </a:lnTo>
                            <a:lnTo>
                              <a:pt x="238" y="126"/>
                            </a:lnTo>
                            <a:lnTo>
                              <a:pt x="230" y="112"/>
                            </a:lnTo>
                            <a:lnTo>
                              <a:pt x="204" y="95"/>
                            </a:lnTo>
                            <a:lnTo>
                              <a:pt x="182" y="77"/>
                            </a:lnTo>
                            <a:lnTo>
                              <a:pt x="168" y="63"/>
                            </a:lnTo>
                            <a:lnTo>
                              <a:pt x="138" y="41"/>
                            </a:lnTo>
                            <a:lnTo>
                              <a:pt x="106" y="23"/>
                            </a:lnTo>
                            <a:lnTo>
                              <a:pt x="73" y="11"/>
                            </a:lnTo>
                            <a:lnTo>
                              <a:pt x="42" y="3"/>
                            </a:lnTo>
                            <a:lnTo>
                              <a:pt x="14" y="0"/>
                            </a:lnTo>
                            <a:lnTo>
                              <a:pt x="9" y="7"/>
                            </a:lnTo>
                            <a:lnTo>
                              <a:pt x="3" y="21"/>
                            </a:lnTo>
                            <a:lnTo>
                              <a:pt x="0" y="37"/>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2" name="Freeform 304"/>
                      <p:cNvSpPr/>
                      <p:nvPr/>
                    </p:nvSpPr>
                    <p:spPr bwMode="auto">
                      <a:xfrm>
                        <a:off x="2631" y="3094"/>
                        <a:ext cx="27" cy="13"/>
                      </a:xfrm>
                      <a:custGeom>
                        <a:avLst/>
                        <a:gdLst>
                          <a:gd name="T0" fmla="*/ 0 w 189"/>
                          <a:gd name="T1" fmla="*/ 8 h 105"/>
                          <a:gd name="T2" fmla="*/ 33 w 189"/>
                          <a:gd name="T3" fmla="*/ 18 h 105"/>
                          <a:gd name="T4" fmla="*/ 64 w 189"/>
                          <a:gd name="T5" fmla="*/ 32 h 105"/>
                          <a:gd name="T6" fmla="*/ 88 w 189"/>
                          <a:gd name="T7" fmla="*/ 45 h 105"/>
                          <a:gd name="T8" fmla="*/ 115 w 189"/>
                          <a:gd name="T9" fmla="*/ 63 h 105"/>
                          <a:gd name="T10" fmla="*/ 137 w 189"/>
                          <a:gd name="T11" fmla="*/ 81 h 105"/>
                          <a:gd name="T12" fmla="*/ 160 w 189"/>
                          <a:gd name="T13" fmla="*/ 105 h 105"/>
                          <a:gd name="T14" fmla="*/ 172 w 189"/>
                          <a:gd name="T15" fmla="*/ 102 h 105"/>
                          <a:gd name="T16" fmla="*/ 183 w 189"/>
                          <a:gd name="T17" fmla="*/ 93 h 105"/>
                          <a:gd name="T18" fmla="*/ 188 w 189"/>
                          <a:gd name="T19" fmla="*/ 81 h 105"/>
                          <a:gd name="T20" fmla="*/ 189 w 189"/>
                          <a:gd name="T21" fmla="*/ 65 h 105"/>
                          <a:gd name="T22" fmla="*/ 176 w 189"/>
                          <a:gd name="T23" fmla="*/ 55 h 105"/>
                          <a:gd name="T24" fmla="*/ 162 w 189"/>
                          <a:gd name="T25" fmla="*/ 51 h 105"/>
                          <a:gd name="T26" fmla="*/ 145 w 189"/>
                          <a:gd name="T27" fmla="*/ 48 h 105"/>
                          <a:gd name="T28" fmla="*/ 127 w 189"/>
                          <a:gd name="T29" fmla="*/ 41 h 105"/>
                          <a:gd name="T30" fmla="*/ 110 w 189"/>
                          <a:gd name="T31" fmla="*/ 28 h 105"/>
                          <a:gd name="T32" fmla="*/ 93 w 189"/>
                          <a:gd name="T33" fmla="*/ 16 h 105"/>
                          <a:gd name="T34" fmla="*/ 71 w 189"/>
                          <a:gd name="T35" fmla="*/ 5 h 105"/>
                          <a:gd name="T36" fmla="*/ 53 w 189"/>
                          <a:gd name="T37" fmla="*/ 2 h 105"/>
                          <a:gd name="T38" fmla="*/ 38 w 189"/>
                          <a:gd name="T39" fmla="*/ 0 h 105"/>
                          <a:gd name="T40" fmla="*/ 18 w 189"/>
                          <a:gd name="T41" fmla="*/ 2 h 105"/>
                          <a:gd name="T42" fmla="*/ 0 w 189"/>
                          <a:gd name="T43" fmla="*/ 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9" h="105">
                            <a:moveTo>
                              <a:pt x="0" y="8"/>
                            </a:moveTo>
                            <a:lnTo>
                              <a:pt x="33" y="18"/>
                            </a:lnTo>
                            <a:lnTo>
                              <a:pt x="64" y="32"/>
                            </a:lnTo>
                            <a:lnTo>
                              <a:pt x="88" y="45"/>
                            </a:lnTo>
                            <a:lnTo>
                              <a:pt x="115" y="63"/>
                            </a:lnTo>
                            <a:lnTo>
                              <a:pt x="137" y="81"/>
                            </a:lnTo>
                            <a:lnTo>
                              <a:pt x="160" y="105"/>
                            </a:lnTo>
                            <a:lnTo>
                              <a:pt x="172" y="102"/>
                            </a:lnTo>
                            <a:lnTo>
                              <a:pt x="183" y="93"/>
                            </a:lnTo>
                            <a:lnTo>
                              <a:pt x="188" y="81"/>
                            </a:lnTo>
                            <a:lnTo>
                              <a:pt x="189" y="65"/>
                            </a:lnTo>
                            <a:lnTo>
                              <a:pt x="176" y="55"/>
                            </a:lnTo>
                            <a:lnTo>
                              <a:pt x="162" y="51"/>
                            </a:lnTo>
                            <a:lnTo>
                              <a:pt x="145" y="48"/>
                            </a:lnTo>
                            <a:lnTo>
                              <a:pt x="127" y="41"/>
                            </a:lnTo>
                            <a:lnTo>
                              <a:pt x="110" y="28"/>
                            </a:lnTo>
                            <a:lnTo>
                              <a:pt x="93" y="16"/>
                            </a:lnTo>
                            <a:lnTo>
                              <a:pt x="71" y="5"/>
                            </a:lnTo>
                            <a:lnTo>
                              <a:pt x="53" y="2"/>
                            </a:lnTo>
                            <a:lnTo>
                              <a:pt x="38" y="0"/>
                            </a:lnTo>
                            <a:lnTo>
                              <a:pt x="18" y="2"/>
                            </a:lnTo>
                            <a:lnTo>
                              <a:pt x="0" y="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3" name="Freeform 305"/>
                      <p:cNvSpPr/>
                      <p:nvPr/>
                    </p:nvSpPr>
                    <p:spPr bwMode="auto">
                      <a:xfrm>
                        <a:off x="2626" y="3080"/>
                        <a:ext cx="38" cy="17"/>
                      </a:xfrm>
                      <a:custGeom>
                        <a:avLst/>
                        <a:gdLst>
                          <a:gd name="T0" fmla="*/ 0 w 263"/>
                          <a:gd name="T1" fmla="*/ 59 h 129"/>
                          <a:gd name="T2" fmla="*/ 18 w 263"/>
                          <a:gd name="T3" fmla="*/ 50 h 129"/>
                          <a:gd name="T4" fmla="*/ 34 w 263"/>
                          <a:gd name="T5" fmla="*/ 42 h 129"/>
                          <a:gd name="T6" fmla="*/ 61 w 263"/>
                          <a:gd name="T7" fmla="*/ 34 h 129"/>
                          <a:gd name="T8" fmla="*/ 84 w 263"/>
                          <a:gd name="T9" fmla="*/ 37 h 129"/>
                          <a:gd name="T10" fmla="*/ 107 w 263"/>
                          <a:gd name="T11" fmla="*/ 52 h 129"/>
                          <a:gd name="T12" fmla="*/ 128 w 263"/>
                          <a:gd name="T13" fmla="*/ 66 h 129"/>
                          <a:gd name="T14" fmla="*/ 164 w 263"/>
                          <a:gd name="T15" fmla="*/ 85 h 129"/>
                          <a:gd name="T16" fmla="*/ 194 w 263"/>
                          <a:gd name="T17" fmla="*/ 106 h 129"/>
                          <a:gd name="T18" fmla="*/ 225 w 263"/>
                          <a:gd name="T19" fmla="*/ 129 h 129"/>
                          <a:gd name="T20" fmla="*/ 235 w 263"/>
                          <a:gd name="T21" fmla="*/ 124 h 129"/>
                          <a:gd name="T22" fmla="*/ 246 w 263"/>
                          <a:gd name="T23" fmla="*/ 123 h 129"/>
                          <a:gd name="T24" fmla="*/ 256 w 263"/>
                          <a:gd name="T25" fmla="*/ 126 h 129"/>
                          <a:gd name="T26" fmla="*/ 263 w 263"/>
                          <a:gd name="T27" fmla="*/ 97 h 129"/>
                          <a:gd name="T28" fmla="*/ 201 w 263"/>
                          <a:gd name="T29" fmla="*/ 56 h 129"/>
                          <a:gd name="T30" fmla="*/ 159 w 263"/>
                          <a:gd name="T31" fmla="*/ 32 h 129"/>
                          <a:gd name="T32" fmla="*/ 128 w 263"/>
                          <a:gd name="T33" fmla="*/ 17 h 129"/>
                          <a:gd name="T34" fmla="*/ 105 w 263"/>
                          <a:gd name="T35" fmla="*/ 5 h 129"/>
                          <a:gd name="T36" fmla="*/ 81 w 263"/>
                          <a:gd name="T37" fmla="*/ 0 h 129"/>
                          <a:gd name="T38" fmla="*/ 57 w 263"/>
                          <a:gd name="T39" fmla="*/ 3 h 129"/>
                          <a:gd name="T40" fmla="*/ 38 w 263"/>
                          <a:gd name="T41" fmla="*/ 13 h 129"/>
                          <a:gd name="T42" fmla="*/ 18 w 263"/>
                          <a:gd name="T43" fmla="*/ 32 h 129"/>
                          <a:gd name="T44" fmla="*/ 0 w 263"/>
                          <a:gd name="T45" fmla="*/ 59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63" h="129">
                            <a:moveTo>
                              <a:pt x="0" y="59"/>
                            </a:moveTo>
                            <a:lnTo>
                              <a:pt x="18" y="50"/>
                            </a:lnTo>
                            <a:lnTo>
                              <a:pt x="34" y="42"/>
                            </a:lnTo>
                            <a:lnTo>
                              <a:pt x="61" y="34"/>
                            </a:lnTo>
                            <a:lnTo>
                              <a:pt x="84" y="37"/>
                            </a:lnTo>
                            <a:lnTo>
                              <a:pt x="107" y="52"/>
                            </a:lnTo>
                            <a:lnTo>
                              <a:pt x="128" y="66"/>
                            </a:lnTo>
                            <a:lnTo>
                              <a:pt x="164" y="85"/>
                            </a:lnTo>
                            <a:lnTo>
                              <a:pt x="194" y="106"/>
                            </a:lnTo>
                            <a:lnTo>
                              <a:pt x="225" y="129"/>
                            </a:lnTo>
                            <a:lnTo>
                              <a:pt x="235" y="124"/>
                            </a:lnTo>
                            <a:lnTo>
                              <a:pt x="246" y="123"/>
                            </a:lnTo>
                            <a:lnTo>
                              <a:pt x="256" y="126"/>
                            </a:lnTo>
                            <a:lnTo>
                              <a:pt x="263" y="97"/>
                            </a:lnTo>
                            <a:lnTo>
                              <a:pt x="201" y="56"/>
                            </a:lnTo>
                            <a:lnTo>
                              <a:pt x="159" y="32"/>
                            </a:lnTo>
                            <a:lnTo>
                              <a:pt x="128" y="17"/>
                            </a:lnTo>
                            <a:lnTo>
                              <a:pt x="105" y="5"/>
                            </a:lnTo>
                            <a:lnTo>
                              <a:pt x="81" y="0"/>
                            </a:lnTo>
                            <a:lnTo>
                              <a:pt x="57" y="3"/>
                            </a:lnTo>
                            <a:lnTo>
                              <a:pt x="38" y="13"/>
                            </a:lnTo>
                            <a:lnTo>
                              <a:pt x="18" y="32"/>
                            </a:lnTo>
                            <a:lnTo>
                              <a:pt x="0" y="59"/>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4" name="Freeform 306"/>
                      <p:cNvSpPr/>
                      <p:nvPr/>
                    </p:nvSpPr>
                    <p:spPr bwMode="auto">
                      <a:xfrm>
                        <a:off x="2632" y="3068"/>
                        <a:ext cx="25" cy="15"/>
                      </a:xfrm>
                      <a:custGeom>
                        <a:avLst/>
                        <a:gdLst>
                          <a:gd name="T0" fmla="*/ 0 w 177"/>
                          <a:gd name="T1" fmla="*/ 18 h 122"/>
                          <a:gd name="T2" fmla="*/ 2 w 177"/>
                          <a:gd name="T3" fmla="*/ 40 h 122"/>
                          <a:gd name="T4" fmla="*/ 8 w 177"/>
                          <a:gd name="T5" fmla="*/ 58 h 122"/>
                          <a:gd name="T6" fmla="*/ 16 w 177"/>
                          <a:gd name="T7" fmla="*/ 70 h 122"/>
                          <a:gd name="T8" fmla="*/ 31 w 177"/>
                          <a:gd name="T9" fmla="*/ 76 h 122"/>
                          <a:gd name="T10" fmla="*/ 91 w 177"/>
                          <a:gd name="T11" fmla="*/ 71 h 122"/>
                          <a:gd name="T12" fmla="*/ 116 w 177"/>
                          <a:gd name="T13" fmla="*/ 90 h 122"/>
                          <a:gd name="T14" fmla="*/ 145 w 177"/>
                          <a:gd name="T15" fmla="*/ 106 h 122"/>
                          <a:gd name="T16" fmla="*/ 177 w 177"/>
                          <a:gd name="T17" fmla="*/ 122 h 122"/>
                          <a:gd name="T18" fmla="*/ 154 w 177"/>
                          <a:gd name="T19" fmla="*/ 93 h 122"/>
                          <a:gd name="T20" fmla="*/ 129 w 177"/>
                          <a:gd name="T21" fmla="*/ 70 h 122"/>
                          <a:gd name="T22" fmla="*/ 104 w 177"/>
                          <a:gd name="T23" fmla="*/ 47 h 122"/>
                          <a:gd name="T24" fmla="*/ 73 w 177"/>
                          <a:gd name="T25" fmla="*/ 31 h 122"/>
                          <a:gd name="T26" fmla="*/ 51 w 177"/>
                          <a:gd name="T27" fmla="*/ 13 h 122"/>
                          <a:gd name="T28" fmla="*/ 35 w 177"/>
                          <a:gd name="T29" fmla="*/ 3 h 122"/>
                          <a:gd name="T30" fmla="*/ 18 w 177"/>
                          <a:gd name="T31" fmla="*/ 0 h 122"/>
                          <a:gd name="T32" fmla="*/ 5 w 177"/>
                          <a:gd name="T33" fmla="*/ 4 h 122"/>
                          <a:gd name="T34" fmla="*/ 0 w 177"/>
                          <a:gd name="T35" fmla="*/ 18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7" h="122">
                            <a:moveTo>
                              <a:pt x="0" y="18"/>
                            </a:moveTo>
                            <a:lnTo>
                              <a:pt x="2" y="40"/>
                            </a:lnTo>
                            <a:lnTo>
                              <a:pt x="8" y="58"/>
                            </a:lnTo>
                            <a:lnTo>
                              <a:pt x="16" y="70"/>
                            </a:lnTo>
                            <a:lnTo>
                              <a:pt x="31" y="76"/>
                            </a:lnTo>
                            <a:lnTo>
                              <a:pt x="91" y="71"/>
                            </a:lnTo>
                            <a:lnTo>
                              <a:pt x="116" y="90"/>
                            </a:lnTo>
                            <a:lnTo>
                              <a:pt x="145" y="106"/>
                            </a:lnTo>
                            <a:lnTo>
                              <a:pt x="177" y="122"/>
                            </a:lnTo>
                            <a:lnTo>
                              <a:pt x="154" y="93"/>
                            </a:lnTo>
                            <a:lnTo>
                              <a:pt x="129" y="70"/>
                            </a:lnTo>
                            <a:lnTo>
                              <a:pt x="104" y="47"/>
                            </a:lnTo>
                            <a:lnTo>
                              <a:pt x="73" y="31"/>
                            </a:lnTo>
                            <a:lnTo>
                              <a:pt x="51" y="13"/>
                            </a:lnTo>
                            <a:lnTo>
                              <a:pt x="35" y="3"/>
                            </a:lnTo>
                            <a:lnTo>
                              <a:pt x="18" y="0"/>
                            </a:lnTo>
                            <a:lnTo>
                              <a:pt x="5" y="4"/>
                            </a:lnTo>
                            <a:lnTo>
                              <a:pt x="0" y="1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5" name="Freeform 307"/>
                      <p:cNvSpPr/>
                      <p:nvPr/>
                    </p:nvSpPr>
                    <p:spPr bwMode="auto">
                      <a:xfrm>
                        <a:off x="2613" y="3113"/>
                        <a:ext cx="25" cy="17"/>
                      </a:xfrm>
                      <a:custGeom>
                        <a:avLst/>
                        <a:gdLst>
                          <a:gd name="T0" fmla="*/ 0 w 175"/>
                          <a:gd name="T1" fmla="*/ 5 h 130"/>
                          <a:gd name="T2" fmla="*/ 16 w 175"/>
                          <a:gd name="T3" fmla="*/ 6 h 130"/>
                          <a:gd name="T4" fmla="*/ 37 w 175"/>
                          <a:gd name="T5" fmla="*/ 10 h 130"/>
                          <a:gd name="T6" fmla="*/ 60 w 175"/>
                          <a:gd name="T7" fmla="*/ 17 h 130"/>
                          <a:gd name="T8" fmla="*/ 82 w 175"/>
                          <a:gd name="T9" fmla="*/ 28 h 130"/>
                          <a:gd name="T10" fmla="*/ 113 w 175"/>
                          <a:gd name="T11" fmla="*/ 41 h 130"/>
                          <a:gd name="T12" fmla="*/ 130 w 175"/>
                          <a:gd name="T13" fmla="*/ 51 h 130"/>
                          <a:gd name="T14" fmla="*/ 145 w 175"/>
                          <a:gd name="T15" fmla="*/ 66 h 130"/>
                          <a:gd name="T16" fmla="*/ 155 w 175"/>
                          <a:gd name="T17" fmla="*/ 80 h 130"/>
                          <a:gd name="T18" fmla="*/ 159 w 175"/>
                          <a:gd name="T19" fmla="*/ 98 h 130"/>
                          <a:gd name="T20" fmla="*/ 162 w 175"/>
                          <a:gd name="T21" fmla="*/ 120 h 130"/>
                          <a:gd name="T22" fmla="*/ 161 w 175"/>
                          <a:gd name="T23" fmla="*/ 130 h 130"/>
                          <a:gd name="T24" fmla="*/ 171 w 175"/>
                          <a:gd name="T25" fmla="*/ 117 h 130"/>
                          <a:gd name="T26" fmla="*/ 175 w 175"/>
                          <a:gd name="T27" fmla="*/ 97 h 130"/>
                          <a:gd name="T28" fmla="*/ 173 w 175"/>
                          <a:gd name="T29" fmla="*/ 78 h 130"/>
                          <a:gd name="T30" fmla="*/ 162 w 175"/>
                          <a:gd name="T31" fmla="*/ 60 h 130"/>
                          <a:gd name="T32" fmla="*/ 146 w 175"/>
                          <a:gd name="T33" fmla="*/ 42 h 130"/>
                          <a:gd name="T34" fmla="*/ 126 w 175"/>
                          <a:gd name="T35" fmla="*/ 27 h 130"/>
                          <a:gd name="T36" fmla="*/ 95 w 175"/>
                          <a:gd name="T37" fmla="*/ 12 h 130"/>
                          <a:gd name="T38" fmla="*/ 63 w 175"/>
                          <a:gd name="T39" fmla="*/ 3 h 130"/>
                          <a:gd name="T40" fmla="*/ 44 w 175"/>
                          <a:gd name="T41" fmla="*/ 1 h 130"/>
                          <a:gd name="T42" fmla="*/ 19 w 175"/>
                          <a:gd name="T43" fmla="*/ 0 h 130"/>
                          <a:gd name="T44" fmla="*/ 0 w 175"/>
                          <a:gd name="T45" fmla="*/ 5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5" h="130">
                            <a:moveTo>
                              <a:pt x="0" y="5"/>
                            </a:moveTo>
                            <a:lnTo>
                              <a:pt x="16" y="6"/>
                            </a:lnTo>
                            <a:lnTo>
                              <a:pt x="37" y="10"/>
                            </a:lnTo>
                            <a:lnTo>
                              <a:pt x="60" y="17"/>
                            </a:lnTo>
                            <a:lnTo>
                              <a:pt x="82" y="28"/>
                            </a:lnTo>
                            <a:lnTo>
                              <a:pt x="113" y="41"/>
                            </a:lnTo>
                            <a:lnTo>
                              <a:pt x="130" y="51"/>
                            </a:lnTo>
                            <a:lnTo>
                              <a:pt x="145" y="66"/>
                            </a:lnTo>
                            <a:lnTo>
                              <a:pt x="155" y="80"/>
                            </a:lnTo>
                            <a:lnTo>
                              <a:pt x="159" y="98"/>
                            </a:lnTo>
                            <a:lnTo>
                              <a:pt x="162" y="120"/>
                            </a:lnTo>
                            <a:lnTo>
                              <a:pt x="161" y="130"/>
                            </a:lnTo>
                            <a:lnTo>
                              <a:pt x="171" y="117"/>
                            </a:lnTo>
                            <a:lnTo>
                              <a:pt x="175" y="97"/>
                            </a:lnTo>
                            <a:lnTo>
                              <a:pt x="173" y="78"/>
                            </a:lnTo>
                            <a:lnTo>
                              <a:pt x="162" y="60"/>
                            </a:lnTo>
                            <a:lnTo>
                              <a:pt x="146" y="42"/>
                            </a:lnTo>
                            <a:lnTo>
                              <a:pt x="126" y="27"/>
                            </a:lnTo>
                            <a:lnTo>
                              <a:pt x="95" y="12"/>
                            </a:lnTo>
                            <a:lnTo>
                              <a:pt x="63" y="3"/>
                            </a:lnTo>
                            <a:lnTo>
                              <a:pt x="44" y="1"/>
                            </a:lnTo>
                            <a:lnTo>
                              <a:pt x="19" y="0"/>
                            </a:lnTo>
                            <a:lnTo>
                              <a:pt x="0" y="5"/>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6" name="Freeform 308"/>
                      <p:cNvSpPr/>
                      <p:nvPr/>
                    </p:nvSpPr>
                    <p:spPr bwMode="auto">
                      <a:xfrm>
                        <a:off x="2653" y="3019"/>
                        <a:ext cx="27" cy="33"/>
                      </a:xfrm>
                      <a:custGeom>
                        <a:avLst/>
                        <a:gdLst>
                          <a:gd name="T0" fmla="*/ 0 w 187"/>
                          <a:gd name="T1" fmla="*/ 0 h 264"/>
                          <a:gd name="T2" fmla="*/ 42 w 187"/>
                          <a:gd name="T3" fmla="*/ 41 h 264"/>
                          <a:gd name="T4" fmla="*/ 76 w 187"/>
                          <a:gd name="T5" fmla="*/ 92 h 264"/>
                          <a:gd name="T6" fmla="*/ 109 w 187"/>
                          <a:gd name="T7" fmla="*/ 155 h 264"/>
                          <a:gd name="T8" fmla="*/ 187 w 187"/>
                          <a:gd name="T9" fmla="*/ 259 h 264"/>
                          <a:gd name="T10" fmla="*/ 186 w 187"/>
                          <a:gd name="T11" fmla="*/ 264 h 264"/>
                          <a:gd name="T12" fmla="*/ 142 w 187"/>
                          <a:gd name="T13" fmla="*/ 224 h 264"/>
                          <a:gd name="T14" fmla="*/ 111 w 187"/>
                          <a:gd name="T15" fmla="*/ 191 h 264"/>
                          <a:gd name="T16" fmla="*/ 75 w 187"/>
                          <a:gd name="T17" fmla="*/ 151 h 264"/>
                          <a:gd name="T18" fmla="*/ 42 w 187"/>
                          <a:gd name="T19" fmla="*/ 97 h 264"/>
                          <a:gd name="T20" fmla="*/ 22 w 187"/>
                          <a:gd name="T21" fmla="*/ 51 h 264"/>
                          <a:gd name="T22" fmla="*/ 0 w 187"/>
                          <a:gd name="T23" fmla="*/ 0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7" h="264">
                            <a:moveTo>
                              <a:pt x="0" y="0"/>
                            </a:moveTo>
                            <a:lnTo>
                              <a:pt x="42" y="41"/>
                            </a:lnTo>
                            <a:lnTo>
                              <a:pt x="76" y="92"/>
                            </a:lnTo>
                            <a:lnTo>
                              <a:pt x="109" y="155"/>
                            </a:lnTo>
                            <a:lnTo>
                              <a:pt x="187" y="259"/>
                            </a:lnTo>
                            <a:lnTo>
                              <a:pt x="186" y="264"/>
                            </a:lnTo>
                            <a:lnTo>
                              <a:pt x="142" y="224"/>
                            </a:lnTo>
                            <a:lnTo>
                              <a:pt x="111" y="191"/>
                            </a:lnTo>
                            <a:lnTo>
                              <a:pt x="75" y="151"/>
                            </a:lnTo>
                            <a:lnTo>
                              <a:pt x="42" y="97"/>
                            </a:lnTo>
                            <a:lnTo>
                              <a:pt x="22" y="51"/>
                            </a:lnTo>
                            <a:lnTo>
                              <a:pt x="0" y="0"/>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7" name="Freeform 309"/>
                      <p:cNvSpPr/>
                      <p:nvPr/>
                    </p:nvSpPr>
                    <p:spPr bwMode="auto">
                      <a:xfrm>
                        <a:off x="2624" y="3096"/>
                        <a:ext cx="27" cy="20"/>
                      </a:xfrm>
                      <a:custGeom>
                        <a:avLst/>
                        <a:gdLst>
                          <a:gd name="T0" fmla="*/ 194 w 194"/>
                          <a:gd name="T1" fmla="*/ 95 h 156"/>
                          <a:gd name="T2" fmla="*/ 163 w 194"/>
                          <a:gd name="T3" fmla="*/ 57 h 156"/>
                          <a:gd name="T4" fmla="*/ 141 w 194"/>
                          <a:gd name="T5" fmla="*/ 38 h 156"/>
                          <a:gd name="T6" fmla="*/ 107 w 194"/>
                          <a:gd name="T7" fmla="*/ 19 h 156"/>
                          <a:gd name="T8" fmla="*/ 78 w 194"/>
                          <a:gd name="T9" fmla="*/ 7 h 156"/>
                          <a:gd name="T10" fmla="*/ 44 w 194"/>
                          <a:gd name="T11" fmla="*/ 2 h 156"/>
                          <a:gd name="T12" fmla="*/ 21 w 194"/>
                          <a:gd name="T13" fmla="*/ 0 h 156"/>
                          <a:gd name="T14" fmla="*/ 8 w 194"/>
                          <a:gd name="T15" fmla="*/ 2 h 156"/>
                          <a:gd name="T16" fmla="*/ 0 w 194"/>
                          <a:gd name="T17" fmla="*/ 7 h 156"/>
                          <a:gd name="T18" fmla="*/ 2 w 194"/>
                          <a:gd name="T19" fmla="*/ 17 h 156"/>
                          <a:gd name="T20" fmla="*/ 13 w 194"/>
                          <a:gd name="T21" fmla="*/ 26 h 156"/>
                          <a:gd name="T22" fmla="*/ 44 w 194"/>
                          <a:gd name="T23" fmla="*/ 41 h 156"/>
                          <a:gd name="T24" fmla="*/ 74 w 194"/>
                          <a:gd name="T25" fmla="*/ 60 h 156"/>
                          <a:gd name="T26" fmla="*/ 110 w 194"/>
                          <a:gd name="T27" fmla="*/ 85 h 156"/>
                          <a:gd name="T28" fmla="*/ 135 w 194"/>
                          <a:gd name="T29" fmla="*/ 109 h 156"/>
                          <a:gd name="T30" fmla="*/ 154 w 194"/>
                          <a:gd name="T31" fmla="*/ 133 h 156"/>
                          <a:gd name="T32" fmla="*/ 171 w 194"/>
                          <a:gd name="T33" fmla="*/ 156 h 156"/>
                          <a:gd name="T34" fmla="*/ 180 w 194"/>
                          <a:gd name="T35" fmla="*/ 143 h 156"/>
                          <a:gd name="T36" fmla="*/ 189 w 194"/>
                          <a:gd name="T37" fmla="*/ 135 h 156"/>
                          <a:gd name="T38" fmla="*/ 193 w 194"/>
                          <a:gd name="T39" fmla="*/ 121 h 156"/>
                          <a:gd name="T40" fmla="*/ 194 w 194"/>
                          <a:gd name="T41" fmla="*/ 110 h 156"/>
                          <a:gd name="T42" fmla="*/ 194 w 194"/>
                          <a:gd name="T43" fmla="*/ 95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4" h="156">
                            <a:moveTo>
                              <a:pt x="194" y="95"/>
                            </a:moveTo>
                            <a:lnTo>
                              <a:pt x="163" y="57"/>
                            </a:lnTo>
                            <a:lnTo>
                              <a:pt x="141" y="38"/>
                            </a:lnTo>
                            <a:lnTo>
                              <a:pt x="107" y="19"/>
                            </a:lnTo>
                            <a:lnTo>
                              <a:pt x="78" y="7"/>
                            </a:lnTo>
                            <a:lnTo>
                              <a:pt x="44" y="2"/>
                            </a:lnTo>
                            <a:lnTo>
                              <a:pt x="21" y="0"/>
                            </a:lnTo>
                            <a:lnTo>
                              <a:pt x="8" y="2"/>
                            </a:lnTo>
                            <a:lnTo>
                              <a:pt x="0" y="7"/>
                            </a:lnTo>
                            <a:lnTo>
                              <a:pt x="2" y="17"/>
                            </a:lnTo>
                            <a:lnTo>
                              <a:pt x="13" y="26"/>
                            </a:lnTo>
                            <a:lnTo>
                              <a:pt x="44" y="41"/>
                            </a:lnTo>
                            <a:lnTo>
                              <a:pt x="74" y="60"/>
                            </a:lnTo>
                            <a:lnTo>
                              <a:pt x="110" y="85"/>
                            </a:lnTo>
                            <a:lnTo>
                              <a:pt x="135" y="109"/>
                            </a:lnTo>
                            <a:lnTo>
                              <a:pt x="154" y="133"/>
                            </a:lnTo>
                            <a:lnTo>
                              <a:pt x="171" y="156"/>
                            </a:lnTo>
                            <a:lnTo>
                              <a:pt x="180" y="143"/>
                            </a:lnTo>
                            <a:lnTo>
                              <a:pt x="189" y="135"/>
                            </a:lnTo>
                            <a:lnTo>
                              <a:pt x="193" y="121"/>
                            </a:lnTo>
                            <a:lnTo>
                              <a:pt x="194" y="110"/>
                            </a:lnTo>
                            <a:lnTo>
                              <a:pt x="194" y="95"/>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8" name="Freeform 310"/>
                      <p:cNvSpPr/>
                      <p:nvPr/>
                    </p:nvSpPr>
                    <p:spPr bwMode="auto">
                      <a:xfrm>
                        <a:off x="2630" y="3088"/>
                        <a:ext cx="30" cy="15"/>
                      </a:xfrm>
                      <a:custGeom>
                        <a:avLst/>
                        <a:gdLst>
                          <a:gd name="T0" fmla="*/ 0 w 215"/>
                          <a:gd name="T1" fmla="*/ 38 h 120"/>
                          <a:gd name="T2" fmla="*/ 25 w 215"/>
                          <a:gd name="T3" fmla="*/ 33 h 120"/>
                          <a:gd name="T4" fmla="*/ 49 w 215"/>
                          <a:gd name="T5" fmla="*/ 38 h 120"/>
                          <a:gd name="T6" fmla="*/ 76 w 215"/>
                          <a:gd name="T7" fmla="*/ 45 h 120"/>
                          <a:gd name="T8" fmla="*/ 99 w 215"/>
                          <a:gd name="T9" fmla="*/ 56 h 120"/>
                          <a:gd name="T10" fmla="*/ 122 w 215"/>
                          <a:gd name="T11" fmla="*/ 66 h 120"/>
                          <a:gd name="T12" fmla="*/ 146 w 215"/>
                          <a:gd name="T13" fmla="*/ 85 h 120"/>
                          <a:gd name="T14" fmla="*/ 154 w 215"/>
                          <a:gd name="T15" fmla="*/ 98 h 120"/>
                          <a:gd name="T16" fmla="*/ 169 w 215"/>
                          <a:gd name="T17" fmla="*/ 109 h 120"/>
                          <a:gd name="T18" fmla="*/ 183 w 215"/>
                          <a:gd name="T19" fmla="*/ 117 h 120"/>
                          <a:gd name="T20" fmla="*/ 197 w 215"/>
                          <a:gd name="T21" fmla="*/ 120 h 120"/>
                          <a:gd name="T22" fmla="*/ 207 w 215"/>
                          <a:gd name="T23" fmla="*/ 103 h 120"/>
                          <a:gd name="T24" fmla="*/ 212 w 215"/>
                          <a:gd name="T25" fmla="*/ 88 h 120"/>
                          <a:gd name="T26" fmla="*/ 215 w 215"/>
                          <a:gd name="T27" fmla="*/ 71 h 120"/>
                          <a:gd name="T28" fmla="*/ 160 w 215"/>
                          <a:gd name="T29" fmla="*/ 32 h 120"/>
                          <a:gd name="T30" fmla="*/ 131 w 215"/>
                          <a:gd name="T31" fmla="*/ 16 h 120"/>
                          <a:gd name="T32" fmla="*/ 99 w 215"/>
                          <a:gd name="T33" fmla="*/ 4 h 120"/>
                          <a:gd name="T34" fmla="*/ 73 w 215"/>
                          <a:gd name="T35" fmla="*/ 0 h 120"/>
                          <a:gd name="T36" fmla="*/ 56 w 215"/>
                          <a:gd name="T37" fmla="*/ 2 h 120"/>
                          <a:gd name="T38" fmla="*/ 37 w 215"/>
                          <a:gd name="T39" fmla="*/ 9 h 120"/>
                          <a:gd name="T40" fmla="*/ 20 w 215"/>
                          <a:gd name="T41" fmla="*/ 22 h 120"/>
                          <a:gd name="T42" fmla="*/ 0 w 215"/>
                          <a:gd name="T43" fmla="*/ 3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15" h="120">
                            <a:moveTo>
                              <a:pt x="0" y="38"/>
                            </a:moveTo>
                            <a:lnTo>
                              <a:pt x="25" y="33"/>
                            </a:lnTo>
                            <a:lnTo>
                              <a:pt x="49" y="38"/>
                            </a:lnTo>
                            <a:lnTo>
                              <a:pt x="76" y="45"/>
                            </a:lnTo>
                            <a:lnTo>
                              <a:pt x="99" y="56"/>
                            </a:lnTo>
                            <a:lnTo>
                              <a:pt x="122" y="66"/>
                            </a:lnTo>
                            <a:lnTo>
                              <a:pt x="146" y="85"/>
                            </a:lnTo>
                            <a:lnTo>
                              <a:pt x="154" y="98"/>
                            </a:lnTo>
                            <a:lnTo>
                              <a:pt x="169" y="109"/>
                            </a:lnTo>
                            <a:lnTo>
                              <a:pt x="183" y="117"/>
                            </a:lnTo>
                            <a:lnTo>
                              <a:pt x="197" y="120"/>
                            </a:lnTo>
                            <a:lnTo>
                              <a:pt x="207" y="103"/>
                            </a:lnTo>
                            <a:lnTo>
                              <a:pt x="212" y="88"/>
                            </a:lnTo>
                            <a:lnTo>
                              <a:pt x="215" y="71"/>
                            </a:lnTo>
                            <a:lnTo>
                              <a:pt x="160" y="32"/>
                            </a:lnTo>
                            <a:lnTo>
                              <a:pt x="131" y="16"/>
                            </a:lnTo>
                            <a:lnTo>
                              <a:pt x="99" y="4"/>
                            </a:lnTo>
                            <a:lnTo>
                              <a:pt x="73" y="0"/>
                            </a:lnTo>
                            <a:lnTo>
                              <a:pt x="56" y="2"/>
                            </a:lnTo>
                            <a:lnTo>
                              <a:pt x="37" y="9"/>
                            </a:lnTo>
                            <a:lnTo>
                              <a:pt x="20" y="22"/>
                            </a:lnTo>
                            <a:lnTo>
                              <a:pt x="0" y="38"/>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59" name="Freeform 311"/>
                      <p:cNvSpPr/>
                      <p:nvPr/>
                    </p:nvSpPr>
                    <p:spPr bwMode="auto">
                      <a:xfrm>
                        <a:off x="2628" y="3067"/>
                        <a:ext cx="37" cy="29"/>
                      </a:xfrm>
                      <a:custGeom>
                        <a:avLst/>
                        <a:gdLst>
                          <a:gd name="T0" fmla="*/ 0 w 263"/>
                          <a:gd name="T1" fmla="*/ 129 h 234"/>
                          <a:gd name="T2" fmla="*/ 27 w 263"/>
                          <a:gd name="T3" fmla="*/ 126 h 234"/>
                          <a:gd name="T4" fmla="*/ 50 w 263"/>
                          <a:gd name="T5" fmla="*/ 128 h 234"/>
                          <a:gd name="T6" fmla="*/ 85 w 263"/>
                          <a:gd name="T7" fmla="*/ 132 h 234"/>
                          <a:gd name="T8" fmla="*/ 118 w 263"/>
                          <a:gd name="T9" fmla="*/ 142 h 234"/>
                          <a:gd name="T10" fmla="*/ 152 w 263"/>
                          <a:gd name="T11" fmla="*/ 155 h 234"/>
                          <a:gd name="T12" fmla="*/ 185 w 263"/>
                          <a:gd name="T13" fmla="*/ 173 h 234"/>
                          <a:gd name="T14" fmla="*/ 211 w 263"/>
                          <a:gd name="T15" fmla="*/ 189 h 234"/>
                          <a:gd name="T16" fmla="*/ 232 w 263"/>
                          <a:gd name="T17" fmla="*/ 210 h 234"/>
                          <a:gd name="T18" fmla="*/ 245 w 263"/>
                          <a:gd name="T19" fmla="*/ 234 h 234"/>
                          <a:gd name="T20" fmla="*/ 256 w 263"/>
                          <a:gd name="T21" fmla="*/ 203 h 234"/>
                          <a:gd name="T22" fmla="*/ 263 w 263"/>
                          <a:gd name="T23" fmla="*/ 175 h 234"/>
                          <a:gd name="T24" fmla="*/ 262 w 263"/>
                          <a:gd name="T25" fmla="*/ 154 h 234"/>
                          <a:gd name="T26" fmla="*/ 257 w 263"/>
                          <a:gd name="T27" fmla="*/ 135 h 234"/>
                          <a:gd name="T28" fmla="*/ 245 w 263"/>
                          <a:gd name="T29" fmla="*/ 116 h 234"/>
                          <a:gd name="T30" fmla="*/ 251 w 263"/>
                          <a:gd name="T31" fmla="*/ 96 h 234"/>
                          <a:gd name="T32" fmla="*/ 248 w 263"/>
                          <a:gd name="T33" fmla="*/ 74 h 234"/>
                          <a:gd name="T34" fmla="*/ 223 w 263"/>
                          <a:gd name="T35" fmla="*/ 61 h 234"/>
                          <a:gd name="T36" fmla="*/ 192 w 263"/>
                          <a:gd name="T37" fmla="*/ 53 h 234"/>
                          <a:gd name="T38" fmla="*/ 159 w 263"/>
                          <a:gd name="T39" fmla="*/ 43 h 234"/>
                          <a:gd name="T40" fmla="*/ 129 w 263"/>
                          <a:gd name="T41" fmla="*/ 30 h 234"/>
                          <a:gd name="T42" fmla="*/ 94 w 263"/>
                          <a:gd name="T43" fmla="*/ 13 h 234"/>
                          <a:gd name="T44" fmla="*/ 72 w 263"/>
                          <a:gd name="T45" fmla="*/ 4 h 234"/>
                          <a:gd name="T46" fmla="*/ 58 w 263"/>
                          <a:gd name="T47" fmla="*/ 0 h 234"/>
                          <a:gd name="T48" fmla="*/ 47 w 263"/>
                          <a:gd name="T49" fmla="*/ 4 h 234"/>
                          <a:gd name="T50" fmla="*/ 39 w 263"/>
                          <a:gd name="T51" fmla="*/ 12 h 234"/>
                          <a:gd name="T52" fmla="*/ 36 w 263"/>
                          <a:gd name="T53" fmla="*/ 23 h 234"/>
                          <a:gd name="T54" fmla="*/ 36 w 263"/>
                          <a:gd name="T55" fmla="*/ 35 h 234"/>
                          <a:gd name="T56" fmla="*/ 42 w 263"/>
                          <a:gd name="T57" fmla="*/ 47 h 234"/>
                          <a:gd name="T58" fmla="*/ 65 w 263"/>
                          <a:gd name="T59" fmla="*/ 55 h 234"/>
                          <a:gd name="T60" fmla="*/ 95 w 263"/>
                          <a:gd name="T61" fmla="*/ 61 h 234"/>
                          <a:gd name="T62" fmla="*/ 144 w 263"/>
                          <a:gd name="T63" fmla="*/ 73 h 234"/>
                          <a:gd name="T64" fmla="*/ 175 w 263"/>
                          <a:gd name="T65" fmla="*/ 79 h 234"/>
                          <a:gd name="T66" fmla="*/ 215 w 263"/>
                          <a:gd name="T67" fmla="*/ 85 h 234"/>
                          <a:gd name="T68" fmla="*/ 179 w 263"/>
                          <a:gd name="T69" fmla="*/ 87 h 234"/>
                          <a:gd name="T70" fmla="*/ 141 w 263"/>
                          <a:gd name="T71" fmla="*/ 90 h 234"/>
                          <a:gd name="T72" fmla="*/ 104 w 263"/>
                          <a:gd name="T73" fmla="*/ 96 h 234"/>
                          <a:gd name="T74" fmla="*/ 74 w 263"/>
                          <a:gd name="T75" fmla="*/ 103 h 234"/>
                          <a:gd name="T76" fmla="*/ 37 w 263"/>
                          <a:gd name="T77" fmla="*/ 113 h 234"/>
                          <a:gd name="T78" fmla="*/ 0 w 263"/>
                          <a:gd name="T79" fmla="*/ 129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63" h="234">
                            <a:moveTo>
                              <a:pt x="0" y="129"/>
                            </a:moveTo>
                            <a:lnTo>
                              <a:pt x="27" y="126"/>
                            </a:lnTo>
                            <a:lnTo>
                              <a:pt x="50" y="128"/>
                            </a:lnTo>
                            <a:lnTo>
                              <a:pt x="85" y="132"/>
                            </a:lnTo>
                            <a:lnTo>
                              <a:pt x="118" y="142"/>
                            </a:lnTo>
                            <a:lnTo>
                              <a:pt x="152" y="155"/>
                            </a:lnTo>
                            <a:lnTo>
                              <a:pt x="185" y="173"/>
                            </a:lnTo>
                            <a:lnTo>
                              <a:pt x="211" y="189"/>
                            </a:lnTo>
                            <a:lnTo>
                              <a:pt x="232" y="210"/>
                            </a:lnTo>
                            <a:lnTo>
                              <a:pt x="245" y="234"/>
                            </a:lnTo>
                            <a:lnTo>
                              <a:pt x="256" y="203"/>
                            </a:lnTo>
                            <a:lnTo>
                              <a:pt x="263" y="175"/>
                            </a:lnTo>
                            <a:lnTo>
                              <a:pt x="262" y="154"/>
                            </a:lnTo>
                            <a:lnTo>
                              <a:pt x="257" y="135"/>
                            </a:lnTo>
                            <a:lnTo>
                              <a:pt x="245" y="116"/>
                            </a:lnTo>
                            <a:lnTo>
                              <a:pt x="251" y="96"/>
                            </a:lnTo>
                            <a:lnTo>
                              <a:pt x="248" y="74"/>
                            </a:lnTo>
                            <a:lnTo>
                              <a:pt x="223" y="61"/>
                            </a:lnTo>
                            <a:lnTo>
                              <a:pt x="192" y="53"/>
                            </a:lnTo>
                            <a:lnTo>
                              <a:pt x="159" y="43"/>
                            </a:lnTo>
                            <a:lnTo>
                              <a:pt x="129" y="30"/>
                            </a:lnTo>
                            <a:lnTo>
                              <a:pt x="94" y="13"/>
                            </a:lnTo>
                            <a:lnTo>
                              <a:pt x="72" y="4"/>
                            </a:lnTo>
                            <a:lnTo>
                              <a:pt x="58" y="0"/>
                            </a:lnTo>
                            <a:lnTo>
                              <a:pt x="47" y="4"/>
                            </a:lnTo>
                            <a:lnTo>
                              <a:pt x="39" y="12"/>
                            </a:lnTo>
                            <a:lnTo>
                              <a:pt x="36" y="23"/>
                            </a:lnTo>
                            <a:lnTo>
                              <a:pt x="36" y="35"/>
                            </a:lnTo>
                            <a:lnTo>
                              <a:pt x="42" y="47"/>
                            </a:lnTo>
                            <a:lnTo>
                              <a:pt x="65" y="55"/>
                            </a:lnTo>
                            <a:lnTo>
                              <a:pt x="95" y="61"/>
                            </a:lnTo>
                            <a:lnTo>
                              <a:pt x="144" y="73"/>
                            </a:lnTo>
                            <a:lnTo>
                              <a:pt x="175" y="79"/>
                            </a:lnTo>
                            <a:lnTo>
                              <a:pt x="215" y="85"/>
                            </a:lnTo>
                            <a:lnTo>
                              <a:pt x="179" y="87"/>
                            </a:lnTo>
                            <a:lnTo>
                              <a:pt x="141" y="90"/>
                            </a:lnTo>
                            <a:lnTo>
                              <a:pt x="104" y="96"/>
                            </a:lnTo>
                            <a:lnTo>
                              <a:pt x="74" y="103"/>
                            </a:lnTo>
                            <a:lnTo>
                              <a:pt x="37" y="113"/>
                            </a:lnTo>
                            <a:lnTo>
                              <a:pt x="0" y="129"/>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sp>
              <p:nvSpPr>
                <p:cNvPr id="642360" name="Freeform 312"/>
                <p:cNvSpPr/>
                <p:nvPr/>
              </p:nvSpPr>
              <p:spPr bwMode="auto">
                <a:xfrm>
                  <a:off x="2674" y="3008"/>
                  <a:ext cx="46" cy="44"/>
                </a:xfrm>
                <a:custGeom>
                  <a:avLst/>
                  <a:gdLst>
                    <a:gd name="T0" fmla="*/ 0 w 320"/>
                    <a:gd name="T1" fmla="*/ 120 h 352"/>
                    <a:gd name="T2" fmla="*/ 5 w 320"/>
                    <a:gd name="T3" fmla="*/ 80 h 352"/>
                    <a:gd name="T4" fmla="*/ 13 w 320"/>
                    <a:gd name="T5" fmla="*/ 54 h 352"/>
                    <a:gd name="T6" fmla="*/ 61 w 320"/>
                    <a:gd name="T7" fmla="*/ 0 h 352"/>
                    <a:gd name="T8" fmla="*/ 200 w 320"/>
                    <a:gd name="T9" fmla="*/ 116 h 352"/>
                    <a:gd name="T10" fmla="*/ 230 w 320"/>
                    <a:gd name="T11" fmla="*/ 159 h 352"/>
                    <a:gd name="T12" fmla="*/ 254 w 320"/>
                    <a:gd name="T13" fmla="*/ 200 h 352"/>
                    <a:gd name="T14" fmla="*/ 314 w 320"/>
                    <a:gd name="T15" fmla="*/ 249 h 352"/>
                    <a:gd name="T16" fmla="*/ 320 w 320"/>
                    <a:gd name="T17" fmla="*/ 352 h 352"/>
                    <a:gd name="T18" fmla="*/ 290 w 320"/>
                    <a:gd name="T19" fmla="*/ 343 h 352"/>
                    <a:gd name="T20" fmla="*/ 265 w 320"/>
                    <a:gd name="T21" fmla="*/ 330 h 352"/>
                    <a:gd name="T22" fmla="*/ 242 w 320"/>
                    <a:gd name="T23" fmla="*/ 314 h 352"/>
                    <a:gd name="T24" fmla="*/ 222 w 320"/>
                    <a:gd name="T25" fmla="*/ 292 h 352"/>
                    <a:gd name="T26" fmla="*/ 206 w 320"/>
                    <a:gd name="T27" fmla="*/ 267 h 352"/>
                    <a:gd name="T28" fmla="*/ 189 w 320"/>
                    <a:gd name="T29" fmla="*/ 234 h 352"/>
                    <a:gd name="T30" fmla="*/ 175 w 320"/>
                    <a:gd name="T31" fmla="*/ 201 h 352"/>
                    <a:gd name="T32" fmla="*/ 162 w 320"/>
                    <a:gd name="T33" fmla="*/ 157 h 352"/>
                    <a:gd name="T34" fmla="*/ 151 w 320"/>
                    <a:gd name="T35" fmla="*/ 116 h 352"/>
                    <a:gd name="T36" fmla="*/ 71 w 320"/>
                    <a:gd name="T37" fmla="*/ 108 h 352"/>
                    <a:gd name="T38" fmla="*/ 14 w 320"/>
                    <a:gd name="T39" fmla="*/ 111 h 352"/>
                    <a:gd name="T40" fmla="*/ 0 w 320"/>
                    <a:gd name="T41" fmla="*/ 120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20" h="352">
                      <a:moveTo>
                        <a:pt x="0" y="120"/>
                      </a:moveTo>
                      <a:lnTo>
                        <a:pt x="5" y="80"/>
                      </a:lnTo>
                      <a:lnTo>
                        <a:pt x="13" y="54"/>
                      </a:lnTo>
                      <a:lnTo>
                        <a:pt x="61" y="0"/>
                      </a:lnTo>
                      <a:lnTo>
                        <a:pt x="200" y="116"/>
                      </a:lnTo>
                      <a:lnTo>
                        <a:pt x="230" y="159"/>
                      </a:lnTo>
                      <a:lnTo>
                        <a:pt x="254" y="200"/>
                      </a:lnTo>
                      <a:lnTo>
                        <a:pt x="314" y="249"/>
                      </a:lnTo>
                      <a:lnTo>
                        <a:pt x="320" y="352"/>
                      </a:lnTo>
                      <a:lnTo>
                        <a:pt x="290" y="343"/>
                      </a:lnTo>
                      <a:lnTo>
                        <a:pt x="265" y="330"/>
                      </a:lnTo>
                      <a:lnTo>
                        <a:pt x="242" y="314"/>
                      </a:lnTo>
                      <a:lnTo>
                        <a:pt x="222" y="292"/>
                      </a:lnTo>
                      <a:lnTo>
                        <a:pt x="206" y="267"/>
                      </a:lnTo>
                      <a:lnTo>
                        <a:pt x="189" y="234"/>
                      </a:lnTo>
                      <a:lnTo>
                        <a:pt x="175" y="201"/>
                      </a:lnTo>
                      <a:lnTo>
                        <a:pt x="162" y="157"/>
                      </a:lnTo>
                      <a:lnTo>
                        <a:pt x="151" y="116"/>
                      </a:lnTo>
                      <a:lnTo>
                        <a:pt x="71" y="108"/>
                      </a:lnTo>
                      <a:lnTo>
                        <a:pt x="14" y="111"/>
                      </a:lnTo>
                      <a:lnTo>
                        <a:pt x="0" y="12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61" name="Group 313"/>
              <p:cNvGrpSpPr/>
              <p:nvPr/>
            </p:nvGrpSpPr>
            <p:grpSpPr bwMode="auto">
              <a:xfrm>
                <a:off x="2686" y="2984"/>
                <a:ext cx="60" cy="54"/>
                <a:chOff x="2686" y="2984"/>
                <a:chExt cx="60" cy="54"/>
              </a:xfrm>
            </p:grpSpPr>
            <p:sp>
              <p:nvSpPr>
                <p:cNvPr id="642362" name="Freeform 314"/>
                <p:cNvSpPr/>
                <p:nvPr/>
              </p:nvSpPr>
              <p:spPr bwMode="auto">
                <a:xfrm>
                  <a:off x="2686" y="2984"/>
                  <a:ext cx="60" cy="53"/>
                </a:xfrm>
                <a:custGeom>
                  <a:avLst/>
                  <a:gdLst>
                    <a:gd name="T0" fmla="*/ 221 w 423"/>
                    <a:gd name="T1" fmla="*/ 425 h 425"/>
                    <a:gd name="T2" fmla="*/ 180 w 423"/>
                    <a:gd name="T3" fmla="*/ 402 h 425"/>
                    <a:gd name="T4" fmla="*/ 150 w 423"/>
                    <a:gd name="T5" fmla="*/ 359 h 425"/>
                    <a:gd name="T6" fmla="*/ 138 w 423"/>
                    <a:gd name="T7" fmla="*/ 329 h 425"/>
                    <a:gd name="T8" fmla="*/ 120 w 423"/>
                    <a:gd name="T9" fmla="*/ 328 h 425"/>
                    <a:gd name="T10" fmla="*/ 97 w 423"/>
                    <a:gd name="T11" fmla="*/ 323 h 425"/>
                    <a:gd name="T12" fmla="*/ 57 w 423"/>
                    <a:gd name="T13" fmla="*/ 308 h 425"/>
                    <a:gd name="T14" fmla="*/ 29 w 423"/>
                    <a:gd name="T15" fmla="*/ 289 h 425"/>
                    <a:gd name="T16" fmla="*/ 0 w 423"/>
                    <a:gd name="T17" fmla="*/ 268 h 425"/>
                    <a:gd name="T18" fmla="*/ 12 w 423"/>
                    <a:gd name="T19" fmla="*/ 260 h 425"/>
                    <a:gd name="T20" fmla="*/ 42 w 423"/>
                    <a:gd name="T21" fmla="*/ 225 h 425"/>
                    <a:gd name="T22" fmla="*/ 68 w 423"/>
                    <a:gd name="T23" fmla="*/ 193 h 425"/>
                    <a:gd name="T24" fmla="*/ 96 w 423"/>
                    <a:gd name="T25" fmla="*/ 154 h 425"/>
                    <a:gd name="T26" fmla="*/ 126 w 423"/>
                    <a:gd name="T27" fmla="*/ 109 h 425"/>
                    <a:gd name="T28" fmla="*/ 141 w 423"/>
                    <a:gd name="T29" fmla="*/ 72 h 425"/>
                    <a:gd name="T30" fmla="*/ 157 w 423"/>
                    <a:gd name="T31" fmla="*/ 0 h 425"/>
                    <a:gd name="T32" fmla="*/ 423 w 423"/>
                    <a:gd name="T33" fmla="*/ 43 h 425"/>
                    <a:gd name="T34" fmla="*/ 221 w 423"/>
                    <a:gd name="T35" fmla="*/ 425 h 4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23" h="425">
                      <a:moveTo>
                        <a:pt x="221" y="425"/>
                      </a:moveTo>
                      <a:lnTo>
                        <a:pt x="180" y="402"/>
                      </a:lnTo>
                      <a:lnTo>
                        <a:pt x="150" y="359"/>
                      </a:lnTo>
                      <a:lnTo>
                        <a:pt x="138" y="329"/>
                      </a:lnTo>
                      <a:lnTo>
                        <a:pt x="120" y="328"/>
                      </a:lnTo>
                      <a:lnTo>
                        <a:pt x="97" y="323"/>
                      </a:lnTo>
                      <a:lnTo>
                        <a:pt x="57" y="308"/>
                      </a:lnTo>
                      <a:lnTo>
                        <a:pt x="29" y="289"/>
                      </a:lnTo>
                      <a:lnTo>
                        <a:pt x="0" y="268"/>
                      </a:lnTo>
                      <a:lnTo>
                        <a:pt x="12" y="260"/>
                      </a:lnTo>
                      <a:lnTo>
                        <a:pt x="42" y="225"/>
                      </a:lnTo>
                      <a:lnTo>
                        <a:pt x="68" y="193"/>
                      </a:lnTo>
                      <a:lnTo>
                        <a:pt x="96" y="154"/>
                      </a:lnTo>
                      <a:lnTo>
                        <a:pt x="126" y="109"/>
                      </a:lnTo>
                      <a:lnTo>
                        <a:pt x="141" y="72"/>
                      </a:lnTo>
                      <a:lnTo>
                        <a:pt x="157" y="0"/>
                      </a:lnTo>
                      <a:lnTo>
                        <a:pt x="423" y="43"/>
                      </a:lnTo>
                      <a:lnTo>
                        <a:pt x="221" y="42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63" name="Freeform 315"/>
                <p:cNvSpPr/>
                <p:nvPr/>
              </p:nvSpPr>
              <p:spPr bwMode="auto">
                <a:xfrm>
                  <a:off x="2700" y="3002"/>
                  <a:ext cx="22" cy="36"/>
                </a:xfrm>
                <a:custGeom>
                  <a:avLst/>
                  <a:gdLst>
                    <a:gd name="T0" fmla="*/ 119 w 160"/>
                    <a:gd name="T1" fmla="*/ 281 h 289"/>
                    <a:gd name="T2" fmla="*/ 137 w 160"/>
                    <a:gd name="T3" fmla="*/ 289 h 289"/>
                    <a:gd name="T4" fmla="*/ 122 w 160"/>
                    <a:gd name="T5" fmla="*/ 262 h 289"/>
                    <a:gd name="T6" fmla="*/ 117 w 160"/>
                    <a:gd name="T7" fmla="*/ 241 h 289"/>
                    <a:gd name="T8" fmla="*/ 114 w 160"/>
                    <a:gd name="T9" fmla="*/ 211 h 289"/>
                    <a:gd name="T10" fmla="*/ 117 w 160"/>
                    <a:gd name="T11" fmla="*/ 179 h 289"/>
                    <a:gd name="T12" fmla="*/ 121 w 160"/>
                    <a:gd name="T13" fmla="*/ 144 h 289"/>
                    <a:gd name="T14" fmla="*/ 128 w 160"/>
                    <a:gd name="T15" fmla="*/ 112 h 289"/>
                    <a:gd name="T16" fmla="*/ 137 w 160"/>
                    <a:gd name="T17" fmla="*/ 85 h 289"/>
                    <a:gd name="T18" fmla="*/ 147 w 160"/>
                    <a:gd name="T19" fmla="*/ 63 h 289"/>
                    <a:gd name="T20" fmla="*/ 153 w 160"/>
                    <a:gd name="T21" fmla="*/ 32 h 289"/>
                    <a:gd name="T22" fmla="*/ 160 w 160"/>
                    <a:gd name="T23" fmla="*/ 0 h 289"/>
                    <a:gd name="T24" fmla="*/ 135 w 160"/>
                    <a:gd name="T25" fmla="*/ 32 h 289"/>
                    <a:gd name="T26" fmla="*/ 117 w 160"/>
                    <a:gd name="T27" fmla="*/ 57 h 289"/>
                    <a:gd name="T28" fmla="*/ 101 w 160"/>
                    <a:gd name="T29" fmla="*/ 81 h 289"/>
                    <a:gd name="T30" fmla="*/ 86 w 160"/>
                    <a:gd name="T31" fmla="*/ 106 h 289"/>
                    <a:gd name="T32" fmla="*/ 66 w 160"/>
                    <a:gd name="T33" fmla="*/ 119 h 289"/>
                    <a:gd name="T34" fmla="*/ 44 w 160"/>
                    <a:gd name="T35" fmla="*/ 137 h 289"/>
                    <a:gd name="T36" fmla="*/ 21 w 160"/>
                    <a:gd name="T37" fmla="*/ 157 h 289"/>
                    <a:gd name="T38" fmla="*/ 0 w 160"/>
                    <a:gd name="T39" fmla="*/ 179 h 289"/>
                    <a:gd name="T40" fmla="*/ 29 w 160"/>
                    <a:gd name="T41" fmla="*/ 186 h 289"/>
                    <a:gd name="T42" fmla="*/ 38 w 160"/>
                    <a:gd name="T43" fmla="*/ 201 h 289"/>
                    <a:gd name="T44" fmla="*/ 47 w 160"/>
                    <a:gd name="T45" fmla="*/ 216 h 289"/>
                    <a:gd name="T46" fmla="*/ 59 w 160"/>
                    <a:gd name="T47" fmla="*/ 233 h 289"/>
                    <a:gd name="T48" fmla="*/ 73 w 160"/>
                    <a:gd name="T49" fmla="*/ 247 h 289"/>
                    <a:gd name="T50" fmla="*/ 86 w 160"/>
                    <a:gd name="T51" fmla="*/ 260 h 289"/>
                    <a:gd name="T52" fmla="*/ 103 w 160"/>
                    <a:gd name="T53" fmla="*/ 270 h 289"/>
                    <a:gd name="T54" fmla="*/ 119 w 160"/>
                    <a:gd name="T55" fmla="*/ 281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60" h="289">
                      <a:moveTo>
                        <a:pt x="119" y="281"/>
                      </a:moveTo>
                      <a:lnTo>
                        <a:pt x="137" y="289"/>
                      </a:lnTo>
                      <a:lnTo>
                        <a:pt x="122" y="262"/>
                      </a:lnTo>
                      <a:lnTo>
                        <a:pt x="117" y="241"/>
                      </a:lnTo>
                      <a:lnTo>
                        <a:pt x="114" y="211"/>
                      </a:lnTo>
                      <a:lnTo>
                        <a:pt x="117" y="179"/>
                      </a:lnTo>
                      <a:lnTo>
                        <a:pt x="121" y="144"/>
                      </a:lnTo>
                      <a:lnTo>
                        <a:pt x="128" y="112"/>
                      </a:lnTo>
                      <a:lnTo>
                        <a:pt x="137" y="85"/>
                      </a:lnTo>
                      <a:lnTo>
                        <a:pt x="147" y="63"/>
                      </a:lnTo>
                      <a:lnTo>
                        <a:pt x="153" y="32"/>
                      </a:lnTo>
                      <a:lnTo>
                        <a:pt x="160" y="0"/>
                      </a:lnTo>
                      <a:lnTo>
                        <a:pt x="135" y="32"/>
                      </a:lnTo>
                      <a:lnTo>
                        <a:pt x="117" y="57"/>
                      </a:lnTo>
                      <a:lnTo>
                        <a:pt x="101" y="81"/>
                      </a:lnTo>
                      <a:lnTo>
                        <a:pt x="86" y="106"/>
                      </a:lnTo>
                      <a:lnTo>
                        <a:pt x="66" y="119"/>
                      </a:lnTo>
                      <a:lnTo>
                        <a:pt x="44" y="137"/>
                      </a:lnTo>
                      <a:lnTo>
                        <a:pt x="21" y="157"/>
                      </a:lnTo>
                      <a:lnTo>
                        <a:pt x="0" y="179"/>
                      </a:lnTo>
                      <a:lnTo>
                        <a:pt x="29" y="186"/>
                      </a:lnTo>
                      <a:lnTo>
                        <a:pt x="38" y="201"/>
                      </a:lnTo>
                      <a:lnTo>
                        <a:pt x="47" y="216"/>
                      </a:lnTo>
                      <a:lnTo>
                        <a:pt x="59" y="233"/>
                      </a:lnTo>
                      <a:lnTo>
                        <a:pt x="73" y="247"/>
                      </a:lnTo>
                      <a:lnTo>
                        <a:pt x="86" y="260"/>
                      </a:lnTo>
                      <a:lnTo>
                        <a:pt x="103" y="270"/>
                      </a:lnTo>
                      <a:lnTo>
                        <a:pt x="119" y="281"/>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64" name="Freeform 316"/>
                <p:cNvSpPr/>
                <p:nvPr/>
              </p:nvSpPr>
              <p:spPr bwMode="auto">
                <a:xfrm>
                  <a:off x="2698" y="2997"/>
                  <a:ext cx="17" cy="27"/>
                </a:xfrm>
                <a:custGeom>
                  <a:avLst/>
                  <a:gdLst>
                    <a:gd name="T0" fmla="*/ 115 w 115"/>
                    <a:gd name="T1" fmla="*/ 119 h 218"/>
                    <a:gd name="T2" fmla="*/ 99 w 115"/>
                    <a:gd name="T3" fmla="*/ 117 h 218"/>
                    <a:gd name="T4" fmla="*/ 84 w 115"/>
                    <a:gd name="T5" fmla="*/ 113 h 218"/>
                    <a:gd name="T6" fmla="*/ 80 w 115"/>
                    <a:gd name="T7" fmla="*/ 97 h 218"/>
                    <a:gd name="T8" fmla="*/ 82 w 115"/>
                    <a:gd name="T9" fmla="*/ 76 h 218"/>
                    <a:gd name="T10" fmla="*/ 86 w 115"/>
                    <a:gd name="T11" fmla="*/ 53 h 218"/>
                    <a:gd name="T12" fmla="*/ 90 w 115"/>
                    <a:gd name="T13" fmla="*/ 32 h 218"/>
                    <a:gd name="T14" fmla="*/ 93 w 115"/>
                    <a:gd name="T15" fmla="*/ 15 h 218"/>
                    <a:gd name="T16" fmla="*/ 97 w 115"/>
                    <a:gd name="T17" fmla="*/ 0 h 218"/>
                    <a:gd name="T18" fmla="*/ 84 w 115"/>
                    <a:gd name="T19" fmla="*/ 4 h 218"/>
                    <a:gd name="T20" fmla="*/ 72 w 115"/>
                    <a:gd name="T21" fmla="*/ 12 h 218"/>
                    <a:gd name="T22" fmla="*/ 60 w 115"/>
                    <a:gd name="T23" fmla="*/ 25 h 218"/>
                    <a:gd name="T24" fmla="*/ 52 w 115"/>
                    <a:gd name="T25" fmla="*/ 37 h 218"/>
                    <a:gd name="T26" fmla="*/ 47 w 115"/>
                    <a:gd name="T27" fmla="*/ 53 h 218"/>
                    <a:gd name="T28" fmla="*/ 46 w 115"/>
                    <a:gd name="T29" fmla="*/ 73 h 218"/>
                    <a:gd name="T30" fmla="*/ 33 w 115"/>
                    <a:gd name="T31" fmla="*/ 86 h 218"/>
                    <a:gd name="T32" fmla="*/ 22 w 115"/>
                    <a:gd name="T33" fmla="*/ 104 h 218"/>
                    <a:gd name="T34" fmla="*/ 11 w 115"/>
                    <a:gd name="T35" fmla="*/ 128 h 218"/>
                    <a:gd name="T36" fmla="*/ 5 w 115"/>
                    <a:gd name="T37" fmla="*/ 158 h 218"/>
                    <a:gd name="T38" fmla="*/ 2 w 115"/>
                    <a:gd name="T39" fmla="*/ 190 h 218"/>
                    <a:gd name="T40" fmla="*/ 0 w 115"/>
                    <a:gd name="T41" fmla="*/ 216 h 218"/>
                    <a:gd name="T42" fmla="*/ 11 w 115"/>
                    <a:gd name="T43" fmla="*/ 218 h 218"/>
                    <a:gd name="T44" fmla="*/ 97 w 115"/>
                    <a:gd name="T45" fmla="*/ 146 h 218"/>
                    <a:gd name="T46" fmla="*/ 115 w 115"/>
                    <a:gd name="T47" fmla="*/ 119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5" h="218">
                      <a:moveTo>
                        <a:pt x="115" y="119"/>
                      </a:moveTo>
                      <a:lnTo>
                        <a:pt x="99" y="117"/>
                      </a:lnTo>
                      <a:lnTo>
                        <a:pt x="84" y="113"/>
                      </a:lnTo>
                      <a:lnTo>
                        <a:pt x="80" y="97"/>
                      </a:lnTo>
                      <a:lnTo>
                        <a:pt x="82" y="76"/>
                      </a:lnTo>
                      <a:lnTo>
                        <a:pt x="86" y="53"/>
                      </a:lnTo>
                      <a:lnTo>
                        <a:pt x="90" y="32"/>
                      </a:lnTo>
                      <a:lnTo>
                        <a:pt x="93" y="15"/>
                      </a:lnTo>
                      <a:lnTo>
                        <a:pt x="97" y="0"/>
                      </a:lnTo>
                      <a:lnTo>
                        <a:pt x="84" y="4"/>
                      </a:lnTo>
                      <a:lnTo>
                        <a:pt x="72" y="12"/>
                      </a:lnTo>
                      <a:lnTo>
                        <a:pt x="60" y="25"/>
                      </a:lnTo>
                      <a:lnTo>
                        <a:pt x="52" y="37"/>
                      </a:lnTo>
                      <a:lnTo>
                        <a:pt x="47" y="53"/>
                      </a:lnTo>
                      <a:lnTo>
                        <a:pt x="46" y="73"/>
                      </a:lnTo>
                      <a:lnTo>
                        <a:pt x="33" y="86"/>
                      </a:lnTo>
                      <a:lnTo>
                        <a:pt x="22" y="104"/>
                      </a:lnTo>
                      <a:lnTo>
                        <a:pt x="11" y="128"/>
                      </a:lnTo>
                      <a:lnTo>
                        <a:pt x="5" y="158"/>
                      </a:lnTo>
                      <a:lnTo>
                        <a:pt x="2" y="190"/>
                      </a:lnTo>
                      <a:lnTo>
                        <a:pt x="0" y="216"/>
                      </a:lnTo>
                      <a:lnTo>
                        <a:pt x="11" y="218"/>
                      </a:lnTo>
                      <a:lnTo>
                        <a:pt x="97" y="146"/>
                      </a:lnTo>
                      <a:lnTo>
                        <a:pt x="115" y="119"/>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65" name="Group 317"/>
              <p:cNvGrpSpPr/>
              <p:nvPr/>
            </p:nvGrpSpPr>
            <p:grpSpPr bwMode="auto">
              <a:xfrm>
                <a:off x="2713" y="2975"/>
                <a:ext cx="95" cy="139"/>
                <a:chOff x="2713" y="2975"/>
                <a:chExt cx="95" cy="139"/>
              </a:xfrm>
            </p:grpSpPr>
            <p:sp>
              <p:nvSpPr>
                <p:cNvPr id="642366" name="Freeform 318"/>
                <p:cNvSpPr/>
                <p:nvPr/>
              </p:nvSpPr>
              <p:spPr bwMode="auto">
                <a:xfrm>
                  <a:off x="2713" y="2975"/>
                  <a:ext cx="95" cy="139"/>
                </a:xfrm>
                <a:custGeom>
                  <a:avLst/>
                  <a:gdLst>
                    <a:gd name="T0" fmla="*/ 43 w 670"/>
                    <a:gd name="T1" fmla="*/ 6 h 1116"/>
                    <a:gd name="T2" fmla="*/ 65 w 670"/>
                    <a:gd name="T3" fmla="*/ 99 h 1116"/>
                    <a:gd name="T4" fmla="*/ 68 w 670"/>
                    <a:gd name="T5" fmla="*/ 135 h 1116"/>
                    <a:gd name="T6" fmla="*/ 59 w 670"/>
                    <a:gd name="T7" fmla="*/ 241 h 1116"/>
                    <a:gd name="T8" fmla="*/ 33 w 670"/>
                    <a:gd name="T9" fmla="*/ 280 h 1116"/>
                    <a:gd name="T10" fmla="*/ 21 w 670"/>
                    <a:gd name="T11" fmla="*/ 324 h 1116"/>
                    <a:gd name="T12" fmla="*/ 17 w 670"/>
                    <a:gd name="T13" fmla="*/ 319 h 1116"/>
                    <a:gd name="T14" fmla="*/ 0 w 670"/>
                    <a:gd name="T15" fmla="*/ 377 h 1116"/>
                    <a:gd name="T16" fmla="*/ 13 w 670"/>
                    <a:gd name="T17" fmla="*/ 498 h 1116"/>
                    <a:gd name="T18" fmla="*/ 17 w 670"/>
                    <a:gd name="T19" fmla="*/ 635 h 1116"/>
                    <a:gd name="T20" fmla="*/ 13 w 670"/>
                    <a:gd name="T21" fmla="*/ 677 h 1116"/>
                    <a:gd name="T22" fmla="*/ 14 w 670"/>
                    <a:gd name="T23" fmla="*/ 728 h 1116"/>
                    <a:gd name="T24" fmla="*/ 19 w 670"/>
                    <a:gd name="T25" fmla="*/ 780 h 1116"/>
                    <a:gd name="T26" fmla="*/ 43 w 670"/>
                    <a:gd name="T27" fmla="*/ 894 h 1116"/>
                    <a:gd name="T28" fmla="*/ 78 w 670"/>
                    <a:gd name="T29" fmla="*/ 948 h 1116"/>
                    <a:gd name="T30" fmla="*/ 107 w 670"/>
                    <a:gd name="T31" fmla="*/ 972 h 1116"/>
                    <a:gd name="T32" fmla="*/ 101 w 670"/>
                    <a:gd name="T33" fmla="*/ 1038 h 1116"/>
                    <a:gd name="T34" fmla="*/ 154 w 670"/>
                    <a:gd name="T35" fmla="*/ 1068 h 1116"/>
                    <a:gd name="T36" fmla="*/ 218 w 670"/>
                    <a:gd name="T37" fmla="*/ 1087 h 1116"/>
                    <a:gd name="T38" fmla="*/ 295 w 670"/>
                    <a:gd name="T39" fmla="*/ 1075 h 1116"/>
                    <a:gd name="T40" fmla="*/ 331 w 670"/>
                    <a:gd name="T41" fmla="*/ 1057 h 1116"/>
                    <a:gd name="T42" fmla="*/ 342 w 670"/>
                    <a:gd name="T43" fmla="*/ 1092 h 1116"/>
                    <a:gd name="T44" fmla="*/ 425 w 670"/>
                    <a:gd name="T45" fmla="*/ 1098 h 1116"/>
                    <a:gd name="T46" fmla="*/ 525 w 670"/>
                    <a:gd name="T47" fmla="*/ 1116 h 1116"/>
                    <a:gd name="T48" fmla="*/ 611 w 670"/>
                    <a:gd name="T49" fmla="*/ 1098 h 1116"/>
                    <a:gd name="T50" fmla="*/ 670 w 670"/>
                    <a:gd name="T51" fmla="*/ 1063 h 1116"/>
                    <a:gd name="T52" fmla="*/ 670 w 670"/>
                    <a:gd name="T53" fmla="*/ 495 h 1116"/>
                    <a:gd name="T54" fmla="*/ 632 w 670"/>
                    <a:gd name="T55" fmla="*/ 449 h 1116"/>
                    <a:gd name="T56" fmla="*/ 605 w 670"/>
                    <a:gd name="T57" fmla="*/ 411 h 1116"/>
                    <a:gd name="T58" fmla="*/ 557 w 670"/>
                    <a:gd name="T59" fmla="*/ 325 h 1116"/>
                    <a:gd name="T60" fmla="*/ 546 w 670"/>
                    <a:gd name="T61" fmla="*/ 279 h 1116"/>
                    <a:gd name="T62" fmla="*/ 529 w 670"/>
                    <a:gd name="T63" fmla="*/ 229 h 1116"/>
                    <a:gd name="T64" fmla="*/ 504 w 670"/>
                    <a:gd name="T65" fmla="*/ 178 h 1116"/>
                    <a:gd name="T66" fmla="*/ 476 w 670"/>
                    <a:gd name="T67" fmla="*/ 135 h 1116"/>
                    <a:gd name="T68" fmla="*/ 438 w 670"/>
                    <a:gd name="T69" fmla="*/ 93 h 1116"/>
                    <a:gd name="T70" fmla="*/ 407 w 670"/>
                    <a:gd name="T71" fmla="*/ 65 h 1116"/>
                    <a:gd name="T72" fmla="*/ 370 w 670"/>
                    <a:gd name="T73" fmla="*/ 42 h 1116"/>
                    <a:gd name="T74" fmla="*/ 336 w 670"/>
                    <a:gd name="T75" fmla="*/ 25 h 1116"/>
                    <a:gd name="T76" fmla="*/ 285 w 670"/>
                    <a:gd name="T77" fmla="*/ 10 h 1116"/>
                    <a:gd name="T78" fmla="*/ 237 w 670"/>
                    <a:gd name="T79" fmla="*/ 1 h 1116"/>
                    <a:gd name="T80" fmla="*/ 190 w 670"/>
                    <a:gd name="T81" fmla="*/ 0 h 1116"/>
                    <a:gd name="T82" fmla="*/ 148 w 670"/>
                    <a:gd name="T83" fmla="*/ 1 h 1116"/>
                    <a:gd name="T84" fmla="*/ 43 w 670"/>
                    <a:gd name="T85" fmla="*/ 6 h 1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70" h="1116">
                      <a:moveTo>
                        <a:pt x="43" y="6"/>
                      </a:moveTo>
                      <a:lnTo>
                        <a:pt x="65" y="99"/>
                      </a:lnTo>
                      <a:lnTo>
                        <a:pt x="68" y="135"/>
                      </a:lnTo>
                      <a:lnTo>
                        <a:pt x="59" y="241"/>
                      </a:lnTo>
                      <a:lnTo>
                        <a:pt x="33" y="280"/>
                      </a:lnTo>
                      <a:lnTo>
                        <a:pt x="21" y="324"/>
                      </a:lnTo>
                      <a:lnTo>
                        <a:pt x="17" y="319"/>
                      </a:lnTo>
                      <a:lnTo>
                        <a:pt x="0" y="377"/>
                      </a:lnTo>
                      <a:lnTo>
                        <a:pt x="13" y="498"/>
                      </a:lnTo>
                      <a:lnTo>
                        <a:pt x="17" y="635"/>
                      </a:lnTo>
                      <a:lnTo>
                        <a:pt x="13" y="677"/>
                      </a:lnTo>
                      <a:lnTo>
                        <a:pt x="14" y="728"/>
                      </a:lnTo>
                      <a:lnTo>
                        <a:pt x="19" y="780"/>
                      </a:lnTo>
                      <a:lnTo>
                        <a:pt x="43" y="894"/>
                      </a:lnTo>
                      <a:lnTo>
                        <a:pt x="78" y="948"/>
                      </a:lnTo>
                      <a:lnTo>
                        <a:pt x="107" y="972"/>
                      </a:lnTo>
                      <a:lnTo>
                        <a:pt x="101" y="1038"/>
                      </a:lnTo>
                      <a:lnTo>
                        <a:pt x="154" y="1068"/>
                      </a:lnTo>
                      <a:lnTo>
                        <a:pt x="218" y="1087"/>
                      </a:lnTo>
                      <a:lnTo>
                        <a:pt x="295" y="1075"/>
                      </a:lnTo>
                      <a:lnTo>
                        <a:pt x="331" y="1057"/>
                      </a:lnTo>
                      <a:lnTo>
                        <a:pt x="342" y="1092"/>
                      </a:lnTo>
                      <a:lnTo>
                        <a:pt x="425" y="1098"/>
                      </a:lnTo>
                      <a:lnTo>
                        <a:pt x="525" y="1116"/>
                      </a:lnTo>
                      <a:lnTo>
                        <a:pt x="611" y="1098"/>
                      </a:lnTo>
                      <a:lnTo>
                        <a:pt x="670" y="1063"/>
                      </a:lnTo>
                      <a:lnTo>
                        <a:pt x="670" y="495"/>
                      </a:lnTo>
                      <a:lnTo>
                        <a:pt x="632" y="449"/>
                      </a:lnTo>
                      <a:lnTo>
                        <a:pt x="605" y="411"/>
                      </a:lnTo>
                      <a:lnTo>
                        <a:pt x="557" y="325"/>
                      </a:lnTo>
                      <a:lnTo>
                        <a:pt x="546" y="279"/>
                      </a:lnTo>
                      <a:lnTo>
                        <a:pt x="529" y="229"/>
                      </a:lnTo>
                      <a:lnTo>
                        <a:pt x="504" y="178"/>
                      </a:lnTo>
                      <a:lnTo>
                        <a:pt x="476" y="135"/>
                      </a:lnTo>
                      <a:lnTo>
                        <a:pt x="438" y="93"/>
                      </a:lnTo>
                      <a:lnTo>
                        <a:pt x="407" y="65"/>
                      </a:lnTo>
                      <a:lnTo>
                        <a:pt x="370" y="42"/>
                      </a:lnTo>
                      <a:lnTo>
                        <a:pt x="336" y="25"/>
                      </a:lnTo>
                      <a:lnTo>
                        <a:pt x="285" y="10"/>
                      </a:lnTo>
                      <a:lnTo>
                        <a:pt x="237" y="1"/>
                      </a:lnTo>
                      <a:lnTo>
                        <a:pt x="190" y="0"/>
                      </a:lnTo>
                      <a:lnTo>
                        <a:pt x="148" y="1"/>
                      </a:lnTo>
                      <a:lnTo>
                        <a:pt x="43" y="6"/>
                      </a:lnTo>
                      <a:close/>
                    </a:path>
                  </a:pathLst>
                </a:custGeom>
                <a:solidFill>
                  <a:srgbClr val="A0A0C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367" name="Group 319"/>
                <p:cNvGrpSpPr/>
                <p:nvPr/>
              </p:nvGrpSpPr>
              <p:grpSpPr bwMode="auto">
                <a:xfrm>
                  <a:off x="2713" y="2976"/>
                  <a:ext cx="95" cy="135"/>
                  <a:chOff x="2713" y="2976"/>
                  <a:chExt cx="95" cy="135"/>
                </a:xfrm>
              </p:grpSpPr>
              <p:sp>
                <p:nvSpPr>
                  <p:cNvPr id="642368" name="Freeform 320"/>
                  <p:cNvSpPr/>
                  <p:nvPr/>
                </p:nvSpPr>
                <p:spPr bwMode="auto">
                  <a:xfrm>
                    <a:off x="2758" y="3063"/>
                    <a:ext cx="23" cy="43"/>
                  </a:xfrm>
                  <a:custGeom>
                    <a:avLst/>
                    <a:gdLst>
                      <a:gd name="T0" fmla="*/ 132 w 164"/>
                      <a:gd name="T1" fmla="*/ 32 h 342"/>
                      <a:gd name="T2" fmla="*/ 86 w 164"/>
                      <a:gd name="T3" fmla="*/ 74 h 342"/>
                      <a:gd name="T4" fmla="*/ 34 w 164"/>
                      <a:gd name="T5" fmla="*/ 138 h 342"/>
                      <a:gd name="T6" fmla="*/ 37 w 164"/>
                      <a:gd name="T7" fmla="*/ 167 h 342"/>
                      <a:gd name="T8" fmla="*/ 3 w 164"/>
                      <a:gd name="T9" fmla="*/ 236 h 342"/>
                      <a:gd name="T10" fmla="*/ 0 w 164"/>
                      <a:gd name="T11" fmla="*/ 312 h 342"/>
                      <a:gd name="T12" fmla="*/ 12 w 164"/>
                      <a:gd name="T13" fmla="*/ 342 h 342"/>
                      <a:gd name="T14" fmla="*/ 14 w 164"/>
                      <a:gd name="T15" fmla="*/ 316 h 342"/>
                      <a:gd name="T16" fmla="*/ 15 w 164"/>
                      <a:gd name="T17" fmla="*/ 293 h 342"/>
                      <a:gd name="T18" fmla="*/ 22 w 164"/>
                      <a:gd name="T19" fmla="*/ 269 h 342"/>
                      <a:gd name="T20" fmla="*/ 28 w 164"/>
                      <a:gd name="T21" fmla="*/ 247 h 342"/>
                      <a:gd name="T22" fmla="*/ 30 w 164"/>
                      <a:gd name="T23" fmla="*/ 233 h 342"/>
                      <a:gd name="T24" fmla="*/ 43 w 164"/>
                      <a:gd name="T25" fmla="*/ 223 h 342"/>
                      <a:gd name="T26" fmla="*/ 44 w 164"/>
                      <a:gd name="T27" fmla="*/ 205 h 342"/>
                      <a:gd name="T28" fmla="*/ 52 w 164"/>
                      <a:gd name="T29" fmla="*/ 187 h 342"/>
                      <a:gd name="T30" fmla="*/ 62 w 164"/>
                      <a:gd name="T31" fmla="*/ 171 h 342"/>
                      <a:gd name="T32" fmla="*/ 75 w 164"/>
                      <a:gd name="T33" fmla="*/ 162 h 342"/>
                      <a:gd name="T34" fmla="*/ 70 w 164"/>
                      <a:gd name="T35" fmla="*/ 146 h 342"/>
                      <a:gd name="T36" fmla="*/ 89 w 164"/>
                      <a:gd name="T37" fmla="*/ 132 h 342"/>
                      <a:gd name="T38" fmla="*/ 101 w 164"/>
                      <a:gd name="T39" fmla="*/ 113 h 342"/>
                      <a:gd name="T40" fmla="*/ 108 w 164"/>
                      <a:gd name="T41" fmla="*/ 92 h 342"/>
                      <a:gd name="T42" fmla="*/ 126 w 164"/>
                      <a:gd name="T43" fmla="*/ 82 h 342"/>
                      <a:gd name="T44" fmla="*/ 143 w 164"/>
                      <a:gd name="T45" fmla="*/ 68 h 342"/>
                      <a:gd name="T46" fmla="*/ 153 w 164"/>
                      <a:gd name="T47" fmla="*/ 48 h 342"/>
                      <a:gd name="T48" fmla="*/ 162 w 164"/>
                      <a:gd name="T49" fmla="*/ 24 h 342"/>
                      <a:gd name="T50" fmla="*/ 164 w 164"/>
                      <a:gd name="T51" fmla="*/ 0 h 342"/>
                      <a:gd name="T52" fmla="*/ 132 w 164"/>
                      <a:gd name="T53" fmla="*/ 32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64" h="342">
                        <a:moveTo>
                          <a:pt x="132" y="32"/>
                        </a:moveTo>
                        <a:lnTo>
                          <a:pt x="86" y="74"/>
                        </a:lnTo>
                        <a:lnTo>
                          <a:pt x="34" y="138"/>
                        </a:lnTo>
                        <a:lnTo>
                          <a:pt x="37" y="167"/>
                        </a:lnTo>
                        <a:lnTo>
                          <a:pt x="3" y="236"/>
                        </a:lnTo>
                        <a:lnTo>
                          <a:pt x="0" y="312"/>
                        </a:lnTo>
                        <a:lnTo>
                          <a:pt x="12" y="342"/>
                        </a:lnTo>
                        <a:lnTo>
                          <a:pt x="14" y="316"/>
                        </a:lnTo>
                        <a:lnTo>
                          <a:pt x="15" y="293"/>
                        </a:lnTo>
                        <a:lnTo>
                          <a:pt x="22" y="269"/>
                        </a:lnTo>
                        <a:lnTo>
                          <a:pt x="28" y="247"/>
                        </a:lnTo>
                        <a:lnTo>
                          <a:pt x="30" y="233"/>
                        </a:lnTo>
                        <a:lnTo>
                          <a:pt x="43" y="223"/>
                        </a:lnTo>
                        <a:lnTo>
                          <a:pt x="44" y="205"/>
                        </a:lnTo>
                        <a:lnTo>
                          <a:pt x="52" y="187"/>
                        </a:lnTo>
                        <a:lnTo>
                          <a:pt x="62" y="171"/>
                        </a:lnTo>
                        <a:lnTo>
                          <a:pt x="75" y="162"/>
                        </a:lnTo>
                        <a:lnTo>
                          <a:pt x="70" y="146"/>
                        </a:lnTo>
                        <a:lnTo>
                          <a:pt x="89" y="132"/>
                        </a:lnTo>
                        <a:lnTo>
                          <a:pt x="101" y="113"/>
                        </a:lnTo>
                        <a:lnTo>
                          <a:pt x="108" y="92"/>
                        </a:lnTo>
                        <a:lnTo>
                          <a:pt x="126" y="82"/>
                        </a:lnTo>
                        <a:lnTo>
                          <a:pt x="143" y="68"/>
                        </a:lnTo>
                        <a:lnTo>
                          <a:pt x="153" y="48"/>
                        </a:lnTo>
                        <a:lnTo>
                          <a:pt x="162" y="24"/>
                        </a:lnTo>
                        <a:lnTo>
                          <a:pt x="164" y="0"/>
                        </a:lnTo>
                        <a:lnTo>
                          <a:pt x="132" y="32"/>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69" name="Freeform 321"/>
                  <p:cNvSpPr/>
                  <p:nvPr/>
                </p:nvSpPr>
                <p:spPr bwMode="auto">
                  <a:xfrm>
                    <a:off x="2770" y="3015"/>
                    <a:ext cx="27" cy="45"/>
                  </a:xfrm>
                  <a:custGeom>
                    <a:avLst/>
                    <a:gdLst>
                      <a:gd name="T0" fmla="*/ 0 w 191"/>
                      <a:gd name="T1" fmla="*/ 278 h 358"/>
                      <a:gd name="T2" fmla="*/ 67 w 191"/>
                      <a:gd name="T3" fmla="*/ 199 h 358"/>
                      <a:gd name="T4" fmla="*/ 84 w 191"/>
                      <a:gd name="T5" fmla="*/ 159 h 358"/>
                      <a:gd name="T6" fmla="*/ 92 w 191"/>
                      <a:gd name="T7" fmla="*/ 126 h 358"/>
                      <a:gd name="T8" fmla="*/ 103 w 191"/>
                      <a:gd name="T9" fmla="*/ 80 h 358"/>
                      <a:gd name="T10" fmla="*/ 109 w 191"/>
                      <a:gd name="T11" fmla="*/ 37 h 358"/>
                      <a:gd name="T12" fmla="*/ 110 w 191"/>
                      <a:gd name="T13" fmla="*/ 0 h 358"/>
                      <a:gd name="T14" fmla="*/ 127 w 191"/>
                      <a:gd name="T15" fmla="*/ 30 h 358"/>
                      <a:gd name="T16" fmla="*/ 138 w 191"/>
                      <a:gd name="T17" fmla="*/ 60 h 358"/>
                      <a:gd name="T18" fmla="*/ 142 w 191"/>
                      <a:gd name="T19" fmla="*/ 89 h 358"/>
                      <a:gd name="T20" fmla="*/ 144 w 191"/>
                      <a:gd name="T21" fmla="*/ 114 h 358"/>
                      <a:gd name="T22" fmla="*/ 166 w 191"/>
                      <a:gd name="T23" fmla="*/ 118 h 358"/>
                      <a:gd name="T24" fmla="*/ 180 w 191"/>
                      <a:gd name="T25" fmla="*/ 125 h 358"/>
                      <a:gd name="T26" fmla="*/ 187 w 191"/>
                      <a:gd name="T27" fmla="*/ 139 h 358"/>
                      <a:gd name="T28" fmla="*/ 191 w 191"/>
                      <a:gd name="T29" fmla="*/ 155 h 358"/>
                      <a:gd name="T30" fmla="*/ 189 w 191"/>
                      <a:gd name="T31" fmla="*/ 172 h 358"/>
                      <a:gd name="T32" fmla="*/ 178 w 191"/>
                      <a:gd name="T33" fmla="*/ 193 h 358"/>
                      <a:gd name="T34" fmla="*/ 156 w 191"/>
                      <a:gd name="T35" fmla="*/ 225 h 358"/>
                      <a:gd name="T36" fmla="*/ 122 w 191"/>
                      <a:gd name="T37" fmla="*/ 267 h 358"/>
                      <a:gd name="T38" fmla="*/ 37 w 191"/>
                      <a:gd name="T39" fmla="*/ 358 h 358"/>
                      <a:gd name="T40" fmla="*/ 0 w 191"/>
                      <a:gd name="T41" fmla="*/ 278 h 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1" h="358">
                        <a:moveTo>
                          <a:pt x="0" y="278"/>
                        </a:moveTo>
                        <a:lnTo>
                          <a:pt x="67" y="199"/>
                        </a:lnTo>
                        <a:lnTo>
                          <a:pt x="84" y="159"/>
                        </a:lnTo>
                        <a:lnTo>
                          <a:pt x="92" y="126"/>
                        </a:lnTo>
                        <a:lnTo>
                          <a:pt x="103" y="80"/>
                        </a:lnTo>
                        <a:lnTo>
                          <a:pt x="109" y="37"/>
                        </a:lnTo>
                        <a:lnTo>
                          <a:pt x="110" y="0"/>
                        </a:lnTo>
                        <a:lnTo>
                          <a:pt x="127" y="30"/>
                        </a:lnTo>
                        <a:lnTo>
                          <a:pt x="138" y="60"/>
                        </a:lnTo>
                        <a:lnTo>
                          <a:pt x="142" y="89"/>
                        </a:lnTo>
                        <a:lnTo>
                          <a:pt x="144" y="114"/>
                        </a:lnTo>
                        <a:lnTo>
                          <a:pt x="166" y="118"/>
                        </a:lnTo>
                        <a:lnTo>
                          <a:pt x="180" y="125"/>
                        </a:lnTo>
                        <a:lnTo>
                          <a:pt x="187" y="139"/>
                        </a:lnTo>
                        <a:lnTo>
                          <a:pt x="191" y="155"/>
                        </a:lnTo>
                        <a:lnTo>
                          <a:pt x="189" y="172"/>
                        </a:lnTo>
                        <a:lnTo>
                          <a:pt x="178" y="193"/>
                        </a:lnTo>
                        <a:lnTo>
                          <a:pt x="156" y="225"/>
                        </a:lnTo>
                        <a:lnTo>
                          <a:pt x="122" y="267"/>
                        </a:lnTo>
                        <a:lnTo>
                          <a:pt x="37" y="358"/>
                        </a:lnTo>
                        <a:lnTo>
                          <a:pt x="0" y="27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0" name="Freeform 322"/>
                  <p:cNvSpPr/>
                  <p:nvPr/>
                </p:nvSpPr>
                <p:spPr bwMode="auto">
                  <a:xfrm>
                    <a:off x="2784" y="3047"/>
                    <a:ext cx="24" cy="25"/>
                  </a:xfrm>
                  <a:custGeom>
                    <a:avLst/>
                    <a:gdLst>
                      <a:gd name="T0" fmla="*/ 13 w 168"/>
                      <a:gd name="T1" fmla="*/ 0 h 196"/>
                      <a:gd name="T2" fmla="*/ 168 w 168"/>
                      <a:gd name="T3" fmla="*/ 166 h 196"/>
                      <a:gd name="T4" fmla="*/ 168 w 168"/>
                      <a:gd name="T5" fmla="*/ 196 h 196"/>
                      <a:gd name="T6" fmla="*/ 0 w 168"/>
                      <a:gd name="T7" fmla="*/ 10 h 196"/>
                      <a:gd name="T8" fmla="*/ 13 w 168"/>
                      <a:gd name="T9" fmla="*/ 0 h 196"/>
                    </a:gdLst>
                    <a:ahLst/>
                    <a:cxnLst>
                      <a:cxn ang="0">
                        <a:pos x="T0" y="T1"/>
                      </a:cxn>
                      <a:cxn ang="0">
                        <a:pos x="T2" y="T3"/>
                      </a:cxn>
                      <a:cxn ang="0">
                        <a:pos x="T4" y="T5"/>
                      </a:cxn>
                      <a:cxn ang="0">
                        <a:pos x="T6" y="T7"/>
                      </a:cxn>
                      <a:cxn ang="0">
                        <a:pos x="T8" y="T9"/>
                      </a:cxn>
                    </a:cxnLst>
                    <a:rect l="0" t="0" r="r" b="b"/>
                    <a:pathLst>
                      <a:path w="168" h="196">
                        <a:moveTo>
                          <a:pt x="13" y="0"/>
                        </a:moveTo>
                        <a:lnTo>
                          <a:pt x="168" y="166"/>
                        </a:lnTo>
                        <a:lnTo>
                          <a:pt x="168" y="196"/>
                        </a:lnTo>
                        <a:lnTo>
                          <a:pt x="0" y="10"/>
                        </a:lnTo>
                        <a:lnTo>
                          <a:pt x="13" y="0"/>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1" name="Freeform 323"/>
                  <p:cNvSpPr/>
                  <p:nvPr/>
                </p:nvSpPr>
                <p:spPr bwMode="auto">
                  <a:xfrm>
                    <a:off x="2714" y="2977"/>
                    <a:ext cx="36" cy="50"/>
                  </a:xfrm>
                  <a:custGeom>
                    <a:avLst/>
                    <a:gdLst>
                      <a:gd name="T0" fmla="*/ 20 w 248"/>
                      <a:gd name="T1" fmla="*/ 403 h 403"/>
                      <a:gd name="T2" fmla="*/ 24 w 248"/>
                      <a:gd name="T3" fmla="*/ 358 h 403"/>
                      <a:gd name="T4" fmla="*/ 32 w 248"/>
                      <a:gd name="T5" fmla="*/ 317 h 403"/>
                      <a:gd name="T6" fmla="*/ 41 w 248"/>
                      <a:gd name="T7" fmla="*/ 288 h 403"/>
                      <a:gd name="T8" fmla="*/ 54 w 248"/>
                      <a:gd name="T9" fmla="*/ 264 h 403"/>
                      <a:gd name="T10" fmla="*/ 75 w 248"/>
                      <a:gd name="T11" fmla="*/ 234 h 403"/>
                      <a:gd name="T12" fmla="*/ 103 w 248"/>
                      <a:gd name="T13" fmla="*/ 207 h 403"/>
                      <a:gd name="T14" fmla="*/ 131 w 248"/>
                      <a:gd name="T15" fmla="*/ 188 h 403"/>
                      <a:gd name="T16" fmla="*/ 164 w 248"/>
                      <a:gd name="T17" fmla="*/ 162 h 403"/>
                      <a:gd name="T18" fmla="*/ 185 w 248"/>
                      <a:gd name="T19" fmla="*/ 136 h 403"/>
                      <a:gd name="T20" fmla="*/ 199 w 248"/>
                      <a:gd name="T21" fmla="*/ 110 h 403"/>
                      <a:gd name="T22" fmla="*/ 196 w 248"/>
                      <a:gd name="T23" fmla="*/ 82 h 403"/>
                      <a:gd name="T24" fmla="*/ 203 w 248"/>
                      <a:gd name="T25" fmla="*/ 53 h 403"/>
                      <a:gd name="T26" fmla="*/ 218 w 248"/>
                      <a:gd name="T27" fmla="*/ 26 h 403"/>
                      <a:gd name="T28" fmla="*/ 228 w 248"/>
                      <a:gd name="T29" fmla="*/ 13 h 403"/>
                      <a:gd name="T30" fmla="*/ 248 w 248"/>
                      <a:gd name="T31" fmla="*/ 2 h 403"/>
                      <a:gd name="T32" fmla="*/ 235 w 248"/>
                      <a:gd name="T33" fmla="*/ 0 h 403"/>
                      <a:gd name="T34" fmla="*/ 223 w 248"/>
                      <a:gd name="T35" fmla="*/ 2 h 403"/>
                      <a:gd name="T36" fmla="*/ 200 w 248"/>
                      <a:gd name="T37" fmla="*/ 9 h 403"/>
                      <a:gd name="T38" fmla="*/ 181 w 248"/>
                      <a:gd name="T39" fmla="*/ 21 h 403"/>
                      <a:gd name="T40" fmla="*/ 166 w 248"/>
                      <a:gd name="T41" fmla="*/ 40 h 403"/>
                      <a:gd name="T42" fmla="*/ 153 w 248"/>
                      <a:gd name="T43" fmla="*/ 65 h 403"/>
                      <a:gd name="T44" fmla="*/ 133 w 248"/>
                      <a:gd name="T45" fmla="*/ 93 h 403"/>
                      <a:gd name="T46" fmla="*/ 114 w 248"/>
                      <a:gd name="T47" fmla="*/ 115 h 403"/>
                      <a:gd name="T48" fmla="*/ 88 w 248"/>
                      <a:gd name="T49" fmla="*/ 132 h 403"/>
                      <a:gd name="T50" fmla="*/ 57 w 248"/>
                      <a:gd name="T51" fmla="*/ 143 h 403"/>
                      <a:gd name="T52" fmla="*/ 53 w 248"/>
                      <a:gd name="T53" fmla="*/ 186 h 403"/>
                      <a:gd name="T54" fmla="*/ 50 w 248"/>
                      <a:gd name="T55" fmla="*/ 225 h 403"/>
                      <a:gd name="T56" fmla="*/ 23 w 248"/>
                      <a:gd name="T57" fmla="*/ 263 h 403"/>
                      <a:gd name="T58" fmla="*/ 9 w 248"/>
                      <a:gd name="T59" fmla="*/ 294 h 403"/>
                      <a:gd name="T60" fmla="*/ 0 w 248"/>
                      <a:gd name="T61" fmla="*/ 337 h 403"/>
                      <a:gd name="T62" fmla="*/ 6 w 248"/>
                      <a:gd name="T63" fmla="*/ 368 h 403"/>
                      <a:gd name="T64" fmla="*/ 20 w 248"/>
                      <a:gd name="T65" fmla="*/ 403 h 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8" h="403">
                        <a:moveTo>
                          <a:pt x="20" y="403"/>
                        </a:moveTo>
                        <a:lnTo>
                          <a:pt x="24" y="358"/>
                        </a:lnTo>
                        <a:lnTo>
                          <a:pt x="32" y="317"/>
                        </a:lnTo>
                        <a:lnTo>
                          <a:pt x="41" y="288"/>
                        </a:lnTo>
                        <a:lnTo>
                          <a:pt x="54" y="264"/>
                        </a:lnTo>
                        <a:lnTo>
                          <a:pt x="75" y="234"/>
                        </a:lnTo>
                        <a:lnTo>
                          <a:pt x="103" y="207"/>
                        </a:lnTo>
                        <a:lnTo>
                          <a:pt x="131" y="188"/>
                        </a:lnTo>
                        <a:lnTo>
                          <a:pt x="164" y="162"/>
                        </a:lnTo>
                        <a:lnTo>
                          <a:pt x="185" y="136"/>
                        </a:lnTo>
                        <a:lnTo>
                          <a:pt x="199" y="110"/>
                        </a:lnTo>
                        <a:lnTo>
                          <a:pt x="196" y="82"/>
                        </a:lnTo>
                        <a:lnTo>
                          <a:pt x="203" y="53"/>
                        </a:lnTo>
                        <a:lnTo>
                          <a:pt x="218" y="26"/>
                        </a:lnTo>
                        <a:lnTo>
                          <a:pt x="228" y="13"/>
                        </a:lnTo>
                        <a:lnTo>
                          <a:pt x="248" y="2"/>
                        </a:lnTo>
                        <a:lnTo>
                          <a:pt x="235" y="0"/>
                        </a:lnTo>
                        <a:lnTo>
                          <a:pt x="223" y="2"/>
                        </a:lnTo>
                        <a:lnTo>
                          <a:pt x="200" y="9"/>
                        </a:lnTo>
                        <a:lnTo>
                          <a:pt x="181" y="21"/>
                        </a:lnTo>
                        <a:lnTo>
                          <a:pt x="166" y="40"/>
                        </a:lnTo>
                        <a:lnTo>
                          <a:pt x="153" y="65"/>
                        </a:lnTo>
                        <a:lnTo>
                          <a:pt x="133" y="93"/>
                        </a:lnTo>
                        <a:lnTo>
                          <a:pt x="114" y="115"/>
                        </a:lnTo>
                        <a:lnTo>
                          <a:pt x="88" y="132"/>
                        </a:lnTo>
                        <a:lnTo>
                          <a:pt x="57" y="143"/>
                        </a:lnTo>
                        <a:lnTo>
                          <a:pt x="53" y="186"/>
                        </a:lnTo>
                        <a:lnTo>
                          <a:pt x="50" y="225"/>
                        </a:lnTo>
                        <a:lnTo>
                          <a:pt x="23" y="263"/>
                        </a:lnTo>
                        <a:lnTo>
                          <a:pt x="9" y="294"/>
                        </a:lnTo>
                        <a:lnTo>
                          <a:pt x="0" y="337"/>
                        </a:lnTo>
                        <a:lnTo>
                          <a:pt x="6" y="368"/>
                        </a:lnTo>
                        <a:lnTo>
                          <a:pt x="20" y="403"/>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2" name="Freeform 324"/>
                  <p:cNvSpPr/>
                  <p:nvPr/>
                </p:nvSpPr>
                <p:spPr bwMode="auto">
                  <a:xfrm>
                    <a:off x="2713" y="3014"/>
                    <a:ext cx="18" cy="84"/>
                  </a:xfrm>
                  <a:custGeom>
                    <a:avLst/>
                    <a:gdLst>
                      <a:gd name="T0" fmla="*/ 129 w 129"/>
                      <a:gd name="T1" fmla="*/ 669 h 669"/>
                      <a:gd name="T2" fmla="*/ 112 w 129"/>
                      <a:gd name="T3" fmla="*/ 633 h 669"/>
                      <a:gd name="T4" fmla="*/ 103 w 129"/>
                      <a:gd name="T5" fmla="*/ 600 h 669"/>
                      <a:gd name="T6" fmla="*/ 99 w 129"/>
                      <a:gd name="T7" fmla="*/ 573 h 669"/>
                      <a:gd name="T8" fmla="*/ 83 w 129"/>
                      <a:gd name="T9" fmla="*/ 554 h 669"/>
                      <a:gd name="T10" fmla="*/ 75 w 129"/>
                      <a:gd name="T11" fmla="*/ 536 h 669"/>
                      <a:gd name="T12" fmla="*/ 68 w 129"/>
                      <a:gd name="T13" fmla="*/ 509 h 669"/>
                      <a:gd name="T14" fmla="*/ 70 w 129"/>
                      <a:gd name="T15" fmla="*/ 487 h 669"/>
                      <a:gd name="T16" fmla="*/ 75 w 129"/>
                      <a:gd name="T17" fmla="*/ 470 h 669"/>
                      <a:gd name="T18" fmla="*/ 63 w 129"/>
                      <a:gd name="T19" fmla="*/ 439 h 669"/>
                      <a:gd name="T20" fmla="*/ 58 w 129"/>
                      <a:gd name="T21" fmla="*/ 406 h 669"/>
                      <a:gd name="T22" fmla="*/ 60 w 129"/>
                      <a:gd name="T23" fmla="*/ 374 h 669"/>
                      <a:gd name="T24" fmla="*/ 69 w 129"/>
                      <a:gd name="T25" fmla="*/ 343 h 669"/>
                      <a:gd name="T26" fmla="*/ 83 w 129"/>
                      <a:gd name="T27" fmla="*/ 335 h 669"/>
                      <a:gd name="T28" fmla="*/ 94 w 129"/>
                      <a:gd name="T29" fmla="*/ 325 h 669"/>
                      <a:gd name="T30" fmla="*/ 99 w 129"/>
                      <a:gd name="T31" fmla="*/ 301 h 669"/>
                      <a:gd name="T32" fmla="*/ 98 w 129"/>
                      <a:gd name="T33" fmla="*/ 277 h 669"/>
                      <a:gd name="T34" fmla="*/ 94 w 129"/>
                      <a:gd name="T35" fmla="*/ 253 h 669"/>
                      <a:gd name="T36" fmla="*/ 106 w 129"/>
                      <a:gd name="T37" fmla="*/ 229 h 669"/>
                      <a:gd name="T38" fmla="*/ 112 w 129"/>
                      <a:gd name="T39" fmla="*/ 210 h 669"/>
                      <a:gd name="T40" fmla="*/ 106 w 129"/>
                      <a:gd name="T41" fmla="*/ 186 h 669"/>
                      <a:gd name="T42" fmla="*/ 94 w 129"/>
                      <a:gd name="T43" fmla="*/ 162 h 669"/>
                      <a:gd name="T44" fmla="*/ 81 w 129"/>
                      <a:gd name="T45" fmla="*/ 144 h 669"/>
                      <a:gd name="T46" fmla="*/ 88 w 129"/>
                      <a:gd name="T47" fmla="*/ 111 h 669"/>
                      <a:gd name="T48" fmla="*/ 94 w 129"/>
                      <a:gd name="T49" fmla="*/ 73 h 669"/>
                      <a:gd name="T50" fmla="*/ 90 w 129"/>
                      <a:gd name="T51" fmla="*/ 48 h 669"/>
                      <a:gd name="T52" fmla="*/ 93 w 129"/>
                      <a:gd name="T53" fmla="*/ 24 h 669"/>
                      <a:gd name="T54" fmla="*/ 99 w 129"/>
                      <a:gd name="T55" fmla="*/ 0 h 669"/>
                      <a:gd name="T56" fmla="*/ 80 w 129"/>
                      <a:gd name="T57" fmla="*/ 6 h 669"/>
                      <a:gd name="T58" fmla="*/ 65 w 129"/>
                      <a:gd name="T59" fmla="*/ 15 h 669"/>
                      <a:gd name="T60" fmla="*/ 51 w 129"/>
                      <a:gd name="T61" fmla="*/ 34 h 669"/>
                      <a:gd name="T62" fmla="*/ 44 w 129"/>
                      <a:gd name="T63" fmla="*/ 55 h 669"/>
                      <a:gd name="T64" fmla="*/ 42 w 129"/>
                      <a:gd name="T65" fmla="*/ 38 h 669"/>
                      <a:gd name="T66" fmla="*/ 35 w 129"/>
                      <a:gd name="T67" fmla="*/ 23 h 669"/>
                      <a:gd name="T68" fmla="*/ 26 w 129"/>
                      <a:gd name="T69" fmla="*/ 11 h 669"/>
                      <a:gd name="T70" fmla="*/ 17 w 129"/>
                      <a:gd name="T71" fmla="*/ 1 h 669"/>
                      <a:gd name="T72" fmla="*/ 11 w 129"/>
                      <a:gd name="T73" fmla="*/ 18 h 669"/>
                      <a:gd name="T74" fmla="*/ 3 w 129"/>
                      <a:gd name="T75" fmla="*/ 43 h 669"/>
                      <a:gd name="T76" fmla="*/ 0 w 129"/>
                      <a:gd name="T77" fmla="*/ 60 h 669"/>
                      <a:gd name="T78" fmla="*/ 16 w 129"/>
                      <a:gd name="T79" fmla="*/ 91 h 669"/>
                      <a:gd name="T80" fmla="*/ 25 w 129"/>
                      <a:gd name="T81" fmla="*/ 127 h 669"/>
                      <a:gd name="T82" fmla="*/ 27 w 129"/>
                      <a:gd name="T83" fmla="*/ 151 h 669"/>
                      <a:gd name="T84" fmla="*/ 31 w 129"/>
                      <a:gd name="T85" fmla="*/ 180 h 669"/>
                      <a:gd name="T86" fmla="*/ 38 w 129"/>
                      <a:gd name="T87" fmla="*/ 207 h 669"/>
                      <a:gd name="T88" fmla="*/ 49 w 129"/>
                      <a:gd name="T89" fmla="*/ 240 h 669"/>
                      <a:gd name="T90" fmla="*/ 52 w 129"/>
                      <a:gd name="T91" fmla="*/ 264 h 669"/>
                      <a:gd name="T92" fmla="*/ 49 w 129"/>
                      <a:gd name="T93" fmla="*/ 288 h 669"/>
                      <a:gd name="T94" fmla="*/ 37 w 129"/>
                      <a:gd name="T95" fmla="*/ 343 h 669"/>
                      <a:gd name="T96" fmla="*/ 31 w 129"/>
                      <a:gd name="T97" fmla="*/ 381 h 669"/>
                      <a:gd name="T98" fmla="*/ 29 w 129"/>
                      <a:gd name="T99" fmla="*/ 422 h 669"/>
                      <a:gd name="T100" fmla="*/ 34 w 129"/>
                      <a:gd name="T101" fmla="*/ 456 h 669"/>
                      <a:gd name="T102" fmla="*/ 44 w 129"/>
                      <a:gd name="T103" fmla="*/ 495 h 669"/>
                      <a:gd name="T104" fmla="*/ 34 w 129"/>
                      <a:gd name="T105" fmla="*/ 534 h 669"/>
                      <a:gd name="T106" fmla="*/ 37 w 129"/>
                      <a:gd name="T107" fmla="*/ 563 h 669"/>
                      <a:gd name="T108" fmla="*/ 46 w 129"/>
                      <a:gd name="T109" fmla="*/ 588 h 669"/>
                      <a:gd name="T110" fmla="*/ 61 w 129"/>
                      <a:gd name="T111" fmla="*/ 610 h 669"/>
                      <a:gd name="T112" fmla="*/ 79 w 129"/>
                      <a:gd name="T113" fmla="*/ 632 h 669"/>
                      <a:gd name="T114" fmla="*/ 111 w 129"/>
                      <a:gd name="T115" fmla="*/ 657 h 669"/>
                      <a:gd name="T116" fmla="*/ 129 w 129"/>
                      <a:gd name="T117" fmla="*/ 669 h 6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9" h="669">
                        <a:moveTo>
                          <a:pt x="129" y="669"/>
                        </a:moveTo>
                        <a:lnTo>
                          <a:pt x="112" y="633"/>
                        </a:lnTo>
                        <a:lnTo>
                          <a:pt x="103" y="600"/>
                        </a:lnTo>
                        <a:lnTo>
                          <a:pt x="99" y="573"/>
                        </a:lnTo>
                        <a:lnTo>
                          <a:pt x="83" y="554"/>
                        </a:lnTo>
                        <a:lnTo>
                          <a:pt x="75" y="536"/>
                        </a:lnTo>
                        <a:lnTo>
                          <a:pt x="68" y="509"/>
                        </a:lnTo>
                        <a:lnTo>
                          <a:pt x="70" y="487"/>
                        </a:lnTo>
                        <a:lnTo>
                          <a:pt x="75" y="470"/>
                        </a:lnTo>
                        <a:lnTo>
                          <a:pt x="63" y="439"/>
                        </a:lnTo>
                        <a:lnTo>
                          <a:pt x="58" y="406"/>
                        </a:lnTo>
                        <a:lnTo>
                          <a:pt x="60" y="374"/>
                        </a:lnTo>
                        <a:lnTo>
                          <a:pt x="69" y="343"/>
                        </a:lnTo>
                        <a:lnTo>
                          <a:pt x="83" y="335"/>
                        </a:lnTo>
                        <a:lnTo>
                          <a:pt x="94" y="325"/>
                        </a:lnTo>
                        <a:lnTo>
                          <a:pt x="99" y="301"/>
                        </a:lnTo>
                        <a:lnTo>
                          <a:pt x="98" y="277"/>
                        </a:lnTo>
                        <a:lnTo>
                          <a:pt x="94" y="253"/>
                        </a:lnTo>
                        <a:lnTo>
                          <a:pt x="106" y="229"/>
                        </a:lnTo>
                        <a:lnTo>
                          <a:pt x="112" y="210"/>
                        </a:lnTo>
                        <a:lnTo>
                          <a:pt x="106" y="186"/>
                        </a:lnTo>
                        <a:lnTo>
                          <a:pt x="94" y="162"/>
                        </a:lnTo>
                        <a:lnTo>
                          <a:pt x="81" y="144"/>
                        </a:lnTo>
                        <a:lnTo>
                          <a:pt x="88" y="111"/>
                        </a:lnTo>
                        <a:lnTo>
                          <a:pt x="94" y="73"/>
                        </a:lnTo>
                        <a:lnTo>
                          <a:pt x="90" y="48"/>
                        </a:lnTo>
                        <a:lnTo>
                          <a:pt x="93" y="24"/>
                        </a:lnTo>
                        <a:lnTo>
                          <a:pt x="99" y="0"/>
                        </a:lnTo>
                        <a:lnTo>
                          <a:pt x="80" y="6"/>
                        </a:lnTo>
                        <a:lnTo>
                          <a:pt x="65" y="15"/>
                        </a:lnTo>
                        <a:lnTo>
                          <a:pt x="51" y="34"/>
                        </a:lnTo>
                        <a:lnTo>
                          <a:pt x="44" y="55"/>
                        </a:lnTo>
                        <a:lnTo>
                          <a:pt x="42" y="38"/>
                        </a:lnTo>
                        <a:lnTo>
                          <a:pt x="35" y="23"/>
                        </a:lnTo>
                        <a:lnTo>
                          <a:pt x="26" y="11"/>
                        </a:lnTo>
                        <a:lnTo>
                          <a:pt x="17" y="1"/>
                        </a:lnTo>
                        <a:lnTo>
                          <a:pt x="11" y="18"/>
                        </a:lnTo>
                        <a:lnTo>
                          <a:pt x="3" y="43"/>
                        </a:lnTo>
                        <a:lnTo>
                          <a:pt x="0" y="60"/>
                        </a:lnTo>
                        <a:lnTo>
                          <a:pt x="16" y="91"/>
                        </a:lnTo>
                        <a:lnTo>
                          <a:pt x="25" y="127"/>
                        </a:lnTo>
                        <a:lnTo>
                          <a:pt x="27" y="151"/>
                        </a:lnTo>
                        <a:lnTo>
                          <a:pt x="31" y="180"/>
                        </a:lnTo>
                        <a:lnTo>
                          <a:pt x="38" y="207"/>
                        </a:lnTo>
                        <a:lnTo>
                          <a:pt x="49" y="240"/>
                        </a:lnTo>
                        <a:lnTo>
                          <a:pt x="52" y="264"/>
                        </a:lnTo>
                        <a:lnTo>
                          <a:pt x="49" y="288"/>
                        </a:lnTo>
                        <a:lnTo>
                          <a:pt x="37" y="343"/>
                        </a:lnTo>
                        <a:lnTo>
                          <a:pt x="31" y="381"/>
                        </a:lnTo>
                        <a:lnTo>
                          <a:pt x="29" y="422"/>
                        </a:lnTo>
                        <a:lnTo>
                          <a:pt x="34" y="456"/>
                        </a:lnTo>
                        <a:lnTo>
                          <a:pt x="44" y="495"/>
                        </a:lnTo>
                        <a:lnTo>
                          <a:pt x="34" y="534"/>
                        </a:lnTo>
                        <a:lnTo>
                          <a:pt x="37" y="563"/>
                        </a:lnTo>
                        <a:lnTo>
                          <a:pt x="46" y="588"/>
                        </a:lnTo>
                        <a:lnTo>
                          <a:pt x="61" y="610"/>
                        </a:lnTo>
                        <a:lnTo>
                          <a:pt x="79" y="632"/>
                        </a:lnTo>
                        <a:lnTo>
                          <a:pt x="111" y="657"/>
                        </a:lnTo>
                        <a:lnTo>
                          <a:pt x="129" y="669"/>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3" name="Freeform 325"/>
                  <p:cNvSpPr/>
                  <p:nvPr/>
                </p:nvSpPr>
                <p:spPr bwMode="auto">
                  <a:xfrm>
                    <a:off x="2721" y="3067"/>
                    <a:ext cx="41" cy="12"/>
                  </a:xfrm>
                  <a:custGeom>
                    <a:avLst/>
                    <a:gdLst>
                      <a:gd name="T0" fmla="*/ 0 w 286"/>
                      <a:gd name="T1" fmla="*/ 0 h 95"/>
                      <a:gd name="T2" fmla="*/ 22 w 286"/>
                      <a:gd name="T3" fmla="*/ 12 h 95"/>
                      <a:gd name="T4" fmla="*/ 51 w 286"/>
                      <a:gd name="T5" fmla="*/ 26 h 95"/>
                      <a:gd name="T6" fmla="*/ 82 w 286"/>
                      <a:gd name="T7" fmla="*/ 39 h 95"/>
                      <a:gd name="T8" fmla="*/ 108 w 286"/>
                      <a:gd name="T9" fmla="*/ 46 h 95"/>
                      <a:gd name="T10" fmla="*/ 142 w 286"/>
                      <a:gd name="T11" fmla="*/ 53 h 95"/>
                      <a:gd name="T12" fmla="*/ 174 w 286"/>
                      <a:gd name="T13" fmla="*/ 50 h 95"/>
                      <a:gd name="T14" fmla="*/ 208 w 286"/>
                      <a:gd name="T15" fmla="*/ 53 h 95"/>
                      <a:gd name="T16" fmla="*/ 237 w 286"/>
                      <a:gd name="T17" fmla="*/ 56 h 95"/>
                      <a:gd name="T18" fmla="*/ 269 w 286"/>
                      <a:gd name="T19" fmla="*/ 67 h 95"/>
                      <a:gd name="T20" fmla="*/ 279 w 286"/>
                      <a:gd name="T21" fmla="*/ 72 h 95"/>
                      <a:gd name="T22" fmla="*/ 286 w 286"/>
                      <a:gd name="T23" fmla="*/ 85 h 95"/>
                      <a:gd name="T24" fmla="*/ 258 w 286"/>
                      <a:gd name="T25" fmla="*/ 91 h 95"/>
                      <a:gd name="T26" fmla="*/ 223 w 286"/>
                      <a:gd name="T27" fmla="*/ 95 h 95"/>
                      <a:gd name="T28" fmla="*/ 185 w 286"/>
                      <a:gd name="T29" fmla="*/ 92 h 95"/>
                      <a:gd name="T30" fmla="*/ 143 w 286"/>
                      <a:gd name="T31" fmla="*/ 87 h 95"/>
                      <a:gd name="T32" fmla="*/ 100 w 286"/>
                      <a:gd name="T33" fmla="*/ 78 h 95"/>
                      <a:gd name="T34" fmla="*/ 71 w 286"/>
                      <a:gd name="T35" fmla="*/ 67 h 95"/>
                      <a:gd name="T36" fmla="*/ 42 w 286"/>
                      <a:gd name="T37" fmla="*/ 47 h 95"/>
                      <a:gd name="T38" fmla="*/ 22 w 286"/>
                      <a:gd name="T39" fmla="*/ 30 h 95"/>
                      <a:gd name="T40" fmla="*/ 0 w 286"/>
                      <a:gd name="T41"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6" h="95">
                        <a:moveTo>
                          <a:pt x="0" y="0"/>
                        </a:moveTo>
                        <a:lnTo>
                          <a:pt x="22" y="12"/>
                        </a:lnTo>
                        <a:lnTo>
                          <a:pt x="51" y="26"/>
                        </a:lnTo>
                        <a:lnTo>
                          <a:pt x="82" y="39"/>
                        </a:lnTo>
                        <a:lnTo>
                          <a:pt x="108" y="46"/>
                        </a:lnTo>
                        <a:lnTo>
                          <a:pt x="142" y="53"/>
                        </a:lnTo>
                        <a:lnTo>
                          <a:pt x="174" y="50"/>
                        </a:lnTo>
                        <a:lnTo>
                          <a:pt x="208" y="53"/>
                        </a:lnTo>
                        <a:lnTo>
                          <a:pt x="237" y="56"/>
                        </a:lnTo>
                        <a:lnTo>
                          <a:pt x="269" y="67"/>
                        </a:lnTo>
                        <a:lnTo>
                          <a:pt x="279" y="72"/>
                        </a:lnTo>
                        <a:lnTo>
                          <a:pt x="286" y="85"/>
                        </a:lnTo>
                        <a:lnTo>
                          <a:pt x="258" y="91"/>
                        </a:lnTo>
                        <a:lnTo>
                          <a:pt x="223" y="95"/>
                        </a:lnTo>
                        <a:lnTo>
                          <a:pt x="185" y="92"/>
                        </a:lnTo>
                        <a:lnTo>
                          <a:pt x="143" y="87"/>
                        </a:lnTo>
                        <a:lnTo>
                          <a:pt x="100" y="78"/>
                        </a:lnTo>
                        <a:lnTo>
                          <a:pt x="71" y="67"/>
                        </a:lnTo>
                        <a:lnTo>
                          <a:pt x="42" y="47"/>
                        </a:lnTo>
                        <a:lnTo>
                          <a:pt x="22" y="30"/>
                        </a:lnTo>
                        <a:lnTo>
                          <a:pt x="0" y="0"/>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4" name="Freeform 326"/>
                  <p:cNvSpPr/>
                  <p:nvPr/>
                </p:nvSpPr>
                <p:spPr bwMode="auto">
                  <a:xfrm>
                    <a:off x="2757" y="3101"/>
                    <a:ext cx="51" cy="9"/>
                  </a:xfrm>
                  <a:custGeom>
                    <a:avLst/>
                    <a:gdLst>
                      <a:gd name="T0" fmla="*/ 0 w 361"/>
                      <a:gd name="T1" fmla="*/ 3 h 71"/>
                      <a:gd name="T2" fmla="*/ 37 w 361"/>
                      <a:gd name="T3" fmla="*/ 20 h 71"/>
                      <a:gd name="T4" fmla="*/ 66 w 361"/>
                      <a:gd name="T5" fmla="*/ 30 h 71"/>
                      <a:gd name="T6" fmla="*/ 99 w 361"/>
                      <a:gd name="T7" fmla="*/ 42 h 71"/>
                      <a:gd name="T8" fmla="*/ 138 w 361"/>
                      <a:gd name="T9" fmla="*/ 48 h 71"/>
                      <a:gd name="T10" fmla="*/ 182 w 361"/>
                      <a:gd name="T11" fmla="*/ 53 h 71"/>
                      <a:gd name="T12" fmla="*/ 225 w 361"/>
                      <a:gd name="T13" fmla="*/ 51 h 71"/>
                      <a:gd name="T14" fmla="*/ 256 w 361"/>
                      <a:gd name="T15" fmla="*/ 46 h 71"/>
                      <a:gd name="T16" fmla="*/ 290 w 361"/>
                      <a:gd name="T17" fmla="*/ 37 h 71"/>
                      <a:gd name="T18" fmla="*/ 313 w 361"/>
                      <a:gd name="T19" fmla="*/ 27 h 71"/>
                      <a:gd name="T20" fmla="*/ 335 w 361"/>
                      <a:gd name="T21" fmla="*/ 16 h 71"/>
                      <a:gd name="T22" fmla="*/ 361 w 361"/>
                      <a:gd name="T23" fmla="*/ 0 h 71"/>
                      <a:gd name="T24" fmla="*/ 352 w 361"/>
                      <a:gd name="T25" fmla="*/ 17 h 71"/>
                      <a:gd name="T26" fmla="*/ 329 w 361"/>
                      <a:gd name="T27" fmla="*/ 37 h 71"/>
                      <a:gd name="T28" fmla="*/ 302 w 361"/>
                      <a:gd name="T29" fmla="*/ 51 h 71"/>
                      <a:gd name="T30" fmla="*/ 271 w 361"/>
                      <a:gd name="T31" fmla="*/ 60 h 71"/>
                      <a:gd name="T32" fmla="*/ 237 w 361"/>
                      <a:gd name="T33" fmla="*/ 66 h 71"/>
                      <a:gd name="T34" fmla="*/ 206 w 361"/>
                      <a:gd name="T35" fmla="*/ 70 h 71"/>
                      <a:gd name="T36" fmla="*/ 174 w 361"/>
                      <a:gd name="T37" fmla="*/ 71 h 71"/>
                      <a:gd name="T38" fmla="*/ 140 w 361"/>
                      <a:gd name="T39" fmla="*/ 68 h 71"/>
                      <a:gd name="T40" fmla="*/ 109 w 361"/>
                      <a:gd name="T41" fmla="*/ 60 h 71"/>
                      <a:gd name="T42" fmla="*/ 81 w 361"/>
                      <a:gd name="T43" fmla="*/ 52 h 71"/>
                      <a:gd name="T44" fmla="*/ 50 w 361"/>
                      <a:gd name="T45" fmla="*/ 37 h 71"/>
                      <a:gd name="T46" fmla="*/ 22 w 361"/>
                      <a:gd name="T47" fmla="*/ 20 h 71"/>
                      <a:gd name="T48" fmla="*/ 0 w 361"/>
                      <a:gd name="T49" fmla="*/ 3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61" h="71">
                        <a:moveTo>
                          <a:pt x="0" y="3"/>
                        </a:moveTo>
                        <a:lnTo>
                          <a:pt x="37" y="20"/>
                        </a:lnTo>
                        <a:lnTo>
                          <a:pt x="66" y="30"/>
                        </a:lnTo>
                        <a:lnTo>
                          <a:pt x="99" y="42"/>
                        </a:lnTo>
                        <a:lnTo>
                          <a:pt x="138" y="48"/>
                        </a:lnTo>
                        <a:lnTo>
                          <a:pt x="182" y="53"/>
                        </a:lnTo>
                        <a:lnTo>
                          <a:pt x="225" y="51"/>
                        </a:lnTo>
                        <a:lnTo>
                          <a:pt x="256" y="46"/>
                        </a:lnTo>
                        <a:lnTo>
                          <a:pt x="290" y="37"/>
                        </a:lnTo>
                        <a:lnTo>
                          <a:pt x="313" y="27"/>
                        </a:lnTo>
                        <a:lnTo>
                          <a:pt x="335" y="16"/>
                        </a:lnTo>
                        <a:lnTo>
                          <a:pt x="361" y="0"/>
                        </a:lnTo>
                        <a:lnTo>
                          <a:pt x="352" y="17"/>
                        </a:lnTo>
                        <a:lnTo>
                          <a:pt x="329" y="37"/>
                        </a:lnTo>
                        <a:lnTo>
                          <a:pt x="302" y="51"/>
                        </a:lnTo>
                        <a:lnTo>
                          <a:pt x="271" y="60"/>
                        </a:lnTo>
                        <a:lnTo>
                          <a:pt x="237" y="66"/>
                        </a:lnTo>
                        <a:lnTo>
                          <a:pt x="206" y="70"/>
                        </a:lnTo>
                        <a:lnTo>
                          <a:pt x="174" y="71"/>
                        </a:lnTo>
                        <a:lnTo>
                          <a:pt x="140" y="68"/>
                        </a:lnTo>
                        <a:lnTo>
                          <a:pt x="109" y="60"/>
                        </a:lnTo>
                        <a:lnTo>
                          <a:pt x="81" y="52"/>
                        </a:lnTo>
                        <a:lnTo>
                          <a:pt x="50" y="37"/>
                        </a:lnTo>
                        <a:lnTo>
                          <a:pt x="22" y="20"/>
                        </a:lnTo>
                        <a:lnTo>
                          <a:pt x="0" y="3"/>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5" name="Freeform 327"/>
                  <p:cNvSpPr/>
                  <p:nvPr/>
                </p:nvSpPr>
                <p:spPr bwMode="auto">
                  <a:xfrm>
                    <a:off x="2725" y="3092"/>
                    <a:ext cx="35" cy="7"/>
                  </a:xfrm>
                  <a:custGeom>
                    <a:avLst/>
                    <a:gdLst>
                      <a:gd name="T0" fmla="*/ 246 w 246"/>
                      <a:gd name="T1" fmla="*/ 23 h 55"/>
                      <a:gd name="T2" fmla="*/ 205 w 246"/>
                      <a:gd name="T3" fmla="*/ 44 h 55"/>
                      <a:gd name="T4" fmla="*/ 167 w 246"/>
                      <a:gd name="T5" fmla="*/ 54 h 55"/>
                      <a:gd name="T6" fmla="*/ 130 w 246"/>
                      <a:gd name="T7" fmla="*/ 55 h 55"/>
                      <a:gd name="T8" fmla="*/ 95 w 246"/>
                      <a:gd name="T9" fmla="*/ 48 h 55"/>
                      <a:gd name="T10" fmla="*/ 61 w 246"/>
                      <a:gd name="T11" fmla="*/ 36 h 55"/>
                      <a:gd name="T12" fmla="*/ 32 w 246"/>
                      <a:gd name="T13" fmla="*/ 23 h 55"/>
                      <a:gd name="T14" fmla="*/ 0 w 246"/>
                      <a:gd name="T15" fmla="*/ 0 h 55"/>
                      <a:gd name="T16" fmla="*/ 34 w 246"/>
                      <a:gd name="T17" fmla="*/ 13 h 55"/>
                      <a:gd name="T18" fmla="*/ 60 w 246"/>
                      <a:gd name="T19" fmla="*/ 20 h 55"/>
                      <a:gd name="T20" fmla="*/ 103 w 246"/>
                      <a:gd name="T21" fmla="*/ 30 h 55"/>
                      <a:gd name="T22" fmla="*/ 131 w 246"/>
                      <a:gd name="T23" fmla="*/ 34 h 55"/>
                      <a:gd name="T24" fmla="*/ 167 w 246"/>
                      <a:gd name="T25" fmla="*/ 36 h 55"/>
                      <a:gd name="T26" fmla="*/ 206 w 246"/>
                      <a:gd name="T27" fmla="*/ 33 h 55"/>
                      <a:gd name="T28" fmla="*/ 246 w 246"/>
                      <a:gd name="T29" fmla="*/ 2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6" h="55">
                        <a:moveTo>
                          <a:pt x="246" y="23"/>
                        </a:moveTo>
                        <a:lnTo>
                          <a:pt x="205" y="44"/>
                        </a:lnTo>
                        <a:lnTo>
                          <a:pt x="167" y="54"/>
                        </a:lnTo>
                        <a:lnTo>
                          <a:pt x="130" y="55"/>
                        </a:lnTo>
                        <a:lnTo>
                          <a:pt x="95" y="48"/>
                        </a:lnTo>
                        <a:lnTo>
                          <a:pt x="61" y="36"/>
                        </a:lnTo>
                        <a:lnTo>
                          <a:pt x="32" y="23"/>
                        </a:lnTo>
                        <a:lnTo>
                          <a:pt x="0" y="0"/>
                        </a:lnTo>
                        <a:lnTo>
                          <a:pt x="34" y="13"/>
                        </a:lnTo>
                        <a:lnTo>
                          <a:pt x="60" y="20"/>
                        </a:lnTo>
                        <a:lnTo>
                          <a:pt x="103" y="30"/>
                        </a:lnTo>
                        <a:lnTo>
                          <a:pt x="131" y="34"/>
                        </a:lnTo>
                        <a:lnTo>
                          <a:pt x="167" y="36"/>
                        </a:lnTo>
                        <a:lnTo>
                          <a:pt x="206" y="33"/>
                        </a:lnTo>
                        <a:lnTo>
                          <a:pt x="246" y="23"/>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6" name="Freeform 328"/>
                  <p:cNvSpPr/>
                  <p:nvPr/>
                </p:nvSpPr>
                <p:spPr bwMode="auto">
                  <a:xfrm>
                    <a:off x="2723" y="3078"/>
                    <a:ext cx="38" cy="16"/>
                  </a:xfrm>
                  <a:custGeom>
                    <a:avLst/>
                    <a:gdLst>
                      <a:gd name="T0" fmla="*/ 258 w 269"/>
                      <a:gd name="T1" fmla="*/ 14 h 134"/>
                      <a:gd name="T2" fmla="*/ 230 w 269"/>
                      <a:gd name="T3" fmla="*/ 20 h 134"/>
                      <a:gd name="T4" fmla="*/ 203 w 269"/>
                      <a:gd name="T5" fmla="*/ 26 h 134"/>
                      <a:gd name="T6" fmla="*/ 163 w 269"/>
                      <a:gd name="T7" fmla="*/ 30 h 134"/>
                      <a:gd name="T8" fmla="*/ 125 w 269"/>
                      <a:gd name="T9" fmla="*/ 29 h 134"/>
                      <a:gd name="T10" fmla="*/ 88 w 269"/>
                      <a:gd name="T11" fmla="*/ 24 h 134"/>
                      <a:gd name="T12" fmla="*/ 54 w 269"/>
                      <a:gd name="T13" fmla="*/ 19 h 134"/>
                      <a:gd name="T14" fmla="*/ 24 w 269"/>
                      <a:gd name="T15" fmla="*/ 12 h 134"/>
                      <a:gd name="T16" fmla="*/ 0 w 269"/>
                      <a:gd name="T17" fmla="*/ 0 h 134"/>
                      <a:gd name="T18" fmla="*/ 11 w 269"/>
                      <a:gd name="T19" fmla="*/ 24 h 134"/>
                      <a:gd name="T20" fmla="*/ 24 w 269"/>
                      <a:gd name="T21" fmla="*/ 51 h 134"/>
                      <a:gd name="T22" fmla="*/ 39 w 269"/>
                      <a:gd name="T23" fmla="*/ 75 h 134"/>
                      <a:gd name="T24" fmla="*/ 60 w 269"/>
                      <a:gd name="T25" fmla="*/ 102 h 134"/>
                      <a:gd name="T26" fmla="*/ 86 w 269"/>
                      <a:gd name="T27" fmla="*/ 120 h 134"/>
                      <a:gd name="T28" fmla="*/ 119 w 269"/>
                      <a:gd name="T29" fmla="*/ 134 h 134"/>
                      <a:gd name="T30" fmla="*/ 143 w 269"/>
                      <a:gd name="T31" fmla="*/ 129 h 134"/>
                      <a:gd name="T32" fmla="*/ 171 w 269"/>
                      <a:gd name="T33" fmla="*/ 126 h 134"/>
                      <a:gd name="T34" fmla="*/ 197 w 269"/>
                      <a:gd name="T35" fmla="*/ 127 h 134"/>
                      <a:gd name="T36" fmla="*/ 222 w 269"/>
                      <a:gd name="T37" fmla="*/ 120 h 134"/>
                      <a:gd name="T38" fmla="*/ 243 w 269"/>
                      <a:gd name="T39" fmla="*/ 113 h 134"/>
                      <a:gd name="T40" fmla="*/ 269 w 269"/>
                      <a:gd name="T41" fmla="*/ 96 h 134"/>
                      <a:gd name="T42" fmla="*/ 233 w 269"/>
                      <a:gd name="T43" fmla="*/ 90 h 134"/>
                      <a:gd name="T44" fmla="*/ 203 w 269"/>
                      <a:gd name="T45" fmla="*/ 89 h 134"/>
                      <a:gd name="T46" fmla="*/ 164 w 269"/>
                      <a:gd name="T47" fmla="*/ 94 h 134"/>
                      <a:gd name="T48" fmla="*/ 125 w 269"/>
                      <a:gd name="T49" fmla="*/ 102 h 134"/>
                      <a:gd name="T50" fmla="*/ 99 w 269"/>
                      <a:gd name="T51" fmla="*/ 74 h 134"/>
                      <a:gd name="T52" fmla="*/ 71 w 269"/>
                      <a:gd name="T53" fmla="*/ 51 h 134"/>
                      <a:gd name="T54" fmla="*/ 94 w 269"/>
                      <a:gd name="T55" fmla="*/ 57 h 134"/>
                      <a:gd name="T56" fmla="*/ 116 w 269"/>
                      <a:gd name="T57" fmla="*/ 62 h 134"/>
                      <a:gd name="T58" fmla="*/ 147 w 269"/>
                      <a:gd name="T59" fmla="*/ 66 h 134"/>
                      <a:gd name="T60" fmla="*/ 187 w 269"/>
                      <a:gd name="T61" fmla="*/ 64 h 134"/>
                      <a:gd name="T62" fmla="*/ 220 w 269"/>
                      <a:gd name="T63" fmla="*/ 59 h 134"/>
                      <a:gd name="T64" fmla="*/ 245 w 269"/>
                      <a:gd name="T65" fmla="*/ 51 h 134"/>
                      <a:gd name="T66" fmla="*/ 248 w 269"/>
                      <a:gd name="T67" fmla="*/ 32 h 134"/>
                      <a:gd name="T68" fmla="*/ 258 w 269"/>
                      <a:gd name="T69" fmla="*/ 1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69" h="134">
                        <a:moveTo>
                          <a:pt x="258" y="14"/>
                        </a:moveTo>
                        <a:lnTo>
                          <a:pt x="230" y="20"/>
                        </a:lnTo>
                        <a:lnTo>
                          <a:pt x="203" y="26"/>
                        </a:lnTo>
                        <a:lnTo>
                          <a:pt x="163" y="30"/>
                        </a:lnTo>
                        <a:lnTo>
                          <a:pt x="125" y="29"/>
                        </a:lnTo>
                        <a:lnTo>
                          <a:pt x="88" y="24"/>
                        </a:lnTo>
                        <a:lnTo>
                          <a:pt x="54" y="19"/>
                        </a:lnTo>
                        <a:lnTo>
                          <a:pt x="24" y="12"/>
                        </a:lnTo>
                        <a:lnTo>
                          <a:pt x="0" y="0"/>
                        </a:lnTo>
                        <a:lnTo>
                          <a:pt x="11" y="24"/>
                        </a:lnTo>
                        <a:lnTo>
                          <a:pt x="24" y="51"/>
                        </a:lnTo>
                        <a:lnTo>
                          <a:pt x="39" y="75"/>
                        </a:lnTo>
                        <a:lnTo>
                          <a:pt x="60" y="102"/>
                        </a:lnTo>
                        <a:lnTo>
                          <a:pt x="86" y="120"/>
                        </a:lnTo>
                        <a:lnTo>
                          <a:pt x="119" y="134"/>
                        </a:lnTo>
                        <a:lnTo>
                          <a:pt x="143" y="129"/>
                        </a:lnTo>
                        <a:lnTo>
                          <a:pt x="171" y="126"/>
                        </a:lnTo>
                        <a:lnTo>
                          <a:pt x="197" y="127"/>
                        </a:lnTo>
                        <a:lnTo>
                          <a:pt x="222" y="120"/>
                        </a:lnTo>
                        <a:lnTo>
                          <a:pt x="243" y="113"/>
                        </a:lnTo>
                        <a:lnTo>
                          <a:pt x="269" y="96"/>
                        </a:lnTo>
                        <a:lnTo>
                          <a:pt x="233" y="90"/>
                        </a:lnTo>
                        <a:lnTo>
                          <a:pt x="203" y="89"/>
                        </a:lnTo>
                        <a:lnTo>
                          <a:pt x="164" y="94"/>
                        </a:lnTo>
                        <a:lnTo>
                          <a:pt x="125" y="102"/>
                        </a:lnTo>
                        <a:lnTo>
                          <a:pt x="99" y="74"/>
                        </a:lnTo>
                        <a:lnTo>
                          <a:pt x="71" y="51"/>
                        </a:lnTo>
                        <a:lnTo>
                          <a:pt x="94" y="57"/>
                        </a:lnTo>
                        <a:lnTo>
                          <a:pt x="116" y="62"/>
                        </a:lnTo>
                        <a:lnTo>
                          <a:pt x="147" y="66"/>
                        </a:lnTo>
                        <a:lnTo>
                          <a:pt x="187" y="64"/>
                        </a:lnTo>
                        <a:lnTo>
                          <a:pt x="220" y="59"/>
                        </a:lnTo>
                        <a:lnTo>
                          <a:pt x="245" y="51"/>
                        </a:lnTo>
                        <a:lnTo>
                          <a:pt x="248" y="32"/>
                        </a:lnTo>
                        <a:lnTo>
                          <a:pt x="258" y="14"/>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7" name="Freeform 329"/>
                  <p:cNvSpPr/>
                  <p:nvPr/>
                </p:nvSpPr>
                <p:spPr bwMode="auto">
                  <a:xfrm>
                    <a:off x="2723" y="3020"/>
                    <a:ext cx="56" cy="50"/>
                  </a:xfrm>
                  <a:custGeom>
                    <a:avLst/>
                    <a:gdLst>
                      <a:gd name="T0" fmla="*/ 0 w 391"/>
                      <a:gd name="T1" fmla="*/ 334 h 406"/>
                      <a:gd name="T2" fmla="*/ 33 w 391"/>
                      <a:gd name="T3" fmla="*/ 347 h 406"/>
                      <a:gd name="T4" fmla="*/ 65 w 391"/>
                      <a:gd name="T5" fmla="*/ 358 h 406"/>
                      <a:gd name="T6" fmla="*/ 94 w 391"/>
                      <a:gd name="T7" fmla="*/ 365 h 406"/>
                      <a:gd name="T8" fmla="*/ 130 w 391"/>
                      <a:gd name="T9" fmla="*/ 369 h 406"/>
                      <a:gd name="T10" fmla="*/ 120 w 391"/>
                      <a:gd name="T11" fmla="*/ 376 h 406"/>
                      <a:gd name="T12" fmla="*/ 108 w 391"/>
                      <a:gd name="T13" fmla="*/ 387 h 406"/>
                      <a:gd name="T14" fmla="*/ 94 w 391"/>
                      <a:gd name="T15" fmla="*/ 394 h 406"/>
                      <a:gd name="T16" fmla="*/ 116 w 391"/>
                      <a:gd name="T17" fmla="*/ 401 h 406"/>
                      <a:gd name="T18" fmla="*/ 145 w 391"/>
                      <a:gd name="T19" fmla="*/ 406 h 406"/>
                      <a:gd name="T20" fmla="*/ 178 w 391"/>
                      <a:gd name="T21" fmla="*/ 403 h 406"/>
                      <a:gd name="T22" fmla="*/ 207 w 391"/>
                      <a:gd name="T23" fmla="*/ 394 h 406"/>
                      <a:gd name="T24" fmla="*/ 243 w 391"/>
                      <a:gd name="T25" fmla="*/ 375 h 406"/>
                      <a:gd name="T26" fmla="*/ 308 w 391"/>
                      <a:gd name="T27" fmla="*/ 369 h 406"/>
                      <a:gd name="T28" fmla="*/ 361 w 391"/>
                      <a:gd name="T29" fmla="*/ 369 h 406"/>
                      <a:gd name="T30" fmla="*/ 391 w 391"/>
                      <a:gd name="T31" fmla="*/ 369 h 406"/>
                      <a:gd name="T32" fmla="*/ 391 w 391"/>
                      <a:gd name="T33" fmla="*/ 327 h 406"/>
                      <a:gd name="T34" fmla="*/ 380 w 391"/>
                      <a:gd name="T35" fmla="*/ 260 h 406"/>
                      <a:gd name="T36" fmla="*/ 385 w 391"/>
                      <a:gd name="T37" fmla="*/ 145 h 406"/>
                      <a:gd name="T38" fmla="*/ 368 w 391"/>
                      <a:gd name="T39" fmla="*/ 55 h 406"/>
                      <a:gd name="T40" fmla="*/ 352 w 391"/>
                      <a:gd name="T41" fmla="*/ 27 h 406"/>
                      <a:gd name="T42" fmla="*/ 333 w 391"/>
                      <a:gd name="T43" fmla="*/ 0 h 406"/>
                      <a:gd name="T44" fmla="*/ 326 w 391"/>
                      <a:gd name="T45" fmla="*/ 42 h 406"/>
                      <a:gd name="T46" fmla="*/ 318 w 391"/>
                      <a:gd name="T47" fmla="*/ 97 h 406"/>
                      <a:gd name="T48" fmla="*/ 315 w 391"/>
                      <a:gd name="T49" fmla="*/ 143 h 406"/>
                      <a:gd name="T50" fmla="*/ 320 w 391"/>
                      <a:gd name="T51" fmla="*/ 193 h 406"/>
                      <a:gd name="T52" fmla="*/ 296 w 391"/>
                      <a:gd name="T53" fmla="*/ 290 h 406"/>
                      <a:gd name="T54" fmla="*/ 273 w 391"/>
                      <a:gd name="T55" fmla="*/ 327 h 406"/>
                      <a:gd name="T56" fmla="*/ 246 w 391"/>
                      <a:gd name="T57" fmla="*/ 329 h 406"/>
                      <a:gd name="T58" fmla="*/ 221 w 391"/>
                      <a:gd name="T59" fmla="*/ 331 h 406"/>
                      <a:gd name="T60" fmla="*/ 189 w 391"/>
                      <a:gd name="T61" fmla="*/ 338 h 406"/>
                      <a:gd name="T62" fmla="*/ 160 w 391"/>
                      <a:gd name="T63" fmla="*/ 345 h 406"/>
                      <a:gd name="T64" fmla="*/ 128 w 391"/>
                      <a:gd name="T65" fmla="*/ 333 h 406"/>
                      <a:gd name="T66" fmla="*/ 100 w 391"/>
                      <a:gd name="T67" fmla="*/ 327 h 406"/>
                      <a:gd name="T68" fmla="*/ 62 w 391"/>
                      <a:gd name="T69" fmla="*/ 325 h 406"/>
                      <a:gd name="T70" fmla="*/ 33 w 391"/>
                      <a:gd name="T71" fmla="*/ 328 h 406"/>
                      <a:gd name="T72" fmla="*/ 0 w 391"/>
                      <a:gd name="T73" fmla="*/ 334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91" h="406">
                        <a:moveTo>
                          <a:pt x="0" y="334"/>
                        </a:moveTo>
                        <a:lnTo>
                          <a:pt x="33" y="347"/>
                        </a:lnTo>
                        <a:lnTo>
                          <a:pt x="65" y="358"/>
                        </a:lnTo>
                        <a:lnTo>
                          <a:pt x="94" y="365"/>
                        </a:lnTo>
                        <a:lnTo>
                          <a:pt x="130" y="369"/>
                        </a:lnTo>
                        <a:lnTo>
                          <a:pt x="120" y="376"/>
                        </a:lnTo>
                        <a:lnTo>
                          <a:pt x="108" y="387"/>
                        </a:lnTo>
                        <a:lnTo>
                          <a:pt x="94" y="394"/>
                        </a:lnTo>
                        <a:lnTo>
                          <a:pt x="116" y="401"/>
                        </a:lnTo>
                        <a:lnTo>
                          <a:pt x="145" y="406"/>
                        </a:lnTo>
                        <a:lnTo>
                          <a:pt x="178" y="403"/>
                        </a:lnTo>
                        <a:lnTo>
                          <a:pt x="207" y="394"/>
                        </a:lnTo>
                        <a:lnTo>
                          <a:pt x="243" y="375"/>
                        </a:lnTo>
                        <a:lnTo>
                          <a:pt x="308" y="369"/>
                        </a:lnTo>
                        <a:lnTo>
                          <a:pt x="361" y="369"/>
                        </a:lnTo>
                        <a:lnTo>
                          <a:pt x="391" y="369"/>
                        </a:lnTo>
                        <a:lnTo>
                          <a:pt x="391" y="327"/>
                        </a:lnTo>
                        <a:lnTo>
                          <a:pt x="380" y="260"/>
                        </a:lnTo>
                        <a:lnTo>
                          <a:pt x="385" y="145"/>
                        </a:lnTo>
                        <a:lnTo>
                          <a:pt x="368" y="55"/>
                        </a:lnTo>
                        <a:lnTo>
                          <a:pt x="352" y="27"/>
                        </a:lnTo>
                        <a:lnTo>
                          <a:pt x="333" y="0"/>
                        </a:lnTo>
                        <a:lnTo>
                          <a:pt x="326" y="42"/>
                        </a:lnTo>
                        <a:lnTo>
                          <a:pt x="318" y="97"/>
                        </a:lnTo>
                        <a:lnTo>
                          <a:pt x="315" y="143"/>
                        </a:lnTo>
                        <a:lnTo>
                          <a:pt x="320" y="193"/>
                        </a:lnTo>
                        <a:lnTo>
                          <a:pt x="296" y="290"/>
                        </a:lnTo>
                        <a:lnTo>
                          <a:pt x="273" y="327"/>
                        </a:lnTo>
                        <a:lnTo>
                          <a:pt x="246" y="329"/>
                        </a:lnTo>
                        <a:lnTo>
                          <a:pt x="221" y="331"/>
                        </a:lnTo>
                        <a:lnTo>
                          <a:pt x="189" y="338"/>
                        </a:lnTo>
                        <a:lnTo>
                          <a:pt x="160" y="345"/>
                        </a:lnTo>
                        <a:lnTo>
                          <a:pt x="128" y="333"/>
                        </a:lnTo>
                        <a:lnTo>
                          <a:pt x="100" y="327"/>
                        </a:lnTo>
                        <a:lnTo>
                          <a:pt x="62" y="325"/>
                        </a:lnTo>
                        <a:lnTo>
                          <a:pt x="33" y="328"/>
                        </a:lnTo>
                        <a:lnTo>
                          <a:pt x="0" y="334"/>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8" name="Freeform 330"/>
                  <p:cNvSpPr/>
                  <p:nvPr/>
                </p:nvSpPr>
                <p:spPr bwMode="auto">
                  <a:xfrm>
                    <a:off x="2725" y="3011"/>
                    <a:ext cx="39" cy="44"/>
                  </a:xfrm>
                  <a:custGeom>
                    <a:avLst/>
                    <a:gdLst>
                      <a:gd name="T0" fmla="*/ 272 w 273"/>
                      <a:gd name="T1" fmla="*/ 0 h 346"/>
                      <a:gd name="T2" fmla="*/ 273 w 273"/>
                      <a:gd name="T3" fmla="*/ 33 h 346"/>
                      <a:gd name="T4" fmla="*/ 271 w 273"/>
                      <a:gd name="T5" fmla="*/ 60 h 346"/>
                      <a:gd name="T6" fmla="*/ 264 w 273"/>
                      <a:gd name="T7" fmla="*/ 94 h 346"/>
                      <a:gd name="T8" fmla="*/ 254 w 273"/>
                      <a:gd name="T9" fmla="*/ 128 h 346"/>
                      <a:gd name="T10" fmla="*/ 239 w 273"/>
                      <a:gd name="T11" fmla="*/ 163 h 346"/>
                      <a:gd name="T12" fmla="*/ 212 w 273"/>
                      <a:gd name="T13" fmla="*/ 196 h 346"/>
                      <a:gd name="T14" fmla="*/ 182 w 273"/>
                      <a:gd name="T15" fmla="*/ 219 h 346"/>
                      <a:gd name="T16" fmla="*/ 145 w 273"/>
                      <a:gd name="T17" fmla="*/ 247 h 346"/>
                      <a:gd name="T18" fmla="*/ 106 w 273"/>
                      <a:gd name="T19" fmla="*/ 267 h 346"/>
                      <a:gd name="T20" fmla="*/ 84 w 273"/>
                      <a:gd name="T21" fmla="*/ 290 h 346"/>
                      <a:gd name="T22" fmla="*/ 58 w 273"/>
                      <a:gd name="T23" fmla="*/ 310 h 346"/>
                      <a:gd name="T24" fmla="*/ 32 w 273"/>
                      <a:gd name="T25" fmla="*/ 329 h 346"/>
                      <a:gd name="T26" fmla="*/ 0 w 273"/>
                      <a:gd name="T27" fmla="*/ 346 h 346"/>
                      <a:gd name="T28" fmla="*/ 16 w 273"/>
                      <a:gd name="T29" fmla="*/ 317 h 346"/>
                      <a:gd name="T30" fmla="*/ 38 w 273"/>
                      <a:gd name="T31" fmla="*/ 289 h 346"/>
                      <a:gd name="T32" fmla="*/ 60 w 273"/>
                      <a:gd name="T33" fmla="*/ 270 h 346"/>
                      <a:gd name="T34" fmla="*/ 80 w 273"/>
                      <a:gd name="T35" fmla="*/ 243 h 346"/>
                      <a:gd name="T36" fmla="*/ 106 w 273"/>
                      <a:gd name="T37" fmla="*/ 218 h 346"/>
                      <a:gd name="T38" fmla="*/ 132 w 273"/>
                      <a:gd name="T39" fmla="*/ 197 h 346"/>
                      <a:gd name="T40" fmla="*/ 152 w 273"/>
                      <a:gd name="T41" fmla="*/ 173 h 346"/>
                      <a:gd name="T42" fmla="*/ 167 w 273"/>
                      <a:gd name="T43" fmla="*/ 151 h 346"/>
                      <a:gd name="T44" fmla="*/ 193 w 273"/>
                      <a:gd name="T45" fmla="*/ 136 h 346"/>
                      <a:gd name="T46" fmla="*/ 214 w 273"/>
                      <a:gd name="T47" fmla="*/ 122 h 346"/>
                      <a:gd name="T48" fmla="*/ 233 w 273"/>
                      <a:gd name="T49" fmla="*/ 95 h 346"/>
                      <a:gd name="T50" fmla="*/ 249 w 273"/>
                      <a:gd name="T51" fmla="*/ 63 h 346"/>
                      <a:gd name="T52" fmla="*/ 260 w 273"/>
                      <a:gd name="T53" fmla="*/ 36 h 346"/>
                      <a:gd name="T54" fmla="*/ 272 w 273"/>
                      <a:gd name="T55" fmla="*/ 0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 h="346">
                        <a:moveTo>
                          <a:pt x="272" y="0"/>
                        </a:moveTo>
                        <a:lnTo>
                          <a:pt x="273" y="33"/>
                        </a:lnTo>
                        <a:lnTo>
                          <a:pt x="271" y="60"/>
                        </a:lnTo>
                        <a:lnTo>
                          <a:pt x="264" y="94"/>
                        </a:lnTo>
                        <a:lnTo>
                          <a:pt x="254" y="128"/>
                        </a:lnTo>
                        <a:lnTo>
                          <a:pt x="239" y="163"/>
                        </a:lnTo>
                        <a:lnTo>
                          <a:pt x="212" y="196"/>
                        </a:lnTo>
                        <a:lnTo>
                          <a:pt x="182" y="219"/>
                        </a:lnTo>
                        <a:lnTo>
                          <a:pt x="145" y="247"/>
                        </a:lnTo>
                        <a:lnTo>
                          <a:pt x="106" y="267"/>
                        </a:lnTo>
                        <a:lnTo>
                          <a:pt x="84" y="290"/>
                        </a:lnTo>
                        <a:lnTo>
                          <a:pt x="58" y="310"/>
                        </a:lnTo>
                        <a:lnTo>
                          <a:pt x="32" y="329"/>
                        </a:lnTo>
                        <a:lnTo>
                          <a:pt x="0" y="346"/>
                        </a:lnTo>
                        <a:lnTo>
                          <a:pt x="16" y="317"/>
                        </a:lnTo>
                        <a:lnTo>
                          <a:pt x="38" y="289"/>
                        </a:lnTo>
                        <a:lnTo>
                          <a:pt x="60" y="270"/>
                        </a:lnTo>
                        <a:lnTo>
                          <a:pt x="80" y="243"/>
                        </a:lnTo>
                        <a:lnTo>
                          <a:pt x="106" y="218"/>
                        </a:lnTo>
                        <a:lnTo>
                          <a:pt x="132" y="197"/>
                        </a:lnTo>
                        <a:lnTo>
                          <a:pt x="152" y="173"/>
                        </a:lnTo>
                        <a:lnTo>
                          <a:pt x="167" y="151"/>
                        </a:lnTo>
                        <a:lnTo>
                          <a:pt x="193" y="136"/>
                        </a:lnTo>
                        <a:lnTo>
                          <a:pt x="214" y="122"/>
                        </a:lnTo>
                        <a:lnTo>
                          <a:pt x="233" y="95"/>
                        </a:lnTo>
                        <a:lnTo>
                          <a:pt x="249" y="63"/>
                        </a:lnTo>
                        <a:lnTo>
                          <a:pt x="260" y="36"/>
                        </a:lnTo>
                        <a:lnTo>
                          <a:pt x="272" y="0"/>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79" name="Freeform 331"/>
                  <p:cNvSpPr/>
                  <p:nvPr/>
                </p:nvSpPr>
                <p:spPr bwMode="auto">
                  <a:xfrm>
                    <a:off x="2729" y="3006"/>
                    <a:ext cx="27" cy="41"/>
                  </a:xfrm>
                  <a:custGeom>
                    <a:avLst/>
                    <a:gdLst>
                      <a:gd name="T0" fmla="*/ 5 w 192"/>
                      <a:gd name="T1" fmla="*/ 328 h 328"/>
                      <a:gd name="T2" fmla="*/ 15 w 192"/>
                      <a:gd name="T3" fmla="*/ 303 h 328"/>
                      <a:gd name="T4" fmla="*/ 19 w 192"/>
                      <a:gd name="T5" fmla="*/ 286 h 328"/>
                      <a:gd name="T6" fmla="*/ 19 w 192"/>
                      <a:gd name="T7" fmla="*/ 266 h 328"/>
                      <a:gd name="T8" fmla="*/ 34 w 192"/>
                      <a:gd name="T9" fmla="*/ 263 h 328"/>
                      <a:gd name="T10" fmla="*/ 48 w 192"/>
                      <a:gd name="T11" fmla="*/ 255 h 328"/>
                      <a:gd name="T12" fmla="*/ 68 w 192"/>
                      <a:gd name="T13" fmla="*/ 229 h 328"/>
                      <a:gd name="T14" fmla="*/ 86 w 192"/>
                      <a:gd name="T15" fmla="*/ 201 h 328"/>
                      <a:gd name="T16" fmla="*/ 132 w 192"/>
                      <a:gd name="T17" fmla="*/ 121 h 328"/>
                      <a:gd name="T18" fmla="*/ 167 w 192"/>
                      <a:gd name="T19" fmla="*/ 77 h 328"/>
                      <a:gd name="T20" fmla="*/ 184 w 192"/>
                      <a:gd name="T21" fmla="*/ 48 h 328"/>
                      <a:gd name="T22" fmla="*/ 191 w 192"/>
                      <a:gd name="T23" fmla="*/ 31 h 328"/>
                      <a:gd name="T24" fmla="*/ 192 w 192"/>
                      <a:gd name="T25" fmla="*/ 16 h 328"/>
                      <a:gd name="T26" fmla="*/ 186 w 192"/>
                      <a:gd name="T27" fmla="*/ 5 h 328"/>
                      <a:gd name="T28" fmla="*/ 172 w 192"/>
                      <a:gd name="T29" fmla="*/ 0 h 328"/>
                      <a:gd name="T30" fmla="*/ 153 w 192"/>
                      <a:gd name="T31" fmla="*/ 5 h 328"/>
                      <a:gd name="T32" fmla="*/ 139 w 192"/>
                      <a:gd name="T33" fmla="*/ 17 h 328"/>
                      <a:gd name="T34" fmla="*/ 119 w 192"/>
                      <a:gd name="T35" fmla="*/ 54 h 328"/>
                      <a:gd name="T36" fmla="*/ 97 w 192"/>
                      <a:gd name="T37" fmla="*/ 95 h 328"/>
                      <a:gd name="T38" fmla="*/ 73 w 192"/>
                      <a:gd name="T39" fmla="*/ 149 h 328"/>
                      <a:gd name="T40" fmla="*/ 53 w 192"/>
                      <a:gd name="T41" fmla="*/ 188 h 328"/>
                      <a:gd name="T42" fmla="*/ 35 w 192"/>
                      <a:gd name="T43" fmla="*/ 220 h 328"/>
                      <a:gd name="T44" fmla="*/ 21 w 192"/>
                      <a:gd name="T45" fmla="*/ 240 h 328"/>
                      <a:gd name="T46" fmla="*/ 0 w 192"/>
                      <a:gd name="T47" fmla="*/ 255 h 328"/>
                      <a:gd name="T48" fmla="*/ 5 w 192"/>
                      <a:gd name="T49" fmla="*/ 276 h 328"/>
                      <a:gd name="T50" fmla="*/ 6 w 192"/>
                      <a:gd name="T51" fmla="*/ 297 h 328"/>
                      <a:gd name="T52" fmla="*/ 5 w 192"/>
                      <a:gd name="T53" fmla="*/ 328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2" h="328">
                        <a:moveTo>
                          <a:pt x="5" y="328"/>
                        </a:moveTo>
                        <a:lnTo>
                          <a:pt x="15" y="303"/>
                        </a:lnTo>
                        <a:lnTo>
                          <a:pt x="19" y="286"/>
                        </a:lnTo>
                        <a:lnTo>
                          <a:pt x="19" y="266"/>
                        </a:lnTo>
                        <a:lnTo>
                          <a:pt x="34" y="263"/>
                        </a:lnTo>
                        <a:lnTo>
                          <a:pt x="48" y="255"/>
                        </a:lnTo>
                        <a:lnTo>
                          <a:pt x="68" y="229"/>
                        </a:lnTo>
                        <a:lnTo>
                          <a:pt x="86" y="201"/>
                        </a:lnTo>
                        <a:lnTo>
                          <a:pt x="132" y="121"/>
                        </a:lnTo>
                        <a:lnTo>
                          <a:pt x="167" y="77"/>
                        </a:lnTo>
                        <a:lnTo>
                          <a:pt x="184" y="48"/>
                        </a:lnTo>
                        <a:lnTo>
                          <a:pt x="191" y="31"/>
                        </a:lnTo>
                        <a:lnTo>
                          <a:pt x="192" y="16"/>
                        </a:lnTo>
                        <a:lnTo>
                          <a:pt x="186" y="5"/>
                        </a:lnTo>
                        <a:lnTo>
                          <a:pt x="172" y="0"/>
                        </a:lnTo>
                        <a:lnTo>
                          <a:pt x="153" y="5"/>
                        </a:lnTo>
                        <a:lnTo>
                          <a:pt x="139" y="17"/>
                        </a:lnTo>
                        <a:lnTo>
                          <a:pt x="119" y="54"/>
                        </a:lnTo>
                        <a:lnTo>
                          <a:pt x="97" y="95"/>
                        </a:lnTo>
                        <a:lnTo>
                          <a:pt x="73" y="149"/>
                        </a:lnTo>
                        <a:lnTo>
                          <a:pt x="53" y="188"/>
                        </a:lnTo>
                        <a:lnTo>
                          <a:pt x="35" y="220"/>
                        </a:lnTo>
                        <a:lnTo>
                          <a:pt x="21" y="240"/>
                        </a:lnTo>
                        <a:lnTo>
                          <a:pt x="0" y="255"/>
                        </a:lnTo>
                        <a:lnTo>
                          <a:pt x="5" y="276"/>
                        </a:lnTo>
                        <a:lnTo>
                          <a:pt x="6" y="297"/>
                        </a:lnTo>
                        <a:lnTo>
                          <a:pt x="5" y="328"/>
                        </a:lnTo>
                        <a:close/>
                      </a:path>
                    </a:pathLst>
                  </a:custGeom>
                  <a:solidFill>
                    <a:srgbClr val="80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0" name="Freeform 332"/>
                  <p:cNvSpPr/>
                  <p:nvPr/>
                </p:nvSpPr>
                <p:spPr bwMode="auto">
                  <a:xfrm>
                    <a:off x="2786" y="3048"/>
                    <a:ext cx="22" cy="20"/>
                  </a:xfrm>
                  <a:custGeom>
                    <a:avLst/>
                    <a:gdLst>
                      <a:gd name="T0" fmla="*/ 0 w 155"/>
                      <a:gd name="T1" fmla="*/ 0 h 163"/>
                      <a:gd name="T2" fmla="*/ 36 w 155"/>
                      <a:gd name="T3" fmla="*/ 38 h 163"/>
                      <a:gd name="T4" fmla="*/ 57 w 155"/>
                      <a:gd name="T5" fmla="*/ 60 h 163"/>
                      <a:gd name="T6" fmla="*/ 81 w 155"/>
                      <a:gd name="T7" fmla="*/ 99 h 163"/>
                      <a:gd name="T8" fmla="*/ 108 w 155"/>
                      <a:gd name="T9" fmla="*/ 124 h 163"/>
                      <a:gd name="T10" fmla="*/ 155 w 155"/>
                      <a:gd name="T11" fmla="*/ 163 h 163"/>
                      <a:gd name="T12" fmla="*/ 84 w 155"/>
                      <a:gd name="T13" fmla="*/ 69 h 163"/>
                      <a:gd name="T14" fmla="*/ 0 w 155"/>
                      <a:gd name="T15" fmla="*/ 0 h 16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5" h="163">
                        <a:moveTo>
                          <a:pt x="0" y="0"/>
                        </a:moveTo>
                        <a:lnTo>
                          <a:pt x="36" y="38"/>
                        </a:lnTo>
                        <a:lnTo>
                          <a:pt x="57" y="60"/>
                        </a:lnTo>
                        <a:lnTo>
                          <a:pt x="81" y="99"/>
                        </a:lnTo>
                        <a:lnTo>
                          <a:pt x="108" y="124"/>
                        </a:lnTo>
                        <a:lnTo>
                          <a:pt x="155" y="163"/>
                        </a:lnTo>
                        <a:lnTo>
                          <a:pt x="84" y="69"/>
                        </a:lnTo>
                        <a:lnTo>
                          <a:pt x="0" y="0"/>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1" name="Freeform 333"/>
                  <p:cNvSpPr/>
                  <p:nvPr/>
                </p:nvSpPr>
                <p:spPr bwMode="auto">
                  <a:xfrm>
                    <a:off x="2728" y="2976"/>
                    <a:ext cx="5" cy="15"/>
                  </a:xfrm>
                  <a:custGeom>
                    <a:avLst/>
                    <a:gdLst>
                      <a:gd name="T0" fmla="*/ 0 w 36"/>
                      <a:gd name="T1" fmla="*/ 0 h 121"/>
                      <a:gd name="T2" fmla="*/ 12 w 36"/>
                      <a:gd name="T3" fmla="*/ 13 h 121"/>
                      <a:gd name="T4" fmla="*/ 23 w 36"/>
                      <a:gd name="T5" fmla="*/ 34 h 121"/>
                      <a:gd name="T6" fmla="*/ 31 w 36"/>
                      <a:gd name="T7" fmla="*/ 58 h 121"/>
                      <a:gd name="T8" fmla="*/ 36 w 36"/>
                      <a:gd name="T9" fmla="*/ 94 h 121"/>
                      <a:gd name="T10" fmla="*/ 30 w 36"/>
                      <a:gd name="T11" fmla="*/ 121 h 121"/>
                      <a:gd name="T12" fmla="*/ 22 w 36"/>
                      <a:gd name="T13" fmla="*/ 66 h 121"/>
                      <a:gd name="T14" fmla="*/ 12 w 36"/>
                      <a:gd name="T15" fmla="*/ 33 h 121"/>
                      <a:gd name="T16" fmla="*/ 0 w 36"/>
                      <a:gd name="T17"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121">
                        <a:moveTo>
                          <a:pt x="0" y="0"/>
                        </a:moveTo>
                        <a:lnTo>
                          <a:pt x="12" y="13"/>
                        </a:lnTo>
                        <a:lnTo>
                          <a:pt x="23" y="34"/>
                        </a:lnTo>
                        <a:lnTo>
                          <a:pt x="31" y="58"/>
                        </a:lnTo>
                        <a:lnTo>
                          <a:pt x="36" y="94"/>
                        </a:lnTo>
                        <a:lnTo>
                          <a:pt x="30" y="121"/>
                        </a:lnTo>
                        <a:lnTo>
                          <a:pt x="22" y="66"/>
                        </a:lnTo>
                        <a:lnTo>
                          <a:pt x="12" y="33"/>
                        </a:lnTo>
                        <a:lnTo>
                          <a:pt x="0" y="0"/>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2" name="Freeform 334"/>
                  <p:cNvSpPr/>
                  <p:nvPr/>
                </p:nvSpPr>
                <p:spPr bwMode="auto">
                  <a:xfrm>
                    <a:off x="2737" y="3011"/>
                    <a:ext cx="45" cy="64"/>
                  </a:xfrm>
                  <a:custGeom>
                    <a:avLst/>
                    <a:gdLst>
                      <a:gd name="T0" fmla="*/ 0 w 317"/>
                      <a:gd name="T1" fmla="*/ 490 h 513"/>
                      <a:gd name="T2" fmla="*/ 41 w 317"/>
                      <a:gd name="T3" fmla="*/ 465 h 513"/>
                      <a:gd name="T4" fmla="*/ 84 w 317"/>
                      <a:gd name="T5" fmla="*/ 465 h 513"/>
                      <a:gd name="T6" fmla="*/ 125 w 317"/>
                      <a:gd name="T7" fmla="*/ 471 h 513"/>
                      <a:gd name="T8" fmla="*/ 134 w 317"/>
                      <a:gd name="T9" fmla="*/ 456 h 513"/>
                      <a:gd name="T10" fmla="*/ 154 w 317"/>
                      <a:gd name="T11" fmla="*/ 443 h 513"/>
                      <a:gd name="T12" fmla="*/ 183 w 317"/>
                      <a:gd name="T13" fmla="*/ 436 h 513"/>
                      <a:gd name="T14" fmla="*/ 209 w 317"/>
                      <a:gd name="T15" fmla="*/ 434 h 513"/>
                      <a:gd name="T16" fmla="*/ 238 w 317"/>
                      <a:gd name="T17" fmla="*/ 435 h 513"/>
                      <a:gd name="T18" fmla="*/ 269 w 317"/>
                      <a:gd name="T19" fmla="*/ 441 h 513"/>
                      <a:gd name="T20" fmla="*/ 286 w 317"/>
                      <a:gd name="T21" fmla="*/ 416 h 513"/>
                      <a:gd name="T22" fmla="*/ 282 w 317"/>
                      <a:gd name="T23" fmla="*/ 365 h 513"/>
                      <a:gd name="T24" fmla="*/ 280 w 317"/>
                      <a:gd name="T25" fmla="*/ 317 h 513"/>
                      <a:gd name="T26" fmla="*/ 282 w 317"/>
                      <a:gd name="T27" fmla="*/ 266 h 513"/>
                      <a:gd name="T28" fmla="*/ 285 w 317"/>
                      <a:gd name="T29" fmla="*/ 240 h 513"/>
                      <a:gd name="T30" fmla="*/ 284 w 317"/>
                      <a:gd name="T31" fmla="*/ 208 h 513"/>
                      <a:gd name="T32" fmla="*/ 275 w 317"/>
                      <a:gd name="T33" fmla="*/ 163 h 513"/>
                      <a:gd name="T34" fmla="*/ 263 w 317"/>
                      <a:gd name="T35" fmla="*/ 100 h 513"/>
                      <a:gd name="T36" fmla="*/ 258 w 317"/>
                      <a:gd name="T37" fmla="*/ 61 h 513"/>
                      <a:gd name="T38" fmla="*/ 251 w 317"/>
                      <a:gd name="T39" fmla="*/ 0 h 513"/>
                      <a:gd name="T40" fmla="*/ 273 w 317"/>
                      <a:gd name="T41" fmla="*/ 45 h 513"/>
                      <a:gd name="T42" fmla="*/ 286 w 317"/>
                      <a:gd name="T43" fmla="*/ 79 h 513"/>
                      <a:gd name="T44" fmla="*/ 298 w 317"/>
                      <a:gd name="T45" fmla="*/ 71 h 513"/>
                      <a:gd name="T46" fmla="*/ 311 w 317"/>
                      <a:gd name="T47" fmla="*/ 49 h 513"/>
                      <a:gd name="T48" fmla="*/ 314 w 317"/>
                      <a:gd name="T49" fmla="*/ 72 h 513"/>
                      <a:gd name="T50" fmla="*/ 310 w 317"/>
                      <a:gd name="T51" fmla="*/ 109 h 513"/>
                      <a:gd name="T52" fmla="*/ 305 w 317"/>
                      <a:gd name="T53" fmla="*/ 139 h 513"/>
                      <a:gd name="T54" fmla="*/ 303 w 317"/>
                      <a:gd name="T55" fmla="*/ 184 h 513"/>
                      <a:gd name="T56" fmla="*/ 305 w 317"/>
                      <a:gd name="T57" fmla="*/ 230 h 513"/>
                      <a:gd name="T58" fmla="*/ 317 w 317"/>
                      <a:gd name="T59" fmla="*/ 362 h 513"/>
                      <a:gd name="T60" fmla="*/ 311 w 317"/>
                      <a:gd name="T61" fmla="*/ 430 h 513"/>
                      <a:gd name="T62" fmla="*/ 300 w 317"/>
                      <a:gd name="T63" fmla="*/ 455 h 513"/>
                      <a:gd name="T64" fmla="*/ 281 w 317"/>
                      <a:gd name="T65" fmla="*/ 477 h 513"/>
                      <a:gd name="T66" fmla="*/ 260 w 317"/>
                      <a:gd name="T67" fmla="*/ 492 h 513"/>
                      <a:gd name="T68" fmla="*/ 239 w 317"/>
                      <a:gd name="T69" fmla="*/ 502 h 513"/>
                      <a:gd name="T70" fmla="*/ 208 w 317"/>
                      <a:gd name="T71" fmla="*/ 509 h 513"/>
                      <a:gd name="T72" fmla="*/ 180 w 317"/>
                      <a:gd name="T73" fmla="*/ 513 h 513"/>
                      <a:gd name="T74" fmla="*/ 151 w 317"/>
                      <a:gd name="T75" fmla="*/ 504 h 513"/>
                      <a:gd name="T76" fmla="*/ 117 w 317"/>
                      <a:gd name="T77" fmla="*/ 497 h 513"/>
                      <a:gd name="T78" fmla="*/ 78 w 317"/>
                      <a:gd name="T79" fmla="*/ 496 h 513"/>
                      <a:gd name="T80" fmla="*/ 0 w 317"/>
                      <a:gd name="T81" fmla="*/ 490 h 5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17" h="513">
                        <a:moveTo>
                          <a:pt x="0" y="490"/>
                        </a:moveTo>
                        <a:lnTo>
                          <a:pt x="41" y="465"/>
                        </a:lnTo>
                        <a:lnTo>
                          <a:pt x="84" y="465"/>
                        </a:lnTo>
                        <a:lnTo>
                          <a:pt x="125" y="471"/>
                        </a:lnTo>
                        <a:lnTo>
                          <a:pt x="134" y="456"/>
                        </a:lnTo>
                        <a:lnTo>
                          <a:pt x="154" y="443"/>
                        </a:lnTo>
                        <a:lnTo>
                          <a:pt x="183" y="436"/>
                        </a:lnTo>
                        <a:lnTo>
                          <a:pt x="209" y="434"/>
                        </a:lnTo>
                        <a:lnTo>
                          <a:pt x="238" y="435"/>
                        </a:lnTo>
                        <a:lnTo>
                          <a:pt x="269" y="441"/>
                        </a:lnTo>
                        <a:lnTo>
                          <a:pt x="286" y="416"/>
                        </a:lnTo>
                        <a:lnTo>
                          <a:pt x="282" y="365"/>
                        </a:lnTo>
                        <a:lnTo>
                          <a:pt x="280" y="317"/>
                        </a:lnTo>
                        <a:lnTo>
                          <a:pt x="282" y="266"/>
                        </a:lnTo>
                        <a:lnTo>
                          <a:pt x="285" y="240"/>
                        </a:lnTo>
                        <a:lnTo>
                          <a:pt x="284" y="208"/>
                        </a:lnTo>
                        <a:lnTo>
                          <a:pt x="275" y="163"/>
                        </a:lnTo>
                        <a:lnTo>
                          <a:pt x="263" y="100"/>
                        </a:lnTo>
                        <a:lnTo>
                          <a:pt x="258" y="61"/>
                        </a:lnTo>
                        <a:lnTo>
                          <a:pt x="251" y="0"/>
                        </a:lnTo>
                        <a:lnTo>
                          <a:pt x="273" y="45"/>
                        </a:lnTo>
                        <a:lnTo>
                          <a:pt x="286" y="79"/>
                        </a:lnTo>
                        <a:lnTo>
                          <a:pt x="298" y="71"/>
                        </a:lnTo>
                        <a:lnTo>
                          <a:pt x="311" y="49"/>
                        </a:lnTo>
                        <a:lnTo>
                          <a:pt x="314" y="72"/>
                        </a:lnTo>
                        <a:lnTo>
                          <a:pt x="310" y="109"/>
                        </a:lnTo>
                        <a:lnTo>
                          <a:pt x="305" y="139"/>
                        </a:lnTo>
                        <a:lnTo>
                          <a:pt x="303" y="184"/>
                        </a:lnTo>
                        <a:lnTo>
                          <a:pt x="305" y="230"/>
                        </a:lnTo>
                        <a:lnTo>
                          <a:pt x="317" y="362"/>
                        </a:lnTo>
                        <a:lnTo>
                          <a:pt x="311" y="430"/>
                        </a:lnTo>
                        <a:lnTo>
                          <a:pt x="300" y="455"/>
                        </a:lnTo>
                        <a:lnTo>
                          <a:pt x="281" y="477"/>
                        </a:lnTo>
                        <a:lnTo>
                          <a:pt x="260" y="492"/>
                        </a:lnTo>
                        <a:lnTo>
                          <a:pt x="239" y="502"/>
                        </a:lnTo>
                        <a:lnTo>
                          <a:pt x="208" y="509"/>
                        </a:lnTo>
                        <a:lnTo>
                          <a:pt x="180" y="513"/>
                        </a:lnTo>
                        <a:lnTo>
                          <a:pt x="151" y="504"/>
                        </a:lnTo>
                        <a:lnTo>
                          <a:pt x="117" y="497"/>
                        </a:lnTo>
                        <a:lnTo>
                          <a:pt x="78" y="496"/>
                        </a:lnTo>
                        <a:lnTo>
                          <a:pt x="0" y="490"/>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3" name="Freeform 335"/>
                  <p:cNvSpPr/>
                  <p:nvPr/>
                </p:nvSpPr>
                <p:spPr bwMode="auto">
                  <a:xfrm>
                    <a:off x="2737" y="3072"/>
                    <a:ext cx="34" cy="39"/>
                  </a:xfrm>
                  <a:custGeom>
                    <a:avLst/>
                    <a:gdLst>
                      <a:gd name="T0" fmla="*/ 0 w 241"/>
                      <a:gd name="T1" fmla="*/ 49 h 312"/>
                      <a:gd name="T2" fmla="*/ 22 w 241"/>
                      <a:gd name="T3" fmla="*/ 45 h 312"/>
                      <a:gd name="T4" fmla="*/ 36 w 241"/>
                      <a:gd name="T5" fmla="*/ 37 h 312"/>
                      <a:gd name="T6" fmla="*/ 71 w 241"/>
                      <a:gd name="T7" fmla="*/ 41 h 312"/>
                      <a:gd name="T8" fmla="*/ 104 w 241"/>
                      <a:gd name="T9" fmla="*/ 43 h 312"/>
                      <a:gd name="T10" fmla="*/ 138 w 241"/>
                      <a:gd name="T11" fmla="*/ 41 h 312"/>
                      <a:gd name="T12" fmla="*/ 164 w 241"/>
                      <a:gd name="T13" fmla="*/ 39 h 312"/>
                      <a:gd name="T14" fmla="*/ 193 w 241"/>
                      <a:gd name="T15" fmla="*/ 32 h 312"/>
                      <a:gd name="T16" fmla="*/ 218 w 241"/>
                      <a:gd name="T17" fmla="*/ 16 h 312"/>
                      <a:gd name="T18" fmla="*/ 241 w 241"/>
                      <a:gd name="T19" fmla="*/ 0 h 312"/>
                      <a:gd name="T20" fmla="*/ 236 w 241"/>
                      <a:gd name="T21" fmla="*/ 22 h 312"/>
                      <a:gd name="T22" fmla="*/ 221 w 241"/>
                      <a:gd name="T23" fmla="*/ 44 h 312"/>
                      <a:gd name="T24" fmla="*/ 199 w 241"/>
                      <a:gd name="T25" fmla="*/ 62 h 312"/>
                      <a:gd name="T26" fmla="*/ 205 w 241"/>
                      <a:gd name="T27" fmla="*/ 86 h 312"/>
                      <a:gd name="T28" fmla="*/ 191 w 241"/>
                      <a:gd name="T29" fmla="*/ 103 h 312"/>
                      <a:gd name="T30" fmla="*/ 184 w 241"/>
                      <a:gd name="T31" fmla="*/ 120 h 312"/>
                      <a:gd name="T32" fmla="*/ 180 w 241"/>
                      <a:gd name="T33" fmla="*/ 138 h 312"/>
                      <a:gd name="T34" fmla="*/ 169 w 241"/>
                      <a:gd name="T35" fmla="*/ 154 h 312"/>
                      <a:gd name="T36" fmla="*/ 165 w 241"/>
                      <a:gd name="T37" fmla="*/ 182 h 312"/>
                      <a:gd name="T38" fmla="*/ 162 w 241"/>
                      <a:gd name="T39" fmla="*/ 200 h 312"/>
                      <a:gd name="T40" fmla="*/ 157 w 241"/>
                      <a:gd name="T41" fmla="*/ 231 h 312"/>
                      <a:gd name="T42" fmla="*/ 163 w 241"/>
                      <a:gd name="T43" fmla="*/ 264 h 312"/>
                      <a:gd name="T44" fmla="*/ 144 w 241"/>
                      <a:gd name="T45" fmla="*/ 280 h 312"/>
                      <a:gd name="T46" fmla="*/ 120 w 241"/>
                      <a:gd name="T47" fmla="*/ 295 h 312"/>
                      <a:gd name="T48" fmla="*/ 93 w 241"/>
                      <a:gd name="T49" fmla="*/ 306 h 312"/>
                      <a:gd name="T50" fmla="*/ 67 w 241"/>
                      <a:gd name="T51" fmla="*/ 312 h 312"/>
                      <a:gd name="T52" fmla="*/ 93 w 241"/>
                      <a:gd name="T53" fmla="*/ 294 h 312"/>
                      <a:gd name="T54" fmla="*/ 115 w 241"/>
                      <a:gd name="T55" fmla="*/ 274 h 312"/>
                      <a:gd name="T56" fmla="*/ 132 w 241"/>
                      <a:gd name="T57" fmla="*/ 256 h 312"/>
                      <a:gd name="T58" fmla="*/ 145 w 241"/>
                      <a:gd name="T59" fmla="*/ 234 h 312"/>
                      <a:gd name="T60" fmla="*/ 121 w 241"/>
                      <a:gd name="T61" fmla="*/ 240 h 312"/>
                      <a:gd name="T62" fmla="*/ 96 w 241"/>
                      <a:gd name="T63" fmla="*/ 241 h 312"/>
                      <a:gd name="T64" fmla="*/ 64 w 241"/>
                      <a:gd name="T65" fmla="*/ 238 h 312"/>
                      <a:gd name="T66" fmla="*/ 30 w 241"/>
                      <a:gd name="T67" fmla="*/ 234 h 312"/>
                      <a:gd name="T68" fmla="*/ 68 w 241"/>
                      <a:gd name="T69" fmla="*/ 228 h 312"/>
                      <a:gd name="T70" fmla="*/ 96 w 241"/>
                      <a:gd name="T71" fmla="*/ 220 h 312"/>
                      <a:gd name="T72" fmla="*/ 118 w 241"/>
                      <a:gd name="T73" fmla="*/ 210 h 312"/>
                      <a:gd name="T74" fmla="*/ 137 w 241"/>
                      <a:gd name="T75" fmla="*/ 196 h 312"/>
                      <a:gd name="T76" fmla="*/ 151 w 241"/>
                      <a:gd name="T77" fmla="*/ 179 h 312"/>
                      <a:gd name="T78" fmla="*/ 122 w 241"/>
                      <a:gd name="T79" fmla="*/ 174 h 312"/>
                      <a:gd name="T80" fmla="*/ 96 w 241"/>
                      <a:gd name="T81" fmla="*/ 165 h 312"/>
                      <a:gd name="T82" fmla="*/ 113 w 241"/>
                      <a:gd name="T83" fmla="*/ 150 h 312"/>
                      <a:gd name="T84" fmla="*/ 133 w 241"/>
                      <a:gd name="T85" fmla="*/ 134 h 312"/>
                      <a:gd name="T86" fmla="*/ 157 w 241"/>
                      <a:gd name="T87" fmla="*/ 120 h 312"/>
                      <a:gd name="T88" fmla="*/ 175 w 241"/>
                      <a:gd name="T89" fmla="*/ 110 h 312"/>
                      <a:gd name="T90" fmla="*/ 160 w 241"/>
                      <a:gd name="T91" fmla="*/ 104 h 312"/>
                      <a:gd name="T92" fmla="*/ 147 w 241"/>
                      <a:gd name="T93" fmla="*/ 98 h 312"/>
                      <a:gd name="T94" fmla="*/ 126 w 241"/>
                      <a:gd name="T95" fmla="*/ 92 h 312"/>
                      <a:gd name="T96" fmla="*/ 147 w 241"/>
                      <a:gd name="T97" fmla="*/ 80 h 312"/>
                      <a:gd name="T98" fmla="*/ 163 w 241"/>
                      <a:gd name="T99" fmla="*/ 68 h 312"/>
                      <a:gd name="T100" fmla="*/ 132 w 241"/>
                      <a:gd name="T101" fmla="*/ 69 h 312"/>
                      <a:gd name="T102" fmla="*/ 106 w 241"/>
                      <a:gd name="T103" fmla="*/ 68 h 312"/>
                      <a:gd name="T104" fmla="*/ 69 w 241"/>
                      <a:gd name="T105" fmla="*/ 64 h 312"/>
                      <a:gd name="T106" fmla="*/ 32 w 241"/>
                      <a:gd name="T107" fmla="*/ 57 h 312"/>
                      <a:gd name="T108" fmla="*/ 0 w 241"/>
                      <a:gd name="T109" fmla="*/ 49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41" h="312">
                        <a:moveTo>
                          <a:pt x="0" y="49"/>
                        </a:moveTo>
                        <a:lnTo>
                          <a:pt x="22" y="45"/>
                        </a:lnTo>
                        <a:lnTo>
                          <a:pt x="36" y="37"/>
                        </a:lnTo>
                        <a:lnTo>
                          <a:pt x="71" y="41"/>
                        </a:lnTo>
                        <a:lnTo>
                          <a:pt x="104" y="43"/>
                        </a:lnTo>
                        <a:lnTo>
                          <a:pt x="138" y="41"/>
                        </a:lnTo>
                        <a:lnTo>
                          <a:pt x="164" y="39"/>
                        </a:lnTo>
                        <a:lnTo>
                          <a:pt x="193" y="32"/>
                        </a:lnTo>
                        <a:lnTo>
                          <a:pt x="218" y="16"/>
                        </a:lnTo>
                        <a:lnTo>
                          <a:pt x="241" y="0"/>
                        </a:lnTo>
                        <a:lnTo>
                          <a:pt x="236" y="22"/>
                        </a:lnTo>
                        <a:lnTo>
                          <a:pt x="221" y="44"/>
                        </a:lnTo>
                        <a:lnTo>
                          <a:pt x="199" y="62"/>
                        </a:lnTo>
                        <a:lnTo>
                          <a:pt x="205" y="86"/>
                        </a:lnTo>
                        <a:lnTo>
                          <a:pt x="191" y="103"/>
                        </a:lnTo>
                        <a:lnTo>
                          <a:pt x="184" y="120"/>
                        </a:lnTo>
                        <a:lnTo>
                          <a:pt x="180" y="138"/>
                        </a:lnTo>
                        <a:lnTo>
                          <a:pt x="169" y="154"/>
                        </a:lnTo>
                        <a:lnTo>
                          <a:pt x="165" y="182"/>
                        </a:lnTo>
                        <a:lnTo>
                          <a:pt x="162" y="200"/>
                        </a:lnTo>
                        <a:lnTo>
                          <a:pt x="157" y="231"/>
                        </a:lnTo>
                        <a:lnTo>
                          <a:pt x="163" y="264"/>
                        </a:lnTo>
                        <a:lnTo>
                          <a:pt x="144" y="280"/>
                        </a:lnTo>
                        <a:lnTo>
                          <a:pt x="120" y="295"/>
                        </a:lnTo>
                        <a:lnTo>
                          <a:pt x="93" y="306"/>
                        </a:lnTo>
                        <a:lnTo>
                          <a:pt x="67" y="312"/>
                        </a:lnTo>
                        <a:lnTo>
                          <a:pt x="93" y="294"/>
                        </a:lnTo>
                        <a:lnTo>
                          <a:pt x="115" y="274"/>
                        </a:lnTo>
                        <a:lnTo>
                          <a:pt x="132" y="256"/>
                        </a:lnTo>
                        <a:lnTo>
                          <a:pt x="145" y="234"/>
                        </a:lnTo>
                        <a:lnTo>
                          <a:pt x="121" y="240"/>
                        </a:lnTo>
                        <a:lnTo>
                          <a:pt x="96" y="241"/>
                        </a:lnTo>
                        <a:lnTo>
                          <a:pt x="64" y="238"/>
                        </a:lnTo>
                        <a:lnTo>
                          <a:pt x="30" y="234"/>
                        </a:lnTo>
                        <a:lnTo>
                          <a:pt x="68" y="228"/>
                        </a:lnTo>
                        <a:lnTo>
                          <a:pt x="96" y="220"/>
                        </a:lnTo>
                        <a:lnTo>
                          <a:pt x="118" y="210"/>
                        </a:lnTo>
                        <a:lnTo>
                          <a:pt x="137" y="196"/>
                        </a:lnTo>
                        <a:lnTo>
                          <a:pt x="151" y="179"/>
                        </a:lnTo>
                        <a:lnTo>
                          <a:pt x="122" y="174"/>
                        </a:lnTo>
                        <a:lnTo>
                          <a:pt x="96" y="165"/>
                        </a:lnTo>
                        <a:lnTo>
                          <a:pt x="113" y="150"/>
                        </a:lnTo>
                        <a:lnTo>
                          <a:pt x="133" y="134"/>
                        </a:lnTo>
                        <a:lnTo>
                          <a:pt x="157" y="120"/>
                        </a:lnTo>
                        <a:lnTo>
                          <a:pt x="175" y="110"/>
                        </a:lnTo>
                        <a:lnTo>
                          <a:pt x="160" y="104"/>
                        </a:lnTo>
                        <a:lnTo>
                          <a:pt x="147" y="98"/>
                        </a:lnTo>
                        <a:lnTo>
                          <a:pt x="126" y="92"/>
                        </a:lnTo>
                        <a:lnTo>
                          <a:pt x="147" y="80"/>
                        </a:lnTo>
                        <a:lnTo>
                          <a:pt x="163" y="68"/>
                        </a:lnTo>
                        <a:lnTo>
                          <a:pt x="132" y="69"/>
                        </a:lnTo>
                        <a:lnTo>
                          <a:pt x="106" y="68"/>
                        </a:lnTo>
                        <a:lnTo>
                          <a:pt x="69" y="64"/>
                        </a:lnTo>
                        <a:lnTo>
                          <a:pt x="32" y="57"/>
                        </a:lnTo>
                        <a:lnTo>
                          <a:pt x="0" y="49"/>
                        </a:lnTo>
                        <a:close/>
                      </a:path>
                    </a:pathLst>
                  </a:custGeom>
                  <a:solidFill>
                    <a:srgbClr val="C0C0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nvGrpSpPr>
              <p:cNvPr id="642384" name="Group 336"/>
              <p:cNvGrpSpPr/>
              <p:nvPr/>
            </p:nvGrpSpPr>
            <p:grpSpPr bwMode="auto">
              <a:xfrm>
                <a:off x="2730" y="3133"/>
                <a:ext cx="42" cy="52"/>
                <a:chOff x="2730" y="3133"/>
                <a:chExt cx="42" cy="52"/>
              </a:xfrm>
            </p:grpSpPr>
            <p:sp>
              <p:nvSpPr>
                <p:cNvPr id="642385" name="Freeform 337"/>
                <p:cNvSpPr/>
                <p:nvPr/>
              </p:nvSpPr>
              <p:spPr bwMode="auto">
                <a:xfrm>
                  <a:off x="2731" y="3133"/>
                  <a:ext cx="41" cy="52"/>
                </a:xfrm>
                <a:custGeom>
                  <a:avLst/>
                  <a:gdLst>
                    <a:gd name="T0" fmla="*/ 143 w 288"/>
                    <a:gd name="T1" fmla="*/ 18 h 416"/>
                    <a:gd name="T2" fmla="*/ 133 w 288"/>
                    <a:gd name="T3" fmla="*/ 85 h 416"/>
                    <a:gd name="T4" fmla="*/ 132 w 288"/>
                    <a:gd name="T5" fmla="*/ 117 h 416"/>
                    <a:gd name="T6" fmla="*/ 138 w 288"/>
                    <a:gd name="T7" fmla="*/ 151 h 416"/>
                    <a:gd name="T8" fmla="*/ 148 w 288"/>
                    <a:gd name="T9" fmla="*/ 167 h 416"/>
                    <a:gd name="T10" fmla="*/ 159 w 288"/>
                    <a:gd name="T11" fmla="*/ 176 h 416"/>
                    <a:gd name="T12" fmla="*/ 179 w 288"/>
                    <a:gd name="T13" fmla="*/ 186 h 416"/>
                    <a:gd name="T14" fmla="*/ 210 w 288"/>
                    <a:gd name="T15" fmla="*/ 200 h 416"/>
                    <a:gd name="T16" fmla="*/ 222 w 288"/>
                    <a:gd name="T17" fmla="*/ 208 h 416"/>
                    <a:gd name="T18" fmla="*/ 238 w 288"/>
                    <a:gd name="T19" fmla="*/ 219 h 416"/>
                    <a:gd name="T20" fmla="*/ 243 w 288"/>
                    <a:gd name="T21" fmla="*/ 227 h 416"/>
                    <a:gd name="T22" fmla="*/ 249 w 288"/>
                    <a:gd name="T23" fmla="*/ 244 h 416"/>
                    <a:gd name="T24" fmla="*/ 261 w 288"/>
                    <a:gd name="T25" fmla="*/ 252 h 416"/>
                    <a:gd name="T26" fmla="*/ 274 w 288"/>
                    <a:gd name="T27" fmla="*/ 262 h 416"/>
                    <a:gd name="T28" fmla="*/ 278 w 288"/>
                    <a:gd name="T29" fmla="*/ 275 h 416"/>
                    <a:gd name="T30" fmla="*/ 280 w 288"/>
                    <a:gd name="T31" fmla="*/ 287 h 416"/>
                    <a:gd name="T32" fmla="*/ 274 w 288"/>
                    <a:gd name="T33" fmla="*/ 306 h 416"/>
                    <a:gd name="T34" fmla="*/ 267 w 288"/>
                    <a:gd name="T35" fmla="*/ 319 h 416"/>
                    <a:gd name="T36" fmla="*/ 258 w 288"/>
                    <a:gd name="T37" fmla="*/ 330 h 416"/>
                    <a:gd name="T38" fmla="*/ 249 w 288"/>
                    <a:gd name="T39" fmla="*/ 334 h 416"/>
                    <a:gd name="T40" fmla="*/ 262 w 288"/>
                    <a:gd name="T41" fmla="*/ 345 h 416"/>
                    <a:gd name="T42" fmla="*/ 276 w 288"/>
                    <a:gd name="T43" fmla="*/ 359 h 416"/>
                    <a:gd name="T44" fmla="*/ 284 w 288"/>
                    <a:gd name="T45" fmla="*/ 374 h 416"/>
                    <a:gd name="T46" fmla="*/ 288 w 288"/>
                    <a:gd name="T47" fmla="*/ 389 h 416"/>
                    <a:gd name="T48" fmla="*/ 285 w 288"/>
                    <a:gd name="T49" fmla="*/ 403 h 416"/>
                    <a:gd name="T50" fmla="*/ 282 w 288"/>
                    <a:gd name="T51" fmla="*/ 410 h 416"/>
                    <a:gd name="T52" fmla="*/ 276 w 288"/>
                    <a:gd name="T53" fmla="*/ 416 h 416"/>
                    <a:gd name="T54" fmla="*/ 266 w 288"/>
                    <a:gd name="T55" fmla="*/ 415 h 416"/>
                    <a:gd name="T56" fmla="*/ 255 w 288"/>
                    <a:gd name="T57" fmla="*/ 401 h 416"/>
                    <a:gd name="T58" fmla="*/ 243 w 288"/>
                    <a:gd name="T59" fmla="*/ 382 h 416"/>
                    <a:gd name="T60" fmla="*/ 202 w 288"/>
                    <a:gd name="T61" fmla="*/ 352 h 416"/>
                    <a:gd name="T62" fmla="*/ 171 w 288"/>
                    <a:gd name="T63" fmla="*/ 334 h 416"/>
                    <a:gd name="T64" fmla="*/ 145 w 288"/>
                    <a:gd name="T65" fmla="*/ 325 h 416"/>
                    <a:gd name="T66" fmla="*/ 123 w 288"/>
                    <a:gd name="T67" fmla="*/ 318 h 416"/>
                    <a:gd name="T68" fmla="*/ 99 w 288"/>
                    <a:gd name="T69" fmla="*/ 309 h 416"/>
                    <a:gd name="T70" fmla="*/ 77 w 288"/>
                    <a:gd name="T71" fmla="*/ 298 h 416"/>
                    <a:gd name="T72" fmla="*/ 48 w 288"/>
                    <a:gd name="T73" fmla="*/ 280 h 416"/>
                    <a:gd name="T74" fmla="*/ 12 w 288"/>
                    <a:gd name="T75" fmla="*/ 227 h 416"/>
                    <a:gd name="T76" fmla="*/ 2 w 288"/>
                    <a:gd name="T77" fmla="*/ 195 h 416"/>
                    <a:gd name="T78" fmla="*/ 0 w 288"/>
                    <a:gd name="T79" fmla="*/ 164 h 416"/>
                    <a:gd name="T80" fmla="*/ 4 w 288"/>
                    <a:gd name="T81" fmla="*/ 131 h 416"/>
                    <a:gd name="T82" fmla="*/ 13 w 288"/>
                    <a:gd name="T83" fmla="*/ 84 h 416"/>
                    <a:gd name="T84" fmla="*/ 27 w 288"/>
                    <a:gd name="T85" fmla="*/ 0 h 416"/>
                    <a:gd name="T86" fmla="*/ 143 w 288"/>
                    <a:gd name="T87" fmla="*/ 18 h 4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88" h="416">
                      <a:moveTo>
                        <a:pt x="143" y="18"/>
                      </a:moveTo>
                      <a:lnTo>
                        <a:pt x="133" y="85"/>
                      </a:lnTo>
                      <a:lnTo>
                        <a:pt x="132" y="117"/>
                      </a:lnTo>
                      <a:lnTo>
                        <a:pt x="138" y="151"/>
                      </a:lnTo>
                      <a:lnTo>
                        <a:pt x="148" y="167"/>
                      </a:lnTo>
                      <a:lnTo>
                        <a:pt x="159" y="176"/>
                      </a:lnTo>
                      <a:lnTo>
                        <a:pt x="179" y="186"/>
                      </a:lnTo>
                      <a:lnTo>
                        <a:pt x="210" y="200"/>
                      </a:lnTo>
                      <a:lnTo>
                        <a:pt x="222" y="208"/>
                      </a:lnTo>
                      <a:lnTo>
                        <a:pt x="238" y="219"/>
                      </a:lnTo>
                      <a:lnTo>
                        <a:pt x="243" y="227"/>
                      </a:lnTo>
                      <a:lnTo>
                        <a:pt x="249" y="244"/>
                      </a:lnTo>
                      <a:lnTo>
                        <a:pt x="261" y="252"/>
                      </a:lnTo>
                      <a:lnTo>
                        <a:pt x="274" y="262"/>
                      </a:lnTo>
                      <a:lnTo>
                        <a:pt x="278" y="275"/>
                      </a:lnTo>
                      <a:lnTo>
                        <a:pt x="280" y="287"/>
                      </a:lnTo>
                      <a:lnTo>
                        <a:pt x="274" y="306"/>
                      </a:lnTo>
                      <a:lnTo>
                        <a:pt x="267" y="319"/>
                      </a:lnTo>
                      <a:lnTo>
                        <a:pt x="258" y="330"/>
                      </a:lnTo>
                      <a:lnTo>
                        <a:pt x="249" y="334"/>
                      </a:lnTo>
                      <a:lnTo>
                        <a:pt x="262" y="345"/>
                      </a:lnTo>
                      <a:lnTo>
                        <a:pt x="276" y="359"/>
                      </a:lnTo>
                      <a:lnTo>
                        <a:pt x="284" y="374"/>
                      </a:lnTo>
                      <a:lnTo>
                        <a:pt x="288" y="389"/>
                      </a:lnTo>
                      <a:lnTo>
                        <a:pt x="285" y="403"/>
                      </a:lnTo>
                      <a:lnTo>
                        <a:pt x="282" y="410"/>
                      </a:lnTo>
                      <a:lnTo>
                        <a:pt x="276" y="416"/>
                      </a:lnTo>
                      <a:lnTo>
                        <a:pt x="266" y="415"/>
                      </a:lnTo>
                      <a:lnTo>
                        <a:pt x="255" y="401"/>
                      </a:lnTo>
                      <a:lnTo>
                        <a:pt x="243" y="382"/>
                      </a:lnTo>
                      <a:lnTo>
                        <a:pt x="202" y="352"/>
                      </a:lnTo>
                      <a:lnTo>
                        <a:pt x="171" y="334"/>
                      </a:lnTo>
                      <a:lnTo>
                        <a:pt x="145" y="325"/>
                      </a:lnTo>
                      <a:lnTo>
                        <a:pt x="123" y="318"/>
                      </a:lnTo>
                      <a:lnTo>
                        <a:pt x="99" y="309"/>
                      </a:lnTo>
                      <a:lnTo>
                        <a:pt x="77" y="298"/>
                      </a:lnTo>
                      <a:lnTo>
                        <a:pt x="48" y="280"/>
                      </a:lnTo>
                      <a:lnTo>
                        <a:pt x="12" y="227"/>
                      </a:lnTo>
                      <a:lnTo>
                        <a:pt x="2" y="195"/>
                      </a:lnTo>
                      <a:lnTo>
                        <a:pt x="0" y="164"/>
                      </a:lnTo>
                      <a:lnTo>
                        <a:pt x="4" y="131"/>
                      </a:lnTo>
                      <a:lnTo>
                        <a:pt x="13" y="84"/>
                      </a:lnTo>
                      <a:lnTo>
                        <a:pt x="27" y="0"/>
                      </a:lnTo>
                      <a:lnTo>
                        <a:pt x="143" y="18"/>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6" name="Freeform 338"/>
                <p:cNvSpPr/>
                <p:nvPr/>
              </p:nvSpPr>
              <p:spPr bwMode="auto">
                <a:xfrm>
                  <a:off x="2756" y="3168"/>
                  <a:ext cx="14" cy="7"/>
                </a:xfrm>
                <a:custGeom>
                  <a:avLst/>
                  <a:gdLst>
                    <a:gd name="T0" fmla="*/ 0 w 92"/>
                    <a:gd name="T1" fmla="*/ 0 h 52"/>
                    <a:gd name="T2" fmla="*/ 27 w 92"/>
                    <a:gd name="T3" fmla="*/ 12 h 52"/>
                    <a:gd name="T4" fmla="*/ 45 w 92"/>
                    <a:gd name="T5" fmla="*/ 19 h 52"/>
                    <a:gd name="T6" fmla="*/ 57 w 92"/>
                    <a:gd name="T7" fmla="*/ 18 h 52"/>
                    <a:gd name="T8" fmla="*/ 65 w 92"/>
                    <a:gd name="T9" fmla="*/ 12 h 52"/>
                    <a:gd name="T10" fmla="*/ 71 w 92"/>
                    <a:gd name="T11" fmla="*/ 16 h 52"/>
                    <a:gd name="T12" fmla="*/ 80 w 92"/>
                    <a:gd name="T13" fmla="*/ 21 h 52"/>
                    <a:gd name="T14" fmla="*/ 92 w 92"/>
                    <a:gd name="T15" fmla="*/ 22 h 52"/>
                    <a:gd name="T16" fmla="*/ 88 w 92"/>
                    <a:gd name="T17" fmla="*/ 34 h 52"/>
                    <a:gd name="T18" fmla="*/ 80 w 92"/>
                    <a:gd name="T19" fmla="*/ 46 h 52"/>
                    <a:gd name="T20" fmla="*/ 68 w 92"/>
                    <a:gd name="T21" fmla="*/ 52 h 52"/>
                    <a:gd name="T22" fmla="*/ 54 w 92"/>
                    <a:gd name="T23" fmla="*/ 38 h 52"/>
                    <a:gd name="T24" fmla="*/ 42 w 92"/>
                    <a:gd name="T25" fmla="*/ 27 h 52"/>
                    <a:gd name="T26" fmla="*/ 24 w 92"/>
                    <a:gd name="T27" fmla="*/ 16 h 52"/>
                    <a:gd name="T28" fmla="*/ 0 w 92"/>
                    <a:gd name="T29"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2" h="52">
                      <a:moveTo>
                        <a:pt x="0" y="0"/>
                      </a:moveTo>
                      <a:lnTo>
                        <a:pt x="27" y="12"/>
                      </a:lnTo>
                      <a:lnTo>
                        <a:pt x="45" y="19"/>
                      </a:lnTo>
                      <a:lnTo>
                        <a:pt x="57" y="18"/>
                      </a:lnTo>
                      <a:lnTo>
                        <a:pt x="65" y="12"/>
                      </a:lnTo>
                      <a:lnTo>
                        <a:pt x="71" y="16"/>
                      </a:lnTo>
                      <a:lnTo>
                        <a:pt x="80" y="21"/>
                      </a:lnTo>
                      <a:lnTo>
                        <a:pt x="92" y="22"/>
                      </a:lnTo>
                      <a:lnTo>
                        <a:pt x="88" y="34"/>
                      </a:lnTo>
                      <a:lnTo>
                        <a:pt x="80" y="46"/>
                      </a:lnTo>
                      <a:lnTo>
                        <a:pt x="68" y="52"/>
                      </a:lnTo>
                      <a:lnTo>
                        <a:pt x="54" y="38"/>
                      </a:lnTo>
                      <a:lnTo>
                        <a:pt x="42" y="27"/>
                      </a:lnTo>
                      <a:lnTo>
                        <a:pt x="24" y="16"/>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7" name="Freeform 339"/>
                <p:cNvSpPr/>
                <p:nvPr/>
              </p:nvSpPr>
              <p:spPr bwMode="auto">
                <a:xfrm>
                  <a:off x="2730" y="3138"/>
                  <a:ext cx="21" cy="32"/>
                </a:xfrm>
                <a:custGeom>
                  <a:avLst/>
                  <a:gdLst>
                    <a:gd name="T0" fmla="*/ 107 w 144"/>
                    <a:gd name="T1" fmla="*/ 139 h 258"/>
                    <a:gd name="T2" fmla="*/ 95 w 144"/>
                    <a:gd name="T3" fmla="*/ 119 h 258"/>
                    <a:gd name="T4" fmla="*/ 86 w 144"/>
                    <a:gd name="T5" fmla="*/ 96 h 258"/>
                    <a:gd name="T6" fmla="*/ 79 w 144"/>
                    <a:gd name="T7" fmla="*/ 73 h 258"/>
                    <a:gd name="T8" fmla="*/ 76 w 144"/>
                    <a:gd name="T9" fmla="*/ 53 h 258"/>
                    <a:gd name="T10" fmla="*/ 77 w 144"/>
                    <a:gd name="T11" fmla="*/ 40 h 258"/>
                    <a:gd name="T12" fmla="*/ 94 w 144"/>
                    <a:gd name="T13" fmla="*/ 42 h 258"/>
                    <a:gd name="T14" fmla="*/ 113 w 144"/>
                    <a:gd name="T15" fmla="*/ 39 h 258"/>
                    <a:gd name="T16" fmla="*/ 126 w 144"/>
                    <a:gd name="T17" fmla="*/ 36 h 258"/>
                    <a:gd name="T18" fmla="*/ 136 w 144"/>
                    <a:gd name="T19" fmla="*/ 32 h 258"/>
                    <a:gd name="T20" fmla="*/ 141 w 144"/>
                    <a:gd name="T21" fmla="*/ 25 h 258"/>
                    <a:gd name="T22" fmla="*/ 144 w 144"/>
                    <a:gd name="T23" fmla="*/ 7 h 258"/>
                    <a:gd name="T24" fmla="*/ 20 w 144"/>
                    <a:gd name="T25" fmla="*/ 0 h 258"/>
                    <a:gd name="T26" fmla="*/ 14 w 144"/>
                    <a:gd name="T27" fmla="*/ 37 h 258"/>
                    <a:gd name="T28" fmla="*/ 11 w 144"/>
                    <a:gd name="T29" fmla="*/ 58 h 258"/>
                    <a:gd name="T30" fmla="*/ 5 w 144"/>
                    <a:gd name="T31" fmla="*/ 83 h 258"/>
                    <a:gd name="T32" fmla="*/ 2 w 144"/>
                    <a:gd name="T33" fmla="*/ 103 h 258"/>
                    <a:gd name="T34" fmla="*/ 0 w 144"/>
                    <a:gd name="T35" fmla="*/ 124 h 258"/>
                    <a:gd name="T36" fmla="*/ 1 w 144"/>
                    <a:gd name="T37" fmla="*/ 144 h 258"/>
                    <a:gd name="T38" fmla="*/ 3 w 144"/>
                    <a:gd name="T39" fmla="*/ 159 h 258"/>
                    <a:gd name="T40" fmla="*/ 6 w 144"/>
                    <a:gd name="T41" fmla="*/ 173 h 258"/>
                    <a:gd name="T42" fmla="*/ 12 w 144"/>
                    <a:gd name="T43" fmla="*/ 187 h 258"/>
                    <a:gd name="T44" fmla="*/ 22 w 144"/>
                    <a:gd name="T45" fmla="*/ 202 h 258"/>
                    <a:gd name="T46" fmla="*/ 29 w 144"/>
                    <a:gd name="T47" fmla="*/ 214 h 258"/>
                    <a:gd name="T48" fmla="*/ 39 w 144"/>
                    <a:gd name="T49" fmla="*/ 229 h 258"/>
                    <a:gd name="T50" fmla="*/ 51 w 144"/>
                    <a:gd name="T51" fmla="*/ 242 h 258"/>
                    <a:gd name="T52" fmla="*/ 61 w 144"/>
                    <a:gd name="T53" fmla="*/ 249 h 258"/>
                    <a:gd name="T54" fmla="*/ 76 w 144"/>
                    <a:gd name="T55" fmla="*/ 258 h 258"/>
                    <a:gd name="T56" fmla="*/ 72 w 144"/>
                    <a:gd name="T57" fmla="*/ 244 h 258"/>
                    <a:gd name="T58" fmla="*/ 70 w 144"/>
                    <a:gd name="T59" fmla="*/ 223 h 258"/>
                    <a:gd name="T60" fmla="*/ 72 w 144"/>
                    <a:gd name="T61" fmla="*/ 205 h 258"/>
                    <a:gd name="T62" fmla="*/ 76 w 144"/>
                    <a:gd name="T63" fmla="*/ 187 h 258"/>
                    <a:gd name="T64" fmla="*/ 85 w 144"/>
                    <a:gd name="T65" fmla="*/ 169 h 258"/>
                    <a:gd name="T66" fmla="*/ 96 w 144"/>
                    <a:gd name="T67" fmla="*/ 152 h 258"/>
                    <a:gd name="T68" fmla="*/ 107 w 144"/>
                    <a:gd name="T69" fmla="*/ 139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4" h="258">
                      <a:moveTo>
                        <a:pt x="107" y="139"/>
                      </a:moveTo>
                      <a:lnTo>
                        <a:pt x="95" y="119"/>
                      </a:lnTo>
                      <a:lnTo>
                        <a:pt x="86" y="96"/>
                      </a:lnTo>
                      <a:lnTo>
                        <a:pt x="79" y="73"/>
                      </a:lnTo>
                      <a:lnTo>
                        <a:pt x="76" y="53"/>
                      </a:lnTo>
                      <a:lnTo>
                        <a:pt x="77" y="40"/>
                      </a:lnTo>
                      <a:lnTo>
                        <a:pt x="94" y="42"/>
                      </a:lnTo>
                      <a:lnTo>
                        <a:pt x="113" y="39"/>
                      </a:lnTo>
                      <a:lnTo>
                        <a:pt x="126" y="36"/>
                      </a:lnTo>
                      <a:lnTo>
                        <a:pt x="136" y="32"/>
                      </a:lnTo>
                      <a:lnTo>
                        <a:pt x="141" y="25"/>
                      </a:lnTo>
                      <a:lnTo>
                        <a:pt x="144" y="7"/>
                      </a:lnTo>
                      <a:lnTo>
                        <a:pt x="20" y="0"/>
                      </a:lnTo>
                      <a:lnTo>
                        <a:pt x="14" y="37"/>
                      </a:lnTo>
                      <a:lnTo>
                        <a:pt x="11" y="58"/>
                      </a:lnTo>
                      <a:lnTo>
                        <a:pt x="5" y="83"/>
                      </a:lnTo>
                      <a:lnTo>
                        <a:pt x="2" y="103"/>
                      </a:lnTo>
                      <a:lnTo>
                        <a:pt x="0" y="124"/>
                      </a:lnTo>
                      <a:lnTo>
                        <a:pt x="1" y="144"/>
                      </a:lnTo>
                      <a:lnTo>
                        <a:pt x="3" y="159"/>
                      </a:lnTo>
                      <a:lnTo>
                        <a:pt x="6" y="173"/>
                      </a:lnTo>
                      <a:lnTo>
                        <a:pt x="12" y="187"/>
                      </a:lnTo>
                      <a:lnTo>
                        <a:pt x="22" y="202"/>
                      </a:lnTo>
                      <a:lnTo>
                        <a:pt x="29" y="214"/>
                      </a:lnTo>
                      <a:lnTo>
                        <a:pt x="39" y="229"/>
                      </a:lnTo>
                      <a:lnTo>
                        <a:pt x="51" y="242"/>
                      </a:lnTo>
                      <a:lnTo>
                        <a:pt x="61" y="249"/>
                      </a:lnTo>
                      <a:lnTo>
                        <a:pt x="76" y="258"/>
                      </a:lnTo>
                      <a:lnTo>
                        <a:pt x="72" y="244"/>
                      </a:lnTo>
                      <a:lnTo>
                        <a:pt x="70" y="223"/>
                      </a:lnTo>
                      <a:lnTo>
                        <a:pt x="72" y="205"/>
                      </a:lnTo>
                      <a:lnTo>
                        <a:pt x="76" y="187"/>
                      </a:lnTo>
                      <a:lnTo>
                        <a:pt x="85" y="169"/>
                      </a:lnTo>
                      <a:lnTo>
                        <a:pt x="96" y="152"/>
                      </a:lnTo>
                      <a:lnTo>
                        <a:pt x="107" y="13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8" name="Freeform 340"/>
                <p:cNvSpPr/>
                <p:nvPr/>
              </p:nvSpPr>
              <p:spPr bwMode="auto">
                <a:xfrm>
                  <a:off x="2755" y="3159"/>
                  <a:ext cx="11" cy="4"/>
                </a:xfrm>
                <a:custGeom>
                  <a:avLst/>
                  <a:gdLst>
                    <a:gd name="T0" fmla="*/ 76 w 76"/>
                    <a:gd name="T1" fmla="*/ 37 h 37"/>
                    <a:gd name="T2" fmla="*/ 57 w 76"/>
                    <a:gd name="T3" fmla="*/ 24 h 37"/>
                    <a:gd name="T4" fmla="*/ 37 w 76"/>
                    <a:gd name="T5" fmla="*/ 12 h 37"/>
                    <a:gd name="T6" fmla="*/ 19 w 76"/>
                    <a:gd name="T7" fmla="*/ 5 h 37"/>
                    <a:gd name="T8" fmla="*/ 0 w 76"/>
                    <a:gd name="T9" fmla="*/ 0 h 37"/>
                    <a:gd name="T10" fmla="*/ 23 w 76"/>
                    <a:gd name="T11" fmla="*/ 4 h 37"/>
                    <a:gd name="T12" fmla="*/ 44 w 76"/>
                    <a:gd name="T13" fmla="*/ 10 h 37"/>
                    <a:gd name="T14" fmla="*/ 64 w 76"/>
                    <a:gd name="T15" fmla="*/ 19 h 37"/>
                    <a:gd name="T16" fmla="*/ 73 w 76"/>
                    <a:gd name="T17" fmla="*/ 24 h 37"/>
                    <a:gd name="T18" fmla="*/ 76 w 76"/>
                    <a:gd name="T19"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 h="37">
                      <a:moveTo>
                        <a:pt x="76" y="37"/>
                      </a:moveTo>
                      <a:lnTo>
                        <a:pt x="57" y="24"/>
                      </a:lnTo>
                      <a:lnTo>
                        <a:pt x="37" y="12"/>
                      </a:lnTo>
                      <a:lnTo>
                        <a:pt x="19" y="5"/>
                      </a:lnTo>
                      <a:lnTo>
                        <a:pt x="0" y="0"/>
                      </a:lnTo>
                      <a:lnTo>
                        <a:pt x="23" y="4"/>
                      </a:lnTo>
                      <a:lnTo>
                        <a:pt x="44" y="10"/>
                      </a:lnTo>
                      <a:lnTo>
                        <a:pt x="64" y="19"/>
                      </a:lnTo>
                      <a:lnTo>
                        <a:pt x="73" y="24"/>
                      </a:lnTo>
                      <a:lnTo>
                        <a:pt x="76" y="3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89" name="Freeform 341"/>
                <p:cNvSpPr/>
                <p:nvPr/>
              </p:nvSpPr>
              <p:spPr bwMode="auto">
                <a:xfrm>
                  <a:off x="2755" y="3174"/>
                  <a:ext cx="13" cy="7"/>
                </a:xfrm>
                <a:custGeom>
                  <a:avLst/>
                  <a:gdLst>
                    <a:gd name="T0" fmla="*/ 97 w 97"/>
                    <a:gd name="T1" fmla="*/ 37 h 60"/>
                    <a:gd name="T2" fmla="*/ 89 w 97"/>
                    <a:gd name="T3" fmla="*/ 42 h 60"/>
                    <a:gd name="T4" fmla="*/ 84 w 97"/>
                    <a:gd name="T5" fmla="*/ 49 h 60"/>
                    <a:gd name="T6" fmla="*/ 77 w 97"/>
                    <a:gd name="T7" fmla="*/ 60 h 60"/>
                    <a:gd name="T8" fmla="*/ 74 w 97"/>
                    <a:gd name="T9" fmla="*/ 54 h 60"/>
                    <a:gd name="T10" fmla="*/ 68 w 97"/>
                    <a:gd name="T11" fmla="*/ 49 h 60"/>
                    <a:gd name="T12" fmla="*/ 53 w 97"/>
                    <a:gd name="T13" fmla="*/ 38 h 60"/>
                    <a:gd name="T14" fmla="*/ 40 w 97"/>
                    <a:gd name="T15" fmla="*/ 28 h 60"/>
                    <a:gd name="T16" fmla="*/ 27 w 97"/>
                    <a:gd name="T17" fmla="*/ 19 h 60"/>
                    <a:gd name="T18" fmla="*/ 13 w 97"/>
                    <a:gd name="T19" fmla="*/ 10 h 60"/>
                    <a:gd name="T20" fmla="*/ 0 w 97"/>
                    <a:gd name="T21" fmla="*/ 0 h 60"/>
                    <a:gd name="T22" fmla="*/ 18 w 97"/>
                    <a:gd name="T23" fmla="*/ 8 h 60"/>
                    <a:gd name="T24" fmla="*/ 30 w 97"/>
                    <a:gd name="T25" fmla="*/ 14 h 60"/>
                    <a:gd name="T26" fmla="*/ 47 w 97"/>
                    <a:gd name="T27" fmla="*/ 23 h 60"/>
                    <a:gd name="T28" fmla="*/ 62 w 97"/>
                    <a:gd name="T29" fmla="*/ 36 h 60"/>
                    <a:gd name="T30" fmla="*/ 72 w 97"/>
                    <a:gd name="T31" fmla="*/ 45 h 60"/>
                    <a:gd name="T32" fmla="*/ 78 w 97"/>
                    <a:gd name="T33" fmla="*/ 50 h 60"/>
                    <a:gd name="T34" fmla="*/ 84 w 97"/>
                    <a:gd name="T35" fmla="*/ 42 h 60"/>
                    <a:gd name="T36" fmla="*/ 97 w 97"/>
                    <a:gd name="T37" fmla="*/ 3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7" h="60">
                      <a:moveTo>
                        <a:pt x="97" y="37"/>
                      </a:moveTo>
                      <a:lnTo>
                        <a:pt x="89" y="42"/>
                      </a:lnTo>
                      <a:lnTo>
                        <a:pt x="84" y="49"/>
                      </a:lnTo>
                      <a:lnTo>
                        <a:pt x="77" y="60"/>
                      </a:lnTo>
                      <a:lnTo>
                        <a:pt x="74" y="54"/>
                      </a:lnTo>
                      <a:lnTo>
                        <a:pt x="68" y="49"/>
                      </a:lnTo>
                      <a:lnTo>
                        <a:pt x="53" y="38"/>
                      </a:lnTo>
                      <a:lnTo>
                        <a:pt x="40" y="28"/>
                      </a:lnTo>
                      <a:lnTo>
                        <a:pt x="27" y="19"/>
                      </a:lnTo>
                      <a:lnTo>
                        <a:pt x="13" y="10"/>
                      </a:lnTo>
                      <a:lnTo>
                        <a:pt x="0" y="0"/>
                      </a:lnTo>
                      <a:lnTo>
                        <a:pt x="18" y="8"/>
                      </a:lnTo>
                      <a:lnTo>
                        <a:pt x="30" y="14"/>
                      </a:lnTo>
                      <a:lnTo>
                        <a:pt x="47" y="23"/>
                      </a:lnTo>
                      <a:lnTo>
                        <a:pt x="62" y="36"/>
                      </a:lnTo>
                      <a:lnTo>
                        <a:pt x="72" y="45"/>
                      </a:lnTo>
                      <a:lnTo>
                        <a:pt x="78" y="50"/>
                      </a:lnTo>
                      <a:lnTo>
                        <a:pt x="84" y="42"/>
                      </a:lnTo>
                      <a:lnTo>
                        <a:pt x="97" y="37"/>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90" name="Group 342"/>
              <p:cNvGrpSpPr/>
              <p:nvPr/>
            </p:nvGrpSpPr>
            <p:grpSpPr bwMode="auto">
              <a:xfrm>
                <a:off x="2725" y="3103"/>
                <a:ext cx="38" cy="40"/>
                <a:chOff x="2725" y="3103"/>
                <a:chExt cx="38" cy="40"/>
              </a:xfrm>
            </p:grpSpPr>
            <p:sp>
              <p:nvSpPr>
                <p:cNvPr id="642391" name="Freeform 343"/>
                <p:cNvSpPr/>
                <p:nvPr/>
              </p:nvSpPr>
              <p:spPr bwMode="auto">
                <a:xfrm>
                  <a:off x="2725" y="3103"/>
                  <a:ext cx="38" cy="40"/>
                </a:xfrm>
                <a:custGeom>
                  <a:avLst/>
                  <a:gdLst>
                    <a:gd name="T0" fmla="*/ 17 w 265"/>
                    <a:gd name="T1" fmla="*/ 0 h 314"/>
                    <a:gd name="T2" fmla="*/ 9 w 265"/>
                    <a:gd name="T3" fmla="*/ 19 h 314"/>
                    <a:gd name="T4" fmla="*/ 3 w 265"/>
                    <a:gd name="T5" fmla="*/ 41 h 314"/>
                    <a:gd name="T6" fmla="*/ 0 w 265"/>
                    <a:gd name="T7" fmla="*/ 66 h 314"/>
                    <a:gd name="T8" fmla="*/ 3 w 265"/>
                    <a:gd name="T9" fmla="*/ 91 h 314"/>
                    <a:gd name="T10" fmla="*/ 5 w 265"/>
                    <a:gd name="T11" fmla="*/ 101 h 314"/>
                    <a:gd name="T12" fmla="*/ 15 w 265"/>
                    <a:gd name="T13" fmla="*/ 115 h 314"/>
                    <a:gd name="T14" fmla="*/ 29 w 265"/>
                    <a:gd name="T15" fmla="*/ 125 h 314"/>
                    <a:gd name="T16" fmla="*/ 46 w 265"/>
                    <a:gd name="T17" fmla="*/ 137 h 314"/>
                    <a:gd name="T18" fmla="*/ 40 w 265"/>
                    <a:gd name="T19" fmla="*/ 160 h 314"/>
                    <a:gd name="T20" fmla="*/ 37 w 265"/>
                    <a:gd name="T21" fmla="*/ 189 h 314"/>
                    <a:gd name="T22" fmla="*/ 35 w 265"/>
                    <a:gd name="T23" fmla="*/ 222 h 314"/>
                    <a:gd name="T24" fmla="*/ 38 w 265"/>
                    <a:gd name="T25" fmla="*/ 253 h 314"/>
                    <a:gd name="T26" fmla="*/ 40 w 265"/>
                    <a:gd name="T27" fmla="*/ 277 h 314"/>
                    <a:gd name="T28" fmla="*/ 46 w 265"/>
                    <a:gd name="T29" fmla="*/ 289 h 314"/>
                    <a:gd name="T30" fmla="*/ 64 w 265"/>
                    <a:gd name="T31" fmla="*/ 303 h 314"/>
                    <a:gd name="T32" fmla="*/ 91 w 265"/>
                    <a:gd name="T33" fmla="*/ 312 h 314"/>
                    <a:gd name="T34" fmla="*/ 119 w 265"/>
                    <a:gd name="T35" fmla="*/ 314 h 314"/>
                    <a:gd name="T36" fmla="*/ 146 w 265"/>
                    <a:gd name="T37" fmla="*/ 312 h 314"/>
                    <a:gd name="T38" fmla="*/ 162 w 265"/>
                    <a:gd name="T39" fmla="*/ 308 h 314"/>
                    <a:gd name="T40" fmla="*/ 175 w 265"/>
                    <a:gd name="T41" fmla="*/ 299 h 314"/>
                    <a:gd name="T42" fmla="*/ 189 w 265"/>
                    <a:gd name="T43" fmla="*/ 279 h 314"/>
                    <a:gd name="T44" fmla="*/ 196 w 265"/>
                    <a:gd name="T45" fmla="*/ 262 h 314"/>
                    <a:gd name="T46" fmla="*/ 202 w 265"/>
                    <a:gd name="T47" fmla="*/ 240 h 314"/>
                    <a:gd name="T48" fmla="*/ 204 w 265"/>
                    <a:gd name="T49" fmla="*/ 226 h 314"/>
                    <a:gd name="T50" fmla="*/ 202 w 265"/>
                    <a:gd name="T51" fmla="*/ 209 h 314"/>
                    <a:gd name="T52" fmla="*/ 210 w 265"/>
                    <a:gd name="T53" fmla="*/ 191 h 314"/>
                    <a:gd name="T54" fmla="*/ 213 w 265"/>
                    <a:gd name="T55" fmla="*/ 173 h 314"/>
                    <a:gd name="T56" fmla="*/ 237 w 265"/>
                    <a:gd name="T57" fmla="*/ 162 h 314"/>
                    <a:gd name="T58" fmla="*/ 252 w 265"/>
                    <a:gd name="T59" fmla="*/ 153 h 314"/>
                    <a:gd name="T60" fmla="*/ 256 w 265"/>
                    <a:gd name="T61" fmla="*/ 144 h 314"/>
                    <a:gd name="T62" fmla="*/ 254 w 265"/>
                    <a:gd name="T63" fmla="*/ 125 h 314"/>
                    <a:gd name="T64" fmla="*/ 256 w 265"/>
                    <a:gd name="T65" fmla="*/ 108 h 314"/>
                    <a:gd name="T66" fmla="*/ 260 w 265"/>
                    <a:gd name="T67" fmla="*/ 86 h 314"/>
                    <a:gd name="T68" fmla="*/ 265 w 265"/>
                    <a:gd name="T69" fmla="*/ 70 h 314"/>
                    <a:gd name="T70" fmla="*/ 264 w 265"/>
                    <a:gd name="T71" fmla="*/ 56 h 314"/>
                    <a:gd name="T72" fmla="*/ 259 w 265"/>
                    <a:gd name="T73" fmla="*/ 40 h 314"/>
                    <a:gd name="T74" fmla="*/ 253 w 265"/>
                    <a:gd name="T75" fmla="*/ 31 h 314"/>
                    <a:gd name="T76" fmla="*/ 250 w 265"/>
                    <a:gd name="T77" fmla="*/ 22 h 314"/>
                    <a:gd name="T78" fmla="*/ 230 w 265"/>
                    <a:gd name="T79" fmla="*/ 29 h 314"/>
                    <a:gd name="T80" fmla="*/ 206 w 265"/>
                    <a:gd name="T81" fmla="*/ 37 h 314"/>
                    <a:gd name="T82" fmla="*/ 190 w 265"/>
                    <a:gd name="T83" fmla="*/ 41 h 314"/>
                    <a:gd name="T84" fmla="*/ 171 w 265"/>
                    <a:gd name="T85" fmla="*/ 45 h 314"/>
                    <a:gd name="T86" fmla="*/ 146 w 265"/>
                    <a:gd name="T87" fmla="*/ 47 h 314"/>
                    <a:gd name="T88" fmla="*/ 122 w 265"/>
                    <a:gd name="T89" fmla="*/ 43 h 314"/>
                    <a:gd name="T90" fmla="*/ 100 w 265"/>
                    <a:gd name="T91" fmla="*/ 37 h 314"/>
                    <a:gd name="T92" fmla="*/ 78 w 265"/>
                    <a:gd name="T93" fmla="*/ 31 h 314"/>
                    <a:gd name="T94" fmla="*/ 57 w 265"/>
                    <a:gd name="T95" fmla="*/ 19 h 314"/>
                    <a:gd name="T96" fmla="*/ 35 w 265"/>
                    <a:gd name="T97" fmla="*/ 8 h 314"/>
                    <a:gd name="T98" fmla="*/ 17 w 265"/>
                    <a:gd name="T9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5" h="314">
                      <a:moveTo>
                        <a:pt x="17" y="0"/>
                      </a:moveTo>
                      <a:lnTo>
                        <a:pt x="9" y="19"/>
                      </a:lnTo>
                      <a:lnTo>
                        <a:pt x="3" y="41"/>
                      </a:lnTo>
                      <a:lnTo>
                        <a:pt x="0" y="66"/>
                      </a:lnTo>
                      <a:lnTo>
                        <a:pt x="3" y="91"/>
                      </a:lnTo>
                      <a:lnTo>
                        <a:pt x="5" y="101"/>
                      </a:lnTo>
                      <a:lnTo>
                        <a:pt x="15" y="115"/>
                      </a:lnTo>
                      <a:lnTo>
                        <a:pt x="29" y="125"/>
                      </a:lnTo>
                      <a:lnTo>
                        <a:pt x="46" y="137"/>
                      </a:lnTo>
                      <a:lnTo>
                        <a:pt x="40" y="160"/>
                      </a:lnTo>
                      <a:lnTo>
                        <a:pt x="37" y="189"/>
                      </a:lnTo>
                      <a:lnTo>
                        <a:pt x="35" y="222"/>
                      </a:lnTo>
                      <a:lnTo>
                        <a:pt x="38" y="253"/>
                      </a:lnTo>
                      <a:lnTo>
                        <a:pt x="40" y="277"/>
                      </a:lnTo>
                      <a:lnTo>
                        <a:pt x="46" y="289"/>
                      </a:lnTo>
                      <a:lnTo>
                        <a:pt x="64" y="303"/>
                      </a:lnTo>
                      <a:lnTo>
                        <a:pt x="91" y="312"/>
                      </a:lnTo>
                      <a:lnTo>
                        <a:pt x="119" y="314"/>
                      </a:lnTo>
                      <a:lnTo>
                        <a:pt x="146" y="312"/>
                      </a:lnTo>
                      <a:lnTo>
                        <a:pt x="162" y="308"/>
                      </a:lnTo>
                      <a:lnTo>
                        <a:pt x="175" y="299"/>
                      </a:lnTo>
                      <a:lnTo>
                        <a:pt x="189" y="279"/>
                      </a:lnTo>
                      <a:lnTo>
                        <a:pt x="196" y="262"/>
                      </a:lnTo>
                      <a:lnTo>
                        <a:pt x="202" y="240"/>
                      </a:lnTo>
                      <a:lnTo>
                        <a:pt x="204" y="226"/>
                      </a:lnTo>
                      <a:lnTo>
                        <a:pt x="202" y="209"/>
                      </a:lnTo>
                      <a:lnTo>
                        <a:pt x="210" y="191"/>
                      </a:lnTo>
                      <a:lnTo>
                        <a:pt x="213" y="173"/>
                      </a:lnTo>
                      <a:lnTo>
                        <a:pt x="237" y="162"/>
                      </a:lnTo>
                      <a:lnTo>
                        <a:pt x="252" y="153"/>
                      </a:lnTo>
                      <a:lnTo>
                        <a:pt x="256" y="144"/>
                      </a:lnTo>
                      <a:lnTo>
                        <a:pt x="254" y="125"/>
                      </a:lnTo>
                      <a:lnTo>
                        <a:pt x="256" y="108"/>
                      </a:lnTo>
                      <a:lnTo>
                        <a:pt x="260" y="86"/>
                      </a:lnTo>
                      <a:lnTo>
                        <a:pt x="265" y="70"/>
                      </a:lnTo>
                      <a:lnTo>
                        <a:pt x="264" y="56"/>
                      </a:lnTo>
                      <a:lnTo>
                        <a:pt x="259" y="40"/>
                      </a:lnTo>
                      <a:lnTo>
                        <a:pt x="253" y="31"/>
                      </a:lnTo>
                      <a:lnTo>
                        <a:pt x="250" y="22"/>
                      </a:lnTo>
                      <a:lnTo>
                        <a:pt x="230" y="29"/>
                      </a:lnTo>
                      <a:lnTo>
                        <a:pt x="206" y="37"/>
                      </a:lnTo>
                      <a:lnTo>
                        <a:pt x="190" y="41"/>
                      </a:lnTo>
                      <a:lnTo>
                        <a:pt x="171" y="45"/>
                      </a:lnTo>
                      <a:lnTo>
                        <a:pt x="146" y="47"/>
                      </a:lnTo>
                      <a:lnTo>
                        <a:pt x="122" y="43"/>
                      </a:lnTo>
                      <a:lnTo>
                        <a:pt x="100" y="37"/>
                      </a:lnTo>
                      <a:lnTo>
                        <a:pt x="78" y="31"/>
                      </a:lnTo>
                      <a:lnTo>
                        <a:pt x="57" y="19"/>
                      </a:lnTo>
                      <a:lnTo>
                        <a:pt x="35" y="8"/>
                      </a:lnTo>
                      <a:lnTo>
                        <a:pt x="1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2" name="Freeform 344"/>
                <p:cNvSpPr/>
                <p:nvPr/>
              </p:nvSpPr>
              <p:spPr bwMode="auto">
                <a:xfrm>
                  <a:off x="2738" y="3120"/>
                  <a:ext cx="21" cy="10"/>
                </a:xfrm>
                <a:custGeom>
                  <a:avLst/>
                  <a:gdLst>
                    <a:gd name="T0" fmla="*/ 5 w 151"/>
                    <a:gd name="T1" fmla="*/ 2 h 81"/>
                    <a:gd name="T2" fmla="*/ 22 w 151"/>
                    <a:gd name="T3" fmla="*/ 0 h 81"/>
                    <a:gd name="T4" fmla="*/ 37 w 151"/>
                    <a:gd name="T5" fmla="*/ 5 h 81"/>
                    <a:gd name="T6" fmla="*/ 52 w 151"/>
                    <a:gd name="T7" fmla="*/ 10 h 81"/>
                    <a:gd name="T8" fmla="*/ 69 w 151"/>
                    <a:gd name="T9" fmla="*/ 17 h 81"/>
                    <a:gd name="T10" fmla="*/ 80 w 151"/>
                    <a:gd name="T11" fmla="*/ 20 h 81"/>
                    <a:gd name="T12" fmla="*/ 93 w 151"/>
                    <a:gd name="T13" fmla="*/ 17 h 81"/>
                    <a:gd name="T14" fmla="*/ 106 w 151"/>
                    <a:gd name="T15" fmla="*/ 10 h 81"/>
                    <a:gd name="T16" fmla="*/ 117 w 151"/>
                    <a:gd name="T17" fmla="*/ 8 h 81"/>
                    <a:gd name="T18" fmla="*/ 130 w 151"/>
                    <a:gd name="T19" fmla="*/ 10 h 81"/>
                    <a:gd name="T20" fmla="*/ 140 w 151"/>
                    <a:gd name="T21" fmla="*/ 12 h 81"/>
                    <a:gd name="T22" fmla="*/ 148 w 151"/>
                    <a:gd name="T23" fmla="*/ 19 h 81"/>
                    <a:gd name="T24" fmla="*/ 151 w 151"/>
                    <a:gd name="T25" fmla="*/ 30 h 81"/>
                    <a:gd name="T26" fmla="*/ 135 w 151"/>
                    <a:gd name="T27" fmla="*/ 37 h 81"/>
                    <a:gd name="T28" fmla="*/ 125 w 151"/>
                    <a:gd name="T29" fmla="*/ 41 h 81"/>
                    <a:gd name="T30" fmla="*/ 114 w 151"/>
                    <a:gd name="T31" fmla="*/ 49 h 81"/>
                    <a:gd name="T32" fmla="*/ 104 w 151"/>
                    <a:gd name="T33" fmla="*/ 52 h 81"/>
                    <a:gd name="T34" fmla="*/ 89 w 151"/>
                    <a:gd name="T35" fmla="*/ 53 h 81"/>
                    <a:gd name="T36" fmla="*/ 75 w 151"/>
                    <a:gd name="T37" fmla="*/ 59 h 81"/>
                    <a:gd name="T38" fmla="*/ 68 w 151"/>
                    <a:gd name="T39" fmla="*/ 68 h 81"/>
                    <a:gd name="T40" fmla="*/ 63 w 151"/>
                    <a:gd name="T41" fmla="*/ 81 h 81"/>
                    <a:gd name="T42" fmla="*/ 52 w 151"/>
                    <a:gd name="T43" fmla="*/ 67 h 81"/>
                    <a:gd name="T44" fmla="*/ 36 w 151"/>
                    <a:gd name="T45" fmla="*/ 54 h 81"/>
                    <a:gd name="T46" fmla="*/ 21 w 151"/>
                    <a:gd name="T47" fmla="*/ 44 h 81"/>
                    <a:gd name="T48" fmla="*/ 10 w 151"/>
                    <a:gd name="T49" fmla="*/ 37 h 81"/>
                    <a:gd name="T50" fmla="*/ 3 w 151"/>
                    <a:gd name="T51" fmla="*/ 28 h 81"/>
                    <a:gd name="T52" fmla="*/ 0 w 151"/>
                    <a:gd name="T53" fmla="*/ 19 h 81"/>
                    <a:gd name="T54" fmla="*/ 1 w 151"/>
                    <a:gd name="T55" fmla="*/ 10 h 81"/>
                    <a:gd name="T56" fmla="*/ 5 w 151"/>
                    <a:gd name="T57" fmla="*/ 2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1" h="81">
                      <a:moveTo>
                        <a:pt x="5" y="2"/>
                      </a:moveTo>
                      <a:lnTo>
                        <a:pt x="22" y="0"/>
                      </a:lnTo>
                      <a:lnTo>
                        <a:pt x="37" y="5"/>
                      </a:lnTo>
                      <a:lnTo>
                        <a:pt x="52" y="10"/>
                      </a:lnTo>
                      <a:lnTo>
                        <a:pt x="69" y="17"/>
                      </a:lnTo>
                      <a:lnTo>
                        <a:pt x="80" y="20"/>
                      </a:lnTo>
                      <a:lnTo>
                        <a:pt x="93" y="17"/>
                      </a:lnTo>
                      <a:lnTo>
                        <a:pt x="106" y="10"/>
                      </a:lnTo>
                      <a:lnTo>
                        <a:pt x="117" y="8"/>
                      </a:lnTo>
                      <a:lnTo>
                        <a:pt x="130" y="10"/>
                      </a:lnTo>
                      <a:lnTo>
                        <a:pt x="140" y="12"/>
                      </a:lnTo>
                      <a:lnTo>
                        <a:pt x="148" y="19"/>
                      </a:lnTo>
                      <a:lnTo>
                        <a:pt x="151" y="30"/>
                      </a:lnTo>
                      <a:lnTo>
                        <a:pt x="135" y="37"/>
                      </a:lnTo>
                      <a:lnTo>
                        <a:pt x="125" y="41"/>
                      </a:lnTo>
                      <a:lnTo>
                        <a:pt x="114" y="49"/>
                      </a:lnTo>
                      <a:lnTo>
                        <a:pt x="104" y="52"/>
                      </a:lnTo>
                      <a:lnTo>
                        <a:pt x="89" y="53"/>
                      </a:lnTo>
                      <a:lnTo>
                        <a:pt x="75" y="59"/>
                      </a:lnTo>
                      <a:lnTo>
                        <a:pt x="68" y="68"/>
                      </a:lnTo>
                      <a:lnTo>
                        <a:pt x="63" y="81"/>
                      </a:lnTo>
                      <a:lnTo>
                        <a:pt x="52" y="67"/>
                      </a:lnTo>
                      <a:lnTo>
                        <a:pt x="36" y="54"/>
                      </a:lnTo>
                      <a:lnTo>
                        <a:pt x="21" y="44"/>
                      </a:lnTo>
                      <a:lnTo>
                        <a:pt x="10" y="37"/>
                      </a:lnTo>
                      <a:lnTo>
                        <a:pt x="3" y="28"/>
                      </a:lnTo>
                      <a:lnTo>
                        <a:pt x="0" y="19"/>
                      </a:lnTo>
                      <a:lnTo>
                        <a:pt x="1" y="10"/>
                      </a:lnTo>
                      <a:lnTo>
                        <a:pt x="5" y="2"/>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3" name="Freeform 345"/>
                <p:cNvSpPr/>
                <p:nvPr/>
              </p:nvSpPr>
              <p:spPr bwMode="auto">
                <a:xfrm>
                  <a:off x="2735" y="3108"/>
                  <a:ext cx="8" cy="12"/>
                </a:xfrm>
                <a:custGeom>
                  <a:avLst/>
                  <a:gdLst>
                    <a:gd name="T0" fmla="*/ 4 w 54"/>
                    <a:gd name="T1" fmla="*/ 0 h 91"/>
                    <a:gd name="T2" fmla="*/ 0 w 54"/>
                    <a:gd name="T3" fmla="*/ 25 h 91"/>
                    <a:gd name="T4" fmla="*/ 2 w 54"/>
                    <a:gd name="T5" fmla="*/ 46 h 91"/>
                    <a:gd name="T6" fmla="*/ 9 w 54"/>
                    <a:gd name="T7" fmla="*/ 67 h 91"/>
                    <a:gd name="T8" fmla="*/ 20 w 54"/>
                    <a:gd name="T9" fmla="*/ 82 h 91"/>
                    <a:gd name="T10" fmla="*/ 34 w 54"/>
                    <a:gd name="T11" fmla="*/ 91 h 91"/>
                    <a:gd name="T12" fmla="*/ 38 w 54"/>
                    <a:gd name="T13" fmla="*/ 76 h 91"/>
                    <a:gd name="T14" fmla="*/ 45 w 54"/>
                    <a:gd name="T15" fmla="*/ 63 h 91"/>
                    <a:gd name="T16" fmla="*/ 54 w 54"/>
                    <a:gd name="T17" fmla="*/ 52 h 91"/>
                    <a:gd name="T18" fmla="*/ 41 w 54"/>
                    <a:gd name="T19" fmla="*/ 49 h 91"/>
                    <a:gd name="T20" fmla="*/ 33 w 54"/>
                    <a:gd name="T21" fmla="*/ 45 h 91"/>
                    <a:gd name="T22" fmla="*/ 28 w 54"/>
                    <a:gd name="T23" fmla="*/ 26 h 91"/>
                    <a:gd name="T24" fmla="*/ 22 w 54"/>
                    <a:gd name="T25" fmla="*/ 13 h 91"/>
                    <a:gd name="T26" fmla="*/ 14 w 54"/>
                    <a:gd name="T27" fmla="*/ 2 h 91"/>
                    <a:gd name="T28" fmla="*/ 4 w 54"/>
                    <a:gd name="T2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4" h="91">
                      <a:moveTo>
                        <a:pt x="4" y="0"/>
                      </a:moveTo>
                      <a:lnTo>
                        <a:pt x="0" y="25"/>
                      </a:lnTo>
                      <a:lnTo>
                        <a:pt x="2" y="46"/>
                      </a:lnTo>
                      <a:lnTo>
                        <a:pt x="9" y="67"/>
                      </a:lnTo>
                      <a:lnTo>
                        <a:pt x="20" y="82"/>
                      </a:lnTo>
                      <a:lnTo>
                        <a:pt x="34" y="91"/>
                      </a:lnTo>
                      <a:lnTo>
                        <a:pt x="38" y="76"/>
                      </a:lnTo>
                      <a:lnTo>
                        <a:pt x="45" y="63"/>
                      </a:lnTo>
                      <a:lnTo>
                        <a:pt x="54" y="52"/>
                      </a:lnTo>
                      <a:lnTo>
                        <a:pt x="41" y="49"/>
                      </a:lnTo>
                      <a:lnTo>
                        <a:pt x="33" y="45"/>
                      </a:lnTo>
                      <a:lnTo>
                        <a:pt x="28" y="26"/>
                      </a:lnTo>
                      <a:lnTo>
                        <a:pt x="22" y="13"/>
                      </a:lnTo>
                      <a:lnTo>
                        <a:pt x="14" y="2"/>
                      </a:lnTo>
                      <a:lnTo>
                        <a:pt x="4"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4" name="Freeform 346"/>
                <p:cNvSpPr/>
                <p:nvPr/>
              </p:nvSpPr>
              <p:spPr bwMode="auto">
                <a:xfrm>
                  <a:off x="2727" y="3105"/>
                  <a:ext cx="5" cy="12"/>
                </a:xfrm>
                <a:custGeom>
                  <a:avLst/>
                  <a:gdLst>
                    <a:gd name="T0" fmla="*/ 13 w 34"/>
                    <a:gd name="T1" fmla="*/ 0 h 95"/>
                    <a:gd name="T2" fmla="*/ 21 w 34"/>
                    <a:gd name="T3" fmla="*/ 13 h 95"/>
                    <a:gd name="T4" fmla="*/ 30 w 34"/>
                    <a:gd name="T5" fmla="*/ 30 h 95"/>
                    <a:gd name="T6" fmla="*/ 34 w 34"/>
                    <a:gd name="T7" fmla="*/ 45 h 95"/>
                    <a:gd name="T8" fmla="*/ 30 w 34"/>
                    <a:gd name="T9" fmla="*/ 57 h 95"/>
                    <a:gd name="T10" fmla="*/ 17 w 34"/>
                    <a:gd name="T11" fmla="*/ 76 h 95"/>
                    <a:gd name="T12" fmla="*/ 0 w 34"/>
                    <a:gd name="T13" fmla="*/ 95 h 95"/>
                    <a:gd name="T14" fmla="*/ 10 w 34"/>
                    <a:gd name="T15" fmla="*/ 73 h 95"/>
                    <a:gd name="T16" fmla="*/ 16 w 34"/>
                    <a:gd name="T17" fmla="*/ 56 h 95"/>
                    <a:gd name="T18" fmla="*/ 18 w 34"/>
                    <a:gd name="T19" fmla="*/ 38 h 95"/>
                    <a:gd name="T20" fmla="*/ 16 w 34"/>
                    <a:gd name="T21" fmla="*/ 21 h 95"/>
                    <a:gd name="T22" fmla="*/ 13 w 34"/>
                    <a:gd name="T23" fmla="*/ 0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 h="95">
                      <a:moveTo>
                        <a:pt x="13" y="0"/>
                      </a:moveTo>
                      <a:lnTo>
                        <a:pt x="21" y="13"/>
                      </a:lnTo>
                      <a:lnTo>
                        <a:pt x="30" y="30"/>
                      </a:lnTo>
                      <a:lnTo>
                        <a:pt x="34" y="45"/>
                      </a:lnTo>
                      <a:lnTo>
                        <a:pt x="30" y="57"/>
                      </a:lnTo>
                      <a:lnTo>
                        <a:pt x="17" y="76"/>
                      </a:lnTo>
                      <a:lnTo>
                        <a:pt x="0" y="95"/>
                      </a:lnTo>
                      <a:lnTo>
                        <a:pt x="10" y="73"/>
                      </a:lnTo>
                      <a:lnTo>
                        <a:pt x="16" y="56"/>
                      </a:lnTo>
                      <a:lnTo>
                        <a:pt x="18" y="38"/>
                      </a:lnTo>
                      <a:lnTo>
                        <a:pt x="16" y="21"/>
                      </a:lnTo>
                      <a:lnTo>
                        <a:pt x="13" y="0"/>
                      </a:lnTo>
                      <a:close/>
                    </a:path>
                  </a:pathLst>
                </a:custGeom>
                <a:solidFill>
                  <a:srgbClr val="D0D0D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5" name="Freeform 347"/>
                <p:cNvSpPr/>
                <p:nvPr/>
              </p:nvSpPr>
              <p:spPr bwMode="auto">
                <a:xfrm>
                  <a:off x="2729" y="3120"/>
                  <a:ext cx="16" cy="23"/>
                </a:xfrm>
                <a:custGeom>
                  <a:avLst/>
                  <a:gdLst>
                    <a:gd name="T0" fmla="*/ 14 w 108"/>
                    <a:gd name="T1" fmla="*/ 0 h 182"/>
                    <a:gd name="T2" fmla="*/ 32 w 108"/>
                    <a:gd name="T3" fmla="*/ 7 h 182"/>
                    <a:gd name="T4" fmla="*/ 53 w 108"/>
                    <a:gd name="T5" fmla="*/ 20 h 182"/>
                    <a:gd name="T6" fmla="*/ 73 w 108"/>
                    <a:gd name="T7" fmla="*/ 37 h 182"/>
                    <a:gd name="T8" fmla="*/ 87 w 108"/>
                    <a:gd name="T9" fmla="*/ 52 h 182"/>
                    <a:gd name="T10" fmla="*/ 95 w 108"/>
                    <a:gd name="T11" fmla="*/ 74 h 182"/>
                    <a:gd name="T12" fmla="*/ 98 w 108"/>
                    <a:gd name="T13" fmla="*/ 93 h 182"/>
                    <a:gd name="T14" fmla="*/ 95 w 108"/>
                    <a:gd name="T15" fmla="*/ 112 h 182"/>
                    <a:gd name="T16" fmla="*/ 94 w 108"/>
                    <a:gd name="T17" fmla="*/ 127 h 182"/>
                    <a:gd name="T18" fmla="*/ 96 w 108"/>
                    <a:gd name="T19" fmla="*/ 141 h 182"/>
                    <a:gd name="T20" fmla="*/ 102 w 108"/>
                    <a:gd name="T21" fmla="*/ 162 h 182"/>
                    <a:gd name="T22" fmla="*/ 108 w 108"/>
                    <a:gd name="T23" fmla="*/ 179 h 182"/>
                    <a:gd name="T24" fmla="*/ 97 w 108"/>
                    <a:gd name="T25" fmla="*/ 182 h 182"/>
                    <a:gd name="T26" fmla="*/ 81 w 108"/>
                    <a:gd name="T27" fmla="*/ 182 h 182"/>
                    <a:gd name="T28" fmla="*/ 64 w 108"/>
                    <a:gd name="T29" fmla="*/ 181 h 182"/>
                    <a:gd name="T30" fmla="*/ 50 w 108"/>
                    <a:gd name="T31" fmla="*/ 177 h 182"/>
                    <a:gd name="T32" fmla="*/ 38 w 108"/>
                    <a:gd name="T33" fmla="*/ 173 h 182"/>
                    <a:gd name="T34" fmla="*/ 25 w 108"/>
                    <a:gd name="T35" fmla="*/ 165 h 182"/>
                    <a:gd name="T36" fmla="*/ 13 w 108"/>
                    <a:gd name="T37" fmla="*/ 157 h 182"/>
                    <a:gd name="T38" fmla="*/ 6 w 108"/>
                    <a:gd name="T39" fmla="*/ 141 h 182"/>
                    <a:gd name="T40" fmla="*/ 2 w 108"/>
                    <a:gd name="T41" fmla="*/ 110 h 182"/>
                    <a:gd name="T42" fmla="*/ 0 w 108"/>
                    <a:gd name="T43" fmla="*/ 88 h 182"/>
                    <a:gd name="T44" fmla="*/ 2 w 108"/>
                    <a:gd name="T45" fmla="*/ 66 h 182"/>
                    <a:gd name="T46" fmla="*/ 4 w 108"/>
                    <a:gd name="T47" fmla="*/ 38 h 182"/>
                    <a:gd name="T48" fmla="*/ 9 w 108"/>
                    <a:gd name="T49" fmla="*/ 16 h 182"/>
                    <a:gd name="T50" fmla="*/ 14 w 108"/>
                    <a:gd name="T51" fmla="*/ 0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8" h="182">
                      <a:moveTo>
                        <a:pt x="14" y="0"/>
                      </a:moveTo>
                      <a:lnTo>
                        <a:pt x="32" y="7"/>
                      </a:lnTo>
                      <a:lnTo>
                        <a:pt x="53" y="20"/>
                      </a:lnTo>
                      <a:lnTo>
                        <a:pt x="73" y="37"/>
                      </a:lnTo>
                      <a:lnTo>
                        <a:pt x="87" y="52"/>
                      </a:lnTo>
                      <a:lnTo>
                        <a:pt x="95" y="74"/>
                      </a:lnTo>
                      <a:lnTo>
                        <a:pt x="98" y="93"/>
                      </a:lnTo>
                      <a:lnTo>
                        <a:pt x="95" y="112"/>
                      </a:lnTo>
                      <a:lnTo>
                        <a:pt x="94" y="127"/>
                      </a:lnTo>
                      <a:lnTo>
                        <a:pt x="96" y="141"/>
                      </a:lnTo>
                      <a:lnTo>
                        <a:pt x="102" y="162"/>
                      </a:lnTo>
                      <a:lnTo>
                        <a:pt x="108" y="179"/>
                      </a:lnTo>
                      <a:lnTo>
                        <a:pt x="97" y="182"/>
                      </a:lnTo>
                      <a:lnTo>
                        <a:pt x="81" y="182"/>
                      </a:lnTo>
                      <a:lnTo>
                        <a:pt x="64" y="181"/>
                      </a:lnTo>
                      <a:lnTo>
                        <a:pt x="50" y="177"/>
                      </a:lnTo>
                      <a:lnTo>
                        <a:pt x="38" y="173"/>
                      </a:lnTo>
                      <a:lnTo>
                        <a:pt x="25" y="165"/>
                      </a:lnTo>
                      <a:lnTo>
                        <a:pt x="13" y="157"/>
                      </a:lnTo>
                      <a:lnTo>
                        <a:pt x="6" y="141"/>
                      </a:lnTo>
                      <a:lnTo>
                        <a:pt x="2" y="110"/>
                      </a:lnTo>
                      <a:lnTo>
                        <a:pt x="0" y="88"/>
                      </a:lnTo>
                      <a:lnTo>
                        <a:pt x="2" y="66"/>
                      </a:lnTo>
                      <a:lnTo>
                        <a:pt x="4" y="38"/>
                      </a:lnTo>
                      <a:lnTo>
                        <a:pt x="9" y="16"/>
                      </a:lnTo>
                      <a:lnTo>
                        <a:pt x="14" y="0"/>
                      </a:lnTo>
                      <a:close/>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396" name="Freeform 348"/>
                <p:cNvSpPr/>
                <p:nvPr/>
              </p:nvSpPr>
              <p:spPr bwMode="auto">
                <a:xfrm>
                  <a:off x="2727" y="3103"/>
                  <a:ext cx="34" cy="8"/>
                </a:xfrm>
                <a:custGeom>
                  <a:avLst/>
                  <a:gdLst>
                    <a:gd name="T0" fmla="*/ 2 w 239"/>
                    <a:gd name="T1" fmla="*/ 0 h 62"/>
                    <a:gd name="T2" fmla="*/ 0 w 239"/>
                    <a:gd name="T3" fmla="*/ 5 h 62"/>
                    <a:gd name="T4" fmla="*/ 12 w 239"/>
                    <a:gd name="T5" fmla="*/ 15 h 62"/>
                    <a:gd name="T6" fmla="*/ 25 w 239"/>
                    <a:gd name="T7" fmla="*/ 23 h 62"/>
                    <a:gd name="T8" fmla="*/ 37 w 239"/>
                    <a:gd name="T9" fmla="*/ 30 h 62"/>
                    <a:gd name="T10" fmla="*/ 56 w 239"/>
                    <a:gd name="T11" fmla="*/ 39 h 62"/>
                    <a:gd name="T12" fmla="*/ 72 w 239"/>
                    <a:gd name="T13" fmla="*/ 48 h 62"/>
                    <a:gd name="T14" fmla="*/ 93 w 239"/>
                    <a:gd name="T15" fmla="*/ 55 h 62"/>
                    <a:gd name="T16" fmla="*/ 113 w 239"/>
                    <a:gd name="T17" fmla="*/ 60 h 62"/>
                    <a:gd name="T18" fmla="*/ 128 w 239"/>
                    <a:gd name="T19" fmla="*/ 61 h 62"/>
                    <a:gd name="T20" fmla="*/ 145 w 239"/>
                    <a:gd name="T21" fmla="*/ 62 h 62"/>
                    <a:gd name="T22" fmla="*/ 162 w 239"/>
                    <a:gd name="T23" fmla="*/ 60 h 62"/>
                    <a:gd name="T24" fmla="*/ 179 w 239"/>
                    <a:gd name="T25" fmla="*/ 56 h 62"/>
                    <a:gd name="T26" fmla="*/ 196 w 239"/>
                    <a:gd name="T27" fmla="*/ 53 h 62"/>
                    <a:gd name="T28" fmla="*/ 214 w 239"/>
                    <a:gd name="T29" fmla="*/ 48 h 62"/>
                    <a:gd name="T30" fmla="*/ 229 w 239"/>
                    <a:gd name="T31" fmla="*/ 41 h 62"/>
                    <a:gd name="T32" fmla="*/ 239 w 239"/>
                    <a:gd name="T33" fmla="*/ 36 h 62"/>
                    <a:gd name="T34" fmla="*/ 236 w 239"/>
                    <a:gd name="T35" fmla="*/ 24 h 62"/>
                    <a:gd name="T36" fmla="*/ 216 w 239"/>
                    <a:gd name="T37" fmla="*/ 32 h 62"/>
                    <a:gd name="T38" fmla="*/ 192 w 239"/>
                    <a:gd name="T39" fmla="*/ 41 h 62"/>
                    <a:gd name="T40" fmla="*/ 176 w 239"/>
                    <a:gd name="T41" fmla="*/ 47 h 62"/>
                    <a:gd name="T42" fmla="*/ 157 w 239"/>
                    <a:gd name="T43" fmla="*/ 50 h 62"/>
                    <a:gd name="T44" fmla="*/ 132 w 239"/>
                    <a:gd name="T45" fmla="*/ 53 h 62"/>
                    <a:gd name="T46" fmla="*/ 108 w 239"/>
                    <a:gd name="T47" fmla="*/ 49 h 62"/>
                    <a:gd name="T48" fmla="*/ 86 w 239"/>
                    <a:gd name="T49" fmla="*/ 41 h 62"/>
                    <a:gd name="T50" fmla="*/ 64 w 239"/>
                    <a:gd name="T51" fmla="*/ 34 h 62"/>
                    <a:gd name="T52" fmla="*/ 41 w 239"/>
                    <a:gd name="T53" fmla="*/ 22 h 62"/>
                    <a:gd name="T54" fmla="*/ 21 w 239"/>
                    <a:gd name="T55" fmla="*/ 9 h 62"/>
                    <a:gd name="T56" fmla="*/ 2 w 239"/>
                    <a:gd name="T57"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9" h="62">
                      <a:moveTo>
                        <a:pt x="2" y="0"/>
                      </a:moveTo>
                      <a:lnTo>
                        <a:pt x="0" y="5"/>
                      </a:lnTo>
                      <a:lnTo>
                        <a:pt x="12" y="15"/>
                      </a:lnTo>
                      <a:lnTo>
                        <a:pt x="25" y="23"/>
                      </a:lnTo>
                      <a:lnTo>
                        <a:pt x="37" y="30"/>
                      </a:lnTo>
                      <a:lnTo>
                        <a:pt x="56" y="39"/>
                      </a:lnTo>
                      <a:lnTo>
                        <a:pt x="72" y="48"/>
                      </a:lnTo>
                      <a:lnTo>
                        <a:pt x="93" y="55"/>
                      </a:lnTo>
                      <a:lnTo>
                        <a:pt x="113" y="60"/>
                      </a:lnTo>
                      <a:lnTo>
                        <a:pt x="128" y="61"/>
                      </a:lnTo>
                      <a:lnTo>
                        <a:pt x="145" y="62"/>
                      </a:lnTo>
                      <a:lnTo>
                        <a:pt x="162" y="60"/>
                      </a:lnTo>
                      <a:lnTo>
                        <a:pt x="179" y="56"/>
                      </a:lnTo>
                      <a:lnTo>
                        <a:pt x="196" y="53"/>
                      </a:lnTo>
                      <a:lnTo>
                        <a:pt x="214" y="48"/>
                      </a:lnTo>
                      <a:lnTo>
                        <a:pt x="229" y="41"/>
                      </a:lnTo>
                      <a:lnTo>
                        <a:pt x="239" y="36"/>
                      </a:lnTo>
                      <a:lnTo>
                        <a:pt x="236" y="24"/>
                      </a:lnTo>
                      <a:lnTo>
                        <a:pt x="216" y="32"/>
                      </a:lnTo>
                      <a:lnTo>
                        <a:pt x="192" y="41"/>
                      </a:lnTo>
                      <a:lnTo>
                        <a:pt x="176" y="47"/>
                      </a:lnTo>
                      <a:lnTo>
                        <a:pt x="157" y="50"/>
                      </a:lnTo>
                      <a:lnTo>
                        <a:pt x="132" y="53"/>
                      </a:lnTo>
                      <a:lnTo>
                        <a:pt x="108" y="49"/>
                      </a:lnTo>
                      <a:lnTo>
                        <a:pt x="86" y="41"/>
                      </a:lnTo>
                      <a:lnTo>
                        <a:pt x="64" y="34"/>
                      </a:lnTo>
                      <a:lnTo>
                        <a:pt x="41" y="22"/>
                      </a:lnTo>
                      <a:lnTo>
                        <a:pt x="21" y="9"/>
                      </a:lnTo>
                      <a:lnTo>
                        <a:pt x="2" y="0"/>
                      </a:lnTo>
                      <a:close/>
                    </a:path>
                  </a:pathLst>
                </a:custGeom>
                <a:solidFill>
                  <a:srgbClr val="606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397" name="Group 349"/>
              <p:cNvGrpSpPr/>
              <p:nvPr/>
            </p:nvGrpSpPr>
            <p:grpSpPr bwMode="auto">
              <a:xfrm>
                <a:off x="2624" y="2934"/>
                <a:ext cx="106" cy="87"/>
                <a:chOff x="2624" y="2934"/>
                <a:chExt cx="106" cy="87"/>
              </a:xfrm>
            </p:grpSpPr>
            <p:grpSp>
              <p:nvGrpSpPr>
                <p:cNvPr id="642398" name="Group 350"/>
                <p:cNvGrpSpPr/>
                <p:nvPr/>
              </p:nvGrpSpPr>
              <p:grpSpPr bwMode="auto">
                <a:xfrm>
                  <a:off x="2636" y="2956"/>
                  <a:ext cx="75" cy="65"/>
                  <a:chOff x="2636" y="2956"/>
                  <a:chExt cx="75" cy="65"/>
                </a:xfrm>
              </p:grpSpPr>
              <p:grpSp>
                <p:nvGrpSpPr>
                  <p:cNvPr id="642399" name="Group 351"/>
                  <p:cNvGrpSpPr/>
                  <p:nvPr/>
                </p:nvGrpSpPr>
                <p:grpSpPr bwMode="auto">
                  <a:xfrm>
                    <a:off x="2636" y="2956"/>
                    <a:ext cx="75" cy="65"/>
                    <a:chOff x="2636" y="2956"/>
                    <a:chExt cx="75" cy="65"/>
                  </a:xfrm>
                </p:grpSpPr>
                <p:grpSp>
                  <p:nvGrpSpPr>
                    <p:cNvPr id="642400" name="Group 352"/>
                    <p:cNvGrpSpPr/>
                    <p:nvPr/>
                  </p:nvGrpSpPr>
                  <p:grpSpPr bwMode="auto">
                    <a:xfrm>
                      <a:off x="2645" y="2983"/>
                      <a:ext cx="13" cy="10"/>
                      <a:chOff x="2645" y="2983"/>
                      <a:chExt cx="13" cy="10"/>
                    </a:xfrm>
                  </p:grpSpPr>
                  <p:sp>
                    <p:nvSpPr>
                      <p:cNvPr id="642401" name="Freeform 353"/>
                      <p:cNvSpPr/>
                      <p:nvPr/>
                    </p:nvSpPr>
                    <p:spPr bwMode="auto">
                      <a:xfrm>
                        <a:off x="2645" y="2983"/>
                        <a:ext cx="10" cy="8"/>
                      </a:xfrm>
                      <a:custGeom>
                        <a:avLst/>
                        <a:gdLst>
                          <a:gd name="T0" fmla="*/ 3 w 70"/>
                          <a:gd name="T1" fmla="*/ 0 h 62"/>
                          <a:gd name="T2" fmla="*/ 2 w 70"/>
                          <a:gd name="T3" fmla="*/ 31 h 62"/>
                          <a:gd name="T4" fmla="*/ 0 w 70"/>
                          <a:gd name="T5" fmla="*/ 44 h 62"/>
                          <a:gd name="T6" fmla="*/ 0 w 70"/>
                          <a:gd name="T7" fmla="*/ 50 h 62"/>
                          <a:gd name="T8" fmla="*/ 2 w 70"/>
                          <a:gd name="T9" fmla="*/ 56 h 62"/>
                          <a:gd name="T10" fmla="*/ 14 w 70"/>
                          <a:gd name="T11" fmla="*/ 57 h 62"/>
                          <a:gd name="T12" fmla="*/ 70 w 70"/>
                          <a:gd name="T13" fmla="*/ 62 h 62"/>
                          <a:gd name="T14" fmla="*/ 3 w 70"/>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62">
                            <a:moveTo>
                              <a:pt x="3" y="0"/>
                            </a:moveTo>
                            <a:lnTo>
                              <a:pt x="2" y="31"/>
                            </a:lnTo>
                            <a:lnTo>
                              <a:pt x="0" y="44"/>
                            </a:lnTo>
                            <a:lnTo>
                              <a:pt x="0" y="50"/>
                            </a:lnTo>
                            <a:lnTo>
                              <a:pt x="2" y="56"/>
                            </a:lnTo>
                            <a:lnTo>
                              <a:pt x="14" y="57"/>
                            </a:lnTo>
                            <a:lnTo>
                              <a:pt x="70" y="62"/>
                            </a:lnTo>
                            <a:lnTo>
                              <a:pt x="3" y="0"/>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2" name="Freeform 354"/>
                      <p:cNvSpPr/>
                      <p:nvPr/>
                    </p:nvSpPr>
                    <p:spPr bwMode="auto">
                      <a:xfrm>
                        <a:off x="2647" y="2987"/>
                        <a:ext cx="11" cy="6"/>
                      </a:xfrm>
                      <a:custGeom>
                        <a:avLst/>
                        <a:gdLst>
                          <a:gd name="T0" fmla="*/ 0 w 78"/>
                          <a:gd name="T1" fmla="*/ 0 h 52"/>
                          <a:gd name="T2" fmla="*/ 11 w 78"/>
                          <a:gd name="T3" fmla="*/ 30 h 52"/>
                          <a:gd name="T4" fmla="*/ 14 w 78"/>
                          <a:gd name="T5" fmla="*/ 41 h 52"/>
                          <a:gd name="T6" fmla="*/ 13 w 78"/>
                          <a:gd name="T7" fmla="*/ 52 h 52"/>
                          <a:gd name="T8" fmla="*/ 20 w 78"/>
                          <a:gd name="T9" fmla="*/ 40 h 52"/>
                          <a:gd name="T10" fmla="*/ 26 w 78"/>
                          <a:gd name="T11" fmla="*/ 38 h 52"/>
                          <a:gd name="T12" fmla="*/ 78 w 78"/>
                          <a:gd name="T13" fmla="*/ 28 h 52"/>
                          <a:gd name="T14" fmla="*/ 0 w 78"/>
                          <a:gd name="T15" fmla="*/ 0 h 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52">
                            <a:moveTo>
                              <a:pt x="0" y="0"/>
                            </a:moveTo>
                            <a:lnTo>
                              <a:pt x="11" y="30"/>
                            </a:lnTo>
                            <a:lnTo>
                              <a:pt x="14" y="41"/>
                            </a:lnTo>
                            <a:lnTo>
                              <a:pt x="13" y="52"/>
                            </a:lnTo>
                            <a:lnTo>
                              <a:pt x="20" y="40"/>
                            </a:lnTo>
                            <a:lnTo>
                              <a:pt x="26" y="38"/>
                            </a:lnTo>
                            <a:lnTo>
                              <a:pt x="78" y="28"/>
                            </a:lnTo>
                            <a:lnTo>
                              <a:pt x="0" y="0"/>
                            </a:lnTo>
                            <a:close/>
                          </a:path>
                        </a:pathLst>
                      </a:custGeom>
                      <a:solidFill>
                        <a:srgbClr val="6040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403" name="Group 355"/>
                    <p:cNvGrpSpPr/>
                    <p:nvPr/>
                  </p:nvGrpSpPr>
                  <p:grpSpPr bwMode="auto">
                    <a:xfrm>
                      <a:off x="2636" y="2956"/>
                      <a:ext cx="75" cy="65"/>
                      <a:chOff x="2636" y="2956"/>
                      <a:chExt cx="75" cy="65"/>
                    </a:xfrm>
                  </p:grpSpPr>
                  <p:sp>
                    <p:nvSpPr>
                      <p:cNvPr id="642404" name="Freeform 356"/>
                      <p:cNvSpPr/>
                      <p:nvPr/>
                    </p:nvSpPr>
                    <p:spPr bwMode="auto">
                      <a:xfrm>
                        <a:off x="2636" y="2956"/>
                        <a:ext cx="73" cy="65"/>
                      </a:xfrm>
                      <a:custGeom>
                        <a:avLst/>
                        <a:gdLst>
                          <a:gd name="T0" fmla="*/ 0 w 511"/>
                          <a:gd name="T1" fmla="*/ 133 h 521"/>
                          <a:gd name="T2" fmla="*/ 35 w 511"/>
                          <a:gd name="T3" fmla="*/ 211 h 521"/>
                          <a:gd name="T4" fmla="*/ 58 w 511"/>
                          <a:gd name="T5" fmla="*/ 249 h 521"/>
                          <a:gd name="T6" fmla="*/ 79 w 511"/>
                          <a:gd name="T7" fmla="*/ 273 h 521"/>
                          <a:gd name="T8" fmla="*/ 106 w 511"/>
                          <a:gd name="T9" fmla="*/ 296 h 521"/>
                          <a:gd name="T10" fmla="*/ 108 w 511"/>
                          <a:gd name="T11" fmla="*/ 312 h 521"/>
                          <a:gd name="T12" fmla="*/ 106 w 511"/>
                          <a:gd name="T13" fmla="*/ 332 h 521"/>
                          <a:gd name="T14" fmla="*/ 102 w 511"/>
                          <a:gd name="T15" fmla="*/ 359 h 521"/>
                          <a:gd name="T16" fmla="*/ 99 w 511"/>
                          <a:gd name="T17" fmla="*/ 379 h 521"/>
                          <a:gd name="T18" fmla="*/ 100 w 511"/>
                          <a:gd name="T19" fmla="*/ 392 h 521"/>
                          <a:gd name="T20" fmla="*/ 106 w 511"/>
                          <a:gd name="T21" fmla="*/ 405 h 521"/>
                          <a:gd name="T22" fmla="*/ 116 w 511"/>
                          <a:gd name="T23" fmla="*/ 413 h 521"/>
                          <a:gd name="T24" fmla="*/ 129 w 511"/>
                          <a:gd name="T25" fmla="*/ 417 h 521"/>
                          <a:gd name="T26" fmla="*/ 146 w 511"/>
                          <a:gd name="T27" fmla="*/ 415 h 521"/>
                          <a:gd name="T28" fmla="*/ 157 w 511"/>
                          <a:gd name="T29" fmla="*/ 417 h 521"/>
                          <a:gd name="T30" fmla="*/ 174 w 511"/>
                          <a:gd name="T31" fmla="*/ 439 h 521"/>
                          <a:gd name="T32" fmla="*/ 178 w 511"/>
                          <a:gd name="T33" fmla="*/ 452 h 521"/>
                          <a:gd name="T34" fmla="*/ 187 w 511"/>
                          <a:gd name="T35" fmla="*/ 456 h 521"/>
                          <a:gd name="T36" fmla="*/ 198 w 511"/>
                          <a:gd name="T37" fmla="*/ 454 h 521"/>
                          <a:gd name="T38" fmla="*/ 204 w 511"/>
                          <a:gd name="T39" fmla="*/ 453 h 521"/>
                          <a:gd name="T40" fmla="*/ 207 w 511"/>
                          <a:gd name="T41" fmla="*/ 462 h 521"/>
                          <a:gd name="T42" fmla="*/ 210 w 511"/>
                          <a:gd name="T43" fmla="*/ 473 h 521"/>
                          <a:gd name="T44" fmla="*/ 219 w 511"/>
                          <a:gd name="T45" fmla="*/ 479 h 521"/>
                          <a:gd name="T46" fmla="*/ 231 w 511"/>
                          <a:gd name="T47" fmla="*/ 483 h 521"/>
                          <a:gd name="T48" fmla="*/ 240 w 511"/>
                          <a:gd name="T49" fmla="*/ 482 h 521"/>
                          <a:gd name="T50" fmla="*/ 252 w 511"/>
                          <a:gd name="T51" fmla="*/ 491 h 521"/>
                          <a:gd name="T52" fmla="*/ 262 w 511"/>
                          <a:gd name="T53" fmla="*/ 499 h 521"/>
                          <a:gd name="T54" fmla="*/ 268 w 511"/>
                          <a:gd name="T55" fmla="*/ 510 h 521"/>
                          <a:gd name="T56" fmla="*/ 287 w 511"/>
                          <a:gd name="T57" fmla="*/ 519 h 521"/>
                          <a:gd name="T58" fmla="*/ 303 w 511"/>
                          <a:gd name="T59" fmla="*/ 521 h 521"/>
                          <a:gd name="T60" fmla="*/ 323 w 511"/>
                          <a:gd name="T61" fmla="*/ 514 h 521"/>
                          <a:gd name="T62" fmla="*/ 343 w 511"/>
                          <a:gd name="T63" fmla="*/ 500 h 521"/>
                          <a:gd name="T64" fmla="*/ 360 w 511"/>
                          <a:gd name="T65" fmla="*/ 484 h 521"/>
                          <a:gd name="T66" fmla="*/ 377 w 511"/>
                          <a:gd name="T67" fmla="*/ 460 h 521"/>
                          <a:gd name="T68" fmla="*/ 395 w 511"/>
                          <a:gd name="T69" fmla="*/ 455 h 521"/>
                          <a:gd name="T70" fmla="*/ 436 w 511"/>
                          <a:gd name="T71" fmla="*/ 412 h 521"/>
                          <a:gd name="T72" fmla="*/ 511 w 511"/>
                          <a:gd name="T73" fmla="*/ 319 h 521"/>
                          <a:gd name="T74" fmla="*/ 497 w 511"/>
                          <a:gd name="T75" fmla="*/ 283 h 521"/>
                          <a:gd name="T76" fmla="*/ 473 w 511"/>
                          <a:gd name="T77" fmla="*/ 157 h 521"/>
                          <a:gd name="T78" fmla="*/ 412 w 511"/>
                          <a:gd name="T79" fmla="*/ 72 h 521"/>
                          <a:gd name="T80" fmla="*/ 318 w 511"/>
                          <a:gd name="T81" fmla="*/ 17 h 521"/>
                          <a:gd name="T82" fmla="*/ 199 w 511"/>
                          <a:gd name="T83" fmla="*/ 0 h 521"/>
                          <a:gd name="T84" fmla="*/ 64 w 511"/>
                          <a:gd name="T85" fmla="*/ 24 h 521"/>
                          <a:gd name="T86" fmla="*/ 17 w 511"/>
                          <a:gd name="T87" fmla="*/ 61 h 521"/>
                          <a:gd name="T88" fmla="*/ 0 w 511"/>
                          <a:gd name="T89" fmla="*/ 133 h 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11" h="521">
                            <a:moveTo>
                              <a:pt x="0" y="133"/>
                            </a:moveTo>
                            <a:lnTo>
                              <a:pt x="35" y="211"/>
                            </a:lnTo>
                            <a:lnTo>
                              <a:pt x="58" y="249"/>
                            </a:lnTo>
                            <a:lnTo>
                              <a:pt x="79" y="273"/>
                            </a:lnTo>
                            <a:lnTo>
                              <a:pt x="106" y="296"/>
                            </a:lnTo>
                            <a:lnTo>
                              <a:pt x="108" y="312"/>
                            </a:lnTo>
                            <a:lnTo>
                              <a:pt x="106" y="332"/>
                            </a:lnTo>
                            <a:lnTo>
                              <a:pt x="102" y="359"/>
                            </a:lnTo>
                            <a:lnTo>
                              <a:pt x="99" y="379"/>
                            </a:lnTo>
                            <a:lnTo>
                              <a:pt x="100" y="392"/>
                            </a:lnTo>
                            <a:lnTo>
                              <a:pt x="106" y="405"/>
                            </a:lnTo>
                            <a:lnTo>
                              <a:pt x="116" y="413"/>
                            </a:lnTo>
                            <a:lnTo>
                              <a:pt x="129" y="417"/>
                            </a:lnTo>
                            <a:lnTo>
                              <a:pt x="146" y="415"/>
                            </a:lnTo>
                            <a:lnTo>
                              <a:pt x="157" y="417"/>
                            </a:lnTo>
                            <a:lnTo>
                              <a:pt x="174" y="439"/>
                            </a:lnTo>
                            <a:lnTo>
                              <a:pt x="178" y="452"/>
                            </a:lnTo>
                            <a:lnTo>
                              <a:pt x="187" y="456"/>
                            </a:lnTo>
                            <a:lnTo>
                              <a:pt x="198" y="454"/>
                            </a:lnTo>
                            <a:lnTo>
                              <a:pt x="204" y="453"/>
                            </a:lnTo>
                            <a:lnTo>
                              <a:pt x="207" y="462"/>
                            </a:lnTo>
                            <a:lnTo>
                              <a:pt x="210" y="473"/>
                            </a:lnTo>
                            <a:lnTo>
                              <a:pt x="219" y="479"/>
                            </a:lnTo>
                            <a:lnTo>
                              <a:pt x="231" y="483"/>
                            </a:lnTo>
                            <a:lnTo>
                              <a:pt x="240" y="482"/>
                            </a:lnTo>
                            <a:lnTo>
                              <a:pt x="252" y="491"/>
                            </a:lnTo>
                            <a:lnTo>
                              <a:pt x="262" y="499"/>
                            </a:lnTo>
                            <a:lnTo>
                              <a:pt x="268" y="510"/>
                            </a:lnTo>
                            <a:lnTo>
                              <a:pt x="287" y="519"/>
                            </a:lnTo>
                            <a:lnTo>
                              <a:pt x="303" y="521"/>
                            </a:lnTo>
                            <a:lnTo>
                              <a:pt x="323" y="514"/>
                            </a:lnTo>
                            <a:lnTo>
                              <a:pt x="343" y="500"/>
                            </a:lnTo>
                            <a:lnTo>
                              <a:pt x="360" y="484"/>
                            </a:lnTo>
                            <a:lnTo>
                              <a:pt x="377" y="460"/>
                            </a:lnTo>
                            <a:lnTo>
                              <a:pt x="395" y="455"/>
                            </a:lnTo>
                            <a:lnTo>
                              <a:pt x="436" y="412"/>
                            </a:lnTo>
                            <a:lnTo>
                              <a:pt x="511" y="319"/>
                            </a:lnTo>
                            <a:lnTo>
                              <a:pt x="497" y="283"/>
                            </a:lnTo>
                            <a:lnTo>
                              <a:pt x="473" y="157"/>
                            </a:lnTo>
                            <a:lnTo>
                              <a:pt x="412" y="72"/>
                            </a:lnTo>
                            <a:lnTo>
                              <a:pt x="318" y="17"/>
                            </a:lnTo>
                            <a:lnTo>
                              <a:pt x="199" y="0"/>
                            </a:lnTo>
                            <a:lnTo>
                              <a:pt x="64" y="24"/>
                            </a:lnTo>
                            <a:lnTo>
                              <a:pt x="17" y="61"/>
                            </a:lnTo>
                            <a:lnTo>
                              <a:pt x="0" y="133"/>
                            </a:lnTo>
                            <a:close/>
                          </a:path>
                        </a:pathLst>
                      </a:custGeom>
                      <a:solidFill>
                        <a:srgbClr val="FFA0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42405" name="Group 357"/>
                      <p:cNvGrpSpPr/>
                      <p:nvPr/>
                    </p:nvGrpSpPr>
                    <p:grpSpPr bwMode="auto">
                      <a:xfrm>
                        <a:off x="2653" y="2965"/>
                        <a:ext cx="58" cy="56"/>
                        <a:chOff x="2653" y="2965"/>
                        <a:chExt cx="58" cy="56"/>
                      </a:xfrm>
                    </p:grpSpPr>
                    <p:sp>
                      <p:nvSpPr>
                        <p:cNvPr id="642406" name="Freeform 358"/>
                        <p:cNvSpPr/>
                        <p:nvPr/>
                      </p:nvSpPr>
                      <p:spPr bwMode="auto">
                        <a:xfrm>
                          <a:off x="2669" y="3012"/>
                          <a:ext cx="7" cy="5"/>
                        </a:xfrm>
                        <a:custGeom>
                          <a:avLst/>
                          <a:gdLst>
                            <a:gd name="T0" fmla="*/ 0 w 45"/>
                            <a:gd name="T1" fmla="*/ 29 h 40"/>
                            <a:gd name="T2" fmla="*/ 22 w 45"/>
                            <a:gd name="T3" fmla="*/ 3 h 40"/>
                            <a:gd name="T4" fmla="*/ 33 w 45"/>
                            <a:gd name="T5" fmla="*/ 4 h 40"/>
                            <a:gd name="T6" fmla="*/ 45 w 45"/>
                            <a:gd name="T7" fmla="*/ 0 h 40"/>
                            <a:gd name="T8" fmla="*/ 29 w 45"/>
                            <a:gd name="T9" fmla="*/ 22 h 40"/>
                            <a:gd name="T10" fmla="*/ 18 w 45"/>
                            <a:gd name="T11" fmla="*/ 40 h 40"/>
                            <a:gd name="T12" fmla="*/ 10 w 45"/>
                            <a:gd name="T13" fmla="*/ 34 h 40"/>
                            <a:gd name="T14" fmla="*/ 0 w 45"/>
                            <a:gd name="T15" fmla="*/ 29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40">
                              <a:moveTo>
                                <a:pt x="0" y="29"/>
                              </a:moveTo>
                              <a:lnTo>
                                <a:pt x="22" y="3"/>
                              </a:lnTo>
                              <a:lnTo>
                                <a:pt x="33" y="4"/>
                              </a:lnTo>
                              <a:lnTo>
                                <a:pt x="45" y="0"/>
                              </a:lnTo>
                              <a:lnTo>
                                <a:pt x="29" y="22"/>
                              </a:lnTo>
                              <a:lnTo>
                                <a:pt x="18" y="40"/>
                              </a:lnTo>
                              <a:lnTo>
                                <a:pt x="10" y="34"/>
                              </a:lnTo>
                              <a:lnTo>
                                <a:pt x="0" y="29"/>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7" name="Freeform 359"/>
                        <p:cNvSpPr/>
                        <p:nvPr/>
                      </p:nvSpPr>
                      <p:spPr bwMode="auto">
                        <a:xfrm>
                          <a:off x="2655" y="2965"/>
                          <a:ext cx="56" cy="51"/>
                        </a:xfrm>
                        <a:custGeom>
                          <a:avLst/>
                          <a:gdLst>
                            <a:gd name="T0" fmla="*/ 0 w 389"/>
                            <a:gd name="T1" fmla="*/ 104 h 406"/>
                            <a:gd name="T2" fmla="*/ 52 w 389"/>
                            <a:gd name="T3" fmla="*/ 125 h 406"/>
                            <a:gd name="T4" fmla="*/ 79 w 389"/>
                            <a:gd name="T5" fmla="*/ 133 h 406"/>
                            <a:gd name="T6" fmla="*/ 111 w 389"/>
                            <a:gd name="T7" fmla="*/ 137 h 406"/>
                            <a:gd name="T8" fmla="*/ 142 w 389"/>
                            <a:gd name="T9" fmla="*/ 139 h 406"/>
                            <a:gd name="T10" fmla="*/ 135 w 389"/>
                            <a:gd name="T11" fmla="*/ 157 h 406"/>
                            <a:gd name="T12" fmla="*/ 129 w 389"/>
                            <a:gd name="T13" fmla="*/ 181 h 406"/>
                            <a:gd name="T14" fmla="*/ 125 w 389"/>
                            <a:gd name="T15" fmla="*/ 206 h 406"/>
                            <a:gd name="T16" fmla="*/ 116 w 389"/>
                            <a:gd name="T17" fmla="*/ 217 h 406"/>
                            <a:gd name="T18" fmla="*/ 100 w 389"/>
                            <a:gd name="T19" fmla="*/ 226 h 406"/>
                            <a:gd name="T20" fmla="*/ 77 w 389"/>
                            <a:gd name="T21" fmla="*/ 236 h 406"/>
                            <a:gd name="T22" fmla="*/ 67 w 389"/>
                            <a:gd name="T23" fmla="*/ 250 h 406"/>
                            <a:gd name="T24" fmla="*/ 64 w 389"/>
                            <a:gd name="T25" fmla="*/ 266 h 406"/>
                            <a:gd name="T26" fmla="*/ 67 w 389"/>
                            <a:gd name="T27" fmla="*/ 287 h 406"/>
                            <a:gd name="T28" fmla="*/ 76 w 389"/>
                            <a:gd name="T29" fmla="*/ 307 h 406"/>
                            <a:gd name="T30" fmla="*/ 85 w 389"/>
                            <a:gd name="T31" fmla="*/ 321 h 406"/>
                            <a:gd name="T32" fmla="*/ 100 w 389"/>
                            <a:gd name="T33" fmla="*/ 335 h 406"/>
                            <a:gd name="T34" fmla="*/ 108 w 389"/>
                            <a:gd name="T35" fmla="*/ 329 h 406"/>
                            <a:gd name="T36" fmla="*/ 120 w 389"/>
                            <a:gd name="T37" fmla="*/ 326 h 406"/>
                            <a:gd name="T38" fmla="*/ 131 w 389"/>
                            <a:gd name="T39" fmla="*/ 328 h 406"/>
                            <a:gd name="T40" fmla="*/ 125 w 389"/>
                            <a:gd name="T41" fmla="*/ 359 h 406"/>
                            <a:gd name="T42" fmla="*/ 138 w 389"/>
                            <a:gd name="T43" fmla="*/ 367 h 406"/>
                            <a:gd name="T44" fmla="*/ 150 w 389"/>
                            <a:gd name="T45" fmla="*/ 375 h 406"/>
                            <a:gd name="T46" fmla="*/ 159 w 389"/>
                            <a:gd name="T47" fmla="*/ 389 h 406"/>
                            <a:gd name="T48" fmla="*/ 164 w 389"/>
                            <a:gd name="T49" fmla="*/ 400 h 406"/>
                            <a:gd name="T50" fmla="*/ 175 w 389"/>
                            <a:gd name="T51" fmla="*/ 405 h 406"/>
                            <a:gd name="T52" fmla="*/ 187 w 389"/>
                            <a:gd name="T53" fmla="*/ 406 h 406"/>
                            <a:gd name="T54" fmla="*/ 205 w 389"/>
                            <a:gd name="T55" fmla="*/ 394 h 406"/>
                            <a:gd name="T56" fmla="*/ 219 w 389"/>
                            <a:gd name="T57" fmla="*/ 380 h 406"/>
                            <a:gd name="T58" fmla="*/ 227 w 389"/>
                            <a:gd name="T59" fmla="*/ 368 h 406"/>
                            <a:gd name="T60" fmla="*/ 232 w 389"/>
                            <a:gd name="T61" fmla="*/ 343 h 406"/>
                            <a:gd name="T62" fmla="*/ 237 w 389"/>
                            <a:gd name="T63" fmla="*/ 315 h 406"/>
                            <a:gd name="T64" fmla="*/ 249 w 389"/>
                            <a:gd name="T65" fmla="*/ 303 h 406"/>
                            <a:gd name="T66" fmla="*/ 296 w 389"/>
                            <a:gd name="T67" fmla="*/ 287 h 406"/>
                            <a:gd name="T68" fmla="*/ 338 w 389"/>
                            <a:gd name="T69" fmla="*/ 269 h 406"/>
                            <a:gd name="T70" fmla="*/ 368 w 389"/>
                            <a:gd name="T71" fmla="*/ 251 h 406"/>
                            <a:gd name="T72" fmla="*/ 389 w 389"/>
                            <a:gd name="T73" fmla="*/ 227 h 406"/>
                            <a:gd name="T74" fmla="*/ 352 w 389"/>
                            <a:gd name="T75" fmla="*/ 80 h 406"/>
                            <a:gd name="T76" fmla="*/ 125 w 389"/>
                            <a:gd name="T77" fmla="*/ 0 h 406"/>
                            <a:gd name="T78" fmla="*/ 0 w 389"/>
                            <a:gd name="T79" fmla="*/ 104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89" h="406">
                              <a:moveTo>
                                <a:pt x="0" y="104"/>
                              </a:moveTo>
                              <a:lnTo>
                                <a:pt x="52" y="125"/>
                              </a:lnTo>
                              <a:lnTo>
                                <a:pt x="79" y="133"/>
                              </a:lnTo>
                              <a:lnTo>
                                <a:pt x="111" y="137"/>
                              </a:lnTo>
                              <a:lnTo>
                                <a:pt x="142" y="139"/>
                              </a:lnTo>
                              <a:lnTo>
                                <a:pt x="135" y="157"/>
                              </a:lnTo>
                              <a:lnTo>
                                <a:pt x="129" y="181"/>
                              </a:lnTo>
                              <a:lnTo>
                                <a:pt x="125" y="206"/>
                              </a:lnTo>
                              <a:lnTo>
                                <a:pt x="116" y="217"/>
                              </a:lnTo>
                              <a:lnTo>
                                <a:pt x="100" y="226"/>
                              </a:lnTo>
                              <a:lnTo>
                                <a:pt x="77" y="236"/>
                              </a:lnTo>
                              <a:lnTo>
                                <a:pt x="67" y="250"/>
                              </a:lnTo>
                              <a:lnTo>
                                <a:pt x="64" y="266"/>
                              </a:lnTo>
                              <a:lnTo>
                                <a:pt x="67" y="287"/>
                              </a:lnTo>
                              <a:lnTo>
                                <a:pt x="76" y="307"/>
                              </a:lnTo>
                              <a:lnTo>
                                <a:pt x="85" y="321"/>
                              </a:lnTo>
                              <a:lnTo>
                                <a:pt x="100" y="335"/>
                              </a:lnTo>
                              <a:lnTo>
                                <a:pt x="108" y="329"/>
                              </a:lnTo>
                              <a:lnTo>
                                <a:pt x="120" y="326"/>
                              </a:lnTo>
                              <a:lnTo>
                                <a:pt x="131" y="328"/>
                              </a:lnTo>
                              <a:lnTo>
                                <a:pt x="125" y="359"/>
                              </a:lnTo>
                              <a:lnTo>
                                <a:pt x="138" y="367"/>
                              </a:lnTo>
                              <a:lnTo>
                                <a:pt x="150" y="375"/>
                              </a:lnTo>
                              <a:lnTo>
                                <a:pt x="159" y="389"/>
                              </a:lnTo>
                              <a:lnTo>
                                <a:pt x="164" y="400"/>
                              </a:lnTo>
                              <a:lnTo>
                                <a:pt x="175" y="405"/>
                              </a:lnTo>
                              <a:lnTo>
                                <a:pt x="187" y="406"/>
                              </a:lnTo>
                              <a:lnTo>
                                <a:pt x="205" y="394"/>
                              </a:lnTo>
                              <a:lnTo>
                                <a:pt x="219" y="380"/>
                              </a:lnTo>
                              <a:lnTo>
                                <a:pt x="227" y="368"/>
                              </a:lnTo>
                              <a:lnTo>
                                <a:pt x="232" y="343"/>
                              </a:lnTo>
                              <a:lnTo>
                                <a:pt x="237" y="315"/>
                              </a:lnTo>
                              <a:lnTo>
                                <a:pt x="249" y="303"/>
                              </a:lnTo>
                              <a:lnTo>
                                <a:pt x="296" y="287"/>
                              </a:lnTo>
                              <a:lnTo>
                                <a:pt x="338" y="269"/>
                              </a:lnTo>
                              <a:lnTo>
                                <a:pt x="368" y="251"/>
                              </a:lnTo>
                              <a:lnTo>
                                <a:pt x="389" y="227"/>
                              </a:lnTo>
                              <a:lnTo>
                                <a:pt x="352" y="80"/>
                              </a:lnTo>
                              <a:lnTo>
                                <a:pt x="125" y="0"/>
                              </a:lnTo>
                              <a:lnTo>
                                <a:pt x="0" y="104"/>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8" name="Freeform 360"/>
                        <p:cNvSpPr/>
                        <p:nvPr/>
                      </p:nvSpPr>
                      <p:spPr bwMode="auto">
                        <a:xfrm>
                          <a:off x="2653" y="3000"/>
                          <a:ext cx="12" cy="8"/>
                        </a:xfrm>
                        <a:custGeom>
                          <a:avLst/>
                          <a:gdLst>
                            <a:gd name="T0" fmla="*/ 9 w 79"/>
                            <a:gd name="T1" fmla="*/ 61 h 64"/>
                            <a:gd name="T2" fmla="*/ 0 w 79"/>
                            <a:gd name="T3" fmla="*/ 56 h 64"/>
                            <a:gd name="T4" fmla="*/ 0 w 79"/>
                            <a:gd name="T5" fmla="*/ 48 h 64"/>
                            <a:gd name="T6" fmla="*/ 8 w 79"/>
                            <a:gd name="T7" fmla="*/ 45 h 64"/>
                            <a:gd name="T8" fmla="*/ 22 w 79"/>
                            <a:gd name="T9" fmla="*/ 43 h 64"/>
                            <a:gd name="T10" fmla="*/ 35 w 79"/>
                            <a:gd name="T11" fmla="*/ 45 h 64"/>
                            <a:gd name="T12" fmla="*/ 51 w 79"/>
                            <a:gd name="T13" fmla="*/ 50 h 64"/>
                            <a:gd name="T14" fmla="*/ 60 w 79"/>
                            <a:gd name="T15" fmla="*/ 33 h 64"/>
                            <a:gd name="T16" fmla="*/ 60 w 79"/>
                            <a:gd name="T17" fmla="*/ 20 h 64"/>
                            <a:gd name="T18" fmla="*/ 56 w 79"/>
                            <a:gd name="T19" fmla="*/ 10 h 64"/>
                            <a:gd name="T20" fmla="*/ 46 w 79"/>
                            <a:gd name="T21" fmla="*/ 7 h 64"/>
                            <a:gd name="T22" fmla="*/ 36 w 79"/>
                            <a:gd name="T23" fmla="*/ 10 h 64"/>
                            <a:gd name="T24" fmla="*/ 29 w 79"/>
                            <a:gd name="T25" fmla="*/ 16 h 64"/>
                            <a:gd name="T26" fmla="*/ 31 w 79"/>
                            <a:gd name="T27" fmla="*/ 7 h 64"/>
                            <a:gd name="T28" fmla="*/ 40 w 79"/>
                            <a:gd name="T29" fmla="*/ 0 h 64"/>
                            <a:gd name="T30" fmla="*/ 54 w 79"/>
                            <a:gd name="T31" fmla="*/ 0 h 64"/>
                            <a:gd name="T32" fmla="*/ 70 w 79"/>
                            <a:gd name="T33" fmla="*/ 6 h 64"/>
                            <a:gd name="T34" fmla="*/ 77 w 79"/>
                            <a:gd name="T35" fmla="*/ 15 h 64"/>
                            <a:gd name="T36" fmla="*/ 79 w 79"/>
                            <a:gd name="T37" fmla="*/ 26 h 64"/>
                            <a:gd name="T38" fmla="*/ 77 w 79"/>
                            <a:gd name="T39" fmla="*/ 41 h 64"/>
                            <a:gd name="T40" fmla="*/ 69 w 79"/>
                            <a:gd name="T41" fmla="*/ 55 h 64"/>
                            <a:gd name="T42" fmla="*/ 59 w 79"/>
                            <a:gd name="T43" fmla="*/ 62 h 64"/>
                            <a:gd name="T44" fmla="*/ 42 w 79"/>
                            <a:gd name="T45" fmla="*/ 64 h 64"/>
                            <a:gd name="T46" fmla="*/ 32 w 79"/>
                            <a:gd name="T47" fmla="*/ 61 h 64"/>
                            <a:gd name="T48" fmla="*/ 22 w 79"/>
                            <a:gd name="T49" fmla="*/ 58 h 64"/>
                            <a:gd name="T50" fmla="*/ 9 w 79"/>
                            <a:gd name="T51" fmla="*/ 6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4">
                              <a:moveTo>
                                <a:pt x="9" y="61"/>
                              </a:moveTo>
                              <a:lnTo>
                                <a:pt x="0" y="56"/>
                              </a:lnTo>
                              <a:lnTo>
                                <a:pt x="0" y="48"/>
                              </a:lnTo>
                              <a:lnTo>
                                <a:pt x="8" y="45"/>
                              </a:lnTo>
                              <a:lnTo>
                                <a:pt x="22" y="43"/>
                              </a:lnTo>
                              <a:lnTo>
                                <a:pt x="35" y="45"/>
                              </a:lnTo>
                              <a:lnTo>
                                <a:pt x="51" y="50"/>
                              </a:lnTo>
                              <a:lnTo>
                                <a:pt x="60" y="33"/>
                              </a:lnTo>
                              <a:lnTo>
                                <a:pt x="60" y="20"/>
                              </a:lnTo>
                              <a:lnTo>
                                <a:pt x="56" y="10"/>
                              </a:lnTo>
                              <a:lnTo>
                                <a:pt x="46" y="7"/>
                              </a:lnTo>
                              <a:lnTo>
                                <a:pt x="36" y="10"/>
                              </a:lnTo>
                              <a:lnTo>
                                <a:pt x="29" y="16"/>
                              </a:lnTo>
                              <a:lnTo>
                                <a:pt x="31" y="7"/>
                              </a:lnTo>
                              <a:lnTo>
                                <a:pt x="40" y="0"/>
                              </a:lnTo>
                              <a:lnTo>
                                <a:pt x="54" y="0"/>
                              </a:lnTo>
                              <a:lnTo>
                                <a:pt x="70" y="6"/>
                              </a:lnTo>
                              <a:lnTo>
                                <a:pt x="77" y="15"/>
                              </a:lnTo>
                              <a:lnTo>
                                <a:pt x="79" y="26"/>
                              </a:lnTo>
                              <a:lnTo>
                                <a:pt x="77" y="41"/>
                              </a:lnTo>
                              <a:lnTo>
                                <a:pt x="69" y="55"/>
                              </a:lnTo>
                              <a:lnTo>
                                <a:pt x="59" y="62"/>
                              </a:lnTo>
                              <a:lnTo>
                                <a:pt x="42" y="64"/>
                              </a:lnTo>
                              <a:lnTo>
                                <a:pt x="32" y="61"/>
                              </a:lnTo>
                              <a:lnTo>
                                <a:pt x="22" y="58"/>
                              </a:lnTo>
                              <a:lnTo>
                                <a:pt x="9" y="61"/>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09" name="Freeform 361"/>
                        <p:cNvSpPr/>
                        <p:nvPr/>
                      </p:nvSpPr>
                      <p:spPr bwMode="auto">
                        <a:xfrm>
                          <a:off x="2675" y="3017"/>
                          <a:ext cx="8" cy="4"/>
                        </a:xfrm>
                        <a:custGeom>
                          <a:avLst/>
                          <a:gdLst>
                            <a:gd name="T0" fmla="*/ 0 w 62"/>
                            <a:gd name="T1" fmla="*/ 20 h 31"/>
                            <a:gd name="T2" fmla="*/ 15 w 62"/>
                            <a:gd name="T3" fmla="*/ 13 h 31"/>
                            <a:gd name="T4" fmla="*/ 30 w 62"/>
                            <a:gd name="T5" fmla="*/ 0 h 31"/>
                            <a:gd name="T6" fmla="*/ 37 w 62"/>
                            <a:gd name="T7" fmla="*/ 5 h 31"/>
                            <a:gd name="T8" fmla="*/ 45 w 62"/>
                            <a:gd name="T9" fmla="*/ 12 h 31"/>
                            <a:gd name="T10" fmla="*/ 53 w 62"/>
                            <a:gd name="T11" fmla="*/ 15 h 31"/>
                            <a:gd name="T12" fmla="*/ 62 w 62"/>
                            <a:gd name="T13" fmla="*/ 17 h 31"/>
                            <a:gd name="T14" fmla="*/ 47 w 62"/>
                            <a:gd name="T15" fmla="*/ 26 h 31"/>
                            <a:gd name="T16" fmla="*/ 33 w 62"/>
                            <a:gd name="T17" fmla="*/ 31 h 31"/>
                            <a:gd name="T18" fmla="*/ 21 w 62"/>
                            <a:gd name="T19" fmla="*/ 30 h 31"/>
                            <a:gd name="T20" fmla="*/ 11 w 62"/>
                            <a:gd name="T21" fmla="*/ 27 h 31"/>
                            <a:gd name="T22" fmla="*/ 0 w 62"/>
                            <a:gd name="T23" fmla="*/ 2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31">
                              <a:moveTo>
                                <a:pt x="0" y="20"/>
                              </a:moveTo>
                              <a:lnTo>
                                <a:pt x="15" y="13"/>
                              </a:lnTo>
                              <a:lnTo>
                                <a:pt x="30" y="0"/>
                              </a:lnTo>
                              <a:lnTo>
                                <a:pt x="37" y="5"/>
                              </a:lnTo>
                              <a:lnTo>
                                <a:pt x="45" y="12"/>
                              </a:lnTo>
                              <a:lnTo>
                                <a:pt x="53" y="15"/>
                              </a:lnTo>
                              <a:lnTo>
                                <a:pt x="62" y="17"/>
                              </a:lnTo>
                              <a:lnTo>
                                <a:pt x="47" y="26"/>
                              </a:lnTo>
                              <a:lnTo>
                                <a:pt x="33" y="31"/>
                              </a:lnTo>
                              <a:lnTo>
                                <a:pt x="21" y="30"/>
                              </a:lnTo>
                              <a:lnTo>
                                <a:pt x="11" y="27"/>
                              </a:lnTo>
                              <a:lnTo>
                                <a:pt x="0" y="2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nvGrpSpPr>
                  <p:cNvPr id="642410" name="Group 362"/>
                  <p:cNvGrpSpPr/>
                  <p:nvPr/>
                </p:nvGrpSpPr>
                <p:grpSpPr bwMode="auto">
                  <a:xfrm>
                    <a:off x="2661" y="3006"/>
                    <a:ext cx="13" cy="10"/>
                    <a:chOff x="2661" y="3006"/>
                    <a:chExt cx="13" cy="10"/>
                  </a:xfrm>
                </p:grpSpPr>
                <p:sp>
                  <p:nvSpPr>
                    <p:cNvPr id="642411" name="Freeform 363"/>
                    <p:cNvSpPr/>
                    <p:nvPr/>
                  </p:nvSpPr>
                  <p:spPr bwMode="auto">
                    <a:xfrm>
                      <a:off x="2662" y="3006"/>
                      <a:ext cx="12" cy="8"/>
                    </a:xfrm>
                    <a:custGeom>
                      <a:avLst/>
                      <a:gdLst>
                        <a:gd name="T0" fmla="*/ 0 w 80"/>
                        <a:gd name="T1" fmla="*/ 44 h 65"/>
                        <a:gd name="T2" fmla="*/ 18 w 80"/>
                        <a:gd name="T3" fmla="*/ 47 h 65"/>
                        <a:gd name="T4" fmla="*/ 26 w 80"/>
                        <a:gd name="T5" fmla="*/ 59 h 65"/>
                        <a:gd name="T6" fmla="*/ 31 w 80"/>
                        <a:gd name="T7" fmla="*/ 65 h 65"/>
                        <a:gd name="T8" fmla="*/ 60 w 80"/>
                        <a:gd name="T9" fmla="*/ 54 h 65"/>
                        <a:gd name="T10" fmla="*/ 69 w 80"/>
                        <a:gd name="T11" fmla="*/ 39 h 65"/>
                        <a:gd name="T12" fmla="*/ 80 w 80"/>
                        <a:gd name="T13" fmla="*/ 0 h 65"/>
                        <a:gd name="T14" fmla="*/ 68 w 80"/>
                        <a:gd name="T15" fmla="*/ 7 h 65"/>
                        <a:gd name="T16" fmla="*/ 0 w 80"/>
                        <a:gd name="T17" fmla="*/ 44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65">
                          <a:moveTo>
                            <a:pt x="0" y="44"/>
                          </a:moveTo>
                          <a:lnTo>
                            <a:pt x="18" y="47"/>
                          </a:lnTo>
                          <a:lnTo>
                            <a:pt x="26" y="59"/>
                          </a:lnTo>
                          <a:lnTo>
                            <a:pt x="31" y="65"/>
                          </a:lnTo>
                          <a:lnTo>
                            <a:pt x="60" y="54"/>
                          </a:lnTo>
                          <a:lnTo>
                            <a:pt x="69" y="39"/>
                          </a:lnTo>
                          <a:lnTo>
                            <a:pt x="80" y="0"/>
                          </a:lnTo>
                          <a:lnTo>
                            <a:pt x="68" y="7"/>
                          </a:lnTo>
                          <a:lnTo>
                            <a:pt x="0" y="44"/>
                          </a:lnTo>
                          <a:close/>
                        </a:path>
                      </a:pathLst>
                    </a:custGeom>
                    <a:solidFill>
                      <a:srgbClr val="E04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2" name="Freeform 364"/>
                    <p:cNvSpPr/>
                    <p:nvPr/>
                  </p:nvSpPr>
                  <p:spPr bwMode="auto">
                    <a:xfrm>
                      <a:off x="2664" y="3006"/>
                      <a:ext cx="10" cy="8"/>
                    </a:xfrm>
                    <a:custGeom>
                      <a:avLst/>
                      <a:gdLst>
                        <a:gd name="T0" fmla="*/ 0 w 70"/>
                        <a:gd name="T1" fmla="*/ 42 h 59"/>
                        <a:gd name="T2" fmla="*/ 16 w 70"/>
                        <a:gd name="T3" fmla="*/ 59 h 59"/>
                        <a:gd name="T4" fmla="*/ 26 w 70"/>
                        <a:gd name="T5" fmla="*/ 56 h 59"/>
                        <a:gd name="T6" fmla="*/ 69 w 70"/>
                        <a:gd name="T7" fmla="*/ 6 h 59"/>
                        <a:gd name="T8" fmla="*/ 70 w 70"/>
                        <a:gd name="T9" fmla="*/ 0 h 59"/>
                        <a:gd name="T10" fmla="*/ 0 w 70"/>
                        <a:gd name="T11" fmla="*/ 42 h 59"/>
                      </a:gdLst>
                      <a:ahLst/>
                      <a:cxnLst>
                        <a:cxn ang="0">
                          <a:pos x="T0" y="T1"/>
                        </a:cxn>
                        <a:cxn ang="0">
                          <a:pos x="T2" y="T3"/>
                        </a:cxn>
                        <a:cxn ang="0">
                          <a:pos x="T4" y="T5"/>
                        </a:cxn>
                        <a:cxn ang="0">
                          <a:pos x="T6" y="T7"/>
                        </a:cxn>
                        <a:cxn ang="0">
                          <a:pos x="T8" y="T9"/>
                        </a:cxn>
                        <a:cxn ang="0">
                          <a:pos x="T10" y="T11"/>
                        </a:cxn>
                      </a:cxnLst>
                      <a:rect l="0" t="0" r="r" b="b"/>
                      <a:pathLst>
                        <a:path w="70" h="59">
                          <a:moveTo>
                            <a:pt x="0" y="42"/>
                          </a:moveTo>
                          <a:lnTo>
                            <a:pt x="16" y="59"/>
                          </a:lnTo>
                          <a:lnTo>
                            <a:pt x="26" y="56"/>
                          </a:lnTo>
                          <a:lnTo>
                            <a:pt x="69" y="6"/>
                          </a:lnTo>
                          <a:lnTo>
                            <a:pt x="70" y="0"/>
                          </a:lnTo>
                          <a:lnTo>
                            <a:pt x="0" y="42"/>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3" name="Freeform 365"/>
                    <p:cNvSpPr/>
                    <p:nvPr/>
                  </p:nvSpPr>
                  <p:spPr bwMode="auto">
                    <a:xfrm>
                      <a:off x="2661" y="3006"/>
                      <a:ext cx="13" cy="7"/>
                    </a:xfrm>
                    <a:custGeom>
                      <a:avLst/>
                      <a:gdLst>
                        <a:gd name="T0" fmla="*/ 90 w 90"/>
                        <a:gd name="T1" fmla="*/ 0 h 54"/>
                        <a:gd name="T2" fmla="*/ 74 w 90"/>
                        <a:gd name="T3" fmla="*/ 9 h 54"/>
                        <a:gd name="T4" fmla="*/ 51 w 90"/>
                        <a:gd name="T5" fmla="*/ 18 h 54"/>
                        <a:gd name="T6" fmla="*/ 27 w 90"/>
                        <a:gd name="T7" fmla="*/ 22 h 54"/>
                        <a:gd name="T8" fmla="*/ 10 w 90"/>
                        <a:gd name="T9" fmla="*/ 32 h 54"/>
                        <a:gd name="T10" fmla="*/ 3 w 90"/>
                        <a:gd name="T11" fmla="*/ 39 h 54"/>
                        <a:gd name="T12" fmla="*/ 0 w 90"/>
                        <a:gd name="T13" fmla="*/ 49 h 54"/>
                        <a:gd name="T14" fmla="*/ 5 w 90"/>
                        <a:gd name="T15" fmla="*/ 54 h 54"/>
                        <a:gd name="T16" fmla="*/ 14 w 90"/>
                        <a:gd name="T17" fmla="*/ 54 h 54"/>
                        <a:gd name="T18" fmla="*/ 22 w 90"/>
                        <a:gd name="T19" fmla="*/ 53 h 54"/>
                        <a:gd name="T20" fmla="*/ 38 w 90"/>
                        <a:gd name="T21" fmla="*/ 45 h 54"/>
                        <a:gd name="T22" fmla="*/ 55 w 90"/>
                        <a:gd name="T23" fmla="*/ 31 h 54"/>
                        <a:gd name="T24" fmla="*/ 85 w 90"/>
                        <a:gd name="T25" fmla="*/ 9 h 54"/>
                        <a:gd name="T26" fmla="*/ 90 w 90"/>
                        <a:gd name="T27" fmla="*/ 0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 h="54">
                          <a:moveTo>
                            <a:pt x="90" y="0"/>
                          </a:moveTo>
                          <a:lnTo>
                            <a:pt x="74" y="9"/>
                          </a:lnTo>
                          <a:lnTo>
                            <a:pt x="51" y="18"/>
                          </a:lnTo>
                          <a:lnTo>
                            <a:pt x="27" y="22"/>
                          </a:lnTo>
                          <a:lnTo>
                            <a:pt x="10" y="32"/>
                          </a:lnTo>
                          <a:lnTo>
                            <a:pt x="3" y="39"/>
                          </a:lnTo>
                          <a:lnTo>
                            <a:pt x="0" y="49"/>
                          </a:lnTo>
                          <a:lnTo>
                            <a:pt x="5" y="54"/>
                          </a:lnTo>
                          <a:lnTo>
                            <a:pt x="14" y="54"/>
                          </a:lnTo>
                          <a:lnTo>
                            <a:pt x="22" y="53"/>
                          </a:lnTo>
                          <a:lnTo>
                            <a:pt x="38" y="45"/>
                          </a:lnTo>
                          <a:lnTo>
                            <a:pt x="55" y="31"/>
                          </a:lnTo>
                          <a:lnTo>
                            <a:pt x="85" y="9"/>
                          </a:lnTo>
                          <a:lnTo>
                            <a:pt x="90" y="0"/>
                          </a:lnTo>
                          <a:close/>
                        </a:path>
                      </a:pathLst>
                    </a:custGeom>
                    <a:solidFill>
                      <a:srgbClr val="FF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4" name="Freeform 366"/>
                    <p:cNvSpPr/>
                    <p:nvPr/>
                  </p:nvSpPr>
                  <p:spPr bwMode="auto">
                    <a:xfrm>
                      <a:off x="2665" y="3006"/>
                      <a:ext cx="9" cy="10"/>
                    </a:xfrm>
                    <a:custGeom>
                      <a:avLst/>
                      <a:gdLst>
                        <a:gd name="T0" fmla="*/ 59 w 59"/>
                        <a:gd name="T1" fmla="*/ 0 h 80"/>
                        <a:gd name="T2" fmla="*/ 45 w 59"/>
                        <a:gd name="T3" fmla="*/ 28 h 80"/>
                        <a:gd name="T4" fmla="*/ 31 w 59"/>
                        <a:gd name="T5" fmla="*/ 44 h 80"/>
                        <a:gd name="T6" fmla="*/ 24 w 59"/>
                        <a:gd name="T7" fmla="*/ 56 h 80"/>
                        <a:gd name="T8" fmla="*/ 16 w 59"/>
                        <a:gd name="T9" fmla="*/ 60 h 80"/>
                        <a:gd name="T10" fmla="*/ 9 w 59"/>
                        <a:gd name="T11" fmla="*/ 60 h 80"/>
                        <a:gd name="T12" fmla="*/ 0 w 59"/>
                        <a:gd name="T13" fmla="*/ 57 h 80"/>
                        <a:gd name="T14" fmla="*/ 2 w 59"/>
                        <a:gd name="T15" fmla="*/ 66 h 80"/>
                        <a:gd name="T16" fmla="*/ 7 w 59"/>
                        <a:gd name="T17" fmla="*/ 71 h 80"/>
                        <a:gd name="T18" fmla="*/ 20 w 59"/>
                        <a:gd name="T19" fmla="*/ 78 h 80"/>
                        <a:gd name="T20" fmla="*/ 28 w 59"/>
                        <a:gd name="T21" fmla="*/ 80 h 80"/>
                        <a:gd name="T22" fmla="*/ 37 w 59"/>
                        <a:gd name="T23" fmla="*/ 79 h 80"/>
                        <a:gd name="T24" fmla="*/ 46 w 59"/>
                        <a:gd name="T25" fmla="*/ 71 h 80"/>
                        <a:gd name="T26" fmla="*/ 53 w 59"/>
                        <a:gd name="T27" fmla="*/ 60 h 80"/>
                        <a:gd name="T28" fmla="*/ 56 w 59"/>
                        <a:gd name="T29" fmla="*/ 47 h 80"/>
                        <a:gd name="T30" fmla="*/ 54 w 59"/>
                        <a:gd name="T31" fmla="*/ 31 h 80"/>
                        <a:gd name="T32" fmla="*/ 59 w 59"/>
                        <a:gd name="T3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9" h="80">
                          <a:moveTo>
                            <a:pt x="59" y="0"/>
                          </a:moveTo>
                          <a:lnTo>
                            <a:pt x="45" y="28"/>
                          </a:lnTo>
                          <a:lnTo>
                            <a:pt x="31" y="44"/>
                          </a:lnTo>
                          <a:lnTo>
                            <a:pt x="24" y="56"/>
                          </a:lnTo>
                          <a:lnTo>
                            <a:pt x="16" y="60"/>
                          </a:lnTo>
                          <a:lnTo>
                            <a:pt x="9" y="60"/>
                          </a:lnTo>
                          <a:lnTo>
                            <a:pt x="0" y="57"/>
                          </a:lnTo>
                          <a:lnTo>
                            <a:pt x="2" y="66"/>
                          </a:lnTo>
                          <a:lnTo>
                            <a:pt x="7" y="71"/>
                          </a:lnTo>
                          <a:lnTo>
                            <a:pt x="20" y="78"/>
                          </a:lnTo>
                          <a:lnTo>
                            <a:pt x="28" y="80"/>
                          </a:lnTo>
                          <a:lnTo>
                            <a:pt x="37" y="79"/>
                          </a:lnTo>
                          <a:lnTo>
                            <a:pt x="46" y="71"/>
                          </a:lnTo>
                          <a:lnTo>
                            <a:pt x="53" y="60"/>
                          </a:lnTo>
                          <a:lnTo>
                            <a:pt x="56" y="47"/>
                          </a:lnTo>
                          <a:lnTo>
                            <a:pt x="54" y="31"/>
                          </a:lnTo>
                          <a:lnTo>
                            <a:pt x="59" y="0"/>
                          </a:lnTo>
                          <a:close/>
                        </a:path>
                      </a:pathLst>
                    </a:custGeom>
                    <a:solidFill>
                      <a:srgbClr val="FF80A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642415" name="Freeform 367"/>
                  <p:cNvSpPr/>
                  <p:nvPr/>
                </p:nvSpPr>
                <p:spPr bwMode="auto">
                  <a:xfrm>
                    <a:off x="2654" y="2986"/>
                    <a:ext cx="10" cy="8"/>
                  </a:xfrm>
                  <a:custGeom>
                    <a:avLst/>
                    <a:gdLst>
                      <a:gd name="T0" fmla="*/ 0 w 72"/>
                      <a:gd name="T1" fmla="*/ 36 h 67"/>
                      <a:gd name="T2" fmla="*/ 8 w 72"/>
                      <a:gd name="T3" fmla="*/ 25 h 67"/>
                      <a:gd name="T4" fmla="*/ 21 w 72"/>
                      <a:gd name="T5" fmla="*/ 15 h 67"/>
                      <a:gd name="T6" fmla="*/ 37 w 72"/>
                      <a:gd name="T7" fmla="*/ 7 h 67"/>
                      <a:gd name="T8" fmla="*/ 53 w 72"/>
                      <a:gd name="T9" fmla="*/ 3 h 67"/>
                      <a:gd name="T10" fmla="*/ 70 w 72"/>
                      <a:gd name="T11" fmla="*/ 0 h 67"/>
                      <a:gd name="T12" fmla="*/ 71 w 72"/>
                      <a:gd name="T13" fmla="*/ 10 h 67"/>
                      <a:gd name="T14" fmla="*/ 72 w 72"/>
                      <a:gd name="T15" fmla="*/ 24 h 67"/>
                      <a:gd name="T16" fmla="*/ 69 w 72"/>
                      <a:gd name="T17" fmla="*/ 39 h 67"/>
                      <a:gd name="T18" fmla="*/ 62 w 72"/>
                      <a:gd name="T19" fmla="*/ 53 h 67"/>
                      <a:gd name="T20" fmla="*/ 51 w 72"/>
                      <a:gd name="T21" fmla="*/ 62 h 67"/>
                      <a:gd name="T22" fmla="*/ 36 w 72"/>
                      <a:gd name="T23" fmla="*/ 67 h 67"/>
                      <a:gd name="T24" fmla="*/ 30 w 72"/>
                      <a:gd name="T25" fmla="*/ 56 h 67"/>
                      <a:gd name="T26" fmla="*/ 21 w 72"/>
                      <a:gd name="T27" fmla="*/ 49 h 67"/>
                      <a:gd name="T28" fmla="*/ 16 w 72"/>
                      <a:gd name="T29" fmla="*/ 44 h 67"/>
                      <a:gd name="T30" fmla="*/ 6 w 72"/>
                      <a:gd name="T31" fmla="*/ 41 h 67"/>
                      <a:gd name="T32" fmla="*/ 0 w 72"/>
                      <a:gd name="T33" fmla="*/ 36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2" h="67">
                        <a:moveTo>
                          <a:pt x="0" y="36"/>
                        </a:moveTo>
                        <a:lnTo>
                          <a:pt x="8" y="25"/>
                        </a:lnTo>
                        <a:lnTo>
                          <a:pt x="21" y="15"/>
                        </a:lnTo>
                        <a:lnTo>
                          <a:pt x="37" y="7"/>
                        </a:lnTo>
                        <a:lnTo>
                          <a:pt x="53" y="3"/>
                        </a:lnTo>
                        <a:lnTo>
                          <a:pt x="70" y="0"/>
                        </a:lnTo>
                        <a:lnTo>
                          <a:pt x="71" y="10"/>
                        </a:lnTo>
                        <a:lnTo>
                          <a:pt x="72" y="24"/>
                        </a:lnTo>
                        <a:lnTo>
                          <a:pt x="69" y="39"/>
                        </a:lnTo>
                        <a:lnTo>
                          <a:pt x="62" y="53"/>
                        </a:lnTo>
                        <a:lnTo>
                          <a:pt x="51" y="62"/>
                        </a:lnTo>
                        <a:lnTo>
                          <a:pt x="36" y="67"/>
                        </a:lnTo>
                        <a:lnTo>
                          <a:pt x="30" y="56"/>
                        </a:lnTo>
                        <a:lnTo>
                          <a:pt x="21" y="49"/>
                        </a:lnTo>
                        <a:lnTo>
                          <a:pt x="16" y="44"/>
                        </a:lnTo>
                        <a:lnTo>
                          <a:pt x="6" y="41"/>
                        </a:lnTo>
                        <a:lnTo>
                          <a:pt x="0" y="36"/>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6" name="Freeform 368"/>
                  <p:cNvSpPr/>
                  <p:nvPr/>
                </p:nvSpPr>
                <p:spPr bwMode="auto">
                  <a:xfrm>
                    <a:off x="2659" y="2986"/>
                    <a:ext cx="5" cy="5"/>
                  </a:xfrm>
                  <a:custGeom>
                    <a:avLst/>
                    <a:gdLst>
                      <a:gd name="T0" fmla="*/ 0 w 37"/>
                      <a:gd name="T1" fmla="*/ 24 h 40"/>
                      <a:gd name="T2" fmla="*/ 16 w 37"/>
                      <a:gd name="T3" fmla="*/ 40 h 40"/>
                      <a:gd name="T4" fmla="*/ 27 w 37"/>
                      <a:gd name="T5" fmla="*/ 27 h 40"/>
                      <a:gd name="T6" fmla="*/ 36 w 37"/>
                      <a:gd name="T7" fmla="*/ 8 h 40"/>
                      <a:gd name="T8" fmla="*/ 37 w 37"/>
                      <a:gd name="T9" fmla="*/ 0 h 40"/>
                      <a:gd name="T10" fmla="*/ 24 w 37"/>
                      <a:gd name="T11" fmla="*/ 6 h 40"/>
                      <a:gd name="T12" fmla="*/ 0 w 37"/>
                      <a:gd name="T13" fmla="*/ 24 h 40"/>
                    </a:gdLst>
                    <a:ahLst/>
                    <a:cxnLst>
                      <a:cxn ang="0">
                        <a:pos x="T0" y="T1"/>
                      </a:cxn>
                      <a:cxn ang="0">
                        <a:pos x="T2" y="T3"/>
                      </a:cxn>
                      <a:cxn ang="0">
                        <a:pos x="T4" y="T5"/>
                      </a:cxn>
                      <a:cxn ang="0">
                        <a:pos x="T6" y="T7"/>
                      </a:cxn>
                      <a:cxn ang="0">
                        <a:pos x="T8" y="T9"/>
                      </a:cxn>
                      <a:cxn ang="0">
                        <a:pos x="T10" y="T11"/>
                      </a:cxn>
                      <a:cxn ang="0">
                        <a:pos x="T12" y="T13"/>
                      </a:cxn>
                    </a:cxnLst>
                    <a:rect l="0" t="0" r="r" b="b"/>
                    <a:pathLst>
                      <a:path w="37" h="40">
                        <a:moveTo>
                          <a:pt x="0" y="24"/>
                        </a:moveTo>
                        <a:lnTo>
                          <a:pt x="16" y="40"/>
                        </a:lnTo>
                        <a:lnTo>
                          <a:pt x="27" y="27"/>
                        </a:lnTo>
                        <a:lnTo>
                          <a:pt x="36" y="8"/>
                        </a:lnTo>
                        <a:lnTo>
                          <a:pt x="37" y="0"/>
                        </a:lnTo>
                        <a:lnTo>
                          <a:pt x="24" y="6"/>
                        </a:lnTo>
                        <a:lnTo>
                          <a:pt x="0" y="24"/>
                        </a:lnTo>
                        <a:close/>
                      </a:path>
                    </a:pathLst>
                  </a:custGeom>
                  <a:solidFill>
                    <a:srgbClr val="FFFFE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7" name="Freeform 369"/>
                  <p:cNvSpPr/>
                  <p:nvPr/>
                </p:nvSpPr>
                <p:spPr bwMode="auto">
                  <a:xfrm>
                    <a:off x="2657" y="2986"/>
                    <a:ext cx="7" cy="7"/>
                  </a:xfrm>
                  <a:custGeom>
                    <a:avLst/>
                    <a:gdLst>
                      <a:gd name="T0" fmla="*/ 0 w 55"/>
                      <a:gd name="T1" fmla="*/ 53 h 63"/>
                      <a:gd name="T2" fmla="*/ 5 w 55"/>
                      <a:gd name="T3" fmla="*/ 47 h 63"/>
                      <a:gd name="T4" fmla="*/ 12 w 55"/>
                      <a:gd name="T5" fmla="*/ 34 h 63"/>
                      <a:gd name="T6" fmla="*/ 26 w 55"/>
                      <a:gd name="T7" fmla="*/ 24 h 63"/>
                      <a:gd name="T8" fmla="*/ 40 w 55"/>
                      <a:gd name="T9" fmla="*/ 13 h 63"/>
                      <a:gd name="T10" fmla="*/ 51 w 55"/>
                      <a:gd name="T11" fmla="*/ 5 h 63"/>
                      <a:gd name="T12" fmla="*/ 47 w 55"/>
                      <a:gd name="T13" fmla="*/ 17 h 63"/>
                      <a:gd name="T14" fmla="*/ 40 w 55"/>
                      <a:gd name="T15" fmla="*/ 30 h 63"/>
                      <a:gd name="T16" fmla="*/ 34 w 55"/>
                      <a:gd name="T17" fmla="*/ 37 h 63"/>
                      <a:gd name="T18" fmla="*/ 27 w 55"/>
                      <a:gd name="T19" fmla="*/ 53 h 63"/>
                      <a:gd name="T20" fmla="*/ 26 w 55"/>
                      <a:gd name="T21" fmla="*/ 63 h 63"/>
                      <a:gd name="T22" fmla="*/ 30 w 55"/>
                      <a:gd name="T23" fmla="*/ 50 h 63"/>
                      <a:gd name="T24" fmla="*/ 36 w 55"/>
                      <a:gd name="T25" fmla="*/ 41 h 63"/>
                      <a:gd name="T26" fmla="*/ 47 w 55"/>
                      <a:gd name="T27" fmla="*/ 27 h 63"/>
                      <a:gd name="T28" fmla="*/ 51 w 55"/>
                      <a:gd name="T29" fmla="*/ 15 h 63"/>
                      <a:gd name="T30" fmla="*/ 54 w 55"/>
                      <a:gd name="T31" fmla="*/ 7 h 63"/>
                      <a:gd name="T32" fmla="*/ 55 w 55"/>
                      <a:gd name="T33" fmla="*/ 0 h 63"/>
                      <a:gd name="T34" fmla="*/ 47 w 55"/>
                      <a:gd name="T35" fmla="*/ 6 h 63"/>
                      <a:gd name="T36" fmla="*/ 34 w 55"/>
                      <a:gd name="T37" fmla="*/ 12 h 63"/>
                      <a:gd name="T38" fmla="*/ 22 w 55"/>
                      <a:gd name="T39" fmla="*/ 21 h 63"/>
                      <a:gd name="T40" fmla="*/ 11 w 55"/>
                      <a:gd name="T41" fmla="*/ 30 h 63"/>
                      <a:gd name="T42" fmla="*/ 2 w 55"/>
                      <a:gd name="T43" fmla="*/ 41 h 63"/>
                      <a:gd name="T44" fmla="*/ 0 w 55"/>
                      <a:gd name="T45" fmla="*/ 5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5" h="63">
                        <a:moveTo>
                          <a:pt x="0" y="53"/>
                        </a:moveTo>
                        <a:lnTo>
                          <a:pt x="5" y="47"/>
                        </a:lnTo>
                        <a:lnTo>
                          <a:pt x="12" y="34"/>
                        </a:lnTo>
                        <a:lnTo>
                          <a:pt x="26" y="24"/>
                        </a:lnTo>
                        <a:lnTo>
                          <a:pt x="40" y="13"/>
                        </a:lnTo>
                        <a:lnTo>
                          <a:pt x="51" y="5"/>
                        </a:lnTo>
                        <a:lnTo>
                          <a:pt x="47" y="17"/>
                        </a:lnTo>
                        <a:lnTo>
                          <a:pt x="40" y="30"/>
                        </a:lnTo>
                        <a:lnTo>
                          <a:pt x="34" y="37"/>
                        </a:lnTo>
                        <a:lnTo>
                          <a:pt x="27" y="53"/>
                        </a:lnTo>
                        <a:lnTo>
                          <a:pt x="26" y="63"/>
                        </a:lnTo>
                        <a:lnTo>
                          <a:pt x="30" y="50"/>
                        </a:lnTo>
                        <a:lnTo>
                          <a:pt x="36" y="41"/>
                        </a:lnTo>
                        <a:lnTo>
                          <a:pt x="47" y="27"/>
                        </a:lnTo>
                        <a:lnTo>
                          <a:pt x="51" y="15"/>
                        </a:lnTo>
                        <a:lnTo>
                          <a:pt x="54" y="7"/>
                        </a:lnTo>
                        <a:lnTo>
                          <a:pt x="55" y="0"/>
                        </a:lnTo>
                        <a:lnTo>
                          <a:pt x="47" y="6"/>
                        </a:lnTo>
                        <a:lnTo>
                          <a:pt x="34" y="12"/>
                        </a:lnTo>
                        <a:lnTo>
                          <a:pt x="22" y="21"/>
                        </a:lnTo>
                        <a:lnTo>
                          <a:pt x="11" y="30"/>
                        </a:lnTo>
                        <a:lnTo>
                          <a:pt x="2" y="41"/>
                        </a:lnTo>
                        <a:lnTo>
                          <a:pt x="0" y="53"/>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8" name="Freeform 370"/>
                  <p:cNvSpPr/>
                  <p:nvPr/>
                </p:nvSpPr>
                <p:spPr bwMode="auto">
                  <a:xfrm>
                    <a:off x="2657" y="2988"/>
                    <a:ext cx="5" cy="4"/>
                  </a:xfrm>
                  <a:custGeom>
                    <a:avLst/>
                    <a:gdLst>
                      <a:gd name="T0" fmla="*/ 0 w 31"/>
                      <a:gd name="T1" fmla="*/ 17 h 35"/>
                      <a:gd name="T2" fmla="*/ 0 w 31"/>
                      <a:gd name="T3" fmla="*/ 29 h 35"/>
                      <a:gd name="T4" fmla="*/ 8 w 31"/>
                      <a:gd name="T5" fmla="*/ 35 h 35"/>
                      <a:gd name="T6" fmla="*/ 21 w 31"/>
                      <a:gd name="T7" fmla="*/ 31 h 35"/>
                      <a:gd name="T8" fmla="*/ 31 w 31"/>
                      <a:gd name="T9" fmla="*/ 19 h 35"/>
                      <a:gd name="T10" fmla="*/ 31 w 31"/>
                      <a:gd name="T11" fmla="*/ 10 h 35"/>
                      <a:gd name="T12" fmla="*/ 20 w 31"/>
                      <a:gd name="T13" fmla="*/ 0 h 35"/>
                      <a:gd name="T14" fmla="*/ 0 w 31"/>
                      <a:gd name="T15" fmla="*/ 17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35">
                        <a:moveTo>
                          <a:pt x="0" y="17"/>
                        </a:moveTo>
                        <a:lnTo>
                          <a:pt x="0" y="29"/>
                        </a:lnTo>
                        <a:lnTo>
                          <a:pt x="8" y="35"/>
                        </a:lnTo>
                        <a:lnTo>
                          <a:pt x="21" y="31"/>
                        </a:lnTo>
                        <a:lnTo>
                          <a:pt x="31" y="19"/>
                        </a:lnTo>
                        <a:lnTo>
                          <a:pt x="31" y="10"/>
                        </a:lnTo>
                        <a:lnTo>
                          <a:pt x="20" y="0"/>
                        </a:lnTo>
                        <a:lnTo>
                          <a:pt x="0" y="17"/>
                        </a:lnTo>
                        <a:close/>
                      </a:path>
                    </a:pathLst>
                  </a:custGeom>
                  <a:solidFill>
                    <a:srgbClr val="6040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19" name="Freeform 371"/>
                  <p:cNvSpPr/>
                  <p:nvPr/>
                </p:nvSpPr>
                <p:spPr bwMode="auto">
                  <a:xfrm>
                    <a:off x="2658" y="2988"/>
                    <a:ext cx="5" cy="5"/>
                  </a:xfrm>
                  <a:custGeom>
                    <a:avLst/>
                    <a:gdLst>
                      <a:gd name="T0" fmla="*/ 0 w 37"/>
                      <a:gd name="T1" fmla="*/ 17 h 42"/>
                      <a:gd name="T2" fmla="*/ 0 w 37"/>
                      <a:gd name="T3" fmla="*/ 34 h 42"/>
                      <a:gd name="T4" fmla="*/ 9 w 37"/>
                      <a:gd name="T5" fmla="*/ 42 h 42"/>
                      <a:gd name="T6" fmla="*/ 25 w 37"/>
                      <a:gd name="T7" fmla="*/ 40 h 42"/>
                      <a:gd name="T8" fmla="*/ 37 w 37"/>
                      <a:gd name="T9" fmla="*/ 24 h 42"/>
                      <a:gd name="T10" fmla="*/ 37 w 37"/>
                      <a:gd name="T11" fmla="*/ 10 h 42"/>
                      <a:gd name="T12" fmla="*/ 27 w 37"/>
                      <a:gd name="T13" fmla="*/ 0 h 42"/>
                      <a:gd name="T14" fmla="*/ 0 w 37"/>
                      <a:gd name="T15" fmla="*/ 17 h 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42">
                        <a:moveTo>
                          <a:pt x="0" y="17"/>
                        </a:moveTo>
                        <a:lnTo>
                          <a:pt x="0" y="34"/>
                        </a:lnTo>
                        <a:lnTo>
                          <a:pt x="9" y="42"/>
                        </a:lnTo>
                        <a:lnTo>
                          <a:pt x="25" y="40"/>
                        </a:lnTo>
                        <a:lnTo>
                          <a:pt x="37" y="24"/>
                        </a:lnTo>
                        <a:lnTo>
                          <a:pt x="37" y="10"/>
                        </a:lnTo>
                        <a:lnTo>
                          <a:pt x="27" y="0"/>
                        </a:lnTo>
                        <a:lnTo>
                          <a:pt x="0" y="17"/>
                        </a:lnTo>
                        <a:close/>
                      </a:path>
                    </a:pathLst>
                  </a:custGeom>
                  <a:solidFill>
                    <a:srgbClr val="402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0" name="Oval 372"/>
                  <p:cNvSpPr>
                    <a:spLocks noChangeArrowheads="1"/>
                  </p:cNvSpPr>
                  <p:nvPr/>
                </p:nvSpPr>
                <p:spPr bwMode="auto">
                  <a:xfrm>
                    <a:off x="2658" y="2989"/>
                    <a:ext cx="4" cy="4"/>
                  </a:xfrm>
                  <a:prstGeom prst="ellipse">
                    <a:avLst/>
                  </a:pr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1" name="Freeform 373"/>
                  <p:cNvSpPr/>
                  <p:nvPr/>
                </p:nvSpPr>
                <p:spPr bwMode="auto">
                  <a:xfrm>
                    <a:off x="2655" y="2986"/>
                    <a:ext cx="9" cy="4"/>
                  </a:xfrm>
                  <a:custGeom>
                    <a:avLst/>
                    <a:gdLst>
                      <a:gd name="T0" fmla="*/ 0 w 66"/>
                      <a:gd name="T1" fmla="*/ 37 h 37"/>
                      <a:gd name="T2" fmla="*/ 1 w 66"/>
                      <a:gd name="T3" fmla="*/ 30 h 37"/>
                      <a:gd name="T4" fmla="*/ 6 w 66"/>
                      <a:gd name="T5" fmla="*/ 22 h 37"/>
                      <a:gd name="T6" fmla="*/ 13 w 66"/>
                      <a:gd name="T7" fmla="*/ 15 h 37"/>
                      <a:gd name="T8" fmla="*/ 23 w 66"/>
                      <a:gd name="T9" fmla="*/ 8 h 37"/>
                      <a:gd name="T10" fmla="*/ 37 w 66"/>
                      <a:gd name="T11" fmla="*/ 3 h 37"/>
                      <a:gd name="T12" fmla="*/ 51 w 66"/>
                      <a:gd name="T13" fmla="*/ 0 h 37"/>
                      <a:gd name="T14" fmla="*/ 66 w 66"/>
                      <a:gd name="T15" fmla="*/ 1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6" h="37">
                        <a:moveTo>
                          <a:pt x="0" y="37"/>
                        </a:moveTo>
                        <a:lnTo>
                          <a:pt x="1" y="30"/>
                        </a:lnTo>
                        <a:lnTo>
                          <a:pt x="6" y="22"/>
                        </a:lnTo>
                        <a:lnTo>
                          <a:pt x="13" y="15"/>
                        </a:lnTo>
                        <a:lnTo>
                          <a:pt x="23" y="8"/>
                        </a:lnTo>
                        <a:lnTo>
                          <a:pt x="37" y="3"/>
                        </a:lnTo>
                        <a:lnTo>
                          <a:pt x="51" y="0"/>
                        </a:lnTo>
                        <a:lnTo>
                          <a:pt x="66" y="1"/>
                        </a:lnTo>
                      </a:path>
                    </a:pathLst>
                  </a:custGeom>
                  <a:noFill/>
                  <a:ln w="1588">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42422" name="Freeform 374"/>
                  <p:cNvSpPr/>
                  <p:nvPr/>
                </p:nvSpPr>
                <p:spPr bwMode="auto">
                  <a:xfrm>
                    <a:off x="2651" y="2988"/>
                    <a:ext cx="7" cy="12"/>
                  </a:xfrm>
                  <a:custGeom>
                    <a:avLst/>
                    <a:gdLst>
                      <a:gd name="T0" fmla="*/ 0 w 44"/>
                      <a:gd name="T1" fmla="*/ 0 h 100"/>
                      <a:gd name="T2" fmla="*/ 18 w 44"/>
                      <a:gd name="T3" fmla="*/ 14 h 100"/>
                      <a:gd name="T4" fmla="*/ 44 w 44"/>
                      <a:gd name="T5" fmla="*/ 26 h 100"/>
                      <a:gd name="T6" fmla="*/ 32 w 44"/>
                      <a:gd name="T7" fmla="*/ 42 h 100"/>
                      <a:gd name="T8" fmla="*/ 28 w 44"/>
                      <a:gd name="T9" fmla="*/ 55 h 100"/>
                      <a:gd name="T10" fmla="*/ 31 w 44"/>
                      <a:gd name="T11" fmla="*/ 74 h 100"/>
                      <a:gd name="T12" fmla="*/ 42 w 44"/>
                      <a:gd name="T13" fmla="*/ 100 h 100"/>
                      <a:gd name="T14" fmla="*/ 33 w 44"/>
                      <a:gd name="T15" fmla="*/ 85 h 100"/>
                      <a:gd name="T16" fmla="*/ 23 w 44"/>
                      <a:gd name="T17" fmla="*/ 71 h 100"/>
                      <a:gd name="T18" fmla="*/ 15 w 44"/>
                      <a:gd name="T19" fmla="*/ 53 h 100"/>
                      <a:gd name="T20" fmla="*/ 7 w 44"/>
                      <a:gd name="T21" fmla="*/ 28 h 100"/>
                      <a:gd name="T22" fmla="*/ 0 w 44"/>
                      <a:gd name="T2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 h="100">
                        <a:moveTo>
                          <a:pt x="0" y="0"/>
                        </a:moveTo>
                        <a:lnTo>
                          <a:pt x="18" y="14"/>
                        </a:lnTo>
                        <a:lnTo>
                          <a:pt x="44" y="26"/>
                        </a:lnTo>
                        <a:lnTo>
                          <a:pt x="32" y="42"/>
                        </a:lnTo>
                        <a:lnTo>
                          <a:pt x="28" y="55"/>
                        </a:lnTo>
                        <a:lnTo>
                          <a:pt x="31" y="74"/>
                        </a:lnTo>
                        <a:lnTo>
                          <a:pt x="42" y="100"/>
                        </a:lnTo>
                        <a:lnTo>
                          <a:pt x="33" y="85"/>
                        </a:lnTo>
                        <a:lnTo>
                          <a:pt x="23" y="71"/>
                        </a:lnTo>
                        <a:lnTo>
                          <a:pt x="15" y="53"/>
                        </a:lnTo>
                        <a:lnTo>
                          <a:pt x="7" y="28"/>
                        </a:lnTo>
                        <a:lnTo>
                          <a:pt x="0" y="0"/>
                        </a:lnTo>
                        <a:close/>
                      </a:path>
                    </a:pathLst>
                  </a:custGeom>
                  <a:solidFill>
                    <a:srgbClr val="FF8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3" name="Freeform 375"/>
                  <p:cNvSpPr/>
                  <p:nvPr/>
                </p:nvSpPr>
                <p:spPr bwMode="auto">
                  <a:xfrm>
                    <a:off x="2650" y="2978"/>
                    <a:ext cx="12" cy="12"/>
                  </a:xfrm>
                  <a:custGeom>
                    <a:avLst/>
                    <a:gdLst>
                      <a:gd name="T0" fmla="*/ 22 w 85"/>
                      <a:gd name="T1" fmla="*/ 95 h 98"/>
                      <a:gd name="T2" fmla="*/ 23 w 85"/>
                      <a:gd name="T3" fmla="*/ 80 h 98"/>
                      <a:gd name="T4" fmla="*/ 24 w 85"/>
                      <a:gd name="T5" fmla="*/ 64 h 98"/>
                      <a:gd name="T6" fmla="*/ 32 w 85"/>
                      <a:gd name="T7" fmla="*/ 51 h 98"/>
                      <a:gd name="T8" fmla="*/ 56 w 85"/>
                      <a:gd name="T9" fmla="*/ 35 h 98"/>
                      <a:gd name="T10" fmla="*/ 81 w 85"/>
                      <a:gd name="T11" fmla="*/ 13 h 98"/>
                      <a:gd name="T12" fmla="*/ 85 w 85"/>
                      <a:gd name="T13" fmla="*/ 0 h 98"/>
                      <a:gd name="T14" fmla="*/ 51 w 85"/>
                      <a:gd name="T15" fmla="*/ 28 h 98"/>
                      <a:gd name="T16" fmla="*/ 17 w 85"/>
                      <a:gd name="T17" fmla="*/ 41 h 98"/>
                      <a:gd name="T18" fmla="*/ 4 w 85"/>
                      <a:gd name="T19" fmla="*/ 60 h 98"/>
                      <a:gd name="T20" fmla="*/ 0 w 85"/>
                      <a:gd name="T21" fmla="*/ 77 h 98"/>
                      <a:gd name="T22" fmla="*/ 0 w 85"/>
                      <a:gd name="T23" fmla="*/ 90 h 98"/>
                      <a:gd name="T24" fmla="*/ 4 w 85"/>
                      <a:gd name="T25" fmla="*/ 96 h 98"/>
                      <a:gd name="T26" fmla="*/ 12 w 85"/>
                      <a:gd name="T27" fmla="*/ 98 h 98"/>
                      <a:gd name="T28" fmla="*/ 22 w 85"/>
                      <a:gd name="T29" fmla="*/ 95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5" h="98">
                        <a:moveTo>
                          <a:pt x="22" y="95"/>
                        </a:moveTo>
                        <a:lnTo>
                          <a:pt x="23" y="80"/>
                        </a:lnTo>
                        <a:lnTo>
                          <a:pt x="24" y="64"/>
                        </a:lnTo>
                        <a:lnTo>
                          <a:pt x="32" y="51"/>
                        </a:lnTo>
                        <a:lnTo>
                          <a:pt x="56" y="35"/>
                        </a:lnTo>
                        <a:lnTo>
                          <a:pt x="81" y="13"/>
                        </a:lnTo>
                        <a:lnTo>
                          <a:pt x="85" y="0"/>
                        </a:lnTo>
                        <a:lnTo>
                          <a:pt x="51" y="28"/>
                        </a:lnTo>
                        <a:lnTo>
                          <a:pt x="17" y="41"/>
                        </a:lnTo>
                        <a:lnTo>
                          <a:pt x="4" y="60"/>
                        </a:lnTo>
                        <a:lnTo>
                          <a:pt x="0" y="77"/>
                        </a:lnTo>
                        <a:lnTo>
                          <a:pt x="0" y="90"/>
                        </a:lnTo>
                        <a:lnTo>
                          <a:pt x="4" y="96"/>
                        </a:lnTo>
                        <a:lnTo>
                          <a:pt x="12" y="98"/>
                        </a:lnTo>
                        <a:lnTo>
                          <a:pt x="22" y="95"/>
                        </a:lnTo>
                        <a:close/>
                      </a:path>
                    </a:pathLst>
                  </a:custGeom>
                  <a:solidFill>
                    <a:srgbClr val="A0806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4" name="Oval 376"/>
                  <p:cNvSpPr>
                    <a:spLocks noChangeArrowheads="1"/>
                  </p:cNvSpPr>
                  <p:nvPr/>
                </p:nvSpPr>
                <p:spPr bwMode="auto">
                  <a:xfrm>
                    <a:off x="2659" y="2989"/>
                    <a:ext cx="2" cy="2"/>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642425" name="Group 377"/>
                <p:cNvGrpSpPr/>
                <p:nvPr/>
              </p:nvGrpSpPr>
              <p:grpSpPr bwMode="auto">
                <a:xfrm>
                  <a:off x="2624" y="2934"/>
                  <a:ext cx="106" cy="69"/>
                  <a:chOff x="2624" y="2934"/>
                  <a:chExt cx="106" cy="69"/>
                </a:xfrm>
              </p:grpSpPr>
              <p:sp>
                <p:nvSpPr>
                  <p:cNvPr id="642426" name="Freeform 378"/>
                  <p:cNvSpPr/>
                  <p:nvPr/>
                </p:nvSpPr>
                <p:spPr bwMode="auto">
                  <a:xfrm>
                    <a:off x="2624" y="2934"/>
                    <a:ext cx="106" cy="69"/>
                  </a:xfrm>
                  <a:custGeom>
                    <a:avLst/>
                    <a:gdLst>
                      <a:gd name="T0" fmla="*/ 111 w 747"/>
                      <a:gd name="T1" fmla="*/ 98 h 555"/>
                      <a:gd name="T2" fmla="*/ 73 w 747"/>
                      <a:gd name="T3" fmla="*/ 138 h 555"/>
                      <a:gd name="T4" fmla="*/ 44 w 747"/>
                      <a:gd name="T5" fmla="*/ 168 h 555"/>
                      <a:gd name="T6" fmla="*/ 32 w 747"/>
                      <a:gd name="T7" fmla="*/ 196 h 555"/>
                      <a:gd name="T8" fmla="*/ 32 w 747"/>
                      <a:gd name="T9" fmla="*/ 223 h 555"/>
                      <a:gd name="T10" fmla="*/ 27 w 747"/>
                      <a:gd name="T11" fmla="*/ 255 h 555"/>
                      <a:gd name="T12" fmla="*/ 18 w 747"/>
                      <a:gd name="T13" fmla="*/ 278 h 555"/>
                      <a:gd name="T14" fmla="*/ 8 w 747"/>
                      <a:gd name="T15" fmla="*/ 314 h 555"/>
                      <a:gd name="T16" fmla="*/ 0 w 747"/>
                      <a:gd name="T17" fmla="*/ 347 h 555"/>
                      <a:gd name="T18" fmla="*/ 9 w 747"/>
                      <a:gd name="T19" fmla="*/ 391 h 555"/>
                      <a:gd name="T20" fmla="*/ 23 w 747"/>
                      <a:gd name="T21" fmla="*/ 421 h 555"/>
                      <a:gd name="T22" fmla="*/ 50 w 747"/>
                      <a:gd name="T23" fmla="*/ 442 h 555"/>
                      <a:gd name="T24" fmla="*/ 44 w 747"/>
                      <a:gd name="T25" fmla="*/ 426 h 555"/>
                      <a:gd name="T26" fmla="*/ 60 w 747"/>
                      <a:gd name="T27" fmla="*/ 423 h 555"/>
                      <a:gd name="T28" fmla="*/ 76 w 747"/>
                      <a:gd name="T29" fmla="*/ 436 h 555"/>
                      <a:gd name="T30" fmla="*/ 82 w 747"/>
                      <a:gd name="T31" fmla="*/ 434 h 555"/>
                      <a:gd name="T32" fmla="*/ 97 w 747"/>
                      <a:gd name="T33" fmla="*/ 428 h 555"/>
                      <a:gd name="T34" fmla="*/ 124 w 747"/>
                      <a:gd name="T35" fmla="*/ 419 h 555"/>
                      <a:gd name="T36" fmla="*/ 142 w 747"/>
                      <a:gd name="T37" fmla="*/ 394 h 555"/>
                      <a:gd name="T38" fmla="*/ 184 w 747"/>
                      <a:gd name="T39" fmla="*/ 400 h 555"/>
                      <a:gd name="T40" fmla="*/ 227 w 747"/>
                      <a:gd name="T41" fmla="*/ 391 h 555"/>
                      <a:gd name="T42" fmla="*/ 266 w 747"/>
                      <a:gd name="T43" fmla="*/ 365 h 555"/>
                      <a:gd name="T44" fmla="*/ 292 w 747"/>
                      <a:gd name="T45" fmla="*/ 341 h 555"/>
                      <a:gd name="T46" fmla="*/ 327 w 747"/>
                      <a:gd name="T47" fmla="*/ 337 h 555"/>
                      <a:gd name="T48" fmla="*/ 364 w 747"/>
                      <a:gd name="T49" fmla="*/ 356 h 555"/>
                      <a:gd name="T50" fmla="*/ 400 w 747"/>
                      <a:gd name="T51" fmla="*/ 391 h 555"/>
                      <a:gd name="T52" fmla="*/ 438 w 747"/>
                      <a:gd name="T53" fmla="*/ 417 h 555"/>
                      <a:gd name="T54" fmla="*/ 440 w 747"/>
                      <a:gd name="T55" fmla="*/ 446 h 555"/>
                      <a:gd name="T56" fmla="*/ 443 w 747"/>
                      <a:gd name="T57" fmla="*/ 468 h 555"/>
                      <a:gd name="T58" fmla="*/ 452 w 747"/>
                      <a:gd name="T59" fmla="*/ 501 h 555"/>
                      <a:gd name="T60" fmla="*/ 444 w 747"/>
                      <a:gd name="T61" fmla="*/ 555 h 555"/>
                      <a:gd name="T62" fmla="*/ 504 w 747"/>
                      <a:gd name="T63" fmla="*/ 536 h 555"/>
                      <a:gd name="T64" fmla="*/ 582 w 747"/>
                      <a:gd name="T65" fmla="*/ 503 h 555"/>
                      <a:gd name="T66" fmla="*/ 631 w 747"/>
                      <a:gd name="T67" fmla="*/ 467 h 555"/>
                      <a:gd name="T68" fmla="*/ 672 w 747"/>
                      <a:gd name="T69" fmla="*/ 451 h 555"/>
                      <a:gd name="T70" fmla="*/ 703 w 747"/>
                      <a:gd name="T71" fmla="*/ 417 h 555"/>
                      <a:gd name="T72" fmla="*/ 722 w 747"/>
                      <a:gd name="T73" fmla="*/ 374 h 555"/>
                      <a:gd name="T74" fmla="*/ 722 w 747"/>
                      <a:gd name="T75" fmla="*/ 332 h 555"/>
                      <a:gd name="T76" fmla="*/ 744 w 747"/>
                      <a:gd name="T77" fmla="*/ 292 h 555"/>
                      <a:gd name="T78" fmla="*/ 743 w 747"/>
                      <a:gd name="T79" fmla="*/ 248 h 555"/>
                      <a:gd name="T80" fmla="*/ 714 w 747"/>
                      <a:gd name="T81" fmla="*/ 188 h 555"/>
                      <a:gd name="T82" fmla="*/ 662 w 747"/>
                      <a:gd name="T83" fmla="*/ 120 h 555"/>
                      <a:gd name="T84" fmla="*/ 621 w 747"/>
                      <a:gd name="T85" fmla="*/ 78 h 555"/>
                      <a:gd name="T86" fmla="*/ 587 w 747"/>
                      <a:gd name="T87" fmla="*/ 59 h 555"/>
                      <a:gd name="T88" fmla="*/ 559 w 747"/>
                      <a:gd name="T89" fmla="*/ 24 h 555"/>
                      <a:gd name="T90" fmla="*/ 527 w 747"/>
                      <a:gd name="T91" fmla="*/ 3 h 555"/>
                      <a:gd name="T92" fmla="*/ 467 w 747"/>
                      <a:gd name="T93" fmla="*/ 2 h 555"/>
                      <a:gd name="T94" fmla="*/ 425 w 747"/>
                      <a:gd name="T95" fmla="*/ 10 h 555"/>
                      <a:gd name="T96" fmla="*/ 372 w 747"/>
                      <a:gd name="T97" fmla="*/ 10 h 555"/>
                      <a:gd name="T98" fmla="*/ 322 w 747"/>
                      <a:gd name="T99" fmla="*/ 2 h 555"/>
                      <a:gd name="T100" fmla="*/ 280 w 747"/>
                      <a:gd name="T101" fmla="*/ 5 h 555"/>
                      <a:gd name="T102" fmla="*/ 241 w 747"/>
                      <a:gd name="T103" fmla="*/ 19 h 555"/>
                      <a:gd name="T104" fmla="*/ 201 w 747"/>
                      <a:gd name="T105" fmla="*/ 30 h 555"/>
                      <a:gd name="T106" fmla="*/ 174 w 747"/>
                      <a:gd name="T107" fmla="*/ 61 h 555"/>
                      <a:gd name="T108" fmla="*/ 130 w 747"/>
                      <a:gd name="T109" fmla="*/ 87 h 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47" h="555">
                        <a:moveTo>
                          <a:pt x="130" y="87"/>
                        </a:moveTo>
                        <a:lnTo>
                          <a:pt x="111" y="98"/>
                        </a:lnTo>
                        <a:lnTo>
                          <a:pt x="94" y="114"/>
                        </a:lnTo>
                        <a:lnTo>
                          <a:pt x="73" y="138"/>
                        </a:lnTo>
                        <a:lnTo>
                          <a:pt x="58" y="150"/>
                        </a:lnTo>
                        <a:lnTo>
                          <a:pt x="44" y="168"/>
                        </a:lnTo>
                        <a:lnTo>
                          <a:pt x="36" y="181"/>
                        </a:lnTo>
                        <a:lnTo>
                          <a:pt x="32" y="196"/>
                        </a:lnTo>
                        <a:lnTo>
                          <a:pt x="30" y="209"/>
                        </a:lnTo>
                        <a:lnTo>
                          <a:pt x="32" y="223"/>
                        </a:lnTo>
                        <a:lnTo>
                          <a:pt x="35" y="240"/>
                        </a:lnTo>
                        <a:lnTo>
                          <a:pt x="27" y="255"/>
                        </a:lnTo>
                        <a:lnTo>
                          <a:pt x="21" y="265"/>
                        </a:lnTo>
                        <a:lnTo>
                          <a:pt x="18" y="278"/>
                        </a:lnTo>
                        <a:lnTo>
                          <a:pt x="15" y="295"/>
                        </a:lnTo>
                        <a:lnTo>
                          <a:pt x="8" y="314"/>
                        </a:lnTo>
                        <a:lnTo>
                          <a:pt x="3" y="329"/>
                        </a:lnTo>
                        <a:lnTo>
                          <a:pt x="0" y="347"/>
                        </a:lnTo>
                        <a:lnTo>
                          <a:pt x="2" y="369"/>
                        </a:lnTo>
                        <a:lnTo>
                          <a:pt x="9" y="391"/>
                        </a:lnTo>
                        <a:lnTo>
                          <a:pt x="15" y="407"/>
                        </a:lnTo>
                        <a:lnTo>
                          <a:pt x="23" y="421"/>
                        </a:lnTo>
                        <a:lnTo>
                          <a:pt x="34" y="431"/>
                        </a:lnTo>
                        <a:lnTo>
                          <a:pt x="50" y="442"/>
                        </a:lnTo>
                        <a:lnTo>
                          <a:pt x="43" y="432"/>
                        </a:lnTo>
                        <a:lnTo>
                          <a:pt x="44" y="426"/>
                        </a:lnTo>
                        <a:lnTo>
                          <a:pt x="52" y="422"/>
                        </a:lnTo>
                        <a:lnTo>
                          <a:pt x="60" y="423"/>
                        </a:lnTo>
                        <a:lnTo>
                          <a:pt x="69" y="427"/>
                        </a:lnTo>
                        <a:lnTo>
                          <a:pt x="76" y="436"/>
                        </a:lnTo>
                        <a:lnTo>
                          <a:pt x="88" y="444"/>
                        </a:lnTo>
                        <a:lnTo>
                          <a:pt x="82" y="434"/>
                        </a:lnTo>
                        <a:lnTo>
                          <a:pt x="81" y="426"/>
                        </a:lnTo>
                        <a:lnTo>
                          <a:pt x="97" y="428"/>
                        </a:lnTo>
                        <a:lnTo>
                          <a:pt x="111" y="426"/>
                        </a:lnTo>
                        <a:lnTo>
                          <a:pt x="124" y="419"/>
                        </a:lnTo>
                        <a:lnTo>
                          <a:pt x="133" y="409"/>
                        </a:lnTo>
                        <a:lnTo>
                          <a:pt x="142" y="394"/>
                        </a:lnTo>
                        <a:lnTo>
                          <a:pt x="163" y="399"/>
                        </a:lnTo>
                        <a:lnTo>
                          <a:pt x="184" y="400"/>
                        </a:lnTo>
                        <a:lnTo>
                          <a:pt x="206" y="397"/>
                        </a:lnTo>
                        <a:lnTo>
                          <a:pt x="227" y="391"/>
                        </a:lnTo>
                        <a:lnTo>
                          <a:pt x="247" y="380"/>
                        </a:lnTo>
                        <a:lnTo>
                          <a:pt x="266" y="365"/>
                        </a:lnTo>
                        <a:lnTo>
                          <a:pt x="279" y="351"/>
                        </a:lnTo>
                        <a:lnTo>
                          <a:pt x="292" y="341"/>
                        </a:lnTo>
                        <a:lnTo>
                          <a:pt x="307" y="334"/>
                        </a:lnTo>
                        <a:lnTo>
                          <a:pt x="327" y="337"/>
                        </a:lnTo>
                        <a:lnTo>
                          <a:pt x="353" y="338"/>
                        </a:lnTo>
                        <a:lnTo>
                          <a:pt x="364" y="356"/>
                        </a:lnTo>
                        <a:lnTo>
                          <a:pt x="379" y="376"/>
                        </a:lnTo>
                        <a:lnTo>
                          <a:pt x="400" y="391"/>
                        </a:lnTo>
                        <a:lnTo>
                          <a:pt x="427" y="407"/>
                        </a:lnTo>
                        <a:lnTo>
                          <a:pt x="438" y="417"/>
                        </a:lnTo>
                        <a:lnTo>
                          <a:pt x="444" y="434"/>
                        </a:lnTo>
                        <a:lnTo>
                          <a:pt x="440" y="446"/>
                        </a:lnTo>
                        <a:lnTo>
                          <a:pt x="439" y="458"/>
                        </a:lnTo>
                        <a:lnTo>
                          <a:pt x="443" y="468"/>
                        </a:lnTo>
                        <a:lnTo>
                          <a:pt x="450" y="479"/>
                        </a:lnTo>
                        <a:lnTo>
                          <a:pt x="452" y="501"/>
                        </a:lnTo>
                        <a:lnTo>
                          <a:pt x="450" y="527"/>
                        </a:lnTo>
                        <a:lnTo>
                          <a:pt x="444" y="555"/>
                        </a:lnTo>
                        <a:lnTo>
                          <a:pt x="469" y="547"/>
                        </a:lnTo>
                        <a:lnTo>
                          <a:pt x="504" y="536"/>
                        </a:lnTo>
                        <a:lnTo>
                          <a:pt x="546" y="521"/>
                        </a:lnTo>
                        <a:lnTo>
                          <a:pt x="582" y="503"/>
                        </a:lnTo>
                        <a:lnTo>
                          <a:pt x="609" y="485"/>
                        </a:lnTo>
                        <a:lnTo>
                          <a:pt x="631" y="467"/>
                        </a:lnTo>
                        <a:lnTo>
                          <a:pt x="651" y="461"/>
                        </a:lnTo>
                        <a:lnTo>
                          <a:pt x="672" y="451"/>
                        </a:lnTo>
                        <a:lnTo>
                          <a:pt x="690" y="437"/>
                        </a:lnTo>
                        <a:lnTo>
                          <a:pt x="703" y="417"/>
                        </a:lnTo>
                        <a:lnTo>
                          <a:pt x="713" y="398"/>
                        </a:lnTo>
                        <a:lnTo>
                          <a:pt x="722" y="374"/>
                        </a:lnTo>
                        <a:lnTo>
                          <a:pt x="725" y="351"/>
                        </a:lnTo>
                        <a:lnTo>
                          <a:pt x="722" y="332"/>
                        </a:lnTo>
                        <a:lnTo>
                          <a:pt x="735" y="315"/>
                        </a:lnTo>
                        <a:lnTo>
                          <a:pt x="744" y="292"/>
                        </a:lnTo>
                        <a:lnTo>
                          <a:pt x="747" y="269"/>
                        </a:lnTo>
                        <a:lnTo>
                          <a:pt x="743" y="248"/>
                        </a:lnTo>
                        <a:lnTo>
                          <a:pt x="734" y="226"/>
                        </a:lnTo>
                        <a:lnTo>
                          <a:pt x="714" y="188"/>
                        </a:lnTo>
                        <a:lnTo>
                          <a:pt x="687" y="152"/>
                        </a:lnTo>
                        <a:lnTo>
                          <a:pt x="662" y="120"/>
                        </a:lnTo>
                        <a:lnTo>
                          <a:pt x="640" y="93"/>
                        </a:lnTo>
                        <a:lnTo>
                          <a:pt x="621" y="78"/>
                        </a:lnTo>
                        <a:lnTo>
                          <a:pt x="607" y="69"/>
                        </a:lnTo>
                        <a:lnTo>
                          <a:pt x="587" y="59"/>
                        </a:lnTo>
                        <a:lnTo>
                          <a:pt x="569" y="46"/>
                        </a:lnTo>
                        <a:lnTo>
                          <a:pt x="559" y="24"/>
                        </a:lnTo>
                        <a:lnTo>
                          <a:pt x="545" y="12"/>
                        </a:lnTo>
                        <a:lnTo>
                          <a:pt x="527" y="3"/>
                        </a:lnTo>
                        <a:lnTo>
                          <a:pt x="494" y="0"/>
                        </a:lnTo>
                        <a:lnTo>
                          <a:pt x="467" y="2"/>
                        </a:lnTo>
                        <a:lnTo>
                          <a:pt x="446" y="6"/>
                        </a:lnTo>
                        <a:lnTo>
                          <a:pt x="425" y="10"/>
                        </a:lnTo>
                        <a:lnTo>
                          <a:pt x="399" y="13"/>
                        </a:lnTo>
                        <a:lnTo>
                          <a:pt x="372" y="10"/>
                        </a:lnTo>
                        <a:lnTo>
                          <a:pt x="348" y="6"/>
                        </a:lnTo>
                        <a:lnTo>
                          <a:pt x="322" y="2"/>
                        </a:lnTo>
                        <a:lnTo>
                          <a:pt x="301" y="1"/>
                        </a:lnTo>
                        <a:lnTo>
                          <a:pt x="280" y="5"/>
                        </a:lnTo>
                        <a:lnTo>
                          <a:pt x="260" y="10"/>
                        </a:lnTo>
                        <a:lnTo>
                          <a:pt x="241" y="19"/>
                        </a:lnTo>
                        <a:lnTo>
                          <a:pt x="221" y="24"/>
                        </a:lnTo>
                        <a:lnTo>
                          <a:pt x="201" y="30"/>
                        </a:lnTo>
                        <a:lnTo>
                          <a:pt x="188" y="44"/>
                        </a:lnTo>
                        <a:lnTo>
                          <a:pt x="174" y="61"/>
                        </a:lnTo>
                        <a:lnTo>
                          <a:pt x="157" y="76"/>
                        </a:lnTo>
                        <a:lnTo>
                          <a:pt x="130" y="87"/>
                        </a:lnTo>
                        <a:close/>
                      </a:path>
                    </a:pathLst>
                  </a:custGeom>
                  <a:solidFill>
                    <a:srgbClr val="60402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27" name="Freeform 379"/>
                  <p:cNvSpPr/>
                  <p:nvPr/>
                </p:nvSpPr>
                <p:spPr bwMode="auto">
                  <a:xfrm>
                    <a:off x="2678" y="2943"/>
                    <a:ext cx="51" cy="40"/>
                  </a:xfrm>
                  <a:custGeom>
                    <a:avLst/>
                    <a:gdLst>
                      <a:gd name="T0" fmla="*/ 21 w 356"/>
                      <a:gd name="T1" fmla="*/ 147 h 319"/>
                      <a:gd name="T2" fmla="*/ 62 w 356"/>
                      <a:gd name="T3" fmla="*/ 169 h 319"/>
                      <a:gd name="T4" fmla="*/ 94 w 356"/>
                      <a:gd name="T5" fmla="*/ 195 h 319"/>
                      <a:gd name="T6" fmla="*/ 116 w 356"/>
                      <a:gd name="T7" fmla="*/ 238 h 319"/>
                      <a:gd name="T8" fmla="*/ 139 w 356"/>
                      <a:gd name="T9" fmla="*/ 275 h 319"/>
                      <a:gd name="T10" fmla="*/ 133 w 356"/>
                      <a:gd name="T11" fmla="*/ 319 h 319"/>
                      <a:gd name="T12" fmla="*/ 156 w 356"/>
                      <a:gd name="T13" fmla="*/ 298 h 319"/>
                      <a:gd name="T14" fmla="*/ 163 w 356"/>
                      <a:gd name="T15" fmla="*/ 263 h 319"/>
                      <a:gd name="T16" fmla="*/ 172 w 356"/>
                      <a:gd name="T17" fmla="*/ 290 h 319"/>
                      <a:gd name="T18" fmla="*/ 180 w 356"/>
                      <a:gd name="T19" fmla="*/ 291 h 319"/>
                      <a:gd name="T20" fmla="*/ 207 w 356"/>
                      <a:gd name="T21" fmla="*/ 287 h 319"/>
                      <a:gd name="T22" fmla="*/ 204 w 356"/>
                      <a:gd name="T23" fmla="*/ 265 h 319"/>
                      <a:gd name="T24" fmla="*/ 219 w 356"/>
                      <a:gd name="T25" fmla="*/ 255 h 319"/>
                      <a:gd name="T26" fmla="*/ 224 w 356"/>
                      <a:gd name="T27" fmla="*/ 249 h 319"/>
                      <a:gd name="T28" fmla="*/ 222 w 356"/>
                      <a:gd name="T29" fmla="*/ 214 h 319"/>
                      <a:gd name="T30" fmla="*/ 251 w 356"/>
                      <a:gd name="T31" fmla="*/ 229 h 319"/>
                      <a:gd name="T32" fmla="*/ 258 w 356"/>
                      <a:gd name="T33" fmla="*/ 263 h 319"/>
                      <a:gd name="T34" fmla="*/ 272 w 356"/>
                      <a:gd name="T35" fmla="*/ 217 h 319"/>
                      <a:gd name="T36" fmla="*/ 261 w 356"/>
                      <a:gd name="T37" fmla="*/ 146 h 319"/>
                      <a:gd name="T38" fmla="*/ 287 w 356"/>
                      <a:gd name="T39" fmla="*/ 167 h 319"/>
                      <a:gd name="T40" fmla="*/ 304 w 356"/>
                      <a:gd name="T41" fmla="*/ 182 h 319"/>
                      <a:gd name="T42" fmla="*/ 311 w 356"/>
                      <a:gd name="T43" fmla="*/ 155 h 319"/>
                      <a:gd name="T44" fmla="*/ 304 w 356"/>
                      <a:gd name="T45" fmla="*/ 124 h 319"/>
                      <a:gd name="T46" fmla="*/ 308 w 356"/>
                      <a:gd name="T47" fmla="*/ 105 h 319"/>
                      <a:gd name="T48" fmla="*/ 323 w 356"/>
                      <a:gd name="T49" fmla="*/ 136 h 319"/>
                      <a:gd name="T50" fmla="*/ 343 w 356"/>
                      <a:gd name="T51" fmla="*/ 160 h 319"/>
                      <a:gd name="T52" fmla="*/ 341 w 356"/>
                      <a:gd name="T53" fmla="*/ 134 h 319"/>
                      <a:gd name="T54" fmla="*/ 296 w 356"/>
                      <a:gd name="T55" fmla="*/ 71 h 319"/>
                      <a:gd name="T56" fmla="*/ 247 w 356"/>
                      <a:gd name="T57" fmla="*/ 17 h 319"/>
                      <a:gd name="T58" fmla="*/ 213 w 356"/>
                      <a:gd name="T59" fmla="*/ 15 h 319"/>
                      <a:gd name="T60" fmla="*/ 226 w 356"/>
                      <a:gd name="T61" fmla="*/ 42 h 319"/>
                      <a:gd name="T62" fmla="*/ 254 w 356"/>
                      <a:gd name="T63" fmla="*/ 78 h 319"/>
                      <a:gd name="T64" fmla="*/ 270 w 356"/>
                      <a:gd name="T65" fmla="*/ 113 h 319"/>
                      <a:gd name="T66" fmla="*/ 264 w 356"/>
                      <a:gd name="T67" fmla="*/ 123 h 319"/>
                      <a:gd name="T68" fmla="*/ 243 w 356"/>
                      <a:gd name="T69" fmla="*/ 128 h 319"/>
                      <a:gd name="T70" fmla="*/ 210 w 356"/>
                      <a:gd name="T71" fmla="*/ 74 h 319"/>
                      <a:gd name="T72" fmla="*/ 160 w 356"/>
                      <a:gd name="T73" fmla="*/ 12 h 319"/>
                      <a:gd name="T74" fmla="*/ 197 w 356"/>
                      <a:gd name="T75" fmla="*/ 78 h 319"/>
                      <a:gd name="T76" fmla="*/ 226 w 356"/>
                      <a:gd name="T77" fmla="*/ 138 h 319"/>
                      <a:gd name="T78" fmla="*/ 227 w 356"/>
                      <a:gd name="T79" fmla="*/ 161 h 319"/>
                      <a:gd name="T80" fmla="*/ 215 w 356"/>
                      <a:gd name="T81" fmla="*/ 167 h 319"/>
                      <a:gd name="T82" fmla="*/ 204 w 356"/>
                      <a:gd name="T83" fmla="*/ 192 h 319"/>
                      <a:gd name="T84" fmla="*/ 188 w 356"/>
                      <a:gd name="T85" fmla="*/ 122 h 319"/>
                      <a:gd name="T86" fmla="*/ 159 w 356"/>
                      <a:gd name="T87" fmla="*/ 65 h 319"/>
                      <a:gd name="T88" fmla="*/ 123 w 356"/>
                      <a:gd name="T89" fmla="*/ 20 h 319"/>
                      <a:gd name="T90" fmla="*/ 114 w 356"/>
                      <a:gd name="T91" fmla="*/ 29 h 319"/>
                      <a:gd name="T92" fmla="*/ 143 w 356"/>
                      <a:gd name="T93" fmla="*/ 72 h 319"/>
                      <a:gd name="T94" fmla="*/ 171 w 356"/>
                      <a:gd name="T95" fmla="*/ 133 h 319"/>
                      <a:gd name="T96" fmla="*/ 183 w 356"/>
                      <a:gd name="T97" fmla="*/ 235 h 319"/>
                      <a:gd name="T98" fmla="*/ 153 w 356"/>
                      <a:gd name="T99" fmla="*/ 137 h 319"/>
                      <a:gd name="T100" fmla="*/ 153 w 356"/>
                      <a:gd name="T101" fmla="*/ 205 h 319"/>
                      <a:gd name="T102" fmla="*/ 144 w 356"/>
                      <a:gd name="T103" fmla="*/ 250 h 319"/>
                      <a:gd name="T104" fmla="*/ 130 w 356"/>
                      <a:gd name="T105" fmla="*/ 204 h 319"/>
                      <a:gd name="T106" fmla="*/ 123 w 356"/>
                      <a:gd name="T107" fmla="*/ 167 h 319"/>
                      <a:gd name="T108" fmla="*/ 122 w 356"/>
                      <a:gd name="T109" fmla="*/ 137 h 319"/>
                      <a:gd name="T110" fmla="*/ 115 w 356"/>
                      <a:gd name="T111" fmla="*/ 164 h 319"/>
                      <a:gd name="T112" fmla="*/ 90 w 356"/>
                      <a:gd name="T113" fmla="*/ 165 h 319"/>
                      <a:gd name="T114" fmla="*/ 56 w 356"/>
                      <a:gd name="T115" fmla="*/ 145 h 319"/>
                      <a:gd name="T116" fmla="*/ 18 w 356"/>
                      <a:gd name="T117" fmla="*/ 136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56" h="319">
                        <a:moveTo>
                          <a:pt x="0" y="137"/>
                        </a:moveTo>
                        <a:lnTo>
                          <a:pt x="21" y="147"/>
                        </a:lnTo>
                        <a:lnTo>
                          <a:pt x="42" y="157"/>
                        </a:lnTo>
                        <a:lnTo>
                          <a:pt x="62" y="169"/>
                        </a:lnTo>
                        <a:lnTo>
                          <a:pt x="80" y="183"/>
                        </a:lnTo>
                        <a:lnTo>
                          <a:pt x="94" y="195"/>
                        </a:lnTo>
                        <a:lnTo>
                          <a:pt x="103" y="207"/>
                        </a:lnTo>
                        <a:lnTo>
                          <a:pt x="116" y="238"/>
                        </a:lnTo>
                        <a:lnTo>
                          <a:pt x="130" y="292"/>
                        </a:lnTo>
                        <a:lnTo>
                          <a:pt x="139" y="275"/>
                        </a:lnTo>
                        <a:lnTo>
                          <a:pt x="138" y="293"/>
                        </a:lnTo>
                        <a:lnTo>
                          <a:pt x="133" y="319"/>
                        </a:lnTo>
                        <a:lnTo>
                          <a:pt x="148" y="310"/>
                        </a:lnTo>
                        <a:lnTo>
                          <a:pt x="156" y="298"/>
                        </a:lnTo>
                        <a:lnTo>
                          <a:pt x="161" y="283"/>
                        </a:lnTo>
                        <a:lnTo>
                          <a:pt x="163" y="263"/>
                        </a:lnTo>
                        <a:lnTo>
                          <a:pt x="170" y="276"/>
                        </a:lnTo>
                        <a:lnTo>
                          <a:pt x="172" y="290"/>
                        </a:lnTo>
                        <a:lnTo>
                          <a:pt x="169" y="298"/>
                        </a:lnTo>
                        <a:lnTo>
                          <a:pt x="180" y="291"/>
                        </a:lnTo>
                        <a:lnTo>
                          <a:pt x="189" y="281"/>
                        </a:lnTo>
                        <a:lnTo>
                          <a:pt x="207" y="287"/>
                        </a:lnTo>
                        <a:lnTo>
                          <a:pt x="203" y="277"/>
                        </a:lnTo>
                        <a:lnTo>
                          <a:pt x="204" y="265"/>
                        </a:lnTo>
                        <a:lnTo>
                          <a:pt x="207" y="253"/>
                        </a:lnTo>
                        <a:lnTo>
                          <a:pt x="219" y="255"/>
                        </a:lnTo>
                        <a:lnTo>
                          <a:pt x="231" y="263"/>
                        </a:lnTo>
                        <a:lnTo>
                          <a:pt x="224" y="249"/>
                        </a:lnTo>
                        <a:lnTo>
                          <a:pt x="220" y="232"/>
                        </a:lnTo>
                        <a:lnTo>
                          <a:pt x="222" y="214"/>
                        </a:lnTo>
                        <a:lnTo>
                          <a:pt x="236" y="220"/>
                        </a:lnTo>
                        <a:lnTo>
                          <a:pt x="251" y="229"/>
                        </a:lnTo>
                        <a:lnTo>
                          <a:pt x="261" y="242"/>
                        </a:lnTo>
                        <a:lnTo>
                          <a:pt x="258" y="263"/>
                        </a:lnTo>
                        <a:lnTo>
                          <a:pt x="272" y="235"/>
                        </a:lnTo>
                        <a:lnTo>
                          <a:pt x="272" y="217"/>
                        </a:lnTo>
                        <a:lnTo>
                          <a:pt x="275" y="187"/>
                        </a:lnTo>
                        <a:lnTo>
                          <a:pt x="261" y="146"/>
                        </a:lnTo>
                        <a:lnTo>
                          <a:pt x="274" y="156"/>
                        </a:lnTo>
                        <a:lnTo>
                          <a:pt x="287" y="167"/>
                        </a:lnTo>
                        <a:lnTo>
                          <a:pt x="294" y="187"/>
                        </a:lnTo>
                        <a:lnTo>
                          <a:pt x="304" y="182"/>
                        </a:lnTo>
                        <a:lnTo>
                          <a:pt x="309" y="170"/>
                        </a:lnTo>
                        <a:lnTo>
                          <a:pt x="311" y="155"/>
                        </a:lnTo>
                        <a:lnTo>
                          <a:pt x="309" y="143"/>
                        </a:lnTo>
                        <a:lnTo>
                          <a:pt x="304" y="124"/>
                        </a:lnTo>
                        <a:lnTo>
                          <a:pt x="294" y="101"/>
                        </a:lnTo>
                        <a:lnTo>
                          <a:pt x="308" y="105"/>
                        </a:lnTo>
                        <a:lnTo>
                          <a:pt x="318" y="119"/>
                        </a:lnTo>
                        <a:lnTo>
                          <a:pt x="323" y="136"/>
                        </a:lnTo>
                        <a:lnTo>
                          <a:pt x="332" y="153"/>
                        </a:lnTo>
                        <a:lnTo>
                          <a:pt x="343" y="160"/>
                        </a:lnTo>
                        <a:lnTo>
                          <a:pt x="356" y="165"/>
                        </a:lnTo>
                        <a:lnTo>
                          <a:pt x="341" y="134"/>
                        </a:lnTo>
                        <a:lnTo>
                          <a:pt x="324" y="107"/>
                        </a:lnTo>
                        <a:lnTo>
                          <a:pt x="296" y="71"/>
                        </a:lnTo>
                        <a:lnTo>
                          <a:pt x="273" y="41"/>
                        </a:lnTo>
                        <a:lnTo>
                          <a:pt x="247" y="17"/>
                        </a:lnTo>
                        <a:lnTo>
                          <a:pt x="222" y="0"/>
                        </a:lnTo>
                        <a:lnTo>
                          <a:pt x="213" y="15"/>
                        </a:lnTo>
                        <a:lnTo>
                          <a:pt x="200" y="24"/>
                        </a:lnTo>
                        <a:lnTo>
                          <a:pt x="226" y="42"/>
                        </a:lnTo>
                        <a:lnTo>
                          <a:pt x="240" y="59"/>
                        </a:lnTo>
                        <a:lnTo>
                          <a:pt x="254" y="78"/>
                        </a:lnTo>
                        <a:lnTo>
                          <a:pt x="263" y="95"/>
                        </a:lnTo>
                        <a:lnTo>
                          <a:pt x="270" y="113"/>
                        </a:lnTo>
                        <a:lnTo>
                          <a:pt x="275" y="131"/>
                        </a:lnTo>
                        <a:lnTo>
                          <a:pt x="264" y="123"/>
                        </a:lnTo>
                        <a:lnTo>
                          <a:pt x="249" y="116"/>
                        </a:lnTo>
                        <a:lnTo>
                          <a:pt x="243" y="128"/>
                        </a:lnTo>
                        <a:lnTo>
                          <a:pt x="227" y="98"/>
                        </a:lnTo>
                        <a:lnTo>
                          <a:pt x="210" y="74"/>
                        </a:lnTo>
                        <a:lnTo>
                          <a:pt x="185" y="41"/>
                        </a:lnTo>
                        <a:lnTo>
                          <a:pt x="160" y="12"/>
                        </a:lnTo>
                        <a:lnTo>
                          <a:pt x="184" y="52"/>
                        </a:lnTo>
                        <a:lnTo>
                          <a:pt x="197" y="78"/>
                        </a:lnTo>
                        <a:lnTo>
                          <a:pt x="210" y="105"/>
                        </a:lnTo>
                        <a:lnTo>
                          <a:pt x="226" y="138"/>
                        </a:lnTo>
                        <a:lnTo>
                          <a:pt x="243" y="181"/>
                        </a:lnTo>
                        <a:lnTo>
                          <a:pt x="227" y="161"/>
                        </a:lnTo>
                        <a:lnTo>
                          <a:pt x="210" y="150"/>
                        </a:lnTo>
                        <a:lnTo>
                          <a:pt x="215" y="167"/>
                        </a:lnTo>
                        <a:lnTo>
                          <a:pt x="210" y="183"/>
                        </a:lnTo>
                        <a:lnTo>
                          <a:pt x="204" y="192"/>
                        </a:lnTo>
                        <a:lnTo>
                          <a:pt x="197" y="155"/>
                        </a:lnTo>
                        <a:lnTo>
                          <a:pt x="188" y="122"/>
                        </a:lnTo>
                        <a:lnTo>
                          <a:pt x="175" y="92"/>
                        </a:lnTo>
                        <a:lnTo>
                          <a:pt x="159" y="65"/>
                        </a:lnTo>
                        <a:lnTo>
                          <a:pt x="144" y="43"/>
                        </a:lnTo>
                        <a:lnTo>
                          <a:pt x="123" y="20"/>
                        </a:lnTo>
                        <a:lnTo>
                          <a:pt x="95" y="0"/>
                        </a:lnTo>
                        <a:lnTo>
                          <a:pt x="114" y="29"/>
                        </a:lnTo>
                        <a:lnTo>
                          <a:pt x="128" y="48"/>
                        </a:lnTo>
                        <a:lnTo>
                          <a:pt x="143" y="72"/>
                        </a:lnTo>
                        <a:lnTo>
                          <a:pt x="159" y="102"/>
                        </a:lnTo>
                        <a:lnTo>
                          <a:pt x="171" y="133"/>
                        </a:lnTo>
                        <a:lnTo>
                          <a:pt x="180" y="173"/>
                        </a:lnTo>
                        <a:lnTo>
                          <a:pt x="183" y="235"/>
                        </a:lnTo>
                        <a:lnTo>
                          <a:pt x="169" y="192"/>
                        </a:lnTo>
                        <a:lnTo>
                          <a:pt x="153" y="137"/>
                        </a:lnTo>
                        <a:lnTo>
                          <a:pt x="155" y="172"/>
                        </a:lnTo>
                        <a:lnTo>
                          <a:pt x="153" y="205"/>
                        </a:lnTo>
                        <a:lnTo>
                          <a:pt x="149" y="228"/>
                        </a:lnTo>
                        <a:lnTo>
                          <a:pt x="144" y="250"/>
                        </a:lnTo>
                        <a:lnTo>
                          <a:pt x="137" y="225"/>
                        </a:lnTo>
                        <a:lnTo>
                          <a:pt x="130" y="204"/>
                        </a:lnTo>
                        <a:lnTo>
                          <a:pt x="119" y="181"/>
                        </a:lnTo>
                        <a:lnTo>
                          <a:pt x="123" y="167"/>
                        </a:lnTo>
                        <a:lnTo>
                          <a:pt x="126" y="154"/>
                        </a:lnTo>
                        <a:lnTo>
                          <a:pt x="122" y="137"/>
                        </a:lnTo>
                        <a:lnTo>
                          <a:pt x="118" y="154"/>
                        </a:lnTo>
                        <a:lnTo>
                          <a:pt x="115" y="164"/>
                        </a:lnTo>
                        <a:lnTo>
                          <a:pt x="106" y="176"/>
                        </a:lnTo>
                        <a:lnTo>
                          <a:pt x="90" y="165"/>
                        </a:lnTo>
                        <a:lnTo>
                          <a:pt x="74" y="154"/>
                        </a:lnTo>
                        <a:lnTo>
                          <a:pt x="56" y="145"/>
                        </a:lnTo>
                        <a:lnTo>
                          <a:pt x="38" y="140"/>
                        </a:lnTo>
                        <a:lnTo>
                          <a:pt x="18" y="136"/>
                        </a:lnTo>
                        <a:lnTo>
                          <a:pt x="0" y="137"/>
                        </a:lnTo>
                        <a:close/>
                      </a:path>
                    </a:pathLst>
                  </a:custGeom>
                  <a:solidFill>
                    <a:srgbClr val="80604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grpSp>
      </p:grpSp>
      <p:grpSp>
        <p:nvGrpSpPr>
          <p:cNvPr id="642428" name="Group 380"/>
          <p:cNvGrpSpPr/>
          <p:nvPr/>
        </p:nvGrpSpPr>
        <p:grpSpPr bwMode="auto">
          <a:xfrm>
            <a:off x="1600200" y="3886200"/>
            <a:ext cx="1143000" cy="762000"/>
            <a:chOff x="4560" y="518"/>
            <a:chExt cx="619" cy="924"/>
          </a:xfrm>
        </p:grpSpPr>
        <p:pic>
          <p:nvPicPr>
            <p:cNvPr id="642429" name="Picture 381"/>
            <p:cNvPicPr>
              <a:picLocks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815" y="614"/>
              <a:ext cx="364"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2430" name="Picture 38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60" y="518"/>
              <a:ext cx="491" cy="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642432" name="Group 384"/>
          <p:cNvGrpSpPr/>
          <p:nvPr/>
        </p:nvGrpSpPr>
        <p:grpSpPr bwMode="auto">
          <a:xfrm>
            <a:off x="3733807" y="3886200"/>
            <a:ext cx="974725" cy="685800"/>
            <a:chOff x="10295" y="7532"/>
            <a:chExt cx="498" cy="332"/>
          </a:xfrm>
        </p:grpSpPr>
        <p:sp>
          <p:nvSpPr>
            <p:cNvPr id="642433" name="Rectangle 385"/>
            <p:cNvSpPr>
              <a:spLocks noChangeArrowheads="1"/>
            </p:cNvSpPr>
            <p:nvPr/>
          </p:nvSpPr>
          <p:spPr bwMode="auto">
            <a:xfrm>
              <a:off x="10295" y="7568"/>
              <a:ext cx="441" cy="296"/>
            </a:xfrm>
            <a:prstGeom prst="rect">
              <a:avLst/>
            </a:prstGeom>
            <a:solidFill>
              <a:srgbClr val="0096D5"/>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42434" name="Rectangle 386"/>
            <p:cNvSpPr>
              <a:spLocks noChangeArrowheads="1"/>
            </p:cNvSpPr>
            <p:nvPr/>
          </p:nvSpPr>
          <p:spPr bwMode="auto">
            <a:xfrm>
              <a:off x="10297" y="7570"/>
              <a:ext cx="437" cy="292"/>
            </a:xfrm>
            <a:prstGeom prst="rect">
              <a:avLst/>
            </a:prstGeom>
            <a:solidFill>
              <a:srgbClr val="0096D5"/>
            </a:solidFill>
            <a:ln w="2540">
              <a:solidFill>
                <a:srgbClr val="AAE6FF"/>
              </a:solidFill>
              <a:miter lim="800000"/>
            </a:ln>
          </p:spPr>
          <p:txBody>
            <a:bodyPr/>
            <a:lstStyle/>
            <a:p>
              <a:endParaRPr lang="zh-CN" altLang="en-US"/>
            </a:p>
          </p:txBody>
        </p:sp>
        <p:sp>
          <p:nvSpPr>
            <p:cNvPr id="642435" name="Freeform 387"/>
            <p:cNvSpPr/>
            <p:nvPr/>
          </p:nvSpPr>
          <p:spPr bwMode="auto">
            <a:xfrm>
              <a:off x="10295" y="7532"/>
              <a:ext cx="498" cy="36"/>
            </a:xfrm>
            <a:custGeom>
              <a:avLst/>
              <a:gdLst>
                <a:gd name="T0" fmla="*/ 0 w 498"/>
                <a:gd name="T1" fmla="*/ 36 h 36"/>
                <a:gd name="T2" fmla="*/ 56 w 498"/>
                <a:gd name="T3" fmla="*/ 0 h 36"/>
                <a:gd name="T4" fmla="*/ 498 w 498"/>
                <a:gd name="T5" fmla="*/ 0 h 36"/>
                <a:gd name="T6" fmla="*/ 441 w 498"/>
                <a:gd name="T7" fmla="*/ 36 h 36"/>
                <a:gd name="T8" fmla="*/ 0 w 498"/>
                <a:gd name="T9" fmla="*/ 36 h 36"/>
              </a:gdLst>
              <a:ahLst/>
              <a:cxnLst>
                <a:cxn ang="0">
                  <a:pos x="T0" y="T1"/>
                </a:cxn>
                <a:cxn ang="0">
                  <a:pos x="T2" y="T3"/>
                </a:cxn>
                <a:cxn ang="0">
                  <a:pos x="T4" y="T5"/>
                </a:cxn>
                <a:cxn ang="0">
                  <a:pos x="T6" y="T7"/>
                </a:cxn>
                <a:cxn ang="0">
                  <a:pos x="T8" y="T9"/>
                </a:cxn>
              </a:cxnLst>
              <a:rect l="0" t="0" r="r" b="b"/>
              <a:pathLst>
                <a:path w="498" h="36">
                  <a:moveTo>
                    <a:pt x="0" y="36"/>
                  </a:moveTo>
                  <a:lnTo>
                    <a:pt x="56" y="0"/>
                  </a:lnTo>
                  <a:lnTo>
                    <a:pt x="498" y="0"/>
                  </a:lnTo>
                  <a:lnTo>
                    <a:pt x="441" y="36"/>
                  </a:lnTo>
                  <a:lnTo>
                    <a:pt x="0" y="36"/>
                  </a:lnTo>
                  <a:close/>
                </a:path>
              </a:pathLst>
            </a:custGeom>
            <a:solidFill>
              <a:srgbClr val="00B4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36" name="Freeform 388"/>
            <p:cNvSpPr/>
            <p:nvPr/>
          </p:nvSpPr>
          <p:spPr bwMode="auto">
            <a:xfrm>
              <a:off x="10295" y="7532"/>
              <a:ext cx="498" cy="36"/>
            </a:xfrm>
            <a:custGeom>
              <a:avLst/>
              <a:gdLst>
                <a:gd name="T0" fmla="*/ 0 w 498"/>
                <a:gd name="T1" fmla="*/ 36 h 36"/>
                <a:gd name="T2" fmla="*/ 56 w 498"/>
                <a:gd name="T3" fmla="*/ 0 h 36"/>
                <a:gd name="T4" fmla="*/ 498 w 498"/>
                <a:gd name="T5" fmla="*/ 0 h 36"/>
                <a:gd name="T6" fmla="*/ 441 w 498"/>
                <a:gd name="T7" fmla="*/ 36 h 36"/>
                <a:gd name="T8" fmla="*/ 0 w 498"/>
                <a:gd name="T9" fmla="*/ 36 h 36"/>
              </a:gdLst>
              <a:ahLst/>
              <a:cxnLst>
                <a:cxn ang="0">
                  <a:pos x="T0" y="T1"/>
                </a:cxn>
                <a:cxn ang="0">
                  <a:pos x="T2" y="T3"/>
                </a:cxn>
                <a:cxn ang="0">
                  <a:pos x="T4" y="T5"/>
                </a:cxn>
                <a:cxn ang="0">
                  <a:pos x="T6" y="T7"/>
                </a:cxn>
                <a:cxn ang="0">
                  <a:pos x="T8" y="T9"/>
                </a:cxn>
              </a:cxnLst>
              <a:rect l="0" t="0" r="r" b="b"/>
              <a:pathLst>
                <a:path w="498" h="36">
                  <a:moveTo>
                    <a:pt x="0" y="36"/>
                  </a:moveTo>
                  <a:lnTo>
                    <a:pt x="56" y="0"/>
                  </a:lnTo>
                  <a:lnTo>
                    <a:pt x="498" y="0"/>
                  </a:lnTo>
                  <a:lnTo>
                    <a:pt x="441" y="36"/>
                  </a:lnTo>
                  <a:lnTo>
                    <a:pt x="0" y="36"/>
                  </a:lnTo>
                  <a:close/>
                </a:path>
              </a:pathLst>
            </a:custGeom>
            <a:solidFill>
              <a:srgbClr val="00B4FF"/>
            </a:solidFill>
            <a:ln w="2540">
              <a:solidFill>
                <a:srgbClr val="AAE6FF"/>
              </a:solidFill>
              <a:round/>
            </a:ln>
          </p:spPr>
          <p:txBody>
            <a:bodyPr/>
            <a:lstStyle/>
            <a:p>
              <a:endParaRPr lang="zh-CN" altLang="en-US"/>
            </a:p>
          </p:txBody>
        </p:sp>
        <p:sp>
          <p:nvSpPr>
            <p:cNvPr id="642437" name="Freeform 389"/>
            <p:cNvSpPr/>
            <p:nvPr/>
          </p:nvSpPr>
          <p:spPr bwMode="auto">
            <a:xfrm>
              <a:off x="10736" y="7532"/>
              <a:ext cx="57" cy="329"/>
            </a:xfrm>
            <a:custGeom>
              <a:avLst/>
              <a:gdLst>
                <a:gd name="T0" fmla="*/ 0 w 57"/>
                <a:gd name="T1" fmla="*/ 36 h 329"/>
                <a:gd name="T2" fmla="*/ 57 w 57"/>
                <a:gd name="T3" fmla="*/ 0 h 329"/>
                <a:gd name="T4" fmla="*/ 57 w 57"/>
                <a:gd name="T5" fmla="*/ 294 h 329"/>
                <a:gd name="T6" fmla="*/ 0 w 57"/>
                <a:gd name="T7" fmla="*/ 329 h 329"/>
                <a:gd name="T8" fmla="*/ 0 w 57"/>
                <a:gd name="T9" fmla="*/ 36 h 329"/>
              </a:gdLst>
              <a:ahLst/>
              <a:cxnLst>
                <a:cxn ang="0">
                  <a:pos x="T0" y="T1"/>
                </a:cxn>
                <a:cxn ang="0">
                  <a:pos x="T2" y="T3"/>
                </a:cxn>
                <a:cxn ang="0">
                  <a:pos x="T4" y="T5"/>
                </a:cxn>
                <a:cxn ang="0">
                  <a:pos x="T6" y="T7"/>
                </a:cxn>
                <a:cxn ang="0">
                  <a:pos x="T8" y="T9"/>
                </a:cxn>
              </a:cxnLst>
              <a:rect l="0" t="0" r="r" b="b"/>
              <a:pathLst>
                <a:path w="57" h="329">
                  <a:moveTo>
                    <a:pt x="0" y="36"/>
                  </a:moveTo>
                  <a:lnTo>
                    <a:pt x="57" y="0"/>
                  </a:lnTo>
                  <a:lnTo>
                    <a:pt x="57" y="294"/>
                  </a:lnTo>
                  <a:lnTo>
                    <a:pt x="0" y="329"/>
                  </a:lnTo>
                  <a:lnTo>
                    <a:pt x="0" y="36"/>
                  </a:lnTo>
                  <a:close/>
                </a:path>
              </a:pathLst>
            </a:custGeom>
            <a:solidFill>
              <a:srgbClr val="005A8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38" name="Freeform 390"/>
            <p:cNvSpPr/>
            <p:nvPr/>
          </p:nvSpPr>
          <p:spPr bwMode="auto">
            <a:xfrm>
              <a:off x="10736" y="7532"/>
              <a:ext cx="57" cy="329"/>
            </a:xfrm>
            <a:custGeom>
              <a:avLst/>
              <a:gdLst>
                <a:gd name="T0" fmla="*/ 0 w 57"/>
                <a:gd name="T1" fmla="*/ 36 h 329"/>
                <a:gd name="T2" fmla="*/ 57 w 57"/>
                <a:gd name="T3" fmla="*/ 0 h 329"/>
                <a:gd name="T4" fmla="*/ 57 w 57"/>
                <a:gd name="T5" fmla="*/ 294 h 329"/>
                <a:gd name="T6" fmla="*/ 0 w 57"/>
                <a:gd name="T7" fmla="*/ 329 h 329"/>
                <a:gd name="T8" fmla="*/ 0 w 57"/>
                <a:gd name="T9" fmla="*/ 36 h 329"/>
              </a:gdLst>
              <a:ahLst/>
              <a:cxnLst>
                <a:cxn ang="0">
                  <a:pos x="T0" y="T1"/>
                </a:cxn>
                <a:cxn ang="0">
                  <a:pos x="T2" y="T3"/>
                </a:cxn>
                <a:cxn ang="0">
                  <a:pos x="T4" y="T5"/>
                </a:cxn>
                <a:cxn ang="0">
                  <a:pos x="T6" y="T7"/>
                </a:cxn>
                <a:cxn ang="0">
                  <a:pos x="T8" y="T9"/>
                </a:cxn>
              </a:cxnLst>
              <a:rect l="0" t="0" r="r" b="b"/>
              <a:pathLst>
                <a:path w="57" h="329">
                  <a:moveTo>
                    <a:pt x="0" y="36"/>
                  </a:moveTo>
                  <a:lnTo>
                    <a:pt x="57" y="0"/>
                  </a:lnTo>
                  <a:lnTo>
                    <a:pt x="57" y="294"/>
                  </a:lnTo>
                  <a:lnTo>
                    <a:pt x="0" y="329"/>
                  </a:lnTo>
                  <a:lnTo>
                    <a:pt x="0" y="36"/>
                  </a:lnTo>
                  <a:close/>
                </a:path>
              </a:pathLst>
            </a:custGeom>
            <a:solidFill>
              <a:srgbClr val="005A80"/>
            </a:solidFill>
            <a:ln w="2540">
              <a:solidFill>
                <a:srgbClr val="AAE6FF"/>
              </a:solidFill>
              <a:round/>
            </a:ln>
          </p:spPr>
          <p:txBody>
            <a:bodyPr/>
            <a:lstStyle/>
            <a:p>
              <a:endParaRPr lang="zh-CN" altLang="en-US"/>
            </a:p>
          </p:txBody>
        </p:sp>
        <p:grpSp>
          <p:nvGrpSpPr>
            <p:cNvPr id="642439" name="Group 391"/>
            <p:cNvGrpSpPr/>
            <p:nvPr/>
          </p:nvGrpSpPr>
          <p:grpSpPr bwMode="auto">
            <a:xfrm>
              <a:off x="10327" y="7595"/>
              <a:ext cx="389" cy="252"/>
              <a:chOff x="10327" y="7595"/>
              <a:chExt cx="389" cy="252"/>
            </a:xfrm>
          </p:grpSpPr>
          <p:sp>
            <p:nvSpPr>
              <p:cNvPr id="642440" name="Freeform 392"/>
              <p:cNvSpPr/>
              <p:nvPr/>
            </p:nvSpPr>
            <p:spPr bwMode="auto">
              <a:xfrm>
                <a:off x="10327" y="7595"/>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8 h 250"/>
                  <a:gd name="T16" fmla="*/ 329 w 385"/>
                  <a:gd name="T17" fmla="*/ 76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2 h 250"/>
                  <a:gd name="T36" fmla="*/ 241 w 385"/>
                  <a:gd name="T37" fmla="*/ 222 h 250"/>
                  <a:gd name="T38" fmla="*/ 193 w 385"/>
                  <a:gd name="T39" fmla="*/ 152 h 250"/>
                  <a:gd name="T40" fmla="*/ 144 w 385"/>
                  <a:gd name="T41" fmla="*/ 222 h 250"/>
                  <a:gd name="T42" fmla="*/ 56 w 385"/>
                  <a:gd name="T43" fmla="*/ 222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6 h 250"/>
                  <a:gd name="T62" fmla="*/ 0 w 385"/>
                  <a:gd name="T63" fmla="*/ 38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8"/>
                    </a:lnTo>
                    <a:lnTo>
                      <a:pt x="329" y="76"/>
                    </a:lnTo>
                    <a:lnTo>
                      <a:pt x="329" y="49"/>
                    </a:lnTo>
                    <a:lnTo>
                      <a:pt x="265" y="49"/>
                    </a:lnTo>
                    <a:lnTo>
                      <a:pt x="213" y="125"/>
                    </a:lnTo>
                    <a:lnTo>
                      <a:pt x="265" y="201"/>
                    </a:lnTo>
                    <a:lnTo>
                      <a:pt x="329" y="201"/>
                    </a:lnTo>
                    <a:lnTo>
                      <a:pt x="329" y="174"/>
                    </a:lnTo>
                    <a:lnTo>
                      <a:pt x="385" y="212"/>
                    </a:lnTo>
                    <a:lnTo>
                      <a:pt x="329" y="250"/>
                    </a:lnTo>
                    <a:lnTo>
                      <a:pt x="329" y="222"/>
                    </a:lnTo>
                    <a:lnTo>
                      <a:pt x="241" y="222"/>
                    </a:lnTo>
                    <a:lnTo>
                      <a:pt x="193" y="152"/>
                    </a:lnTo>
                    <a:lnTo>
                      <a:pt x="144" y="222"/>
                    </a:lnTo>
                    <a:lnTo>
                      <a:pt x="56" y="222"/>
                    </a:lnTo>
                    <a:lnTo>
                      <a:pt x="56" y="250"/>
                    </a:lnTo>
                    <a:lnTo>
                      <a:pt x="0" y="212"/>
                    </a:lnTo>
                    <a:lnTo>
                      <a:pt x="56" y="174"/>
                    </a:lnTo>
                    <a:lnTo>
                      <a:pt x="56" y="201"/>
                    </a:lnTo>
                    <a:lnTo>
                      <a:pt x="116" y="201"/>
                    </a:lnTo>
                    <a:lnTo>
                      <a:pt x="173" y="125"/>
                    </a:lnTo>
                    <a:lnTo>
                      <a:pt x="116" y="49"/>
                    </a:lnTo>
                    <a:lnTo>
                      <a:pt x="56" y="49"/>
                    </a:lnTo>
                    <a:lnTo>
                      <a:pt x="56" y="76"/>
                    </a:lnTo>
                    <a:lnTo>
                      <a:pt x="0" y="38"/>
                    </a:lnTo>
                    <a:lnTo>
                      <a:pt x="56"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41" name="Freeform 393"/>
              <p:cNvSpPr/>
              <p:nvPr/>
            </p:nvSpPr>
            <p:spPr bwMode="auto">
              <a:xfrm>
                <a:off x="10327" y="7595"/>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8 h 250"/>
                  <a:gd name="T16" fmla="*/ 329 w 385"/>
                  <a:gd name="T17" fmla="*/ 76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2 h 250"/>
                  <a:gd name="T36" fmla="*/ 241 w 385"/>
                  <a:gd name="T37" fmla="*/ 222 h 250"/>
                  <a:gd name="T38" fmla="*/ 193 w 385"/>
                  <a:gd name="T39" fmla="*/ 152 h 250"/>
                  <a:gd name="T40" fmla="*/ 144 w 385"/>
                  <a:gd name="T41" fmla="*/ 222 h 250"/>
                  <a:gd name="T42" fmla="*/ 56 w 385"/>
                  <a:gd name="T43" fmla="*/ 222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6 h 250"/>
                  <a:gd name="T62" fmla="*/ 0 w 385"/>
                  <a:gd name="T63" fmla="*/ 38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8"/>
                    </a:lnTo>
                    <a:lnTo>
                      <a:pt x="329" y="76"/>
                    </a:lnTo>
                    <a:lnTo>
                      <a:pt x="329" y="49"/>
                    </a:lnTo>
                    <a:lnTo>
                      <a:pt x="265" y="49"/>
                    </a:lnTo>
                    <a:lnTo>
                      <a:pt x="213" y="125"/>
                    </a:lnTo>
                    <a:lnTo>
                      <a:pt x="265" y="201"/>
                    </a:lnTo>
                    <a:lnTo>
                      <a:pt x="329" y="201"/>
                    </a:lnTo>
                    <a:lnTo>
                      <a:pt x="329" y="174"/>
                    </a:lnTo>
                    <a:lnTo>
                      <a:pt x="385" y="212"/>
                    </a:lnTo>
                    <a:lnTo>
                      <a:pt x="329" y="250"/>
                    </a:lnTo>
                    <a:lnTo>
                      <a:pt x="329" y="222"/>
                    </a:lnTo>
                    <a:lnTo>
                      <a:pt x="241" y="222"/>
                    </a:lnTo>
                    <a:lnTo>
                      <a:pt x="193" y="152"/>
                    </a:lnTo>
                    <a:lnTo>
                      <a:pt x="144" y="222"/>
                    </a:lnTo>
                    <a:lnTo>
                      <a:pt x="56" y="222"/>
                    </a:lnTo>
                    <a:lnTo>
                      <a:pt x="56" y="250"/>
                    </a:lnTo>
                    <a:lnTo>
                      <a:pt x="0" y="212"/>
                    </a:lnTo>
                    <a:lnTo>
                      <a:pt x="56" y="174"/>
                    </a:lnTo>
                    <a:lnTo>
                      <a:pt x="56" y="201"/>
                    </a:lnTo>
                    <a:lnTo>
                      <a:pt x="116" y="201"/>
                    </a:lnTo>
                    <a:lnTo>
                      <a:pt x="173" y="125"/>
                    </a:lnTo>
                    <a:lnTo>
                      <a:pt x="116" y="49"/>
                    </a:lnTo>
                    <a:lnTo>
                      <a:pt x="56" y="49"/>
                    </a:lnTo>
                    <a:lnTo>
                      <a:pt x="56" y="76"/>
                    </a:lnTo>
                    <a:lnTo>
                      <a:pt x="0" y="38"/>
                    </a:lnTo>
                    <a:lnTo>
                      <a:pt x="56"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42" name="Freeform 394"/>
              <p:cNvSpPr/>
              <p:nvPr/>
            </p:nvSpPr>
            <p:spPr bwMode="auto">
              <a:xfrm>
                <a:off x="10331" y="7597"/>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9 h 250"/>
                  <a:gd name="T16" fmla="*/ 329 w 385"/>
                  <a:gd name="T17" fmla="*/ 77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3 h 250"/>
                  <a:gd name="T36" fmla="*/ 241 w 385"/>
                  <a:gd name="T37" fmla="*/ 223 h 250"/>
                  <a:gd name="T38" fmla="*/ 193 w 385"/>
                  <a:gd name="T39" fmla="*/ 153 h 250"/>
                  <a:gd name="T40" fmla="*/ 144 w 385"/>
                  <a:gd name="T41" fmla="*/ 223 h 250"/>
                  <a:gd name="T42" fmla="*/ 56 w 385"/>
                  <a:gd name="T43" fmla="*/ 223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7 h 250"/>
                  <a:gd name="T62" fmla="*/ 0 w 385"/>
                  <a:gd name="T63" fmla="*/ 39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9"/>
                    </a:lnTo>
                    <a:lnTo>
                      <a:pt x="329" y="77"/>
                    </a:lnTo>
                    <a:lnTo>
                      <a:pt x="329" y="49"/>
                    </a:lnTo>
                    <a:lnTo>
                      <a:pt x="265" y="49"/>
                    </a:lnTo>
                    <a:lnTo>
                      <a:pt x="213" y="125"/>
                    </a:lnTo>
                    <a:lnTo>
                      <a:pt x="265" y="201"/>
                    </a:lnTo>
                    <a:lnTo>
                      <a:pt x="329" y="201"/>
                    </a:lnTo>
                    <a:lnTo>
                      <a:pt x="329" y="174"/>
                    </a:lnTo>
                    <a:lnTo>
                      <a:pt x="385" y="212"/>
                    </a:lnTo>
                    <a:lnTo>
                      <a:pt x="329" y="250"/>
                    </a:lnTo>
                    <a:lnTo>
                      <a:pt x="329" y="223"/>
                    </a:lnTo>
                    <a:lnTo>
                      <a:pt x="241" y="223"/>
                    </a:lnTo>
                    <a:lnTo>
                      <a:pt x="193" y="153"/>
                    </a:lnTo>
                    <a:lnTo>
                      <a:pt x="144" y="223"/>
                    </a:lnTo>
                    <a:lnTo>
                      <a:pt x="56" y="223"/>
                    </a:lnTo>
                    <a:lnTo>
                      <a:pt x="56" y="250"/>
                    </a:lnTo>
                    <a:lnTo>
                      <a:pt x="0" y="212"/>
                    </a:lnTo>
                    <a:lnTo>
                      <a:pt x="56" y="174"/>
                    </a:lnTo>
                    <a:lnTo>
                      <a:pt x="56" y="201"/>
                    </a:lnTo>
                    <a:lnTo>
                      <a:pt x="116" y="201"/>
                    </a:lnTo>
                    <a:lnTo>
                      <a:pt x="173" y="125"/>
                    </a:lnTo>
                    <a:lnTo>
                      <a:pt x="116" y="49"/>
                    </a:lnTo>
                    <a:lnTo>
                      <a:pt x="56" y="49"/>
                    </a:lnTo>
                    <a:lnTo>
                      <a:pt x="56" y="77"/>
                    </a:lnTo>
                    <a:lnTo>
                      <a:pt x="0" y="39"/>
                    </a:lnTo>
                    <a:lnTo>
                      <a:pt x="5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42443" name="Freeform 395"/>
              <p:cNvSpPr/>
              <p:nvPr/>
            </p:nvSpPr>
            <p:spPr bwMode="auto">
              <a:xfrm>
                <a:off x="10331" y="7597"/>
                <a:ext cx="385" cy="250"/>
              </a:xfrm>
              <a:custGeom>
                <a:avLst/>
                <a:gdLst>
                  <a:gd name="T0" fmla="*/ 56 w 385"/>
                  <a:gd name="T1" fmla="*/ 0 h 250"/>
                  <a:gd name="T2" fmla="*/ 56 w 385"/>
                  <a:gd name="T3" fmla="*/ 30 h 250"/>
                  <a:gd name="T4" fmla="*/ 144 w 385"/>
                  <a:gd name="T5" fmla="*/ 30 h 250"/>
                  <a:gd name="T6" fmla="*/ 193 w 385"/>
                  <a:gd name="T7" fmla="*/ 98 h 250"/>
                  <a:gd name="T8" fmla="*/ 241 w 385"/>
                  <a:gd name="T9" fmla="*/ 30 h 250"/>
                  <a:gd name="T10" fmla="*/ 329 w 385"/>
                  <a:gd name="T11" fmla="*/ 30 h 250"/>
                  <a:gd name="T12" fmla="*/ 329 w 385"/>
                  <a:gd name="T13" fmla="*/ 0 h 250"/>
                  <a:gd name="T14" fmla="*/ 385 w 385"/>
                  <a:gd name="T15" fmla="*/ 39 h 250"/>
                  <a:gd name="T16" fmla="*/ 329 w 385"/>
                  <a:gd name="T17" fmla="*/ 77 h 250"/>
                  <a:gd name="T18" fmla="*/ 329 w 385"/>
                  <a:gd name="T19" fmla="*/ 49 h 250"/>
                  <a:gd name="T20" fmla="*/ 265 w 385"/>
                  <a:gd name="T21" fmla="*/ 49 h 250"/>
                  <a:gd name="T22" fmla="*/ 213 w 385"/>
                  <a:gd name="T23" fmla="*/ 125 h 250"/>
                  <a:gd name="T24" fmla="*/ 265 w 385"/>
                  <a:gd name="T25" fmla="*/ 201 h 250"/>
                  <a:gd name="T26" fmla="*/ 329 w 385"/>
                  <a:gd name="T27" fmla="*/ 201 h 250"/>
                  <a:gd name="T28" fmla="*/ 329 w 385"/>
                  <a:gd name="T29" fmla="*/ 174 h 250"/>
                  <a:gd name="T30" fmla="*/ 385 w 385"/>
                  <a:gd name="T31" fmla="*/ 212 h 250"/>
                  <a:gd name="T32" fmla="*/ 329 w 385"/>
                  <a:gd name="T33" fmla="*/ 250 h 250"/>
                  <a:gd name="T34" fmla="*/ 329 w 385"/>
                  <a:gd name="T35" fmla="*/ 223 h 250"/>
                  <a:gd name="T36" fmla="*/ 241 w 385"/>
                  <a:gd name="T37" fmla="*/ 223 h 250"/>
                  <a:gd name="T38" fmla="*/ 193 w 385"/>
                  <a:gd name="T39" fmla="*/ 153 h 250"/>
                  <a:gd name="T40" fmla="*/ 144 w 385"/>
                  <a:gd name="T41" fmla="*/ 223 h 250"/>
                  <a:gd name="T42" fmla="*/ 56 w 385"/>
                  <a:gd name="T43" fmla="*/ 223 h 250"/>
                  <a:gd name="T44" fmla="*/ 56 w 385"/>
                  <a:gd name="T45" fmla="*/ 250 h 250"/>
                  <a:gd name="T46" fmla="*/ 0 w 385"/>
                  <a:gd name="T47" fmla="*/ 212 h 250"/>
                  <a:gd name="T48" fmla="*/ 56 w 385"/>
                  <a:gd name="T49" fmla="*/ 174 h 250"/>
                  <a:gd name="T50" fmla="*/ 56 w 385"/>
                  <a:gd name="T51" fmla="*/ 201 h 250"/>
                  <a:gd name="T52" fmla="*/ 116 w 385"/>
                  <a:gd name="T53" fmla="*/ 201 h 250"/>
                  <a:gd name="T54" fmla="*/ 173 w 385"/>
                  <a:gd name="T55" fmla="*/ 125 h 250"/>
                  <a:gd name="T56" fmla="*/ 116 w 385"/>
                  <a:gd name="T57" fmla="*/ 49 h 250"/>
                  <a:gd name="T58" fmla="*/ 56 w 385"/>
                  <a:gd name="T59" fmla="*/ 49 h 250"/>
                  <a:gd name="T60" fmla="*/ 56 w 385"/>
                  <a:gd name="T61" fmla="*/ 77 h 250"/>
                  <a:gd name="T62" fmla="*/ 0 w 385"/>
                  <a:gd name="T63" fmla="*/ 39 h 250"/>
                  <a:gd name="T64" fmla="*/ 56 w 385"/>
                  <a:gd name="T6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5" h="250">
                    <a:moveTo>
                      <a:pt x="56" y="0"/>
                    </a:moveTo>
                    <a:lnTo>
                      <a:pt x="56" y="30"/>
                    </a:lnTo>
                    <a:lnTo>
                      <a:pt x="144" y="30"/>
                    </a:lnTo>
                    <a:lnTo>
                      <a:pt x="193" y="98"/>
                    </a:lnTo>
                    <a:lnTo>
                      <a:pt x="241" y="30"/>
                    </a:lnTo>
                    <a:lnTo>
                      <a:pt x="329" y="30"/>
                    </a:lnTo>
                    <a:lnTo>
                      <a:pt x="329" y="0"/>
                    </a:lnTo>
                    <a:lnTo>
                      <a:pt x="385" y="39"/>
                    </a:lnTo>
                    <a:lnTo>
                      <a:pt x="329" y="77"/>
                    </a:lnTo>
                    <a:lnTo>
                      <a:pt x="329" y="49"/>
                    </a:lnTo>
                    <a:lnTo>
                      <a:pt x="265" y="49"/>
                    </a:lnTo>
                    <a:lnTo>
                      <a:pt x="213" y="125"/>
                    </a:lnTo>
                    <a:lnTo>
                      <a:pt x="265" y="201"/>
                    </a:lnTo>
                    <a:lnTo>
                      <a:pt x="329" y="201"/>
                    </a:lnTo>
                    <a:lnTo>
                      <a:pt x="329" y="174"/>
                    </a:lnTo>
                    <a:lnTo>
                      <a:pt x="385" y="212"/>
                    </a:lnTo>
                    <a:lnTo>
                      <a:pt x="329" y="250"/>
                    </a:lnTo>
                    <a:lnTo>
                      <a:pt x="329" y="223"/>
                    </a:lnTo>
                    <a:lnTo>
                      <a:pt x="241" y="223"/>
                    </a:lnTo>
                    <a:lnTo>
                      <a:pt x="193" y="153"/>
                    </a:lnTo>
                    <a:lnTo>
                      <a:pt x="144" y="223"/>
                    </a:lnTo>
                    <a:lnTo>
                      <a:pt x="56" y="223"/>
                    </a:lnTo>
                    <a:lnTo>
                      <a:pt x="56" y="250"/>
                    </a:lnTo>
                    <a:lnTo>
                      <a:pt x="0" y="212"/>
                    </a:lnTo>
                    <a:lnTo>
                      <a:pt x="56" y="174"/>
                    </a:lnTo>
                    <a:lnTo>
                      <a:pt x="56" y="201"/>
                    </a:lnTo>
                    <a:lnTo>
                      <a:pt x="116" y="201"/>
                    </a:lnTo>
                    <a:lnTo>
                      <a:pt x="173" y="125"/>
                    </a:lnTo>
                    <a:lnTo>
                      <a:pt x="116" y="49"/>
                    </a:lnTo>
                    <a:lnTo>
                      <a:pt x="56" y="49"/>
                    </a:lnTo>
                    <a:lnTo>
                      <a:pt x="56" y="77"/>
                    </a:lnTo>
                    <a:lnTo>
                      <a:pt x="0" y="39"/>
                    </a:lnTo>
                    <a:lnTo>
                      <a:pt x="5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cxnSp>
        <p:nvCxnSpPr>
          <p:cNvPr id="642444" name="AutoShape 396"/>
          <p:cNvCxnSpPr>
            <a:cxnSpLocks noChangeShapeType="1"/>
            <a:stCxn id="642430" idx="0"/>
            <a:endCxn id="642436" idx="1"/>
          </p:cNvCxnSpPr>
          <p:nvPr/>
        </p:nvCxnSpPr>
        <p:spPr bwMode="auto">
          <a:xfrm rot="5400000" flipV="1">
            <a:off x="2947989" y="2992445"/>
            <a:ext cx="1588" cy="1789113"/>
          </a:xfrm>
          <a:prstGeom prst="curvedConnector4">
            <a:avLst>
              <a:gd name="adj1" fmla="val -14400000"/>
              <a:gd name="adj2" fmla="val 59537"/>
            </a:avLst>
          </a:prstGeom>
          <a:noFill/>
          <a:ln w="50800">
            <a:solidFill>
              <a:srgbClr val="FF66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42445" name="AutoShape 397"/>
          <p:cNvCxnSpPr>
            <a:cxnSpLocks noChangeShapeType="1"/>
            <a:stCxn id="642443" idx="6"/>
            <a:endCxn id="642252" idx="1"/>
          </p:cNvCxnSpPr>
          <p:nvPr/>
        </p:nvCxnSpPr>
        <p:spPr bwMode="auto">
          <a:xfrm>
            <a:off x="4448176" y="4021139"/>
            <a:ext cx="1962151" cy="1270000"/>
          </a:xfrm>
          <a:prstGeom prst="curvedConnector3">
            <a:avLst>
              <a:gd name="adj1" fmla="val 52509"/>
            </a:avLst>
          </a:prstGeom>
          <a:noFill/>
          <a:ln w="50800">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7.8.1 </a:t>
            </a:r>
            <a:r>
              <a:rPr lang="zh-CN" altLang="en-US" sz="4400" b="1">
                <a:latin typeface="Times New Roman" panose="02020603050405020304" pitchFamily="18" charset="0"/>
                <a:ea typeface="隶书" panose="02010509060101010101" pitchFamily="49" charset="-122"/>
              </a:rPr>
              <a:t>组合与继承</a:t>
            </a:r>
            <a:endParaRPr lang="zh-CN" altLang="en-US" sz="4400" b="1">
              <a:latin typeface="Times New Roman" panose="02020603050405020304" pitchFamily="18" charset="0"/>
              <a:ea typeface="隶书" panose="02010509060101010101" pitchFamily="49" charset="-122"/>
            </a:endParaRPr>
          </a:p>
        </p:txBody>
      </p:sp>
      <p:sp>
        <p:nvSpPr>
          <p:cNvPr id="103427" name="内容占位符 2"/>
          <p:cNvSpPr>
            <a:spLocks noGrp="1"/>
          </p:cNvSpPr>
          <p:nvPr>
            <p:ph idx="1"/>
          </p:nvPr>
        </p:nvSpPr>
        <p:spPr/>
        <p:txBody>
          <a:bodyPr/>
          <a:lstStyle/>
          <a:p>
            <a:pPr>
              <a:lnSpc>
                <a:spcPct val="150000"/>
              </a:lnSpc>
              <a:spcAft>
                <a:spcPct val="25000"/>
              </a:spcAft>
            </a:pPr>
            <a:r>
              <a:rPr lang="zh-CN" altLang="en-US" sz="2400" b="1" dirty="0">
                <a:solidFill>
                  <a:srgbClr val="FFFF00"/>
                </a:solidFill>
                <a:ea typeface="华文楷体" panose="02010600040101010101" pitchFamily="2" charset="-122"/>
              </a:rPr>
              <a:t>组合与继承：通过已有类来构造新类的两种基本方式</a:t>
            </a:r>
            <a:endParaRPr lang="zh-CN" altLang="en-US" sz="2400" b="1" dirty="0">
              <a:solidFill>
                <a:srgbClr val="FFFF00"/>
              </a:solidFill>
              <a:ea typeface="华文楷体" panose="02010600040101010101" pitchFamily="2" charset="-122"/>
            </a:endParaRPr>
          </a:p>
          <a:p>
            <a:pPr>
              <a:lnSpc>
                <a:spcPct val="150000"/>
              </a:lnSpc>
              <a:spcAft>
                <a:spcPct val="25000"/>
              </a:spcAft>
            </a:pPr>
            <a:r>
              <a:rPr lang="zh-CN" altLang="en-US" sz="2400" b="1" dirty="0">
                <a:solidFill>
                  <a:srgbClr val="FFFF00"/>
                </a:solidFill>
                <a:ea typeface="华文楷体" panose="02010600040101010101" pitchFamily="2" charset="-122"/>
              </a:rPr>
              <a:t>组合：</a:t>
            </a:r>
            <a:r>
              <a:rPr lang="en-US" altLang="zh-CN" sz="2400" b="1" dirty="0">
                <a:solidFill>
                  <a:srgbClr val="FFFF00"/>
                </a:solidFill>
                <a:ea typeface="华文楷体" panose="02010600040101010101" pitchFamily="2" charset="-122"/>
              </a:rPr>
              <a:t>B</a:t>
            </a:r>
            <a:r>
              <a:rPr lang="zh-CN" altLang="en-US" sz="2400" b="1" dirty="0">
                <a:solidFill>
                  <a:srgbClr val="FFFF00"/>
                </a:solidFill>
                <a:ea typeface="华文楷体" panose="02010600040101010101" pitchFamily="2" charset="-122"/>
              </a:rPr>
              <a:t>类中存在一个</a:t>
            </a:r>
            <a:r>
              <a:rPr lang="en-US" altLang="zh-CN" sz="2400" b="1" dirty="0">
                <a:solidFill>
                  <a:srgbClr val="FFFF00"/>
                </a:solidFill>
                <a:ea typeface="华文楷体" panose="02010600040101010101" pitchFamily="2" charset="-122"/>
              </a:rPr>
              <a:t>A</a:t>
            </a:r>
            <a:r>
              <a:rPr lang="zh-CN" altLang="en-US" sz="2400" b="1" dirty="0">
                <a:solidFill>
                  <a:srgbClr val="FFFF00"/>
                </a:solidFill>
                <a:ea typeface="华文楷体" panose="02010600040101010101" pitchFamily="2" charset="-122"/>
              </a:rPr>
              <a:t>类型的内嵌对象</a:t>
            </a:r>
            <a:endParaRPr lang="zh-CN" altLang="en-US" sz="2400" b="1" dirty="0">
              <a:solidFill>
                <a:srgbClr val="FFFF00"/>
              </a:solidFill>
              <a:ea typeface="华文楷体" panose="02010600040101010101" pitchFamily="2" charset="-122"/>
            </a:endParaRPr>
          </a:p>
          <a:p>
            <a:pPr lvl="1">
              <a:lnSpc>
                <a:spcPct val="150000"/>
              </a:lnSpc>
              <a:buFont typeface="Wingdings" panose="05000000000000000000" pitchFamily="2" charset="2"/>
              <a:buChar char="ü"/>
            </a:pPr>
            <a:r>
              <a:rPr lang="zh-CN" altLang="en-US" sz="2400" b="1" dirty="0">
                <a:ea typeface="华文楷体" panose="02010600040101010101" pitchFamily="2" charset="-122"/>
              </a:rPr>
              <a:t>有一个（</a:t>
            </a:r>
            <a:r>
              <a:rPr lang="en-US" altLang="zh-CN" sz="2400" b="1" dirty="0">
                <a:ea typeface="华文楷体" panose="02010600040101010101" pitchFamily="2" charset="-122"/>
              </a:rPr>
              <a:t>has-a</a:t>
            </a:r>
            <a:r>
              <a:rPr lang="zh-CN" altLang="en-US" sz="2400" b="1" dirty="0">
                <a:ea typeface="华文楷体" panose="02010600040101010101" pitchFamily="2" charset="-122"/>
              </a:rPr>
              <a:t>）关系：表明每个</a:t>
            </a:r>
            <a:r>
              <a:rPr lang="en-US" altLang="zh-CN" sz="2400" b="1" dirty="0">
                <a:ea typeface="华文楷体" panose="02010600040101010101" pitchFamily="2" charset="-122"/>
              </a:rPr>
              <a:t>B</a:t>
            </a:r>
            <a:r>
              <a:rPr lang="zh-CN" altLang="en-US" sz="2400" b="1" dirty="0">
                <a:ea typeface="华文楷体" panose="02010600040101010101" pitchFamily="2" charset="-122"/>
              </a:rPr>
              <a:t>类型对象“有一个” </a:t>
            </a:r>
            <a:r>
              <a:rPr lang="en-US" altLang="zh-CN" sz="2400" b="1" dirty="0">
                <a:ea typeface="华文楷体" panose="02010600040101010101" pitchFamily="2" charset="-122"/>
              </a:rPr>
              <a:t>A</a:t>
            </a:r>
            <a:r>
              <a:rPr lang="zh-CN" altLang="en-US" sz="2400" b="1" dirty="0">
                <a:ea typeface="华文楷体" panose="02010600040101010101" pitchFamily="2" charset="-122"/>
              </a:rPr>
              <a:t>类型对象</a:t>
            </a:r>
            <a:endParaRPr lang="zh-CN" altLang="en-US" sz="2400" b="1" dirty="0">
              <a:ea typeface="华文楷体" panose="02010600040101010101" pitchFamily="2" charset="-122"/>
            </a:endParaRPr>
          </a:p>
          <a:p>
            <a:pPr lvl="1">
              <a:lnSpc>
                <a:spcPct val="150000"/>
              </a:lnSpc>
              <a:buFont typeface="Wingdings" panose="05000000000000000000" pitchFamily="2" charset="2"/>
              <a:buChar char="ü"/>
            </a:pPr>
            <a:r>
              <a:rPr lang="en-US" altLang="zh-CN" sz="2400" b="1" dirty="0">
                <a:ea typeface="华文楷体" panose="02010600040101010101" pitchFamily="2" charset="-122"/>
              </a:rPr>
              <a:t>A</a:t>
            </a:r>
            <a:r>
              <a:rPr lang="zh-CN" altLang="en-US" sz="2400" b="1" dirty="0">
                <a:ea typeface="华文楷体" panose="02010600040101010101" pitchFamily="2" charset="-122"/>
              </a:rPr>
              <a:t>类型对象与</a:t>
            </a:r>
            <a:r>
              <a:rPr lang="en-US" altLang="zh-CN" sz="2400" b="1" dirty="0">
                <a:ea typeface="华文楷体" panose="02010600040101010101" pitchFamily="2" charset="-122"/>
              </a:rPr>
              <a:t>B</a:t>
            </a:r>
            <a:r>
              <a:rPr lang="zh-CN" altLang="en-US" sz="2400" b="1" dirty="0">
                <a:ea typeface="华文楷体" panose="02010600040101010101" pitchFamily="2" charset="-122"/>
              </a:rPr>
              <a:t>类型对象是部分与整体关系</a:t>
            </a:r>
            <a:endParaRPr lang="zh-CN" altLang="en-US" sz="2400" b="1" dirty="0">
              <a:ea typeface="华文楷体" panose="02010600040101010101" pitchFamily="2" charset="-122"/>
            </a:endParaRPr>
          </a:p>
          <a:p>
            <a:pPr lvl="1">
              <a:lnSpc>
                <a:spcPct val="150000"/>
              </a:lnSpc>
              <a:buFont typeface="Wingdings" panose="05000000000000000000" pitchFamily="2" charset="2"/>
              <a:buChar char="ü"/>
            </a:pPr>
            <a:r>
              <a:rPr lang="en-US" altLang="zh-CN" sz="2400" b="1" dirty="0">
                <a:ea typeface="华文楷体" panose="02010600040101010101" pitchFamily="2" charset="-122"/>
              </a:rPr>
              <a:t>B</a:t>
            </a:r>
            <a:r>
              <a:rPr lang="zh-CN" altLang="en-US" sz="2400" b="1" dirty="0">
                <a:ea typeface="华文楷体" panose="02010600040101010101" pitchFamily="2" charset="-122"/>
              </a:rPr>
              <a:t>类型的接口不会直接作为</a:t>
            </a:r>
            <a:r>
              <a:rPr lang="en-US" altLang="zh-CN" sz="2400" b="1" dirty="0">
                <a:ea typeface="华文楷体" panose="02010600040101010101" pitchFamily="2" charset="-122"/>
              </a:rPr>
              <a:t>A</a:t>
            </a:r>
            <a:r>
              <a:rPr lang="zh-CN" altLang="en-US" sz="2400" b="1" dirty="0">
                <a:ea typeface="华文楷体" panose="02010600040101010101" pitchFamily="2" charset="-122"/>
              </a:rPr>
              <a:t>类型的接口</a:t>
            </a:r>
            <a:endParaRPr lang="zh-CN" altLang="en-US" sz="2400" b="1" dirty="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0" name="标题 1"/>
          <p:cNvSpPr>
            <a:spLocks noGrp="1"/>
          </p:cNvSpPr>
          <p:nvPr>
            <p:ph type="title"/>
          </p:nvPr>
        </p:nvSpPr>
        <p:spPr>
          <a:xfrm>
            <a:off x="611560" y="0"/>
            <a:ext cx="7886700" cy="132556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dirty="0">
                <a:latin typeface="Times New Roman" panose="02020603050405020304" pitchFamily="18" charset="0"/>
                <a:ea typeface="隶书" panose="02010509060101010101" pitchFamily="49" charset="-122"/>
              </a:rPr>
              <a:t>“</a:t>
            </a:r>
            <a:r>
              <a:rPr lang="en-US" altLang="zh-CN" sz="4400" b="1" dirty="0">
                <a:latin typeface="Times New Roman" panose="02020603050405020304" pitchFamily="18" charset="0"/>
                <a:ea typeface="隶书" panose="02010509060101010101" pitchFamily="49" charset="-122"/>
              </a:rPr>
              <a:t>has-a</a:t>
            </a:r>
            <a:r>
              <a:rPr lang="zh-CN" altLang="en-US" sz="4400" b="1" dirty="0">
                <a:latin typeface="Times New Roman" panose="02020603050405020304" pitchFamily="18" charset="0"/>
                <a:ea typeface="隶书" panose="02010509060101010101" pitchFamily="49" charset="-122"/>
              </a:rPr>
              <a:t>”举例</a:t>
            </a:r>
            <a:endParaRPr lang="zh-CN" altLang="en-US" sz="4400" b="1" dirty="0">
              <a:latin typeface="Times New Roman" panose="02020603050405020304" pitchFamily="18" charset="0"/>
              <a:ea typeface="隶书" panose="02010509060101010101" pitchFamily="49" charset="-122"/>
            </a:endParaRPr>
          </a:p>
        </p:txBody>
      </p:sp>
      <p:sp>
        <p:nvSpPr>
          <p:cNvPr id="104451" name="内容占位符 2"/>
          <p:cNvSpPr>
            <a:spLocks noGrp="1"/>
          </p:cNvSpPr>
          <p:nvPr>
            <p:ph sz="half" idx="1"/>
          </p:nvPr>
        </p:nvSpPr>
        <p:spPr>
          <a:xfrm>
            <a:off x="467544" y="908720"/>
            <a:ext cx="4038600" cy="5940088"/>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Engine {	//</a:t>
            </a:r>
            <a:r>
              <a:rPr kumimoji="0" lang="zh-CN" altLang="en-US" sz="2000" b="1" dirty="0">
                <a:solidFill>
                  <a:srgbClr val="000000"/>
                </a:solidFill>
                <a:latin typeface="Times New Roman" panose="02020603050405020304" pitchFamily="18" charset="0"/>
                <a:ea typeface="华文楷体" panose="02010600040101010101" pitchFamily="2" charset="-122"/>
              </a:rPr>
              <a:t>发动机类</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work();	//</a:t>
            </a:r>
            <a:r>
              <a:rPr kumimoji="0" lang="zh-CN" altLang="en-US" sz="2000" b="1" dirty="0">
                <a:solidFill>
                  <a:srgbClr val="000000"/>
                </a:solidFill>
                <a:latin typeface="Times New Roman" panose="02020603050405020304" pitchFamily="18" charset="0"/>
                <a:ea typeface="华文楷体" panose="02010600040101010101" pitchFamily="2" charset="-122"/>
              </a:rPr>
              <a:t>发动机运转</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Wheel {	//</a:t>
            </a:r>
            <a:r>
              <a:rPr kumimoji="0" lang="zh-CN" altLang="en-US" sz="2000" b="1" dirty="0">
                <a:solidFill>
                  <a:srgbClr val="000000"/>
                </a:solidFill>
                <a:latin typeface="Times New Roman" panose="02020603050405020304" pitchFamily="18" charset="0"/>
                <a:ea typeface="华文楷体" panose="02010600040101010101" pitchFamily="2" charset="-122"/>
              </a:rPr>
              <a:t>轮子类</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roll();	//</a:t>
            </a:r>
            <a:r>
              <a:rPr kumimoji="0" lang="zh-CN" altLang="en-US" sz="2000" b="1" dirty="0">
                <a:solidFill>
                  <a:srgbClr val="000000"/>
                </a:solidFill>
                <a:latin typeface="Times New Roman" panose="02020603050405020304" pitchFamily="18" charset="0"/>
                <a:ea typeface="华文楷体" panose="02010600040101010101" pitchFamily="2" charset="-122"/>
              </a:rPr>
              <a:t>轮子转动</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class Automobile {	//</a:t>
            </a:r>
            <a:r>
              <a:rPr kumimoji="0" lang="zh-CN" altLang="en-US" sz="2000" b="1" dirty="0">
                <a:solidFill>
                  <a:srgbClr val="000000"/>
                </a:solidFill>
                <a:latin typeface="Times New Roman" panose="02020603050405020304" pitchFamily="18" charset="0"/>
                <a:ea typeface="华文楷体" panose="02010600040101010101" pitchFamily="2" charset="-122"/>
              </a:rPr>
              <a:t>汽车类</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public:</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void move();	//</a:t>
            </a:r>
            <a:r>
              <a:rPr kumimoji="0" lang="zh-CN" altLang="en-US" sz="2000" b="1" dirty="0">
                <a:solidFill>
                  <a:srgbClr val="000000"/>
                </a:solidFill>
                <a:latin typeface="Times New Roman" panose="02020603050405020304" pitchFamily="18" charset="0"/>
                <a:ea typeface="华文楷体" panose="02010600040101010101" pitchFamily="2" charset="-122"/>
              </a:rPr>
              <a:t>汽车移动</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private:</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a:solidFill>
                  <a:srgbClr val="000000"/>
                </a:solidFill>
                <a:latin typeface="Times New Roman" panose="02020603050405020304" pitchFamily="18" charset="0"/>
                <a:ea typeface="华文楷体" panose="02010600040101010101" pitchFamily="2" charset="-122"/>
              </a:rPr>
              <a:t>	Engine </a:t>
            </a:r>
            <a:r>
              <a:rPr kumimoji="0" lang="en-US" altLang="zh-CN" sz="2000" b="1" dirty="0" err="1">
                <a:solidFill>
                  <a:srgbClr val="000000"/>
                </a:solidFill>
                <a:latin typeface="Times New Roman" panose="02020603050405020304" pitchFamily="18" charset="0"/>
                <a:ea typeface="华文楷体" panose="02010600040101010101" pitchFamily="2" charset="-122"/>
              </a:rPr>
              <a:t>engine</a:t>
            </a:r>
            <a:r>
              <a:rPr kumimoji="0" lang="en-US" altLang="zh-CN" sz="2000" b="1" dirty="0">
                <a:solidFill>
                  <a:srgbClr val="000000"/>
                </a:solidFill>
                <a:latin typeface="Times New Roman" panose="02020603050405020304" pitchFamily="18" charset="0"/>
                <a:ea typeface="华文楷体" panose="02010600040101010101" pitchFamily="2" charset="-122"/>
              </a:rPr>
              <a:t>;	//</a:t>
            </a:r>
            <a:r>
              <a:rPr kumimoji="0" lang="zh-CN" altLang="en-US" sz="2000" b="1" dirty="0">
                <a:solidFill>
                  <a:srgbClr val="000000"/>
                </a:solidFill>
                <a:latin typeface="Times New Roman" panose="02020603050405020304" pitchFamily="18" charset="0"/>
                <a:ea typeface="华文楷体" panose="02010600040101010101" pitchFamily="2" charset="-122"/>
              </a:rPr>
              <a:t>汽车引擎</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Wheel wheels[4];//4</a:t>
            </a:r>
            <a:r>
              <a:rPr kumimoji="0" lang="zh-CN" altLang="en-US" sz="2000" b="1" dirty="0">
                <a:solidFill>
                  <a:srgbClr val="000000"/>
                </a:solidFill>
                <a:latin typeface="Times New Roman" panose="02020603050405020304" pitchFamily="18" charset="0"/>
                <a:ea typeface="华文楷体" panose="02010600040101010101" pitchFamily="2" charset="-122"/>
              </a:rPr>
              <a:t>个车轮</a:t>
            </a:r>
            <a:endParaRPr kumimoji="0" lang="zh-CN" altLang="en-US"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dirty="0">
                <a:solidFill>
                  <a:srgbClr val="000000"/>
                </a:solidFill>
                <a:latin typeface="Times New Roman" panose="02020603050405020304" pitchFamily="18" charset="0"/>
                <a:ea typeface="华文楷体" panose="02010600040101010101" pitchFamily="2" charset="-122"/>
              </a:rPr>
              <a:t>	</a:t>
            </a:r>
            <a:r>
              <a:rPr kumimoji="0" lang="en-US" altLang="zh-CN" sz="2000" b="1" dirty="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dirty="0" smtClean="0">
                <a:solidFill>
                  <a:srgbClr val="000000"/>
                </a:solidFill>
                <a:latin typeface="Times New Roman" panose="02020603050405020304" pitchFamily="18" charset="0"/>
                <a:ea typeface="华文楷体" panose="02010600040101010101" pitchFamily="2" charset="-122"/>
              </a:rPr>
              <a:t>};</a:t>
            </a:r>
            <a:endParaRPr kumimoji="0" lang="en-US" altLang="zh-CN" sz="2000" b="1" dirty="0">
              <a:solidFill>
                <a:srgbClr val="000000"/>
              </a:solidFill>
              <a:latin typeface="Times New Roman" panose="02020603050405020304" pitchFamily="18" charset="0"/>
              <a:ea typeface="华文楷体" panose="02010600040101010101" pitchFamily="2" charset="-122"/>
            </a:endParaRPr>
          </a:p>
        </p:txBody>
      </p:sp>
      <p:sp>
        <p:nvSpPr>
          <p:cNvPr id="104452" name="内容占位符 3"/>
          <p:cNvSpPr>
            <a:spLocks noGrp="1"/>
          </p:cNvSpPr>
          <p:nvPr>
            <p:ph sz="half" idx="2"/>
          </p:nvPr>
        </p:nvSpPr>
        <p:spPr>
          <a:xfrm>
            <a:off x="4648200" y="1785938"/>
            <a:ext cx="4038600" cy="4989512"/>
          </a:xfrm>
        </p:spPr>
        <p:txBody>
          <a:bodyPr/>
          <a:lstStyle/>
          <a:p>
            <a:pPr>
              <a:spcAft>
                <a:spcPct val="25000"/>
              </a:spcAft>
            </a:pPr>
            <a:r>
              <a:rPr lang="zh-CN" altLang="en-US" sz="2400" b="1" dirty="0">
                <a:solidFill>
                  <a:srgbClr val="FFFF00"/>
                </a:solidFill>
                <a:ea typeface="华文楷体" panose="02010600040101010101" pitchFamily="2" charset="-122"/>
              </a:rPr>
              <a:t>意义</a:t>
            </a:r>
            <a:endParaRPr lang="en-US" altLang="zh-CN" sz="2400" b="1" dirty="0">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一辆汽车有一个发动机</a:t>
            </a:r>
            <a:endParaRPr lang="en-US" altLang="zh-CN"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一辆汽车有四个轮子</a:t>
            </a:r>
            <a:endParaRPr lang="en-US" altLang="zh-CN" sz="2400" b="1" dirty="0">
              <a:ea typeface="华文楷体" panose="02010600040101010101" pitchFamily="2" charset="-122"/>
            </a:endParaRPr>
          </a:p>
          <a:p>
            <a:pPr>
              <a:spcAft>
                <a:spcPct val="25000"/>
              </a:spcAft>
            </a:pPr>
            <a:r>
              <a:rPr lang="zh-CN" altLang="en-US" sz="2400" b="1" dirty="0">
                <a:solidFill>
                  <a:srgbClr val="FFFF00"/>
                </a:solidFill>
                <a:ea typeface="华文楷体" panose="02010600040101010101" pitchFamily="2" charset="-122"/>
              </a:rPr>
              <a:t>接口</a:t>
            </a:r>
            <a:endParaRPr lang="en-US" altLang="zh-CN" sz="2400" b="1" dirty="0">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作为整体的汽车不再具备发动机的运转功能，和轮子的转动功能，但通过将这些功能的整合，具有了自己的功能</a:t>
            </a:r>
            <a:r>
              <a:rPr lang="en-US" altLang="zh-CN" sz="2400" b="1" dirty="0">
                <a:ea typeface="华文楷体" panose="02010600040101010101" pitchFamily="2" charset="-122"/>
              </a:rPr>
              <a:t>——</a:t>
            </a:r>
            <a:r>
              <a:rPr lang="zh-CN" altLang="en-US" sz="2400" b="1" dirty="0">
                <a:ea typeface="华文楷体" panose="02010600040101010101" pitchFamily="2" charset="-122"/>
              </a:rPr>
              <a:t>移动</a:t>
            </a:r>
            <a:endParaRPr lang="zh-CN" altLang="en-US" sz="2400" b="1" dirty="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公有继承的意义</a:t>
            </a:r>
            <a:endParaRPr lang="zh-CN" altLang="en-US" sz="4400" b="1">
              <a:latin typeface="Times New Roman" panose="02020603050405020304" pitchFamily="18" charset="0"/>
              <a:ea typeface="隶书" panose="02010509060101010101" pitchFamily="49" charset="-122"/>
            </a:endParaRPr>
          </a:p>
        </p:txBody>
      </p:sp>
      <p:sp>
        <p:nvSpPr>
          <p:cNvPr id="105475" name="内容占位符 2"/>
          <p:cNvSpPr>
            <a:spLocks noGrp="1"/>
          </p:cNvSpPr>
          <p:nvPr>
            <p:ph idx="1"/>
          </p:nvPr>
        </p:nvSpPr>
        <p:spPr/>
        <p:txBody>
          <a:bodyPr/>
          <a:lstStyle/>
          <a:p>
            <a:pPr>
              <a:lnSpc>
                <a:spcPct val="150000"/>
              </a:lnSpc>
              <a:spcAft>
                <a:spcPct val="25000"/>
              </a:spcAft>
            </a:pPr>
            <a:r>
              <a:rPr lang="zh-CN" altLang="en-US" sz="2400" b="1" dirty="0">
                <a:solidFill>
                  <a:srgbClr val="FFFF00"/>
                </a:solidFill>
                <a:ea typeface="华文楷体" panose="02010600040101010101" pitchFamily="2" charset="-122"/>
              </a:rPr>
              <a:t>公有继承：</a:t>
            </a:r>
            <a:r>
              <a:rPr lang="en-US" altLang="zh-CN" sz="2400" b="1" dirty="0">
                <a:solidFill>
                  <a:srgbClr val="FFFF00"/>
                </a:solidFill>
                <a:ea typeface="华文楷体" panose="02010600040101010101" pitchFamily="2" charset="-122"/>
              </a:rPr>
              <a:t>A</a:t>
            </a:r>
            <a:r>
              <a:rPr lang="zh-CN" altLang="en-US" sz="2400" b="1" dirty="0">
                <a:solidFill>
                  <a:srgbClr val="FFFF00"/>
                </a:solidFill>
                <a:ea typeface="华文楷体" panose="02010600040101010101" pitchFamily="2" charset="-122"/>
              </a:rPr>
              <a:t>类是</a:t>
            </a:r>
            <a:r>
              <a:rPr lang="en-US" altLang="zh-CN" sz="2400" b="1" dirty="0">
                <a:solidFill>
                  <a:srgbClr val="FFFF00"/>
                </a:solidFill>
                <a:ea typeface="华文楷体" panose="02010600040101010101" pitchFamily="2" charset="-122"/>
              </a:rPr>
              <a:t>B</a:t>
            </a:r>
            <a:r>
              <a:rPr lang="zh-CN" altLang="en-US" sz="2400" b="1" dirty="0">
                <a:solidFill>
                  <a:srgbClr val="FFFF00"/>
                </a:solidFill>
                <a:ea typeface="华文楷体" panose="02010600040101010101" pitchFamily="2" charset="-122"/>
              </a:rPr>
              <a:t>类的公有基类</a:t>
            </a:r>
            <a:endParaRPr lang="zh-CN" altLang="en-US" sz="2400" b="1" dirty="0">
              <a:solidFill>
                <a:srgbClr val="FFFF00"/>
              </a:solidFill>
              <a:ea typeface="华文楷体" panose="02010600040101010101" pitchFamily="2" charset="-122"/>
            </a:endParaRPr>
          </a:p>
          <a:p>
            <a:pPr lvl="1">
              <a:lnSpc>
                <a:spcPct val="150000"/>
              </a:lnSpc>
              <a:buFont typeface="Wingdings" panose="05000000000000000000" pitchFamily="2" charset="2"/>
              <a:buChar char="ü"/>
            </a:pPr>
            <a:r>
              <a:rPr lang="zh-CN" altLang="en-US" sz="2400" b="1" dirty="0">
                <a:ea typeface="华文楷体" panose="02010600040101010101" pitchFamily="2" charset="-122"/>
              </a:rPr>
              <a:t>是一个（</a:t>
            </a:r>
            <a:r>
              <a:rPr lang="en-US" altLang="zh-CN" sz="2400" b="1" dirty="0">
                <a:ea typeface="华文楷体" panose="02010600040101010101" pitchFamily="2" charset="-122"/>
              </a:rPr>
              <a:t>is-a</a:t>
            </a:r>
            <a:r>
              <a:rPr lang="zh-CN" altLang="en-US" sz="2400" b="1" dirty="0">
                <a:ea typeface="华文楷体" panose="02010600040101010101" pitchFamily="2" charset="-122"/>
              </a:rPr>
              <a:t>）关系：表明每个</a:t>
            </a:r>
            <a:r>
              <a:rPr lang="en-US" altLang="zh-CN" sz="2400" b="1" dirty="0">
                <a:ea typeface="华文楷体" panose="02010600040101010101" pitchFamily="2" charset="-122"/>
              </a:rPr>
              <a:t>B</a:t>
            </a:r>
            <a:r>
              <a:rPr lang="zh-CN" altLang="en-US" sz="2400" b="1" dirty="0">
                <a:ea typeface="华文楷体" panose="02010600040101010101" pitchFamily="2" charset="-122"/>
              </a:rPr>
              <a:t>类型对象“是一个” </a:t>
            </a:r>
            <a:r>
              <a:rPr lang="en-US" altLang="zh-CN" sz="2400" b="1" dirty="0">
                <a:ea typeface="华文楷体" panose="02010600040101010101" pitchFamily="2" charset="-122"/>
              </a:rPr>
              <a:t>A</a:t>
            </a:r>
            <a:r>
              <a:rPr lang="zh-CN" altLang="en-US" sz="2400" b="1" dirty="0">
                <a:ea typeface="华文楷体" panose="02010600040101010101" pitchFamily="2" charset="-122"/>
              </a:rPr>
              <a:t>类型对象</a:t>
            </a:r>
            <a:endParaRPr lang="zh-CN" altLang="en-US" sz="2400" b="1" dirty="0">
              <a:ea typeface="华文楷体" panose="02010600040101010101" pitchFamily="2" charset="-122"/>
            </a:endParaRPr>
          </a:p>
          <a:p>
            <a:pPr lvl="1">
              <a:lnSpc>
                <a:spcPct val="150000"/>
              </a:lnSpc>
              <a:buFont typeface="Wingdings" panose="05000000000000000000" pitchFamily="2" charset="2"/>
              <a:buChar char="ü"/>
            </a:pPr>
            <a:r>
              <a:rPr lang="en-US" altLang="zh-CN" sz="2400" b="1" dirty="0">
                <a:ea typeface="华文楷体" panose="02010600040101010101" pitchFamily="2" charset="-122"/>
              </a:rPr>
              <a:t>A</a:t>
            </a:r>
            <a:r>
              <a:rPr lang="zh-CN" altLang="en-US" sz="2400" b="1" dirty="0">
                <a:ea typeface="华文楷体" panose="02010600040101010101" pitchFamily="2" charset="-122"/>
              </a:rPr>
              <a:t>类型对象与</a:t>
            </a:r>
            <a:r>
              <a:rPr lang="en-US" altLang="zh-CN" sz="2400" b="1" dirty="0">
                <a:ea typeface="华文楷体" panose="02010600040101010101" pitchFamily="2" charset="-122"/>
              </a:rPr>
              <a:t>B</a:t>
            </a:r>
            <a:r>
              <a:rPr lang="zh-CN" altLang="en-US" sz="2400" b="1" dirty="0">
                <a:ea typeface="华文楷体" panose="02010600040101010101" pitchFamily="2" charset="-122"/>
              </a:rPr>
              <a:t>类型对象是一般与特殊关系</a:t>
            </a:r>
            <a:endParaRPr lang="zh-CN" altLang="en-US" sz="2400" b="1" dirty="0">
              <a:ea typeface="华文楷体" panose="02010600040101010101" pitchFamily="2" charset="-122"/>
            </a:endParaRPr>
          </a:p>
          <a:p>
            <a:pPr lvl="2">
              <a:lnSpc>
                <a:spcPct val="150000"/>
              </a:lnSpc>
              <a:buFont typeface="Wingdings" panose="05000000000000000000" pitchFamily="2" charset="2"/>
              <a:buChar char="ü"/>
            </a:pPr>
            <a:r>
              <a:rPr lang="zh-CN" altLang="en-US" b="1" dirty="0">
                <a:ea typeface="华文楷体" panose="02010600040101010101" pitchFamily="2" charset="-122"/>
              </a:rPr>
              <a:t>回顾类的兼容性原则：在需要基类对象的任何地方，都可以使用公有派生类的对象来替代</a:t>
            </a:r>
            <a:endParaRPr lang="zh-CN" altLang="en-US" b="1" dirty="0">
              <a:ea typeface="华文楷体" panose="02010600040101010101" pitchFamily="2" charset="-122"/>
            </a:endParaRPr>
          </a:p>
          <a:p>
            <a:pPr lvl="1">
              <a:lnSpc>
                <a:spcPct val="150000"/>
              </a:lnSpc>
              <a:buFont typeface="Wingdings" panose="05000000000000000000" pitchFamily="2" charset="2"/>
              <a:buChar char="ü"/>
            </a:pPr>
            <a:r>
              <a:rPr lang="en-US" altLang="zh-CN" sz="2400" b="1" dirty="0">
                <a:ea typeface="华文楷体" panose="02010600040101010101" pitchFamily="2" charset="-122"/>
              </a:rPr>
              <a:t>B</a:t>
            </a:r>
            <a:r>
              <a:rPr lang="zh-CN" altLang="en-US" sz="2400" b="1" dirty="0">
                <a:ea typeface="华文楷体" panose="02010600040101010101" pitchFamily="2" charset="-122"/>
              </a:rPr>
              <a:t>类型对象包括</a:t>
            </a:r>
            <a:r>
              <a:rPr lang="en-US" altLang="zh-CN" sz="2400" b="1" dirty="0">
                <a:ea typeface="华文楷体" panose="02010600040101010101" pitchFamily="2" charset="-122"/>
              </a:rPr>
              <a:t>A</a:t>
            </a:r>
            <a:r>
              <a:rPr lang="zh-CN" altLang="en-US" sz="2400" b="1" dirty="0">
                <a:ea typeface="华文楷体" panose="02010600040101010101" pitchFamily="2" charset="-122"/>
              </a:rPr>
              <a:t>类型的全部接口</a:t>
            </a:r>
            <a:endParaRPr lang="zh-CN" altLang="en-US" sz="2400" b="1" dirty="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498"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a:t>
            </a:r>
            <a:r>
              <a:rPr lang="en-US" altLang="zh-CN" sz="4400" b="1">
                <a:latin typeface="Times New Roman" panose="02020603050405020304" pitchFamily="18" charset="0"/>
                <a:ea typeface="隶书" panose="02010509060101010101" pitchFamily="49" charset="-122"/>
              </a:rPr>
              <a:t>is-a</a:t>
            </a:r>
            <a:r>
              <a:rPr lang="zh-CN" altLang="en-US" sz="4400" b="1">
                <a:latin typeface="Times New Roman" panose="02020603050405020304" pitchFamily="18" charset="0"/>
                <a:ea typeface="隶书" panose="02010509060101010101" pitchFamily="49" charset="-122"/>
              </a:rPr>
              <a:t>”举例</a:t>
            </a:r>
            <a:endParaRPr lang="zh-CN" altLang="en-US" sz="4400" b="1">
              <a:latin typeface="Times New Roman" panose="02020603050405020304" pitchFamily="18" charset="0"/>
              <a:ea typeface="隶书" panose="02010509060101010101" pitchFamily="49" charset="-122"/>
            </a:endParaRPr>
          </a:p>
        </p:txBody>
      </p:sp>
      <p:sp>
        <p:nvSpPr>
          <p:cNvPr id="106499" name="内容占位符 2"/>
          <p:cNvSpPr>
            <a:spLocks noGrp="1"/>
          </p:cNvSpPr>
          <p:nvPr>
            <p:ph sz="half" idx="1"/>
          </p:nvPr>
        </p:nvSpPr>
        <p:spPr>
          <a:xfrm>
            <a:off x="457200" y="1628775"/>
            <a:ext cx="4038600" cy="4989513"/>
          </a:xfrm>
          <a:solidFill>
            <a:schemeClr val="tx1"/>
          </a:solidFill>
          <a:ln w="9525">
            <a:solidFill>
              <a:schemeClr val="tx1"/>
            </a:solidFill>
            <a:miter lim="800000"/>
          </a:ln>
        </p:spPr>
        <p:txBody>
          <a:bodyPr>
            <a:spAutoFit/>
          </a:bodyPr>
          <a:lstStyle/>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class Truck: public Automobile{</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a:t>
            </a:r>
            <a:r>
              <a:rPr kumimoji="0" lang="zh-CN" altLang="en-US" sz="2000" b="1">
                <a:solidFill>
                  <a:srgbClr val="000000"/>
                </a:solidFill>
                <a:latin typeface="Times New Roman" panose="02020603050405020304" pitchFamily="18" charset="0"/>
                <a:ea typeface="华文楷体" panose="02010600040101010101" pitchFamily="2" charset="-122"/>
              </a:rPr>
              <a:t>卡车</a:t>
            </a:r>
            <a:endParaRPr kumimoji="0" lang="zh-CN" altLang="en-US"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public:</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void load(…);	//</a:t>
            </a:r>
            <a:r>
              <a:rPr kumimoji="0" lang="zh-CN" altLang="en-US" sz="2000" b="1">
                <a:solidFill>
                  <a:srgbClr val="000000"/>
                </a:solidFill>
                <a:latin typeface="Times New Roman" panose="02020603050405020304" pitchFamily="18" charset="0"/>
                <a:ea typeface="华文楷体" panose="02010600040101010101" pitchFamily="2" charset="-122"/>
              </a:rPr>
              <a:t>装货</a:t>
            </a:r>
            <a:endParaRPr kumimoji="0" lang="zh-CN" altLang="en-US"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zh-CN" altLang="en-US" sz="2000" b="1">
                <a:solidFill>
                  <a:srgbClr val="000000"/>
                </a:solidFill>
                <a:latin typeface="Times New Roman" panose="02020603050405020304" pitchFamily="18" charset="0"/>
                <a:ea typeface="华文楷体" panose="02010600040101010101" pitchFamily="2" charset="-122"/>
              </a:rPr>
              <a:t>	</a:t>
            </a:r>
            <a:r>
              <a:rPr kumimoji="0" lang="en-US" altLang="zh-CN" sz="2000" b="1">
                <a:solidFill>
                  <a:srgbClr val="000000"/>
                </a:solidFill>
                <a:latin typeface="Times New Roman" panose="02020603050405020304" pitchFamily="18" charset="0"/>
                <a:ea typeface="华文楷体" panose="02010600040101010101" pitchFamily="2" charset="-122"/>
              </a:rPr>
              <a:t>void dump(…);	//</a:t>
            </a:r>
            <a:r>
              <a:rPr kumimoji="0" lang="zh-CN" altLang="en-US" sz="2000" b="1">
                <a:solidFill>
                  <a:srgbClr val="000000"/>
                </a:solidFill>
                <a:latin typeface="Times New Roman" panose="02020603050405020304" pitchFamily="18" charset="0"/>
                <a:ea typeface="华文楷体" panose="02010600040101010101" pitchFamily="2" charset="-122"/>
              </a:rPr>
              <a:t>卸货</a:t>
            </a:r>
            <a:endParaRPr kumimoji="0" lang="zh-CN" altLang="en-US"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private:</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class Pumper: public Automobile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a:t>
            </a:r>
            <a:r>
              <a:rPr kumimoji="0" lang="zh-CN" altLang="en-US" sz="2000" b="1">
                <a:solidFill>
                  <a:srgbClr val="000000"/>
                </a:solidFill>
                <a:latin typeface="Times New Roman" panose="02020603050405020304" pitchFamily="18" charset="0"/>
                <a:ea typeface="华文楷体" panose="02010600040101010101" pitchFamily="2" charset="-122"/>
              </a:rPr>
              <a:t>消防车</a:t>
            </a:r>
            <a:endParaRPr kumimoji="0" lang="zh-CN" altLang="en-US"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public:</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void water();	//</a:t>
            </a:r>
            <a:r>
              <a:rPr kumimoji="0" lang="zh-CN" altLang="en-US" sz="2000" b="1">
                <a:solidFill>
                  <a:srgbClr val="000000"/>
                </a:solidFill>
                <a:latin typeface="Times New Roman" panose="02020603050405020304" pitchFamily="18" charset="0"/>
                <a:ea typeface="华文楷体" panose="02010600040101010101" pitchFamily="2" charset="-122"/>
              </a:rPr>
              <a:t>喷水</a:t>
            </a:r>
            <a:endParaRPr kumimoji="0" lang="zh-CN" altLang="en-US"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private:</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	……</a:t>
            </a:r>
            <a:endParaRPr kumimoji="0" lang="en-US" altLang="zh-CN" sz="2000" b="1">
              <a:solidFill>
                <a:srgbClr val="000000"/>
              </a:solidFill>
              <a:latin typeface="Times New Roman" panose="02020603050405020304" pitchFamily="18" charset="0"/>
              <a:ea typeface="华文楷体" panose="02010600040101010101" pitchFamily="2" charset="-122"/>
            </a:endParaRPr>
          </a:p>
          <a:p>
            <a:pPr>
              <a:spcBef>
                <a:spcPct val="0"/>
              </a:spcBef>
              <a:buClrTx/>
              <a:buSzTx/>
              <a:buFontTx/>
              <a:buNone/>
            </a:pPr>
            <a:r>
              <a:rPr kumimoji="0" lang="en-US" altLang="zh-CN" sz="2000" b="1">
                <a:solidFill>
                  <a:srgbClr val="000000"/>
                </a:solidFill>
                <a:latin typeface="Times New Roman" panose="02020603050405020304" pitchFamily="18" charset="0"/>
                <a:ea typeface="华文楷体" panose="02010600040101010101" pitchFamily="2" charset="-122"/>
              </a:rPr>
              <a:t>};</a:t>
            </a:r>
            <a:endParaRPr kumimoji="0" lang="en-US" altLang="zh-CN" sz="2000" b="1">
              <a:solidFill>
                <a:srgbClr val="000000"/>
              </a:solidFill>
              <a:latin typeface="Times New Roman" panose="02020603050405020304" pitchFamily="18" charset="0"/>
              <a:ea typeface="华文楷体" panose="02010600040101010101" pitchFamily="2" charset="-122"/>
            </a:endParaRPr>
          </a:p>
        </p:txBody>
      </p:sp>
      <p:sp>
        <p:nvSpPr>
          <p:cNvPr id="106500" name="内容占位符 3"/>
          <p:cNvSpPr>
            <a:spLocks noGrp="1"/>
          </p:cNvSpPr>
          <p:nvPr>
            <p:ph sz="half" idx="2"/>
          </p:nvPr>
        </p:nvSpPr>
        <p:spPr>
          <a:xfrm>
            <a:off x="4648200" y="1785938"/>
            <a:ext cx="4038600" cy="4989512"/>
          </a:xfrm>
        </p:spPr>
        <p:txBody>
          <a:bodyPr/>
          <a:lstStyle/>
          <a:p>
            <a:pPr>
              <a:spcAft>
                <a:spcPct val="25000"/>
              </a:spcAft>
            </a:pPr>
            <a:r>
              <a:rPr lang="zh-CN" altLang="en-US" sz="2400" b="1">
                <a:solidFill>
                  <a:srgbClr val="FFFF00"/>
                </a:solidFill>
                <a:ea typeface="华文楷体" panose="02010600040101010101" pitchFamily="2" charset="-122"/>
              </a:rPr>
              <a:t>意义</a:t>
            </a:r>
            <a:endParaRPr lang="zh-CN" altLang="en-US" sz="2400" b="1">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卡车是汽车</a:t>
            </a:r>
            <a:endParaRPr lang="zh-CN" altLang="en-US" sz="2400" b="1">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消防车是汽车</a:t>
            </a:r>
            <a:endParaRPr lang="zh-CN" altLang="en-US" sz="2400" b="1">
              <a:ea typeface="华文楷体" panose="02010600040101010101" pitchFamily="2" charset="-122"/>
            </a:endParaRPr>
          </a:p>
          <a:p>
            <a:pPr>
              <a:spcAft>
                <a:spcPct val="25000"/>
              </a:spcAft>
            </a:pPr>
            <a:r>
              <a:rPr lang="zh-CN" altLang="en-US" sz="2400" b="1">
                <a:solidFill>
                  <a:srgbClr val="FFFF00"/>
                </a:solidFill>
                <a:ea typeface="华文楷体" panose="02010600040101010101" pitchFamily="2" charset="-122"/>
              </a:rPr>
              <a:t>接口</a:t>
            </a:r>
            <a:endParaRPr lang="zh-CN" altLang="en-US" sz="2400" b="1">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卡车和消防车具有汽车的通用功能（移动）</a:t>
            </a:r>
            <a:endParaRPr lang="zh-CN" altLang="en-US" sz="2400" b="1">
              <a:ea typeface="华文楷体" panose="02010600040101010101" pitchFamily="2" charset="-122"/>
            </a:endParaRPr>
          </a:p>
          <a:p>
            <a:pPr lvl="1">
              <a:buFont typeface="Wingdings" panose="05000000000000000000" pitchFamily="2" charset="2"/>
              <a:buChar char="ü"/>
            </a:pPr>
            <a:r>
              <a:rPr lang="zh-CN" altLang="en-US" sz="2400" b="1">
                <a:ea typeface="华文楷体" panose="02010600040101010101" pitchFamily="2" charset="-122"/>
              </a:rPr>
              <a:t>它们还各自具有自己的功能（卡车：装货、卸货；消防车：喷水）</a:t>
            </a:r>
            <a:endParaRPr lang="zh-CN" altLang="en-US" sz="2400" b="1">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400" b="1">
                <a:latin typeface="Times New Roman" panose="02020603050405020304" pitchFamily="18" charset="0"/>
                <a:ea typeface="隶书" panose="02010509060101010101" pitchFamily="49" charset="-122"/>
              </a:rPr>
              <a:t>7.8.2 </a:t>
            </a:r>
            <a:r>
              <a:rPr lang="zh-CN" altLang="en-US" sz="4400" b="1">
                <a:latin typeface="Times New Roman" panose="02020603050405020304" pitchFamily="18" charset="0"/>
                <a:ea typeface="隶书" panose="02010509060101010101" pitchFamily="49" charset="-122"/>
              </a:rPr>
              <a:t>派生类对象的内存布局</a:t>
            </a:r>
            <a:endParaRPr lang="zh-CN" altLang="en-US" sz="4400" b="1">
              <a:latin typeface="Times New Roman" panose="02020603050405020304" pitchFamily="18" charset="0"/>
              <a:ea typeface="隶书" panose="02010509060101010101" pitchFamily="49" charset="-122"/>
            </a:endParaRPr>
          </a:p>
        </p:txBody>
      </p:sp>
      <p:sp>
        <p:nvSpPr>
          <p:cNvPr id="107523" name="内容占位符 2"/>
          <p:cNvSpPr>
            <a:spLocks noGrp="1"/>
          </p:cNvSpPr>
          <p:nvPr>
            <p:ph idx="1"/>
          </p:nvPr>
        </p:nvSpPr>
        <p:spPr>
          <a:xfrm>
            <a:off x="611560" y="1268760"/>
            <a:ext cx="7886700" cy="4351338"/>
          </a:xfrm>
        </p:spPr>
        <p:txBody>
          <a:bodyPr/>
          <a:lstStyle/>
          <a:p>
            <a:pPr>
              <a:spcAft>
                <a:spcPct val="25000"/>
              </a:spcAft>
            </a:pPr>
            <a:r>
              <a:rPr lang="zh-CN" altLang="en-US" sz="2400" b="1" dirty="0">
                <a:solidFill>
                  <a:srgbClr val="FFFF00"/>
                </a:solidFill>
                <a:ea typeface="华文楷体" panose="02010600040101010101" pitchFamily="2" charset="-122"/>
              </a:rPr>
              <a:t>派生类对象的内存布局</a:t>
            </a:r>
            <a:endParaRPr lang="zh-CN" altLang="en-US" sz="2400" b="1" dirty="0">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因编译器而异</a:t>
            </a:r>
            <a:endParaRPr lang="zh-CN" altLang="en-US"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内存布局应使类型兼容规则便于实现</a:t>
            </a:r>
            <a:endParaRPr lang="zh-CN" altLang="en-US" sz="2400" b="1" dirty="0">
              <a:ea typeface="华文楷体" panose="02010600040101010101" pitchFamily="2" charset="-122"/>
            </a:endParaRPr>
          </a:p>
          <a:p>
            <a:pPr lvl="2">
              <a:buFont typeface="Wingdings" panose="05000000000000000000" pitchFamily="2" charset="2"/>
              <a:buChar char="ü"/>
            </a:pPr>
            <a:r>
              <a:rPr lang="zh-CN" altLang="en-US" b="1" dirty="0">
                <a:ea typeface="华文楷体" panose="02010600040101010101" pitchFamily="2" charset="-122"/>
              </a:rPr>
              <a:t>一个基类指针，无论其指向基类对象，还是派生类对象，通过它来访问一个基类中定义的数据成员，都可以用相同的</a:t>
            </a:r>
            <a:r>
              <a:rPr lang="zh-CN" altLang="en-US" b="1" dirty="0" smtClean="0">
                <a:ea typeface="华文楷体" panose="02010600040101010101" pitchFamily="2" charset="-122"/>
              </a:rPr>
              <a:t>步骤</a:t>
            </a:r>
            <a:endParaRPr lang="en-US" altLang="zh-CN" b="1" dirty="0" smtClean="0">
              <a:ea typeface="华文楷体" panose="02010600040101010101" pitchFamily="2" charset="-122"/>
            </a:endParaRPr>
          </a:p>
          <a:p>
            <a:pPr marL="914400" lvl="2" indent="0">
              <a:buNone/>
            </a:pPr>
            <a:endParaRPr lang="zh-CN" altLang="en-US" b="1" dirty="0">
              <a:ea typeface="华文楷体" panose="02010600040101010101" pitchFamily="2" charset="-122"/>
            </a:endParaRPr>
          </a:p>
          <a:p>
            <a:pPr>
              <a:spcAft>
                <a:spcPct val="25000"/>
              </a:spcAft>
            </a:pPr>
            <a:r>
              <a:rPr lang="zh-CN" altLang="en-US" sz="2400" b="1" dirty="0">
                <a:solidFill>
                  <a:srgbClr val="FFFF00"/>
                </a:solidFill>
                <a:ea typeface="华文楷体" panose="02010600040101010101" pitchFamily="2" charset="-122"/>
              </a:rPr>
              <a:t>不同情况下的内存布局</a:t>
            </a:r>
            <a:endParaRPr lang="zh-CN" altLang="en-US" sz="2400" b="1" dirty="0">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单继承：基类数据在前，派生类新增数据在后</a:t>
            </a:r>
            <a:endParaRPr lang="zh-CN" altLang="en-US"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多继承：各基类数据按顺序在前，派生类新增数据在后</a:t>
            </a:r>
            <a:endParaRPr lang="zh-CN" altLang="en-US"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虚继承：需要增加指针，间接访虚基类数据</a:t>
            </a:r>
            <a:endParaRPr lang="zh-CN" altLang="en-US" sz="2400" b="1" dirty="0">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547"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单继承情形</a:t>
            </a:r>
            <a:endParaRPr lang="zh-CN" altLang="en-US" sz="4400" b="1">
              <a:latin typeface="Times New Roman" panose="02020603050405020304" pitchFamily="18" charset="0"/>
              <a:ea typeface="隶书" panose="02010509060101010101" pitchFamily="49" charset="-122"/>
            </a:endParaRPr>
          </a:p>
        </p:txBody>
      </p:sp>
      <p:sp>
        <p:nvSpPr>
          <p:cNvPr id="108548" name="内容占位符 2"/>
          <p:cNvSpPr>
            <a:spLocks noGrp="1"/>
          </p:cNvSpPr>
          <p:nvPr>
            <p:ph idx="1"/>
          </p:nvPr>
        </p:nvSpPr>
        <p:spPr/>
        <p:txBody>
          <a:bodyPr/>
          <a:lstStyle/>
          <a:p>
            <a:pPr marL="0" indent="0">
              <a:spcAft>
                <a:spcPct val="25000"/>
              </a:spcAft>
              <a:buNone/>
            </a:pPr>
            <a:r>
              <a:rPr lang="en-US" altLang="zh-CN" sz="2000" b="1">
                <a:ea typeface="华文楷体" panose="02010600040101010101" pitchFamily="2" charset="-122"/>
              </a:rPr>
              <a:t>class Base { … };</a:t>
            </a:r>
            <a:endParaRPr lang="en-US" altLang="zh-CN" sz="2000" b="1">
              <a:ea typeface="华文楷体" panose="02010600040101010101" pitchFamily="2" charset="-122"/>
            </a:endParaRPr>
          </a:p>
          <a:p>
            <a:pPr marL="0" indent="0">
              <a:spcAft>
                <a:spcPct val="25000"/>
              </a:spcAft>
              <a:buNone/>
            </a:pPr>
            <a:r>
              <a:rPr lang="en-US" altLang="zh-CN" sz="2000" b="1">
                <a:ea typeface="华文楷体" panose="02010600040101010101" pitchFamily="2" charset="-122"/>
              </a:rPr>
              <a:t>class Derived: public Base { … };</a:t>
            </a:r>
            <a:endParaRPr lang="en-US" altLang="zh-CN" sz="2000" b="1">
              <a:ea typeface="华文楷体" panose="02010600040101010101" pitchFamily="2" charset="-122"/>
            </a:endParaRPr>
          </a:p>
          <a:p>
            <a:pPr marL="0" indent="0">
              <a:spcAft>
                <a:spcPct val="25000"/>
              </a:spcAft>
              <a:buNone/>
            </a:pPr>
            <a:endParaRPr lang="en-US" altLang="zh-CN" sz="2000" b="1">
              <a:ea typeface="华文楷体" panose="02010600040101010101" pitchFamily="2" charset="-122"/>
            </a:endParaRPr>
          </a:p>
          <a:p>
            <a:pPr marL="0" indent="0">
              <a:spcAft>
                <a:spcPct val="25000"/>
              </a:spcAft>
              <a:buNone/>
            </a:pPr>
            <a:r>
              <a:rPr lang="en-US" altLang="zh-CN" sz="2000" b="1">
                <a:ea typeface="华文楷体" panose="02010600040101010101" pitchFamily="2" charset="-122"/>
              </a:rPr>
              <a:t>Derived *pd = new Derived();</a:t>
            </a:r>
            <a:endParaRPr lang="en-US" altLang="zh-CN" sz="2000" b="1">
              <a:ea typeface="华文楷体" panose="02010600040101010101" pitchFamily="2" charset="-122"/>
            </a:endParaRPr>
          </a:p>
          <a:p>
            <a:pPr marL="0" indent="0">
              <a:spcAft>
                <a:spcPct val="25000"/>
              </a:spcAft>
              <a:buNone/>
            </a:pPr>
            <a:r>
              <a:rPr lang="en-US" altLang="zh-CN" sz="2000" b="1">
                <a:ea typeface="华文楷体" panose="02010600040101010101" pitchFamily="2" charset="-122"/>
              </a:rPr>
              <a:t>Base *pb = pd;</a:t>
            </a:r>
            <a:endParaRPr lang="en-US" altLang="zh-CN" sz="2000" b="1">
              <a:ea typeface="华文楷体" panose="02010600040101010101" pitchFamily="2" charset="-122"/>
            </a:endParaRPr>
          </a:p>
          <a:p>
            <a:pPr marL="0" indent="0">
              <a:spcAft>
                <a:spcPct val="25000"/>
              </a:spcAft>
              <a:buNone/>
            </a:pPr>
            <a:endParaRPr lang="en-US" altLang="zh-CN" sz="2000" b="1">
              <a:ea typeface="华文楷体" panose="02010600040101010101" pitchFamily="2" charset="-122"/>
            </a:endParaRPr>
          </a:p>
        </p:txBody>
      </p:sp>
      <p:grpSp>
        <p:nvGrpSpPr>
          <p:cNvPr id="108550" name="组合 23"/>
          <p:cNvGrpSpPr/>
          <p:nvPr/>
        </p:nvGrpSpPr>
        <p:grpSpPr bwMode="auto">
          <a:xfrm>
            <a:off x="5435600" y="2760663"/>
            <a:ext cx="3024832" cy="1676400"/>
            <a:chOff x="4933957" y="2824159"/>
            <a:chExt cx="1804987" cy="1150937"/>
          </a:xfrm>
        </p:grpSpPr>
        <p:sp>
          <p:nvSpPr>
            <p:cNvPr id="108552" name="Text Box 6"/>
            <p:cNvSpPr txBox="1">
              <a:spLocks noChangeArrowheads="1"/>
            </p:cNvSpPr>
            <p:nvPr/>
          </p:nvSpPr>
          <p:spPr bwMode="auto">
            <a:xfrm>
              <a:off x="5500694" y="2928934"/>
              <a:ext cx="1238250" cy="3810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solidFill>
                    <a:srgbClr val="FFFF00"/>
                  </a:solidFill>
                  <a:latin typeface="+mn-lt"/>
                  <a:ea typeface="华文楷体" panose="02010600040101010101" pitchFamily="2" charset="-122"/>
                </a:rPr>
                <a:t>Base</a:t>
              </a:r>
              <a:r>
                <a:rPr lang="zh-CN" altLang="en-US" sz="1800" b="1">
                  <a:solidFill>
                    <a:srgbClr val="FFFF00"/>
                  </a:solidFill>
                  <a:latin typeface="+mn-lt"/>
                  <a:ea typeface="华文楷体" panose="02010600040101010101" pitchFamily="2" charset="-122"/>
                </a:rPr>
                <a:t>类</a:t>
              </a:r>
              <a:endParaRPr lang="zh-CN" altLang="en-US" sz="1800" b="1">
                <a:solidFill>
                  <a:srgbClr val="FFFF00"/>
                </a:solidFill>
                <a:latin typeface="+mn-lt"/>
                <a:ea typeface="华文楷体" panose="02010600040101010101" pitchFamily="2" charset="-122"/>
              </a:endParaRPr>
            </a:p>
            <a:p>
              <a:pPr algn="ctr" eaLnBrk="1" hangingPunct="1"/>
              <a:r>
                <a:rPr lang="zh-CN" altLang="en-US" sz="1800" b="1">
                  <a:solidFill>
                    <a:srgbClr val="FFFF00"/>
                  </a:solidFill>
                  <a:latin typeface="+mn-lt"/>
                  <a:ea typeface="华文楷体" panose="02010600040101010101" pitchFamily="2" charset="-122"/>
                </a:rPr>
                <a:t>数据成员</a:t>
              </a:r>
              <a:endParaRPr lang="zh-CN" altLang="zh-CN" sz="1800" b="1">
                <a:solidFill>
                  <a:srgbClr val="FFFF00"/>
                </a:solidFill>
                <a:latin typeface="+mn-lt"/>
                <a:ea typeface="华文楷体" panose="02010600040101010101" pitchFamily="2" charset="-122"/>
              </a:endParaRPr>
            </a:p>
          </p:txBody>
        </p:sp>
        <p:sp>
          <p:nvSpPr>
            <p:cNvPr id="108553" name="Text Box 7"/>
            <p:cNvSpPr txBox="1">
              <a:spLocks noChangeArrowheads="1"/>
            </p:cNvSpPr>
            <p:nvPr/>
          </p:nvSpPr>
          <p:spPr bwMode="auto">
            <a:xfrm>
              <a:off x="5500694" y="3309934"/>
              <a:ext cx="1238250" cy="3810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solidFill>
                    <a:srgbClr val="FFFF00"/>
                  </a:solidFill>
                  <a:latin typeface="+mn-lt"/>
                  <a:ea typeface="华文楷体" panose="02010600040101010101" pitchFamily="2" charset="-122"/>
                </a:rPr>
                <a:t>Derived</a:t>
              </a:r>
              <a:r>
                <a:rPr lang="zh-CN" altLang="en-US" sz="1800" b="1">
                  <a:solidFill>
                    <a:srgbClr val="FFFF00"/>
                  </a:solidFill>
                  <a:latin typeface="+mn-lt"/>
                  <a:ea typeface="华文楷体" panose="02010600040101010101" pitchFamily="2" charset="-122"/>
                </a:rPr>
                <a:t>类新增</a:t>
              </a:r>
              <a:endParaRPr lang="zh-CN" altLang="en-US" sz="1800" b="1">
                <a:solidFill>
                  <a:srgbClr val="FFFF00"/>
                </a:solidFill>
                <a:latin typeface="+mn-lt"/>
                <a:ea typeface="华文楷体" panose="02010600040101010101" pitchFamily="2" charset="-122"/>
              </a:endParaRPr>
            </a:p>
            <a:p>
              <a:pPr algn="ctr" eaLnBrk="1" hangingPunct="1"/>
              <a:r>
                <a:rPr lang="zh-CN" altLang="en-US" sz="1800" b="1">
                  <a:solidFill>
                    <a:srgbClr val="FFFF00"/>
                  </a:solidFill>
                  <a:latin typeface="+mn-lt"/>
                  <a:ea typeface="华文楷体" panose="02010600040101010101" pitchFamily="2" charset="-122"/>
                </a:rPr>
                <a:t>数据成员</a:t>
              </a:r>
              <a:endParaRPr lang="zh-CN" altLang="zh-CN" sz="1800" b="1">
                <a:solidFill>
                  <a:srgbClr val="FFFF00"/>
                </a:solidFill>
                <a:latin typeface="+mn-lt"/>
                <a:ea typeface="华文楷体" panose="02010600040101010101" pitchFamily="2" charset="-122"/>
              </a:endParaRPr>
            </a:p>
          </p:txBody>
        </p:sp>
        <p:cxnSp>
          <p:nvCxnSpPr>
            <p:cNvPr id="108554" name="AutoShape 8"/>
            <p:cNvCxnSpPr>
              <a:cxnSpLocks noChangeShapeType="1"/>
            </p:cNvCxnSpPr>
            <p:nvPr/>
          </p:nvCxnSpPr>
          <p:spPr bwMode="auto">
            <a:xfrm>
              <a:off x="4935544" y="2995609"/>
              <a:ext cx="552450" cy="1587"/>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108555" name="Text Box 9"/>
            <p:cNvSpPr txBox="1">
              <a:spLocks noChangeArrowheads="1"/>
            </p:cNvSpPr>
            <p:nvPr/>
          </p:nvSpPr>
          <p:spPr bwMode="auto">
            <a:xfrm>
              <a:off x="4933957" y="2824159"/>
              <a:ext cx="4191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800" b="1" dirty="0" err="1">
                  <a:solidFill>
                    <a:srgbClr val="FFFF00"/>
                  </a:solidFill>
                  <a:latin typeface="+mn-lt"/>
                  <a:ea typeface="华文楷体" panose="02010600040101010101" pitchFamily="2" charset="-122"/>
                </a:rPr>
                <a:t>pb</a:t>
              </a:r>
              <a:r>
                <a:rPr lang="en-US" altLang="zh-CN" sz="1800" b="1" dirty="0">
                  <a:solidFill>
                    <a:srgbClr val="FFFF00"/>
                  </a:solidFill>
                  <a:latin typeface="+mn-lt"/>
                  <a:ea typeface="华文楷体" panose="02010600040101010101" pitchFamily="2" charset="-122"/>
                </a:rPr>
                <a:t>, </a:t>
              </a:r>
              <a:r>
                <a:rPr lang="en-US" altLang="zh-CN" sz="1800" b="1" dirty="0" err="1">
                  <a:solidFill>
                    <a:srgbClr val="FFFF00"/>
                  </a:solidFill>
                  <a:latin typeface="+mn-lt"/>
                  <a:ea typeface="华文楷体" panose="02010600040101010101" pitchFamily="2" charset="-122"/>
                </a:rPr>
                <a:t>pd</a:t>
              </a:r>
              <a:endParaRPr lang="zh-CN" altLang="zh-CN" sz="1800" b="1" dirty="0">
                <a:solidFill>
                  <a:srgbClr val="FFFF00"/>
                </a:solidFill>
                <a:latin typeface="+mn-lt"/>
                <a:ea typeface="华文楷体" panose="02010600040101010101" pitchFamily="2" charset="-122"/>
              </a:endParaRPr>
            </a:p>
          </p:txBody>
        </p:sp>
        <p:sp>
          <p:nvSpPr>
            <p:cNvPr id="108556" name="Text Box 10"/>
            <p:cNvSpPr txBox="1">
              <a:spLocks noChangeArrowheads="1"/>
            </p:cNvSpPr>
            <p:nvPr/>
          </p:nvSpPr>
          <p:spPr bwMode="auto">
            <a:xfrm>
              <a:off x="5678494" y="3775071"/>
              <a:ext cx="771525"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solidFill>
                    <a:srgbClr val="FFFF00"/>
                  </a:solidFill>
                  <a:latin typeface="+mn-lt"/>
                  <a:ea typeface="华文楷体" panose="02010600040101010101" pitchFamily="2" charset="-122"/>
                </a:rPr>
                <a:t>Derived</a:t>
              </a:r>
              <a:r>
                <a:rPr lang="zh-CN" altLang="en-US" sz="1800" b="1">
                  <a:solidFill>
                    <a:srgbClr val="FFFF00"/>
                  </a:solidFill>
                  <a:latin typeface="+mn-lt"/>
                  <a:ea typeface="华文楷体" panose="02010600040101010101" pitchFamily="2" charset="-122"/>
                </a:rPr>
                <a:t>对象</a:t>
              </a:r>
              <a:endParaRPr lang="zh-CN" altLang="zh-CN" sz="1800" b="1">
                <a:solidFill>
                  <a:srgbClr val="FFFF00"/>
                </a:solidFill>
                <a:latin typeface="+mn-lt"/>
                <a:ea typeface="华文楷体" panose="02010600040101010101" pitchFamily="2" charset="-122"/>
              </a:endParaRPr>
            </a:p>
          </p:txBody>
        </p:sp>
      </p:grpSp>
      <p:sp>
        <p:nvSpPr>
          <p:cNvPr id="13" name="TextBox 148"/>
          <p:cNvSpPr txBox="1">
            <a:spLocks noChangeArrowheads="1"/>
          </p:cNvSpPr>
          <p:nvPr/>
        </p:nvSpPr>
        <p:spPr bwMode="auto">
          <a:xfrm>
            <a:off x="1809249" y="4941168"/>
            <a:ext cx="6171580" cy="846386"/>
          </a:xfrm>
          <a:prstGeom prst="rect">
            <a:avLst/>
          </a:prstGeom>
        </p:spPr>
        <p:txBody>
          <a:bodyPr/>
          <a:lstStyle>
            <a:lvl1pPr marL="0" indent="0" algn="l">
              <a:spcBef>
                <a:spcPct val="20000"/>
              </a:spcBef>
              <a:spcAft>
                <a:spcPct val="25000"/>
              </a:spcAft>
              <a:buClr>
                <a:schemeClr val="tx2"/>
              </a:buClr>
              <a:buSzPct val="75000"/>
              <a:buFont typeface="Monotype Sorts" pitchFamily="2" charset="2"/>
              <a:buNone/>
              <a:defRPr sz="2000" b="1">
                <a:latin typeface="+mn-lt"/>
                <a:ea typeface="华文楷体" panose="02010600040101010101" pitchFamily="2" charset="-122"/>
              </a:defRPr>
            </a:lvl1pPr>
            <a:lvl2pPr marL="742950" indent="-285750" algn="l">
              <a:spcBef>
                <a:spcPct val="20000"/>
              </a:spcBef>
              <a:buClr>
                <a:schemeClr val="tx1"/>
              </a:buClr>
              <a:buSzPct val="75000"/>
              <a:buFont typeface="Monotype Sorts" pitchFamily="2" charset="2"/>
              <a:buChar char="u"/>
              <a:defRPr sz="2800">
                <a:latin typeface="+mn-lt"/>
                <a:ea typeface="+mn-ea"/>
              </a:defRPr>
            </a:lvl2pPr>
            <a:lvl3pPr marL="1143000" indent="-228600" algn="l">
              <a:spcBef>
                <a:spcPct val="20000"/>
              </a:spcBef>
              <a:buClr>
                <a:schemeClr val="tx2"/>
              </a:buClr>
              <a:buSzPct val="62000"/>
              <a:buFont typeface="Monotype Sorts" pitchFamily="2" charset="2"/>
              <a:buChar char="u"/>
              <a:defRPr>
                <a:latin typeface="+mn-lt"/>
                <a:ea typeface="+mn-ea"/>
              </a:defRPr>
            </a:lvl3pPr>
            <a:lvl4pPr marL="1600200" indent="-228600" algn="l">
              <a:spcBef>
                <a:spcPct val="20000"/>
              </a:spcBef>
              <a:buClr>
                <a:schemeClr val="tx1"/>
              </a:buClr>
              <a:buSzPct val="62000"/>
              <a:buFont typeface="Monotype Sorts" pitchFamily="2" charset="2"/>
              <a:buChar char="u"/>
              <a:defRPr sz="2000">
                <a:latin typeface="+mn-lt"/>
                <a:ea typeface="+mn-ea"/>
              </a:defRPr>
            </a:lvl4pPr>
            <a:lvl5pPr marL="2057400" indent="-228600" algn="l">
              <a:spcBef>
                <a:spcPct val="20000"/>
              </a:spcBef>
              <a:buClr>
                <a:schemeClr val="tx2"/>
              </a:buClr>
              <a:buSzPct val="62000"/>
              <a:buFont typeface="Monotype Sorts" pitchFamily="2" charset="2"/>
              <a:buChar char="u"/>
              <a:defRPr sz="2000">
                <a:latin typeface="+mn-lt"/>
                <a:ea typeface="+mn-ea"/>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r>
              <a:rPr lang="en-US" altLang="zh-CN" sz="2400" dirty="0">
                <a:solidFill>
                  <a:srgbClr val="FFFF00"/>
                </a:solidFill>
              </a:rPr>
              <a:t>Derived</a:t>
            </a:r>
            <a:r>
              <a:rPr lang="zh-CN" altLang="en-US" sz="2400" dirty="0">
                <a:solidFill>
                  <a:srgbClr val="FFFF00"/>
                </a:solidFill>
              </a:rPr>
              <a:t>类型指针</a:t>
            </a:r>
            <a:r>
              <a:rPr lang="en-US" altLang="zh-CN" sz="2400" dirty="0" err="1">
                <a:solidFill>
                  <a:srgbClr val="FFFF00"/>
                </a:solidFill>
              </a:rPr>
              <a:t>pd</a:t>
            </a:r>
            <a:r>
              <a:rPr lang="zh-CN" altLang="en-US" sz="2400" dirty="0">
                <a:solidFill>
                  <a:srgbClr val="FFFF00"/>
                </a:solidFill>
              </a:rPr>
              <a:t>转换为</a:t>
            </a:r>
            <a:r>
              <a:rPr lang="en-US" altLang="zh-CN" sz="2400" dirty="0">
                <a:solidFill>
                  <a:srgbClr val="FFFF00"/>
                </a:solidFill>
              </a:rPr>
              <a:t>Base</a:t>
            </a:r>
            <a:r>
              <a:rPr lang="zh-CN" altLang="en-US" sz="2400" dirty="0">
                <a:solidFill>
                  <a:srgbClr val="FFFF00"/>
                </a:solidFill>
              </a:rPr>
              <a:t>类型</a:t>
            </a:r>
            <a:r>
              <a:rPr lang="zh-CN" altLang="en-US" sz="2400" dirty="0" smtClean="0">
                <a:solidFill>
                  <a:srgbClr val="FFFF00"/>
                </a:solidFill>
              </a:rPr>
              <a:t>指针时</a:t>
            </a:r>
            <a:r>
              <a:rPr lang="zh-CN" altLang="en-US" sz="2400" dirty="0">
                <a:solidFill>
                  <a:srgbClr val="FFFF00"/>
                </a:solidFill>
              </a:rPr>
              <a:t>，地址不需要改变</a:t>
            </a:r>
            <a:endParaRPr lang="zh-CN" altLang="en-US" sz="2400" dirty="0">
              <a:solidFill>
                <a:srgbClr val="FFFF00"/>
              </a:solidFill>
            </a:endParaRPr>
          </a:p>
        </p:txBody>
      </p:sp>
    </p:spTree>
  </p:cSld>
  <p:clrMapOvr>
    <a:masterClrMapping/>
  </p:clrMapOvr>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571"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多继承情形</a:t>
            </a:r>
            <a:endParaRPr lang="zh-CN" altLang="en-US" sz="4400" b="1">
              <a:latin typeface="Times New Roman" panose="02020603050405020304" pitchFamily="18" charset="0"/>
              <a:ea typeface="隶书" panose="02010509060101010101" pitchFamily="49" charset="-122"/>
            </a:endParaRPr>
          </a:p>
        </p:txBody>
      </p:sp>
      <p:sp>
        <p:nvSpPr>
          <p:cNvPr id="109572" name="内容占位符 2"/>
          <p:cNvSpPr>
            <a:spLocks noGrp="1"/>
          </p:cNvSpPr>
          <p:nvPr>
            <p:ph idx="1"/>
          </p:nvPr>
        </p:nvSpPr>
        <p:spPr/>
        <p:txBody>
          <a:bodyPr/>
          <a:lstStyle/>
          <a:p>
            <a:pPr marL="0" indent="0">
              <a:spcAft>
                <a:spcPct val="25000"/>
              </a:spcAft>
              <a:buNone/>
            </a:pPr>
            <a:r>
              <a:rPr lang="en-US" altLang="zh-CN" sz="2000" b="1" dirty="0">
                <a:ea typeface="华文楷体" panose="02010600040101010101" pitchFamily="2" charset="-122"/>
              </a:rPr>
              <a:t>class Base1 { … };</a:t>
            </a:r>
            <a:endParaRPr lang="en-US" altLang="zh-CN" sz="2000" b="1" dirty="0">
              <a:ea typeface="华文楷体" panose="02010600040101010101" pitchFamily="2" charset="-122"/>
            </a:endParaRPr>
          </a:p>
          <a:p>
            <a:pPr marL="0" indent="0">
              <a:spcAft>
                <a:spcPct val="25000"/>
              </a:spcAft>
              <a:buNone/>
            </a:pPr>
            <a:r>
              <a:rPr lang="en-US" altLang="zh-CN" sz="2000" b="1" dirty="0">
                <a:ea typeface="华文楷体" panose="02010600040101010101" pitchFamily="2" charset="-122"/>
              </a:rPr>
              <a:t>class Base2 { … };</a:t>
            </a:r>
            <a:endParaRPr lang="en-US" altLang="zh-CN" sz="2000" b="1" dirty="0">
              <a:ea typeface="华文楷体" panose="02010600040101010101" pitchFamily="2" charset="-122"/>
            </a:endParaRPr>
          </a:p>
          <a:p>
            <a:pPr marL="0" indent="0">
              <a:spcAft>
                <a:spcPct val="25000"/>
              </a:spcAft>
              <a:buNone/>
            </a:pPr>
            <a:r>
              <a:rPr lang="en-US" altLang="zh-CN" sz="2000" b="1" dirty="0">
                <a:ea typeface="华文楷体" panose="02010600040101010101" pitchFamily="2" charset="-122"/>
              </a:rPr>
              <a:t>class Derived: public Base1, public Base2 { … };</a:t>
            </a:r>
            <a:endParaRPr lang="en-US" altLang="zh-CN" sz="2000" b="1" dirty="0">
              <a:ea typeface="华文楷体" panose="02010600040101010101" pitchFamily="2" charset="-122"/>
            </a:endParaRPr>
          </a:p>
          <a:p>
            <a:pPr marL="0" indent="0">
              <a:spcAft>
                <a:spcPct val="25000"/>
              </a:spcAft>
              <a:buNone/>
            </a:pPr>
            <a:endParaRPr lang="en-US" altLang="zh-CN" sz="2000" b="1" dirty="0">
              <a:ea typeface="华文楷体" panose="02010600040101010101" pitchFamily="2" charset="-122"/>
            </a:endParaRPr>
          </a:p>
          <a:p>
            <a:pPr marL="0" indent="0">
              <a:spcAft>
                <a:spcPct val="25000"/>
              </a:spcAft>
              <a:buNone/>
            </a:pPr>
            <a:r>
              <a:rPr lang="en-US" altLang="zh-CN" sz="2000" b="1" dirty="0">
                <a:ea typeface="华文楷体" panose="02010600040101010101" pitchFamily="2" charset="-122"/>
              </a:rPr>
              <a:t>Derived *</a:t>
            </a:r>
            <a:r>
              <a:rPr lang="en-US" altLang="zh-CN" sz="2000" b="1" dirty="0" err="1">
                <a:ea typeface="华文楷体" panose="02010600040101010101" pitchFamily="2" charset="-122"/>
              </a:rPr>
              <a:t>pd</a:t>
            </a:r>
            <a:r>
              <a:rPr lang="en-US" altLang="zh-CN" sz="2000" b="1" dirty="0">
                <a:ea typeface="华文楷体" panose="02010600040101010101" pitchFamily="2" charset="-122"/>
              </a:rPr>
              <a:t> = new Derived();</a:t>
            </a:r>
            <a:endParaRPr lang="en-US" altLang="zh-CN" sz="2000" b="1" dirty="0">
              <a:ea typeface="华文楷体" panose="02010600040101010101" pitchFamily="2" charset="-122"/>
            </a:endParaRPr>
          </a:p>
          <a:p>
            <a:pPr marL="0" indent="0">
              <a:spcAft>
                <a:spcPct val="25000"/>
              </a:spcAft>
              <a:buNone/>
            </a:pPr>
            <a:r>
              <a:rPr lang="en-US" altLang="zh-CN" sz="2000" b="1" dirty="0">
                <a:ea typeface="华文楷体" panose="02010600040101010101" pitchFamily="2" charset="-122"/>
              </a:rPr>
              <a:t>Base1 *pb1 = </a:t>
            </a:r>
            <a:r>
              <a:rPr lang="en-US" altLang="zh-CN" sz="2000" b="1" dirty="0" err="1">
                <a:ea typeface="华文楷体" panose="02010600040101010101" pitchFamily="2" charset="-122"/>
              </a:rPr>
              <a:t>pd</a:t>
            </a:r>
            <a:r>
              <a:rPr lang="en-US" altLang="zh-CN" sz="2000" b="1" dirty="0">
                <a:ea typeface="华文楷体" panose="02010600040101010101" pitchFamily="2" charset="-122"/>
              </a:rPr>
              <a:t>;</a:t>
            </a:r>
            <a:endParaRPr lang="en-US" altLang="zh-CN" sz="2000" b="1" dirty="0">
              <a:ea typeface="华文楷体" panose="02010600040101010101" pitchFamily="2" charset="-122"/>
            </a:endParaRPr>
          </a:p>
          <a:p>
            <a:pPr marL="0" indent="0">
              <a:spcAft>
                <a:spcPct val="25000"/>
              </a:spcAft>
              <a:buNone/>
            </a:pPr>
            <a:r>
              <a:rPr lang="en-US" altLang="zh-CN" sz="2000" b="1" dirty="0">
                <a:ea typeface="华文楷体" panose="02010600040101010101" pitchFamily="2" charset="-122"/>
              </a:rPr>
              <a:t>Base2 *pb2 = </a:t>
            </a:r>
            <a:r>
              <a:rPr lang="en-US" altLang="zh-CN" sz="2000" b="1" dirty="0" err="1">
                <a:ea typeface="华文楷体" panose="02010600040101010101" pitchFamily="2" charset="-122"/>
              </a:rPr>
              <a:t>pd</a:t>
            </a:r>
            <a:r>
              <a:rPr lang="en-US" altLang="zh-CN" sz="2000" b="1" dirty="0">
                <a:ea typeface="华文楷体" panose="02010600040101010101" pitchFamily="2" charset="-122"/>
              </a:rPr>
              <a:t>;</a:t>
            </a:r>
            <a:endParaRPr lang="en-US" altLang="zh-CN" sz="2000" b="1" dirty="0">
              <a:ea typeface="华文楷体" panose="02010600040101010101" pitchFamily="2" charset="-122"/>
            </a:endParaRPr>
          </a:p>
          <a:p>
            <a:pPr marL="0" indent="0">
              <a:spcAft>
                <a:spcPct val="25000"/>
              </a:spcAft>
              <a:buNone/>
            </a:pPr>
            <a:endParaRPr lang="en-US" altLang="zh-CN" sz="2000" b="1" dirty="0">
              <a:ea typeface="华文楷体" panose="02010600040101010101" pitchFamily="2" charset="-122"/>
            </a:endParaRPr>
          </a:p>
        </p:txBody>
      </p:sp>
      <p:sp>
        <p:nvSpPr>
          <p:cNvPr id="13" name="TextBox 148"/>
          <p:cNvSpPr txBox="1">
            <a:spLocks noChangeArrowheads="1"/>
          </p:cNvSpPr>
          <p:nvPr/>
        </p:nvSpPr>
        <p:spPr bwMode="auto">
          <a:xfrm>
            <a:off x="1928812" y="5143500"/>
            <a:ext cx="6459612" cy="846386"/>
          </a:xfrm>
          <a:prstGeom prst="rect">
            <a:avLst/>
          </a:prstGeom>
        </p:spPr>
        <p:txBody>
          <a:bodyPr/>
          <a:lstStyle>
            <a:defPPr>
              <a:defRPr lang="zh-CN"/>
            </a:defPPr>
            <a:lvl1pPr marL="0" indent="0" algn="l">
              <a:spcBef>
                <a:spcPct val="20000"/>
              </a:spcBef>
              <a:spcAft>
                <a:spcPct val="25000"/>
              </a:spcAft>
              <a:buClr>
                <a:schemeClr val="tx2"/>
              </a:buClr>
              <a:buSzPct val="75000"/>
              <a:buFont typeface="Monotype Sorts" pitchFamily="2" charset="2"/>
              <a:buNone/>
              <a:defRPr b="1">
                <a:solidFill>
                  <a:srgbClr val="FFFF00"/>
                </a:solidFill>
                <a:latin typeface="+mn-lt"/>
                <a:ea typeface="华文楷体" panose="02010600040101010101" pitchFamily="2" charset="-122"/>
              </a:defRPr>
            </a:lvl1pPr>
            <a:lvl2pPr marL="742950" indent="-285750" algn="l">
              <a:spcBef>
                <a:spcPct val="20000"/>
              </a:spcBef>
              <a:buClr>
                <a:schemeClr val="tx1"/>
              </a:buClr>
              <a:buSzPct val="75000"/>
              <a:buFont typeface="Monotype Sorts" pitchFamily="2" charset="2"/>
              <a:buChar char="u"/>
              <a:defRPr sz="2800">
                <a:latin typeface="+mn-lt"/>
                <a:ea typeface="+mn-ea"/>
              </a:defRPr>
            </a:lvl2pPr>
            <a:lvl3pPr marL="1143000" indent="-228600" algn="l">
              <a:spcBef>
                <a:spcPct val="20000"/>
              </a:spcBef>
              <a:buClr>
                <a:schemeClr val="tx2"/>
              </a:buClr>
              <a:buSzPct val="62000"/>
              <a:buFont typeface="Monotype Sorts" pitchFamily="2" charset="2"/>
              <a:buChar char="u"/>
              <a:defRPr>
                <a:latin typeface="+mn-lt"/>
                <a:ea typeface="+mn-ea"/>
              </a:defRPr>
            </a:lvl3pPr>
            <a:lvl4pPr marL="1600200" indent="-228600" algn="l">
              <a:spcBef>
                <a:spcPct val="20000"/>
              </a:spcBef>
              <a:buClr>
                <a:schemeClr val="tx1"/>
              </a:buClr>
              <a:buSzPct val="62000"/>
              <a:buFont typeface="Monotype Sorts" pitchFamily="2" charset="2"/>
              <a:buChar char="u"/>
              <a:defRPr sz="2000">
                <a:latin typeface="+mn-lt"/>
                <a:ea typeface="+mn-ea"/>
              </a:defRPr>
            </a:lvl4pPr>
            <a:lvl5pPr marL="2057400" indent="-228600" algn="l">
              <a:spcBef>
                <a:spcPct val="20000"/>
              </a:spcBef>
              <a:buClr>
                <a:schemeClr val="tx2"/>
              </a:buClr>
              <a:buSzPct val="62000"/>
              <a:buFont typeface="Monotype Sorts" pitchFamily="2" charset="2"/>
              <a:buChar char="u"/>
              <a:defRPr sz="2000">
                <a:latin typeface="+mn-lt"/>
                <a:ea typeface="+mn-ea"/>
              </a:defRPr>
            </a:lvl5pPr>
            <a:lvl6pPr marL="2514600" indent="-228600">
              <a:lnSpc>
                <a:spcPct val="90000"/>
              </a:lnSpc>
              <a:spcBef>
                <a:spcPts val="500"/>
              </a:spcBef>
              <a:buFont typeface="Arial" panose="020B0604020202020204" pitchFamily="34" charset="0"/>
              <a:buChar char="•"/>
              <a:defRPr sz="1800">
                <a:latin typeface="+mn-lt"/>
                <a:ea typeface="+mn-ea"/>
              </a:defRPr>
            </a:lvl6pPr>
            <a:lvl7pPr marL="2971800" indent="-228600">
              <a:lnSpc>
                <a:spcPct val="90000"/>
              </a:lnSpc>
              <a:spcBef>
                <a:spcPts val="500"/>
              </a:spcBef>
              <a:buFont typeface="Arial" panose="020B0604020202020204" pitchFamily="34" charset="0"/>
              <a:buChar char="•"/>
              <a:defRPr sz="1800">
                <a:latin typeface="+mn-lt"/>
                <a:ea typeface="+mn-ea"/>
              </a:defRPr>
            </a:lvl7pPr>
            <a:lvl8pPr marL="3429000" indent="-228600">
              <a:lnSpc>
                <a:spcPct val="90000"/>
              </a:lnSpc>
              <a:spcBef>
                <a:spcPts val="500"/>
              </a:spcBef>
              <a:buFont typeface="Arial" panose="020B0604020202020204" pitchFamily="34" charset="0"/>
              <a:buChar char="•"/>
              <a:defRPr sz="1800">
                <a:latin typeface="+mn-lt"/>
                <a:ea typeface="+mn-ea"/>
              </a:defRPr>
            </a:lvl8pPr>
            <a:lvl9pPr marL="3886200" indent="-228600">
              <a:lnSpc>
                <a:spcPct val="90000"/>
              </a:lnSpc>
              <a:spcBef>
                <a:spcPts val="500"/>
              </a:spcBef>
              <a:buFont typeface="Arial" panose="020B0604020202020204" pitchFamily="34" charset="0"/>
              <a:buChar char="•"/>
              <a:defRPr sz="1800">
                <a:latin typeface="+mn-lt"/>
                <a:ea typeface="+mn-ea"/>
              </a:defRPr>
            </a:lvl9pPr>
          </a:lstStyle>
          <a:p>
            <a:r>
              <a:rPr lang="en-US" altLang="zh-CN" dirty="0"/>
              <a:t>Derived</a:t>
            </a:r>
            <a:r>
              <a:rPr lang="zh-CN" altLang="en-US" dirty="0"/>
              <a:t>类型指针</a:t>
            </a:r>
            <a:r>
              <a:rPr lang="en-US" altLang="zh-CN" dirty="0" err="1"/>
              <a:t>pd</a:t>
            </a:r>
            <a:r>
              <a:rPr lang="zh-CN" altLang="en-US" dirty="0"/>
              <a:t>转换为</a:t>
            </a:r>
            <a:r>
              <a:rPr lang="en-US" altLang="zh-CN" dirty="0"/>
              <a:t>Base2</a:t>
            </a:r>
            <a:r>
              <a:rPr lang="zh-CN" altLang="en-US" dirty="0"/>
              <a:t>类型指针</a:t>
            </a:r>
            <a:endParaRPr lang="zh-CN" altLang="en-US" dirty="0"/>
          </a:p>
          <a:p>
            <a:r>
              <a:rPr lang="zh-CN" altLang="en-US" dirty="0"/>
              <a:t>时，原地址需要增加一个偏移量</a:t>
            </a:r>
            <a:endParaRPr lang="zh-CN" altLang="en-US" dirty="0"/>
          </a:p>
        </p:txBody>
      </p:sp>
      <p:grpSp>
        <p:nvGrpSpPr>
          <p:cNvPr id="109575" name="组合 28"/>
          <p:cNvGrpSpPr/>
          <p:nvPr/>
        </p:nvGrpSpPr>
        <p:grpSpPr bwMode="auto">
          <a:xfrm>
            <a:off x="5777038" y="1824520"/>
            <a:ext cx="3187450" cy="2286000"/>
            <a:chOff x="5005395" y="2659061"/>
            <a:chExt cx="1806575" cy="1474787"/>
          </a:xfrm>
        </p:grpSpPr>
        <p:sp>
          <p:nvSpPr>
            <p:cNvPr id="109576" name="Text Box 2"/>
            <p:cNvSpPr txBox="1">
              <a:spLocks noChangeArrowheads="1"/>
            </p:cNvSpPr>
            <p:nvPr/>
          </p:nvSpPr>
          <p:spPr bwMode="auto">
            <a:xfrm>
              <a:off x="5572132" y="2763836"/>
              <a:ext cx="1238250" cy="379412"/>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solidFill>
                    <a:srgbClr val="FFFF00"/>
                  </a:solidFill>
                  <a:latin typeface="+mn-lt"/>
                  <a:ea typeface="华文楷体" panose="02010600040101010101" pitchFamily="2" charset="-122"/>
                </a:rPr>
                <a:t>Base1</a:t>
              </a:r>
              <a:r>
                <a:rPr lang="zh-CN" altLang="en-US" sz="1800" b="1">
                  <a:solidFill>
                    <a:srgbClr val="FFFF00"/>
                  </a:solidFill>
                  <a:latin typeface="+mn-lt"/>
                  <a:ea typeface="华文楷体" panose="02010600040101010101" pitchFamily="2" charset="-122"/>
                </a:rPr>
                <a:t>类</a:t>
              </a:r>
              <a:endParaRPr lang="zh-CN" altLang="en-US" sz="1800" b="1">
                <a:solidFill>
                  <a:srgbClr val="FFFF00"/>
                </a:solidFill>
                <a:latin typeface="+mn-lt"/>
                <a:ea typeface="华文楷体" panose="02010600040101010101" pitchFamily="2" charset="-122"/>
              </a:endParaRPr>
            </a:p>
            <a:p>
              <a:pPr algn="ctr" eaLnBrk="1" hangingPunct="1"/>
              <a:r>
                <a:rPr lang="zh-CN" altLang="en-US" sz="1800" b="1">
                  <a:solidFill>
                    <a:srgbClr val="FFFF00"/>
                  </a:solidFill>
                  <a:latin typeface="+mn-lt"/>
                  <a:ea typeface="华文楷体" panose="02010600040101010101" pitchFamily="2" charset="-122"/>
                </a:rPr>
                <a:t>数据成员</a:t>
              </a:r>
              <a:endParaRPr lang="zh-CN" altLang="zh-CN" sz="1800" b="1">
                <a:solidFill>
                  <a:srgbClr val="FFFF00"/>
                </a:solidFill>
                <a:latin typeface="+mn-lt"/>
                <a:ea typeface="华文楷体" panose="02010600040101010101" pitchFamily="2" charset="-122"/>
              </a:endParaRPr>
            </a:p>
          </p:txBody>
        </p:sp>
        <p:sp>
          <p:nvSpPr>
            <p:cNvPr id="109577" name="Text Box 3"/>
            <p:cNvSpPr txBox="1">
              <a:spLocks noChangeArrowheads="1"/>
            </p:cNvSpPr>
            <p:nvPr/>
          </p:nvSpPr>
          <p:spPr bwMode="auto">
            <a:xfrm>
              <a:off x="5572132" y="3143248"/>
              <a:ext cx="1238250" cy="382588"/>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solidFill>
                    <a:srgbClr val="FFFF00"/>
                  </a:solidFill>
                  <a:latin typeface="+mn-lt"/>
                  <a:ea typeface="华文楷体" panose="02010600040101010101" pitchFamily="2" charset="-122"/>
                </a:rPr>
                <a:t>Base2</a:t>
              </a:r>
              <a:r>
                <a:rPr lang="zh-CN" altLang="en-US" sz="1800" b="1">
                  <a:solidFill>
                    <a:srgbClr val="FFFF00"/>
                  </a:solidFill>
                  <a:latin typeface="+mn-lt"/>
                  <a:ea typeface="华文楷体" panose="02010600040101010101" pitchFamily="2" charset="-122"/>
                </a:rPr>
                <a:t>类</a:t>
              </a:r>
              <a:endParaRPr lang="zh-CN" altLang="en-US" sz="1800" b="1">
                <a:solidFill>
                  <a:srgbClr val="FFFF00"/>
                </a:solidFill>
                <a:latin typeface="+mn-lt"/>
                <a:ea typeface="华文楷体" panose="02010600040101010101" pitchFamily="2" charset="-122"/>
              </a:endParaRPr>
            </a:p>
            <a:p>
              <a:pPr algn="ctr" eaLnBrk="1" hangingPunct="1"/>
              <a:r>
                <a:rPr lang="zh-CN" altLang="en-US" sz="1800" b="1">
                  <a:solidFill>
                    <a:srgbClr val="FFFF00"/>
                  </a:solidFill>
                  <a:latin typeface="+mn-lt"/>
                  <a:ea typeface="华文楷体" panose="02010600040101010101" pitchFamily="2" charset="-122"/>
                </a:rPr>
                <a:t>数据成员</a:t>
              </a:r>
              <a:endParaRPr lang="zh-CN" altLang="en-US" sz="1800" b="1">
                <a:solidFill>
                  <a:srgbClr val="FFFF00"/>
                </a:solidFill>
                <a:latin typeface="+mn-lt"/>
                <a:ea typeface="华文楷体" panose="02010600040101010101" pitchFamily="2" charset="-122"/>
              </a:endParaRPr>
            </a:p>
            <a:p>
              <a:pPr eaLnBrk="1" hangingPunct="1"/>
              <a:endParaRPr lang="zh-CN" altLang="zh-CN" sz="1800" b="1">
                <a:solidFill>
                  <a:srgbClr val="FFFF00"/>
                </a:solidFill>
                <a:latin typeface="+mn-lt"/>
                <a:ea typeface="华文楷体" panose="02010600040101010101" pitchFamily="2" charset="-122"/>
              </a:endParaRPr>
            </a:p>
          </p:txBody>
        </p:sp>
        <p:cxnSp>
          <p:nvCxnSpPr>
            <p:cNvPr id="109578" name="AutoShape 4"/>
            <p:cNvCxnSpPr>
              <a:cxnSpLocks noChangeShapeType="1"/>
            </p:cNvCxnSpPr>
            <p:nvPr/>
          </p:nvCxnSpPr>
          <p:spPr bwMode="auto">
            <a:xfrm>
              <a:off x="5006982" y="2830511"/>
              <a:ext cx="552450" cy="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109579" name="Text Box 5"/>
            <p:cNvSpPr txBox="1">
              <a:spLocks noChangeArrowheads="1"/>
            </p:cNvSpPr>
            <p:nvPr/>
          </p:nvSpPr>
          <p:spPr bwMode="auto">
            <a:xfrm>
              <a:off x="5005395" y="2659061"/>
              <a:ext cx="4953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800" b="1" dirty="0">
                  <a:solidFill>
                    <a:srgbClr val="FFFF00"/>
                  </a:solidFill>
                  <a:latin typeface="+mn-lt"/>
                  <a:ea typeface="华文楷体" panose="02010600040101010101" pitchFamily="2" charset="-122"/>
                </a:rPr>
                <a:t>pb1, </a:t>
              </a:r>
              <a:r>
                <a:rPr lang="en-US" altLang="zh-CN" sz="1800" b="1" dirty="0" err="1">
                  <a:solidFill>
                    <a:srgbClr val="FFFF00"/>
                  </a:solidFill>
                  <a:latin typeface="+mn-lt"/>
                  <a:ea typeface="华文楷体" panose="02010600040101010101" pitchFamily="2" charset="-122"/>
                </a:rPr>
                <a:t>pd</a:t>
              </a:r>
              <a:endParaRPr lang="zh-CN" altLang="zh-CN" sz="1800" b="1" dirty="0">
                <a:solidFill>
                  <a:srgbClr val="FFFF00"/>
                </a:solidFill>
                <a:latin typeface="+mn-lt"/>
                <a:ea typeface="华文楷体" panose="02010600040101010101" pitchFamily="2" charset="-122"/>
              </a:endParaRPr>
            </a:p>
          </p:txBody>
        </p:sp>
        <p:sp>
          <p:nvSpPr>
            <p:cNvPr id="109580" name="Text Box 6"/>
            <p:cNvSpPr txBox="1">
              <a:spLocks noChangeArrowheads="1"/>
            </p:cNvSpPr>
            <p:nvPr/>
          </p:nvSpPr>
          <p:spPr bwMode="auto">
            <a:xfrm>
              <a:off x="5835657" y="3933823"/>
              <a:ext cx="771525"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solidFill>
                    <a:srgbClr val="FFFF00"/>
                  </a:solidFill>
                  <a:latin typeface="+mn-lt"/>
                  <a:ea typeface="华文楷体" panose="02010600040101010101" pitchFamily="2" charset="-122"/>
                </a:rPr>
                <a:t>Derived</a:t>
              </a:r>
              <a:r>
                <a:rPr lang="zh-CN" altLang="en-US" sz="1800" b="1">
                  <a:solidFill>
                    <a:srgbClr val="FFFF00"/>
                  </a:solidFill>
                  <a:latin typeface="+mn-lt"/>
                  <a:ea typeface="华文楷体" panose="02010600040101010101" pitchFamily="2" charset="-122"/>
                </a:rPr>
                <a:t>对象</a:t>
              </a:r>
              <a:endParaRPr lang="zh-CN" altLang="zh-CN" sz="1800" b="1">
                <a:solidFill>
                  <a:srgbClr val="FFFF00"/>
                </a:solidFill>
                <a:latin typeface="+mn-lt"/>
                <a:ea typeface="华文楷体" panose="02010600040101010101" pitchFamily="2" charset="-122"/>
              </a:endParaRPr>
            </a:p>
          </p:txBody>
        </p:sp>
        <p:cxnSp>
          <p:nvCxnSpPr>
            <p:cNvPr id="109581" name="AutoShape 7"/>
            <p:cNvCxnSpPr>
              <a:cxnSpLocks noChangeShapeType="1"/>
            </p:cNvCxnSpPr>
            <p:nvPr/>
          </p:nvCxnSpPr>
          <p:spPr bwMode="auto">
            <a:xfrm>
              <a:off x="5006982" y="3190873"/>
              <a:ext cx="552450" cy="1588"/>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109582" name="Text Box 8"/>
            <p:cNvSpPr txBox="1">
              <a:spLocks noChangeArrowheads="1"/>
            </p:cNvSpPr>
            <p:nvPr/>
          </p:nvSpPr>
          <p:spPr bwMode="auto">
            <a:xfrm>
              <a:off x="5005395" y="3019423"/>
              <a:ext cx="4953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800" b="1">
                  <a:solidFill>
                    <a:srgbClr val="FFFF00"/>
                  </a:solidFill>
                  <a:latin typeface="+mn-lt"/>
                  <a:ea typeface="华文楷体" panose="02010600040101010101" pitchFamily="2" charset="-122"/>
                </a:rPr>
                <a:t>pb2</a:t>
              </a:r>
              <a:endParaRPr lang="zh-CN" altLang="zh-CN" sz="1800" b="1">
                <a:solidFill>
                  <a:srgbClr val="FFFF00"/>
                </a:solidFill>
                <a:latin typeface="+mn-lt"/>
                <a:ea typeface="华文楷体" panose="02010600040101010101" pitchFamily="2" charset="-122"/>
              </a:endParaRPr>
            </a:p>
          </p:txBody>
        </p:sp>
        <p:sp>
          <p:nvSpPr>
            <p:cNvPr id="109583" name="Text Box 9"/>
            <p:cNvSpPr txBox="1">
              <a:spLocks noChangeArrowheads="1"/>
            </p:cNvSpPr>
            <p:nvPr/>
          </p:nvSpPr>
          <p:spPr bwMode="auto">
            <a:xfrm>
              <a:off x="5573720" y="3525836"/>
              <a:ext cx="1238250" cy="381000"/>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solidFill>
                    <a:srgbClr val="FFFF00"/>
                  </a:solidFill>
                  <a:latin typeface="+mn-lt"/>
                  <a:ea typeface="华文楷体" panose="02010600040101010101" pitchFamily="2" charset="-122"/>
                </a:rPr>
                <a:t>Derived</a:t>
              </a:r>
              <a:r>
                <a:rPr lang="zh-CN" altLang="en-US" sz="1800" b="1">
                  <a:solidFill>
                    <a:srgbClr val="FFFF00"/>
                  </a:solidFill>
                  <a:latin typeface="+mn-lt"/>
                  <a:ea typeface="华文楷体" panose="02010600040101010101" pitchFamily="2" charset="-122"/>
                </a:rPr>
                <a:t>类新增</a:t>
              </a:r>
              <a:endParaRPr lang="zh-CN" altLang="en-US" sz="1800" b="1">
                <a:solidFill>
                  <a:srgbClr val="FFFF00"/>
                </a:solidFill>
                <a:latin typeface="+mn-lt"/>
                <a:ea typeface="华文楷体" panose="02010600040101010101" pitchFamily="2" charset="-122"/>
              </a:endParaRPr>
            </a:p>
            <a:p>
              <a:pPr algn="ctr" eaLnBrk="1" hangingPunct="1"/>
              <a:r>
                <a:rPr lang="zh-CN" altLang="en-US" sz="1800" b="1">
                  <a:solidFill>
                    <a:srgbClr val="FFFF00"/>
                  </a:solidFill>
                  <a:latin typeface="+mn-lt"/>
                  <a:ea typeface="华文楷体" panose="02010600040101010101" pitchFamily="2" charset="-122"/>
                </a:rPr>
                <a:t>数据成员</a:t>
              </a:r>
              <a:endParaRPr lang="zh-CN" altLang="zh-CN" sz="1800" b="1">
                <a:solidFill>
                  <a:srgbClr val="FFFF00"/>
                </a:solidFill>
                <a:latin typeface="+mn-lt"/>
                <a:ea typeface="华文楷体" panose="02010600040101010101" pitchFamily="2" charset="-122"/>
              </a:endParaRPr>
            </a:p>
          </p:txBody>
        </p:sp>
      </p:grpSp>
    </p:spTree>
  </p:cSld>
  <p:clrMapOvr>
    <a:masterClrMapping/>
  </p:clrMapOvr>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0595"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虚拟继承情形</a:t>
            </a:r>
            <a:endParaRPr lang="zh-CN" altLang="en-US" sz="4400" b="1">
              <a:latin typeface="Times New Roman" panose="02020603050405020304" pitchFamily="18" charset="0"/>
              <a:ea typeface="隶书" panose="02010509060101010101" pitchFamily="49" charset="-122"/>
            </a:endParaRPr>
          </a:p>
        </p:txBody>
      </p:sp>
      <p:sp>
        <p:nvSpPr>
          <p:cNvPr id="110596" name="内容占位符 2"/>
          <p:cNvSpPr>
            <a:spLocks noGrp="1"/>
          </p:cNvSpPr>
          <p:nvPr>
            <p:ph idx="1"/>
          </p:nvPr>
        </p:nvSpPr>
        <p:spPr>
          <a:xfrm>
            <a:off x="632525" y="1306854"/>
            <a:ext cx="7886700" cy="4351338"/>
          </a:xfrm>
        </p:spPr>
        <p:txBody>
          <a:bodyPr/>
          <a:lstStyle/>
          <a:p>
            <a:pPr marL="0" indent="0">
              <a:spcAft>
                <a:spcPct val="25000"/>
              </a:spcAft>
              <a:buNone/>
            </a:pPr>
            <a:r>
              <a:rPr lang="en-US" altLang="zh-CN" sz="2000" b="1" dirty="0">
                <a:ea typeface="华文楷体" panose="02010600040101010101" pitchFamily="2" charset="-122"/>
              </a:rPr>
              <a:t>class Base0 { … };</a:t>
            </a:r>
            <a:endParaRPr lang="en-US" altLang="zh-CN" sz="2000" b="1" dirty="0">
              <a:ea typeface="华文楷体" panose="02010600040101010101" pitchFamily="2" charset="-122"/>
            </a:endParaRPr>
          </a:p>
          <a:p>
            <a:pPr marL="0" indent="0">
              <a:spcAft>
                <a:spcPct val="25000"/>
              </a:spcAft>
              <a:buNone/>
            </a:pPr>
            <a:r>
              <a:rPr lang="en-US" altLang="zh-CN" sz="2000" b="1" dirty="0">
                <a:ea typeface="华文楷体" panose="02010600040101010101" pitchFamily="2" charset="-122"/>
              </a:rPr>
              <a:t>class Base1: virtual public Base0 { … };</a:t>
            </a:r>
            <a:endParaRPr lang="en-US" altLang="zh-CN" sz="2000" b="1" dirty="0">
              <a:ea typeface="华文楷体" panose="02010600040101010101" pitchFamily="2" charset="-122"/>
            </a:endParaRPr>
          </a:p>
          <a:p>
            <a:pPr marL="0" indent="0">
              <a:spcAft>
                <a:spcPct val="25000"/>
              </a:spcAft>
              <a:buNone/>
            </a:pPr>
            <a:r>
              <a:rPr lang="en-US" altLang="zh-CN" sz="2000" b="1" dirty="0">
                <a:ea typeface="华文楷体" panose="02010600040101010101" pitchFamily="2" charset="-122"/>
              </a:rPr>
              <a:t>class Base2: virtual public Base0 { … };</a:t>
            </a:r>
            <a:endParaRPr lang="en-US" altLang="zh-CN" sz="2000" b="1" dirty="0">
              <a:ea typeface="华文楷体" panose="02010600040101010101" pitchFamily="2" charset="-122"/>
            </a:endParaRPr>
          </a:p>
          <a:p>
            <a:pPr marL="0" indent="0">
              <a:spcAft>
                <a:spcPct val="25000"/>
              </a:spcAft>
              <a:buNone/>
            </a:pPr>
            <a:r>
              <a:rPr lang="en-US" altLang="zh-CN" sz="2000" b="1" dirty="0">
                <a:ea typeface="华文楷体" panose="02010600040101010101" pitchFamily="2" charset="-122"/>
              </a:rPr>
              <a:t>class Derived: public Base1, public Base2 { … };</a:t>
            </a:r>
            <a:endParaRPr lang="en-US" altLang="zh-CN" sz="2000" b="1" dirty="0">
              <a:ea typeface="华文楷体" panose="02010600040101010101" pitchFamily="2" charset="-122"/>
            </a:endParaRPr>
          </a:p>
          <a:p>
            <a:pPr marL="0" indent="0">
              <a:spcAft>
                <a:spcPct val="25000"/>
              </a:spcAft>
              <a:buNone/>
            </a:pPr>
            <a:endParaRPr lang="en-US" altLang="zh-CN" sz="2000" b="1" dirty="0">
              <a:ea typeface="华文楷体" panose="02010600040101010101" pitchFamily="2" charset="-122"/>
            </a:endParaRPr>
          </a:p>
          <a:p>
            <a:pPr marL="0" indent="0">
              <a:spcAft>
                <a:spcPct val="25000"/>
              </a:spcAft>
              <a:buNone/>
            </a:pPr>
            <a:r>
              <a:rPr lang="en-US" altLang="zh-CN" sz="2000" b="1" dirty="0">
                <a:ea typeface="华文楷体" panose="02010600040101010101" pitchFamily="2" charset="-122"/>
              </a:rPr>
              <a:t>Derived *</a:t>
            </a:r>
            <a:r>
              <a:rPr lang="en-US" altLang="zh-CN" sz="2000" b="1" dirty="0" err="1">
                <a:ea typeface="华文楷体" panose="02010600040101010101" pitchFamily="2" charset="-122"/>
              </a:rPr>
              <a:t>pd</a:t>
            </a:r>
            <a:r>
              <a:rPr lang="en-US" altLang="zh-CN" sz="2000" b="1" dirty="0">
                <a:ea typeface="华文楷体" panose="02010600040101010101" pitchFamily="2" charset="-122"/>
              </a:rPr>
              <a:t> = new Derived();</a:t>
            </a:r>
            <a:endParaRPr lang="en-US" altLang="zh-CN" sz="2000" b="1" dirty="0">
              <a:ea typeface="华文楷体" panose="02010600040101010101" pitchFamily="2" charset="-122"/>
            </a:endParaRPr>
          </a:p>
          <a:p>
            <a:pPr marL="0" indent="0">
              <a:spcAft>
                <a:spcPct val="25000"/>
              </a:spcAft>
              <a:buNone/>
            </a:pPr>
            <a:r>
              <a:rPr lang="en-US" altLang="zh-CN" sz="2000" b="1" dirty="0">
                <a:ea typeface="华文楷体" panose="02010600040101010101" pitchFamily="2" charset="-122"/>
              </a:rPr>
              <a:t>Base1 *pb1 = </a:t>
            </a:r>
            <a:r>
              <a:rPr lang="en-US" altLang="zh-CN" sz="2000" b="1" dirty="0" err="1">
                <a:ea typeface="华文楷体" panose="02010600040101010101" pitchFamily="2" charset="-122"/>
              </a:rPr>
              <a:t>pd</a:t>
            </a:r>
            <a:r>
              <a:rPr lang="en-US" altLang="zh-CN" sz="2000" b="1" dirty="0">
                <a:ea typeface="华文楷体" panose="02010600040101010101" pitchFamily="2" charset="-122"/>
              </a:rPr>
              <a:t>;</a:t>
            </a:r>
            <a:endParaRPr lang="en-US" altLang="zh-CN" sz="2000" b="1" dirty="0">
              <a:ea typeface="华文楷体" panose="02010600040101010101" pitchFamily="2" charset="-122"/>
            </a:endParaRPr>
          </a:p>
          <a:p>
            <a:pPr marL="0" indent="0">
              <a:spcAft>
                <a:spcPct val="25000"/>
              </a:spcAft>
              <a:buNone/>
            </a:pPr>
            <a:r>
              <a:rPr lang="en-US" altLang="zh-CN" sz="2000" b="1" dirty="0">
                <a:ea typeface="华文楷体" panose="02010600040101010101" pitchFamily="2" charset="-122"/>
              </a:rPr>
              <a:t>Base2 *pb2 = </a:t>
            </a:r>
            <a:r>
              <a:rPr lang="en-US" altLang="zh-CN" sz="2000" b="1" dirty="0" err="1">
                <a:ea typeface="华文楷体" panose="02010600040101010101" pitchFamily="2" charset="-122"/>
              </a:rPr>
              <a:t>pd</a:t>
            </a:r>
            <a:r>
              <a:rPr lang="en-US" altLang="zh-CN" sz="2000" b="1" dirty="0">
                <a:ea typeface="华文楷体" panose="02010600040101010101" pitchFamily="2" charset="-122"/>
              </a:rPr>
              <a:t>;</a:t>
            </a:r>
            <a:endParaRPr lang="en-US" altLang="zh-CN" sz="2000" b="1" dirty="0">
              <a:ea typeface="华文楷体" panose="02010600040101010101" pitchFamily="2" charset="-122"/>
            </a:endParaRPr>
          </a:p>
          <a:p>
            <a:pPr marL="0" indent="0">
              <a:spcAft>
                <a:spcPct val="25000"/>
              </a:spcAft>
              <a:buNone/>
            </a:pPr>
            <a:r>
              <a:rPr lang="en-US" altLang="zh-CN" sz="2000" b="1" dirty="0">
                <a:ea typeface="华文楷体" panose="02010600040101010101" pitchFamily="2" charset="-122"/>
              </a:rPr>
              <a:t>Base0 *pb0 = pb1;</a:t>
            </a:r>
            <a:endParaRPr lang="en-US" altLang="zh-CN" sz="2000" b="1" dirty="0">
              <a:ea typeface="华文楷体" panose="02010600040101010101" pitchFamily="2" charset="-122"/>
            </a:endParaRPr>
          </a:p>
        </p:txBody>
      </p:sp>
      <p:sp>
        <p:nvSpPr>
          <p:cNvPr id="13" name="TextBox 148"/>
          <p:cNvSpPr txBox="1">
            <a:spLocks noChangeArrowheads="1"/>
          </p:cNvSpPr>
          <p:nvPr/>
        </p:nvSpPr>
        <p:spPr bwMode="auto">
          <a:xfrm>
            <a:off x="756512" y="6118225"/>
            <a:ext cx="5108575" cy="461962"/>
          </a:xfrm>
          <a:prstGeom prst="rect">
            <a:avLst/>
          </a:prstGeom>
          <a:noFill/>
          <a:ln>
            <a:noFill/>
          </a:ln>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defRPr/>
            </a:pPr>
            <a:r>
              <a:rPr lang="zh-CN" altLang="en-US" b="1" dirty="0">
                <a:solidFill>
                  <a:srgbClr val="FFFF00"/>
                </a:solidFill>
                <a:latin typeface="+mn-lt"/>
                <a:ea typeface="华文楷体" panose="02010600040101010101" pitchFamily="2" charset="-122"/>
              </a:rPr>
              <a:t>通过指针间接访问虚基类的数据成员</a:t>
            </a:r>
            <a:endParaRPr lang="zh-CN" altLang="en-US" b="1" dirty="0">
              <a:solidFill>
                <a:srgbClr val="FFFF00"/>
              </a:solidFill>
              <a:latin typeface="+mn-lt"/>
              <a:ea typeface="华文楷体" panose="02010600040101010101" pitchFamily="2" charset="-122"/>
            </a:endParaRPr>
          </a:p>
        </p:txBody>
      </p:sp>
      <p:grpSp>
        <p:nvGrpSpPr>
          <p:cNvPr id="110599" name="组合 147"/>
          <p:cNvGrpSpPr/>
          <p:nvPr/>
        </p:nvGrpSpPr>
        <p:grpSpPr bwMode="auto">
          <a:xfrm>
            <a:off x="5580112" y="3230293"/>
            <a:ext cx="2906713" cy="2874962"/>
            <a:chOff x="6153741" y="2767960"/>
            <a:chExt cx="2312404" cy="2288284"/>
          </a:xfrm>
        </p:grpSpPr>
        <p:sp>
          <p:nvSpPr>
            <p:cNvPr id="110600" name="Text Box 108"/>
            <p:cNvSpPr txBox="1">
              <a:spLocks noChangeArrowheads="1"/>
            </p:cNvSpPr>
            <p:nvPr/>
          </p:nvSpPr>
          <p:spPr bwMode="auto">
            <a:xfrm>
              <a:off x="6879798" y="4325704"/>
              <a:ext cx="1586346" cy="446132"/>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solidFill>
                    <a:srgbClr val="FFFF00"/>
                  </a:solidFill>
                  <a:latin typeface="+mn-lt"/>
                  <a:ea typeface="华文楷体" panose="02010600040101010101" pitchFamily="2" charset="-122"/>
                </a:rPr>
                <a:t>Base0</a:t>
              </a:r>
              <a:r>
                <a:rPr lang="zh-CN" altLang="en-US" sz="1800" b="1">
                  <a:solidFill>
                    <a:srgbClr val="FFFF00"/>
                  </a:solidFill>
                  <a:latin typeface="+mn-lt"/>
                  <a:ea typeface="华文楷体" panose="02010600040101010101" pitchFamily="2" charset="-122"/>
                </a:rPr>
                <a:t>类</a:t>
              </a:r>
              <a:br>
                <a:rPr lang="zh-CN" altLang="en-US" sz="1800" b="1">
                  <a:solidFill>
                    <a:srgbClr val="FFFF00"/>
                  </a:solidFill>
                  <a:latin typeface="+mn-lt"/>
                  <a:ea typeface="华文楷体" panose="02010600040101010101" pitchFamily="2" charset="-122"/>
                </a:rPr>
              </a:br>
              <a:r>
                <a:rPr lang="zh-CN" altLang="en-US" sz="1800" b="1">
                  <a:solidFill>
                    <a:srgbClr val="FFFF00"/>
                  </a:solidFill>
                  <a:latin typeface="+mn-lt"/>
                  <a:ea typeface="华文楷体" panose="02010600040101010101" pitchFamily="2" charset="-122"/>
                </a:rPr>
                <a:t>数据成员</a:t>
              </a:r>
              <a:endParaRPr lang="zh-CN" altLang="zh-CN" sz="1800" b="1">
                <a:solidFill>
                  <a:srgbClr val="FFFF00"/>
                </a:solidFill>
                <a:latin typeface="+mn-lt"/>
                <a:ea typeface="华文楷体" panose="02010600040101010101" pitchFamily="2" charset="-122"/>
              </a:endParaRPr>
            </a:p>
          </p:txBody>
        </p:sp>
        <p:sp>
          <p:nvSpPr>
            <p:cNvPr id="110601" name="Text Box 109"/>
            <p:cNvSpPr txBox="1">
              <a:spLocks noChangeArrowheads="1"/>
            </p:cNvSpPr>
            <p:nvPr/>
          </p:nvSpPr>
          <p:spPr bwMode="auto">
            <a:xfrm>
              <a:off x="6879798" y="3178772"/>
              <a:ext cx="1586346" cy="446132"/>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solidFill>
                    <a:srgbClr val="FFFF00"/>
                  </a:solidFill>
                  <a:latin typeface="+mn-lt"/>
                  <a:ea typeface="华文楷体" panose="02010600040101010101" pitchFamily="2" charset="-122"/>
                </a:rPr>
                <a:t>Base1</a:t>
              </a:r>
              <a:r>
                <a:rPr lang="zh-CN" altLang="en-US" sz="1800" b="1">
                  <a:solidFill>
                    <a:srgbClr val="FFFF00"/>
                  </a:solidFill>
                  <a:latin typeface="+mn-lt"/>
                  <a:ea typeface="华文楷体" panose="02010600040101010101" pitchFamily="2" charset="-122"/>
                </a:rPr>
                <a:t>类新增</a:t>
              </a:r>
              <a:endParaRPr lang="zh-CN" altLang="en-US" sz="1800" b="1">
                <a:solidFill>
                  <a:srgbClr val="FFFF00"/>
                </a:solidFill>
                <a:latin typeface="+mn-lt"/>
                <a:ea typeface="华文楷体" panose="02010600040101010101" pitchFamily="2" charset="-122"/>
              </a:endParaRPr>
            </a:p>
            <a:p>
              <a:pPr algn="ctr" eaLnBrk="1" hangingPunct="1"/>
              <a:r>
                <a:rPr lang="zh-CN" altLang="en-US" sz="1800" b="1">
                  <a:solidFill>
                    <a:srgbClr val="FFFF00"/>
                  </a:solidFill>
                  <a:latin typeface="+mn-lt"/>
                  <a:ea typeface="华文楷体" panose="02010600040101010101" pitchFamily="2" charset="-122"/>
                </a:rPr>
                <a:t>数据成员</a:t>
              </a:r>
              <a:endParaRPr lang="zh-CN" altLang="zh-CN" sz="1800" b="1">
                <a:solidFill>
                  <a:srgbClr val="FFFF00"/>
                </a:solidFill>
                <a:latin typeface="+mn-lt"/>
                <a:ea typeface="华文楷体" panose="02010600040101010101" pitchFamily="2" charset="-122"/>
              </a:endParaRPr>
            </a:p>
          </p:txBody>
        </p:sp>
        <p:cxnSp>
          <p:nvCxnSpPr>
            <p:cNvPr id="110602" name="AutoShape 110"/>
            <p:cNvCxnSpPr>
              <a:cxnSpLocks noChangeShapeType="1"/>
            </p:cNvCxnSpPr>
            <p:nvPr/>
          </p:nvCxnSpPr>
          <p:spPr bwMode="auto">
            <a:xfrm>
              <a:off x="6153741" y="2968719"/>
              <a:ext cx="707754" cy="0"/>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110603" name="Text Box 111"/>
            <p:cNvSpPr txBox="1">
              <a:spLocks noChangeArrowheads="1"/>
            </p:cNvSpPr>
            <p:nvPr/>
          </p:nvSpPr>
          <p:spPr bwMode="auto">
            <a:xfrm>
              <a:off x="6153741" y="2767960"/>
              <a:ext cx="839949" cy="228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800" b="1">
                  <a:solidFill>
                    <a:srgbClr val="FFFF00"/>
                  </a:solidFill>
                  <a:latin typeface="+mn-lt"/>
                  <a:ea typeface="华文楷体" panose="02010600040101010101" pitchFamily="2" charset="-122"/>
                </a:rPr>
                <a:t>pb1, pd</a:t>
              </a:r>
              <a:endParaRPr lang="zh-CN" altLang="zh-CN" sz="1800" b="1">
                <a:solidFill>
                  <a:srgbClr val="FFFF00"/>
                </a:solidFill>
                <a:latin typeface="+mn-lt"/>
                <a:ea typeface="华文楷体" panose="02010600040101010101" pitchFamily="2" charset="-122"/>
              </a:endParaRPr>
            </a:p>
          </p:txBody>
        </p:sp>
        <p:sp>
          <p:nvSpPr>
            <p:cNvPr id="110604" name="Text Box 112"/>
            <p:cNvSpPr txBox="1">
              <a:spLocks noChangeArrowheads="1"/>
            </p:cNvSpPr>
            <p:nvPr/>
          </p:nvSpPr>
          <p:spPr bwMode="auto">
            <a:xfrm>
              <a:off x="6879798" y="2924106"/>
              <a:ext cx="1586346" cy="254666"/>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solidFill>
                    <a:srgbClr val="FFFF00"/>
                  </a:solidFill>
                  <a:latin typeface="+mn-lt"/>
                  <a:ea typeface="华文楷体" panose="02010600040101010101" pitchFamily="2" charset="-122"/>
                </a:rPr>
                <a:t>Base0</a:t>
              </a:r>
              <a:r>
                <a:rPr lang="zh-CN" altLang="en-US" sz="1800" b="1">
                  <a:solidFill>
                    <a:srgbClr val="FFFF00"/>
                  </a:solidFill>
                  <a:latin typeface="+mn-lt"/>
                  <a:ea typeface="华文楷体" panose="02010600040101010101" pitchFamily="2" charset="-122"/>
                </a:rPr>
                <a:t>指针</a:t>
              </a:r>
              <a:endParaRPr lang="zh-CN" altLang="zh-CN" sz="1800" b="1">
                <a:solidFill>
                  <a:srgbClr val="FFFF00"/>
                </a:solidFill>
                <a:latin typeface="+mn-lt"/>
                <a:ea typeface="华文楷体" panose="02010600040101010101" pitchFamily="2" charset="-122"/>
              </a:endParaRPr>
            </a:p>
          </p:txBody>
        </p:sp>
        <p:sp>
          <p:nvSpPr>
            <p:cNvPr id="110605" name="Text Box 113"/>
            <p:cNvSpPr txBox="1">
              <a:spLocks noChangeArrowheads="1"/>
            </p:cNvSpPr>
            <p:nvPr/>
          </p:nvSpPr>
          <p:spPr bwMode="auto">
            <a:xfrm>
              <a:off x="6879798" y="3881430"/>
              <a:ext cx="1586346" cy="444274"/>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solidFill>
                    <a:srgbClr val="FFFF00"/>
                  </a:solidFill>
                  <a:latin typeface="+mn-lt"/>
                  <a:ea typeface="华文楷体" panose="02010600040101010101" pitchFamily="2" charset="-122"/>
                </a:rPr>
                <a:t>Base2</a:t>
              </a:r>
              <a:r>
                <a:rPr lang="zh-CN" altLang="en-US" sz="1800" b="1">
                  <a:solidFill>
                    <a:srgbClr val="FFFF00"/>
                  </a:solidFill>
                  <a:latin typeface="+mn-lt"/>
                  <a:ea typeface="华文楷体" panose="02010600040101010101" pitchFamily="2" charset="-122"/>
                </a:rPr>
                <a:t>类新增</a:t>
              </a:r>
              <a:endParaRPr lang="zh-CN" altLang="en-US" sz="1800" b="1">
                <a:solidFill>
                  <a:srgbClr val="FFFF00"/>
                </a:solidFill>
                <a:latin typeface="+mn-lt"/>
                <a:ea typeface="华文楷体" panose="02010600040101010101" pitchFamily="2" charset="-122"/>
              </a:endParaRPr>
            </a:p>
            <a:p>
              <a:pPr algn="ctr" eaLnBrk="1" hangingPunct="1"/>
              <a:r>
                <a:rPr lang="zh-CN" altLang="en-US" sz="1800" b="1">
                  <a:solidFill>
                    <a:srgbClr val="FFFF00"/>
                  </a:solidFill>
                  <a:latin typeface="+mn-lt"/>
                  <a:ea typeface="华文楷体" panose="02010600040101010101" pitchFamily="2" charset="-122"/>
                </a:rPr>
                <a:t>数据成员</a:t>
              </a:r>
              <a:endParaRPr lang="zh-CN" altLang="zh-CN" sz="1800" b="1">
                <a:solidFill>
                  <a:srgbClr val="FFFF00"/>
                </a:solidFill>
                <a:latin typeface="+mn-lt"/>
                <a:ea typeface="华文楷体" panose="02010600040101010101" pitchFamily="2" charset="-122"/>
              </a:endParaRPr>
            </a:p>
          </p:txBody>
        </p:sp>
        <p:sp>
          <p:nvSpPr>
            <p:cNvPr id="110606" name="Text Box 114"/>
            <p:cNvSpPr txBox="1">
              <a:spLocks noChangeArrowheads="1"/>
            </p:cNvSpPr>
            <p:nvPr/>
          </p:nvSpPr>
          <p:spPr bwMode="auto">
            <a:xfrm>
              <a:off x="6879798" y="3624904"/>
              <a:ext cx="1586346" cy="254668"/>
            </a:xfrm>
            <a:prstGeom prst="rect">
              <a:avLst/>
            </a:prstGeom>
            <a:noFill/>
            <a:ln w="9525" algn="ctr">
              <a:solidFill>
                <a:schemeClr val="tx1"/>
              </a:solidFill>
              <a:miter lim="800000"/>
            </a:ln>
            <a:extLst>
              <a:ext uri="{909E8E84-426E-40DD-AFC4-6F175D3DCCD1}">
                <a14:hiddenFill xmlns:a14="http://schemas.microsoft.com/office/drawing/2010/main">
                  <a:solidFill>
                    <a:srgbClr val="FFFFFF"/>
                  </a:solidFill>
                </a14:hiddenFill>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solidFill>
                    <a:srgbClr val="FFFF00"/>
                  </a:solidFill>
                  <a:latin typeface="+mn-lt"/>
                  <a:ea typeface="华文楷体" panose="02010600040101010101" pitchFamily="2" charset="-122"/>
                </a:rPr>
                <a:t>Base0</a:t>
              </a:r>
              <a:r>
                <a:rPr lang="zh-CN" altLang="en-US" sz="1800" b="1">
                  <a:solidFill>
                    <a:srgbClr val="FFFF00"/>
                  </a:solidFill>
                  <a:latin typeface="+mn-lt"/>
                  <a:ea typeface="华文楷体" panose="02010600040101010101" pitchFamily="2" charset="-122"/>
                </a:rPr>
                <a:t>指针</a:t>
              </a:r>
              <a:endParaRPr lang="zh-CN" altLang="zh-CN" sz="1800" b="1">
                <a:solidFill>
                  <a:srgbClr val="FFFF00"/>
                </a:solidFill>
                <a:latin typeface="+mn-lt"/>
                <a:ea typeface="华文楷体" panose="02010600040101010101" pitchFamily="2" charset="-122"/>
              </a:endParaRPr>
            </a:p>
          </p:txBody>
        </p:sp>
        <p:cxnSp>
          <p:nvCxnSpPr>
            <p:cNvPr id="110607" name="AutoShape 115"/>
            <p:cNvCxnSpPr>
              <a:cxnSpLocks noChangeShapeType="1"/>
            </p:cNvCxnSpPr>
            <p:nvPr/>
          </p:nvCxnSpPr>
          <p:spPr bwMode="auto">
            <a:xfrm rot="16200000" flipH="1">
              <a:off x="7636388" y="3523830"/>
              <a:ext cx="1297501" cy="362012"/>
            </a:xfrm>
            <a:prstGeom prst="bentConnector4">
              <a:avLst>
                <a:gd name="adj1" fmla="val -60"/>
                <a:gd name="adj2" fmla="val 208352"/>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sp>
          <p:nvSpPr>
            <p:cNvPr id="110608" name="Text Box 116"/>
            <p:cNvSpPr txBox="1">
              <a:spLocks noChangeArrowheads="1"/>
            </p:cNvSpPr>
            <p:nvPr/>
          </p:nvSpPr>
          <p:spPr bwMode="auto">
            <a:xfrm>
              <a:off x="7188932" y="4822025"/>
              <a:ext cx="988415" cy="234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1800" b="1">
                  <a:solidFill>
                    <a:srgbClr val="FFFF00"/>
                  </a:solidFill>
                  <a:latin typeface="+mn-lt"/>
                  <a:ea typeface="华文楷体" panose="02010600040101010101" pitchFamily="2" charset="-122"/>
                </a:rPr>
                <a:t>Derived</a:t>
              </a:r>
              <a:r>
                <a:rPr lang="zh-CN" altLang="en-US" sz="1800" b="1">
                  <a:solidFill>
                    <a:srgbClr val="FFFF00"/>
                  </a:solidFill>
                  <a:latin typeface="+mn-lt"/>
                  <a:ea typeface="华文楷体" panose="02010600040101010101" pitchFamily="2" charset="-122"/>
                </a:rPr>
                <a:t>对象</a:t>
              </a:r>
              <a:endParaRPr lang="zh-CN" altLang="zh-CN" sz="1800" b="1">
                <a:solidFill>
                  <a:srgbClr val="FFFF00"/>
                </a:solidFill>
                <a:latin typeface="+mn-lt"/>
                <a:ea typeface="华文楷体" panose="02010600040101010101" pitchFamily="2" charset="-122"/>
              </a:endParaRPr>
            </a:p>
          </p:txBody>
        </p:sp>
        <p:cxnSp>
          <p:nvCxnSpPr>
            <p:cNvPr id="110609" name="AutoShape 123"/>
            <p:cNvCxnSpPr>
              <a:cxnSpLocks noChangeShapeType="1"/>
            </p:cNvCxnSpPr>
            <p:nvPr/>
          </p:nvCxnSpPr>
          <p:spPr bwMode="auto">
            <a:xfrm>
              <a:off x="6153741" y="3676953"/>
              <a:ext cx="707754" cy="1859"/>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110610" name="Text Box 124"/>
            <p:cNvSpPr txBox="1">
              <a:spLocks noChangeArrowheads="1"/>
            </p:cNvSpPr>
            <p:nvPr/>
          </p:nvSpPr>
          <p:spPr bwMode="auto">
            <a:xfrm>
              <a:off x="6153741" y="3476194"/>
              <a:ext cx="839949" cy="256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800" b="1">
                  <a:solidFill>
                    <a:srgbClr val="FFFF00"/>
                  </a:solidFill>
                  <a:latin typeface="+mn-lt"/>
                  <a:ea typeface="华文楷体" panose="02010600040101010101" pitchFamily="2" charset="-122"/>
                </a:rPr>
                <a:t>pb2</a:t>
              </a:r>
              <a:endParaRPr lang="zh-CN" altLang="zh-CN" sz="1800" b="1">
                <a:solidFill>
                  <a:srgbClr val="FFFF00"/>
                </a:solidFill>
                <a:latin typeface="+mn-lt"/>
                <a:ea typeface="华文楷体" panose="02010600040101010101" pitchFamily="2" charset="-122"/>
              </a:endParaRPr>
            </a:p>
          </p:txBody>
        </p:sp>
        <p:cxnSp>
          <p:nvCxnSpPr>
            <p:cNvPr id="110611" name="AutoShape 125"/>
            <p:cNvCxnSpPr>
              <a:cxnSpLocks noChangeShapeType="1"/>
            </p:cNvCxnSpPr>
            <p:nvPr/>
          </p:nvCxnSpPr>
          <p:spPr bwMode="auto">
            <a:xfrm>
              <a:off x="6153741" y="4375893"/>
              <a:ext cx="707754" cy="1859"/>
            </a:xfrm>
            <a:prstGeom prst="straightConnector1">
              <a:avLst/>
            </a:prstGeom>
            <a:noFill/>
            <a:ln w="9525">
              <a:solidFill>
                <a:schemeClr val="tx1"/>
              </a:solidFill>
              <a:round/>
              <a:tailEnd type="triangle" w="med" len="med"/>
            </a:ln>
            <a:extLst>
              <a:ext uri="{909E8E84-426E-40DD-AFC4-6F175D3DCCD1}">
                <a14:hiddenFill xmlns:a14="http://schemas.microsoft.com/office/drawing/2010/main">
                  <a:noFill/>
                </a14:hiddenFill>
              </a:ext>
            </a:extLst>
          </p:spPr>
        </p:cxnSp>
        <p:sp>
          <p:nvSpPr>
            <p:cNvPr id="110612" name="Text Box 126"/>
            <p:cNvSpPr txBox="1">
              <a:spLocks noChangeArrowheads="1"/>
            </p:cNvSpPr>
            <p:nvPr/>
          </p:nvSpPr>
          <p:spPr bwMode="auto">
            <a:xfrm>
              <a:off x="6153741" y="4175134"/>
              <a:ext cx="839949" cy="200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1800" b="1">
                  <a:solidFill>
                    <a:srgbClr val="FFFF00"/>
                  </a:solidFill>
                  <a:latin typeface="+mn-lt"/>
                  <a:ea typeface="华文楷体" panose="02010600040101010101" pitchFamily="2" charset="-122"/>
                </a:rPr>
                <a:t>pb0</a:t>
              </a:r>
              <a:endParaRPr lang="zh-CN" altLang="zh-CN" sz="1800" b="1">
                <a:solidFill>
                  <a:srgbClr val="FFFF00"/>
                </a:solidFill>
                <a:latin typeface="+mn-lt"/>
                <a:ea typeface="华文楷体" panose="02010600040101010101" pitchFamily="2" charset="-122"/>
              </a:endParaRPr>
            </a:p>
          </p:txBody>
        </p:sp>
        <p:cxnSp>
          <p:nvCxnSpPr>
            <p:cNvPr id="110613" name="AutoShape 127"/>
            <p:cNvCxnSpPr>
              <a:cxnSpLocks noChangeShapeType="1"/>
            </p:cNvCxnSpPr>
            <p:nvPr/>
          </p:nvCxnSpPr>
          <p:spPr bwMode="auto">
            <a:xfrm rot="10800000" flipH="1" flipV="1">
              <a:off x="8106166" y="3753168"/>
              <a:ext cx="359978" cy="600419"/>
            </a:xfrm>
            <a:prstGeom prst="bentConnector4">
              <a:avLst>
                <a:gd name="adj1" fmla="val 160269"/>
                <a:gd name="adj2" fmla="val 99750"/>
              </a:avLst>
            </a:prstGeom>
            <a:noFill/>
            <a:ln w="9525">
              <a:solidFill>
                <a:schemeClr val="tx1"/>
              </a:solidFill>
              <a:miter lim="800000"/>
              <a:tailEnd type="triangle" w="med" len="med"/>
            </a:ln>
            <a:extLst>
              <a:ext uri="{909E8E84-426E-40DD-AFC4-6F175D3DCCD1}">
                <a14:hiddenFill xmlns:a14="http://schemas.microsoft.com/office/drawing/2010/main">
                  <a:noFill/>
                </a14:hiddenFill>
              </a:ext>
            </a:extLst>
          </p:spPr>
        </p:cxnSp>
      </p:grpSp>
    </p:spTree>
  </p:cSld>
  <p:clrMapOvr>
    <a:masterClrMapping/>
  </p:clrMapOvr>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标题 1"/>
          <p:cNvSpPr>
            <a:spLocks noGrp="1"/>
          </p:cNvSpPr>
          <p:nvPr>
            <p:ph type="title"/>
          </p:nvPr>
        </p:nvSpPr>
        <p:spPr>
          <a:xfrm>
            <a:off x="611560" y="188640"/>
            <a:ext cx="7886700" cy="132556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en-US" altLang="zh-CN" sz="4000" b="1" dirty="0">
                <a:latin typeface="Times New Roman" panose="02020603050405020304" pitchFamily="18" charset="0"/>
                <a:ea typeface="隶书" panose="02010509060101010101" pitchFamily="49" charset="-122"/>
              </a:rPr>
              <a:t>7.8.3</a:t>
            </a:r>
            <a:r>
              <a:rPr lang="zh-CN" altLang="en-US" sz="4000" b="1" dirty="0">
                <a:latin typeface="Times New Roman" panose="02020603050405020304" pitchFamily="18" charset="0"/>
                <a:ea typeface="隶书" panose="02010509060101010101" pitchFamily="49" charset="-122"/>
              </a:rPr>
              <a:t>基类向派生的</a:t>
            </a:r>
            <a:r>
              <a:rPr lang="zh-CN" altLang="en-US" sz="4000" b="1" dirty="0" smtClean="0">
                <a:latin typeface="Times New Roman" panose="02020603050405020304" pitchFamily="18" charset="0"/>
                <a:ea typeface="隶书" panose="02010509060101010101" pitchFamily="49" charset="-122"/>
              </a:rPr>
              <a:t>转换</a:t>
            </a:r>
            <a:br>
              <a:rPr lang="en-US" altLang="zh-CN" sz="4000" b="1" dirty="0" smtClean="0">
                <a:latin typeface="Times New Roman" panose="02020603050405020304" pitchFamily="18" charset="0"/>
                <a:ea typeface="隶书" panose="02010509060101010101" pitchFamily="49" charset="-122"/>
              </a:rPr>
            </a:br>
            <a:r>
              <a:rPr lang="zh-CN" altLang="en-US" sz="4000" b="1" dirty="0" smtClean="0">
                <a:latin typeface="Times New Roman" panose="02020603050405020304" pitchFamily="18" charset="0"/>
                <a:ea typeface="隶书" panose="02010509060101010101" pitchFamily="49" charset="-122"/>
              </a:rPr>
              <a:t>及其</a:t>
            </a:r>
            <a:r>
              <a:rPr lang="zh-CN" altLang="en-US" sz="4000" b="1" dirty="0">
                <a:latin typeface="Times New Roman" panose="02020603050405020304" pitchFamily="18" charset="0"/>
                <a:ea typeface="隶书" panose="02010509060101010101" pitchFamily="49" charset="-122"/>
              </a:rPr>
              <a:t>安全性问题</a:t>
            </a:r>
            <a:endParaRPr lang="zh-CN" altLang="en-US" sz="4000" b="1" dirty="0">
              <a:latin typeface="Times New Roman" panose="02020603050405020304" pitchFamily="18" charset="0"/>
              <a:ea typeface="隶书" panose="02010509060101010101" pitchFamily="49" charset="-122"/>
            </a:endParaRPr>
          </a:p>
        </p:txBody>
      </p:sp>
      <p:sp>
        <p:nvSpPr>
          <p:cNvPr id="111619" name="内容占位符 2"/>
          <p:cNvSpPr>
            <a:spLocks noGrp="1"/>
          </p:cNvSpPr>
          <p:nvPr>
            <p:ph idx="1"/>
          </p:nvPr>
        </p:nvSpPr>
        <p:spPr>
          <a:xfrm>
            <a:off x="683568" y="1556792"/>
            <a:ext cx="7886700" cy="4351338"/>
          </a:xfrm>
        </p:spPr>
        <p:txBody>
          <a:bodyPr/>
          <a:lstStyle/>
          <a:p>
            <a:pPr>
              <a:spcAft>
                <a:spcPct val="25000"/>
              </a:spcAft>
            </a:pPr>
            <a:r>
              <a:rPr lang="zh-CN" altLang="en-US" sz="2400" b="1" dirty="0">
                <a:solidFill>
                  <a:srgbClr val="FFFF00"/>
                </a:solidFill>
                <a:ea typeface="华文楷体" panose="02010600040101010101" pitchFamily="2" charset="-122"/>
              </a:rPr>
              <a:t>基类向派生类的转换</a:t>
            </a:r>
            <a:endParaRPr lang="zh-CN" altLang="en-US" sz="2400" b="1" dirty="0">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基类指针可以转换为派生类指针</a:t>
            </a:r>
            <a:endParaRPr lang="zh-CN" altLang="en-US"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基类引用可以转换为派生类引用</a:t>
            </a:r>
            <a:endParaRPr lang="zh-CN" altLang="en-US" sz="2400" b="1" dirty="0">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需要用</a:t>
            </a:r>
            <a:r>
              <a:rPr lang="en-US" altLang="zh-CN" sz="2400" b="1" dirty="0" err="1">
                <a:ea typeface="华文楷体" panose="02010600040101010101" pitchFamily="2" charset="-122"/>
              </a:rPr>
              <a:t>static_cast</a:t>
            </a:r>
            <a:r>
              <a:rPr lang="zh-CN" altLang="en-US" sz="2400" b="1" dirty="0">
                <a:ea typeface="华文楷体" panose="02010600040101010101" pitchFamily="2" charset="-122"/>
              </a:rPr>
              <a:t>显式转换</a:t>
            </a:r>
            <a:endParaRPr lang="zh-CN" altLang="en-US" sz="2400" b="1" dirty="0">
              <a:ea typeface="华文楷体" panose="02010600040101010101" pitchFamily="2" charset="-122"/>
            </a:endParaRPr>
          </a:p>
          <a:p>
            <a:pPr marL="0" indent="0">
              <a:spcAft>
                <a:spcPct val="25000"/>
              </a:spcAft>
              <a:buNone/>
            </a:pPr>
            <a:r>
              <a:rPr lang="zh-CN" altLang="en-US" sz="2400" b="1" dirty="0">
                <a:solidFill>
                  <a:srgbClr val="FFFF00"/>
                </a:solidFill>
                <a:ea typeface="华文楷体" panose="02010600040101010101" pitchFamily="2" charset="-122"/>
              </a:rPr>
              <a:t>例：</a:t>
            </a:r>
            <a:endParaRPr lang="zh-CN" altLang="en-US" sz="2400" b="1" dirty="0">
              <a:solidFill>
                <a:srgbClr val="FFFF00"/>
              </a:solidFill>
              <a:ea typeface="华文楷体" panose="02010600040101010101" pitchFamily="2" charset="-122"/>
            </a:endParaRPr>
          </a:p>
          <a:p>
            <a:pPr marL="914400" lvl="2" indent="0">
              <a:buNone/>
            </a:pPr>
            <a:r>
              <a:rPr lang="en-US" altLang="zh-CN" b="1" dirty="0">
                <a:ea typeface="华文楷体" panose="02010600040101010101" pitchFamily="2" charset="-122"/>
              </a:rPr>
              <a:t>Base *</a:t>
            </a:r>
            <a:r>
              <a:rPr lang="en-US" altLang="zh-CN" b="1" dirty="0" err="1">
                <a:ea typeface="华文楷体" panose="02010600040101010101" pitchFamily="2" charset="-122"/>
              </a:rPr>
              <a:t>pb</a:t>
            </a:r>
            <a:r>
              <a:rPr lang="en-US" altLang="zh-CN" b="1" dirty="0">
                <a:ea typeface="华文楷体" panose="02010600040101010101" pitchFamily="2" charset="-122"/>
              </a:rPr>
              <a:t> = new Derived();</a:t>
            </a:r>
            <a:endParaRPr lang="en-US" altLang="zh-CN" b="1" dirty="0">
              <a:ea typeface="华文楷体" panose="02010600040101010101" pitchFamily="2" charset="-122"/>
            </a:endParaRPr>
          </a:p>
          <a:p>
            <a:pPr marL="914400" lvl="2" indent="0">
              <a:buNone/>
            </a:pPr>
            <a:r>
              <a:rPr lang="en-US" altLang="zh-CN" b="1" dirty="0">
                <a:ea typeface="华文楷体" panose="02010600040101010101" pitchFamily="2" charset="-122"/>
              </a:rPr>
              <a:t>Derived *</a:t>
            </a:r>
            <a:r>
              <a:rPr lang="en-US" altLang="zh-CN" b="1" dirty="0" err="1">
                <a:ea typeface="华文楷体" panose="02010600040101010101" pitchFamily="2" charset="-122"/>
              </a:rPr>
              <a:t>pd</a:t>
            </a:r>
            <a:r>
              <a:rPr lang="en-US" altLang="zh-CN" b="1" dirty="0">
                <a:ea typeface="华文楷体" panose="02010600040101010101" pitchFamily="2" charset="-122"/>
              </a:rPr>
              <a:t> = </a:t>
            </a:r>
            <a:r>
              <a:rPr lang="en-US" altLang="zh-CN" b="1" dirty="0" err="1">
                <a:ea typeface="华文楷体" panose="02010600040101010101" pitchFamily="2" charset="-122"/>
              </a:rPr>
              <a:t>static_cast</a:t>
            </a:r>
            <a:r>
              <a:rPr lang="en-US" altLang="zh-CN" b="1" dirty="0">
                <a:ea typeface="华文楷体" panose="02010600040101010101" pitchFamily="2" charset="-122"/>
              </a:rPr>
              <a:t>&lt;Derived *&gt;(</a:t>
            </a:r>
            <a:r>
              <a:rPr lang="en-US" altLang="zh-CN" b="1" dirty="0" err="1">
                <a:ea typeface="华文楷体" panose="02010600040101010101" pitchFamily="2" charset="-122"/>
              </a:rPr>
              <a:t>pd</a:t>
            </a:r>
            <a:r>
              <a:rPr lang="en-US" altLang="zh-CN" b="1" dirty="0">
                <a:ea typeface="华文楷体" panose="02010600040101010101" pitchFamily="2" charset="-122"/>
              </a:rPr>
              <a:t>);</a:t>
            </a:r>
            <a:endParaRPr lang="en-US" altLang="zh-CN" b="1" dirty="0">
              <a:ea typeface="华文楷体" panose="02010600040101010101" pitchFamily="2" charset="-122"/>
            </a:endParaRPr>
          </a:p>
          <a:p>
            <a:pPr marL="914400" lvl="2" indent="0">
              <a:buNone/>
            </a:pPr>
            <a:r>
              <a:rPr lang="en-US" altLang="zh-CN" b="1" dirty="0">
                <a:ea typeface="华文楷体" panose="02010600040101010101" pitchFamily="2" charset="-122"/>
              </a:rPr>
              <a:t>Derived d;</a:t>
            </a:r>
            <a:endParaRPr lang="en-US" altLang="zh-CN" b="1" dirty="0">
              <a:ea typeface="华文楷体" panose="02010600040101010101" pitchFamily="2" charset="-122"/>
            </a:endParaRPr>
          </a:p>
          <a:p>
            <a:pPr marL="914400" lvl="2" indent="0">
              <a:buNone/>
            </a:pPr>
            <a:r>
              <a:rPr lang="en-US" altLang="zh-CN" b="1" dirty="0">
                <a:ea typeface="华文楷体" panose="02010600040101010101" pitchFamily="2" charset="-122"/>
              </a:rPr>
              <a:t>Base &amp;</a:t>
            </a:r>
            <a:r>
              <a:rPr lang="en-US" altLang="zh-CN" b="1" dirty="0" err="1">
                <a:ea typeface="华文楷体" panose="02010600040101010101" pitchFamily="2" charset="-122"/>
              </a:rPr>
              <a:t>rb</a:t>
            </a:r>
            <a:r>
              <a:rPr lang="en-US" altLang="zh-CN" b="1" dirty="0">
                <a:ea typeface="华文楷体" panose="02010600040101010101" pitchFamily="2" charset="-122"/>
              </a:rPr>
              <a:t> = d;</a:t>
            </a:r>
            <a:endParaRPr lang="en-US" altLang="zh-CN" b="1" dirty="0">
              <a:ea typeface="华文楷体" panose="02010600040101010101" pitchFamily="2" charset="-122"/>
            </a:endParaRPr>
          </a:p>
          <a:p>
            <a:pPr marL="914400" lvl="2" indent="0">
              <a:buNone/>
            </a:pPr>
            <a:r>
              <a:rPr lang="en-US" altLang="zh-CN" b="1" dirty="0">
                <a:ea typeface="华文楷体" panose="02010600040101010101" pitchFamily="2" charset="-122"/>
              </a:rPr>
              <a:t>Derived &amp;</a:t>
            </a:r>
            <a:r>
              <a:rPr lang="en-US" altLang="zh-CN" b="1" smtClean="0">
                <a:ea typeface="华文楷体" panose="02010600040101010101" pitchFamily="2" charset="-122"/>
              </a:rPr>
              <a:t>rd </a:t>
            </a:r>
            <a:r>
              <a:rPr lang="en-US" altLang="zh-CN" b="1" dirty="0">
                <a:ea typeface="华文楷体" panose="02010600040101010101" pitchFamily="2" charset="-122"/>
              </a:rPr>
              <a:t>= </a:t>
            </a:r>
            <a:r>
              <a:rPr lang="en-US" altLang="zh-CN" b="1" dirty="0" err="1">
                <a:ea typeface="华文楷体" panose="02010600040101010101" pitchFamily="2" charset="-122"/>
              </a:rPr>
              <a:t>static_cast</a:t>
            </a:r>
            <a:r>
              <a:rPr lang="en-US" altLang="zh-CN" b="1" dirty="0">
                <a:ea typeface="华文楷体" panose="02010600040101010101" pitchFamily="2" charset="-122"/>
              </a:rPr>
              <a:t>&lt;Derived &amp;&gt;(</a:t>
            </a:r>
            <a:r>
              <a:rPr lang="en-US" altLang="zh-CN" b="1" dirty="0" err="1">
                <a:ea typeface="华文楷体" panose="02010600040101010101" pitchFamily="2" charset="-122"/>
              </a:rPr>
              <a:t>rb</a:t>
            </a:r>
            <a:r>
              <a:rPr lang="en-US" altLang="zh-CN" b="1" dirty="0">
                <a:ea typeface="华文楷体" panose="02010600040101010101" pitchFamily="2" charset="-122"/>
              </a:rPr>
              <a:t>);</a:t>
            </a:r>
            <a:endParaRPr lang="en-US" altLang="zh-CN" b="1" dirty="0">
              <a:ea typeface="华文楷体" panose="02010600040101010101" pitchFamily="2" charset="-122"/>
            </a:endParaRPr>
          </a:p>
          <a:p>
            <a:pPr>
              <a:spcAft>
                <a:spcPct val="25000"/>
              </a:spcAft>
            </a:pPr>
            <a:endParaRPr lang="en-US" altLang="zh-CN" sz="2400" b="1" dirty="0">
              <a:solidFill>
                <a:srgbClr val="FFFF00"/>
              </a:solidFill>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a:latin typeface="Times New Roman" panose="02020603050405020304" pitchFamily="18" charset="0"/>
                <a:ea typeface="隶书" panose="02010509060101010101" pitchFamily="49" charset="-122"/>
              </a:rPr>
              <a:t>类型转换时的注意事项</a:t>
            </a:r>
            <a:r>
              <a:rPr lang="en-US" altLang="zh-CN" sz="4400" b="1">
                <a:latin typeface="Times New Roman" panose="02020603050405020304" pitchFamily="18" charset="0"/>
                <a:ea typeface="隶书" panose="02010509060101010101" pitchFamily="49" charset="-122"/>
              </a:rPr>
              <a:t>(1)</a:t>
            </a:r>
            <a:endParaRPr lang="zh-CN" altLang="en-US" sz="4400" b="1">
              <a:latin typeface="Times New Roman" panose="02020603050405020304" pitchFamily="18" charset="0"/>
              <a:ea typeface="隶书" panose="02010509060101010101" pitchFamily="49" charset="-122"/>
            </a:endParaRPr>
          </a:p>
        </p:txBody>
      </p:sp>
      <p:sp>
        <p:nvSpPr>
          <p:cNvPr id="112643" name="内容占位符 2"/>
          <p:cNvSpPr>
            <a:spLocks noGrp="1"/>
          </p:cNvSpPr>
          <p:nvPr>
            <p:ph idx="1"/>
          </p:nvPr>
        </p:nvSpPr>
        <p:spPr>
          <a:xfrm>
            <a:off x="611560" y="1484784"/>
            <a:ext cx="7886700" cy="4351338"/>
          </a:xfrm>
        </p:spPr>
        <p:txBody>
          <a:bodyPr/>
          <a:lstStyle/>
          <a:p>
            <a:pPr>
              <a:spcAft>
                <a:spcPts val="600"/>
              </a:spcAft>
            </a:pPr>
            <a:r>
              <a:rPr lang="zh-CN" altLang="en-US" sz="2400" b="1">
                <a:solidFill>
                  <a:srgbClr val="FFFF00"/>
                </a:solidFill>
                <a:ea typeface="华文楷体" panose="02010600040101010101" pitchFamily="2" charset="-122"/>
              </a:rPr>
              <a:t>基类对象一般无法被显式转换为派生类对象</a:t>
            </a:r>
            <a:endParaRPr lang="zh-CN" altLang="en-US" sz="2400" b="1">
              <a:solidFill>
                <a:srgbClr val="FFFF00"/>
              </a:solidFill>
              <a:ea typeface="华文楷体" panose="02010600040101010101" pitchFamily="2" charset="-122"/>
            </a:endParaRPr>
          </a:p>
          <a:p>
            <a:pPr lvl="1">
              <a:spcAft>
                <a:spcPts val="600"/>
              </a:spcAft>
              <a:buFont typeface="Wingdings" panose="05000000000000000000" pitchFamily="2" charset="2"/>
              <a:buChar char="ü"/>
            </a:pPr>
            <a:r>
              <a:rPr lang="zh-CN" altLang="en-US" sz="2400" b="1">
                <a:ea typeface="华文楷体" panose="02010600040101010101" pitchFamily="2" charset="-122"/>
              </a:rPr>
              <a:t>对象到对象的转换，需要调用构造函数创建新的对象</a:t>
            </a:r>
            <a:endParaRPr lang="zh-CN" altLang="en-US" sz="2400" b="1">
              <a:ea typeface="华文楷体" panose="02010600040101010101" pitchFamily="2" charset="-122"/>
            </a:endParaRPr>
          </a:p>
          <a:p>
            <a:pPr lvl="1">
              <a:spcAft>
                <a:spcPts val="600"/>
              </a:spcAft>
              <a:buFont typeface="Wingdings" panose="05000000000000000000" pitchFamily="2" charset="2"/>
              <a:buChar char="ü"/>
            </a:pPr>
            <a:r>
              <a:rPr lang="zh-CN" altLang="en-US" sz="2400" b="1">
                <a:ea typeface="华文楷体" panose="02010600040101010101" pitchFamily="2" charset="-122"/>
              </a:rPr>
              <a:t>派生类的复制构造函数无法接受基类对象作为参数</a:t>
            </a:r>
            <a:endParaRPr lang="zh-CN" altLang="en-US" sz="2400" b="1">
              <a:ea typeface="华文楷体" panose="02010600040101010101" pitchFamily="2" charset="-122"/>
            </a:endParaRPr>
          </a:p>
          <a:p>
            <a:pPr>
              <a:spcAft>
                <a:spcPts val="600"/>
              </a:spcAft>
            </a:pPr>
            <a:r>
              <a:rPr lang="zh-CN" altLang="en-US" sz="2400" b="1">
                <a:solidFill>
                  <a:srgbClr val="FFFF00"/>
                </a:solidFill>
                <a:ea typeface="华文楷体" panose="02010600040101010101" pitchFamily="2" charset="-122"/>
              </a:rPr>
              <a:t>执行基类向派生类的转换时，一定要确保被转换的指针和引用所指向或引用的对象符合转换的目的类型：</a:t>
            </a:r>
            <a:endParaRPr lang="zh-CN" altLang="en-US" sz="2400" b="1">
              <a:solidFill>
                <a:srgbClr val="FFFF00"/>
              </a:solidFill>
              <a:ea typeface="华文楷体" panose="02010600040101010101" pitchFamily="2" charset="-122"/>
            </a:endParaRPr>
          </a:p>
          <a:p>
            <a:pPr lvl="1">
              <a:spcAft>
                <a:spcPts val="600"/>
              </a:spcAft>
              <a:buFont typeface="Wingdings" panose="05000000000000000000" pitchFamily="2" charset="2"/>
              <a:buChar char="ü"/>
            </a:pPr>
            <a:r>
              <a:rPr lang="zh-CN" altLang="en-US" sz="2400" b="1">
                <a:ea typeface="华文楷体" panose="02010600040101010101" pitchFamily="2" charset="-122"/>
              </a:rPr>
              <a:t>对于</a:t>
            </a:r>
            <a:r>
              <a:rPr lang="en-US" altLang="zh-CN" sz="2400" b="1">
                <a:ea typeface="华文楷体" panose="02010600040101010101" pitchFamily="2" charset="-122"/>
              </a:rPr>
              <a:t>Derived *pd = static_cast&lt;Derived *&gt;(pb);</a:t>
            </a:r>
            <a:endParaRPr lang="en-US" altLang="zh-CN" sz="2400" b="1">
              <a:ea typeface="华文楷体" panose="02010600040101010101" pitchFamily="2" charset="-122"/>
            </a:endParaRPr>
          </a:p>
          <a:p>
            <a:pPr lvl="1">
              <a:spcAft>
                <a:spcPts val="600"/>
              </a:spcAft>
              <a:buFont typeface="Wingdings" panose="05000000000000000000" pitchFamily="2" charset="2"/>
              <a:buChar char="ü"/>
            </a:pPr>
            <a:r>
              <a:rPr lang="zh-CN" altLang="en-US" sz="2400" b="1">
                <a:ea typeface="华文楷体" panose="02010600040101010101" pitchFamily="2" charset="-122"/>
              </a:rPr>
              <a:t>一定要保证</a:t>
            </a:r>
            <a:r>
              <a:rPr lang="en-US" altLang="zh-CN" sz="2400" b="1">
                <a:ea typeface="华文楷体" panose="02010600040101010101" pitchFamily="2" charset="-122"/>
              </a:rPr>
              <a:t>pb</a:t>
            </a:r>
            <a:r>
              <a:rPr lang="zh-CN" altLang="en-US" sz="2400" b="1">
                <a:ea typeface="华文楷体" panose="02010600040101010101" pitchFamily="2" charset="-122"/>
              </a:rPr>
              <a:t>所指向的对象具有</a:t>
            </a:r>
            <a:r>
              <a:rPr lang="en-US" altLang="zh-CN" sz="2400" b="1">
                <a:ea typeface="华文楷体" panose="02010600040101010101" pitchFamily="2" charset="-122"/>
              </a:rPr>
              <a:t>Derived</a:t>
            </a:r>
            <a:r>
              <a:rPr lang="zh-CN" altLang="en-US" sz="2400" b="1">
                <a:ea typeface="华文楷体" panose="02010600040101010101" pitchFamily="2" charset="-122"/>
              </a:rPr>
              <a:t>类型，或者是</a:t>
            </a:r>
            <a:r>
              <a:rPr lang="en-US" altLang="zh-CN" sz="2400" b="1">
                <a:ea typeface="华文楷体" panose="02010600040101010101" pitchFamily="2" charset="-122"/>
              </a:rPr>
              <a:t>Derived</a:t>
            </a:r>
            <a:r>
              <a:rPr lang="zh-CN" altLang="en-US" sz="2400" b="1">
                <a:ea typeface="华文楷体" panose="02010600040101010101" pitchFamily="2" charset="-122"/>
              </a:rPr>
              <a:t>类型的派生类。</a:t>
            </a:r>
            <a:endParaRPr lang="zh-CN" altLang="en-US" sz="2400" b="1">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标题 1"/>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dirty="0">
                <a:latin typeface="Times New Roman" panose="02020603050405020304" pitchFamily="18" charset="0"/>
                <a:ea typeface="隶书" panose="02010509060101010101" pitchFamily="49" charset="-122"/>
              </a:rPr>
              <a:t>类型转换时的注意事项</a:t>
            </a:r>
            <a:r>
              <a:rPr lang="en-US" altLang="zh-CN" sz="4400" b="1" dirty="0">
                <a:latin typeface="Times New Roman" panose="02020603050405020304" pitchFamily="18" charset="0"/>
                <a:ea typeface="隶书" panose="02010509060101010101" pitchFamily="49" charset="-122"/>
              </a:rPr>
              <a:t>(2)</a:t>
            </a:r>
            <a:endParaRPr lang="zh-CN" altLang="en-US" sz="4400" b="1" dirty="0">
              <a:latin typeface="Times New Roman" panose="02020603050405020304" pitchFamily="18" charset="0"/>
              <a:ea typeface="隶书" panose="02010509060101010101" pitchFamily="49" charset="-122"/>
            </a:endParaRPr>
          </a:p>
        </p:txBody>
      </p:sp>
      <p:sp>
        <p:nvSpPr>
          <p:cNvPr id="113667" name="内容占位符 2"/>
          <p:cNvSpPr>
            <a:spLocks noGrp="1"/>
          </p:cNvSpPr>
          <p:nvPr>
            <p:ph idx="1"/>
          </p:nvPr>
        </p:nvSpPr>
        <p:spPr>
          <a:xfrm>
            <a:off x="755576" y="1124744"/>
            <a:ext cx="8496944" cy="4351338"/>
          </a:xfrm>
        </p:spPr>
        <p:txBody>
          <a:bodyPr/>
          <a:lstStyle/>
          <a:p>
            <a:pPr>
              <a:spcAft>
                <a:spcPct val="25000"/>
              </a:spcAft>
            </a:pPr>
            <a:r>
              <a:rPr lang="zh-CN" altLang="en-US" sz="2400" b="1" dirty="0">
                <a:solidFill>
                  <a:srgbClr val="FFFF00"/>
                </a:solidFill>
                <a:ea typeface="华文楷体" panose="02010600040101010101" pitchFamily="2" charset="-122"/>
              </a:rPr>
              <a:t>如果</a:t>
            </a:r>
            <a:r>
              <a:rPr lang="en-US" altLang="zh-CN" sz="2400" b="1" dirty="0">
                <a:solidFill>
                  <a:srgbClr val="FFFF00"/>
                </a:solidFill>
                <a:ea typeface="华文楷体" panose="02010600040101010101" pitchFamily="2" charset="-122"/>
              </a:rPr>
              <a:t>A</a:t>
            </a:r>
            <a:r>
              <a:rPr lang="zh-CN" altLang="en-US" sz="2400" b="1" dirty="0">
                <a:solidFill>
                  <a:srgbClr val="FFFF00"/>
                </a:solidFill>
                <a:ea typeface="华文楷体" panose="02010600040101010101" pitchFamily="2" charset="-122"/>
              </a:rPr>
              <a:t>类型是</a:t>
            </a:r>
            <a:r>
              <a:rPr lang="en-US" altLang="zh-CN" sz="2400" b="1" dirty="0">
                <a:solidFill>
                  <a:srgbClr val="FFFF00"/>
                </a:solidFill>
                <a:ea typeface="华文楷体" panose="02010600040101010101" pitchFamily="2" charset="-122"/>
              </a:rPr>
              <a:t>B</a:t>
            </a:r>
            <a:r>
              <a:rPr lang="zh-CN" altLang="en-US" sz="2400" b="1" dirty="0">
                <a:solidFill>
                  <a:srgbClr val="FFFF00"/>
                </a:solidFill>
                <a:ea typeface="华文楷体" panose="02010600040101010101" pitchFamily="2" charset="-122"/>
              </a:rPr>
              <a:t>类型的虚拟基类，</a:t>
            </a:r>
            <a:r>
              <a:rPr lang="en-US" altLang="zh-CN" sz="2400" b="1" dirty="0">
                <a:solidFill>
                  <a:srgbClr val="FFFF00"/>
                </a:solidFill>
                <a:ea typeface="华文楷体" panose="02010600040101010101" pitchFamily="2" charset="-122"/>
              </a:rPr>
              <a:t>A</a:t>
            </a:r>
            <a:r>
              <a:rPr lang="zh-CN" altLang="en-US" sz="2400" b="1" dirty="0">
                <a:solidFill>
                  <a:srgbClr val="FFFF00"/>
                </a:solidFill>
                <a:ea typeface="华文楷体" panose="02010600040101010101" pitchFamily="2" charset="-122"/>
              </a:rPr>
              <a:t>类型指针无法通过</a:t>
            </a:r>
            <a:r>
              <a:rPr lang="en-US" altLang="zh-CN" sz="2400" b="1" dirty="0" err="1">
                <a:solidFill>
                  <a:srgbClr val="FFFF00"/>
                </a:solidFill>
                <a:ea typeface="华文楷体" panose="02010600040101010101" pitchFamily="2" charset="-122"/>
              </a:rPr>
              <a:t>static_cast</a:t>
            </a:r>
            <a:r>
              <a:rPr lang="zh-CN" altLang="en-US" sz="2400" b="1" dirty="0">
                <a:solidFill>
                  <a:srgbClr val="FFFF00"/>
                </a:solidFill>
                <a:ea typeface="华文楷体" panose="02010600040101010101" pitchFamily="2" charset="-122"/>
              </a:rPr>
              <a:t>隐含转换为</a:t>
            </a:r>
            <a:r>
              <a:rPr lang="en-US" altLang="zh-CN" sz="2400" b="1" dirty="0">
                <a:solidFill>
                  <a:srgbClr val="FFFF00"/>
                </a:solidFill>
                <a:ea typeface="华文楷体" panose="02010600040101010101" pitchFamily="2" charset="-122"/>
              </a:rPr>
              <a:t>B</a:t>
            </a:r>
            <a:r>
              <a:rPr lang="zh-CN" altLang="en-US" sz="2400" b="1" dirty="0">
                <a:solidFill>
                  <a:srgbClr val="FFFF00"/>
                </a:solidFill>
                <a:ea typeface="华文楷体" panose="02010600040101010101" pitchFamily="2" charset="-122"/>
              </a:rPr>
              <a:t>类型的指针</a:t>
            </a:r>
            <a:endParaRPr lang="zh-CN" altLang="en-US" sz="2400" b="1" dirty="0">
              <a:solidFill>
                <a:srgbClr val="FFFF00"/>
              </a:solidFill>
              <a:ea typeface="华文楷体" panose="02010600040101010101" pitchFamily="2" charset="-122"/>
            </a:endParaRPr>
          </a:p>
          <a:p>
            <a:pPr lvl="1">
              <a:buFont typeface="Wingdings" panose="05000000000000000000" pitchFamily="2" charset="2"/>
              <a:buChar char="ü"/>
            </a:pPr>
            <a:r>
              <a:rPr lang="zh-CN" altLang="en-US" sz="2400" b="1" dirty="0">
                <a:ea typeface="华文楷体" panose="02010600040101010101" pitchFamily="2" charset="-122"/>
              </a:rPr>
              <a:t>可以结合虚继承情况下的对象内存布局，思考为什么不允许这种转换</a:t>
            </a:r>
            <a:endParaRPr lang="zh-CN" altLang="en-US" sz="2400" b="1" dirty="0">
              <a:ea typeface="华文楷体" panose="02010600040101010101" pitchFamily="2" charset="-122"/>
            </a:endParaRPr>
          </a:p>
          <a:p>
            <a:pPr>
              <a:spcAft>
                <a:spcPct val="25000"/>
              </a:spcAft>
            </a:pPr>
            <a:r>
              <a:rPr lang="en-US" altLang="zh-CN" sz="2400" b="1" dirty="0">
                <a:solidFill>
                  <a:srgbClr val="FFFF00"/>
                </a:solidFill>
                <a:ea typeface="华文楷体" panose="02010600040101010101" pitchFamily="2" charset="-122"/>
              </a:rPr>
              <a:t>void</a:t>
            </a:r>
            <a:r>
              <a:rPr lang="zh-CN" altLang="en-US" sz="2400" b="1" dirty="0">
                <a:solidFill>
                  <a:srgbClr val="FFFF00"/>
                </a:solidFill>
                <a:ea typeface="华文楷体" panose="02010600040101010101" pitchFamily="2" charset="-122"/>
              </a:rPr>
              <a:t>指针参加的转换，可能导致不可预期的后果：</a:t>
            </a:r>
            <a:endParaRPr lang="zh-CN" altLang="en-US" sz="2400" b="1" dirty="0">
              <a:solidFill>
                <a:srgbClr val="FFFF00"/>
              </a:solidFill>
              <a:ea typeface="华文楷体" panose="02010600040101010101" pitchFamily="2" charset="-122"/>
            </a:endParaRPr>
          </a:p>
          <a:p>
            <a:pPr lvl="1">
              <a:buFont typeface="Wingdings" panose="05000000000000000000" pitchFamily="2" charset="2"/>
              <a:buChar char="ü"/>
            </a:pPr>
            <a:r>
              <a:rPr lang="zh-CN" altLang="en-US" sz="2000" b="1" dirty="0">
                <a:ea typeface="华文楷体" panose="02010600040101010101" pitchFamily="2" charset="-122"/>
              </a:rPr>
              <a:t>例：（</a:t>
            </a:r>
            <a:r>
              <a:rPr lang="en-US" altLang="zh-CN" sz="2000" b="1" dirty="0">
                <a:ea typeface="华文楷体" panose="02010600040101010101" pitchFamily="2" charset="-122"/>
              </a:rPr>
              <a:t>Base2</a:t>
            </a:r>
            <a:r>
              <a:rPr lang="zh-CN" altLang="en-US" sz="2000" b="1" dirty="0">
                <a:ea typeface="华文楷体" panose="02010600040101010101" pitchFamily="2" charset="-122"/>
              </a:rPr>
              <a:t>是</a:t>
            </a:r>
            <a:r>
              <a:rPr lang="en-US" altLang="zh-CN" sz="2000" b="1" dirty="0">
                <a:ea typeface="华文楷体" panose="02010600040101010101" pitchFamily="2" charset="-122"/>
              </a:rPr>
              <a:t>Derived</a:t>
            </a:r>
            <a:r>
              <a:rPr lang="zh-CN" altLang="en-US" sz="2000" b="1" dirty="0">
                <a:ea typeface="华文楷体" panose="02010600040101010101" pitchFamily="2" charset="-122"/>
              </a:rPr>
              <a:t>的第二个公共基类）</a:t>
            </a:r>
            <a:endParaRPr lang="zh-CN" altLang="en-US" sz="2000" b="1" dirty="0">
              <a:ea typeface="华文楷体" panose="02010600040101010101" pitchFamily="2" charset="-122"/>
            </a:endParaRPr>
          </a:p>
          <a:p>
            <a:pPr marL="914400" lvl="2" indent="0">
              <a:buNone/>
            </a:pPr>
            <a:r>
              <a:rPr lang="en-US" altLang="zh-CN" sz="2000" b="1" dirty="0">
                <a:ea typeface="华文楷体" panose="02010600040101010101" pitchFamily="2" charset="-122"/>
              </a:rPr>
              <a:t>Derived *</a:t>
            </a:r>
            <a:r>
              <a:rPr lang="en-US" altLang="zh-CN" sz="2000" b="1" dirty="0" err="1">
                <a:ea typeface="华文楷体" panose="02010600040101010101" pitchFamily="2" charset="-122"/>
              </a:rPr>
              <a:t>pd</a:t>
            </a:r>
            <a:r>
              <a:rPr lang="en-US" altLang="zh-CN" sz="2000" b="1" dirty="0">
                <a:ea typeface="华文楷体" panose="02010600040101010101" pitchFamily="2" charset="-122"/>
              </a:rPr>
              <a:t> = new Derived();</a:t>
            </a:r>
            <a:endParaRPr lang="en-US" altLang="zh-CN" sz="2000" b="1" dirty="0">
              <a:ea typeface="华文楷体" panose="02010600040101010101" pitchFamily="2" charset="-122"/>
            </a:endParaRPr>
          </a:p>
          <a:p>
            <a:pPr marL="914400" lvl="2" indent="0">
              <a:buNone/>
            </a:pPr>
            <a:r>
              <a:rPr lang="en-US" altLang="zh-CN" sz="2000" b="1" dirty="0">
                <a:ea typeface="华文楷体" panose="02010600040101010101" pitchFamily="2" charset="-122"/>
              </a:rPr>
              <a:t>void *</a:t>
            </a:r>
            <a:r>
              <a:rPr lang="en-US" altLang="zh-CN" sz="2000" b="1" dirty="0" err="1">
                <a:ea typeface="华文楷体" panose="02010600040101010101" pitchFamily="2" charset="-122"/>
              </a:rPr>
              <a:t>pv</a:t>
            </a:r>
            <a:r>
              <a:rPr lang="en-US" altLang="zh-CN" sz="2000" b="1" dirty="0">
                <a:ea typeface="华文楷体" panose="02010600040101010101" pitchFamily="2" charset="-122"/>
              </a:rPr>
              <a:t> = </a:t>
            </a:r>
            <a:r>
              <a:rPr lang="en-US" altLang="zh-CN" sz="2000" b="1" dirty="0" err="1">
                <a:ea typeface="华文楷体" panose="02010600040101010101" pitchFamily="2" charset="-122"/>
              </a:rPr>
              <a:t>pd</a:t>
            </a:r>
            <a:r>
              <a:rPr lang="en-US" altLang="zh-CN" sz="2000" b="1" dirty="0">
                <a:ea typeface="华文楷体" panose="02010600040101010101" pitchFamily="2" charset="-122"/>
              </a:rPr>
              <a:t>;	//</a:t>
            </a:r>
            <a:r>
              <a:rPr lang="zh-CN" altLang="en-US" sz="2000" b="1" dirty="0">
                <a:ea typeface="华文楷体" panose="02010600040101010101" pitchFamily="2" charset="-122"/>
              </a:rPr>
              <a:t>将</a:t>
            </a:r>
            <a:r>
              <a:rPr lang="en-US" altLang="zh-CN" sz="2000" b="1" dirty="0">
                <a:ea typeface="华文楷体" panose="02010600040101010101" pitchFamily="2" charset="-122"/>
              </a:rPr>
              <a:t>Derived</a:t>
            </a:r>
            <a:r>
              <a:rPr lang="zh-CN" altLang="en-US" sz="2000" b="1" dirty="0">
                <a:ea typeface="华文楷体" panose="02010600040101010101" pitchFamily="2" charset="-122"/>
              </a:rPr>
              <a:t>指针转换为</a:t>
            </a:r>
            <a:r>
              <a:rPr lang="en-US" altLang="zh-CN" sz="2000" b="1" dirty="0">
                <a:ea typeface="华文楷体" panose="02010600040101010101" pitchFamily="2" charset="-122"/>
              </a:rPr>
              <a:t>void</a:t>
            </a:r>
            <a:r>
              <a:rPr lang="zh-CN" altLang="en-US" sz="2000" b="1" dirty="0">
                <a:ea typeface="华文楷体" panose="02010600040101010101" pitchFamily="2" charset="-122"/>
              </a:rPr>
              <a:t>指针</a:t>
            </a:r>
            <a:endParaRPr lang="zh-CN" altLang="en-US" sz="2000" b="1" dirty="0">
              <a:ea typeface="华文楷体" panose="02010600040101010101" pitchFamily="2" charset="-122"/>
            </a:endParaRPr>
          </a:p>
          <a:p>
            <a:pPr marL="914400" lvl="2" indent="0">
              <a:buNone/>
            </a:pPr>
            <a:r>
              <a:rPr lang="en-US" altLang="zh-CN" sz="2000" b="1" dirty="0">
                <a:ea typeface="华文楷体" panose="02010600040101010101" pitchFamily="2" charset="-122"/>
              </a:rPr>
              <a:t>Base2 *</a:t>
            </a:r>
            <a:r>
              <a:rPr lang="en-US" altLang="zh-CN" sz="2000" b="1" dirty="0" err="1">
                <a:ea typeface="华文楷体" panose="02010600040101010101" pitchFamily="2" charset="-122"/>
              </a:rPr>
              <a:t>pb</a:t>
            </a:r>
            <a:r>
              <a:rPr lang="en-US" altLang="zh-CN" sz="2000" b="1" dirty="0">
                <a:ea typeface="华文楷体" panose="02010600040101010101" pitchFamily="2" charset="-122"/>
              </a:rPr>
              <a:t> = </a:t>
            </a:r>
            <a:r>
              <a:rPr lang="en-US" altLang="zh-CN" sz="2000" b="1" dirty="0" err="1">
                <a:ea typeface="华文楷体" panose="02010600040101010101" pitchFamily="2" charset="-122"/>
              </a:rPr>
              <a:t>static_cast</a:t>
            </a:r>
            <a:r>
              <a:rPr lang="en-US" altLang="zh-CN" sz="2000" b="1" dirty="0">
                <a:ea typeface="华文楷体" panose="02010600040101010101" pitchFamily="2" charset="-122"/>
              </a:rPr>
              <a:t>&lt;Base2 *&gt;(</a:t>
            </a:r>
            <a:r>
              <a:rPr lang="en-US" altLang="zh-CN" sz="2000" b="1" dirty="0" err="1">
                <a:ea typeface="华文楷体" panose="02010600040101010101" pitchFamily="2" charset="-122"/>
              </a:rPr>
              <a:t>pv</a:t>
            </a:r>
            <a:r>
              <a:rPr lang="en-US" altLang="zh-CN" sz="2000" b="1" dirty="0">
                <a:ea typeface="华文楷体" panose="02010600040101010101" pitchFamily="2" charset="-122"/>
              </a:rPr>
              <a:t>);</a:t>
            </a:r>
            <a:endParaRPr lang="en-US" altLang="zh-CN" sz="2000" b="1" dirty="0">
              <a:ea typeface="华文楷体" panose="02010600040101010101" pitchFamily="2" charset="-122"/>
            </a:endParaRPr>
          </a:p>
          <a:p>
            <a:pPr lvl="1">
              <a:buFont typeface="Wingdings" panose="05000000000000000000" pitchFamily="2" charset="2"/>
              <a:buChar char="ü"/>
            </a:pPr>
            <a:r>
              <a:rPr lang="zh-CN" altLang="en-US" sz="2000" b="1" dirty="0">
                <a:ea typeface="华文楷体" panose="02010600040101010101" pitchFamily="2" charset="-122"/>
              </a:rPr>
              <a:t>转换后</a:t>
            </a:r>
            <a:r>
              <a:rPr lang="en-US" altLang="zh-CN" sz="2000" b="1" dirty="0" err="1">
                <a:ea typeface="华文楷体" panose="02010600040101010101" pitchFamily="2" charset="-122"/>
              </a:rPr>
              <a:t>pb</a:t>
            </a:r>
            <a:r>
              <a:rPr lang="zh-CN" altLang="en-US" sz="2000" b="1" dirty="0">
                <a:ea typeface="华文楷体" panose="02010600040101010101" pitchFamily="2" charset="-122"/>
              </a:rPr>
              <a:t>与</a:t>
            </a:r>
            <a:r>
              <a:rPr lang="en-US" altLang="zh-CN" sz="2000" b="1" dirty="0" err="1">
                <a:ea typeface="华文楷体" panose="02010600040101010101" pitchFamily="2" charset="-122"/>
              </a:rPr>
              <a:t>pd</a:t>
            </a:r>
            <a:r>
              <a:rPr lang="zh-CN" altLang="en-US" sz="2000" b="1" dirty="0">
                <a:ea typeface="华文楷体" panose="02010600040101010101" pitchFamily="2" charset="-122"/>
              </a:rPr>
              <a:t>有相同的地址，而正常的转换下应有一个偏移量</a:t>
            </a:r>
            <a:endParaRPr lang="zh-CN" altLang="en-US" sz="2000" b="1" dirty="0">
              <a:ea typeface="华文楷体" panose="02010600040101010101" pitchFamily="2" charset="-122"/>
            </a:endParaRPr>
          </a:p>
          <a:p>
            <a:pPr lvl="1">
              <a:buFont typeface="Wingdings" panose="05000000000000000000" pitchFamily="2" charset="2"/>
              <a:buChar char="ü"/>
            </a:pPr>
            <a:r>
              <a:rPr lang="zh-CN" altLang="en-US" sz="2000" b="1" dirty="0">
                <a:ea typeface="华文楷体" panose="02010600040101010101" pitchFamily="2" charset="-122"/>
              </a:rPr>
              <a:t>结论：有</a:t>
            </a:r>
            <a:r>
              <a:rPr lang="en-US" altLang="zh-CN" sz="2000" b="1" dirty="0">
                <a:ea typeface="华文楷体" panose="02010600040101010101" pitchFamily="2" charset="-122"/>
              </a:rPr>
              <a:t>void</a:t>
            </a:r>
            <a:r>
              <a:rPr lang="zh-CN" altLang="en-US" sz="2000" b="1" dirty="0">
                <a:ea typeface="华文楷体" panose="02010600040101010101" pitchFamily="2" charset="-122"/>
              </a:rPr>
              <a:t>指针参与的转换，兼容性规则不适用</a:t>
            </a:r>
            <a:endParaRPr lang="zh-CN" altLang="en-US" sz="2000" b="1" dirty="0">
              <a:ea typeface="华文楷体" panose="02010600040101010101" pitchFamily="2" charset="-122"/>
            </a:endParaRPr>
          </a:p>
          <a:p>
            <a:pPr>
              <a:spcAft>
                <a:spcPct val="25000"/>
              </a:spcAft>
            </a:pPr>
            <a:r>
              <a:rPr lang="zh-CN" altLang="en-US" sz="2400" b="1" dirty="0">
                <a:solidFill>
                  <a:srgbClr val="FFFF00"/>
                </a:solidFill>
                <a:ea typeface="华文楷体" panose="02010600040101010101" pitchFamily="2" charset="-122"/>
              </a:rPr>
              <a:t>更安全更灵活的基类向派生类转换方式</a:t>
            </a:r>
            <a:r>
              <a:rPr lang="en-US" altLang="zh-CN" sz="2400" b="1" dirty="0">
                <a:solidFill>
                  <a:srgbClr val="FFFF00"/>
                </a:solidFill>
                <a:ea typeface="华文楷体" panose="02010600040101010101" pitchFamily="2" charset="-122"/>
              </a:rPr>
              <a:t>——</a:t>
            </a:r>
            <a:r>
              <a:rPr lang="en-US" altLang="zh-CN" sz="2400" b="1" dirty="0" err="1">
                <a:solidFill>
                  <a:srgbClr val="FFFF00"/>
                </a:solidFill>
                <a:ea typeface="华文楷体" panose="02010600040101010101" pitchFamily="2" charset="-122"/>
              </a:rPr>
              <a:t>dynamic_cast</a:t>
            </a:r>
            <a:r>
              <a:rPr lang="zh-CN" altLang="en-US" sz="2400" b="1" dirty="0">
                <a:solidFill>
                  <a:srgbClr val="FFFF00"/>
                </a:solidFill>
                <a:ea typeface="华文楷体" panose="02010600040101010101" pitchFamily="2" charset="-122"/>
              </a:rPr>
              <a:t>，将在下一讲介绍</a:t>
            </a:r>
            <a:endParaRPr lang="zh-CN" altLang="en-US" sz="2400" b="1" dirty="0">
              <a:solidFill>
                <a:srgbClr val="FFFF00"/>
              </a:solidFill>
              <a:ea typeface="华文楷体" panose="02010600040101010101" pitchFamily="2" charset="-122"/>
            </a:endParaRPr>
          </a:p>
        </p:txBody>
      </p:sp>
    </p:spTree>
  </p:cSld>
  <p:clrMapOvr>
    <a:masterClrMapping/>
  </p:clrMapOvr>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681905" y="2924944"/>
            <a:ext cx="7313613" cy="1143000"/>
          </a:xfrm>
        </p:spPr>
        <p:txBody>
          <a:bodyPr/>
          <a:lstStyle/>
          <a:p>
            <a:pPr algn="ctr" eaLnBrk="1" hangingPunct="1"/>
            <a:r>
              <a:rPr lang="zh-CN" altLang="en-US" sz="5800" b="1" dirty="0">
                <a:ea typeface="华文彩云" panose="02010800040101010101" pitchFamily="2" charset="-122"/>
              </a:rPr>
              <a:t>本讲小结</a:t>
            </a:r>
            <a:endParaRPr lang="zh-CN" altLang="en-US" sz="5800" b="1" dirty="0">
              <a:ea typeface="华文彩云" panose="02010800040101010101" pitchFamily="2" charset="-122"/>
            </a:endParaRPr>
          </a:p>
        </p:txBody>
      </p:sp>
      <p:grpSp>
        <p:nvGrpSpPr>
          <p:cNvPr id="3" name="Group 16"/>
          <p:cNvGrpSpPr/>
          <p:nvPr/>
        </p:nvGrpSpPr>
        <p:grpSpPr bwMode="auto">
          <a:xfrm>
            <a:off x="6084168" y="332656"/>
            <a:ext cx="2438400" cy="1752600"/>
            <a:chOff x="2208" y="384"/>
            <a:chExt cx="1536" cy="1104"/>
          </a:xfrm>
        </p:grpSpPr>
        <p:sp>
          <p:nvSpPr>
            <p:cNvPr id="4" name="Oval 5"/>
            <p:cNvSpPr>
              <a:spLocks noChangeArrowheads="1"/>
            </p:cNvSpPr>
            <p:nvPr/>
          </p:nvSpPr>
          <p:spPr bwMode="auto">
            <a:xfrm>
              <a:off x="2208" y="576"/>
              <a:ext cx="1536" cy="912"/>
            </a:xfrm>
            <a:prstGeom prst="ellipse">
              <a:avLst/>
            </a:prstGeom>
            <a:solidFill>
              <a:schemeClr val="bg1"/>
            </a:solidFill>
            <a:ln w="38100">
              <a:solidFill>
                <a:schemeClr val="hlink"/>
              </a:solidFill>
              <a:round/>
            </a:ln>
            <a:effectLst>
              <a:outerShdw dist="53882" dir="2700000" algn="ctr" rotWithShape="0">
                <a:srgbClr val="DDDDDD"/>
              </a:outerShdw>
            </a:effectLst>
          </p:spPr>
          <p:txBody>
            <a:bodyPr wrap="none" anchor="ctr"/>
            <a:lstStyle/>
            <a:p>
              <a:endParaRPr lang="zh-CN" altLang="en-US"/>
            </a:p>
          </p:txBody>
        </p:sp>
        <p:grpSp>
          <p:nvGrpSpPr>
            <p:cNvPr id="5" name="Group 6"/>
            <p:cNvGrpSpPr/>
            <p:nvPr/>
          </p:nvGrpSpPr>
          <p:grpSpPr bwMode="auto">
            <a:xfrm>
              <a:off x="2592" y="384"/>
              <a:ext cx="820" cy="734"/>
              <a:chOff x="613" y="1858"/>
              <a:chExt cx="672" cy="686"/>
            </a:xfrm>
          </p:grpSpPr>
          <p:grpSp>
            <p:nvGrpSpPr>
              <p:cNvPr id="6" name="Group 7"/>
              <p:cNvGrpSpPr/>
              <p:nvPr/>
            </p:nvGrpSpPr>
            <p:grpSpPr bwMode="auto">
              <a:xfrm>
                <a:off x="613" y="2062"/>
                <a:ext cx="216" cy="482"/>
                <a:chOff x="3064" y="2792"/>
                <a:chExt cx="281" cy="626"/>
              </a:xfrm>
            </p:grpSpPr>
            <p:sp>
              <p:nvSpPr>
                <p:cNvPr id="13" name="Oval 8"/>
                <p:cNvSpPr>
                  <a:spLocks noChangeArrowheads="1"/>
                </p:cNvSpPr>
                <p:nvPr/>
              </p:nvSpPr>
              <p:spPr bwMode="auto">
                <a:xfrm>
                  <a:off x="3156" y="2792"/>
                  <a:ext cx="95" cy="102"/>
                </a:xfrm>
                <a:prstGeom prst="ellipse">
                  <a:avLst/>
                </a:prstGeom>
                <a:gradFill rotWithShape="0">
                  <a:gsLst>
                    <a:gs pos="0">
                      <a:srgbClr val="9234DB">
                        <a:gamma/>
                        <a:tint val="33333"/>
                        <a:invGamma/>
                      </a:srgbClr>
                    </a:gs>
                    <a:gs pos="100000">
                      <a:srgbClr val="9234DB"/>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14" name="Freeform 9"/>
                <p:cNvSpPr/>
                <p:nvPr/>
              </p:nvSpPr>
              <p:spPr bwMode="auto">
                <a:xfrm>
                  <a:off x="3064" y="2914"/>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9234DB">
                        <a:gamma/>
                        <a:tint val="33333"/>
                        <a:invGamma/>
                      </a:srgbClr>
                    </a:gs>
                    <a:gs pos="100000">
                      <a:srgbClr val="9234DB"/>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7" name="Group 10"/>
              <p:cNvGrpSpPr/>
              <p:nvPr/>
            </p:nvGrpSpPr>
            <p:grpSpPr bwMode="auto">
              <a:xfrm>
                <a:off x="850" y="1858"/>
                <a:ext cx="183" cy="470"/>
                <a:chOff x="2073" y="2933"/>
                <a:chExt cx="238" cy="611"/>
              </a:xfrm>
            </p:grpSpPr>
            <p:sp>
              <p:nvSpPr>
                <p:cNvPr id="11" name="Oval 11"/>
                <p:cNvSpPr>
                  <a:spLocks noChangeArrowheads="1"/>
                </p:cNvSpPr>
                <p:nvPr/>
              </p:nvSpPr>
              <p:spPr bwMode="auto">
                <a:xfrm>
                  <a:off x="2139" y="2933"/>
                  <a:ext cx="99" cy="101"/>
                </a:xfrm>
                <a:prstGeom prst="ellipse">
                  <a:avLst/>
                </a:prstGeom>
                <a:gradFill rotWithShape="0">
                  <a:gsLst>
                    <a:gs pos="0">
                      <a:srgbClr val="F95AB7">
                        <a:gamma/>
                        <a:tint val="52549"/>
                        <a:invGamma/>
                      </a:srgbClr>
                    </a:gs>
                    <a:gs pos="100000">
                      <a:srgbClr val="F95AB7"/>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12" name="Freeform 12"/>
                <p:cNvSpPr/>
                <p:nvPr/>
              </p:nvSpPr>
              <p:spPr bwMode="auto">
                <a:xfrm>
                  <a:off x="2073" y="3048"/>
                  <a:ext cx="238" cy="496"/>
                </a:xfrm>
                <a:custGeom>
                  <a:avLst/>
                  <a:gdLst>
                    <a:gd name="T0" fmla="*/ 186 w 238"/>
                    <a:gd name="T1" fmla="*/ 0 h 496"/>
                    <a:gd name="T2" fmla="*/ 195 w 238"/>
                    <a:gd name="T3" fmla="*/ 3 h 496"/>
                    <a:gd name="T4" fmla="*/ 204 w 238"/>
                    <a:gd name="T5" fmla="*/ 4 h 496"/>
                    <a:gd name="T6" fmla="*/ 212 w 238"/>
                    <a:gd name="T7" fmla="*/ 9 h 496"/>
                    <a:gd name="T8" fmla="*/ 224 w 238"/>
                    <a:gd name="T9" fmla="*/ 13 h 496"/>
                    <a:gd name="T10" fmla="*/ 230 w 238"/>
                    <a:gd name="T11" fmla="*/ 24 h 496"/>
                    <a:gd name="T12" fmla="*/ 237 w 238"/>
                    <a:gd name="T13" fmla="*/ 34 h 496"/>
                    <a:gd name="T14" fmla="*/ 237 w 238"/>
                    <a:gd name="T15" fmla="*/ 226 h 496"/>
                    <a:gd name="T16" fmla="*/ 234 w 238"/>
                    <a:gd name="T17" fmla="*/ 232 h 496"/>
                    <a:gd name="T18" fmla="*/ 230 w 238"/>
                    <a:gd name="T19" fmla="*/ 239 h 496"/>
                    <a:gd name="T20" fmla="*/ 221 w 238"/>
                    <a:gd name="T21" fmla="*/ 242 h 496"/>
                    <a:gd name="T22" fmla="*/ 212 w 238"/>
                    <a:gd name="T23" fmla="*/ 244 h 496"/>
                    <a:gd name="T24" fmla="*/ 204 w 238"/>
                    <a:gd name="T25" fmla="*/ 242 h 496"/>
                    <a:gd name="T26" fmla="*/ 200 w 238"/>
                    <a:gd name="T27" fmla="*/ 235 h 496"/>
                    <a:gd name="T28" fmla="*/ 195 w 238"/>
                    <a:gd name="T29" fmla="*/ 230 h 496"/>
                    <a:gd name="T30" fmla="*/ 195 w 238"/>
                    <a:gd name="T31" fmla="*/ 84 h 496"/>
                    <a:gd name="T32" fmla="*/ 182 w 238"/>
                    <a:gd name="T33" fmla="*/ 471 h 496"/>
                    <a:gd name="T34" fmla="*/ 177 w 238"/>
                    <a:gd name="T35" fmla="*/ 483 h 496"/>
                    <a:gd name="T36" fmla="*/ 170 w 238"/>
                    <a:gd name="T37" fmla="*/ 491 h 496"/>
                    <a:gd name="T38" fmla="*/ 161 w 238"/>
                    <a:gd name="T39" fmla="*/ 495 h 496"/>
                    <a:gd name="T40" fmla="*/ 152 w 238"/>
                    <a:gd name="T41" fmla="*/ 495 h 496"/>
                    <a:gd name="T42" fmla="*/ 140 w 238"/>
                    <a:gd name="T43" fmla="*/ 492 h 496"/>
                    <a:gd name="T44" fmla="*/ 132 w 238"/>
                    <a:gd name="T45" fmla="*/ 486 h 496"/>
                    <a:gd name="T46" fmla="*/ 128 w 238"/>
                    <a:gd name="T47" fmla="*/ 479 h 496"/>
                    <a:gd name="T48" fmla="*/ 126 w 238"/>
                    <a:gd name="T49" fmla="*/ 470 h 496"/>
                    <a:gd name="T50" fmla="*/ 111 w 238"/>
                    <a:gd name="T51" fmla="*/ 470 h 496"/>
                    <a:gd name="T52" fmla="*/ 107 w 238"/>
                    <a:gd name="T53" fmla="*/ 479 h 496"/>
                    <a:gd name="T54" fmla="*/ 101 w 238"/>
                    <a:gd name="T55" fmla="*/ 491 h 496"/>
                    <a:gd name="T56" fmla="*/ 89 w 238"/>
                    <a:gd name="T57" fmla="*/ 495 h 496"/>
                    <a:gd name="T58" fmla="*/ 77 w 238"/>
                    <a:gd name="T59" fmla="*/ 495 h 496"/>
                    <a:gd name="T60" fmla="*/ 69 w 238"/>
                    <a:gd name="T61" fmla="*/ 491 h 496"/>
                    <a:gd name="T62" fmla="*/ 60 w 238"/>
                    <a:gd name="T63" fmla="*/ 486 h 496"/>
                    <a:gd name="T64" fmla="*/ 56 w 238"/>
                    <a:gd name="T65" fmla="*/ 477 h 496"/>
                    <a:gd name="T66" fmla="*/ 56 w 238"/>
                    <a:gd name="T67" fmla="*/ 84 h 496"/>
                    <a:gd name="T68" fmla="*/ 42 w 238"/>
                    <a:gd name="T69" fmla="*/ 227 h 496"/>
                    <a:gd name="T70" fmla="*/ 38 w 238"/>
                    <a:gd name="T71" fmla="*/ 235 h 496"/>
                    <a:gd name="T72" fmla="*/ 33 w 238"/>
                    <a:gd name="T73" fmla="*/ 239 h 496"/>
                    <a:gd name="T74" fmla="*/ 26 w 238"/>
                    <a:gd name="T75" fmla="*/ 244 h 496"/>
                    <a:gd name="T76" fmla="*/ 17 w 238"/>
                    <a:gd name="T77" fmla="*/ 244 h 496"/>
                    <a:gd name="T78" fmla="*/ 9 w 238"/>
                    <a:gd name="T79" fmla="*/ 239 h 496"/>
                    <a:gd name="T80" fmla="*/ 5 w 238"/>
                    <a:gd name="T81" fmla="*/ 238 h 496"/>
                    <a:gd name="T82" fmla="*/ 0 w 238"/>
                    <a:gd name="T83" fmla="*/ 230 h 496"/>
                    <a:gd name="T84" fmla="*/ 0 w 238"/>
                    <a:gd name="T85" fmla="*/ 39 h 496"/>
                    <a:gd name="T86" fmla="*/ 5 w 238"/>
                    <a:gd name="T87" fmla="*/ 25 h 496"/>
                    <a:gd name="T88" fmla="*/ 14 w 238"/>
                    <a:gd name="T89" fmla="*/ 13 h 496"/>
                    <a:gd name="T90" fmla="*/ 30 w 238"/>
                    <a:gd name="T91" fmla="*/ 7 h 496"/>
                    <a:gd name="T92" fmla="*/ 44 w 238"/>
                    <a:gd name="T93" fmla="*/ 3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38" h="496">
                      <a:moveTo>
                        <a:pt x="56" y="0"/>
                      </a:moveTo>
                      <a:lnTo>
                        <a:pt x="182" y="0"/>
                      </a:lnTo>
                      <a:lnTo>
                        <a:pt x="186" y="0"/>
                      </a:lnTo>
                      <a:lnTo>
                        <a:pt x="188" y="0"/>
                      </a:lnTo>
                      <a:lnTo>
                        <a:pt x="191" y="0"/>
                      </a:lnTo>
                      <a:lnTo>
                        <a:pt x="195" y="3"/>
                      </a:lnTo>
                      <a:lnTo>
                        <a:pt x="198" y="3"/>
                      </a:lnTo>
                      <a:lnTo>
                        <a:pt x="200" y="3"/>
                      </a:lnTo>
                      <a:lnTo>
                        <a:pt x="204" y="4"/>
                      </a:lnTo>
                      <a:lnTo>
                        <a:pt x="207" y="4"/>
                      </a:lnTo>
                      <a:lnTo>
                        <a:pt x="209" y="7"/>
                      </a:lnTo>
                      <a:lnTo>
                        <a:pt x="212" y="9"/>
                      </a:lnTo>
                      <a:lnTo>
                        <a:pt x="216" y="9"/>
                      </a:lnTo>
                      <a:lnTo>
                        <a:pt x="219" y="12"/>
                      </a:lnTo>
                      <a:lnTo>
                        <a:pt x="224" y="13"/>
                      </a:lnTo>
                      <a:lnTo>
                        <a:pt x="225" y="18"/>
                      </a:lnTo>
                      <a:lnTo>
                        <a:pt x="228" y="21"/>
                      </a:lnTo>
                      <a:lnTo>
                        <a:pt x="230" y="24"/>
                      </a:lnTo>
                      <a:lnTo>
                        <a:pt x="234" y="28"/>
                      </a:lnTo>
                      <a:lnTo>
                        <a:pt x="234" y="30"/>
                      </a:lnTo>
                      <a:lnTo>
                        <a:pt x="237" y="34"/>
                      </a:lnTo>
                      <a:lnTo>
                        <a:pt x="237" y="39"/>
                      </a:lnTo>
                      <a:lnTo>
                        <a:pt x="237" y="42"/>
                      </a:lnTo>
                      <a:lnTo>
                        <a:pt x="237" y="226"/>
                      </a:lnTo>
                      <a:lnTo>
                        <a:pt x="237" y="227"/>
                      </a:lnTo>
                      <a:lnTo>
                        <a:pt x="234" y="230"/>
                      </a:lnTo>
                      <a:lnTo>
                        <a:pt x="234" y="232"/>
                      </a:lnTo>
                      <a:lnTo>
                        <a:pt x="234" y="235"/>
                      </a:lnTo>
                      <a:lnTo>
                        <a:pt x="233" y="238"/>
                      </a:lnTo>
                      <a:lnTo>
                        <a:pt x="230" y="239"/>
                      </a:lnTo>
                      <a:lnTo>
                        <a:pt x="228" y="239"/>
                      </a:lnTo>
                      <a:lnTo>
                        <a:pt x="224" y="242"/>
                      </a:lnTo>
                      <a:lnTo>
                        <a:pt x="221" y="242"/>
                      </a:lnTo>
                      <a:lnTo>
                        <a:pt x="219" y="244"/>
                      </a:lnTo>
                      <a:lnTo>
                        <a:pt x="216" y="244"/>
                      </a:lnTo>
                      <a:lnTo>
                        <a:pt x="212" y="244"/>
                      </a:lnTo>
                      <a:lnTo>
                        <a:pt x="209" y="242"/>
                      </a:lnTo>
                      <a:lnTo>
                        <a:pt x="207" y="242"/>
                      </a:lnTo>
                      <a:lnTo>
                        <a:pt x="204" y="242"/>
                      </a:lnTo>
                      <a:lnTo>
                        <a:pt x="203" y="239"/>
                      </a:lnTo>
                      <a:lnTo>
                        <a:pt x="200" y="238"/>
                      </a:lnTo>
                      <a:lnTo>
                        <a:pt x="200" y="235"/>
                      </a:lnTo>
                      <a:lnTo>
                        <a:pt x="198" y="235"/>
                      </a:lnTo>
                      <a:lnTo>
                        <a:pt x="195" y="232"/>
                      </a:lnTo>
                      <a:lnTo>
                        <a:pt x="195" y="230"/>
                      </a:lnTo>
                      <a:lnTo>
                        <a:pt x="195" y="227"/>
                      </a:lnTo>
                      <a:lnTo>
                        <a:pt x="195" y="226"/>
                      </a:lnTo>
                      <a:lnTo>
                        <a:pt x="195" y="84"/>
                      </a:lnTo>
                      <a:lnTo>
                        <a:pt x="182" y="84"/>
                      </a:lnTo>
                      <a:lnTo>
                        <a:pt x="182" y="467"/>
                      </a:lnTo>
                      <a:lnTo>
                        <a:pt x="182" y="471"/>
                      </a:lnTo>
                      <a:lnTo>
                        <a:pt x="182" y="474"/>
                      </a:lnTo>
                      <a:lnTo>
                        <a:pt x="179" y="479"/>
                      </a:lnTo>
                      <a:lnTo>
                        <a:pt x="177" y="483"/>
                      </a:lnTo>
                      <a:lnTo>
                        <a:pt x="174" y="486"/>
                      </a:lnTo>
                      <a:lnTo>
                        <a:pt x="173" y="488"/>
                      </a:lnTo>
                      <a:lnTo>
                        <a:pt x="170" y="491"/>
                      </a:lnTo>
                      <a:lnTo>
                        <a:pt x="165" y="492"/>
                      </a:lnTo>
                      <a:lnTo>
                        <a:pt x="162" y="492"/>
                      </a:lnTo>
                      <a:lnTo>
                        <a:pt x="161" y="495"/>
                      </a:lnTo>
                      <a:lnTo>
                        <a:pt x="156" y="495"/>
                      </a:lnTo>
                      <a:lnTo>
                        <a:pt x="153" y="495"/>
                      </a:lnTo>
                      <a:lnTo>
                        <a:pt x="152" y="495"/>
                      </a:lnTo>
                      <a:lnTo>
                        <a:pt x="147" y="495"/>
                      </a:lnTo>
                      <a:lnTo>
                        <a:pt x="144" y="492"/>
                      </a:lnTo>
                      <a:lnTo>
                        <a:pt x="140" y="492"/>
                      </a:lnTo>
                      <a:lnTo>
                        <a:pt x="137" y="491"/>
                      </a:lnTo>
                      <a:lnTo>
                        <a:pt x="135" y="488"/>
                      </a:lnTo>
                      <a:lnTo>
                        <a:pt x="132" y="486"/>
                      </a:lnTo>
                      <a:lnTo>
                        <a:pt x="131" y="483"/>
                      </a:lnTo>
                      <a:lnTo>
                        <a:pt x="128" y="482"/>
                      </a:lnTo>
                      <a:lnTo>
                        <a:pt x="128" y="479"/>
                      </a:lnTo>
                      <a:lnTo>
                        <a:pt x="126" y="477"/>
                      </a:lnTo>
                      <a:lnTo>
                        <a:pt x="126" y="474"/>
                      </a:lnTo>
                      <a:lnTo>
                        <a:pt x="126" y="470"/>
                      </a:lnTo>
                      <a:lnTo>
                        <a:pt x="126" y="238"/>
                      </a:lnTo>
                      <a:lnTo>
                        <a:pt x="111" y="238"/>
                      </a:lnTo>
                      <a:lnTo>
                        <a:pt x="111" y="470"/>
                      </a:lnTo>
                      <a:lnTo>
                        <a:pt x="111" y="471"/>
                      </a:lnTo>
                      <a:lnTo>
                        <a:pt x="110" y="477"/>
                      </a:lnTo>
                      <a:lnTo>
                        <a:pt x="107" y="479"/>
                      </a:lnTo>
                      <a:lnTo>
                        <a:pt x="107" y="483"/>
                      </a:lnTo>
                      <a:lnTo>
                        <a:pt x="105" y="486"/>
                      </a:lnTo>
                      <a:lnTo>
                        <a:pt x="101" y="491"/>
                      </a:lnTo>
                      <a:lnTo>
                        <a:pt x="98" y="491"/>
                      </a:lnTo>
                      <a:lnTo>
                        <a:pt x="93" y="492"/>
                      </a:lnTo>
                      <a:lnTo>
                        <a:pt x="89" y="495"/>
                      </a:lnTo>
                      <a:lnTo>
                        <a:pt x="86" y="495"/>
                      </a:lnTo>
                      <a:lnTo>
                        <a:pt x="81" y="495"/>
                      </a:lnTo>
                      <a:lnTo>
                        <a:pt x="77" y="495"/>
                      </a:lnTo>
                      <a:lnTo>
                        <a:pt x="75" y="495"/>
                      </a:lnTo>
                      <a:lnTo>
                        <a:pt x="72" y="492"/>
                      </a:lnTo>
                      <a:lnTo>
                        <a:pt x="69" y="491"/>
                      </a:lnTo>
                      <a:lnTo>
                        <a:pt x="65" y="491"/>
                      </a:lnTo>
                      <a:lnTo>
                        <a:pt x="63" y="486"/>
                      </a:lnTo>
                      <a:lnTo>
                        <a:pt x="60" y="486"/>
                      </a:lnTo>
                      <a:lnTo>
                        <a:pt x="59" y="482"/>
                      </a:lnTo>
                      <a:lnTo>
                        <a:pt x="59" y="479"/>
                      </a:lnTo>
                      <a:lnTo>
                        <a:pt x="56" y="477"/>
                      </a:lnTo>
                      <a:lnTo>
                        <a:pt x="56" y="474"/>
                      </a:lnTo>
                      <a:lnTo>
                        <a:pt x="56" y="470"/>
                      </a:lnTo>
                      <a:lnTo>
                        <a:pt x="56" y="84"/>
                      </a:lnTo>
                      <a:lnTo>
                        <a:pt x="42" y="84"/>
                      </a:lnTo>
                      <a:lnTo>
                        <a:pt x="42" y="226"/>
                      </a:lnTo>
                      <a:lnTo>
                        <a:pt x="42" y="227"/>
                      </a:lnTo>
                      <a:lnTo>
                        <a:pt x="39" y="230"/>
                      </a:lnTo>
                      <a:lnTo>
                        <a:pt x="39" y="232"/>
                      </a:lnTo>
                      <a:lnTo>
                        <a:pt x="38" y="235"/>
                      </a:lnTo>
                      <a:lnTo>
                        <a:pt x="35" y="238"/>
                      </a:lnTo>
                      <a:lnTo>
                        <a:pt x="35" y="239"/>
                      </a:lnTo>
                      <a:lnTo>
                        <a:pt x="33" y="239"/>
                      </a:lnTo>
                      <a:lnTo>
                        <a:pt x="30" y="242"/>
                      </a:lnTo>
                      <a:lnTo>
                        <a:pt x="29" y="242"/>
                      </a:lnTo>
                      <a:lnTo>
                        <a:pt x="26" y="244"/>
                      </a:lnTo>
                      <a:lnTo>
                        <a:pt x="23" y="244"/>
                      </a:lnTo>
                      <a:lnTo>
                        <a:pt x="18" y="244"/>
                      </a:lnTo>
                      <a:lnTo>
                        <a:pt x="17" y="244"/>
                      </a:lnTo>
                      <a:lnTo>
                        <a:pt x="14" y="242"/>
                      </a:lnTo>
                      <a:lnTo>
                        <a:pt x="12" y="242"/>
                      </a:lnTo>
                      <a:lnTo>
                        <a:pt x="9" y="239"/>
                      </a:lnTo>
                      <a:lnTo>
                        <a:pt x="8" y="239"/>
                      </a:lnTo>
                      <a:lnTo>
                        <a:pt x="8" y="238"/>
                      </a:lnTo>
                      <a:lnTo>
                        <a:pt x="5" y="238"/>
                      </a:lnTo>
                      <a:lnTo>
                        <a:pt x="3" y="235"/>
                      </a:lnTo>
                      <a:lnTo>
                        <a:pt x="3" y="232"/>
                      </a:lnTo>
                      <a:lnTo>
                        <a:pt x="0" y="230"/>
                      </a:lnTo>
                      <a:lnTo>
                        <a:pt x="0" y="227"/>
                      </a:lnTo>
                      <a:lnTo>
                        <a:pt x="0" y="226"/>
                      </a:lnTo>
                      <a:lnTo>
                        <a:pt x="0" y="39"/>
                      </a:lnTo>
                      <a:lnTo>
                        <a:pt x="0" y="34"/>
                      </a:lnTo>
                      <a:lnTo>
                        <a:pt x="3" y="30"/>
                      </a:lnTo>
                      <a:lnTo>
                        <a:pt x="5" y="25"/>
                      </a:lnTo>
                      <a:lnTo>
                        <a:pt x="8" y="21"/>
                      </a:lnTo>
                      <a:lnTo>
                        <a:pt x="12" y="18"/>
                      </a:lnTo>
                      <a:lnTo>
                        <a:pt x="14" y="13"/>
                      </a:lnTo>
                      <a:lnTo>
                        <a:pt x="18" y="12"/>
                      </a:lnTo>
                      <a:lnTo>
                        <a:pt x="26" y="9"/>
                      </a:lnTo>
                      <a:lnTo>
                        <a:pt x="30" y="7"/>
                      </a:lnTo>
                      <a:lnTo>
                        <a:pt x="33" y="4"/>
                      </a:lnTo>
                      <a:lnTo>
                        <a:pt x="39" y="3"/>
                      </a:lnTo>
                      <a:lnTo>
                        <a:pt x="44" y="3"/>
                      </a:lnTo>
                      <a:lnTo>
                        <a:pt x="51" y="0"/>
                      </a:lnTo>
                      <a:lnTo>
                        <a:pt x="56" y="0"/>
                      </a:lnTo>
                    </a:path>
                  </a:pathLst>
                </a:custGeom>
                <a:gradFill rotWithShape="0">
                  <a:gsLst>
                    <a:gs pos="0">
                      <a:srgbClr val="F95AB7">
                        <a:gamma/>
                        <a:tint val="52549"/>
                        <a:invGamma/>
                      </a:srgbClr>
                    </a:gs>
                    <a:gs pos="100000">
                      <a:srgbClr val="F95AB7"/>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nvGrpSpPr>
              <p:cNvPr id="8" name="Group 13"/>
              <p:cNvGrpSpPr/>
              <p:nvPr/>
            </p:nvGrpSpPr>
            <p:grpSpPr bwMode="auto">
              <a:xfrm>
                <a:off x="1069" y="1987"/>
                <a:ext cx="216" cy="482"/>
                <a:chOff x="2326" y="3101"/>
                <a:chExt cx="281" cy="626"/>
              </a:xfrm>
            </p:grpSpPr>
            <p:sp>
              <p:nvSpPr>
                <p:cNvPr id="9" name="Oval 14"/>
                <p:cNvSpPr>
                  <a:spLocks noChangeArrowheads="1"/>
                </p:cNvSpPr>
                <p:nvPr/>
              </p:nvSpPr>
              <p:spPr bwMode="auto">
                <a:xfrm>
                  <a:off x="2418" y="3101"/>
                  <a:ext cx="95" cy="101"/>
                </a:xfrm>
                <a:prstGeom prst="ellipse">
                  <a:avLst/>
                </a:prstGeom>
                <a:gradFill rotWithShape="0">
                  <a:gsLst>
                    <a:gs pos="0">
                      <a:srgbClr val="FF9900">
                        <a:gamma/>
                        <a:tint val="54902"/>
                        <a:invGamma/>
                      </a:srgbClr>
                    </a:gs>
                    <a:gs pos="100000">
                      <a:srgbClr val="FF9900"/>
                    </a:gs>
                  </a:gsLst>
                  <a:path path="shape">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round/>
                    </a14:hiddenLine>
                  </a:ext>
                </a:extLst>
              </p:spPr>
              <p:txBody>
                <a:bodyPr wrap="none" anchor="ctr"/>
                <a:lstStyle/>
                <a:p>
                  <a:endParaRPr lang="zh-CN" altLang="en-US"/>
                </a:p>
              </p:txBody>
            </p:sp>
            <p:sp>
              <p:nvSpPr>
                <p:cNvPr id="10" name="Freeform 15"/>
                <p:cNvSpPr/>
                <p:nvPr/>
              </p:nvSpPr>
              <p:spPr bwMode="auto">
                <a:xfrm>
                  <a:off x="2326" y="3223"/>
                  <a:ext cx="281" cy="504"/>
                </a:xfrm>
                <a:custGeom>
                  <a:avLst/>
                  <a:gdLst>
                    <a:gd name="T0" fmla="*/ 208 w 281"/>
                    <a:gd name="T1" fmla="*/ 0 h 504"/>
                    <a:gd name="T2" fmla="*/ 217 w 281"/>
                    <a:gd name="T3" fmla="*/ 3 h 504"/>
                    <a:gd name="T4" fmla="*/ 228 w 281"/>
                    <a:gd name="T5" fmla="*/ 9 h 504"/>
                    <a:gd name="T6" fmla="*/ 232 w 281"/>
                    <a:gd name="T7" fmla="*/ 16 h 504"/>
                    <a:gd name="T8" fmla="*/ 237 w 281"/>
                    <a:gd name="T9" fmla="*/ 24 h 504"/>
                    <a:gd name="T10" fmla="*/ 241 w 281"/>
                    <a:gd name="T11" fmla="*/ 35 h 504"/>
                    <a:gd name="T12" fmla="*/ 280 w 281"/>
                    <a:gd name="T13" fmla="*/ 189 h 504"/>
                    <a:gd name="T14" fmla="*/ 280 w 281"/>
                    <a:gd name="T15" fmla="*/ 201 h 504"/>
                    <a:gd name="T16" fmla="*/ 276 w 281"/>
                    <a:gd name="T17" fmla="*/ 208 h 504"/>
                    <a:gd name="T18" fmla="*/ 268 w 281"/>
                    <a:gd name="T19" fmla="*/ 214 h 504"/>
                    <a:gd name="T20" fmla="*/ 258 w 281"/>
                    <a:gd name="T21" fmla="*/ 214 h 504"/>
                    <a:gd name="T22" fmla="*/ 252 w 281"/>
                    <a:gd name="T23" fmla="*/ 212 h 504"/>
                    <a:gd name="T24" fmla="*/ 244 w 281"/>
                    <a:gd name="T25" fmla="*/ 208 h 504"/>
                    <a:gd name="T26" fmla="*/ 240 w 281"/>
                    <a:gd name="T27" fmla="*/ 201 h 504"/>
                    <a:gd name="T28" fmla="*/ 253 w 281"/>
                    <a:gd name="T29" fmla="*/ 310 h 504"/>
                    <a:gd name="T30" fmla="*/ 202 w 281"/>
                    <a:gd name="T31" fmla="*/ 484 h 504"/>
                    <a:gd name="T32" fmla="*/ 198 w 281"/>
                    <a:gd name="T33" fmla="*/ 494 h 504"/>
                    <a:gd name="T34" fmla="*/ 190 w 281"/>
                    <a:gd name="T35" fmla="*/ 499 h 504"/>
                    <a:gd name="T36" fmla="*/ 184 w 281"/>
                    <a:gd name="T37" fmla="*/ 503 h 504"/>
                    <a:gd name="T38" fmla="*/ 174 w 281"/>
                    <a:gd name="T39" fmla="*/ 503 h 504"/>
                    <a:gd name="T40" fmla="*/ 166 w 281"/>
                    <a:gd name="T41" fmla="*/ 500 h 504"/>
                    <a:gd name="T42" fmla="*/ 159 w 281"/>
                    <a:gd name="T43" fmla="*/ 494 h 504"/>
                    <a:gd name="T44" fmla="*/ 154 w 281"/>
                    <a:gd name="T45" fmla="*/ 487 h 504"/>
                    <a:gd name="T46" fmla="*/ 153 w 281"/>
                    <a:gd name="T47" fmla="*/ 479 h 504"/>
                    <a:gd name="T48" fmla="*/ 127 w 281"/>
                    <a:gd name="T49" fmla="*/ 479 h 504"/>
                    <a:gd name="T50" fmla="*/ 126 w 281"/>
                    <a:gd name="T51" fmla="*/ 487 h 504"/>
                    <a:gd name="T52" fmla="*/ 121 w 281"/>
                    <a:gd name="T53" fmla="*/ 496 h 504"/>
                    <a:gd name="T54" fmla="*/ 114 w 281"/>
                    <a:gd name="T55" fmla="*/ 500 h 504"/>
                    <a:gd name="T56" fmla="*/ 106 w 281"/>
                    <a:gd name="T57" fmla="*/ 503 h 504"/>
                    <a:gd name="T58" fmla="*/ 96 w 281"/>
                    <a:gd name="T59" fmla="*/ 503 h 504"/>
                    <a:gd name="T60" fmla="*/ 90 w 281"/>
                    <a:gd name="T61" fmla="*/ 499 h 504"/>
                    <a:gd name="T62" fmla="*/ 82 w 281"/>
                    <a:gd name="T63" fmla="*/ 494 h 504"/>
                    <a:gd name="T64" fmla="*/ 78 w 281"/>
                    <a:gd name="T65" fmla="*/ 484 h 504"/>
                    <a:gd name="T66" fmla="*/ 78 w 281"/>
                    <a:gd name="T67" fmla="*/ 313 h 504"/>
                    <a:gd name="T68" fmla="*/ 78 w 281"/>
                    <a:gd name="T69" fmla="*/ 71 h 504"/>
                    <a:gd name="T70" fmla="*/ 39 w 281"/>
                    <a:gd name="T71" fmla="*/ 209 h 504"/>
                    <a:gd name="T72" fmla="*/ 31 w 281"/>
                    <a:gd name="T73" fmla="*/ 217 h 504"/>
                    <a:gd name="T74" fmla="*/ 22 w 281"/>
                    <a:gd name="T75" fmla="*/ 220 h 504"/>
                    <a:gd name="T76" fmla="*/ 15 w 281"/>
                    <a:gd name="T77" fmla="*/ 220 h 504"/>
                    <a:gd name="T78" fmla="*/ 4 w 281"/>
                    <a:gd name="T79" fmla="*/ 212 h 504"/>
                    <a:gd name="T80" fmla="*/ 0 w 281"/>
                    <a:gd name="T81" fmla="*/ 202 h 504"/>
                    <a:gd name="T82" fmla="*/ 0 w 281"/>
                    <a:gd name="T83" fmla="*/ 196 h 504"/>
                    <a:gd name="T84" fmla="*/ 40 w 281"/>
                    <a:gd name="T85" fmla="*/ 38 h 504"/>
                    <a:gd name="T86" fmla="*/ 43 w 281"/>
                    <a:gd name="T87" fmla="*/ 28 h 504"/>
                    <a:gd name="T88" fmla="*/ 46 w 281"/>
                    <a:gd name="T89" fmla="*/ 19 h 504"/>
                    <a:gd name="T90" fmla="*/ 52 w 281"/>
                    <a:gd name="T91" fmla="*/ 12 h 504"/>
                    <a:gd name="T92" fmla="*/ 60 w 281"/>
                    <a:gd name="T93" fmla="*/ 4 h 504"/>
                    <a:gd name="T94" fmla="*/ 72 w 281"/>
                    <a:gd name="T95" fmla="*/ 0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1" h="504">
                      <a:moveTo>
                        <a:pt x="78" y="0"/>
                      </a:moveTo>
                      <a:lnTo>
                        <a:pt x="205" y="0"/>
                      </a:lnTo>
                      <a:lnTo>
                        <a:pt x="208" y="0"/>
                      </a:lnTo>
                      <a:lnTo>
                        <a:pt x="210" y="0"/>
                      </a:lnTo>
                      <a:lnTo>
                        <a:pt x="214" y="3"/>
                      </a:lnTo>
                      <a:lnTo>
                        <a:pt x="217" y="3"/>
                      </a:lnTo>
                      <a:lnTo>
                        <a:pt x="220" y="4"/>
                      </a:lnTo>
                      <a:lnTo>
                        <a:pt x="222" y="7"/>
                      </a:lnTo>
                      <a:lnTo>
                        <a:pt x="228" y="9"/>
                      </a:lnTo>
                      <a:lnTo>
                        <a:pt x="229" y="12"/>
                      </a:lnTo>
                      <a:lnTo>
                        <a:pt x="229" y="15"/>
                      </a:lnTo>
                      <a:lnTo>
                        <a:pt x="232" y="16"/>
                      </a:lnTo>
                      <a:lnTo>
                        <a:pt x="234" y="19"/>
                      </a:lnTo>
                      <a:lnTo>
                        <a:pt x="237" y="22"/>
                      </a:lnTo>
                      <a:lnTo>
                        <a:pt x="237" y="24"/>
                      </a:lnTo>
                      <a:lnTo>
                        <a:pt x="240" y="27"/>
                      </a:lnTo>
                      <a:lnTo>
                        <a:pt x="240" y="31"/>
                      </a:lnTo>
                      <a:lnTo>
                        <a:pt x="241" y="35"/>
                      </a:lnTo>
                      <a:lnTo>
                        <a:pt x="241" y="38"/>
                      </a:lnTo>
                      <a:lnTo>
                        <a:pt x="241" y="43"/>
                      </a:lnTo>
                      <a:lnTo>
                        <a:pt x="280" y="189"/>
                      </a:lnTo>
                      <a:lnTo>
                        <a:pt x="280" y="193"/>
                      </a:lnTo>
                      <a:lnTo>
                        <a:pt x="280" y="196"/>
                      </a:lnTo>
                      <a:lnTo>
                        <a:pt x="280" y="201"/>
                      </a:lnTo>
                      <a:lnTo>
                        <a:pt x="280" y="202"/>
                      </a:lnTo>
                      <a:lnTo>
                        <a:pt x="277" y="205"/>
                      </a:lnTo>
                      <a:lnTo>
                        <a:pt x="276" y="208"/>
                      </a:lnTo>
                      <a:lnTo>
                        <a:pt x="273" y="209"/>
                      </a:lnTo>
                      <a:lnTo>
                        <a:pt x="271" y="212"/>
                      </a:lnTo>
                      <a:lnTo>
                        <a:pt x="268" y="214"/>
                      </a:lnTo>
                      <a:lnTo>
                        <a:pt x="265" y="214"/>
                      </a:lnTo>
                      <a:lnTo>
                        <a:pt x="261" y="214"/>
                      </a:lnTo>
                      <a:lnTo>
                        <a:pt x="258" y="214"/>
                      </a:lnTo>
                      <a:lnTo>
                        <a:pt x="256" y="214"/>
                      </a:lnTo>
                      <a:lnTo>
                        <a:pt x="253" y="214"/>
                      </a:lnTo>
                      <a:lnTo>
                        <a:pt x="252" y="212"/>
                      </a:lnTo>
                      <a:lnTo>
                        <a:pt x="249" y="212"/>
                      </a:lnTo>
                      <a:lnTo>
                        <a:pt x="246" y="209"/>
                      </a:lnTo>
                      <a:lnTo>
                        <a:pt x="244" y="208"/>
                      </a:lnTo>
                      <a:lnTo>
                        <a:pt x="241" y="205"/>
                      </a:lnTo>
                      <a:lnTo>
                        <a:pt x="241" y="202"/>
                      </a:lnTo>
                      <a:lnTo>
                        <a:pt x="240" y="201"/>
                      </a:lnTo>
                      <a:lnTo>
                        <a:pt x="202" y="71"/>
                      </a:lnTo>
                      <a:lnTo>
                        <a:pt x="190" y="71"/>
                      </a:lnTo>
                      <a:lnTo>
                        <a:pt x="253" y="310"/>
                      </a:lnTo>
                      <a:lnTo>
                        <a:pt x="202" y="310"/>
                      </a:lnTo>
                      <a:lnTo>
                        <a:pt x="202" y="479"/>
                      </a:lnTo>
                      <a:lnTo>
                        <a:pt x="202" y="484"/>
                      </a:lnTo>
                      <a:lnTo>
                        <a:pt x="202" y="487"/>
                      </a:lnTo>
                      <a:lnTo>
                        <a:pt x="201" y="488"/>
                      </a:lnTo>
                      <a:lnTo>
                        <a:pt x="198" y="494"/>
                      </a:lnTo>
                      <a:lnTo>
                        <a:pt x="196" y="496"/>
                      </a:lnTo>
                      <a:lnTo>
                        <a:pt x="196" y="499"/>
                      </a:lnTo>
                      <a:lnTo>
                        <a:pt x="190" y="499"/>
                      </a:lnTo>
                      <a:lnTo>
                        <a:pt x="189" y="500"/>
                      </a:lnTo>
                      <a:lnTo>
                        <a:pt x="186" y="503"/>
                      </a:lnTo>
                      <a:lnTo>
                        <a:pt x="184" y="503"/>
                      </a:lnTo>
                      <a:lnTo>
                        <a:pt x="181" y="503"/>
                      </a:lnTo>
                      <a:lnTo>
                        <a:pt x="178" y="503"/>
                      </a:lnTo>
                      <a:lnTo>
                        <a:pt x="174" y="503"/>
                      </a:lnTo>
                      <a:lnTo>
                        <a:pt x="171" y="503"/>
                      </a:lnTo>
                      <a:lnTo>
                        <a:pt x="169" y="500"/>
                      </a:lnTo>
                      <a:lnTo>
                        <a:pt x="166" y="500"/>
                      </a:lnTo>
                      <a:lnTo>
                        <a:pt x="165" y="499"/>
                      </a:lnTo>
                      <a:lnTo>
                        <a:pt x="162" y="496"/>
                      </a:lnTo>
                      <a:lnTo>
                        <a:pt x="159" y="494"/>
                      </a:lnTo>
                      <a:lnTo>
                        <a:pt x="157" y="494"/>
                      </a:lnTo>
                      <a:lnTo>
                        <a:pt x="157" y="488"/>
                      </a:lnTo>
                      <a:lnTo>
                        <a:pt x="154" y="487"/>
                      </a:lnTo>
                      <a:lnTo>
                        <a:pt x="154" y="484"/>
                      </a:lnTo>
                      <a:lnTo>
                        <a:pt x="153" y="481"/>
                      </a:lnTo>
                      <a:lnTo>
                        <a:pt x="153" y="479"/>
                      </a:lnTo>
                      <a:lnTo>
                        <a:pt x="153" y="313"/>
                      </a:lnTo>
                      <a:lnTo>
                        <a:pt x="127" y="313"/>
                      </a:lnTo>
                      <a:lnTo>
                        <a:pt x="127" y="479"/>
                      </a:lnTo>
                      <a:lnTo>
                        <a:pt x="127" y="481"/>
                      </a:lnTo>
                      <a:lnTo>
                        <a:pt x="127" y="484"/>
                      </a:lnTo>
                      <a:lnTo>
                        <a:pt x="126" y="487"/>
                      </a:lnTo>
                      <a:lnTo>
                        <a:pt x="126" y="488"/>
                      </a:lnTo>
                      <a:lnTo>
                        <a:pt x="123" y="494"/>
                      </a:lnTo>
                      <a:lnTo>
                        <a:pt x="121" y="496"/>
                      </a:lnTo>
                      <a:lnTo>
                        <a:pt x="118" y="499"/>
                      </a:lnTo>
                      <a:lnTo>
                        <a:pt x="115" y="499"/>
                      </a:lnTo>
                      <a:lnTo>
                        <a:pt x="114" y="500"/>
                      </a:lnTo>
                      <a:lnTo>
                        <a:pt x="111" y="503"/>
                      </a:lnTo>
                      <a:lnTo>
                        <a:pt x="109" y="503"/>
                      </a:lnTo>
                      <a:lnTo>
                        <a:pt x="106" y="503"/>
                      </a:lnTo>
                      <a:lnTo>
                        <a:pt x="102" y="503"/>
                      </a:lnTo>
                      <a:lnTo>
                        <a:pt x="99" y="503"/>
                      </a:lnTo>
                      <a:lnTo>
                        <a:pt x="96" y="503"/>
                      </a:lnTo>
                      <a:lnTo>
                        <a:pt x="94" y="500"/>
                      </a:lnTo>
                      <a:lnTo>
                        <a:pt x="91" y="500"/>
                      </a:lnTo>
                      <a:lnTo>
                        <a:pt x="90" y="499"/>
                      </a:lnTo>
                      <a:lnTo>
                        <a:pt x="87" y="499"/>
                      </a:lnTo>
                      <a:lnTo>
                        <a:pt x="84" y="496"/>
                      </a:lnTo>
                      <a:lnTo>
                        <a:pt x="82" y="494"/>
                      </a:lnTo>
                      <a:lnTo>
                        <a:pt x="79" y="491"/>
                      </a:lnTo>
                      <a:lnTo>
                        <a:pt x="79" y="488"/>
                      </a:lnTo>
                      <a:lnTo>
                        <a:pt x="78" y="484"/>
                      </a:lnTo>
                      <a:lnTo>
                        <a:pt x="78" y="481"/>
                      </a:lnTo>
                      <a:lnTo>
                        <a:pt x="78" y="479"/>
                      </a:lnTo>
                      <a:lnTo>
                        <a:pt x="78" y="313"/>
                      </a:lnTo>
                      <a:lnTo>
                        <a:pt x="28" y="313"/>
                      </a:lnTo>
                      <a:lnTo>
                        <a:pt x="90" y="71"/>
                      </a:lnTo>
                      <a:lnTo>
                        <a:pt x="78" y="71"/>
                      </a:lnTo>
                      <a:lnTo>
                        <a:pt x="40" y="202"/>
                      </a:lnTo>
                      <a:lnTo>
                        <a:pt x="39" y="205"/>
                      </a:lnTo>
                      <a:lnTo>
                        <a:pt x="39" y="209"/>
                      </a:lnTo>
                      <a:lnTo>
                        <a:pt x="36" y="212"/>
                      </a:lnTo>
                      <a:lnTo>
                        <a:pt x="34" y="214"/>
                      </a:lnTo>
                      <a:lnTo>
                        <a:pt x="31" y="217"/>
                      </a:lnTo>
                      <a:lnTo>
                        <a:pt x="28" y="217"/>
                      </a:lnTo>
                      <a:lnTo>
                        <a:pt x="27" y="220"/>
                      </a:lnTo>
                      <a:lnTo>
                        <a:pt x="22" y="220"/>
                      </a:lnTo>
                      <a:lnTo>
                        <a:pt x="19" y="220"/>
                      </a:lnTo>
                      <a:lnTo>
                        <a:pt x="16" y="220"/>
                      </a:lnTo>
                      <a:lnTo>
                        <a:pt x="15" y="220"/>
                      </a:lnTo>
                      <a:lnTo>
                        <a:pt x="9" y="217"/>
                      </a:lnTo>
                      <a:lnTo>
                        <a:pt x="7" y="214"/>
                      </a:lnTo>
                      <a:lnTo>
                        <a:pt x="4" y="212"/>
                      </a:lnTo>
                      <a:lnTo>
                        <a:pt x="3" y="208"/>
                      </a:lnTo>
                      <a:lnTo>
                        <a:pt x="0" y="205"/>
                      </a:lnTo>
                      <a:lnTo>
                        <a:pt x="0" y="202"/>
                      </a:lnTo>
                      <a:lnTo>
                        <a:pt x="0" y="201"/>
                      </a:lnTo>
                      <a:lnTo>
                        <a:pt x="0" y="198"/>
                      </a:lnTo>
                      <a:lnTo>
                        <a:pt x="0" y="196"/>
                      </a:lnTo>
                      <a:lnTo>
                        <a:pt x="0" y="193"/>
                      </a:lnTo>
                      <a:lnTo>
                        <a:pt x="39" y="40"/>
                      </a:lnTo>
                      <a:lnTo>
                        <a:pt x="40" y="38"/>
                      </a:lnTo>
                      <a:lnTo>
                        <a:pt x="40" y="34"/>
                      </a:lnTo>
                      <a:lnTo>
                        <a:pt x="40" y="31"/>
                      </a:lnTo>
                      <a:lnTo>
                        <a:pt x="43" y="28"/>
                      </a:lnTo>
                      <a:lnTo>
                        <a:pt x="43" y="27"/>
                      </a:lnTo>
                      <a:lnTo>
                        <a:pt x="43" y="24"/>
                      </a:lnTo>
                      <a:lnTo>
                        <a:pt x="46" y="19"/>
                      </a:lnTo>
                      <a:lnTo>
                        <a:pt x="48" y="16"/>
                      </a:lnTo>
                      <a:lnTo>
                        <a:pt x="51" y="15"/>
                      </a:lnTo>
                      <a:lnTo>
                        <a:pt x="52" y="12"/>
                      </a:lnTo>
                      <a:lnTo>
                        <a:pt x="55" y="9"/>
                      </a:lnTo>
                      <a:lnTo>
                        <a:pt x="58" y="7"/>
                      </a:lnTo>
                      <a:lnTo>
                        <a:pt x="60" y="4"/>
                      </a:lnTo>
                      <a:lnTo>
                        <a:pt x="63" y="3"/>
                      </a:lnTo>
                      <a:lnTo>
                        <a:pt x="67" y="3"/>
                      </a:lnTo>
                      <a:lnTo>
                        <a:pt x="72" y="0"/>
                      </a:lnTo>
                      <a:lnTo>
                        <a:pt x="78" y="0"/>
                      </a:lnTo>
                    </a:path>
                  </a:pathLst>
                </a:custGeom>
                <a:gradFill rotWithShape="0">
                  <a:gsLst>
                    <a:gs pos="0">
                      <a:srgbClr val="FF9900">
                        <a:gamma/>
                        <a:tint val="54902"/>
                        <a:invGamma/>
                      </a:srgbClr>
                    </a:gs>
                    <a:gs pos="100000">
                      <a:srgbClr val="FF9900"/>
                    </a:gs>
                  </a:gsLst>
                  <a:path path="rect">
                    <a:fillToRect l="50000" t="50000" r="50000" b="50000"/>
                  </a:path>
                </a:gradFill>
                <a:ln>
                  <a:noFill/>
                </a:ln>
                <a:effectLst>
                  <a:outerShdw dist="35921" dir="2700000" algn="ctr" rotWithShape="0">
                    <a:srgbClr val="808080"/>
                  </a:outerShdw>
                </a:effectLst>
                <a:extLst>
                  <a:ext uri="{91240B29-F687-4F45-9708-019B960494DF}">
                    <a14:hiddenLine xmlns:a14="http://schemas.microsoft.com/office/drawing/2010/main" w="12700">
                      <a:solidFill>
                        <a:schemeClr val="tx1"/>
                      </a:solidFill>
                      <a:prstDash val="solid"/>
                      <a:round/>
                      <a:headEnd type="none" w="med" len="med"/>
                      <a:tailEnd type="none" w="med" len="med"/>
                    </a14:hiddenLine>
                  </a:ext>
                </a:extLst>
              </p:spPr>
              <p:txBody>
                <a:bodyPr/>
                <a:lstStyle/>
                <a:p>
                  <a:endParaRPr lang="zh-CN" altLang="en-US"/>
                </a:p>
              </p:txBody>
            </p:sp>
          </p:grpSp>
        </p:grpSp>
      </p:grpSp>
    </p:spTree>
  </p:cSld>
  <p:clrMapOvr>
    <a:masterClrMapping/>
  </p:clrMapOvr>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pPr algn="ctr"/>
            <a:r>
              <a:rPr lang="zh-CN" altLang="en-US" sz="4400" b="1" dirty="0">
                <a:latin typeface="Times New Roman" panose="02020603050405020304" pitchFamily="18" charset="0"/>
                <a:ea typeface="隶书" panose="02010509060101010101" pitchFamily="49" charset="-122"/>
              </a:rPr>
              <a:t>本讲主要知识点</a:t>
            </a:r>
            <a:endParaRPr lang="zh-CN" altLang="en-US" sz="4400" b="1" dirty="0">
              <a:latin typeface="Times New Roman" panose="02020603050405020304" pitchFamily="18" charset="0"/>
              <a:ea typeface="隶书" panose="02010509060101010101" pitchFamily="49" charset="-122"/>
            </a:endParaRPr>
          </a:p>
        </p:txBody>
      </p:sp>
      <p:sp>
        <p:nvSpPr>
          <p:cNvPr id="64515"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4516" name="Rectangle 4"/>
          <p:cNvSpPr>
            <a:spLocks noChangeArrowheads="1"/>
          </p:cNvSpPr>
          <p:nvPr/>
        </p:nvSpPr>
        <p:spPr bwMode="auto">
          <a:xfrm>
            <a:off x="873124" y="1143983"/>
            <a:ext cx="8270875" cy="4752057"/>
          </a:xfrm>
          <a:prstGeom prst="rect">
            <a:avLst/>
          </a:prstGeom>
          <a:noFill/>
          <a:ln w="9525" algn="ctr">
            <a:noFill/>
            <a:miter lim="800000"/>
          </a:ln>
          <a:extLst>
            <a:ext uri="{909E8E84-426E-40DD-AFC4-6F175D3DCCD1}">
              <a14:hiddenFill xmlns:a14="http://schemas.microsoft.com/office/drawing/2010/main">
                <a:solidFill>
                  <a:srgbClr val="FFFFFF"/>
                </a:solidFill>
              </a14:hiddenFill>
            </a:ext>
          </a:extLst>
        </p:spPr>
        <p:txBody>
          <a:bodyPr lIns="0" rIns="0"/>
          <a:lstStyle>
            <a:lvl1pPr marL="552450" indent="-552450"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marL="0" indent="0" algn="l" eaLnBrk="1" hangingPunct="1">
              <a:spcBef>
                <a:spcPct val="20000"/>
              </a:spcBef>
              <a:spcAft>
                <a:spcPts val="600"/>
              </a:spcAft>
              <a:buClr>
                <a:schemeClr val="tx2"/>
              </a:buClr>
              <a:buSzPct val="70000"/>
            </a:pPr>
            <a:r>
              <a:rPr lang="zh-CN" altLang="en-US" sz="2800" dirty="0" smtClean="0">
                <a:solidFill>
                  <a:srgbClr val="FFFF00"/>
                </a:solidFill>
                <a:latin typeface="+mn-lt"/>
                <a:ea typeface="+mj-ea"/>
              </a:rPr>
              <a:t>主要内容</a:t>
            </a:r>
            <a:endParaRPr lang="en-US" altLang="zh-CN" sz="2800" dirty="0" smtClean="0">
              <a:solidFill>
                <a:srgbClr val="FFFF00"/>
              </a:solidFill>
              <a:latin typeface="+mn-lt"/>
              <a:ea typeface="+mj-ea"/>
            </a:endParaRPr>
          </a:p>
          <a:p>
            <a:pPr algn="l" eaLnBrk="1" hangingPunct="1">
              <a:spcBef>
                <a:spcPct val="20000"/>
              </a:spcBef>
              <a:spcAft>
                <a:spcPts val="600"/>
              </a:spcAft>
              <a:buClr>
                <a:schemeClr val="tx2"/>
              </a:buClr>
              <a:buSzPct val="70000"/>
              <a:buFont typeface="Wingdings" panose="05000000000000000000" pitchFamily="2" charset="2"/>
              <a:buAutoNum type="arabicPeriod"/>
            </a:pPr>
            <a:r>
              <a:rPr lang="zh-CN" altLang="en-US" sz="2800" dirty="0" smtClean="0">
                <a:latin typeface="+mn-lt"/>
                <a:ea typeface="+mj-ea"/>
              </a:rPr>
              <a:t>类</a:t>
            </a:r>
            <a:r>
              <a:rPr lang="zh-CN" altLang="en-US" sz="2800" dirty="0">
                <a:latin typeface="+mn-lt"/>
                <a:ea typeface="+mj-ea"/>
              </a:rPr>
              <a:t>的</a:t>
            </a:r>
            <a:r>
              <a:rPr lang="zh-CN" altLang="en-US" sz="2800" dirty="0" smtClean="0">
                <a:latin typeface="+mn-lt"/>
                <a:ea typeface="+mj-ea"/>
              </a:rPr>
              <a:t>继承</a:t>
            </a:r>
            <a:endParaRPr lang="en-US" altLang="zh-CN" sz="2800" dirty="0" smtClean="0">
              <a:latin typeface="+mn-lt"/>
              <a:ea typeface="+mj-ea"/>
            </a:endParaRPr>
          </a:p>
          <a:p>
            <a:pPr algn="l" eaLnBrk="1" hangingPunct="1">
              <a:spcBef>
                <a:spcPct val="20000"/>
              </a:spcBef>
              <a:spcAft>
                <a:spcPts val="600"/>
              </a:spcAft>
              <a:buClr>
                <a:schemeClr val="tx2"/>
              </a:buClr>
              <a:buSzPct val="70000"/>
              <a:buFont typeface="Wingdings" panose="05000000000000000000" pitchFamily="2" charset="2"/>
              <a:buAutoNum type="arabicPeriod"/>
            </a:pPr>
            <a:r>
              <a:rPr lang="zh-CN" altLang="en-US" sz="2800" dirty="0" smtClean="0">
                <a:latin typeface="+mn-lt"/>
                <a:ea typeface="+mj-ea"/>
              </a:rPr>
              <a:t>类</a:t>
            </a:r>
            <a:r>
              <a:rPr lang="zh-CN" altLang="en-US" sz="2800" dirty="0">
                <a:latin typeface="+mn-lt"/>
                <a:ea typeface="+mj-ea"/>
              </a:rPr>
              <a:t>成员的访问</a:t>
            </a:r>
            <a:r>
              <a:rPr lang="zh-CN" altLang="en-US" sz="2800" dirty="0" smtClean="0">
                <a:latin typeface="+mn-lt"/>
                <a:ea typeface="+mj-ea"/>
              </a:rPr>
              <a:t>控制</a:t>
            </a:r>
            <a:endParaRPr lang="en-US" altLang="zh-CN" sz="2800" dirty="0" smtClean="0">
              <a:latin typeface="+mn-lt"/>
              <a:ea typeface="+mj-ea"/>
            </a:endParaRPr>
          </a:p>
          <a:p>
            <a:pPr algn="l" eaLnBrk="1" hangingPunct="1">
              <a:spcBef>
                <a:spcPct val="20000"/>
              </a:spcBef>
              <a:spcAft>
                <a:spcPts val="600"/>
              </a:spcAft>
              <a:buClr>
                <a:schemeClr val="tx2"/>
              </a:buClr>
              <a:buSzPct val="70000"/>
              <a:buFont typeface="Wingdings" panose="05000000000000000000" pitchFamily="2" charset="2"/>
              <a:buAutoNum type="arabicPeriod"/>
            </a:pPr>
            <a:r>
              <a:rPr lang="zh-CN" altLang="en-US" sz="2800" dirty="0" smtClean="0">
                <a:latin typeface="+mn-lt"/>
                <a:ea typeface="+mj-ea"/>
              </a:rPr>
              <a:t>单继承</a:t>
            </a:r>
            <a:r>
              <a:rPr lang="zh-CN" altLang="en-US" sz="2800" dirty="0">
                <a:latin typeface="+mn-lt"/>
                <a:ea typeface="+mj-ea"/>
              </a:rPr>
              <a:t>与多</a:t>
            </a:r>
            <a:r>
              <a:rPr lang="zh-CN" altLang="en-US" sz="2800" dirty="0" smtClean="0">
                <a:latin typeface="+mn-lt"/>
                <a:ea typeface="+mj-ea"/>
              </a:rPr>
              <a:t>继承</a:t>
            </a:r>
            <a:endParaRPr lang="en-US" altLang="zh-CN" sz="2800" dirty="0" smtClean="0">
              <a:latin typeface="+mn-lt"/>
              <a:ea typeface="+mj-ea"/>
            </a:endParaRPr>
          </a:p>
          <a:p>
            <a:pPr algn="l" eaLnBrk="1" hangingPunct="1">
              <a:spcBef>
                <a:spcPct val="20000"/>
              </a:spcBef>
              <a:spcAft>
                <a:spcPts val="600"/>
              </a:spcAft>
              <a:buClr>
                <a:schemeClr val="tx2"/>
              </a:buClr>
              <a:buSzPct val="70000"/>
              <a:buFont typeface="Wingdings" panose="05000000000000000000" pitchFamily="2" charset="2"/>
              <a:buAutoNum type="arabicPeriod"/>
            </a:pPr>
            <a:r>
              <a:rPr lang="zh-CN" altLang="en-US" sz="2800" dirty="0" smtClean="0">
                <a:latin typeface="+mn-lt"/>
                <a:ea typeface="+mj-ea"/>
              </a:rPr>
              <a:t>派生</a:t>
            </a:r>
            <a:r>
              <a:rPr lang="zh-CN" altLang="en-US" sz="2800" dirty="0">
                <a:latin typeface="+mn-lt"/>
                <a:ea typeface="+mj-ea"/>
              </a:rPr>
              <a:t>类的构造和析构</a:t>
            </a:r>
            <a:r>
              <a:rPr lang="zh-CN" altLang="en-US" sz="2800" dirty="0" smtClean="0">
                <a:latin typeface="+mn-lt"/>
                <a:ea typeface="+mj-ea"/>
              </a:rPr>
              <a:t>函数</a:t>
            </a:r>
            <a:endParaRPr lang="en-US" altLang="zh-CN" sz="2800" dirty="0" smtClean="0">
              <a:latin typeface="+mn-lt"/>
              <a:ea typeface="+mj-ea"/>
            </a:endParaRPr>
          </a:p>
          <a:p>
            <a:pPr algn="l" eaLnBrk="1" hangingPunct="1">
              <a:spcBef>
                <a:spcPct val="20000"/>
              </a:spcBef>
              <a:spcAft>
                <a:spcPts val="600"/>
              </a:spcAft>
              <a:buClr>
                <a:schemeClr val="tx2"/>
              </a:buClr>
              <a:buSzPct val="70000"/>
              <a:buFont typeface="Wingdings" panose="05000000000000000000" pitchFamily="2" charset="2"/>
              <a:buAutoNum type="arabicPeriod"/>
            </a:pPr>
            <a:r>
              <a:rPr lang="zh-CN" altLang="en-US" sz="2800" dirty="0" smtClean="0">
                <a:latin typeface="+mn-lt"/>
                <a:ea typeface="+mj-ea"/>
              </a:rPr>
              <a:t>类</a:t>
            </a:r>
            <a:r>
              <a:rPr lang="zh-CN" altLang="en-US" sz="2800" dirty="0">
                <a:latin typeface="+mn-lt"/>
                <a:ea typeface="+mj-ea"/>
              </a:rPr>
              <a:t>成员的标识与访问</a:t>
            </a:r>
            <a:endParaRPr lang="zh-CN" altLang="en-US" sz="2800" dirty="0">
              <a:latin typeface="+mn-lt"/>
              <a:ea typeface="+mj-ea"/>
            </a:endParaRPr>
          </a:p>
          <a:p>
            <a:pPr marL="0" lvl="1" indent="0" algn="l" eaLnBrk="1" hangingPunct="1">
              <a:lnSpc>
                <a:spcPct val="150000"/>
              </a:lnSpc>
            </a:pPr>
            <a:r>
              <a:rPr lang="zh-CN" altLang="en-US" sz="2800" dirty="0" smtClean="0">
                <a:solidFill>
                  <a:srgbClr val="FFFF00"/>
                </a:solidFill>
                <a:latin typeface="+mn-lt"/>
                <a:ea typeface="+mj-ea"/>
              </a:rPr>
              <a:t>达到</a:t>
            </a:r>
            <a:r>
              <a:rPr lang="zh-CN" altLang="en-US" sz="2800" dirty="0">
                <a:solidFill>
                  <a:srgbClr val="FFFF00"/>
                </a:solidFill>
                <a:latin typeface="+mn-lt"/>
                <a:ea typeface="+mj-ea"/>
              </a:rPr>
              <a:t>的目标：理解类的继承关系，学会使用继承关系实现代码的重用。</a:t>
            </a:r>
            <a:endParaRPr lang="zh-CN" altLang="en-US" sz="2800" dirty="0">
              <a:solidFill>
                <a:srgbClr val="FFFF00"/>
              </a:solidFill>
              <a:latin typeface="+mn-lt"/>
              <a:ea typeface="+mj-ea"/>
            </a:endParaRPr>
          </a:p>
        </p:txBody>
      </p:sp>
      <p:sp>
        <p:nvSpPr>
          <p:cNvPr id="64517"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4518"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4519" name="Rectangle 7"/>
          <p:cNvSpPr>
            <a:spLocks noChangeArrowheads="1"/>
          </p:cNvSpPr>
          <p:nvPr/>
        </p:nvSpPr>
        <p:spPr bwMode="auto">
          <a:xfrm>
            <a:off x="0" y="26971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Tree>
  </p:cSld>
  <p:clrMapOvr>
    <a:masterClrMapping/>
  </p:clrMapOvr>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39" name="Rectangle 4"/>
          <p:cNvSpPr>
            <a:spLocks noChangeArrowheads="1"/>
          </p:cNvSpPr>
          <p:nvPr/>
        </p:nvSpPr>
        <p:spPr bwMode="auto">
          <a:xfrm>
            <a:off x="899592" y="1210469"/>
            <a:ext cx="7956550" cy="750888"/>
          </a:xfrm>
          <a:prstGeom prst="rect">
            <a:avLst/>
          </a:prstGeom>
          <a:noFill/>
          <a:ln w="9525" algn="ctr">
            <a:no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655955" indent="-476250" eaLnBrk="0" hangingPunct="0">
              <a:defRPr sz="2000" b="1">
                <a:solidFill>
                  <a:schemeClr val="tx1"/>
                </a:solidFill>
                <a:latin typeface="Times New Roman" panose="02020603050405020304" pitchFamily="18" charset="0"/>
                <a:ea typeface="华文楷体" panose="02010600040101010101" pitchFamily="2" charset="-122"/>
              </a:defRPr>
            </a:lvl2pPr>
            <a:lvl3pPr marL="1333500" indent="-4191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marL="179705" lvl="1" indent="0" algn="l" eaLnBrk="1" hangingPunct="1">
              <a:lnSpc>
                <a:spcPct val="100000"/>
              </a:lnSpc>
              <a:spcBef>
                <a:spcPct val="20000"/>
              </a:spcBef>
              <a:spcAft>
                <a:spcPct val="10000"/>
              </a:spcAft>
              <a:buSzPct val="70000"/>
            </a:pPr>
            <a:r>
              <a:rPr lang="zh-CN" altLang="en-US" sz="2400" dirty="0" smtClean="0">
                <a:solidFill>
                  <a:srgbClr val="FFFF00"/>
                </a:solidFill>
                <a:latin typeface="+mn-lt"/>
                <a:ea typeface="+mj-ea"/>
              </a:rPr>
              <a:t>作业：</a:t>
            </a:r>
            <a:endParaRPr lang="en-US" altLang="zh-CN" sz="2400" dirty="0" smtClean="0">
              <a:solidFill>
                <a:srgbClr val="FFFF00"/>
              </a:solidFill>
              <a:latin typeface="+mn-lt"/>
              <a:ea typeface="+mj-ea"/>
            </a:endParaRPr>
          </a:p>
          <a:p>
            <a:pPr marL="179705" lvl="1" indent="0" algn="l" eaLnBrk="1" hangingPunct="1">
              <a:lnSpc>
                <a:spcPct val="100000"/>
              </a:lnSpc>
              <a:spcBef>
                <a:spcPct val="20000"/>
              </a:spcBef>
              <a:spcAft>
                <a:spcPct val="10000"/>
              </a:spcAft>
              <a:buSzPct val="70000"/>
            </a:pPr>
            <a:r>
              <a:rPr lang="en-US" altLang="zh-CN" sz="2400" dirty="0" smtClean="0">
                <a:solidFill>
                  <a:srgbClr val="FFFF00"/>
                </a:solidFill>
                <a:latin typeface="+mn-lt"/>
                <a:ea typeface="+mj-ea"/>
              </a:rPr>
              <a:t>7-5</a:t>
            </a:r>
            <a:r>
              <a:rPr lang="zh-CN" altLang="en-US" sz="2400" dirty="0" smtClean="0">
                <a:solidFill>
                  <a:srgbClr val="FFFF00"/>
                </a:solidFill>
                <a:latin typeface="+mn-lt"/>
                <a:ea typeface="+mj-ea"/>
              </a:rPr>
              <a:t>、定义一个基类</a:t>
            </a:r>
            <a:r>
              <a:rPr lang="en-US" altLang="zh-CN" sz="2400" dirty="0" smtClean="0">
                <a:solidFill>
                  <a:srgbClr val="FFFF00"/>
                </a:solidFill>
                <a:latin typeface="+mn-lt"/>
                <a:ea typeface="+mj-ea"/>
              </a:rPr>
              <a:t>Shape</a:t>
            </a:r>
            <a:r>
              <a:rPr lang="zh-CN" altLang="en-US" sz="2400" dirty="0" smtClean="0">
                <a:solidFill>
                  <a:srgbClr val="FFFF00"/>
                </a:solidFill>
                <a:latin typeface="+mn-lt"/>
                <a:ea typeface="+mj-ea"/>
              </a:rPr>
              <a:t>，在此基础上派生出</a:t>
            </a:r>
            <a:r>
              <a:rPr lang="en-US" altLang="zh-CN" sz="2400" dirty="0" smtClean="0">
                <a:solidFill>
                  <a:srgbClr val="FFFF00"/>
                </a:solidFill>
                <a:latin typeface="+mn-lt"/>
                <a:ea typeface="+mj-ea"/>
              </a:rPr>
              <a:t>Rectangle</a:t>
            </a:r>
            <a:r>
              <a:rPr lang="zh-CN" altLang="en-US" sz="2400" dirty="0" smtClean="0">
                <a:solidFill>
                  <a:srgbClr val="FFFF00"/>
                </a:solidFill>
                <a:latin typeface="+mn-lt"/>
                <a:ea typeface="+mj-ea"/>
              </a:rPr>
              <a:t>和</a:t>
            </a:r>
            <a:r>
              <a:rPr lang="en-US" altLang="zh-CN" sz="2400" dirty="0" smtClean="0">
                <a:solidFill>
                  <a:srgbClr val="FFFF00"/>
                </a:solidFill>
                <a:latin typeface="+mn-lt"/>
                <a:ea typeface="+mj-ea"/>
              </a:rPr>
              <a:t>Circle</a:t>
            </a:r>
            <a:r>
              <a:rPr lang="zh-CN" altLang="en-US" sz="2400" dirty="0" smtClean="0">
                <a:solidFill>
                  <a:srgbClr val="FFFF00"/>
                </a:solidFill>
                <a:latin typeface="+mn-lt"/>
                <a:ea typeface="+mj-ea"/>
              </a:rPr>
              <a:t>，二者带有</a:t>
            </a:r>
            <a:r>
              <a:rPr lang="en-US" altLang="zh-CN" sz="2400" dirty="0" err="1" smtClean="0">
                <a:solidFill>
                  <a:srgbClr val="FFFF00"/>
                </a:solidFill>
                <a:latin typeface="+mn-lt"/>
                <a:ea typeface="+mj-ea"/>
              </a:rPr>
              <a:t>getArea</a:t>
            </a:r>
            <a:r>
              <a:rPr lang="en-US" altLang="zh-CN" sz="2400" dirty="0" smtClean="0">
                <a:solidFill>
                  <a:srgbClr val="FFFF00"/>
                </a:solidFill>
                <a:latin typeface="+mn-lt"/>
                <a:ea typeface="+mj-ea"/>
              </a:rPr>
              <a:t>()</a:t>
            </a:r>
            <a:r>
              <a:rPr lang="zh-CN" altLang="en-US" sz="2400" dirty="0" smtClean="0">
                <a:solidFill>
                  <a:srgbClr val="FFFF00"/>
                </a:solidFill>
                <a:latin typeface="+mn-lt"/>
                <a:ea typeface="+mj-ea"/>
              </a:rPr>
              <a:t>函数计算对象的面积。使用</a:t>
            </a:r>
            <a:r>
              <a:rPr lang="en-US" altLang="zh-CN" sz="2400" dirty="0" smtClean="0">
                <a:solidFill>
                  <a:srgbClr val="FFFF00"/>
                </a:solidFill>
                <a:latin typeface="+mn-lt"/>
                <a:ea typeface="+mj-ea"/>
              </a:rPr>
              <a:t>Rectangle</a:t>
            </a:r>
            <a:r>
              <a:rPr lang="zh-CN" altLang="en-US" sz="2400" dirty="0" smtClean="0">
                <a:solidFill>
                  <a:srgbClr val="FFFF00"/>
                </a:solidFill>
                <a:latin typeface="+mn-lt"/>
                <a:ea typeface="+mj-ea"/>
              </a:rPr>
              <a:t>类创建一个派生类</a:t>
            </a:r>
            <a:r>
              <a:rPr lang="en-US" altLang="zh-CN" sz="2400" dirty="0" smtClean="0">
                <a:solidFill>
                  <a:srgbClr val="FFFF00"/>
                </a:solidFill>
                <a:latin typeface="+mn-lt"/>
                <a:ea typeface="+mj-ea"/>
              </a:rPr>
              <a:t>Square()</a:t>
            </a:r>
            <a:r>
              <a:rPr lang="zh-CN" altLang="en-US" sz="2400" dirty="0" smtClean="0">
                <a:solidFill>
                  <a:srgbClr val="FFFF00"/>
                </a:solidFill>
                <a:latin typeface="+mn-lt"/>
                <a:ea typeface="+mj-ea"/>
              </a:rPr>
              <a:t>。</a:t>
            </a:r>
            <a:endParaRPr lang="en-US" altLang="zh-CN" sz="2400" dirty="0" smtClean="0">
              <a:solidFill>
                <a:srgbClr val="FFFF00"/>
              </a:solidFill>
              <a:latin typeface="+mn-lt"/>
              <a:ea typeface="+mj-ea"/>
            </a:endParaRPr>
          </a:p>
          <a:p>
            <a:pPr marL="179705" lvl="1" indent="0" algn="l" eaLnBrk="1" hangingPunct="1">
              <a:lnSpc>
                <a:spcPct val="100000"/>
              </a:lnSpc>
              <a:spcBef>
                <a:spcPct val="20000"/>
              </a:spcBef>
              <a:spcAft>
                <a:spcPct val="10000"/>
              </a:spcAft>
              <a:buSzPct val="70000"/>
            </a:pPr>
            <a:endParaRPr lang="en-US" altLang="zh-CN" sz="2400" dirty="0" smtClean="0">
              <a:solidFill>
                <a:srgbClr val="FFFF00"/>
              </a:solidFill>
              <a:latin typeface="+mn-lt"/>
              <a:ea typeface="+mj-ea"/>
            </a:endParaRPr>
          </a:p>
          <a:p>
            <a:pPr marL="179705" lvl="1" indent="0" algn="l" eaLnBrk="1" hangingPunct="1">
              <a:lnSpc>
                <a:spcPct val="100000"/>
              </a:lnSpc>
              <a:spcBef>
                <a:spcPct val="20000"/>
              </a:spcBef>
              <a:spcAft>
                <a:spcPct val="10000"/>
              </a:spcAft>
              <a:buSzPct val="70000"/>
            </a:pPr>
            <a:r>
              <a:rPr lang="en-US" altLang="zh-CN" sz="2400" dirty="0" smtClean="0">
                <a:solidFill>
                  <a:srgbClr val="FFFF00"/>
                </a:solidFill>
                <a:latin typeface="+mn-lt"/>
                <a:ea typeface="+mj-ea"/>
              </a:rPr>
              <a:t>7-11</a:t>
            </a:r>
            <a:r>
              <a:rPr lang="zh-CN" altLang="en-US" sz="2400" dirty="0" smtClean="0">
                <a:solidFill>
                  <a:srgbClr val="FFFF00"/>
                </a:solidFill>
                <a:latin typeface="+mn-lt"/>
                <a:ea typeface="+mj-ea"/>
              </a:rPr>
              <a:t>、定义一个基类</a:t>
            </a:r>
            <a:r>
              <a:rPr lang="en-US" altLang="zh-CN" sz="2400" dirty="0" err="1" smtClean="0">
                <a:solidFill>
                  <a:srgbClr val="FFFF00"/>
                </a:solidFill>
                <a:latin typeface="+mn-lt"/>
                <a:ea typeface="+mj-ea"/>
              </a:rPr>
              <a:t>BaseClass</a:t>
            </a:r>
            <a:r>
              <a:rPr lang="zh-CN" altLang="en-US" sz="2400" dirty="0" smtClean="0">
                <a:solidFill>
                  <a:srgbClr val="FFFF00"/>
                </a:solidFill>
                <a:latin typeface="+mn-lt"/>
                <a:ea typeface="+mj-ea"/>
              </a:rPr>
              <a:t>，从它派生出</a:t>
            </a:r>
            <a:r>
              <a:rPr lang="en-US" altLang="zh-CN" sz="2400" dirty="0" err="1" smtClean="0">
                <a:solidFill>
                  <a:srgbClr val="FFFF00"/>
                </a:solidFill>
                <a:latin typeface="+mn-lt"/>
                <a:ea typeface="+mj-ea"/>
              </a:rPr>
              <a:t>DerivedClass</a:t>
            </a:r>
            <a:r>
              <a:rPr lang="zh-CN" altLang="en-US" sz="2400" dirty="0" smtClean="0">
                <a:solidFill>
                  <a:srgbClr val="FFFF00"/>
                </a:solidFill>
                <a:latin typeface="+mn-lt"/>
                <a:ea typeface="+mj-ea"/>
              </a:rPr>
              <a:t>，</a:t>
            </a:r>
            <a:r>
              <a:rPr lang="en-US" altLang="zh-CN" sz="2400" dirty="0" err="1" smtClean="0">
                <a:solidFill>
                  <a:srgbClr val="FFFF00"/>
                </a:solidFill>
                <a:latin typeface="+mn-lt"/>
                <a:ea typeface="+mj-ea"/>
              </a:rPr>
              <a:t>BaseClass</a:t>
            </a:r>
            <a:r>
              <a:rPr lang="zh-CN" altLang="en-US" sz="2400" dirty="0" smtClean="0">
                <a:solidFill>
                  <a:srgbClr val="FFFF00"/>
                </a:solidFill>
                <a:latin typeface="+mn-lt"/>
                <a:ea typeface="+mj-ea"/>
              </a:rPr>
              <a:t>有成员函数</a:t>
            </a:r>
            <a:r>
              <a:rPr lang="en-US" altLang="zh-CN" sz="2400" dirty="0" smtClean="0">
                <a:solidFill>
                  <a:srgbClr val="FFFF00"/>
                </a:solidFill>
                <a:latin typeface="+mn-lt"/>
                <a:ea typeface="+mj-ea"/>
              </a:rPr>
              <a:t>fn1()</a:t>
            </a:r>
            <a:r>
              <a:rPr lang="zh-CN" altLang="en-US" sz="2400" dirty="0" smtClean="0">
                <a:solidFill>
                  <a:srgbClr val="FFFF00"/>
                </a:solidFill>
                <a:latin typeface="+mn-lt"/>
                <a:ea typeface="+mj-ea"/>
              </a:rPr>
              <a:t>、</a:t>
            </a:r>
            <a:r>
              <a:rPr lang="en-US" altLang="zh-CN" sz="2400" dirty="0" smtClean="0">
                <a:solidFill>
                  <a:srgbClr val="FFFF00"/>
                </a:solidFill>
                <a:latin typeface="+mn-lt"/>
                <a:ea typeface="+mj-ea"/>
              </a:rPr>
              <a:t>fn2()</a:t>
            </a:r>
            <a:r>
              <a:rPr lang="zh-CN" altLang="en-US" sz="2400" dirty="0" smtClean="0">
                <a:solidFill>
                  <a:srgbClr val="FFFF00"/>
                </a:solidFill>
                <a:latin typeface="+mn-lt"/>
                <a:ea typeface="+mj-ea"/>
              </a:rPr>
              <a:t>，</a:t>
            </a:r>
            <a:r>
              <a:rPr lang="en-US" altLang="zh-CN" sz="2400" dirty="0" err="1" smtClean="0">
                <a:solidFill>
                  <a:srgbClr val="FFFF00"/>
                </a:solidFill>
                <a:latin typeface="+mn-lt"/>
                <a:ea typeface="+mj-ea"/>
              </a:rPr>
              <a:t>DerivedClass</a:t>
            </a:r>
            <a:r>
              <a:rPr lang="zh-CN" altLang="en-US" sz="2400" dirty="0" smtClean="0">
                <a:solidFill>
                  <a:srgbClr val="FFFF00"/>
                </a:solidFill>
                <a:latin typeface="+mn-lt"/>
                <a:ea typeface="+mj-ea"/>
              </a:rPr>
              <a:t>也</a:t>
            </a:r>
            <a:r>
              <a:rPr lang="zh-CN" altLang="en-US" sz="2400" dirty="0">
                <a:solidFill>
                  <a:srgbClr val="FFFF00"/>
                </a:solidFill>
              </a:rPr>
              <a:t>有成员函数</a:t>
            </a:r>
            <a:r>
              <a:rPr lang="en-US" altLang="zh-CN" sz="2400" dirty="0">
                <a:solidFill>
                  <a:srgbClr val="FFFF00"/>
                </a:solidFill>
              </a:rPr>
              <a:t>fn1()</a:t>
            </a:r>
            <a:r>
              <a:rPr lang="zh-CN" altLang="en-US" sz="2400" dirty="0">
                <a:solidFill>
                  <a:srgbClr val="FFFF00"/>
                </a:solidFill>
              </a:rPr>
              <a:t>、</a:t>
            </a:r>
            <a:r>
              <a:rPr lang="en-US" altLang="zh-CN" sz="2400" dirty="0">
                <a:solidFill>
                  <a:srgbClr val="FFFF00"/>
                </a:solidFill>
              </a:rPr>
              <a:t>fn2()</a:t>
            </a:r>
            <a:r>
              <a:rPr lang="zh-CN" altLang="en-US" sz="2400" dirty="0" smtClean="0">
                <a:solidFill>
                  <a:srgbClr val="FFFF00"/>
                </a:solidFill>
              </a:rPr>
              <a:t>，在主函数中声明一个</a:t>
            </a:r>
            <a:r>
              <a:rPr lang="en-US" altLang="zh-CN" sz="2400" dirty="0" err="1" smtClean="0">
                <a:solidFill>
                  <a:srgbClr val="FFFF00"/>
                </a:solidFill>
              </a:rPr>
              <a:t>DerivedClass</a:t>
            </a:r>
            <a:r>
              <a:rPr lang="zh-CN" altLang="en-US" sz="2400" dirty="0" smtClean="0">
                <a:solidFill>
                  <a:srgbClr val="FFFF00"/>
                </a:solidFill>
              </a:rPr>
              <a:t>的对象，分别 用</a:t>
            </a:r>
            <a:r>
              <a:rPr lang="en-US" altLang="zh-CN" sz="2400" dirty="0" err="1" smtClean="0">
                <a:solidFill>
                  <a:srgbClr val="FFFF00"/>
                </a:solidFill>
              </a:rPr>
              <a:t>DerivedClass</a:t>
            </a:r>
            <a:r>
              <a:rPr lang="zh-CN" altLang="en-US" sz="2400" dirty="0" smtClean="0">
                <a:solidFill>
                  <a:srgbClr val="FFFF00"/>
                </a:solidFill>
              </a:rPr>
              <a:t>的对象以及</a:t>
            </a:r>
            <a:r>
              <a:rPr lang="en-US" altLang="zh-CN" sz="2400" dirty="0" err="1" smtClean="0">
                <a:solidFill>
                  <a:srgbClr val="FFFF00"/>
                </a:solidFill>
              </a:rPr>
              <a:t>BaseClass</a:t>
            </a:r>
            <a:r>
              <a:rPr lang="zh-CN" altLang="en-US" sz="2400" dirty="0" smtClean="0">
                <a:solidFill>
                  <a:srgbClr val="FFFF00"/>
                </a:solidFill>
              </a:rPr>
              <a:t>和</a:t>
            </a:r>
            <a:r>
              <a:rPr lang="en-US" altLang="zh-CN" sz="2400" dirty="0" err="1" smtClean="0">
                <a:solidFill>
                  <a:srgbClr val="FFFF00"/>
                </a:solidFill>
              </a:rPr>
              <a:t>DerivedClass</a:t>
            </a:r>
            <a:r>
              <a:rPr lang="zh-CN" altLang="en-US" sz="2400" dirty="0" smtClean="0">
                <a:solidFill>
                  <a:srgbClr val="FFFF00"/>
                </a:solidFill>
              </a:rPr>
              <a:t>的指针来调用</a:t>
            </a:r>
            <a:r>
              <a:rPr lang="en-US" altLang="zh-CN" sz="2400" dirty="0" smtClean="0">
                <a:solidFill>
                  <a:srgbClr val="FFFF00"/>
                </a:solidFill>
              </a:rPr>
              <a:t>fn1()</a:t>
            </a:r>
            <a:r>
              <a:rPr lang="zh-CN" altLang="en-US" sz="2400" dirty="0" smtClean="0">
                <a:solidFill>
                  <a:srgbClr val="FFFF00"/>
                </a:solidFill>
              </a:rPr>
              <a:t>、</a:t>
            </a:r>
            <a:r>
              <a:rPr lang="en-US" altLang="zh-CN" sz="2400" dirty="0" smtClean="0">
                <a:solidFill>
                  <a:srgbClr val="FFFF00"/>
                </a:solidFill>
              </a:rPr>
              <a:t>fn2()</a:t>
            </a:r>
            <a:r>
              <a:rPr lang="zh-CN" altLang="en-US" sz="2400" dirty="0" smtClean="0">
                <a:solidFill>
                  <a:srgbClr val="FFFF00"/>
                </a:solidFill>
              </a:rPr>
              <a:t>，观察运行结果。</a:t>
            </a:r>
            <a:endParaRPr lang="zh-CN" altLang="en-US" sz="2400" dirty="0">
              <a:latin typeface="+mn-lt"/>
              <a:ea typeface="+mj-ea"/>
            </a:endParaRPr>
          </a:p>
        </p:txBody>
      </p:sp>
      <p:sp>
        <p:nvSpPr>
          <p:cNvPr id="65540"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1"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2" name="Rectangle 7"/>
          <p:cNvSpPr>
            <a:spLocks noChangeArrowheads="1"/>
          </p:cNvSpPr>
          <p:nvPr/>
        </p:nvSpPr>
        <p:spPr bwMode="auto">
          <a:xfrm>
            <a:off x="0" y="26971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3" name="Rectangle 8"/>
          <p:cNvSpPr>
            <a:spLocks noChangeArrowheads="1"/>
          </p:cNvSpPr>
          <p:nvPr/>
        </p:nvSpPr>
        <p:spPr bwMode="auto">
          <a:xfrm>
            <a:off x="1293018" y="225428"/>
            <a:ext cx="7313613" cy="725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r>
              <a:rPr lang="zh-CN" altLang="en-US" sz="4400" b="1" i="1" dirty="0">
                <a:effectLst>
                  <a:outerShdw blurRad="38100" dist="38100" dir="2700000" algn="tl">
                    <a:srgbClr val="000000"/>
                  </a:outerShdw>
                </a:effectLst>
                <a:ea typeface="隶书" panose="02010509060101010101" pitchFamily="49" charset="-122"/>
                <a:cs typeface="+mj-cs"/>
              </a:rPr>
              <a:t>第</a:t>
            </a:r>
            <a:r>
              <a:rPr lang="en-US" altLang="zh-CN" sz="4400" b="1" i="1" dirty="0">
                <a:effectLst>
                  <a:outerShdw blurRad="38100" dist="38100" dir="2700000" algn="tl">
                    <a:srgbClr val="000000"/>
                  </a:outerShdw>
                </a:effectLst>
                <a:ea typeface="隶书" panose="02010509060101010101" pitchFamily="49" charset="-122"/>
                <a:cs typeface="+mj-cs"/>
              </a:rPr>
              <a:t>7</a:t>
            </a:r>
            <a:r>
              <a:rPr lang="zh-CN" altLang="en-US" sz="4400" b="1" i="1" dirty="0">
                <a:effectLst>
                  <a:outerShdw blurRad="38100" dist="38100" dir="2700000" algn="tl">
                    <a:srgbClr val="000000"/>
                  </a:outerShdw>
                </a:effectLst>
                <a:ea typeface="隶书" panose="02010509060101010101" pitchFamily="49" charset="-122"/>
                <a:cs typeface="+mj-cs"/>
              </a:rPr>
              <a:t>讲 课后练习</a:t>
            </a:r>
            <a:endParaRPr lang="zh-CN" altLang="en-US" sz="4400" b="1" i="1" dirty="0">
              <a:effectLst>
                <a:outerShdw blurRad="38100" dist="38100" dir="2700000" algn="tl">
                  <a:srgbClr val="000000"/>
                </a:outerShdw>
              </a:effectLst>
              <a:ea typeface="隶书" panose="02010509060101010101" pitchFamily="49" charset="-122"/>
              <a:cs typeface="+mj-cs"/>
            </a:endParaRPr>
          </a:p>
        </p:txBody>
      </p:sp>
    </p:spTree>
  </p:cSld>
  <p:clrMapOvr>
    <a:masterClrMapping/>
  </p:clrMapOvr>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39" name="Rectangle 4"/>
          <p:cNvSpPr>
            <a:spLocks noChangeArrowheads="1"/>
          </p:cNvSpPr>
          <p:nvPr/>
        </p:nvSpPr>
        <p:spPr bwMode="auto">
          <a:xfrm>
            <a:off x="899592" y="1210469"/>
            <a:ext cx="7956550" cy="750888"/>
          </a:xfrm>
          <a:prstGeom prst="rect">
            <a:avLst/>
          </a:prstGeom>
          <a:noFill/>
          <a:ln w="9525" algn="ctr">
            <a:no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655955" indent="-476250" eaLnBrk="0" hangingPunct="0">
              <a:defRPr sz="2000" b="1">
                <a:solidFill>
                  <a:schemeClr val="tx1"/>
                </a:solidFill>
                <a:latin typeface="Times New Roman" panose="02020603050405020304" pitchFamily="18" charset="0"/>
                <a:ea typeface="华文楷体" panose="02010600040101010101" pitchFamily="2" charset="-122"/>
              </a:defRPr>
            </a:lvl2pPr>
            <a:lvl3pPr marL="1333500" indent="-4191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marL="179705" lvl="1" indent="0" algn="l" eaLnBrk="1" hangingPunct="1">
              <a:lnSpc>
                <a:spcPct val="100000"/>
              </a:lnSpc>
              <a:spcBef>
                <a:spcPct val="20000"/>
              </a:spcBef>
              <a:spcAft>
                <a:spcPct val="10000"/>
              </a:spcAft>
              <a:buSzPct val="70000"/>
            </a:pPr>
            <a:r>
              <a:rPr lang="zh-CN" altLang="en-US" sz="2400" dirty="0" smtClean="0">
                <a:solidFill>
                  <a:srgbClr val="FFFF00"/>
                </a:solidFill>
                <a:latin typeface="+mn-lt"/>
                <a:ea typeface="+mj-ea"/>
              </a:rPr>
              <a:t>作业：</a:t>
            </a:r>
            <a:endParaRPr lang="en-US" altLang="zh-CN" sz="2400" dirty="0" smtClean="0">
              <a:solidFill>
                <a:srgbClr val="FFFF00"/>
              </a:solidFill>
              <a:latin typeface="+mn-lt"/>
              <a:ea typeface="+mj-ea"/>
            </a:endParaRPr>
          </a:p>
          <a:p>
            <a:pPr algn="l"/>
            <a:r>
              <a:rPr lang="zh-CN" altLang="en-US" sz="2400" dirty="0" smtClean="0">
                <a:solidFill>
                  <a:srgbClr val="FFFF00"/>
                </a:solidFill>
                <a:latin typeface="+mn-lt"/>
                <a:ea typeface="+mj-ea"/>
              </a:rPr>
              <a:t>补充题目：</a:t>
            </a:r>
            <a:r>
              <a:rPr lang="zh-CN" altLang="zh-CN" sz="2400" dirty="0">
                <a:solidFill>
                  <a:srgbClr val="FFFF00"/>
                </a:solidFill>
                <a:latin typeface="+mn-lt"/>
                <a:ea typeface="+mj-ea"/>
              </a:rPr>
              <a:t>写出以下程序的执行结果：</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#include &lt;</a:t>
            </a:r>
            <a:r>
              <a:rPr lang="en-US" altLang="zh-CN" sz="2400" dirty="0" err="1">
                <a:solidFill>
                  <a:srgbClr val="FFFF00"/>
                </a:solidFill>
                <a:latin typeface="+mn-lt"/>
                <a:ea typeface="+mj-ea"/>
              </a:rPr>
              <a:t>iostream</a:t>
            </a:r>
            <a:r>
              <a:rPr lang="en-US" altLang="zh-CN" sz="2400" dirty="0">
                <a:solidFill>
                  <a:srgbClr val="FFFF00"/>
                </a:solidFill>
                <a:latin typeface="+mn-lt"/>
                <a:ea typeface="+mj-ea"/>
              </a:rPr>
              <a:t>&gt;</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using namespace </a:t>
            </a:r>
            <a:r>
              <a:rPr lang="en-US" altLang="zh-CN" sz="2400" dirty="0" err="1">
                <a:solidFill>
                  <a:srgbClr val="FFFF00"/>
                </a:solidFill>
                <a:latin typeface="+mn-lt"/>
                <a:ea typeface="+mj-ea"/>
              </a:rPr>
              <a:t>std</a:t>
            </a:r>
            <a:r>
              <a:rPr lang="en-US" altLang="zh-CN" sz="2400" dirty="0">
                <a:solidFill>
                  <a:srgbClr val="FFFF00"/>
                </a:solidFill>
                <a:latin typeface="+mn-lt"/>
                <a:ea typeface="+mj-ea"/>
              </a:rPr>
              <a:t>;</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class </a:t>
            </a:r>
            <a:r>
              <a:rPr lang="en-US" altLang="zh-CN" sz="2400" dirty="0" err="1">
                <a:solidFill>
                  <a:srgbClr val="FFFF00"/>
                </a:solidFill>
                <a:latin typeface="+mn-lt"/>
                <a:ea typeface="+mj-ea"/>
              </a:rPr>
              <a:t>BaseClass</a:t>
            </a:r>
            <a:r>
              <a:rPr lang="en-US" altLang="zh-CN" sz="2400" dirty="0">
                <a:solidFill>
                  <a:srgbClr val="FFFF00"/>
                </a:solidFill>
                <a:latin typeface="+mn-lt"/>
                <a:ea typeface="+mj-ea"/>
              </a:rPr>
              <a:t>{</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public:</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	</a:t>
            </a:r>
            <a:r>
              <a:rPr lang="en-US" altLang="zh-CN" sz="2400" dirty="0" err="1">
                <a:solidFill>
                  <a:srgbClr val="FFFF00"/>
                </a:solidFill>
                <a:latin typeface="+mn-lt"/>
                <a:ea typeface="+mj-ea"/>
              </a:rPr>
              <a:t>BaseClass</a:t>
            </a:r>
            <a:r>
              <a:rPr lang="en-US" altLang="zh-CN" sz="2400" dirty="0">
                <a:solidFill>
                  <a:srgbClr val="FFFF00"/>
                </a:solidFill>
                <a:latin typeface="+mn-lt"/>
                <a:ea typeface="+mj-ea"/>
              </a:rPr>
              <a:t>(){</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		</a:t>
            </a:r>
            <a:r>
              <a:rPr lang="en-US" altLang="zh-CN" sz="2400" dirty="0" err="1">
                <a:solidFill>
                  <a:srgbClr val="FFFF00"/>
                </a:solidFill>
                <a:latin typeface="+mn-lt"/>
                <a:ea typeface="+mj-ea"/>
              </a:rPr>
              <a:t>base_num</a:t>
            </a:r>
            <a:r>
              <a:rPr lang="en-US" altLang="zh-CN" sz="2400" dirty="0">
                <a:solidFill>
                  <a:srgbClr val="FFFF00"/>
                </a:solidFill>
                <a:latin typeface="+mn-lt"/>
                <a:ea typeface="+mj-ea"/>
              </a:rPr>
              <a:t>=30;</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		</a:t>
            </a:r>
            <a:r>
              <a:rPr lang="en-US" altLang="zh-CN" sz="2400" dirty="0" err="1">
                <a:solidFill>
                  <a:srgbClr val="FFFF00"/>
                </a:solidFill>
                <a:latin typeface="+mn-lt"/>
                <a:ea typeface="+mj-ea"/>
              </a:rPr>
              <a:t>cout</a:t>
            </a:r>
            <a:r>
              <a:rPr lang="en-US" altLang="zh-CN" sz="2400" dirty="0">
                <a:solidFill>
                  <a:srgbClr val="FFFF00"/>
                </a:solidFill>
                <a:latin typeface="+mn-lt"/>
                <a:ea typeface="+mj-ea"/>
              </a:rPr>
              <a:t>&lt;&lt;"Base is Created"&lt;&lt;</a:t>
            </a:r>
            <a:r>
              <a:rPr lang="en-US" altLang="zh-CN" sz="2400" dirty="0" err="1">
                <a:solidFill>
                  <a:srgbClr val="FFFF00"/>
                </a:solidFill>
                <a:latin typeface="+mn-lt"/>
                <a:ea typeface="+mj-ea"/>
              </a:rPr>
              <a:t>endl</a:t>
            </a:r>
            <a:r>
              <a:rPr lang="en-US" altLang="zh-CN" sz="2400" dirty="0">
                <a:solidFill>
                  <a:srgbClr val="FFFF00"/>
                </a:solidFill>
                <a:latin typeface="+mn-lt"/>
                <a:ea typeface="+mj-ea"/>
              </a:rPr>
              <a:t>;</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	}</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	</a:t>
            </a:r>
            <a:r>
              <a:rPr lang="en-US" altLang="zh-CN" sz="2400" dirty="0" err="1">
                <a:solidFill>
                  <a:srgbClr val="FFFF00"/>
                </a:solidFill>
                <a:latin typeface="+mn-lt"/>
                <a:ea typeface="+mj-ea"/>
              </a:rPr>
              <a:t>BaseClass</a:t>
            </a:r>
            <a:r>
              <a:rPr lang="en-US" altLang="zh-CN" sz="2400" dirty="0">
                <a:solidFill>
                  <a:srgbClr val="FFFF00"/>
                </a:solidFill>
                <a:latin typeface="+mn-lt"/>
                <a:ea typeface="+mj-ea"/>
              </a:rPr>
              <a:t>(</a:t>
            </a:r>
            <a:r>
              <a:rPr lang="en-US" altLang="zh-CN" sz="2400" dirty="0" err="1">
                <a:solidFill>
                  <a:srgbClr val="FFFF00"/>
                </a:solidFill>
                <a:latin typeface="+mn-lt"/>
                <a:ea typeface="+mj-ea"/>
              </a:rPr>
              <a:t>int</a:t>
            </a:r>
            <a:r>
              <a:rPr lang="en-US" altLang="zh-CN" sz="2400" dirty="0">
                <a:solidFill>
                  <a:srgbClr val="FFFF00"/>
                </a:solidFill>
                <a:latin typeface="+mn-lt"/>
                <a:ea typeface="+mj-ea"/>
              </a:rPr>
              <a:t> n):</a:t>
            </a:r>
            <a:r>
              <a:rPr lang="en-US" altLang="zh-CN" sz="2400" dirty="0" err="1">
                <a:solidFill>
                  <a:srgbClr val="FFFF00"/>
                </a:solidFill>
                <a:latin typeface="+mn-lt"/>
                <a:ea typeface="+mj-ea"/>
              </a:rPr>
              <a:t>base_num</a:t>
            </a:r>
            <a:r>
              <a:rPr lang="en-US" altLang="zh-CN" sz="2400" dirty="0">
                <a:solidFill>
                  <a:srgbClr val="FFFF00"/>
                </a:solidFill>
                <a:latin typeface="+mn-lt"/>
                <a:ea typeface="+mj-ea"/>
              </a:rPr>
              <a:t>(n){</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		</a:t>
            </a:r>
            <a:r>
              <a:rPr lang="en-US" altLang="zh-CN" sz="2400" dirty="0" err="1">
                <a:solidFill>
                  <a:srgbClr val="FFFF00"/>
                </a:solidFill>
                <a:latin typeface="+mn-lt"/>
                <a:ea typeface="+mj-ea"/>
              </a:rPr>
              <a:t>cout</a:t>
            </a:r>
            <a:r>
              <a:rPr lang="en-US" altLang="zh-CN" sz="2400" dirty="0">
                <a:solidFill>
                  <a:srgbClr val="FFFF00"/>
                </a:solidFill>
                <a:latin typeface="+mn-lt"/>
                <a:ea typeface="+mj-ea"/>
              </a:rPr>
              <a:t>&lt;&lt;"Base's number is "&lt;&lt;n&lt;&lt;</a:t>
            </a:r>
            <a:r>
              <a:rPr lang="en-US" altLang="zh-CN" sz="2400" dirty="0" err="1">
                <a:solidFill>
                  <a:srgbClr val="FFFF00"/>
                </a:solidFill>
                <a:latin typeface="+mn-lt"/>
                <a:ea typeface="+mj-ea"/>
              </a:rPr>
              <a:t>endl</a:t>
            </a:r>
            <a:r>
              <a:rPr lang="en-US" altLang="zh-CN" sz="2400" dirty="0">
                <a:solidFill>
                  <a:srgbClr val="FFFF00"/>
                </a:solidFill>
                <a:latin typeface="+mn-lt"/>
                <a:ea typeface="+mj-ea"/>
              </a:rPr>
              <a:t>;</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	}</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	</a:t>
            </a:r>
            <a:endParaRPr lang="zh-CN" altLang="en-US" sz="2400" dirty="0">
              <a:solidFill>
                <a:srgbClr val="FFFF00"/>
              </a:solidFill>
              <a:latin typeface="+mn-lt"/>
              <a:ea typeface="+mj-ea"/>
            </a:endParaRPr>
          </a:p>
        </p:txBody>
      </p:sp>
      <p:sp>
        <p:nvSpPr>
          <p:cNvPr id="65540"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1"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2" name="Rectangle 7"/>
          <p:cNvSpPr>
            <a:spLocks noChangeArrowheads="1"/>
          </p:cNvSpPr>
          <p:nvPr/>
        </p:nvSpPr>
        <p:spPr bwMode="auto">
          <a:xfrm>
            <a:off x="0" y="26971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3" name="Rectangle 8"/>
          <p:cNvSpPr>
            <a:spLocks noChangeArrowheads="1"/>
          </p:cNvSpPr>
          <p:nvPr/>
        </p:nvSpPr>
        <p:spPr bwMode="auto">
          <a:xfrm>
            <a:off x="1293018" y="225428"/>
            <a:ext cx="7313613" cy="725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r>
              <a:rPr lang="zh-CN" altLang="en-US" sz="4400" b="1" i="1" dirty="0">
                <a:effectLst>
                  <a:outerShdw blurRad="38100" dist="38100" dir="2700000" algn="tl">
                    <a:srgbClr val="000000"/>
                  </a:outerShdw>
                </a:effectLst>
                <a:ea typeface="隶书" panose="02010509060101010101" pitchFamily="49" charset="-122"/>
                <a:cs typeface="+mj-cs"/>
              </a:rPr>
              <a:t>第</a:t>
            </a:r>
            <a:r>
              <a:rPr lang="en-US" altLang="zh-CN" sz="4400" b="1" i="1" dirty="0">
                <a:effectLst>
                  <a:outerShdw blurRad="38100" dist="38100" dir="2700000" algn="tl">
                    <a:srgbClr val="000000"/>
                  </a:outerShdw>
                </a:effectLst>
                <a:ea typeface="隶书" panose="02010509060101010101" pitchFamily="49" charset="-122"/>
                <a:cs typeface="+mj-cs"/>
              </a:rPr>
              <a:t>7</a:t>
            </a:r>
            <a:r>
              <a:rPr lang="zh-CN" altLang="en-US" sz="4400" b="1" i="1" dirty="0">
                <a:effectLst>
                  <a:outerShdw blurRad="38100" dist="38100" dir="2700000" algn="tl">
                    <a:srgbClr val="000000"/>
                  </a:outerShdw>
                </a:effectLst>
                <a:ea typeface="隶书" panose="02010509060101010101" pitchFamily="49" charset="-122"/>
                <a:cs typeface="+mj-cs"/>
              </a:rPr>
              <a:t>讲 课后练习</a:t>
            </a:r>
            <a:endParaRPr lang="zh-CN" altLang="en-US" sz="4400" b="1" i="1" dirty="0">
              <a:effectLst>
                <a:outerShdw blurRad="38100" dist="38100" dir="2700000" algn="tl">
                  <a:srgbClr val="000000"/>
                </a:outerShdw>
              </a:effectLst>
              <a:ea typeface="隶书" panose="02010509060101010101" pitchFamily="49" charset="-122"/>
              <a:cs typeface="+mj-cs"/>
            </a:endParaRPr>
          </a:p>
        </p:txBody>
      </p:sp>
    </p:spTree>
  </p:cSld>
  <p:clrMapOvr>
    <a:masterClrMapping/>
  </p:clrMapOvr>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39" name="Rectangle 4"/>
          <p:cNvSpPr>
            <a:spLocks noChangeArrowheads="1"/>
          </p:cNvSpPr>
          <p:nvPr/>
        </p:nvSpPr>
        <p:spPr bwMode="auto">
          <a:xfrm>
            <a:off x="899592" y="1210469"/>
            <a:ext cx="7956550" cy="750888"/>
          </a:xfrm>
          <a:prstGeom prst="rect">
            <a:avLst/>
          </a:prstGeom>
          <a:noFill/>
          <a:ln w="9525" algn="ctr">
            <a:no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655955" indent="-476250" eaLnBrk="0" hangingPunct="0">
              <a:defRPr sz="2000" b="1">
                <a:solidFill>
                  <a:schemeClr val="tx1"/>
                </a:solidFill>
                <a:latin typeface="Times New Roman" panose="02020603050405020304" pitchFamily="18" charset="0"/>
                <a:ea typeface="华文楷体" panose="02010600040101010101" pitchFamily="2" charset="-122"/>
              </a:defRPr>
            </a:lvl2pPr>
            <a:lvl3pPr marL="1333500" indent="-4191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marL="179705" lvl="1" indent="0" algn="l" eaLnBrk="1" hangingPunct="1">
              <a:lnSpc>
                <a:spcPct val="100000"/>
              </a:lnSpc>
              <a:spcBef>
                <a:spcPct val="20000"/>
              </a:spcBef>
              <a:spcAft>
                <a:spcPct val="10000"/>
              </a:spcAft>
              <a:buSzPct val="70000"/>
            </a:pPr>
            <a:r>
              <a:rPr lang="en-US" altLang="zh-CN" sz="2400" dirty="0" smtClean="0">
                <a:solidFill>
                  <a:srgbClr val="FFFF00"/>
                </a:solidFill>
                <a:latin typeface="+mn-lt"/>
                <a:ea typeface="+mj-ea"/>
              </a:rPr>
              <a:t>void </a:t>
            </a:r>
            <a:r>
              <a:rPr lang="en-US" altLang="zh-CN" sz="2400" dirty="0">
                <a:solidFill>
                  <a:srgbClr val="FFFF00"/>
                </a:solidFill>
                <a:latin typeface="+mn-lt"/>
                <a:ea typeface="+mj-ea"/>
              </a:rPr>
              <a:t>print();</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	~</a:t>
            </a:r>
            <a:r>
              <a:rPr lang="en-US" altLang="zh-CN" sz="2400" dirty="0" err="1">
                <a:solidFill>
                  <a:srgbClr val="FFFF00"/>
                </a:solidFill>
                <a:latin typeface="+mn-lt"/>
                <a:ea typeface="+mj-ea"/>
              </a:rPr>
              <a:t>BaseClass</a:t>
            </a:r>
            <a:r>
              <a:rPr lang="en-US" altLang="zh-CN" sz="2400" dirty="0">
                <a:solidFill>
                  <a:srgbClr val="FFFF00"/>
                </a:solidFill>
                <a:latin typeface="+mn-lt"/>
                <a:ea typeface="+mj-ea"/>
              </a:rPr>
              <a:t>(){</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		</a:t>
            </a:r>
            <a:r>
              <a:rPr lang="en-US" altLang="zh-CN" sz="2400" dirty="0" err="1">
                <a:solidFill>
                  <a:srgbClr val="FFFF00"/>
                </a:solidFill>
                <a:latin typeface="+mn-lt"/>
                <a:ea typeface="+mj-ea"/>
              </a:rPr>
              <a:t>cout</a:t>
            </a:r>
            <a:r>
              <a:rPr lang="en-US" altLang="zh-CN" sz="2400" dirty="0">
                <a:solidFill>
                  <a:srgbClr val="FFFF00"/>
                </a:solidFill>
                <a:latin typeface="+mn-lt"/>
                <a:ea typeface="+mj-ea"/>
              </a:rPr>
              <a:t>&lt;&lt;"Base is Destroyed"&lt;&lt;</a:t>
            </a:r>
            <a:r>
              <a:rPr lang="en-US" altLang="zh-CN" sz="2400" dirty="0" err="1">
                <a:solidFill>
                  <a:srgbClr val="FFFF00"/>
                </a:solidFill>
                <a:latin typeface="+mn-lt"/>
                <a:ea typeface="+mj-ea"/>
              </a:rPr>
              <a:t>endl</a:t>
            </a:r>
            <a:r>
              <a:rPr lang="en-US" altLang="zh-CN" sz="2400" dirty="0">
                <a:solidFill>
                  <a:srgbClr val="FFFF00"/>
                </a:solidFill>
                <a:latin typeface="+mn-lt"/>
                <a:ea typeface="+mj-ea"/>
              </a:rPr>
              <a:t>;</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	}</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protected:</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	</a:t>
            </a:r>
            <a:r>
              <a:rPr lang="en-US" altLang="zh-CN" sz="2400" dirty="0" err="1">
                <a:solidFill>
                  <a:srgbClr val="FFFF00"/>
                </a:solidFill>
                <a:latin typeface="+mn-lt"/>
                <a:ea typeface="+mj-ea"/>
              </a:rPr>
              <a:t>int</a:t>
            </a:r>
            <a:r>
              <a:rPr lang="en-US" altLang="zh-CN" sz="2400" dirty="0">
                <a:solidFill>
                  <a:srgbClr val="FFFF00"/>
                </a:solidFill>
                <a:latin typeface="+mn-lt"/>
                <a:ea typeface="+mj-ea"/>
              </a:rPr>
              <a:t> </a:t>
            </a:r>
            <a:r>
              <a:rPr lang="en-US" altLang="zh-CN" sz="2400" dirty="0" err="1">
                <a:solidFill>
                  <a:srgbClr val="FFFF00"/>
                </a:solidFill>
                <a:latin typeface="+mn-lt"/>
                <a:ea typeface="+mj-ea"/>
              </a:rPr>
              <a:t>base_num</a:t>
            </a:r>
            <a:r>
              <a:rPr lang="en-US" altLang="zh-CN" sz="2400" dirty="0">
                <a:solidFill>
                  <a:srgbClr val="FFFF00"/>
                </a:solidFill>
                <a:latin typeface="+mn-lt"/>
                <a:ea typeface="+mj-ea"/>
              </a:rPr>
              <a:t>;</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void </a:t>
            </a:r>
            <a:r>
              <a:rPr lang="en-US" altLang="zh-CN" sz="2400" dirty="0" err="1">
                <a:solidFill>
                  <a:srgbClr val="FFFF00"/>
                </a:solidFill>
                <a:latin typeface="+mn-lt"/>
                <a:ea typeface="+mj-ea"/>
              </a:rPr>
              <a:t>BaseClass</a:t>
            </a:r>
            <a:r>
              <a:rPr lang="en-US" altLang="zh-CN" sz="2400" dirty="0">
                <a:solidFill>
                  <a:srgbClr val="FFFF00"/>
                </a:solidFill>
                <a:latin typeface="+mn-lt"/>
                <a:ea typeface="+mj-ea"/>
              </a:rPr>
              <a:t>::print(){</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	</a:t>
            </a:r>
            <a:r>
              <a:rPr lang="en-US" altLang="zh-CN" sz="2400" dirty="0" err="1">
                <a:solidFill>
                  <a:srgbClr val="FFFF00"/>
                </a:solidFill>
                <a:latin typeface="+mn-lt"/>
                <a:ea typeface="+mj-ea"/>
              </a:rPr>
              <a:t>cout</a:t>
            </a:r>
            <a:r>
              <a:rPr lang="en-US" altLang="zh-CN" sz="2400" dirty="0">
                <a:solidFill>
                  <a:srgbClr val="FFFF00"/>
                </a:solidFill>
                <a:latin typeface="+mn-lt"/>
                <a:ea typeface="+mj-ea"/>
              </a:rPr>
              <a:t>&lt;&lt;"Print in Base"&lt;&lt;</a:t>
            </a:r>
            <a:r>
              <a:rPr lang="en-US" altLang="zh-CN" sz="2400" dirty="0" err="1">
                <a:solidFill>
                  <a:srgbClr val="FFFF00"/>
                </a:solidFill>
                <a:latin typeface="+mn-lt"/>
                <a:ea typeface="+mj-ea"/>
              </a:rPr>
              <a:t>endl</a:t>
            </a:r>
            <a:r>
              <a:rPr lang="en-US" altLang="zh-CN" sz="2400" dirty="0">
                <a:solidFill>
                  <a:srgbClr val="FFFF00"/>
                </a:solidFill>
                <a:latin typeface="+mn-lt"/>
                <a:ea typeface="+mj-ea"/>
              </a:rPr>
              <a:t>;</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class </a:t>
            </a:r>
            <a:r>
              <a:rPr lang="en-US" altLang="zh-CN" sz="2400" dirty="0" err="1">
                <a:solidFill>
                  <a:srgbClr val="FFFF00"/>
                </a:solidFill>
                <a:latin typeface="+mn-lt"/>
                <a:ea typeface="+mj-ea"/>
              </a:rPr>
              <a:t>DerivedClass</a:t>
            </a:r>
            <a:r>
              <a:rPr lang="en-US" altLang="zh-CN" sz="2400" dirty="0">
                <a:solidFill>
                  <a:srgbClr val="FFFF00"/>
                </a:solidFill>
                <a:latin typeface="+mn-lt"/>
                <a:ea typeface="+mj-ea"/>
              </a:rPr>
              <a:t>: public </a:t>
            </a:r>
            <a:r>
              <a:rPr lang="en-US" altLang="zh-CN" sz="2400" dirty="0" err="1">
                <a:solidFill>
                  <a:srgbClr val="FFFF00"/>
                </a:solidFill>
                <a:latin typeface="+mn-lt"/>
                <a:ea typeface="+mj-ea"/>
              </a:rPr>
              <a:t>BaseClass</a:t>
            </a:r>
            <a:r>
              <a:rPr lang="en-US" altLang="zh-CN" sz="2400" dirty="0">
                <a:solidFill>
                  <a:srgbClr val="FFFF00"/>
                </a:solidFill>
                <a:latin typeface="+mn-lt"/>
                <a:ea typeface="+mj-ea"/>
              </a:rPr>
              <a:t>{</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public:</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	</a:t>
            </a:r>
            <a:r>
              <a:rPr lang="en-US" altLang="zh-CN" sz="2400" dirty="0" err="1">
                <a:solidFill>
                  <a:srgbClr val="FFFF00"/>
                </a:solidFill>
                <a:latin typeface="+mn-lt"/>
                <a:ea typeface="+mj-ea"/>
              </a:rPr>
              <a:t>DerivedClass</a:t>
            </a:r>
            <a:r>
              <a:rPr lang="en-US" altLang="zh-CN" sz="2400" dirty="0">
                <a:solidFill>
                  <a:srgbClr val="FFFF00"/>
                </a:solidFill>
                <a:latin typeface="+mn-lt"/>
                <a:ea typeface="+mj-ea"/>
              </a:rPr>
              <a:t>(){</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		</a:t>
            </a:r>
            <a:r>
              <a:rPr lang="en-US" altLang="zh-CN" sz="2400" dirty="0" err="1">
                <a:solidFill>
                  <a:srgbClr val="FFFF00"/>
                </a:solidFill>
                <a:latin typeface="+mn-lt"/>
                <a:ea typeface="+mj-ea"/>
              </a:rPr>
              <a:t>cout</a:t>
            </a:r>
            <a:r>
              <a:rPr lang="en-US" altLang="zh-CN" sz="2400" dirty="0">
                <a:solidFill>
                  <a:srgbClr val="FFFF00"/>
                </a:solidFill>
                <a:latin typeface="+mn-lt"/>
                <a:ea typeface="+mj-ea"/>
              </a:rPr>
              <a:t>&lt;&lt;"Derived is Created"&lt;&lt;</a:t>
            </a:r>
            <a:r>
              <a:rPr lang="en-US" altLang="zh-CN" sz="2400" dirty="0" err="1">
                <a:solidFill>
                  <a:srgbClr val="FFFF00"/>
                </a:solidFill>
                <a:latin typeface="+mn-lt"/>
                <a:ea typeface="+mj-ea"/>
              </a:rPr>
              <a:t>endl</a:t>
            </a:r>
            <a:r>
              <a:rPr lang="en-US" altLang="zh-CN" sz="2400" dirty="0">
                <a:solidFill>
                  <a:srgbClr val="FFFF00"/>
                </a:solidFill>
                <a:latin typeface="+mn-lt"/>
                <a:ea typeface="+mj-ea"/>
              </a:rPr>
              <a:t>;</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	</a:t>
            </a:r>
            <a:r>
              <a:rPr lang="en-US" altLang="zh-CN" sz="2400" dirty="0" smtClean="0">
                <a:solidFill>
                  <a:srgbClr val="FFFF00"/>
                </a:solidFill>
                <a:latin typeface="+mn-lt"/>
                <a:ea typeface="+mj-ea"/>
              </a:rPr>
              <a:t>}</a:t>
            </a:r>
            <a:endParaRPr lang="zh-CN" altLang="en-US" sz="2400" dirty="0">
              <a:solidFill>
                <a:srgbClr val="FFFF00"/>
              </a:solidFill>
              <a:latin typeface="+mn-lt"/>
              <a:ea typeface="+mj-ea"/>
            </a:endParaRPr>
          </a:p>
        </p:txBody>
      </p:sp>
      <p:sp>
        <p:nvSpPr>
          <p:cNvPr id="65540"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1"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2" name="Rectangle 7"/>
          <p:cNvSpPr>
            <a:spLocks noChangeArrowheads="1"/>
          </p:cNvSpPr>
          <p:nvPr/>
        </p:nvSpPr>
        <p:spPr bwMode="auto">
          <a:xfrm>
            <a:off x="0" y="26971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3" name="Rectangle 8"/>
          <p:cNvSpPr>
            <a:spLocks noChangeArrowheads="1"/>
          </p:cNvSpPr>
          <p:nvPr/>
        </p:nvSpPr>
        <p:spPr bwMode="auto">
          <a:xfrm>
            <a:off x="1293018" y="225428"/>
            <a:ext cx="7313613" cy="725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r>
              <a:rPr lang="zh-CN" altLang="en-US" sz="4400" b="1" i="1" dirty="0">
                <a:effectLst>
                  <a:outerShdw blurRad="38100" dist="38100" dir="2700000" algn="tl">
                    <a:srgbClr val="000000"/>
                  </a:outerShdw>
                </a:effectLst>
                <a:ea typeface="隶书" panose="02010509060101010101" pitchFamily="49" charset="-122"/>
                <a:cs typeface="+mj-cs"/>
              </a:rPr>
              <a:t>第</a:t>
            </a:r>
            <a:r>
              <a:rPr lang="en-US" altLang="zh-CN" sz="4400" b="1" i="1" dirty="0">
                <a:effectLst>
                  <a:outerShdw blurRad="38100" dist="38100" dir="2700000" algn="tl">
                    <a:srgbClr val="000000"/>
                  </a:outerShdw>
                </a:effectLst>
                <a:ea typeface="隶书" panose="02010509060101010101" pitchFamily="49" charset="-122"/>
                <a:cs typeface="+mj-cs"/>
              </a:rPr>
              <a:t>7</a:t>
            </a:r>
            <a:r>
              <a:rPr lang="zh-CN" altLang="en-US" sz="4400" b="1" i="1" dirty="0">
                <a:effectLst>
                  <a:outerShdw blurRad="38100" dist="38100" dir="2700000" algn="tl">
                    <a:srgbClr val="000000"/>
                  </a:outerShdw>
                </a:effectLst>
                <a:ea typeface="隶书" panose="02010509060101010101" pitchFamily="49" charset="-122"/>
                <a:cs typeface="+mj-cs"/>
              </a:rPr>
              <a:t>讲 课后练习</a:t>
            </a:r>
            <a:endParaRPr lang="zh-CN" altLang="en-US" sz="4400" b="1" i="1" dirty="0">
              <a:effectLst>
                <a:outerShdw blurRad="38100" dist="38100" dir="2700000" algn="tl">
                  <a:srgbClr val="000000"/>
                </a:outerShdw>
              </a:effectLst>
              <a:ea typeface="隶书" panose="02010509060101010101" pitchFamily="49" charset="-122"/>
              <a:cs typeface="+mj-cs"/>
            </a:endParaRPr>
          </a:p>
        </p:txBody>
      </p:sp>
    </p:spTree>
  </p:cSld>
  <p:clrMapOvr>
    <a:masterClrMapping/>
  </p:clrMapOvr>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39" name="Rectangle 4"/>
          <p:cNvSpPr>
            <a:spLocks noChangeArrowheads="1"/>
          </p:cNvSpPr>
          <p:nvPr/>
        </p:nvSpPr>
        <p:spPr bwMode="auto">
          <a:xfrm>
            <a:off x="899592" y="1210469"/>
            <a:ext cx="7956550" cy="750888"/>
          </a:xfrm>
          <a:prstGeom prst="rect">
            <a:avLst/>
          </a:prstGeom>
          <a:noFill/>
          <a:ln w="9525" algn="ctr">
            <a:no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655955" indent="-476250" eaLnBrk="0" hangingPunct="0">
              <a:defRPr sz="2000" b="1">
                <a:solidFill>
                  <a:schemeClr val="tx1"/>
                </a:solidFill>
                <a:latin typeface="Times New Roman" panose="02020603050405020304" pitchFamily="18" charset="0"/>
                <a:ea typeface="华文楷体" panose="02010600040101010101" pitchFamily="2" charset="-122"/>
              </a:defRPr>
            </a:lvl2pPr>
            <a:lvl3pPr marL="1333500" indent="-4191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marL="179705" lvl="1" indent="0" algn="l" eaLnBrk="1" hangingPunct="1">
              <a:lnSpc>
                <a:spcPct val="100000"/>
              </a:lnSpc>
              <a:spcBef>
                <a:spcPct val="20000"/>
              </a:spcBef>
              <a:spcAft>
                <a:spcPct val="10000"/>
              </a:spcAft>
              <a:buSzPct val="70000"/>
            </a:pPr>
            <a:r>
              <a:rPr lang="zh-CN" altLang="zh-CN" sz="2400" dirty="0" smtClean="0">
                <a:solidFill>
                  <a:srgbClr val="FFFF00"/>
                </a:solidFill>
                <a:latin typeface="+mn-lt"/>
                <a:ea typeface="+mj-ea"/>
              </a:rPr>
              <a:t> </a:t>
            </a:r>
            <a:r>
              <a:rPr lang="en-US" altLang="zh-CN" sz="2400" dirty="0">
                <a:solidFill>
                  <a:srgbClr val="FFFF00"/>
                </a:solidFill>
                <a:latin typeface="+mn-lt"/>
                <a:ea typeface="+mj-ea"/>
              </a:rPr>
              <a:t>	</a:t>
            </a:r>
            <a:r>
              <a:rPr lang="en-US" altLang="zh-CN" sz="2400" dirty="0" err="1">
                <a:solidFill>
                  <a:srgbClr val="FFFF00"/>
                </a:solidFill>
                <a:latin typeface="+mn-lt"/>
                <a:ea typeface="+mj-ea"/>
              </a:rPr>
              <a:t>DerivedClass</a:t>
            </a:r>
            <a:r>
              <a:rPr lang="en-US" altLang="zh-CN" sz="2400" dirty="0">
                <a:solidFill>
                  <a:srgbClr val="FFFF00"/>
                </a:solidFill>
                <a:latin typeface="+mn-lt"/>
                <a:ea typeface="+mj-ea"/>
              </a:rPr>
              <a:t>(</a:t>
            </a:r>
            <a:r>
              <a:rPr lang="en-US" altLang="zh-CN" sz="2400" dirty="0" err="1">
                <a:solidFill>
                  <a:srgbClr val="FFFF00"/>
                </a:solidFill>
                <a:latin typeface="+mn-lt"/>
                <a:ea typeface="+mj-ea"/>
              </a:rPr>
              <a:t>int</a:t>
            </a:r>
            <a:r>
              <a:rPr lang="en-US" altLang="zh-CN" sz="2400" dirty="0">
                <a:solidFill>
                  <a:srgbClr val="FFFF00"/>
                </a:solidFill>
                <a:latin typeface="+mn-lt"/>
                <a:ea typeface="+mj-ea"/>
              </a:rPr>
              <a:t> </a:t>
            </a:r>
            <a:r>
              <a:rPr lang="en-US" altLang="zh-CN" sz="2400" dirty="0" err="1">
                <a:solidFill>
                  <a:srgbClr val="FFFF00"/>
                </a:solidFill>
                <a:latin typeface="+mn-lt"/>
                <a:ea typeface="+mj-ea"/>
              </a:rPr>
              <a:t>m,int</a:t>
            </a:r>
            <a:r>
              <a:rPr lang="en-US" altLang="zh-CN" sz="2400" dirty="0">
                <a:solidFill>
                  <a:srgbClr val="FFFF00"/>
                </a:solidFill>
                <a:latin typeface="+mn-lt"/>
                <a:ea typeface="+mj-ea"/>
              </a:rPr>
              <a:t> n):</a:t>
            </a:r>
            <a:r>
              <a:rPr lang="en-US" altLang="zh-CN" sz="2400" dirty="0" err="1">
                <a:solidFill>
                  <a:srgbClr val="FFFF00"/>
                </a:solidFill>
                <a:latin typeface="+mn-lt"/>
                <a:ea typeface="+mj-ea"/>
              </a:rPr>
              <a:t>BaseClass</a:t>
            </a:r>
            <a:r>
              <a:rPr lang="en-US" altLang="zh-CN" sz="2400" dirty="0">
                <a:solidFill>
                  <a:srgbClr val="FFFF00"/>
                </a:solidFill>
                <a:latin typeface="+mn-lt"/>
                <a:ea typeface="+mj-ea"/>
              </a:rPr>
              <a:t>(n),</a:t>
            </a:r>
            <a:r>
              <a:rPr lang="en-US" altLang="zh-CN" sz="2400" dirty="0" err="1">
                <a:solidFill>
                  <a:srgbClr val="FFFF00"/>
                </a:solidFill>
                <a:latin typeface="+mn-lt"/>
                <a:ea typeface="+mj-ea"/>
              </a:rPr>
              <a:t>derived_num</a:t>
            </a:r>
            <a:r>
              <a:rPr lang="en-US" altLang="zh-CN" sz="2400" dirty="0">
                <a:solidFill>
                  <a:srgbClr val="FFFF00"/>
                </a:solidFill>
                <a:latin typeface="+mn-lt"/>
                <a:ea typeface="+mj-ea"/>
              </a:rPr>
              <a:t>(m){</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		</a:t>
            </a:r>
            <a:r>
              <a:rPr lang="en-US" altLang="zh-CN" sz="2400" dirty="0" err="1">
                <a:solidFill>
                  <a:srgbClr val="FFFF00"/>
                </a:solidFill>
                <a:latin typeface="+mn-lt"/>
                <a:ea typeface="+mj-ea"/>
              </a:rPr>
              <a:t>cout</a:t>
            </a:r>
            <a:r>
              <a:rPr lang="en-US" altLang="zh-CN" sz="2400" dirty="0">
                <a:solidFill>
                  <a:srgbClr val="FFFF00"/>
                </a:solidFill>
                <a:latin typeface="+mn-lt"/>
                <a:ea typeface="+mj-ea"/>
              </a:rPr>
              <a:t>&lt;&lt;"</a:t>
            </a:r>
            <a:r>
              <a:rPr lang="en-US" altLang="zh-CN" sz="2400" dirty="0" err="1">
                <a:solidFill>
                  <a:srgbClr val="FFFF00"/>
                </a:solidFill>
                <a:latin typeface="+mn-lt"/>
                <a:ea typeface="+mj-ea"/>
              </a:rPr>
              <a:t>Derived's</a:t>
            </a:r>
            <a:r>
              <a:rPr lang="en-US" altLang="zh-CN" sz="2400" dirty="0">
                <a:solidFill>
                  <a:srgbClr val="FFFF00"/>
                </a:solidFill>
                <a:latin typeface="+mn-lt"/>
                <a:ea typeface="+mj-ea"/>
              </a:rPr>
              <a:t> number is "&lt;&lt;m&lt;&lt;</a:t>
            </a:r>
            <a:r>
              <a:rPr lang="en-US" altLang="zh-CN" sz="2400" dirty="0" err="1">
                <a:solidFill>
                  <a:srgbClr val="FFFF00"/>
                </a:solidFill>
                <a:latin typeface="+mn-lt"/>
                <a:ea typeface="+mj-ea"/>
              </a:rPr>
              <a:t>endl</a:t>
            </a:r>
            <a:r>
              <a:rPr lang="en-US" altLang="zh-CN" sz="2400" dirty="0">
                <a:solidFill>
                  <a:srgbClr val="FFFF00"/>
                </a:solidFill>
                <a:latin typeface="+mn-lt"/>
                <a:ea typeface="+mj-ea"/>
              </a:rPr>
              <a:t>;</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	}</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	~</a:t>
            </a:r>
            <a:r>
              <a:rPr lang="en-US" altLang="zh-CN" sz="2400" dirty="0" err="1">
                <a:solidFill>
                  <a:srgbClr val="FFFF00"/>
                </a:solidFill>
                <a:latin typeface="+mn-lt"/>
                <a:ea typeface="+mj-ea"/>
              </a:rPr>
              <a:t>DerivedClass</a:t>
            </a:r>
            <a:r>
              <a:rPr lang="en-US" altLang="zh-CN" sz="2400" dirty="0">
                <a:solidFill>
                  <a:srgbClr val="FFFF00"/>
                </a:solidFill>
                <a:latin typeface="+mn-lt"/>
                <a:ea typeface="+mj-ea"/>
              </a:rPr>
              <a:t>(){</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		</a:t>
            </a:r>
            <a:r>
              <a:rPr lang="en-US" altLang="zh-CN" sz="2400" dirty="0" err="1">
                <a:solidFill>
                  <a:srgbClr val="FFFF00"/>
                </a:solidFill>
                <a:latin typeface="+mn-lt"/>
                <a:ea typeface="+mj-ea"/>
              </a:rPr>
              <a:t>cout</a:t>
            </a:r>
            <a:r>
              <a:rPr lang="en-US" altLang="zh-CN" sz="2400" dirty="0">
                <a:solidFill>
                  <a:srgbClr val="FFFF00"/>
                </a:solidFill>
                <a:latin typeface="+mn-lt"/>
                <a:ea typeface="+mj-ea"/>
              </a:rPr>
              <a:t>&lt;&lt;"Derived is Destroyed"&lt;&lt;</a:t>
            </a:r>
            <a:r>
              <a:rPr lang="en-US" altLang="zh-CN" sz="2400" dirty="0" err="1">
                <a:solidFill>
                  <a:srgbClr val="FFFF00"/>
                </a:solidFill>
                <a:latin typeface="+mn-lt"/>
                <a:ea typeface="+mj-ea"/>
              </a:rPr>
              <a:t>endl</a:t>
            </a:r>
            <a:r>
              <a:rPr lang="en-US" altLang="zh-CN" sz="2400" dirty="0">
                <a:solidFill>
                  <a:srgbClr val="FFFF00"/>
                </a:solidFill>
                <a:latin typeface="+mn-lt"/>
                <a:ea typeface="+mj-ea"/>
              </a:rPr>
              <a:t>;</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	}</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protected:</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	</a:t>
            </a:r>
            <a:r>
              <a:rPr lang="en-US" altLang="zh-CN" sz="2400" dirty="0" err="1">
                <a:solidFill>
                  <a:srgbClr val="FFFF00"/>
                </a:solidFill>
                <a:latin typeface="+mn-lt"/>
                <a:ea typeface="+mj-ea"/>
              </a:rPr>
              <a:t>int</a:t>
            </a:r>
            <a:r>
              <a:rPr lang="en-US" altLang="zh-CN" sz="2400" dirty="0">
                <a:solidFill>
                  <a:srgbClr val="FFFF00"/>
                </a:solidFill>
                <a:latin typeface="+mn-lt"/>
                <a:ea typeface="+mj-ea"/>
              </a:rPr>
              <a:t> </a:t>
            </a:r>
            <a:r>
              <a:rPr lang="en-US" altLang="zh-CN" sz="2400" dirty="0" err="1">
                <a:solidFill>
                  <a:srgbClr val="FFFF00"/>
                </a:solidFill>
                <a:latin typeface="+mn-lt"/>
                <a:ea typeface="+mj-ea"/>
              </a:rPr>
              <a:t>derived_num</a:t>
            </a:r>
            <a:r>
              <a:rPr lang="en-US" altLang="zh-CN" sz="2400" dirty="0">
                <a:solidFill>
                  <a:srgbClr val="FFFF00"/>
                </a:solidFill>
                <a:latin typeface="+mn-lt"/>
                <a:ea typeface="+mj-ea"/>
              </a:rPr>
              <a:t>;</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a:t>
            </a:r>
            <a:endParaRPr lang="zh-CN" altLang="zh-CN" sz="2400" dirty="0">
              <a:solidFill>
                <a:srgbClr val="FFFF00"/>
              </a:solidFill>
              <a:latin typeface="+mn-lt"/>
              <a:ea typeface="+mj-ea"/>
            </a:endParaRPr>
          </a:p>
          <a:p>
            <a:pPr marL="179705" lvl="1" indent="0" algn="l" eaLnBrk="1" hangingPunct="1">
              <a:lnSpc>
                <a:spcPct val="100000"/>
              </a:lnSpc>
              <a:spcBef>
                <a:spcPct val="20000"/>
              </a:spcBef>
              <a:spcAft>
                <a:spcPct val="10000"/>
              </a:spcAft>
              <a:buSzPct val="70000"/>
            </a:pPr>
            <a:endParaRPr lang="zh-CN" altLang="en-US" sz="2400" dirty="0">
              <a:solidFill>
                <a:srgbClr val="FFFF00"/>
              </a:solidFill>
              <a:latin typeface="+mn-lt"/>
              <a:ea typeface="+mj-ea"/>
            </a:endParaRPr>
          </a:p>
        </p:txBody>
      </p:sp>
      <p:sp>
        <p:nvSpPr>
          <p:cNvPr id="65540"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1"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2" name="Rectangle 7"/>
          <p:cNvSpPr>
            <a:spLocks noChangeArrowheads="1"/>
          </p:cNvSpPr>
          <p:nvPr/>
        </p:nvSpPr>
        <p:spPr bwMode="auto">
          <a:xfrm>
            <a:off x="0" y="26971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3" name="Rectangle 8"/>
          <p:cNvSpPr>
            <a:spLocks noChangeArrowheads="1"/>
          </p:cNvSpPr>
          <p:nvPr/>
        </p:nvSpPr>
        <p:spPr bwMode="auto">
          <a:xfrm>
            <a:off x="1293018" y="225428"/>
            <a:ext cx="7313613" cy="725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r>
              <a:rPr lang="zh-CN" altLang="en-US" sz="4400" b="1" i="1" dirty="0">
                <a:effectLst>
                  <a:outerShdw blurRad="38100" dist="38100" dir="2700000" algn="tl">
                    <a:srgbClr val="000000"/>
                  </a:outerShdw>
                </a:effectLst>
                <a:ea typeface="隶书" panose="02010509060101010101" pitchFamily="49" charset="-122"/>
                <a:cs typeface="+mj-cs"/>
              </a:rPr>
              <a:t>第</a:t>
            </a:r>
            <a:r>
              <a:rPr lang="en-US" altLang="zh-CN" sz="4400" b="1" i="1" dirty="0">
                <a:effectLst>
                  <a:outerShdw blurRad="38100" dist="38100" dir="2700000" algn="tl">
                    <a:srgbClr val="000000"/>
                  </a:outerShdw>
                </a:effectLst>
                <a:ea typeface="隶书" panose="02010509060101010101" pitchFamily="49" charset="-122"/>
                <a:cs typeface="+mj-cs"/>
              </a:rPr>
              <a:t>7</a:t>
            </a:r>
            <a:r>
              <a:rPr lang="zh-CN" altLang="en-US" sz="4400" b="1" i="1" dirty="0">
                <a:effectLst>
                  <a:outerShdw blurRad="38100" dist="38100" dir="2700000" algn="tl">
                    <a:srgbClr val="000000"/>
                  </a:outerShdw>
                </a:effectLst>
                <a:ea typeface="隶书" panose="02010509060101010101" pitchFamily="49" charset="-122"/>
                <a:cs typeface="+mj-cs"/>
              </a:rPr>
              <a:t>讲 课后练习</a:t>
            </a:r>
            <a:endParaRPr lang="zh-CN" altLang="en-US" sz="4400" b="1" i="1" dirty="0">
              <a:effectLst>
                <a:outerShdw blurRad="38100" dist="38100" dir="2700000" algn="tl">
                  <a:srgbClr val="000000"/>
                </a:outerShdw>
              </a:effectLst>
              <a:ea typeface="隶书" panose="02010509060101010101" pitchFamily="49" charset="-122"/>
              <a:cs typeface="+mj-cs"/>
            </a:endParaRPr>
          </a:p>
        </p:txBody>
      </p:sp>
    </p:spTree>
  </p:cSld>
  <p:clrMapOvr>
    <a:masterClrMapping/>
  </p:clrMapOvr>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39" name="Rectangle 4"/>
          <p:cNvSpPr>
            <a:spLocks noChangeArrowheads="1"/>
          </p:cNvSpPr>
          <p:nvPr/>
        </p:nvSpPr>
        <p:spPr bwMode="auto">
          <a:xfrm>
            <a:off x="899592" y="1210469"/>
            <a:ext cx="7956550" cy="750888"/>
          </a:xfrm>
          <a:prstGeom prst="rect">
            <a:avLst/>
          </a:prstGeom>
          <a:noFill/>
          <a:ln w="9525" algn="ctr">
            <a:noFill/>
            <a:miter lim="800000"/>
          </a:ln>
        </p:spPr>
        <p:txBody>
          <a:bodyPr lIns="0" rIns="0"/>
          <a:lstStyle>
            <a:lvl1pPr marL="342900" indent="-342900" eaLnBrk="0" hangingPunct="0">
              <a:defRPr sz="2000" b="1">
                <a:solidFill>
                  <a:schemeClr val="tx1"/>
                </a:solidFill>
                <a:latin typeface="Times New Roman" panose="02020603050405020304" pitchFamily="18" charset="0"/>
                <a:ea typeface="华文楷体" panose="02010600040101010101" pitchFamily="2" charset="-122"/>
              </a:defRPr>
            </a:lvl1pPr>
            <a:lvl2pPr marL="655955" indent="-476250" eaLnBrk="0" hangingPunct="0">
              <a:defRPr sz="2000" b="1">
                <a:solidFill>
                  <a:schemeClr val="tx1"/>
                </a:solidFill>
                <a:latin typeface="Times New Roman" panose="02020603050405020304" pitchFamily="18" charset="0"/>
                <a:ea typeface="华文楷体" panose="02010600040101010101" pitchFamily="2" charset="-122"/>
              </a:defRPr>
            </a:lvl2pPr>
            <a:lvl3pPr marL="1333500" indent="-4191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marL="179705" lvl="1" indent="0" algn="l" eaLnBrk="1" hangingPunct="1">
              <a:lnSpc>
                <a:spcPct val="100000"/>
              </a:lnSpc>
              <a:spcBef>
                <a:spcPct val="20000"/>
              </a:spcBef>
              <a:spcAft>
                <a:spcPct val="10000"/>
              </a:spcAft>
              <a:buSzPct val="70000"/>
            </a:pPr>
            <a:r>
              <a:rPr lang="zh-CN" altLang="zh-CN" sz="2400" smtClean="0">
                <a:solidFill>
                  <a:srgbClr val="FFFF00"/>
                </a:solidFill>
                <a:latin typeface="+mn-lt"/>
                <a:ea typeface="+mj-ea"/>
              </a:rPr>
              <a:t> </a:t>
            </a:r>
            <a:r>
              <a:rPr lang="en-US" altLang="zh-CN" sz="2400" dirty="0" err="1" smtClean="0">
                <a:solidFill>
                  <a:srgbClr val="FFFF00"/>
                </a:solidFill>
                <a:latin typeface="+mn-lt"/>
                <a:ea typeface="+mj-ea"/>
              </a:rPr>
              <a:t>int</a:t>
            </a:r>
            <a:r>
              <a:rPr lang="en-US" altLang="zh-CN" sz="2400" dirty="0" smtClean="0">
                <a:solidFill>
                  <a:srgbClr val="FFFF00"/>
                </a:solidFill>
                <a:latin typeface="+mn-lt"/>
                <a:ea typeface="+mj-ea"/>
              </a:rPr>
              <a:t> </a:t>
            </a:r>
            <a:r>
              <a:rPr lang="en-US" altLang="zh-CN" sz="2400" dirty="0">
                <a:solidFill>
                  <a:srgbClr val="FFFF00"/>
                </a:solidFill>
                <a:latin typeface="+mn-lt"/>
                <a:ea typeface="+mj-ea"/>
              </a:rPr>
              <a:t>main()</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	</a:t>
            </a:r>
            <a:r>
              <a:rPr lang="en-US" altLang="zh-CN" sz="2400" dirty="0" err="1">
                <a:solidFill>
                  <a:srgbClr val="FFFF00"/>
                </a:solidFill>
                <a:latin typeface="+mn-lt"/>
                <a:ea typeface="+mj-ea"/>
              </a:rPr>
              <a:t>DerivedClass</a:t>
            </a:r>
            <a:r>
              <a:rPr lang="en-US" altLang="zh-CN" sz="2400" dirty="0">
                <a:solidFill>
                  <a:srgbClr val="FFFF00"/>
                </a:solidFill>
                <a:latin typeface="+mn-lt"/>
                <a:ea typeface="+mj-ea"/>
              </a:rPr>
              <a:t> a;</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	</a:t>
            </a:r>
            <a:r>
              <a:rPr lang="en-US" altLang="zh-CN" sz="2400" dirty="0" err="1">
                <a:solidFill>
                  <a:srgbClr val="FFFF00"/>
                </a:solidFill>
                <a:latin typeface="+mn-lt"/>
                <a:ea typeface="+mj-ea"/>
              </a:rPr>
              <a:t>a.print</a:t>
            </a:r>
            <a:r>
              <a:rPr lang="en-US" altLang="zh-CN" sz="2400" dirty="0">
                <a:solidFill>
                  <a:srgbClr val="FFFF00"/>
                </a:solidFill>
                <a:latin typeface="+mn-lt"/>
                <a:ea typeface="+mj-ea"/>
              </a:rPr>
              <a:t>();</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	</a:t>
            </a:r>
            <a:r>
              <a:rPr lang="en-US" altLang="zh-CN" sz="2400" dirty="0" err="1">
                <a:solidFill>
                  <a:srgbClr val="FFFF00"/>
                </a:solidFill>
                <a:latin typeface="+mn-lt"/>
                <a:ea typeface="+mj-ea"/>
              </a:rPr>
              <a:t>DerivedClass</a:t>
            </a:r>
            <a:r>
              <a:rPr lang="en-US" altLang="zh-CN" sz="2400" dirty="0">
                <a:solidFill>
                  <a:srgbClr val="FFFF00"/>
                </a:solidFill>
                <a:latin typeface="+mn-lt"/>
                <a:ea typeface="+mj-ea"/>
              </a:rPr>
              <a:t> b(20,30);</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	</a:t>
            </a:r>
            <a:r>
              <a:rPr lang="en-US" altLang="zh-CN" sz="2400" dirty="0" err="1">
                <a:solidFill>
                  <a:srgbClr val="FFFF00"/>
                </a:solidFill>
                <a:latin typeface="+mn-lt"/>
                <a:ea typeface="+mj-ea"/>
              </a:rPr>
              <a:t>b.print</a:t>
            </a:r>
            <a:r>
              <a:rPr lang="en-US" altLang="zh-CN" sz="2400" dirty="0">
                <a:solidFill>
                  <a:srgbClr val="FFFF00"/>
                </a:solidFill>
                <a:latin typeface="+mn-lt"/>
                <a:ea typeface="+mj-ea"/>
              </a:rPr>
              <a:t>();</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	return 0;</a:t>
            </a:r>
            <a:endParaRPr lang="zh-CN" altLang="zh-CN" sz="2400" dirty="0">
              <a:solidFill>
                <a:srgbClr val="FFFF00"/>
              </a:solidFill>
              <a:latin typeface="+mn-lt"/>
              <a:ea typeface="+mj-ea"/>
            </a:endParaRPr>
          </a:p>
          <a:p>
            <a:pPr algn="l"/>
            <a:r>
              <a:rPr lang="en-US" altLang="zh-CN" sz="2400" dirty="0">
                <a:solidFill>
                  <a:srgbClr val="FFFF00"/>
                </a:solidFill>
                <a:latin typeface="+mn-lt"/>
                <a:ea typeface="+mj-ea"/>
              </a:rPr>
              <a:t>}</a:t>
            </a:r>
            <a:endParaRPr lang="zh-CN" altLang="zh-CN" sz="2400" dirty="0">
              <a:solidFill>
                <a:srgbClr val="FFFF00"/>
              </a:solidFill>
              <a:latin typeface="+mn-lt"/>
              <a:ea typeface="+mj-ea"/>
            </a:endParaRPr>
          </a:p>
          <a:p>
            <a:pPr marL="179705" lvl="1" indent="0" algn="l" eaLnBrk="1" hangingPunct="1">
              <a:lnSpc>
                <a:spcPct val="100000"/>
              </a:lnSpc>
              <a:spcBef>
                <a:spcPct val="20000"/>
              </a:spcBef>
              <a:spcAft>
                <a:spcPct val="10000"/>
              </a:spcAft>
              <a:buSzPct val="70000"/>
            </a:pPr>
            <a:endParaRPr lang="zh-CN" altLang="en-US" sz="2400" dirty="0">
              <a:solidFill>
                <a:srgbClr val="FFFF00"/>
              </a:solidFill>
              <a:latin typeface="+mn-lt"/>
              <a:ea typeface="+mj-ea"/>
            </a:endParaRPr>
          </a:p>
        </p:txBody>
      </p:sp>
      <p:sp>
        <p:nvSpPr>
          <p:cNvPr id="65540" name="Rectangle 5"/>
          <p:cNvSpPr>
            <a:spLocks noChangeArrowheads="1"/>
          </p:cNvSpPr>
          <p:nvPr/>
        </p:nvSpPr>
        <p:spPr bwMode="auto">
          <a:xfrm>
            <a:off x="0" y="110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1" name="Rectangle 6"/>
          <p:cNvSpPr>
            <a:spLocks noChangeArrowheads="1"/>
          </p:cNvSpPr>
          <p:nvPr/>
        </p:nvSpPr>
        <p:spPr bwMode="auto">
          <a:xfrm>
            <a:off x="0" y="23796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2" name="Rectangle 7"/>
          <p:cNvSpPr>
            <a:spLocks noChangeArrowheads="1"/>
          </p:cNvSpPr>
          <p:nvPr/>
        </p:nvSpPr>
        <p:spPr bwMode="auto">
          <a:xfrm>
            <a:off x="0" y="2697163"/>
            <a:ext cx="9144000" cy="0"/>
          </a:xfrm>
          <a:prstGeom prst="rect">
            <a:avLst/>
          </a:prstGeom>
          <a:solidFill>
            <a:srgbClr val="F0F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000" b="1">
                <a:solidFill>
                  <a:schemeClr val="tx1"/>
                </a:solidFill>
                <a:latin typeface="Times New Roman" panose="02020603050405020304" pitchFamily="18" charset="0"/>
                <a:ea typeface="华文楷体" panose="02010600040101010101" pitchFamily="2" charset="-122"/>
              </a:defRPr>
            </a:lvl1pPr>
            <a:lvl2pPr marL="742950" indent="-285750" eaLnBrk="0" hangingPunct="0">
              <a:defRPr sz="2000" b="1">
                <a:solidFill>
                  <a:schemeClr val="tx1"/>
                </a:solidFill>
                <a:latin typeface="Times New Roman" panose="02020603050405020304" pitchFamily="18" charset="0"/>
                <a:ea typeface="华文楷体" panose="02010600040101010101" pitchFamily="2" charset="-122"/>
              </a:defRPr>
            </a:lvl2pPr>
            <a:lvl3pPr marL="1143000" indent="-228600" eaLnBrk="0" hangingPunct="0">
              <a:defRPr sz="2000" b="1">
                <a:solidFill>
                  <a:schemeClr val="tx1"/>
                </a:solidFill>
                <a:latin typeface="Times New Roman" panose="02020603050405020304" pitchFamily="18" charset="0"/>
                <a:ea typeface="华文楷体" panose="02010600040101010101" pitchFamily="2" charset="-122"/>
              </a:defRPr>
            </a:lvl3pPr>
            <a:lvl4pPr marL="1600200" indent="-228600" eaLnBrk="0" hangingPunct="0">
              <a:defRPr sz="2000" b="1">
                <a:solidFill>
                  <a:schemeClr val="tx1"/>
                </a:solidFill>
                <a:latin typeface="Times New Roman" panose="02020603050405020304" pitchFamily="18" charset="0"/>
                <a:ea typeface="华文楷体" panose="02010600040101010101" pitchFamily="2" charset="-122"/>
              </a:defRPr>
            </a:lvl4pPr>
            <a:lvl5pPr marL="2057400" indent="-228600" eaLnBrk="0" hangingPunct="0">
              <a:defRPr sz="2000" b="1">
                <a:solidFill>
                  <a:schemeClr val="tx1"/>
                </a:solidFill>
                <a:latin typeface="Times New Roman" panose="02020603050405020304" pitchFamily="18" charset="0"/>
                <a:ea typeface="华文楷体" panose="02010600040101010101" pitchFamily="2" charset="-122"/>
              </a:defRPr>
            </a:lvl5pPr>
            <a:lvl6pPr marL="25146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6pPr>
            <a:lvl7pPr marL="29718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7pPr>
            <a:lvl8pPr marL="34290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8pPr>
            <a:lvl9pPr marL="3886200" indent="-228600" eaLnBrk="0" fontAlgn="base" hangingPunct="0">
              <a:lnSpc>
                <a:spcPct val="120000"/>
              </a:lnSpc>
              <a:spcBef>
                <a:spcPct val="10000"/>
              </a:spcBef>
              <a:spcAft>
                <a:spcPct val="0"/>
              </a:spcAft>
              <a:buClr>
                <a:srgbClr val="000099"/>
              </a:buClr>
              <a:buSzPct val="65000"/>
              <a:buFont typeface="Wingdings" panose="05000000000000000000" pitchFamily="2" charset="2"/>
              <a:buChar char="u"/>
              <a:defRPr sz="2000" b="1">
                <a:solidFill>
                  <a:schemeClr val="tx1"/>
                </a:solidFill>
                <a:latin typeface="Times New Roman" panose="02020603050405020304" pitchFamily="18" charset="0"/>
                <a:ea typeface="华文楷体" panose="02010600040101010101" pitchFamily="2" charset="-122"/>
              </a:defRPr>
            </a:lvl9pPr>
          </a:lstStyle>
          <a:p>
            <a:pPr eaLnBrk="1" hangingPunct="1"/>
            <a:endParaRPr lang="zh-CN" altLang="en-US"/>
          </a:p>
        </p:txBody>
      </p:sp>
      <p:sp>
        <p:nvSpPr>
          <p:cNvPr id="65543" name="Rectangle 8"/>
          <p:cNvSpPr>
            <a:spLocks noChangeArrowheads="1"/>
          </p:cNvSpPr>
          <p:nvPr/>
        </p:nvSpPr>
        <p:spPr bwMode="auto">
          <a:xfrm>
            <a:off x="1293018" y="225428"/>
            <a:ext cx="7313613" cy="725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p>
            <a:r>
              <a:rPr lang="zh-CN" altLang="en-US" sz="4400" b="1" i="1" dirty="0">
                <a:effectLst>
                  <a:outerShdw blurRad="38100" dist="38100" dir="2700000" algn="tl">
                    <a:srgbClr val="000000"/>
                  </a:outerShdw>
                </a:effectLst>
                <a:ea typeface="隶书" panose="02010509060101010101" pitchFamily="49" charset="-122"/>
                <a:cs typeface="+mj-cs"/>
              </a:rPr>
              <a:t>第</a:t>
            </a:r>
            <a:r>
              <a:rPr lang="en-US" altLang="zh-CN" sz="4400" b="1" i="1" dirty="0">
                <a:effectLst>
                  <a:outerShdw blurRad="38100" dist="38100" dir="2700000" algn="tl">
                    <a:srgbClr val="000000"/>
                  </a:outerShdw>
                </a:effectLst>
                <a:ea typeface="隶书" panose="02010509060101010101" pitchFamily="49" charset="-122"/>
                <a:cs typeface="+mj-cs"/>
              </a:rPr>
              <a:t>7</a:t>
            </a:r>
            <a:r>
              <a:rPr lang="zh-CN" altLang="en-US" sz="4400" b="1" i="1" dirty="0">
                <a:effectLst>
                  <a:outerShdw blurRad="38100" dist="38100" dir="2700000" algn="tl">
                    <a:srgbClr val="000000"/>
                  </a:outerShdw>
                </a:effectLst>
                <a:ea typeface="隶书" panose="02010509060101010101" pitchFamily="49" charset="-122"/>
                <a:cs typeface="+mj-cs"/>
              </a:rPr>
              <a:t>讲 课后练习</a:t>
            </a:r>
            <a:endParaRPr lang="zh-CN" altLang="en-US" sz="4400" b="1" i="1" dirty="0">
              <a:effectLst>
                <a:outerShdw blurRad="38100" dist="38100" dir="2700000" algn="tl">
                  <a:srgbClr val="000000"/>
                </a:outerShdw>
              </a:effectLst>
              <a:ea typeface="隶书" panose="02010509060101010101" pitchFamily="49" charset="-122"/>
              <a:cs typeface="+mj-cs"/>
            </a:endParaRPr>
          </a:p>
        </p:txBody>
      </p:sp>
    </p:spTree>
  </p:cSld>
  <p:clrMapOvr>
    <a:masterClrMapping/>
  </p:clrMapOvr>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906" name="WordArt 2"/>
          <p:cNvSpPr>
            <a:spLocks noChangeArrowheads="1" noChangeShapeType="1" noTextEdit="1"/>
          </p:cNvSpPr>
          <p:nvPr/>
        </p:nvSpPr>
        <p:spPr bwMode="auto">
          <a:xfrm>
            <a:off x="4644008" y="5181600"/>
            <a:ext cx="3966592" cy="838200"/>
          </a:xfrm>
          <a:prstGeom prst="rect">
            <a:avLst/>
          </a:prstGeom>
          <a:extLst>
            <a:ext uri="{91240B29-F687-4F45-9708-019B960494DF}">
              <a14:hiddenLine xmlns:a14="http://schemas.microsoft.com/office/drawing/2010/main" w="9525">
                <a:solidFill>
                  <a:srgbClr val="000000"/>
                </a:solidFill>
                <a:round/>
              </a14:hiddenLine>
            </a:ext>
          </a:extLst>
        </p:spPr>
        <p:txBody>
          <a:bodyPr wrap="none" fromWordArt="1">
            <a:prstTxWarp prst="textPlain">
              <a:avLst>
                <a:gd name="adj" fmla="val 50000"/>
              </a:avLst>
            </a:prstTxWarp>
          </a:bodyPr>
          <a:lstStyle/>
          <a:p>
            <a:r>
              <a:rPr lang="zh-CN" altLang="en-US" sz="3600" kern="10" dirty="0" smtClean="0">
                <a:gradFill rotWithShape="0">
                  <a:gsLst>
                    <a:gs pos="0">
                      <a:srgbClr val="FFFF00"/>
                    </a:gs>
                    <a:gs pos="100000">
                      <a:srgbClr val="FF9933"/>
                    </a:gs>
                  </a:gsLst>
                  <a:path path="rect">
                    <a:fillToRect l="50000" t="50000" r="50000" b="50000"/>
                  </a:path>
                </a:gradFill>
                <a:effectLst>
                  <a:outerShdw dist="35921" dir="2700000" algn="ctr" rotWithShape="0">
                    <a:srgbClr val="C0C0C0"/>
                  </a:outerShdw>
                </a:effectLst>
                <a:latin typeface="华文彩云" panose="02010800040101010101" pitchFamily="2" charset="-122"/>
                <a:ea typeface="华文彩云" panose="02010800040101010101" pitchFamily="2" charset="-122"/>
              </a:rPr>
              <a:t>有问题吗？</a:t>
            </a:r>
            <a:endParaRPr lang="zh-CN" altLang="en-US" sz="3600" kern="10" dirty="0">
              <a:gradFill rotWithShape="0">
                <a:gsLst>
                  <a:gs pos="0">
                    <a:srgbClr val="FFFF00"/>
                  </a:gs>
                  <a:gs pos="100000">
                    <a:srgbClr val="FF9933"/>
                  </a:gs>
                </a:gsLst>
                <a:path path="rect">
                  <a:fillToRect l="50000" t="50000" r="50000" b="50000"/>
                </a:path>
              </a:gradFill>
              <a:effectLst>
                <a:outerShdw dist="35921" dir="2700000" algn="ctr" rotWithShape="0">
                  <a:srgbClr val="C0C0C0"/>
                </a:outerShdw>
              </a:effectLst>
              <a:latin typeface="华文彩云" panose="02010800040101010101" pitchFamily="2" charset="-122"/>
              <a:ea typeface="华文彩云" panose="02010800040101010101" pitchFamily="2" charset="-122"/>
            </a:endParaRPr>
          </a:p>
        </p:txBody>
      </p:sp>
      <p:pic>
        <p:nvPicPr>
          <p:cNvPr id="635907" name="Picture 3"/>
          <p:cNvPicPr>
            <a:picLocks noChangeAspect="1" noChangeArrowheads="1"/>
          </p:cNvPicPr>
          <p:nvPr/>
        </p:nvPicPr>
        <p:blipFill>
          <a:blip r:embed="rId1" cstate="print">
            <a:clrChange>
              <a:clrFrom>
                <a:srgbClr val="FFFFFF"/>
              </a:clrFrom>
              <a:clrTo>
                <a:srgbClr val="FFFFFF">
                  <a:alpha val="0"/>
                </a:srgbClr>
              </a:clrTo>
            </a:clrChange>
            <a:biLevel thresh="50000"/>
            <a:grayscl/>
            <a:lum contrast="70000"/>
            <a:extLst>
              <a:ext uri="{28A0092B-C50C-407E-A947-70E740481C1C}">
                <a14:useLocalDpi xmlns:a14="http://schemas.microsoft.com/office/drawing/2010/main" val="0"/>
              </a:ext>
            </a:extLst>
          </a:blip>
          <a:srcRect/>
          <a:stretch>
            <a:fillRect/>
          </a:stretch>
        </p:blipFill>
        <p:spPr bwMode="auto">
          <a:xfrm>
            <a:off x="3505200" y="3048000"/>
            <a:ext cx="1828800" cy="1143000"/>
          </a:xfrm>
          <a:prstGeom prst="rect">
            <a:avLst/>
          </a:prstGeom>
          <a:noFill/>
          <a:effectLst>
            <a:prstShdw prst="shdw17">
              <a:srgbClr val="FFFFFF">
                <a:gamma/>
                <a:shade val="60000"/>
                <a:invGamma/>
              </a:srgbClr>
            </a:prstShdw>
          </a:effectLst>
          <a:extLst>
            <a:ext uri="{909E8E84-426E-40DD-AFC4-6F175D3DCCD1}">
              <a14:hiddenFill xmlns:a14="http://schemas.microsoft.com/office/drawing/2010/main">
                <a:solidFill>
                  <a:srgbClr val="FFFFFF"/>
                </a:solidFill>
              </a14:hiddenFill>
            </a:ext>
          </a:extLst>
        </p:spPr>
      </p:pic>
      <p:sp>
        <p:nvSpPr>
          <p:cNvPr id="635908" name="Text Box 4"/>
          <p:cNvSpPr txBox="1">
            <a:spLocks noChangeArrowheads="1"/>
          </p:cNvSpPr>
          <p:nvPr/>
        </p:nvSpPr>
        <p:spPr bwMode="auto">
          <a:xfrm>
            <a:off x="539552" y="1196752"/>
            <a:ext cx="8153400" cy="11429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dist">
              <a:lnSpc>
                <a:spcPct val="75000"/>
              </a:lnSpc>
              <a:spcBef>
                <a:spcPct val="50000"/>
              </a:spcBef>
            </a:pPr>
            <a:r>
              <a:rPr lang="zh-CN" altLang="en-US" sz="8800" dirty="0">
                <a:latin typeface="华文彩云" panose="02010800040101010101" pitchFamily="2" charset="-122"/>
                <a:ea typeface="华文彩云" panose="02010800040101010101" pitchFamily="2" charset="-122"/>
              </a:rPr>
              <a:t>本讲结束</a:t>
            </a:r>
            <a:endParaRPr lang="zh-CN" altLang="en-US" sz="8800" dirty="0">
              <a:ea typeface="华文行楷"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528" fill="hold" grpId="0" nodeType="afterEffect">
                                  <p:stCondLst>
                                    <p:cond delay="0"/>
                                  </p:stCondLst>
                                  <p:childTnLst>
                                    <p:set>
                                      <p:cBhvr>
                                        <p:cTn id="6" dur="1" fill="hold">
                                          <p:stCondLst>
                                            <p:cond delay="0"/>
                                          </p:stCondLst>
                                        </p:cTn>
                                        <p:tgtEl>
                                          <p:spTgt spid="635906"/>
                                        </p:tgtEl>
                                        <p:attrNameLst>
                                          <p:attrName>style.visibility</p:attrName>
                                        </p:attrNameLst>
                                      </p:cBhvr>
                                      <p:to>
                                        <p:strVal val="visible"/>
                                      </p:to>
                                    </p:set>
                                    <p:anim calcmode="lin" valueType="num">
                                      <p:cBhvr>
                                        <p:cTn id="7" dur="500" fill="hold"/>
                                        <p:tgtEl>
                                          <p:spTgt spid="635906"/>
                                        </p:tgtEl>
                                        <p:attrNameLst>
                                          <p:attrName>ppt_w</p:attrName>
                                        </p:attrNameLst>
                                      </p:cBhvr>
                                      <p:tavLst>
                                        <p:tav tm="0">
                                          <p:val>
                                            <p:fltVal val="0"/>
                                          </p:val>
                                        </p:tav>
                                        <p:tav tm="100000">
                                          <p:val>
                                            <p:strVal val="#ppt_w"/>
                                          </p:val>
                                        </p:tav>
                                      </p:tavLst>
                                    </p:anim>
                                    <p:anim calcmode="lin" valueType="num">
                                      <p:cBhvr>
                                        <p:cTn id="8" dur="500" fill="hold"/>
                                        <p:tgtEl>
                                          <p:spTgt spid="635906"/>
                                        </p:tgtEl>
                                        <p:attrNameLst>
                                          <p:attrName>ppt_h</p:attrName>
                                        </p:attrNameLst>
                                      </p:cBhvr>
                                      <p:tavLst>
                                        <p:tav tm="0">
                                          <p:val>
                                            <p:fltVal val="0"/>
                                          </p:val>
                                        </p:tav>
                                        <p:tav tm="100000">
                                          <p:val>
                                            <p:strVal val="#ppt_h"/>
                                          </p:val>
                                        </p:tav>
                                      </p:tavLst>
                                    </p:anim>
                                    <p:anim calcmode="lin" valueType="num">
                                      <p:cBhvr>
                                        <p:cTn id="9" dur="500" fill="hold"/>
                                        <p:tgtEl>
                                          <p:spTgt spid="635906"/>
                                        </p:tgtEl>
                                        <p:attrNameLst>
                                          <p:attrName>ppt_x</p:attrName>
                                        </p:attrNameLst>
                                      </p:cBhvr>
                                      <p:tavLst>
                                        <p:tav tm="0">
                                          <p:val>
                                            <p:fltVal val="0.5"/>
                                          </p:val>
                                        </p:tav>
                                        <p:tav tm="100000">
                                          <p:val>
                                            <p:strVal val="#ppt_x"/>
                                          </p:val>
                                        </p:tav>
                                      </p:tavLst>
                                    </p:anim>
                                    <p:anim calcmode="lin" valueType="num">
                                      <p:cBhvr>
                                        <p:cTn id="10" dur="500" fill="hold"/>
                                        <p:tgtEl>
                                          <p:spTgt spid="635906"/>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906" grpId="0" animBg="1"/>
    </p:bldLst>
  </p:timing>
</p:sld>
</file>

<file path=ppt/tags/tag1.xml><?xml version="1.0" encoding="utf-8"?>
<p:tagLst xmlns:p="http://schemas.openxmlformats.org/presentationml/2006/main">
  <p:tag name="KSO_WPP_MARK_KEY" val="f99bc3c5-a675-412a-8c84-9cdc71f4bbbc"/>
  <p:tag name="COMMONDATA" val="eyJoZGlkIjoiYjE5NTMxMzVkMjIwM2E5N2RhNTBjOGFiMGNlN2E4NzUifQ=="/>
</p:tagLst>
</file>

<file path=ppt/theme/theme1.xml><?xml version="1.0" encoding="utf-8"?>
<a:theme xmlns:a="http://schemas.openxmlformats.org/drawingml/2006/main" name="Blank Presentation">
  <a:themeElements>
    <a:clrScheme name="Blank Presentation 1">
      <a:dk1>
        <a:srgbClr val="2A004E"/>
      </a:dk1>
      <a:lt1>
        <a:srgbClr val="FFFFFF"/>
      </a:lt1>
      <a:dk2>
        <a:srgbClr val="500093"/>
      </a:dk2>
      <a:lt2>
        <a:srgbClr val="00CCCC"/>
      </a:lt2>
      <a:accent1>
        <a:srgbClr val="D60093"/>
      </a:accent1>
      <a:accent2>
        <a:srgbClr val="0000FF"/>
      </a:accent2>
      <a:accent3>
        <a:srgbClr val="B3AAC8"/>
      </a:accent3>
      <a:accent4>
        <a:srgbClr val="DADADA"/>
      </a:accent4>
      <a:accent5>
        <a:srgbClr val="E8AAC8"/>
      </a:accent5>
      <a:accent6>
        <a:srgbClr val="0000E7"/>
      </a:accent6>
      <a:hlink>
        <a:srgbClr val="FFFF00"/>
      </a:hlink>
      <a:folHlink>
        <a:srgbClr val="7500D7"/>
      </a:folHlink>
    </a:clrScheme>
    <a:fontScheme name="Blank Presentation">
      <a:majorFont>
        <a:latin typeface="Times New Roman"/>
        <a:ea typeface="隶书"/>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36000" tIns="0" rIns="36000" bIns="0" numCol="1" anchor="ctr" anchorCtr="1"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36000" tIns="0" rIns="36000" bIns="0" numCol="1" anchor="ctr" anchorCtr="1"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幼圆" panose="02010509060101010101" pitchFamily="49" charset="-122"/>
          </a:defRPr>
        </a:defPPr>
      </a:lstStyle>
    </a:lnDef>
    <a:txDef>
      <a:spPr bwMode="auto">
        <a:noFill/>
        <a:ln w="9525" algn="ctr">
          <a:noFill/>
          <a:miter lim="800000"/>
        </a:ln>
      </a:spPr>
      <a:bodyPr anchor="ctr"/>
      <a:lstStyle>
        <a:defPPr algn="l" eaLnBrk="1" hangingPunct="1">
          <a:lnSpc>
            <a:spcPct val="150000"/>
          </a:lnSpc>
          <a:spcBef>
            <a:spcPct val="50000"/>
          </a:spcBef>
          <a:defRPr sz="2400" dirty="0" smtClean="0"/>
        </a:defPPr>
      </a:lstStyle>
    </a:txDef>
  </a:objectDefaults>
  <a:extraClrSchemeLst>
    <a:extraClrScheme>
      <a:clrScheme name="Blank Presentation 1">
        <a:dk1>
          <a:srgbClr val="2A004E"/>
        </a:dk1>
        <a:lt1>
          <a:srgbClr val="FFFFFF"/>
        </a:lt1>
        <a:dk2>
          <a:srgbClr val="500093"/>
        </a:dk2>
        <a:lt2>
          <a:srgbClr val="00CCCC"/>
        </a:lt2>
        <a:accent1>
          <a:srgbClr val="D60093"/>
        </a:accent1>
        <a:accent2>
          <a:srgbClr val="0000FF"/>
        </a:accent2>
        <a:accent3>
          <a:srgbClr val="B3AAC8"/>
        </a:accent3>
        <a:accent4>
          <a:srgbClr val="DADADA"/>
        </a:accent4>
        <a:accent5>
          <a:srgbClr val="E8AAC8"/>
        </a:accent5>
        <a:accent6>
          <a:srgbClr val="0000E7"/>
        </a:accent6>
        <a:hlink>
          <a:srgbClr val="FFFF00"/>
        </a:hlink>
        <a:folHlink>
          <a:srgbClr val="7500D7"/>
        </a:folHlink>
      </a:clrScheme>
      <a:clrMap bg1="dk2" tx1="lt1" bg2="dk1" tx2="lt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CCECFF"/>
        </a:lt2>
        <a:accent1>
          <a:srgbClr val="CC99FF"/>
        </a:accent1>
        <a:accent2>
          <a:srgbClr val="3366FF"/>
        </a:accent2>
        <a:accent3>
          <a:srgbClr val="FFFFFF"/>
        </a:accent3>
        <a:accent4>
          <a:srgbClr val="000000"/>
        </a:accent4>
        <a:accent5>
          <a:srgbClr val="E2CAFF"/>
        </a:accent5>
        <a:accent6>
          <a:srgbClr val="2D5CE7"/>
        </a:accent6>
        <a:hlink>
          <a:srgbClr val="00CCFF"/>
        </a:hlink>
        <a:folHlink>
          <a:srgbClr val="99CCFF"/>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969696"/>
        </a:lt2>
        <a:accent1>
          <a:srgbClr val="777777"/>
        </a:accent1>
        <a:accent2>
          <a:srgbClr val="CBCBCB"/>
        </a:accent2>
        <a:accent3>
          <a:srgbClr val="FFFFFF"/>
        </a:accent3>
        <a:accent4>
          <a:srgbClr val="000000"/>
        </a:accent4>
        <a:accent5>
          <a:srgbClr val="BDBDBD"/>
        </a:accent5>
        <a:accent6>
          <a:srgbClr val="B8B8B8"/>
        </a:accent6>
        <a:hlink>
          <a:srgbClr val="4D4D4D"/>
        </a:hlink>
        <a:folHlink>
          <a:srgbClr val="DDDDDD"/>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00CCCC"/>
        </a:lt1>
        <a:dk2>
          <a:srgbClr val="FFFFCC"/>
        </a:dk2>
        <a:lt2>
          <a:srgbClr val="009999"/>
        </a:lt2>
        <a:accent1>
          <a:srgbClr val="CC99FF"/>
        </a:accent1>
        <a:accent2>
          <a:srgbClr val="3366FF"/>
        </a:accent2>
        <a:accent3>
          <a:srgbClr val="AAE2E2"/>
        </a:accent3>
        <a:accent4>
          <a:srgbClr val="000000"/>
        </a:accent4>
        <a:accent5>
          <a:srgbClr val="E2CAFF"/>
        </a:accent5>
        <a:accent6>
          <a:srgbClr val="2D5CE7"/>
        </a:accent6>
        <a:hlink>
          <a:srgbClr val="00CCFF"/>
        </a:hlink>
        <a:folHlink>
          <a:srgbClr val="00FFCC"/>
        </a:folHlink>
      </a:clrScheme>
      <a:clrMap bg1="lt1" tx1="dk1" bg2="lt2" tx2="dk2" accent1="accent1" accent2="accent2" accent3="accent3" accent4="accent4" accent5="accent5" accent6="accent6" hlink="hlink" folHlink="folHlink"/>
    </a:extraClrScheme>
    <a:extraClrScheme>
      <a:clrScheme name="Blank Presentation 5">
        <a:dk1>
          <a:srgbClr val="003300"/>
        </a:dk1>
        <a:lt1>
          <a:srgbClr val="FFFFFF"/>
        </a:lt1>
        <a:dk2>
          <a:srgbClr val="669900"/>
        </a:dk2>
        <a:lt2>
          <a:srgbClr val="FFCC66"/>
        </a:lt2>
        <a:accent1>
          <a:srgbClr val="990033"/>
        </a:accent1>
        <a:accent2>
          <a:srgbClr val="FF9933"/>
        </a:accent2>
        <a:accent3>
          <a:srgbClr val="B8CAAA"/>
        </a:accent3>
        <a:accent4>
          <a:srgbClr val="DADADA"/>
        </a:accent4>
        <a:accent5>
          <a:srgbClr val="CAAAAD"/>
        </a:accent5>
        <a:accent6>
          <a:srgbClr val="E78A2D"/>
        </a:accent6>
        <a:hlink>
          <a:srgbClr val="CCCC00"/>
        </a:hlink>
        <a:folHlink>
          <a:srgbClr val="009900"/>
        </a:folHlink>
      </a:clrScheme>
      <a:clrMap bg1="dk2" tx1="lt1" bg2="dk1" tx2="lt2" accent1="accent1" accent2="accent2" accent3="accent3" accent4="accent4" accent5="accent5" accent6="accent6" hlink="hlink" folHlink="folHlink"/>
    </a:extraClrScheme>
    <a:extraClrScheme>
      <a:clrScheme name="Blank Presentation 6">
        <a:dk1>
          <a:srgbClr val="663300"/>
        </a:dk1>
        <a:lt1>
          <a:srgbClr val="FFFFFF"/>
        </a:lt1>
        <a:dk2>
          <a:srgbClr val="CC6600"/>
        </a:dk2>
        <a:lt2>
          <a:srgbClr val="FFCC00"/>
        </a:lt2>
        <a:accent1>
          <a:srgbClr val="990033"/>
        </a:accent1>
        <a:accent2>
          <a:srgbClr val="FF0033"/>
        </a:accent2>
        <a:accent3>
          <a:srgbClr val="E2B8AA"/>
        </a:accent3>
        <a:accent4>
          <a:srgbClr val="DADADA"/>
        </a:accent4>
        <a:accent5>
          <a:srgbClr val="CAAAAD"/>
        </a:accent5>
        <a:accent6>
          <a:srgbClr val="E7002D"/>
        </a:accent6>
        <a:hlink>
          <a:srgbClr val="CCCC00"/>
        </a:hlink>
        <a:folHlink>
          <a:srgbClr val="FF9900"/>
        </a:folHlink>
      </a:clrScheme>
      <a:clrMap bg1="dk2" tx1="lt1" bg2="dk1" tx2="lt2" accent1="accent1" accent2="accent2" accent3="accent3" accent4="accent4" accent5="accent5" accent6="accent6" hlink="hlink" folHlink="folHlink"/>
    </a:extraClrScheme>
    <a:extraClrScheme>
      <a:clrScheme name="Blank Presentation 7">
        <a:dk1>
          <a:srgbClr val="660033"/>
        </a:dk1>
        <a:lt1>
          <a:srgbClr val="FFFFFF"/>
        </a:lt1>
        <a:dk2>
          <a:srgbClr val="990066"/>
        </a:dk2>
        <a:lt2>
          <a:srgbClr val="FFFF66"/>
        </a:lt2>
        <a:accent1>
          <a:srgbClr val="9933FF"/>
        </a:accent1>
        <a:accent2>
          <a:srgbClr val="00CCCC"/>
        </a:accent2>
        <a:accent3>
          <a:srgbClr val="CAAAB8"/>
        </a:accent3>
        <a:accent4>
          <a:srgbClr val="DADADA"/>
        </a:accent4>
        <a:accent5>
          <a:srgbClr val="CAADFF"/>
        </a:accent5>
        <a:accent6>
          <a:srgbClr val="00B9B9"/>
        </a:accent6>
        <a:hlink>
          <a:srgbClr val="CC66FF"/>
        </a:hlink>
        <a:folHlink>
          <a:srgbClr val="D60093"/>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35771</Words>
  <Application>WPS 演示</Application>
  <PresentationFormat>全屏显示(4:3)</PresentationFormat>
  <Paragraphs>2191</Paragraphs>
  <Slides>131</Slides>
  <Notes>38</Notes>
  <HiddenSlides>17</HiddenSlides>
  <MMClips>0</MMClips>
  <ScaleCrop>false</ScaleCrop>
  <HeadingPairs>
    <vt:vector size="8" baseType="variant">
      <vt:variant>
        <vt:lpstr>已用的字体</vt:lpstr>
      </vt:variant>
      <vt:variant>
        <vt:i4>21</vt:i4>
      </vt:variant>
      <vt:variant>
        <vt:lpstr>主题</vt:lpstr>
      </vt:variant>
      <vt:variant>
        <vt:i4>1</vt:i4>
      </vt:variant>
      <vt:variant>
        <vt:lpstr>嵌入 OLE 服务器</vt:lpstr>
      </vt:variant>
      <vt:variant>
        <vt:i4>1</vt:i4>
      </vt:variant>
      <vt:variant>
        <vt:lpstr>幻灯片标题</vt:lpstr>
      </vt:variant>
      <vt:variant>
        <vt:i4>131</vt:i4>
      </vt:variant>
    </vt:vector>
  </HeadingPairs>
  <TitlesOfParts>
    <vt:vector size="154" baseType="lpstr">
      <vt:lpstr>Arial</vt:lpstr>
      <vt:lpstr>宋体</vt:lpstr>
      <vt:lpstr>Wingdings</vt:lpstr>
      <vt:lpstr>Times New Roman</vt:lpstr>
      <vt:lpstr>幼圆</vt:lpstr>
      <vt:lpstr>隶书</vt:lpstr>
      <vt:lpstr>Monotype Sorts</vt:lpstr>
      <vt:lpstr>Wingdings</vt:lpstr>
      <vt:lpstr>Book Antiqua</vt:lpstr>
      <vt:lpstr>黑体</vt:lpstr>
      <vt:lpstr>微软雅黑</vt:lpstr>
      <vt:lpstr>方正舒体</vt:lpstr>
      <vt:lpstr>华文中宋</vt:lpstr>
      <vt:lpstr>华文彩云</vt:lpstr>
      <vt:lpstr>华文楷体</vt:lpstr>
      <vt:lpstr>Verdana</vt:lpstr>
      <vt:lpstr>Symbol</vt:lpstr>
      <vt:lpstr>Arial Unicode MS</vt:lpstr>
      <vt:lpstr>Trebuchet MS</vt:lpstr>
      <vt:lpstr>方正姚体</vt:lpstr>
      <vt:lpstr>华文行楷</vt:lpstr>
      <vt:lpstr>Blank Presentation</vt:lpstr>
      <vt:lpstr>OrgPlusWOPX.4</vt:lpstr>
      <vt:lpstr>PowerPoint 演示文稿</vt:lpstr>
      <vt:lpstr>PowerPoint 演示文稿</vt:lpstr>
      <vt:lpstr>PowerPoint 演示文稿</vt:lpstr>
      <vt:lpstr>基类和派生类</vt:lpstr>
      <vt:lpstr>7.1 继承关系举例</vt:lpstr>
      <vt:lpstr>PowerPoint 演示文稿</vt:lpstr>
      <vt:lpstr>单继承</vt:lpstr>
      <vt:lpstr>多继承</vt:lpstr>
      <vt:lpstr>类的层次关系</vt:lpstr>
      <vt:lpstr>类的层次关系</vt:lpstr>
      <vt:lpstr>类的层次关系</vt:lpstr>
      <vt:lpstr>类的层次关系</vt:lpstr>
      <vt:lpstr>继承与派生的目的</vt:lpstr>
      <vt:lpstr>7.1.2派生类的定义(单继承) </vt:lpstr>
      <vt:lpstr>单继承范例 </vt:lpstr>
      <vt:lpstr>单继承范例 </vt:lpstr>
      <vt:lpstr>单继承范例 </vt:lpstr>
      <vt:lpstr>单继承范例 </vt:lpstr>
      <vt:lpstr>单继承范例 </vt:lpstr>
      <vt:lpstr> 单继承范例 </vt:lpstr>
      <vt:lpstr>7.1.2派生类的定义（多继承） </vt:lpstr>
      <vt:lpstr>多继承范例</vt:lpstr>
      <vt:lpstr>7.1.3 派生类生成过程</vt:lpstr>
      <vt:lpstr>PowerPoint 演示文稿</vt:lpstr>
      <vt:lpstr>   访问控制</vt:lpstr>
      <vt:lpstr>7.2 访问控制</vt:lpstr>
      <vt:lpstr>7.2.1 公有继承(public)</vt:lpstr>
      <vt:lpstr>例7-1  公有继承举例 类图</vt:lpstr>
      <vt:lpstr>例7-1 公有继承举例</vt:lpstr>
      <vt:lpstr>例7-1 (续)</vt:lpstr>
      <vt:lpstr>例7-1 (续)</vt:lpstr>
      <vt:lpstr>7.2.2 私有继承(private)</vt:lpstr>
      <vt:lpstr>例7-2 私有继承举例</vt:lpstr>
      <vt:lpstr>例7-2 （续）</vt:lpstr>
      <vt:lpstr>例7-2 (续)</vt:lpstr>
      <vt:lpstr>7.2.3 保护继承(protected)</vt:lpstr>
      <vt:lpstr>protected 成员的特点与作用</vt:lpstr>
      <vt:lpstr>例： protected 成员举例</vt:lpstr>
      <vt:lpstr>例 (续)</vt:lpstr>
      <vt:lpstr>多继承举例</vt:lpstr>
      <vt:lpstr>多继承举例 (续)</vt:lpstr>
      <vt:lpstr>类型兼容规则</vt:lpstr>
      <vt:lpstr>7.3 类型转换规则</vt:lpstr>
      <vt:lpstr>例7-3 类型转换规则举例</vt:lpstr>
      <vt:lpstr>例7-3 (续)</vt:lpstr>
      <vt:lpstr>派生类的构造 和析构函数</vt:lpstr>
      <vt:lpstr>7.4.1  构造函数</vt:lpstr>
      <vt:lpstr>单一继承时的构造函数</vt:lpstr>
      <vt:lpstr>单一继承时的构造函数举例</vt:lpstr>
      <vt:lpstr>单一继承时的构造函数举例 (续)</vt:lpstr>
      <vt:lpstr>单一继承时的构造函数举例 (续)</vt:lpstr>
      <vt:lpstr>单一继承时的构造函数举例 (续)</vt:lpstr>
      <vt:lpstr>多继承时的构造函数</vt:lpstr>
      <vt:lpstr>派生类与基类的构造函数</vt:lpstr>
      <vt:lpstr>多继承且有内嵌对象时的 构造函数</vt:lpstr>
      <vt:lpstr>构造函数的执行顺序</vt:lpstr>
      <vt:lpstr>例7-4 派生类构造函数举例</vt:lpstr>
      <vt:lpstr>例7-4 (续)</vt:lpstr>
      <vt:lpstr>7.4.2 复制构造函数</vt:lpstr>
      <vt:lpstr>7.4.3 析构函数</vt:lpstr>
      <vt:lpstr>例7-5 派生类析构函数举例</vt:lpstr>
      <vt:lpstr>例7-5 (续)</vt:lpstr>
      <vt:lpstr>7.4.4  delete构造函数</vt:lpstr>
      <vt:lpstr>  派生类成员 的标识和访问</vt:lpstr>
      <vt:lpstr>PowerPoint 演示文稿</vt:lpstr>
      <vt:lpstr>7.5.1 作用域分辨符</vt:lpstr>
      <vt:lpstr>例7-6 多继承同名隐藏举例</vt:lpstr>
      <vt:lpstr>例7-6 (续)</vt:lpstr>
      <vt:lpstr>二义性问题</vt:lpstr>
      <vt:lpstr>二义性问题举例</vt:lpstr>
      <vt:lpstr>例7-7  多继承同名隐藏举例</vt:lpstr>
      <vt:lpstr>例7-7（续）</vt:lpstr>
      <vt:lpstr>PowerPoint 演示文稿</vt:lpstr>
      <vt:lpstr>7.5.2 虚基类</vt:lpstr>
      <vt:lpstr>例7-8 虚基类举例</vt:lpstr>
      <vt:lpstr>例7-8 (续)</vt:lpstr>
      <vt:lpstr>例7-8 (续)</vt:lpstr>
      <vt:lpstr>7.5.3 虚基类及其派生类构造函数</vt:lpstr>
      <vt:lpstr>有虚基类时的构造函数举例</vt:lpstr>
      <vt:lpstr>有虚基类时的构造函数举例 (续)</vt:lpstr>
      <vt:lpstr>程序实例 ——用高斯消去法解线性方程组</vt:lpstr>
      <vt:lpstr>PowerPoint 演示文稿</vt:lpstr>
      <vt:lpstr>7.6.2 程序设计分析</vt:lpstr>
      <vt:lpstr>7.6.3 源程序及说明</vt:lpstr>
      <vt:lpstr>例7-9（续）</vt:lpstr>
      <vt:lpstr>例7-9（续）</vt:lpstr>
      <vt:lpstr>例7-9（续）</vt:lpstr>
      <vt:lpstr>例7-9（续）</vt:lpstr>
      <vt:lpstr>例7-9（续）</vt:lpstr>
      <vt:lpstr>例7-9（续）</vt:lpstr>
      <vt:lpstr>例7-9（续）</vt:lpstr>
      <vt:lpstr>例7-9（续）</vt:lpstr>
      <vt:lpstr>例7-9（续）</vt:lpstr>
      <vt:lpstr>例7-9（续）</vt:lpstr>
      <vt:lpstr>综合实例 ——个人银行账户管理程序</vt:lpstr>
      <vt:lpstr>7.7.1 问题的提出</vt:lpstr>
      <vt:lpstr>PowerPoint 演示文稿</vt:lpstr>
      <vt:lpstr>7.7.3 源程序及说明</vt:lpstr>
      <vt:lpstr>例7-10（续）</vt:lpstr>
      <vt:lpstr>例7-10（续）</vt:lpstr>
      <vt:lpstr>例7-10（续）</vt:lpstr>
      <vt:lpstr>例7-10（续）</vt:lpstr>
      <vt:lpstr>例7-10（续）</vt:lpstr>
      <vt:lpstr>例7-10（续）</vt:lpstr>
      <vt:lpstr>例7-10（续）</vt:lpstr>
      <vt:lpstr>例7-10（续）</vt:lpstr>
      <vt:lpstr>例7-10（续）</vt:lpstr>
      <vt:lpstr>例7-10（续）</vt:lpstr>
      <vt:lpstr>例7-10（续）</vt:lpstr>
      <vt:lpstr>例7-10（续）</vt:lpstr>
      <vt:lpstr>例7-10（续）——结果</vt:lpstr>
      <vt:lpstr>深度探索</vt:lpstr>
      <vt:lpstr>7.8.1 组合与继承</vt:lpstr>
      <vt:lpstr>“has-a”举例</vt:lpstr>
      <vt:lpstr>公有继承的意义</vt:lpstr>
      <vt:lpstr>“is-a”举例</vt:lpstr>
      <vt:lpstr>7.8.2 派生类对象的内存布局</vt:lpstr>
      <vt:lpstr>单继承情形</vt:lpstr>
      <vt:lpstr>多继承情形</vt:lpstr>
      <vt:lpstr>虚拟继承情形</vt:lpstr>
      <vt:lpstr>7.8.3基类向派生的转换 及其安全性问题</vt:lpstr>
      <vt:lpstr>类型转换时的注意事项(1)</vt:lpstr>
      <vt:lpstr>类型转换时的注意事项(2)</vt:lpstr>
      <vt:lpstr>本讲小结</vt:lpstr>
      <vt:lpstr>本讲主要知识点</vt:lpstr>
      <vt:lpstr>PowerPoint 演示文稿</vt:lpstr>
      <vt:lpstr>PowerPoint 演示文稿</vt:lpstr>
      <vt:lpstr>PowerPoint 演示文稿</vt:lpstr>
      <vt:lpstr>PowerPoint 演示文稿</vt:lpstr>
      <vt:lpstr>PowerPoint 演示文稿</vt:lpstr>
      <vt:lpstr>PowerPoint 演示文稿</vt:lpstr>
    </vt:vector>
  </TitlesOfParts>
  <Company>武汉大学</Company>
  <LinksUpToDate>false</LinksUpToDate>
  <SharedDoc>false</SharedDoc>
  <HyperlinksChanged>false</HyperlinksChanged>
  <AppVersion>14.0000</AppVersion>
  <Pages>3</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谭成予</dc:creator>
  <cp:lastModifiedBy>刘峰</cp:lastModifiedBy>
  <cp:revision>1885</cp:revision>
  <cp:lastPrinted>1996-09-12T11:44:00Z</cp:lastPrinted>
  <dcterms:created xsi:type="dcterms:W3CDTF">1999-08-09T22:53:00Z</dcterms:created>
  <dcterms:modified xsi:type="dcterms:W3CDTF">2023-11-29T04:53:12Z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C83054F030554346AE02B17BC5343099_12</vt:lpwstr>
  </property>
  <property fmtid="{D5CDD505-2E9C-101B-9397-08002B2CF9AE}" pid="3" name="KSOProductBuildVer">
    <vt:lpwstr>2052-11.1.0.14309</vt:lpwstr>
  </property>
</Properties>
</file>