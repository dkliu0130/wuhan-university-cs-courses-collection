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53"/>
  </p:handoutMasterIdLst>
  <p:sldIdLst>
    <p:sldId id="1524" r:id="rId3"/>
    <p:sldId id="1375" r:id="rId4"/>
    <p:sldId id="1685" r:id="rId5"/>
    <p:sldId id="1683" r:id="rId6"/>
    <p:sldId id="1686" r:id="rId7"/>
    <p:sldId id="1688" r:id="rId8"/>
    <p:sldId id="1689" r:id="rId9"/>
    <p:sldId id="1690" r:id="rId11"/>
    <p:sldId id="1691" r:id="rId12"/>
    <p:sldId id="1692" r:id="rId13"/>
    <p:sldId id="1693" r:id="rId14"/>
    <p:sldId id="1694" r:id="rId15"/>
    <p:sldId id="1525" r:id="rId16"/>
    <p:sldId id="1388" r:id="rId17"/>
    <p:sldId id="1389" r:id="rId18"/>
    <p:sldId id="1390" r:id="rId19"/>
    <p:sldId id="1391" r:id="rId20"/>
    <p:sldId id="1392" r:id="rId21"/>
    <p:sldId id="1393" r:id="rId22"/>
    <p:sldId id="1394" r:id="rId23"/>
    <p:sldId id="1378" r:id="rId24"/>
    <p:sldId id="1395" r:id="rId25"/>
    <p:sldId id="1458" r:id="rId26"/>
    <p:sldId id="1459" r:id="rId27"/>
    <p:sldId id="1460" r:id="rId28"/>
    <p:sldId id="1461" r:id="rId29"/>
    <p:sldId id="1462" r:id="rId30"/>
    <p:sldId id="1463" r:id="rId31"/>
    <p:sldId id="1464" r:id="rId32"/>
    <p:sldId id="1465" r:id="rId33"/>
    <p:sldId id="1466" r:id="rId34"/>
    <p:sldId id="1478" r:id="rId35"/>
    <p:sldId id="1479" r:id="rId36"/>
    <p:sldId id="1480" r:id="rId37"/>
    <p:sldId id="1481" r:id="rId38"/>
    <p:sldId id="1483" r:id="rId39"/>
    <p:sldId id="1490" r:id="rId40"/>
    <p:sldId id="1493" r:id="rId41"/>
    <p:sldId id="1403" r:id="rId42"/>
    <p:sldId id="1467" r:id="rId43"/>
    <p:sldId id="1468" r:id="rId44"/>
    <p:sldId id="1471" r:id="rId45"/>
    <p:sldId id="1474" r:id="rId46"/>
    <p:sldId id="1404" r:id="rId47"/>
    <p:sldId id="1475" r:id="rId48"/>
    <p:sldId id="1476" r:id="rId49"/>
    <p:sldId id="1379" r:id="rId50"/>
    <p:sldId id="1407" r:id="rId51"/>
    <p:sldId id="1494" r:id="rId52"/>
    <p:sldId id="1495" r:id="rId53"/>
    <p:sldId id="1496" r:id="rId54"/>
    <p:sldId id="1408" r:id="rId55"/>
    <p:sldId id="1409" r:id="rId56"/>
    <p:sldId id="1521" r:id="rId57"/>
    <p:sldId id="1522" r:id="rId58"/>
    <p:sldId id="1523" r:id="rId59"/>
    <p:sldId id="1410" r:id="rId60"/>
    <p:sldId id="1528" r:id="rId61"/>
    <p:sldId id="1412" r:id="rId62"/>
    <p:sldId id="1413" r:id="rId63"/>
    <p:sldId id="1414" r:id="rId64"/>
    <p:sldId id="1415" r:id="rId65"/>
    <p:sldId id="1416" r:id="rId66"/>
    <p:sldId id="1417" r:id="rId67"/>
    <p:sldId id="1418" r:id="rId68"/>
    <p:sldId id="1499" r:id="rId69"/>
    <p:sldId id="1500" r:id="rId70"/>
    <p:sldId id="1518" r:id="rId71"/>
    <p:sldId id="1519" r:id="rId72"/>
    <p:sldId id="1419" r:id="rId73"/>
    <p:sldId id="1420" r:id="rId74"/>
    <p:sldId id="1421" r:id="rId75"/>
    <p:sldId id="1422" r:id="rId76"/>
    <p:sldId id="1423" r:id="rId77"/>
    <p:sldId id="1530" r:id="rId78"/>
    <p:sldId id="1531" r:id="rId79"/>
    <p:sldId id="1532" r:id="rId80"/>
    <p:sldId id="1533" r:id="rId81"/>
    <p:sldId id="1534" r:id="rId82"/>
    <p:sldId id="1535" r:id="rId83"/>
    <p:sldId id="1536" r:id="rId84"/>
    <p:sldId id="1541" r:id="rId85"/>
    <p:sldId id="1537" r:id="rId86"/>
    <p:sldId id="1538" r:id="rId87"/>
    <p:sldId id="1539" r:id="rId88"/>
    <p:sldId id="1540" r:id="rId89"/>
    <p:sldId id="1380" r:id="rId90"/>
    <p:sldId id="1424" r:id="rId91"/>
    <p:sldId id="1425" r:id="rId92"/>
    <p:sldId id="1426" r:id="rId93"/>
    <p:sldId id="1427" r:id="rId94"/>
    <p:sldId id="1428" r:id="rId95"/>
    <p:sldId id="1429" r:id="rId96"/>
    <p:sldId id="1430" r:id="rId97"/>
    <p:sldId id="1431" r:id="rId98"/>
    <p:sldId id="1432" r:id="rId99"/>
    <p:sldId id="1433" r:id="rId100"/>
    <p:sldId id="1456" r:id="rId101"/>
    <p:sldId id="1457" r:id="rId102"/>
    <p:sldId id="1434" r:id="rId103"/>
    <p:sldId id="1381" r:id="rId104"/>
    <p:sldId id="1435" r:id="rId105"/>
    <p:sldId id="1436" r:id="rId106"/>
    <p:sldId id="1437" r:id="rId107"/>
    <p:sldId id="1438" r:id="rId108"/>
    <p:sldId id="1439" r:id="rId109"/>
    <p:sldId id="1440" r:id="rId110"/>
    <p:sldId id="1441" r:id="rId111"/>
    <p:sldId id="1442" r:id="rId112"/>
    <p:sldId id="1443" r:id="rId113"/>
    <p:sldId id="1444" r:id="rId114"/>
    <p:sldId id="1449" r:id="rId115"/>
    <p:sldId id="1450" r:id="rId116"/>
    <p:sldId id="1451" r:id="rId117"/>
    <p:sldId id="1452" r:id="rId118"/>
    <p:sldId id="1453" r:id="rId119"/>
    <p:sldId id="1454" r:id="rId120"/>
    <p:sldId id="1455" r:id="rId121"/>
    <p:sldId id="1542" r:id="rId122"/>
    <p:sldId id="1543" r:id="rId123"/>
    <p:sldId id="1544" r:id="rId124"/>
    <p:sldId id="1545" r:id="rId125"/>
    <p:sldId id="1546" r:id="rId126"/>
    <p:sldId id="1547" r:id="rId127"/>
    <p:sldId id="1548" r:id="rId128"/>
    <p:sldId id="1549" r:id="rId129"/>
    <p:sldId id="1562" r:id="rId130"/>
    <p:sldId id="1563" r:id="rId131"/>
    <p:sldId id="1564" r:id="rId132"/>
    <p:sldId id="1565" r:id="rId133"/>
    <p:sldId id="1566" r:id="rId134"/>
    <p:sldId id="1550" r:id="rId135"/>
    <p:sldId id="1551" r:id="rId136"/>
    <p:sldId id="1552" r:id="rId137"/>
    <p:sldId id="1553" r:id="rId138"/>
    <p:sldId id="1554" r:id="rId139"/>
    <p:sldId id="1555" r:id="rId140"/>
    <p:sldId id="1556" r:id="rId141"/>
    <p:sldId id="1557" r:id="rId142"/>
    <p:sldId id="1558" r:id="rId143"/>
    <p:sldId id="1559" r:id="rId144"/>
    <p:sldId id="1560" r:id="rId145"/>
    <p:sldId id="1561" r:id="rId146"/>
    <p:sldId id="1383" r:id="rId147"/>
    <p:sldId id="1384" r:id="rId148"/>
    <p:sldId id="1386" r:id="rId149"/>
    <p:sldId id="1567" r:id="rId150"/>
    <p:sldId id="1568" r:id="rId151"/>
    <p:sldId id="1387" r:id="rId152"/>
  </p:sldIdLst>
  <p:sldSz cx="9144000" cy="6858000" type="screen4x3"/>
  <p:notesSz cx="7102475" cy="10233025"/>
  <p:custDataLst>
    <p:tags r:id="rId157"/>
  </p:custDataLst>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181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2F2FC5"/>
    <a:srgbClr val="0000FF"/>
    <a:srgbClr val="740000"/>
    <a:srgbClr val="4B0064"/>
    <a:srgbClr val="3030C7"/>
    <a:srgbClr val="3333FF"/>
    <a:srgbClr val="CB1522"/>
    <a:srgbClr val="C177FF"/>
    <a:srgbClr val="E68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47" autoAdjust="0"/>
    <p:restoredTop sz="89331" autoAdjust="0"/>
  </p:normalViewPr>
  <p:slideViewPr>
    <p:cSldViewPr showGuides="1">
      <p:cViewPr varScale="1">
        <p:scale>
          <a:sx n="100" d="100"/>
          <a:sy n="100" d="100"/>
        </p:scale>
        <p:origin x="1422" y="72"/>
      </p:cViewPr>
      <p:guideLst>
        <p:guide orient="horz" pos="1819"/>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51" d="100"/>
        <a:sy n="151" d="100"/>
      </p:scale>
      <p:origin x="0" y="-65124"/>
    </p:cViewPr>
  </p:sorterViewPr>
  <p:notesViewPr>
    <p:cSldViewPr>
      <p:cViewPr varScale="1">
        <p:scale>
          <a:sx n="50" d="100"/>
          <a:sy n="50" d="100"/>
        </p:scale>
        <p:origin x="2922" y="60"/>
      </p:cViewPr>
      <p:guideLst>
        <p:guide orient="horz" pos="3250"/>
        <p:guide pos="2237"/>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7" Type="http://schemas.openxmlformats.org/officeDocument/2006/relationships/tags" Target="tags/tag84.xml"/><Relationship Id="rId156" Type="http://schemas.openxmlformats.org/officeDocument/2006/relationships/tableStyles" Target="tableStyles.xml"/><Relationship Id="rId155" Type="http://schemas.openxmlformats.org/officeDocument/2006/relationships/viewProps" Target="viewProps.xml"/><Relationship Id="rId154" Type="http://schemas.openxmlformats.org/officeDocument/2006/relationships/presProps" Target="presProps.xml"/><Relationship Id="rId153" Type="http://schemas.openxmlformats.org/officeDocument/2006/relationships/handoutMaster" Target="handoutMasters/handoutMaster1.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661"/>
            <a:ext cx="3078079"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l" eaLnBrk="0" hangingPunct="0">
              <a:defRPr sz="1100" i="1">
                <a:latin typeface="Book Antiqua" panose="02040602050305030304" pitchFamily="18" charset="0"/>
                <a:ea typeface="宋体" panose="02010600030101010101" pitchFamily="2" charset="-122"/>
              </a:defRPr>
            </a:lvl1pPr>
          </a:lstStyle>
          <a:p>
            <a:r>
              <a:rPr lang="zh-CN" altLang="en-US"/>
              <a:t>网站建设与网络安全</a:t>
            </a:r>
            <a:endParaRPr lang="zh-CN" altLang="en-US"/>
          </a:p>
        </p:txBody>
      </p:sp>
      <p:sp>
        <p:nvSpPr>
          <p:cNvPr id="4099" name="Rectangle 3"/>
          <p:cNvSpPr>
            <a:spLocks noGrp="1" noChangeArrowheads="1"/>
          </p:cNvSpPr>
          <p:nvPr>
            <p:ph type="dt" sz="quarter" idx="1"/>
          </p:nvPr>
        </p:nvSpPr>
        <p:spPr bwMode="auto">
          <a:xfrm>
            <a:off x="4024397" y="-1661"/>
            <a:ext cx="3078078"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r" eaLnBrk="0" hangingPunct="0">
              <a:defRPr sz="1100" i="1">
                <a:latin typeface="Book Antiqua" panose="02040602050305030304" pitchFamily="18" charset="0"/>
                <a:ea typeface="宋体" panose="02010600030101010101" pitchFamily="2" charset="-122"/>
              </a:defRPr>
            </a:lvl1pPr>
          </a:lstStyle>
          <a:p>
            <a:endParaRPr lang="en-US" altLang="zh-CN"/>
          </a:p>
        </p:txBody>
      </p:sp>
      <p:sp>
        <p:nvSpPr>
          <p:cNvPr id="4100" name="Rectangle 4"/>
          <p:cNvSpPr>
            <a:spLocks noGrp="1" noChangeArrowheads="1"/>
          </p:cNvSpPr>
          <p:nvPr>
            <p:ph type="ftr" sz="quarter" idx="2"/>
          </p:nvPr>
        </p:nvSpPr>
        <p:spPr bwMode="auto">
          <a:xfrm>
            <a:off x="0" y="9719880"/>
            <a:ext cx="3078079"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l" eaLnBrk="0" hangingPunct="0">
              <a:defRPr sz="1100" i="1">
                <a:latin typeface="Book Antiqua" panose="02040602050305030304" pitchFamily="18" charset="0"/>
                <a:ea typeface="宋体" panose="02010600030101010101" pitchFamily="2" charset="-122"/>
              </a:defRPr>
            </a:lvl1pPr>
          </a:lstStyle>
          <a:p>
            <a:r>
              <a:rPr lang="zh-CN" altLang="en-US"/>
              <a:t>武汉大学计算机学院 梁意文</a:t>
            </a:r>
            <a:endParaRPr lang="zh-CN" altLang="en-US"/>
          </a:p>
        </p:txBody>
      </p:sp>
      <p:sp>
        <p:nvSpPr>
          <p:cNvPr id="4101" name="Rectangle 5"/>
          <p:cNvSpPr>
            <a:spLocks noGrp="1" noChangeArrowheads="1"/>
          </p:cNvSpPr>
          <p:nvPr>
            <p:ph type="sldNum" sz="quarter" idx="3"/>
          </p:nvPr>
        </p:nvSpPr>
        <p:spPr bwMode="auto">
          <a:xfrm>
            <a:off x="4024397" y="9719880"/>
            <a:ext cx="3078078"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r" eaLnBrk="0" hangingPunct="0">
              <a:defRPr sz="1100" i="1">
                <a:latin typeface="Book Antiqua" panose="02040602050305030304" pitchFamily="18" charset="0"/>
                <a:ea typeface="宋体" panose="02010600030101010101" pitchFamily="2" charset="-122"/>
              </a:defRPr>
            </a:lvl1pPr>
          </a:lstStyle>
          <a:p>
            <a:fld id="{06F2D5D5-3B16-43CA-8995-8BE81CB6B1A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661"/>
            <a:ext cx="3078079"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l" defTabSz="803910" eaLnBrk="0" hangingPunct="0">
              <a:defRPr sz="1100" i="1">
                <a:ea typeface="宋体" panose="02010600030101010101" pitchFamily="2" charset="-122"/>
              </a:defRPr>
            </a:lvl1pPr>
          </a:lstStyle>
          <a:p>
            <a:endParaRPr lang="en-US" altLang="zh-CN"/>
          </a:p>
        </p:txBody>
      </p:sp>
      <p:sp>
        <p:nvSpPr>
          <p:cNvPr id="2051" name="Rectangle 3"/>
          <p:cNvSpPr>
            <a:spLocks noGrp="1" noChangeArrowheads="1"/>
          </p:cNvSpPr>
          <p:nvPr>
            <p:ph type="dt" idx="1"/>
          </p:nvPr>
        </p:nvSpPr>
        <p:spPr bwMode="auto">
          <a:xfrm>
            <a:off x="4024397" y="-1661"/>
            <a:ext cx="3078078" cy="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t" anchorCtr="0" compatLnSpc="1"/>
          <a:lstStyle>
            <a:lvl1pPr algn="r" defTabSz="803910" eaLnBrk="0" hangingPunct="0">
              <a:defRPr sz="1100" i="1">
                <a:ea typeface="宋体" panose="02010600030101010101" pitchFamily="2" charset="-122"/>
              </a:defRPr>
            </a:lvl1pPr>
          </a:lstStyle>
          <a:p>
            <a:endParaRPr lang="en-US" altLang="zh-CN"/>
          </a:p>
        </p:txBody>
      </p:sp>
      <p:sp>
        <p:nvSpPr>
          <p:cNvPr id="2052" name="Rectangle 4"/>
          <p:cNvSpPr>
            <a:spLocks noGrp="1" noChangeArrowheads="1"/>
          </p:cNvSpPr>
          <p:nvPr>
            <p:ph type="ftr" sz="quarter" idx="4"/>
          </p:nvPr>
        </p:nvSpPr>
        <p:spPr bwMode="auto">
          <a:xfrm>
            <a:off x="0" y="9719880"/>
            <a:ext cx="3078079"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l" defTabSz="803910" eaLnBrk="0" hangingPunct="0">
              <a:defRPr sz="1100" i="1">
                <a:ea typeface="宋体" panose="02010600030101010101" pitchFamily="2" charset="-122"/>
              </a:defRPr>
            </a:lvl1pPr>
          </a:lstStyle>
          <a:p>
            <a:endParaRPr lang="en-US" altLang="zh-CN"/>
          </a:p>
        </p:txBody>
      </p:sp>
      <p:sp>
        <p:nvSpPr>
          <p:cNvPr id="2053" name="Rectangle 5"/>
          <p:cNvSpPr>
            <a:spLocks noGrp="1" noChangeArrowheads="1"/>
          </p:cNvSpPr>
          <p:nvPr>
            <p:ph type="sldNum" sz="quarter" idx="5"/>
          </p:nvPr>
        </p:nvSpPr>
        <p:spPr bwMode="auto">
          <a:xfrm>
            <a:off x="4024397" y="9719880"/>
            <a:ext cx="3078078" cy="513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0098" tIns="0" rIns="20098" bIns="0" numCol="1" anchor="b" anchorCtr="0" compatLnSpc="1"/>
          <a:lstStyle>
            <a:lvl1pPr algn="r" defTabSz="803910" eaLnBrk="0" hangingPunct="0">
              <a:defRPr sz="1100" i="1">
                <a:ea typeface="宋体" panose="02010600030101010101" pitchFamily="2" charset="-122"/>
              </a:defRPr>
            </a:lvl1pPr>
          </a:lstStyle>
          <a:p>
            <a:fld id="{2294745A-D51A-4D6A-8042-2BC64911E49A}" type="slidenum">
              <a:rPr lang="en-US" altLang="zh-CN"/>
            </a:fld>
            <a:endParaRPr lang="en-US" altLang="zh-CN"/>
          </a:p>
        </p:txBody>
      </p:sp>
      <p:sp>
        <p:nvSpPr>
          <p:cNvPr id="2054" name="Rectangle 6"/>
          <p:cNvSpPr>
            <a:spLocks noGrp="1" noChangeArrowheads="1"/>
          </p:cNvSpPr>
          <p:nvPr>
            <p:ph type="body" sz="quarter" idx="3"/>
          </p:nvPr>
        </p:nvSpPr>
        <p:spPr bwMode="auto">
          <a:xfrm>
            <a:off x="946319" y="4859110"/>
            <a:ext cx="5209838" cy="460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139" tIns="48570" rIns="97139" bIns="48570" numCol="1" anchor="t" anchorCtr="0" compatLnSpc="1"/>
          <a:lstStyle/>
          <a:p>
            <a:pPr lvl="0"/>
            <a:r>
              <a:rPr lang="en-US" altLang="zh-CN" smtClean="0"/>
              <a:t>Click to edit Master notes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2055" name="Rectangle 7"/>
          <p:cNvSpPr>
            <a:spLocks noGrp="1" noRot="1" noChangeAspect="1" noChangeArrowheads="1" noTextEdit="1"/>
          </p:cNvSpPr>
          <p:nvPr>
            <p:ph type="sldImg" idx="2"/>
          </p:nvPr>
        </p:nvSpPr>
        <p:spPr bwMode="auto">
          <a:xfrm>
            <a:off x="1001713" y="773113"/>
            <a:ext cx="5100637" cy="3824287"/>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smtClean="0">
                <a:solidFill>
                  <a:srgbClr val="000000"/>
                </a:solidFill>
                <a:latin typeface="Times New Roman" panose="02020603050405020304" pitchFamily="18" charset="0"/>
                <a:ea typeface="华文楷体" panose="02010600040101010101" pitchFamily="2" charset="-122"/>
              </a:rPr>
              <a:t>C</a:t>
            </a:r>
            <a:r>
              <a:rPr lang="zh-CN" altLang="en-US" sz="1200" dirty="0" smtClean="0">
                <a:solidFill>
                  <a:srgbClr val="000000"/>
                </a:solidFill>
                <a:latin typeface="Times New Roman" panose="02020603050405020304" pitchFamily="18" charset="0"/>
                <a:ea typeface="华文楷体" panose="02010600040101010101" pitchFamily="2" charset="-122"/>
              </a:rPr>
              <a:t>中把不同数据类型 成员组合成一个整体，</a:t>
            </a:r>
            <a:r>
              <a:rPr lang="en-US" altLang="zh-CN" sz="1200" dirty="0" smtClean="0">
                <a:solidFill>
                  <a:srgbClr val="000000"/>
                </a:solidFill>
                <a:latin typeface="Times New Roman" panose="02020603050405020304" pitchFamily="18" charset="0"/>
                <a:ea typeface="华文楷体" panose="02010600040101010101" pitchFamily="2" charset="-122"/>
              </a:rPr>
              <a:t>C++</a:t>
            </a:r>
            <a:r>
              <a:rPr lang="zh-CN" altLang="en-US" sz="1200" dirty="0" smtClean="0">
                <a:solidFill>
                  <a:srgbClr val="000000"/>
                </a:solidFill>
                <a:latin typeface="Times New Roman" panose="02020603050405020304" pitchFamily="18" charset="0"/>
                <a:ea typeface="华文楷体" panose="02010600040101010101" pitchFamily="2" charset="-122"/>
              </a:rPr>
              <a:t>扩展了函数成员，缺省</a:t>
            </a:r>
            <a:r>
              <a:rPr lang="en-US" altLang="zh-CN" sz="1200" dirty="0" smtClean="0">
                <a:solidFill>
                  <a:srgbClr val="000000"/>
                </a:solidFill>
                <a:latin typeface="Times New Roman" panose="02020603050405020304" pitchFamily="18" charset="0"/>
                <a:ea typeface="华文楷体" panose="02010600040101010101" pitchFamily="2" charset="-122"/>
              </a:rPr>
              <a:t>Public</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500" b="1">
                <a:solidFill>
                  <a:schemeClr val="tx1"/>
                </a:solidFill>
                <a:latin typeface="Times New Roman" panose="02020603050405020304" pitchFamily="18" charset="0"/>
                <a:ea typeface="华文楷体" panose="02010600040101010101" pitchFamily="2" charset="-122"/>
              </a:defRPr>
            </a:lvl1pPr>
            <a:lvl2pPr marL="783590" indent="-301625" eaLnBrk="0" hangingPunct="0">
              <a:defRPr kumimoji="1" sz="2500" b="1">
                <a:solidFill>
                  <a:schemeClr val="tx1"/>
                </a:solidFill>
                <a:latin typeface="Times New Roman" panose="02020603050405020304" pitchFamily="18" charset="0"/>
                <a:ea typeface="华文楷体" panose="02010600040101010101" pitchFamily="2" charset="-122"/>
              </a:defRPr>
            </a:lvl2pPr>
            <a:lvl3pPr marL="1205865" indent="-241300" eaLnBrk="0" hangingPunct="0">
              <a:defRPr kumimoji="1" sz="2500" b="1">
                <a:solidFill>
                  <a:schemeClr val="tx1"/>
                </a:solidFill>
                <a:latin typeface="Times New Roman" panose="02020603050405020304" pitchFamily="18" charset="0"/>
                <a:ea typeface="华文楷体" panose="02010600040101010101" pitchFamily="2" charset="-122"/>
              </a:defRPr>
            </a:lvl3pPr>
            <a:lvl4pPr marL="1688465" indent="-241300" eaLnBrk="0" hangingPunct="0">
              <a:defRPr kumimoji="1" sz="2500" b="1">
                <a:solidFill>
                  <a:schemeClr val="tx1"/>
                </a:solidFill>
                <a:latin typeface="Times New Roman" panose="02020603050405020304" pitchFamily="18" charset="0"/>
                <a:ea typeface="华文楷体" panose="02010600040101010101" pitchFamily="2" charset="-122"/>
              </a:defRPr>
            </a:lvl4pPr>
            <a:lvl5pPr marL="2170430" indent="-241300" eaLnBrk="0" hangingPunct="0">
              <a:defRPr kumimoji="1" sz="2500" b="1">
                <a:solidFill>
                  <a:schemeClr val="tx1"/>
                </a:solidFill>
                <a:latin typeface="Times New Roman" panose="02020603050405020304" pitchFamily="18" charset="0"/>
                <a:ea typeface="华文楷体" panose="02010600040101010101" pitchFamily="2" charset="-122"/>
              </a:defRPr>
            </a:lvl5pPr>
            <a:lvl6pPr marL="2653030"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6pPr>
            <a:lvl7pPr marL="31349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7pPr>
            <a:lvl8pPr marL="36175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8pPr>
            <a:lvl9pPr marL="41001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9pPr>
          </a:lstStyle>
          <a:p>
            <a:pPr eaLnBrk="1" hangingPunct="1"/>
            <a:fld id="{8AD8E4A6-10B6-4BB2-AC51-6AD67E4234AE}" type="slidenum">
              <a:rPr kumimoji="0" lang="en-US" altLang="zh-CN" sz="1300" b="0">
                <a:latin typeface="Arial" panose="020B0604020202020204" pitchFamily="34" charset="0"/>
                <a:ea typeface="宋体" panose="02010600030101010101" pitchFamily="2" charset="-122"/>
              </a:rPr>
            </a:fld>
            <a:endParaRPr kumimoji="0" lang="en-US" altLang="zh-CN" sz="1300" b="0">
              <a:latin typeface="Arial" panose="020B0604020202020204" pitchFamily="34" charset="0"/>
              <a:ea typeface="宋体" panose="02010600030101010101" pitchFamily="2" charset="-122"/>
            </a:endParaRPr>
          </a:p>
        </p:txBody>
      </p:sp>
      <p:sp>
        <p:nvSpPr>
          <p:cNvPr id="178179" name="Rectangle 2"/>
          <p:cNvSpPr>
            <a:spLocks noGrp="1" noRot="1" noChangeAspect="1" noChangeArrowheads="1" noTextEdit="1"/>
          </p:cNvSpPr>
          <p:nvPr>
            <p:ph type="sldImg"/>
          </p:nvPr>
        </p:nvSpPr>
        <p:spPr>
          <a:solidFill>
            <a:srgbClr val="FFFFFF"/>
          </a:solidFill>
        </p:spPr>
      </p:sp>
      <p:sp>
        <p:nvSpPr>
          <p:cNvPr id="178180" name="Rectangle 3"/>
          <p:cNvSpPr>
            <a:spLocks noGrp="1" noChangeArrowheads="1"/>
          </p:cNvSpPr>
          <p:nvPr>
            <p:ph type="body" idx="1"/>
          </p:nvPr>
        </p:nvSpPr>
        <p:spPr>
          <a:xfrm>
            <a:off x="976845" y="4543583"/>
            <a:ext cx="5372646" cy="4304447"/>
          </a:xfrm>
          <a:solidFill>
            <a:srgbClr val="FFFFFF"/>
          </a:solidFill>
          <a:ln>
            <a:solidFill>
              <a:srgbClr val="000000"/>
            </a:solidFill>
          </a:ln>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500" b="1">
                <a:solidFill>
                  <a:schemeClr val="tx1"/>
                </a:solidFill>
                <a:latin typeface="Times New Roman" panose="02020603050405020304" pitchFamily="18" charset="0"/>
                <a:ea typeface="华文楷体" panose="02010600040101010101" pitchFamily="2" charset="-122"/>
              </a:defRPr>
            </a:lvl1pPr>
            <a:lvl2pPr marL="783590" indent="-301625" eaLnBrk="0" hangingPunct="0">
              <a:defRPr kumimoji="1" sz="2500" b="1">
                <a:solidFill>
                  <a:schemeClr val="tx1"/>
                </a:solidFill>
                <a:latin typeface="Times New Roman" panose="02020603050405020304" pitchFamily="18" charset="0"/>
                <a:ea typeface="华文楷体" panose="02010600040101010101" pitchFamily="2" charset="-122"/>
              </a:defRPr>
            </a:lvl2pPr>
            <a:lvl3pPr marL="1205865" indent="-241300" eaLnBrk="0" hangingPunct="0">
              <a:defRPr kumimoji="1" sz="2500" b="1">
                <a:solidFill>
                  <a:schemeClr val="tx1"/>
                </a:solidFill>
                <a:latin typeface="Times New Roman" panose="02020603050405020304" pitchFamily="18" charset="0"/>
                <a:ea typeface="华文楷体" panose="02010600040101010101" pitchFamily="2" charset="-122"/>
              </a:defRPr>
            </a:lvl3pPr>
            <a:lvl4pPr marL="1688465" indent="-241300" eaLnBrk="0" hangingPunct="0">
              <a:defRPr kumimoji="1" sz="2500" b="1">
                <a:solidFill>
                  <a:schemeClr val="tx1"/>
                </a:solidFill>
                <a:latin typeface="Times New Roman" panose="02020603050405020304" pitchFamily="18" charset="0"/>
                <a:ea typeface="华文楷体" panose="02010600040101010101" pitchFamily="2" charset="-122"/>
              </a:defRPr>
            </a:lvl4pPr>
            <a:lvl5pPr marL="2170430" indent="-241300" eaLnBrk="0" hangingPunct="0">
              <a:defRPr kumimoji="1" sz="2500" b="1">
                <a:solidFill>
                  <a:schemeClr val="tx1"/>
                </a:solidFill>
                <a:latin typeface="Times New Roman" panose="02020603050405020304" pitchFamily="18" charset="0"/>
                <a:ea typeface="华文楷体" panose="02010600040101010101" pitchFamily="2" charset="-122"/>
              </a:defRPr>
            </a:lvl5pPr>
            <a:lvl6pPr marL="2653030"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6pPr>
            <a:lvl7pPr marL="31349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7pPr>
            <a:lvl8pPr marL="36175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8pPr>
            <a:lvl9pPr marL="41001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9pPr>
          </a:lstStyle>
          <a:p>
            <a:pPr eaLnBrk="1" hangingPunct="1"/>
            <a:fld id="{AEC4CB48-2684-48D6-8F19-0C0D5F859409}" type="slidenum">
              <a:rPr kumimoji="0" lang="en-US" altLang="zh-CN" sz="1300" b="0">
                <a:latin typeface="Arial" panose="020B0604020202020204" pitchFamily="34" charset="0"/>
                <a:ea typeface="宋体" panose="02010600030101010101" pitchFamily="2" charset="-122"/>
              </a:rPr>
            </a:fld>
            <a:endParaRPr kumimoji="0" lang="en-US" altLang="zh-CN" sz="1300" b="0">
              <a:latin typeface="Arial" panose="020B0604020202020204" pitchFamily="34" charset="0"/>
              <a:ea typeface="宋体" panose="02010600030101010101" pitchFamily="2" charset="-122"/>
            </a:endParaRPr>
          </a:p>
        </p:txBody>
      </p:sp>
      <p:sp>
        <p:nvSpPr>
          <p:cNvPr id="179203" name="Rectangle 2"/>
          <p:cNvSpPr>
            <a:spLocks noGrp="1" noRot="1" noChangeAspect="1" noChangeArrowheads="1" noTextEdit="1"/>
          </p:cNvSpPr>
          <p:nvPr>
            <p:ph type="sldImg"/>
          </p:nvPr>
        </p:nvSpPr>
        <p:spPr>
          <a:solidFill>
            <a:srgbClr val="FFFFFF"/>
          </a:solidFill>
        </p:spPr>
      </p:sp>
      <p:sp>
        <p:nvSpPr>
          <p:cNvPr id="179204" name="Rectangle 3"/>
          <p:cNvSpPr>
            <a:spLocks noGrp="1" noChangeArrowheads="1"/>
          </p:cNvSpPr>
          <p:nvPr>
            <p:ph type="body" idx="1"/>
          </p:nvPr>
        </p:nvSpPr>
        <p:spPr>
          <a:xfrm>
            <a:off x="976845" y="4543583"/>
            <a:ext cx="5372646" cy="4304447"/>
          </a:xfrm>
          <a:solidFill>
            <a:srgbClr val="FFFFFF"/>
          </a:solidFill>
          <a:ln>
            <a:solidFill>
              <a:srgbClr val="000000"/>
            </a:solidFill>
          </a:ln>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500" b="1">
                <a:solidFill>
                  <a:schemeClr val="tx1"/>
                </a:solidFill>
                <a:latin typeface="Times New Roman" panose="02020603050405020304" pitchFamily="18" charset="0"/>
                <a:ea typeface="华文楷体" panose="02010600040101010101" pitchFamily="2" charset="-122"/>
              </a:defRPr>
            </a:lvl1pPr>
            <a:lvl2pPr marL="783590" indent="-301625" eaLnBrk="0" hangingPunct="0">
              <a:defRPr kumimoji="1" sz="2500" b="1">
                <a:solidFill>
                  <a:schemeClr val="tx1"/>
                </a:solidFill>
                <a:latin typeface="Times New Roman" panose="02020603050405020304" pitchFamily="18" charset="0"/>
                <a:ea typeface="华文楷体" panose="02010600040101010101" pitchFamily="2" charset="-122"/>
              </a:defRPr>
            </a:lvl2pPr>
            <a:lvl3pPr marL="1205865" indent="-241300" eaLnBrk="0" hangingPunct="0">
              <a:defRPr kumimoji="1" sz="2500" b="1">
                <a:solidFill>
                  <a:schemeClr val="tx1"/>
                </a:solidFill>
                <a:latin typeface="Times New Roman" panose="02020603050405020304" pitchFamily="18" charset="0"/>
                <a:ea typeface="华文楷体" panose="02010600040101010101" pitchFamily="2" charset="-122"/>
              </a:defRPr>
            </a:lvl3pPr>
            <a:lvl4pPr marL="1688465" indent="-241300" eaLnBrk="0" hangingPunct="0">
              <a:defRPr kumimoji="1" sz="2500" b="1">
                <a:solidFill>
                  <a:schemeClr val="tx1"/>
                </a:solidFill>
                <a:latin typeface="Times New Roman" panose="02020603050405020304" pitchFamily="18" charset="0"/>
                <a:ea typeface="华文楷体" panose="02010600040101010101" pitchFamily="2" charset="-122"/>
              </a:defRPr>
            </a:lvl4pPr>
            <a:lvl5pPr marL="2170430" indent="-241300" eaLnBrk="0" hangingPunct="0">
              <a:defRPr kumimoji="1" sz="2500" b="1">
                <a:solidFill>
                  <a:schemeClr val="tx1"/>
                </a:solidFill>
                <a:latin typeface="Times New Roman" panose="02020603050405020304" pitchFamily="18" charset="0"/>
                <a:ea typeface="华文楷体" panose="02010600040101010101" pitchFamily="2" charset="-122"/>
              </a:defRPr>
            </a:lvl5pPr>
            <a:lvl6pPr marL="2653030"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6pPr>
            <a:lvl7pPr marL="31349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7pPr>
            <a:lvl8pPr marL="36175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8pPr>
            <a:lvl9pPr marL="4100195" indent="-241300" algn="just" eaLnBrk="0" fontAlgn="base" hangingPunct="0">
              <a:lnSpc>
                <a:spcPct val="120000"/>
              </a:lnSpc>
              <a:spcBef>
                <a:spcPct val="25000"/>
              </a:spcBef>
              <a:spcAft>
                <a:spcPct val="0"/>
              </a:spcAft>
              <a:defRPr kumimoji="1" sz="2500" b="1">
                <a:solidFill>
                  <a:schemeClr val="tx1"/>
                </a:solidFill>
                <a:latin typeface="Times New Roman" panose="02020603050405020304" pitchFamily="18" charset="0"/>
                <a:ea typeface="华文楷体" panose="02010600040101010101" pitchFamily="2" charset="-122"/>
              </a:defRPr>
            </a:lvl9pPr>
          </a:lstStyle>
          <a:p>
            <a:pPr eaLnBrk="1" hangingPunct="1"/>
            <a:fld id="{B4232035-5C41-4389-9CCD-4F660EAC7FA2}" type="slidenum">
              <a:rPr kumimoji="0" lang="en-US" altLang="zh-CN" sz="1300" b="0">
                <a:latin typeface="Arial" panose="020B0604020202020204" pitchFamily="34" charset="0"/>
                <a:ea typeface="宋体" panose="02010600030101010101" pitchFamily="2" charset="-122"/>
              </a:rPr>
            </a:fld>
            <a:endParaRPr kumimoji="0" lang="en-US" altLang="zh-CN" sz="1300" b="0">
              <a:latin typeface="Arial" panose="020B0604020202020204" pitchFamily="34" charset="0"/>
              <a:ea typeface="宋体" panose="02010600030101010101" pitchFamily="2" charset="-122"/>
            </a:endParaRPr>
          </a:p>
        </p:txBody>
      </p:sp>
      <p:sp>
        <p:nvSpPr>
          <p:cNvPr id="180227" name="Rectangle 2"/>
          <p:cNvSpPr>
            <a:spLocks noGrp="1" noRot="1" noChangeAspect="1" noChangeArrowheads="1" noTextEdit="1"/>
          </p:cNvSpPr>
          <p:nvPr>
            <p:ph type="sldImg"/>
          </p:nvPr>
        </p:nvSpPr>
        <p:spPr>
          <a:solidFill>
            <a:srgbClr val="FFFFFF"/>
          </a:solidFill>
        </p:spPr>
      </p:sp>
      <p:sp>
        <p:nvSpPr>
          <p:cNvPr id="180228" name="Rectangle 3"/>
          <p:cNvSpPr>
            <a:spLocks noGrp="1" noChangeArrowheads="1"/>
          </p:cNvSpPr>
          <p:nvPr>
            <p:ph type="body" idx="1"/>
          </p:nvPr>
        </p:nvSpPr>
        <p:spPr>
          <a:xfrm>
            <a:off x="976845" y="4543583"/>
            <a:ext cx="5372646" cy="4304447"/>
          </a:xfrm>
          <a:solidFill>
            <a:srgbClr val="FFFFFF"/>
          </a:solidFill>
          <a:ln>
            <a:solidFill>
              <a:srgbClr val="000000"/>
            </a:solidFill>
          </a:ln>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实例对象</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smtClean="0">
              <a:ea typeface="宋体" panose="02010600030101010101" pitchFamily="2" charset="-122"/>
            </a:endParaRPr>
          </a:p>
        </p:txBody>
      </p:sp>
      <p:sp>
        <p:nvSpPr>
          <p:cNvPr id="8909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A8F3D269-99DC-41BE-9AC2-3666BFDBB8B1}" type="slidenum">
              <a:rPr lang="en-US" altLang="zh-CN" sz="1300"/>
            </a:fld>
            <a:endParaRPr lang="en-US" altLang="zh-CN"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9011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428147D-2A8F-4A17-998A-818C39D8CCF7}" type="slidenum">
              <a:rPr lang="en-US" altLang="zh-CN" sz="1300"/>
            </a:fld>
            <a:endParaRPr lang="en-US" altLang="zh-CN"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4ECD3795-DC1B-4DE5-9135-806F2D566A21}" type="datetime1">
              <a:rPr lang="zh-CN" altLang="en-US" sz="1300" b="0">
                <a:solidFill>
                  <a:schemeClr val="tx1"/>
                </a:solidFill>
              </a:rPr>
            </a:fld>
            <a:endParaRPr lang="en-US" altLang="zh-CN" sz="1300" b="0">
              <a:solidFill>
                <a:schemeClr val="tx1"/>
              </a:solidFill>
            </a:endParaRPr>
          </a:p>
        </p:txBody>
      </p:sp>
      <p:sp>
        <p:nvSpPr>
          <p:cNvPr id="12902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200" b="1">
                <a:solidFill>
                  <a:srgbClr val="FFFF00"/>
                </a:solidFill>
                <a:latin typeface="Times New Roman" panose="02020603050405020304" pitchFamily="18" charset="0"/>
                <a:ea typeface="宋体" panose="02010600030101010101" pitchFamily="2" charset="-122"/>
              </a:defRPr>
            </a:lvl1pPr>
            <a:lvl2pPr marL="783590" indent="-301625">
              <a:defRPr kumimoji="1" sz="2200" b="1">
                <a:solidFill>
                  <a:srgbClr val="FFFF00"/>
                </a:solidFill>
                <a:latin typeface="Times New Roman" panose="02020603050405020304" pitchFamily="18" charset="0"/>
                <a:ea typeface="宋体" panose="02010600030101010101" pitchFamily="2" charset="-122"/>
              </a:defRPr>
            </a:lvl2pPr>
            <a:lvl3pPr marL="1205865" indent="-241300">
              <a:defRPr kumimoji="1" sz="2200" b="1">
                <a:solidFill>
                  <a:srgbClr val="FFFF00"/>
                </a:solidFill>
                <a:latin typeface="Times New Roman" panose="02020603050405020304" pitchFamily="18" charset="0"/>
                <a:ea typeface="宋体" panose="02010600030101010101" pitchFamily="2" charset="-122"/>
              </a:defRPr>
            </a:lvl3pPr>
            <a:lvl4pPr marL="1688465" indent="-241300">
              <a:defRPr kumimoji="1" sz="2200" b="1">
                <a:solidFill>
                  <a:srgbClr val="FFFF00"/>
                </a:solidFill>
                <a:latin typeface="Times New Roman" panose="02020603050405020304" pitchFamily="18" charset="0"/>
                <a:ea typeface="宋体" panose="02010600030101010101" pitchFamily="2" charset="-122"/>
              </a:defRPr>
            </a:lvl4pPr>
            <a:lvl5pPr marL="2170430" indent="-241300">
              <a:defRPr kumimoji="1" sz="2200" b="1">
                <a:solidFill>
                  <a:srgbClr val="FFFF00"/>
                </a:solidFill>
                <a:latin typeface="Times New Roman" panose="02020603050405020304" pitchFamily="18" charset="0"/>
                <a:ea typeface="宋体" panose="02010600030101010101" pitchFamily="2" charset="-122"/>
              </a:defRPr>
            </a:lvl5pPr>
            <a:lvl6pPr marL="2653030"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6pPr>
            <a:lvl7pPr marL="31349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7pPr>
            <a:lvl8pPr marL="36175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8pPr>
            <a:lvl9pPr marL="4100195" indent="-241300" eaLnBrk="0" fontAlgn="base" hangingPunct="0">
              <a:spcBef>
                <a:spcPct val="0"/>
              </a:spcBef>
              <a:spcAft>
                <a:spcPct val="0"/>
              </a:spcAft>
              <a:defRPr kumimoji="1" sz="2200" b="1">
                <a:solidFill>
                  <a:srgbClr val="FFFF00"/>
                </a:solidFill>
                <a:latin typeface="Times New Roman" panose="02020603050405020304" pitchFamily="18" charset="0"/>
                <a:ea typeface="宋体" panose="02010600030101010101" pitchFamily="2" charset="-122"/>
              </a:defRPr>
            </a:lvl9pPr>
          </a:lstStyle>
          <a:p>
            <a:fld id="{006306B9-08D2-41AB-B630-079CC8C35C30}" type="slidenum">
              <a:rPr lang="en-US" altLang="zh-CN" sz="1300" b="0">
                <a:solidFill>
                  <a:schemeClr val="tx1"/>
                </a:solidFill>
              </a:rPr>
            </a:fld>
            <a:endParaRPr lang="en-US" altLang="zh-CN" sz="1300" b="0">
              <a:solidFill>
                <a:schemeClr val="tx1"/>
              </a:solidFill>
            </a:endParaRPr>
          </a:p>
        </p:txBody>
      </p:sp>
      <p:sp>
        <p:nvSpPr>
          <p:cNvPr id="129028" name="Rectangle 2"/>
          <p:cNvSpPr>
            <a:spLocks noGrp="1" noRot="1" noChangeAspect="1" noChangeArrowheads="1" noTextEdit="1"/>
          </p:cNvSpPr>
          <p:nvPr>
            <p:ph type="sldImg"/>
          </p:nvPr>
        </p:nvSpPr>
        <p:spPr/>
      </p:sp>
      <p:sp>
        <p:nvSpPr>
          <p:cNvPr id="12902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9114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73F1551-4A63-44D4-9AAE-37875195F529}" type="slidenum">
              <a:rPr lang="en-US" altLang="zh-CN" sz="1300"/>
            </a:fld>
            <a:endParaRPr lang="en-US" altLang="zh-CN"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9114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73F1551-4A63-44D4-9AAE-37875195F529}" type="slidenum">
              <a:rPr lang="en-US" altLang="zh-CN" sz="1300"/>
            </a:fld>
            <a:endParaRPr lang="en-US" altLang="zh-CN"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9216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ECE2953-70B6-402D-9B76-4C8F6AAEDD75}" type="slidenum">
              <a:rPr lang="en-US" altLang="zh-CN" sz="1300"/>
            </a:fld>
            <a:endParaRPr lang="en-US" altLang="zh-CN"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基于右值引用的新设定，可以通过移动而不复制实参的高性能方式构建新对象，即移动构造函数。类似于复制构造函数，移动构造函数的参数为该类对象的右值引用，在构造中移动源对象资源，构造后源对象不再指向被移动的资源，源对象可重新赋值或者被销毁</a:t>
            </a:r>
            <a:r>
              <a:rPr lang="zh-CN" altLang="zh-CN" dirty="0">
                <a:effectLst/>
              </a:rPr>
              <a:t> </a:t>
            </a:r>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p:sp>
      <p:sp>
        <p:nvSpPr>
          <p:cNvPr id="7680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zh-CN" altLang="en-US" dirty="0"/>
              <a:t>移动构造函数相当于将新对象指向原来内存，原对象成员内存变得随机，需销毁</a:t>
            </a:r>
            <a:r>
              <a:rPr lang="zh-CN" altLang="en-US"/>
              <a:t>或重新赋值</a:t>
            </a:r>
            <a:endParaRPr lang="zh-CN" altLang="en-US"/>
          </a:p>
        </p:txBody>
      </p:sp>
      <p:sp>
        <p:nvSpPr>
          <p:cNvPr id="7680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CB2694D2-252B-465F-BB7C-AA15F649871C}" type="slidenum">
              <a:rPr lang="en-US" altLang="zh-CN" sz="1300"/>
            </a:fld>
            <a:endParaRPr lang="en-US" altLang="zh-CN"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0891B06-E25B-4739-B888-FB188B9F17CF}"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dirty="0"/>
          </a:p>
        </p:txBody>
      </p:sp>
      <p:sp>
        <p:nvSpPr>
          <p:cNvPr id="747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4863E674-7135-46D1-A24A-03DEF4F2E739}" type="slidenum">
              <a:rPr lang="en-US" altLang="zh-CN" sz="1300"/>
            </a:fld>
            <a:endParaRPr lang="en-US" altLang="zh-CN" sz="13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zh-CN" altLang="en-US" dirty="0" smtClean="0">
                <a:ea typeface="宋体" panose="02010600030101010101" pitchFamily="2" charset="-122"/>
              </a:rPr>
              <a:t>类的成员是对象，该类和成员对象之间是包含与被包含的关系</a:t>
            </a:r>
            <a:r>
              <a:rPr lang="zh-CN" altLang="en-US" baseline="0" dirty="0" smtClean="0">
                <a:ea typeface="宋体" panose="02010600030101010101" pitchFamily="2" charset="-122"/>
              </a:rPr>
              <a:t> ，</a:t>
            </a:r>
            <a:r>
              <a:rPr lang="en-US" altLang="zh-CN" baseline="0" dirty="0" smtClean="0">
                <a:ea typeface="宋体" panose="02010600030101010101" pitchFamily="2" charset="-122"/>
              </a:rPr>
              <a:t>Have</a:t>
            </a:r>
            <a:endParaRPr lang="en-US" altLang="zh-CN" baseline="0" dirty="0" smtClean="0">
              <a:ea typeface="宋体" panose="02010600030101010101" pitchFamily="2" charset="-122"/>
            </a:endParaRPr>
          </a:p>
          <a:p>
            <a:r>
              <a:rPr lang="zh-CN" altLang="en-US" baseline="0" dirty="0" smtClean="0">
                <a:ea typeface="宋体" panose="02010600030101010101" pitchFamily="2" charset="-122"/>
              </a:rPr>
              <a:t>例如，计算机类的组合关系</a:t>
            </a:r>
            <a:endParaRPr lang="zh-CN" altLang="en-US" dirty="0" smtClean="0">
              <a:ea typeface="宋体" panose="02010600030101010101" pitchFamily="2" charset="-122"/>
            </a:endParaRPr>
          </a:p>
        </p:txBody>
      </p:sp>
      <p:sp>
        <p:nvSpPr>
          <p:cNvPr id="9318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0020EE6C-AC13-458D-A4BA-B43367BC29B0}" type="slidenum">
              <a:rPr lang="en-US" altLang="zh-CN" sz="1300"/>
            </a:fld>
            <a:endParaRPr lang="en-US" altLang="zh-CN" sz="13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消除循环依赖</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9421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91FB2B5-C17C-418E-AF21-DB57E4D8FB50}" type="slidenum">
              <a:rPr lang="en-US" altLang="zh-CN" sz="1300"/>
            </a:fld>
            <a:endParaRPr lang="en-US" altLang="zh-CN" sz="13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两个类相互组合（包含），先定义的类</a:t>
            </a:r>
            <a:r>
              <a:rPr lang="en-US" altLang="zh-CN" dirty="0" smtClean="0"/>
              <a:t>A</a:t>
            </a:r>
            <a:r>
              <a:rPr lang="zh-CN" altLang="en-US" dirty="0" smtClean="0"/>
              <a:t>中的类</a:t>
            </a:r>
            <a:r>
              <a:rPr lang="en-US" altLang="zh-CN" dirty="0" smtClean="0"/>
              <a:t>B</a:t>
            </a:r>
            <a:r>
              <a:rPr lang="zh-CN" altLang="en-US" dirty="0" smtClean="0"/>
              <a:t>的对象成员，应该定义为指针</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300" dirty="0" smtClean="0"/>
              <a:t>一个事务变化会影响到使用它的另一个事务</a:t>
            </a:r>
            <a:endParaRPr lang="en-US" altLang="zh-CN" sz="1300" dirty="0" smtClean="0"/>
          </a:p>
          <a:p>
            <a:r>
              <a:rPr lang="zh-CN" altLang="en-US" sz="1300" dirty="0" smtClean="0"/>
              <a:t>通常</a:t>
            </a:r>
            <a:r>
              <a:rPr lang="zh-CN" altLang="en-US" sz="1300" dirty="0"/>
              <a:t>情况下，</a:t>
            </a:r>
            <a:r>
              <a:rPr lang="en-US" altLang="zh-CN" sz="1300" dirty="0"/>
              <a:t>UML</a:t>
            </a:r>
            <a:r>
              <a:rPr lang="zh-CN" altLang="en-US" sz="1300" dirty="0"/>
              <a:t>类图依赖关系体现在某个类的方法使用另一个类作为参数。</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300" dirty="0" smtClean="0"/>
              <a:t>表示对象之间相互作用的连接</a:t>
            </a:r>
            <a:endParaRPr lang="en-US" altLang="zh-CN" sz="1300" dirty="0" smtClean="0"/>
          </a:p>
          <a:p>
            <a:r>
              <a:rPr lang="zh-CN" altLang="en-US" sz="1300" dirty="0" smtClean="0"/>
              <a:t>一般</a:t>
            </a:r>
            <a:r>
              <a:rPr lang="zh-CN" altLang="en-US" sz="1300" dirty="0"/>
              <a:t>使用成员变量来实现</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共享聚集：例如成员和课题组之间的关系</a:t>
            </a:r>
            <a:endParaRPr lang="en-US" altLang="zh-CN" dirty="0" smtClean="0"/>
          </a:p>
          <a:p>
            <a:r>
              <a:rPr lang="zh-CN" altLang="en-US" dirty="0" smtClean="0"/>
              <a:t>组合：例如，鸟和翅膀之间的关系</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Line </a:t>
            </a:r>
            <a:r>
              <a:rPr lang="zh-CN" altLang="en-US" dirty="0" smtClean="0"/>
              <a:t>包含两个</a:t>
            </a:r>
            <a:r>
              <a:rPr lang="en-US" altLang="zh-CN" dirty="0" smtClean="0"/>
              <a:t>Point</a:t>
            </a:r>
            <a:r>
              <a:rPr lang="zh-CN" altLang="en-US" dirty="0" smtClean="0"/>
              <a:t>类对象</a:t>
            </a:r>
            <a:r>
              <a:rPr lang="en-US" altLang="zh-CN" dirty="0" smtClean="0"/>
              <a:t>p1</a:t>
            </a:r>
            <a:r>
              <a:rPr lang="zh-CN" altLang="en-US" dirty="0" smtClean="0"/>
              <a:t>和</a:t>
            </a:r>
            <a:r>
              <a:rPr lang="en-US" altLang="zh-CN" dirty="0" smtClean="0"/>
              <a:t>p2</a:t>
            </a:r>
            <a:r>
              <a:rPr lang="zh-CN" altLang="en-US" dirty="0" smtClean="0"/>
              <a:t>，因此是聚合关系</a:t>
            </a:r>
            <a:endParaRPr lang="en-US" altLang="zh-CN" dirty="0" smtClean="0"/>
          </a:p>
          <a:p>
            <a:r>
              <a:rPr lang="zh-CN" altLang="en-US" dirty="0" smtClean="0"/>
              <a:t>另外，</a:t>
            </a:r>
            <a:r>
              <a:rPr lang="en-US" altLang="zh-CN" dirty="0" smtClean="0"/>
              <a:t>Line</a:t>
            </a:r>
            <a:r>
              <a:rPr lang="zh-CN" altLang="en-US" dirty="0" smtClean="0"/>
              <a:t>的构造函数使用了</a:t>
            </a:r>
            <a:r>
              <a:rPr lang="en-US" altLang="zh-CN" dirty="0" smtClean="0"/>
              <a:t>Point</a:t>
            </a:r>
            <a:r>
              <a:rPr lang="zh-CN" altLang="en-US" dirty="0" smtClean="0"/>
              <a:t>类的对象作为形参，因此是依赖关系</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数据成员不同时有效</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BF629E8-202A-4DC0-B36C-BA2E41FFDA43}"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BF629E8-202A-4DC0-B36C-BA2E41FFDA43}"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BF629E8-202A-4DC0-B36C-BA2E41FFDA43}"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BF629E8-202A-4DC0-B36C-BA2E41FFDA43}"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BF629E8-202A-4DC0-B36C-BA2E41FFDA43}"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BF629E8-202A-4DC0-B36C-BA2E41FFDA43}"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BF629E8-202A-4DC0-B36C-BA2E41FFDA43}"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7"/>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文本框 6"/>
          <p:cNvSpPr txBox="1"/>
          <p:nvPr userDrawn="1"/>
        </p:nvSpPr>
        <p:spPr>
          <a:xfrm>
            <a:off x="5104765" y="6656705"/>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
        <p:nvSpPr>
          <p:cNvPr id="8" name="文本框 7"/>
          <p:cNvSpPr txBox="1"/>
          <p:nvPr userDrawn="1"/>
        </p:nvSpPr>
        <p:spPr>
          <a:xfrm>
            <a:off x="1146810" y="659384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9"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9" y="2505075"/>
            <a:ext cx="3868737"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9" name="文本框 8"/>
          <p:cNvSpPr txBox="1"/>
          <p:nvPr userDrawn="1"/>
        </p:nvSpPr>
        <p:spPr>
          <a:xfrm>
            <a:off x="2619375" y="6522085"/>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stretch>
            <a:fillRect/>
          </a:stretch>
        </p:blipFill>
        <p:spPr>
          <a:xfrm>
            <a:off x="1066340" y="6525344"/>
            <a:ext cx="6241965" cy="260648"/>
          </a:xfrm>
          <a:prstGeom prst="rect">
            <a:avLst/>
          </a:prstGeom>
        </p:spPr>
      </p:pic>
      <p:sp>
        <p:nvSpPr>
          <p:cNvPr id="3" name="标题 2"/>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9"/>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9"/>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fld id="{67CB6E3E-291E-4599-A7C6-42DD2A4CDF73}" type="datetime1">
              <a:rPr lang="zh-CN" altLang="en-US"/>
            </a:fld>
            <a:endParaRPr lang="en-US" altLang="zh-CN"/>
          </a:p>
        </p:txBody>
      </p:sp>
      <p:sp>
        <p:nvSpPr>
          <p:cNvPr id="3" name="Rectangle 10"/>
          <p:cNvSpPr>
            <a:spLocks noGrp="1" noChangeArrowheads="1"/>
          </p:cNvSpPr>
          <p:nvPr>
            <p:ph type="sldNum" sz="quarter" idx="11"/>
          </p:nvPr>
        </p:nvSpPr>
        <p:spPr>
          <a:xfrm>
            <a:off x="6553200" y="6248400"/>
            <a:ext cx="2133600" cy="457200"/>
          </a:xfrm>
          <a:prstGeom prst="rect">
            <a:avLst/>
          </a:prstGeom>
        </p:spPr>
        <p:txBody>
          <a:bodyPr/>
          <a:lstStyle>
            <a:lvl1pPr>
              <a:defRPr/>
            </a:lvl1pPr>
          </a:lstStyle>
          <a:p>
            <a:fld id="{CD93F86F-4456-4A2F-971B-4345979D2996}" type="slidenum">
              <a:rPr lang="en-US" altLang="zh-CN"/>
            </a:fld>
            <a:r>
              <a:rPr lang="en-US" altLang="zh-CN"/>
              <a:t> </a:t>
            </a:r>
            <a:endParaRPr lang="en-US" altLang="zh-CN"/>
          </a:p>
        </p:txBody>
      </p:sp>
      <p:sp>
        <p:nvSpPr>
          <p:cNvPr id="4" name="文本框 3"/>
          <p:cNvSpPr txBox="1"/>
          <p:nvPr userDrawn="1"/>
        </p:nvSpPr>
        <p:spPr>
          <a:xfrm>
            <a:off x="5378450" y="651383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08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a:effectLst>
                <a:outerShdw blurRad="38100" dist="38100" dir="2700000" algn="tl">
                  <a:srgbClr val="000000"/>
                </a:outerShdw>
              </a:effectLst>
              <a:ea typeface="隶书" panose="02010509060101010101" pitchFamily="49"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5.emf"/><Relationship Id="rId2" Type="http://schemas.openxmlformats.org/officeDocument/2006/relationships/oleObject" Target="../embeddings/oleObject2.bin"/><Relationship Id="rId19" Type="http://schemas.openxmlformats.org/officeDocument/2006/relationships/vmlDrawing" Target="../drawings/vmlDrawing2.vml"/><Relationship Id="rId18" Type="http://schemas.openxmlformats.org/officeDocument/2006/relationships/slideLayout" Target="../slideLayouts/slideLayout2.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image" Target="../media/image5.emf"/><Relationship Id="rId4" Type="http://schemas.openxmlformats.org/officeDocument/2006/relationships/oleObject" Target="../embeddings/oleObject3.bin"/><Relationship Id="rId37" Type="http://schemas.openxmlformats.org/officeDocument/2006/relationships/vmlDrawing" Target="../drawings/vmlDrawing3.vml"/><Relationship Id="rId36" Type="http://schemas.openxmlformats.org/officeDocument/2006/relationships/slideLayout" Target="../slideLayouts/slideLayout2.xml"/><Relationship Id="rId35" Type="http://schemas.openxmlformats.org/officeDocument/2006/relationships/tags" Target="../tags/tag46.xml"/><Relationship Id="rId34" Type="http://schemas.openxmlformats.org/officeDocument/2006/relationships/tags" Target="../tags/tag45.xml"/><Relationship Id="rId33" Type="http://schemas.openxmlformats.org/officeDocument/2006/relationships/tags" Target="../tags/tag44.xml"/><Relationship Id="rId32" Type="http://schemas.openxmlformats.org/officeDocument/2006/relationships/tags" Target="../tags/tag43.xml"/><Relationship Id="rId31" Type="http://schemas.openxmlformats.org/officeDocument/2006/relationships/tags" Target="../tags/tag42.xml"/><Relationship Id="rId30" Type="http://schemas.openxmlformats.org/officeDocument/2006/relationships/tags" Target="../tags/tag41.xml"/><Relationship Id="rId3" Type="http://schemas.openxmlformats.org/officeDocument/2006/relationships/tags" Target="../tags/tag17.xml"/><Relationship Id="rId29" Type="http://schemas.openxmlformats.org/officeDocument/2006/relationships/tags" Target="../tags/tag40.xml"/><Relationship Id="rId28" Type="http://schemas.openxmlformats.org/officeDocument/2006/relationships/tags" Target="../tags/tag39.xml"/><Relationship Id="rId27" Type="http://schemas.openxmlformats.org/officeDocument/2006/relationships/tags" Target="../tags/tag38.xml"/><Relationship Id="rId26" Type="http://schemas.openxmlformats.org/officeDocument/2006/relationships/tags" Target="../tags/tag37.xml"/><Relationship Id="rId25" Type="http://schemas.openxmlformats.org/officeDocument/2006/relationships/tags" Target="../tags/tag36.xml"/><Relationship Id="rId24" Type="http://schemas.openxmlformats.org/officeDocument/2006/relationships/tags" Target="../tags/tag35.xml"/><Relationship Id="rId23" Type="http://schemas.openxmlformats.org/officeDocument/2006/relationships/tags" Target="../tags/tag34.xml"/><Relationship Id="rId22" Type="http://schemas.openxmlformats.org/officeDocument/2006/relationships/tags" Target="../tags/tag33.xml"/><Relationship Id="rId21" Type="http://schemas.openxmlformats.org/officeDocument/2006/relationships/oleObject" Target="../embeddings/oleObject4.bin"/><Relationship Id="rId20" Type="http://schemas.openxmlformats.org/officeDocument/2006/relationships/tags" Target="../tags/tag32.xml"/><Relationship Id="rId2" Type="http://schemas.openxmlformats.org/officeDocument/2006/relationships/image" Target="../media/image6.png"/><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image" Target="../media/image5.emf"/><Relationship Id="rId40" Type="http://schemas.openxmlformats.org/officeDocument/2006/relationships/vmlDrawing" Target="../drawings/vmlDrawing4.vml"/><Relationship Id="rId4" Type="http://schemas.openxmlformats.org/officeDocument/2006/relationships/oleObject" Target="../embeddings/oleObject5.bin"/><Relationship Id="rId39" Type="http://schemas.openxmlformats.org/officeDocument/2006/relationships/slideLayout" Target="../slideLayouts/slideLayout2.xml"/><Relationship Id="rId38" Type="http://schemas.openxmlformats.org/officeDocument/2006/relationships/tags" Target="../tags/tag80.xml"/><Relationship Id="rId37" Type="http://schemas.openxmlformats.org/officeDocument/2006/relationships/tags" Target="../tags/tag79.xml"/><Relationship Id="rId36" Type="http://schemas.openxmlformats.org/officeDocument/2006/relationships/tags" Target="../tags/tag78.xml"/><Relationship Id="rId35" Type="http://schemas.openxmlformats.org/officeDocument/2006/relationships/tags" Target="../tags/tag77.xml"/><Relationship Id="rId34" Type="http://schemas.openxmlformats.org/officeDocument/2006/relationships/tags" Target="../tags/tag76.xml"/><Relationship Id="rId33" Type="http://schemas.openxmlformats.org/officeDocument/2006/relationships/tags" Target="../tags/tag75.xml"/><Relationship Id="rId32" Type="http://schemas.openxmlformats.org/officeDocument/2006/relationships/tags" Target="../tags/tag74.xml"/><Relationship Id="rId31" Type="http://schemas.openxmlformats.org/officeDocument/2006/relationships/tags" Target="../tags/tag73.xml"/><Relationship Id="rId30" Type="http://schemas.openxmlformats.org/officeDocument/2006/relationships/tags" Target="../tags/tag72.xml"/><Relationship Id="rId3" Type="http://schemas.openxmlformats.org/officeDocument/2006/relationships/tags" Target="../tags/tag48.xml"/><Relationship Id="rId29" Type="http://schemas.openxmlformats.org/officeDocument/2006/relationships/tags" Target="../tags/tag71.xml"/><Relationship Id="rId28" Type="http://schemas.openxmlformats.org/officeDocument/2006/relationships/tags" Target="../tags/tag70.xml"/><Relationship Id="rId27" Type="http://schemas.openxmlformats.org/officeDocument/2006/relationships/tags" Target="../tags/tag69.xml"/><Relationship Id="rId26" Type="http://schemas.openxmlformats.org/officeDocument/2006/relationships/tags" Target="../tags/tag68.xml"/><Relationship Id="rId25" Type="http://schemas.openxmlformats.org/officeDocument/2006/relationships/tags" Target="../tags/tag67.xml"/><Relationship Id="rId24" Type="http://schemas.openxmlformats.org/officeDocument/2006/relationships/tags" Target="../tags/tag66.xml"/><Relationship Id="rId23" Type="http://schemas.openxmlformats.org/officeDocument/2006/relationships/tags" Target="../tags/tag65.xml"/><Relationship Id="rId22" Type="http://schemas.openxmlformats.org/officeDocument/2006/relationships/tags" Target="../tags/tag64.xml"/><Relationship Id="rId21" Type="http://schemas.openxmlformats.org/officeDocument/2006/relationships/oleObject" Target="../embeddings/oleObject6.bin"/><Relationship Id="rId20" Type="http://schemas.openxmlformats.org/officeDocument/2006/relationships/tags" Target="../tags/tag63.xml"/><Relationship Id="rId2" Type="http://schemas.openxmlformats.org/officeDocument/2006/relationships/image" Target="../media/image6.png"/><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tags" Target="../tags/tag4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tags" Target="../tags/tag8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8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image" Target="../media/image9.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7.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wm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w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66" name="Object 2"/>
          <p:cNvGraphicFramePr>
            <a:graphicFrameLocks noChangeAspect="1"/>
          </p:cNvGraphicFramePr>
          <p:nvPr/>
        </p:nvGraphicFramePr>
        <p:xfrm>
          <a:off x="0" y="5486400"/>
          <a:ext cx="1524000" cy="1371600"/>
        </p:xfrm>
        <a:graphic>
          <a:graphicData uri="http://schemas.openxmlformats.org/presentationml/2006/ole">
            <mc:AlternateContent xmlns:mc="http://schemas.openxmlformats.org/markup-compatibility/2006">
              <mc:Choice xmlns:v="urn:schemas-microsoft-com:vml" Requires="v">
                <p:oleObj spid="_x0000_s602179" name="剪辑" r:id="rId1" imgW="685800" imgH="586740" progId="">
                  <p:embed/>
                </p:oleObj>
              </mc:Choice>
              <mc:Fallback>
                <p:oleObj name="剪辑" r:id="rId1" imgW="685800" imgH="586740" progId="">
                  <p:embed/>
                  <p:pic>
                    <p:nvPicPr>
                      <p:cNvPr id="0" name="图片 6021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86400"/>
                        <a:ext cx="15240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0068" name="Rectangle 4"/>
          <p:cNvSpPr>
            <a:spLocks noChangeArrowheads="1"/>
          </p:cNvSpPr>
          <p:nvPr/>
        </p:nvSpPr>
        <p:spPr bwMode="auto">
          <a:xfrm>
            <a:off x="533400" y="1219200"/>
            <a:ext cx="7848600" cy="76200"/>
          </a:xfrm>
          <a:prstGeom prst="rect">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22225">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none" anchor="ctr"/>
          <a:lstStyle/>
          <a:p>
            <a:endParaRPr lang="zh-CN" altLang="en-US"/>
          </a:p>
        </p:txBody>
      </p:sp>
      <p:pic>
        <p:nvPicPr>
          <p:cNvPr id="600069" name="Picture 5"/>
          <p:cNvPicPr>
            <a:picLocks noChangeAspect="1" noChangeArrowheads="1"/>
          </p:cNvPicPr>
          <p:nvPr/>
        </p:nvPicPr>
        <p:blipFill>
          <a:blip r:embed="rId3"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7696200" y="388939"/>
            <a:ext cx="1219200" cy="754063"/>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00070" name="Text Box 6"/>
          <p:cNvSpPr txBox="1">
            <a:spLocks noChangeArrowheads="1"/>
          </p:cNvSpPr>
          <p:nvPr/>
        </p:nvSpPr>
        <p:spPr bwMode="auto">
          <a:xfrm>
            <a:off x="533400" y="1803414"/>
            <a:ext cx="7344816"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6000" b="1" dirty="0">
                <a:solidFill>
                  <a:srgbClr val="FFFF00"/>
                </a:solidFill>
                <a:effectLst>
                  <a:outerShdw blurRad="38100" dist="38100" dir="2700000" algn="tl">
                    <a:srgbClr val="000000"/>
                  </a:outerShdw>
                </a:effectLst>
                <a:latin typeface="+mj-lt"/>
                <a:ea typeface="黑体" panose="02010609060101010101" pitchFamily="49" charset="-122"/>
              </a:rPr>
              <a:t>UNIT </a:t>
            </a:r>
            <a:r>
              <a:rPr lang="en-US" altLang="zh-CN" sz="6000" b="1" dirty="0" smtClean="0">
                <a:solidFill>
                  <a:srgbClr val="FFFF00"/>
                </a:solidFill>
                <a:effectLst>
                  <a:outerShdw blurRad="38100" dist="38100" dir="2700000" algn="tl">
                    <a:srgbClr val="000000"/>
                  </a:outerShdw>
                </a:effectLst>
                <a:latin typeface="+mj-lt"/>
                <a:ea typeface="黑体" panose="02010609060101010101" pitchFamily="49" charset="-122"/>
              </a:rPr>
              <a:t>04      </a:t>
            </a:r>
            <a:r>
              <a:rPr lang="zh-CN" altLang="en-US" sz="9600" b="1" dirty="0" smtClean="0">
                <a:effectLst>
                  <a:outerShdw blurRad="38100" dist="38100" dir="2700000" algn="tl">
                    <a:srgbClr val="000000"/>
                  </a:outerShdw>
                </a:effectLst>
                <a:latin typeface="华文行楷" panose="02010800040101010101" pitchFamily="2" charset="-122"/>
                <a:ea typeface="华文行楷" panose="02010800040101010101" pitchFamily="2" charset="-122"/>
              </a:rPr>
              <a:t>类</a:t>
            </a:r>
            <a:endParaRPr lang="zh-CN" altLang="en-US" sz="7200" b="1" dirty="0">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600073" name="Rectangle 9"/>
          <p:cNvSpPr>
            <a:spLocks noGrp="1" noChangeArrowheads="1"/>
          </p:cNvSpPr>
          <p:nvPr>
            <p:ph type="title"/>
          </p:nvPr>
        </p:nvSpPr>
        <p:spPr bwMode="auto">
          <a:xfrm>
            <a:off x="1611660" y="461170"/>
            <a:ext cx="5410200" cy="609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dist"/>
            <a:r>
              <a:rPr lang="zh-CN" altLang="en-US" sz="4200" b="1" i="0" dirty="0" smtClean="0">
                <a:solidFill>
                  <a:srgbClr val="FFFFFF"/>
                </a:solidFill>
                <a:latin typeface="方正舒体" panose="02010601030101010101" pitchFamily="2" charset="-122"/>
                <a:ea typeface="方正舒体" panose="02010601030101010101" pitchFamily="2" charset="-122"/>
              </a:rPr>
              <a:t>程序设计</a:t>
            </a:r>
            <a:r>
              <a:rPr lang="en-US" altLang="zh-CN" sz="4200" b="1" i="0" smtClean="0">
                <a:solidFill>
                  <a:srgbClr val="FFFFFF"/>
                </a:solidFill>
                <a:latin typeface="方正舒体" panose="02010601030101010101" pitchFamily="2" charset="-122"/>
                <a:ea typeface="方正舒体" panose="02010601030101010101" pitchFamily="2" charset="-122"/>
              </a:rPr>
              <a:t>D</a:t>
            </a:r>
            <a:endParaRPr lang="zh-CN" altLang="en-US" sz="2400" i="0" dirty="0">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bwMode="auto">
          <a:xfrm>
            <a:off x="1907704" y="576300"/>
            <a:ext cx="6400800" cy="5400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rmAutofit fontScale="70000" lnSpcReduction="20000"/>
          </a:bodyPr>
          <a:lstStyle/>
          <a:p>
            <a:pPr>
              <a:lnSpc>
                <a:spcPct val="160000"/>
              </a:lnSpc>
              <a:spcBef>
                <a:spcPts val="600"/>
              </a:spcBef>
              <a:buClr>
                <a:schemeClr val="tx1"/>
              </a:buClr>
              <a:buFont typeface="Monotype Sorts" pitchFamily="2" charset="2"/>
              <a:buChar char="&amp;"/>
            </a:pPr>
            <a:r>
              <a:rPr lang="zh-CN" altLang="en-US" sz="3600" b="1" dirty="0" smtClean="0">
                <a:latin typeface="华文中宋" panose="02010600040101010101" pitchFamily="2" charset="-122"/>
                <a:ea typeface="华文中宋" panose="02010600040101010101" pitchFamily="2" charset="-122"/>
              </a:rPr>
              <a:t>  面向对象程序设计</a:t>
            </a:r>
            <a:r>
              <a:rPr lang="zh-CN" altLang="en-US" sz="3600" b="1" dirty="0">
                <a:latin typeface="华文中宋" panose="02010600040101010101" pitchFamily="2" charset="-122"/>
                <a:ea typeface="华文中宋" panose="02010600040101010101" pitchFamily="2" charset="-122"/>
              </a:rPr>
              <a:t>的基本</a:t>
            </a:r>
            <a:r>
              <a:rPr lang="zh-CN" altLang="en-US" sz="3600" b="1" dirty="0" smtClean="0">
                <a:latin typeface="华文中宋" panose="02010600040101010101" pitchFamily="2" charset="-122"/>
                <a:ea typeface="华文中宋" panose="02010600040101010101" pitchFamily="2" charset="-122"/>
              </a:rPr>
              <a:t>特点</a:t>
            </a:r>
            <a:endParaRPr lang="en-US" altLang="zh-CN" sz="3600" b="1" dirty="0" smtClean="0">
              <a:latin typeface="华文中宋" panose="02010600040101010101" pitchFamily="2" charset="-122"/>
              <a:ea typeface="华文中宋" panose="02010600040101010101" pitchFamily="2" charset="-122"/>
            </a:endParaRPr>
          </a:p>
          <a:p>
            <a:pPr>
              <a:lnSpc>
                <a:spcPct val="16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a:latin typeface="华文中宋" panose="02010600040101010101" pitchFamily="2" charset="-122"/>
                <a:ea typeface="华文中宋" panose="02010600040101010101" pitchFamily="2" charset="-122"/>
              </a:rPr>
              <a:t>类和</a:t>
            </a:r>
            <a:r>
              <a:rPr lang="zh-CN" altLang="en-US" sz="3600" b="1" dirty="0" smtClean="0">
                <a:latin typeface="华文中宋" panose="02010600040101010101" pitchFamily="2" charset="-122"/>
                <a:ea typeface="华文中宋" panose="02010600040101010101" pitchFamily="2" charset="-122"/>
              </a:rPr>
              <a:t>对象</a:t>
            </a:r>
            <a:endParaRPr lang="en-US" altLang="zh-CN" sz="3600" b="1" dirty="0" smtClean="0">
              <a:latin typeface="华文中宋" panose="02010600040101010101" pitchFamily="2" charset="-122"/>
              <a:ea typeface="华文中宋" panose="02010600040101010101" pitchFamily="2" charset="-122"/>
            </a:endParaRPr>
          </a:p>
          <a:p>
            <a:pPr>
              <a:lnSpc>
                <a:spcPct val="16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a:latin typeface="华文中宋" panose="02010600040101010101" pitchFamily="2" charset="-122"/>
                <a:ea typeface="华文中宋" panose="02010600040101010101" pitchFamily="2" charset="-122"/>
              </a:rPr>
              <a:t>构造函数和析构</a:t>
            </a:r>
            <a:r>
              <a:rPr lang="zh-CN" altLang="en-US" sz="3600" b="1" dirty="0" smtClean="0">
                <a:latin typeface="华文中宋" panose="02010600040101010101" pitchFamily="2" charset="-122"/>
                <a:ea typeface="华文中宋" panose="02010600040101010101" pitchFamily="2" charset="-122"/>
              </a:rPr>
              <a:t>函数</a:t>
            </a:r>
            <a:endParaRPr lang="en-US" altLang="zh-CN" sz="3600" b="1" dirty="0" smtClean="0">
              <a:latin typeface="华文中宋" panose="02010600040101010101" pitchFamily="2" charset="-122"/>
              <a:ea typeface="华文中宋" panose="02010600040101010101" pitchFamily="2" charset="-122"/>
            </a:endParaRPr>
          </a:p>
          <a:p>
            <a:pPr>
              <a:lnSpc>
                <a:spcPct val="16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a:latin typeface="华文中宋" panose="02010600040101010101" pitchFamily="2" charset="-122"/>
                <a:ea typeface="华文中宋" panose="02010600040101010101" pitchFamily="2" charset="-122"/>
              </a:rPr>
              <a:t>类的</a:t>
            </a:r>
            <a:r>
              <a:rPr lang="zh-CN" altLang="en-US" sz="3600" b="1" dirty="0" smtClean="0">
                <a:latin typeface="华文中宋" panose="02010600040101010101" pitchFamily="2" charset="-122"/>
                <a:ea typeface="华文中宋" panose="02010600040101010101" pitchFamily="2" charset="-122"/>
              </a:rPr>
              <a:t>组合</a:t>
            </a:r>
            <a:endParaRPr lang="en-US" altLang="zh-CN" sz="3600" b="1" dirty="0" smtClean="0">
              <a:latin typeface="华文中宋" panose="02010600040101010101" pitchFamily="2" charset="-122"/>
              <a:ea typeface="华文中宋" panose="02010600040101010101" pitchFamily="2" charset="-122"/>
            </a:endParaRPr>
          </a:p>
          <a:p>
            <a:pPr>
              <a:lnSpc>
                <a:spcPct val="16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en-US" altLang="zh-CN" sz="3600" b="1" dirty="0">
                <a:latin typeface="华文中宋" panose="02010600040101010101" pitchFamily="2" charset="-122"/>
                <a:ea typeface="华文中宋" panose="02010600040101010101" pitchFamily="2" charset="-122"/>
              </a:rPr>
              <a:t>UML</a:t>
            </a:r>
            <a:r>
              <a:rPr lang="zh-CN" altLang="en-US" sz="3600" b="1" dirty="0">
                <a:latin typeface="华文中宋" panose="02010600040101010101" pitchFamily="2" charset="-122"/>
                <a:ea typeface="华文中宋" panose="02010600040101010101" pitchFamily="2" charset="-122"/>
              </a:rPr>
              <a:t>图形</a:t>
            </a:r>
            <a:r>
              <a:rPr lang="zh-CN" altLang="en-US" sz="3600" b="1" dirty="0" smtClean="0">
                <a:latin typeface="华文中宋" panose="02010600040101010101" pitchFamily="2" charset="-122"/>
                <a:ea typeface="华文中宋" panose="02010600040101010101" pitchFamily="2" charset="-122"/>
              </a:rPr>
              <a:t>标识</a:t>
            </a:r>
            <a:endParaRPr lang="en-US" altLang="zh-CN" sz="3600" b="1" dirty="0" smtClean="0">
              <a:latin typeface="华文中宋" panose="02010600040101010101" pitchFamily="2" charset="-122"/>
              <a:ea typeface="华文中宋" panose="02010600040101010101" pitchFamily="2" charset="-122"/>
            </a:endParaRPr>
          </a:p>
          <a:p>
            <a:pPr>
              <a:lnSpc>
                <a:spcPct val="16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a:latin typeface="华文中宋" panose="02010600040101010101" pitchFamily="2" charset="-122"/>
                <a:ea typeface="华文中宋" panose="02010600040101010101" pitchFamily="2" charset="-122"/>
              </a:rPr>
              <a:t>结构体和</a:t>
            </a:r>
            <a:r>
              <a:rPr lang="zh-CN" altLang="en-US" sz="3600" b="1" dirty="0" smtClean="0">
                <a:latin typeface="华文中宋" panose="02010600040101010101" pitchFamily="2" charset="-122"/>
                <a:ea typeface="华文中宋" panose="02010600040101010101" pitchFamily="2" charset="-122"/>
              </a:rPr>
              <a:t>联合体</a:t>
            </a:r>
            <a:endParaRPr lang="en-US" altLang="zh-CN" sz="3600" b="1" dirty="0" smtClean="0">
              <a:latin typeface="华文中宋" panose="02010600040101010101" pitchFamily="2" charset="-122"/>
              <a:ea typeface="华文中宋" panose="02010600040101010101" pitchFamily="2" charset="-122"/>
            </a:endParaRPr>
          </a:p>
          <a:p>
            <a:pPr>
              <a:lnSpc>
                <a:spcPct val="160000"/>
              </a:lnSpc>
              <a:spcBef>
                <a:spcPts val="600"/>
              </a:spcBef>
              <a:buClr>
                <a:schemeClr val="tx1"/>
              </a:buClr>
              <a:buFont typeface="Monotype Sorts" pitchFamily="2" charset="2"/>
              <a:buChar char="&amp;"/>
            </a:pPr>
            <a:r>
              <a:rPr lang="en-US" altLang="zh-CN" sz="3600" b="1" dirty="0">
                <a:latin typeface="华文中宋" panose="02010600040101010101" pitchFamily="2" charset="-122"/>
                <a:ea typeface="华文中宋" panose="02010600040101010101" pitchFamily="2" charset="-122"/>
              </a:rPr>
              <a:t> </a:t>
            </a: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枚举类型</a:t>
            </a:r>
            <a:endParaRPr lang="en-US" altLang="zh-CN" sz="3600" b="1" dirty="0" smtClean="0">
              <a:latin typeface="华文中宋" panose="02010600040101010101" pitchFamily="2" charset="-122"/>
              <a:ea typeface="华文中宋" panose="02010600040101010101" pitchFamily="2" charset="-122"/>
            </a:endParaRPr>
          </a:p>
          <a:p>
            <a:pPr>
              <a:lnSpc>
                <a:spcPct val="160000"/>
              </a:lnSpc>
              <a:spcBef>
                <a:spcPts val="600"/>
              </a:spcBef>
              <a:buClr>
                <a:schemeClr val="tx1"/>
              </a:buClr>
              <a:buFont typeface="Monotype Sorts" pitchFamily="2" charset="2"/>
              <a:buChar char="&amp;"/>
            </a:pPr>
            <a:r>
              <a:rPr lang="en-US" altLang="zh-CN" sz="3600" b="1" dirty="0" smtClean="0">
                <a:latin typeface="华文中宋" panose="02010600040101010101" pitchFamily="2" charset="-122"/>
                <a:ea typeface="华文中宋" panose="02010600040101010101" pitchFamily="2" charset="-122"/>
              </a:rPr>
              <a:t>  </a:t>
            </a:r>
            <a:r>
              <a:rPr lang="zh-CN" altLang="en-US" sz="3600" b="1" dirty="0" smtClean="0">
                <a:latin typeface="华文中宋" panose="02010600040101010101" pitchFamily="2" charset="-122"/>
                <a:ea typeface="华文中宋" panose="02010600040101010101" pitchFamily="2" charset="-122"/>
              </a:rPr>
              <a:t>深度探索</a:t>
            </a:r>
            <a:endParaRPr lang="en-US" altLang="zh-CN" sz="3600" b="1" dirty="0">
              <a:latin typeface="华文中宋" panose="02010600040101010101" pitchFamily="2" charset="-122"/>
              <a:ea typeface="华文中宋" panose="02010600040101010101" pitchFamily="2" charset="-122"/>
            </a:endParaRPr>
          </a:p>
        </p:txBody>
      </p:sp>
      <p:sp>
        <p:nvSpPr>
          <p:cNvPr id="687107" name="WordArt 3"/>
          <p:cNvSpPr>
            <a:spLocks noChangeArrowheads="1" noChangeShapeType="1" noTextEdit="1"/>
          </p:cNvSpPr>
          <p:nvPr/>
        </p:nvSpPr>
        <p:spPr bwMode="auto">
          <a:xfrm rot="5373304">
            <a:off x="-1257300" y="2857500"/>
            <a:ext cx="4876800" cy="838200"/>
          </a:xfrm>
          <a:prstGeom prst="rect">
            <a:avLst/>
          </a:prstGeom>
          <a:extLst>
            <a:ext uri="{AF507438-7753-43E0-B8FC-AC1667EBCBE1}">
              <a14:hiddenEffects xmlns:a14="http://schemas.microsoft.com/office/drawing/2010/main">
                <a:effectLst/>
              </a14:hiddenEffects>
            </a:ext>
          </a:extLst>
        </p:spPr>
        <p:txBody>
          <a:bodyPr vert="eaVert" wrap="none" fromWordArt="1">
            <a:prstTxWarp prst="textPlain">
              <a:avLst>
                <a:gd name="adj" fmla="val 50000"/>
              </a:avLst>
            </a:prstTxWarp>
            <a:scene3d>
              <a:camera prst="legacyPerspectiveFront">
                <a:rot lat="20639999" lon="20699999" rev="0"/>
              </a:camera>
              <a:lightRig rig="legacyFlat4" dir="b"/>
            </a:scene3d>
            <a:sp3d extrusionH="201600" prstMaterial="legacyPlastic">
              <a:extrusionClr>
                <a:srgbClr val="FF9966"/>
              </a:extrusionClr>
              <a:contourClr>
                <a:schemeClr val="tx1"/>
              </a:contourClr>
            </a:sp3d>
          </a:bodyPr>
          <a:lstStyle/>
          <a:p>
            <a:pPr fontAlgn="auto"/>
            <a:r>
              <a:rPr lang="zh-CN" altLang="en-US" sz="3600" kern="10" spc="1800" dirty="0">
                <a:ln w="9525">
                  <a:round/>
                </a:ln>
                <a:latin typeface="隶书" panose="02010509060101010101" pitchFamily="49" charset="-122"/>
                <a:ea typeface="隶书" panose="02010509060101010101" pitchFamily="49" charset="-122"/>
              </a:rPr>
              <a:t>本讲提纲</a:t>
            </a:r>
            <a:endParaRPr lang="zh-CN" altLang="en-US" sz="3600" kern="10" spc="1800" dirty="0">
              <a:ln w="9525">
                <a:round/>
              </a:ln>
              <a:latin typeface="隶书" panose="02010509060101010101" pitchFamily="49" charset="-122"/>
              <a:ea typeface="隶书" panose="02010509060101010101" pitchFamily="49" charset="-122"/>
            </a:endParaRPr>
          </a:p>
        </p:txBody>
      </p:sp>
      <p:pic>
        <p:nvPicPr>
          <p:cNvPr id="687109" name="Picture 5" descr="BS00975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96336" y="188640"/>
            <a:ext cx="1295400" cy="1128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4.0 </a:t>
            </a:r>
            <a:r>
              <a:rPr lang="zh-CN" altLang="en-US" sz="4400" b="1">
                <a:latin typeface="Times New Roman" panose="02020603050405020304" pitchFamily="18" charset="0"/>
                <a:ea typeface="隶书" panose="02010509060101010101" pitchFamily="49" charset="-122"/>
              </a:rPr>
              <a:t>课程</a:t>
            </a:r>
            <a:r>
              <a:rPr lang="zh-CN" altLang="en-US" sz="4400" b="1">
                <a:latin typeface="Times New Roman" panose="02020603050405020304" pitchFamily="18" charset="0"/>
                <a:ea typeface="隶书" panose="02010509060101010101" pitchFamily="49" charset="-122"/>
              </a:rPr>
              <a:t>导入</a:t>
            </a:r>
            <a:endParaRPr lang="zh-CN" altLang="en-US" sz="4400" b="1">
              <a:latin typeface="Times New Roman" panose="02020603050405020304" pitchFamily="18" charset="0"/>
              <a:ea typeface="隶书" panose="02010509060101010101" pitchFamily="49" charset="-122"/>
            </a:endParaRPr>
          </a:p>
        </p:txBody>
      </p:sp>
      <p:sp>
        <p:nvSpPr>
          <p:cNvPr id="15363" name="内容占位符 2"/>
          <p:cNvSpPr>
            <a:spLocks noGrp="1"/>
          </p:cNvSpPr>
          <p:nvPr>
            <p:ph idx="1"/>
          </p:nvPr>
        </p:nvSpPr>
        <p:spPr>
          <a:xfrm>
            <a:off x="467360" y="1556385"/>
            <a:ext cx="4079240" cy="3660140"/>
          </a:xfrm>
        </p:spPr>
        <p:txBody>
          <a:bodyPr/>
          <a:lstStyle/>
          <a:p>
            <a:pPr eaLnBrk="1" hangingPunct="1">
              <a:lnSpc>
                <a:spcPct val="130000"/>
              </a:lnSpc>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在前面的学习过程中，我们能够实现单一数据的存储。比如，存储学生的姓名、语文、数学、英语、科学、品德、总分等成绩。并知道其内存分布，如</a:t>
            </a:r>
            <a:r>
              <a:rPr lang="zh-CN" altLang="en-US" sz="2400" b="1" dirty="0" smtClean="0">
                <a:latin typeface="微软雅黑" panose="020B0503020204020204" pitchFamily="34" charset="-122"/>
                <a:ea typeface="微软雅黑" panose="020B0503020204020204" pitchFamily="34" charset="-122"/>
              </a:rPr>
              <a:t>左图。</a:t>
            </a:r>
            <a:endParaRPr lang="zh-CN" altLang="en-US" sz="2400" b="1" dirty="0" smtClean="0">
              <a:latin typeface="微软雅黑" panose="020B0503020204020204" pitchFamily="34" charset="-122"/>
              <a:ea typeface="微软雅黑" panose="020B0503020204020204" pitchFamily="34" charset="-122"/>
            </a:endParaRPr>
          </a:p>
        </p:txBody>
      </p:sp>
      <p:graphicFrame>
        <p:nvGraphicFramePr>
          <p:cNvPr id="11" name="对象 10"/>
          <p:cNvGraphicFramePr/>
          <p:nvPr>
            <p:custDataLst>
              <p:tags r:id="rId1"/>
            </p:custDataLst>
          </p:nvPr>
        </p:nvGraphicFramePr>
        <p:xfrm>
          <a:off x="7092315" y="2204720"/>
          <a:ext cx="1137285" cy="2938780"/>
        </p:xfrm>
        <a:graphic>
          <a:graphicData uri="http://schemas.openxmlformats.org/presentationml/2006/ole">
            <mc:AlternateContent xmlns:mc="http://schemas.openxmlformats.org/markup-compatibility/2006">
              <mc:Choice xmlns:v="urn:schemas-microsoft-com:vml" Requires="v">
                <p:oleObj spid="_x0000_s12" name="" r:id="rId2" imgW="985520" imgH="2511425" progId="Visio.Drawing.15">
                  <p:embed/>
                </p:oleObj>
              </mc:Choice>
              <mc:Fallback>
                <p:oleObj name="" r:id="rId2" imgW="985520" imgH="2511425" progId="Visio.Drawing.15">
                  <p:embed/>
                  <p:pic>
                    <p:nvPicPr>
                      <p:cNvPr id="0" name="图片 3"/>
                      <p:cNvPicPr/>
                      <p:nvPr/>
                    </p:nvPicPr>
                    <p:blipFill>
                      <a:blip r:embed="rId3"/>
                      <a:stretch>
                        <a:fillRect/>
                      </a:stretch>
                    </p:blipFill>
                    <p:spPr>
                      <a:xfrm>
                        <a:off x="7092315" y="2204720"/>
                        <a:ext cx="1137285" cy="2938780"/>
                      </a:xfrm>
                      <a:prstGeom prst="rect">
                        <a:avLst/>
                      </a:prstGeom>
                    </p:spPr>
                  </p:pic>
                </p:oleObj>
              </mc:Fallback>
            </mc:AlternateContent>
          </a:graphicData>
        </a:graphic>
      </p:graphicFrame>
      <p:sp>
        <p:nvSpPr>
          <p:cNvPr id="13" name="文本框 12"/>
          <p:cNvSpPr txBox="1"/>
          <p:nvPr>
            <p:custDataLst>
              <p:tags r:id="rId4"/>
            </p:custDataLst>
          </p:nvPr>
        </p:nvSpPr>
        <p:spPr>
          <a:xfrm>
            <a:off x="5458460" y="2135505"/>
            <a:ext cx="1623060" cy="48069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string name</a:t>
            </a:r>
            <a:endParaRPr lang="en-US" altLang="zh-CN" sz="1800" dirty="0" smtClean="0"/>
          </a:p>
        </p:txBody>
      </p:sp>
      <p:sp>
        <p:nvSpPr>
          <p:cNvPr id="14" name="文本框 13"/>
          <p:cNvSpPr txBox="1"/>
          <p:nvPr>
            <p:custDataLst>
              <p:tags r:id="rId5"/>
            </p:custDataLst>
          </p:nvPr>
        </p:nvSpPr>
        <p:spPr>
          <a:xfrm>
            <a:off x="5458460" y="2489835"/>
            <a:ext cx="1591945" cy="41402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chinese</a:t>
            </a:r>
            <a:endParaRPr lang="en-US" altLang="zh-CN" sz="1800" dirty="0" smtClean="0"/>
          </a:p>
        </p:txBody>
      </p:sp>
      <p:sp>
        <p:nvSpPr>
          <p:cNvPr id="15" name="文本框 14"/>
          <p:cNvSpPr txBox="1"/>
          <p:nvPr>
            <p:custDataLst>
              <p:tags r:id="rId6"/>
            </p:custDataLst>
          </p:nvPr>
        </p:nvSpPr>
        <p:spPr>
          <a:xfrm>
            <a:off x="5458460" y="2860040"/>
            <a:ext cx="1484630" cy="44767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math</a:t>
            </a:r>
            <a:endParaRPr lang="en-US" altLang="zh-CN" sz="1800" dirty="0" smtClean="0"/>
          </a:p>
        </p:txBody>
      </p:sp>
      <p:sp>
        <p:nvSpPr>
          <p:cNvPr id="16" name="文本框 15"/>
          <p:cNvSpPr txBox="1"/>
          <p:nvPr>
            <p:custDataLst>
              <p:tags r:id="rId7"/>
            </p:custDataLst>
          </p:nvPr>
        </p:nvSpPr>
        <p:spPr>
          <a:xfrm>
            <a:off x="5458460" y="3263900"/>
            <a:ext cx="1619250" cy="43307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English</a:t>
            </a:r>
            <a:endParaRPr lang="en-US" altLang="zh-CN" sz="1800" dirty="0" smtClean="0"/>
          </a:p>
        </p:txBody>
      </p:sp>
      <p:sp>
        <p:nvSpPr>
          <p:cNvPr id="17" name="文本框 16"/>
          <p:cNvSpPr txBox="1"/>
          <p:nvPr>
            <p:custDataLst>
              <p:tags r:id="rId8"/>
            </p:custDataLst>
          </p:nvPr>
        </p:nvSpPr>
        <p:spPr>
          <a:xfrm>
            <a:off x="5458460" y="3653155"/>
            <a:ext cx="1619250" cy="44958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science</a:t>
            </a:r>
            <a:endParaRPr lang="en-US" altLang="zh-CN" sz="1800" dirty="0" smtClean="0"/>
          </a:p>
        </p:txBody>
      </p:sp>
      <p:sp>
        <p:nvSpPr>
          <p:cNvPr id="18" name="文本框 17"/>
          <p:cNvSpPr txBox="1"/>
          <p:nvPr>
            <p:custDataLst>
              <p:tags r:id="rId9"/>
            </p:custDataLst>
          </p:nvPr>
        </p:nvSpPr>
        <p:spPr>
          <a:xfrm>
            <a:off x="5458460" y="4058920"/>
            <a:ext cx="1656715"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morality</a:t>
            </a:r>
            <a:endParaRPr lang="en-US" altLang="zh-CN" sz="1800" dirty="0" smtClean="0"/>
          </a:p>
        </p:txBody>
      </p:sp>
      <p:sp>
        <p:nvSpPr>
          <p:cNvPr id="19" name="文本框 18"/>
          <p:cNvSpPr txBox="1"/>
          <p:nvPr>
            <p:custDataLst>
              <p:tags r:id="rId10"/>
            </p:custDataLst>
          </p:nvPr>
        </p:nvSpPr>
        <p:spPr>
          <a:xfrm>
            <a:off x="7202805" y="2204720"/>
            <a:ext cx="944880" cy="40005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1800" dirty="0" smtClean="0">
                <a:solidFill>
                  <a:schemeClr val="bg1"/>
                </a:solidFill>
              </a:rPr>
              <a:t>薛佳宏</a:t>
            </a:r>
            <a:endParaRPr lang="zh-CN" altLang="en-US" sz="1800" dirty="0" smtClean="0">
              <a:solidFill>
                <a:schemeClr val="bg1"/>
              </a:solidFill>
            </a:endParaRPr>
          </a:p>
        </p:txBody>
      </p:sp>
      <p:sp>
        <p:nvSpPr>
          <p:cNvPr id="20" name="文本框 19"/>
          <p:cNvSpPr txBox="1"/>
          <p:nvPr>
            <p:custDataLst>
              <p:tags r:id="rId11"/>
            </p:custDataLst>
          </p:nvPr>
        </p:nvSpPr>
        <p:spPr>
          <a:xfrm>
            <a:off x="7202805" y="257365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85</a:t>
            </a:r>
            <a:endParaRPr lang="en-US" altLang="zh-CN" sz="1800" dirty="0" smtClean="0">
              <a:solidFill>
                <a:schemeClr val="bg1"/>
              </a:solidFill>
            </a:endParaRPr>
          </a:p>
        </p:txBody>
      </p:sp>
      <p:sp>
        <p:nvSpPr>
          <p:cNvPr id="21" name="文本框 20"/>
          <p:cNvSpPr txBox="1"/>
          <p:nvPr>
            <p:custDataLst>
              <p:tags r:id="rId12"/>
            </p:custDataLst>
          </p:nvPr>
        </p:nvSpPr>
        <p:spPr>
          <a:xfrm>
            <a:off x="7202805" y="291592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88</a:t>
            </a:r>
            <a:endParaRPr lang="en-US" altLang="zh-CN" sz="1800" dirty="0" smtClean="0">
              <a:solidFill>
                <a:schemeClr val="bg1"/>
              </a:solidFill>
            </a:endParaRPr>
          </a:p>
        </p:txBody>
      </p:sp>
      <p:sp>
        <p:nvSpPr>
          <p:cNvPr id="22" name="文本框 21"/>
          <p:cNvSpPr txBox="1"/>
          <p:nvPr>
            <p:custDataLst>
              <p:tags r:id="rId13"/>
            </p:custDataLst>
          </p:nvPr>
        </p:nvSpPr>
        <p:spPr>
          <a:xfrm>
            <a:off x="7202805" y="327469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89</a:t>
            </a:r>
            <a:endParaRPr lang="en-US" altLang="zh-CN" sz="1800" dirty="0" smtClean="0">
              <a:solidFill>
                <a:schemeClr val="bg1"/>
              </a:solidFill>
            </a:endParaRPr>
          </a:p>
        </p:txBody>
      </p:sp>
      <p:sp>
        <p:nvSpPr>
          <p:cNvPr id="23" name="文本框 22"/>
          <p:cNvSpPr txBox="1"/>
          <p:nvPr>
            <p:custDataLst>
              <p:tags r:id="rId14"/>
            </p:custDataLst>
          </p:nvPr>
        </p:nvSpPr>
        <p:spPr>
          <a:xfrm>
            <a:off x="7202805" y="370522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96</a:t>
            </a:r>
            <a:endParaRPr lang="en-US" altLang="zh-CN" sz="1800" dirty="0" smtClean="0">
              <a:solidFill>
                <a:schemeClr val="bg1"/>
              </a:solidFill>
            </a:endParaRPr>
          </a:p>
        </p:txBody>
      </p:sp>
      <p:sp>
        <p:nvSpPr>
          <p:cNvPr id="24" name="文本框 23"/>
          <p:cNvSpPr txBox="1"/>
          <p:nvPr>
            <p:custDataLst>
              <p:tags r:id="rId15"/>
            </p:custDataLst>
          </p:nvPr>
        </p:nvSpPr>
        <p:spPr>
          <a:xfrm>
            <a:off x="7202805" y="404749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93</a:t>
            </a:r>
            <a:endParaRPr lang="en-US" altLang="zh-CN" sz="1800" dirty="0" smtClean="0">
              <a:solidFill>
                <a:schemeClr val="bg1"/>
              </a:solidFill>
            </a:endParaRPr>
          </a:p>
        </p:txBody>
      </p:sp>
      <p:sp>
        <p:nvSpPr>
          <p:cNvPr id="25" name="文本框 24"/>
          <p:cNvSpPr txBox="1"/>
          <p:nvPr>
            <p:custDataLst>
              <p:tags r:id="rId16"/>
            </p:custDataLst>
          </p:nvPr>
        </p:nvSpPr>
        <p:spPr>
          <a:xfrm>
            <a:off x="5458460" y="4390390"/>
            <a:ext cx="1673860"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total</a:t>
            </a:r>
            <a:endParaRPr lang="en-US" altLang="zh-CN" sz="1800" dirty="0" smtClean="0"/>
          </a:p>
        </p:txBody>
      </p:sp>
      <p:sp>
        <p:nvSpPr>
          <p:cNvPr id="26" name="文本框 25"/>
          <p:cNvSpPr txBox="1"/>
          <p:nvPr>
            <p:custDataLst>
              <p:tags r:id="rId17"/>
            </p:custDataLst>
          </p:nvPr>
        </p:nvSpPr>
        <p:spPr>
          <a:xfrm>
            <a:off x="7202805" y="438975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451</a:t>
            </a:r>
            <a:endParaRPr lang="en-US" altLang="zh-CN" sz="1800" dirty="0" smtClean="0">
              <a:solidFill>
                <a:schemeClr val="bg1"/>
              </a:solidFill>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4.0 </a:t>
            </a:r>
            <a:r>
              <a:rPr lang="zh-CN" altLang="en-US" sz="4400" b="1">
                <a:latin typeface="Times New Roman" panose="02020603050405020304" pitchFamily="18" charset="0"/>
                <a:ea typeface="隶书" panose="02010509060101010101" pitchFamily="49" charset="-122"/>
              </a:rPr>
              <a:t>基本数据类型面临的</a:t>
            </a:r>
            <a:r>
              <a:rPr lang="zh-CN" altLang="en-US" sz="4400" b="1">
                <a:latin typeface="Times New Roman" panose="02020603050405020304" pitchFamily="18" charset="0"/>
                <a:ea typeface="隶书" panose="02010509060101010101" pitchFamily="49" charset="-122"/>
              </a:rPr>
              <a:t>问题</a:t>
            </a:r>
            <a:endParaRPr lang="zh-CN" altLang="en-US" sz="4400" b="1">
              <a:latin typeface="Times New Roman" panose="02020603050405020304" pitchFamily="18" charset="0"/>
              <a:ea typeface="隶书" panose="02010509060101010101" pitchFamily="49" charset="-122"/>
            </a:endParaRPr>
          </a:p>
        </p:txBody>
      </p:sp>
      <p:sp>
        <p:nvSpPr>
          <p:cNvPr id="15363" name="内容占位符 2"/>
          <p:cNvSpPr>
            <a:spLocks noGrp="1"/>
          </p:cNvSpPr>
          <p:nvPr>
            <p:ph idx="1"/>
          </p:nvPr>
        </p:nvSpPr>
        <p:spPr>
          <a:xfrm>
            <a:off x="611505" y="1340485"/>
            <a:ext cx="3961130" cy="746125"/>
          </a:xfrm>
        </p:spPr>
        <p:txBody>
          <a:bodyPr/>
          <a:lstStyle/>
          <a:p>
            <a:pPr eaLnBrk="1" hangingPunct="1">
              <a:lnSpc>
                <a:spcPct val="130000"/>
              </a:lnSpc>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在生活中，总是有各种表格，例如学生成绩表</a:t>
            </a:r>
            <a:r>
              <a:rPr lang="zh-CN" altLang="en-US" sz="2400" b="1" dirty="0" smtClean="0">
                <a:latin typeface="微软雅黑" panose="020B0503020204020204" pitchFamily="34" charset="-122"/>
                <a:ea typeface="微软雅黑" panose="020B0503020204020204" pitchFamily="34" charset="-122"/>
              </a:rPr>
              <a:t>如下：</a:t>
            </a:r>
            <a:endParaRPr lang="zh-CN" altLang="en-US" sz="2400" b="1" dirty="0" smtClean="0">
              <a:latin typeface="微软雅黑" panose="020B0503020204020204" pitchFamily="34" charset="-122"/>
              <a:ea typeface="微软雅黑" panose="020B0503020204020204" pitchFamily="34" charset="-122"/>
            </a:endParaRPr>
          </a:p>
        </p:txBody>
      </p:sp>
      <p:pic>
        <p:nvPicPr>
          <p:cNvPr id="2" name="图片 1"/>
          <p:cNvPicPr/>
          <p:nvPr>
            <p:custDataLst>
              <p:tags r:id="rId1"/>
            </p:custDataLst>
          </p:nvPr>
        </p:nvPicPr>
        <p:blipFill>
          <a:blip r:embed="rId2"/>
          <a:srcRect l="10623" t="24148" r="11010" b="38046"/>
          <a:stretch>
            <a:fillRect/>
          </a:stretch>
        </p:blipFill>
        <p:spPr>
          <a:xfrm>
            <a:off x="628650" y="2780665"/>
            <a:ext cx="4248785" cy="2592705"/>
          </a:xfrm>
          <a:prstGeom prst="rect">
            <a:avLst/>
          </a:prstGeom>
          <a:noFill/>
          <a:ln w="9525">
            <a:noFill/>
          </a:ln>
        </p:spPr>
      </p:pic>
      <p:graphicFrame>
        <p:nvGraphicFramePr>
          <p:cNvPr id="59" name="对象 58"/>
          <p:cNvGraphicFramePr/>
          <p:nvPr>
            <p:custDataLst>
              <p:tags r:id="rId3"/>
            </p:custDataLst>
          </p:nvPr>
        </p:nvGraphicFramePr>
        <p:xfrm>
          <a:off x="7092315" y="1415415"/>
          <a:ext cx="1137285" cy="2938780"/>
        </p:xfrm>
        <a:graphic>
          <a:graphicData uri="http://schemas.openxmlformats.org/presentationml/2006/ole">
            <mc:AlternateContent xmlns:mc="http://schemas.openxmlformats.org/markup-compatibility/2006">
              <mc:Choice xmlns:v="urn:schemas-microsoft-com:vml" Requires="v">
                <p:oleObj spid="_x0000_s60" name="" r:id="rId4" imgW="985520" imgH="2511425" progId="Visio.Drawing.15">
                  <p:embed/>
                </p:oleObj>
              </mc:Choice>
              <mc:Fallback>
                <p:oleObj name="" r:id="rId4" imgW="985520" imgH="2511425" progId="Visio.Drawing.15">
                  <p:embed/>
                  <p:pic>
                    <p:nvPicPr>
                      <p:cNvPr id="0" name="图片 3"/>
                      <p:cNvPicPr/>
                      <p:nvPr/>
                    </p:nvPicPr>
                    <p:blipFill>
                      <a:blip r:embed="rId5"/>
                      <a:stretch>
                        <a:fillRect/>
                      </a:stretch>
                    </p:blipFill>
                    <p:spPr>
                      <a:xfrm>
                        <a:off x="7092315" y="1415415"/>
                        <a:ext cx="1137285" cy="2938780"/>
                      </a:xfrm>
                      <a:prstGeom prst="rect">
                        <a:avLst/>
                      </a:prstGeom>
                    </p:spPr>
                  </p:pic>
                </p:oleObj>
              </mc:Fallback>
            </mc:AlternateContent>
          </a:graphicData>
        </a:graphic>
      </p:graphicFrame>
      <p:sp>
        <p:nvSpPr>
          <p:cNvPr id="61" name="文本框 60"/>
          <p:cNvSpPr txBox="1"/>
          <p:nvPr>
            <p:custDataLst>
              <p:tags r:id="rId6"/>
            </p:custDataLst>
          </p:nvPr>
        </p:nvSpPr>
        <p:spPr>
          <a:xfrm>
            <a:off x="5458460" y="1346200"/>
            <a:ext cx="1623060" cy="48069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string name1</a:t>
            </a:r>
            <a:endParaRPr lang="en-US" altLang="zh-CN" sz="1800" dirty="0" smtClean="0"/>
          </a:p>
        </p:txBody>
      </p:sp>
      <p:sp>
        <p:nvSpPr>
          <p:cNvPr id="62" name="文本框 61"/>
          <p:cNvSpPr txBox="1"/>
          <p:nvPr>
            <p:custDataLst>
              <p:tags r:id="rId7"/>
            </p:custDataLst>
          </p:nvPr>
        </p:nvSpPr>
        <p:spPr>
          <a:xfrm>
            <a:off x="5458460" y="1700530"/>
            <a:ext cx="1674495" cy="41402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chinese1</a:t>
            </a:r>
            <a:endParaRPr lang="en-US" altLang="zh-CN" sz="1800" dirty="0" smtClean="0"/>
          </a:p>
        </p:txBody>
      </p:sp>
      <p:sp>
        <p:nvSpPr>
          <p:cNvPr id="63" name="文本框 62"/>
          <p:cNvSpPr txBox="1"/>
          <p:nvPr>
            <p:custDataLst>
              <p:tags r:id="rId8"/>
            </p:custDataLst>
          </p:nvPr>
        </p:nvSpPr>
        <p:spPr>
          <a:xfrm>
            <a:off x="5458460" y="2070735"/>
            <a:ext cx="1484630" cy="44767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math1</a:t>
            </a:r>
            <a:endParaRPr lang="en-US" altLang="zh-CN" sz="1800" dirty="0" smtClean="0"/>
          </a:p>
        </p:txBody>
      </p:sp>
      <p:sp>
        <p:nvSpPr>
          <p:cNvPr id="64" name="文本框 63"/>
          <p:cNvSpPr txBox="1"/>
          <p:nvPr>
            <p:custDataLst>
              <p:tags r:id="rId9"/>
            </p:custDataLst>
          </p:nvPr>
        </p:nvSpPr>
        <p:spPr>
          <a:xfrm>
            <a:off x="5458460" y="2474595"/>
            <a:ext cx="1782445" cy="43307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English1</a:t>
            </a:r>
            <a:endParaRPr lang="en-US" altLang="zh-CN" sz="1800" dirty="0" smtClean="0"/>
          </a:p>
        </p:txBody>
      </p:sp>
      <p:sp>
        <p:nvSpPr>
          <p:cNvPr id="65" name="文本框 64"/>
          <p:cNvSpPr txBox="1"/>
          <p:nvPr>
            <p:custDataLst>
              <p:tags r:id="rId10"/>
            </p:custDataLst>
          </p:nvPr>
        </p:nvSpPr>
        <p:spPr>
          <a:xfrm>
            <a:off x="5458460" y="2863850"/>
            <a:ext cx="1718945" cy="44958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science1</a:t>
            </a:r>
            <a:endParaRPr lang="en-US" altLang="zh-CN" sz="1800" dirty="0" smtClean="0"/>
          </a:p>
        </p:txBody>
      </p:sp>
      <p:sp>
        <p:nvSpPr>
          <p:cNvPr id="66" name="文本框 65"/>
          <p:cNvSpPr txBox="1"/>
          <p:nvPr>
            <p:custDataLst>
              <p:tags r:id="rId11"/>
            </p:custDataLst>
          </p:nvPr>
        </p:nvSpPr>
        <p:spPr>
          <a:xfrm>
            <a:off x="5458460" y="3269615"/>
            <a:ext cx="1936115"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morality1</a:t>
            </a:r>
            <a:endParaRPr lang="en-US" altLang="zh-CN" sz="1800" dirty="0" smtClean="0"/>
          </a:p>
        </p:txBody>
      </p:sp>
      <p:sp>
        <p:nvSpPr>
          <p:cNvPr id="67" name="文本框 66"/>
          <p:cNvSpPr txBox="1"/>
          <p:nvPr>
            <p:custDataLst>
              <p:tags r:id="rId12"/>
            </p:custDataLst>
          </p:nvPr>
        </p:nvSpPr>
        <p:spPr>
          <a:xfrm>
            <a:off x="7202805" y="1415415"/>
            <a:ext cx="944880" cy="40005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1800" dirty="0" smtClean="0">
                <a:solidFill>
                  <a:schemeClr val="bg1"/>
                </a:solidFill>
              </a:rPr>
              <a:t>薛佳宏</a:t>
            </a:r>
            <a:endParaRPr lang="zh-CN" altLang="en-US" sz="1800" dirty="0" smtClean="0">
              <a:solidFill>
                <a:schemeClr val="bg1"/>
              </a:solidFill>
            </a:endParaRPr>
          </a:p>
        </p:txBody>
      </p:sp>
      <p:sp>
        <p:nvSpPr>
          <p:cNvPr id="68" name="文本框 67"/>
          <p:cNvSpPr txBox="1"/>
          <p:nvPr>
            <p:custDataLst>
              <p:tags r:id="rId13"/>
            </p:custDataLst>
          </p:nvPr>
        </p:nvSpPr>
        <p:spPr>
          <a:xfrm>
            <a:off x="7202805" y="178435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85</a:t>
            </a:r>
            <a:endParaRPr lang="en-US" altLang="zh-CN" sz="1800" dirty="0" smtClean="0">
              <a:solidFill>
                <a:schemeClr val="bg1"/>
              </a:solidFill>
            </a:endParaRPr>
          </a:p>
        </p:txBody>
      </p:sp>
      <p:sp>
        <p:nvSpPr>
          <p:cNvPr id="69" name="文本框 68"/>
          <p:cNvSpPr txBox="1"/>
          <p:nvPr>
            <p:custDataLst>
              <p:tags r:id="rId14"/>
            </p:custDataLst>
          </p:nvPr>
        </p:nvSpPr>
        <p:spPr>
          <a:xfrm>
            <a:off x="7202805" y="212661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88</a:t>
            </a:r>
            <a:endParaRPr lang="en-US" altLang="zh-CN" sz="1800" dirty="0" smtClean="0">
              <a:solidFill>
                <a:schemeClr val="bg1"/>
              </a:solidFill>
            </a:endParaRPr>
          </a:p>
        </p:txBody>
      </p:sp>
      <p:sp>
        <p:nvSpPr>
          <p:cNvPr id="70" name="文本框 69"/>
          <p:cNvSpPr txBox="1"/>
          <p:nvPr>
            <p:custDataLst>
              <p:tags r:id="rId15"/>
            </p:custDataLst>
          </p:nvPr>
        </p:nvSpPr>
        <p:spPr>
          <a:xfrm>
            <a:off x="7202805" y="248539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89</a:t>
            </a:r>
            <a:endParaRPr lang="en-US" altLang="zh-CN" sz="1800" dirty="0" smtClean="0">
              <a:solidFill>
                <a:schemeClr val="bg1"/>
              </a:solidFill>
            </a:endParaRPr>
          </a:p>
        </p:txBody>
      </p:sp>
      <p:sp>
        <p:nvSpPr>
          <p:cNvPr id="71" name="文本框 70"/>
          <p:cNvSpPr txBox="1"/>
          <p:nvPr>
            <p:custDataLst>
              <p:tags r:id="rId16"/>
            </p:custDataLst>
          </p:nvPr>
        </p:nvSpPr>
        <p:spPr>
          <a:xfrm>
            <a:off x="7202805" y="291592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96</a:t>
            </a:r>
            <a:endParaRPr lang="en-US" altLang="zh-CN" sz="1800" dirty="0" smtClean="0">
              <a:solidFill>
                <a:schemeClr val="bg1"/>
              </a:solidFill>
            </a:endParaRPr>
          </a:p>
        </p:txBody>
      </p:sp>
      <p:sp>
        <p:nvSpPr>
          <p:cNvPr id="72" name="文本框 71"/>
          <p:cNvSpPr txBox="1"/>
          <p:nvPr>
            <p:custDataLst>
              <p:tags r:id="rId17"/>
            </p:custDataLst>
          </p:nvPr>
        </p:nvSpPr>
        <p:spPr>
          <a:xfrm>
            <a:off x="7202805" y="325818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93</a:t>
            </a:r>
            <a:endParaRPr lang="en-US" altLang="zh-CN" sz="1800" dirty="0" smtClean="0">
              <a:solidFill>
                <a:schemeClr val="bg1"/>
              </a:solidFill>
            </a:endParaRPr>
          </a:p>
        </p:txBody>
      </p:sp>
      <p:sp>
        <p:nvSpPr>
          <p:cNvPr id="73" name="文本框 72"/>
          <p:cNvSpPr txBox="1"/>
          <p:nvPr>
            <p:custDataLst>
              <p:tags r:id="rId18"/>
            </p:custDataLst>
          </p:nvPr>
        </p:nvSpPr>
        <p:spPr>
          <a:xfrm>
            <a:off x="5458460" y="3601085"/>
            <a:ext cx="1673860"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total1</a:t>
            </a:r>
            <a:endParaRPr lang="en-US" altLang="zh-CN" sz="1800" dirty="0" smtClean="0"/>
          </a:p>
        </p:txBody>
      </p:sp>
      <p:sp>
        <p:nvSpPr>
          <p:cNvPr id="74" name="文本框 73"/>
          <p:cNvSpPr txBox="1"/>
          <p:nvPr>
            <p:custDataLst>
              <p:tags r:id="rId19"/>
            </p:custDataLst>
          </p:nvPr>
        </p:nvSpPr>
        <p:spPr>
          <a:xfrm>
            <a:off x="7202805" y="360045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451</a:t>
            </a:r>
            <a:endParaRPr lang="en-US" altLang="zh-CN" sz="1800" dirty="0" smtClean="0">
              <a:solidFill>
                <a:schemeClr val="bg1"/>
              </a:solidFill>
            </a:endParaRPr>
          </a:p>
        </p:txBody>
      </p:sp>
      <p:graphicFrame>
        <p:nvGraphicFramePr>
          <p:cNvPr id="75" name="对象 74"/>
          <p:cNvGraphicFramePr/>
          <p:nvPr>
            <p:custDataLst>
              <p:tags r:id="rId20"/>
            </p:custDataLst>
          </p:nvPr>
        </p:nvGraphicFramePr>
        <p:xfrm>
          <a:off x="7075805" y="3982085"/>
          <a:ext cx="1137285" cy="2938780"/>
        </p:xfrm>
        <a:graphic>
          <a:graphicData uri="http://schemas.openxmlformats.org/presentationml/2006/ole">
            <mc:AlternateContent xmlns:mc="http://schemas.openxmlformats.org/markup-compatibility/2006">
              <mc:Choice xmlns:v="urn:schemas-microsoft-com:vml" Requires="v">
                <p:oleObj spid="_x0000_s76" name="" r:id="rId21" imgW="985520" imgH="2511425" progId="Visio.Drawing.15">
                  <p:embed/>
                </p:oleObj>
              </mc:Choice>
              <mc:Fallback>
                <p:oleObj name="" r:id="rId21" imgW="985520" imgH="2511425" progId="Visio.Drawing.15">
                  <p:embed/>
                  <p:pic>
                    <p:nvPicPr>
                      <p:cNvPr id="0" name="图片 3"/>
                      <p:cNvPicPr/>
                      <p:nvPr/>
                    </p:nvPicPr>
                    <p:blipFill>
                      <a:blip r:embed="rId5"/>
                      <a:stretch>
                        <a:fillRect/>
                      </a:stretch>
                    </p:blipFill>
                    <p:spPr>
                      <a:xfrm>
                        <a:off x="7075805" y="3982085"/>
                        <a:ext cx="1137285" cy="2938780"/>
                      </a:xfrm>
                      <a:prstGeom prst="rect">
                        <a:avLst/>
                      </a:prstGeom>
                    </p:spPr>
                  </p:pic>
                </p:oleObj>
              </mc:Fallback>
            </mc:AlternateContent>
          </a:graphicData>
        </a:graphic>
      </p:graphicFrame>
      <p:sp>
        <p:nvSpPr>
          <p:cNvPr id="77" name="文本框 76"/>
          <p:cNvSpPr txBox="1"/>
          <p:nvPr>
            <p:custDataLst>
              <p:tags r:id="rId22"/>
            </p:custDataLst>
          </p:nvPr>
        </p:nvSpPr>
        <p:spPr>
          <a:xfrm>
            <a:off x="5441950" y="3912870"/>
            <a:ext cx="1623060" cy="48069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string name2</a:t>
            </a:r>
            <a:endParaRPr lang="en-US" altLang="zh-CN" sz="1800" dirty="0" smtClean="0"/>
          </a:p>
        </p:txBody>
      </p:sp>
      <p:sp>
        <p:nvSpPr>
          <p:cNvPr id="78" name="文本框 77"/>
          <p:cNvSpPr txBox="1"/>
          <p:nvPr>
            <p:custDataLst>
              <p:tags r:id="rId23"/>
            </p:custDataLst>
          </p:nvPr>
        </p:nvSpPr>
        <p:spPr>
          <a:xfrm>
            <a:off x="5441950" y="4267200"/>
            <a:ext cx="1764030" cy="41402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chinese2</a:t>
            </a:r>
            <a:endParaRPr lang="en-US" altLang="zh-CN" sz="1800" dirty="0" smtClean="0"/>
          </a:p>
        </p:txBody>
      </p:sp>
      <p:sp>
        <p:nvSpPr>
          <p:cNvPr id="79" name="文本框 78"/>
          <p:cNvSpPr txBox="1"/>
          <p:nvPr>
            <p:custDataLst>
              <p:tags r:id="rId24"/>
            </p:custDataLst>
          </p:nvPr>
        </p:nvSpPr>
        <p:spPr>
          <a:xfrm>
            <a:off x="5441950" y="4637405"/>
            <a:ext cx="1484630" cy="44767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math2</a:t>
            </a:r>
            <a:endParaRPr lang="en-US" altLang="zh-CN" sz="1800" dirty="0" smtClean="0"/>
          </a:p>
        </p:txBody>
      </p:sp>
      <p:sp>
        <p:nvSpPr>
          <p:cNvPr id="80" name="文本框 79"/>
          <p:cNvSpPr txBox="1"/>
          <p:nvPr>
            <p:custDataLst>
              <p:tags r:id="rId25"/>
            </p:custDataLst>
          </p:nvPr>
        </p:nvSpPr>
        <p:spPr>
          <a:xfrm>
            <a:off x="5441950" y="5041265"/>
            <a:ext cx="1743710" cy="43307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English2</a:t>
            </a:r>
            <a:endParaRPr lang="en-US" altLang="zh-CN" sz="1800" dirty="0" smtClean="0"/>
          </a:p>
        </p:txBody>
      </p:sp>
      <p:sp>
        <p:nvSpPr>
          <p:cNvPr id="81" name="文本框 80"/>
          <p:cNvSpPr txBox="1"/>
          <p:nvPr>
            <p:custDataLst>
              <p:tags r:id="rId26"/>
            </p:custDataLst>
          </p:nvPr>
        </p:nvSpPr>
        <p:spPr>
          <a:xfrm>
            <a:off x="5441950" y="5430520"/>
            <a:ext cx="1798320" cy="44958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science2</a:t>
            </a:r>
            <a:endParaRPr lang="en-US" altLang="zh-CN" sz="1800" dirty="0" smtClean="0"/>
          </a:p>
        </p:txBody>
      </p:sp>
      <p:sp>
        <p:nvSpPr>
          <p:cNvPr id="82" name="文本框 81"/>
          <p:cNvSpPr txBox="1"/>
          <p:nvPr>
            <p:custDataLst>
              <p:tags r:id="rId27"/>
            </p:custDataLst>
          </p:nvPr>
        </p:nvSpPr>
        <p:spPr>
          <a:xfrm>
            <a:off x="5441950" y="5836285"/>
            <a:ext cx="1917065"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morality2</a:t>
            </a:r>
            <a:endParaRPr lang="en-US" altLang="zh-CN" sz="1800" dirty="0" smtClean="0"/>
          </a:p>
        </p:txBody>
      </p:sp>
      <p:sp>
        <p:nvSpPr>
          <p:cNvPr id="83" name="文本框 82"/>
          <p:cNvSpPr txBox="1"/>
          <p:nvPr>
            <p:custDataLst>
              <p:tags r:id="rId28"/>
            </p:custDataLst>
          </p:nvPr>
        </p:nvSpPr>
        <p:spPr>
          <a:xfrm>
            <a:off x="7186295" y="3982085"/>
            <a:ext cx="944880" cy="40005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1800" dirty="0" smtClean="0">
                <a:solidFill>
                  <a:schemeClr val="bg1"/>
                </a:solidFill>
              </a:rPr>
              <a:t>韩金</a:t>
            </a:r>
            <a:r>
              <a:rPr lang="zh-CN" altLang="en-US" sz="1800" dirty="0" smtClean="0">
                <a:solidFill>
                  <a:schemeClr val="bg1"/>
                </a:solidFill>
              </a:rPr>
              <a:t>波</a:t>
            </a:r>
            <a:endParaRPr lang="zh-CN" altLang="en-US" sz="1800" dirty="0" smtClean="0">
              <a:solidFill>
                <a:schemeClr val="bg1"/>
              </a:solidFill>
            </a:endParaRPr>
          </a:p>
        </p:txBody>
      </p:sp>
      <p:sp>
        <p:nvSpPr>
          <p:cNvPr id="84" name="文本框 83"/>
          <p:cNvSpPr txBox="1"/>
          <p:nvPr>
            <p:custDataLst>
              <p:tags r:id="rId29"/>
            </p:custDataLst>
          </p:nvPr>
        </p:nvSpPr>
        <p:spPr>
          <a:xfrm>
            <a:off x="7186295" y="435102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70</a:t>
            </a:r>
            <a:endParaRPr lang="en-US" altLang="zh-CN" sz="1800" dirty="0" smtClean="0">
              <a:solidFill>
                <a:schemeClr val="bg1"/>
              </a:solidFill>
            </a:endParaRPr>
          </a:p>
        </p:txBody>
      </p:sp>
      <p:sp>
        <p:nvSpPr>
          <p:cNvPr id="85" name="文本框 84"/>
          <p:cNvSpPr txBox="1"/>
          <p:nvPr>
            <p:custDataLst>
              <p:tags r:id="rId30"/>
            </p:custDataLst>
          </p:nvPr>
        </p:nvSpPr>
        <p:spPr>
          <a:xfrm>
            <a:off x="7186295" y="469328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91</a:t>
            </a:r>
            <a:endParaRPr lang="en-US" altLang="zh-CN" sz="1800" dirty="0" smtClean="0">
              <a:solidFill>
                <a:schemeClr val="bg1"/>
              </a:solidFill>
            </a:endParaRPr>
          </a:p>
        </p:txBody>
      </p:sp>
      <p:sp>
        <p:nvSpPr>
          <p:cNvPr id="86" name="文本框 85"/>
          <p:cNvSpPr txBox="1"/>
          <p:nvPr>
            <p:custDataLst>
              <p:tags r:id="rId31"/>
            </p:custDataLst>
          </p:nvPr>
        </p:nvSpPr>
        <p:spPr>
          <a:xfrm>
            <a:off x="7186295" y="505206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84</a:t>
            </a:r>
            <a:endParaRPr lang="en-US" altLang="zh-CN" sz="1800" dirty="0" smtClean="0">
              <a:solidFill>
                <a:schemeClr val="bg1"/>
              </a:solidFill>
            </a:endParaRPr>
          </a:p>
        </p:txBody>
      </p:sp>
      <p:sp>
        <p:nvSpPr>
          <p:cNvPr id="87" name="文本框 86"/>
          <p:cNvSpPr txBox="1"/>
          <p:nvPr>
            <p:custDataLst>
              <p:tags r:id="rId32"/>
            </p:custDataLst>
          </p:nvPr>
        </p:nvSpPr>
        <p:spPr>
          <a:xfrm>
            <a:off x="7186295" y="548259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90</a:t>
            </a:r>
            <a:endParaRPr lang="en-US" altLang="zh-CN" sz="1800" dirty="0" smtClean="0">
              <a:solidFill>
                <a:schemeClr val="bg1"/>
              </a:solidFill>
            </a:endParaRPr>
          </a:p>
        </p:txBody>
      </p:sp>
      <p:sp>
        <p:nvSpPr>
          <p:cNvPr id="88" name="文本框 87"/>
          <p:cNvSpPr txBox="1"/>
          <p:nvPr>
            <p:custDataLst>
              <p:tags r:id="rId33"/>
            </p:custDataLst>
          </p:nvPr>
        </p:nvSpPr>
        <p:spPr>
          <a:xfrm>
            <a:off x="7186295" y="582485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89</a:t>
            </a:r>
            <a:endParaRPr lang="en-US" altLang="zh-CN" sz="1800" dirty="0" smtClean="0">
              <a:solidFill>
                <a:schemeClr val="bg1"/>
              </a:solidFill>
            </a:endParaRPr>
          </a:p>
        </p:txBody>
      </p:sp>
      <p:sp>
        <p:nvSpPr>
          <p:cNvPr id="89" name="文本框 88"/>
          <p:cNvSpPr txBox="1"/>
          <p:nvPr>
            <p:custDataLst>
              <p:tags r:id="rId34"/>
            </p:custDataLst>
          </p:nvPr>
        </p:nvSpPr>
        <p:spPr>
          <a:xfrm>
            <a:off x="5441950" y="6167755"/>
            <a:ext cx="1673860"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total2</a:t>
            </a:r>
            <a:endParaRPr lang="en-US" altLang="zh-CN" sz="1800" dirty="0" smtClean="0"/>
          </a:p>
        </p:txBody>
      </p:sp>
      <p:sp>
        <p:nvSpPr>
          <p:cNvPr id="90" name="文本框 89"/>
          <p:cNvSpPr txBox="1"/>
          <p:nvPr>
            <p:custDataLst>
              <p:tags r:id="rId35"/>
            </p:custDataLst>
          </p:nvPr>
        </p:nvSpPr>
        <p:spPr>
          <a:xfrm>
            <a:off x="7186295" y="616712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424</a:t>
            </a:r>
            <a:endParaRPr lang="en-US" altLang="zh-CN" sz="1800" dirty="0" smtClean="0">
              <a:solidFill>
                <a:schemeClr val="bg1"/>
              </a:solidFill>
            </a:endParaRPr>
          </a:p>
        </p:txBody>
      </p:sp>
      <p:sp>
        <p:nvSpPr>
          <p:cNvPr id="91" name="文本框 90"/>
          <p:cNvSpPr txBox="1"/>
          <p:nvPr/>
        </p:nvSpPr>
        <p:spPr>
          <a:xfrm>
            <a:off x="899160" y="5566410"/>
            <a:ext cx="3819525" cy="91440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2000" dirty="0" smtClean="0">
                <a:solidFill>
                  <a:srgbClr val="FF0000"/>
                </a:solidFill>
              </a:rPr>
              <a:t>问题</a:t>
            </a:r>
            <a:r>
              <a:rPr lang="zh-CN" altLang="en-US" sz="2000" dirty="0" smtClean="0"/>
              <a:t>：每个学生的信息单独分离，依靠标识符尾号识别</a:t>
            </a:r>
            <a:endParaRPr lang="zh-CN" altLang="en-US" sz="2000" dirty="0" smtClean="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4.0 </a:t>
            </a:r>
            <a:r>
              <a:rPr lang="zh-CN" altLang="en-US" sz="4400" b="1">
                <a:latin typeface="Times New Roman" panose="02020603050405020304" pitchFamily="18" charset="0"/>
                <a:ea typeface="隶书" panose="02010509060101010101" pitchFamily="49" charset="-122"/>
              </a:rPr>
              <a:t>课程</a:t>
            </a:r>
            <a:r>
              <a:rPr lang="zh-CN" altLang="en-US" sz="4400" b="1">
                <a:latin typeface="Times New Roman" panose="02020603050405020304" pitchFamily="18" charset="0"/>
                <a:ea typeface="隶书" panose="02010509060101010101" pitchFamily="49" charset="-122"/>
              </a:rPr>
              <a:t>导入</a:t>
            </a:r>
            <a:endParaRPr lang="zh-CN" altLang="en-US" sz="4400" b="1">
              <a:latin typeface="Times New Roman" panose="02020603050405020304" pitchFamily="18" charset="0"/>
              <a:ea typeface="隶书" panose="02010509060101010101" pitchFamily="49" charset="-122"/>
            </a:endParaRPr>
          </a:p>
        </p:txBody>
      </p:sp>
      <p:sp>
        <p:nvSpPr>
          <p:cNvPr id="15363" name="内容占位符 2"/>
          <p:cNvSpPr>
            <a:spLocks noGrp="1"/>
          </p:cNvSpPr>
          <p:nvPr>
            <p:ph idx="1"/>
          </p:nvPr>
        </p:nvSpPr>
        <p:spPr>
          <a:xfrm>
            <a:off x="611505" y="1340485"/>
            <a:ext cx="3961130" cy="746125"/>
          </a:xfrm>
        </p:spPr>
        <p:txBody>
          <a:bodyPr/>
          <a:lstStyle/>
          <a:p>
            <a:pPr eaLnBrk="1" hangingPunct="1">
              <a:lnSpc>
                <a:spcPct val="130000"/>
              </a:lnSpc>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在生活中，总是有各种表格，例如学生成绩表</a:t>
            </a:r>
            <a:r>
              <a:rPr lang="zh-CN" altLang="en-US" sz="2400" b="1" dirty="0" smtClean="0">
                <a:latin typeface="微软雅黑" panose="020B0503020204020204" pitchFamily="34" charset="-122"/>
                <a:ea typeface="微软雅黑" panose="020B0503020204020204" pitchFamily="34" charset="-122"/>
              </a:rPr>
              <a:t>如下：</a:t>
            </a:r>
            <a:endParaRPr lang="zh-CN" altLang="en-US" sz="2400" b="1" dirty="0" smtClean="0">
              <a:latin typeface="微软雅黑" panose="020B0503020204020204" pitchFamily="34" charset="-122"/>
              <a:ea typeface="微软雅黑" panose="020B0503020204020204" pitchFamily="34" charset="-122"/>
            </a:endParaRPr>
          </a:p>
        </p:txBody>
      </p:sp>
      <p:pic>
        <p:nvPicPr>
          <p:cNvPr id="2" name="图片 1"/>
          <p:cNvPicPr/>
          <p:nvPr>
            <p:custDataLst>
              <p:tags r:id="rId1"/>
            </p:custDataLst>
          </p:nvPr>
        </p:nvPicPr>
        <p:blipFill>
          <a:blip r:embed="rId2"/>
          <a:srcRect l="10623" t="24148" r="11010" b="38046"/>
          <a:stretch>
            <a:fillRect/>
          </a:stretch>
        </p:blipFill>
        <p:spPr>
          <a:xfrm>
            <a:off x="179070" y="2780665"/>
            <a:ext cx="4248785" cy="2592705"/>
          </a:xfrm>
          <a:prstGeom prst="rect">
            <a:avLst/>
          </a:prstGeom>
          <a:noFill/>
          <a:ln w="9525">
            <a:noFill/>
          </a:ln>
        </p:spPr>
      </p:pic>
      <p:graphicFrame>
        <p:nvGraphicFramePr>
          <p:cNvPr id="59" name="对象 58"/>
          <p:cNvGraphicFramePr/>
          <p:nvPr>
            <p:custDataLst>
              <p:tags r:id="rId3"/>
            </p:custDataLst>
          </p:nvPr>
        </p:nvGraphicFramePr>
        <p:xfrm>
          <a:off x="6733540" y="1415415"/>
          <a:ext cx="1137285" cy="2938780"/>
        </p:xfrm>
        <a:graphic>
          <a:graphicData uri="http://schemas.openxmlformats.org/presentationml/2006/ole">
            <mc:AlternateContent xmlns:mc="http://schemas.openxmlformats.org/markup-compatibility/2006">
              <mc:Choice xmlns:v="urn:schemas-microsoft-com:vml" Requires="v">
                <p:oleObj spid="_x0000_s60" name="" r:id="rId4" imgW="985520" imgH="2511425" progId="Visio.Drawing.15">
                  <p:embed/>
                </p:oleObj>
              </mc:Choice>
              <mc:Fallback>
                <p:oleObj name="" r:id="rId4" imgW="985520" imgH="2511425" progId="Visio.Drawing.15">
                  <p:embed/>
                  <p:pic>
                    <p:nvPicPr>
                      <p:cNvPr id="0" name="图片 3"/>
                      <p:cNvPicPr/>
                      <p:nvPr/>
                    </p:nvPicPr>
                    <p:blipFill>
                      <a:blip r:embed="rId5"/>
                      <a:stretch>
                        <a:fillRect/>
                      </a:stretch>
                    </p:blipFill>
                    <p:spPr>
                      <a:xfrm>
                        <a:off x="6733540" y="1415415"/>
                        <a:ext cx="1137285" cy="2938780"/>
                      </a:xfrm>
                      <a:prstGeom prst="rect">
                        <a:avLst/>
                      </a:prstGeom>
                    </p:spPr>
                  </p:pic>
                </p:oleObj>
              </mc:Fallback>
            </mc:AlternateContent>
          </a:graphicData>
        </a:graphic>
      </p:graphicFrame>
      <p:sp>
        <p:nvSpPr>
          <p:cNvPr id="61" name="文本框 60"/>
          <p:cNvSpPr txBox="1"/>
          <p:nvPr>
            <p:custDataLst>
              <p:tags r:id="rId6"/>
            </p:custDataLst>
          </p:nvPr>
        </p:nvSpPr>
        <p:spPr>
          <a:xfrm>
            <a:off x="5099685" y="1346200"/>
            <a:ext cx="1623060" cy="48069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string name</a:t>
            </a:r>
            <a:endParaRPr lang="en-US" altLang="zh-CN" sz="1800" dirty="0" smtClean="0"/>
          </a:p>
        </p:txBody>
      </p:sp>
      <p:sp>
        <p:nvSpPr>
          <p:cNvPr id="62" name="文本框 61"/>
          <p:cNvSpPr txBox="1"/>
          <p:nvPr>
            <p:custDataLst>
              <p:tags r:id="rId7"/>
            </p:custDataLst>
          </p:nvPr>
        </p:nvSpPr>
        <p:spPr>
          <a:xfrm>
            <a:off x="5099685" y="1700530"/>
            <a:ext cx="1674495" cy="41402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chinese</a:t>
            </a:r>
            <a:endParaRPr lang="en-US" altLang="zh-CN" sz="1800" dirty="0" smtClean="0"/>
          </a:p>
        </p:txBody>
      </p:sp>
      <p:sp>
        <p:nvSpPr>
          <p:cNvPr id="63" name="文本框 62"/>
          <p:cNvSpPr txBox="1"/>
          <p:nvPr>
            <p:custDataLst>
              <p:tags r:id="rId8"/>
            </p:custDataLst>
          </p:nvPr>
        </p:nvSpPr>
        <p:spPr>
          <a:xfrm>
            <a:off x="5099685" y="2070735"/>
            <a:ext cx="1484630" cy="44767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math</a:t>
            </a:r>
            <a:endParaRPr lang="en-US" altLang="zh-CN" sz="1800" dirty="0" smtClean="0"/>
          </a:p>
        </p:txBody>
      </p:sp>
      <p:sp>
        <p:nvSpPr>
          <p:cNvPr id="64" name="文本框 63"/>
          <p:cNvSpPr txBox="1"/>
          <p:nvPr>
            <p:custDataLst>
              <p:tags r:id="rId9"/>
            </p:custDataLst>
          </p:nvPr>
        </p:nvSpPr>
        <p:spPr>
          <a:xfrm>
            <a:off x="5099685" y="2474595"/>
            <a:ext cx="1782445" cy="43307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English</a:t>
            </a:r>
            <a:endParaRPr lang="en-US" altLang="zh-CN" sz="1800" dirty="0" smtClean="0"/>
          </a:p>
        </p:txBody>
      </p:sp>
      <p:sp>
        <p:nvSpPr>
          <p:cNvPr id="65" name="文本框 64"/>
          <p:cNvSpPr txBox="1"/>
          <p:nvPr>
            <p:custDataLst>
              <p:tags r:id="rId10"/>
            </p:custDataLst>
          </p:nvPr>
        </p:nvSpPr>
        <p:spPr>
          <a:xfrm>
            <a:off x="5099685" y="2863850"/>
            <a:ext cx="1718945" cy="44958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science</a:t>
            </a:r>
            <a:endParaRPr lang="en-US" altLang="zh-CN" sz="1800" dirty="0" smtClean="0"/>
          </a:p>
        </p:txBody>
      </p:sp>
      <p:sp>
        <p:nvSpPr>
          <p:cNvPr id="66" name="文本框 65"/>
          <p:cNvSpPr txBox="1"/>
          <p:nvPr>
            <p:custDataLst>
              <p:tags r:id="rId11"/>
            </p:custDataLst>
          </p:nvPr>
        </p:nvSpPr>
        <p:spPr>
          <a:xfrm>
            <a:off x="5027930" y="3269615"/>
            <a:ext cx="1936115"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morality</a:t>
            </a:r>
            <a:endParaRPr lang="en-US" altLang="zh-CN" sz="1800" dirty="0" smtClean="0"/>
          </a:p>
        </p:txBody>
      </p:sp>
      <p:sp>
        <p:nvSpPr>
          <p:cNvPr id="67" name="文本框 66"/>
          <p:cNvSpPr txBox="1"/>
          <p:nvPr>
            <p:custDataLst>
              <p:tags r:id="rId12"/>
            </p:custDataLst>
          </p:nvPr>
        </p:nvSpPr>
        <p:spPr>
          <a:xfrm>
            <a:off x="6844030" y="1415415"/>
            <a:ext cx="944880" cy="40005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1800" dirty="0" smtClean="0">
                <a:solidFill>
                  <a:schemeClr val="bg1"/>
                </a:solidFill>
              </a:rPr>
              <a:t>薛佳宏</a:t>
            </a:r>
            <a:endParaRPr lang="zh-CN" altLang="en-US" sz="1800" dirty="0" smtClean="0">
              <a:solidFill>
                <a:schemeClr val="bg1"/>
              </a:solidFill>
            </a:endParaRPr>
          </a:p>
        </p:txBody>
      </p:sp>
      <p:sp>
        <p:nvSpPr>
          <p:cNvPr id="68" name="文本框 67"/>
          <p:cNvSpPr txBox="1"/>
          <p:nvPr>
            <p:custDataLst>
              <p:tags r:id="rId13"/>
            </p:custDataLst>
          </p:nvPr>
        </p:nvSpPr>
        <p:spPr>
          <a:xfrm>
            <a:off x="6844030" y="178435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85</a:t>
            </a:r>
            <a:endParaRPr lang="en-US" altLang="zh-CN" sz="1800" dirty="0" smtClean="0">
              <a:solidFill>
                <a:schemeClr val="bg1"/>
              </a:solidFill>
            </a:endParaRPr>
          </a:p>
        </p:txBody>
      </p:sp>
      <p:sp>
        <p:nvSpPr>
          <p:cNvPr id="69" name="文本框 68"/>
          <p:cNvSpPr txBox="1"/>
          <p:nvPr>
            <p:custDataLst>
              <p:tags r:id="rId14"/>
            </p:custDataLst>
          </p:nvPr>
        </p:nvSpPr>
        <p:spPr>
          <a:xfrm>
            <a:off x="6844030" y="212661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88</a:t>
            </a:r>
            <a:endParaRPr lang="en-US" altLang="zh-CN" sz="1800" dirty="0" smtClean="0">
              <a:solidFill>
                <a:schemeClr val="bg1"/>
              </a:solidFill>
            </a:endParaRPr>
          </a:p>
        </p:txBody>
      </p:sp>
      <p:sp>
        <p:nvSpPr>
          <p:cNvPr id="70" name="文本框 69"/>
          <p:cNvSpPr txBox="1"/>
          <p:nvPr>
            <p:custDataLst>
              <p:tags r:id="rId15"/>
            </p:custDataLst>
          </p:nvPr>
        </p:nvSpPr>
        <p:spPr>
          <a:xfrm>
            <a:off x="6844030" y="248539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89</a:t>
            </a:r>
            <a:endParaRPr lang="en-US" altLang="zh-CN" sz="1800" dirty="0" smtClean="0">
              <a:solidFill>
                <a:schemeClr val="bg1"/>
              </a:solidFill>
            </a:endParaRPr>
          </a:p>
        </p:txBody>
      </p:sp>
      <p:sp>
        <p:nvSpPr>
          <p:cNvPr id="71" name="文本框 70"/>
          <p:cNvSpPr txBox="1"/>
          <p:nvPr>
            <p:custDataLst>
              <p:tags r:id="rId16"/>
            </p:custDataLst>
          </p:nvPr>
        </p:nvSpPr>
        <p:spPr>
          <a:xfrm>
            <a:off x="6844030" y="291592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96</a:t>
            </a:r>
            <a:endParaRPr lang="en-US" altLang="zh-CN" sz="1800" dirty="0" smtClean="0">
              <a:solidFill>
                <a:schemeClr val="bg1"/>
              </a:solidFill>
            </a:endParaRPr>
          </a:p>
        </p:txBody>
      </p:sp>
      <p:sp>
        <p:nvSpPr>
          <p:cNvPr id="72" name="文本框 71"/>
          <p:cNvSpPr txBox="1"/>
          <p:nvPr>
            <p:custDataLst>
              <p:tags r:id="rId17"/>
            </p:custDataLst>
          </p:nvPr>
        </p:nvSpPr>
        <p:spPr>
          <a:xfrm>
            <a:off x="6844030" y="325818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93</a:t>
            </a:r>
            <a:endParaRPr lang="en-US" altLang="zh-CN" sz="1800" dirty="0" smtClean="0">
              <a:solidFill>
                <a:schemeClr val="bg1"/>
              </a:solidFill>
            </a:endParaRPr>
          </a:p>
        </p:txBody>
      </p:sp>
      <p:sp>
        <p:nvSpPr>
          <p:cNvPr id="73" name="文本框 72"/>
          <p:cNvSpPr txBox="1"/>
          <p:nvPr>
            <p:custDataLst>
              <p:tags r:id="rId18"/>
            </p:custDataLst>
          </p:nvPr>
        </p:nvSpPr>
        <p:spPr>
          <a:xfrm>
            <a:off x="5099685" y="3601085"/>
            <a:ext cx="1673860"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total</a:t>
            </a:r>
            <a:endParaRPr lang="en-US" altLang="zh-CN" sz="1800" dirty="0" smtClean="0"/>
          </a:p>
        </p:txBody>
      </p:sp>
      <p:sp>
        <p:nvSpPr>
          <p:cNvPr id="74" name="文本框 73"/>
          <p:cNvSpPr txBox="1"/>
          <p:nvPr>
            <p:custDataLst>
              <p:tags r:id="rId19"/>
            </p:custDataLst>
          </p:nvPr>
        </p:nvSpPr>
        <p:spPr>
          <a:xfrm>
            <a:off x="6844030" y="360045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451</a:t>
            </a:r>
            <a:endParaRPr lang="en-US" altLang="zh-CN" sz="1800" dirty="0" smtClean="0">
              <a:solidFill>
                <a:schemeClr val="bg1"/>
              </a:solidFill>
            </a:endParaRPr>
          </a:p>
        </p:txBody>
      </p:sp>
      <p:graphicFrame>
        <p:nvGraphicFramePr>
          <p:cNvPr id="75" name="对象 74"/>
          <p:cNvGraphicFramePr/>
          <p:nvPr>
            <p:custDataLst>
              <p:tags r:id="rId20"/>
            </p:custDataLst>
          </p:nvPr>
        </p:nvGraphicFramePr>
        <p:xfrm>
          <a:off x="6717030" y="3982085"/>
          <a:ext cx="1137285" cy="2938780"/>
        </p:xfrm>
        <a:graphic>
          <a:graphicData uri="http://schemas.openxmlformats.org/presentationml/2006/ole">
            <mc:AlternateContent xmlns:mc="http://schemas.openxmlformats.org/markup-compatibility/2006">
              <mc:Choice xmlns:v="urn:schemas-microsoft-com:vml" Requires="v">
                <p:oleObj spid="_x0000_s76" name="" r:id="rId21" imgW="985520" imgH="2511425" progId="Visio.Drawing.15">
                  <p:embed/>
                </p:oleObj>
              </mc:Choice>
              <mc:Fallback>
                <p:oleObj name="" r:id="rId21" imgW="985520" imgH="2511425" progId="Visio.Drawing.15">
                  <p:embed/>
                  <p:pic>
                    <p:nvPicPr>
                      <p:cNvPr id="0" name="图片 3"/>
                      <p:cNvPicPr/>
                      <p:nvPr/>
                    </p:nvPicPr>
                    <p:blipFill>
                      <a:blip r:embed="rId5"/>
                      <a:stretch>
                        <a:fillRect/>
                      </a:stretch>
                    </p:blipFill>
                    <p:spPr>
                      <a:xfrm>
                        <a:off x="6717030" y="3982085"/>
                        <a:ext cx="1137285" cy="2938780"/>
                      </a:xfrm>
                      <a:prstGeom prst="rect">
                        <a:avLst/>
                      </a:prstGeom>
                    </p:spPr>
                  </p:pic>
                </p:oleObj>
              </mc:Fallback>
            </mc:AlternateContent>
          </a:graphicData>
        </a:graphic>
      </p:graphicFrame>
      <p:sp>
        <p:nvSpPr>
          <p:cNvPr id="77" name="文本框 76"/>
          <p:cNvSpPr txBox="1"/>
          <p:nvPr>
            <p:custDataLst>
              <p:tags r:id="rId22"/>
            </p:custDataLst>
          </p:nvPr>
        </p:nvSpPr>
        <p:spPr>
          <a:xfrm>
            <a:off x="5083175" y="3912870"/>
            <a:ext cx="1623060" cy="48069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string name</a:t>
            </a:r>
            <a:endParaRPr lang="en-US" altLang="zh-CN" sz="1800" dirty="0" smtClean="0"/>
          </a:p>
        </p:txBody>
      </p:sp>
      <p:sp>
        <p:nvSpPr>
          <p:cNvPr id="78" name="文本框 77"/>
          <p:cNvSpPr txBox="1"/>
          <p:nvPr>
            <p:custDataLst>
              <p:tags r:id="rId23"/>
            </p:custDataLst>
          </p:nvPr>
        </p:nvSpPr>
        <p:spPr>
          <a:xfrm>
            <a:off x="5083175" y="4267200"/>
            <a:ext cx="1764030" cy="41402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chinese</a:t>
            </a:r>
            <a:endParaRPr lang="en-US" altLang="zh-CN" sz="1800" dirty="0" smtClean="0"/>
          </a:p>
        </p:txBody>
      </p:sp>
      <p:sp>
        <p:nvSpPr>
          <p:cNvPr id="79" name="文本框 78"/>
          <p:cNvSpPr txBox="1"/>
          <p:nvPr>
            <p:custDataLst>
              <p:tags r:id="rId24"/>
            </p:custDataLst>
          </p:nvPr>
        </p:nvSpPr>
        <p:spPr>
          <a:xfrm>
            <a:off x="5083175" y="4637405"/>
            <a:ext cx="1484630" cy="44767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math</a:t>
            </a:r>
            <a:endParaRPr lang="en-US" altLang="zh-CN" sz="1800" dirty="0" smtClean="0"/>
          </a:p>
        </p:txBody>
      </p:sp>
      <p:sp>
        <p:nvSpPr>
          <p:cNvPr id="80" name="文本框 79"/>
          <p:cNvSpPr txBox="1"/>
          <p:nvPr>
            <p:custDataLst>
              <p:tags r:id="rId25"/>
            </p:custDataLst>
          </p:nvPr>
        </p:nvSpPr>
        <p:spPr>
          <a:xfrm>
            <a:off x="5083175" y="5041265"/>
            <a:ext cx="1743710" cy="43307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English</a:t>
            </a:r>
            <a:endParaRPr lang="en-US" altLang="zh-CN" sz="1800" dirty="0" smtClean="0"/>
          </a:p>
        </p:txBody>
      </p:sp>
      <p:sp>
        <p:nvSpPr>
          <p:cNvPr id="81" name="文本框 80"/>
          <p:cNvSpPr txBox="1"/>
          <p:nvPr>
            <p:custDataLst>
              <p:tags r:id="rId26"/>
            </p:custDataLst>
          </p:nvPr>
        </p:nvSpPr>
        <p:spPr>
          <a:xfrm>
            <a:off x="5083175" y="5430520"/>
            <a:ext cx="1798320" cy="449580"/>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science</a:t>
            </a:r>
            <a:endParaRPr lang="en-US" altLang="zh-CN" sz="1800" dirty="0" smtClean="0"/>
          </a:p>
        </p:txBody>
      </p:sp>
      <p:sp>
        <p:nvSpPr>
          <p:cNvPr id="82" name="文本框 81"/>
          <p:cNvSpPr txBox="1"/>
          <p:nvPr>
            <p:custDataLst>
              <p:tags r:id="rId27"/>
            </p:custDataLst>
          </p:nvPr>
        </p:nvSpPr>
        <p:spPr>
          <a:xfrm>
            <a:off x="5083175" y="5836285"/>
            <a:ext cx="1917065"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morality</a:t>
            </a:r>
            <a:endParaRPr lang="en-US" altLang="zh-CN" sz="1800" dirty="0" smtClean="0"/>
          </a:p>
        </p:txBody>
      </p:sp>
      <p:sp>
        <p:nvSpPr>
          <p:cNvPr id="83" name="文本框 82"/>
          <p:cNvSpPr txBox="1"/>
          <p:nvPr>
            <p:custDataLst>
              <p:tags r:id="rId28"/>
            </p:custDataLst>
          </p:nvPr>
        </p:nvSpPr>
        <p:spPr>
          <a:xfrm>
            <a:off x="6827520" y="3982085"/>
            <a:ext cx="944880" cy="40005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1800" dirty="0" smtClean="0">
                <a:solidFill>
                  <a:schemeClr val="bg1"/>
                </a:solidFill>
              </a:rPr>
              <a:t>韩金</a:t>
            </a:r>
            <a:r>
              <a:rPr lang="zh-CN" altLang="en-US" sz="1800" dirty="0" smtClean="0">
                <a:solidFill>
                  <a:schemeClr val="bg1"/>
                </a:solidFill>
              </a:rPr>
              <a:t>波</a:t>
            </a:r>
            <a:endParaRPr lang="zh-CN" altLang="en-US" sz="1800" dirty="0" smtClean="0">
              <a:solidFill>
                <a:schemeClr val="bg1"/>
              </a:solidFill>
            </a:endParaRPr>
          </a:p>
        </p:txBody>
      </p:sp>
      <p:sp>
        <p:nvSpPr>
          <p:cNvPr id="84" name="文本框 83"/>
          <p:cNvSpPr txBox="1"/>
          <p:nvPr>
            <p:custDataLst>
              <p:tags r:id="rId29"/>
            </p:custDataLst>
          </p:nvPr>
        </p:nvSpPr>
        <p:spPr>
          <a:xfrm>
            <a:off x="6827520" y="435102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70</a:t>
            </a:r>
            <a:endParaRPr lang="en-US" altLang="zh-CN" sz="1800" dirty="0" smtClean="0">
              <a:solidFill>
                <a:schemeClr val="bg1"/>
              </a:solidFill>
            </a:endParaRPr>
          </a:p>
        </p:txBody>
      </p:sp>
      <p:sp>
        <p:nvSpPr>
          <p:cNvPr id="85" name="文本框 84"/>
          <p:cNvSpPr txBox="1"/>
          <p:nvPr>
            <p:custDataLst>
              <p:tags r:id="rId30"/>
            </p:custDataLst>
          </p:nvPr>
        </p:nvSpPr>
        <p:spPr>
          <a:xfrm>
            <a:off x="6827520" y="469328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91</a:t>
            </a:r>
            <a:endParaRPr lang="en-US" altLang="zh-CN" sz="1800" dirty="0" smtClean="0">
              <a:solidFill>
                <a:schemeClr val="bg1"/>
              </a:solidFill>
            </a:endParaRPr>
          </a:p>
        </p:txBody>
      </p:sp>
      <p:sp>
        <p:nvSpPr>
          <p:cNvPr id="86" name="文本框 85"/>
          <p:cNvSpPr txBox="1"/>
          <p:nvPr>
            <p:custDataLst>
              <p:tags r:id="rId31"/>
            </p:custDataLst>
          </p:nvPr>
        </p:nvSpPr>
        <p:spPr>
          <a:xfrm>
            <a:off x="6827520" y="505206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84</a:t>
            </a:r>
            <a:endParaRPr lang="en-US" altLang="zh-CN" sz="1800" dirty="0" smtClean="0">
              <a:solidFill>
                <a:schemeClr val="bg1"/>
              </a:solidFill>
            </a:endParaRPr>
          </a:p>
        </p:txBody>
      </p:sp>
      <p:sp>
        <p:nvSpPr>
          <p:cNvPr id="87" name="文本框 86"/>
          <p:cNvSpPr txBox="1"/>
          <p:nvPr>
            <p:custDataLst>
              <p:tags r:id="rId32"/>
            </p:custDataLst>
          </p:nvPr>
        </p:nvSpPr>
        <p:spPr>
          <a:xfrm>
            <a:off x="6827520" y="548259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90</a:t>
            </a:r>
            <a:endParaRPr lang="en-US" altLang="zh-CN" sz="1800" dirty="0" smtClean="0">
              <a:solidFill>
                <a:schemeClr val="bg1"/>
              </a:solidFill>
            </a:endParaRPr>
          </a:p>
        </p:txBody>
      </p:sp>
      <p:sp>
        <p:nvSpPr>
          <p:cNvPr id="88" name="文本框 87"/>
          <p:cNvSpPr txBox="1"/>
          <p:nvPr>
            <p:custDataLst>
              <p:tags r:id="rId33"/>
            </p:custDataLst>
          </p:nvPr>
        </p:nvSpPr>
        <p:spPr>
          <a:xfrm>
            <a:off x="6827520" y="5824855"/>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89</a:t>
            </a:r>
            <a:endParaRPr lang="en-US" altLang="zh-CN" sz="1800" dirty="0" smtClean="0">
              <a:solidFill>
                <a:schemeClr val="bg1"/>
              </a:solidFill>
            </a:endParaRPr>
          </a:p>
        </p:txBody>
      </p:sp>
      <p:sp>
        <p:nvSpPr>
          <p:cNvPr id="89" name="文本框 88"/>
          <p:cNvSpPr txBox="1"/>
          <p:nvPr>
            <p:custDataLst>
              <p:tags r:id="rId34"/>
            </p:custDataLst>
          </p:nvPr>
        </p:nvSpPr>
        <p:spPr>
          <a:xfrm>
            <a:off x="5083175" y="6167755"/>
            <a:ext cx="1673860" cy="375285"/>
          </a:xfrm>
          <a:prstGeom prst="rect">
            <a:avLst/>
          </a:prstGeom>
          <a:noFill/>
          <a:ln w="9525" algn="ctr">
            <a:noFill/>
            <a:miter lim="800000"/>
          </a:ln>
        </p:spPr>
        <p:txBody>
          <a:bodyPr wrap="square" anchor="ctr"/>
          <a:p>
            <a:pPr algn="l" eaLnBrk="1" hangingPunct="1">
              <a:lnSpc>
                <a:spcPct val="150000"/>
              </a:lnSpc>
              <a:spcBef>
                <a:spcPct val="50000"/>
              </a:spcBef>
            </a:pPr>
            <a:r>
              <a:rPr lang="en-US" altLang="zh-CN" sz="1800" dirty="0" smtClean="0"/>
              <a:t>double </a:t>
            </a:r>
            <a:r>
              <a:rPr lang="en-US" altLang="zh-CN" sz="1800" dirty="0" smtClean="0"/>
              <a:t>total</a:t>
            </a:r>
            <a:endParaRPr lang="en-US" altLang="zh-CN" sz="1800" dirty="0" smtClean="0"/>
          </a:p>
        </p:txBody>
      </p:sp>
      <p:sp>
        <p:nvSpPr>
          <p:cNvPr id="90" name="文本框 89"/>
          <p:cNvSpPr txBox="1"/>
          <p:nvPr>
            <p:custDataLst>
              <p:tags r:id="rId35"/>
            </p:custDataLst>
          </p:nvPr>
        </p:nvSpPr>
        <p:spPr>
          <a:xfrm>
            <a:off x="6827520" y="6167120"/>
            <a:ext cx="944880" cy="400050"/>
          </a:xfrm>
          <a:prstGeom prst="rect">
            <a:avLst/>
          </a:prstGeom>
          <a:noFill/>
          <a:ln w="9525" algn="ctr">
            <a:noFill/>
            <a:miter lim="800000"/>
          </a:ln>
        </p:spPr>
        <p:txBody>
          <a:bodyPr wrap="square" anchor="ctr"/>
          <a:p>
            <a:pPr algn="ctr" eaLnBrk="1" hangingPunct="1">
              <a:lnSpc>
                <a:spcPct val="150000"/>
              </a:lnSpc>
              <a:spcBef>
                <a:spcPct val="50000"/>
              </a:spcBef>
            </a:pPr>
            <a:r>
              <a:rPr lang="en-US" altLang="zh-CN" sz="1800" dirty="0" smtClean="0">
                <a:solidFill>
                  <a:schemeClr val="bg1"/>
                </a:solidFill>
              </a:rPr>
              <a:t>424</a:t>
            </a:r>
            <a:endParaRPr lang="en-US" altLang="zh-CN" sz="1800" dirty="0" smtClean="0">
              <a:solidFill>
                <a:schemeClr val="bg1"/>
              </a:solidFill>
            </a:endParaRPr>
          </a:p>
        </p:txBody>
      </p:sp>
      <p:sp>
        <p:nvSpPr>
          <p:cNvPr id="91" name="文本框 90"/>
          <p:cNvSpPr txBox="1"/>
          <p:nvPr/>
        </p:nvSpPr>
        <p:spPr>
          <a:xfrm>
            <a:off x="434340" y="5566410"/>
            <a:ext cx="4284345" cy="91440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2000" dirty="0" smtClean="0">
                <a:solidFill>
                  <a:srgbClr val="FF0000"/>
                </a:solidFill>
              </a:rPr>
              <a:t>解决方案</a:t>
            </a:r>
            <a:r>
              <a:rPr lang="zh-CN" altLang="en-US" sz="2000" dirty="0" smtClean="0"/>
              <a:t>：把每个学生的信息封装起来，每个学生内部再进行内存</a:t>
            </a:r>
            <a:r>
              <a:rPr lang="zh-CN" altLang="en-US" sz="2000" dirty="0" smtClean="0"/>
              <a:t>分配。</a:t>
            </a:r>
            <a:endParaRPr lang="zh-CN" altLang="en-US" sz="2000" dirty="0" smtClean="0"/>
          </a:p>
        </p:txBody>
      </p:sp>
      <p:sp>
        <p:nvSpPr>
          <p:cNvPr id="3" name="矩形 2"/>
          <p:cNvSpPr/>
          <p:nvPr/>
        </p:nvSpPr>
        <p:spPr>
          <a:xfrm>
            <a:off x="4933950" y="1340485"/>
            <a:ext cx="2952115" cy="2736215"/>
          </a:xfrm>
          <a:prstGeom prst="rect">
            <a:avLst/>
          </a:prstGeom>
          <a:noFill/>
          <a:ln w="22225" cap="flat" cmpd="sng" algn="ctr">
            <a:solidFill>
              <a:schemeClr val="accent1">
                <a:shade val="50000"/>
              </a:schemeClr>
            </a:solidFill>
            <a:prstDash val="solid"/>
            <a:round/>
            <a:headEnd type="none" w="med" len="med"/>
            <a:tailEnd type="none" w="med" len="med"/>
          </a:ln>
        </p:spPr>
        <p:txBody>
          <a:bodyPr vert="horz" wrap="none" lIns="36000" tIns="0" rIns="36000" bIns="0" numCol="1" anchor="ctr" anchorCtr="1" compatLnSpc="1"/>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4" name="矩形 3"/>
          <p:cNvSpPr/>
          <p:nvPr>
            <p:custDataLst>
              <p:tags r:id="rId36"/>
            </p:custDataLst>
          </p:nvPr>
        </p:nvSpPr>
        <p:spPr>
          <a:xfrm>
            <a:off x="4917440" y="4050665"/>
            <a:ext cx="2952115" cy="2622550"/>
          </a:xfrm>
          <a:prstGeom prst="rect">
            <a:avLst/>
          </a:prstGeom>
          <a:noFill/>
          <a:ln w="22225" cap="flat" cmpd="sng" algn="ctr">
            <a:solidFill>
              <a:schemeClr val="accent1">
                <a:shade val="50000"/>
              </a:schemeClr>
            </a:solidFill>
            <a:prstDash val="solid"/>
            <a:round/>
            <a:headEnd type="none" w="med" len="med"/>
            <a:tailEnd type="none" w="med" len="med"/>
          </a:ln>
        </p:spPr>
        <p:txBody>
          <a:bodyPr vert="horz" wrap="none" lIns="36000" tIns="0" rIns="36000" bIns="0" numCol="1" anchor="ctr" anchorCtr="1" compatLnSpc="1"/>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6" name="文本框 5"/>
          <p:cNvSpPr txBox="1"/>
          <p:nvPr>
            <p:custDataLst>
              <p:tags r:id="rId37"/>
            </p:custDataLst>
          </p:nvPr>
        </p:nvSpPr>
        <p:spPr>
          <a:xfrm>
            <a:off x="7956550" y="2070735"/>
            <a:ext cx="1156970" cy="91440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2000" dirty="0" smtClean="0"/>
              <a:t>学生：</a:t>
            </a:r>
            <a:r>
              <a:rPr lang="en-US" altLang="zh-CN" sz="2000" dirty="0" smtClean="0"/>
              <a:t>xue</a:t>
            </a:r>
            <a:endParaRPr lang="zh-CN" altLang="en-US" sz="2000" dirty="0" smtClean="0"/>
          </a:p>
        </p:txBody>
      </p:sp>
      <p:sp>
        <p:nvSpPr>
          <p:cNvPr id="7" name="文本框 6"/>
          <p:cNvSpPr txBox="1"/>
          <p:nvPr>
            <p:custDataLst>
              <p:tags r:id="rId38"/>
            </p:custDataLst>
          </p:nvPr>
        </p:nvSpPr>
        <p:spPr>
          <a:xfrm>
            <a:off x="7947660" y="4559935"/>
            <a:ext cx="1156970" cy="91440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2000" dirty="0" smtClean="0"/>
              <a:t>学生：</a:t>
            </a:r>
            <a:r>
              <a:rPr lang="en-US" altLang="zh-CN" sz="2000" dirty="0" smtClean="0"/>
              <a:t>han</a:t>
            </a:r>
            <a:endParaRPr lang="en-US" altLang="zh-CN" sz="2000" dirty="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11560" y="2060848"/>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indent="0" algn="ctr">
              <a:buFont typeface="+mj-lt"/>
              <a:buNone/>
            </a:pPr>
            <a:r>
              <a:rPr lang="en-US" altLang="zh-CN" sz="6000" b="1" dirty="0" smtClean="0">
                <a:ea typeface="华文彩云" panose="02010800040101010101" pitchFamily="2" charset="-122"/>
              </a:rPr>
              <a:t>4.0 </a:t>
            </a:r>
            <a:r>
              <a:rPr lang="zh-CN" altLang="en-US" sz="6000" b="1" dirty="0" smtClean="0">
                <a:ea typeface="华文彩云" panose="02010800040101010101" pitchFamily="2" charset="-122"/>
              </a:rPr>
              <a:t>结构体</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4.0 </a:t>
            </a:r>
            <a:r>
              <a:rPr lang="zh-CN" altLang="en-US" sz="4400" b="1">
                <a:latin typeface="Times New Roman" panose="02020603050405020304" pitchFamily="18" charset="0"/>
                <a:ea typeface="隶书" panose="02010509060101010101" pitchFamily="49" charset="-122"/>
              </a:rPr>
              <a:t>结构体</a:t>
            </a:r>
            <a:endParaRPr lang="zh-CN" altLang="en-US" sz="4400" b="1">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611560" y="1268760"/>
            <a:ext cx="8208912" cy="4351338"/>
          </a:xfrm>
        </p:spPr>
        <p:txBody>
          <a:bodyPr/>
          <a:lstStyle/>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结构体是一种特殊形态的类</a:t>
            </a:r>
            <a:endParaRPr lang="en-US" altLang="zh-CN" sz="2400" b="1" dirty="0" smtClean="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结构体的缺省访问权限</a:t>
            </a:r>
            <a:r>
              <a:rPr lang="zh-CN" altLang="en-US" sz="2400" b="1" dirty="0">
                <a:solidFill>
                  <a:srgbClr val="FFFF00"/>
                </a:solidFill>
                <a:latin typeface="微软雅黑" panose="020B0503020204020204" pitchFamily="34" charset="-122"/>
                <a:ea typeface="微软雅黑" panose="020B0503020204020204" pitchFamily="34" charset="-122"/>
              </a:rPr>
              <a:t>是</a:t>
            </a:r>
            <a:r>
              <a:rPr lang="en-US" altLang="zh-CN" sz="2400" b="1" dirty="0">
                <a:solidFill>
                  <a:srgbClr val="FFFF00"/>
                </a:solidFill>
                <a:latin typeface="微软雅黑" panose="020B0503020204020204" pitchFamily="34" charset="-122"/>
                <a:ea typeface="微软雅黑" panose="020B0503020204020204" pitchFamily="34" charset="-122"/>
              </a:rPr>
              <a:t>public</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r>
              <a:rPr lang="zh-CN" altLang="en-US" sz="2400" b="1" dirty="0">
                <a:solidFill>
                  <a:srgbClr val="FFFF00"/>
                </a:solidFill>
                <a:latin typeface="微软雅黑" panose="020B0503020204020204" pitchFamily="34" charset="-122"/>
                <a:ea typeface="微软雅黑" panose="020B0503020204020204" pitchFamily="34" charset="-122"/>
              </a:rPr>
              <a:t>结构体存在的主要原因：与</a:t>
            </a:r>
            <a:r>
              <a:rPr lang="en-US" altLang="zh-CN" sz="2400" b="1" dirty="0">
                <a:solidFill>
                  <a:srgbClr val="FFFF00"/>
                </a:solidFill>
                <a:latin typeface="微软雅黑" panose="020B0503020204020204" pitchFamily="34" charset="-122"/>
                <a:ea typeface="微软雅黑" panose="020B0503020204020204" pitchFamily="34" charset="-122"/>
              </a:rPr>
              <a:t>C</a:t>
            </a:r>
            <a:r>
              <a:rPr lang="zh-CN" altLang="en-US" sz="2400" b="1" dirty="0">
                <a:solidFill>
                  <a:srgbClr val="FFFF00"/>
                </a:solidFill>
                <a:latin typeface="微软雅黑" panose="020B0503020204020204" pitchFamily="34" charset="-122"/>
                <a:ea typeface="微软雅黑" panose="020B0503020204020204" pitchFamily="34" charset="-122"/>
              </a:rPr>
              <a:t>语言保持兼容</a:t>
            </a:r>
            <a:endParaRPr lang="en-US" altLang="zh-CN" sz="2400" b="1" dirty="0">
              <a:solidFill>
                <a:srgbClr val="FFFF00"/>
              </a:solidFill>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什么时候用结构体而不用类</a:t>
            </a:r>
            <a:endParaRPr lang="en-US" altLang="zh-CN" sz="2400" b="1" dirty="0" smtClean="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r>
              <a:rPr lang="zh-CN" altLang="en-US" sz="2400" b="1" dirty="0">
                <a:solidFill>
                  <a:srgbClr val="FFFF00"/>
                </a:solidFill>
                <a:latin typeface="微软雅黑" panose="020B0503020204020204" pitchFamily="34" charset="-122"/>
                <a:ea typeface="微软雅黑" panose="020B0503020204020204" pitchFamily="34" charset="-122"/>
              </a:rPr>
              <a:t>定义主要用来保存数据、而没有什么操作的类型</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r>
              <a:rPr lang="zh-CN" altLang="en-US" sz="2400" b="1" dirty="0">
                <a:solidFill>
                  <a:srgbClr val="FFFF00"/>
                </a:solidFill>
                <a:latin typeface="微软雅黑" panose="020B0503020204020204" pitchFamily="34" charset="-122"/>
                <a:ea typeface="微软雅黑" panose="020B0503020204020204" pitchFamily="34" charset="-122"/>
              </a:rPr>
              <a:t>人们习惯将结构体的数据成员设为公有，因此这时用结构体更方便</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结构体的定义和初始化</a:t>
            </a:r>
            <a:endParaRPr lang="zh-CN" altLang="en-US" sz="4400" b="1">
              <a:latin typeface="Times New Roman" panose="02020603050405020304" pitchFamily="18" charset="0"/>
              <a:ea typeface="隶书" panose="02010509060101010101" pitchFamily="49" charset="-122"/>
            </a:endParaRPr>
          </a:p>
        </p:txBody>
      </p:sp>
      <p:sp>
        <p:nvSpPr>
          <p:cNvPr id="74755" name="内容占位符 2"/>
          <p:cNvSpPr>
            <a:spLocks noGrp="1"/>
          </p:cNvSpPr>
          <p:nvPr>
            <p:ph idx="1"/>
          </p:nvPr>
        </p:nvSpPr>
        <p:spPr>
          <a:xfrm>
            <a:off x="611560" y="1484784"/>
            <a:ext cx="8208912" cy="4351338"/>
          </a:xfrm>
        </p:spPr>
        <p:txBody>
          <a:bodyPr/>
          <a:lstStyle/>
          <a:p>
            <a:pPr eaLnBrk="1" hangingPunct="1"/>
            <a:r>
              <a:rPr lang="zh-CN" altLang="en-US" sz="2400" b="1" dirty="0">
                <a:latin typeface="微软雅黑" panose="020B0503020204020204" pitchFamily="34" charset="-122"/>
                <a:ea typeface="微软雅黑" panose="020B0503020204020204" pitchFamily="34" charset="-122"/>
              </a:rPr>
              <a:t>结构体定义</a:t>
            </a:r>
            <a:endParaRPr lang="en-US" altLang="zh-CN" sz="2400" b="1" dirty="0">
              <a:latin typeface="微软雅黑" panose="020B0503020204020204" pitchFamily="34" charset="-122"/>
              <a:ea typeface="微软雅黑" panose="020B0503020204020204" pitchFamily="34" charset="-122"/>
            </a:endParaRPr>
          </a:p>
          <a:p>
            <a:pPr lvl="1" eaLnBrk="1" hangingPunct="1">
              <a:buFontTx/>
              <a:buNone/>
            </a:pPr>
            <a:r>
              <a:rPr lang="en-US" altLang="zh-CN" sz="2400" b="1" dirty="0" err="1">
                <a:solidFill>
                  <a:srgbClr val="FFFF00"/>
                </a:solidFill>
                <a:latin typeface="微软雅黑" panose="020B0503020204020204" pitchFamily="34" charset="-122"/>
                <a:ea typeface="微软雅黑" panose="020B0503020204020204" pitchFamily="34" charset="-122"/>
              </a:rPr>
              <a:t>struct</a:t>
            </a:r>
            <a:r>
              <a:rPr lang="en-US" altLang="zh-CN" sz="2400" b="1" dirty="0">
                <a:solidFill>
                  <a:srgbClr val="FFFF00"/>
                </a:solidFill>
                <a:latin typeface="微软雅黑" panose="020B0503020204020204" pitchFamily="34" charset="-122"/>
                <a:ea typeface="微软雅黑" panose="020B0503020204020204" pitchFamily="34" charset="-122"/>
              </a:rPr>
              <a:t> </a:t>
            </a:r>
            <a:r>
              <a:rPr lang="zh-CN" altLang="en-US" sz="2400" b="1" dirty="0">
                <a:solidFill>
                  <a:srgbClr val="FFFF00"/>
                </a:solidFill>
                <a:latin typeface="微软雅黑" panose="020B0503020204020204" pitchFamily="34" charset="-122"/>
                <a:ea typeface="微软雅黑" panose="020B0503020204020204" pitchFamily="34" charset="-122"/>
              </a:rPr>
              <a:t>结构体名称 </a:t>
            </a:r>
            <a:r>
              <a:rPr lang="en-US" altLang="zh-CN" sz="2400" b="1" dirty="0">
                <a:solidFill>
                  <a:srgbClr val="FFFF00"/>
                </a:solidFill>
                <a:latin typeface="微软雅黑" panose="020B0503020204020204" pitchFamily="34" charset="-122"/>
                <a:ea typeface="微软雅黑" panose="020B0503020204020204" pitchFamily="34" charset="-122"/>
              </a:rPr>
              <a:t>{</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pPr>
            <a:r>
              <a:rPr lang="en-US" altLang="zh-CN" sz="2400" b="1" dirty="0">
                <a:solidFill>
                  <a:srgbClr val="FFFF00"/>
                </a:solidFill>
                <a:latin typeface="微软雅黑" panose="020B0503020204020204" pitchFamily="34" charset="-122"/>
                <a:ea typeface="微软雅黑" panose="020B0503020204020204" pitchFamily="34" charset="-122"/>
              </a:rPr>
              <a:t>	 </a:t>
            </a:r>
            <a:r>
              <a:rPr lang="zh-CN" altLang="en-US" sz="2400" b="1" dirty="0">
                <a:solidFill>
                  <a:srgbClr val="FFFF00"/>
                </a:solidFill>
                <a:latin typeface="微软雅黑" panose="020B0503020204020204" pitchFamily="34" charset="-122"/>
                <a:ea typeface="微软雅黑" panose="020B0503020204020204" pitchFamily="34" charset="-122"/>
              </a:rPr>
              <a:t>公有成员</a:t>
            </a:r>
            <a:endParaRPr lang="zh-CN" altLang="en-US"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pPr>
            <a:r>
              <a:rPr lang="en-US" altLang="zh-CN" sz="2400" b="1" dirty="0">
                <a:solidFill>
                  <a:srgbClr val="FFFF00"/>
                </a:solidFill>
                <a:latin typeface="微软雅黑" panose="020B0503020204020204" pitchFamily="34" charset="-122"/>
                <a:ea typeface="微软雅黑" panose="020B0503020204020204" pitchFamily="34" charset="-122"/>
              </a:rPr>
              <a:t>protected:</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pPr>
            <a:r>
              <a:rPr lang="en-US" altLang="zh-CN" sz="2400" b="1" dirty="0">
                <a:solidFill>
                  <a:srgbClr val="FFFF00"/>
                </a:solidFill>
                <a:latin typeface="微软雅黑" panose="020B0503020204020204" pitchFamily="34" charset="-122"/>
                <a:ea typeface="微软雅黑" panose="020B0503020204020204" pitchFamily="34" charset="-122"/>
              </a:rPr>
              <a:t>    </a:t>
            </a:r>
            <a:r>
              <a:rPr lang="zh-CN" altLang="en-US" sz="2400" b="1" dirty="0">
                <a:solidFill>
                  <a:srgbClr val="FFFF00"/>
                </a:solidFill>
                <a:latin typeface="微软雅黑" panose="020B0503020204020204" pitchFamily="34" charset="-122"/>
                <a:ea typeface="微软雅黑" panose="020B0503020204020204" pitchFamily="34" charset="-122"/>
              </a:rPr>
              <a:t>保护型成员</a:t>
            </a:r>
            <a:endParaRPr lang="zh-CN" altLang="en-US"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pPr>
            <a:r>
              <a:rPr lang="en-US" altLang="zh-CN" sz="2400" b="1" dirty="0">
                <a:solidFill>
                  <a:srgbClr val="FFFF00"/>
                </a:solidFill>
                <a:latin typeface="微软雅黑" panose="020B0503020204020204" pitchFamily="34" charset="-122"/>
                <a:ea typeface="微软雅黑" panose="020B0503020204020204" pitchFamily="34" charset="-122"/>
              </a:rPr>
              <a:t>private:</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pPr>
            <a:r>
              <a:rPr lang="en-US" altLang="zh-CN" sz="2400" b="1" dirty="0">
                <a:solidFill>
                  <a:srgbClr val="FFFF00"/>
                </a:solidFill>
                <a:latin typeface="微软雅黑" panose="020B0503020204020204" pitchFamily="34" charset="-122"/>
                <a:ea typeface="微软雅黑" panose="020B0503020204020204" pitchFamily="34" charset="-122"/>
              </a:rPr>
              <a:t>     </a:t>
            </a:r>
            <a:r>
              <a:rPr lang="zh-CN" altLang="en-US" sz="2400" b="1" dirty="0">
                <a:solidFill>
                  <a:srgbClr val="FFFF00"/>
                </a:solidFill>
                <a:latin typeface="微软雅黑" panose="020B0503020204020204" pitchFamily="34" charset="-122"/>
                <a:ea typeface="微软雅黑" panose="020B0503020204020204" pitchFamily="34" charset="-122"/>
              </a:rPr>
              <a:t>私有成员</a:t>
            </a:r>
            <a:endParaRPr lang="zh-CN" altLang="en-US"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pPr>
            <a:r>
              <a:rPr lang="en-US" altLang="zh-CN" sz="2400" b="1" dirty="0">
                <a:solidFill>
                  <a:srgbClr val="FFFF00"/>
                </a:solidFill>
                <a:latin typeface="微软雅黑" panose="020B0503020204020204" pitchFamily="34" charset="-122"/>
                <a:ea typeface="微软雅黑" panose="020B0503020204020204" pitchFamily="34" charset="-122"/>
              </a:rPr>
              <a:t>};</a:t>
            </a:r>
            <a:endParaRPr lang="en-US" altLang="zh-CN" sz="2400" b="1" dirty="0">
              <a:solidFill>
                <a:srgbClr val="FFFF00"/>
              </a:solidFill>
              <a:latin typeface="微软雅黑" panose="020B0503020204020204" pitchFamily="34" charset="-122"/>
              <a:ea typeface="微软雅黑" panose="020B0503020204020204" pitchFamily="34" charset="-122"/>
            </a:endParaRPr>
          </a:p>
          <a:p>
            <a:pPr eaLnBrk="1" hangingPunct="1"/>
            <a:r>
              <a:rPr lang="zh-CN" altLang="en-US" sz="2400" b="1" dirty="0">
                <a:latin typeface="微软雅黑" panose="020B0503020204020204" pitchFamily="34" charset="-122"/>
                <a:ea typeface="微软雅黑" panose="020B0503020204020204" pitchFamily="34" charset="-122"/>
              </a:rPr>
              <a:t>一些结构体变量的初始化可以用以下形式</a:t>
            </a:r>
            <a:endParaRPr lang="en-US" altLang="zh-CN" sz="2400" b="1" dirty="0">
              <a:latin typeface="微软雅黑" panose="020B0503020204020204" pitchFamily="34" charset="-122"/>
              <a:ea typeface="微软雅黑" panose="020B0503020204020204" pitchFamily="34" charset="-122"/>
            </a:endParaRPr>
          </a:p>
          <a:p>
            <a:pPr marL="441325" lvl="1" indent="15875" eaLnBrk="1" hangingPunct="1">
              <a:buFontTx/>
              <a:buNone/>
            </a:pPr>
            <a:r>
              <a:rPr lang="zh-CN" altLang="en-US" sz="2400" b="1" dirty="0">
                <a:solidFill>
                  <a:srgbClr val="FFFF00"/>
                </a:solidFill>
                <a:latin typeface="微软雅黑" panose="020B0503020204020204" pitchFamily="34" charset="-122"/>
                <a:ea typeface="微软雅黑" panose="020B0503020204020204" pitchFamily="34" charset="-122"/>
              </a:rPr>
              <a:t>类型名 变量名</a:t>
            </a:r>
            <a:r>
              <a:rPr lang="en-US" altLang="zh-CN" sz="2400" b="1" dirty="0">
                <a:solidFill>
                  <a:srgbClr val="FFFF00"/>
                </a:solidFill>
                <a:latin typeface="微软雅黑" panose="020B0503020204020204" pitchFamily="34" charset="-122"/>
                <a:ea typeface="微软雅黑" panose="020B0503020204020204" pitchFamily="34" charset="-122"/>
              </a:rPr>
              <a:t> = { </a:t>
            </a:r>
            <a:r>
              <a:rPr lang="zh-CN" altLang="en-US" sz="2400" b="1" dirty="0">
                <a:solidFill>
                  <a:srgbClr val="FFFF00"/>
                </a:solidFill>
                <a:latin typeface="微软雅黑" panose="020B0503020204020204" pitchFamily="34" charset="-122"/>
                <a:ea typeface="微软雅黑" panose="020B0503020204020204" pitchFamily="34" charset="-122"/>
              </a:rPr>
              <a:t>成员数据</a:t>
            </a:r>
            <a:r>
              <a:rPr lang="en-US" altLang="zh-CN" sz="2400" b="1" dirty="0">
                <a:solidFill>
                  <a:srgbClr val="FFFF00"/>
                </a:solidFill>
                <a:latin typeface="微软雅黑" panose="020B0503020204020204" pitchFamily="34" charset="-122"/>
                <a:ea typeface="微软雅黑" panose="020B0503020204020204" pitchFamily="34" charset="-122"/>
              </a:rPr>
              <a:t>1</a:t>
            </a:r>
            <a:r>
              <a:rPr lang="zh-CN" altLang="en-US" sz="2400" b="1" dirty="0">
                <a:solidFill>
                  <a:srgbClr val="FFFF00"/>
                </a:solidFill>
                <a:latin typeface="微软雅黑" panose="020B0503020204020204" pitchFamily="34" charset="-122"/>
                <a:ea typeface="微软雅黑" panose="020B0503020204020204" pitchFamily="34" charset="-122"/>
              </a:rPr>
              <a:t>初值</a:t>
            </a:r>
            <a:r>
              <a:rPr lang="en-US" altLang="zh-CN" sz="2400" b="1" dirty="0">
                <a:solidFill>
                  <a:srgbClr val="FFFF00"/>
                </a:solidFill>
                <a:latin typeface="微软雅黑" panose="020B0503020204020204" pitchFamily="34" charset="-122"/>
                <a:ea typeface="微软雅黑" panose="020B0503020204020204" pitchFamily="34" charset="-122"/>
              </a:rPr>
              <a:t>, </a:t>
            </a:r>
            <a:r>
              <a:rPr lang="zh-CN" altLang="en-US" sz="2400" b="1" dirty="0">
                <a:solidFill>
                  <a:srgbClr val="FFFF00"/>
                </a:solidFill>
                <a:latin typeface="微软雅黑" panose="020B0503020204020204" pitchFamily="34" charset="-122"/>
                <a:ea typeface="微软雅黑" panose="020B0503020204020204" pitchFamily="34" charset="-122"/>
              </a:rPr>
              <a:t>成员数据</a:t>
            </a:r>
            <a:r>
              <a:rPr lang="en-US" altLang="zh-CN" sz="2400" b="1" dirty="0">
                <a:solidFill>
                  <a:srgbClr val="FFFF00"/>
                </a:solidFill>
                <a:latin typeface="微软雅黑" panose="020B0503020204020204" pitchFamily="34" charset="-122"/>
                <a:ea typeface="微软雅黑" panose="020B0503020204020204" pitchFamily="34" charset="-122"/>
              </a:rPr>
              <a:t>2</a:t>
            </a:r>
            <a:r>
              <a:rPr lang="zh-CN" altLang="en-US" sz="2400" b="1" dirty="0">
                <a:solidFill>
                  <a:srgbClr val="FFFF00"/>
                </a:solidFill>
                <a:latin typeface="微软雅黑" panose="020B0503020204020204" pitchFamily="34" charset="-122"/>
                <a:ea typeface="微软雅黑" panose="020B0503020204020204" pitchFamily="34" charset="-122"/>
              </a:rPr>
              <a:t>初值</a:t>
            </a:r>
            <a:r>
              <a:rPr lang="en-US" altLang="zh-CN" sz="2400" b="1" dirty="0">
                <a:solidFill>
                  <a:srgbClr val="FFFF00"/>
                </a:solidFill>
                <a:latin typeface="微软雅黑" panose="020B0503020204020204" pitchFamily="34" charset="-122"/>
                <a:ea typeface="微软雅黑" panose="020B0503020204020204" pitchFamily="34" charset="-122"/>
              </a:rPr>
              <a:t>, …… };</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pPr eaLnBrk="1" hangingPunct="1"/>
            <a:r>
              <a:rPr lang="zh-CN" altLang="en-US" b="1" smtClean="0"/>
              <a:t>例</a:t>
            </a:r>
            <a:r>
              <a:rPr lang="en-US" altLang="zh-CN" b="1" smtClean="0"/>
              <a:t>4-7</a:t>
            </a:r>
            <a:r>
              <a:rPr lang="zh-CN" altLang="en-US" b="1" smtClean="0"/>
              <a:t>用结构体表示学生的基本信息</a:t>
            </a:r>
            <a:endParaRPr lang="zh-CN" altLang="en-US" b="1" smtClean="0"/>
          </a:p>
        </p:txBody>
      </p:sp>
      <p:sp>
        <p:nvSpPr>
          <p:cNvPr id="75779" name="内容占位符 2"/>
          <p:cNvSpPr>
            <a:spLocks noGrp="1"/>
          </p:cNvSpPr>
          <p:nvPr>
            <p:ph idx="1"/>
          </p:nvPr>
        </p:nvSpPr>
        <p:spPr>
          <a:xfrm>
            <a:off x="285750" y="1785938"/>
            <a:ext cx="8686800" cy="4787900"/>
          </a:xfrm>
          <a:solidFill>
            <a:schemeClr val="tx1"/>
          </a:solidFill>
        </p:spPr>
        <p:txBody>
          <a:bodyPr/>
          <a:lstStyle/>
          <a:p>
            <a:pPr marL="0" indent="0">
              <a:spcBef>
                <a:spcPts val="0"/>
              </a:spcBef>
              <a:buNone/>
            </a:pPr>
            <a:r>
              <a:rPr lang="en-US" altLang="zh-CN" sz="2400" b="1">
                <a:solidFill>
                  <a:srgbClr val="000000"/>
                </a:solidFill>
                <a:ea typeface="+mj-ea"/>
              </a:rPr>
              <a:t>#include &lt;iostream&gt;</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#include &lt;iomanip&gt;</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#include &lt;string&gt;</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using namespace std;</a:t>
            </a:r>
            <a:endParaRPr lang="en-US" altLang="zh-CN" sz="2400" b="1">
              <a:solidFill>
                <a:srgbClr val="000000"/>
              </a:solidFill>
              <a:ea typeface="+mj-ea"/>
            </a:endParaRPr>
          </a:p>
          <a:p>
            <a:pPr marL="0" indent="0">
              <a:spcBef>
                <a:spcPts val="0"/>
              </a:spcBef>
              <a:buNone/>
            </a:pP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struct Student {	//</a:t>
            </a:r>
            <a:r>
              <a:rPr lang="zh-CN" altLang="en-US" sz="2400" b="1">
                <a:solidFill>
                  <a:srgbClr val="000000"/>
                </a:solidFill>
                <a:ea typeface="+mj-ea"/>
              </a:rPr>
              <a:t>学生信息结构体</a:t>
            </a:r>
            <a:endParaRPr lang="zh-CN" altLang="en-US" sz="2400" b="1">
              <a:solidFill>
                <a:srgbClr val="000000"/>
              </a:solidFill>
              <a:ea typeface="+mj-ea"/>
            </a:endParaRPr>
          </a:p>
          <a:p>
            <a:pPr marL="0" indent="0">
              <a:spcBef>
                <a:spcPts val="0"/>
              </a:spcBef>
              <a:buNone/>
            </a:pPr>
            <a:r>
              <a:rPr lang="zh-CN" altLang="en-US" sz="2400" b="1">
                <a:solidFill>
                  <a:srgbClr val="000000"/>
                </a:solidFill>
                <a:ea typeface="+mj-ea"/>
              </a:rPr>
              <a:t>	</a:t>
            </a:r>
            <a:r>
              <a:rPr lang="en-US" altLang="zh-CN" sz="2400" b="1">
                <a:solidFill>
                  <a:srgbClr val="000000"/>
                </a:solidFill>
                <a:ea typeface="+mj-ea"/>
              </a:rPr>
              <a:t>int num;		//</a:t>
            </a:r>
            <a:r>
              <a:rPr lang="zh-CN" altLang="en-US" sz="2400" b="1">
                <a:solidFill>
                  <a:srgbClr val="000000"/>
                </a:solidFill>
                <a:ea typeface="+mj-ea"/>
              </a:rPr>
              <a:t>学号</a:t>
            </a:r>
            <a:endParaRPr lang="zh-CN" altLang="en-US" sz="2400" b="1">
              <a:solidFill>
                <a:srgbClr val="000000"/>
              </a:solidFill>
              <a:ea typeface="+mj-ea"/>
            </a:endParaRPr>
          </a:p>
          <a:p>
            <a:pPr marL="0" indent="0">
              <a:spcBef>
                <a:spcPts val="0"/>
              </a:spcBef>
              <a:buNone/>
            </a:pPr>
            <a:r>
              <a:rPr lang="zh-CN" altLang="en-US" sz="2400" b="1">
                <a:solidFill>
                  <a:srgbClr val="000000"/>
                </a:solidFill>
                <a:ea typeface="+mj-ea"/>
              </a:rPr>
              <a:t>	</a:t>
            </a:r>
            <a:r>
              <a:rPr lang="en-US" altLang="zh-CN" sz="2400" b="1">
                <a:solidFill>
                  <a:srgbClr val="000000"/>
                </a:solidFill>
                <a:ea typeface="+mj-ea"/>
              </a:rPr>
              <a:t>string name;	//</a:t>
            </a:r>
            <a:r>
              <a:rPr lang="zh-CN" altLang="en-US" sz="2400" b="1">
                <a:solidFill>
                  <a:srgbClr val="000000"/>
                </a:solidFill>
                <a:ea typeface="+mj-ea"/>
              </a:rPr>
              <a:t>姓名，字符串对象，将在第</a:t>
            </a:r>
            <a:r>
              <a:rPr lang="en-US" altLang="zh-CN" sz="2400" b="1">
                <a:solidFill>
                  <a:srgbClr val="000000"/>
                </a:solidFill>
                <a:ea typeface="+mj-ea"/>
              </a:rPr>
              <a:t>6</a:t>
            </a:r>
            <a:r>
              <a:rPr lang="zh-CN" altLang="en-US" sz="2400" b="1">
                <a:solidFill>
                  <a:srgbClr val="000000"/>
                </a:solidFill>
                <a:ea typeface="+mj-ea"/>
              </a:rPr>
              <a:t>章详细介绍</a:t>
            </a:r>
            <a:endParaRPr lang="zh-CN" altLang="en-US" sz="2400" b="1">
              <a:solidFill>
                <a:srgbClr val="000000"/>
              </a:solidFill>
              <a:ea typeface="+mj-ea"/>
            </a:endParaRPr>
          </a:p>
          <a:p>
            <a:pPr marL="0" indent="0">
              <a:spcBef>
                <a:spcPts val="0"/>
              </a:spcBef>
              <a:buNone/>
            </a:pPr>
            <a:r>
              <a:rPr lang="zh-CN" altLang="en-US" sz="2400" b="1">
                <a:solidFill>
                  <a:srgbClr val="000000"/>
                </a:solidFill>
                <a:ea typeface="+mj-ea"/>
              </a:rPr>
              <a:t>	</a:t>
            </a:r>
            <a:r>
              <a:rPr lang="en-US" altLang="zh-CN" sz="2400" b="1">
                <a:solidFill>
                  <a:srgbClr val="000000"/>
                </a:solidFill>
                <a:ea typeface="+mj-ea"/>
              </a:rPr>
              <a:t>char sex;		//</a:t>
            </a:r>
            <a:r>
              <a:rPr lang="zh-CN" altLang="en-US" sz="2400" b="1">
                <a:solidFill>
                  <a:srgbClr val="000000"/>
                </a:solidFill>
                <a:ea typeface="+mj-ea"/>
              </a:rPr>
              <a:t>性别</a:t>
            </a:r>
            <a:endParaRPr lang="zh-CN" altLang="en-US" sz="2400" b="1">
              <a:solidFill>
                <a:srgbClr val="000000"/>
              </a:solidFill>
              <a:ea typeface="+mj-ea"/>
            </a:endParaRPr>
          </a:p>
          <a:p>
            <a:pPr marL="0" indent="0">
              <a:spcBef>
                <a:spcPts val="0"/>
              </a:spcBef>
              <a:buNone/>
            </a:pPr>
            <a:r>
              <a:rPr lang="zh-CN" altLang="en-US" sz="2400" b="1">
                <a:solidFill>
                  <a:srgbClr val="000000"/>
                </a:solidFill>
                <a:ea typeface="+mj-ea"/>
              </a:rPr>
              <a:t>	</a:t>
            </a:r>
            <a:r>
              <a:rPr lang="en-US" altLang="zh-CN" sz="2400" b="1">
                <a:solidFill>
                  <a:srgbClr val="000000"/>
                </a:solidFill>
                <a:ea typeface="+mj-ea"/>
              </a:rPr>
              <a:t>int age;		//</a:t>
            </a:r>
            <a:r>
              <a:rPr lang="zh-CN" altLang="en-US" sz="2400" b="1">
                <a:solidFill>
                  <a:srgbClr val="000000"/>
                </a:solidFill>
                <a:ea typeface="+mj-ea"/>
              </a:rPr>
              <a:t>年龄</a:t>
            </a:r>
            <a:endParaRPr lang="zh-CN" altLang="en-US" sz="2400" b="1">
              <a:solidFill>
                <a:srgbClr val="000000"/>
              </a:solidFill>
              <a:ea typeface="+mj-ea"/>
            </a:endParaRPr>
          </a:p>
          <a:p>
            <a:pPr marL="0" indent="0">
              <a:spcBef>
                <a:spcPts val="0"/>
              </a:spcBef>
              <a:buNone/>
            </a:pPr>
            <a:r>
              <a:rPr lang="en-US" altLang="zh-CN" sz="2400" b="1">
                <a:solidFill>
                  <a:srgbClr val="000000"/>
                </a:solidFill>
                <a:ea typeface="+mj-ea"/>
              </a:rPr>
              <a:t>};</a:t>
            </a:r>
            <a:endParaRPr lang="en-US" altLang="zh-CN" sz="2400" b="1">
              <a:solidFill>
                <a:srgbClr val="000000"/>
              </a:solidFill>
              <a:ea typeface="+mj-ea"/>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pPr eaLnBrk="1" hangingPunct="1"/>
            <a:r>
              <a:rPr lang="zh-CN" altLang="en-US" b="1" dirty="0" smtClean="0"/>
              <a:t>例</a:t>
            </a:r>
            <a:r>
              <a:rPr lang="en-US" altLang="zh-CN" b="1" dirty="0" smtClean="0"/>
              <a:t>4-7</a:t>
            </a:r>
            <a:r>
              <a:rPr lang="zh-CN" altLang="en-US" b="1" dirty="0" smtClean="0"/>
              <a:t>（续）</a:t>
            </a:r>
            <a:endParaRPr lang="zh-CN" altLang="en-US" b="1" dirty="0" smtClean="0"/>
          </a:p>
        </p:txBody>
      </p:sp>
      <p:sp>
        <p:nvSpPr>
          <p:cNvPr id="76803" name="内容占位符 2"/>
          <p:cNvSpPr>
            <a:spLocks noGrp="1"/>
          </p:cNvSpPr>
          <p:nvPr>
            <p:ph idx="1"/>
          </p:nvPr>
        </p:nvSpPr>
        <p:spPr>
          <a:xfrm>
            <a:off x="285750" y="1340768"/>
            <a:ext cx="8686800" cy="3155230"/>
          </a:xfrm>
          <a:solidFill>
            <a:schemeClr val="tx1"/>
          </a:solidFill>
        </p:spPr>
        <p:txBody>
          <a:bodyPr/>
          <a:lstStyle/>
          <a:p>
            <a:pPr marL="0" indent="0">
              <a:spcBef>
                <a:spcPts val="0"/>
              </a:spcBef>
              <a:buNone/>
            </a:pPr>
            <a:r>
              <a:rPr lang="en-US" altLang="zh-CN" sz="2400" b="1" dirty="0" err="1">
                <a:solidFill>
                  <a:srgbClr val="000000"/>
                </a:solidFill>
                <a:ea typeface="+mj-ea"/>
              </a:rPr>
              <a:t>int</a:t>
            </a:r>
            <a:r>
              <a:rPr lang="en-US" altLang="zh-CN" sz="2400" b="1" dirty="0">
                <a:solidFill>
                  <a:srgbClr val="000000"/>
                </a:solidFill>
                <a:ea typeface="+mj-ea"/>
              </a:rPr>
              <a:t> main()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Student </a:t>
            </a:r>
            <a:r>
              <a:rPr lang="en-US" altLang="zh-CN" sz="2400" b="1" dirty="0" err="1">
                <a:solidFill>
                  <a:srgbClr val="000000"/>
                </a:solidFill>
                <a:ea typeface="+mj-ea"/>
              </a:rPr>
              <a:t>stu</a:t>
            </a:r>
            <a:r>
              <a:rPr lang="en-US" altLang="zh-CN" sz="2400" b="1" dirty="0">
                <a:solidFill>
                  <a:srgbClr val="000000"/>
                </a:solidFill>
                <a:ea typeface="+mj-ea"/>
              </a:rPr>
              <a:t> = { 97001, "Lin </a:t>
            </a:r>
            <a:r>
              <a:rPr lang="en-US" altLang="zh-CN" sz="2400" b="1" dirty="0" err="1">
                <a:solidFill>
                  <a:srgbClr val="000000"/>
                </a:solidFill>
                <a:ea typeface="+mj-ea"/>
              </a:rPr>
              <a:t>Lin</a:t>
            </a:r>
            <a:r>
              <a:rPr lang="en-US" altLang="zh-CN" sz="2400" b="1" dirty="0">
                <a:solidFill>
                  <a:srgbClr val="000000"/>
                </a:solidFill>
                <a:ea typeface="+mj-ea"/>
              </a:rPr>
              <a:t>", 'F', 19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a:t>
            </a:r>
            <a:r>
              <a:rPr lang="en-US" altLang="zh-CN" sz="2400" b="1" dirty="0" err="1">
                <a:solidFill>
                  <a:srgbClr val="000000"/>
                </a:solidFill>
                <a:ea typeface="+mj-ea"/>
              </a:rPr>
              <a:t>Num</a:t>
            </a:r>
            <a:r>
              <a:rPr lang="en-US" altLang="zh-CN" sz="2400" b="1" dirty="0">
                <a:solidFill>
                  <a:srgbClr val="000000"/>
                </a:solidFill>
                <a:ea typeface="+mj-ea"/>
              </a:rPr>
              <a:t>:  " &lt;&lt; </a:t>
            </a:r>
            <a:r>
              <a:rPr lang="en-US" altLang="zh-CN" sz="2400" b="1" dirty="0" err="1">
                <a:solidFill>
                  <a:srgbClr val="000000"/>
                </a:solidFill>
                <a:ea typeface="+mj-ea"/>
              </a:rPr>
              <a:t>stu.num</a:t>
            </a:r>
            <a:r>
              <a:rPr lang="en-US" altLang="zh-CN" sz="2400" b="1" dirty="0">
                <a:solidFill>
                  <a:srgbClr val="000000"/>
                </a:solidFill>
                <a:ea typeface="+mj-ea"/>
              </a:rPr>
              <a:t> &lt;&lt; </a:t>
            </a:r>
            <a:r>
              <a:rPr lang="en-US" altLang="zh-CN" sz="2400" b="1" dirty="0" err="1">
                <a:solidFill>
                  <a:srgbClr val="000000"/>
                </a:solidFill>
                <a:ea typeface="+mj-ea"/>
              </a:rPr>
              <a:t>endl</a:t>
            </a:r>
            <a:r>
              <a:rPr lang="en-US" altLang="zh-CN" sz="2400" b="1" dirty="0">
                <a:solidFill>
                  <a:srgbClr val="000000"/>
                </a:solidFill>
                <a:ea typeface="+mj-ea"/>
              </a:rPr>
              <a: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"Name: " &lt;&lt; stu.name &lt;&lt; </a:t>
            </a:r>
            <a:r>
              <a:rPr lang="en-US" altLang="zh-CN" sz="2400" b="1" dirty="0" err="1">
                <a:solidFill>
                  <a:srgbClr val="000000"/>
                </a:solidFill>
                <a:ea typeface="+mj-ea"/>
              </a:rPr>
              <a:t>endl</a:t>
            </a:r>
            <a:r>
              <a:rPr lang="en-US" altLang="zh-CN" sz="2400" b="1" dirty="0">
                <a:solidFill>
                  <a:srgbClr val="000000"/>
                </a:solidFill>
                <a:ea typeface="+mj-ea"/>
              </a:rPr>
              <a: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"Sex:  " &lt;&lt; </a:t>
            </a:r>
            <a:r>
              <a:rPr lang="en-US" altLang="zh-CN" sz="2400" b="1" dirty="0" err="1">
                <a:solidFill>
                  <a:srgbClr val="000000"/>
                </a:solidFill>
                <a:ea typeface="+mj-ea"/>
              </a:rPr>
              <a:t>stu.sex</a:t>
            </a:r>
            <a:r>
              <a:rPr lang="en-US" altLang="zh-CN" sz="2400" b="1" dirty="0">
                <a:solidFill>
                  <a:srgbClr val="000000"/>
                </a:solidFill>
                <a:ea typeface="+mj-ea"/>
              </a:rPr>
              <a:t> &lt;&lt; </a:t>
            </a:r>
            <a:r>
              <a:rPr lang="en-US" altLang="zh-CN" sz="2400" b="1" dirty="0" err="1">
                <a:solidFill>
                  <a:srgbClr val="000000"/>
                </a:solidFill>
                <a:ea typeface="+mj-ea"/>
              </a:rPr>
              <a:t>endl</a:t>
            </a:r>
            <a:r>
              <a:rPr lang="en-US" altLang="zh-CN" sz="2400" b="1" dirty="0">
                <a:solidFill>
                  <a:srgbClr val="000000"/>
                </a:solidFill>
                <a:ea typeface="+mj-ea"/>
              </a:rPr>
              <a: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cout</a:t>
            </a:r>
            <a:r>
              <a:rPr lang="en-US" altLang="zh-CN" sz="2400" b="1" dirty="0">
                <a:solidFill>
                  <a:srgbClr val="000000"/>
                </a:solidFill>
                <a:ea typeface="+mj-ea"/>
              </a:rPr>
              <a:t> &lt;&lt; "Age:  " &lt;&lt; </a:t>
            </a:r>
            <a:r>
              <a:rPr lang="en-US" altLang="zh-CN" sz="2400" b="1" dirty="0" err="1">
                <a:solidFill>
                  <a:srgbClr val="000000"/>
                </a:solidFill>
                <a:ea typeface="+mj-ea"/>
              </a:rPr>
              <a:t>stu.age</a:t>
            </a:r>
            <a:r>
              <a:rPr lang="en-US" altLang="zh-CN" sz="2400" b="1" dirty="0">
                <a:solidFill>
                  <a:srgbClr val="000000"/>
                </a:solidFill>
                <a:ea typeface="+mj-ea"/>
              </a:rPr>
              <a:t> &lt;&lt; </a:t>
            </a:r>
            <a:r>
              <a:rPr lang="en-US" altLang="zh-CN" sz="2400" b="1" dirty="0" err="1">
                <a:solidFill>
                  <a:srgbClr val="000000"/>
                </a:solidFill>
                <a:ea typeface="+mj-ea"/>
              </a:rPr>
              <a:t>endl</a:t>
            </a:r>
            <a:r>
              <a:rPr lang="en-US" altLang="zh-CN" sz="2400" b="1" dirty="0">
                <a:solidFill>
                  <a:srgbClr val="000000"/>
                </a:solidFill>
                <a:ea typeface="+mj-ea"/>
              </a:rPr>
              <a: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return 0;</a:t>
            </a:r>
            <a:endParaRPr lang="en-US" altLang="zh-CN" sz="2400" b="1" dirty="0">
              <a:solidFill>
                <a:srgbClr val="000000"/>
              </a:solidFill>
              <a:ea typeface="+mj-ea"/>
            </a:endParaRPr>
          </a:p>
          <a:p>
            <a:pPr marL="0" indent="0">
              <a:spcBef>
                <a:spcPts val="0"/>
              </a:spcBef>
              <a:buNone/>
            </a:pPr>
            <a:r>
              <a:rPr lang="en-US" altLang="zh-CN" sz="2400" b="1" dirty="0" smtClean="0">
                <a:solidFill>
                  <a:srgbClr val="000000"/>
                </a:solidFill>
                <a:ea typeface="+mj-ea"/>
              </a:rPr>
              <a:t>}</a:t>
            </a:r>
            <a:endParaRPr lang="en-US" altLang="zh-CN" sz="2400" b="1" dirty="0">
              <a:solidFill>
                <a:srgbClr val="000000"/>
              </a:solidFill>
              <a:ea typeface="+mj-ea"/>
            </a:endParaRPr>
          </a:p>
        </p:txBody>
      </p:sp>
      <p:sp>
        <p:nvSpPr>
          <p:cNvPr id="6" name="内容占位符 2"/>
          <p:cNvSpPr txBox="1"/>
          <p:nvPr/>
        </p:nvSpPr>
        <p:spPr>
          <a:xfrm>
            <a:off x="282000" y="4495998"/>
            <a:ext cx="8686800" cy="2101354"/>
          </a:xfrm>
          <a:prstGeom prst="rect">
            <a:avLst/>
          </a:prstGeom>
          <a:solidFill>
            <a:srgbClr val="000000"/>
          </a:solidFill>
        </p:spPr>
        <p:txBody>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Monotype Sorts" pitchFamily="2" charset="2"/>
              <a:buNone/>
            </a:pPr>
            <a:r>
              <a:rPr lang="zh-CN" altLang="en-US" sz="2400" b="1" dirty="0" smtClean="0">
                <a:ea typeface="+mj-ea"/>
              </a:rPr>
              <a:t>运行结果：</a:t>
            </a:r>
            <a:endParaRPr lang="en-US" altLang="zh-CN" sz="2400" b="1" dirty="0" smtClean="0">
              <a:ea typeface="+mj-ea"/>
            </a:endParaRPr>
          </a:p>
          <a:p>
            <a:pPr marL="0" indent="0">
              <a:spcBef>
                <a:spcPts val="0"/>
              </a:spcBef>
              <a:buFont typeface="Monotype Sorts" pitchFamily="2" charset="2"/>
              <a:buNone/>
            </a:pPr>
            <a:r>
              <a:rPr lang="en-US" altLang="zh-CN" sz="2400" b="1" dirty="0" err="1" smtClean="0">
                <a:ea typeface="+mj-ea"/>
              </a:rPr>
              <a:t>Num</a:t>
            </a:r>
            <a:r>
              <a:rPr lang="en-US" altLang="zh-CN" sz="2400" b="1" dirty="0" smtClean="0">
                <a:ea typeface="+mj-ea"/>
              </a:rPr>
              <a:t>:  97001</a:t>
            </a:r>
            <a:endParaRPr lang="en-US" altLang="zh-CN" sz="2400" b="1" dirty="0" smtClean="0">
              <a:ea typeface="+mj-ea"/>
            </a:endParaRPr>
          </a:p>
          <a:p>
            <a:pPr marL="0" indent="0">
              <a:spcBef>
                <a:spcPts val="0"/>
              </a:spcBef>
              <a:buFont typeface="Monotype Sorts" pitchFamily="2" charset="2"/>
              <a:buNone/>
            </a:pPr>
            <a:r>
              <a:rPr lang="en-US" altLang="zh-CN" sz="2400" b="1" dirty="0" smtClean="0">
                <a:ea typeface="+mj-ea"/>
              </a:rPr>
              <a:t>Name: Lin </a:t>
            </a:r>
            <a:r>
              <a:rPr lang="en-US" altLang="zh-CN" sz="2400" b="1" dirty="0" err="1" smtClean="0">
                <a:ea typeface="+mj-ea"/>
              </a:rPr>
              <a:t>Lin</a:t>
            </a:r>
            <a:endParaRPr lang="en-US" altLang="zh-CN" sz="2400" b="1" dirty="0" smtClean="0">
              <a:ea typeface="+mj-ea"/>
            </a:endParaRPr>
          </a:p>
          <a:p>
            <a:pPr marL="0" indent="0">
              <a:spcBef>
                <a:spcPts val="0"/>
              </a:spcBef>
              <a:buFont typeface="Monotype Sorts" pitchFamily="2" charset="2"/>
              <a:buNone/>
            </a:pPr>
            <a:r>
              <a:rPr lang="en-US" altLang="zh-CN" sz="2400" b="1" dirty="0" smtClean="0">
                <a:ea typeface="+mj-ea"/>
              </a:rPr>
              <a:t>Sex:  F</a:t>
            </a:r>
            <a:endParaRPr lang="en-US" altLang="zh-CN" sz="2400" b="1" dirty="0" smtClean="0">
              <a:ea typeface="+mj-ea"/>
            </a:endParaRPr>
          </a:p>
          <a:p>
            <a:pPr marL="0" indent="0">
              <a:spcBef>
                <a:spcPts val="0"/>
              </a:spcBef>
              <a:buFont typeface="Monotype Sorts" pitchFamily="2" charset="2"/>
              <a:buNone/>
            </a:pPr>
            <a:r>
              <a:rPr lang="en-US" altLang="zh-CN" sz="2400" b="1" dirty="0" smtClean="0">
                <a:ea typeface="+mj-ea"/>
              </a:rPr>
              <a:t>Age:  19</a:t>
            </a:r>
            <a:endParaRPr lang="en-US" altLang="zh-CN" sz="2400" b="1" dirty="0">
              <a:ea typeface="+mj-ea"/>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4.0 </a:t>
            </a:r>
            <a:r>
              <a:rPr lang="zh-CN" altLang="en-US" sz="4400" b="1">
                <a:latin typeface="Times New Roman" panose="02020603050405020304" pitchFamily="18" charset="0"/>
                <a:ea typeface="隶书" panose="02010509060101010101" pitchFamily="49" charset="-122"/>
              </a:rPr>
              <a:t>结构体的</a:t>
            </a:r>
            <a:r>
              <a:rPr lang="zh-CN" altLang="en-US" sz="4400" b="1">
                <a:latin typeface="Times New Roman" panose="02020603050405020304" pitchFamily="18" charset="0"/>
                <a:ea typeface="隶书" panose="02010509060101010101" pitchFamily="49" charset="-122"/>
              </a:rPr>
              <a:t>问题</a:t>
            </a:r>
            <a:endParaRPr lang="zh-CN" altLang="en-US" sz="4400" b="1">
              <a:latin typeface="Times New Roman" panose="02020603050405020304" pitchFamily="18" charset="0"/>
              <a:ea typeface="隶书" panose="02010509060101010101" pitchFamily="49" charset="-122"/>
            </a:endParaRPr>
          </a:p>
        </p:txBody>
      </p:sp>
      <p:sp>
        <p:nvSpPr>
          <p:cNvPr id="15363" name="内容占位符 2"/>
          <p:cNvSpPr>
            <a:spLocks noGrp="1"/>
          </p:cNvSpPr>
          <p:nvPr>
            <p:ph idx="1"/>
          </p:nvPr>
        </p:nvSpPr>
        <p:spPr>
          <a:xfrm>
            <a:off x="611505" y="1052830"/>
            <a:ext cx="7787005" cy="1071245"/>
          </a:xfrm>
        </p:spPr>
        <p:txBody>
          <a:bodyPr/>
          <a:lstStyle/>
          <a:p>
            <a:pPr eaLnBrk="1" hangingPunct="1">
              <a:lnSpc>
                <a:spcPct val="130000"/>
              </a:lnSpc>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如果规定总分在</a:t>
            </a:r>
            <a:r>
              <a:rPr lang="en-US" altLang="zh-CN" sz="2400" b="1" dirty="0" smtClean="0">
                <a:latin typeface="微软雅黑" panose="020B0503020204020204" pitchFamily="34" charset="-122"/>
                <a:ea typeface="微软雅黑" panose="020B0503020204020204" pitchFamily="34" charset="-122"/>
              </a:rPr>
              <a:t>440</a:t>
            </a:r>
            <a:r>
              <a:rPr lang="zh-CN" altLang="en-US" sz="2400" b="1" dirty="0" smtClean="0">
                <a:latin typeface="微软雅黑" panose="020B0503020204020204" pitchFamily="34" charset="-122"/>
                <a:ea typeface="微软雅黑" panose="020B0503020204020204" pitchFamily="34" charset="-122"/>
              </a:rPr>
              <a:t>分以上的是优等生，如何判断某个同学是否</a:t>
            </a:r>
            <a:r>
              <a:rPr lang="zh-CN" altLang="en-US" sz="2400" b="1" dirty="0" smtClean="0">
                <a:latin typeface="微软雅黑" panose="020B0503020204020204" pitchFamily="34" charset="-122"/>
                <a:ea typeface="微软雅黑" panose="020B0503020204020204" pitchFamily="34" charset="-122"/>
              </a:rPr>
              <a:t>优等生？</a:t>
            </a:r>
            <a:endParaRPr lang="zh-CN" altLang="en-US" sz="2400" b="1" dirty="0" smtClean="0">
              <a:latin typeface="微软雅黑" panose="020B0503020204020204" pitchFamily="34" charset="-122"/>
              <a:ea typeface="微软雅黑" panose="020B0503020204020204" pitchFamily="34" charset="-122"/>
            </a:endParaRPr>
          </a:p>
        </p:txBody>
      </p:sp>
      <p:sp>
        <p:nvSpPr>
          <p:cNvPr id="91" name="文本框 90"/>
          <p:cNvSpPr txBox="1"/>
          <p:nvPr/>
        </p:nvSpPr>
        <p:spPr>
          <a:xfrm>
            <a:off x="899160" y="5589270"/>
            <a:ext cx="7488555" cy="121539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2000" dirty="0" smtClean="0">
                <a:solidFill>
                  <a:srgbClr val="FF0000"/>
                </a:solidFill>
              </a:rPr>
              <a:t>问题</a:t>
            </a:r>
            <a:r>
              <a:rPr lang="zh-CN" altLang="en-US" sz="2000" dirty="0" smtClean="0"/>
              <a:t>：每个学生的行为（比如：是否为优等生？学业是否存在困难？是否偏科？）没有与学生进行封装，每次都需要单独调用</a:t>
            </a:r>
            <a:r>
              <a:rPr lang="zh-CN" altLang="en-US" sz="2000" dirty="0" smtClean="0"/>
              <a:t>函数。</a:t>
            </a:r>
            <a:endParaRPr lang="zh-CN" altLang="en-US" sz="2000" dirty="0" smtClean="0"/>
          </a:p>
        </p:txBody>
      </p:sp>
      <p:sp>
        <p:nvSpPr>
          <p:cNvPr id="4" name="文本框 3"/>
          <p:cNvSpPr txBox="1"/>
          <p:nvPr/>
        </p:nvSpPr>
        <p:spPr>
          <a:xfrm>
            <a:off x="1562735" y="2888615"/>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
        <p:nvSpPr>
          <p:cNvPr id="5" name="文本框 4"/>
          <p:cNvSpPr txBox="1"/>
          <p:nvPr>
            <p:custDataLst>
              <p:tags r:id="rId1"/>
            </p:custDataLst>
          </p:nvPr>
        </p:nvSpPr>
        <p:spPr>
          <a:xfrm>
            <a:off x="1475740" y="2204720"/>
            <a:ext cx="5478780" cy="3303270"/>
          </a:xfrm>
          <a:prstGeom prst="rect">
            <a:avLst/>
          </a:prstGeom>
          <a:noFill/>
          <a:ln w="28575" cmpd="sng" algn="ctr">
            <a:solidFill>
              <a:srgbClr val="CB1522"/>
            </a:solidFill>
            <a:prstDash val="solid"/>
            <a:miter lim="800000"/>
          </a:ln>
        </p:spPr>
        <p:txBody>
          <a:bodyPr wrap="square" anchor="t">
            <a:noAutofit/>
          </a:bodyPr>
          <a:p>
            <a:pPr algn="l" eaLnBrk="1" hangingPunct="1">
              <a:lnSpc>
                <a:spcPct val="150000"/>
              </a:lnSpc>
              <a:spcBef>
                <a:spcPct val="50000"/>
              </a:spcBef>
            </a:pPr>
            <a:r>
              <a:rPr lang="zh-CN" altLang="en-US" sz="1800" dirty="0" smtClean="0"/>
              <a:t>bool excent(Student s) {</a:t>
            </a:r>
            <a:endParaRPr lang="zh-CN" altLang="en-US" sz="1800" dirty="0" smtClean="0"/>
          </a:p>
          <a:p>
            <a:pPr algn="l" eaLnBrk="1" hangingPunct="1">
              <a:lnSpc>
                <a:spcPct val="150000"/>
              </a:lnSpc>
              <a:spcBef>
                <a:spcPct val="50000"/>
              </a:spcBef>
            </a:pPr>
            <a:r>
              <a:rPr lang="zh-CN" altLang="en-US" sz="1800" dirty="0" smtClean="0"/>
              <a:t>	if (s.total &gt; 440)</a:t>
            </a:r>
            <a:endParaRPr lang="zh-CN" altLang="en-US" sz="1800" dirty="0" smtClean="0"/>
          </a:p>
          <a:p>
            <a:pPr algn="l" eaLnBrk="1" hangingPunct="1">
              <a:lnSpc>
                <a:spcPct val="150000"/>
              </a:lnSpc>
              <a:spcBef>
                <a:spcPct val="50000"/>
              </a:spcBef>
            </a:pPr>
            <a:r>
              <a:rPr lang="zh-CN" altLang="en-US" sz="1800" dirty="0" smtClean="0"/>
              <a:t>		return true;</a:t>
            </a:r>
            <a:endParaRPr lang="zh-CN" altLang="en-US" sz="1800" dirty="0" smtClean="0"/>
          </a:p>
          <a:p>
            <a:pPr algn="l" eaLnBrk="1" hangingPunct="1">
              <a:lnSpc>
                <a:spcPct val="150000"/>
              </a:lnSpc>
              <a:spcBef>
                <a:spcPct val="50000"/>
              </a:spcBef>
            </a:pPr>
            <a:r>
              <a:rPr lang="zh-CN" altLang="en-US" sz="1800" dirty="0" smtClean="0"/>
              <a:t>	else</a:t>
            </a:r>
            <a:endParaRPr lang="zh-CN" altLang="en-US" sz="1800" dirty="0" smtClean="0"/>
          </a:p>
          <a:p>
            <a:pPr algn="l" eaLnBrk="1" hangingPunct="1">
              <a:lnSpc>
                <a:spcPct val="150000"/>
              </a:lnSpc>
              <a:spcBef>
                <a:spcPct val="50000"/>
              </a:spcBef>
            </a:pPr>
            <a:r>
              <a:rPr lang="zh-CN" altLang="en-US" sz="1800" dirty="0" smtClean="0"/>
              <a:t>		return false;</a:t>
            </a:r>
            <a:endParaRPr lang="zh-CN" altLang="en-US" sz="1800" dirty="0" smtClean="0"/>
          </a:p>
          <a:p>
            <a:pPr algn="l" eaLnBrk="1" hangingPunct="1">
              <a:lnSpc>
                <a:spcPct val="150000"/>
              </a:lnSpc>
              <a:spcBef>
                <a:spcPct val="50000"/>
              </a:spcBef>
            </a:pPr>
            <a:r>
              <a:rPr lang="zh-CN" altLang="en-US" sz="1800" dirty="0" smtClean="0"/>
              <a:t>}</a:t>
            </a:r>
            <a:endParaRPr lang="zh-CN" altLang="en-US" sz="1800" dirty="0"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4.0 </a:t>
            </a:r>
            <a:r>
              <a:rPr lang="zh-CN" altLang="en-US" sz="4400" b="1">
                <a:latin typeface="Times New Roman" panose="02020603050405020304" pitchFamily="18" charset="0"/>
                <a:ea typeface="隶书" panose="02010509060101010101" pitchFamily="49" charset="-122"/>
              </a:rPr>
              <a:t>行为整合到自定义结构</a:t>
            </a:r>
            <a:r>
              <a:rPr lang="zh-CN" altLang="en-US" sz="4400" b="1">
                <a:latin typeface="Times New Roman" panose="02020603050405020304" pitchFamily="18" charset="0"/>
                <a:ea typeface="隶书" panose="02010509060101010101" pitchFamily="49" charset="-122"/>
              </a:rPr>
              <a:t>中</a:t>
            </a:r>
            <a:endParaRPr lang="zh-CN" altLang="en-US" sz="4400" b="1">
              <a:latin typeface="Times New Roman" panose="02020603050405020304" pitchFamily="18" charset="0"/>
              <a:ea typeface="隶书" panose="02010509060101010101" pitchFamily="49" charset="-122"/>
            </a:endParaRPr>
          </a:p>
        </p:txBody>
      </p:sp>
      <p:sp>
        <p:nvSpPr>
          <p:cNvPr id="15363" name="内容占位符 2"/>
          <p:cNvSpPr>
            <a:spLocks noGrp="1"/>
          </p:cNvSpPr>
          <p:nvPr>
            <p:ph idx="1"/>
          </p:nvPr>
        </p:nvSpPr>
        <p:spPr>
          <a:xfrm>
            <a:off x="323215" y="1901825"/>
            <a:ext cx="2804795" cy="848995"/>
          </a:xfrm>
        </p:spPr>
        <p:txBody>
          <a:bodyPr/>
          <a:lstStyle/>
          <a:p>
            <a:pPr eaLnBrk="1" hangingPunct="1">
              <a:lnSpc>
                <a:spcPct val="130000"/>
              </a:lnSpc>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能否将行为整合到</a:t>
            </a:r>
            <a:r>
              <a:rPr lang="zh-CN" altLang="en-US" sz="2400" b="1" dirty="0" smtClean="0">
                <a:latin typeface="微软雅黑" panose="020B0503020204020204" pitchFamily="34" charset="-122"/>
                <a:ea typeface="微软雅黑" panose="020B0503020204020204" pitchFamily="34" charset="-122"/>
                <a:sym typeface="+mn-ea"/>
              </a:rPr>
              <a:t>自定义类型中</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p:txBody>
      </p:sp>
      <p:sp>
        <p:nvSpPr>
          <p:cNvPr id="91" name="文本框 90"/>
          <p:cNvSpPr txBox="1"/>
          <p:nvPr/>
        </p:nvSpPr>
        <p:spPr>
          <a:xfrm>
            <a:off x="107315" y="2996565"/>
            <a:ext cx="3296920" cy="1215390"/>
          </a:xfrm>
          <a:prstGeom prst="rect">
            <a:avLst/>
          </a:prstGeom>
          <a:noFill/>
          <a:ln w="9525" algn="ctr">
            <a:noFill/>
            <a:miter lim="800000"/>
          </a:ln>
        </p:spPr>
        <p:txBody>
          <a:bodyPr wrap="square" anchor="ctr"/>
          <a:p>
            <a:pPr algn="l" eaLnBrk="1" hangingPunct="1">
              <a:lnSpc>
                <a:spcPct val="150000"/>
              </a:lnSpc>
              <a:spcBef>
                <a:spcPct val="50000"/>
              </a:spcBef>
            </a:pPr>
            <a:r>
              <a:rPr lang="zh-CN" altLang="en-US" sz="2000" dirty="0" smtClean="0">
                <a:solidFill>
                  <a:srgbClr val="FF0000"/>
                </a:solidFill>
              </a:rPr>
              <a:t>解决方案</a:t>
            </a:r>
            <a:r>
              <a:rPr lang="zh-CN" altLang="en-US" sz="2000" dirty="0" smtClean="0"/>
              <a:t>：行为与数据</a:t>
            </a:r>
            <a:r>
              <a:rPr lang="zh-CN" altLang="en-US" sz="2000" dirty="0" smtClean="0"/>
              <a:t>耦合。</a:t>
            </a:r>
            <a:endParaRPr lang="zh-CN" altLang="en-US" sz="2000" dirty="0" smtClean="0"/>
          </a:p>
        </p:txBody>
      </p:sp>
      <p:sp>
        <p:nvSpPr>
          <p:cNvPr id="2" name="文本框 1"/>
          <p:cNvSpPr txBox="1"/>
          <p:nvPr/>
        </p:nvSpPr>
        <p:spPr>
          <a:xfrm>
            <a:off x="3636010" y="1340485"/>
            <a:ext cx="4634230" cy="5113655"/>
          </a:xfrm>
          <a:prstGeom prst="rect">
            <a:avLst/>
          </a:prstGeom>
          <a:noFill/>
          <a:ln w="28575" cmpd="sng" algn="ctr">
            <a:solidFill>
              <a:schemeClr val="accent1">
                <a:shade val="50000"/>
              </a:schemeClr>
            </a:solidFill>
            <a:prstDash val="solid"/>
            <a:miter lim="800000"/>
          </a:ln>
        </p:spPr>
        <p:txBody>
          <a:bodyPr anchor="ctr"/>
          <a:p>
            <a:pPr algn="l" eaLnBrk="1" hangingPunct="1">
              <a:lnSpc>
                <a:spcPct val="150000"/>
              </a:lnSpc>
              <a:spcBef>
                <a:spcPct val="50000"/>
              </a:spcBef>
            </a:pPr>
            <a:r>
              <a:rPr lang="en-US" altLang="zh-CN" sz="1800" dirty="0" smtClean="0"/>
              <a:t>class </a:t>
            </a:r>
            <a:r>
              <a:rPr lang="zh-CN" altLang="en-US" sz="1800" dirty="0" smtClean="0"/>
              <a:t>Student4 {</a:t>
            </a:r>
            <a:endParaRPr lang="zh-CN" altLang="en-US" sz="1800" dirty="0" smtClean="0"/>
          </a:p>
          <a:p>
            <a:pPr algn="l" eaLnBrk="1" hangingPunct="1">
              <a:lnSpc>
                <a:spcPct val="150000"/>
              </a:lnSpc>
              <a:spcBef>
                <a:spcPct val="50000"/>
              </a:spcBef>
            </a:pPr>
            <a:r>
              <a:rPr lang="zh-CN" altLang="en-US" sz="1800" dirty="0" smtClean="0"/>
              <a:t> </a:t>
            </a:r>
            <a:r>
              <a:rPr lang="en-US" altLang="zh-CN" sz="1800" dirty="0" smtClean="0"/>
              <a:t>              </a:t>
            </a:r>
            <a:r>
              <a:rPr lang="zh-CN" altLang="en-US" sz="1800" dirty="0" smtClean="0"/>
              <a:t>double total;</a:t>
            </a:r>
            <a:endParaRPr lang="zh-CN" altLang="en-US" sz="1800" dirty="0" smtClean="0"/>
          </a:p>
          <a:p>
            <a:pPr algn="l" eaLnBrk="1" hangingPunct="1">
              <a:lnSpc>
                <a:spcPct val="150000"/>
              </a:lnSpc>
              <a:spcBef>
                <a:spcPct val="50000"/>
              </a:spcBef>
            </a:pPr>
            <a:endParaRPr lang="zh-CN" altLang="en-US" sz="1800" dirty="0" smtClean="0"/>
          </a:p>
          <a:p>
            <a:pPr algn="l" eaLnBrk="1" hangingPunct="1">
              <a:lnSpc>
                <a:spcPct val="150000"/>
              </a:lnSpc>
              <a:spcBef>
                <a:spcPct val="50000"/>
              </a:spcBef>
            </a:pPr>
            <a:r>
              <a:rPr lang="zh-CN" altLang="en-US" sz="1800" dirty="0" smtClean="0"/>
              <a:t>	bool isExcent() {</a:t>
            </a:r>
            <a:endParaRPr lang="zh-CN" altLang="en-US" sz="1800" dirty="0" smtClean="0"/>
          </a:p>
          <a:p>
            <a:pPr algn="l" eaLnBrk="1" hangingPunct="1">
              <a:lnSpc>
                <a:spcPct val="150000"/>
              </a:lnSpc>
              <a:spcBef>
                <a:spcPct val="50000"/>
              </a:spcBef>
            </a:pPr>
            <a:r>
              <a:rPr lang="zh-CN" altLang="en-US" sz="1800" dirty="0" smtClean="0"/>
              <a:t>		if (total &gt; 440)</a:t>
            </a:r>
            <a:endParaRPr lang="zh-CN" altLang="en-US" sz="1800" dirty="0" smtClean="0"/>
          </a:p>
          <a:p>
            <a:pPr algn="l" eaLnBrk="1" hangingPunct="1">
              <a:lnSpc>
                <a:spcPct val="150000"/>
              </a:lnSpc>
              <a:spcBef>
                <a:spcPct val="50000"/>
              </a:spcBef>
            </a:pPr>
            <a:r>
              <a:rPr lang="zh-CN" altLang="en-US" sz="1800" dirty="0" smtClean="0"/>
              <a:t>			return true;</a:t>
            </a:r>
            <a:endParaRPr lang="zh-CN" altLang="en-US" sz="1800" dirty="0" smtClean="0"/>
          </a:p>
          <a:p>
            <a:pPr algn="l" eaLnBrk="1" hangingPunct="1">
              <a:lnSpc>
                <a:spcPct val="150000"/>
              </a:lnSpc>
              <a:spcBef>
                <a:spcPct val="50000"/>
              </a:spcBef>
            </a:pPr>
            <a:r>
              <a:rPr lang="zh-CN" altLang="en-US" sz="1800" dirty="0" smtClean="0"/>
              <a:t>		else</a:t>
            </a:r>
            <a:endParaRPr lang="zh-CN" altLang="en-US" sz="1800" dirty="0" smtClean="0"/>
          </a:p>
          <a:p>
            <a:pPr algn="l" eaLnBrk="1" hangingPunct="1">
              <a:lnSpc>
                <a:spcPct val="150000"/>
              </a:lnSpc>
              <a:spcBef>
                <a:spcPct val="50000"/>
              </a:spcBef>
            </a:pPr>
            <a:r>
              <a:rPr lang="zh-CN" altLang="en-US" sz="1800" dirty="0" smtClean="0"/>
              <a:t>			return false;</a:t>
            </a:r>
            <a:endParaRPr lang="zh-CN" altLang="en-US" sz="1800" dirty="0" smtClean="0"/>
          </a:p>
          <a:p>
            <a:pPr algn="l" eaLnBrk="1" hangingPunct="1">
              <a:lnSpc>
                <a:spcPct val="150000"/>
              </a:lnSpc>
              <a:spcBef>
                <a:spcPct val="50000"/>
              </a:spcBef>
            </a:pPr>
            <a:r>
              <a:rPr lang="zh-CN" altLang="en-US" sz="1800" dirty="0" smtClean="0"/>
              <a:t>	}</a:t>
            </a:r>
            <a:endParaRPr lang="zh-CN" altLang="en-US" sz="1800" dirty="0" smtClean="0"/>
          </a:p>
          <a:p>
            <a:pPr algn="l" eaLnBrk="1" hangingPunct="1">
              <a:lnSpc>
                <a:spcPct val="150000"/>
              </a:lnSpc>
              <a:spcBef>
                <a:spcPct val="50000"/>
              </a:spcBef>
            </a:pPr>
            <a:r>
              <a:rPr lang="zh-CN" altLang="en-US" sz="1800" dirty="0" smtClean="0"/>
              <a:t>};</a:t>
            </a:r>
            <a:endParaRPr lang="zh-CN" altLang="en-US" sz="1800" dirty="0" smtClean="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107504" y="1556792"/>
            <a:ext cx="8820472" cy="151216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cene3d>
              <a:camera prst="orthographicFront"/>
              <a:lightRig rig="threePt" dir="t"/>
            </a:scene3d>
            <a:sp3d extrusionH="57150">
              <a:bevelT w="31750" prst="riblet"/>
              <a:bevelB w="38100" h="38100" prst="angle"/>
            </a:sp3d>
          </a:bodyPr>
          <a:lstStyle/>
          <a:p>
            <a:pPr marL="1143000" indent="-1143000" algn="ctr">
              <a:buSzPct val="250000"/>
              <a:buFont typeface="+mj-lt"/>
              <a:buAutoNum type="arabicPeriod"/>
            </a:pPr>
            <a:r>
              <a:rPr lang="en-US" altLang="zh-CN" sz="6000" b="1" dirty="0" smtClean="0">
                <a:ea typeface="华文彩云" panose="02010800040101010101" pitchFamily="2" charset="-122"/>
              </a:rPr>
              <a:t>   OOP</a:t>
            </a:r>
            <a:r>
              <a:rPr lang="zh-CN" altLang="en-US" sz="6000" b="1" dirty="0" smtClean="0">
                <a:ea typeface="华文彩云" panose="02010800040101010101" pitchFamily="2" charset="-122"/>
              </a:rPr>
              <a:t>的</a:t>
            </a:r>
            <a:r>
              <a:rPr lang="en-US" altLang="zh-CN" sz="6000" b="1" dirty="0" smtClean="0">
                <a:ea typeface="华文彩云" panose="02010800040101010101" pitchFamily="2" charset="-122"/>
              </a:rPr>
              <a:t>4</a:t>
            </a:r>
            <a:r>
              <a:rPr lang="zh-CN" altLang="en-US" sz="6000" b="1" dirty="0" smtClean="0">
                <a:ea typeface="华文彩云" panose="02010800040101010101" pitchFamily="2" charset="-122"/>
              </a:rPr>
              <a:t>个基本特点</a:t>
            </a:r>
            <a:endParaRPr lang="zh-CN" altLang="en-US" sz="6000" dirty="0"/>
          </a:p>
        </p:txBody>
      </p:sp>
      <p:sp>
        <p:nvSpPr>
          <p:cNvPr id="3" name="Rectangle 5"/>
          <p:cNvSpPr>
            <a:spLocks noChangeArrowheads="1"/>
          </p:cNvSpPr>
          <p:nvPr/>
        </p:nvSpPr>
        <p:spPr bwMode="auto">
          <a:xfrm>
            <a:off x="755576" y="3501008"/>
            <a:ext cx="7848872" cy="782662"/>
          </a:xfrm>
          <a:prstGeom prst="rect">
            <a:avLst/>
          </a:prstGeom>
          <a:noFill/>
          <a:ln w="9525">
            <a:noFill/>
            <a:miter lim="800000"/>
          </a:ln>
        </p:spPr>
        <p:txBody>
          <a:bodyPr anchor="b"/>
          <a:lstStyle/>
          <a:p>
            <a:pPr algn="ctr" eaLnBrk="1" hangingPunct="1"/>
            <a:r>
              <a:rPr lang="zh-CN" altLang="en-US" sz="4800" dirty="0" smtClean="0">
                <a:latin typeface="黑体" panose="02010609060101010101" pitchFamily="49" charset="-122"/>
                <a:ea typeface="黑体" panose="02010609060101010101" pitchFamily="49" charset="-122"/>
              </a:rPr>
              <a:t>抽象、封装、继承、多态</a:t>
            </a:r>
            <a:endParaRPr lang="zh-CN" altLang="en-US" sz="480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4.1.1 </a:t>
            </a:r>
            <a:r>
              <a:rPr lang="zh-CN" altLang="en-US" sz="4400" b="1">
                <a:latin typeface="Times New Roman" panose="02020603050405020304" pitchFamily="18" charset="0"/>
                <a:ea typeface="隶书" panose="02010509060101010101" pitchFamily="49" charset="-122"/>
              </a:rPr>
              <a:t>抽象</a:t>
            </a:r>
            <a:endParaRPr lang="zh-CN" altLang="en-US" sz="4400" b="1">
              <a:latin typeface="Times New Roman" panose="02020603050405020304" pitchFamily="18" charset="0"/>
              <a:ea typeface="隶书" panose="02010509060101010101" pitchFamily="49" charset="-122"/>
            </a:endParaRPr>
          </a:p>
        </p:txBody>
      </p:sp>
      <p:sp>
        <p:nvSpPr>
          <p:cNvPr id="15363" name="内容占位符 2"/>
          <p:cNvSpPr>
            <a:spLocks noGrp="1"/>
          </p:cNvSpPr>
          <p:nvPr>
            <p:ph idx="1"/>
          </p:nvPr>
        </p:nvSpPr>
        <p:spPr>
          <a:xfrm>
            <a:off x="611560" y="1340768"/>
            <a:ext cx="7886700" cy="4351338"/>
          </a:xfrm>
        </p:spPr>
        <p:txBody>
          <a:bodyPr/>
          <a:lstStyle/>
          <a:p>
            <a:pPr eaLnBrk="1" hangingPunct="1">
              <a:lnSpc>
                <a:spcPct val="130000"/>
              </a:lnSpc>
              <a:buClr>
                <a:srgbClr val="00B0F0"/>
              </a:buClr>
              <a:buFont typeface="Wingdings" panose="05000000000000000000" pitchFamily="2" charset="2"/>
              <a:buChar char="u"/>
            </a:pPr>
            <a:r>
              <a:rPr lang="zh-CN" altLang="en-US" sz="2400" b="1" dirty="0" smtClean="0">
                <a:solidFill>
                  <a:srgbClr val="FFFF00"/>
                </a:solidFill>
                <a:latin typeface="微软雅黑" panose="020B0503020204020204" pitchFamily="34" charset="-122"/>
                <a:ea typeface="微软雅黑" panose="020B0503020204020204" pitchFamily="34" charset="-122"/>
              </a:rPr>
              <a:t>抽象是对具体对象（问题）进行概括，</a:t>
            </a:r>
            <a:r>
              <a:rPr lang="zh-CN" altLang="en-US" sz="2400" b="1" dirty="0" smtClean="0">
                <a:latin typeface="微软雅黑" panose="020B0503020204020204" pitchFamily="34" charset="-122"/>
                <a:ea typeface="微软雅黑" panose="020B0503020204020204" pitchFamily="34" charset="-122"/>
              </a:rPr>
              <a:t>抽出这一类对象的公共性质并加以描述的过程。</a:t>
            </a:r>
            <a:endParaRPr lang="zh-CN" altLang="en-US" sz="2400" b="1" dirty="0" smtClean="0">
              <a:latin typeface="微软雅黑" panose="020B0503020204020204" pitchFamily="34" charset="-122"/>
              <a:ea typeface="微软雅黑" panose="020B0503020204020204" pitchFamily="34" charset="-122"/>
            </a:endParaRPr>
          </a:p>
          <a:p>
            <a:pPr marL="909955" lvl="1" indent="-342900" eaLnBrk="1" hangingPunct="1">
              <a:lnSpc>
                <a:spcPct val="130000"/>
              </a:lnSpc>
              <a:buClr>
                <a:srgbClr val="00B0F0"/>
              </a:buClr>
              <a:buFont typeface="Wingdings" panose="05000000000000000000" pitchFamily="2" charset="2"/>
              <a:buChar char="ü"/>
            </a:pPr>
            <a:r>
              <a:rPr lang="zh-CN" altLang="en-US" sz="2400" b="1" dirty="0" smtClean="0">
                <a:latin typeface="微软雅黑" panose="020B0503020204020204" pitchFamily="34" charset="-122"/>
                <a:ea typeface="微软雅黑" panose="020B0503020204020204" pitchFamily="34" charset="-122"/>
              </a:rPr>
              <a:t>先注意问题的本质及描述，其次是实现过程或细节。</a:t>
            </a:r>
            <a:endParaRPr lang="zh-CN" altLang="en-US" sz="2400" b="1" dirty="0" smtClean="0">
              <a:latin typeface="微软雅黑" panose="020B0503020204020204" pitchFamily="34" charset="-122"/>
              <a:ea typeface="微软雅黑" panose="020B0503020204020204" pitchFamily="34" charset="-122"/>
            </a:endParaRPr>
          </a:p>
          <a:p>
            <a:pPr marL="909955" lvl="1" indent="-342900" eaLnBrk="1" hangingPunct="1">
              <a:lnSpc>
                <a:spcPct val="130000"/>
              </a:lnSpc>
              <a:buClr>
                <a:srgbClr val="00B0F0"/>
              </a:buClr>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数据抽象：</a:t>
            </a:r>
            <a:r>
              <a:rPr lang="zh-CN" altLang="en-US" sz="2400" b="1" dirty="0" smtClean="0">
                <a:latin typeface="微软雅黑" panose="020B0503020204020204" pitchFamily="34" charset="-122"/>
                <a:ea typeface="微软雅黑" panose="020B0503020204020204" pitchFamily="34" charset="-122"/>
              </a:rPr>
              <a:t>描述某类对象的属性或状态（对象相互区别的物理量）。</a:t>
            </a:r>
            <a:endParaRPr lang="zh-CN" altLang="en-US" sz="2400" b="1" dirty="0" smtClean="0">
              <a:latin typeface="微软雅黑" panose="020B0503020204020204" pitchFamily="34" charset="-122"/>
              <a:ea typeface="微软雅黑" panose="020B0503020204020204" pitchFamily="34" charset="-122"/>
            </a:endParaRPr>
          </a:p>
          <a:p>
            <a:pPr marL="909955" lvl="1" indent="-342900" eaLnBrk="1" hangingPunct="1">
              <a:lnSpc>
                <a:spcPct val="130000"/>
              </a:lnSpc>
              <a:buClr>
                <a:srgbClr val="00B0F0"/>
              </a:buClr>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代码抽象：</a:t>
            </a:r>
            <a:r>
              <a:rPr lang="zh-CN" altLang="en-US" sz="2400" b="1" dirty="0" smtClean="0">
                <a:latin typeface="微软雅黑" panose="020B0503020204020204" pitchFamily="34" charset="-122"/>
                <a:ea typeface="微软雅黑" panose="020B0503020204020204" pitchFamily="34" charset="-122"/>
              </a:rPr>
              <a:t>描述某类对象的共有的行为特征或具有的功能。</a:t>
            </a:r>
            <a:endParaRPr lang="zh-CN" altLang="en-US" sz="2400" b="1" dirty="0" smtClean="0">
              <a:latin typeface="微软雅黑" panose="020B0503020204020204" pitchFamily="34" charset="-122"/>
              <a:ea typeface="微软雅黑" panose="020B0503020204020204" pitchFamily="34" charset="-122"/>
            </a:endParaRPr>
          </a:p>
          <a:p>
            <a:pPr marL="909955" lvl="1" indent="-342900" eaLnBrk="1" hangingPunct="1">
              <a:lnSpc>
                <a:spcPct val="130000"/>
              </a:lnSpc>
              <a:buClr>
                <a:srgbClr val="00B0F0"/>
              </a:buClr>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抽象的实现：</a:t>
            </a:r>
            <a:r>
              <a:rPr lang="zh-CN" altLang="en-US" sz="2400" b="1" dirty="0" smtClean="0">
                <a:latin typeface="微软雅黑" panose="020B0503020204020204" pitchFamily="34" charset="-122"/>
                <a:ea typeface="微软雅黑" panose="020B0503020204020204" pitchFamily="34" charset="-122"/>
              </a:rPr>
              <a:t>通过类的声明。</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pPr eaLnBrk="1" hangingPunct="1"/>
            <a:r>
              <a:rPr lang="zh-CN" altLang="en-US" b="1" smtClean="0"/>
              <a:t>抽象实例</a:t>
            </a:r>
            <a:r>
              <a:rPr lang="en-US" altLang="zh-CN" b="1" smtClean="0"/>
              <a:t>——</a:t>
            </a:r>
            <a:r>
              <a:rPr lang="zh-CN" altLang="en-US" b="1" smtClean="0"/>
              <a:t>钟表</a:t>
            </a:r>
            <a:endParaRPr lang="zh-CN" altLang="en-US" b="1" smtClean="0"/>
          </a:p>
        </p:txBody>
      </p:sp>
      <p:sp>
        <p:nvSpPr>
          <p:cNvPr id="16387" name="内容占位符 2"/>
          <p:cNvSpPr>
            <a:spLocks noGrp="1"/>
          </p:cNvSpPr>
          <p:nvPr>
            <p:ph sz="half" idx="1"/>
          </p:nvPr>
        </p:nvSpPr>
        <p:spPr>
          <a:xfrm>
            <a:off x="628650" y="1412776"/>
            <a:ext cx="3867150" cy="4351338"/>
          </a:xfrm>
          <a:ln>
            <a:solidFill>
              <a:srgbClr val="FFC000"/>
            </a:solidFill>
          </a:ln>
        </p:spPr>
        <p:txBody>
          <a:bodyPr/>
          <a:lstStyle/>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数据抽象：</a:t>
            </a:r>
            <a:endParaRPr lang="zh-CN" altLang="en-US" sz="2400" b="1" dirty="0" smtClean="0">
              <a:latin typeface="微软雅黑" panose="020B0503020204020204" pitchFamily="34" charset="-122"/>
              <a:ea typeface="微软雅黑" panose="020B0503020204020204" pitchFamily="34" charset="-122"/>
            </a:endParaRPr>
          </a:p>
          <a:p>
            <a:pPr lvl="1" eaLnBrk="1" hangingPunct="1">
              <a:lnSpc>
                <a:spcPct val="150000"/>
              </a:lnSpc>
              <a:buFont typeface="Georgia" panose="02040502050405020303" pitchFamily="18" charset="0"/>
              <a:buNone/>
            </a:pP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a:t>
            </a:r>
            <a:r>
              <a:rPr lang="en-US" altLang="zh-CN" sz="2400" b="1" dirty="0" smtClean="0">
                <a:solidFill>
                  <a:srgbClr val="FFFF00"/>
                </a:solidFill>
                <a:latin typeface="微软雅黑" panose="020B0503020204020204" pitchFamily="34" charset="-122"/>
                <a:ea typeface="微软雅黑" panose="020B0503020204020204" pitchFamily="34" charset="-122"/>
              </a:rPr>
              <a:t>hour</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Georgia" panose="02040502050405020303" pitchFamily="18" charset="0"/>
              <a:buNone/>
            </a:pP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a:t>
            </a:r>
            <a:r>
              <a:rPr lang="en-US" altLang="zh-CN" sz="2400" b="1" dirty="0" smtClean="0">
                <a:solidFill>
                  <a:srgbClr val="FFFF00"/>
                </a:solidFill>
                <a:latin typeface="微软雅黑" panose="020B0503020204020204" pitchFamily="34" charset="-122"/>
                <a:ea typeface="微软雅黑" panose="020B0503020204020204" pitchFamily="34" charset="-122"/>
              </a:rPr>
              <a:t>minute</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Georgia" panose="02040502050405020303" pitchFamily="18" charset="0"/>
              <a:buNone/>
            </a:pPr>
            <a:r>
              <a:rPr lang="en-US" altLang="zh-CN" sz="2400" b="1" dirty="0" err="1" smtClean="0">
                <a:latin typeface="微软雅黑" panose="020B0503020204020204" pitchFamily="34" charset="-122"/>
                <a:ea typeface="微软雅黑" panose="020B0503020204020204" pitchFamily="34" charset="-122"/>
              </a:rPr>
              <a:t>int</a:t>
            </a:r>
            <a:r>
              <a:rPr lang="en-US" altLang="zh-CN" sz="2400" b="1" dirty="0" smtClean="0">
                <a:latin typeface="微软雅黑" panose="020B0503020204020204" pitchFamily="34" charset="-122"/>
                <a:ea typeface="微软雅黑" panose="020B0503020204020204" pitchFamily="34" charset="-122"/>
              </a:rPr>
              <a:t> </a:t>
            </a:r>
            <a:r>
              <a:rPr lang="en-US" altLang="zh-CN" sz="2400" b="1" dirty="0" smtClean="0">
                <a:solidFill>
                  <a:srgbClr val="FFFF00"/>
                </a:solidFill>
                <a:latin typeface="微软雅黑" panose="020B0503020204020204" pitchFamily="34" charset="-122"/>
                <a:ea typeface="微软雅黑" panose="020B0503020204020204" pitchFamily="34" charset="-122"/>
              </a:rPr>
              <a:t>second</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eaLnBrk="1" hangingPunct="1"/>
            <a:endParaRPr lang="zh-CN" altLang="en-US" sz="2400" b="1" dirty="0" smtClean="0">
              <a:latin typeface="微软雅黑" panose="020B0503020204020204" pitchFamily="34" charset="-122"/>
              <a:ea typeface="微软雅黑" panose="020B0503020204020204" pitchFamily="34" charset="-122"/>
            </a:endParaRPr>
          </a:p>
        </p:txBody>
      </p:sp>
      <p:sp>
        <p:nvSpPr>
          <p:cNvPr id="2" name="内容占位符 1"/>
          <p:cNvSpPr>
            <a:spLocks noGrp="1"/>
          </p:cNvSpPr>
          <p:nvPr>
            <p:ph sz="half" idx="2"/>
          </p:nvPr>
        </p:nvSpPr>
        <p:spPr>
          <a:xfrm>
            <a:off x="4648200" y="1412776"/>
            <a:ext cx="3867150" cy="4351338"/>
          </a:xfrm>
          <a:ln>
            <a:solidFill>
              <a:srgbClr val="FFC000"/>
            </a:solidFill>
          </a:ln>
        </p:spPr>
        <p:txBody>
          <a:bodyPr/>
          <a:lstStyle/>
          <a:p>
            <a:pPr eaLnBrk="1" hangingPunct="1">
              <a:lnSpc>
                <a:spcPct val="150000"/>
              </a:lnSpc>
            </a:pPr>
            <a:r>
              <a:rPr lang="zh-CN" altLang="en-US" sz="2400" b="1" dirty="0">
                <a:latin typeface="微软雅黑" panose="020B0503020204020204" pitchFamily="34" charset="-122"/>
                <a:ea typeface="微软雅黑" panose="020B0503020204020204" pitchFamily="34" charset="-122"/>
              </a:rPr>
              <a:t>代码抽象：</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150000"/>
              </a:lnSpc>
              <a:buFont typeface="Georgia" panose="02040502050405020303" pitchFamily="18" charset="0"/>
              <a:buNone/>
            </a:pPr>
            <a:r>
              <a:rPr lang="en-US" altLang="zh-CN" sz="2400" b="1" dirty="0" err="1">
                <a:solidFill>
                  <a:srgbClr val="FFFF00"/>
                </a:solidFill>
                <a:latin typeface="微软雅黑" panose="020B0503020204020204" pitchFamily="34" charset="-122"/>
                <a:ea typeface="微软雅黑" panose="020B0503020204020204" pitchFamily="34" charset="-122"/>
              </a:rPr>
              <a:t>setTime</a:t>
            </a:r>
            <a:r>
              <a:rPr lang="en-US" altLang="zh-CN" sz="2400" b="1" dirty="0">
                <a:solidFill>
                  <a:srgbClr val="FFFF00"/>
                </a:solidFill>
                <a:latin typeface="微软雅黑" panose="020B0503020204020204" pitchFamily="34" charset="-122"/>
                <a:ea typeface="微软雅黑" panose="020B0503020204020204" pitchFamily="34" charset="-122"/>
              </a:rPr>
              <a:t>()</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Georgia" panose="02040502050405020303" pitchFamily="18" charset="0"/>
              <a:buNone/>
            </a:pPr>
            <a:r>
              <a:rPr lang="en-US" altLang="zh-CN" sz="2400" b="1" dirty="0" err="1">
                <a:solidFill>
                  <a:srgbClr val="FFFF00"/>
                </a:solidFill>
                <a:latin typeface="微软雅黑" panose="020B0503020204020204" pitchFamily="34" charset="-122"/>
                <a:ea typeface="微软雅黑" panose="020B0503020204020204" pitchFamily="34" charset="-122"/>
              </a:rPr>
              <a:t>showTime</a:t>
            </a:r>
            <a:r>
              <a:rPr lang="en-US" altLang="zh-CN" sz="2400" b="1" dirty="0">
                <a:solidFill>
                  <a:srgbClr val="FFFF00"/>
                </a:solidFill>
                <a:latin typeface="微软雅黑" panose="020B0503020204020204" pitchFamily="34" charset="-122"/>
                <a:ea typeface="微软雅黑" panose="020B0503020204020204" pitchFamily="34" charset="-122"/>
              </a:rPr>
              <a:t>()</a:t>
            </a:r>
            <a:endParaRPr lang="en-US" altLang="zh-CN"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抽象实例</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钟表（续）</a:t>
            </a:r>
            <a:endParaRPr lang="zh-CN" altLang="en-US" sz="4400" b="1">
              <a:latin typeface="Times New Roman" panose="02020603050405020304" pitchFamily="18" charset="0"/>
              <a:ea typeface="隶书" panose="02010509060101010101" pitchFamily="49" charset="-122"/>
            </a:endParaRPr>
          </a:p>
        </p:txBody>
      </p:sp>
      <p:sp>
        <p:nvSpPr>
          <p:cNvPr id="17411" name="内容占位符 2"/>
          <p:cNvSpPr>
            <a:spLocks noGrp="1"/>
          </p:cNvSpPr>
          <p:nvPr>
            <p:ph idx="1"/>
          </p:nvPr>
        </p:nvSpPr>
        <p:spPr>
          <a:xfrm>
            <a:off x="789756" y="1484784"/>
            <a:ext cx="7886700" cy="4351338"/>
          </a:xfrm>
          <a:solidFill>
            <a:schemeClr val="tx1"/>
          </a:solidFill>
        </p:spPr>
        <p:txBody>
          <a:bodyPr/>
          <a:lstStyle/>
          <a:p>
            <a:pPr marL="114300" lvl="1" indent="0" eaLnBrk="1" hangingPunct="1">
              <a:lnSpc>
                <a:spcPct val="140000"/>
              </a:lnSpc>
              <a:buFont typeface="Georgia" panose="02040502050405020303" pitchFamily="18" charset="0"/>
              <a:buNone/>
            </a:pPr>
            <a:r>
              <a:rPr lang="en-US" altLang="zh-CN" sz="2400" b="1" smtClean="0">
                <a:solidFill>
                  <a:srgbClr val="000000"/>
                </a:solidFill>
                <a:ea typeface="+mj-ea"/>
              </a:rPr>
              <a:t>class  Clock {</a:t>
            </a:r>
            <a:endParaRPr lang="en-US" altLang="zh-CN" sz="2400" b="1" smtClean="0">
              <a:solidFill>
                <a:srgbClr val="000000"/>
              </a:solidFill>
              <a:ea typeface="+mj-ea"/>
            </a:endParaRPr>
          </a:p>
          <a:p>
            <a:pPr marL="114300" lvl="1" indent="0" eaLnBrk="1" hangingPunct="1">
              <a:lnSpc>
                <a:spcPct val="140000"/>
              </a:lnSpc>
              <a:buFont typeface="Georgia" panose="02040502050405020303" pitchFamily="18" charset="0"/>
              <a:buNone/>
            </a:pPr>
            <a:r>
              <a:rPr lang="en-US" altLang="zh-CN" sz="2400" b="1" smtClean="0">
                <a:solidFill>
                  <a:srgbClr val="000000"/>
                </a:solidFill>
                <a:ea typeface="+mj-ea"/>
              </a:rPr>
              <a:t>  public: </a:t>
            </a:r>
            <a:endParaRPr lang="en-US" altLang="zh-CN" sz="2400" b="1" smtClean="0">
              <a:solidFill>
                <a:srgbClr val="000000"/>
              </a:solidFill>
              <a:ea typeface="+mj-ea"/>
            </a:endParaRPr>
          </a:p>
          <a:p>
            <a:pPr marL="114300" lvl="1" indent="0" eaLnBrk="1" hangingPunct="1">
              <a:lnSpc>
                <a:spcPct val="140000"/>
              </a:lnSpc>
              <a:buFont typeface="Georgia" panose="02040502050405020303" pitchFamily="18" charset="0"/>
              <a:buNone/>
            </a:pPr>
            <a:r>
              <a:rPr lang="en-US" altLang="zh-CN" sz="2400" b="1" smtClean="0">
                <a:solidFill>
                  <a:srgbClr val="000000"/>
                </a:solidFill>
                <a:ea typeface="+mj-ea"/>
              </a:rPr>
              <a:t>   void setTime(int newH, int newM, int newS);</a:t>
            </a:r>
            <a:br>
              <a:rPr lang="en-US" altLang="zh-CN" sz="2400" b="1" smtClean="0">
                <a:solidFill>
                  <a:srgbClr val="000000"/>
                </a:solidFill>
                <a:ea typeface="+mj-ea"/>
              </a:rPr>
            </a:br>
            <a:r>
              <a:rPr lang="en-US" altLang="zh-CN" sz="2400" b="1" smtClean="0">
                <a:solidFill>
                  <a:srgbClr val="000000"/>
                </a:solidFill>
                <a:ea typeface="+mj-ea"/>
              </a:rPr>
              <a:t>   void showTime();</a:t>
            </a:r>
            <a:endParaRPr lang="en-US" altLang="zh-CN" sz="2400" b="1" smtClean="0">
              <a:solidFill>
                <a:srgbClr val="000000"/>
              </a:solidFill>
              <a:ea typeface="+mj-ea"/>
            </a:endParaRPr>
          </a:p>
          <a:p>
            <a:pPr marL="114300" lvl="1" indent="0" eaLnBrk="1" hangingPunct="1">
              <a:lnSpc>
                <a:spcPct val="140000"/>
              </a:lnSpc>
              <a:buFont typeface="Georgia" panose="02040502050405020303" pitchFamily="18" charset="0"/>
              <a:buNone/>
            </a:pPr>
            <a:r>
              <a:rPr lang="en-US" altLang="zh-CN" sz="2400" b="1" smtClean="0">
                <a:solidFill>
                  <a:srgbClr val="000000"/>
                </a:solidFill>
                <a:ea typeface="+mj-ea"/>
              </a:rPr>
              <a:t>  private: </a:t>
            </a:r>
            <a:endParaRPr lang="en-US" altLang="zh-CN" sz="2400" b="1" smtClean="0">
              <a:solidFill>
                <a:srgbClr val="000000"/>
              </a:solidFill>
              <a:ea typeface="+mj-ea"/>
            </a:endParaRPr>
          </a:p>
          <a:p>
            <a:pPr marL="114300" lvl="1" indent="0" eaLnBrk="1" hangingPunct="1">
              <a:lnSpc>
                <a:spcPct val="140000"/>
              </a:lnSpc>
              <a:buFont typeface="Georgia" panose="02040502050405020303" pitchFamily="18" charset="0"/>
              <a:buNone/>
            </a:pPr>
            <a:r>
              <a:rPr lang="en-US" altLang="zh-CN" sz="2400" b="1" smtClean="0">
                <a:solidFill>
                  <a:srgbClr val="000000"/>
                </a:solidFill>
                <a:ea typeface="+mj-ea"/>
              </a:rPr>
              <a:t>   int hour, minute, second;</a:t>
            </a:r>
            <a:endParaRPr lang="en-US" altLang="zh-CN" sz="2400" b="1" smtClean="0">
              <a:solidFill>
                <a:srgbClr val="000000"/>
              </a:solidFill>
              <a:ea typeface="+mj-ea"/>
            </a:endParaRPr>
          </a:p>
          <a:p>
            <a:pPr marL="114300" lvl="1" indent="0" eaLnBrk="1" hangingPunct="1">
              <a:lnSpc>
                <a:spcPct val="140000"/>
              </a:lnSpc>
              <a:buFont typeface="Georgia" panose="02040502050405020303" pitchFamily="18" charset="0"/>
              <a:buNone/>
            </a:pPr>
            <a:r>
              <a:rPr lang="en-US" altLang="zh-CN" sz="2400" b="1" smtClean="0">
                <a:solidFill>
                  <a:srgbClr val="000000"/>
                </a:solidFill>
                <a:ea typeface="+mj-ea"/>
              </a:rPr>
              <a:t>};</a:t>
            </a:r>
            <a:endParaRPr lang="en-US" altLang="zh-CN" sz="2400" b="1" smtClean="0">
              <a:solidFill>
                <a:srgbClr val="000000"/>
              </a:solidFill>
              <a:ea typeface="+mj-ea"/>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4.1.2 </a:t>
            </a:r>
            <a:r>
              <a:rPr lang="zh-CN" altLang="en-US" sz="4400" b="1">
                <a:latin typeface="Times New Roman" panose="02020603050405020304" pitchFamily="18" charset="0"/>
                <a:ea typeface="隶书" panose="02010509060101010101" pitchFamily="49" charset="-122"/>
              </a:rPr>
              <a:t>封装</a:t>
            </a:r>
            <a:endParaRPr lang="zh-CN" altLang="en-US" sz="4400" b="1">
              <a:latin typeface="Times New Roman" panose="02020603050405020304" pitchFamily="18" charset="0"/>
              <a:ea typeface="隶书" panose="02010509060101010101" pitchFamily="49" charset="-122"/>
            </a:endParaRPr>
          </a:p>
        </p:txBody>
      </p:sp>
      <p:sp>
        <p:nvSpPr>
          <p:cNvPr id="18435" name="内容占位符 2"/>
          <p:cNvSpPr>
            <a:spLocks noGrp="1"/>
          </p:cNvSpPr>
          <p:nvPr>
            <p:ph idx="1"/>
          </p:nvPr>
        </p:nvSpPr>
        <p:spPr>
          <a:xfrm>
            <a:off x="683568" y="1556792"/>
            <a:ext cx="7886700" cy="4351338"/>
          </a:xfrm>
        </p:spPr>
        <p:txBody>
          <a:bodyPr/>
          <a:lstStyle/>
          <a:p>
            <a:pPr marL="0" indent="0" eaLnBrk="1" hangingPunct="1">
              <a:lnSpc>
                <a:spcPct val="150000"/>
              </a:lnSpc>
              <a:buFont typeface="Georgia" panose="02040502050405020303" pitchFamily="18" charset="0"/>
              <a:buNone/>
            </a:pPr>
            <a:r>
              <a:rPr lang="zh-CN" altLang="en-US" sz="2400" b="1" dirty="0" smtClean="0">
                <a:solidFill>
                  <a:srgbClr val="FFFF00"/>
                </a:solidFill>
                <a:latin typeface="微软雅黑" panose="020B0503020204020204" pitchFamily="34" charset="-122"/>
                <a:ea typeface="微软雅黑" panose="020B0503020204020204" pitchFamily="34" charset="-122"/>
              </a:rPr>
              <a:t>将抽象出的数据成员、代码成员相结合，将它们</a:t>
            </a:r>
            <a:r>
              <a:rPr lang="zh-CN" altLang="en-US" sz="2400" b="1" dirty="0">
                <a:solidFill>
                  <a:srgbClr val="FFFF00"/>
                </a:solidFill>
                <a:latin typeface="微软雅黑" panose="020B0503020204020204" pitchFamily="34" charset="-122"/>
                <a:ea typeface="微软雅黑" panose="020B0503020204020204" pitchFamily="34" charset="-122"/>
              </a:rPr>
              <a:t>构成</a:t>
            </a:r>
            <a:r>
              <a:rPr lang="zh-CN" altLang="en-US" sz="2400" b="1" dirty="0" smtClean="0">
                <a:solidFill>
                  <a:srgbClr val="FFFF00"/>
                </a:solidFill>
                <a:latin typeface="微软雅黑" panose="020B0503020204020204" pitchFamily="34" charset="-122"/>
                <a:ea typeface="微软雅黑" panose="020B0503020204020204" pitchFamily="34" charset="-122"/>
              </a:rPr>
              <a:t>一个整体。</a:t>
            </a:r>
            <a:endParaRPr lang="zh-CN" altLang="en-US" sz="2400" b="1" dirty="0" smtClean="0">
              <a:solidFill>
                <a:srgbClr val="FFFF00"/>
              </a:solidFill>
              <a:latin typeface="微软雅黑" panose="020B0503020204020204" pitchFamily="34" charset="-122"/>
              <a:ea typeface="微软雅黑" panose="020B0503020204020204" pitchFamily="34" charset="-122"/>
            </a:endParaRPr>
          </a:p>
          <a:p>
            <a:pPr marL="722630" lvl="1" indent="-368300" eaLnBrk="1" hangingPunct="1">
              <a:lnSpc>
                <a:spcPct val="150000"/>
              </a:lnSpc>
              <a:buClr>
                <a:srgbClr val="FFFF0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目的是增强安全性和简化编程，使用者不必了解具体的实现细节，而只需要通过外部接口，以特定的访问权限，来使用类的成员。</a:t>
            </a:r>
            <a:endParaRPr lang="zh-CN" altLang="en-US" sz="2400" b="1" dirty="0" smtClean="0">
              <a:latin typeface="微软雅黑" panose="020B0503020204020204" pitchFamily="34" charset="-122"/>
              <a:ea typeface="微软雅黑" panose="020B0503020204020204" pitchFamily="34" charset="-122"/>
            </a:endParaRPr>
          </a:p>
          <a:p>
            <a:pPr marL="722630" lvl="1" indent="-368300" eaLnBrk="1" hangingPunct="1">
              <a:lnSpc>
                <a:spcPct val="150000"/>
              </a:lnSpc>
              <a:buClr>
                <a:srgbClr val="FFFF0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实现封装：类声明中的</a:t>
            </a:r>
            <a:r>
              <a:rPr lang="en-US" altLang="zh-CN" sz="2400" b="1" dirty="0" smtClean="0">
                <a:latin typeface="微软雅黑" panose="020B0503020204020204" pitchFamily="34" charset="-122"/>
                <a:ea typeface="微软雅黑" panose="020B0503020204020204" pitchFamily="34" charset="-122"/>
              </a:rPr>
              <a:t>{ }</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823913" y="188640"/>
            <a:ext cx="7886700" cy="13255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4.1.2 </a:t>
            </a:r>
            <a:r>
              <a:rPr lang="zh-CN" altLang="en-US" sz="4400" b="1">
                <a:latin typeface="Times New Roman" panose="02020603050405020304" pitchFamily="18" charset="0"/>
                <a:ea typeface="隶书" panose="02010509060101010101" pitchFamily="49" charset="-122"/>
              </a:rPr>
              <a:t>封装（续）</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557213" y="1556792"/>
            <a:ext cx="8401050" cy="4787900"/>
          </a:xfrm>
        </p:spPr>
        <p:txBody>
          <a:bodyPr>
            <a:normAutofit/>
          </a:bodyPr>
          <a:lstStyle/>
          <a:p>
            <a:pPr marL="365760" indent="-255905" eaLnBrk="1" fontAlgn="auto" hangingPunct="1">
              <a:spcAft>
                <a:spcPts val="0"/>
              </a:spcAft>
              <a:buClr>
                <a:schemeClr val="accent3"/>
              </a:buClr>
              <a:buFont typeface="Georgia" panose="02040502050405020303"/>
              <a:buChar char="•"/>
              <a:defRPr/>
            </a:pPr>
            <a:r>
              <a:rPr lang="zh-CN" altLang="en-US" sz="2800" b="1" dirty="0" smtClean="0">
                <a:ea typeface="+mj-ea"/>
              </a:rPr>
              <a:t>实例：</a:t>
            </a:r>
            <a:endParaRPr lang="zh-CN" altLang="en-US" sz="2800" b="1" dirty="0" smtClean="0">
              <a:ea typeface="+mj-ea"/>
            </a:endParaRPr>
          </a:p>
          <a:p>
            <a:pPr marL="658495" lvl="1" indent="-247015" eaLnBrk="1" fontAlgn="auto" hangingPunct="1">
              <a:spcAft>
                <a:spcPts val="0"/>
              </a:spcAft>
              <a:buFont typeface="Georgia" panose="02040502050405020303"/>
              <a:buNone/>
              <a:defRPr/>
            </a:pPr>
            <a:r>
              <a:rPr lang="en-US" altLang="zh-CN" b="1" dirty="0" smtClean="0">
                <a:ea typeface="+mj-ea"/>
              </a:rPr>
              <a:t>class  Clock </a:t>
            </a:r>
            <a:endParaRPr lang="en-US" altLang="zh-CN" b="1" dirty="0" smtClean="0">
              <a:ea typeface="+mj-ea"/>
            </a:endParaRPr>
          </a:p>
          <a:p>
            <a:pPr marL="658495" lvl="1" indent="-247015" eaLnBrk="1" fontAlgn="auto" hangingPunct="1">
              <a:spcAft>
                <a:spcPts val="0"/>
              </a:spcAft>
              <a:buFont typeface="Georgia" panose="02040502050405020303"/>
              <a:buNone/>
              <a:defRPr/>
            </a:pPr>
            <a:r>
              <a:rPr lang="en-US" altLang="zh-CN" b="1" dirty="0" smtClean="0">
                <a:solidFill>
                  <a:srgbClr val="FFFF00"/>
                </a:solidFill>
                <a:ea typeface="+mj-ea"/>
              </a:rPr>
              <a:t>{</a:t>
            </a:r>
            <a:endParaRPr lang="en-US" altLang="zh-CN" b="1" dirty="0" smtClean="0">
              <a:solidFill>
                <a:srgbClr val="FFFF00"/>
              </a:solidFill>
              <a:ea typeface="+mj-ea"/>
            </a:endParaRPr>
          </a:p>
          <a:p>
            <a:pPr marL="658495" lvl="1" indent="-247015" eaLnBrk="1" fontAlgn="auto" hangingPunct="1">
              <a:spcAft>
                <a:spcPts val="0"/>
              </a:spcAft>
              <a:buFont typeface="Georgia" panose="02040502050405020303"/>
              <a:buNone/>
              <a:defRPr/>
            </a:pPr>
            <a:r>
              <a:rPr lang="en-US" altLang="zh-CN" b="1" dirty="0" smtClean="0">
                <a:ea typeface="+mj-ea"/>
              </a:rPr>
              <a:t>  </a:t>
            </a:r>
            <a:r>
              <a:rPr lang="en-US" altLang="zh-CN" b="1" dirty="0" err="1" smtClean="0">
                <a:solidFill>
                  <a:srgbClr val="FFFF00"/>
                </a:solidFill>
                <a:ea typeface="+mj-ea"/>
              </a:rPr>
              <a:t>public</a:t>
            </a:r>
            <a:r>
              <a:rPr lang="en-US" altLang="zh-CN" b="1" dirty="0" err="1" smtClean="0">
                <a:ea typeface="+mj-ea"/>
              </a:rPr>
              <a:t>:void</a:t>
            </a:r>
            <a:r>
              <a:rPr lang="en-US" altLang="zh-CN" b="1" dirty="0" smtClean="0">
                <a:ea typeface="+mj-ea"/>
              </a:rPr>
              <a:t> </a:t>
            </a:r>
            <a:r>
              <a:rPr lang="en-US" altLang="zh-CN" b="1" dirty="0" err="1" smtClean="0">
                <a:solidFill>
                  <a:schemeClr val="tx1"/>
                </a:solidFill>
                <a:ea typeface="+mj-ea"/>
              </a:rPr>
              <a:t>setTime</a:t>
            </a:r>
            <a:r>
              <a:rPr lang="en-US" altLang="zh-CN" b="1" dirty="0" smtClean="0">
                <a:ea typeface="+mj-ea"/>
              </a:rPr>
              <a:t>(int </a:t>
            </a:r>
            <a:r>
              <a:rPr lang="en-US" altLang="zh-CN" b="1" dirty="0" err="1" smtClean="0">
                <a:ea typeface="+mj-ea"/>
              </a:rPr>
              <a:t>newH</a:t>
            </a:r>
            <a:r>
              <a:rPr lang="en-US" altLang="zh-CN" b="1" dirty="0" smtClean="0">
                <a:ea typeface="+mj-ea"/>
              </a:rPr>
              <a:t>, int </a:t>
            </a:r>
            <a:r>
              <a:rPr lang="en-US" altLang="zh-CN" b="1" dirty="0" err="1" smtClean="0">
                <a:ea typeface="+mj-ea"/>
              </a:rPr>
              <a:t>newM</a:t>
            </a:r>
            <a:r>
              <a:rPr lang="en-US" altLang="zh-CN" b="1" dirty="0" smtClean="0">
                <a:ea typeface="+mj-ea"/>
              </a:rPr>
              <a:t>, int </a:t>
            </a:r>
            <a:r>
              <a:rPr lang="en-US" altLang="zh-CN" b="1" dirty="0" err="1" smtClean="0">
                <a:ea typeface="+mj-ea"/>
              </a:rPr>
              <a:t>newS</a:t>
            </a:r>
            <a:r>
              <a:rPr lang="en-US" altLang="zh-CN" b="1" dirty="0" smtClean="0">
                <a:ea typeface="+mj-ea"/>
              </a:rPr>
              <a:t>);</a:t>
            </a:r>
            <a:br>
              <a:rPr lang="en-US" altLang="zh-CN" b="1" dirty="0" smtClean="0">
                <a:ea typeface="+mj-ea"/>
              </a:rPr>
            </a:br>
            <a:r>
              <a:rPr lang="en-US" altLang="zh-CN" b="1" dirty="0" smtClean="0">
                <a:ea typeface="+mj-ea"/>
              </a:rPr>
              <a:t>            void </a:t>
            </a:r>
            <a:r>
              <a:rPr lang="en-US" altLang="zh-CN" b="1" dirty="0" err="1" smtClean="0">
                <a:solidFill>
                  <a:schemeClr val="tx1"/>
                </a:solidFill>
                <a:ea typeface="+mj-ea"/>
              </a:rPr>
              <a:t>showTime</a:t>
            </a:r>
            <a:r>
              <a:rPr lang="en-US" altLang="zh-CN" b="1" dirty="0" smtClean="0">
                <a:ea typeface="+mj-ea"/>
              </a:rPr>
              <a:t>();</a:t>
            </a:r>
            <a:endParaRPr lang="en-US" altLang="zh-CN" b="1" dirty="0" smtClean="0">
              <a:ea typeface="+mj-ea"/>
            </a:endParaRPr>
          </a:p>
          <a:p>
            <a:pPr marL="658495" lvl="1" indent="-247015" eaLnBrk="1" fontAlgn="auto" hangingPunct="1">
              <a:spcAft>
                <a:spcPts val="0"/>
              </a:spcAft>
              <a:buFont typeface="Georgia" panose="02040502050405020303"/>
              <a:buNone/>
              <a:defRPr/>
            </a:pPr>
            <a:r>
              <a:rPr lang="en-US" altLang="zh-CN" b="1" dirty="0" smtClean="0">
                <a:ea typeface="+mj-ea"/>
              </a:rPr>
              <a:t>  </a:t>
            </a:r>
            <a:r>
              <a:rPr lang="en-US" altLang="zh-CN" b="1" dirty="0" smtClean="0">
                <a:solidFill>
                  <a:srgbClr val="FFFF00"/>
                </a:solidFill>
                <a:ea typeface="+mj-ea"/>
              </a:rPr>
              <a:t>private</a:t>
            </a:r>
            <a:r>
              <a:rPr lang="en-US" altLang="zh-CN" b="1" dirty="0" smtClean="0">
                <a:ea typeface="+mj-ea"/>
              </a:rPr>
              <a:t>: int hour, minute, second;</a:t>
            </a:r>
            <a:endParaRPr lang="en-US" altLang="zh-CN" b="1" dirty="0" smtClean="0">
              <a:ea typeface="+mj-ea"/>
            </a:endParaRPr>
          </a:p>
          <a:p>
            <a:pPr marL="658495" lvl="1" indent="-247015" eaLnBrk="1" fontAlgn="auto" hangingPunct="1">
              <a:spcAft>
                <a:spcPts val="0"/>
              </a:spcAft>
              <a:buFont typeface="Georgia" panose="02040502050405020303"/>
              <a:buNone/>
              <a:defRPr/>
            </a:pPr>
            <a:r>
              <a:rPr lang="en-US" altLang="zh-CN" b="1" dirty="0" smtClean="0">
                <a:solidFill>
                  <a:srgbClr val="FFFF00"/>
                </a:solidFill>
                <a:ea typeface="+mj-ea"/>
              </a:rPr>
              <a:t>}</a:t>
            </a:r>
            <a:r>
              <a:rPr lang="en-US" altLang="zh-CN" b="1" dirty="0" smtClean="0">
                <a:ea typeface="+mj-ea"/>
              </a:rPr>
              <a:t>;</a:t>
            </a:r>
            <a:endParaRPr lang="en-US" altLang="zh-CN" b="1" dirty="0" smtClean="0">
              <a:ea typeface="+mj-ea"/>
            </a:endParaRPr>
          </a:p>
          <a:p>
            <a:pPr marL="0" indent="351155" eaLnBrk="1" fontAlgn="auto" hangingPunct="1">
              <a:lnSpc>
                <a:spcPct val="120000"/>
              </a:lnSpc>
              <a:spcAft>
                <a:spcPts val="0"/>
              </a:spcAft>
              <a:buClr>
                <a:schemeClr val="accent3"/>
              </a:buClr>
              <a:buFont typeface="Georgia" panose="02040502050405020303"/>
              <a:buNone/>
              <a:defRPr/>
            </a:pPr>
            <a:endParaRPr lang="zh-CN" altLang="en-US" sz="2800" b="1" dirty="0">
              <a:ea typeface="+mj-ea"/>
            </a:endParaRPr>
          </a:p>
        </p:txBody>
      </p:sp>
      <p:grpSp>
        <p:nvGrpSpPr>
          <p:cNvPr id="19462" name="Group 16"/>
          <p:cNvGrpSpPr/>
          <p:nvPr/>
        </p:nvGrpSpPr>
        <p:grpSpPr bwMode="auto">
          <a:xfrm>
            <a:off x="1" y="3219450"/>
            <a:ext cx="914400" cy="3244851"/>
            <a:chOff x="297" y="2283"/>
            <a:chExt cx="576" cy="2044"/>
          </a:xfrm>
        </p:grpSpPr>
        <p:sp>
          <p:nvSpPr>
            <p:cNvPr id="19470" name="Line 4"/>
            <p:cNvSpPr>
              <a:spLocks noChangeShapeType="1"/>
            </p:cNvSpPr>
            <p:nvPr/>
          </p:nvSpPr>
          <p:spPr bwMode="auto">
            <a:xfrm flipH="1">
              <a:off x="480" y="2283"/>
              <a:ext cx="360" cy="1749"/>
            </a:xfrm>
            <a:prstGeom prst="line">
              <a:avLst/>
            </a:prstGeom>
            <a:noFill/>
            <a:ln w="19050">
              <a:solidFill>
                <a:srgbClr val="FFC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1" name="Line 5"/>
            <p:cNvSpPr>
              <a:spLocks noChangeShapeType="1"/>
            </p:cNvSpPr>
            <p:nvPr/>
          </p:nvSpPr>
          <p:spPr bwMode="auto">
            <a:xfrm flipH="1">
              <a:off x="480" y="3720"/>
              <a:ext cx="336" cy="312"/>
            </a:xfrm>
            <a:prstGeom prst="line">
              <a:avLst/>
            </a:prstGeom>
            <a:noFill/>
            <a:ln w="19050">
              <a:solidFill>
                <a:srgbClr val="FFC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2" name="Text Box 6"/>
            <p:cNvSpPr txBox="1">
              <a:spLocks noChangeArrowheads="1"/>
            </p:cNvSpPr>
            <p:nvPr/>
          </p:nvSpPr>
          <p:spPr bwMode="auto">
            <a:xfrm>
              <a:off x="297" y="4039"/>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pPr>
              <a:r>
                <a:rPr lang="zh-CN" altLang="en-US" b="1" dirty="0">
                  <a:solidFill>
                    <a:srgbClr val="FFFF00"/>
                  </a:solidFill>
                </a:rPr>
                <a:t>边界</a:t>
              </a:r>
              <a:endParaRPr lang="zh-CN" altLang="en-US" b="1" dirty="0">
                <a:solidFill>
                  <a:srgbClr val="FFFF00"/>
                </a:solidFill>
              </a:endParaRPr>
            </a:p>
          </p:txBody>
        </p:sp>
      </p:grpSp>
      <p:sp>
        <p:nvSpPr>
          <p:cNvPr id="19463" name="Text Box 14"/>
          <p:cNvSpPr txBox="1">
            <a:spLocks noChangeArrowheads="1"/>
          </p:cNvSpPr>
          <p:nvPr/>
        </p:nvSpPr>
        <p:spPr bwMode="auto">
          <a:xfrm>
            <a:off x="2928938" y="5502399"/>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pPr>
            <a:r>
              <a:rPr lang="zh-CN" altLang="en-US" b="1">
                <a:solidFill>
                  <a:srgbClr val="FFFF00"/>
                </a:solidFill>
              </a:rPr>
              <a:t>特定的访问权限</a:t>
            </a:r>
            <a:endParaRPr lang="zh-CN" altLang="en-US" b="1">
              <a:solidFill>
                <a:srgbClr val="FFFF00"/>
              </a:solidFill>
            </a:endParaRPr>
          </a:p>
        </p:txBody>
      </p:sp>
      <p:grpSp>
        <p:nvGrpSpPr>
          <p:cNvPr id="19464" name="Group 21"/>
          <p:cNvGrpSpPr/>
          <p:nvPr/>
        </p:nvGrpSpPr>
        <p:grpSpPr bwMode="auto">
          <a:xfrm>
            <a:off x="4274617" y="2128665"/>
            <a:ext cx="2962275" cy="1947863"/>
            <a:chOff x="2982" y="1632"/>
            <a:chExt cx="1866" cy="1227"/>
          </a:xfrm>
        </p:grpSpPr>
        <p:sp>
          <p:nvSpPr>
            <p:cNvPr id="19467" name="Text Box 10"/>
            <p:cNvSpPr txBox="1">
              <a:spLocks noChangeArrowheads="1"/>
            </p:cNvSpPr>
            <p:nvPr/>
          </p:nvSpPr>
          <p:spPr bwMode="auto">
            <a:xfrm>
              <a:off x="3840" y="1632"/>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pPr>
              <a:r>
                <a:rPr lang="zh-CN" altLang="en-US" b="1">
                  <a:solidFill>
                    <a:srgbClr val="FFFF00"/>
                  </a:solidFill>
                </a:rPr>
                <a:t>外部接口</a:t>
              </a:r>
              <a:endParaRPr lang="zh-CN" altLang="en-US" b="1">
                <a:solidFill>
                  <a:srgbClr val="FFFF00"/>
                </a:solidFill>
              </a:endParaRPr>
            </a:p>
          </p:txBody>
        </p:sp>
        <p:sp>
          <p:nvSpPr>
            <p:cNvPr id="19468" name="Line 19"/>
            <p:cNvSpPr>
              <a:spLocks noChangeShapeType="1"/>
            </p:cNvSpPr>
            <p:nvPr/>
          </p:nvSpPr>
          <p:spPr bwMode="auto">
            <a:xfrm flipV="1">
              <a:off x="3166" y="1776"/>
              <a:ext cx="674" cy="1083"/>
            </a:xfrm>
            <a:prstGeom prst="line">
              <a:avLst/>
            </a:prstGeom>
            <a:noFill/>
            <a:ln w="12700" cap="sq">
              <a:solidFill>
                <a:srgbClr val="FFC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sp>
          <p:nvSpPr>
            <p:cNvPr id="19469" name="Line 20"/>
            <p:cNvSpPr>
              <a:spLocks noChangeShapeType="1"/>
            </p:cNvSpPr>
            <p:nvPr/>
          </p:nvSpPr>
          <p:spPr bwMode="auto">
            <a:xfrm flipV="1">
              <a:off x="2982" y="1776"/>
              <a:ext cx="858" cy="576"/>
            </a:xfrm>
            <a:prstGeom prst="line">
              <a:avLst/>
            </a:prstGeom>
            <a:noFill/>
            <a:ln w="12700" cap="sq">
              <a:solidFill>
                <a:srgbClr val="FFC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grpSp>
      <p:sp>
        <p:nvSpPr>
          <p:cNvPr id="19465" name="Line 22"/>
          <p:cNvSpPr>
            <a:spLocks noChangeShapeType="1"/>
          </p:cNvSpPr>
          <p:nvPr/>
        </p:nvSpPr>
        <p:spPr bwMode="auto">
          <a:xfrm>
            <a:off x="2051720" y="3573016"/>
            <a:ext cx="1377280" cy="2000821"/>
          </a:xfrm>
          <a:prstGeom prst="line">
            <a:avLst/>
          </a:prstGeom>
          <a:noFill/>
          <a:ln w="19050" cap="sq">
            <a:solidFill>
              <a:srgbClr val="FFC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sp>
        <p:nvSpPr>
          <p:cNvPr id="19466" name="Line 23"/>
          <p:cNvSpPr>
            <a:spLocks noChangeShapeType="1"/>
          </p:cNvSpPr>
          <p:nvPr/>
        </p:nvSpPr>
        <p:spPr bwMode="auto">
          <a:xfrm>
            <a:off x="1857375" y="4966617"/>
            <a:ext cx="1571625" cy="607219"/>
          </a:xfrm>
          <a:prstGeom prst="line">
            <a:avLst/>
          </a:prstGeom>
          <a:noFill/>
          <a:ln w="19050" cap="sq">
            <a:solidFill>
              <a:srgbClr val="FFC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4.1.3 </a:t>
            </a:r>
            <a:r>
              <a:rPr lang="zh-CN" altLang="en-US" sz="4400" b="1">
                <a:latin typeface="Times New Roman" panose="02020603050405020304" pitchFamily="18" charset="0"/>
                <a:ea typeface="隶书" panose="02010509060101010101" pitchFamily="49" charset="-122"/>
              </a:rPr>
              <a:t>继承</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p:txBody>
          <a:bodyPr>
            <a:normAutofit/>
          </a:bodyPr>
          <a:lstStyle/>
          <a:p>
            <a:pPr marL="0" indent="0" eaLnBrk="1" fontAlgn="auto" hangingPunct="1">
              <a:lnSpc>
                <a:spcPct val="150000"/>
              </a:lnSpc>
              <a:spcAft>
                <a:spcPts val="1200"/>
              </a:spcAft>
              <a:buClr>
                <a:schemeClr val="accent3"/>
              </a:buClr>
              <a:buNone/>
              <a:defRPr/>
            </a:pPr>
            <a:r>
              <a:rPr lang="zh-CN" altLang="en-US" sz="2400" b="1" dirty="0" smtClean="0">
                <a:latin typeface="微软雅黑" panose="020B0503020204020204" pitchFamily="34" charset="-122"/>
                <a:ea typeface="微软雅黑" panose="020B0503020204020204" pitchFamily="34" charset="-122"/>
              </a:rPr>
              <a:t>是</a:t>
            </a:r>
            <a:r>
              <a:rPr lang="en-US" altLang="zh-CN" sz="2400" b="1" dirty="0" smtClean="0">
                <a:latin typeface="微软雅黑" panose="020B0503020204020204" pitchFamily="34" charset="-122"/>
                <a:ea typeface="微软雅黑" panose="020B0503020204020204" pitchFamily="34" charset="-122"/>
              </a:rPr>
              <a:t>C++</a:t>
            </a:r>
            <a:r>
              <a:rPr lang="zh-CN" altLang="en-US" sz="2400" b="1" dirty="0" smtClean="0">
                <a:latin typeface="微软雅黑" panose="020B0503020204020204" pitchFamily="34" charset="-122"/>
                <a:ea typeface="微软雅黑" panose="020B0503020204020204" pitchFamily="34" charset="-122"/>
              </a:rPr>
              <a:t>中支持层次分类的一种机制，允许程序员在保持原有类特性的基础上，进行更具体的说明。</a:t>
            </a:r>
            <a:endParaRPr lang="zh-CN" altLang="en-US" sz="2400" b="1" dirty="0" smtClean="0">
              <a:latin typeface="微软雅黑" panose="020B0503020204020204" pitchFamily="34" charset="-122"/>
              <a:ea typeface="微软雅黑" panose="020B0503020204020204" pitchFamily="34" charset="-122"/>
            </a:endParaRPr>
          </a:p>
          <a:p>
            <a:pPr marL="0" indent="0" fontAlgn="auto">
              <a:lnSpc>
                <a:spcPct val="150000"/>
              </a:lnSpc>
              <a:spcAft>
                <a:spcPts val="1200"/>
              </a:spcAft>
              <a:buClr>
                <a:schemeClr val="accent3"/>
              </a:buClr>
              <a:buNone/>
              <a:defRPr/>
            </a:pPr>
            <a:r>
              <a:rPr lang="zh-CN" altLang="en-US" sz="2400" b="1" dirty="0" smtClean="0">
                <a:latin typeface="微软雅黑" panose="020B0503020204020204" pitchFamily="34" charset="-122"/>
                <a:ea typeface="微软雅黑" panose="020B0503020204020204" pitchFamily="34" charset="-122"/>
              </a:rPr>
              <a:t>实现：声明派生类</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见</a:t>
            </a:r>
            <a:r>
              <a:rPr lang="zh-CN" altLang="en-US" sz="2400" b="1" dirty="0" smtClean="0">
                <a:solidFill>
                  <a:srgbClr val="FFFF00"/>
                </a:solidFill>
                <a:latin typeface="微软雅黑" panose="020B0503020204020204" pitchFamily="34" charset="-122"/>
                <a:ea typeface="微软雅黑" panose="020B0503020204020204" pitchFamily="34" charset="-122"/>
              </a:rPr>
              <a:t>第</a:t>
            </a:r>
            <a:r>
              <a:rPr lang="en-US" altLang="zh-CN" sz="2400" b="1" dirty="0" smtClean="0">
                <a:solidFill>
                  <a:srgbClr val="FFFF00"/>
                </a:solidFill>
                <a:latin typeface="微软雅黑" panose="020B0503020204020204" pitchFamily="34" charset="-122"/>
                <a:ea typeface="微软雅黑" panose="020B0503020204020204" pitchFamily="34" charset="-122"/>
              </a:rPr>
              <a:t>7</a:t>
            </a:r>
            <a:r>
              <a:rPr lang="zh-CN" altLang="en-US" sz="2400" b="1" dirty="0" smtClean="0">
                <a:solidFill>
                  <a:srgbClr val="FFFF00"/>
                </a:solidFill>
                <a:latin typeface="微软雅黑" panose="020B0503020204020204" pitchFamily="34" charset="-122"/>
                <a:ea typeface="微软雅黑" panose="020B0503020204020204" pitchFamily="34" charset="-122"/>
              </a:rPr>
              <a:t>章</a:t>
            </a:r>
            <a:endParaRPr lang="zh-CN" altLang="en-US" sz="2400" b="1" dirty="0" smtClean="0">
              <a:solidFill>
                <a:srgbClr val="FFFF00"/>
              </a:solidFill>
              <a:latin typeface="微软雅黑" panose="020B0503020204020204" pitchFamily="34" charset="-122"/>
              <a:ea typeface="微软雅黑" panose="020B0503020204020204" pitchFamily="34" charset="-122"/>
            </a:endParaRPr>
          </a:p>
          <a:p>
            <a:pPr marL="109855" indent="0" eaLnBrk="1" fontAlgn="auto" hangingPunct="1">
              <a:spcAft>
                <a:spcPts val="0"/>
              </a:spcAft>
              <a:buClr>
                <a:schemeClr val="accent3"/>
              </a:buClr>
              <a:buNone/>
              <a:defRPr/>
            </a:pP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4.1.4 </a:t>
            </a:r>
            <a:r>
              <a:rPr lang="zh-CN" altLang="en-US" sz="4400" b="1">
                <a:latin typeface="Times New Roman" panose="02020603050405020304" pitchFamily="18" charset="0"/>
                <a:ea typeface="隶书" panose="02010509060101010101" pitchFamily="49" charset="-122"/>
              </a:rPr>
              <a:t>多态</a:t>
            </a:r>
            <a:endParaRPr lang="zh-CN" altLang="en-US" sz="4400" b="1">
              <a:latin typeface="Times New Roman" panose="02020603050405020304" pitchFamily="18" charset="0"/>
              <a:ea typeface="隶书" panose="02010509060101010101" pitchFamily="49" charset="-122"/>
            </a:endParaRPr>
          </a:p>
        </p:txBody>
      </p:sp>
      <p:sp>
        <p:nvSpPr>
          <p:cNvPr id="21507" name="内容占位符 2"/>
          <p:cNvSpPr>
            <a:spLocks noGrp="1"/>
          </p:cNvSpPr>
          <p:nvPr>
            <p:ph idx="1"/>
          </p:nvPr>
        </p:nvSpPr>
        <p:spPr>
          <a:xfrm>
            <a:off x="647657" y="1690692"/>
            <a:ext cx="7886700" cy="4351338"/>
          </a:xfrm>
        </p:spPr>
        <p:txBody>
          <a:bodyPr/>
          <a:lstStyle/>
          <a:p>
            <a:pPr eaLnBrk="1" hangingPunct="1">
              <a:lnSpc>
                <a:spcPct val="160000"/>
              </a:lnSpc>
              <a:buClr>
                <a:srgbClr val="FFC000"/>
              </a:buClr>
            </a:pPr>
            <a:r>
              <a:rPr lang="zh-CN" altLang="en-US" sz="2400" b="1" dirty="0" smtClean="0">
                <a:solidFill>
                  <a:srgbClr val="FFFF00"/>
                </a:solidFill>
                <a:latin typeface="微软雅黑" panose="020B0503020204020204" pitchFamily="34" charset="-122"/>
                <a:ea typeface="微软雅黑" panose="020B0503020204020204" pitchFamily="34" charset="-122"/>
              </a:rPr>
              <a:t>多态：</a:t>
            </a:r>
            <a:r>
              <a:rPr lang="zh-CN" altLang="en-US" sz="2400" b="1" dirty="0" smtClean="0">
                <a:latin typeface="微软雅黑" panose="020B0503020204020204" pitchFamily="34" charset="-122"/>
                <a:ea typeface="微软雅黑" panose="020B0503020204020204" pitchFamily="34" charset="-122"/>
              </a:rPr>
              <a:t>同一名称，不同的功能实现方式。</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60000"/>
              </a:lnSpc>
              <a:buClr>
                <a:srgbClr val="FFC000"/>
              </a:buClr>
            </a:pPr>
            <a:r>
              <a:rPr lang="zh-CN" altLang="en-US" sz="2400" b="1" dirty="0" smtClean="0">
                <a:solidFill>
                  <a:srgbClr val="FFFF00"/>
                </a:solidFill>
                <a:latin typeface="微软雅黑" panose="020B0503020204020204" pitchFamily="34" charset="-122"/>
                <a:ea typeface="微软雅黑" panose="020B0503020204020204" pitchFamily="34" charset="-122"/>
              </a:rPr>
              <a:t>目的：</a:t>
            </a:r>
            <a:r>
              <a:rPr lang="zh-CN" altLang="en-US" sz="2400" b="1" dirty="0" smtClean="0">
                <a:latin typeface="微软雅黑" panose="020B0503020204020204" pitchFamily="34" charset="-122"/>
                <a:ea typeface="微软雅黑" panose="020B0503020204020204" pitchFamily="34" charset="-122"/>
              </a:rPr>
              <a:t>达到行为标识统一，减少程序中标识符的个数。</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60000"/>
              </a:lnSpc>
              <a:buClr>
                <a:srgbClr val="FFC000"/>
              </a:buClr>
            </a:pPr>
            <a:r>
              <a:rPr lang="zh-CN" altLang="en-US" sz="2400" b="1" dirty="0" smtClean="0">
                <a:solidFill>
                  <a:srgbClr val="FFFF00"/>
                </a:solidFill>
                <a:latin typeface="微软雅黑" panose="020B0503020204020204" pitchFamily="34" charset="-122"/>
                <a:ea typeface="微软雅黑" panose="020B0503020204020204" pitchFamily="34" charset="-122"/>
              </a:rPr>
              <a:t>实现：</a:t>
            </a:r>
            <a:r>
              <a:rPr lang="en-US" altLang="zh-CN" sz="2400" b="1" dirty="0">
                <a:latin typeface="微软雅黑" panose="020B0503020204020204" pitchFamily="34" charset="-122"/>
                <a:ea typeface="微软雅黑" panose="020B0503020204020204" pitchFamily="34" charset="-122"/>
              </a:rPr>
              <a:t> C++</a:t>
            </a:r>
            <a:r>
              <a:rPr lang="zh-CN" altLang="en-US" sz="2400" b="1" dirty="0">
                <a:latin typeface="微软雅黑" panose="020B0503020204020204" pitchFamily="34" charset="-122"/>
                <a:ea typeface="微软雅黑" panose="020B0503020204020204" pitchFamily="34" charset="-122"/>
              </a:rPr>
              <a:t>有强制</a:t>
            </a:r>
            <a:r>
              <a:rPr lang="zh-CN" altLang="en-US" sz="2400" b="1" dirty="0" smtClean="0">
                <a:latin typeface="微软雅黑" panose="020B0503020204020204" pitchFamily="34" charset="-122"/>
                <a:ea typeface="微软雅黑" panose="020B0503020204020204" pitchFamily="34" charset="-122"/>
              </a:rPr>
              <a:t>多态（通过将一种类型的数据转换为另一种类型的数据来实现）、</a:t>
            </a:r>
            <a:r>
              <a:rPr lang="zh-CN" altLang="en-US" sz="2400" b="1" dirty="0">
                <a:latin typeface="微软雅黑" panose="020B0503020204020204" pitchFamily="34" charset="-122"/>
                <a:ea typeface="微软雅黑" panose="020B0503020204020204" pitchFamily="34" charset="-122"/>
              </a:rPr>
              <a:t>重载</a:t>
            </a:r>
            <a:r>
              <a:rPr lang="zh-CN" altLang="en-US" sz="2400" b="1" dirty="0" smtClean="0">
                <a:latin typeface="微软雅黑" panose="020B0503020204020204" pitchFamily="34" charset="-122"/>
                <a:ea typeface="微软雅黑" panose="020B0503020204020204" pitchFamily="34" charset="-122"/>
              </a:rPr>
              <a:t>多态（同一个名字赋予不同含义）、</a:t>
            </a:r>
            <a:r>
              <a:rPr lang="zh-CN" altLang="en-US" sz="2400" b="1" dirty="0">
                <a:latin typeface="微软雅黑" panose="020B0503020204020204" pitchFamily="34" charset="-122"/>
                <a:ea typeface="微软雅黑" panose="020B0503020204020204" pitchFamily="34" charset="-122"/>
              </a:rPr>
              <a:t>类型参数化</a:t>
            </a:r>
            <a:r>
              <a:rPr lang="zh-CN" altLang="en-US" sz="2400" b="1" dirty="0" smtClean="0">
                <a:latin typeface="微软雅黑" panose="020B0503020204020204" pitchFamily="34" charset="-122"/>
                <a:ea typeface="微软雅黑" panose="020B0503020204020204" pitchFamily="34" charset="-122"/>
              </a:rPr>
              <a:t>多态（模板）、</a:t>
            </a:r>
            <a:r>
              <a:rPr lang="zh-CN" altLang="en-US" sz="2400" b="1" dirty="0">
                <a:latin typeface="微软雅黑" panose="020B0503020204020204" pitchFamily="34" charset="-122"/>
                <a:ea typeface="微软雅黑" panose="020B0503020204020204" pitchFamily="34" charset="-122"/>
              </a:rPr>
              <a:t>包含</a:t>
            </a:r>
            <a:r>
              <a:rPr lang="zh-CN" altLang="en-US" sz="2400" b="1" dirty="0" smtClean="0">
                <a:latin typeface="微软雅黑" panose="020B0503020204020204" pitchFamily="34" charset="-122"/>
                <a:ea typeface="微软雅黑" panose="020B0503020204020204" pitchFamily="34" charset="-122"/>
              </a:rPr>
              <a:t>多态（虚函数）</a:t>
            </a:r>
            <a:r>
              <a:rPr lang="en-US" altLang="zh-CN" sz="2400" b="1" dirty="0" smtClean="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种形式来实现</a:t>
            </a:r>
            <a:r>
              <a:rPr lang="zh-CN" altLang="en-US" sz="2400" b="1" dirty="0" smtClean="0">
                <a:latin typeface="微软雅黑" panose="020B0503020204020204" pitchFamily="34" charset="-122"/>
                <a:ea typeface="微软雅黑" panose="020B0503020204020204" pitchFamily="34" charset="-122"/>
              </a:rPr>
              <a:t>。 </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60000"/>
              </a:lnSpc>
              <a:buClr>
                <a:srgbClr val="FFC000"/>
              </a:buClr>
            </a:pPr>
            <a:r>
              <a:rPr lang="zh-CN" altLang="en-US" sz="2400" b="1" dirty="0" smtClean="0">
                <a:latin typeface="微软雅黑" panose="020B0503020204020204" pitchFamily="34" charset="-122"/>
                <a:ea typeface="微软雅黑" panose="020B0503020204020204" pitchFamily="34" charset="-122"/>
              </a:rPr>
              <a:t>重载函数和虚函数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见</a:t>
            </a:r>
            <a:r>
              <a:rPr lang="zh-CN" altLang="en-US" sz="2400" b="1" dirty="0" smtClean="0">
                <a:solidFill>
                  <a:srgbClr val="FFFF00"/>
                </a:solidFill>
                <a:latin typeface="微软雅黑" panose="020B0503020204020204" pitchFamily="34" charset="-122"/>
                <a:ea typeface="微软雅黑" panose="020B0503020204020204" pitchFamily="34" charset="-122"/>
              </a:rPr>
              <a:t>第</a:t>
            </a:r>
            <a:r>
              <a:rPr lang="en-US" altLang="zh-CN" sz="2400" b="1" dirty="0" smtClean="0">
                <a:solidFill>
                  <a:srgbClr val="FFFF00"/>
                </a:solidFill>
                <a:latin typeface="微软雅黑" panose="020B0503020204020204" pitchFamily="34" charset="-122"/>
                <a:ea typeface="微软雅黑" panose="020B0503020204020204" pitchFamily="34" charset="-122"/>
              </a:rPr>
              <a:t>8</a:t>
            </a:r>
            <a:r>
              <a:rPr lang="zh-CN" altLang="en-US" sz="2400" b="1" dirty="0" smtClean="0">
                <a:solidFill>
                  <a:srgbClr val="FFFF00"/>
                </a:solidFill>
                <a:latin typeface="微软雅黑" panose="020B0503020204020204" pitchFamily="34" charset="-122"/>
                <a:ea typeface="微软雅黑" panose="020B0503020204020204" pitchFamily="34" charset="-122"/>
              </a:rPr>
              <a:t>章</a:t>
            </a:r>
            <a:r>
              <a:rPr lang="zh-CN" altLang="en-US" sz="2400" b="1" dirty="0">
                <a:latin typeface="微软雅黑" panose="020B0503020204020204" pitchFamily="34" charset="-122"/>
                <a:ea typeface="微软雅黑" panose="020B0503020204020204" pitchFamily="34" charset="-122"/>
              </a:rPr>
              <a:t>、模板</a:t>
            </a:r>
            <a:r>
              <a:rPr lang="en-US" altLang="zh-CN" sz="2400" b="1" dirty="0">
                <a:latin typeface="微软雅黑" panose="020B0503020204020204" pitchFamily="34" charset="-122"/>
                <a:ea typeface="微软雅黑" panose="020B0503020204020204" pitchFamily="34" charset="-122"/>
              </a:rPr>
              <a:t>——</a:t>
            </a:r>
            <a:r>
              <a:rPr lang="zh-CN" altLang="en-US" sz="2400" b="1" dirty="0" smtClean="0">
                <a:solidFill>
                  <a:srgbClr val="FFFF00"/>
                </a:solidFill>
                <a:latin typeface="微软雅黑" panose="020B0503020204020204" pitchFamily="34" charset="-122"/>
                <a:ea typeface="微软雅黑" panose="020B0503020204020204" pitchFamily="34" charset="-122"/>
              </a:rPr>
              <a:t>见第</a:t>
            </a:r>
            <a:r>
              <a:rPr lang="en-US" altLang="zh-CN" sz="2400" b="1" dirty="0" smtClean="0">
                <a:solidFill>
                  <a:srgbClr val="FFFF00"/>
                </a:solidFill>
                <a:latin typeface="微软雅黑" panose="020B0503020204020204" pitchFamily="34" charset="-122"/>
                <a:ea typeface="微软雅黑" panose="020B0503020204020204" pitchFamily="34" charset="-122"/>
              </a:rPr>
              <a:t>9</a:t>
            </a:r>
            <a:r>
              <a:rPr lang="zh-CN" altLang="en-US" sz="2400" b="1" dirty="0" smtClean="0">
                <a:solidFill>
                  <a:srgbClr val="FFFF00"/>
                </a:solidFill>
                <a:latin typeface="微软雅黑" panose="020B0503020204020204" pitchFamily="34" charset="-122"/>
                <a:ea typeface="微软雅黑" panose="020B0503020204020204" pitchFamily="34" charset="-122"/>
              </a:rPr>
              <a:t>章。</a:t>
            </a:r>
            <a:endParaRPr lang="zh-CN" altLang="en-US" sz="2400" b="1" dirty="0" smtClean="0">
              <a:solidFill>
                <a:srgbClr val="FFFF00"/>
              </a:solidFill>
              <a:latin typeface="微软雅黑" panose="020B0503020204020204" pitchFamily="34" charset="-122"/>
              <a:ea typeface="微软雅黑" panose="020B0503020204020204" pitchFamily="34" charset="-122"/>
            </a:endParaRPr>
          </a:p>
          <a:p>
            <a:pPr eaLnBrk="1" hangingPunct="1">
              <a:buClr>
                <a:srgbClr val="FFC000"/>
              </a:buClr>
            </a:pP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395536" y="2852936"/>
            <a:ext cx="8352928" cy="1285789"/>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SzPct val="250000"/>
              <a:buFont typeface="+mj-lt"/>
              <a:buAutoNum type="arabicPeriod" startAt="2"/>
            </a:pPr>
            <a:r>
              <a:rPr lang="en-US" altLang="zh-CN" sz="8000" b="1" dirty="0" smtClean="0">
                <a:ea typeface="华文彩云" panose="02010800040101010101" pitchFamily="2" charset="-122"/>
              </a:rPr>
              <a:t>   </a:t>
            </a:r>
            <a:r>
              <a:rPr lang="zh-CN" altLang="en-US" sz="9600" b="1" dirty="0" smtClean="0">
                <a:ea typeface="华文彩云" panose="02010800040101010101" pitchFamily="2" charset="-122"/>
              </a:rPr>
              <a:t>类和对象</a:t>
            </a:r>
            <a:endParaRPr lang="zh-CN" altLang="en-US" sz="9600" dirty="0">
              <a:solidFill>
                <a:srgbClr val="FFFF00"/>
              </a:solidFill>
            </a:endParaRPr>
          </a:p>
        </p:txBody>
      </p:sp>
      <p:grpSp>
        <p:nvGrpSpPr>
          <p:cNvPr id="689168" name="Group 16"/>
          <p:cNvGrpSpPr/>
          <p:nvPr/>
        </p:nvGrpSpPr>
        <p:grpSpPr bwMode="auto">
          <a:xfrm>
            <a:off x="5508104" y="620688"/>
            <a:ext cx="2448272" cy="1579652"/>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4.2 </a:t>
            </a:r>
            <a:r>
              <a:rPr lang="zh-CN" altLang="en-US" sz="4400" b="1">
                <a:latin typeface="Times New Roman" panose="02020603050405020304" pitchFamily="18" charset="0"/>
                <a:ea typeface="隶书" panose="02010509060101010101" pitchFamily="49" charset="-122"/>
              </a:rPr>
              <a:t>类和对象</a:t>
            </a:r>
            <a:endParaRPr lang="zh-CN" altLang="en-US" sz="4400" b="1">
              <a:latin typeface="Times New Roman" panose="02020603050405020304" pitchFamily="18" charset="0"/>
              <a:ea typeface="隶书" panose="02010509060101010101" pitchFamily="49" charset="-122"/>
            </a:endParaRPr>
          </a:p>
        </p:txBody>
      </p:sp>
      <p:sp>
        <p:nvSpPr>
          <p:cNvPr id="22531" name="内容占位符 2"/>
          <p:cNvSpPr>
            <a:spLocks noGrp="1"/>
          </p:cNvSpPr>
          <p:nvPr>
            <p:ph idx="1"/>
          </p:nvPr>
        </p:nvSpPr>
        <p:spPr>
          <a:xfrm>
            <a:off x="628650" y="1196752"/>
            <a:ext cx="7886700" cy="3888432"/>
          </a:xfrm>
        </p:spPr>
        <p:txBody>
          <a:bodyPr/>
          <a:lstStyle/>
          <a:p>
            <a:pPr eaLnBrk="1" hangingPunct="1">
              <a:lnSpc>
                <a:spcPct val="150000"/>
              </a:lnSpc>
              <a:spcAft>
                <a:spcPts val="600"/>
              </a:spcAft>
              <a:buClr>
                <a:srgbClr val="FFC000"/>
              </a:buClr>
            </a:pPr>
            <a:r>
              <a:rPr lang="zh-CN" altLang="en-US" sz="2400" b="1" dirty="0">
                <a:solidFill>
                  <a:srgbClr val="FFFF00"/>
                </a:solidFill>
                <a:latin typeface="微软雅黑" panose="020B0503020204020204" pitchFamily="34" charset="-122"/>
                <a:ea typeface="微软雅黑" panose="020B0503020204020204" pitchFamily="34" charset="-122"/>
              </a:rPr>
              <a:t>类是具有相同属性和行为的一组对象的集合</a:t>
            </a:r>
            <a:r>
              <a:rPr lang="zh-CN" altLang="en-US" sz="2400" b="1" dirty="0">
                <a:latin typeface="微软雅黑" panose="020B0503020204020204" pitchFamily="34" charset="-122"/>
                <a:ea typeface="微软雅黑" panose="020B0503020204020204" pitchFamily="34" charset="-122"/>
              </a:rPr>
              <a:t>，它为属于该类的全部对象提供了统一的抽象描述，其内部</a:t>
            </a:r>
            <a:r>
              <a:rPr lang="zh-CN" altLang="en-US" sz="2400" b="1" dirty="0">
                <a:solidFill>
                  <a:srgbClr val="FFFF00"/>
                </a:solidFill>
                <a:latin typeface="微软雅黑" panose="020B0503020204020204" pitchFamily="34" charset="-122"/>
                <a:ea typeface="微软雅黑" panose="020B0503020204020204" pitchFamily="34" charset="-122"/>
              </a:rPr>
              <a:t>包括属性和行为</a:t>
            </a:r>
            <a:r>
              <a:rPr lang="zh-CN" altLang="en-US" sz="2400" b="1" dirty="0">
                <a:latin typeface="微软雅黑" panose="020B0503020204020204" pitchFamily="34" charset="-122"/>
                <a:ea typeface="微软雅黑" panose="020B0503020204020204" pitchFamily="34" charset="-122"/>
              </a:rPr>
              <a:t>两个主要部分。</a:t>
            </a: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Aft>
                <a:spcPts val="600"/>
              </a:spcAft>
              <a:buClr>
                <a:srgbClr val="FFC000"/>
              </a:buClr>
            </a:pPr>
            <a:r>
              <a:rPr lang="zh-CN" altLang="en-US" sz="2400" b="1" dirty="0" smtClean="0">
                <a:latin typeface="微软雅黑" panose="020B0503020204020204" pitchFamily="34" charset="-122"/>
                <a:ea typeface="微软雅黑" panose="020B0503020204020204" pitchFamily="34" charset="-122"/>
              </a:rPr>
              <a:t>类  可以</a:t>
            </a:r>
            <a:r>
              <a:rPr lang="zh-CN" altLang="en-US" sz="2400" b="1" dirty="0">
                <a:latin typeface="微软雅黑" panose="020B0503020204020204" pitchFamily="34" charset="-122"/>
                <a:ea typeface="微软雅黑" panose="020B0503020204020204" pitchFamily="34" charset="-122"/>
              </a:rPr>
              <a:t>实现数据的封装、隐藏、继承与派生。</a:t>
            </a: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Aft>
                <a:spcPts val="600"/>
              </a:spcAft>
              <a:buClr>
                <a:srgbClr val="FFC000"/>
              </a:buClr>
            </a:pPr>
            <a:r>
              <a:rPr lang="zh-CN" altLang="en-US" sz="2400" b="1" dirty="0" smtClean="0">
                <a:latin typeface="微软雅黑" panose="020B0503020204020204" pitchFamily="34" charset="-122"/>
                <a:ea typeface="微软雅黑" panose="020B0503020204020204" pitchFamily="34" charset="-122"/>
              </a:rPr>
              <a:t>类  易于</a:t>
            </a:r>
            <a:r>
              <a:rPr lang="zh-CN" altLang="en-US" sz="2400" b="1" dirty="0">
                <a:latin typeface="微软雅黑" panose="020B0503020204020204" pitchFamily="34" charset="-122"/>
                <a:ea typeface="微软雅黑" panose="020B0503020204020204" pitchFamily="34" charset="-122"/>
              </a:rPr>
              <a:t>编写大型复杂程序，其模块化程度比</a:t>
            </a:r>
            <a:r>
              <a:rPr lang="en-US" altLang="zh-CN" sz="2400" b="1" dirty="0">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中采用函数更高</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相当于车的套件、灯具的集成件</a:t>
            </a:r>
            <a:r>
              <a:rPr lang="en-US" altLang="zh-CN"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
          <p:cNvSpPr>
            <a:spLocks noGrp="1" noChangeArrowheads="1"/>
          </p:cNvSpPr>
          <p:nvPr>
            <p:ph type="sldNum" sz="quarter" idx="4294967295"/>
          </p:nvPr>
        </p:nvSpPr>
        <p:spPr>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7FC8C906-98ED-4894-A5B9-7E4468EE6ECA}"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6" name="灯片编号占位符 4"/>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8196" name="Rectangle 3"/>
          <p:cNvSpPr>
            <a:spLocks noGrp="1" noChangeArrowheads="1"/>
          </p:cNvSpPr>
          <p:nvPr>
            <p:ph type="body" idx="1"/>
          </p:nvPr>
        </p:nvSpPr>
        <p:spPr>
          <a:xfrm>
            <a:off x="1331913" y="1063601"/>
            <a:ext cx="7416800" cy="1296987"/>
          </a:xfrm>
          <a:noFill/>
          <a:ln>
            <a:noFill/>
            <a:miter lim="800000"/>
          </a:ln>
        </p:spPr>
        <p:txBody>
          <a:bodyPr/>
          <a:lstStyle/>
          <a:p>
            <a:pPr marL="0" indent="0" eaLnBrk="1" hangingPunct="1">
              <a:lnSpc>
                <a:spcPct val="150000"/>
              </a:lnSpc>
              <a:buClr>
                <a:srgbClr val="000099"/>
              </a:buClr>
              <a:buSzPct val="65000"/>
              <a:buFont typeface="Wingdings" panose="05000000000000000000" pitchFamily="2" charset="2"/>
              <a:buNone/>
            </a:pPr>
            <a:r>
              <a:rPr lang="zh-CN" altLang="en-US" sz="2400" b="1" dirty="0" smtClean="0">
                <a:latin typeface="微软雅黑" panose="020B0503020204020204" pitchFamily="34" charset="-122"/>
                <a:ea typeface="微软雅黑" panose="020B0503020204020204" pitchFamily="34" charset="-122"/>
              </a:rPr>
              <a:t>类定义一般分为：</a:t>
            </a:r>
            <a:r>
              <a:rPr lang="zh-CN" altLang="en-US" sz="2400" b="1" dirty="0" smtClean="0">
                <a:solidFill>
                  <a:srgbClr val="FFFF00"/>
                </a:solidFill>
                <a:latin typeface="微软雅黑" panose="020B0503020204020204" pitchFamily="34" charset="-122"/>
                <a:ea typeface="微软雅黑" panose="020B0503020204020204" pitchFamily="34" charset="-122"/>
              </a:rPr>
              <a:t>说明部分</a:t>
            </a:r>
            <a:r>
              <a:rPr lang="zh-CN" altLang="en-US" sz="2400" b="1" dirty="0" smtClean="0">
                <a:latin typeface="微软雅黑" panose="020B0503020204020204" pitchFamily="34" charset="-122"/>
                <a:ea typeface="微软雅黑" panose="020B0503020204020204" pitchFamily="34" charset="-122"/>
              </a:rPr>
              <a:t>和</a:t>
            </a:r>
            <a:r>
              <a:rPr lang="zh-CN" altLang="en-US" sz="2400" b="1" dirty="0" smtClean="0">
                <a:solidFill>
                  <a:srgbClr val="FFFF00"/>
                </a:solidFill>
                <a:latin typeface="微软雅黑" panose="020B0503020204020204" pitchFamily="34" charset="-122"/>
                <a:ea typeface="微软雅黑" panose="020B0503020204020204" pitchFamily="34" charset="-122"/>
              </a:rPr>
              <a:t>实现部分</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lnSpc>
                <a:spcPct val="150000"/>
              </a:lnSpc>
              <a:buClr>
                <a:srgbClr val="000099"/>
              </a:buClr>
              <a:buSzPct val="65000"/>
              <a:buFont typeface="Wingdings" panose="05000000000000000000" pitchFamily="2" charset="2"/>
              <a:buNone/>
            </a:pPr>
            <a:r>
              <a:rPr lang="zh-CN" altLang="en-US" sz="2400" b="1" dirty="0" smtClean="0">
                <a:latin typeface="微软雅黑" panose="020B0503020204020204" pitchFamily="34" charset="-122"/>
                <a:ea typeface="微软雅黑" panose="020B0503020204020204" pitchFamily="34" charset="-122"/>
              </a:rPr>
              <a:t>说明部分是说明该类中的成员</a:t>
            </a: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lnSpc>
                <a:spcPct val="150000"/>
              </a:lnSpc>
              <a:buClr>
                <a:srgbClr val="000099"/>
              </a:buClr>
              <a:buSzPct val="65000"/>
              <a:buFont typeface="Wingdings" panose="05000000000000000000" pitchFamily="2" charset="2"/>
              <a:buNone/>
            </a:pPr>
            <a:r>
              <a:rPr lang="zh-CN" altLang="en-US" sz="2400" b="1" dirty="0" smtClean="0">
                <a:latin typeface="微软雅黑" panose="020B0503020204020204" pitchFamily="34" charset="-122"/>
                <a:ea typeface="微软雅黑" panose="020B0503020204020204" pitchFamily="34" charset="-122"/>
              </a:rPr>
              <a:t>实现部分是对成员函数的定义。</a:t>
            </a:r>
            <a:endParaRPr lang="zh-CN" altLang="en-US" sz="2400" b="1" dirty="0" smtClean="0">
              <a:latin typeface="微软雅黑" panose="020B0503020204020204" pitchFamily="34" charset="-122"/>
              <a:ea typeface="微软雅黑" panose="020B0503020204020204" pitchFamily="34" charset="-122"/>
            </a:endParaRPr>
          </a:p>
        </p:txBody>
      </p:sp>
      <p:sp>
        <p:nvSpPr>
          <p:cNvPr id="8197" name="Text Box 5"/>
          <p:cNvSpPr txBox="1">
            <a:spLocks noChangeArrowheads="1"/>
          </p:cNvSpPr>
          <p:nvPr/>
        </p:nvSpPr>
        <p:spPr bwMode="auto">
          <a:xfrm>
            <a:off x="1331913" y="2997200"/>
            <a:ext cx="7416800" cy="3527425"/>
          </a:xfrm>
          <a:prstGeom prst="rect">
            <a:avLst/>
          </a:prstGeom>
          <a:solidFill>
            <a:srgbClr val="FFFFFF"/>
          </a:solidFill>
          <a:ln w="9525">
            <a:solidFill>
              <a:srgbClr val="000000"/>
            </a:solidFill>
            <a:miter lim="800000"/>
          </a:ln>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90000"/>
              </a:lnSpc>
              <a:spcBef>
                <a:spcPct val="0"/>
              </a:spcBef>
            </a:pPr>
            <a:r>
              <a:rPr kumimoji="0" lang="en-US" altLang="zh-CN" dirty="0">
                <a:solidFill>
                  <a:srgbClr val="2F2FC5"/>
                </a:solidFill>
              </a:rPr>
              <a:t>class</a:t>
            </a:r>
            <a:r>
              <a:rPr kumimoji="0" lang="en-US" altLang="zh-CN" dirty="0">
                <a:solidFill>
                  <a:srgbClr val="000000"/>
                </a:solidFill>
              </a:rPr>
              <a:t>  </a:t>
            </a:r>
            <a:r>
              <a:rPr kumimoji="0" lang="zh-CN" altLang="en-US" dirty="0">
                <a:solidFill>
                  <a:srgbClr val="000000"/>
                </a:solidFill>
              </a:rPr>
              <a:t>类名 </a:t>
            </a:r>
            <a:endParaRPr kumimoji="0" lang="zh-CN" altLang="en-US" dirty="0">
              <a:solidFill>
                <a:srgbClr val="000000"/>
              </a:solidFill>
            </a:endParaRPr>
          </a:p>
          <a:p>
            <a:pPr algn="l" eaLnBrk="1" hangingPunct="1">
              <a:lnSpc>
                <a:spcPct val="90000"/>
              </a:lnSpc>
              <a:spcBef>
                <a:spcPct val="0"/>
              </a:spcBef>
            </a:pPr>
            <a:r>
              <a:rPr kumimoji="0" lang="en-US" altLang="zh-CN" dirty="0">
                <a:solidFill>
                  <a:srgbClr val="000000"/>
                </a:solidFill>
              </a:rPr>
              <a:t>{</a:t>
            </a:r>
            <a:endParaRPr kumimoji="0" lang="en-US" altLang="zh-CN" dirty="0">
              <a:solidFill>
                <a:srgbClr val="000000"/>
              </a:solidFill>
            </a:endParaRPr>
          </a:p>
          <a:p>
            <a:pPr algn="l" eaLnBrk="1" hangingPunct="1">
              <a:lnSpc>
                <a:spcPct val="90000"/>
              </a:lnSpc>
              <a:spcBef>
                <a:spcPct val="0"/>
              </a:spcBef>
            </a:pPr>
            <a:r>
              <a:rPr kumimoji="0" lang="en-US" altLang="zh-CN" dirty="0">
                <a:solidFill>
                  <a:srgbClr val="000000"/>
                </a:solidFill>
              </a:rPr>
              <a:t>     </a:t>
            </a:r>
            <a:r>
              <a:rPr kumimoji="0" lang="en-US" altLang="zh-CN" dirty="0">
                <a:solidFill>
                  <a:srgbClr val="2F2FC5"/>
                </a:solidFill>
              </a:rPr>
              <a:t>public</a:t>
            </a:r>
            <a:r>
              <a:rPr kumimoji="0" lang="en-US" altLang="zh-CN" dirty="0">
                <a:solidFill>
                  <a:srgbClr val="000000"/>
                </a:solidFill>
              </a:rPr>
              <a:t>:</a:t>
            </a:r>
            <a:endParaRPr kumimoji="0" lang="en-US" altLang="zh-CN" dirty="0">
              <a:solidFill>
                <a:srgbClr val="000000"/>
              </a:solidFill>
            </a:endParaRPr>
          </a:p>
          <a:p>
            <a:pPr algn="l" eaLnBrk="1" hangingPunct="1">
              <a:lnSpc>
                <a:spcPct val="90000"/>
              </a:lnSpc>
              <a:spcBef>
                <a:spcPct val="0"/>
              </a:spcBef>
            </a:pPr>
            <a:r>
              <a:rPr kumimoji="0" lang="en-US" altLang="zh-CN" dirty="0">
                <a:solidFill>
                  <a:srgbClr val="000000"/>
                </a:solidFill>
              </a:rPr>
              <a:t>	</a:t>
            </a:r>
            <a:r>
              <a:rPr kumimoji="0" lang="zh-CN" altLang="en-US" dirty="0">
                <a:solidFill>
                  <a:srgbClr val="000000"/>
                </a:solidFill>
              </a:rPr>
              <a:t>数据成员或成员函数的声明</a:t>
            </a:r>
            <a:r>
              <a:rPr kumimoji="0" lang="en-US" altLang="zh-CN" dirty="0">
                <a:solidFill>
                  <a:srgbClr val="000000"/>
                </a:solidFill>
              </a:rPr>
              <a:t>;</a:t>
            </a:r>
            <a:endParaRPr kumimoji="0" lang="en-US" altLang="zh-CN" dirty="0">
              <a:solidFill>
                <a:srgbClr val="000000"/>
              </a:solidFill>
            </a:endParaRPr>
          </a:p>
          <a:p>
            <a:pPr algn="l" eaLnBrk="1" hangingPunct="1">
              <a:lnSpc>
                <a:spcPct val="90000"/>
              </a:lnSpc>
              <a:spcBef>
                <a:spcPct val="0"/>
              </a:spcBef>
            </a:pPr>
            <a:r>
              <a:rPr kumimoji="0" lang="en-US" altLang="zh-CN" dirty="0">
                <a:solidFill>
                  <a:srgbClr val="000000"/>
                </a:solidFill>
              </a:rPr>
              <a:t>     </a:t>
            </a:r>
            <a:r>
              <a:rPr kumimoji="0" lang="en-US" altLang="zh-CN" dirty="0">
                <a:solidFill>
                  <a:srgbClr val="2F2FC5"/>
                </a:solidFill>
              </a:rPr>
              <a:t>private</a:t>
            </a:r>
            <a:r>
              <a:rPr kumimoji="0" lang="en-US" altLang="zh-CN" dirty="0">
                <a:solidFill>
                  <a:srgbClr val="000000"/>
                </a:solidFill>
              </a:rPr>
              <a:t>:</a:t>
            </a:r>
            <a:endParaRPr kumimoji="0" lang="en-US" altLang="zh-CN" dirty="0">
              <a:solidFill>
                <a:srgbClr val="000000"/>
              </a:solidFill>
            </a:endParaRPr>
          </a:p>
          <a:p>
            <a:pPr algn="l" eaLnBrk="1" hangingPunct="1">
              <a:lnSpc>
                <a:spcPct val="90000"/>
              </a:lnSpc>
              <a:spcBef>
                <a:spcPct val="0"/>
              </a:spcBef>
            </a:pPr>
            <a:r>
              <a:rPr kumimoji="0" lang="en-US" altLang="zh-CN" dirty="0">
                <a:solidFill>
                  <a:srgbClr val="000000"/>
                </a:solidFill>
              </a:rPr>
              <a:t>    	</a:t>
            </a:r>
            <a:r>
              <a:rPr kumimoji="0" lang="zh-CN" altLang="en-US" dirty="0">
                <a:solidFill>
                  <a:srgbClr val="000000"/>
                </a:solidFill>
              </a:rPr>
              <a:t>数据成员或成员函数的声明</a:t>
            </a:r>
            <a:r>
              <a:rPr kumimoji="0" lang="en-US" altLang="zh-CN" dirty="0">
                <a:solidFill>
                  <a:srgbClr val="000000"/>
                </a:solidFill>
              </a:rPr>
              <a:t>;</a:t>
            </a:r>
            <a:r>
              <a:rPr kumimoji="0" lang="zh-CN" altLang="en-US" dirty="0">
                <a:solidFill>
                  <a:srgbClr val="000000"/>
                </a:solidFill>
              </a:rPr>
              <a:t>　　</a:t>
            </a:r>
            <a:r>
              <a:rPr kumimoji="0" lang="zh-CN" altLang="en-US" sz="2800" dirty="0">
                <a:solidFill>
                  <a:srgbClr val="C00000"/>
                </a:solidFill>
              </a:rPr>
              <a:t>说明部分</a:t>
            </a:r>
            <a:endParaRPr kumimoji="0" lang="zh-CN" altLang="en-US" sz="2800" dirty="0">
              <a:solidFill>
                <a:srgbClr val="C00000"/>
              </a:solidFill>
            </a:endParaRPr>
          </a:p>
          <a:p>
            <a:pPr algn="l" eaLnBrk="1" hangingPunct="1">
              <a:lnSpc>
                <a:spcPct val="90000"/>
              </a:lnSpc>
              <a:spcBef>
                <a:spcPct val="0"/>
              </a:spcBef>
            </a:pPr>
            <a:r>
              <a:rPr kumimoji="0" lang="zh-CN" altLang="en-US" dirty="0">
                <a:solidFill>
                  <a:srgbClr val="000000"/>
                </a:solidFill>
              </a:rPr>
              <a:t>     </a:t>
            </a:r>
            <a:r>
              <a:rPr kumimoji="0" lang="en-US" altLang="zh-CN" dirty="0">
                <a:solidFill>
                  <a:srgbClr val="2F2FC5"/>
                </a:solidFill>
              </a:rPr>
              <a:t>protected</a:t>
            </a:r>
            <a:r>
              <a:rPr kumimoji="0" lang="en-US" altLang="zh-CN" dirty="0">
                <a:solidFill>
                  <a:srgbClr val="000000"/>
                </a:solidFill>
              </a:rPr>
              <a:t>:</a:t>
            </a:r>
            <a:endParaRPr kumimoji="0" lang="en-US" altLang="zh-CN" dirty="0">
              <a:solidFill>
                <a:srgbClr val="000000"/>
              </a:solidFill>
            </a:endParaRPr>
          </a:p>
          <a:p>
            <a:pPr algn="l" eaLnBrk="1" hangingPunct="1">
              <a:lnSpc>
                <a:spcPct val="90000"/>
              </a:lnSpc>
              <a:spcBef>
                <a:spcPct val="0"/>
              </a:spcBef>
            </a:pPr>
            <a:r>
              <a:rPr kumimoji="0" lang="en-US" altLang="zh-CN" dirty="0">
                <a:solidFill>
                  <a:srgbClr val="000000"/>
                </a:solidFill>
              </a:rPr>
              <a:t>    	</a:t>
            </a:r>
            <a:r>
              <a:rPr kumimoji="0" lang="zh-CN" altLang="en-US" dirty="0">
                <a:solidFill>
                  <a:srgbClr val="000000"/>
                </a:solidFill>
              </a:rPr>
              <a:t>数据成员或成员函数的声明</a:t>
            </a:r>
            <a:r>
              <a:rPr kumimoji="0" lang="en-US" altLang="zh-CN" dirty="0">
                <a:solidFill>
                  <a:srgbClr val="000000"/>
                </a:solidFill>
              </a:rPr>
              <a:t>;</a:t>
            </a:r>
            <a:endParaRPr kumimoji="0" lang="en-US" altLang="zh-CN" dirty="0">
              <a:solidFill>
                <a:srgbClr val="000000"/>
              </a:solidFill>
            </a:endParaRPr>
          </a:p>
          <a:p>
            <a:pPr algn="l" eaLnBrk="1" hangingPunct="1">
              <a:lnSpc>
                <a:spcPct val="90000"/>
              </a:lnSpc>
              <a:spcBef>
                <a:spcPct val="0"/>
              </a:spcBef>
            </a:pPr>
            <a:r>
              <a:rPr kumimoji="0" lang="en-US" altLang="zh-CN" dirty="0">
                <a:solidFill>
                  <a:srgbClr val="000000"/>
                </a:solidFill>
              </a:rPr>
              <a:t>};</a:t>
            </a:r>
            <a:endParaRPr kumimoji="0" lang="en-US" altLang="zh-CN" dirty="0">
              <a:solidFill>
                <a:srgbClr val="000000"/>
              </a:solidFill>
            </a:endParaRPr>
          </a:p>
          <a:p>
            <a:pPr algn="l" eaLnBrk="1" hangingPunct="1">
              <a:lnSpc>
                <a:spcPct val="90000"/>
              </a:lnSpc>
              <a:spcBef>
                <a:spcPct val="0"/>
              </a:spcBef>
            </a:pPr>
            <a:r>
              <a:rPr kumimoji="0" lang="zh-CN" altLang="en-US" dirty="0">
                <a:solidFill>
                  <a:srgbClr val="000000"/>
                </a:solidFill>
              </a:rPr>
              <a:t>各个成员函数的定义　　　　　</a:t>
            </a:r>
            <a:r>
              <a:rPr kumimoji="0" lang="zh-CN" altLang="en-US" sz="2800" dirty="0">
                <a:solidFill>
                  <a:srgbClr val="C00000"/>
                </a:solidFill>
              </a:rPr>
              <a:t>实现部分</a:t>
            </a:r>
            <a:endParaRPr kumimoji="0" lang="zh-CN" altLang="en-US" sz="2800" dirty="0">
              <a:solidFill>
                <a:srgbClr val="C00000"/>
              </a:solidFill>
            </a:endParaRPr>
          </a:p>
        </p:txBody>
      </p:sp>
      <p:sp>
        <p:nvSpPr>
          <p:cNvPr id="8198" name="AutoShape 6"/>
          <p:cNvSpPr/>
          <p:nvPr/>
        </p:nvSpPr>
        <p:spPr bwMode="auto">
          <a:xfrm>
            <a:off x="6300788" y="3933825"/>
            <a:ext cx="265112" cy="1670050"/>
          </a:xfrm>
          <a:prstGeom prst="rightBrace">
            <a:avLst>
              <a:gd name="adj1" fmla="val 0"/>
              <a:gd name="adj2" fmla="val 50000"/>
            </a:avLst>
          </a:prstGeom>
          <a:noFill/>
          <a:ln w="9525">
            <a:solidFill>
              <a:srgbClr val="000099"/>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8199" name="Rectangle 8"/>
          <p:cNvSpPr>
            <a:spLocks noGrp="1" noChangeArrowheads="1"/>
          </p:cNvSpPr>
          <p:nvPr>
            <p:ph type="title"/>
          </p:nvPr>
        </p:nvSpPr>
        <p:spPr>
          <a:xfrm>
            <a:off x="611560" y="260648"/>
            <a:ext cx="7886700" cy="1325563"/>
          </a:xfrm>
          <a:noFill/>
        </p:spPr>
        <p:txBody>
          <a:bodyPr/>
          <a:lstStyle/>
          <a:p>
            <a:pPr algn="ctr" eaLnBrk="1" hangingPunct="1"/>
            <a:r>
              <a:rPr lang="en-US" altLang="zh-CN" sz="4400" b="1" dirty="0">
                <a:latin typeface="Times New Roman" panose="02020603050405020304" pitchFamily="18" charset="0"/>
                <a:ea typeface="隶书" panose="02010509060101010101" pitchFamily="49" charset="-122"/>
              </a:rPr>
              <a:t>4.2.1 </a:t>
            </a:r>
            <a:r>
              <a:rPr lang="zh-CN" altLang="en-US" sz="4400" b="1" dirty="0">
                <a:latin typeface="Times New Roman" panose="02020603050405020304" pitchFamily="18" charset="0"/>
                <a:ea typeface="隶书" panose="02010509060101010101" pitchFamily="49" charset="-122"/>
              </a:rPr>
              <a:t>类的定义</a:t>
            </a:r>
            <a:endParaRPr lang="zh-CN" altLang="en-US" sz="4400" b="1" dirty="0">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6475AA08-FCD9-4F1C-85AD-7E6CBCB2209C}"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4" name="灯片编号占位符 2"/>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0244" name="Rectangle 2"/>
          <p:cNvSpPr>
            <a:spLocks noChangeArrowheads="1"/>
          </p:cNvSpPr>
          <p:nvPr/>
        </p:nvSpPr>
        <p:spPr bwMode="auto">
          <a:xfrm>
            <a:off x="1042988" y="1773238"/>
            <a:ext cx="7659687" cy="415131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en-US" altLang="zh-CN" sz="2200" dirty="0">
                <a:solidFill>
                  <a:schemeClr val="hlink"/>
                </a:solidFill>
              </a:rPr>
              <a:t>//  </a:t>
            </a:r>
            <a:r>
              <a:rPr kumimoji="0" lang="zh-CN" altLang="en-US" sz="2200" dirty="0" smtClean="0">
                <a:solidFill>
                  <a:schemeClr val="hlink"/>
                </a:solidFill>
              </a:rPr>
              <a:t>日期</a:t>
            </a:r>
            <a:r>
              <a:rPr kumimoji="0" lang="zh-CN" altLang="en-US" sz="2200" dirty="0">
                <a:solidFill>
                  <a:schemeClr val="hlink"/>
                </a:solidFill>
              </a:rPr>
              <a:t>类的定义</a:t>
            </a:r>
            <a:endParaRPr kumimoji="0" lang="zh-CN" altLang="en-US" sz="2200" dirty="0">
              <a:solidFill>
                <a:schemeClr val="hlink"/>
              </a:solidFill>
            </a:endParaRPr>
          </a:p>
          <a:p>
            <a:pPr algn="l">
              <a:lnSpc>
                <a:spcPct val="100000"/>
              </a:lnSpc>
              <a:spcBef>
                <a:spcPct val="0"/>
              </a:spcBef>
            </a:pPr>
            <a:r>
              <a:rPr kumimoji="0" lang="en-US" altLang="zh-CN" sz="2200" dirty="0">
                <a:solidFill>
                  <a:schemeClr val="hlink"/>
                </a:solidFill>
              </a:rPr>
              <a:t>//  </a:t>
            </a:r>
            <a:r>
              <a:rPr kumimoji="0" lang="en-US" altLang="zh-CN" sz="2200" dirty="0" err="1">
                <a:solidFill>
                  <a:schemeClr val="hlink"/>
                </a:solidFill>
              </a:rPr>
              <a:t>date.h</a:t>
            </a:r>
            <a:endParaRPr kumimoji="0" lang="en-US" altLang="zh-CN" sz="2200" dirty="0">
              <a:solidFill>
                <a:schemeClr val="hlink"/>
              </a:solidFill>
              <a:cs typeface="Times New Roman" panose="02020603050405020304" pitchFamily="18" charset="0"/>
            </a:endParaRPr>
          </a:p>
          <a:p>
            <a:pPr algn="l">
              <a:lnSpc>
                <a:spcPct val="100000"/>
              </a:lnSpc>
              <a:spcBef>
                <a:spcPct val="0"/>
              </a:spcBef>
            </a:pPr>
            <a:r>
              <a:rPr kumimoji="0" lang="en-US" altLang="zh-CN" sz="2200" dirty="0"/>
              <a:t>class Date 		             </a:t>
            </a:r>
            <a:r>
              <a:rPr kumimoji="0" lang="en-US" altLang="zh-CN" sz="2200" dirty="0">
                <a:solidFill>
                  <a:srgbClr val="FFFF00"/>
                </a:solidFill>
              </a:rPr>
              <a:t>//</a:t>
            </a:r>
            <a:r>
              <a:rPr kumimoji="0" lang="zh-CN" altLang="en-US" sz="2200" dirty="0">
                <a:solidFill>
                  <a:srgbClr val="FFFF00"/>
                </a:solidFill>
              </a:rPr>
              <a:t>定义日期类</a:t>
            </a:r>
            <a:r>
              <a:rPr kumimoji="0" lang="en-US" altLang="zh-CN" sz="2200" dirty="0">
                <a:solidFill>
                  <a:srgbClr val="FFFF00"/>
                </a:solidFill>
              </a:rPr>
              <a:t>Date</a:t>
            </a:r>
            <a:endParaRPr kumimoji="0" lang="en-US" altLang="zh-CN" sz="2200" dirty="0">
              <a:solidFill>
                <a:srgbClr val="FFFF00"/>
              </a:solidFill>
            </a:endParaRPr>
          </a:p>
          <a:p>
            <a:pPr algn="l">
              <a:lnSpc>
                <a:spcPct val="100000"/>
              </a:lnSpc>
              <a:spcBef>
                <a:spcPct val="0"/>
              </a:spcBef>
            </a:pPr>
            <a:r>
              <a:rPr kumimoji="0" lang="en-US" altLang="zh-CN" sz="2200" dirty="0"/>
              <a:t>{</a:t>
            </a:r>
            <a:endParaRPr kumimoji="0" lang="en-US" altLang="zh-CN" sz="2200" dirty="0"/>
          </a:p>
          <a:p>
            <a:pPr algn="l">
              <a:lnSpc>
                <a:spcPct val="100000"/>
              </a:lnSpc>
              <a:spcBef>
                <a:spcPct val="0"/>
              </a:spcBef>
            </a:pPr>
            <a:r>
              <a:rPr kumimoji="0" lang="en-US" altLang="zh-CN" sz="2200" dirty="0"/>
              <a:t>	public: 			</a:t>
            </a:r>
            <a:r>
              <a:rPr kumimoji="0" lang="en-US" altLang="zh-CN" sz="2200" dirty="0">
                <a:solidFill>
                  <a:srgbClr val="FFFF00"/>
                </a:solidFill>
              </a:rPr>
              <a:t>//</a:t>
            </a:r>
            <a:r>
              <a:rPr kumimoji="0" lang="zh-CN" altLang="en-US" sz="2200" dirty="0">
                <a:solidFill>
                  <a:srgbClr val="FFFF00"/>
                </a:solidFill>
              </a:rPr>
              <a:t>声明类成员 </a:t>
            </a:r>
            <a:endParaRPr kumimoji="0" lang="zh-CN" altLang="en-US" sz="2200" dirty="0">
              <a:solidFill>
                <a:srgbClr val="FFFF00"/>
              </a:solidFill>
            </a:endParaRPr>
          </a:p>
          <a:p>
            <a:pPr algn="l">
              <a:lnSpc>
                <a:spcPct val="100000"/>
              </a:lnSpc>
              <a:spcBef>
                <a:spcPct val="0"/>
              </a:spcBef>
            </a:pPr>
            <a:r>
              <a:rPr kumimoji="0" lang="zh-CN" altLang="en-US" sz="2200" dirty="0"/>
              <a:t>		</a:t>
            </a:r>
            <a:r>
              <a:rPr kumimoji="0" lang="en-US" altLang="zh-CN" sz="2200" dirty="0"/>
              <a:t>void </a:t>
            </a:r>
            <a:r>
              <a:rPr kumimoji="0" lang="en-US" altLang="zh-CN" sz="2200" dirty="0" err="1"/>
              <a:t>SetDate</a:t>
            </a:r>
            <a:r>
              <a:rPr kumimoji="0" lang="en-US" altLang="zh-CN" sz="2200" dirty="0"/>
              <a:t>(</a:t>
            </a:r>
            <a:r>
              <a:rPr kumimoji="0" lang="en-US" altLang="zh-CN" sz="2200" dirty="0" err="1"/>
              <a:t>int</a:t>
            </a:r>
            <a:r>
              <a:rPr kumimoji="0" lang="en-US" altLang="zh-CN" sz="2200" dirty="0"/>
              <a:t> y, </a:t>
            </a:r>
            <a:r>
              <a:rPr kumimoji="0" lang="en-US" altLang="zh-CN" sz="2200" dirty="0" err="1"/>
              <a:t>int</a:t>
            </a:r>
            <a:r>
              <a:rPr kumimoji="0" lang="en-US" altLang="zh-CN" sz="2200" dirty="0"/>
              <a:t> m , </a:t>
            </a:r>
            <a:r>
              <a:rPr kumimoji="0" lang="en-US" altLang="zh-CN" sz="2200" dirty="0" err="1"/>
              <a:t>int</a:t>
            </a:r>
            <a:r>
              <a:rPr kumimoji="0" lang="en-US" altLang="zh-CN" sz="2200" dirty="0"/>
              <a:t> d);</a:t>
            </a:r>
            <a:endParaRPr kumimoji="0" lang="en-US" altLang="zh-CN" sz="2200" dirty="0"/>
          </a:p>
          <a:p>
            <a:pPr algn="l">
              <a:lnSpc>
                <a:spcPct val="100000"/>
              </a:lnSpc>
              <a:spcBef>
                <a:spcPct val="0"/>
              </a:spcBef>
            </a:pPr>
            <a:r>
              <a:rPr kumimoji="0" lang="en-US" altLang="zh-CN" sz="2200" dirty="0"/>
              <a:t>		void </a:t>
            </a:r>
            <a:r>
              <a:rPr kumimoji="0" lang="en-US" altLang="zh-CN" sz="2200" dirty="0" err="1"/>
              <a:t>ShowDate</a:t>
            </a:r>
            <a:r>
              <a:rPr kumimoji="0" lang="en-US" altLang="zh-CN" sz="2200" dirty="0"/>
              <a:t>( );</a:t>
            </a:r>
            <a:endParaRPr kumimoji="0" lang="en-US" altLang="zh-CN" sz="2200" dirty="0"/>
          </a:p>
          <a:p>
            <a:pPr algn="l">
              <a:lnSpc>
                <a:spcPct val="100000"/>
              </a:lnSpc>
              <a:spcBef>
                <a:spcPct val="0"/>
              </a:spcBef>
            </a:pPr>
            <a:r>
              <a:rPr kumimoji="0" lang="en-US" altLang="zh-CN" sz="2200" dirty="0"/>
              <a:t>	private:         </a:t>
            </a:r>
            <a:r>
              <a:rPr kumimoji="0" lang="en-US" altLang="zh-CN" dirty="0"/>
              <a:t>		           </a:t>
            </a:r>
            <a:r>
              <a:rPr kumimoji="0" lang="en-US" altLang="zh-CN" dirty="0">
                <a:solidFill>
                  <a:srgbClr val="FFFF00"/>
                </a:solidFill>
              </a:rPr>
              <a:t>//private</a:t>
            </a:r>
            <a:r>
              <a:rPr kumimoji="0" lang="zh-CN" altLang="en-US" dirty="0">
                <a:solidFill>
                  <a:srgbClr val="FFFF00"/>
                </a:solidFill>
              </a:rPr>
              <a:t>可以默认</a:t>
            </a:r>
            <a:r>
              <a:rPr kumimoji="0" lang="zh-CN" altLang="en-US" sz="2200" dirty="0"/>
              <a:t>		</a:t>
            </a:r>
            <a:endParaRPr kumimoji="0" lang="zh-CN" altLang="en-US" sz="2200" dirty="0"/>
          </a:p>
          <a:p>
            <a:pPr algn="l">
              <a:lnSpc>
                <a:spcPct val="100000"/>
              </a:lnSpc>
              <a:spcBef>
                <a:spcPct val="0"/>
              </a:spcBef>
            </a:pPr>
            <a:r>
              <a:rPr kumimoji="0" lang="zh-CN" altLang="en-US" sz="2200" dirty="0"/>
              <a:t>		</a:t>
            </a:r>
            <a:r>
              <a:rPr kumimoji="0" lang="en-US" altLang="zh-CN" sz="2200" dirty="0" err="1"/>
              <a:t>int</a:t>
            </a:r>
            <a:r>
              <a:rPr kumimoji="0" lang="en-US" altLang="zh-CN" sz="2200" dirty="0"/>
              <a:t> year;</a:t>
            </a:r>
            <a:endParaRPr kumimoji="0" lang="en-US" altLang="zh-CN" sz="2200" dirty="0"/>
          </a:p>
          <a:p>
            <a:pPr algn="l">
              <a:lnSpc>
                <a:spcPct val="100000"/>
              </a:lnSpc>
              <a:spcBef>
                <a:spcPct val="0"/>
              </a:spcBef>
            </a:pPr>
            <a:r>
              <a:rPr kumimoji="0" lang="en-US" altLang="zh-CN" sz="2200" dirty="0"/>
              <a:t>      </a:t>
            </a:r>
            <a:r>
              <a:rPr kumimoji="0" lang="en-US" altLang="zh-CN" sz="2200" dirty="0" err="1"/>
              <a:t>int</a:t>
            </a:r>
            <a:r>
              <a:rPr kumimoji="0" lang="en-US" altLang="zh-CN" sz="2200" dirty="0"/>
              <a:t> month;</a:t>
            </a:r>
            <a:endParaRPr kumimoji="0" lang="en-US" altLang="zh-CN" sz="2200" dirty="0"/>
          </a:p>
          <a:p>
            <a:pPr algn="l">
              <a:lnSpc>
                <a:spcPct val="100000"/>
              </a:lnSpc>
              <a:spcBef>
                <a:spcPct val="0"/>
              </a:spcBef>
            </a:pPr>
            <a:r>
              <a:rPr kumimoji="0" lang="en-US" altLang="zh-CN" sz="2200" dirty="0"/>
              <a:t>      </a:t>
            </a:r>
            <a:r>
              <a:rPr kumimoji="0" lang="en-US" altLang="zh-CN" sz="2200" dirty="0" err="1"/>
              <a:t>int</a:t>
            </a:r>
            <a:r>
              <a:rPr kumimoji="0" lang="en-US" altLang="zh-CN" sz="2200" dirty="0"/>
              <a:t> day;</a:t>
            </a:r>
            <a:endParaRPr kumimoji="0" lang="en-US" altLang="zh-CN" sz="2200" dirty="0"/>
          </a:p>
          <a:p>
            <a:pPr algn="l">
              <a:lnSpc>
                <a:spcPct val="100000"/>
              </a:lnSpc>
              <a:spcBef>
                <a:spcPct val="0"/>
              </a:spcBef>
            </a:pPr>
            <a:r>
              <a:rPr kumimoji="0" lang="en-US" altLang="zh-CN" sz="2200" dirty="0"/>
              <a:t>}; 			</a:t>
            </a:r>
            <a:r>
              <a:rPr kumimoji="0" lang="en-US" altLang="zh-CN" sz="2200" dirty="0">
                <a:solidFill>
                  <a:srgbClr val="FFFF00"/>
                </a:solidFill>
              </a:rPr>
              <a:t>//</a:t>
            </a:r>
            <a:r>
              <a:rPr kumimoji="0" lang="zh-CN" altLang="en-US" sz="2200" dirty="0">
                <a:solidFill>
                  <a:srgbClr val="FFFF00"/>
                </a:solidFill>
              </a:rPr>
              <a:t>以括号及分号结束，体现封装</a:t>
            </a:r>
            <a:endParaRPr kumimoji="0" lang="zh-CN" altLang="en-US" sz="2200" dirty="0">
              <a:solidFill>
                <a:srgbClr val="FFFF00"/>
              </a:solidFill>
            </a:endParaRPr>
          </a:p>
        </p:txBody>
      </p:sp>
      <p:sp>
        <p:nvSpPr>
          <p:cNvPr id="10245" name="Rectangle 3"/>
          <p:cNvSpPr>
            <a:spLocks noChangeArrowheads="1"/>
          </p:cNvSpPr>
          <p:nvPr/>
        </p:nvSpPr>
        <p:spPr bwMode="auto">
          <a:xfrm>
            <a:off x="1358440" y="332656"/>
            <a:ext cx="7313612" cy="8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4.2.1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类的定义</a:t>
            </a:r>
            <a:endParaRPr kumimoji="0" lang="zh-CN" altLang="en-US" sz="4400" b="0" dirty="0">
              <a:solidFill>
                <a:schemeClr val="tx2"/>
              </a:solidFill>
              <a:latin typeface="+mn-lt"/>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9DF0B442-3C96-4C11-BA44-6DE75D090097}"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4" name="灯片编号占位符 2"/>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1268" name="Rectangle 2"/>
          <p:cNvSpPr>
            <a:spLocks noChangeArrowheads="1"/>
          </p:cNvSpPr>
          <p:nvPr/>
        </p:nvSpPr>
        <p:spPr bwMode="auto">
          <a:xfrm>
            <a:off x="1042988" y="1773238"/>
            <a:ext cx="7659687" cy="44862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en-US" altLang="zh-CN" sz="2200" dirty="0">
                <a:solidFill>
                  <a:schemeClr val="hlink"/>
                </a:solidFill>
              </a:rPr>
              <a:t>//  </a:t>
            </a:r>
            <a:r>
              <a:rPr kumimoji="0" lang="zh-CN" altLang="en-US" sz="2200" dirty="0" smtClean="0">
                <a:solidFill>
                  <a:schemeClr val="hlink"/>
                </a:solidFill>
              </a:rPr>
              <a:t>平面</a:t>
            </a:r>
            <a:r>
              <a:rPr kumimoji="0" lang="zh-CN" altLang="en-US" sz="2200" dirty="0">
                <a:solidFill>
                  <a:schemeClr val="hlink"/>
                </a:solidFill>
              </a:rPr>
              <a:t>点的类定义</a:t>
            </a:r>
            <a:endParaRPr kumimoji="0" lang="zh-CN" altLang="en-US" sz="2200" dirty="0">
              <a:solidFill>
                <a:schemeClr val="hlink"/>
              </a:solidFill>
            </a:endParaRPr>
          </a:p>
          <a:p>
            <a:pPr algn="l">
              <a:lnSpc>
                <a:spcPct val="100000"/>
              </a:lnSpc>
              <a:spcBef>
                <a:spcPct val="0"/>
              </a:spcBef>
            </a:pPr>
            <a:r>
              <a:rPr kumimoji="0" lang="en-US" altLang="zh-CN" sz="2200" dirty="0">
                <a:solidFill>
                  <a:schemeClr val="hlink"/>
                </a:solidFill>
              </a:rPr>
              <a:t>//  </a:t>
            </a:r>
            <a:r>
              <a:rPr kumimoji="0" lang="en-US" altLang="zh-CN" sz="2200" dirty="0" err="1">
                <a:solidFill>
                  <a:schemeClr val="hlink"/>
                </a:solidFill>
              </a:rPr>
              <a:t>point.h</a:t>
            </a:r>
            <a:endParaRPr kumimoji="0" lang="en-US" altLang="zh-CN" sz="2200" dirty="0">
              <a:solidFill>
                <a:schemeClr val="hlink"/>
              </a:solidFill>
              <a:cs typeface="Times New Roman" panose="02020603050405020304" pitchFamily="18" charset="0"/>
            </a:endParaRPr>
          </a:p>
          <a:p>
            <a:pPr algn="l">
              <a:lnSpc>
                <a:spcPct val="100000"/>
              </a:lnSpc>
              <a:spcBef>
                <a:spcPct val="0"/>
              </a:spcBef>
            </a:pPr>
            <a:r>
              <a:rPr kumimoji="0" lang="en-US" altLang="zh-CN" sz="2200" dirty="0"/>
              <a:t>class Point 		</a:t>
            </a:r>
            <a:r>
              <a:rPr kumimoji="0" lang="en-US" altLang="zh-CN" sz="2200" dirty="0">
                <a:solidFill>
                  <a:srgbClr val="FFFF00"/>
                </a:solidFill>
              </a:rPr>
              <a:t>             //</a:t>
            </a:r>
            <a:r>
              <a:rPr kumimoji="0" lang="zh-CN" altLang="en-US" sz="2200" dirty="0">
                <a:solidFill>
                  <a:srgbClr val="FFFF00"/>
                </a:solidFill>
              </a:rPr>
              <a:t>定义日期类</a:t>
            </a:r>
            <a:r>
              <a:rPr kumimoji="0" lang="en-US" altLang="zh-CN" sz="2200" dirty="0">
                <a:solidFill>
                  <a:srgbClr val="FFFF00"/>
                </a:solidFill>
              </a:rPr>
              <a:t>Point</a:t>
            </a:r>
            <a:endParaRPr kumimoji="0" lang="en-US" altLang="zh-CN" sz="2200" dirty="0">
              <a:solidFill>
                <a:srgbClr val="FFFF00"/>
              </a:solidFill>
            </a:endParaRPr>
          </a:p>
          <a:p>
            <a:pPr algn="l">
              <a:lnSpc>
                <a:spcPct val="100000"/>
              </a:lnSpc>
              <a:spcBef>
                <a:spcPct val="0"/>
              </a:spcBef>
            </a:pPr>
            <a:r>
              <a:rPr kumimoji="0" lang="en-US" altLang="zh-CN" sz="2200" dirty="0"/>
              <a:t>{</a:t>
            </a:r>
            <a:endParaRPr kumimoji="0" lang="en-US" altLang="zh-CN" sz="2200" dirty="0"/>
          </a:p>
          <a:p>
            <a:pPr algn="l">
              <a:lnSpc>
                <a:spcPct val="100000"/>
              </a:lnSpc>
              <a:spcBef>
                <a:spcPct val="0"/>
              </a:spcBef>
            </a:pPr>
            <a:r>
              <a:rPr kumimoji="0" lang="en-US" altLang="zh-CN" sz="2200" dirty="0"/>
              <a:t>	public: 			</a:t>
            </a:r>
            <a:r>
              <a:rPr kumimoji="0" lang="en-US" altLang="zh-CN" sz="2200" dirty="0">
                <a:solidFill>
                  <a:srgbClr val="FFFF00"/>
                </a:solidFill>
              </a:rPr>
              <a:t>//</a:t>
            </a:r>
            <a:r>
              <a:rPr kumimoji="0" lang="zh-CN" altLang="en-US" sz="2200" dirty="0">
                <a:solidFill>
                  <a:srgbClr val="FFFF00"/>
                </a:solidFill>
              </a:rPr>
              <a:t>声明类成员 </a:t>
            </a:r>
            <a:endParaRPr kumimoji="0" lang="zh-CN" altLang="en-US" sz="2200" dirty="0">
              <a:solidFill>
                <a:srgbClr val="FFFF00"/>
              </a:solidFill>
            </a:endParaRPr>
          </a:p>
          <a:p>
            <a:pPr algn="l">
              <a:lnSpc>
                <a:spcPct val="100000"/>
              </a:lnSpc>
              <a:spcBef>
                <a:spcPct val="0"/>
              </a:spcBef>
            </a:pPr>
            <a:r>
              <a:rPr kumimoji="0" lang="zh-CN" altLang="en-US" sz="2200" dirty="0"/>
              <a:t>		</a:t>
            </a:r>
            <a:r>
              <a:rPr kumimoji="0" lang="en-US" altLang="zh-CN" sz="2200" dirty="0"/>
              <a:t>void </a:t>
            </a:r>
            <a:r>
              <a:rPr kumimoji="0" lang="en-US" altLang="zh-CN" sz="2200" dirty="0" err="1"/>
              <a:t>Setxy</a:t>
            </a:r>
            <a:r>
              <a:rPr kumimoji="0" lang="en-US" altLang="zh-CN" sz="2200" dirty="0"/>
              <a:t>(</a:t>
            </a:r>
            <a:r>
              <a:rPr kumimoji="0" lang="en-US" altLang="zh-CN" sz="2200" dirty="0" err="1"/>
              <a:t>int</a:t>
            </a:r>
            <a:r>
              <a:rPr kumimoji="0" lang="en-US" altLang="zh-CN" sz="2200" dirty="0"/>
              <a:t> a, </a:t>
            </a:r>
            <a:r>
              <a:rPr kumimoji="0" lang="en-US" altLang="zh-CN" sz="2200" dirty="0" err="1"/>
              <a:t>int</a:t>
            </a:r>
            <a:r>
              <a:rPr kumimoji="0" lang="en-US" altLang="zh-CN" sz="2200" dirty="0"/>
              <a:t> b);</a:t>
            </a:r>
            <a:endParaRPr kumimoji="0" lang="en-US" altLang="zh-CN" sz="2200" dirty="0"/>
          </a:p>
          <a:p>
            <a:pPr algn="l">
              <a:lnSpc>
                <a:spcPct val="100000"/>
              </a:lnSpc>
              <a:spcBef>
                <a:spcPct val="0"/>
              </a:spcBef>
            </a:pPr>
            <a:r>
              <a:rPr kumimoji="0" lang="en-US" altLang="zh-CN" sz="2200" dirty="0"/>
              <a:t>		void Move(</a:t>
            </a:r>
            <a:r>
              <a:rPr kumimoji="0" lang="en-US" altLang="zh-CN" sz="2200" dirty="0" err="1"/>
              <a:t>int</a:t>
            </a:r>
            <a:r>
              <a:rPr kumimoji="0" lang="en-US" altLang="zh-CN" sz="2200" dirty="0"/>
              <a:t> a, </a:t>
            </a:r>
            <a:r>
              <a:rPr kumimoji="0" lang="en-US" altLang="zh-CN" sz="2200" dirty="0" err="1"/>
              <a:t>int</a:t>
            </a:r>
            <a:r>
              <a:rPr kumimoji="0" lang="en-US" altLang="zh-CN" sz="2200" dirty="0"/>
              <a:t> b );</a:t>
            </a:r>
            <a:endParaRPr kumimoji="0" lang="en-US" altLang="zh-CN" sz="2200" dirty="0"/>
          </a:p>
          <a:p>
            <a:pPr algn="l">
              <a:lnSpc>
                <a:spcPct val="100000"/>
              </a:lnSpc>
              <a:spcBef>
                <a:spcPct val="0"/>
              </a:spcBef>
            </a:pPr>
            <a:r>
              <a:rPr kumimoji="0" lang="en-US" altLang="zh-CN" sz="2200" dirty="0"/>
              <a:t>     </a:t>
            </a:r>
            <a:r>
              <a:rPr kumimoji="0" lang="en-US" altLang="zh-CN" sz="2200" dirty="0" smtClean="0"/>
              <a:t>  </a:t>
            </a:r>
            <a:r>
              <a:rPr kumimoji="0" lang="en-US" altLang="zh-CN" sz="2200" dirty="0"/>
              <a:t>void Display();</a:t>
            </a:r>
            <a:endParaRPr kumimoji="0" lang="en-US" altLang="zh-CN" sz="2200" dirty="0"/>
          </a:p>
          <a:p>
            <a:pPr algn="l">
              <a:lnSpc>
                <a:spcPct val="100000"/>
              </a:lnSpc>
              <a:spcBef>
                <a:spcPct val="0"/>
              </a:spcBef>
            </a:pPr>
            <a:r>
              <a:rPr kumimoji="0" lang="en-US" altLang="zh-CN" sz="2200" dirty="0"/>
              <a:t>      </a:t>
            </a:r>
            <a:r>
              <a:rPr kumimoji="0" lang="en-US" altLang="zh-CN" sz="2200" dirty="0" smtClean="0"/>
              <a:t> </a:t>
            </a:r>
            <a:r>
              <a:rPr kumimoji="0" lang="en-US" altLang="zh-CN" sz="2200" dirty="0" err="1" smtClean="0"/>
              <a:t>int</a:t>
            </a:r>
            <a:r>
              <a:rPr kumimoji="0" lang="en-US" altLang="zh-CN" sz="2200" dirty="0" smtClean="0"/>
              <a:t> </a:t>
            </a:r>
            <a:r>
              <a:rPr kumimoji="0" lang="en-US" altLang="zh-CN" sz="2200" dirty="0" err="1"/>
              <a:t>Getx</a:t>
            </a:r>
            <a:r>
              <a:rPr kumimoji="0" lang="en-US" altLang="zh-CN" sz="2200" dirty="0"/>
              <a:t>();</a:t>
            </a:r>
            <a:endParaRPr kumimoji="0" lang="en-US" altLang="zh-CN" sz="2200" dirty="0"/>
          </a:p>
          <a:p>
            <a:pPr algn="l">
              <a:lnSpc>
                <a:spcPct val="100000"/>
              </a:lnSpc>
              <a:spcBef>
                <a:spcPct val="0"/>
              </a:spcBef>
            </a:pPr>
            <a:r>
              <a:rPr kumimoji="0" lang="en-US" altLang="zh-CN" sz="2200" dirty="0"/>
              <a:t>     </a:t>
            </a:r>
            <a:r>
              <a:rPr kumimoji="0" lang="en-US" altLang="zh-CN" sz="2200" dirty="0" smtClean="0"/>
              <a:t>  </a:t>
            </a:r>
            <a:r>
              <a:rPr kumimoji="0" lang="en-US" altLang="zh-CN" sz="2200" dirty="0" err="1"/>
              <a:t>int</a:t>
            </a:r>
            <a:r>
              <a:rPr kumimoji="0" lang="en-US" altLang="zh-CN" sz="2200" dirty="0"/>
              <a:t> </a:t>
            </a:r>
            <a:r>
              <a:rPr kumimoji="0" lang="en-US" altLang="zh-CN" sz="2200" dirty="0" err="1"/>
              <a:t>Gety</a:t>
            </a:r>
            <a:r>
              <a:rPr kumimoji="0" lang="en-US" altLang="zh-CN" sz="2200" dirty="0"/>
              <a:t>();</a:t>
            </a:r>
            <a:endParaRPr kumimoji="0" lang="en-US" altLang="zh-CN" sz="2200" dirty="0"/>
          </a:p>
          <a:p>
            <a:pPr algn="l">
              <a:lnSpc>
                <a:spcPct val="100000"/>
              </a:lnSpc>
              <a:spcBef>
                <a:spcPct val="0"/>
              </a:spcBef>
            </a:pPr>
            <a:r>
              <a:rPr kumimoji="0" lang="en-US" altLang="zh-CN" sz="2200" dirty="0"/>
              <a:t>	private:         </a:t>
            </a:r>
            <a:r>
              <a:rPr kumimoji="0" lang="en-US" altLang="zh-CN" dirty="0"/>
              <a:t>		</a:t>
            </a:r>
            <a:r>
              <a:rPr kumimoji="0" lang="en-US" altLang="zh-CN" dirty="0">
                <a:solidFill>
                  <a:srgbClr val="FFFF00"/>
                </a:solidFill>
              </a:rPr>
              <a:t>           //private</a:t>
            </a:r>
            <a:r>
              <a:rPr kumimoji="0" lang="zh-CN" altLang="en-US" dirty="0">
                <a:solidFill>
                  <a:srgbClr val="FFFF00"/>
                </a:solidFill>
              </a:rPr>
              <a:t>可以默认</a:t>
            </a:r>
            <a:r>
              <a:rPr kumimoji="0" lang="zh-CN" altLang="en-US" sz="2200" dirty="0"/>
              <a:t>		</a:t>
            </a:r>
            <a:endParaRPr kumimoji="0" lang="zh-CN" altLang="en-US" sz="2200" dirty="0"/>
          </a:p>
          <a:p>
            <a:pPr algn="l">
              <a:lnSpc>
                <a:spcPct val="100000"/>
              </a:lnSpc>
              <a:spcBef>
                <a:spcPct val="0"/>
              </a:spcBef>
            </a:pPr>
            <a:r>
              <a:rPr kumimoji="0" lang="zh-CN" altLang="en-US" sz="2200" dirty="0"/>
              <a:t>		</a:t>
            </a:r>
            <a:r>
              <a:rPr kumimoji="0" lang="en-US" altLang="zh-CN" sz="2200" dirty="0" err="1"/>
              <a:t>int</a:t>
            </a:r>
            <a:r>
              <a:rPr kumimoji="0" lang="en-US" altLang="zh-CN" sz="2200" dirty="0"/>
              <a:t> x, y ;</a:t>
            </a:r>
            <a:endParaRPr kumimoji="0" lang="en-US" altLang="zh-CN" sz="2200" dirty="0"/>
          </a:p>
          <a:p>
            <a:pPr algn="l">
              <a:lnSpc>
                <a:spcPct val="100000"/>
              </a:lnSpc>
              <a:spcBef>
                <a:spcPct val="0"/>
              </a:spcBef>
            </a:pPr>
            <a:r>
              <a:rPr kumimoji="0" lang="en-US" altLang="zh-CN" sz="2200" dirty="0"/>
              <a:t>}; 			</a:t>
            </a:r>
            <a:r>
              <a:rPr kumimoji="0" lang="en-US" altLang="zh-CN" sz="2200" dirty="0">
                <a:solidFill>
                  <a:srgbClr val="FFFF00"/>
                </a:solidFill>
              </a:rPr>
              <a:t>//</a:t>
            </a:r>
            <a:r>
              <a:rPr kumimoji="0" lang="zh-CN" altLang="en-US" sz="2200" dirty="0">
                <a:solidFill>
                  <a:srgbClr val="FFFF00"/>
                </a:solidFill>
              </a:rPr>
              <a:t>以括号及分号结束，体现封装</a:t>
            </a:r>
            <a:endParaRPr kumimoji="0" lang="zh-CN" altLang="en-US" sz="2200" dirty="0">
              <a:solidFill>
                <a:srgbClr val="FFFF00"/>
              </a:solidFill>
            </a:endParaRPr>
          </a:p>
        </p:txBody>
      </p:sp>
      <p:sp>
        <p:nvSpPr>
          <p:cNvPr id="11269" name="Rectangle 3"/>
          <p:cNvSpPr>
            <a:spLocks noChangeArrowheads="1"/>
          </p:cNvSpPr>
          <p:nvPr/>
        </p:nvSpPr>
        <p:spPr bwMode="auto">
          <a:xfrm>
            <a:off x="1370013" y="44624"/>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4.2.1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类的定义</a:t>
            </a:r>
            <a:endParaRPr kumimoji="0" lang="zh-CN" altLang="en-US" sz="4400" b="0" dirty="0">
              <a:solidFill>
                <a:schemeClr val="tx2"/>
              </a:solidFill>
              <a:latin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Grp="1" noChangeArrowheads="1"/>
          </p:cNvSpPr>
          <p:nvPr>
            <p:ph type="sldNum" sz="quarter" idx="4294967295"/>
          </p:nvPr>
        </p:nvSpPr>
        <p:spPr>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EE3146AA-B843-4918-AA84-C4D75BF0D5CA}"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4" name="灯片编号占位符 4"/>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2292" name="Rectangle 2"/>
          <p:cNvSpPr>
            <a:spLocks noGrp="1" noChangeArrowheads="1"/>
          </p:cNvSpPr>
          <p:nvPr>
            <p:ph type="body" idx="1"/>
          </p:nvPr>
        </p:nvSpPr>
        <p:spPr>
          <a:xfrm>
            <a:off x="827840" y="1690692"/>
            <a:ext cx="7831138" cy="4033837"/>
          </a:xfrm>
          <a:ln>
            <a:noFill/>
            <a:miter lim="800000"/>
          </a:ln>
        </p:spPr>
        <p:txBody>
          <a:bodyPr/>
          <a:lstStyle/>
          <a:p>
            <a:pPr eaLnBrk="1" hangingPunct="1">
              <a:lnSpc>
                <a:spcPct val="150000"/>
              </a:lnSpc>
              <a:spcBef>
                <a:spcPct val="50000"/>
              </a:spcBef>
              <a:buClr>
                <a:srgbClr val="FFC00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类声明中访问权限可以按任意顺序出现</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spcBef>
                <a:spcPct val="50000"/>
              </a:spcBef>
              <a:buClr>
                <a:srgbClr val="FFC00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数据成员可以是任意数据类型</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spcBef>
                <a:spcPct val="50000"/>
              </a:spcBef>
              <a:buClr>
                <a:srgbClr val="FFC00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数据成员不能以自动方式、寄存器方式或外部方式进行说明</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spcBef>
                <a:spcPct val="50000"/>
              </a:spcBef>
              <a:buClr>
                <a:srgbClr val="FFC000"/>
              </a:buClr>
              <a:buSzPct val="65000"/>
              <a:buFont typeface="Wingdings" panose="05000000000000000000" pitchFamily="2" charset="2"/>
              <a:buChar char="u"/>
            </a:pPr>
            <a:r>
              <a:rPr lang="en-US" altLang="zh-CN" sz="2400" b="1" dirty="0" smtClean="0">
                <a:latin typeface="微软雅黑" panose="020B0503020204020204" pitchFamily="34" charset="-122"/>
                <a:ea typeface="微软雅黑" panose="020B0503020204020204" pitchFamily="34" charset="-122"/>
              </a:rPr>
              <a:t>C++11</a:t>
            </a:r>
            <a:r>
              <a:rPr lang="zh-CN" altLang="en-US" sz="2400" b="1" dirty="0" smtClean="0">
                <a:latin typeface="微软雅黑" panose="020B0503020204020204" pitchFamily="34" charset="-122"/>
                <a:ea typeface="微软雅黑" panose="020B0503020204020204" pitchFamily="34" charset="-122"/>
              </a:rPr>
              <a:t>标准前不能在类声明中给数据成员初始化</a:t>
            </a:r>
            <a:endParaRPr lang="zh-CN" altLang="en-US" sz="2400" b="1" dirty="0" smtClean="0">
              <a:solidFill>
                <a:srgbClr val="FFFF00"/>
              </a:solidFill>
              <a:latin typeface="微软雅黑" panose="020B0503020204020204" pitchFamily="34" charset="-122"/>
              <a:ea typeface="微软雅黑" panose="020B0503020204020204" pitchFamily="34" charset="-122"/>
            </a:endParaRPr>
          </a:p>
          <a:p>
            <a:pPr eaLnBrk="1" hangingPunct="1">
              <a:lnSpc>
                <a:spcPct val="150000"/>
              </a:lnSpc>
              <a:spcBef>
                <a:spcPct val="50000"/>
              </a:spcBef>
              <a:buClr>
                <a:srgbClr val="FFC00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只有在类实例化（定义类对象）时，才能给数据成员初始化</a:t>
            </a:r>
            <a:endParaRPr lang="zh-CN" altLang="en-US" sz="2400" b="1" u="sng" dirty="0" smtClean="0">
              <a:solidFill>
                <a:srgbClr val="FFFF00"/>
              </a:solidFill>
              <a:latin typeface="微软雅黑" panose="020B0503020204020204" pitchFamily="34" charset="-122"/>
              <a:ea typeface="微软雅黑" panose="020B0503020204020204" pitchFamily="34" charset="-122"/>
            </a:endParaRPr>
          </a:p>
        </p:txBody>
      </p:sp>
      <p:sp>
        <p:nvSpPr>
          <p:cNvPr id="12293" name="Rectangle 4"/>
          <p:cNvSpPr>
            <a:spLocks noGrp="1" noChangeArrowheads="1"/>
          </p:cNvSpPr>
          <p:nvPr>
            <p:ph type="title"/>
          </p:nvPr>
        </p:nvSpPr>
        <p:spPr>
          <a:noFill/>
        </p:spPr>
        <p:txBody>
          <a:bodyPr/>
          <a:lstStyle/>
          <a:p>
            <a:pPr algn="ctr" eaLnBrk="1" hangingPunct="1"/>
            <a:r>
              <a:rPr lang="en-US" altLang="zh-CN" b="1" dirty="0">
                <a:latin typeface="Times New Roman" panose="02020603050405020304" pitchFamily="18" charset="0"/>
                <a:ea typeface="隶书" panose="02010509060101010101" pitchFamily="49" charset="-122"/>
              </a:rPr>
              <a:t>4.2.2 </a:t>
            </a:r>
            <a:r>
              <a:rPr lang="zh-CN" altLang="en-US" b="1" dirty="0">
                <a:latin typeface="Times New Roman" panose="02020603050405020304" pitchFamily="18" charset="0"/>
                <a:ea typeface="隶书" panose="02010509060101010101" pitchFamily="49" charset="-122"/>
              </a:rPr>
              <a:t>类成员的访问</a:t>
            </a:r>
            <a:r>
              <a:rPr lang="zh-CN" altLang="en-US" b="1" dirty="0" smtClean="0">
                <a:latin typeface="Times New Roman" panose="02020603050405020304" pitchFamily="18" charset="0"/>
                <a:ea typeface="隶书" panose="02010509060101010101" pitchFamily="49" charset="-122"/>
              </a:rPr>
              <a:t>控制</a:t>
            </a:r>
            <a:endParaRPr lang="zh-CN" altLang="en-US" dirty="0" smtClean="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4DF87592-5475-4D14-A777-64117C1320B6}"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5" name="灯片编号占位符 2"/>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3316" name="Rectangle 2"/>
          <p:cNvSpPr>
            <a:spLocks noChangeArrowheads="1"/>
          </p:cNvSpPr>
          <p:nvPr/>
        </p:nvSpPr>
        <p:spPr bwMode="auto">
          <a:xfrm>
            <a:off x="1042988" y="1773238"/>
            <a:ext cx="7659687" cy="415131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en-US" altLang="zh-CN" sz="2200" dirty="0">
                <a:solidFill>
                  <a:schemeClr val="hlink"/>
                </a:solidFill>
              </a:rPr>
              <a:t>//  </a:t>
            </a:r>
            <a:r>
              <a:rPr kumimoji="0" lang="zh-CN" altLang="en-US" sz="2200" dirty="0" smtClean="0">
                <a:solidFill>
                  <a:schemeClr val="hlink"/>
                </a:solidFill>
              </a:rPr>
              <a:t>日期</a:t>
            </a:r>
            <a:r>
              <a:rPr kumimoji="0" lang="zh-CN" altLang="en-US" sz="2200" dirty="0">
                <a:solidFill>
                  <a:schemeClr val="hlink"/>
                </a:solidFill>
              </a:rPr>
              <a:t>类的定义，错误示范</a:t>
            </a:r>
            <a:endParaRPr kumimoji="0" lang="zh-CN" altLang="en-US" sz="2200" dirty="0">
              <a:solidFill>
                <a:schemeClr val="hlink"/>
              </a:solidFill>
            </a:endParaRPr>
          </a:p>
          <a:p>
            <a:pPr algn="l">
              <a:lnSpc>
                <a:spcPct val="100000"/>
              </a:lnSpc>
              <a:spcBef>
                <a:spcPct val="0"/>
              </a:spcBef>
            </a:pPr>
            <a:r>
              <a:rPr kumimoji="0" lang="en-US" altLang="zh-CN" sz="2200" dirty="0">
                <a:solidFill>
                  <a:schemeClr val="hlink"/>
                </a:solidFill>
              </a:rPr>
              <a:t>//  </a:t>
            </a:r>
            <a:r>
              <a:rPr kumimoji="0" lang="en-US" altLang="zh-CN" sz="2200" dirty="0" err="1">
                <a:solidFill>
                  <a:schemeClr val="hlink"/>
                </a:solidFill>
              </a:rPr>
              <a:t>date.h</a:t>
            </a:r>
            <a:endParaRPr kumimoji="0" lang="en-US" altLang="zh-CN" sz="2200" dirty="0">
              <a:solidFill>
                <a:schemeClr val="hlink"/>
              </a:solidFill>
              <a:cs typeface="Times New Roman" panose="02020603050405020304" pitchFamily="18" charset="0"/>
            </a:endParaRPr>
          </a:p>
          <a:p>
            <a:pPr algn="l">
              <a:lnSpc>
                <a:spcPct val="100000"/>
              </a:lnSpc>
              <a:spcBef>
                <a:spcPct val="0"/>
              </a:spcBef>
            </a:pPr>
            <a:r>
              <a:rPr kumimoji="0" lang="en-US" altLang="zh-CN" sz="2200" dirty="0"/>
              <a:t>class Date 		             </a:t>
            </a:r>
            <a:r>
              <a:rPr kumimoji="0" lang="en-US" altLang="zh-CN" sz="2200" dirty="0">
                <a:solidFill>
                  <a:srgbClr val="FFFF00"/>
                </a:solidFill>
              </a:rPr>
              <a:t>//</a:t>
            </a:r>
            <a:r>
              <a:rPr kumimoji="0" lang="zh-CN" altLang="en-US" sz="2200" dirty="0">
                <a:solidFill>
                  <a:srgbClr val="FFFF00"/>
                </a:solidFill>
              </a:rPr>
              <a:t>定义日期类</a:t>
            </a:r>
            <a:r>
              <a:rPr kumimoji="0" lang="en-US" altLang="zh-CN" sz="2200" dirty="0">
                <a:solidFill>
                  <a:srgbClr val="FFFF00"/>
                </a:solidFill>
              </a:rPr>
              <a:t>Date</a:t>
            </a:r>
            <a:endParaRPr kumimoji="0" lang="en-US" altLang="zh-CN" sz="2200" dirty="0">
              <a:solidFill>
                <a:srgbClr val="FFFF00"/>
              </a:solidFill>
            </a:endParaRPr>
          </a:p>
          <a:p>
            <a:pPr algn="l">
              <a:lnSpc>
                <a:spcPct val="100000"/>
              </a:lnSpc>
              <a:spcBef>
                <a:spcPct val="0"/>
              </a:spcBef>
            </a:pPr>
            <a:r>
              <a:rPr kumimoji="0" lang="en-US" altLang="zh-CN" sz="2200" dirty="0"/>
              <a:t>{</a:t>
            </a:r>
            <a:endParaRPr kumimoji="0" lang="en-US" altLang="zh-CN" sz="2200" dirty="0"/>
          </a:p>
          <a:p>
            <a:pPr algn="l">
              <a:lnSpc>
                <a:spcPct val="100000"/>
              </a:lnSpc>
              <a:spcBef>
                <a:spcPct val="0"/>
              </a:spcBef>
            </a:pPr>
            <a:r>
              <a:rPr kumimoji="0" lang="en-US" altLang="zh-CN" sz="2200" dirty="0"/>
              <a:t>	public: 			</a:t>
            </a:r>
            <a:r>
              <a:rPr kumimoji="0" lang="en-US" altLang="zh-CN" sz="2200" dirty="0">
                <a:solidFill>
                  <a:srgbClr val="FFFF00"/>
                </a:solidFill>
              </a:rPr>
              <a:t>//</a:t>
            </a:r>
            <a:r>
              <a:rPr kumimoji="0" lang="zh-CN" altLang="en-US" sz="2200" dirty="0">
                <a:solidFill>
                  <a:srgbClr val="FFFF00"/>
                </a:solidFill>
              </a:rPr>
              <a:t>声明类成员 </a:t>
            </a:r>
            <a:endParaRPr kumimoji="0" lang="zh-CN" altLang="en-US" sz="2200" dirty="0">
              <a:solidFill>
                <a:srgbClr val="FFFF00"/>
              </a:solidFill>
            </a:endParaRPr>
          </a:p>
          <a:p>
            <a:pPr algn="l">
              <a:lnSpc>
                <a:spcPct val="100000"/>
              </a:lnSpc>
              <a:spcBef>
                <a:spcPct val="0"/>
              </a:spcBef>
            </a:pPr>
            <a:r>
              <a:rPr kumimoji="0" lang="zh-CN" altLang="en-US" sz="2200" dirty="0"/>
              <a:t>		</a:t>
            </a:r>
            <a:r>
              <a:rPr kumimoji="0" lang="en-US" altLang="zh-CN" sz="2200" dirty="0"/>
              <a:t>void </a:t>
            </a:r>
            <a:r>
              <a:rPr kumimoji="0" lang="en-US" altLang="zh-CN" sz="2200" dirty="0" err="1"/>
              <a:t>SetDate</a:t>
            </a:r>
            <a:r>
              <a:rPr kumimoji="0" lang="en-US" altLang="zh-CN" sz="2200" dirty="0"/>
              <a:t>(</a:t>
            </a:r>
            <a:r>
              <a:rPr kumimoji="0" lang="en-US" altLang="zh-CN" sz="2200" dirty="0" err="1"/>
              <a:t>int</a:t>
            </a:r>
            <a:r>
              <a:rPr kumimoji="0" lang="en-US" altLang="zh-CN" sz="2200" dirty="0"/>
              <a:t> y, </a:t>
            </a:r>
            <a:r>
              <a:rPr kumimoji="0" lang="en-US" altLang="zh-CN" sz="2200" dirty="0" err="1"/>
              <a:t>int</a:t>
            </a:r>
            <a:r>
              <a:rPr kumimoji="0" lang="en-US" altLang="zh-CN" sz="2200" dirty="0"/>
              <a:t> m , </a:t>
            </a:r>
            <a:r>
              <a:rPr kumimoji="0" lang="en-US" altLang="zh-CN" sz="2200" dirty="0" err="1"/>
              <a:t>int</a:t>
            </a:r>
            <a:r>
              <a:rPr kumimoji="0" lang="en-US" altLang="zh-CN" sz="2200" dirty="0"/>
              <a:t> d);</a:t>
            </a:r>
            <a:endParaRPr kumimoji="0" lang="en-US" altLang="zh-CN" sz="2200" dirty="0"/>
          </a:p>
          <a:p>
            <a:pPr algn="l">
              <a:lnSpc>
                <a:spcPct val="100000"/>
              </a:lnSpc>
              <a:spcBef>
                <a:spcPct val="0"/>
              </a:spcBef>
            </a:pPr>
            <a:r>
              <a:rPr kumimoji="0" lang="en-US" altLang="zh-CN" sz="2200" dirty="0"/>
              <a:t>		void </a:t>
            </a:r>
            <a:r>
              <a:rPr kumimoji="0" lang="en-US" altLang="zh-CN" sz="2200" dirty="0" err="1"/>
              <a:t>ShowDate</a:t>
            </a:r>
            <a:r>
              <a:rPr kumimoji="0" lang="en-US" altLang="zh-CN" sz="2200" dirty="0"/>
              <a:t>( );</a:t>
            </a:r>
            <a:endParaRPr kumimoji="0" lang="en-US" altLang="zh-CN" sz="2200" dirty="0"/>
          </a:p>
          <a:p>
            <a:pPr algn="l">
              <a:lnSpc>
                <a:spcPct val="100000"/>
              </a:lnSpc>
              <a:spcBef>
                <a:spcPct val="0"/>
              </a:spcBef>
            </a:pPr>
            <a:r>
              <a:rPr kumimoji="0" lang="en-US" altLang="zh-CN" sz="2200" dirty="0"/>
              <a:t>	private:         </a:t>
            </a:r>
            <a:r>
              <a:rPr kumimoji="0" lang="en-US" altLang="zh-CN" dirty="0"/>
              <a:t>		</a:t>
            </a:r>
            <a:r>
              <a:rPr kumimoji="0" lang="en-US" altLang="zh-CN" dirty="0">
                <a:solidFill>
                  <a:srgbClr val="FFFF00"/>
                </a:solidFill>
              </a:rPr>
              <a:t>           //private</a:t>
            </a:r>
            <a:r>
              <a:rPr kumimoji="0" lang="zh-CN" altLang="en-US" dirty="0">
                <a:solidFill>
                  <a:srgbClr val="FFFF00"/>
                </a:solidFill>
              </a:rPr>
              <a:t>可以默认</a:t>
            </a:r>
            <a:r>
              <a:rPr kumimoji="0" lang="zh-CN" altLang="en-US" sz="2200" dirty="0">
                <a:solidFill>
                  <a:srgbClr val="FFFF00"/>
                </a:solidFill>
              </a:rPr>
              <a:t>	</a:t>
            </a:r>
            <a:r>
              <a:rPr kumimoji="0" lang="zh-CN" altLang="en-US" sz="2200" dirty="0"/>
              <a:t>	</a:t>
            </a:r>
            <a:endParaRPr kumimoji="0" lang="zh-CN" altLang="en-US" sz="2200" dirty="0"/>
          </a:p>
          <a:p>
            <a:pPr algn="l">
              <a:lnSpc>
                <a:spcPct val="100000"/>
              </a:lnSpc>
              <a:spcBef>
                <a:spcPct val="0"/>
              </a:spcBef>
            </a:pPr>
            <a:r>
              <a:rPr kumimoji="0" lang="zh-CN" altLang="en-US" sz="2200" dirty="0"/>
              <a:t>		</a:t>
            </a:r>
            <a:r>
              <a:rPr kumimoji="0" lang="en-US" altLang="zh-CN" sz="2200" i="1" dirty="0" err="1"/>
              <a:t>int</a:t>
            </a:r>
            <a:r>
              <a:rPr kumimoji="0" lang="en-US" altLang="zh-CN" sz="2200" i="1" dirty="0"/>
              <a:t> </a:t>
            </a:r>
            <a:r>
              <a:rPr kumimoji="0" lang="en-US" altLang="zh-CN" sz="2200" i="1" dirty="0" smtClean="0"/>
              <a:t>year = 2011</a:t>
            </a:r>
            <a:r>
              <a:rPr kumimoji="0" lang="en-US" altLang="zh-CN" sz="2200" i="1" dirty="0"/>
              <a:t>;</a:t>
            </a:r>
            <a:endParaRPr kumimoji="0" lang="en-US" altLang="zh-CN" sz="2200" i="1" dirty="0"/>
          </a:p>
          <a:p>
            <a:pPr algn="l">
              <a:lnSpc>
                <a:spcPct val="100000"/>
              </a:lnSpc>
              <a:spcBef>
                <a:spcPct val="0"/>
              </a:spcBef>
            </a:pPr>
            <a:r>
              <a:rPr kumimoji="0" lang="en-US" altLang="zh-CN" sz="2200" i="1" dirty="0"/>
              <a:t>      </a:t>
            </a:r>
            <a:r>
              <a:rPr kumimoji="0" lang="en-US" altLang="zh-CN" sz="2200" i="1" dirty="0" err="1"/>
              <a:t>int</a:t>
            </a:r>
            <a:r>
              <a:rPr kumimoji="0" lang="en-US" altLang="zh-CN" sz="2200" i="1" dirty="0"/>
              <a:t> </a:t>
            </a:r>
            <a:r>
              <a:rPr kumimoji="0" lang="en-US" altLang="zh-CN" sz="2200" i="1" dirty="0" smtClean="0"/>
              <a:t>month = 9</a:t>
            </a:r>
            <a:r>
              <a:rPr kumimoji="0" lang="en-US" altLang="zh-CN" sz="2200" i="1" dirty="0"/>
              <a:t>;</a:t>
            </a:r>
            <a:endParaRPr kumimoji="0" lang="en-US" altLang="zh-CN" sz="2200" i="1" dirty="0"/>
          </a:p>
          <a:p>
            <a:pPr algn="l">
              <a:lnSpc>
                <a:spcPct val="100000"/>
              </a:lnSpc>
              <a:spcBef>
                <a:spcPct val="0"/>
              </a:spcBef>
            </a:pPr>
            <a:r>
              <a:rPr kumimoji="0" lang="en-US" altLang="zh-CN" sz="2200" i="1" dirty="0"/>
              <a:t>      </a:t>
            </a:r>
            <a:r>
              <a:rPr kumimoji="0" lang="en-US" altLang="zh-CN" sz="2200" i="1" dirty="0" err="1"/>
              <a:t>int</a:t>
            </a:r>
            <a:r>
              <a:rPr kumimoji="0" lang="en-US" altLang="zh-CN" sz="2200" i="1" dirty="0"/>
              <a:t> </a:t>
            </a:r>
            <a:r>
              <a:rPr kumimoji="0" lang="en-US" altLang="zh-CN" sz="2200" i="1" dirty="0" smtClean="0"/>
              <a:t>day = 17</a:t>
            </a:r>
            <a:r>
              <a:rPr kumimoji="0" lang="en-US" altLang="zh-CN" sz="2200" i="1" dirty="0"/>
              <a:t>;</a:t>
            </a:r>
            <a:endParaRPr kumimoji="0" lang="en-US" altLang="zh-CN" sz="2200" i="1" dirty="0"/>
          </a:p>
          <a:p>
            <a:pPr algn="l">
              <a:lnSpc>
                <a:spcPct val="100000"/>
              </a:lnSpc>
              <a:spcBef>
                <a:spcPct val="0"/>
              </a:spcBef>
            </a:pPr>
            <a:r>
              <a:rPr kumimoji="0" lang="en-US" altLang="zh-CN" sz="2200" dirty="0"/>
              <a:t>}; 			</a:t>
            </a:r>
            <a:endParaRPr kumimoji="0" lang="en-US" altLang="zh-CN" sz="2200" dirty="0">
              <a:solidFill>
                <a:srgbClr val="800000"/>
              </a:solidFill>
            </a:endParaRPr>
          </a:p>
        </p:txBody>
      </p:sp>
      <p:sp>
        <p:nvSpPr>
          <p:cNvPr id="13317" name="Rectangle 3"/>
          <p:cNvSpPr>
            <a:spLocks noChangeArrowheads="1"/>
          </p:cNvSpPr>
          <p:nvPr/>
        </p:nvSpPr>
        <p:spPr bwMode="auto">
          <a:xfrm>
            <a:off x="1373188" y="196421"/>
            <a:ext cx="7313612" cy="96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3600" i="1" dirty="0">
                <a:solidFill>
                  <a:srgbClr val="FFFFFF"/>
                </a:solidFill>
                <a:effectLst>
                  <a:outerShdw blurRad="38100" dist="38100" dir="2700000" algn="tl">
                    <a:srgbClr val="000000"/>
                  </a:outerShdw>
                </a:effectLst>
                <a:ea typeface="隶书" panose="02010509060101010101" pitchFamily="49" charset="-122"/>
                <a:cs typeface="+mj-cs"/>
              </a:rPr>
              <a:t>4.2.2 </a:t>
            </a:r>
            <a:r>
              <a:rPr lang="zh-CN" altLang="en-US" sz="3600" i="1" dirty="0">
                <a:solidFill>
                  <a:srgbClr val="FFFFFF"/>
                </a:solidFill>
                <a:effectLst>
                  <a:outerShdw blurRad="38100" dist="38100" dir="2700000" algn="tl">
                    <a:srgbClr val="000000"/>
                  </a:outerShdw>
                </a:effectLst>
                <a:ea typeface="隶书" panose="02010509060101010101" pitchFamily="49" charset="-122"/>
                <a:cs typeface="+mj-cs"/>
              </a:rPr>
              <a:t>类成员的访问控制</a:t>
            </a:r>
            <a:endParaRPr kumimoji="0" lang="zh-CN" altLang="en-US" sz="3600" b="0" dirty="0">
              <a:solidFill>
                <a:schemeClr val="tx2"/>
              </a:solidFill>
              <a:latin typeface="华文楷体" panose="02010600040101010101" pitchFamily="2" charset="-122"/>
            </a:endParaRPr>
          </a:p>
        </p:txBody>
      </p:sp>
      <p:sp>
        <p:nvSpPr>
          <p:cNvPr id="13318" name="Text Box 4"/>
          <p:cNvSpPr txBox="1">
            <a:spLocks noChangeArrowheads="1"/>
          </p:cNvSpPr>
          <p:nvPr/>
        </p:nvSpPr>
        <p:spPr bwMode="auto">
          <a:xfrm>
            <a:off x="3779911" y="4763036"/>
            <a:ext cx="492276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50000"/>
              </a:spcBef>
            </a:pPr>
            <a:r>
              <a:rPr kumimoji="0" lang="en-US" altLang="zh-CN" sz="3200" dirty="0" smtClean="0">
                <a:solidFill>
                  <a:srgbClr val="FFFF00"/>
                </a:solidFill>
              </a:rPr>
              <a:t>×</a:t>
            </a:r>
            <a:r>
              <a:rPr kumimoji="0" lang="zh-CN" altLang="en-US" sz="3200" dirty="0" smtClean="0">
                <a:solidFill>
                  <a:srgbClr val="FFFF00"/>
                </a:solidFill>
              </a:rPr>
              <a:t>以前标准不可以，只有静态成员可以这样做</a:t>
            </a:r>
            <a:endParaRPr kumimoji="0" lang="en-US" altLang="zh-CN" sz="3200" dirty="0" smtClean="0">
              <a:solidFill>
                <a:srgbClr val="FFFF00"/>
              </a:solidFill>
            </a:endParaRPr>
          </a:p>
          <a:p>
            <a:pPr algn="l" eaLnBrk="1" hangingPunct="1">
              <a:lnSpc>
                <a:spcPct val="100000"/>
              </a:lnSpc>
              <a:spcBef>
                <a:spcPct val="50000"/>
              </a:spcBef>
            </a:pPr>
            <a:r>
              <a:rPr kumimoji="0" lang="en-US" altLang="zh-CN" sz="3200" dirty="0" smtClean="0">
                <a:solidFill>
                  <a:srgbClr val="FFFF00"/>
                </a:solidFill>
              </a:rPr>
              <a:t>√  C++11</a:t>
            </a:r>
            <a:r>
              <a:rPr kumimoji="0" lang="zh-CN" altLang="en-US" sz="3200" dirty="0" smtClean="0">
                <a:solidFill>
                  <a:srgbClr val="FFFF00"/>
                </a:solidFill>
              </a:rPr>
              <a:t>允许类内初始化</a:t>
            </a:r>
            <a:endParaRPr kumimoji="0" lang="en-US" altLang="zh-CN" sz="3200" dirty="0">
              <a:solidFill>
                <a:srgbClr val="FFFF00"/>
              </a:solidFill>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
          <p:cNvSpPr>
            <a:spLocks noGrp="1" noChangeArrowheads="1"/>
          </p:cNvSpPr>
          <p:nvPr>
            <p:ph type="sldNum" sz="quarter" idx="4294967295"/>
          </p:nvPr>
        </p:nvSpPr>
        <p:spPr>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6DCAD54B-920B-4CE2-A738-47F53321E17C}"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5" name="灯片编号占位符 4"/>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4340" name="Rectangle 3"/>
          <p:cNvSpPr>
            <a:spLocks noGrp="1" noChangeArrowheads="1"/>
          </p:cNvSpPr>
          <p:nvPr>
            <p:ph type="body" idx="1"/>
          </p:nvPr>
        </p:nvSpPr>
        <p:spPr>
          <a:xfrm>
            <a:off x="1116013" y="1916112"/>
            <a:ext cx="7343775" cy="3313087"/>
          </a:xfrm>
          <a:ln>
            <a:noFill/>
            <a:miter lim="800000"/>
          </a:ln>
        </p:spPr>
        <p:txBody>
          <a:bodyPr/>
          <a:lstStyle/>
          <a:p>
            <a:pPr eaLnBrk="1" hangingPunct="1">
              <a:lnSpc>
                <a:spcPct val="150000"/>
              </a:lnSpc>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访问权限有三种类型：</a:t>
            </a:r>
            <a:br>
              <a:rPr lang="zh-CN" altLang="en-US" sz="2400" b="1" dirty="0" smtClean="0">
                <a:latin typeface="微软雅黑" panose="020B0503020204020204" pitchFamily="34" charset="-122"/>
                <a:ea typeface="微软雅黑" panose="020B0503020204020204" pitchFamily="34" charset="-122"/>
              </a:rPr>
            </a:br>
            <a:r>
              <a:rPr lang="en-US" altLang="zh-CN" sz="2400" b="1" u="sng" dirty="0" smtClean="0">
                <a:solidFill>
                  <a:srgbClr val="FFFF00"/>
                </a:solidFill>
                <a:latin typeface="微软雅黑" panose="020B0503020204020204" pitchFamily="34" charset="-122"/>
                <a:ea typeface="微软雅黑" panose="020B0503020204020204" pitchFamily="34" charset="-122"/>
              </a:rPr>
              <a:t>private</a:t>
            </a:r>
            <a:r>
              <a:rPr lang="zh-CN" altLang="en-US" sz="2400" b="1" u="sng" dirty="0" smtClean="0">
                <a:solidFill>
                  <a:srgbClr val="FFFF00"/>
                </a:solidFill>
                <a:latin typeface="微软雅黑" panose="020B0503020204020204" pitchFamily="34" charset="-122"/>
                <a:ea typeface="微软雅黑" panose="020B0503020204020204" pitchFamily="34" charset="-122"/>
              </a:rPr>
              <a:t>、</a:t>
            </a:r>
            <a:r>
              <a:rPr lang="en-US" altLang="zh-CN" sz="2400" b="1" u="sng" dirty="0" smtClean="0">
                <a:solidFill>
                  <a:srgbClr val="FFFF00"/>
                </a:solidFill>
                <a:latin typeface="微软雅黑" panose="020B0503020204020204" pitchFamily="34" charset="-122"/>
                <a:ea typeface="微软雅黑" panose="020B0503020204020204" pitchFamily="34" charset="-122"/>
              </a:rPr>
              <a:t>public</a:t>
            </a:r>
            <a:r>
              <a:rPr lang="zh-CN" altLang="en-US" sz="2400" b="1" u="sng" dirty="0" smtClean="0">
                <a:solidFill>
                  <a:srgbClr val="FFFF00"/>
                </a:solidFill>
                <a:latin typeface="微软雅黑" panose="020B0503020204020204" pitchFamily="34" charset="-122"/>
                <a:ea typeface="微软雅黑" panose="020B0503020204020204" pitchFamily="34" charset="-122"/>
              </a:rPr>
              <a:t>、</a:t>
            </a:r>
            <a:r>
              <a:rPr lang="en-US" altLang="zh-CN" sz="2400" b="1" u="sng" dirty="0" smtClean="0">
                <a:solidFill>
                  <a:srgbClr val="FFFF00"/>
                </a:solidFill>
                <a:latin typeface="微软雅黑" panose="020B0503020204020204" pitchFamily="34" charset="-122"/>
                <a:ea typeface="微软雅黑" panose="020B0503020204020204" pitchFamily="34" charset="-122"/>
              </a:rPr>
              <a:t>protected</a:t>
            </a:r>
            <a:r>
              <a:rPr lang="zh-CN" altLang="en-US" sz="2400" b="1" u="sng" dirty="0" smtClean="0">
                <a:solidFill>
                  <a:srgbClr val="FFFF00"/>
                </a:solidFill>
                <a:latin typeface="微软雅黑" panose="020B0503020204020204" pitchFamily="34" charset="-122"/>
                <a:ea typeface="微软雅黑" panose="020B0503020204020204" pitchFamily="34" charset="-122"/>
              </a:rPr>
              <a:t>。 </a:t>
            </a:r>
            <a:endParaRPr lang="zh-CN" altLang="en-US" sz="2400" b="1" u="sng" dirty="0" smtClean="0">
              <a:solidFill>
                <a:srgbClr val="FFFF00"/>
              </a:solidFill>
              <a:latin typeface="微软雅黑" panose="020B0503020204020204" pitchFamily="34" charset="-122"/>
              <a:ea typeface="微软雅黑" panose="020B0503020204020204" pitchFamily="34" charset="-122"/>
            </a:endParaRPr>
          </a:p>
          <a:p>
            <a:pPr eaLnBrk="1" hangingPunct="1">
              <a:lnSpc>
                <a:spcPct val="150000"/>
              </a:lnSpc>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三种访问权限的成员与出现的先后顺序无关，并且允许多次出现，但是</a:t>
            </a:r>
            <a:r>
              <a:rPr lang="zh-CN" altLang="en-US" sz="2400" b="1" u="sng" dirty="0" smtClean="0">
                <a:solidFill>
                  <a:srgbClr val="FFFF00"/>
                </a:solidFill>
                <a:latin typeface="微软雅黑" panose="020B0503020204020204" pitchFamily="34" charset="-122"/>
                <a:ea typeface="微软雅黑" panose="020B0503020204020204" pitchFamily="34" charset="-122"/>
              </a:rPr>
              <a:t>一个成员只能具有一种访问属性。 </a:t>
            </a:r>
            <a:endParaRPr lang="zh-CN" altLang="en-US" sz="2400" b="1" u="sng" dirty="0" smtClean="0">
              <a:solidFill>
                <a:srgbClr val="FFFF00"/>
              </a:solidFill>
              <a:latin typeface="微软雅黑" panose="020B0503020204020204" pitchFamily="34" charset="-122"/>
              <a:ea typeface="微软雅黑" panose="020B0503020204020204" pitchFamily="34" charset="-122"/>
            </a:endParaRPr>
          </a:p>
        </p:txBody>
      </p:sp>
      <p:sp>
        <p:nvSpPr>
          <p:cNvPr id="14342" name="Rectangle 6"/>
          <p:cNvSpPr>
            <a:spLocks noGrp="1" noChangeArrowheads="1"/>
          </p:cNvSpPr>
          <p:nvPr>
            <p:ph type="title"/>
          </p:nvPr>
        </p:nvSpPr>
        <p:spPr>
          <a:noFill/>
        </p:spPr>
        <p:txBody>
          <a:bodyPr/>
          <a:lstStyle/>
          <a:p>
            <a:pPr algn="ctr" eaLnBrk="1" hangingPunct="1"/>
            <a:r>
              <a:rPr lang="en-US" altLang="zh-CN" b="1" dirty="0">
                <a:solidFill>
                  <a:srgbClr val="FFFFFF"/>
                </a:solidFill>
                <a:latin typeface="Times New Roman" panose="02020603050405020304" pitchFamily="18" charset="0"/>
                <a:ea typeface="隶书" panose="02010509060101010101" pitchFamily="49" charset="-122"/>
              </a:rPr>
              <a:t>4.2.2 </a:t>
            </a:r>
            <a:r>
              <a:rPr lang="zh-CN" altLang="en-US" b="1" dirty="0">
                <a:solidFill>
                  <a:srgbClr val="FFFFFF"/>
                </a:solidFill>
                <a:latin typeface="Times New Roman" panose="02020603050405020304" pitchFamily="18" charset="0"/>
                <a:ea typeface="隶书" panose="02010509060101010101" pitchFamily="49" charset="-122"/>
              </a:rPr>
              <a:t>类成员的访问控制</a:t>
            </a:r>
            <a:endParaRPr lang="zh-CN" altLang="en-US" sz="4000" dirty="0" smtClean="0">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
          <p:cNvSpPr>
            <a:spLocks noGrp="1" noChangeArrowheads="1"/>
          </p:cNvSpPr>
          <p:nvPr>
            <p:ph type="sldNum" sz="quarter" idx="4294967295"/>
          </p:nvPr>
        </p:nvSpPr>
        <p:spPr>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279775B6-0EDC-445C-963A-FD898259741A}"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4" name="灯片编号占位符 4"/>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5364" name="Rectangle 2"/>
          <p:cNvSpPr>
            <a:spLocks noGrp="1" noChangeArrowheads="1"/>
          </p:cNvSpPr>
          <p:nvPr>
            <p:ph type="title"/>
          </p:nvPr>
        </p:nvSpPr>
        <p:spPr/>
        <p:txBody>
          <a:bodyPr/>
          <a:lstStyle/>
          <a:p>
            <a:pPr algn="ctr" eaLnBrk="1" hangingPunct="1"/>
            <a:r>
              <a:rPr lang="en-US" altLang="zh-CN" sz="4000" b="1" dirty="0">
                <a:latin typeface="Times New Roman" panose="02020603050405020304" pitchFamily="18" charset="0"/>
                <a:ea typeface="隶书" panose="02010509060101010101" pitchFamily="49" charset="-122"/>
              </a:rPr>
              <a:t>4.2.2 </a:t>
            </a:r>
            <a:r>
              <a:rPr lang="zh-CN" altLang="en-US" sz="4000" b="1" dirty="0">
                <a:latin typeface="Times New Roman" panose="02020603050405020304" pitchFamily="18" charset="0"/>
                <a:ea typeface="隶书" panose="02010509060101010101" pitchFamily="49" charset="-122"/>
              </a:rPr>
              <a:t>类成员的访问</a:t>
            </a:r>
            <a:r>
              <a:rPr lang="zh-CN" altLang="en-US" sz="4000" b="1" dirty="0" smtClean="0">
                <a:latin typeface="Times New Roman" panose="02020603050405020304" pitchFamily="18" charset="0"/>
                <a:ea typeface="隶书" panose="02010509060101010101" pitchFamily="49" charset="-122"/>
              </a:rPr>
              <a:t>控制</a:t>
            </a:r>
            <a:br>
              <a:rPr lang="en-US" altLang="zh-CN" sz="4000" b="1" dirty="0" smtClean="0">
                <a:latin typeface="Times New Roman" panose="02020603050405020304" pitchFamily="18" charset="0"/>
                <a:ea typeface="隶书" panose="02010509060101010101" pitchFamily="49" charset="-122"/>
              </a:rPr>
            </a:br>
            <a:r>
              <a:rPr lang="en-US" altLang="zh-CN" sz="4000" b="1" dirty="0" smtClean="0">
                <a:latin typeface="Times New Roman" panose="02020603050405020304" pitchFamily="18" charset="0"/>
                <a:ea typeface="隶书" panose="02010509060101010101" pitchFamily="49" charset="-122"/>
              </a:rPr>
              <a:t>——</a:t>
            </a:r>
            <a:r>
              <a:rPr lang="zh-CN" altLang="en-US" sz="4000" b="1" dirty="0">
                <a:latin typeface="Times New Roman" panose="02020603050405020304" pitchFamily="18" charset="0"/>
                <a:ea typeface="隶书" panose="02010509060101010101" pitchFamily="49" charset="-122"/>
              </a:rPr>
              <a:t>公有类型成员</a:t>
            </a:r>
            <a:endParaRPr lang="zh-CN" altLang="en-US" sz="4000" b="1" dirty="0">
              <a:latin typeface="Times New Roman" panose="02020603050405020304" pitchFamily="18" charset="0"/>
              <a:ea typeface="隶书" panose="02010509060101010101" pitchFamily="49" charset="-122"/>
            </a:endParaRPr>
          </a:p>
        </p:txBody>
      </p:sp>
      <p:sp>
        <p:nvSpPr>
          <p:cNvPr id="15365" name="Rectangle 3"/>
          <p:cNvSpPr>
            <a:spLocks noGrp="1" noChangeArrowheads="1"/>
          </p:cNvSpPr>
          <p:nvPr>
            <p:ph type="body" idx="1"/>
          </p:nvPr>
        </p:nvSpPr>
        <p:spPr>
          <a:xfrm>
            <a:off x="971600" y="2296320"/>
            <a:ext cx="7554114" cy="1673225"/>
          </a:xfrm>
        </p:spPr>
        <p:txBody>
          <a:bodyPr/>
          <a:lstStyle/>
          <a:p>
            <a:pPr marL="0" indent="0" eaLnBrk="1" hangingPunct="1">
              <a:lnSpc>
                <a:spcPct val="160000"/>
              </a:lnSpc>
              <a:spcBef>
                <a:spcPct val="50000"/>
              </a:spcBef>
              <a:buFont typeface="Wingdings" panose="05000000000000000000" pitchFamily="2" charset="2"/>
              <a:buNone/>
            </a:pPr>
            <a:r>
              <a:rPr lang="zh-CN" altLang="en-US" sz="2400" b="1" dirty="0" smtClean="0">
                <a:latin typeface="微软雅黑" panose="020B0503020204020204" pitchFamily="34" charset="-122"/>
                <a:ea typeface="微软雅黑" panose="020B0503020204020204" pitchFamily="34" charset="-122"/>
              </a:rPr>
              <a:t>在</a:t>
            </a:r>
            <a:r>
              <a:rPr lang="zh-CN" altLang="en-US" sz="2400" b="1" dirty="0" smtClean="0">
                <a:solidFill>
                  <a:srgbClr val="FFFF00"/>
                </a:solidFill>
                <a:latin typeface="微软雅黑" panose="020B0503020204020204" pitchFamily="34" charset="-122"/>
                <a:ea typeface="微软雅黑" panose="020B0503020204020204" pitchFamily="34" charset="-122"/>
              </a:rPr>
              <a:t>关键字</a:t>
            </a:r>
            <a:r>
              <a:rPr lang="en-US" altLang="zh-CN" sz="2400" b="1" dirty="0" smtClean="0">
                <a:solidFill>
                  <a:srgbClr val="FFFF00"/>
                </a:solidFill>
                <a:latin typeface="微软雅黑" panose="020B0503020204020204" pitchFamily="34" charset="-122"/>
                <a:ea typeface="微软雅黑" panose="020B0503020204020204" pitchFamily="34" charset="-122"/>
              </a:rPr>
              <a:t>public</a:t>
            </a:r>
            <a:r>
              <a:rPr lang="zh-CN" altLang="zh-CN" sz="2400" b="1" dirty="0">
                <a:solidFill>
                  <a:srgbClr val="FFFFFF"/>
                </a:solidFill>
                <a:latin typeface="微软雅黑" panose="020B0503020204020204" pitchFamily="34" charset="-122"/>
                <a:ea typeface="微软雅黑" panose="020B0503020204020204" pitchFamily="34" charset="-122"/>
              </a:rPr>
              <a:t>后面声明，它们是类与外部的接口</a:t>
            </a:r>
            <a:r>
              <a:rPr lang="zh-CN" altLang="zh-CN" sz="2400" b="1" dirty="0" smtClean="0">
                <a:solidFill>
                  <a:srgbClr val="FFFFFF"/>
                </a:solidFill>
                <a:latin typeface="微软雅黑" panose="020B0503020204020204" pitchFamily="34" charset="-122"/>
                <a:ea typeface="微软雅黑" panose="020B0503020204020204" pitchFamily="34" charset="-122"/>
              </a:rPr>
              <a:t>，任何</a:t>
            </a:r>
            <a:r>
              <a:rPr lang="zh-CN" altLang="zh-CN" sz="2400" b="1" dirty="0">
                <a:solidFill>
                  <a:srgbClr val="FFFFFF"/>
                </a:solidFill>
                <a:latin typeface="微软雅黑" panose="020B0503020204020204" pitchFamily="34" charset="-122"/>
                <a:ea typeface="微软雅黑" panose="020B0503020204020204" pitchFamily="34" charset="-122"/>
              </a:rPr>
              <a:t>外部函数都可以访问公有类型数据和函数。</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
          <p:cNvSpPr>
            <a:spLocks noGrp="1" noChangeArrowheads="1"/>
          </p:cNvSpPr>
          <p:nvPr>
            <p:ph type="sldNum" sz="quarter" idx="4294967295"/>
          </p:nvPr>
        </p:nvSpPr>
        <p:spPr>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54574263-5D5B-4A94-B972-C4C40F2A92AB}"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4" name="灯片编号占位符 4"/>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6388" name="Rectangle 2"/>
          <p:cNvSpPr>
            <a:spLocks noGrp="1" noChangeArrowheads="1"/>
          </p:cNvSpPr>
          <p:nvPr>
            <p:ph type="title"/>
          </p:nvPr>
        </p:nvSpPr>
        <p:spPr/>
        <p:txBody>
          <a:bodyPr/>
          <a:lstStyle/>
          <a:p>
            <a:pPr algn="ctr" eaLnBrk="1" hangingPunct="1"/>
            <a:r>
              <a:rPr lang="en-US" altLang="zh-CN" sz="4000" b="1" dirty="0">
                <a:latin typeface="Times New Roman" panose="02020603050405020304" pitchFamily="18" charset="0"/>
                <a:ea typeface="隶书" panose="02010509060101010101" pitchFamily="49" charset="-122"/>
              </a:rPr>
              <a:t>4.2.2 </a:t>
            </a:r>
            <a:r>
              <a:rPr lang="zh-CN" altLang="en-US" sz="4000" b="1" dirty="0">
                <a:latin typeface="Times New Roman" panose="02020603050405020304" pitchFamily="18" charset="0"/>
                <a:ea typeface="隶书" panose="02010509060101010101" pitchFamily="49" charset="-122"/>
              </a:rPr>
              <a:t>类成员的访问控制</a:t>
            </a:r>
            <a:r>
              <a:rPr lang="en-US" altLang="zh-CN" sz="4000" b="1" dirty="0">
                <a:latin typeface="Times New Roman" panose="02020603050405020304" pitchFamily="18" charset="0"/>
                <a:ea typeface="隶书" panose="02010509060101010101" pitchFamily="49" charset="-122"/>
              </a:rPr>
              <a:t>——</a:t>
            </a:r>
            <a:br>
              <a:rPr lang="en-US" altLang="zh-CN" sz="4000" b="1" dirty="0">
                <a:latin typeface="Times New Roman" panose="02020603050405020304" pitchFamily="18" charset="0"/>
                <a:ea typeface="隶书" panose="02010509060101010101" pitchFamily="49" charset="-122"/>
              </a:rPr>
            </a:br>
            <a:r>
              <a:rPr lang="zh-CN" altLang="en-US" sz="4000" b="1" dirty="0">
                <a:latin typeface="Times New Roman" panose="02020603050405020304" pitchFamily="18" charset="0"/>
                <a:ea typeface="隶书" panose="02010509060101010101" pitchFamily="49" charset="-122"/>
              </a:rPr>
              <a:t>私有类型成员</a:t>
            </a:r>
            <a:endParaRPr lang="zh-CN" altLang="en-US" sz="4000" b="1" dirty="0">
              <a:latin typeface="Times New Roman" panose="02020603050405020304" pitchFamily="18" charset="0"/>
              <a:ea typeface="隶书" panose="02010509060101010101" pitchFamily="49" charset="-122"/>
            </a:endParaRPr>
          </a:p>
        </p:txBody>
      </p:sp>
      <p:sp>
        <p:nvSpPr>
          <p:cNvPr id="16389" name="Rectangle 3"/>
          <p:cNvSpPr>
            <a:spLocks noGrp="1" noChangeArrowheads="1"/>
          </p:cNvSpPr>
          <p:nvPr>
            <p:ph type="body" idx="1"/>
          </p:nvPr>
        </p:nvSpPr>
        <p:spPr>
          <a:xfrm>
            <a:off x="1370013" y="1827213"/>
            <a:ext cx="7313612" cy="3952875"/>
          </a:xfrm>
        </p:spPr>
        <p:txBody>
          <a:bodyPr/>
          <a:lstStyle/>
          <a:p>
            <a:pPr marL="0" indent="0" eaLnBrk="1" hangingPunct="1">
              <a:lnSpc>
                <a:spcPct val="130000"/>
              </a:lnSpc>
              <a:spcBef>
                <a:spcPct val="50000"/>
              </a:spcBef>
              <a:buFont typeface="Wingdings" panose="05000000000000000000" pitchFamily="2" charset="2"/>
              <a:buNone/>
            </a:pPr>
            <a:r>
              <a:rPr lang="zh-CN" altLang="en-US" sz="2400" b="1" dirty="0" smtClean="0">
                <a:latin typeface="微软雅黑" panose="020B0503020204020204" pitchFamily="34" charset="-122"/>
                <a:ea typeface="微软雅黑" panose="020B0503020204020204" pitchFamily="34" charset="-122"/>
              </a:rPr>
              <a:t>在</a:t>
            </a:r>
            <a:r>
              <a:rPr lang="zh-CN" altLang="en-US" sz="2400" b="1" dirty="0" smtClean="0">
                <a:solidFill>
                  <a:srgbClr val="FFFF00"/>
                </a:solidFill>
                <a:latin typeface="微软雅黑" panose="020B0503020204020204" pitchFamily="34" charset="-122"/>
                <a:ea typeface="微软雅黑" panose="020B0503020204020204" pitchFamily="34" charset="-122"/>
              </a:rPr>
              <a:t>关键字</a:t>
            </a:r>
            <a:r>
              <a:rPr lang="en-US" altLang="zh-CN" sz="2400" b="1" dirty="0" smtClean="0">
                <a:solidFill>
                  <a:srgbClr val="FFFF00"/>
                </a:solidFill>
                <a:latin typeface="微软雅黑" panose="020B0503020204020204" pitchFamily="34" charset="-122"/>
                <a:ea typeface="微软雅黑" panose="020B0503020204020204" pitchFamily="34" charset="-122"/>
              </a:rPr>
              <a:t>private</a:t>
            </a:r>
            <a:r>
              <a:rPr lang="zh-CN" altLang="zh-CN" sz="2400" b="1" dirty="0" smtClean="0">
                <a:latin typeface="微软雅黑" panose="020B0503020204020204" pitchFamily="34" charset="-122"/>
                <a:ea typeface="微软雅黑" panose="020B0503020204020204" pitchFamily="34" charset="-122"/>
              </a:rPr>
              <a:t>后面声明，</a:t>
            </a:r>
            <a:r>
              <a:rPr lang="zh-CN" altLang="en-US" sz="2400" b="1" dirty="0" smtClean="0">
                <a:latin typeface="微软雅黑" panose="020B0503020204020204" pitchFamily="34" charset="-122"/>
                <a:ea typeface="微软雅黑" panose="020B0503020204020204" pitchFamily="34" charset="-122"/>
              </a:rPr>
              <a:t>只允许本类中的函数及友元访问，而其他的函数不能访问。</a:t>
            </a: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lnSpc>
                <a:spcPct val="130000"/>
              </a:lnSpc>
              <a:spcBef>
                <a:spcPct val="50000"/>
              </a:spcBef>
              <a:buFont typeface="Wingdings" panose="05000000000000000000" pitchFamily="2" charset="2"/>
              <a:buNone/>
            </a:pPr>
            <a:endParaRPr lang="zh-CN" altLang="en-US" sz="2400" b="1" dirty="0" smtClean="0">
              <a:latin typeface="微软雅黑" panose="020B0503020204020204" pitchFamily="34" charset="-122"/>
              <a:ea typeface="微软雅黑" panose="020B0503020204020204" pitchFamily="34" charset="-122"/>
            </a:endParaRPr>
          </a:p>
          <a:p>
            <a:pPr marL="0" indent="0" eaLnBrk="1" hangingPunct="1">
              <a:lnSpc>
                <a:spcPct val="130000"/>
              </a:lnSpc>
              <a:spcBef>
                <a:spcPct val="50000"/>
              </a:spcBef>
              <a:buFont typeface="Wingdings" panose="05000000000000000000" pitchFamily="2" charset="2"/>
              <a:buNone/>
            </a:pPr>
            <a:r>
              <a:rPr lang="zh-CN" altLang="zh-CN" sz="2400" b="1" i="1" dirty="0" smtClean="0">
                <a:solidFill>
                  <a:srgbClr val="FFFF00"/>
                </a:solidFill>
                <a:latin typeface="微软雅黑" panose="020B0503020204020204" pitchFamily="34" charset="-122"/>
                <a:ea typeface="微软雅黑" panose="020B0503020204020204" pitchFamily="34" charset="-122"/>
              </a:rPr>
              <a:t>如果</a:t>
            </a:r>
            <a:r>
              <a:rPr lang="zh-CN" altLang="en-US" sz="2400" b="1" i="1" dirty="0" smtClean="0">
                <a:solidFill>
                  <a:srgbClr val="FFFF00"/>
                </a:solidFill>
                <a:latin typeface="微软雅黑" panose="020B0503020204020204" pitchFamily="34" charset="-122"/>
                <a:ea typeface="微软雅黑" panose="020B0503020204020204" pitchFamily="34" charset="-122"/>
              </a:rPr>
              <a:t>紧跟在类名称的后面声明私有成员，则</a:t>
            </a:r>
            <a:r>
              <a:rPr lang="zh-CN" altLang="zh-CN" sz="2400" b="1" i="1" dirty="0" smtClean="0">
                <a:solidFill>
                  <a:srgbClr val="FFFF00"/>
                </a:solidFill>
                <a:latin typeface="微软雅黑" panose="020B0503020204020204" pitchFamily="34" charset="-122"/>
                <a:ea typeface="微软雅黑" panose="020B0503020204020204" pitchFamily="34" charset="-122"/>
              </a:rPr>
              <a:t>关键字</a:t>
            </a:r>
            <a:r>
              <a:rPr lang="en-US" altLang="zh-CN" sz="2400" b="1" i="1" dirty="0" smtClean="0">
                <a:solidFill>
                  <a:srgbClr val="FFFF00"/>
                </a:solidFill>
                <a:latin typeface="微软雅黑" panose="020B0503020204020204" pitchFamily="34" charset="-122"/>
                <a:ea typeface="微软雅黑" panose="020B0503020204020204" pitchFamily="34" charset="-122"/>
              </a:rPr>
              <a:t>private</a:t>
            </a:r>
            <a:r>
              <a:rPr lang="zh-CN" altLang="en-US" sz="2400" b="1" i="1" dirty="0" smtClean="0">
                <a:solidFill>
                  <a:srgbClr val="FFFF00"/>
                </a:solidFill>
                <a:latin typeface="微软雅黑" panose="020B0503020204020204" pitchFamily="34" charset="-122"/>
                <a:ea typeface="微软雅黑" panose="020B0503020204020204" pitchFamily="34" charset="-122"/>
              </a:rPr>
              <a:t>可以</a:t>
            </a:r>
            <a:r>
              <a:rPr lang="zh-CN" altLang="zh-CN" sz="2400" b="1" i="1" dirty="0" smtClean="0">
                <a:solidFill>
                  <a:srgbClr val="FFFF00"/>
                </a:solidFill>
                <a:latin typeface="微软雅黑" panose="020B0503020204020204" pitchFamily="34" charset="-122"/>
                <a:ea typeface="微软雅黑" panose="020B0503020204020204" pitchFamily="34" charset="-122"/>
              </a:rPr>
              <a:t>省略。</a:t>
            </a:r>
            <a:endParaRPr lang="zh-CN" altLang="en-US" sz="2400" b="1" dirty="0" smtClean="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
          <p:cNvSpPr>
            <a:spLocks noGrp="1" noChangeArrowheads="1"/>
          </p:cNvSpPr>
          <p:nvPr>
            <p:ph type="sldNum" sz="quarter" idx="4294967295"/>
          </p:nvPr>
        </p:nvSpPr>
        <p:spPr>
          <a:xfrm>
            <a:off x="6553200" y="6248400"/>
            <a:ext cx="2133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B741AA4C-815E-4339-AA96-7F7538096142}"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5" name="灯片编号占位符 4"/>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17412" name="Rectangle 2"/>
          <p:cNvSpPr>
            <a:spLocks noGrp="1" noChangeArrowheads="1"/>
          </p:cNvSpPr>
          <p:nvPr>
            <p:ph type="title"/>
          </p:nvPr>
        </p:nvSpPr>
        <p:spPr/>
        <p:txBody>
          <a:bodyPr/>
          <a:lstStyle/>
          <a:p>
            <a:pPr algn="ctr" eaLnBrk="1" hangingPunct="1"/>
            <a:r>
              <a:rPr lang="en-US" altLang="zh-CN" sz="4000" b="1" dirty="0">
                <a:latin typeface="Times New Roman" panose="02020603050405020304" pitchFamily="18" charset="0"/>
                <a:ea typeface="隶书" panose="02010509060101010101" pitchFamily="49" charset="-122"/>
              </a:rPr>
              <a:t>4.2.2 </a:t>
            </a:r>
            <a:r>
              <a:rPr lang="zh-CN" altLang="en-US" sz="4000" b="1" dirty="0">
                <a:latin typeface="Times New Roman" panose="02020603050405020304" pitchFamily="18" charset="0"/>
                <a:ea typeface="隶书" panose="02010509060101010101" pitchFamily="49" charset="-122"/>
              </a:rPr>
              <a:t>类成员的访问控制</a:t>
            </a:r>
            <a:r>
              <a:rPr lang="en-US" altLang="zh-CN" sz="4000" b="1" dirty="0">
                <a:latin typeface="Times New Roman" panose="02020603050405020304" pitchFamily="18" charset="0"/>
                <a:ea typeface="隶书" panose="02010509060101010101" pitchFamily="49" charset="-122"/>
              </a:rPr>
              <a:t>——</a:t>
            </a:r>
            <a:br>
              <a:rPr lang="en-US" altLang="zh-CN" sz="4000" b="1" dirty="0">
                <a:latin typeface="Times New Roman" panose="02020603050405020304" pitchFamily="18" charset="0"/>
                <a:ea typeface="隶书" panose="02010509060101010101" pitchFamily="49" charset="-122"/>
              </a:rPr>
            </a:br>
            <a:r>
              <a:rPr lang="zh-CN" altLang="en-US" sz="4000" b="1" dirty="0">
                <a:latin typeface="Times New Roman" panose="02020603050405020304" pitchFamily="18" charset="0"/>
                <a:ea typeface="隶书" panose="02010509060101010101" pitchFamily="49" charset="-122"/>
              </a:rPr>
              <a:t>保护类型成员</a:t>
            </a:r>
            <a:endParaRPr lang="zh-CN" altLang="en-US" sz="4000" b="1" dirty="0">
              <a:latin typeface="Times New Roman" panose="02020603050405020304" pitchFamily="18" charset="0"/>
              <a:ea typeface="隶书" panose="02010509060101010101" pitchFamily="49" charset="-122"/>
            </a:endParaRPr>
          </a:p>
        </p:txBody>
      </p:sp>
      <p:sp>
        <p:nvSpPr>
          <p:cNvPr id="17413" name="Rectangle 3"/>
          <p:cNvSpPr>
            <a:spLocks noGrp="1" noChangeArrowheads="1"/>
          </p:cNvSpPr>
          <p:nvPr>
            <p:ph type="body" idx="1"/>
          </p:nvPr>
        </p:nvSpPr>
        <p:spPr>
          <a:xfrm>
            <a:off x="971600" y="1719263"/>
            <a:ext cx="7200000" cy="1637729"/>
          </a:xfrm>
        </p:spPr>
        <p:txBody>
          <a:bodyPr/>
          <a:lstStyle/>
          <a:p>
            <a:pPr marL="0" indent="0" eaLnBrk="1" hangingPunct="1">
              <a:lnSpc>
                <a:spcPct val="150000"/>
              </a:lnSpc>
              <a:buFont typeface="Wingdings" panose="05000000000000000000" pitchFamily="2" charset="2"/>
              <a:buNone/>
            </a:pPr>
            <a:r>
              <a:rPr lang="zh-CN" altLang="en-US" sz="2400" b="1" dirty="0" smtClean="0">
                <a:latin typeface="微软雅黑" panose="020B0503020204020204" pitchFamily="34" charset="-122"/>
                <a:ea typeface="微软雅黑" panose="020B0503020204020204" pitchFamily="34" charset="-122"/>
              </a:rPr>
              <a:t>在</a:t>
            </a:r>
            <a:r>
              <a:rPr lang="zh-CN" altLang="en-US" sz="2400" b="1" dirty="0" smtClean="0">
                <a:solidFill>
                  <a:srgbClr val="FFFF00"/>
                </a:solidFill>
                <a:latin typeface="微软雅黑" panose="020B0503020204020204" pitchFamily="34" charset="-122"/>
                <a:ea typeface="微软雅黑" panose="020B0503020204020204" pitchFamily="34" charset="-122"/>
              </a:rPr>
              <a:t>关键字</a:t>
            </a:r>
            <a:r>
              <a:rPr lang="en-US" altLang="zh-CN" sz="2400" b="1" dirty="0" err="1" smtClean="0">
                <a:solidFill>
                  <a:srgbClr val="FFFF00"/>
                </a:solidFill>
                <a:latin typeface="微软雅黑" panose="020B0503020204020204" pitchFamily="34" charset="-122"/>
                <a:ea typeface="微软雅黑" panose="020B0503020204020204" pitchFamily="34" charset="-122"/>
              </a:rPr>
              <a:t>pretected</a:t>
            </a:r>
            <a:r>
              <a:rPr lang="zh-CN" altLang="zh-CN" sz="2400" b="1" dirty="0" smtClean="0">
                <a:latin typeface="微软雅黑" panose="020B0503020204020204" pitchFamily="34" charset="-122"/>
                <a:ea typeface="微软雅黑" panose="020B0503020204020204" pitchFamily="34" charset="-122"/>
              </a:rPr>
              <a:t>后面声明</a:t>
            </a:r>
            <a:r>
              <a:rPr lang="zh-CN" altLang="zh-CN" sz="2400" b="1" dirty="0">
                <a:latin typeface="微软雅黑" panose="020B0503020204020204" pitchFamily="34" charset="-122"/>
                <a:ea typeface="微软雅黑" panose="020B0503020204020204" pitchFamily="34" charset="-122"/>
              </a:rPr>
              <a:t>，能被本类成员函数</a:t>
            </a:r>
            <a:r>
              <a:rPr lang="zh-CN" altLang="en-US"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派生类成员函数和友元访问，其他函数无法访问。</a:t>
            </a:r>
            <a:endParaRPr lang="zh-CN" altLang="en-US" sz="2400" b="1" dirty="0">
              <a:latin typeface="微软雅黑" panose="020B0503020204020204" pitchFamily="34" charset="-122"/>
              <a:ea typeface="微软雅黑" panose="020B0503020204020204" pitchFamily="34" charset="-122"/>
            </a:endParaRPr>
          </a:p>
        </p:txBody>
      </p:sp>
      <p:sp>
        <p:nvSpPr>
          <p:cNvPr id="17414" name="Text Box 4"/>
          <p:cNvSpPr txBox="1">
            <a:spLocks noChangeArrowheads="1"/>
          </p:cNvSpPr>
          <p:nvPr/>
        </p:nvSpPr>
        <p:spPr bwMode="auto">
          <a:xfrm>
            <a:off x="971600" y="3212976"/>
            <a:ext cx="7200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spcBef>
                <a:spcPct val="20000"/>
              </a:spcBef>
              <a:buClr>
                <a:schemeClr val="tx2"/>
              </a:buClr>
              <a:buSzPct val="70000"/>
              <a:buFont typeface="Wingdings" panose="05000000000000000000" pitchFamily="2" charset="2"/>
              <a:buNone/>
            </a:pPr>
            <a:r>
              <a:rPr kumimoji="0" lang="zh-CN" altLang="en-US" dirty="0">
                <a:solidFill>
                  <a:srgbClr val="FFFF00"/>
                </a:solidFill>
                <a:latin typeface="微软雅黑" panose="020B0503020204020204" pitchFamily="34" charset="-122"/>
                <a:ea typeface="微软雅黑" panose="020B0503020204020204" pitchFamily="34" charset="-122"/>
              </a:rPr>
              <a:t>保护类型的性质和私有类型的性质相似，其差别在于继承过程中对产生的新类影响不同</a:t>
            </a:r>
            <a:r>
              <a:rPr kumimoji="0" lang="zh-CN" altLang="en-US" dirty="0" smtClean="0">
                <a:solidFill>
                  <a:srgbClr val="FFFF00"/>
                </a:solidFill>
                <a:latin typeface="微软雅黑" panose="020B0503020204020204" pitchFamily="34" charset="-122"/>
                <a:ea typeface="微软雅黑" panose="020B0503020204020204" pitchFamily="34" charset="-122"/>
              </a:rPr>
              <a:t>。</a:t>
            </a:r>
            <a:endParaRPr kumimoji="0" lang="en-US" altLang="zh-CN" dirty="0">
              <a:solidFill>
                <a:srgbClr val="FFFF00"/>
              </a:solidFill>
              <a:latin typeface="微软雅黑" panose="020B0503020204020204" pitchFamily="34" charset="-122"/>
              <a:ea typeface="微软雅黑" panose="020B0503020204020204" pitchFamily="34" charset="-122"/>
            </a:endParaRPr>
          </a:p>
          <a:p>
            <a:pPr algn="l" eaLnBrk="1" hangingPunct="1">
              <a:lnSpc>
                <a:spcPct val="150000"/>
              </a:lnSpc>
              <a:spcBef>
                <a:spcPct val="20000"/>
              </a:spcBef>
              <a:buClr>
                <a:schemeClr val="tx2"/>
              </a:buClr>
              <a:buSzPct val="70000"/>
              <a:buFont typeface="Wingdings" panose="05000000000000000000" pitchFamily="2" charset="2"/>
              <a:buNone/>
            </a:pPr>
            <a:r>
              <a:rPr kumimoji="0" lang="zh-CN" altLang="en-US" dirty="0" smtClean="0">
                <a:solidFill>
                  <a:srgbClr val="FFFF00"/>
                </a:solidFill>
                <a:latin typeface="微软雅黑" panose="020B0503020204020204" pitchFamily="34" charset="-122"/>
                <a:ea typeface="微软雅黑" panose="020B0503020204020204" pitchFamily="34" charset="-122"/>
              </a:rPr>
              <a:t>与</a:t>
            </a:r>
            <a:r>
              <a:rPr kumimoji="0" lang="en-US" altLang="zh-CN" dirty="0">
                <a:solidFill>
                  <a:srgbClr val="FFFF00"/>
                </a:solidFill>
                <a:latin typeface="微软雅黑" panose="020B0503020204020204" pitchFamily="34" charset="-122"/>
                <a:ea typeface="微软雅黑" panose="020B0503020204020204" pitchFamily="34" charset="-122"/>
              </a:rPr>
              <a:t>private</a:t>
            </a:r>
            <a:r>
              <a:rPr kumimoji="0" lang="zh-CN" altLang="en-US" dirty="0">
                <a:solidFill>
                  <a:srgbClr val="FFFF00"/>
                </a:solidFill>
                <a:latin typeface="微软雅黑" panose="020B0503020204020204" pitchFamily="34" charset="-122"/>
                <a:ea typeface="微软雅黑" panose="020B0503020204020204" pitchFamily="34" charset="-122"/>
              </a:rPr>
              <a:t>类似，其差别表现在继承与派生时对派生类的影响不同，第七章讲。</a:t>
            </a:r>
            <a:endParaRPr kumimoji="0" lang="zh-CN" altLang="en-US"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algn="ctr" eaLnBrk="1" hangingPunct="1"/>
            <a:r>
              <a:rPr lang="en-US" altLang="zh-CN" b="1" dirty="0">
                <a:solidFill>
                  <a:srgbClr val="FFFFFF"/>
                </a:solidFill>
                <a:latin typeface="Times New Roman" panose="02020603050405020304" pitchFamily="18" charset="0"/>
                <a:ea typeface="华文行楷" panose="02010800040101010101" pitchFamily="2" charset="-122"/>
              </a:rPr>
              <a:t> </a:t>
            </a:r>
            <a:r>
              <a:rPr lang="en-US" altLang="zh-CN" sz="4400" b="1" dirty="0">
                <a:solidFill>
                  <a:srgbClr val="FFFFFF"/>
                </a:solidFill>
                <a:latin typeface="Times New Roman" panose="02020603050405020304" pitchFamily="18" charset="0"/>
                <a:ea typeface="隶书" panose="02010509060101010101" pitchFamily="49" charset="-122"/>
              </a:rPr>
              <a:t>4.2.3 </a:t>
            </a:r>
            <a:r>
              <a:rPr lang="zh-CN" altLang="en-US" sz="4400" b="1" dirty="0">
                <a:solidFill>
                  <a:srgbClr val="FFFFFF"/>
                </a:solidFill>
                <a:latin typeface="Times New Roman" panose="02020603050405020304" pitchFamily="18" charset="0"/>
                <a:ea typeface="隶书" panose="02010509060101010101" pitchFamily="49" charset="-122"/>
              </a:rPr>
              <a:t>对象</a:t>
            </a:r>
            <a:endParaRPr lang="zh-CN" altLang="en-US" b="1" dirty="0">
              <a:solidFill>
                <a:srgbClr val="FFFFFF"/>
              </a:solidFill>
              <a:latin typeface="Times New Roman" panose="02020603050405020304" pitchFamily="18" charset="0"/>
              <a:ea typeface="华文行楷" panose="02010800040101010101" pitchFamily="2" charset="-122"/>
            </a:endParaRPr>
          </a:p>
        </p:txBody>
      </p:sp>
      <p:sp>
        <p:nvSpPr>
          <p:cNvPr id="32773" name="Text Box 4"/>
          <p:cNvSpPr txBox="1">
            <a:spLocks noChangeArrowheads="1"/>
          </p:cNvSpPr>
          <p:nvPr/>
        </p:nvSpPr>
        <p:spPr bwMode="auto">
          <a:xfrm>
            <a:off x="1116013" y="1916832"/>
            <a:ext cx="7561262" cy="528638"/>
          </a:xfrm>
          <a:prstGeom prst="rect">
            <a:avLst/>
          </a:prstGeom>
          <a:solidFill>
            <a:srgbClr val="DDDDDD"/>
          </a:solidFill>
          <a:ln w="9525">
            <a:solidFill>
              <a:schemeClr val="tx1"/>
            </a:solidFill>
            <a:miter lim="800000"/>
          </a:ln>
        </p:spPr>
        <p:txBody>
          <a:bodyPr>
            <a:spAutoFit/>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20000"/>
              </a:spcBef>
              <a:buClr>
                <a:schemeClr val="accent1"/>
              </a:buClr>
              <a:buSzPct val="65000"/>
              <a:buFont typeface="Wingdings" panose="05000000000000000000" pitchFamily="2" charset="2"/>
              <a:buNone/>
            </a:pPr>
            <a:r>
              <a:rPr kumimoji="0" lang="zh-CN" altLang="en-US" sz="2800" dirty="0">
                <a:solidFill>
                  <a:srgbClr val="C00000"/>
                </a:solidFill>
                <a:latin typeface="华文楷体" panose="02010600040101010101" pitchFamily="2" charset="-122"/>
              </a:rPr>
              <a:t>类名  对象名表</a:t>
            </a:r>
            <a:r>
              <a:rPr kumimoji="0" lang="en-US" altLang="zh-CN" sz="2800" dirty="0">
                <a:solidFill>
                  <a:srgbClr val="C00000"/>
                </a:solidFill>
                <a:latin typeface="华文楷体" panose="02010600040101010101" pitchFamily="2" charset="-122"/>
              </a:rPr>
              <a:t>;</a:t>
            </a:r>
            <a:endParaRPr kumimoji="0" lang="en-US" altLang="zh-CN" sz="2800" dirty="0">
              <a:solidFill>
                <a:srgbClr val="C00000"/>
              </a:solidFill>
              <a:latin typeface="华文楷体" panose="02010600040101010101" pitchFamily="2" charset="-122"/>
            </a:endParaRPr>
          </a:p>
        </p:txBody>
      </p:sp>
      <p:sp>
        <p:nvSpPr>
          <p:cNvPr id="32775" name="Text Box 9"/>
          <p:cNvSpPr txBox="1">
            <a:spLocks noChangeArrowheads="1"/>
          </p:cNvSpPr>
          <p:nvPr/>
        </p:nvSpPr>
        <p:spPr bwMode="auto">
          <a:xfrm>
            <a:off x="1116013" y="2432770"/>
            <a:ext cx="7561262" cy="3268587"/>
          </a:xfrm>
          <a:prstGeom prst="rect">
            <a:avLst/>
          </a:prstGeom>
          <a:solidFill>
            <a:schemeClr val="tx1"/>
          </a:solidFill>
          <a:ln w="9525">
            <a:solidFill>
              <a:schemeClr val="tx1"/>
            </a:solidFill>
            <a:miter lim="800000"/>
          </a:ln>
        </p:spPr>
        <p:txBody>
          <a:bodyPr>
            <a:spAutoFit/>
          </a:bodyPr>
          <a:lstStyle>
            <a:lvl1pPr marL="363855" indent="-363855"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20000"/>
              </a:spcBef>
              <a:buClr>
                <a:srgbClr val="000099"/>
              </a:buClr>
              <a:buSzPct val="65000"/>
              <a:buFont typeface="Wingdings" panose="05000000000000000000" pitchFamily="2" charset="2"/>
              <a:buChar char="u"/>
            </a:pPr>
            <a:r>
              <a:rPr kumimoji="0" lang="zh-CN" altLang="en-US" dirty="0">
                <a:solidFill>
                  <a:srgbClr val="000000"/>
                </a:solidFill>
                <a:latin typeface="微软雅黑" panose="020B0503020204020204" pitchFamily="34" charset="-122"/>
                <a:ea typeface="微软雅黑" panose="020B0503020204020204" pitchFamily="34" charset="-122"/>
              </a:rPr>
              <a:t>对象的定义格式与普通变量相同。</a:t>
            </a:r>
            <a:endParaRPr kumimoji="0" lang="zh-CN" altLang="en-US" dirty="0">
              <a:solidFill>
                <a:srgbClr val="000000"/>
              </a:solidFill>
              <a:latin typeface="微软雅黑" panose="020B0503020204020204" pitchFamily="34" charset="-122"/>
              <a:ea typeface="微软雅黑" panose="020B0503020204020204" pitchFamily="34" charset="-122"/>
            </a:endParaRPr>
          </a:p>
          <a:p>
            <a:pPr algn="l" eaLnBrk="1" hangingPunct="1">
              <a:lnSpc>
                <a:spcPct val="100000"/>
              </a:lnSpc>
              <a:spcBef>
                <a:spcPct val="20000"/>
              </a:spcBef>
              <a:buClr>
                <a:srgbClr val="000099"/>
              </a:buClr>
              <a:buSzPct val="65000"/>
              <a:buFont typeface="Wingdings" panose="05000000000000000000" pitchFamily="2" charset="2"/>
              <a:buChar char="u"/>
            </a:pPr>
            <a:r>
              <a:rPr kumimoji="0" lang="zh-CN" altLang="en-US" dirty="0">
                <a:solidFill>
                  <a:srgbClr val="000000"/>
                </a:solidFill>
                <a:latin typeface="微软雅黑" panose="020B0503020204020204" pitchFamily="34" charset="-122"/>
                <a:ea typeface="微软雅黑" panose="020B0503020204020204" pitchFamily="34" charset="-122"/>
              </a:rPr>
              <a:t>对象名表：可以有一个或多个对象名。当有多个对象名时，用逗号分隔。</a:t>
            </a:r>
            <a:endParaRPr kumimoji="0" lang="zh-CN" altLang="en-US" dirty="0">
              <a:solidFill>
                <a:srgbClr val="000000"/>
              </a:solidFill>
              <a:latin typeface="微软雅黑" panose="020B0503020204020204" pitchFamily="34" charset="-122"/>
              <a:ea typeface="微软雅黑" panose="020B0503020204020204" pitchFamily="34" charset="-122"/>
            </a:endParaRPr>
          </a:p>
          <a:p>
            <a:pPr algn="l" eaLnBrk="1" hangingPunct="1">
              <a:lnSpc>
                <a:spcPct val="100000"/>
              </a:lnSpc>
              <a:spcBef>
                <a:spcPct val="20000"/>
              </a:spcBef>
              <a:buClr>
                <a:srgbClr val="000099"/>
              </a:buClr>
              <a:buSzPct val="65000"/>
              <a:buFont typeface="Wingdings" panose="05000000000000000000" pitchFamily="2" charset="2"/>
              <a:buChar char="u"/>
            </a:pPr>
            <a:r>
              <a:rPr kumimoji="0" lang="zh-CN" altLang="en-US" dirty="0">
                <a:solidFill>
                  <a:srgbClr val="000000"/>
                </a:solidFill>
                <a:latin typeface="微软雅黑" panose="020B0503020204020204" pitchFamily="34" charset="-122"/>
                <a:ea typeface="微软雅黑" panose="020B0503020204020204" pitchFamily="34" charset="-122"/>
              </a:rPr>
              <a:t>对象名表：还可以是指向对象的指针名或引用名，也可以是对象数组名</a:t>
            </a:r>
            <a:r>
              <a:rPr kumimoji="0" lang="zh-CN" altLang="en-US" dirty="0" smtClean="0">
                <a:solidFill>
                  <a:srgbClr val="000000"/>
                </a:solidFill>
                <a:latin typeface="微软雅黑" panose="020B0503020204020204" pitchFamily="34" charset="-122"/>
                <a:ea typeface="微软雅黑" panose="020B0503020204020204" pitchFamily="34" charset="-122"/>
              </a:rPr>
              <a:t>。</a:t>
            </a:r>
            <a:endParaRPr kumimoji="0" lang="en-US" altLang="zh-CN" dirty="0">
              <a:solidFill>
                <a:srgbClr val="000000"/>
              </a:solidFill>
              <a:latin typeface="微软雅黑" panose="020B0503020204020204" pitchFamily="34" charset="-122"/>
              <a:ea typeface="微软雅黑" panose="020B0503020204020204" pitchFamily="34" charset="-122"/>
            </a:endParaRPr>
          </a:p>
          <a:p>
            <a:pPr algn="l" eaLnBrk="1" hangingPunct="1">
              <a:lnSpc>
                <a:spcPct val="100000"/>
              </a:lnSpc>
              <a:spcBef>
                <a:spcPct val="20000"/>
              </a:spcBef>
              <a:buClr>
                <a:srgbClr val="000099"/>
              </a:buClr>
              <a:buSzPct val="65000"/>
              <a:buFont typeface="Wingdings" panose="05000000000000000000" pitchFamily="2" charset="2"/>
              <a:buChar char="u"/>
            </a:pPr>
            <a:r>
              <a:rPr kumimoji="0" lang="zh-CN" altLang="en-US" dirty="0" smtClean="0">
                <a:solidFill>
                  <a:srgbClr val="000000"/>
                </a:solidFill>
                <a:latin typeface="微软雅黑" panose="020B0503020204020204" pitchFamily="34" charset="-122"/>
                <a:ea typeface="微软雅黑" panose="020B0503020204020204" pitchFamily="34" charset="-122"/>
              </a:rPr>
              <a:t>对象所占据的内存空间仅用于存放数据成员，函数成员不在每个对象中存储副本，每个函数的代码在内存中只占据一份空间。</a:t>
            </a:r>
            <a:endParaRPr kumimoji="0" lang="zh-CN" altLang="en-US" dirty="0">
              <a:solidFill>
                <a:srgbClr val="000000"/>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5641047"/>
            <a:ext cx="3009157" cy="576248"/>
          </a:xfrm>
          <a:prstGeom prst="rect">
            <a:avLst/>
          </a:prstGeom>
        </p:spPr>
        <p:txBody>
          <a:bodyPr wrap="none">
            <a:spAutoFit/>
          </a:bodyPr>
          <a:lstStyle/>
          <a:p>
            <a:pPr marL="0" indent="0">
              <a:lnSpc>
                <a:spcPct val="150000"/>
              </a:lnSpc>
              <a:spcBef>
                <a:spcPts val="0"/>
              </a:spcBef>
              <a:spcAft>
                <a:spcPts val="0"/>
              </a:spcAft>
              <a:buNone/>
            </a:pPr>
            <a:r>
              <a:rPr lang="zh-CN" altLang="en-US" b="1" dirty="0">
                <a:solidFill>
                  <a:srgbClr val="FFFF00"/>
                </a:solidFill>
              </a:rPr>
              <a:t>例：</a:t>
            </a:r>
            <a:r>
              <a:rPr lang="en-US" altLang="zh-CN" b="1" dirty="0">
                <a:solidFill>
                  <a:srgbClr val="FFFF00"/>
                </a:solidFill>
              </a:rPr>
              <a:t>Clock  </a:t>
            </a:r>
            <a:r>
              <a:rPr lang="en-US" altLang="zh-CN" b="1" dirty="0" err="1">
                <a:solidFill>
                  <a:srgbClr val="FFFF00"/>
                </a:solidFill>
              </a:rPr>
              <a:t>myClock</a:t>
            </a:r>
            <a:r>
              <a:rPr lang="en-US" altLang="zh-CN" b="1" dirty="0">
                <a:solidFill>
                  <a:srgbClr val="FFFF00"/>
                </a:solidFill>
              </a:rPr>
              <a:t>;</a:t>
            </a:r>
            <a:endParaRPr lang="en-US" altLang="zh-CN" b="1" dirty="0">
              <a:solidFill>
                <a:srgbClr val="FFFF00"/>
              </a:solidFill>
            </a:endParaRPr>
          </a:p>
        </p:txBody>
      </p:sp>
      <p:sp>
        <p:nvSpPr>
          <p:cNvPr id="3" name="矩形 2"/>
          <p:cNvSpPr/>
          <p:nvPr/>
        </p:nvSpPr>
        <p:spPr>
          <a:xfrm>
            <a:off x="1116012" y="1199565"/>
            <a:ext cx="7561263" cy="646331"/>
          </a:xfrm>
          <a:prstGeom prst="rect">
            <a:avLst/>
          </a:prstGeom>
        </p:spPr>
        <p:txBody>
          <a:bodyPr wrap="square">
            <a:spAutoFit/>
          </a:bodyPr>
          <a:lstStyle/>
          <a:p>
            <a:pPr marL="0" indent="0" algn="l">
              <a:lnSpc>
                <a:spcPct val="150000"/>
              </a:lnSpc>
              <a:spcBef>
                <a:spcPts val="0"/>
              </a:spcBef>
              <a:spcAft>
                <a:spcPts val="0"/>
              </a:spcAft>
              <a:buNone/>
            </a:pPr>
            <a:r>
              <a:rPr lang="zh-CN" altLang="en-US" b="1" dirty="0">
                <a:latin typeface="微软雅黑" panose="020B0503020204020204" pitchFamily="34" charset="-122"/>
                <a:ea typeface="微软雅黑" panose="020B0503020204020204" pitchFamily="34" charset="-122"/>
              </a:rPr>
              <a:t>类的对象是该类的某一特定实体，即类类型的变量。</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algn="ctr" eaLnBrk="1" hangingPunct="1"/>
            <a:r>
              <a:rPr lang="en-US" altLang="zh-CN" b="1" dirty="0">
                <a:solidFill>
                  <a:srgbClr val="FFFFFF"/>
                </a:solidFill>
                <a:latin typeface="Times New Roman" panose="02020603050405020304" pitchFamily="18" charset="0"/>
                <a:ea typeface="隶书" panose="02010509060101010101" pitchFamily="49" charset="-122"/>
              </a:rPr>
              <a:t>4.2.3 </a:t>
            </a:r>
            <a:r>
              <a:rPr lang="zh-CN" altLang="en-US" b="1" dirty="0" smtClean="0">
                <a:solidFill>
                  <a:srgbClr val="FFFFFF"/>
                </a:solidFill>
                <a:latin typeface="Times New Roman" panose="02020603050405020304" pitchFamily="18" charset="0"/>
                <a:ea typeface="隶书" panose="02010509060101010101" pitchFamily="49" charset="-122"/>
              </a:rPr>
              <a:t>对象</a:t>
            </a:r>
            <a:r>
              <a:rPr lang="en-US" altLang="zh-CN" b="1" dirty="0">
                <a:solidFill>
                  <a:srgbClr val="FFFFFF"/>
                </a:solidFill>
                <a:latin typeface="Times New Roman" panose="02020603050405020304" pitchFamily="18" charset="0"/>
                <a:ea typeface="隶书" panose="02010509060101010101" pitchFamily="49" charset="-122"/>
              </a:rPr>
              <a:t>——</a:t>
            </a:r>
            <a:r>
              <a:rPr lang="zh-CN" altLang="en-US" b="1" dirty="0">
                <a:solidFill>
                  <a:srgbClr val="FFFFFF"/>
                </a:solidFill>
                <a:latin typeface="Times New Roman" panose="02020603050405020304" pitchFamily="18" charset="0"/>
                <a:ea typeface="隶书" panose="02010509060101010101" pitchFamily="49" charset="-122"/>
              </a:rPr>
              <a:t>类成员的访问 </a:t>
            </a:r>
            <a:endParaRPr lang="zh-CN" altLang="en-US" b="1" dirty="0">
              <a:solidFill>
                <a:srgbClr val="FFFFFF"/>
              </a:solidFill>
              <a:latin typeface="Times New Roman" panose="02020603050405020304" pitchFamily="18" charset="0"/>
              <a:ea typeface="隶书" panose="02010509060101010101" pitchFamily="49" charset="-122"/>
            </a:endParaRPr>
          </a:p>
        </p:txBody>
      </p:sp>
      <p:sp>
        <p:nvSpPr>
          <p:cNvPr id="33797" name="Rectangle 3"/>
          <p:cNvSpPr>
            <a:spLocks noGrp="1" noChangeArrowheads="1"/>
          </p:cNvSpPr>
          <p:nvPr>
            <p:ph type="body" idx="1"/>
          </p:nvPr>
        </p:nvSpPr>
        <p:spPr>
          <a:xfrm>
            <a:off x="971600" y="1827213"/>
            <a:ext cx="7313612" cy="2393875"/>
          </a:xfrm>
          <a:solidFill>
            <a:schemeClr val="tx1"/>
          </a:solidFill>
          <a:ln>
            <a:solidFill>
              <a:schemeClr val="tx1"/>
            </a:solidFill>
            <a:miter lim="800000"/>
          </a:ln>
        </p:spPr>
        <p:txBody>
          <a:bodyPr/>
          <a:lstStyle/>
          <a:p>
            <a:pPr eaLnBrk="1" hangingPunct="1">
              <a:lnSpc>
                <a:spcPct val="150000"/>
              </a:lnSpc>
              <a:buClr>
                <a:srgbClr val="000099"/>
              </a:buClr>
              <a:buSzPct val="65000"/>
              <a:buFont typeface="Wingdings" panose="05000000000000000000" pitchFamily="2" charset="2"/>
              <a:buChar char="u"/>
            </a:pPr>
            <a:r>
              <a:rPr lang="zh-CN" altLang="en-US" sz="2400" b="1" dirty="0" smtClean="0">
                <a:solidFill>
                  <a:srgbClr val="000000"/>
                </a:solidFill>
                <a:latin typeface="微软雅黑" panose="020B0503020204020204" pitchFamily="34" charset="-122"/>
                <a:ea typeface="微软雅黑" panose="020B0503020204020204" pitchFamily="34" charset="-122"/>
              </a:rPr>
              <a:t>定义了类及其对象，就可以通过对象来使用其公有成员，从而达到对对象内部属性的访问和修改。</a:t>
            </a:r>
            <a:endParaRPr lang="zh-CN" altLang="en-US" sz="2400" b="1" dirty="0" smtClean="0">
              <a:solidFill>
                <a:srgbClr val="000000"/>
              </a:solidFill>
              <a:latin typeface="微软雅黑" panose="020B0503020204020204" pitchFamily="34" charset="-122"/>
              <a:ea typeface="微软雅黑" panose="020B0503020204020204" pitchFamily="34" charset="-122"/>
            </a:endParaRPr>
          </a:p>
          <a:p>
            <a:pPr eaLnBrk="1" hangingPunct="1">
              <a:lnSpc>
                <a:spcPct val="150000"/>
              </a:lnSpc>
              <a:buClr>
                <a:srgbClr val="000099"/>
              </a:buClr>
              <a:buSzPct val="65000"/>
              <a:buFont typeface="Wingdings" panose="05000000000000000000" pitchFamily="2" charset="2"/>
              <a:buChar char="u"/>
            </a:pPr>
            <a:r>
              <a:rPr lang="zh-CN" altLang="en-US" sz="2400" b="1" dirty="0" smtClean="0">
                <a:solidFill>
                  <a:srgbClr val="000000"/>
                </a:solidFill>
                <a:latin typeface="微软雅黑" panose="020B0503020204020204" pitchFamily="34" charset="-122"/>
                <a:ea typeface="微软雅黑" panose="020B0503020204020204" pitchFamily="34" charset="-122"/>
              </a:rPr>
              <a:t>对象对其成员的访问有</a:t>
            </a:r>
            <a:r>
              <a:rPr lang="zh-CN" altLang="en-US" sz="2400" b="1" u="sng" dirty="0" smtClean="0">
                <a:solidFill>
                  <a:srgbClr val="C00000"/>
                </a:solidFill>
                <a:latin typeface="微软雅黑" panose="020B0503020204020204" pitchFamily="34" charset="-122"/>
                <a:ea typeface="微软雅黑" panose="020B0503020204020204" pitchFamily="34" charset="-122"/>
              </a:rPr>
              <a:t>圆点访问形式</a:t>
            </a:r>
            <a:endParaRPr lang="zh-CN" altLang="en-US" sz="2400" b="1" u="sng" dirty="0" smtClean="0">
              <a:solidFill>
                <a:srgbClr val="C00000"/>
              </a:solidFill>
              <a:latin typeface="微软雅黑" panose="020B0503020204020204" pitchFamily="34" charset="-122"/>
              <a:ea typeface="微软雅黑" panose="020B0503020204020204" pitchFamily="34" charset="-122"/>
            </a:endParaRPr>
          </a:p>
        </p:txBody>
      </p:sp>
      <p:sp>
        <p:nvSpPr>
          <p:cNvPr id="33798" name="Text Box 4"/>
          <p:cNvSpPr txBox="1">
            <a:spLocks noChangeArrowheads="1"/>
          </p:cNvSpPr>
          <p:nvPr/>
        </p:nvSpPr>
        <p:spPr bwMode="auto">
          <a:xfrm>
            <a:off x="1004937" y="4508500"/>
            <a:ext cx="7272338" cy="431800"/>
          </a:xfrm>
          <a:prstGeom prst="rect">
            <a:avLst/>
          </a:prstGeom>
          <a:solidFill>
            <a:srgbClr val="FFFFFF"/>
          </a:solidFill>
          <a:ln w="9525">
            <a:solidFill>
              <a:srgbClr val="000000"/>
            </a:solidFill>
            <a:miter lim="800000"/>
          </a:ln>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pPr>
            <a:r>
              <a:rPr kumimoji="0" lang="zh-CN" altLang="en-US">
                <a:solidFill>
                  <a:srgbClr val="C00000"/>
                </a:solidFill>
                <a:latin typeface="微软雅黑" panose="020B0503020204020204" pitchFamily="34" charset="-122"/>
                <a:ea typeface="微软雅黑" panose="020B0503020204020204" pitchFamily="34" charset="-122"/>
              </a:rPr>
              <a:t>对象名</a:t>
            </a:r>
            <a:r>
              <a:rPr kumimoji="0" lang="en-US" altLang="zh-CN">
                <a:solidFill>
                  <a:srgbClr val="C00000"/>
                </a:solidFill>
                <a:latin typeface="微软雅黑" panose="020B0503020204020204" pitchFamily="34" charset="-122"/>
                <a:ea typeface="微软雅黑" panose="020B0503020204020204" pitchFamily="34" charset="-122"/>
              </a:rPr>
              <a:t>.</a:t>
            </a:r>
            <a:r>
              <a:rPr kumimoji="0" lang="zh-CN" altLang="en-US">
                <a:solidFill>
                  <a:srgbClr val="C00000"/>
                </a:solidFill>
                <a:latin typeface="微软雅黑" panose="020B0503020204020204" pitchFamily="34" charset="-122"/>
                <a:ea typeface="微软雅黑" panose="020B0503020204020204" pitchFamily="34" charset="-122"/>
              </a:rPr>
              <a:t>公有成员</a:t>
            </a:r>
            <a:endParaRPr kumimoji="0" lang="zh-CN" altLang="en-US">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ChangeArrowheads="1"/>
          </p:cNvSpPr>
          <p:nvPr/>
        </p:nvSpPr>
        <p:spPr bwMode="auto">
          <a:xfrm>
            <a:off x="1042988" y="1916113"/>
            <a:ext cx="7659687" cy="2461260"/>
          </a:xfrm>
          <a:prstGeom prst="rect">
            <a:avLst/>
          </a:prstGeom>
          <a:solidFill>
            <a:schemeClr val="tx1"/>
          </a:solidFill>
          <a:ln w="9525">
            <a:solidFill>
              <a:schemeClr val="tx1"/>
            </a:solidFill>
            <a:miter lim="800000"/>
          </a:ln>
        </p:spPr>
        <p:txBody>
          <a:bodyPr>
            <a:spAutoFit/>
          </a:bodyPr>
          <a:lstStyle>
            <a:lvl1pPr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9pPr>
          </a:lstStyle>
          <a:p>
            <a:pPr algn="l">
              <a:lnSpc>
                <a:spcPct val="100000"/>
              </a:lnSpc>
              <a:spcBef>
                <a:spcPct val="0"/>
              </a:spcBef>
            </a:pPr>
            <a:r>
              <a:rPr kumimoji="0" lang="zh-CN" altLang="en-US" sz="2200" dirty="0">
                <a:solidFill>
                  <a:srgbClr val="000000"/>
                </a:solidFill>
              </a:rPr>
              <a:t>class Clock	{ //时钟类的定义</a:t>
            </a:r>
            <a:endParaRPr kumimoji="0" lang="zh-CN" altLang="en-US" sz="2200" dirty="0">
              <a:solidFill>
                <a:srgbClr val="000000"/>
              </a:solidFill>
            </a:endParaRPr>
          </a:p>
          <a:p>
            <a:pPr algn="l">
              <a:lnSpc>
                <a:spcPct val="100000"/>
              </a:lnSpc>
              <a:spcBef>
                <a:spcPct val="0"/>
              </a:spcBef>
            </a:pPr>
            <a:r>
              <a:rPr kumimoji="0" lang="zh-CN" altLang="en-US" sz="2200" dirty="0">
                <a:solidFill>
                  <a:srgbClr val="000000"/>
                </a:solidFill>
              </a:rPr>
              <a:t>public:		//外部接口，公有成员函数</a:t>
            </a:r>
            <a:endParaRPr kumimoji="0" lang="zh-CN" altLang="en-US" sz="2200" dirty="0">
              <a:solidFill>
                <a:srgbClr val="000000"/>
              </a:solidFill>
            </a:endParaRPr>
          </a:p>
          <a:p>
            <a:pPr algn="l">
              <a:lnSpc>
                <a:spcPct val="100000"/>
              </a:lnSpc>
              <a:spcBef>
                <a:spcPct val="0"/>
              </a:spcBef>
            </a:pPr>
            <a:r>
              <a:rPr kumimoji="0" lang="zh-CN" altLang="en-US" sz="2200" dirty="0">
                <a:solidFill>
                  <a:srgbClr val="000000"/>
                </a:solidFill>
              </a:rPr>
              <a:t>    void setTime(int newH = 0, int newM = 0, int newS = 0);</a:t>
            </a:r>
            <a:endParaRPr kumimoji="0" lang="zh-CN" altLang="en-US" sz="2200" dirty="0">
              <a:solidFill>
                <a:srgbClr val="000000"/>
              </a:solidFill>
            </a:endParaRPr>
          </a:p>
          <a:p>
            <a:pPr algn="l">
              <a:lnSpc>
                <a:spcPct val="100000"/>
              </a:lnSpc>
              <a:spcBef>
                <a:spcPct val="0"/>
              </a:spcBef>
            </a:pPr>
            <a:r>
              <a:rPr kumimoji="0" lang="zh-CN" altLang="en-US" sz="2200" dirty="0">
                <a:solidFill>
                  <a:srgbClr val="000000"/>
                </a:solidFill>
              </a:rPr>
              <a:t>    void showTime();</a:t>
            </a:r>
            <a:endParaRPr kumimoji="0" lang="zh-CN" altLang="en-US" sz="2200" dirty="0">
              <a:solidFill>
                <a:srgbClr val="000000"/>
              </a:solidFill>
            </a:endParaRPr>
          </a:p>
          <a:p>
            <a:pPr algn="l">
              <a:lnSpc>
                <a:spcPct val="100000"/>
              </a:lnSpc>
              <a:spcBef>
                <a:spcPct val="0"/>
              </a:spcBef>
            </a:pPr>
            <a:r>
              <a:rPr kumimoji="0" lang="zh-CN" altLang="en-US" sz="2200" dirty="0">
                <a:solidFill>
                  <a:srgbClr val="000000"/>
                </a:solidFill>
              </a:rPr>
              <a:t>private:	//私有数据成员</a:t>
            </a:r>
            <a:endParaRPr kumimoji="0" lang="zh-CN" altLang="en-US" sz="2200" dirty="0">
              <a:solidFill>
                <a:srgbClr val="000000"/>
              </a:solidFill>
            </a:endParaRPr>
          </a:p>
          <a:p>
            <a:pPr algn="l">
              <a:lnSpc>
                <a:spcPct val="100000"/>
              </a:lnSpc>
              <a:spcBef>
                <a:spcPct val="0"/>
              </a:spcBef>
            </a:pPr>
            <a:r>
              <a:rPr kumimoji="0" lang="zh-CN" altLang="en-US" sz="2200" dirty="0">
                <a:solidFill>
                  <a:srgbClr val="000000"/>
                </a:solidFill>
              </a:rPr>
              <a:t>    int hour, minute, second;</a:t>
            </a:r>
            <a:endParaRPr kumimoji="0" lang="zh-CN" altLang="en-US" sz="2200" dirty="0">
              <a:solidFill>
                <a:srgbClr val="000000"/>
              </a:solidFill>
            </a:endParaRPr>
          </a:p>
          <a:p>
            <a:pPr algn="l">
              <a:lnSpc>
                <a:spcPct val="100000"/>
              </a:lnSpc>
              <a:spcBef>
                <a:spcPct val="0"/>
              </a:spcBef>
            </a:pPr>
            <a:r>
              <a:rPr kumimoji="0" lang="zh-CN" altLang="en-US" sz="2200" dirty="0">
                <a:solidFill>
                  <a:srgbClr val="000000"/>
                </a:solidFill>
              </a:rPr>
              <a:t>};</a:t>
            </a:r>
            <a:endParaRPr kumimoji="0" lang="zh-CN" altLang="en-US" sz="2200" dirty="0">
              <a:solidFill>
                <a:srgbClr val="000000"/>
              </a:solidFill>
            </a:endParaRPr>
          </a:p>
        </p:txBody>
      </p:sp>
      <p:sp>
        <p:nvSpPr>
          <p:cNvPr id="36869" name="Rectangle 3"/>
          <p:cNvSpPr>
            <a:spLocks noChangeArrowheads="1"/>
          </p:cNvSpPr>
          <p:nvPr/>
        </p:nvSpPr>
        <p:spPr bwMode="auto">
          <a:xfrm>
            <a:off x="971600"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3600" i="1" dirty="0">
                <a:solidFill>
                  <a:srgbClr val="FFFFFF"/>
                </a:solidFill>
                <a:effectLst>
                  <a:outerShdw blurRad="38100" dist="38100" dir="2700000" algn="tl">
                    <a:srgbClr val="000000"/>
                  </a:outerShdw>
                </a:effectLst>
                <a:ea typeface="隶书" panose="02010509060101010101" pitchFamily="49" charset="-122"/>
                <a:cs typeface="+mj-cs"/>
              </a:rPr>
              <a:t>4.2.3 </a:t>
            </a:r>
            <a:r>
              <a:rPr lang="zh-CN" altLang="en-US" sz="3600" i="1" dirty="0">
                <a:solidFill>
                  <a:srgbClr val="FFFFFF"/>
                </a:solidFill>
                <a:effectLst>
                  <a:outerShdw blurRad="38100" dist="38100" dir="2700000" algn="tl">
                    <a:srgbClr val="000000"/>
                  </a:outerShdw>
                </a:effectLst>
                <a:ea typeface="隶书" panose="02010509060101010101" pitchFamily="49" charset="-122"/>
                <a:cs typeface="+mj-cs"/>
              </a:rPr>
              <a:t>对象</a:t>
            </a:r>
            <a:r>
              <a:rPr lang="en-US" altLang="zh-CN" sz="3600" i="1" dirty="0">
                <a:solidFill>
                  <a:srgbClr val="FFFFFF"/>
                </a:solidFill>
                <a:effectLst>
                  <a:outerShdw blurRad="38100" dist="38100" dir="2700000" algn="tl">
                    <a:srgbClr val="000000"/>
                  </a:outerShdw>
                </a:effectLst>
                <a:ea typeface="隶书" panose="02010509060101010101" pitchFamily="49" charset="-122"/>
                <a:cs typeface="+mj-cs"/>
              </a:rPr>
              <a:t>——</a:t>
            </a:r>
            <a:r>
              <a:rPr lang="zh-CN" altLang="en-US" sz="3600" i="1" dirty="0">
                <a:solidFill>
                  <a:srgbClr val="FFFFFF"/>
                </a:solidFill>
                <a:effectLst>
                  <a:outerShdw blurRad="38100" dist="38100" dir="2700000" algn="tl">
                    <a:srgbClr val="000000"/>
                  </a:outerShdw>
                </a:effectLst>
                <a:ea typeface="隶书" panose="02010509060101010101" pitchFamily="49" charset="-122"/>
                <a:cs typeface="+mj-cs"/>
              </a:rPr>
              <a:t>类成员的访问 </a:t>
            </a:r>
            <a:endParaRPr kumimoji="0" lang="zh-CN" altLang="en-US" sz="3600" dirty="0">
              <a:solidFill>
                <a:schemeClr val="tx2"/>
              </a:solidFill>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ChangeArrowheads="1"/>
          </p:cNvSpPr>
          <p:nvPr/>
        </p:nvSpPr>
        <p:spPr bwMode="auto">
          <a:xfrm>
            <a:off x="1042988" y="2060575"/>
            <a:ext cx="7659687" cy="3476625"/>
          </a:xfrm>
          <a:prstGeom prst="rect">
            <a:avLst/>
          </a:prstGeom>
          <a:solidFill>
            <a:schemeClr val="tx1"/>
          </a:solidFill>
          <a:ln w="9525">
            <a:solidFill>
              <a:schemeClr val="tx1"/>
            </a:solidFill>
            <a:miter lim="800000"/>
          </a:ln>
        </p:spPr>
        <p:txBody>
          <a:bodyPr>
            <a:spAutoFit/>
          </a:bodyPr>
          <a:lstStyle>
            <a:lvl1pPr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9pPr>
          </a:lstStyle>
          <a:p>
            <a:pPr algn="l">
              <a:lnSpc>
                <a:spcPct val="100000"/>
              </a:lnSpc>
              <a:spcBef>
                <a:spcPct val="0"/>
              </a:spcBef>
            </a:pPr>
            <a:r>
              <a:rPr kumimoji="0" lang="en-US" altLang="zh-CN" sz="2200">
                <a:solidFill>
                  <a:srgbClr val="000000"/>
                </a:solidFill>
              </a:rPr>
              <a:t>//时钟类成员函数的具体实现</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void Clock::setTime(int newH, int newM, int newS) {</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hour = newH;</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minute = newM;</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second = newS;</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a:t>
            </a:r>
            <a:endParaRPr kumimoji="0" lang="en-US" altLang="zh-CN" sz="2200">
              <a:solidFill>
                <a:srgbClr val="000000"/>
              </a:solidFill>
            </a:endParaRPr>
          </a:p>
          <a:p>
            <a:pPr algn="l">
              <a:lnSpc>
                <a:spcPct val="100000"/>
              </a:lnSpc>
              <a:spcBef>
                <a:spcPct val="0"/>
              </a:spcBef>
            </a:pP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inline void Clock::showTime() {</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cout &lt;&lt; hour &lt;&lt; ":" &lt;&lt; minute &lt;&lt; ":" &lt;&lt; second &lt;&lt; endl;</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a:t>
            </a:r>
            <a:endParaRPr kumimoji="0" lang="en-US" altLang="zh-CN" sz="2200">
              <a:solidFill>
                <a:srgbClr val="000000"/>
              </a:solidFill>
            </a:endParaRPr>
          </a:p>
        </p:txBody>
      </p:sp>
      <p:sp>
        <p:nvSpPr>
          <p:cNvPr id="37893" name="Rectangle 3"/>
          <p:cNvSpPr>
            <a:spLocks noChangeArrowheads="1"/>
          </p:cNvSpPr>
          <p:nvPr/>
        </p:nvSpPr>
        <p:spPr bwMode="auto">
          <a:xfrm>
            <a:off x="1043608"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3600" i="1" dirty="0">
                <a:solidFill>
                  <a:srgbClr val="FFFFFF"/>
                </a:solidFill>
                <a:effectLst>
                  <a:outerShdw blurRad="38100" dist="38100" dir="2700000" algn="tl">
                    <a:srgbClr val="000000"/>
                  </a:outerShdw>
                </a:effectLst>
                <a:ea typeface="隶书" panose="02010509060101010101" pitchFamily="49" charset="-122"/>
                <a:cs typeface="+mj-cs"/>
              </a:rPr>
              <a:t>4.2.3 </a:t>
            </a:r>
            <a:r>
              <a:rPr lang="zh-CN" altLang="en-US" sz="3600" i="1" dirty="0">
                <a:solidFill>
                  <a:srgbClr val="FFFFFF"/>
                </a:solidFill>
                <a:effectLst>
                  <a:outerShdw blurRad="38100" dist="38100" dir="2700000" algn="tl">
                    <a:srgbClr val="000000"/>
                  </a:outerShdw>
                </a:effectLst>
                <a:ea typeface="隶书" panose="02010509060101010101" pitchFamily="49" charset="-122"/>
                <a:cs typeface="+mj-cs"/>
              </a:rPr>
              <a:t>对象</a:t>
            </a:r>
            <a:r>
              <a:rPr lang="en-US" altLang="zh-CN" sz="3600" i="1" dirty="0">
                <a:solidFill>
                  <a:srgbClr val="FFFFFF"/>
                </a:solidFill>
                <a:effectLst>
                  <a:outerShdw blurRad="38100" dist="38100" dir="2700000" algn="tl">
                    <a:srgbClr val="000000"/>
                  </a:outerShdw>
                </a:effectLst>
                <a:ea typeface="隶书" panose="02010509060101010101" pitchFamily="49" charset="-122"/>
                <a:cs typeface="+mj-cs"/>
              </a:rPr>
              <a:t>——</a:t>
            </a:r>
            <a:r>
              <a:rPr lang="zh-CN" altLang="en-US" sz="3600" i="1" dirty="0">
                <a:solidFill>
                  <a:srgbClr val="FFFFFF"/>
                </a:solidFill>
                <a:effectLst>
                  <a:outerShdw blurRad="38100" dist="38100" dir="2700000" algn="tl">
                    <a:srgbClr val="000000"/>
                  </a:outerShdw>
                </a:effectLst>
                <a:ea typeface="隶书" panose="02010509060101010101" pitchFamily="49" charset="-122"/>
                <a:cs typeface="+mj-cs"/>
              </a:rPr>
              <a:t>类成员的访问 </a:t>
            </a:r>
            <a:endParaRPr kumimoji="0" lang="zh-CN" altLang="en-US" sz="3600" dirty="0">
              <a:solidFill>
                <a:schemeClr val="tx2"/>
              </a:solidFill>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AE0E654C-A6D4-4CA1-AA41-AC3AF71AE59A}"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39940" name="Rectangle 2"/>
          <p:cNvSpPr>
            <a:spLocks noChangeArrowheads="1"/>
          </p:cNvSpPr>
          <p:nvPr/>
        </p:nvSpPr>
        <p:spPr bwMode="auto">
          <a:xfrm>
            <a:off x="1027113" y="1484948"/>
            <a:ext cx="7659687" cy="3815080"/>
          </a:xfrm>
          <a:prstGeom prst="rect">
            <a:avLst/>
          </a:prstGeom>
          <a:solidFill>
            <a:schemeClr val="tx1"/>
          </a:solidFill>
          <a:ln w="9525">
            <a:solidFill>
              <a:schemeClr val="tx1"/>
            </a:solidFill>
            <a:miter lim="800000"/>
          </a:ln>
        </p:spPr>
        <p:txBody>
          <a:bodyPr>
            <a:spAutoFit/>
          </a:bodyPr>
          <a:lstStyle>
            <a:lvl1pPr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9pPr>
          </a:lstStyle>
          <a:p>
            <a:pPr algn="l">
              <a:lnSpc>
                <a:spcPct val="100000"/>
              </a:lnSpc>
              <a:spcBef>
                <a:spcPct val="0"/>
              </a:spcBef>
            </a:pPr>
            <a:r>
              <a:rPr kumimoji="0" lang="en-US" altLang="zh-CN" sz="2200" dirty="0">
                <a:solidFill>
                  <a:srgbClr val="000000"/>
                </a:solidFill>
              </a:rPr>
              <a:t>//主函数</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int main() {</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Clock myClock;	//定义对象myClock</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cout &lt;&lt; "First time set and output:" &lt;&lt; endl;</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myClock.setTime();	//设置时间为默认值</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myClock.showTime();	//显示时间</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cout &lt;&lt; "Second time set and output:" &lt;&lt; endl;</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myClock.setTime(8, 30, 30);	//设置时间为8：30：30</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myClock.showTime();	//显示时间</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    return 0;</a:t>
            </a:r>
            <a:endParaRPr kumimoji="0" lang="en-US" altLang="zh-CN" sz="2200" dirty="0">
              <a:solidFill>
                <a:srgbClr val="000000"/>
              </a:solidFill>
            </a:endParaRPr>
          </a:p>
          <a:p>
            <a:pPr algn="l">
              <a:lnSpc>
                <a:spcPct val="100000"/>
              </a:lnSpc>
              <a:spcBef>
                <a:spcPct val="0"/>
              </a:spcBef>
            </a:pPr>
            <a:r>
              <a:rPr kumimoji="0" lang="en-US" altLang="zh-CN" sz="2200" dirty="0">
                <a:solidFill>
                  <a:srgbClr val="000000"/>
                </a:solidFill>
              </a:rPr>
              <a:t>}</a:t>
            </a:r>
            <a:endParaRPr kumimoji="0" lang="en-US" altLang="zh-CN" sz="2200" dirty="0">
              <a:solidFill>
                <a:srgbClr val="000000"/>
              </a:solidFill>
            </a:endParaRPr>
          </a:p>
        </p:txBody>
      </p:sp>
      <p:sp>
        <p:nvSpPr>
          <p:cNvPr id="39941" name="Rectangle 3"/>
          <p:cNvSpPr>
            <a:spLocks noChangeArrowheads="1"/>
          </p:cNvSpPr>
          <p:nvPr/>
        </p:nvSpPr>
        <p:spPr bwMode="auto">
          <a:xfrm>
            <a:off x="1370013" y="-571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3600" i="1" dirty="0">
                <a:solidFill>
                  <a:srgbClr val="FFFFFF"/>
                </a:solidFill>
                <a:effectLst>
                  <a:outerShdw blurRad="38100" dist="38100" dir="2700000" algn="tl">
                    <a:srgbClr val="000000"/>
                  </a:outerShdw>
                </a:effectLst>
                <a:ea typeface="隶书" panose="02010509060101010101" pitchFamily="49" charset="-122"/>
                <a:cs typeface="+mj-cs"/>
              </a:rPr>
              <a:t>4.2.3 </a:t>
            </a:r>
            <a:r>
              <a:rPr lang="zh-CN" altLang="en-US" sz="3600" i="1" dirty="0">
                <a:solidFill>
                  <a:srgbClr val="FFFFFF"/>
                </a:solidFill>
                <a:effectLst>
                  <a:outerShdw blurRad="38100" dist="38100" dir="2700000" algn="tl">
                    <a:srgbClr val="000000"/>
                  </a:outerShdw>
                </a:effectLst>
                <a:ea typeface="隶书" panose="02010509060101010101" pitchFamily="49" charset="-122"/>
                <a:cs typeface="+mj-cs"/>
              </a:rPr>
              <a:t>对象</a:t>
            </a:r>
            <a:r>
              <a:rPr lang="en-US" altLang="zh-CN" sz="3600" i="1" dirty="0">
                <a:solidFill>
                  <a:srgbClr val="FFFFFF"/>
                </a:solidFill>
                <a:effectLst>
                  <a:outerShdw blurRad="38100" dist="38100" dir="2700000" algn="tl">
                    <a:srgbClr val="000000"/>
                  </a:outerShdw>
                </a:effectLst>
                <a:ea typeface="隶书" panose="02010509060101010101" pitchFamily="49" charset="-122"/>
                <a:cs typeface="+mj-cs"/>
              </a:rPr>
              <a:t>——</a:t>
            </a:r>
            <a:r>
              <a:rPr lang="zh-CN" altLang="en-US" sz="3600" i="1" dirty="0">
                <a:solidFill>
                  <a:srgbClr val="FFFFFF"/>
                </a:solidFill>
                <a:effectLst>
                  <a:outerShdw blurRad="38100" dist="38100" dir="2700000" algn="tl">
                    <a:srgbClr val="000000"/>
                  </a:outerShdw>
                </a:effectLst>
                <a:ea typeface="隶书" panose="02010509060101010101" pitchFamily="49" charset="-122"/>
                <a:cs typeface="+mj-cs"/>
              </a:rPr>
              <a:t>类成员的访问 </a:t>
            </a:r>
            <a:endParaRPr kumimoji="0" lang="zh-CN" altLang="en-US" sz="3600" dirty="0">
              <a:solidFill>
                <a:schemeClr val="tx2"/>
              </a:solidFill>
            </a:endParaRPr>
          </a:p>
        </p:txBody>
      </p:sp>
      <p:pic>
        <p:nvPicPr>
          <p:cNvPr id="2" name="图片 1" descr="VM5GRWM8P7~QSVGB[I0EYTN"/>
          <p:cNvPicPr>
            <a:picLocks noChangeAspect="1"/>
          </p:cNvPicPr>
          <p:nvPr>
            <p:custDataLst>
              <p:tags r:id="rId1"/>
            </p:custDataLst>
          </p:nvPr>
        </p:nvPicPr>
        <p:blipFill>
          <a:blip r:embed="rId2"/>
          <a:stretch>
            <a:fillRect/>
          </a:stretch>
        </p:blipFill>
        <p:spPr>
          <a:xfrm>
            <a:off x="1331595" y="5445125"/>
            <a:ext cx="5281930" cy="1134745"/>
          </a:xfrm>
          <a:prstGeom prst="rect">
            <a:avLst/>
          </a:prstGeom>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lstStyle/>
          <a:p>
            <a:pPr algn="ctr"/>
            <a:r>
              <a:rPr lang="en-US" altLang="zh-CN" b="1" dirty="0">
                <a:solidFill>
                  <a:srgbClr val="FFFFFF"/>
                </a:solidFill>
                <a:ea typeface="隶书" panose="02010509060101010101" pitchFamily="49" charset="-122"/>
              </a:rPr>
              <a:t>4.2.3 </a:t>
            </a:r>
            <a:r>
              <a:rPr lang="zh-CN" altLang="en-US" b="1" dirty="0">
                <a:solidFill>
                  <a:srgbClr val="FFFFFF"/>
                </a:solidFill>
                <a:ea typeface="隶书" panose="02010509060101010101" pitchFamily="49" charset="-122"/>
              </a:rPr>
              <a:t>对象</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对象的赋值语句</a:t>
            </a:r>
            <a:endParaRPr lang="zh-CN" altLang="en-US" b="1" dirty="0">
              <a:solidFill>
                <a:srgbClr val="FFFFFF"/>
              </a:solidFill>
              <a:ea typeface="隶书" panose="02010509060101010101" pitchFamily="49" charset="-122"/>
            </a:endParaRPr>
          </a:p>
        </p:txBody>
      </p:sp>
      <p:sp>
        <p:nvSpPr>
          <p:cNvPr id="47109" name="Rectangle 3"/>
          <p:cNvSpPr>
            <a:spLocks noGrp="1" noChangeArrowheads="1"/>
          </p:cNvSpPr>
          <p:nvPr>
            <p:ph type="body" idx="1"/>
          </p:nvPr>
        </p:nvSpPr>
        <p:spPr>
          <a:xfrm>
            <a:off x="1044706" y="1628800"/>
            <a:ext cx="7200000" cy="522288"/>
          </a:xfrm>
          <a:noFill/>
          <a:ln>
            <a:noFill/>
            <a:miter lim="800000"/>
          </a:ln>
        </p:spPr>
        <p:txBody>
          <a:bodyPr/>
          <a:lstStyle/>
          <a:p>
            <a:pPr algn="ctr" eaLnBrk="1" hangingPunct="1">
              <a:lnSpc>
                <a:spcPct val="90000"/>
              </a:lnSpc>
              <a:buClr>
                <a:srgbClr val="000099"/>
              </a:buClr>
              <a:buSzPct val="65000"/>
              <a:buFont typeface="Wingdings" panose="05000000000000000000" pitchFamily="2" charset="2"/>
              <a:buNone/>
            </a:pPr>
            <a:r>
              <a:rPr lang="zh-CN" altLang="en-US" sz="2800" b="1" dirty="0" smtClean="0">
                <a:solidFill>
                  <a:srgbClr val="FFFF00"/>
                </a:solidFill>
                <a:latin typeface="Times New Roman" panose="02020603050405020304" pitchFamily="18" charset="0"/>
                <a:ea typeface="华文楷体" panose="02010600040101010101" pitchFamily="2" charset="-122"/>
              </a:rPr>
              <a:t>同类的对象之间可以赋值</a:t>
            </a:r>
            <a:endParaRPr lang="zh-CN" altLang="en-US" sz="2800" b="1" u="sng" dirty="0" smtClean="0">
              <a:solidFill>
                <a:srgbClr val="FFFF00"/>
              </a:solidFill>
              <a:latin typeface="Times New Roman" panose="02020603050405020304" pitchFamily="18" charset="0"/>
              <a:ea typeface="华文楷体" panose="02010600040101010101" pitchFamily="2" charset="-122"/>
            </a:endParaRPr>
          </a:p>
        </p:txBody>
      </p:sp>
      <p:sp>
        <p:nvSpPr>
          <p:cNvPr id="47110" name="Text Box 4"/>
          <p:cNvSpPr txBox="1">
            <a:spLocks noChangeArrowheads="1"/>
          </p:cNvSpPr>
          <p:nvPr/>
        </p:nvSpPr>
        <p:spPr bwMode="auto">
          <a:xfrm>
            <a:off x="1188424" y="2852936"/>
            <a:ext cx="7200000" cy="431800"/>
          </a:xfrm>
          <a:prstGeom prst="rect">
            <a:avLst/>
          </a:prstGeom>
          <a:solidFill>
            <a:srgbClr val="FFFFFF"/>
          </a:solidFill>
          <a:ln w="9525">
            <a:solidFill>
              <a:srgbClr val="000000"/>
            </a:solidFill>
            <a:miter lim="800000"/>
          </a:ln>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pPr>
            <a:r>
              <a:rPr kumimoji="0" lang="en-US" altLang="zh-CN" sz="2800">
                <a:solidFill>
                  <a:srgbClr val="800000"/>
                </a:solidFill>
              </a:rPr>
              <a:t>a=b</a:t>
            </a:r>
            <a:endParaRPr kumimoji="0" lang="en-US" altLang="zh-CN" sz="2800">
              <a:solidFill>
                <a:srgbClr val="800000"/>
              </a:solidFill>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p:txBody>
          <a:bodyPr/>
          <a:lstStyle/>
          <a:p>
            <a:pPr algn="ctr" eaLnBrk="1" hangingPunct="1"/>
            <a:r>
              <a:rPr lang="en-US" altLang="zh-CN" b="1" dirty="0">
                <a:solidFill>
                  <a:srgbClr val="FFFFFF"/>
                </a:solidFill>
                <a:ea typeface="隶书" panose="02010509060101010101" pitchFamily="49" charset="-122"/>
              </a:rPr>
              <a:t>4.2.3 </a:t>
            </a:r>
            <a:r>
              <a:rPr lang="zh-CN" altLang="en-US" b="1" dirty="0">
                <a:solidFill>
                  <a:srgbClr val="FFFFFF"/>
                </a:solidFill>
                <a:ea typeface="隶书" panose="02010509060101010101" pitchFamily="49" charset="-122"/>
              </a:rPr>
              <a:t>对象</a:t>
            </a:r>
            <a:r>
              <a:rPr lang="en-US" altLang="zh-CN" b="1" dirty="0">
                <a:solidFill>
                  <a:srgbClr val="FFFFFF"/>
                </a:solidFill>
                <a:ea typeface="隶书" panose="02010509060101010101" pitchFamily="49" charset="-122"/>
              </a:rPr>
              <a:t>——</a:t>
            </a:r>
            <a:r>
              <a:rPr lang="zh-CN" altLang="en-US" b="1" dirty="0">
                <a:solidFill>
                  <a:srgbClr val="FFFFFF"/>
                </a:solidFill>
                <a:ea typeface="隶书" panose="02010509060101010101" pitchFamily="49" charset="-122"/>
              </a:rPr>
              <a:t>对象的赋值语句</a:t>
            </a:r>
            <a:endParaRPr lang="zh-CN" altLang="en-US" b="1" dirty="0" smtClean="0">
              <a:latin typeface="Times New Roman" panose="02020603050405020304" pitchFamily="18" charset="0"/>
              <a:ea typeface="华文楷体" panose="02010600040101010101" pitchFamily="2" charset="-122"/>
            </a:endParaRPr>
          </a:p>
        </p:txBody>
      </p:sp>
      <p:sp>
        <p:nvSpPr>
          <p:cNvPr id="50181" name="Rectangle 3"/>
          <p:cNvSpPr>
            <a:spLocks noGrp="1" noChangeArrowheads="1"/>
          </p:cNvSpPr>
          <p:nvPr>
            <p:ph type="body" idx="1"/>
          </p:nvPr>
        </p:nvSpPr>
        <p:spPr>
          <a:xfrm>
            <a:off x="971600" y="1628800"/>
            <a:ext cx="7992888" cy="4176713"/>
          </a:xfrm>
        </p:spPr>
        <p:txBody>
          <a:bodyPr/>
          <a:lstStyle/>
          <a:p>
            <a:pPr>
              <a:lnSpc>
                <a:spcPct val="150000"/>
              </a:lnSpc>
              <a:spcAft>
                <a:spcPts val="1200"/>
              </a:spcAft>
            </a:pPr>
            <a:r>
              <a:rPr lang="zh-CN" altLang="en-US" sz="2400" b="1" dirty="0">
                <a:latin typeface="微软雅黑" panose="020B0503020204020204" pitchFamily="34" charset="-122"/>
                <a:ea typeface="微软雅黑" panose="020B0503020204020204" pitchFamily="34" charset="-122"/>
              </a:rPr>
              <a:t>同类的对象之间可以赋值</a:t>
            </a:r>
            <a:endParaRPr lang="zh-CN" altLang="en-US" sz="2400" b="1" dirty="0">
              <a:latin typeface="微软雅黑" panose="020B0503020204020204" pitchFamily="34" charset="-122"/>
              <a:ea typeface="微软雅黑" panose="020B0503020204020204" pitchFamily="34" charset="-122"/>
            </a:endParaRPr>
          </a:p>
          <a:p>
            <a:pPr>
              <a:lnSpc>
                <a:spcPct val="150000"/>
              </a:lnSpc>
              <a:spcAft>
                <a:spcPts val="1200"/>
              </a:spcAft>
            </a:pPr>
            <a:r>
              <a:rPr lang="zh-CN" altLang="en-US" sz="2400" b="1" dirty="0">
                <a:latin typeface="微软雅黑" panose="020B0503020204020204" pitchFamily="34" charset="-122"/>
                <a:ea typeface="微软雅黑" panose="020B0503020204020204" pitchFamily="34" charset="-122"/>
              </a:rPr>
              <a:t>两个对象之间的赋值，只是使得二者的数据成员相同。</a:t>
            </a:r>
            <a:endParaRPr lang="zh-CN" altLang="en-US" sz="2400" b="1" dirty="0">
              <a:latin typeface="微软雅黑" panose="020B0503020204020204" pitchFamily="34" charset="-122"/>
              <a:ea typeface="微软雅黑" panose="020B0503020204020204" pitchFamily="34" charset="-122"/>
            </a:endParaRPr>
          </a:p>
          <a:p>
            <a:pPr>
              <a:lnSpc>
                <a:spcPct val="150000"/>
              </a:lnSpc>
              <a:spcAft>
                <a:spcPts val="1200"/>
              </a:spcAft>
            </a:pPr>
            <a:r>
              <a:rPr lang="zh-CN" altLang="en-US" sz="2400" b="1" dirty="0">
                <a:latin typeface="微软雅黑" panose="020B0503020204020204" pitchFamily="34" charset="-122"/>
                <a:ea typeface="微软雅黑" panose="020B0503020204020204" pitchFamily="34" charset="-122"/>
              </a:rPr>
              <a:t>上面例子中的对象赋值时通过默认赋值运算符函数进行对象赋值。</a:t>
            </a:r>
            <a:endParaRPr lang="zh-CN" altLang="en-US" sz="2400" b="1" dirty="0">
              <a:latin typeface="微软雅黑" panose="020B0503020204020204" pitchFamily="34" charset="-122"/>
              <a:ea typeface="微软雅黑" panose="020B0503020204020204" pitchFamily="34" charset="-122"/>
            </a:endParaRPr>
          </a:p>
          <a:p>
            <a:pPr>
              <a:lnSpc>
                <a:spcPct val="150000"/>
              </a:lnSpc>
              <a:spcAft>
                <a:spcPts val="1200"/>
              </a:spcAft>
            </a:pPr>
            <a:r>
              <a:rPr lang="zh-CN" altLang="en-US" sz="2400" b="1" dirty="0">
                <a:latin typeface="微软雅黑" panose="020B0503020204020204" pitchFamily="34" charset="-122"/>
                <a:ea typeface="微软雅黑" panose="020B0503020204020204" pitchFamily="34" charset="-122"/>
              </a:rPr>
              <a:t>当类中存在指针时，使用默认赋值运算符函数进行对象赋值，可能会产生错误，这个问题需要用赋值运算符重载解决。</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4.2.4 </a:t>
            </a:r>
            <a:r>
              <a:rPr lang="zh-CN" altLang="en-US" sz="4400" b="1" dirty="0">
                <a:latin typeface="Times New Roman" panose="02020603050405020304" pitchFamily="18" charset="0"/>
                <a:ea typeface="隶书" panose="02010509060101010101" pitchFamily="49" charset="-122"/>
              </a:rPr>
              <a:t>类的成员函数</a:t>
            </a:r>
            <a:endParaRPr lang="zh-CN" altLang="en-US" sz="4400" b="1" dirty="0">
              <a:latin typeface="Times New Roman" panose="02020603050405020304" pitchFamily="18" charset="0"/>
              <a:ea typeface="隶书" panose="02010509060101010101" pitchFamily="49" charset="-122"/>
            </a:endParaRPr>
          </a:p>
        </p:txBody>
      </p:sp>
      <p:sp>
        <p:nvSpPr>
          <p:cNvPr id="30723" name="内容占位符 2"/>
          <p:cNvSpPr>
            <a:spLocks noGrp="1"/>
          </p:cNvSpPr>
          <p:nvPr>
            <p:ph idx="1"/>
          </p:nvPr>
        </p:nvSpPr>
        <p:spPr/>
        <p:txBody>
          <a:bodyPr/>
          <a:lstStyle/>
          <a:p>
            <a:pPr eaLnBrk="1" hangingPunct="1">
              <a:lnSpc>
                <a:spcPct val="150000"/>
              </a:lnSpc>
              <a:spcAft>
                <a:spcPts val="1200"/>
              </a:spcAft>
            </a:pPr>
            <a:r>
              <a:rPr lang="zh-CN" altLang="en-US" sz="2400" b="1" dirty="0">
                <a:latin typeface="微软雅黑" panose="020B0503020204020204" pitchFamily="34" charset="-122"/>
                <a:ea typeface="微软雅黑" panose="020B0503020204020204" pitchFamily="34" charset="-122"/>
              </a:rPr>
              <a:t>在类中说明原型，可以在类外给出函数体实现，并在函数名前使用类名加以限定。也可以直接在类中给出函数体，形成内联成员函数。</a:t>
            </a: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Aft>
                <a:spcPts val="1200"/>
              </a:spcAft>
            </a:pPr>
            <a:r>
              <a:rPr lang="zh-CN" altLang="en-US" sz="2400" b="1" dirty="0">
                <a:latin typeface="微软雅黑" panose="020B0503020204020204" pitchFamily="34" charset="-122"/>
                <a:ea typeface="微软雅黑" panose="020B0503020204020204" pitchFamily="34" charset="-122"/>
              </a:rPr>
              <a:t>允许声明重载函数和带默认形参值的</a:t>
            </a:r>
            <a:r>
              <a:rPr lang="zh-CN" altLang="en-US" sz="2400" b="1" dirty="0" smtClean="0">
                <a:latin typeface="微软雅黑" panose="020B0503020204020204" pitchFamily="34" charset="-122"/>
                <a:ea typeface="微软雅黑" panose="020B0503020204020204" pitchFamily="34" charset="-122"/>
              </a:rPr>
              <a:t>函数</a:t>
            </a:r>
            <a:endParaRPr lang="zh-CN" altLang="en-US" sz="2400"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611560" y="260648"/>
            <a:ext cx="7886700" cy="1325563"/>
          </a:xfrm>
        </p:spPr>
        <p:txBody>
          <a:bodyPr/>
          <a:lstStyle/>
          <a:p>
            <a:pPr algn="ctr" eaLnBrk="1" hangingPunct="1"/>
            <a:r>
              <a:rPr lang="en-US" altLang="zh-CN" sz="4400" b="1" dirty="0">
                <a:solidFill>
                  <a:srgbClr val="FFFFFF"/>
                </a:solidFill>
                <a:latin typeface="Times New Roman" panose="02020603050405020304" pitchFamily="18" charset="0"/>
                <a:ea typeface="隶书" panose="02010509060101010101" pitchFamily="49" charset="-122"/>
              </a:rPr>
              <a:t>4.2.4 </a:t>
            </a:r>
            <a:r>
              <a:rPr lang="zh-CN" altLang="en-US" sz="4400" b="1" dirty="0">
                <a:solidFill>
                  <a:srgbClr val="FFFFFF"/>
                </a:solidFill>
                <a:latin typeface="Times New Roman" panose="02020603050405020304" pitchFamily="18" charset="0"/>
                <a:ea typeface="隶书" panose="02010509060101010101" pitchFamily="49" charset="-122"/>
              </a:rPr>
              <a:t>类的成员函数</a:t>
            </a:r>
            <a:endParaRPr lang="zh-CN" altLang="en-US" sz="4000" dirty="0" smtClean="0">
              <a:latin typeface="+mn-lt"/>
              <a:ea typeface="华文行楷" panose="02010800040101010101" pitchFamily="2" charset="-122"/>
            </a:endParaRPr>
          </a:p>
        </p:txBody>
      </p:sp>
      <p:sp>
        <p:nvSpPr>
          <p:cNvPr id="20485" name="Rectangle 3"/>
          <p:cNvSpPr>
            <a:spLocks noGrp="1" noChangeArrowheads="1"/>
          </p:cNvSpPr>
          <p:nvPr>
            <p:ph type="body" idx="1"/>
          </p:nvPr>
        </p:nvSpPr>
        <p:spPr>
          <a:xfrm>
            <a:off x="395536" y="1124744"/>
            <a:ext cx="8407846" cy="2897981"/>
          </a:xfrm>
          <a:ln>
            <a:solidFill>
              <a:schemeClr val="tx1"/>
            </a:solidFill>
            <a:miter lim="800000"/>
          </a:ln>
        </p:spPr>
        <p:txBody>
          <a:bodyPr/>
          <a:lstStyle/>
          <a:p>
            <a:pPr>
              <a:buClr>
                <a:srgbClr val="00B0F0"/>
              </a:buClr>
              <a:buSzPct val="65000"/>
              <a:buFont typeface="Wingdings" panose="05000000000000000000" pitchFamily="2" charset="2"/>
              <a:buChar char="u"/>
            </a:pPr>
            <a:r>
              <a:rPr lang="zh-CN" altLang="en-US" sz="2400" b="1" dirty="0">
                <a:latin typeface="微软雅黑" panose="020B0503020204020204" pitchFamily="34" charset="-122"/>
                <a:ea typeface="微软雅黑" panose="020B0503020204020204" pitchFamily="34" charset="-122"/>
              </a:rPr>
              <a:t>成员</a:t>
            </a:r>
            <a:r>
              <a:rPr lang="zh-CN" altLang="en-US" sz="2400" b="1" dirty="0" smtClean="0">
                <a:latin typeface="微软雅黑" panose="020B0503020204020204" pitchFamily="34" charset="-122"/>
                <a:ea typeface="微软雅黑" panose="020B0503020204020204" pitchFamily="34" charset="-122"/>
              </a:rPr>
              <a:t>函数是类中描述行为的成员，同时也是对封装的数据进行操作的惟一途径。</a:t>
            </a:r>
            <a:endParaRPr lang="zh-CN" altLang="en-US" sz="2400" b="1" dirty="0" smtClean="0">
              <a:latin typeface="微软雅黑" panose="020B0503020204020204" pitchFamily="34" charset="-122"/>
              <a:ea typeface="微软雅黑" panose="020B0503020204020204" pitchFamily="34" charset="-122"/>
            </a:endParaRPr>
          </a:p>
          <a:p>
            <a:pPr>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类定义的格式中，一般在类中说明成员的函数原型，在类外进行</a:t>
            </a:r>
            <a:r>
              <a:rPr lang="zh-CN" altLang="en-US" sz="2400" b="1" dirty="0">
                <a:latin typeface="微软雅黑" panose="020B0503020204020204" pitchFamily="34" charset="-122"/>
                <a:ea typeface="微软雅黑" panose="020B0503020204020204" pitchFamily="34" charset="-122"/>
              </a:rPr>
              <a:t>成员</a:t>
            </a:r>
            <a:r>
              <a:rPr lang="zh-CN" altLang="en-US" sz="2400" b="1" dirty="0" smtClean="0">
                <a:latin typeface="微软雅黑" panose="020B0503020204020204" pitchFamily="34" charset="-122"/>
                <a:ea typeface="微软雅黑" panose="020B0503020204020204" pitchFamily="34" charset="-122"/>
              </a:rPr>
              <a:t>函数的具体实现；</a:t>
            </a:r>
            <a:endParaRPr lang="zh-CN" altLang="en-US" sz="2400" b="1" dirty="0" smtClean="0">
              <a:latin typeface="微软雅黑" panose="020B0503020204020204" pitchFamily="34" charset="-122"/>
              <a:ea typeface="微软雅黑" panose="020B0503020204020204" pitchFamily="34" charset="-122"/>
            </a:endParaRPr>
          </a:p>
          <a:p>
            <a:pPr>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各个</a:t>
            </a:r>
            <a:r>
              <a:rPr lang="zh-CN" altLang="en-US" sz="2400" b="1" dirty="0">
                <a:latin typeface="微软雅黑" panose="020B0503020204020204" pitchFamily="34" charset="-122"/>
                <a:ea typeface="微软雅黑" panose="020B0503020204020204" pitchFamily="34" charset="-122"/>
              </a:rPr>
              <a:t>成员</a:t>
            </a:r>
            <a:r>
              <a:rPr lang="zh-CN" altLang="en-US" sz="2400" b="1" dirty="0" smtClean="0">
                <a:latin typeface="微软雅黑" panose="020B0503020204020204" pitchFamily="34" charset="-122"/>
                <a:ea typeface="微软雅黑" panose="020B0503020204020204" pitchFamily="34" charset="-122"/>
              </a:rPr>
              <a:t>函数的定义是类的实现部分。同时，如果成员函数已经在类中定义，则不需要在类外实现。需要注意的是，</a:t>
            </a:r>
            <a:r>
              <a:rPr lang="zh-CN" altLang="en-US" sz="2400" b="1" dirty="0" smtClean="0">
                <a:solidFill>
                  <a:srgbClr val="FFFF00"/>
                </a:solidFill>
                <a:latin typeface="微软雅黑" panose="020B0503020204020204" pitchFamily="34" charset="-122"/>
                <a:ea typeface="微软雅黑" panose="020B0503020204020204" pitchFamily="34" charset="-122"/>
              </a:rPr>
              <a:t>在类中定义的函数成员自动成为内联函数。</a:t>
            </a:r>
            <a:endParaRPr lang="zh-CN" altLang="en-US" sz="2400" b="1" dirty="0" smtClean="0">
              <a:solidFill>
                <a:srgbClr val="FFFF00"/>
              </a:solidFill>
              <a:latin typeface="微软雅黑" panose="020B0503020204020204" pitchFamily="34" charset="-122"/>
              <a:ea typeface="微软雅黑" panose="020B0503020204020204" pitchFamily="34" charset="-122"/>
            </a:endParaRPr>
          </a:p>
        </p:txBody>
      </p:sp>
      <p:sp>
        <p:nvSpPr>
          <p:cNvPr id="20486" name="Rectangle 4"/>
          <p:cNvSpPr>
            <a:spLocks noChangeArrowheads="1"/>
          </p:cNvSpPr>
          <p:nvPr/>
        </p:nvSpPr>
        <p:spPr bwMode="auto">
          <a:xfrm>
            <a:off x="395536" y="4221163"/>
            <a:ext cx="8407846" cy="230346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ts val="0"/>
              </a:spcBef>
              <a:buClr>
                <a:srgbClr val="00B0F0"/>
              </a:buClr>
              <a:buSzPct val="65000"/>
              <a:buFont typeface="Wingdings" panose="05000000000000000000" pitchFamily="2" charset="2"/>
              <a:buChar char="u"/>
            </a:pPr>
            <a:r>
              <a:rPr kumimoji="0" lang="zh-CN" altLang="en-US" dirty="0">
                <a:latin typeface="微软雅黑" panose="020B0503020204020204" pitchFamily="34" charset="-122"/>
                <a:ea typeface="微软雅黑" panose="020B0503020204020204" pitchFamily="34" charset="-122"/>
              </a:rPr>
              <a:t>若在类体外实现，则需要使用作用域运算符“</a:t>
            </a:r>
            <a:r>
              <a:rPr kumimoji="0" lang="en-US" altLang="zh-CN" dirty="0">
                <a:latin typeface="微软雅黑" panose="020B0503020204020204" pitchFamily="34" charset="-122"/>
                <a:ea typeface="微软雅黑" panose="020B0503020204020204" pitchFamily="34" charset="-122"/>
              </a:rPr>
              <a:t>::”</a:t>
            </a:r>
            <a:r>
              <a:rPr kumimoji="0" lang="zh-CN" altLang="en-US" dirty="0">
                <a:latin typeface="微软雅黑" panose="020B0503020204020204" pitchFamily="34" charset="-122"/>
                <a:ea typeface="微软雅黑" panose="020B0503020204020204" pitchFamily="34" charset="-122"/>
              </a:rPr>
              <a:t>，用它来标识某个成员函数是属于哪个类的，其定义格式如下：</a:t>
            </a:r>
            <a:br>
              <a:rPr kumimoji="0" lang="zh-CN" altLang="en-US" dirty="0">
                <a:latin typeface="微软雅黑" panose="020B0503020204020204" pitchFamily="34" charset="-122"/>
                <a:ea typeface="微软雅黑" panose="020B0503020204020204" pitchFamily="34" charset="-122"/>
              </a:rPr>
            </a:br>
            <a:r>
              <a:rPr kumimoji="0" lang="zh-CN" altLang="en-US" dirty="0">
                <a:solidFill>
                  <a:srgbClr val="FFFF00"/>
                </a:solidFill>
                <a:latin typeface="微软雅黑" panose="020B0503020204020204" pitchFamily="34" charset="-122"/>
                <a:ea typeface="微软雅黑" panose="020B0503020204020204" pitchFamily="34" charset="-122"/>
              </a:rPr>
              <a:t>返回值类型  类名</a:t>
            </a:r>
            <a:r>
              <a:rPr kumimoji="0" lang="en-US" altLang="zh-CN" dirty="0">
                <a:solidFill>
                  <a:srgbClr val="FFFF00"/>
                </a:solidFill>
                <a:latin typeface="微软雅黑" panose="020B0503020204020204" pitchFamily="34" charset="-122"/>
                <a:ea typeface="微软雅黑" panose="020B0503020204020204" pitchFamily="34" charset="-122"/>
              </a:rPr>
              <a:t>::</a:t>
            </a:r>
            <a:r>
              <a:rPr kumimoji="0" lang="zh-CN" altLang="en-US" dirty="0">
                <a:solidFill>
                  <a:srgbClr val="FFFF00"/>
                </a:solidFill>
                <a:latin typeface="微软雅黑" panose="020B0503020204020204" pitchFamily="34" charset="-122"/>
                <a:ea typeface="微软雅黑" panose="020B0503020204020204" pitchFamily="34" charset="-122"/>
              </a:rPr>
              <a:t>成员函数名</a:t>
            </a:r>
            <a:r>
              <a:rPr kumimoji="0" lang="en-US" altLang="zh-CN" dirty="0">
                <a:solidFill>
                  <a:srgbClr val="FFFF00"/>
                </a:solidFill>
                <a:latin typeface="微软雅黑" panose="020B0503020204020204" pitchFamily="34" charset="-122"/>
                <a:ea typeface="微软雅黑" panose="020B0503020204020204" pitchFamily="34" charset="-122"/>
              </a:rPr>
              <a:t>(</a:t>
            </a:r>
            <a:r>
              <a:rPr kumimoji="0" lang="zh-CN" altLang="en-US" dirty="0">
                <a:solidFill>
                  <a:srgbClr val="FFFF00"/>
                </a:solidFill>
                <a:latin typeface="微软雅黑" panose="020B0503020204020204" pitchFamily="34" charset="-122"/>
                <a:ea typeface="微软雅黑" panose="020B0503020204020204" pitchFamily="34" charset="-122"/>
              </a:rPr>
              <a:t>参数表</a:t>
            </a:r>
            <a:r>
              <a:rPr kumimoji="0" lang="en-US" altLang="zh-CN" dirty="0">
                <a:solidFill>
                  <a:srgbClr val="FFFF00"/>
                </a:solidFill>
                <a:latin typeface="微软雅黑" panose="020B0503020204020204" pitchFamily="34" charset="-122"/>
                <a:ea typeface="微软雅黑" panose="020B0503020204020204" pitchFamily="34" charset="-122"/>
              </a:rPr>
              <a:t>)</a:t>
            </a:r>
            <a:br>
              <a:rPr kumimoji="0" lang="en-US" altLang="zh-CN" dirty="0">
                <a:solidFill>
                  <a:srgbClr val="FFFF00"/>
                </a:solidFill>
                <a:latin typeface="微软雅黑" panose="020B0503020204020204" pitchFamily="34" charset="-122"/>
                <a:ea typeface="微软雅黑" panose="020B0503020204020204" pitchFamily="34" charset="-122"/>
              </a:rPr>
            </a:br>
            <a:r>
              <a:rPr kumimoji="0" lang="en-US" altLang="zh-CN" dirty="0">
                <a:solidFill>
                  <a:srgbClr val="FFFF00"/>
                </a:solidFill>
                <a:latin typeface="微软雅黑" panose="020B0503020204020204" pitchFamily="34" charset="-122"/>
                <a:ea typeface="微软雅黑" panose="020B0503020204020204" pitchFamily="34" charset="-122"/>
              </a:rPr>
              <a:t>{</a:t>
            </a:r>
            <a:br>
              <a:rPr kumimoji="0" lang="en-US" altLang="zh-CN" dirty="0">
                <a:solidFill>
                  <a:srgbClr val="FFFF00"/>
                </a:solidFill>
                <a:latin typeface="微软雅黑" panose="020B0503020204020204" pitchFamily="34" charset="-122"/>
                <a:ea typeface="微软雅黑" panose="020B0503020204020204" pitchFamily="34" charset="-122"/>
              </a:rPr>
            </a:br>
            <a:r>
              <a:rPr kumimoji="0" lang="en-US" altLang="zh-CN" dirty="0">
                <a:solidFill>
                  <a:srgbClr val="FFFF00"/>
                </a:solidFill>
                <a:latin typeface="微软雅黑" panose="020B0503020204020204" pitchFamily="34" charset="-122"/>
                <a:ea typeface="微软雅黑" panose="020B0503020204020204" pitchFamily="34" charset="-122"/>
              </a:rPr>
              <a:t>      </a:t>
            </a:r>
            <a:r>
              <a:rPr kumimoji="0" lang="zh-CN" altLang="en-US" dirty="0">
                <a:solidFill>
                  <a:srgbClr val="FFFF00"/>
                </a:solidFill>
                <a:latin typeface="微软雅黑" panose="020B0503020204020204" pitchFamily="34" charset="-122"/>
                <a:ea typeface="微软雅黑" panose="020B0503020204020204" pitchFamily="34" charset="-122"/>
              </a:rPr>
              <a:t>函数体</a:t>
            </a:r>
            <a:br>
              <a:rPr kumimoji="0" lang="zh-CN" altLang="en-US" dirty="0">
                <a:solidFill>
                  <a:srgbClr val="FFFF00"/>
                </a:solidFill>
                <a:latin typeface="微软雅黑" panose="020B0503020204020204" pitchFamily="34" charset="-122"/>
                <a:ea typeface="微软雅黑" panose="020B0503020204020204" pitchFamily="34" charset="-122"/>
              </a:rPr>
            </a:br>
            <a:r>
              <a:rPr kumimoji="0" lang="en-US" altLang="zh-CN" dirty="0">
                <a:solidFill>
                  <a:srgbClr val="FFFF00"/>
                </a:solidFill>
                <a:latin typeface="微软雅黑" panose="020B0503020204020204" pitchFamily="34" charset="-122"/>
                <a:ea typeface="微软雅黑" panose="020B0503020204020204" pitchFamily="34" charset="-122"/>
              </a:rPr>
              <a:t>}</a:t>
            </a:r>
            <a:endParaRPr kumimoji="0" lang="en-US" altLang="zh-CN"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ChangeArrowheads="1"/>
          </p:cNvSpPr>
          <p:nvPr/>
        </p:nvSpPr>
        <p:spPr bwMode="auto">
          <a:xfrm>
            <a:off x="742494" y="1988086"/>
            <a:ext cx="7659687" cy="4492625"/>
          </a:xfrm>
          <a:prstGeom prst="rect">
            <a:avLst/>
          </a:prstGeom>
          <a:solidFill>
            <a:schemeClr val="tx1"/>
          </a:solidFill>
          <a:ln w="9525">
            <a:solidFill>
              <a:schemeClr val="tx1"/>
            </a:solidFill>
            <a:miter lim="800000"/>
          </a:ln>
        </p:spPr>
        <p:txBody>
          <a:bodyPr>
            <a:spAutoFit/>
          </a:bodyPr>
          <a:lstStyle>
            <a:lvl1pPr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tabLst>
                <a:tab pos="228600" algn="l"/>
                <a:tab pos="457200" algn="l"/>
              </a:tabLs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en-US" altLang="zh-CN" sz="2200" dirty="0">
                <a:solidFill>
                  <a:srgbClr val="000000"/>
                </a:solidFill>
              </a:rPr>
              <a:t>//  </a:t>
            </a:r>
            <a:r>
              <a:rPr kumimoji="0" lang="zh-CN" altLang="en-US" sz="2200" dirty="0" smtClean="0">
                <a:solidFill>
                  <a:srgbClr val="000000"/>
                </a:solidFill>
              </a:rPr>
              <a:t>日期</a:t>
            </a:r>
            <a:r>
              <a:rPr kumimoji="0" lang="zh-CN" altLang="en-US" sz="2200" dirty="0">
                <a:solidFill>
                  <a:srgbClr val="000000"/>
                </a:solidFill>
              </a:rPr>
              <a:t>类的定义。函数成员定义在类体中。</a:t>
            </a:r>
            <a:endParaRPr kumimoji="0" lang="zh-CN" altLang="en-US" sz="2200" dirty="0">
              <a:solidFill>
                <a:srgbClr val="000000"/>
              </a:solidFill>
            </a:endParaRPr>
          </a:p>
          <a:p>
            <a:pPr algn="l">
              <a:lnSpc>
                <a:spcPct val="100000"/>
              </a:lnSpc>
              <a:spcBef>
                <a:spcPct val="0"/>
              </a:spcBef>
            </a:pPr>
            <a:r>
              <a:rPr kumimoji="0" lang="en-US" altLang="zh-CN" sz="2200">
                <a:solidFill>
                  <a:srgbClr val="000000"/>
                </a:solidFill>
              </a:rPr>
              <a:t>class Student4 {</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public:</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string name;</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double total;</a:t>
            </a:r>
            <a:endParaRPr kumimoji="0" lang="en-US" altLang="zh-CN" sz="2200">
              <a:solidFill>
                <a:srgbClr val="000000"/>
              </a:solidFill>
            </a:endParaRPr>
          </a:p>
          <a:p>
            <a:pPr algn="l">
              <a:lnSpc>
                <a:spcPct val="100000"/>
              </a:lnSpc>
              <a:spcBef>
                <a:spcPct val="0"/>
              </a:spcBef>
            </a:pP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bool isExcent() {</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if (total &gt; 440)</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return true;</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else</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return false;</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	}</a:t>
            </a:r>
            <a:endParaRPr kumimoji="0" lang="en-US" altLang="zh-CN" sz="2200">
              <a:solidFill>
                <a:srgbClr val="000000"/>
              </a:solidFill>
            </a:endParaRPr>
          </a:p>
          <a:p>
            <a:pPr algn="l">
              <a:lnSpc>
                <a:spcPct val="100000"/>
              </a:lnSpc>
              <a:spcBef>
                <a:spcPct val="0"/>
              </a:spcBef>
            </a:pPr>
            <a:r>
              <a:rPr kumimoji="0" lang="en-US" altLang="zh-CN" sz="2200">
                <a:solidFill>
                  <a:srgbClr val="000000"/>
                </a:solidFill>
              </a:rPr>
              <a:t>};</a:t>
            </a:r>
            <a:endParaRPr kumimoji="0" lang="en-US" altLang="zh-CN" sz="2200">
              <a:solidFill>
                <a:srgbClr val="000000"/>
              </a:solidFill>
            </a:endParaRPr>
          </a:p>
        </p:txBody>
      </p:sp>
      <p:sp>
        <p:nvSpPr>
          <p:cNvPr id="21509" name="Rectangle 3"/>
          <p:cNvSpPr>
            <a:spLocks noChangeArrowheads="1"/>
          </p:cNvSpPr>
          <p:nvPr/>
        </p:nvSpPr>
        <p:spPr bwMode="auto">
          <a:xfrm>
            <a:off x="1373188" y="332656"/>
            <a:ext cx="7313612" cy="8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4.2.4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类的成员函数</a:t>
            </a:r>
            <a:endParaRPr kumimoji="0" lang="zh-CN" altLang="en-US" sz="3600" b="0" dirty="0">
              <a:solidFill>
                <a:schemeClr val="tx2"/>
              </a:solidFill>
              <a:latin typeface="华文楷体" panose="02010600040101010101" pitchFamily="2" charset="-122"/>
            </a:endParaRPr>
          </a:p>
        </p:txBody>
      </p:sp>
      <p:sp>
        <p:nvSpPr>
          <p:cNvPr id="2" name="文本框 1"/>
          <p:cNvSpPr txBox="1"/>
          <p:nvPr/>
        </p:nvSpPr>
        <p:spPr>
          <a:xfrm>
            <a:off x="755650" y="1196340"/>
            <a:ext cx="7313930" cy="768350"/>
          </a:xfrm>
          <a:prstGeom prst="rect">
            <a:avLst/>
          </a:prstGeom>
          <a:noFill/>
          <a:ln w="9525" algn="ctr">
            <a:noFill/>
            <a:miter lim="800000"/>
          </a:ln>
        </p:spPr>
        <p:txBody>
          <a:bodyPr wrap="square" anchor="t">
            <a:spAutoFit/>
          </a:bodyPr>
          <a:p>
            <a:pPr algn="l" eaLnBrk="1" hangingPunct="1">
              <a:lnSpc>
                <a:spcPct val="100000"/>
              </a:lnSpc>
              <a:spcBef>
                <a:spcPct val="0"/>
              </a:spcBef>
            </a:pPr>
            <a:r>
              <a:rPr kumimoji="0" lang="zh-CN" altLang="en-US" sz="2200" dirty="0">
                <a:solidFill>
                  <a:schemeClr val="tx1"/>
                </a:solidFill>
                <a:sym typeface="+mn-ea"/>
              </a:rPr>
              <a:t>函数成员定义在类体中，</a:t>
            </a:r>
            <a:r>
              <a:rPr kumimoji="0" lang="zh-CN" altLang="en-US" sz="2200" dirty="0">
                <a:solidFill>
                  <a:schemeClr val="tx1"/>
                </a:solidFill>
                <a:sym typeface="+mn-ea"/>
              </a:rPr>
              <a:t>成员函数体放在类中自动成为内联函数。</a:t>
            </a:r>
            <a:endParaRPr kumimoji="0" lang="zh-CN" altLang="en-US" sz="2200" dirty="0" smtClean="0">
              <a:solidFill>
                <a:schemeClr val="tx1"/>
              </a:solidFill>
              <a:sym typeface="+mn-ea"/>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E94CF57C-86E4-4C7A-B7AC-5D45E51DE68E}"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3" name="灯片编号占位符 2"/>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24580" name="Rectangle 2"/>
          <p:cNvSpPr>
            <a:spLocks noChangeArrowheads="1"/>
          </p:cNvSpPr>
          <p:nvPr/>
        </p:nvSpPr>
        <p:spPr bwMode="auto">
          <a:xfrm>
            <a:off x="467043" y="1341120"/>
            <a:ext cx="8380412" cy="5323205"/>
          </a:xfrm>
          <a:prstGeom prst="rect">
            <a:avLst/>
          </a:prstGeom>
          <a:solidFill>
            <a:schemeClr val="tx1"/>
          </a:solidFill>
          <a:ln w="9525">
            <a:solidFill>
              <a:schemeClr val="tx1"/>
            </a:solidFill>
            <a:miter lim="800000"/>
          </a:ln>
        </p:spPr>
        <p:txBody>
          <a:bodyPr>
            <a:spAutoFit/>
          </a:bodyPr>
          <a:lstStyle>
            <a:lvl1pPr indent="533400"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en-US" altLang="zh-CN" sz="2000">
                <a:solidFill>
                  <a:srgbClr val="000000"/>
                </a:solidFill>
              </a:rPr>
              <a:t>class Clock	{ //时钟类的定义</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public:		//外部接口，公有成员函数</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void setTime(int newH = 0, int newM = 0, int newS = 0);</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void showTime();</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private:	//私有数据成员</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int hour, minute, second;</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//时钟类成员函数的具体实现</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void Clock::setTime(int newH, int newM, int newS) {</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hour = newH;</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minute = newM;</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second = newS;</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a:t>
            </a:r>
            <a:endParaRPr kumimoji="0" lang="en-US" altLang="zh-CN" sz="2000">
              <a:solidFill>
                <a:srgbClr val="000000"/>
              </a:solidFill>
            </a:endParaRPr>
          </a:p>
          <a:p>
            <a:pPr algn="l" eaLnBrk="1" hangingPunct="1">
              <a:lnSpc>
                <a:spcPct val="100000"/>
              </a:lnSpc>
              <a:spcBef>
                <a:spcPct val="0"/>
              </a:spcBef>
            </a:pP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inline void Clock::showTime() {</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    cout &lt;&lt; hour &lt;&lt; ":" &lt;&lt; minute &lt;&lt; ":" &lt;&lt; second &lt;&lt; endl;</a:t>
            </a:r>
            <a:endParaRPr kumimoji="0" lang="en-US" altLang="zh-CN" sz="2000">
              <a:solidFill>
                <a:srgbClr val="000000"/>
              </a:solidFill>
            </a:endParaRPr>
          </a:p>
          <a:p>
            <a:pPr algn="l" eaLnBrk="1" hangingPunct="1">
              <a:lnSpc>
                <a:spcPct val="100000"/>
              </a:lnSpc>
              <a:spcBef>
                <a:spcPct val="0"/>
              </a:spcBef>
            </a:pPr>
            <a:r>
              <a:rPr kumimoji="0" lang="en-US" altLang="zh-CN" sz="2000">
                <a:solidFill>
                  <a:srgbClr val="000000"/>
                </a:solidFill>
              </a:rPr>
              <a:t>}</a:t>
            </a:r>
            <a:endParaRPr kumimoji="0" lang="en-US" altLang="zh-CN" sz="2000">
              <a:solidFill>
                <a:srgbClr val="000000"/>
              </a:solidFill>
            </a:endParaRPr>
          </a:p>
        </p:txBody>
      </p:sp>
      <p:sp>
        <p:nvSpPr>
          <p:cNvPr id="2" name="文本框 1"/>
          <p:cNvSpPr txBox="1"/>
          <p:nvPr>
            <p:custDataLst>
              <p:tags r:id="rId1"/>
            </p:custDataLst>
          </p:nvPr>
        </p:nvSpPr>
        <p:spPr>
          <a:xfrm>
            <a:off x="683895" y="620395"/>
            <a:ext cx="7313930" cy="768350"/>
          </a:xfrm>
          <a:prstGeom prst="rect">
            <a:avLst/>
          </a:prstGeom>
          <a:noFill/>
          <a:ln w="9525" algn="ctr">
            <a:noFill/>
            <a:miter lim="800000"/>
          </a:ln>
        </p:spPr>
        <p:txBody>
          <a:bodyPr wrap="square" anchor="t">
            <a:spAutoFit/>
          </a:bodyPr>
          <a:p>
            <a:pPr algn="l" eaLnBrk="1" hangingPunct="1">
              <a:lnSpc>
                <a:spcPct val="100000"/>
              </a:lnSpc>
              <a:spcBef>
                <a:spcPct val="0"/>
              </a:spcBef>
            </a:pPr>
            <a:r>
              <a:rPr kumimoji="0" lang="zh-CN" altLang="en-US" sz="2200" dirty="0">
                <a:solidFill>
                  <a:schemeClr val="tx1"/>
                </a:solidFill>
                <a:sym typeface="+mn-ea"/>
              </a:rPr>
              <a:t>函数成员定义在类体中，</a:t>
            </a:r>
            <a:r>
              <a:rPr kumimoji="0" lang="zh-CN" altLang="en-US" sz="2200" dirty="0">
                <a:solidFill>
                  <a:schemeClr val="tx1"/>
                </a:solidFill>
                <a:sym typeface="+mn-ea"/>
              </a:rPr>
              <a:t>成员函数体放在类中自动成为内联函数。</a:t>
            </a:r>
            <a:endParaRPr kumimoji="0" lang="zh-CN" altLang="en-US" sz="2200" dirty="0" smtClean="0">
              <a:solidFill>
                <a:schemeClr val="tx1"/>
              </a:solidFill>
              <a:sym typeface="+mn-ea"/>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fld id="{D0CDD98C-D030-4738-AD02-2CD84AB08565}" type="slidenum">
              <a:rPr kumimoji="0" lang="en-US" altLang="zh-CN" sz="1200" b="0">
                <a:latin typeface="Verdana" panose="020B0604030504040204" pitchFamily="34" charset="0"/>
                <a:ea typeface="宋体" panose="02010600030101010101" pitchFamily="2" charset="-122"/>
              </a:rPr>
            </a:fld>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4" name="灯片编号占位符 2"/>
          <p:cNvSpPr txBox="1">
            <a:spLocks noGrp="1"/>
          </p:cNvSpPr>
          <p:nvPr/>
        </p:nvSpPr>
        <p:spPr bwMode="auto">
          <a:xfrm>
            <a:off x="6553200" y="6248400"/>
            <a:ext cx="2133600" cy="457200"/>
          </a:xfrm>
          <a:prstGeom prst="rect">
            <a:avLst/>
          </a:prstGeom>
          <a:noFill/>
          <a:ln>
            <a:miter lim="800000"/>
          </a:ln>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r" eaLnBrk="1" hangingPunct="1">
              <a:lnSpc>
                <a:spcPct val="100000"/>
              </a:lnSpc>
              <a:spcBef>
                <a:spcPct val="0"/>
              </a:spcBef>
            </a:pPr>
            <a:r>
              <a:rPr kumimoji="0" lang="en-US" altLang="zh-CN" sz="1200" b="0">
                <a:latin typeface="Verdana" panose="020B0604030504040204" pitchFamily="34" charset="0"/>
                <a:ea typeface="宋体" panose="02010600030101010101" pitchFamily="2" charset="-122"/>
              </a:rPr>
              <a:t> </a:t>
            </a:r>
            <a:endParaRPr kumimoji="0" lang="en-US" altLang="zh-CN" sz="1200" b="0">
              <a:latin typeface="Verdana" panose="020B0604030504040204" pitchFamily="34" charset="0"/>
              <a:ea typeface="宋体" panose="02010600030101010101" pitchFamily="2" charset="-122"/>
            </a:endParaRPr>
          </a:p>
        </p:txBody>
      </p:sp>
      <p:sp>
        <p:nvSpPr>
          <p:cNvPr id="27652" name="Text Box 2"/>
          <p:cNvSpPr txBox="1">
            <a:spLocks noChangeArrowheads="1"/>
          </p:cNvSpPr>
          <p:nvPr/>
        </p:nvSpPr>
        <p:spPr bwMode="auto">
          <a:xfrm>
            <a:off x="467544" y="1700808"/>
            <a:ext cx="8407598" cy="4524315"/>
          </a:xfrm>
          <a:prstGeom prst="rect">
            <a:avLst/>
          </a:prstGeom>
          <a:noFill/>
          <a:ln w="9525">
            <a:noFill/>
            <a:miter lim="800000"/>
          </a:ln>
        </p:spPr>
        <p:txBody>
          <a:bodyPr wrap="square">
            <a:spAutoFit/>
          </a:bodyPr>
          <a:lstStyle>
            <a:lvl1pPr marL="342900" indent="-342900"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lnSpc>
                <a:spcPct val="100000"/>
              </a:lnSpc>
              <a:spcBef>
                <a:spcPts val="0"/>
              </a:spcBef>
            </a:pPr>
            <a:r>
              <a:rPr kumimoji="0" lang="zh-CN" altLang="en-US" dirty="0">
                <a:latin typeface="微软雅黑" panose="020B0503020204020204" pitchFamily="34" charset="-122"/>
                <a:ea typeface="微软雅黑" panose="020B0503020204020204" pitchFamily="34" charset="-122"/>
              </a:rPr>
              <a:t>将类定义和实现分别放在两个不同的文件中，</a:t>
            </a:r>
            <a:r>
              <a:rPr kumimoji="0" lang="zh-CN" altLang="en-US" dirty="0" smtClean="0">
                <a:latin typeface="微软雅黑" panose="020B0503020204020204" pitchFamily="34" charset="-122"/>
                <a:ea typeface="微软雅黑" panose="020B0503020204020204" pitchFamily="34" charset="-122"/>
              </a:rPr>
              <a:t>如</a:t>
            </a:r>
            <a:r>
              <a:rPr kumimoji="0" lang="en-US" altLang="zh-CN" dirty="0" err="1" smtClean="0">
                <a:latin typeface="微软雅黑" panose="020B0503020204020204" pitchFamily="34" charset="-122"/>
                <a:ea typeface="微软雅黑" panose="020B0503020204020204" pitchFamily="34" charset="-122"/>
              </a:rPr>
              <a:t>point.h</a:t>
            </a:r>
            <a:r>
              <a:rPr kumimoji="0" lang="zh-CN" altLang="en-US" dirty="0" smtClean="0">
                <a:latin typeface="微软雅黑" panose="020B0503020204020204" pitchFamily="34" charset="-122"/>
                <a:ea typeface="微软雅黑" panose="020B0503020204020204" pitchFamily="34" charset="-122"/>
              </a:rPr>
              <a:t>和</a:t>
            </a:r>
            <a:r>
              <a:rPr kumimoji="0" lang="en-US" altLang="zh-CN" dirty="0" smtClean="0">
                <a:latin typeface="微软雅黑" panose="020B0503020204020204" pitchFamily="34" charset="-122"/>
                <a:ea typeface="微软雅黑" panose="020B0503020204020204" pitchFamily="34" charset="-122"/>
              </a:rPr>
              <a:t>point.cpp</a:t>
            </a:r>
            <a:endParaRPr kumimoji="0" lang="en-US" altLang="zh-CN" dirty="0" smtClean="0">
              <a:latin typeface="微软雅黑" panose="020B0503020204020204" pitchFamily="34" charset="-122"/>
              <a:ea typeface="微软雅黑" panose="020B0503020204020204" pitchFamily="34" charset="-122"/>
            </a:endParaRPr>
          </a:p>
          <a:p>
            <a:pPr marL="0" indent="0" algn="l" eaLnBrk="1" hangingPunct="1">
              <a:lnSpc>
                <a:spcPct val="100000"/>
              </a:lnSpc>
              <a:spcBef>
                <a:spcPts val="0"/>
              </a:spcBef>
            </a:pPr>
            <a:endParaRPr kumimoji="0" lang="en-US" altLang="zh-CN" dirty="0">
              <a:latin typeface="微软雅黑" panose="020B0503020204020204" pitchFamily="34" charset="-122"/>
              <a:ea typeface="微软雅黑" panose="020B0503020204020204" pitchFamily="34" charset="-122"/>
            </a:endParaRPr>
          </a:p>
          <a:p>
            <a:pPr algn="l" eaLnBrk="1" hangingPunct="1">
              <a:lnSpc>
                <a:spcPct val="100000"/>
              </a:lnSpc>
              <a:spcBef>
                <a:spcPts val="0"/>
              </a:spcBef>
            </a:pPr>
            <a:r>
              <a:rPr kumimoji="0" lang="zh-CN" altLang="en-US" dirty="0">
                <a:solidFill>
                  <a:srgbClr val="FFFF00"/>
                </a:solidFill>
                <a:latin typeface="微软雅黑" panose="020B0503020204020204" pitchFamily="34" charset="-122"/>
                <a:ea typeface="微软雅黑" panose="020B0503020204020204" pitchFamily="34" charset="-122"/>
              </a:rPr>
              <a:t>好处：</a:t>
            </a:r>
            <a:endParaRPr kumimoji="0" lang="zh-CN" altLang="en-US" dirty="0">
              <a:solidFill>
                <a:srgbClr val="FFFF00"/>
              </a:solidFill>
              <a:latin typeface="微软雅黑" panose="020B0503020204020204" pitchFamily="34" charset="-122"/>
              <a:ea typeface="微软雅黑" panose="020B0503020204020204" pitchFamily="34" charset="-122"/>
            </a:endParaRPr>
          </a:p>
          <a:p>
            <a:pPr algn="l" eaLnBrk="1" hangingPunct="1">
              <a:lnSpc>
                <a:spcPct val="100000"/>
              </a:lnSpc>
              <a:spcBef>
                <a:spcPts val="0"/>
              </a:spcBef>
              <a:buClr>
                <a:schemeClr val="hlink"/>
              </a:buClr>
              <a:buFontTx/>
              <a:buAutoNum type="arabicPeriod"/>
            </a:pPr>
            <a:r>
              <a:rPr kumimoji="0" lang="zh-CN" altLang="en-US" dirty="0">
                <a:latin typeface="微软雅黑" panose="020B0503020204020204" pitchFamily="34" charset="-122"/>
                <a:ea typeface="微软雅黑" panose="020B0503020204020204" pitchFamily="34" charset="-122"/>
              </a:rPr>
              <a:t>分开便于阅读，管理和维护</a:t>
            </a:r>
            <a:endParaRPr kumimoji="0" lang="zh-CN" altLang="en-US" dirty="0">
              <a:latin typeface="微软雅黑" panose="020B0503020204020204" pitchFamily="34" charset="-122"/>
              <a:ea typeface="微软雅黑" panose="020B0503020204020204" pitchFamily="34" charset="-122"/>
            </a:endParaRPr>
          </a:p>
          <a:p>
            <a:pPr algn="l" eaLnBrk="1" hangingPunct="1">
              <a:lnSpc>
                <a:spcPct val="100000"/>
              </a:lnSpc>
              <a:spcBef>
                <a:spcPts val="0"/>
              </a:spcBef>
              <a:buClr>
                <a:schemeClr val="hlink"/>
              </a:buClr>
              <a:buFontTx/>
              <a:buAutoNum type="arabicPeriod"/>
            </a:pPr>
            <a:r>
              <a:rPr kumimoji="0" lang="zh-CN" altLang="en-US" dirty="0">
                <a:latin typeface="微软雅黑" panose="020B0503020204020204" pitchFamily="34" charset="-122"/>
                <a:ea typeface="微软雅黑" panose="020B0503020204020204" pitchFamily="34" charset="-122"/>
              </a:rPr>
              <a:t>将成员函数的实现放在类中和类外，在编译时含义是不一样的</a:t>
            </a:r>
            <a:endParaRPr kumimoji="0" lang="zh-CN" altLang="en-US" dirty="0">
              <a:latin typeface="微软雅黑" panose="020B0503020204020204" pitchFamily="34" charset="-122"/>
              <a:ea typeface="微软雅黑" panose="020B0503020204020204" pitchFamily="34" charset="-122"/>
            </a:endParaRPr>
          </a:p>
          <a:p>
            <a:pPr algn="l" eaLnBrk="1" hangingPunct="1">
              <a:lnSpc>
                <a:spcPct val="100000"/>
              </a:lnSpc>
              <a:spcBef>
                <a:spcPts val="0"/>
              </a:spcBef>
              <a:buClr>
                <a:schemeClr val="hlink"/>
              </a:buClr>
              <a:buFontTx/>
              <a:buAutoNum type="arabicPeriod"/>
            </a:pPr>
            <a:r>
              <a:rPr kumimoji="0" lang="zh-CN" altLang="en-US" dirty="0">
                <a:latin typeface="微软雅黑" panose="020B0503020204020204" pitchFamily="34" charset="-122"/>
                <a:ea typeface="微软雅黑" panose="020B0503020204020204" pitchFamily="34" charset="-122"/>
              </a:rPr>
              <a:t>对软件开发商而言，他们可以向用户提供一些程序模块了接口，而不公开程序的源代码</a:t>
            </a:r>
            <a:endParaRPr kumimoji="0" lang="zh-CN" altLang="en-US" dirty="0">
              <a:latin typeface="微软雅黑" panose="020B0503020204020204" pitchFamily="34" charset="-122"/>
              <a:ea typeface="微软雅黑" panose="020B0503020204020204" pitchFamily="34" charset="-122"/>
            </a:endParaRPr>
          </a:p>
          <a:p>
            <a:pPr algn="l" eaLnBrk="1" hangingPunct="1">
              <a:lnSpc>
                <a:spcPct val="100000"/>
              </a:lnSpc>
              <a:spcBef>
                <a:spcPts val="0"/>
              </a:spcBef>
              <a:buClr>
                <a:schemeClr val="hlink"/>
              </a:buClr>
              <a:buFontTx/>
              <a:buAutoNum type="arabicPeriod"/>
            </a:pPr>
            <a:r>
              <a:rPr kumimoji="0" lang="zh-CN" altLang="en-US" dirty="0">
                <a:latin typeface="微软雅黑" panose="020B0503020204020204" pitchFamily="34" charset="-122"/>
                <a:ea typeface="微软雅黑" panose="020B0503020204020204" pitchFamily="34" charset="-122"/>
              </a:rPr>
              <a:t>将类定义放在头文件中，以后使用不必再定义，只需要一条包含头文件命令即可，实现了代码重用。</a:t>
            </a:r>
            <a:endParaRPr kumimoji="0" lang="zh-CN" altLang="en-US" dirty="0">
              <a:latin typeface="微软雅黑" panose="020B0503020204020204" pitchFamily="34" charset="-122"/>
              <a:ea typeface="微软雅黑" panose="020B0503020204020204" pitchFamily="34" charset="-122"/>
            </a:endParaRPr>
          </a:p>
          <a:p>
            <a:pPr algn="l" eaLnBrk="1" hangingPunct="1">
              <a:lnSpc>
                <a:spcPct val="100000"/>
              </a:lnSpc>
              <a:spcBef>
                <a:spcPts val="0"/>
              </a:spcBef>
              <a:buClr>
                <a:schemeClr val="hlink"/>
              </a:buClr>
              <a:buFontTx/>
              <a:buAutoNum type="arabicPeriod"/>
            </a:pPr>
            <a:r>
              <a:rPr kumimoji="0" lang="zh-CN" altLang="en-US" dirty="0">
                <a:latin typeface="微软雅黑" panose="020B0503020204020204" pitchFamily="34" charset="-122"/>
                <a:ea typeface="微软雅黑" panose="020B0503020204020204" pitchFamily="34" charset="-122"/>
              </a:rPr>
              <a:t>便于团队对大型软件的分工开发</a:t>
            </a:r>
            <a:endParaRPr kumimoji="0" lang="zh-CN" altLang="en-US" dirty="0">
              <a:latin typeface="微软雅黑" panose="020B0503020204020204" pitchFamily="34" charset="-122"/>
              <a:ea typeface="微软雅黑" panose="020B0503020204020204" pitchFamily="34" charset="-122"/>
            </a:endParaRPr>
          </a:p>
        </p:txBody>
      </p:sp>
      <p:sp>
        <p:nvSpPr>
          <p:cNvPr id="27653" name="Rectangle 3"/>
          <p:cNvSpPr>
            <a:spLocks noChangeArrowheads="1"/>
          </p:cNvSpPr>
          <p:nvPr/>
        </p:nvSpPr>
        <p:spPr bwMode="auto">
          <a:xfrm>
            <a:off x="1258888" y="188913"/>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4.2.4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类的成员函数</a:t>
            </a:r>
            <a:endParaRPr kumimoji="0" lang="zh-CN" altLang="en-US" sz="3600" b="0" dirty="0">
              <a:solidFill>
                <a:schemeClr val="tx2"/>
              </a:solidFill>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内联成员函数</a:t>
            </a:r>
            <a:endParaRPr lang="zh-CN" altLang="en-US" sz="4400" b="1" dirty="0">
              <a:latin typeface="Times New Roman" panose="02020603050405020304" pitchFamily="18" charset="0"/>
              <a:ea typeface="隶书" panose="02010509060101010101" pitchFamily="49" charset="-122"/>
            </a:endParaRPr>
          </a:p>
        </p:txBody>
      </p:sp>
      <p:sp>
        <p:nvSpPr>
          <p:cNvPr id="31747" name="内容占位符 2"/>
          <p:cNvSpPr>
            <a:spLocks noGrp="1"/>
          </p:cNvSpPr>
          <p:nvPr>
            <p:ph idx="1"/>
          </p:nvPr>
        </p:nvSpPr>
        <p:spPr/>
        <p:txBody>
          <a:bodyPr/>
          <a:lstStyle/>
          <a:p>
            <a:pPr eaLnBrk="1" hangingPunct="1">
              <a:lnSpc>
                <a:spcPct val="130000"/>
              </a:lnSpc>
              <a:buClr>
                <a:srgbClr val="FFC000"/>
              </a:buClr>
            </a:pPr>
            <a:r>
              <a:rPr lang="zh-CN" altLang="en-US" sz="2400" b="1" dirty="0">
                <a:latin typeface="微软雅黑" panose="020B0503020204020204" pitchFamily="34" charset="-122"/>
                <a:ea typeface="微软雅黑" panose="020B0503020204020204" pitchFamily="34" charset="-122"/>
              </a:rPr>
              <a:t>为了提高运行时的效率，对于较简单的函数可以声明为内联形式。</a:t>
            </a:r>
            <a:endParaRPr lang="zh-CN" altLang="en-US" sz="2400" b="1" dirty="0">
              <a:latin typeface="微软雅黑" panose="020B0503020204020204" pitchFamily="34" charset="-122"/>
              <a:ea typeface="微软雅黑" panose="020B0503020204020204" pitchFamily="34" charset="-122"/>
            </a:endParaRPr>
          </a:p>
          <a:p>
            <a:pPr eaLnBrk="1" hangingPunct="1">
              <a:lnSpc>
                <a:spcPct val="130000"/>
              </a:lnSpc>
              <a:buClr>
                <a:srgbClr val="FFC000"/>
              </a:buClr>
            </a:pPr>
            <a:r>
              <a:rPr lang="zh-CN" altLang="en-US" sz="2400" b="1" dirty="0">
                <a:latin typeface="微软雅黑" panose="020B0503020204020204" pitchFamily="34" charset="-122"/>
                <a:ea typeface="微软雅黑" panose="020B0503020204020204" pitchFamily="34" charset="-122"/>
              </a:rPr>
              <a:t>内联函数体中不要有复杂结构（如循环语句和</a:t>
            </a:r>
            <a:r>
              <a:rPr lang="en-US" altLang="zh-CN" sz="2400" b="1" dirty="0">
                <a:latin typeface="微软雅黑" panose="020B0503020204020204" pitchFamily="34" charset="-122"/>
                <a:ea typeface="微软雅黑" panose="020B0503020204020204" pitchFamily="34" charset="-122"/>
              </a:rPr>
              <a:t>switch</a:t>
            </a:r>
            <a:r>
              <a:rPr lang="zh-CN" altLang="en-US" sz="2400" b="1" dirty="0">
                <a:latin typeface="微软雅黑" panose="020B0503020204020204" pitchFamily="34" charset="-122"/>
                <a:ea typeface="微软雅黑" panose="020B0503020204020204" pitchFamily="34" charset="-122"/>
              </a:rPr>
              <a:t>语句）。</a:t>
            </a:r>
            <a:endParaRPr lang="zh-CN" altLang="en-US" sz="2400" b="1" dirty="0">
              <a:latin typeface="微软雅黑" panose="020B0503020204020204" pitchFamily="34" charset="-122"/>
              <a:ea typeface="微软雅黑" panose="020B0503020204020204" pitchFamily="34" charset="-122"/>
            </a:endParaRPr>
          </a:p>
          <a:p>
            <a:pPr eaLnBrk="1" hangingPunct="1">
              <a:lnSpc>
                <a:spcPct val="130000"/>
              </a:lnSpc>
              <a:buClr>
                <a:srgbClr val="FFC000"/>
              </a:buClr>
            </a:pPr>
            <a:r>
              <a:rPr lang="zh-CN" altLang="en-US" sz="2400" b="1" dirty="0">
                <a:latin typeface="微软雅黑" panose="020B0503020204020204" pitchFamily="34" charset="-122"/>
                <a:ea typeface="微软雅黑" panose="020B0503020204020204" pitchFamily="34" charset="-122"/>
              </a:rPr>
              <a:t>在类中声明内联成员函数的方式：</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130000"/>
              </a:lnSpc>
              <a:buFont typeface="Wingdings" panose="05000000000000000000" pitchFamily="2" charset="2"/>
              <a:buChar char="ü"/>
            </a:pPr>
            <a:r>
              <a:rPr lang="zh-CN" altLang="en-US" sz="2400" b="1" dirty="0">
                <a:latin typeface="微软雅黑" panose="020B0503020204020204" pitchFamily="34" charset="-122"/>
                <a:ea typeface="微软雅黑" panose="020B0503020204020204" pitchFamily="34" charset="-122"/>
              </a:rPr>
              <a:t>将函数体放在类的声明中。</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130000"/>
              </a:lnSpc>
              <a:buFont typeface="Wingdings" panose="05000000000000000000" pitchFamily="2" charset="2"/>
              <a:buChar char="ü"/>
            </a:pPr>
            <a:r>
              <a:rPr lang="zh-CN" altLang="en-US" sz="2400" b="1" dirty="0">
                <a:latin typeface="微软雅黑" panose="020B0503020204020204" pitchFamily="34" charset="-122"/>
                <a:ea typeface="微软雅黑" panose="020B0503020204020204" pitchFamily="34" charset="-122"/>
              </a:rPr>
              <a:t>使用</a:t>
            </a:r>
            <a:r>
              <a:rPr lang="en-US" altLang="zh-CN" sz="2400" b="1" dirty="0">
                <a:latin typeface="微软雅黑" panose="020B0503020204020204" pitchFamily="34" charset="-122"/>
                <a:ea typeface="微软雅黑" panose="020B0503020204020204" pitchFamily="34" charset="-122"/>
              </a:rPr>
              <a:t>inline</a:t>
            </a:r>
            <a:r>
              <a:rPr lang="zh-CN" altLang="en-US" sz="2400" b="1" dirty="0">
                <a:latin typeface="微软雅黑" panose="020B0503020204020204" pitchFamily="34" charset="-122"/>
                <a:ea typeface="微软雅黑" panose="020B0503020204020204" pitchFamily="34" charset="-122"/>
              </a:rPr>
              <a:t>关键字。</a:t>
            </a:r>
            <a:endParaRPr lang="zh-CN" altLang="en-US" sz="2400" b="1" dirty="0">
              <a:latin typeface="微软雅黑" panose="020B0503020204020204" pitchFamily="34" charset="-122"/>
              <a:ea typeface="微软雅黑" panose="020B0503020204020204" pitchFamily="34" charset="-122"/>
            </a:endParaRPr>
          </a:p>
          <a:p>
            <a:pPr eaLnBrk="1" hangingPunct="1"/>
            <a:endParaRPr lang="zh-CN" altLang="en-US" sz="2400"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ChangeArrowheads="1"/>
          </p:cNvSpPr>
          <p:nvPr/>
        </p:nvSpPr>
        <p:spPr bwMode="auto">
          <a:xfrm>
            <a:off x="900113" y="2349500"/>
            <a:ext cx="8020050" cy="2123658"/>
          </a:xfrm>
          <a:prstGeom prst="rect">
            <a:avLst/>
          </a:prstGeom>
          <a:noFill/>
          <a:ln w="9525">
            <a:noFill/>
            <a:miter lim="800000"/>
          </a:ln>
        </p:spPr>
        <p:txBody>
          <a:bodyPr>
            <a:spAutoFit/>
          </a:bodyPr>
          <a:lstStyle>
            <a:lvl1pPr indent="266700"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marL="342900" indent="-342900" algn="l" eaLnBrk="1" hangingPunct="1">
              <a:spcBef>
                <a:spcPct val="50000"/>
              </a:spcBef>
              <a:buClr>
                <a:srgbClr val="00B0F0"/>
              </a:buClr>
              <a:buFont typeface="Wingdings" panose="05000000000000000000" pitchFamily="2" charset="2"/>
              <a:buChar char="u"/>
            </a:pPr>
            <a:r>
              <a:rPr kumimoji="0" lang="zh-CN" altLang="en-US" dirty="0" smtClean="0"/>
              <a:t>使用</a:t>
            </a:r>
            <a:r>
              <a:rPr kumimoji="0" lang="en-US" altLang="zh-CN" dirty="0"/>
              <a:t>inline</a:t>
            </a:r>
            <a:r>
              <a:rPr kumimoji="0" lang="zh-CN" altLang="en-US" dirty="0"/>
              <a:t>定义成员函数，必须使函数体和</a:t>
            </a:r>
            <a:r>
              <a:rPr kumimoji="0" lang="en-US" altLang="zh-CN" dirty="0"/>
              <a:t>inline</a:t>
            </a:r>
            <a:r>
              <a:rPr kumimoji="0" lang="zh-CN" altLang="en-US" dirty="0"/>
              <a:t>说明组合在一起</a:t>
            </a:r>
            <a:endParaRPr kumimoji="0" lang="zh-CN" altLang="en-US" dirty="0"/>
          </a:p>
          <a:p>
            <a:pPr marL="342900" indent="-342900" algn="l" eaLnBrk="1" hangingPunct="1">
              <a:spcBef>
                <a:spcPct val="50000"/>
              </a:spcBef>
              <a:buClr>
                <a:srgbClr val="00B0F0"/>
              </a:buClr>
              <a:buFont typeface="Wingdings" panose="05000000000000000000" pitchFamily="2" charset="2"/>
              <a:buChar char="u"/>
            </a:pPr>
            <a:r>
              <a:rPr kumimoji="0" lang="zh-CN" altLang="en-US" dirty="0" smtClean="0"/>
              <a:t>不能</a:t>
            </a:r>
            <a:r>
              <a:rPr kumimoji="0" lang="zh-CN" altLang="en-US" dirty="0"/>
              <a:t>在函数原型处说明</a:t>
            </a:r>
            <a:r>
              <a:rPr kumimoji="0" lang="en-US" altLang="zh-CN" dirty="0"/>
              <a:t>inline</a:t>
            </a:r>
            <a:r>
              <a:rPr kumimoji="0" lang="zh-CN" altLang="en-US" dirty="0"/>
              <a:t>，否则编译器会处理为普通函数</a:t>
            </a:r>
            <a:br>
              <a:rPr kumimoji="0" lang="zh-CN" altLang="en-US" dirty="0"/>
            </a:br>
            <a:r>
              <a:rPr kumimoji="0" lang="zh-CN" altLang="en-US" dirty="0"/>
              <a:t>        </a:t>
            </a:r>
            <a:r>
              <a:rPr kumimoji="0" lang="en-US" altLang="zh-CN" dirty="0"/>
              <a:t>inline void </a:t>
            </a:r>
            <a:r>
              <a:rPr kumimoji="0" lang="en-US" altLang="zh-CN" dirty="0" err="1"/>
              <a:t>SetPoint</a:t>
            </a:r>
            <a:r>
              <a:rPr kumimoji="0" lang="en-US" altLang="zh-CN" dirty="0"/>
              <a:t>(</a:t>
            </a:r>
            <a:r>
              <a:rPr kumimoji="0" lang="en-US" altLang="zh-CN" dirty="0" err="1"/>
              <a:t>int,int</a:t>
            </a:r>
            <a:r>
              <a:rPr kumimoji="0" lang="en-US" altLang="zh-CN" dirty="0"/>
              <a:t>);  //</a:t>
            </a:r>
            <a:r>
              <a:rPr kumimoji="0" lang="zh-CN" altLang="en-US" dirty="0"/>
              <a:t>处理为普通函数       </a:t>
            </a:r>
            <a:endParaRPr kumimoji="0" lang="zh-CN" altLang="en-US" dirty="0"/>
          </a:p>
        </p:txBody>
      </p:sp>
      <p:sp>
        <p:nvSpPr>
          <p:cNvPr id="28677" name="Rectangle 3"/>
          <p:cNvSpPr>
            <a:spLocks noChangeArrowheads="1"/>
          </p:cNvSpPr>
          <p:nvPr/>
        </p:nvSpPr>
        <p:spPr bwMode="auto">
          <a:xfrm>
            <a:off x="1247840" y="404664"/>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lvl="0"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rPr>
              <a:t>4.2.4 </a:t>
            </a:r>
            <a:r>
              <a:rPr lang="zh-CN" altLang="en-US" sz="4400" i="1" dirty="0">
                <a:solidFill>
                  <a:srgbClr val="FFFFFF"/>
                </a:solidFill>
                <a:effectLst>
                  <a:outerShdw blurRad="38100" dist="38100" dir="2700000" algn="tl">
                    <a:srgbClr val="000000"/>
                  </a:outerShdw>
                </a:effectLst>
                <a:ea typeface="隶书" panose="02010509060101010101" pitchFamily="49" charset="-122"/>
              </a:rPr>
              <a:t>类的成员函数</a:t>
            </a:r>
            <a:endParaRPr lang="zh-CN" altLang="en-US" sz="4400" i="1" dirty="0">
              <a:solidFill>
                <a:srgbClr val="FFFFFF"/>
              </a:solidFill>
              <a:effectLst>
                <a:outerShdw blurRad="38100" dist="38100" dir="2700000" algn="tl">
                  <a:srgbClr val="000000"/>
                </a:outerShdw>
              </a:effectLst>
              <a:ea typeface="隶书" panose="02010509060101010101" pitchFamily="49" charset="-122"/>
            </a:endParaRPr>
          </a:p>
          <a:p>
            <a:pPr algn="ctr" eaLnBrk="1" hangingPunct="1">
              <a:lnSpc>
                <a:spcPct val="100000"/>
              </a:lnSpc>
              <a:spcBef>
                <a:spcPct val="0"/>
              </a:spcBef>
            </a:pPr>
            <a:r>
              <a:rPr lang="zh-CN" altLang="en-US" sz="4400" i="1" dirty="0">
                <a:solidFill>
                  <a:srgbClr val="FFFF00"/>
                </a:solidFill>
                <a:effectLst>
                  <a:outerShdw blurRad="38100" dist="38100" dir="2700000" algn="tl">
                    <a:srgbClr val="000000"/>
                  </a:outerShdw>
                </a:effectLst>
                <a:ea typeface="隶书" panose="02010509060101010101" pitchFamily="49" charset="-122"/>
              </a:rPr>
              <a:t>（显式定义内联函数） </a:t>
            </a:r>
            <a:endParaRPr lang="zh-CN" altLang="en-US" sz="4400" i="1" dirty="0">
              <a:solidFill>
                <a:srgbClr val="FFFF00"/>
              </a:solidFill>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ChangeArrowheads="1"/>
          </p:cNvSpPr>
          <p:nvPr/>
        </p:nvSpPr>
        <p:spPr bwMode="auto">
          <a:xfrm>
            <a:off x="755333" y="1628458"/>
            <a:ext cx="8020050" cy="5015865"/>
          </a:xfrm>
          <a:prstGeom prst="rect">
            <a:avLst/>
          </a:prstGeom>
          <a:solidFill>
            <a:schemeClr val="tx1"/>
          </a:solidFill>
          <a:ln w="9525">
            <a:solidFill>
              <a:schemeClr val="tx1"/>
            </a:solidFill>
            <a:miter lim="800000"/>
          </a:ln>
        </p:spPr>
        <p:txBody>
          <a:bodyPr>
            <a:spAutoFit/>
          </a:bodyPr>
          <a:lstStyle>
            <a:lvl1pPr indent="266700"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en-US" altLang="zh-CN" sz="2000" dirty="0">
                <a:solidFill>
                  <a:srgbClr val="000000"/>
                </a:solidFill>
              </a:rPr>
              <a:t>//  </a:t>
            </a:r>
            <a:r>
              <a:rPr kumimoji="0" lang="zh-CN" altLang="en-US" sz="2000" dirty="0" smtClean="0">
                <a:solidFill>
                  <a:srgbClr val="000000"/>
                </a:solidFill>
              </a:rPr>
              <a:t>定义</a:t>
            </a:r>
            <a:r>
              <a:rPr kumimoji="0" lang="en-US" altLang="zh-CN" sz="2000" dirty="0">
                <a:solidFill>
                  <a:srgbClr val="000000"/>
                </a:solidFill>
              </a:rPr>
              <a:t>Point</a:t>
            </a:r>
            <a:r>
              <a:rPr kumimoji="0" lang="zh-CN" altLang="en-US" sz="2000" dirty="0">
                <a:solidFill>
                  <a:srgbClr val="000000"/>
                </a:solidFill>
              </a:rPr>
              <a:t>类。成员函数体写在类体之外。</a:t>
            </a:r>
            <a:endParaRPr kumimoji="0" lang="zh-CN" altLang="en-US" sz="2000" dirty="0">
              <a:solidFill>
                <a:srgbClr val="000000"/>
              </a:solidFill>
              <a:cs typeface="Times New Roman" panose="02020603050405020304" pitchFamily="18" charset="0"/>
            </a:endParaRPr>
          </a:p>
          <a:p>
            <a:pPr algn="l">
              <a:lnSpc>
                <a:spcPct val="100000"/>
              </a:lnSpc>
              <a:spcBef>
                <a:spcPct val="0"/>
              </a:spcBef>
            </a:pPr>
            <a:r>
              <a:rPr kumimoji="0" lang="en-US" altLang="zh-CN" sz="2000">
                <a:solidFill>
                  <a:srgbClr val="000000"/>
                </a:solidFill>
              </a:rPr>
              <a:t>//4_1.cpp</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#include &lt;iostream&gt;</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using namespace std;</a:t>
            </a:r>
            <a:endParaRPr kumimoji="0" lang="en-US" altLang="zh-CN" sz="2000">
              <a:solidFill>
                <a:srgbClr val="000000"/>
              </a:solidFill>
            </a:endParaRPr>
          </a:p>
          <a:p>
            <a:pPr algn="l">
              <a:lnSpc>
                <a:spcPct val="100000"/>
              </a:lnSpc>
              <a:spcBef>
                <a:spcPct val="0"/>
              </a:spcBef>
            </a:pP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class Clock	{ //时钟类的定义</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public:		//外部接口，公有成员函数</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    void setTime(int newH = 0, int newM = 0, int newS = 0);</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    void showTime();</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private:	//私有数据成员</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    int hour, minute, second;</a:t>
            </a:r>
            <a:endParaRPr kumimoji="0" lang="en-US" altLang="zh-CN" sz="2000">
              <a:solidFill>
                <a:srgbClr val="000000"/>
              </a:solidFill>
            </a:endParaRPr>
          </a:p>
          <a:p>
            <a:pPr algn="l">
              <a:lnSpc>
                <a:spcPct val="100000"/>
              </a:lnSpc>
              <a:spcBef>
                <a:spcPct val="0"/>
              </a:spcBef>
            </a:pPr>
            <a:r>
              <a:rPr kumimoji="0" lang="en-US" altLang="zh-CN" sz="2000">
                <a:solidFill>
                  <a:srgbClr val="000000"/>
                </a:solidFill>
              </a:rPr>
              <a:t>};</a:t>
            </a:r>
            <a:endParaRPr kumimoji="0" lang="en-US" altLang="zh-CN" sz="2000">
              <a:solidFill>
                <a:srgbClr val="000000"/>
              </a:solidFill>
            </a:endParaRPr>
          </a:p>
          <a:p>
            <a:pPr algn="l">
              <a:lnSpc>
                <a:spcPct val="100000"/>
              </a:lnSpc>
              <a:spcBef>
                <a:spcPct val="0"/>
              </a:spcBef>
            </a:pPr>
            <a:r>
              <a:rPr kumimoji="0" lang="en-US" altLang="zh-CN" sz="2000">
                <a:solidFill>
                  <a:srgbClr val="FF0000"/>
                </a:solidFill>
              </a:rPr>
              <a:t>inline void Clock::showTime() {</a:t>
            </a:r>
            <a:endParaRPr kumimoji="0" lang="en-US" altLang="zh-CN" sz="2000">
              <a:solidFill>
                <a:srgbClr val="FF0000"/>
              </a:solidFill>
            </a:endParaRPr>
          </a:p>
          <a:p>
            <a:pPr algn="l">
              <a:lnSpc>
                <a:spcPct val="100000"/>
              </a:lnSpc>
              <a:spcBef>
                <a:spcPct val="0"/>
              </a:spcBef>
            </a:pPr>
            <a:r>
              <a:rPr kumimoji="0" lang="en-US" altLang="zh-CN" sz="2000">
                <a:solidFill>
                  <a:srgbClr val="FF0000"/>
                </a:solidFill>
              </a:rPr>
              <a:t>    cout &lt;&lt; hour &lt;&lt; ":" &lt;&lt; minute &lt;&lt; ":" &lt;&lt; second &lt;&lt; endl;</a:t>
            </a:r>
            <a:endParaRPr kumimoji="0" lang="en-US" altLang="zh-CN" sz="2000">
              <a:solidFill>
                <a:srgbClr val="FF0000"/>
              </a:solidFill>
            </a:endParaRPr>
          </a:p>
          <a:p>
            <a:pPr algn="l">
              <a:lnSpc>
                <a:spcPct val="100000"/>
              </a:lnSpc>
              <a:spcBef>
                <a:spcPct val="0"/>
              </a:spcBef>
            </a:pPr>
            <a:r>
              <a:rPr kumimoji="0" lang="en-US" altLang="zh-CN" sz="2000">
                <a:solidFill>
                  <a:srgbClr val="FF0000"/>
                </a:solidFill>
              </a:rPr>
              <a:t>}</a:t>
            </a:r>
            <a:endParaRPr kumimoji="0" lang="en-US" altLang="zh-CN" sz="2000">
              <a:solidFill>
                <a:srgbClr val="FF0000"/>
              </a:solidFill>
            </a:endParaRPr>
          </a:p>
          <a:p>
            <a:pPr algn="l">
              <a:lnSpc>
                <a:spcPct val="100000"/>
              </a:lnSpc>
              <a:spcBef>
                <a:spcPct val="0"/>
              </a:spcBef>
            </a:pPr>
            <a:endParaRPr kumimoji="0" lang="en-US" altLang="zh-CN" sz="2000">
              <a:solidFill>
                <a:srgbClr val="FF0000"/>
              </a:solidFill>
            </a:endParaRPr>
          </a:p>
        </p:txBody>
      </p:sp>
      <p:sp>
        <p:nvSpPr>
          <p:cNvPr id="29701" name="Rectangle 3"/>
          <p:cNvSpPr>
            <a:spLocks noChangeArrowheads="1"/>
          </p:cNvSpPr>
          <p:nvPr/>
        </p:nvSpPr>
        <p:spPr bwMode="auto">
          <a:xfrm>
            <a:off x="1258888" y="188913"/>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lvl="0" eaLnBrk="1" hangingPunct="1"/>
            <a:r>
              <a:rPr lang="en-US" altLang="zh-CN" sz="3600" i="1" dirty="0">
                <a:solidFill>
                  <a:srgbClr val="FFFFFF"/>
                </a:solidFill>
                <a:effectLst>
                  <a:outerShdw blurRad="38100" dist="38100" dir="2700000" algn="tl">
                    <a:srgbClr val="000000"/>
                  </a:outerShdw>
                </a:effectLst>
                <a:ea typeface="隶书" panose="02010509060101010101" pitchFamily="49" charset="-122"/>
              </a:rPr>
              <a:t>4.2.4 </a:t>
            </a:r>
            <a:r>
              <a:rPr lang="zh-CN" altLang="en-US" sz="3600" i="1" dirty="0">
                <a:solidFill>
                  <a:srgbClr val="FFFFFF"/>
                </a:solidFill>
                <a:effectLst>
                  <a:outerShdw blurRad="38100" dist="38100" dir="2700000" algn="tl">
                    <a:srgbClr val="000000"/>
                  </a:outerShdw>
                </a:effectLst>
                <a:ea typeface="隶书" panose="02010509060101010101" pitchFamily="49" charset="-122"/>
              </a:rPr>
              <a:t>类的成员函数</a:t>
            </a:r>
            <a:endParaRPr lang="zh-CN" altLang="en-US" sz="3600" i="1" dirty="0">
              <a:solidFill>
                <a:srgbClr val="FFFFFF"/>
              </a:solidFill>
              <a:effectLst>
                <a:outerShdw blurRad="38100" dist="38100" dir="2700000" algn="tl">
                  <a:srgbClr val="000000"/>
                </a:outerShdw>
              </a:effectLst>
              <a:ea typeface="隶书" panose="02010509060101010101" pitchFamily="49" charset="-122"/>
            </a:endParaRPr>
          </a:p>
          <a:p>
            <a:pPr eaLnBrk="1" hangingPunct="1"/>
            <a:r>
              <a:rPr lang="zh-CN" altLang="en-US" sz="3600" i="1" dirty="0">
                <a:solidFill>
                  <a:srgbClr val="FFFF00"/>
                </a:solidFill>
                <a:effectLst>
                  <a:outerShdw blurRad="38100" dist="38100" dir="2700000" algn="tl">
                    <a:srgbClr val="000000"/>
                  </a:outerShdw>
                </a:effectLst>
                <a:ea typeface="隶书" panose="02010509060101010101" pitchFamily="49" charset="-122"/>
              </a:rPr>
              <a:t>（显式定义内联函数） </a:t>
            </a:r>
            <a:endParaRPr lang="zh-CN" altLang="en-US" sz="3600" i="1" dirty="0">
              <a:solidFill>
                <a:srgbClr val="FFFF00"/>
              </a:solidFill>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51520" y="2057400"/>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3"/>
            </a:pPr>
            <a:r>
              <a:rPr lang="zh-CN" altLang="en-US" sz="6000" b="1" dirty="0" smtClean="0">
                <a:ea typeface="华文彩云" panose="02010800040101010101" pitchFamily="2" charset="-122"/>
              </a:rPr>
              <a:t>构造函数和析构函数</a:t>
            </a:r>
            <a:endParaRPr lang="zh-CN" altLang="en-US" sz="6000" dirty="0"/>
          </a:p>
        </p:txBody>
      </p:sp>
      <p:grpSp>
        <p:nvGrpSpPr>
          <p:cNvPr id="642052" name="Group 4"/>
          <p:cNvGrpSpPr/>
          <p:nvPr/>
        </p:nvGrpSpPr>
        <p:grpSpPr bwMode="auto">
          <a:xfrm>
            <a:off x="5181600" y="4800600"/>
            <a:ext cx="2438400" cy="1219200"/>
            <a:chOff x="2358" y="2934"/>
            <a:chExt cx="450" cy="283"/>
          </a:xfrm>
        </p:grpSpPr>
        <p:grpSp>
          <p:nvGrpSpPr>
            <p:cNvPr id="642053" name="Group 5"/>
            <p:cNvGrpSpPr/>
            <p:nvPr/>
          </p:nvGrpSpPr>
          <p:grpSpPr bwMode="auto">
            <a:xfrm>
              <a:off x="2401" y="2996"/>
              <a:ext cx="407" cy="221"/>
              <a:chOff x="2401" y="2996"/>
              <a:chExt cx="407" cy="221"/>
            </a:xfrm>
          </p:grpSpPr>
          <p:grpSp>
            <p:nvGrpSpPr>
              <p:cNvPr id="64205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7"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69" name="Group 21"/>
                <p:cNvGrpSpPr/>
                <p:nvPr/>
              </p:nvGrpSpPr>
              <p:grpSpPr bwMode="auto">
                <a:xfrm>
                  <a:off x="2506" y="2996"/>
                  <a:ext cx="212" cy="221"/>
                  <a:chOff x="2506" y="2996"/>
                  <a:chExt cx="212" cy="221"/>
                </a:xfrm>
              </p:grpSpPr>
              <p:grpSp>
                <p:nvGrpSpPr>
                  <p:cNvPr id="642070"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3" name="Group 25"/>
                  <p:cNvGrpSpPr/>
                  <p:nvPr/>
                </p:nvGrpSpPr>
                <p:grpSpPr bwMode="auto">
                  <a:xfrm>
                    <a:off x="2506" y="2996"/>
                    <a:ext cx="212" cy="148"/>
                    <a:chOff x="2506" y="2996"/>
                    <a:chExt cx="212" cy="148"/>
                  </a:xfrm>
                </p:grpSpPr>
                <p:grpSp>
                  <p:nvGrpSpPr>
                    <p:cNvPr id="642074" name="Group 26"/>
                    <p:cNvGrpSpPr/>
                    <p:nvPr/>
                  </p:nvGrpSpPr>
                  <p:grpSpPr bwMode="auto">
                    <a:xfrm>
                      <a:off x="2506" y="2996"/>
                      <a:ext cx="203" cy="135"/>
                      <a:chOff x="2506" y="2996"/>
                      <a:chExt cx="203" cy="135"/>
                    </a:xfrm>
                  </p:grpSpPr>
                  <p:grpSp>
                    <p:nvGrpSpPr>
                      <p:cNvPr id="642075" name="Group 27"/>
                      <p:cNvGrpSpPr/>
                      <p:nvPr/>
                    </p:nvGrpSpPr>
                    <p:grpSpPr bwMode="auto">
                      <a:xfrm>
                        <a:off x="2506" y="3042"/>
                        <a:ext cx="203" cy="89"/>
                        <a:chOff x="2506" y="3042"/>
                        <a:chExt cx="203" cy="89"/>
                      </a:xfrm>
                    </p:grpSpPr>
                    <p:grpSp>
                      <p:nvGrpSpPr>
                        <p:cNvPr id="642076"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78"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81"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2097" name="Group 49"/>
                        <p:cNvGrpSpPr/>
                        <p:nvPr/>
                      </p:nvGrpSpPr>
                      <p:grpSpPr bwMode="auto">
                        <a:xfrm>
                          <a:off x="2533" y="3064"/>
                          <a:ext cx="107" cy="50"/>
                          <a:chOff x="2533" y="3064"/>
                          <a:chExt cx="107" cy="50"/>
                        </a:xfrm>
                      </p:grpSpPr>
                      <p:grpSp>
                        <p:nvGrpSpPr>
                          <p:cNvPr id="642098"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2"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54"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56"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9"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642263" name="Group 215"/>
            <p:cNvGrpSpPr/>
            <p:nvPr/>
          </p:nvGrpSpPr>
          <p:grpSpPr bwMode="auto">
            <a:xfrm>
              <a:off x="2358" y="3018"/>
              <a:ext cx="168" cy="199"/>
              <a:chOff x="2358" y="3018"/>
              <a:chExt cx="168" cy="199"/>
            </a:xfrm>
          </p:grpSpPr>
          <p:grpSp>
            <p:nvGrpSpPr>
              <p:cNvPr id="642264" name="Group 216"/>
              <p:cNvGrpSpPr/>
              <p:nvPr/>
            </p:nvGrpSpPr>
            <p:grpSpPr bwMode="auto">
              <a:xfrm>
                <a:off x="2358" y="3075"/>
                <a:ext cx="168" cy="142"/>
                <a:chOff x="2358" y="3075"/>
                <a:chExt cx="168" cy="142"/>
              </a:xfrm>
            </p:grpSpPr>
            <p:grpSp>
              <p:nvGrpSpPr>
                <p:cNvPr id="642265"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2" name="Group 224"/>
                <p:cNvGrpSpPr/>
                <p:nvPr/>
              </p:nvGrpSpPr>
              <p:grpSpPr bwMode="auto">
                <a:xfrm>
                  <a:off x="2358" y="3075"/>
                  <a:ext cx="168" cy="142"/>
                  <a:chOff x="2358" y="3075"/>
                  <a:chExt cx="168" cy="142"/>
                </a:xfrm>
              </p:grpSpPr>
              <p:grpSp>
                <p:nvGrpSpPr>
                  <p:cNvPr id="642273"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5"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99"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305" name="Group 257"/>
              <p:cNvGrpSpPr/>
              <p:nvPr/>
            </p:nvGrpSpPr>
            <p:grpSpPr bwMode="auto">
              <a:xfrm>
                <a:off x="2398" y="3018"/>
                <a:ext cx="78" cy="88"/>
                <a:chOff x="2398" y="3018"/>
                <a:chExt cx="78" cy="88"/>
              </a:xfrm>
            </p:grpSpPr>
            <p:grpSp>
              <p:nvGrpSpPr>
                <p:cNvPr id="642306"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08" name="Group 260"/>
                  <p:cNvGrpSpPr/>
                  <p:nvPr/>
                </p:nvGrpSpPr>
                <p:grpSpPr bwMode="auto">
                  <a:xfrm>
                    <a:off x="2416" y="3061"/>
                    <a:ext cx="59" cy="45"/>
                    <a:chOff x="2416" y="3061"/>
                    <a:chExt cx="59" cy="45"/>
                  </a:xfrm>
                </p:grpSpPr>
                <p:grpSp>
                  <p:nvGrpSpPr>
                    <p:cNvPr id="642309" name="Group 261"/>
                    <p:cNvGrpSpPr/>
                    <p:nvPr/>
                  </p:nvGrpSpPr>
                  <p:grpSpPr bwMode="auto">
                    <a:xfrm>
                      <a:off x="2438" y="3061"/>
                      <a:ext cx="37" cy="15"/>
                      <a:chOff x="2438" y="3061"/>
                      <a:chExt cx="37" cy="15"/>
                    </a:xfrm>
                  </p:grpSpPr>
                  <p:grpSp>
                    <p:nvGrpSpPr>
                      <p:cNvPr id="642310"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14"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18" name="Group 270"/>
                    <p:cNvGrpSpPr/>
                    <p:nvPr/>
                  </p:nvGrpSpPr>
                  <p:grpSpPr bwMode="auto">
                    <a:xfrm>
                      <a:off x="2416" y="3070"/>
                      <a:ext cx="56" cy="36"/>
                      <a:chOff x="2416" y="3070"/>
                      <a:chExt cx="56" cy="36"/>
                    </a:xfrm>
                  </p:grpSpPr>
                  <p:grpSp>
                    <p:nvGrpSpPr>
                      <p:cNvPr id="642319"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2" name="Group 274"/>
                      <p:cNvGrpSpPr/>
                      <p:nvPr/>
                    </p:nvGrpSpPr>
                    <p:grpSpPr bwMode="auto">
                      <a:xfrm>
                        <a:off x="2416" y="3082"/>
                        <a:ext cx="51" cy="24"/>
                        <a:chOff x="2416" y="3082"/>
                        <a:chExt cx="51" cy="24"/>
                      </a:xfrm>
                    </p:grpSpPr>
                    <p:grpSp>
                      <p:nvGrpSpPr>
                        <p:cNvPr id="642323"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7"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33" name="Group 285"/>
            <p:cNvGrpSpPr/>
            <p:nvPr/>
          </p:nvGrpSpPr>
          <p:grpSpPr bwMode="auto">
            <a:xfrm>
              <a:off x="2570" y="2934"/>
              <a:ext cx="238" cy="267"/>
              <a:chOff x="2570" y="2934"/>
              <a:chExt cx="238" cy="267"/>
            </a:xfrm>
          </p:grpSpPr>
          <p:grpSp>
            <p:nvGrpSpPr>
              <p:cNvPr id="642334" name="Group 286"/>
              <p:cNvGrpSpPr/>
              <p:nvPr/>
            </p:nvGrpSpPr>
            <p:grpSpPr bwMode="auto">
              <a:xfrm>
                <a:off x="2570" y="2992"/>
                <a:ext cx="154" cy="209"/>
                <a:chOff x="2570" y="2992"/>
                <a:chExt cx="154" cy="209"/>
              </a:xfrm>
            </p:grpSpPr>
            <p:grpSp>
              <p:nvGrpSpPr>
                <p:cNvPr id="642335" name="Group 287"/>
                <p:cNvGrpSpPr/>
                <p:nvPr/>
              </p:nvGrpSpPr>
              <p:grpSpPr bwMode="auto">
                <a:xfrm>
                  <a:off x="2570" y="2992"/>
                  <a:ext cx="154" cy="209"/>
                  <a:chOff x="2570" y="2992"/>
                  <a:chExt cx="154" cy="209"/>
                </a:xfrm>
              </p:grpSpPr>
              <p:grpSp>
                <p:nvGrpSpPr>
                  <p:cNvPr id="642336" name="Group 288"/>
                  <p:cNvGrpSpPr/>
                  <p:nvPr/>
                </p:nvGrpSpPr>
                <p:grpSpPr bwMode="auto">
                  <a:xfrm>
                    <a:off x="2570" y="3112"/>
                    <a:ext cx="67" cy="89"/>
                    <a:chOff x="2570" y="3112"/>
                    <a:chExt cx="67" cy="89"/>
                  </a:xfrm>
                </p:grpSpPr>
                <p:grpSp>
                  <p:nvGrpSpPr>
                    <p:cNvPr id="642337"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44"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47"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49"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1"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5"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67"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84"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0"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7" name="Group 349"/>
              <p:cNvGrpSpPr/>
              <p:nvPr/>
            </p:nvGrpSpPr>
            <p:grpSpPr bwMode="auto">
              <a:xfrm>
                <a:off x="2624" y="2934"/>
                <a:ext cx="106" cy="87"/>
                <a:chOff x="2624" y="2934"/>
                <a:chExt cx="106" cy="87"/>
              </a:xfrm>
            </p:grpSpPr>
            <p:grpSp>
              <p:nvGrpSpPr>
                <p:cNvPr id="642398" name="Group 350"/>
                <p:cNvGrpSpPr/>
                <p:nvPr/>
              </p:nvGrpSpPr>
              <p:grpSpPr bwMode="auto">
                <a:xfrm>
                  <a:off x="2636" y="2956"/>
                  <a:ext cx="75" cy="65"/>
                  <a:chOff x="2636" y="2956"/>
                  <a:chExt cx="75" cy="65"/>
                </a:xfrm>
              </p:grpSpPr>
              <p:grpSp>
                <p:nvGrpSpPr>
                  <p:cNvPr id="642399" name="Group 351"/>
                  <p:cNvGrpSpPr/>
                  <p:nvPr/>
                </p:nvGrpSpPr>
                <p:grpSpPr bwMode="auto">
                  <a:xfrm>
                    <a:off x="2636" y="2956"/>
                    <a:ext cx="75" cy="65"/>
                    <a:chOff x="2636" y="2956"/>
                    <a:chExt cx="75" cy="65"/>
                  </a:xfrm>
                </p:grpSpPr>
                <p:grpSp>
                  <p:nvGrpSpPr>
                    <p:cNvPr id="642400"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03"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405"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410"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2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428"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432"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439"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4.3.1 </a:t>
            </a:r>
            <a:r>
              <a:rPr lang="zh-CN" altLang="en-US" sz="4400" b="1" dirty="0">
                <a:latin typeface="Times New Roman" panose="02020603050405020304" pitchFamily="18" charset="0"/>
                <a:ea typeface="隶书" panose="02010509060101010101" pitchFamily="49" charset="-122"/>
              </a:rPr>
              <a:t>构造函数</a:t>
            </a:r>
            <a:endParaRPr lang="zh-CN" altLang="en-US" sz="4400" b="1" dirty="0">
              <a:latin typeface="Times New Roman" panose="02020603050405020304" pitchFamily="18" charset="0"/>
              <a:ea typeface="隶书" panose="02010509060101010101" pitchFamily="49" charset="-122"/>
            </a:endParaRPr>
          </a:p>
        </p:txBody>
      </p:sp>
      <p:sp>
        <p:nvSpPr>
          <p:cNvPr id="34819" name="内容占位符 2"/>
          <p:cNvSpPr>
            <a:spLocks noGrp="1"/>
          </p:cNvSpPr>
          <p:nvPr>
            <p:ph idx="1"/>
          </p:nvPr>
        </p:nvSpPr>
        <p:spPr>
          <a:xfrm>
            <a:off x="628650" y="1825625"/>
            <a:ext cx="8191822" cy="4351338"/>
          </a:xfrm>
        </p:spPr>
        <p:txBody>
          <a:bodyPr/>
          <a:lstStyle/>
          <a:p>
            <a:pPr eaLnBrk="1" hangingPunct="1">
              <a:lnSpc>
                <a:spcPct val="120000"/>
              </a:lnSpc>
            </a:pPr>
            <a:r>
              <a:rPr lang="zh-CN" altLang="en-US" sz="2400" b="1" dirty="0">
                <a:solidFill>
                  <a:srgbClr val="FFFF00"/>
                </a:solidFill>
                <a:latin typeface="微软雅黑" panose="020B0503020204020204" pitchFamily="34" charset="-122"/>
                <a:ea typeface="微软雅黑" panose="020B0503020204020204" pitchFamily="34" charset="-122"/>
              </a:rPr>
              <a:t>构造函数的作用是</a:t>
            </a:r>
            <a:r>
              <a:rPr lang="zh-CN" altLang="en-US" sz="2400" b="1" dirty="0">
                <a:latin typeface="微软雅黑" panose="020B0503020204020204" pitchFamily="34" charset="-122"/>
                <a:ea typeface="微软雅黑" panose="020B0503020204020204" pitchFamily="34" charset="-122"/>
              </a:rPr>
              <a:t>在对象被创建时使用特定的值构造对象，将对象</a:t>
            </a:r>
            <a:r>
              <a:rPr lang="zh-CN" altLang="en-US" sz="2400" b="1" dirty="0">
                <a:solidFill>
                  <a:srgbClr val="FFFF00"/>
                </a:solidFill>
                <a:latin typeface="微软雅黑" panose="020B0503020204020204" pitchFamily="34" charset="-122"/>
                <a:ea typeface="微软雅黑" panose="020B0503020204020204" pitchFamily="34" charset="-122"/>
              </a:rPr>
              <a:t>初始化</a:t>
            </a:r>
            <a:r>
              <a:rPr lang="zh-CN" altLang="en-US" sz="2400" b="1" dirty="0">
                <a:latin typeface="微软雅黑" panose="020B0503020204020204" pitchFamily="34" charset="-122"/>
                <a:ea typeface="微软雅黑" panose="020B0503020204020204" pitchFamily="34" charset="-122"/>
              </a:rPr>
              <a:t>为一个特定的初始状态。</a:t>
            </a:r>
            <a:endParaRPr lang="zh-CN" altLang="en-US" sz="2400" b="1" dirty="0">
              <a:latin typeface="微软雅黑" panose="020B0503020204020204" pitchFamily="34" charset="-122"/>
              <a:ea typeface="微软雅黑" panose="020B0503020204020204" pitchFamily="34" charset="-122"/>
            </a:endParaRPr>
          </a:p>
          <a:p>
            <a:pPr eaLnBrk="1" hangingPunct="1">
              <a:lnSpc>
                <a:spcPct val="120000"/>
              </a:lnSpc>
            </a:pPr>
            <a:r>
              <a:rPr lang="zh-CN" altLang="en-US" sz="2400" b="1" dirty="0">
                <a:solidFill>
                  <a:srgbClr val="FFFF00"/>
                </a:solidFill>
                <a:latin typeface="微软雅黑" panose="020B0503020204020204" pitchFamily="34" charset="-122"/>
                <a:ea typeface="微软雅黑" panose="020B0503020204020204" pitchFamily="34" charset="-122"/>
              </a:rPr>
              <a:t>在对象创建时被自动调用</a:t>
            </a:r>
            <a:endParaRPr lang="zh-CN" altLang="en-US" sz="2400" b="1" dirty="0">
              <a:solidFill>
                <a:srgbClr val="FFFF00"/>
              </a:solidFill>
              <a:latin typeface="微软雅黑" panose="020B0503020204020204" pitchFamily="34" charset="-122"/>
              <a:ea typeface="微软雅黑" panose="020B0503020204020204" pitchFamily="34" charset="-122"/>
            </a:endParaRPr>
          </a:p>
          <a:p>
            <a:pPr eaLnBrk="1" hangingPunct="1">
              <a:lnSpc>
                <a:spcPct val="120000"/>
              </a:lnSpc>
            </a:pPr>
            <a:r>
              <a:rPr lang="zh-CN" altLang="en-US" sz="2400" b="1" dirty="0">
                <a:latin typeface="微软雅黑" panose="020B0503020204020204" pitchFamily="34" charset="-122"/>
                <a:ea typeface="微软雅黑" panose="020B0503020204020204" pitchFamily="34" charset="-122"/>
              </a:rPr>
              <a:t>如果程序中未声明，则系统自动产生出一个默认的构造函数，其参数列表为空</a:t>
            </a:r>
            <a:endParaRPr lang="zh-CN" altLang="en-US" sz="2400" b="1" dirty="0">
              <a:latin typeface="微软雅黑" panose="020B0503020204020204" pitchFamily="34" charset="-122"/>
              <a:ea typeface="微软雅黑" panose="020B0503020204020204" pitchFamily="34" charset="-122"/>
            </a:endParaRPr>
          </a:p>
          <a:p>
            <a:pPr eaLnBrk="1" hangingPunct="1">
              <a:lnSpc>
                <a:spcPct val="120000"/>
              </a:lnSpc>
            </a:pPr>
            <a:r>
              <a:rPr lang="zh-CN" altLang="en-US" sz="2400" b="1" dirty="0">
                <a:latin typeface="微软雅黑" panose="020B0503020204020204" pitchFamily="34" charset="-122"/>
                <a:ea typeface="微软雅黑" panose="020B0503020204020204" pitchFamily="34" charset="-122"/>
              </a:rPr>
              <a:t>构造函数可以是内联函数、重载函数、带默认参数值的函数</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a:xfrm>
            <a:off x="628650" y="365129"/>
            <a:ext cx="7886700" cy="903631"/>
          </a:xfrm>
        </p:spPr>
        <p:txBody>
          <a:bodyPr/>
          <a:lstStyle/>
          <a:p>
            <a:pPr algn="ctr"/>
            <a:r>
              <a:rPr lang="en-US" altLang="zh-CN" sz="4400" b="1" dirty="0">
                <a:solidFill>
                  <a:srgbClr val="FFFFFF"/>
                </a:solidFill>
                <a:latin typeface="Times New Roman" panose="02020603050405020304" pitchFamily="18" charset="0"/>
                <a:ea typeface="隶书" panose="02010509060101010101" pitchFamily="49" charset="-122"/>
              </a:rPr>
              <a:t>4.3.1 </a:t>
            </a:r>
            <a:r>
              <a:rPr lang="zh-CN" altLang="en-US" sz="4400" b="1" dirty="0">
                <a:solidFill>
                  <a:srgbClr val="FFFFFF"/>
                </a:solidFill>
                <a:latin typeface="Times New Roman" panose="02020603050405020304" pitchFamily="18" charset="0"/>
                <a:ea typeface="隶书" panose="02010509060101010101" pitchFamily="49" charset="-122"/>
              </a:rPr>
              <a:t>构造函数</a:t>
            </a:r>
            <a:endParaRPr lang="zh-CN" altLang="en-US" sz="4400" b="1" dirty="0">
              <a:latin typeface="Times New Roman" panose="02020603050405020304" pitchFamily="18" charset="0"/>
              <a:ea typeface="隶书" panose="02010509060101010101" pitchFamily="49" charset="-122"/>
            </a:endParaRPr>
          </a:p>
        </p:txBody>
      </p:sp>
      <p:sp>
        <p:nvSpPr>
          <p:cNvPr id="53253" name="Rectangle 3"/>
          <p:cNvSpPr>
            <a:spLocks noGrp="1" noChangeArrowheads="1"/>
          </p:cNvSpPr>
          <p:nvPr>
            <p:ph type="body" idx="1"/>
          </p:nvPr>
        </p:nvSpPr>
        <p:spPr>
          <a:xfrm>
            <a:off x="1370013" y="1827213"/>
            <a:ext cx="7313612" cy="1530350"/>
          </a:xfrm>
          <a:noFill/>
          <a:ln>
            <a:noFill/>
            <a:miter lim="800000"/>
          </a:ln>
        </p:spPr>
        <p:txBody>
          <a:bodyPr/>
          <a:lstStyle/>
          <a:p>
            <a:pPr eaLnBrk="1" hangingPunct="1">
              <a:lnSpc>
                <a:spcPct val="150000"/>
              </a:lnSpc>
              <a:buClr>
                <a:srgbClr val="FFC000"/>
              </a:buClr>
            </a:pPr>
            <a:r>
              <a:rPr lang="zh-CN" altLang="en-US" sz="2400" b="1" dirty="0" smtClean="0">
                <a:latin typeface="微软雅黑" panose="020B0503020204020204" pitchFamily="34" charset="-122"/>
                <a:ea typeface="微软雅黑" panose="020B0503020204020204" pitchFamily="34" charset="-122"/>
              </a:rPr>
              <a:t>构造函数的功能是在定义对象时被编译系统自动调用来创建对象并初始化对象。</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buClr>
                <a:srgbClr val="FFC000"/>
              </a:buClr>
            </a:pPr>
            <a:r>
              <a:rPr lang="zh-CN" altLang="en-US" sz="2400" b="1" dirty="0" smtClean="0">
                <a:latin typeface="微软雅黑" panose="020B0503020204020204" pitchFamily="34" charset="-122"/>
                <a:ea typeface="微软雅黑" panose="020B0503020204020204" pitchFamily="34" charset="-122"/>
              </a:rPr>
              <a:t>其定义格式如下：</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buClr>
                <a:srgbClr val="FFC000"/>
              </a:buClr>
            </a:pPr>
            <a:endParaRPr lang="en-US" altLang="zh-CN" sz="2400" b="1" dirty="0" smtClean="0">
              <a:latin typeface="微软雅黑" panose="020B0503020204020204" pitchFamily="34" charset="-122"/>
              <a:ea typeface="微软雅黑" panose="020B0503020204020204" pitchFamily="34" charset="-122"/>
            </a:endParaRPr>
          </a:p>
        </p:txBody>
      </p:sp>
      <p:sp>
        <p:nvSpPr>
          <p:cNvPr id="53254" name="Text Box 4"/>
          <p:cNvSpPr txBox="1">
            <a:spLocks noChangeArrowheads="1"/>
          </p:cNvSpPr>
          <p:nvPr/>
        </p:nvSpPr>
        <p:spPr bwMode="auto">
          <a:xfrm>
            <a:off x="1403350" y="3789363"/>
            <a:ext cx="7272338" cy="1681162"/>
          </a:xfrm>
          <a:prstGeom prst="rect">
            <a:avLst/>
          </a:prstGeom>
          <a:solidFill>
            <a:srgbClr val="FFFFFF"/>
          </a:solidFill>
          <a:ln w="9525">
            <a:solidFill>
              <a:srgbClr val="000000"/>
            </a:solidFill>
            <a:miter lim="800000"/>
          </a:ln>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zh-CN" altLang="en-US" dirty="0">
                <a:solidFill>
                  <a:srgbClr val="0000FF"/>
                </a:solidFill>
              </a:rPr>
              <a:t>类名</a:t>
            </a:r>
            <a:r>
              <a:rPr kumimoji="0" lang="en-US" altLang="zh-CN" dirty="0">
                <a:solidFill>
                  <a:srgbClr val="0000FF"/>
                </a:solidFill>
              </a:rPr>
              <a:t>::</a:t>
            </a:r>
            <a:r>
              <a:rPr kumimoji="0" lang="zh-CN" altLang="en-US" dirty="0">
                <a:solidFill>
                  <a:srgbClr val="0000FF"/>
                </a:solidFill>
              </a:rPr>
              <a:t>类名</a:t>
            </a:r>
            <a:r>
              <a:rPr kumimoji="0" lang="en-US" altLang="zh-CN" dirty="0">
                <a:solidFill>
                  <a:srgbClr val="0000FF"/>
                </a:solidFill>
              </a:rPr>
              <a:t>(</a:t>
            </a:r>
            <a:r>
              <a:rPr kumimoji="0" lang="zh-CN" altLang="en-US" dirty="0">
                <a:solidFill>
                  <a:srgbClr val="0000FF"/>
                </a:solidFill>
              </a:rPr>
              <a:t>参数表</a:t>
            </a:r>
            <a:r>
              <a:rPr kumimoji="0" lang="en-US" altLang="zh-CN" dirty="0">
                <a:solidFill>
                  <a:srgbClr val="0000FF"/>
                </a:solidFill>
              </a:rPr>
              <a:t>)</a:t>
            </a:r>
            <a:endParaRPr kumimoji="0" lang="en-US" altLang="zh-CN" dirty="0">
              <a:solidFill>
                <a:srgbClr val="0000FF"/>
              </a:solidFill>
            </a:endParaRPr>
          </a:p>
          <a:p>
            <a:pPr algn="l" eaLnBrk="1" hangingPunct="1">
              <a:lnSpc>
                <a:spcPct val="100000"/>
              </a:lnSpc>
              <a:spcBef>
                <a:spcPct val="0"/>
              </a:spcBef>
            </a:pPr>
            <a:r>
              <a:rPr kumimoji="0" lang="en-US" altLang="zh-CN" dirty="0">
                <a:solidFill>
                  <a:srgbClr val="0000FF"/>
                </a:solidFill>
              </a:rPr>
              <a:t>{</a:t>
            </a:r>
            <a:endParaRPr kumimoji="0" lang="en-US" altLang="zh-CN" dirty="0">
              <a:solidFill>
                <a:srgbClr val="0000FF"/>
              </a:solidFill>
            </a:endParaRPr>
          </a:p>
          <a:p>
            <a:pPr algn="l" eaLnBrk="1" hangingPunct="1">
              <a:lnSpc>
                <a:spcPct val="100000"/>
              </a:lnSpc>
              <a:spcBef>
                <a:spcPct val="0"/>
              </a:spcBef>
            </a:pPr>
            <a:r>
              <a:rPr kumimoji="0" lang="zh-CN" altLang="en-US" dirty="0">
                <a:solidFill>
                  <a:srgbClr val="0000FF"/>
                </a:solidFill>
              </a:rPr>
              <a:t>　　函数体</a:t>
            </a:r>
            <a:endParaRPr kumimoji="0" lang="zh-CN" altLang="en-US" dirty="0">
              <a:solidFill>
                <a:srgbClr val="0000FF"/>
              </a:solidFill>
            </a:endParaRPr>
          </a:p>
          <a:p>
            <a:pPr algn="l" eaLnBrk="1" hangingPunct="1">
              <a:lnSpc>
                <a:spcPct val="100000"/>
              </a:lnSpc>
              <a:spcBef>
                <a:spcPct val="0"/>
              </a:spcBef>
            </a:pPr>
            <a:r>
              <a:rPr kumimoji="0" lang="en-US" altLang="zh-CN" dirty="0">
                <a:solidFill>
                  <a:srgbClr val="0000FF"/>
                </a:solidFill>
              </a:rPr>
              <a:t>}</a:t>
            </a:r>
            <a:endParaRPr kumimoji="0" lang="en-US" altLang="zh-CN" dirty="0">
              <a:solidFill>
                <a:srgbClr val="0000FF"/>
              </a:solidFill>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3"/>
          <p:cNvSpPr>
            <a:spLocks noGrp="1" noChangeArrowheads="1"/>
          </p:cNvSpPr>
          <p:nvPr>
            <p:ph type="body" idx="1"/>
          </p:nvPr>
        </p:nvSpPr>
        <p:spPr>
          <a:xfrm>
            <a:off x="590550" y="1274117"/>
            <a:ext cx="8229600" cy="4963195"/>
          </a:xfrm>
          <a:noFill/>
          <a:ln>
            <a:noFill/>
            <a:miter lim="800000"/>
          </a:ln>
        </p:spPr>
        <p:txBody>
          <a:bodyPr/>
          <a:lstStyle/>
          <a:p>
            <a:pPr eaLnBrk="1" hangingPunct="1">
              <a:buClr>
                <a:srgbClr val="FFC00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构造函数是成员函数</a:t>
            </a:r>
            <a:r>
              <a:rPr lang="zh-CN" altLang="en-US" sz="2400" b="1" dirty="0" smtClean="0">
                <a:latin typeface="微软雅黑" panose="020B0503020204020204" pitchFamily="34" charset="-122"/>
                <a:ea typeface="微软雅黑" panose="020B0503020204020204" pitchFamily="34" charset="-122"/>
              </a:rPr>
              <a:t>，函数体可写在类体内，也可写在类体外。</a:t>
            </a:r>
            <a:endParaRPr lang="zh-CN" altLang="en-US" sz="2400" b="1" dirty="0" smtClean="0">
              <a:latin typeface="微软雅黑" panose="020B0503020204020204" pitchFamily="34" charset="-122"/>
              <a:ea typeface="微软雅黑" panose="020B0503020204020204" pitchFamily="34" charset="-122"/>
            </a:endParaRPr>
          </a:p>
          <a:p>
            <a:pPr eaLnBrk="1" hangingPunct="1">
              <a:buClr>
                <a:srgbClr val="FFC00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构造函数的函数名与类名相同，且不指定返回值类型，</a:t>
            </a:r>
            <a:r>
              <a:rPr lang="zh-CN" altLang="en-US" sz="2400" b="1" dirty="0" smtClean="0">
                <a:latin typeface="微软雅黑" panose="020B0503020204020204" pitchFamily="34" charset="-122"/>
                <a:ea typeface="微软雅黑" panose="020B0503020204020204" pitchFamily="34" charset="-122"/>
              </a:rPr>
              <a:t>它有隐含的返回值，该值由编译系统内部使用。</a:t>
            </a:r>
            <a:endParaRPr lang="zh-CN" altLang="en-US" sz="2400" b="1" dirty="0" smtClean="0">
              <a:latin typeface="微软雅黑" panose="020B0503020204020204" pitchFamily="34" charset="-122"/>
              <a:ea typeface="微软雅黑" panose="020B0503020204020204" pitchFamily="34" charset="-122"/>
            </a:endParaRPr>
          </a:p>
          <a:p>
            <a:pPr eaLnBrk="1" hangingPunct="1">
              <a:buClr>
                <a:srgbClr val="FFC00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构造函数</a:t>
            </a:r>
            <a:r>
              <a:rPr lang="zh-CN" altLang="en-US" sz="2400" b="1" dirty="0" smtClean="0">
                <a:latin typeface="微软雅黑" panose="020B0503020204020204" pitchFamily="34" charset="-122"/>
                <a:ea typeface="微软雅黑" panose="020B0503020204020204" pitchFamily="34" charset="-122"/>
              </a:rPr>
              <a:t>可以没有参数，也可以有参数，因此</a:t>
            </a:r>
            <a:r>
              <a:rPr lang="zh-CN" altLang="en-US" sz="2400" b="1" u="sng" dirty="0" smtClean="0">
                <a:solidFill>
                  <a:srgbClr val="FFFF00"/>
                </a:solidFill>
                <a:latin typeface="微软雅黑" panose="020B0503020204020204" pitchFamily="34" charset="-122"/>
                <a:ea typeface="微软雅黑" panose="020B0503020204020204" pitchFamily="34" charset="-122"/>
              </a:rPr>
              <a:t>可以重载</a:t>
            </a:r>
            <a:r>
              <a:rPr lang="zh-CN" altLang="en-US" sz="2400" b="1" dirty="0" smtClean="0">
                <a:latin typeface="微软雅黑" panose="020B0503020204020204" pitchFamily="34" charset="-122"/>
                <a:ea typeface="微软雅黑" panose="020B0503020204020204" pitchFamily="34" charset="-122"/>
              </a:rPr>
              <a:t>，即可以定义参数不同的多个构造函数。</a:t>
            </a:r>
            <a:endParaRPr lang="zh-CN" altLang="en-US" sz="2400" b="1" dirty="0" smtClean="0">
              <a:latin typeface="微软雅黑" panose="020B0503020204020204" pitchFamily="34" charset="-122"/>
              <a:ea typeface="微软雅黑" panose="020B0503020204020204" pitchFamily="34" charset="-122"/>
            </a:endParaRPr>
          </a:p>
          <a:p>
            <a:pPr eaLnBrk="1" hangingPunct="1">
              <a:buClr>
                <a:srgbClr val="FFC00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每个类都必须有一个构造函数</a:t>
            </a:r>
            <a:r>
              <a:rPr lang="zh-CN" altLang="en-US" sz="2400" b="1" dirty="0" smtClean="0">
                <a:latin typeface="微软雅黑" panose="020B0503020204020204" pitchFamily="34" charset="-122"/>
                <a:ea typeface="微软雅黑" panose="020B0503020204020204" pitchFamily="34" charset="-122"/>
              </a:rPr>
              <a:t>。如果类中没有显式定义构造函数，则编译系统自动生成一个缺省形式的构造函数，作为该类的公有成员。</a:t>
            </a:r>
            <a:endParaRPr lang="zh-CN" altLang="en-US" sz="2400" b="1" dirty="0" smtClean="0">
              <a:latin typeface="微软雅黑" panose="020B0503020204020204" pitchFamily="34" charset="-122"/>
              <a:ea typeface="微软雅黑" panose="020B0503020204020204" pitchFamily="34" charset="-122"/>
            </a:endParaRPr>
          </a:p>
          <a:p>
            <a:pPr eaLnBrk="1" hangingPunct="1">
              <a:buClr>
                <a:srgbClr val="FFC00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在定义对象时</a:t>
            </a:r>
            <a:r>
              <a:rPr lang="zh-CN" altLang="en-US" sz="2400" b="1" u="sng" dirty="0" smtClean="0">
                <a:solidFill>
                  <a:srgbClr val="FFFF00"/>
                </a:solidFill>
                <a:latin typeface="微软雅黑" panose="020B0503020204020204" pitchFamily="34" charset="-122"/>
                <a:ea typeface="微软雅黑" panose="020B0503020204020204" pitchFamily="34" charset="-122"/>
              </a:rPr>
              <a:t>编译系统自动调用构造函数</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50000"/>
              </a:lnSpc>
              <a:buClr>
                <a:srgbClr val="FFC00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如果显式定义了构造函数，则默认构造函数将不存在</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p:txBody>
      </p:sp>
      <p:sp>
        <p:nvSpPr>
          <p:cNvPr id="59397" name="Rectangle 4"/>
          <p:cNvSpPr>
            <a:spLocks noChangeArrowheads="1"/>
          </p:cNvSpPr>
          <p:nvPr/>
        </p:nvSpPr>
        <p:spPr bwMode="auto">
          <a:xfrm>
            <a:off x="1373188" y="404664"/>
            <a:ext cx="7313612" cy="50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lvl="0" eaLnBrk="1" hangingPunct="1"/>
            <a:r>
              <a:rPr lang="en-US" altLang="zh-CN" sz="4400" i="1" dirty="0">
                <a:solidFill>
                  <a:srgbClr val="FFFFFF"/>
                </a:solidFill>
                <a:effectLst>
                  <a:outerShdw blurRad="38100" dist="38100" dir="2700000" algn="tl">
                    <a:srgbClr val="000000"/>
                  </a:outerShdw>
                </a:effectLst>
                <a:ea typeface="隶书" panose="02010509060101010101" pitchFamily="49" charset="-122"/>
                <a:cs typeface="+mj-cs"/>
              </a:rPr>
              <a:t>4.3.1 </a:t>
            </a:r>
            <a:r>
              <a:rPr lang="zh-CN" altLang="en-US" sz="4400" i="1" dirty="0">
                <a:solidFill>
                  <a:srgbClr val="FFFFFF"/>
                </a:solidFill>
                <a:effectLst>
                  <a:outerShdw blurRad="38100" dist="38100" dir="2700000" algn="tl">
                    <a:srgbClr val="000000"/>
                  </a:outerShdw>
                </a:effectLst>
                <a:ea typeface="隶书" panose="02010509060101010101" pitchFamily="49" charset="-122"/>
                <a:cs typeface="+mj-cs"/>
              </a:rPr>
              <a:t>构造函数</a:t>
            </a:r>
            <a:endParaRPr lang="zh-CN" altLang="en-US" sz="4400" i="1" dirty="0">
              <a:solidFill>
                <a:srgbClr val="FFFFFF"/>
              </a:solidFill>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Text Box 5"/>
          <p:cNvSpPr txBox="1">
            <a:spLocks noChangeArrowheads="1"/>
          </p:cNvSpPr>
          <p:nvPr/>
        </p:nvSpPr>
        <p:spPr bwMode="auto">
          <a:xfrm>
            <a:off x="1343154" y="2218985"/>
            <a:ext cx="7272337" cy="1681163"/>
          </a:xfrm>
          <a:prstGeom prst="rect">
            <a:avLst/>
          </a:prstGeom>
          <a:solidFill>
            <a:srgbClr val="FFFFFF"/>
          </a:solidFill>
          <a:ln w="9525">
            <a:solidFill>
              <a:srgbClr val="000000"/>
            </a:solidFill>
            <a:miter lim="800000"/>
          </a:ln>
        </p:spPr>
        <p:txBody>
          <a:bodyPr/>
          <a:lstStyle>
            <a:lvl1pPr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00000"/>
              </a:lnSpc>
              <a:spcBef>
                <a:spcPct val="0"/>
              </a:spcBef>
            </a:pPr>
            <a:r>
              <a:rPr kumimoji="0" lang="zh-CN" altLang="en-US">
                <a:solidFill>
                  <a:srgbClr val="2F2FC5"/>
                </a:solidFill>
              </a:rPr>
              <a:t>类名</a:t>
            </a:r>
            <a:r>
              <a:rPr kumimoji="0" lang="en-US" altLang="zh-CN">
                <a:solidFill>
                  <a:srgbClr val="2F2FC5"/>
                </a:solidFill>
              </a:rPr>
              <a:t>::</a:t>
            </a:r>
            <a:r>
              <a:rPr kumimoji="0" lang="zh-CN" altLang="en-US">
                <a:solidFill>
                  <a:srgbClr val="2F2FC5"/>
                </a:solidFill>
              </a:rPr>
              <a:t>类名</a:t>
            </a:r>
            <a:r>
              <a:rPr kumimoji="0" lang="en-US" altLang="zh-CN">
                <a:solidFill>
                  <a:srgbClr val="2F2FC5"/>
                </a:solidFill>
              </a:rPr>
              <a:t>(</a:t>
            </a:r>
            <a:r>
              <a:rPr kumimoji="0" lang="zh-CN" altLang="en-US">
                <a:solidFill>
                  <a:srgbClr val="2F2FC5"/>
                </a:solidFill>
              </a:rPr>
              <a:t>参数表</a:t>
            </a:r>
            <a:r>
              <a:rPr kumimoji="0" lang="en-US" altLang="zh-CN">
                <a:solidFill>
                  <a:srgbClr val="2F2FC5"/>
                </a:solidFill>
              </a:rPr>
              <a:t>)【:</a:t>
            </a:r>
            <a:r>
              <a:rPr kumimoji="0" lang="zh-CN" altLang="en-US">
                <a:solidFill>
                  <a:srgbClr val="2F2FC5"/>
                </a:solidFill>
              </a:rPr>
              <a:t>数据成员名</a:t>
            </a:r>
            <a:r>
              <a:rPr kumimoji="0" lang="en-US" altLang="zh-CN">
                <a:solidFill>
                  <a:srgbClr val="2F2FC5"/>
                </a:solidFill>
              </a:rPr>
              <a:t>1(</a:t>
            </a:r>
            <a:r>
              <a:rPr kumimoji="0" lang="zh-CN" altLang="en-US">
                <a:solidFill>
                  <a:srgbClr val="2F2FC5"/>
                </a:solidFill>
              </a:rPr>
              <a:t>初始值</a:t>
            </a:r>
            <a:r>
              <a:rPr kumimoji="0" lang="en-US" altLang="zh-CN">
                <a:solidFill>
                  <a:srgbClr val="2F2FC5"/>
                </a:solidFill>
              </a:rPr>
              <a:t>1)…】</a:t>
            </a:r>
            <a:endParaRPr kumimoji="0" lang="en-US" altLang="zh-CN">
              <a:solidFill>
                <a:srgbClr val="2F2FC5"/>
              </a:solidFill>
            </a:endParaRPr>
          </a:p>
          <a:p>
            <a:pPr algn="l" eaLnBrk="1" hangingPunct="1">
              <a:lnSpc>
                <a:spcPct val="100000"/>
              </a:lnSpc>
              <a:spcBef>
                <a:spcPct val="0"/>
              </a:spcBef>
            </a:pPr>
            <a:r>
              <a:rPr kumimoji="0" lang="en-US" altLang="zh-CN">
                <a:solidFill>
                  <a:srgbClr val="2F2FC5"/>
                </a:solidFill>
              </a:rPr>
              <a:t>{</a:t>
            </a:r>
            <a:endParaRPr kumimoji="0" lang="en-US" altLang="zh-CN">
              <a:solidFill>
                <a:srgbClr val="2F2FC5"/>
              </a:solidFill>
            </a:endParaRPr>
          </a:p>
          <a:p>
            <a:pPr algn="l" eaLnBrk="1" hangingPunct="1">
              <a:lnSpc>
                <a:spcPct val="100000"/>
              </a:lnSpc>
              <a:spcBef>
                <a:spcPct val="0"/>
              </a:spcBef>
            </a:pPr>
            <a:r>
              <a:rPr kumimoji="0" lang="zh-CN" altLang="en-US">
                <a:solidFill>
                  <a:srgbClr val="2F2FC5"/>
                </a:solidFill>
              </a:rPr>
              <a:t>　　</a:t>
            </a:r>
            <a:r>
              <a:rPr kumimoji="0" lang="en-US" altLang="zh-CN">
                <a:solidFill>
                  <a:srgbClr val="2F2FC5"/>
                </a:solidFill>
              </a:rPr>
              <a:t>//</a:t>
            </a:r>
            <a:r>
              <a:rPr kumimoji="0" lang="zh-CN" altLang="en-US">
                <a:solidFill>
                  <a:srgbClr val="2F2FC5"/>
                </a:solidFill>
              </a:rPr>
              <a:t>构造函数体</a:t>
            </a:r>
            <a:endParaRPr kumimoji="0" lang="zh-CN" altLang="en-US">
              <a:solidFill>
                <a:srgbClr val="2F2FC5"/>
              </a:solidFill>
            </a:endParaRPr>
          </a:p>
          <a:p>
            <a:pPr algn="l" eaLnBrk="1" hangingPunct="1">
              <a:lnSpc>
                <a:spcPct val="100000"/>
              </a:lnSpc>
              <a:spcBef>
                <a:spcPct val="0"/>
              </a:spcBef>
            </a:pPr>
            <a:r>
              <a:rPr kumimoji="0" lang="en-US" altLang="zh-CN">
                <a:solidFill>
                  <a:srgbClr val="2F2FC5"/>
                </a:solidFill>
              </a:rPr>
              <a:t>}</a:t>
            </a:r>
            <a:endParaRPr kumimoji="0" lang="en-US" altLang="zh-CN">
              <a:solidFill>
                <a:srgbClr val="2F2FC5"/>
              </a:solidFill>
            </a:endParaRPr>
          </a:p>
        </p:txBody>
      </p:sp>
      <p:sp>
        <p:nvSpPr>
          <p:cNvPr id="4" name="Rectangle 3"/>
          <p:cNvSpPr>
            <a:spLocks noGrp="1" noChangeArrowheads="1"/>
          </p:cNvSpPr>
          <p:nvPr>
            <p:ph type="title"/>
          </p:nvPr>
        </p:nvSpPr>
        <p:spPr>
          <a:xfrm>
            <a:off x="523875" y="620688"/>
            <a:ext cx="8080375" cy="58578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400" b="1" dirty="0">
                <a:latin typeface="Times New Roman" panose="02020603050405020304" pitchFamily="18" charset="0"/>
                <a:ea typeface="隶书" panose="02010509060101010101" pitchFamily="49" charset="-122"/>
              </a:rPr>
              <a:t>4.3.1 </a:t>
            </a:r>
            <a:r>
              <a:rPr lang="zh-CN" altLang="en-US" sz="4400" b="1" dirty="0">
                <a:latin typeface="Times New Roman" panose="02020603050405020304" pitchFamily="18" charset="0"/>
                <a:ea typeface="隶书" panose="02010509060101010101" pitchFamily="49" charset="-122"/>
              </a:rPr>
              <a:t>构造</a:t>
            </a:r>
            <a:r>
              <a:rPr lang="zh-CN" altLang="en-US" sz="4400" b="1" dirty="0" smtClean="0">
                <a:latin typeface="Times New Roman" panose="02020603050405020304" pitchFamily="18" charset="0"/>
                <a:ea typeface="隶书" panose="02010509060101010101" pitchFamily="49" charset="-122"/>
              </a:rPr>
              <a:t>函数</a:t>
            </a:r>
            <a:r>
              <a:rPr lang="en-US" altLang="zh-CN" sz="4400" b="1" dirty="0">
                <a:latin typeface="Times New Roman" panose="02020603050405020304" pitchFamily="18" charset="0"/>
                <a:ea typeface="隶书" panose="02010509060101010101" pitchFamily="49" charset="-122"/>
              </a:rPr>
              <a:t>——</a:t>
            </a:r>
            <a:r>
              <a:rPr lang="zh-CN" altLang="en-US" sz="4400" b="1" dirty="0">
                <a:latin typeface="Times New Roman" panose="02020603050405020304" pitchFamily="18" charset="0"/>
                <a:ea typeface="隶书" panose="02010509060101010101" pitchFamily="49" charset="-122"/>
              </a:rPr>
              <a:t>初始值列表</a:t>
            </a:r>
            <a:endParaRPr lang="zh-CN" altLang="en-US" sz="4400" b="1" dirty="0">
              <a:latin typeface="Times New Roman" panose="02020603050405020304" pitchFamily="18" charset="0"/>
              <a:ea typeface="隶书" panose="02010509060101010101" pitchFamily="49" charset="-122"/>
            </a:endParaRPr>
          </a:p>
        </p:txBody>
      </p:sp>
      <p:sp>
        <p:nvSpPr>
          <p:cNvPr id="2" name="矩形 1"/>
          <p:cNvSpPr/>
          <p:nvPr/>
        </p:nvSpPr>
        <p:spPr>
          <a:xfrm>
            <a:off x="1105485" y="1484784"/>
            <a:ext cx="7725192" cy="523220"/>
          </a:xfrm>
          <a:prstGeom prst="rect">
            <a:avLst/>
          </a:prstGeom>
        </p:spPr>
        <p:txBody>
          <a:bodyPr wrap="none">
            <a:spAutoFit/>
          </a:bodyPr>
          <a:lstStyle/>
          <a:p>
            <a:r>
              <a:rPr lang="zh-CN" altLang="en-US" sz="2800" b="1" dirty="0" smtClean="0">
                <a:latin typeface="微软雅黑" panose="020B0503020204020204" pitchFamily="34" charset="-122"/>
                <a:ea typeface="微软雅黑" panose="020B0503020204020204" pitchFamily="34" charset="-122"/>
              </a:rPr>
              <a:t>在构造函数中对类成员初始化的方式如下所示：</a:t>
            </a:r>
            <a:endParaRPr lang="zh-CN" altLang="en-US" sz="2800" b="1" dirty="0">
              <a:latin typeface="微软雅黑" panose="020B0503020204020204" pitchFamily="34" charset="-122"/>
              <a:ea typeface="微软雅黑" panose="020B0503020204020204" pitchFamily="34" charset="-122"/>
            </a:endParaRPr>
          </a:p>
        </p:txBody>
      </p:sp>
      <p:sp>
        <p:nvSpPr>
          <p:cNvPr id="3" name="矩形 2"/>
          <p:cNvSpPr/>
          <p:nvPr/>
        </p:nvSpPr>
        <p:spPr>
          <a:xfrm>
            <a:off x="1105485" y="4077072"/>
            <a:ext cx="7498765" cy="2271391"/>
          </a:xfrm>
          <a:prstGeom prst="rect">
            <a:avLst/>
          </a:prstGeom>
        </p:spPr>
        <p:txBody>
          <a:bodyPr wrap="square">
            <a:spAutoFit/>
          </a:bodyPr>
          <a:lstStyle/>
          <a:p>
            <a:pPr marL="0" lvl="1" algn="l" eaLnBrk="1" hangingPunct="1">
              <a:lnSpc>
                <a:spcPct val="135000"/>
              </a:lnSpc>
              <a:spcBef>
                <a:spcPct val="25000"/>
              </a:spcBef>
              <a:buClr>
                <a:srgbClr val="00FF00"/>
              </a:buClr>
              <a:buSzPct val="75000"/>
            </a:pPr>
            <a:r>
              <a:rPr lang="zh-CN" altLang="en-US" b="1" dirty="0" smtClean="0">
                <a:solidFill>
                  <a:srgbClr val="FFFF00"/>
                </a:solidFill>
                <a:latin typeface="微软雅黑" panose="020B0503020204020204" pitchFamily="34" charset="-122"/>
                <a:ea typeface="微软雅黑" panose="020B0503020204020204" pitchFamily="34" charset="-122"/>
              </a:rPr>
              <a:t>注意：</a:t>
            </a:r>
            <a:endParaRPr lang="en-US" altLang="zh-CN" b="1" dirty="0" smtClean="0">
              <a:solidFill>
                <a:srgbClr val="FFFF00"/>
              </a:solidFill>
              <a:latin typeface="微软雅黑" panose="020B0503020204020204" pitchFamily="34" charset="-122"/>
              <a:ea typeface="微软雅黑" panose="020B0503020204020204" pitchFamily="34" charset="-122"/>
            </a:endParaRPr>
          </a:p>
          <a:p>
            <a:pPr lvl="1" indent="-457200" algn="l" eaLnBrk="1" hangingPunct="1">
              <a:lnSpc>
                <a:spcPct val="135000"/>
              </a:lnSpc>
              <a:spcBef>
                <a:spcPct val="25000"/>
              </a:spcBef>
              <a:buClr>
                <a:srgbClr val="00B0F0"/>
              </a:buClr>
              <a:buSzPct val="75000"/>
              <a:buFont typeface="+mj-ea"/>
              <a:buAutoNum type="circleNumDbPlain"/>
            </a:pPr>
            <a:r>
              <a:rPr lang="zh-CN" altLang="en-US" b="1" dirty="0" smtClean="0">
                <a:solidFill>
                  <a:srgbClr val="FFFF00"/>
                </a:solidFill>
                <a:latin typeface="微软雅黑" panose="020B0503020204020204" pitchFamily="34" charset="-122"/>
                <a:ea typeface="微软雅黑" panose="020B0503020204020204" pitchFamily="34" charset="-122"/>
              </a:rPr>
              <a:t>成员</a:t>
            </a:r>
            <a:r>
              <a:rPr lang="zh-CN" altLang="en-US" b="1" dirty="0">
                <a:solidFill>
                  <a:srgbClr val="FFFF00"/>
                </a:solidFill>
                <a:latin typeface="微软雅黑" panose="020B0503020204020204" pitchFamily="34" charset="-122"/>
                <a:ea typeface="微软雅黑" panose="020B0503020204020204" pitchFamily="34" charset="-122"/>
              </a:rPr>
              <a:t>初始化顺序与它们在类定义中的出现顺序</a:t>
            </a:r>
            <a:r>
              <a:rPr lang="zh-CN" altLang="en-US" b="1" dirty="0" smtClean="0">
                <a:solidFill>
                  <a:srgbClr val="FFFF00"/>
                </a:solidFill>
                <a:latin typeface="微软雅黑" panose="020B0503020204020204" pitchFamily="34" charset="-122"/>
                <a:ea typeface="微软雅黑" panose="020B0503020204020204" pitchFamily="34" charset="-122"/>
              </a:rPr>
              <a:t>一致，而不是在初始值中出现的顺序！</a:t>
            </a:r>
            <a:endParaRPr lang="en-US" altLang="zh-CN" b="1" dirty="0" smtClean="0">
              <a:solidFill>
                <a:srgbClr val="FFFF00"/>
              </a:solidFill>
              <a:latin typeface="微软雅黑" panose="020B0503020204020204" pitchFamily="34" charset="-122"/>
              <a:ea typeface="微软雅黑" panose="020B0503020204020204" pitchFamily="34" charset="-122"/>
            </a:endParaRPr>
          </a:p>
          <a:p>
            <a:pPr lvl="1" indent="-457200" algn="l" eaLnBrk="1" hangingPunct="1">
              <a:lnSpc>
                <a:spcPct val="135000"/>
              </a:lnSpc>
              <a:spcBef>
                <a:spcPct val="25000"/>
              </a:spcBef>
              <a:buClr>
                <a:srgbClr val="00B0F0"/>
              </a:buClr>
              <a:buSzPct val="75000"/>
              <a:buFont typeface="+mj-ea"/>
              <a:buAutoNum type="circleNumDbPlain"/>
            </a:pPr>
            <a:r>
              <a:rPr lang="en-US" altLang="zh-CN" b="1" dirty="0" err="1" smtClean="0">
                <a:solidFill>
                  <a:srgbClr val="FFFF00"/>
                </a:solidFill>
                <a:latin typeface="微软雅黑" panose="020B0503020204020204" pitchFamily="34" charset="-122"/>
                <a:ea typeface="微软雅黑" panose="020B0503020204020204" pitchFamily="34" charset="-122"/>
              </a:rPr>
              <a:t>const</a:t>
            </a:r>
            <a:r>
              <a:rPr lang="zh-CN" altLang="en-US" b="1" dirty="0" smtClean="0">
                <a:solidFill>
                  <a:srgbClr val="FFFF00"/>
                </a:solidFill>
                <a:latin typeface="微软雅黑" panose="020B0503020204020204" pitchFamily="34" charset="-122"/>
                <a:ea typeface="微软雅黑" panose="020B0503020204020204" pitchFamily="34" charset="-122"/>
              </a:rPr>
              <a:t>成员或引用成员必须将其初始化！</a:t>
            </a:r>
            <a:endParaRPr lang="en-US" altLang="zh-CN"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构造函数举例</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solidFill>
            <a:schemeClr val="tx1"/>
          </a:solidFill>
        </p:spPr>
        <p:txBody>
          <a:bodyPr/>
          <a:lstStyle/>
          <a:p>
            <a:pPr marL="0" indent="0">
              <a:spcBef>
                <a:spcPts val="0"/>
              </a:spcBef>
              <a:buNone/>
            </a:pPr>
            <a:r>
              <a:rPr lang="en-US" altLang="zh-CN" sz="2800" b="1" dirty="0">
                <a:solidFill>
                  <a:srgbClr val="000000"/>
                </a:solidFill>
                <a:ea typeface="+mj-ea"/>
              </a:rPr>
              <a:t>class Clock {</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public:</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a:t>
            </a:r>
            <a:r>
              <a:rPr lang="zh-CN" altLang="en-US" sz="2800" b="1" dirty="0">
                <a:solidFill>
                  <a:srgbClr val="000000"/>
                </a:solidFill>
                <a:ea typeface="+mj-ea"/>
              </a:rPr>
              <a:t>构造函数</a:t>
            </a:r>
            <a:endParaRPr lang="zh-CN" altLang="en-US" sz="2800" b="1" dirty="0">
              <a:solidFill>
                <a:srgbClr val="000000"/>
              </a:solidFill>
              <a:ea typeface="+mj-ea"/>
            </a:endParaRPr>
          </a:p>
          <a:p>
            <a:pPr marL="0" indent="0">
              <a:spcBef>
                <a:spcPts val="0"/>
              </a:spcBef>
              <a:buNone/>
            </a:pPr>
            <a:r>
              <a:rPr lang="en-US" altLang="zh-CN" sz="2800" b="1" dirty="0" smtClean="0">
                <a:solidFill>
                  <a:srgbClr val="000000"/>
                </a:solidFill>
                <a:ea typeface="+mj-ea"/>
              </a:rPr>
              <a:t>          Clock(</a:t>
            </a:r>
            <a:r>
              <a:rPr lang="en-US" altLang="zh-CN" sz="2800" b="1" dirty="0" err="1" smtClean="0">
                <a:solidFill>
                  <a:srgbClr val="000000"/>
                </a:solidFill>
                <a:ea typeface="+mj-ea"/>
              </a:rPr>
              <a:t>int</a:t>
            </a:r>
            <a:r>
              <a:rPr lang="en-US" altLang="zh-CN" sz="2800" b="1" dirty="0" smtClean="0">
                <a:solidFill>
                  <a:srgbClr val="000000"/>
                </a:solidFill>
                <a:ea typeface="+mj-ea"/>
              </a:rPr>
              <a:t> </a:t>
            </a:r>
            <a:r>
              <a:rPr lang="en-US" altLang="zh-CN" sz="2800" b="1" dirty="0" err="1">
                <a:solidFill>
                  <a:srgbClr val="000000"/>
                </a:solidFill>
                <a:ea typeface="+mj-ea"/>
              </a:rPr>
              <a:t>newH,int</a:t>
            </a:r>
            <a:r>
              <a:rPr lang="en-US" altLang="zh-CN" sz="2800" b="1" dirty="0">
                <a:solidFill>
                  <a:srgbClr val="000000"/>
                </a:solidFill>
                <a:ea typeface="+mj-ea"/>
              </a:rPr>
              <a:t> </a:t>
            </a:r>
            <a:r>
              <a:rPr lang="en-US" altLang="zh-CN" sz="2800" b="1" dirty="0" err="1">
                <a:solidFill>
                  <a:srgbClr val="000000"/>
                </a:solidFill>
                <a:ea typeface="+mj-ea"/>
              </a:rPr>
              <a:t>newM,int</a:t>
            </a:r>
            <a:r>
              <a:rPr lang="en-US" altLang="zh-CN" sz="2800" b="1" dirty="0">
                <a:solidFill>
                  <a:srgbClr val="000000"/>
                </a:solidFill>
                <a:ea typeface="+mj-ea"/>
              </a:rPr>
              <a:t> </a:t>
            </a:r>
            <a:r>
              <a:rPr lang="en-US" altLang="zh-CN" sz="2800" b="1" dirty="0" err="1">
                <a:solidFill>
                  <a:srgbClr val="000000"/>
                </a:solidFill>
                <a:ea typeface="+mj-ea"/>
              </a:rPr>
              <a:t>newS</a:t>
            </a:r>
            <a:r>
              <a:rPr lang="en-US" altLang="zh-CN" sz="2800" b="1" dirty="0" smtClean="0">
                <a:solidFill>
                  <a:srgbClr val="000000"/>
                </a:solidFill>
                <a:ea typeface="+mj-ea"/>
              </a:rPr>
              <a:t>);</a:t>
            </a:r>
            <a:endParaRPr lang="en-US" altLang="zh-CN" sz="2800" b="1" dirty="0" smtClean="0">
              <a:solidFill>
                <a:srgbClr val="000000"/>
              </a:solidFill>
              <a:ea typeface="+mj-ea"/>
            </a:endParaRPr>
          </a:p>
          <a:p>
            <a:pPr marL="0" indent="0">
              <a:spcBef>
                <a:spcPts val="0"/>
              </a:spcBef>
              <a:buNone/>
            </a:pPr>
            <a:r>
              <a:rPr lang="zh-CN" altLang="en-US" sz="2800" b="1" dirty="0">
                <a:solidFill>
                  <a:srgbClr val="000000"/>
                </a:solidFill>
                <a:ea typeface="+mj-ea"/>
              </a:rPr>
              <a:t>	</a:t>
            </a:r>
            <a:r>
              <a:rPr lang="en-US" altLang="zh-CN" sz="2800" b="1" dirty="0">
                <a:solidFill>
                  <a:srgbClr val="000000"/>
                </a:solidFill>
                <a:ea typeface="+mj-ea"/>
              </a:rPr>
              <a:t>void </a:t>
            </a:r>
            <a:r>
              <a:rPr lang="en-US" altLang="zh-CN" sz="2800" b="1" dirty="0" err="1">
                <a:solidFill>
                  <a:srgbClr val="000000"/>
                </a:solidFill>
                <a:ea typeface="+mj-ea"/>
              </a:rPr>
              <a:t>setTime</a:t>
            </a:r>
            <a:r>
              <a:rPr lang="en-US" altLang="zh-CN" sz="2800" b="1" dirty="0">
                <a:solidFill>
                  <a:srgbClr val="000000"/>
                </a:solidFill>
                <a:ea typeface="+mj-ea"/>
              </a:rPr>
              <a:t>(int </a:t>
            </a:r>
            <a:r>
              <a:rPr lang="en-US" altLang="zh-CN" sz="2800" b="1" dirty="0" err="1">
                <a:solidFill>
                  <a:srgbClr val="000000"/>
                </a:solidFill>
                <a:ea typeface="+mj-ea"/>
              </a:rPr>
              <a:t>newH</a:t>
            </a:r>
            <a:r>
              <a:rPr lang="en-US" altLang="zh-CN" sz="2800" b="1" dirty="0">
                <a:solidFill>
                  <a:srgbClr val="000000"/>
                </a:solidFill>
                <a:ea typeface="+mj-ea"/>
              </a:rPr>
              <a:t>, int </a:t>
            </a:r>
            <a:r>
              <a:rPr lang="en-US" altLang="zh-CN" sz="2800" b="1" dirty="0" err="1">
                <a:solidFill>
                  <a:srgbClr val="000000"/>
                </a:solidFill>
                <a:ea typeface="+mj-ea"/>
              </a:rPr>
              <a:t>newM</a:t>
            </a:r>
            <a:r>
              <a:rPr lang="en-US" altLang="zh-CN" sz="2800" b="1" dirty="0">
                <a:solidFill>
                  <a:srgbClr val="000000"/>
                </a:solidFill>
                <a:ea typeface="+mj-ea"/>
              </a:rPr>
              <a:t>, int </a:t>
            </a:r>
            <a:r>
              <a:rPr lang="en-US" altLang="zh-CN" sz="2800" b="1" dirty="0" err="1">
                <a:solidFill>
                  <a:srgbClr val="000000"/>
                </a:solidFill>
                <a:ea typeface="+mj-ea"/>
              </a:rPr>
              <a:t>newS</a:t>
            </a:r>
            <a:r>
              <a:rPr lang="en-US" altLang="zh-CN" sz="2800" b="1" dirty="0">
                <a:solidFill>
                  <a:srgbClr val="000000"/>
                </a:solidFill>
                <a:ea typeface="+mj-ea"/>
              </a:rPr>
              <a:t>);</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void </a:t>
            </a:r>
            <a:r>
              <a:rPr lang="en-US" altLang="zh-CN" sz="2800" b="1" dirty="0" err="1">
                <a:solidFill>
                  <a:srgbClr val="000000"/>
                </a:solidFill>
                <a:ea typeface="+mj-ea"/>
              </a:rPr>
              <a:t>showTime</a:t>
            </a:r>
            <a:r>
              <a:rPr lang="en-US" altLang="zh-CN" sz="2800" b="1" dirty="0">
                <a:solidFill>
                  <a:srgbClr val="000000"/>
                </a:solidFill>
                <a:ea typeface="+mj-ea"/>
              </a:rPr>
              <a:t>();</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private:</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int hour, minute, second;</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a:t>
            </a:r>
            <a:endParaRPr lang="en-US" altLang="zh-CN" sz="28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构造函数举例（续）</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solidFill>
            <a:schemeClr val="tx1"/>
          </a:solidFill>
        </p:spPr>
        <p:txBody>
          <a:bodyPr/>
          <a:lstStyle/>
          <a:p>
            <a:pPr marL="0" indent="0">
              <a:spcBef>
                <a:spcPts val="0"/>
              </a:spcBef>
              <a:buNone/>
            </a:pPr>
            <a:r>
              <a:rPr lang="en-US" altLang="zh-CN" sz="2400" b="1" dirty="0" smtClean="0">
                <a:solidFill>
                  <a:srgbClr val="000000"/>
                </a:solidFill>
                <a:ea typeface="+mj-ea"/>
              </a:rPr>
              <a:t>//</a:t>
            </a:r>
            <a:r>
              <a:rPr lang="zh-CN" altLang="en-US" sz="2400" b="1" dirty="0" smtClean="0">
                <a:solidFill>
                  <a:srgbClr val="000000"/>
                </a:solidFill>
                <a:ea typeface="+mj-ea"/>
              </a:rPr>
              <a:t>构造</a:t>
            </a:r>
            <a:r>
              <a:rPr lang="zh-CN" altLang="en-US" sz="2400" b="1" dirty="0">
                <a:solidFill>
                  <a:srgbClr val="000000"/>
                </a:solidFill>
                <a:ea typeface="+mj-ea"/>
              </a:rPr>
              <a:t>函数的实现：</a:t>
            </a:r>
            <a:endParaRPr lang="zh-CN" altLang="en-US" sz="2400" b="1" dirty="0">
              <a:solidFill>
                <a:srgbClr val="000000"/>
              </a:solidFill>
              <a:ea typeface="+mj-ea"/>
            </a:endParaRPr>
          </a:p>
          <a:p>
            <a:pPr marL="0" indent="0">
              <a:spcBef>
                <a:spcPts val="0"/>
              </a:spcBef>
              <a:buNone/>
            </a:pPr>
            <a:r>
              <a:rPr lang="en-US" altLang="zh-CN" sz="2400" b="1" dirty="0">
                <a:solidFill>
                  <a:srgbClr val="000000"/>
                </a:solidFill>
                <a:ea typeface="+mj-ea"/>
              </a:rPr>
              <a:t>Clock::Clock(int </a:t>
            </a:r>
            <a:r>
              <a:rPr lang="en-US" altLang="zh-CN" sz="2400" b="1" dirty="0" err="1">
                <a:solidFill>
                  <a:srgbClr val="000000"/>
                </a:solidFill>
                <a:ea typeface="+mj-ea"/>
              </a:rPr>
              <a:t>newH</a:t>
            </a:r>
            <a:r>
              <a:rPr lang="en-US" altLang="zh-CN" sz="2400" b="1" dirty="0">
                <a:solidFill>
                  <a:srgbClr val="000000"/>
                </a:solidFill>
                <a:ea typeface="+mj-ea"/>
              </a:rPr>
              <a:t>, int </a:t>
            </a:r>
            <a:r>
              <a:rPr lang="en-US" altLang="zh-CN" sz="2400" b="1" dirty="0" err="1">
                <a:solidFill>
                  <a:srgbClr val="000000"/>
                </a:solidFill>
                <a:ea typeface="+mj-ea"/>
              </a:rPr>
              <a:t>newM</a:t>
            </a:r>
            <a:r>
              <a:rPr lang="en-US" altLang="zh-CN" sz="2400" b="1" dirty="0">
                <a:solidFill>
                  <a:srgbClr val="000000"/>
                </a:solidFill>
                <a:ea typeface="+mj-ea"/>
              </a:rPr>
              <a:t>, int </a:t>
            </a:r>
            <a:r>
              <a:rPr lang="en-US" altLang="zh-CN" sz="2400" b="1" dirty="0" err="1">
                <a:solidFill>
                  <a:srgbClr val="000000"/>
                </a:solidFill>
                <a:ea typeface="+mj-ea"/>
              </a:rPr>
              <a:t>newS</a:t>
            </a:r>
            <a:r>
              <a:rPr lang="en-US" altLang="zh-CN" sz="2400" b="1" dirty="0">
                <a:solidFill>
                  <a:srgbClr val="000000"/>
                </a:solidFill>
                <a:ea typeface="+mj-ea"/>
              </a:rPr>
              <a:t>):</a:t>
            </a:r>
            <a:r>
              <a:rPr lang="en-US" altLang="zh-CN" sz="2400" b="1" dirty="0">
                <a:solidFill>
                  <a:srgbClr val="FF0000"/>
                </a:solidFill>
                <a:ea typeface="+mj-ea"/>
              </a:rPr>
              <a:t> hour(</a:t>
            </a:r>
            <a:r>
              <a:rPr lang="en-US" altLang="zh-CN" sz="2400" b="1" dirty="0" err="1">
                <a:solidFill>
                  <a:srgbClr val="FF0000"/>
                </a:solidFill>
                <a:ea typeface="+mj-ea"/>
              </a:rPr>
              <a:t>newH</a:t>
            </a:r>
            <a:r>
              <a:rPr lang="en-US" altLang="zh-CN" sz="2400" b="1" dirty="0">
                <a:solidFill>
                  <a:srgbClr val="FF0000"/>
                </a:solidFill>
                <a:ea typeface="+mj-ea"/>
              </a:rPr>
              <a:t>), minute(</a:t>
            </a:r>
            <a:r>
              <a:rPr lang="en-US" altLang="zh-CN" sz="2400" b="1" dirty="0" err="1">
                <a:solidFill>
                  <a:srgbClr val="FF0000"/>
                </a:solidFill>
                <a:ea typeface="+mj-ea"/>
              </a:rPr>
              <a:t>newM</a:t>
            </a:r>
            <a:r>
              <a:rPr lang="en-US" altLang="zh-CN" sz="2400" b="1" dirty="0">
                <a:solidFill>
                  <a:srgbClr val="FF0000"/>
                </a:solidFill>
                <a:ea typeface="+mj-ea"/>
              </a:rPr>
              <a:t>), second(</a:t>
            </a:r>
            <a:r>
              <a:rPr lang="en-US" altLang="zh-CN" sz="2400" b="1" dirty="0" err="1">
                <a:solidFill>
                  <a:srgbClr val="FF0000"/>
                </a:solidFill>
                <a:ea typeface="+mj-ea"/>
              </a:rPr>
              <a:t>newS</a:t>
            </a:r>
            <a:r>
              <a:rPr lang="en-US" altLang="zh-CN" sz="2400" b="1" dirty="0">
                <a:solidFill>
                  <a:srgbClr val="FF0000"/>
                </a:solidFill>
                <a:ea typeface="+mj-ea"/>
              </a:rPr>
              <a:t>) </a:t>
            </a:r>
            <a:r>
              <a:rPr lang="en-US" altLang="zh-CN" sz="2400" b="1" dirty="0" smtClean="0">
                <a:solidFill>
                  <a:srgbClr val="000000"/>
                </a:solidFill>
                <a:ea typeface="+mj-ea"/>
              </a:rPr>
              <a:t>{    </a:t>
            </a:r>
            <a:r>
              <a:rPr lang="en-US" altLang="zh-CN" sz="2400" b="1" dirty="0">
                <a:solidFill>
                  <a:srgbClr val="000000"/>
                </a:solidFill>
                <a:ea typeface="+mj-ea"/>
              </a:rPr>
              <a:t>	</a:t>
            </a:r>
            <a:r>
              <a:rPr lang="en-US" altLang="zh-CN" sz="2400" b="1" dirty="0" smtClean="0">
                <a:solidFill>
                  <a:srgbClr val="000000"/>
                </a:solidFill>
                <a:ea typeface="+mj-ea"/>
              </a:rPr>
              <a:t>}</a:t>
            </a:r>
            <a:endParaRPr lang="en-US" altLang="zh-CN" sz="2400" b="1" dirty="0" smtClean="0">
              <a:solidFill>
                <a:srgbClr val="000000"/>
              </a:solidFill>
              <a:ea typeface="+mj-ea"/>
            </a:endParaRPr>
          </a:p>
          <a:p>
            <a:pPr marL="0" indent="0">
              <a:spcBef>
                <a:spcPts val="0"/>
              </a:spcBef>
              <a:buNone/>
            </a:pPr>
            <a:endParaRPr lang="en-US" altLang="zh-CN" sz="2400" b="1" dirty="0">
              <a:solidFill>
                <a:srgbClr val="000000"/>
              </a:solidFill>
              <a:ea typeface="+mj-ea"/>
            </a:endParaRPr>
          </a:p>
          <a:p>
            <a:pPr marL="0" indent="0">
              <a:spcBef>
                <a:spcPts val="0"/>
              </a:spcBef>
              <a:buNone/>
            </a:pPr>
            <a:endParaRPr lang="en-US" altLang="zh-CN" sz="2400" b="1" dirty="0">
              <a:solidFill>
                <a:srgbClr val="000000"/>
              </a:solidFill>
              <a:ea typeface="+mj-ea"/>
            </a:endParaRPr>
          </a:p>
          <a:p>
            <a:pPr marL="0" indent="0">
              <a:spcBef>
                <a:spcPts val="0"/>
              </a:spcBef>
              <a:buNone/>
            </a:pPr>
            <a:r>
              <a:rPr lang="en-US" altLang="zh-CN" sz="2400" b="1" dirty="0" smtClean="0">
                <a:solidFill>
                  <a:srgbClr val="000000"/>
                </a:solidFill>
                <a:ea typeface="+mj-ea"/>
              </a:rPr>
              <a:t>//</a:t>
            </a:r>
            <a:r>
              <a:rPr lang="zh-CN" altLang="en-US" sz="2400" b="1" dirty="0" smtClean="0">
                <a:solidFill>
                  <a:srgbClr val="000000"/>
                </a:solidFill>
                <a:ea typeface="+mj-ea"/>
              </a:rPr>
              <a:t>建立</a:t>
            </a:r>
            <a:r>
              <a:rPr lang="zh-CN" altLang="en-US" sz="2400" b="1" dirty="0">
                <a:solidFill>
                  <a:srgbClr val="000000"/>
                </a:solidFill>
                <a:ea typeface="+mj-ea"/>
              </a:rPr>
              <a:t>对象时构造函数的作用：</a:t>
            </a:r>
            <a:endParaRPr lang="zh-CN" altLang="en-US" sz="2400" b="1" dirty="0">
              <a:solidFill>
                <a:srgbClr val="000000"/>
              </a:solidFill>
              <a:ea typeface="+mj-ea"/>
            </a:endParaRPr>
          </a:p>
          <a:p>
            <a:pPr marL="0" indent="0">
              <a:spcBef>
                <a:spcPts val="0"/>
              </a:spcBef>
              <a:buNone/>
            </a:pPr>
            <a:r>
              <a:rPr lang="en-US" altLang="zh-CN" sz="2400" b="1" dirty="0" err="1">
                <a:solidFill>
                  <a:srgbClr val="000000"/>
                </a:solidFill>
                <a:ea typeface="+mj-ea"/>
              </a:rPr>
              <a:t>int</a:t>
            </a:r>
            <a:r>
              <a:rPr lang="en-US" altLang="zh-CN" sz="2400" b="1" dirty="0">
                <a:solidFill>
                  <a:srgbClr val="000000"/>
                </a:solidFill>
                <a:ea typeface="+mj-ea"/>
              </a:rPr>
              <a:t> main()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Clock c(0,0,0</a:t>
            </a:r>
            <a:r>
              <a:rPr lang="en-US" altLang="zh-CN" sz="2400" b="1" dirty="0" smtClean="0">
                <a:solidFill>
                  <a:srgbClr val="000000"/>
                </a:solidFill>
                <a:ea typeface="+mj-ea"/>
              </a:rPr>
              <a:t>);// </a:t>
            </a:r>
            <a:r>
              <a:rPr lang="en-US" altLang="zh-CN" sz="2400" b="1" dirty="0">
                <a:solidFill>
                  <a:srgbClr val="000000"/>
                </a:solidFill>
                <a:ea typeface="+mj-ea"/>
              </a:rPr>
              <a:t>//</a:t>
            </a:r>
            <a:r>
              <a:rPr lang="zh-CN" altLang="en-US" sz="2400" b="1" dirty="0">
                <a:solidFill>
                  <a:srgbClr val="000000"/>
                </a:solidFill>
                <a:ea typeface="+mj-ea"/>
              </a:rPr>
              <a:t>此处将自动调用构造函数</a:t>
            </a:r>
            <a:endParaRPr lang="zh-CN" altLang="en-US" sz="2400" b="1" dirty="0">
              <a:solidFill>
                <a:srgbClr val="000000"/>
              </a:solidFill>
              <a:ea typeface="+mj-ea"/>
            </a:endParaRPr>
          </a:p>
          <a:p>
            <a:pPr marL="0" indent="0">
              <a:spcBef>
                <a:spcPts val="0"/>
              </a:spcBef>
              <a:buNone/>
            </a:pPr>
            <a:r>
              <a:rPr lang="zh-CN" altLang="en-US" sz="2400" b="1" dirty="0">
                <a:solidFill>
                  <a:srgbClr val="000000"/>
                </a:solidFill>
                <a:ea typeface="+mj-ea"/>
              </a:rPr>
              <a:t>  </a:t>
            </a:r>
            <a:r>
              <a:rPr lang="en-US" altLang="zh-CN" sz="2400" b="1" dirty="0" err="1">
                <a:solidFill>
                  <a:srgbClr val="000000"/>
                </a:solidFill>
                <a:ea typeface="+mj-ea"/>
              </a:rPr>
              <a:t>c.showTime</a:t>
            </a:r>
            <a:r>
              <a:rPr lang="en-US" altLang="zh-CN" sz="2400" b="1" dirty="0">
                <a:solidFill>
                  <a:srgbClr val="000000"/>
                </a:solidFill>
                <a:ea typeface="+mj-ea"/>
              </a:rPr>
              <a:t>();</a:t>
            </a:r>
            <a:endParaRPr lang="en-US" altLang="zh-CN" sz="2400" b="1" dirty="0">
              <a:solidFill>
                <a:srgbClr val="000000"/>
              </a:solidFill>
              <a:ea typeface="+mj-ea"/>
            </a:endParaRPr>
          </a:p>
          <a:p>
            <a:pPr marL="0" indent="0">
              <a:spcBef>
                <a:spcPts val="0"/>
              </a:spcBef>
              <a:buNone/>
            </a:pPr>
            <a:r>
              <a:rPr lang="en-US" altLang="zh-CN" sz="2400" b="1" dirty="0" smtClean="0">
                <a:solidFill>
                  <a:srgbClr val="000000"/>
                </a:solidFill>
                <a:ea typeface="+mj-ea"/>
              </a:rPr>
              <a:t>  return </a:t>
            </a:r>
            <a:r>
              <a:rPr lang="en-US" altLang="zh-CN" sz="2400" b="1" dirty="0">
                <a:solidFill>
                  <a:srgbClr val="000000"/>
                </a:solidFill>
                <a:ea typeface="+mj-ea"/>
              </a:rPr>
              <a:t>0;</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a:t>
            </a:r>
            <a:endParaRPr lang="en-US" altLang="zh-CN" sz="24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4.3.2</a:t>
            </a:r>
            <a:r>
              <a:rPr lang="zh-CN" altLang="en-US" sz="4400" b="1" dirty="0" smtClean="0">
                <a:latin typeface="Times New Roman" panose="02020603050405020304" pitchFamily="18" charset="0"/>
                <a:ea typeface="隶书" panose="02010509060101010101" pitchFamily="49" charset="-122"/>
              </a:rPr>
              <a:t>默认</a:t>
            </a:r>
            <a:r>
              <a:rPr lang="zh-CN" altLang="en-US" sz="4400" b="1" dirty="0">
                <a:latin typeface="Times New Roman" panose="02020603050405020304" pitchFamily="18" charset="0"/>
                <a:ea typeface="隶书" panose="02010509060101010101" pitchFamily="49" charset="-122"/>
              </a:rPr>
              <a:t>构造函数</a:t>
            </a:r>
            <a:endParaRPr lang="zh-CN" altLang="en-US" sz="4400" b="1" dirty="0">
              <a:latin typeface="Times New Roman" panose="02020603050405020304" pitchFamily="18" charset="0"/>
              <a:ea typeface="隶书" panose="02010509060101010101" pitchFamily="49" charset="-122"/>
            </a:endParaRPr>
          </a:p>
        </p:txBody>
      </p:sp>
      <p:sp>
        <p:nvSpPr>
          <p:cNvPr id="38915" name="内容占位符 2"/>
          <p:cNvSpPr>
            <a:spLocks noGrp="1"/>
          </p:cNvSpPr>
          <p:nvPr>
            <p:ph idx="1"/>
          </p:nvPr>
        </p:nvSpPr>
        <p:spPr>
          <a:xfrm>
            <a:off x="467544" y="1412776"/>
            <a:ext cx="8229600" cy="5016500"/>
          </a:xfrm>
        </p:spPr>
        <p:txBody>
          <a:bodyPr/>
          <a:lstStyle/>
          <a:p>
            <a:pPr>
              <a:lnSpc>
                <a:spcPct val="125000"/>
              </a:lnSpc>
              <a:spcBef>
                <a:spcPct val="0"/>
              </a:spcBef>
            </a:pPr>
            <a:r>
              <a:rPr lang="zh-CN" altLang="en-US" sz="2400" b="1" dirty="0" smtClean="0">
                <a:latin typeface="微软雅黑" panose="020B0503020204020204" pitchFamily="34" charset="-122"/>
                <a:ea typeface="微软雅黑" panose="020B0503020204020204" pitchFamily="34" charset="-122"/>
              </a:rPr>
              <a:t>调用时可以不需要参数的构造函数都是默认构造函数。</a:t>
            </a:r>
            <a:endParaRPr lang="en-US" altLang="zh-CN" sz="2400" b="1" dirty="0" smtClean="0">
              <a:latin typeface="微软雅黑" panose="020B0503020204020204" pitchFamily="34" charset="-122"/>
              <a:ea typeface="微软雅黑" panose="020B0503020204020204" pitchFamily="34" charset="-122"/>
            </a:endParaRPr>
          </a:p>
          <a:p>
            <a:pPr lvl="1">
              <a:lnSpc>
                <a:spcPct val="125000"/>
              </a:lnSpc>
              <a:spcBef>
                <a:spcPct val="0"/>
              </a:spcBef>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当不定义构造函数时，编译器自动产生默认构造函数</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a:lnSpc>
                <a:spcPct val="125000"/>
              </a:lnSpc>
              <a:spcBef>
                <a:spcPct val="0"/>
              </a:spcBef>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在类中可以自定义无参数的构造函数，也是默认构造函数</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a:lnSpc>
                <a:spcPct val="125000"/>
              </a:lnSpc>
              <a:spcBef>
                <a:spcPct val="0"/>
              </a:spcBef>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全部参数都有默认形参值的构造函数也是默认构造函数</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a:lnSpc>
                <a:spcPct val="125000"/>
              </a:lnSpc>
              <a:spcBef>
                <a:spcPct val="0"/>
              </a:spcBef>
            </a:pPr>
            <a:r>
              <a:rPr lang="zh-CN" altLang="en-US" sz="2400" b="1" dirty="0" smtClean="0">
                <a:latin typeface="微软雅黑" panose="020B0503020204020204" pitchFamily="34" charset="-122"/>
                <a:ea typeface="微软雅黑" panose="020B0503020204020204" pitchFamily="34" charset="-122"/>
              </a:rPr>
              <a:t>下面两个都是默认构造函数，如果在类中同时出现，将产生编译错误：</a:t>
            </a:r>
            <a:endParaRPr lang="en-US" altLang="zh-CN" sz="2400" b="1" dirty="0" smtClean="0">
              <a:latin typeface="微软雅黑" panose="020B0503020204020204" pitchFamily="34" charset="-122"/>
              <a:ea typeface="微软雅黑" panose="020B0503020204020204" pitchFamily="34" charset="-122"/>
            </a:endParaRPr>
          </a:p>
          <a:p>
            <a:pPr lvl="1">
              <a:lnSpc>
                <a:spcPct val="125000"/>
              </a:lnSpc>
              <a:spcBef>
                <a:spcPct val="0"/>
              </a:spcBef>
              <a:buFont typeface="Georgia" panose="02040502050405020303" pitchFamily="18" charset="0"/>
              <a:buNone/>
            </a:pPr>
            <a:r>
              <a:rPr lang="en-US" altLang="zh-CN" sz="2400" b="1" dirty="0" smtClean="0">
                <a:solidFill>
                  <a:srgbClr val="FFFF00"/>
                </a:solidFill>
                <a:latin typeface="微软雅黑" panose="020B0503020204020204" pitchFamily="34" charset="-122"/>
                <a:ea typeface="微软雅黑" panose="020B0503020204020204" pitchFamily="34" charset="-122"/>
              </a:rPr>
              <a:t>Clock();</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a:lnSpc>
                <a:spcPct val="125000"/>
              </a:lnSpc>
              <a:spcBef>
                <a:spcPct val="0"/>
              </a:spcBef>
              <a:buFont typeface="Georgia" panose="02040502050405020303" pitchFamily="18" charset="0"/>
              <a:buNone/>
            </a:pPr>
            <a:r>
              <a:rPr lang="en-US" altLang="zh-CN" sz="2400" b="1" dirty="0" smtClean="0">
                <a:solidFill>
                  <a:srgbClr val="FFFF00"/>
                </a:solidFill>
                <a:latin typeface="微软雅黑" panose="020B0503020204020204" pitchFamily="34" charset="-122"/>
                <a:ea typeface="微软雅黑" panose="020B0503020204020204" pitchFamily="34" charset="-122"/>
              </a:rPr>
              <a:t>Clock(</a:t>
            </a:r>
            <a:r>
              <a:rPr lang="en-US" altLang="zh-CN" sz="2400" b="1" dirty="0" err="1" smtClean="0">
                <a:solidFill>
                  <a:srgbClr val="FFFF00"/>
                </a:solidFill>
                <a:latin typeface="微软雅黑" panose="020B0503020204020204" pitchFamily="34" charset="-122"/>
                <a:ea typeface="微软雅黑" panose="020B0503020204020204" pitchFamily="34" charset="-122"/>
              </a:rPr>
              <a:t>int</a:t>
            </a:r>
            <a:r>
              <a:rPr lang="en-US" altLang="zh-CN" sz="2400" b="1" dirty="0" smtClean="0">
                <a:solidFill>
                  <a:srgbClr val="FFFF00"/>
                </a:solidFill>
                <a:latin typeface="微软雅黑" panose="020B0503020204020204" pitchFamily="34" charset="-122"/>
                <a:ea typeface="微软雅黑" panose="020B0503020204020204" pitchFamily="34" charset="-122"/>
              </a:rPr>
              <a:t> </a:t>
            </a:r>
            <a:r>
              <a:rPr lang="en-US" altLang="zh-CN" sz="2400" b="1" dirty="0" err="1" smtClean="0">
                <a:solidFill>
                  <a:srgbClr val="FFFF00"/>
                </a:solidFill>
                <a:latin typeface="微软雅黑" panose="020B0503020204020204" pitchFamily="34" charset="-122"/>
                <a:ea typeface="微软雅黑" panose="020B0503020204020204" pitchFamily="34" charset="-122"/>
              </a:rPr>
              <a:t>newH</a:t>
            </a:r>
            <a:r>
              <a:rPr lang="en-US" altLang="zh-CN" sz="2400" b="1" dirty="0" smtClean="0">
                <a:solidFill>
                  <a:srgbClr val="FFFF00"/>
                </a:solidFill>
                <a:latin typeface="微软雅黑" panose="020B0503020204020204" pitchFamily="34" charset="-122"/>
                <a:ea typeface="微软雅黑" panose="020B0503020204020204" pitchFamily="34" charset="-122"/>
              </a:rPr>
              <a:t>=0,int </a:t>
            </a:r>
            <a:r>
              <a:rPr lang="en-US" altLang="zh-CN" sz="2400" b="1" dirty="0" err="1" smtClean="0">
                <a:solidFill>
                  <a:srgbClr val="FFFF00"/>
                </a:solidFill>
                <a:latin typeface="微软雅黑" panose="020B0503020204020204" pitchFamily="34" charset="-122"/>
                <a:ea typeface="微软雅黑" panose="020B0503020204020204" pitchFamily="34" charset="-122"/>
              </a:rPr>
              <a:t>newM</a:t>
            </a:r>
            <a:r>
              <a:rPr lang="en-US" altLang="zh-CN" sz="2400" b="1" dirty="0" smtClean="0">
                <a:solidFill>
                  <a:srgbClr val="FFFF00"/>
                </a:solidFill>
                <a:latin typeface="微软雅黑" panose="020B0503020204020204" pitchFamily="34" charset="-122"/>
                <a:ea typeface="微软雅黑" panose="020B0503020204020204" pitchFamily="34" charset="-122"/>
              </a:rPr>
              <a:t>=0,int </a:t>
            </a:r>
            <a:r>
              <a:rPr lang="en-US" altLang="zh-CN" sz="2400" b="1" dirty="0" err="1" smtClean="0">
                <a:solidFill>
                  <a:srgbClr val="FFFF00"/>
                </a:solidFill>
                <a:latin typeface="微软雅黑" panose="020B0503020204020204" pitchFamily="34" charset="-122"/>
                <a:ea typeface="微软雅黑" panose="020B0503020204020204" pitchFamily="34" charset="-122"/>
              </a:rPr>
              <a:t>newS</a:t>
            </a:r>
            <a:r>
              <a:rPr lang="en-US" altLang="zh-CN" sz="2400" b="1" dirty="0" smtClean="0">
                <a:solidFill>
                  <a:srgbClr val="FFFF00"/>
                </a:solidFill>
                <a:latin typeface="微软雅黑" panose="020B0503020204020204" pitchFamily="34" charset="-122"/>
                <a:ea typeface="微软雅黑" panose="020B0503020204020204" pitchFamily="34" charset="-122"/>
              </a:rPr>
              <a:t>=0);</a:t>
            </a:r>
            <a:endParaRPr lang="zh-CN" altLang="en-US" sz="2400" b="1" dirty="0" smtClean="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body" idx="1"/>
          </p:nvPr>
        </p:nvSpPr>
        <p:spPr>
          <a:xfrm>
            <a:off x="590550" y="1773238"/>
            <a:ext cx="8229600" cy="4248150"/>
          </a:xfrm>
          <a:noFill/>
          <a:ln>
            <a:noFill/>
            <a:miter lim="800000"/>
          </a:ln>
        </p:spPr>
        <p:txBody>
          <a:bodyPr/>
          <a:lstStyle/>
          <a:p>
            <a:pPr eaLnBrk="1" hangingPunct="1">
              <a:lnSpc>
                <a:spcPct val="120000"/>
              </a:lnSpc>
              <a:spcBef>
                <a:spcPct val="50000"/>
              </a:spcBef>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当类没有定义构造函数时，编译器自动创建一个不带参数的默认构造函数。</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spcBef>
                <a:spcPct val="50000"/>
              </a:spcBef>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默认构造函数的函数体是空的，因此通过默认构造函数建立的对象是没有初始化的，其状态时不确定的。</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spcBef>
                <a:spcPct val="50000"/>
              </a:spcBef>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一旦程序定义了自己的构造函数，则系统不再提供默认构造函数。此时，如果程序中没有定义一个无参数的构造函数，但又声明了一个没有初始化的对象，则由于系统不再提供默认构造函数而造成编译错误。</a:t>
            </a:r>
            <a:endParaRPr lang="zh-CN" altLang="en-US" sz="2400" b="1" dirty="0" smtClean="0">
              <a:latin typeface="微软雅黑" panose="020B0503020204020204" pitchFamily="34" charset="-122"/>
              <a:ea typeface="微软雅黑" panose="020B0503020204020204" pitchFamily="34" charset="-122"/>
            </a:endParaRPr>
          </a:p>
        </p:txBody>
      </p:sp>
      <p:sp>
        <p:nvSpPr>
          <p:cNvPr id="60421" name="Rectangle 3"/>
          <p:cNvSpPr>
            <a:spLocks noChangeArrowheads="1"/>
          </p:cNvSpPr>
          <p:nvPr/>
        </p:nvSpPr>
        <p:spPr bwMode="auto">
          <a:xfrm>
            <a:off x="1331913" y="260350"/>
            <a:ext cx="7313612" cy="648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4400" b="1" i="1" dirty="0" smtClean="0">
                <a:solidFill>
                  <a:srgbClr val="FFFFFF"/>
                </a:solidFill>
                <a:effectLst>
                  <a:outerShdw blurRad="38100" dist="38100" dir="2700000" algn="tl">
                    <a:srgbClr val="000000"/>
                  </a:outerShdw>
                </a:effectLst>
                <a:ea typeface="隶书" panose="02010509060101010101" pitchFamily="49" charset="-122"/>
                <a:cs typeface="+mj-cs"/>
              </a:rPr>
              <a:t>4.3.2</a:t>
            </a:r>
            <a:r>
              <a:rPr lang="zh-CN" altLang="en-US" sz="4400" b="1" i="1" dirty="0" smtClean="0">
                <a:solidFill>
                  <a:srgbClr val="FFFFFF"/>
                </a:solidFill>
                <a:effectLst>
                  <a:outerShdw blurRad="38100" dist="38100" dir="2700000" algn="tl">
                    <a:srgbClr val="000000"/>
                  </a:outerShdw>
                </a:effectLst>
                <a:ea typeface="隶书" panose="02010509060101010101" pitchFamily="49" charset="-122"/>
                <a:cs typeface="+mj-cs"/>
              </a:rPr>
              <a:t>默认</a:t>
            </a:r>
            <a:r>
              <a:rPr lang="zh-CN" altLang="en-US" sz="4400" b="1" i="1" dirty="0">
                <a:solidFill>
                  <a:srgbClr val="FFFFFF"/>
                </a:solidFill>
                <a:effectLst>
                  <a:outerShdw blurRad="38100" dist="38100" dir="2700000" algn="tl">
                    <a:srgbClr val="000000"/>
                  </a:outerShdw>
                </a:effectLst>
                <a:ea typeface="隶书" panose="02010509060101010101" pitchFamily="49" charset="-122"/>
                <a:cs typeface="+mj-cs"/>
              </a:rPr>
              <a:t>构造函数</a:t>
            </a:r>
            <a:endParaRPr lang="zh-CN" altLang="en-US" sz="4400" b="1" i="1" dirty="0">
              <a:solidFill>
                <a:srgbClr val="FFFFFF"/>
              </a:solidFill>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a:xfrm>
            <a:off x="593725" y="332656"/>
            <a:ext cx="8080375" cy="58578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400" b="1" dirty="0" smtClean="0">
                <a:latin typeface="Times New Roman" panose="02020603050405020304" pitchFamily="18" charset="0"/>
                <a:ea typeface="隶书" panose="02010509060101010101" pitchFamily="49" charset="-122"/>
              </a:rPr>
              <a:t>4.3.2</a:t>
            </a:r>
            <a:r>
              <a:rPr lang="zh-CN" altLang="en-US" sz="4400" b="1" dirty="0" smtClean="0">
                <a:latin typeface="Times New Roman" panose="02020603050405020304" pitchFamily="18" charset="0"/>
                <a:ea typeface="隶书" panose="02010509060101010101" pitchFamily="49" charset="-122"/>
              </a:rPr>
              <a:t>默认</a:t>
            </a:r>
            <a:r>
              <a:rPr lang="zh-CN" altLang="en-US" sz="4400" b="1" dirty="0">
                <a:latin typeface="Times New Roman" panose="02020603050405020304" pitchFamily="18" charset="0"/>
                <a:ea typeface="隶书" panose="02010509060101010101" pitchFamily="49" charset="-122"/>
              </a:rPr>
              <a:t>构造</a:t>
            </a:r>
            <a:r>
              <a:rPr lang="zh-CN" altLang="en-US" sz="4400" b="1" dirty="0" smtClean="0">
                <a:latin typeface="Times New Roman" panose="02020603050405020304" pitchFamily="18" charset="0"/>
                <a:ea typeface="隶书" panose="02010509060101010101" pitchFamily="49" charset="-122"/>
              </a:rPr>
              <a:t>函数的作用</a:t>
            </a:r>
            <a:endParaRPr lang="zh-CN" altLang="en-US" sz="4400" b="1" dirty="0">
              <a:solidFill>
                <a:srgbClr val="FFFFFF"/>
              </a:solidFill>
              <a:latin typeface="Times New Roman" panose="02020603050405020304" pitchFamily="18" charset="0"/>
              <a:ea typeface="隶书" panose="02010509060101010101" pitchFamily="49" charset="-122"/>
              <a:cs typeface="+mn-cs"/>
            </a:endParaRPr>
          </a:p>
        </p:txBody>
      </p:sp>
      <p:sp>
        <p:nvSpPr>
          <p:cNvPr id="16388" name="Rectangle 5"/>
          <p:cNvSpPr>
            <a:spLocks noChangeArrowheads="1"/>
          </p:cNvSpPr>
          <p:nvPr/>
        </p:nvSpPr>
        <p:spPr bwMode="auto">
          <a:xfrm>
            <a:off x="593725" y="1312863"/>
            <a:ext cx="8362950" cy="529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a:tailEnd/>
              </a14:hiddenLine>
            </a:ext>
          </a:extLst>
        </p:spPr>
        <p:txBody>
          <a:bodyPr lIns="36000" tIns="36000" rIns="36000" bIns="36000">
            <a:spAutoFit/>
          </a:bodyPr>
          <a:lstStyle>
            <a:lvl1pPr marL="342900" indent="-342900">
              <a:defRPr kumimoji="1" sz="2100" b="1">
                <a:solidFill>
                  <a:srgbClr val="FFFF00"/>
                </a:solidFill>
                <a:latin typeface="Times New Roman" panose="02020603050405020304" pitchFamily="18" charset="0"/>
                <a:ea typeface="宋体" panose="02010600030101010101" pitchFamily="2" charset="-122"/>
              </a:defRPr>
            </a:lvl1pPr>
            <a:lvl2pPr marL="800100" indent="-342900">
              <a:defRPr kumimoji="1" sz="2100" b="1">
                <a:solidFill>
                  <a:srgbClr val="FFFF00"/>
                </a:solidFill>
                <a:latin typeface="Times New Roman" panose="02020603050405020304" pitchFamily="18" charset="0"/>
                <a:ea typeface="宋体" panose="02010600030101010101" pitchFamily="2" charset="-122"/>
              </a:defRPr>
            </a:lvl2pPr>
            <a:lvl3pPr marL="1143000" indent="-228600">
              <a:defRPr kumimoji="1" sz="2100" b="1">
                <a:solidFill>
                  <a:srgbClr val="FFFF00"/>
                </a:solidFill>
                <a:latin typeface="Times New Roman" panose="02020603050405020304" pitchFamily="18" charset="0"/>
                <a:ea typeface="宋体" panose="02010600030101010101" pitchFamily="2" charset="-122"/>
              </a:defRPr>
            </a:lvl3pPr>
            <a:lvl4pPr marL="1600200" indent="-228600">
              <a:defRPr kumimoji="1" sz="2100" b="1">
                <a:solidFill>
                  <a:srgbClr val="FFFF00"/>
                </a:solidFill>
                <a:latin typeface="Times New Roman" panose="02020603050405020304" pitchFamily="18" charset="0"/>
                <a:ea typeface="宋体" panose="02010600030101010101" pitchFamily="2" charset="-122"/>
              </a:defRPr>
            </a:lvl4pPr>
            <a:lvl5pPr marL="2057400" indent="-228600">
              <a:defRPr kumimoji="1" sz="2100" b="1">
                <a:solidFill>
                  <a:srgbClr val="FFFF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100" b="1">
                <a:solidFill>
                  <a:srgbClr val="FFFF00"/>
                </a:solidFill>
                <a:latin typeface="Times New Roman" panose="02020603050405020304" pitchFamily="18" charset="0"/>
                <a:ea typeface="宋体" panose="02010600030101010101" pitchFamily="2" charset="-122"/>
              </a:defRPr>
            </a:lvl9pPr>
          </a:lstStyle>
          <a:p>
            <a:pPr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默认初始化</a:t>
            </a:r>
            <a:endParaRPr lang="en-US" altLang="zh-CN" sz="2400" dirty="0">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不使用初始值定义一个非静态变量或数组</a:t>
            </a:r>
            <a:endParaRPr lang="en-US" altLang="zh-CN" sz="2400" dirty="0">
              <a:solidFill>
                <a:schemeClr val="tx1"/>
              </a:solidFill>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本身含有类类型的成员且使用合成的默认构造函数</a:t>
            </a:r>
            <a:endParaRPr lang="en-US" altLang="zh-CN" sz="2400" dirty="0">
              <a:solidFill>
                <a:schemeClr val="tx1"/>
              </a:solidFill>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类类型的成员没有在构造函数初始值列表中</a:t>
            </a:r>
            <a:r>
              <a:rPr lang="zh-CN" altLang="en-US" sz="2400" dirty="0" smtClean="0">
                <a:solidFill>
                  <a:schemeClr val="tx1"/>
                </a:solidFill>
                <a:latin typeface="微软雅黑" panose="020B0503020204020204" pitchFamily="34" charset="-122"/>
                <a:ea typeface="微软雅黑" panose="020B0503020204020204" pitchFamily="34" charset="-122"/>
              </a:rPr>
              <a:t>显式初始化</a:t>
            </a:r>
            <a:endParaRPr lang="en-US" altLang="zh-CN" sz="2400" dirty="0">
              <a:solidFill>
                <a:schemeClr val="tx1"/>
              </a:solidFill>
              <a:latin typeface="微软雅黑" panose="020B0503020204020204" pitchFamily="34" charset="-122"/>
              <a:ea typeface="微软雅黑" panose="020B0503020204020204" pitchFamily="34" charset="-122"/>
            </a:endParaRPr>
          </a:p>
          <a:p>
            <a:pPr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值初始化</a:t>
            </a:r>
            <a:endParaRPr lang="en-US" altLang="zh-CN" sz="2400" dirty="0">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数组初始化过程中初始值数量少于数组大小</a:t>
            </a:r>
            <a:endParaRPr lang="en-US" altLang="zh-CN" sz="2400" dirty="0">
              <a:solidFill>
                <a:schemeClr val="tx1"/>
              </a:solidFill>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rPr>
              <a:t>不使用初始值定义一个局部静态变量</a:t>
            </a:r>
            <a:endParaRPr lang="en-US" altLang="zh-CN" sz="2400" dirty="0">
              <a:solidFill>
                <a:schemeClr val="tx1"/>
              </a:solidFill>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u"/>
            </a:pPr>
            <a:r>
              <a:rPr lang="zh-CN" altLang="en-US" sz="2400" dirty="0" smtClean="0">
                <a:solidFill>
                  <a:schemeClr val="tx1"/>
                </a:solidFill>
                <a:latin typeface="微软雅黑" panose="020B0503020204020204" pitchFamily="34" charset="-122"/>
                <a:ea typeface="微软雅黑" panose="020B0503020204020204" pitchFamily="34" charset="-122"/>
              </a:rPr>
              <a:t>显式请求</a:t>
            </a:r>
            <a:r>
              <a:rPr lang="zh-CN" altLang="en-US" sz="2400" dirty="0">
                <a:solidFill>
                  <a:schemeClr val="tx1"/>
                </a:solidFill>
                <a:latin typeface="微软雅黑" panose="020B0503020204020204" pitchFamily="34" charset="-122"/>
                <a:ea typeface="微软雅黑" panose="020B0503020204020204" pitchFamily="34" charset="-122"/>
              </a:rPr>
              <a:t>值初始化时</a:t>
            </a:r>
            <a:endParaRPr lang="en-US" altLang="zh-CN" sz="2400" dirty="0">
              <a:solidFill>
                <a:schemeClr val="tx1"/>
              </a:solidFill>
              <a:latin typeface="微软雅黑" panose="020B0503020204020204" pitchFamily="34" charset="-122"/>
              <a:ea typeface="微软雅黑" panose="020B0503020204020204" pitchFamily="34" charset="-122"/>
            </a:endParaRPr>
          </a:p>
          <a:p>
            <a:pPr lvl="1" algn="l" eaLnBrk="1" hangingPunct="1">
              <a:lnSpc>
                <a:spcPct val="135000"/>
              </a:lnSpc>
              <a:spcBef>
                <a:spcPct val="25000"/>
              </a:spcBef>
              <a:buClr>
                <a:srgbClr val="00B0F0"/>
              </a:buClr>
              <a:buSzPct val="75000"/>
              <a:buFont typeface="Wingdings" panose="05000000000000000000" pitchFamily="2" charset="2"/>
              <a:buChar char="u"/>
            </a:pP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4.3.3 </a:t>
            </a:r>
            <a:r>
              <a:rPr lang="zh-CN" altLang="en-US" sz="4400" b="1" dirty="0" smtClean="0">
                <a:latin typeface="Times New Roman" panose="02020603050405020304" pitchFamily="18" charset="0"/>
                <a:ea typeface="隶书" panose="02010509060101010101" pitchFamily="49" charset="-122"/>
              </a:rPr>
              <a:t>委托构造</a:t>
            </a:r>
            <a:r>
              <a:rPr lang="zh-CN" altLang="en-US" sz="4400" b="1" dirty="0">
                <a:latin typeface="Times New Roman" panose="02020603050405020304" pitchFamily="18" charset="0"/>
                <a:ea typeface="隶书" panose="02010509060101010101" pitchFamily="49" charset="-122"/>
              </a:rPr>
              <a:t>函数</a:t>
            </a:r>
            <a:endParaRPr lang="zh-CN" altLang="en-US" sz="4400" b="1" dirty="0">
              <a:latin typeface="Times New Roman" panose="02020603050405020304" pitchFamily="18" charset="0"/>
              <a:ea typeface="隶书" panose="02010509060101010101" pitchFamily="49" charset="-122"/>
            </a:endParaRPr>
          </a:p>
        </p:txBody>
      </p:sp>
      <p:sp>
        <p:nvSpPr>
          <p:cNvPr id="37891" name="内容占位符 2"/>
          <p:cNvSpPr>
            <a:spLocks noGrp="1"/>
          </p:cNvSpPr>
          <p:nvPr>
            <p:ph idx="1"/>
          </p:nvPr>
        </p:nvSpPr>
        <p:spPr>
          <a:xfrm>
            <a:off x="683568" y="1340768"/>
            <a:ext cx="8136904" cy="4351338"/>
          </a:xfrm>
        </p:spPr>
        <p:txBody>
          <a:bodyPr/>
          <a:lstStyle/>
          <a:p>
            <a:pPr marL="0" indent="0" eaLnBrk="1" hangingPunct="1">
              <a:buFont typeface="Georgia" panose="02040502050405020303" pitchFamily="18" charset="0"/>
              <a:buNone/>
            </a:pPr>
            <a:r>
              <a:rPr lang="zh-CN" altLang="en-US" sz="2400" b="1" dirty="0">
                <a:solidFill>
                  <a:srgbClr val="FFFF00"/>
                </a:solidFill>
                <a:latin typeface="微软雅黑" panose="020B0503020204020204" pitchFamily="34" charset="-122"/>
                <a:ea typeface="微软雅黑" panose="020B0503020204020204" pitchFamily="34" charset="-122"/>
              </a:rPr>
              <a:t>委托</a:t>
            </a:r>
            <a:r>
              <a:rPr lang="zh-CN" altLang="en-US" sz="2400" b="1" dirty="0" smtClean="0">
                <a:solidFill>
                  <a:srgbClr val="FFFF00"/>
                </a:solidFill>
                <a:latin typeface="微软雅黑" panose="020B0503020204020204" pitchFamily="34" charset="-122"/>
                <a:ea typeface="微软雅黑" panose="020B0503020204020204" pitchFamily="34" charset="-122"/>
              </a:rPr>
              <a:t>构造函数使用它所属类的其他构造函数执行自己的初始化过程。</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buFont typeface="Georgia" panose="02040502050405020303" pitchFamily="18" charset="0"/>
              <a:buNone/>
            </a:pPr>
            <a:r>
              <a:rPr lang="zh-CN" altLang="en-US" sz="2400" b="1" dirty="0" smtClean="0">
                <a:solidFill>
                  <a:srgbClr val="FFFF00"/>
                </a:solidFill>
                <a:latin typeface="微软雅黑" panose="020B0503020204020204" pitchFamily="34" charset="-122"/>
                <a:ea typeface="微软雅黑" panose="020B0503020204020204" pitchFamily="34" charset="-122"/>
              </a:rPr>
              <a:t>例如：</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marL="0" indent="0" eaLnBrk="1" hangingPunct="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Clock   (</a:t>
            </a:r>
            <a:r>
              <a:rPr lang="en-US" altLang="zh-CN" sz="2400" b="1" dirty="0" err="1">
                <a:latin typeface="微软雅黑" panose="020B0503020204020204" pitchFamily="34" charset="-122"/>
                <a:ea typeface="微软雅黑" panose="020B0503020204020204" pitchFamily="34" charset="-122"/>
              </a:rPr>
              <a:t>int</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newH,int</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newN,int</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newS</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0" indent="0" eaLnBrk="1" hangingPunct="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hour=</a:t>
            </a:r>
            <a:r>
              <a:rPr lang="en-US" altLang="zh-CN" sz="2400" b="1" dirty="0" err="1">
                <a:latin typeface="微软雅黑" panose="020B0503020204020204" pitchFamily="34" charset="-122"/>
                <a:ea typeface="微软雅黑" panose="020B0503020204020204" pitchFamily="34" charset="-122"/>
              </a:rPr>
              <a:t>newH</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0" indent="0" eaLnBrk="1" hangingPunct="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minute=</a:t>
            </a:r>
            <a:r>
              <a:rPr lang="en-US" altLang="zh-CN" sz="2400" b="1" dirty="0" err="1">
                <a:latin typeface="微软雅黑" panose="020B0503020204020204" pitchFamily="34" charset="-122"/>
                <a:ea typeface="微软雅黑" panose="020B0503020204020204" pitchFamily="34" charset="-122"/>
              </a:rPr>
              <a:t>newN</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0" indent="0" eaLnBrk="1" hangingPunct="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second=news;</a:t>
            </a:r>
            <a:endParaRPr lang="en-US" altLang="zh-CN" sz="2400" b="1" dirty="0">
              <a:latin typeface="微软雅黑" panose="020B0503020204020204" pitchFamily="34" charset="-122"/>
              <a:ea typeface="微软雅黑" panose="020B0503020204020204" pitchFamily="34" charset="-122"/>
            </a:endParaRPr>
          </a:p>
          <a:p>
            <a:pPr marL="0" indent="0" eaLnBrk="1" hangingPunct="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0" indent="0" eaLnBrk="1" hangingPunct="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Clock():Clock(0,0,0){}       //</a:t>
            </a:r>
            <a:r>
              <a:rPr lang="zh-CN" altLang="en-US" sz="2400" b="1" dirty="0">
                <a:latin typeface="微软雅黑" panose="020B0503020204020204" pitchFamily="34" charset="-122"/>
                <a:ea typeface="微软雅黑" panose="020B0503020204020204" pitchFamily="34" charset="-122"/>
              </a:rPr>
              <a:t>委托构造函数</a:t>
            </a: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4.3.4 </a:t>
            </a:r>
            <a:r>
              <a:rPr lang="zh-CN" altLang="en-US" sz="4400" b="1" dirty="0">
                <a:latin typeface="Times New Roman" panose="02020603050405020304" pitchFamily="18" charset="0"/>
                <a:ea typeface="隶书" panose="02010509060101010101" pitchFamily="49" charset="-122"/>
              </a:rPr>
              <a:t>复制构造函数</a:t>
            </a:r>
            <a:endParaRPr lang="zh-CN" altLang="en-US" sz="4400" b="1" dirty="0">
              <a:latin typeface="Times New Roman" panose="02020603050405020304" pitchFamily="18" charset="0"/>
              <a:ea typeface="隶书" panose="02010509060101010101" pitchFamily="49" charset="-122"/>
            </a:endParaRPr>
          </a:p>
        </p:txBody>
      </p:sp>
      <p:sp>
        <p:nvSpPr>
          <p:cNvPr id="37891" name="内容占位符 2"/>
          <p:cNvSpPr>
            <a:spLocks noGrp="1"/>
          </p:cNvSpPr>
          <p:nvPr>
            <p:ph idx="1"/>
          </p:nvPr>
        </p:nvSpPr>
        <p:spPr>
          <a:xfrm>
            <a:off x="683568" y="1340768"/>
            <a:ext cx="8136904" cy="4351338"/>
          </a:xfrm>
        </p:spPr>
        <p:txBody>
          <a:bodyPr/>
          <a:lstStyle/>
          <a:p>
            <a:pPr marL="0" indent="0" eaLnBrk="1" hangingPunct="1">
              <a:buFont typeface="Georgia" panose="02040502050405020303" pitchFamily="18" charset="0"/>
              <a:buNone/>
            </a:pPr>
            <a:r>
              <a:rPr lang="zh-CN" altLang="en-US" sz="2400" b="1" dirty="0" smtClean="0">
                <a:solidFill>
                  <a:srgbClr val="FFFF00"/>
                </a:solidFill>
                <a:latin typeface="微软雅黑" panose="020B0503020204020204" pitchFamily="34" charset="-122"/>
                <a:ea typeface="微软雅黑" panose="020B0503020204020204" pitchFamily="34" charset="-122"/>
              </a:rPr>
              <a:t>复制构造函数是一种特殊的构造函数，</a:t>
            </a:r>
            <a:r>
              <a:rPr lang="zh-CN" altLang="en-US" sz="2400" b="1" dirty="0" smtClean="0">
                <a:latin typeface="微软雅黑" panose="020B0503020204020204" pitchFamily="34" charset="-122"/>
                <a:ea typeface="微软雅黑" panose="020B0503020204020204" pitchFamily="34" charset="-122"/>
              </a:rPr>
              <a:t>其形参为本类的对象引用。</a:t>
            </a:r>
            <a:r>
              <a:rPr lang="zh-CN" altLang="en-US" sz="2400" b="1" dirty="0" smtClean="0">
                <a:solidFill>
                  <a:srgbClr val="FFFF00"/>
                </a:solidFill>
                <a:latin typeface="微软雅黑" panose="020B0503020204020204" pitchFamily="34" charset="-122"/>
                <a:ea typeface="微软雅黑" panose="020B0503020204020204" pitchFamily="34" charset="-122"/>
              </a:rPr>
              <a:t>作用是用一个已存在的对象去初始化同类型的新对象。</a:t>
            </a:r>
            <a:endParaRPr lang="en-US" altLang="en-US" sz="2400" b="1" dirty="0" smtClean="0">
              <a:solidFill>
                <a:srgbClr val="FFFF00"/>
              </a:solidFill>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class </a:t>
            </a:r>
            <a:r>
              <a:rPr lang="zh-CN" altLang="en-US" sz="2400" b="1" dirty="0" smtClean="0">
                <a:latin typeface="微软雅黑" panose="020B0503020204020204" pitchFamily="34" charset="-122"/>
                <a:ea typeface="微软雅黑" panose="020B0503020204020204" pitchFamily="34" charset="-122"/>
              </a:rPr>
              <a:t>类名 </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public :</a:t>
            </a:r>
            <a:endParaRPr lang="en-US" altLang="zh-CN" sz="2400" b="1" dirty="0" smtClean="0">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类名（形参）；</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构造函数</a:t>
            </a:r>
            <a:endParaRPr lang="zh-CN" altLang="en-US" sz="2400" b="1" dirty="0" smtClean="0">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zh-CN" altLang="en-US" sz="2400" b="1" dirty="0" smtClean="0">
                <a:latin typeface="微软雅黑" panose="020B0503020204020204" pitchFamily="34" charset="-122"/>
                <a:ea typeface="微软雅黑" panose="020B0503020204020204" pitchFamily="34" charset="-122"/>
              </a:rPr>
              <a:t>    </a:t>
            </a:r>
            <a:r>
              <a:rPr lang="zh-CN" altLang="en-US" sz="2400" b="1" dirty="0" smtClean="0">
                <a:solidFill>
                  <a:srgbClr val="FFFF00"/>
                </a:solidFill>
                <a:latin typeface="微软雅黑" panose="020B0503020204020204" pitchFamily="34" charset="-122"/>
                <a:ea typeface="微软雅黑" panose="020B0503020204020204" pitchFamily="34" charset="-122"/>
              </a:rPr>
              <a:t>类名（</a:t>
            </a:r>
            <a:r>
              <a:rPr lang="en-US" altLang="zh-CN" sz="2400" b="1" dirty="0" err="1" smtClean="0">
                <a:solidFill>
                  <a:srgbClr val="FFFF00"/>
                </a:solidFill>
                <a:latin typeface="微软雅黑" panose="020B0503020204020204" pitchFamily="34" charset="-122"/>
                <a:ea typeface="微软雅黑" panose="020B0503020204020204" pitchFamily="34" charset="-122"/>
              </a:rPr>
              <a:t>const</a:t>
            </a:r>
            <a:r>
              <a:rPr lang="en-US" altLang="zh-CN" sz="2400" b="1" dirty="0" smtClean="0">
                <a:solidFill>
                  <a:srgbClr val="FFFF00"/>
                </a:solidFill>
                <a:latin typeface="微软雅黑" panose="020B0503020204020204" pitchFamily="34" charset="-122"/>
                <a:ea typeface="微软雅黑" panose="020B0503020204020204" pitchFamily="34" charset="-122"/>
              </a:rPr>
              <a:t>  </a:t>
            </a:r>
            <a:r>
              <a:rPr lang="zh-CN" altLang="en-US" sz="2400" b="1" dirty="0" smtClean="0">
                <a:solidFill>
                  <a:srgbClr val="FFFF00"/>
                </a:solidFill>
                <a:latin typeface="微软雅黑" panose="020B0503020204020204" pitchFamily="34" charset="-122"/>
                <a:ea typeface="微软雅黑" panose="020B0503020204020204" pitchFamily="34" charset="-122"/>
              </a:rPr>
              <a:t>类名 </a:t>
            </a:r>
            <a:r>
              <a:rPr lang="en-US" altLang="zh-CN" sz="2400" b="1" dirty="0" smtClean="0">
                <a:solidFill>
                  <a:srgbClr val="FFFF00"/>
                </a:solidFill>
                <a:latin typeface="微软雅黑" panose="020B0503020204020204" pitchFamily="34" charset="-122"/>
                <a:ea typeface="微软雅黑" panose="020B0503020204020204" pitchFamily="34" charset="-122"/>
              </a:rPr>
              <a:t>&amp;</a:t>
            </a:r>
            <a:r>
              <a:rPr lang="zh-CN" altLang="en-US" sz="2400" b="1" dirty="0" smtClean="0">
                <a:solidFill>
                  <a:srgbClr val="FFFF00"/>
                </a:solidFill>
                <a:latin typeface="微软雅黑" panose="020B0503020204020204" pitchFamily="34" charset="-122"/>
                <a:ea typeface="微软雅黑" panose="020B0503020204020204" pitchFamily="34" charset="-122"/>
              </a:rPr>
              <a:t>对象名）；</a:t>
            </a: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en-US" sz="2400" b="1" dirty="0" smtClean="0">
                <a:solidFill>
                  <a:srgbClr val="FFFF00"/>
                </a:solidFill>
                <a:latin typeface="微软雅黑" panose="020B0503020204020204" pitchFamily="34" charset="-122"/>
                <a:ea typeface="微软雅黑" panose="020B0503020204020204" pitchFamily="34" charset="-122"/>
              </a:rPr>
              <a:t>复制构造函数</a:t>
            </a:r>
            <a:endParaRPr lang="zh-CN" altLang="en-US" sz="2400" b="1" dirty="0" smtClean="0">
              <a:solidFill>
                <a:srgbClr val="FFFF00"/>
              </a:solidFill>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zh-CN" altLang="en-US" sz="2400" b="1" dirty="0" smtClean="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zh-CN" altLang="en-US" sz="2400" b="1" dirty="0" smtClean="0">
                <a:solidFill>
                  <a:srgbClr val="FFFF00"/>
                </a:solidFill>
                <a:latin typeface="微软雅黑" panose="020B0503020204020204" pitchFamily="34" charset="-122"/>
                <a:ea typeface="微软雅黑" panose="020B0503020204020204" pitchFamily="34" charset="-122"/>
              </a:rPr>
              <a:t>类名</a:t>
            </a: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en-US" sz="2400" b="1" dirty="0" smtClean="0">
                <a:solidFill>
                  <a:srgbClr val="FFFF00"/>
                </a:solidFill>
                <a:latin typeface="微软雅黑" panose="020B0503020204020204" pitchFamily="34" charset="-122"/>
                <a:ea typeface="微软雅黑" panose="020B0503020204020204" pitchFamily="34" charset="-122"/>
              </a:rPr>
              <a:t>类（</a:t>
            </a:r>
            <a:r>
              <a:rPr lang="en-US" altLang="zh-CN" sz="2400" b="1" dirty="0" smtClean="0">
                <a:solidFill>
                  <a:srgbClr val="FFFF00"/>
                </a:solidFill>
                <a:latin typeface="微软雅黑" panose="020B0503020204020204" pitchFamily="34" charset="-122"/>
                <a:ea typeface="微软雅黑" panose="020B0503020204020204" pitchFamily="34" charset="-122"/>
              </a:rPr>
              <a:t> </a:t>
            </a:r>
            <a:r>
              <a:rPr lang="en-US" altLang="zh-CN" sz="2400" b="1" dirty="0" err="1" smtClean="0">
                <a:solidFill>
                  <a:srgbClr val="FFFF00"/>
                </a:solidFill>
                <a:latin typeface="微软雅黑" panose="020B0503020204020204" pitchFamily="34" charset="-122"/>
                <a:ea typeface="微软雅黑" panose="020B0503020204020204" pitchFamily="34" charset="-122"/>
              </a:rPr>
              <a:t>const</a:t>
            </a:r>
            <a:r>
              <a:rPr lang="en-US" altLang="zh-CN" sz="2400" b="1" dirty="0" smtClean="0">
                <a:solidFill>
                  <a:srgbClr val="FFFF00"/>
                </a:solidFill>
                <a:latin typeface="微软雅黑" panose="020B0503020204020204" pitchFamily="34" charset="-122"/>
                <a:ea typeface="微软雅黑" panose="020B0503020204020204" pitchFamily="34" charset="-122"/>
              </a:rPr>
              <a:t>  </a:t>
            </a:r>
            <a:r>
              <a:rPr lang="zh-CN" altLang="en-US" sz="2400" b="1" dirty="0" smtClean="0">
                <a:solidFill>
                  <a:srgbClr val="FFFF00"/>
                </a:solidFill>
                <a:latin typeface="微软雅黑" panose="020B0503020204020204" pitchFamily="34" charset="-122"/>
                <a:ea typeface="微软雅黑" panose="020B0503020204020204" pitchFamily="34" charset="-122"/>
              </a:rPr>
              <a:t>类名 </a:t>
            </a:r>
            <a:r>
              <a:rPr lang="en-US" altLang="zh-CN" sz="2400" b="1" dirty="0" smtClean="0">
                <a:solidFill>
                  <a:srgbClr val="FFFF00"/>
                </a:solidFill>
                <a:latin typeface="微软雅黑" panose="020B0503020204020204" pitchFamily="34" charset="-122"/>
                <a:ea typeface="微软雅黑" panose="020B0503020204020204" pitchFamily="34" charset="-122"/>
              </a:rPr>
              <a:t>&amp;</a:t>
            </a:r>
            <a:r>
              <a:rPr lang="zh-CN" altLang="en-US" sz="2400" b="1" dirty="0" smtClean="0">
                <a:solidFill>
                  <a:srgbClr val="FFFF00"/>
                </a:solidFill>
                <a:latin typeface="微软雅黑" panose="020B0503020204020204" pitchFamily="34" charset="-122"/>
                <a:ea typeface="微软雅黑" panose="020B0503020204020204" pitchFamily="34" charset="-122"/>
              </a:rPr>
              <a:t>对象名）</a:t>
            </a: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en-US" sz="2400" b="1" dirty="0" smtClean="0">
                <a:solidFill>
                  <a:srgbClr val="FFFF00"/>
                </a:solidFill>
                <a:latin typeface="微软雅黑" panose="020B0503020204020204" pitchFamily="34" charset="-122"/>
                <a:ea typeface="微软雅黑" panose="020B0503020204020204" pitchFamily="34" charset="-122"/>
              </a:rPr>
              <a:t>复制构造函数的实现</a:t>
            </a:r>
            <a:endParaRPr lang="zh-CN" altLang="en-US" sz="2400" b="1" dirty="0" smtClean="0">
              <a:solidFill>
                <a:srgbClr val="FFFF00"/>
              </a:solidFill>
              <a:latin typeface="微软雅黑" panose="020B0503020204020204" pitchFamily="34" charset="-122"/>
              <a:ea typeface="微软雅黑" panose="020B0503020204020204" pitchFamily="34" charset="-122"/>
            </a:endParaRPr>
          </a:p>
          <a:p>
            <a:pPr marL="751205" lvl="1" eaLnBrk="1" hangingPunct="1">
              <a:buFont typeface="Georgia" panose="02040502050405020303" pitchFamily="18" charset="0"/>
              <a:buNone/>
            </a:pPr>
            <a:r>
              <a:rPr lang="en-US" altLang="zh-CN" sz="2400" b="1" dirty="0" smtClean="0">
                <a:solidFill>
                  <a:srgbClr val="FFFF00"/>
                </a:solidFill>
                <a:latin typeface="微软雅黑" panose="020B0503020204020204" pitchFamily="34" charset="-122"/>
                <a:ea typeface="微软雅黑" panose="020B0503020204020204" pitchFamily="34" charset="-122"/>
              </a:rPr>
              <a:t>{    </a:t>
            </a:r>
            <a:r>
              <a:rPr lang="zh-CN" altLang="en-US" sz="2400" b="1" dirty="0" smtClean="0">
                <a:solidFill>
                  <a:srgbClr val="FFFF00"/>
                </a:solidFill>
                <a:latin typeface="微软雅黑" panose="020B0503020204020204" pitchFamily="34" charset="-122"/>
                <a:ea typeface="微软雅黑" panose="020B0503020204020204" pitchFamily="34" charset="-122"/>
              </a:rPr>
              <a:t>函数体    </a:t>
            </a:r>
            <a:r>
              <a:rPr lang="en-US" altLang="zh-CN" sz="2400" b="1" dirty="0" smtClean="0">
                <a:solidFill>
                  <a:srgbClr val="FFFF00"/>
                </a:solidFill>
                <a:latin typeface="微软雅黑" panose="020B0503020204020204" pitchFamily="34" charset="-122"/>
                <a:ea typeface="微软雅黑" panose="020B0503020204020204" pitchFamily="34" charset="-122"/>
              </a:rPr>
              <a:t>}</a:t>
            </a:r>
            <a:endParaRPr lang="en-US" altLang="zh-CN" sz="2400" b="1" dirty="0" smtClean="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4.3.4 </a:t>
            </a:r>
            <a:r>
              <a:rPr lang="zh-CN" altLang="en-US" sz="4400" b="1" dirty="0">
                <a:latin typeface="Times New Roman" panose="02020603050405020304" pitchFamily="18" charset="0"/>
                <a:ea typeface="隶书" panose="02010509060101010101" pitchFamily="49" charset="-122"/>
              </a:rPr>
              <a:t>复制构造函数</a:t>
            </a:r>
            <a:endParaRPr lang="zh-CN" altLang="en-US" sz="4400" b="1" dirty="0">
              <a:latin typeface="Times New Roman" panose="02020603050405020304" pitchFamily="18" charset="0"/>
              <a:ea typeface="隶书" panose="02010509060101010101" pitchFamily="49" charset="-122"/>
            </a:endParaRPr>
          </a:p>
        </p:txBody>
      </p:sp>
      <p:sp>
        <p:nvSpPr>
          <p:cNvPr id="39939" name="内容占位符 2"/>
          <p:cNvSpPr>
            <a:spLocks noGrp="1"/>
          </p:cNvSpPr>
          <p:nvPr>
            <p:ph idx="1"/>
          </p:nvPr>
        </p:nvSpPr>
        <p:spPr>
          <a:xfrm>
            <a:off x="755576" y="1412776"/>
            <a:ext cx="7886700" cy="4351338"/>
          </a:xfrm>
        </p:spPr>
        <p:txBody>
          <a:bodyPr/>
          <a:lstStyle/>
          <a:p>
            <a:pPr marL="0" indent="0">
              <a:lnSpc>
                <a:spcPct val="150000"/>
              </a:lnSpc>
              <a:buNone/>
            </a:pPr>
            <a:r>
              <a:rPr lang="zh-CN" altLang="en-US" sz="2400" b="1" dirty="0" smtClean="0">
                <a:solidFill>
                  <a:srgbClr val="FFFF00"/>
                </a:solidFill>
                <a:latin typeface="微软雅黑" panose="020B0503020204020204" pitchFamily="34" charset="-122"/>
                <a:ea typeface="微软雅黑" panose="020B0503020204020204" pitchFamily="34" charset="-122"/>
              </a:rPr>
              <a:t>复制构造函数被调用的三种情况</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a:lnSpc>
                <a:spcPct val="150000"/>
              </a:lnSpc>
              <a:buClr>
                <a:srgbClr val="FFC00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定义一个对象时，以本类另一个对象作为初始值，发生复制构造；</a:t>
            </a:r>
            <a:endParaRPr lang="en-US" altLang="zh-CN" sz="2400" b="1" dirty="0" smtClean="0">
              <a:latin typeface="微软雅黑" panose="020B0503020204020204" pitchFamily="34" charset="-122"/>
              <a:ea typeface="微软雅黑" panose="020B0503020204020204" pitchFamily="34" charset="-122"/>
            </a:endParaRPr>
          </a:p>
          <a:p>
            <a:pPr>
              <a:lnSpc>
                <a:spcPct val="150000"/>
              </a:lnSpc>
              <a:buClr>
                <a:srgbClr val="FFC00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如果函数的形参是类的对象，调用函数时，将使用实参对象初始化形参对象，发生复制构造；</a:t>
            </a:r>
            <a:endParaRPr lang="en-US" altLang="zh-CN" sz="2400" b="1" dirty="0" smtClean="0">
              <a:latin typeface="微软雅黑" panose="020B0503020204020204" pitchFamily="34" charset="-122"/>
              <a:ea typeface="微软雅黑" panose="020B0503020204020204" pitchFamily="34" charset="-122"/>
            </a:endParaRPr>
          </a:p>
          <a:p>
            <a:pPr>
              <a:lnSpc>
                <a:spcPct val="150000"/>
              </a:lnSpc>
              <a:buClr>
                <a:srgbClr val="FFC00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如果函数的返回值是类的对象，函数执行完成返回主调函数时，将使用</a:t>
            </a:r>
            <a:r>
              <a:rPr lang="en-US" altLang="zh-CN" sz="2400" b="1" dirty="0" smtClean="0">
                <a:latin typeface="微软雅黑" panose="020B0503020204020204" pitchFamily="34" charset="-122"/>
                <a:ea typeface="微软雅黑" panose="020B0503020204020204" pitchFamily="34" charset="-122"/>
              </a:rPr>
              <a:t>return</a:t>
            </a:r>
            <a:r>
              <a:rPr lang="zh-CN" altLang="en-US" sz="2400" b="1" dirty="0" smtClean="0">
                <a:latin typeface="微软雅黑" panose="020B0503020204020204" pitchFamily="34" charset="-122"/>
                <a:ea typeface="微软雅黑" panose="020B0503020204020204" pitchFamily="34" charset="-122"/>
              </a:rPr>
              <a:t>语句中的对象初始化一个临时无名对象，传递给主调函数，此时发生复制构造。</a:t>
            </a:r>
            <a:endParaRPr lang="en-US" altLang="zh-CN" sz="2400" b="1" dirty="0" smtClean="0">
              <a:latin typeface="微软雅黑" panose="020B0503020204020204" pitchFamily="34" charset="-122"/>
              <a:ea typeface="微软雅黑" panose="020B0503020204020204" pitchFamily="34" charset="-122"/>
            </a:endParaRPr>
          </a:p>
          <a:p>
            <a:pPr>
              <a:lnSpc>
                <a:spcPct val="150000"/>
              </a:lnSpc>
            </a:pP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28650" y="44624"/>
            <a:ext cx="7886700" cy="1325563"/>
          </a:xfrm>
        </p:spPr>
        <p:txBody>
          <a:bodyPr/>
          <a:lstStyle/>
          <a:p>
            <a:pPr eaLnBrk="1" hangingPunct="1"/>
            <a:r>
              <a:rPr lang="zh-CN" altLang="en-US" b="1" dirty="0" smtClean="0"/>
              <a:t>例</a:t>
            </a:r>
            <a:r>
              <a:rPr lang="en-US" altLang="zh-CN" b="1" dirty="0" smtClean="0"/>
              <a:t>4-2 Point</a:t>
            </a:r>
            <a:r>
              <a:rPr lang="zh-CN" altLang="en-US" b="1" dirty="0" smtClean="0"/>
              <a:t>类的完整程序</a:t>
            </a:r>
            <a:endParaRPr lang="zh-CN" altLang="en-US" b="1" dirty="0" smtClean="0"/>
          </a:p>
        </p:txBody>
      </p:sp>
      <p:sp>
        <p:nvSpPr>
          <p:cNvPr id="40963" name="内容占位符 2"/>
          <p:cNvSpPr>
            <a:spLocks noGrp="1"/>
          </p:cNvSpPr>
          <p:nvPr>
            <p:ph idx="1"/>
          </p:nvPr>
        </p:nvSpPr>
        <p:spPr>
          <a:xfrm>
            <a:off x="323850" y="836712"/>
            <a:ext cx="8496300" cy="5976664"/>
          </a:xfrm>
          <a:solidFill>
            <a:schemeClr val="tx1"/>
          </a:solidFill>
        </p:spPr>
        <p:txBody>
          <a:bodyPr/>
          <a:lstStyle/>
          <a:p>
            <a:pPr marL="0" lvl="1" indent="0"/>
            <a:r>
              <a:rPr lang="en-US" altLang="zh-CN" sz="2000" b="1" dirty="0">
                <a:solidFill>
                  <a:srgbClr val="000000"/>
                </a:solidFill>
                <a:ea typeface="+mj-ea"/>
              </a:rPr>
              <a:t>class Point {   //Point </a:t>
            </a:r>
            <a:r>
              <a:rPr lang="zh-CN" altLang="en-US" sz="2000" b="1" dirty="0">
                <a:solidFill>
                  <a:srgbClr val="000000"/>
                </a:solidFill>
                <a:ea typeface="+mj-ea"/>
              </a:rPr>
              <a:t>类的定义</a:t>
            </a:r>
            <a:endParaRPr lang="en-US" altLang="zh-CN" sz="2000" b="1" dirty="0">
              <a:solidFill>
                <a:srgbClr val="000000"/>
              </a:solidFill>
              <a:ea typeface="+mj-ea"/>
            </a:endParaRPr>
          </a:p>
          <a:p>
            <a:pPr marL="0" lvl="1" indent="0"/>
            <a:r>
              <a:rPr lang="en-US" altLang="zh-CN" sz="2000" b="1" dirty="0">
                <a:solidFill>
                  <a:srgbClr val="000000"/>
                </a:solidFill>
                <a:ea typeface="+mj-ea"/>
              </a:rPr>
              <a:t>public:</a:t>
            </a:r>
            <a:endParaRPr lang="en-US" altLang="zh-CN" sz="2000" b="1" dirty="0">
              <a:solidFill>
                <a:srgbClr val="000000"/>
              </a:solidFill>
              <a:ea typeface="+mj-ea"/>
            </a:endParaRPr>
          </a:p>
          <a:p>
            <a:pPr marL="0" lvl="1" indent="0"/>
            <a:r>
              <a:rPr lang="en-US" altLang="zh-CN" sz="2000" b="1" dirty="0">
                <a:solidFill>
                  <a:srgbClr val="000000"/>
                </a:solidFill>
                <a:ea typeface="+mj-ea"/>
              </a:rPr>
              <a:t>	Point(</a:t>
            </a:r>
            <a:r>
              <a:rPr lang="en-US" altLang="zh-CN" sz="2000" b="1" dirty="0" err="1">
                <a:solidFill>
                  <a:srgbClr val="000000"/>
                </a:solidFill>
                <a:ea typeface="+mj-ea"/>
              </a:rPr>
              <a:t>int</a:t>
            </a:r>
            <a:r>
              <a:rPr lang="en-US" altLang="zh-CN" sz="2000" b="1" dirty="0">
                <a:solidFill>
                  <a:srgbClr val="000000"/>
                </a:solidFill>
                <a:ea typeface="+mj-ea"/>
              </a:rPr>
              <a:t> xx=0, </a:t>
            </a:r>
            <a:r>
              <a:rPr lang="en-US" altLang="zh-CN" sz="2000" b="1" dirty="0" err="1">
                <a:solidFill>
                  <a:srgbClr val="000000"/>
                </a:solidFill>
                <a:ea typeface="+mj-ea"/>
              </a:rPr>
              <a:t>int</a:t>
            </a:r>
            <a:r>
              <a:rPr lang="en-US" altLang="zh-CN" sz="2000" b="1" dirty="0">
                <a:solidFill>
                  <a:srgbClr val="000000"/>
                </a:solidFill>
                <a:ea typeface="+mj-ea"/>
              </a:rPr>
              <a:t> </a:t>
            </a:r>
            <a:r>
              <a:rPr lang="en-US" altLang="zh-CN" sz="2000" b="1" dirty="0" err="1">
                <a:solidFill>
                  <a:srgbClr val="000000"/>
                </a:solidFill>
                <a:ea typeface="+mj-ea"/>
              </a:rPr>
              <a:t>yy</a:t>
            </a:r>
            <a:r>
              <a:rPr lang="en-US" altLang="zh-CN" sz="2000" b="1" dirty="0">
                <a:solidFill>
                  <a:srgbClr val="000000"/>
                </a:solidFill>
                <a:ea typeface="+mj-ea"/>
              </a:rPr>
              <a:t>=0) { x = xx; y = </a:t>
            </a:r>
            <a:r>
              <a:rPr lang="en-US" altLang="zh-CN" sz="2000" b="1" dirty="0" err="1">
                <a:solidFill>
                  <a:srgbClr val="000000"/>
                </a:solidFill>
                <a:ea typeface="+mj-ea"/>
              </a:rPr>
              <a:t>yy</a:t>
            </a:r>
            <a:r>
              <a:rPr lang="en-US" altLang="zh-CN" sz="2000" b="1" dirty="0">
                <a:solidFill>
                  <a:srgbClr val="000000"/>
                </a:solidFill>
                <a:ea typeface="+mj-ea"/>
              </a:rPr>
              <a:t>; }    //</a:t>
            </a:r>
            <a:r>
              <a:rPr lang="zh-CN" altLang="en-US" sz="2000" b="1" dirty="0">
                <a:solidFill>
                  <a:srgbClr val="000000"/>
                </a:solidFill>
                <a:ea typeface="+mj-ea"/>
              </a:rPr>
              <a:t>构造函数，内联</a:t>
            </a:r>
            <a:endParaRPr lang="en-US" altLang="zh-CN" sz="2000" b="1" dirty="0">
              <a:solidFill>
                <a:srgbClr val="000000"/>
              </a:solidFill>
              <a:ea typeface="+mj-ea"/>
            </a:endParaRPr>
          </a:p>
          <a:p>
            <a:pPr marL="0" lvl="1" indent="0"/>
            <a:r>
              <a:rPr lang="en-US" altLang="zh-CN" sz="2000" b="1" dirty="0">
                <a:solidFill>
                  <a:srgbClr val="000000"/>
                </a:solidFill>
                <a:ea typeface="+mj-ea"/>
              </a:rPr>
              <a:t>	Point(</a:t>
            </a:r>
            <a:r>
              <a:rPr lang="en-US" altLang="zh-CN" sz="2000" b="1" dirty="0" err="1">
                <a:solidFill>
                  <a:srgbClr val="000000"/>
                </a:solidFill>
                <a:ea typeface="+mj-ea"/>
              </a:rPr>
              <a:t>const</a:t>
            </a:r>
            <a:r>
              <a:rPr lang="en-US" altLang="zh-CN" sz="2000" b="1" dirty="0">
                <a:solidFill>
                  <a:srgbClr val="000000"/>
                </a:solidFill>
                <a:ea typeface="+mj-ea"/>
              </a:rPr>
              <a:t> Point&amp; p); //</a:t>
            </a:r>
            <a:r>
              <a:rPr lang="zh-CN" altLang="en-US" sz="2000" b="1" dirty="0">
                <a:solidFill>
                  <a:srgbClr val="000000"/>
                </a:solidFill>
                <a:ea typeface="+mj-ea"/>
              </a:rPr>
              <a:t>复制构造函数</a:t>
            </a:r>
            <a:endParaRPr lang="en-US" altLang="zh-CN" sz="2000" b="1" dirty="0">
              <a:solidFill>
                <a:srgbClr val="000000"/>
              </a:solidFill>
              <a:ea typeface="+mj-ea"/>
            </a:endParaRPr>
          </a:p>
          <a:p>
            <a:pPr marL="0" lvl="1" indent="0"/>
            <a:r>
              <a:rPr lang="en-US" altLang="zh-CN" sz="2000" b="1" dirty="0">
                <a:solidFill>
                  <a:srgbClr val="000000"/>
                </a:solidFill>
                <a:ea typeface="+mj-ea"/>
              </a:rPr>
              <a:t>  </a:t>
            </a:r>
            <a:r>
              <a:rPr lang="en-US" altLang="zh-CN" sz="2000" b="1" dirty="0" smtClean="0">
                <a:solidFill>
                  <a:srgbClr val="000000"/>
                </a:solidFill>
                <a:ea typeface="+mj-ea"/>
              </a:rPr>
              <a:t>	void </a:t>
            </a:r>
            <a:r>
              <a:rPr lang="en-US" altLang="zh-CN" sz="2000" b="1" dirty="0" err="1">
                <a:solidFill>
                  <a:srgbClr val="000000"/>
                </a:solidFill>
                <a:ea typeface="+mj-ea"/>
              </a:rPr>
              <a:t>setX</a:t>
            </a:r>
            <a:r>
              <a:rPr lang="en-US" altLang="zh-CN" sz="2000" b="1" dirty="0">
                <a:solidFill>
                  <a:srgbClr val="000000"/>
                </a:solidFill>
                <a:ea typeface="+mj-ea"/>
              </a:rPr>
              <a:t>(</a:t>
            </a:r>
            <a:r>
              <a:rPr lang="en-US" altLang="zh-CN" sz="2000" b="1" dirty="0" err="1">
                <a:solidFill>
                  <a:srgbClr val="000000"/>
                </a:solidFill>
                <a:ea typeface="+mj-ea"/>
              </a:rPr>
              <a:t>int</a:t>
            </a:r>
            <a:r>
              <a:rPr lang="en-US" altLang="zh-CN" sz="2000" b="1" dirty="0">
                <a:solidFill>
                  <a:srgbClr val="000000"/>
                </a:solidFill>
                <a:ea typeface="+mj-ea"/>
              </a:rPr>
              <a:t> xx) {x=xx;}</a:t>
            </a:r>
            <a:endParaRPr lang="en-US" altLang="zh-CN" sz="2000" b="1" dirty="0">
              <a:solidFill>
                <a:srgbClr val="000000"/>
              </a:solidFill>
              <a:ea typeface="+mj-ea"/>
            </a:endParaRPr>
          </a:p>
          <a:p>
            <a:pPr marL="0" lvl="1" indent="0"/>
            <a:r>
              <a:rPr lang="en-US" altLang="zh-CN" sz="2000" b="1" dirty="0">
                <a:solidFill>
                  <a:srgbClr val="000000"/>
                </a:solidFill>
                <a:ea typeface="+mj-ea"/>
              </a:rPr>
              <a:t>  </a:t>
            </a:r>
            <a:r>
              <a:rPr lang="en-US" altLang="zh-CN" sz="2000" b="1" dirty="0" smtClean="0">
                <a:solidFill>
                  <a:srgbClr val="000000"/>
                </a:solidFill>
                <a:ea typeface="+mj-ea"/>
              </a:rPr>
              <a:t>	void </a:t>
            </a:r>
            <a:r>
              <a:rPr lang="en-US" altLang="zh-CN" sz="2000" b="1" dirty="0" err="1">
                <a:solidFill>
                  <a:srgbClr val="000000"/>
                </a:solidFill>
                <a:ea typeface="+mj-ea"/>
              </a:rPr>
              <a:t>setY</a:t>
            </a:r>
            <a:r>
              <a:rPr lang="en-US" altLang="zh-CN" sz="2000" b="1" dirty="0">
                <a:solidFill>
                  <a:srgbClr val="000000"/>
                </a:solidFill>
                <a:ea typeface="+mj-ea"/>
              </a:rPr>
              <a:t>(</a:t>
            </a:r>
            <a:r>
              <a:rPr lang="en-US" altLang="zh-CN" sz="2000" b="1" dirty="0" err="1">
                <a:solidFill>
                  <a:srgbClr val="000000"/>
                </a:solidFill>
                <a:ea typeface="+mj-ea"/>
              </a:rPr>
              <a:t>int</a:t>
            </a:r>
            <a:r>
              <a:rPr lang="en-US" altLang="zh-CN" sz="2000" b="1" dirty="0">
                <a:solidFill>
                  <a:srgbClr val="000000"/>
                </a:solidFill>
                <a:ea typeface="+mj-ea"/>
              </a:rPr>
              <a:t> </a:t>
            </a:r>
            <a:r>
              <a:rPr lang="en-US" altLang="zh-CN" sz="2000" b="1" dirty="0" err="1">
                <a:solidFill>
                  <a:srgbClr val="000000"/>
                </a:solidFill>
                <a:ea typeface="+mj-ea"/>
              </a:rPr>
              <a:t>yy</a:t>
            </a:r>
            <a:r>
              <a:rPr lang="en-US" altLang="zh-CN" sz="2000" b="1" dirty="0">
                <a:solidFill>
                  <a:srgbClr val="000000"/>
                </a:solidFill>
                <a:ea typeface="+mj-ea"/>
              </a:rPr>
              <a:t>) {y=</a:t>
            </a:r>
            <a:r>
              <a:rPr lang="en-US" altLang="zh-CN" sz="2000" b="1" dirty="0" err="1">
                <a:solidFill>
                  <a:srgbClr val="000000"/>
                </a:solidFill>
                <a:ea typeface="+mj-ea"/>
              </a:rPr>
              <a:t>yy</a:t>
            </a:r>
            <a:r>
              <a:rPr lang="en-US" altLang="zh-CN" sz="2000" b="1" dirty="0">
                <a:solidFill>
                  <a:srgbClr val="000000"/>
                </a:solidFill>
                <a:ea typeface="+mj-ea"/>
              </a:rPr>
              <a:t>;}</a:t>
            </a:r>
            <a:endParaRPr lang="en-US" altLang="zh-CN" sz="2000" b="1" dirty="0">
              <a:solidFill>
                <a:srgbClr val="000000"/>
              </a:solidFill>
              <a:ea typeface="+mj-ea"/>
            </a:endParaRPr>
          </a:p>
          <a:p>
            <a:pPr marL="0" lvl="1" indent="0"/>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a:t>
            </a:r>
            <a:r>
              <a:rPr lang="en-US" altLang="zh-CN" sz="2000" b="1" dirty="0" err="1">
                <a:solidFill>
                  <a:srgbClr val="000000"/>
                </a:solidFill>
                <a:ea typeface="+mj-ea"/>
              </a:rPr>
              <a:t>getX</a:t>
            </a:r>
            <a:r>
              <a:rPr lang="en-US" altLang="zh-CN" sz="2000" b="1" dirty="0">
                <a:solidFill>
                  <a:srgbClr val="000000"/>
                </a:solidFill>
                <a:ea typeface="+mj-ea"/>
              </a:rPr>
              <a:t>() </a:t>
            </a:r>
            <a:r>
              <a:rPr lang="en-US" altLang="zh-CN" sz="2000" b="1" dirty="0" err="1">
                <a:solidFill>
                  <a:srgbClr val="000000"/>
                </a:solidFill>
                <a:ea typeface="+mj-ea"/>
              </a:rPr>
              <a:t>const</a:t>
            </a:r>
            <a:r>
              <a:rPr lang="en-US" altLang="zh-CN" sz="2000" b="1" dirty="0">
                <a:solidFill>
                  <a:srgbClr val="000000"/>
                </a:solidFill>
                <a:ea typeface="+mj-ea"/>
              </a:rPr>
              <a:t> { return x; } //</a:t>
            </a:r>
            <a:r>
              <a:rPr lang="zh-CN" altLang="en-US" sz="2000" b="1" dirty="0">
                <a:solidFill>
                  <a:srgbClr val="000000"/>
                </a:solidFill>
                <a:ea typeface="+mj-ea"/>
              </a:rPr>
              <a:t>常函数（第</a:t>
            </a:r>
            <a:r>
              <a:rPr lang="en-US" altLang="zh-CN" sz="2000" b="1" dirty="0">
                <a:solidFill>
                  <a:srgbClr val="000000"/>
                </a:solidFill>
                <a:ea typeface="+mj-ea"/>
              </a:rPr>
              <a:t>5</a:t>
            </a:r>
            <a:r>
              <a:rPr lang="zh-CN" altLang="en-US" sz="2000" b="1" dirty="0">
                <a:solidFill>
                  <a:srgbClr val="000000"/>
                </a:solidFill>
                <a:ea typeface="+mj-ea"/>
              </a:rPr>
              <a:t>章）</a:t>
            </a:r>
            <a:endParaRPr lang="en-US" altLang="zh-CN" sz="2000" b="1" dirty="0">
              <a:solidFill>
                <a:srgbClr val="000000"/>
              </a:solidFill>
              <a:ea typeface="+mj-ea"/>
            </a:endParaRPr>
          </a:p>
          <a:p>
            <a:pPr marL="0" lvl="1" indent="0"/>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a:t>
            </a:r>
            <a:r>
              <a:rPr lang="en-US" altLang="zh-CN" sz="2000" b="1" dirty="0" err="1">
                <a:solidFill>
                  <a:srgbClr val="000000"/>
                </a:solidFill>
                <a:ea typeface="+mj-ea"/>
              </a:rPr>
              <a:t>getY</a:t>
            </a:r>
            <a:r>
              <a:rPr lang="en-US" altLang="zh-CN" sz="2000" b="1" dirty="0">
                <a:solidFill>
                  <a:srgbClr val="000000"/>
                </a:solidFill>
                <a:ea typeface="+mj-ea"/>
              </a:rPr>
              <a:t>() </a:t>
            </a:r>
            <a:r>
              <a:rPr lang="en-US" altLang="zh-CN" sz="2000" b="1" dirty="0" err="1">
                <a:solidFill>
                  <a:srgbClr val="000000"/>
                </a:solidFill>
                <a:ea typeface="+mj-ea"/>
              </a:rPr>
              <a:t>const</a:t>
            </a:r>
            <a:r>
              <a:rPr lang="en-US" altLang="zh-CN" sz="2000" b="1" dirty="0">
                <a:solidFill>
                  <a:srgbClr val="000000"/>
                </a:solidFill>
                <a:ea typeface="+mj-ea"/>
              </a:rPr>
              <a:t> { return y; } //</a:t>
            </a:r>
            <a:r>
              <a:rPr lang="zh-CN" altLang="en-US" sz="2000" b="1" dirty="0">
                <a:solidFill>
                  <a:srgbClr val="000000"/>
                </a:solidFill>
                <a:ea typeface="+mj-ea"/>
              </a:rPr>
              <a:t>常函数（第</a:t>
            </a:r>
            <a:r>
              <a:rPr lang="en-US" altLang="zh-CN" sz="2000" b="1" dirty="0">
                <a:solidFill>
                  <a:srgbClr val="000000"/>
                </a:solidFill>
                <a:ea typeface="+mj-ea"/>
              </a:rPr>
              <a:t>5</a:t>
            </a:r>
            <a:r>
              <a:rPr lang="zh-CN" altLang="en-US" sz="2000" b="1" dirty="0">
                <a:solidFill>
                  <a:srgbClr val="000000"/>
                </a:solidFill>
                <a:ea typeface="+mj-ea"/>
              </a:rPr>
              <a:t>章）</a:t>
            </a:r>
            <a:endParaRPr lang="en-US" altLang="zh-CN" sz="2000" b="1" dirty="0">
              <a:solidFill>
                <a:srgbClr val="000000"/>
              </a:solidFill>
              <a:ea typeface="+mj-ea"/>
            </a:endParaRPr>
          </a:p>
          <a:p>
            <a:pPr marL="0" lvl="1" indent="0"/>
            <a:r>
              <a:rPr lang="en-US" altLang="zh-CN" sz="2000" b="1" dirty="0">
                <a:solidFill>
                  <a:srgbClr val="000000"/>
                </a:solidFill>
                <a:ea typeface="+mj-ea"/>
              </a:rPr>
              <a:t>private:</a:t>
            </a:r>
            <a:endParaRPr lang="en-US" altLang="zh-CN" sz="2000" b="1" dirty="0">
              <a:solidFill>
                <a:srgbClr val="000000"/>
              </a:solidFill>
              <a:ea typeface="+mj-ea"/>
            </a:endParaRPr>
          </a:p>
          <a:p>
            <a:pPr marL="0" lvl="1" indent="0"/>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x, y; //</a:t>
            </a:r>
            <a:r>
              <a:rPr lang="zh-CN" altLang="en-US" sz="2000" b="1" dirty="0">
                <a:solidFill>
                  <a:srgbClr val="000000"/>
                </a:solidFill>
                <a:ea typeface="+mj-ea"/>
              </a:rPr>
              <a:t>私有数据</a:t>
            </a:r>
            <a:endParaRPr lang="en-US" altLang="zh-CN" sz="2000" b="1" dirty="0">
              <a:solidFill>
                <a:srgbClr val="000000"/>
              </a:solidFill>
              <a:ea typeface="+mj-ea"/>
            </a:endParaRPr>
          </a:p>
          <a:p>
            <a:pPr marL="0" lvl="1" indent="0"/>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r>
              <a:rPr lang="zh-CN" altLang="en-US" sz="2000" b="1" dirty="0">
                <a:solidFill>
                  <a:srgbClr val="000000"/>
                </a:solidFill>
                <a:ea typeface="+mj-ea"/>
              </a:rPr>
              <a:t>成员函数的实现</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Point::Point (</a:t>
            </a:r>
            <a:r>
              <a:rPr lang="en-US" altLang="zh-CN" sz="2000" b="1" dirty="0" err="1">
                <a:solidFill>
                  <a:srgbClr val="000000"/>
                </a:solidFill>
                <a:ea typeface="+mj-ea"/>
              </a:rPr>
              <a:t>const</a:t>
            </a:r>
            <a:r>
              <a:rPr lang="en-US" altLang="zh-CN" sz="2000" b="1" dirty="0">
                <a:solidFill>
                  <a:srgbClr val="000000"/>
                </a:solidFill>
                <a:ea typeface="+mj-ea"/>
              </a:rPr>
              <a:t> Point&amp; p)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smtClean="0">
                <a:solidFill>
                  <a:srgbClr val="000000"/>
                </a:solidFill>
                <a:ea typeface="+mj-ea"/>
              </a:rPr>
              <a:t>	x </a:t>
            </a:r>
            <a:r>
              <a:rPr lang="en-US" altLang="zh-CN" sz="2000" b="1" dirty="0">
                <a:solidFill>
                  <a:srgbClr val="000000"/>
                </a:solidFill>
                <a:ea typeface="+mj-ea"/>
              </a:rPr>
              <a:t>= </a:t>
            </a:r>
            <a:r>
              <a:rPr lang="en-US" altLang="zh-CN" sz="2000" b="1" dirty="0" err="1">
                <a:solidFill>
                  <a:srgbClr val="000000"/>
                </a:solidFill>
                <a:ea typeface="+mj-ea"/>
              </a:rPr>
              <a:t>p.x</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smtClean="0">
                <a:solidFill>
                  <a:srgbClr val="000000"/>
                </a:solidFill>
                <a:ea typeface="+mj-ea"/>
              </a:rPr>
              <a:t>	y </a:t>
            </a:r>
            <a:r>
              <a:rPr lang="en-US" altLang="zh-CN" sz="2000" b="1" dirty="0">
                <a:solidFill>
                  <a:srgbClr val="000000"/>
                </a:solidFill>
                <a:ea typeface="+mj-ea"/>
              </a:rPr>
              <a:t>= </a:t>
            </a:r>
            <a:r>
              <a:rPr lang="en-US" altLang="zh-CN" sz="2000" b="1" dirty="0" err="1">
                <a:solidFill>
                  <a:srgbClr val="000000"/>
                </a:solidFill>
                <a:ea typeface="+mj-ea"/>
              </a:rPr>
              <a:t>p.y</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smtClean="0">
                <a:solidFill>
                  <a:srgbClr val="000000"/>
                </a:solidFill>
                <a:ea typeface="+mj-ea"/>
              </a:rPr>
              <a:t>	</a:t>
            </a:r>
            <a:r>
              <a:rPr lang="en-US" altLang="zh-CN" sz="2000" b="1" dirty="0" err="1" smtClean="0">
                <a:solidFill>
                  <a:srgbClr val="000000"/>
                </a:solidFill>
                <a:ea typeface="+mj-ea"/>
              </a:rPr>
              <a:t>cout</a:t>
            </a:r>
            <a:r>
              <a:rPr lang="en-US" altLang="zh-CN" sz="2000" b="1" dirty="0" smtClean="0">
                <a:solidFill>
                  <a:srgbClr val="000000"/>
                </a:solidFill>
                <a:ea typeface="+mj-ea"/>
              </a:rPr>
              <a:t> </a:t>
            </a:r>
            <a:r>
              <a:rPr lang="en-US" altLang="zh-CN" sz="2000" b="1" dirty="0">
                <a:solidFill>
                  <a:srgbClr val="000000"/>
                </a:solidFill>
                <a:ea typeface="+mj-ea"/>
              </a:rPr>
              <a:t>&lt;&lt; "Calling the copy constructor "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a:p>
            <a:pPr lvl="1"/>
            <a:endParaRPr lang="en-US" altLang="zh-CN" sz="20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a:xfrm>
            <a:off x="323850" y="0"/>
            <a:ext cx="8686800" cy="6858000"/>
          </a:xfrm>
          <a:solidFill>
            <a:schemeClr val="tx1"/>
          </a:solidFill>
        </p:spPr>
        <p:txBody>
          <a:bodyPr/>
          <a:lstStyle/>
          <a:p>
            <a:pPr marL="0" indent="0">
              <a:spcBef>
                <a:spcPts val="0"/>
              </a:spcBef>
              <a:buNone/>
            </a:pPr>
            <a:r>
              <a:rPr lang="en-US" altLang="zh-CN" sz="2000" b="1" dirty="0">
                <a:solidFill>
                  <a:srgbClr val="000000"/>
                </a:solidFill>
                <a:ea typeface="+mj-ea"/>
              </a:rPr>
              <a:t>//</a:t>
            </a:r>
            <a:r>
              <a:rPr lang="zh-CN" altLang="en-US" sz="2000" b="1" dirty="0">
                <a:solidFill>
                  <a:srgbClr val="000000"/>
                </a:solidFill>
                <a:ea typeface="+mj-ea"/>
              </a:rPr>
              <a:t>形参为</a:t>
            </a:r>
            <a:r>
              <a:rPr lang="en-US" altLang="zh-CN" sz="2000" b="1" dirty="0">
                <a:solidFill>
                  <a:srgbClr val="000000"/>
                </a:solidFill>
                <a:ea typeface="+mj-ea"/>
              </a:rPr>
              <a:t>Point</a:t>
            </a:r>
            <a:r>
              <a:rPr lang="zh-CN" altLang="en-US" sz="2000" b="1" dirty="0">
                <a:solidFill>
                  <a:srgbClr val="000000"/>
                </a:solidFill>
                <a:ea typeface="+mj-ea"/>
              </a:rPr>
              <a:t>类对象的函数</a:t>
            </a:r>
            <a:endParaRPr lang="zh-CN" altLang="en-US" sz="2000" b="1" dirty="0">
              <a:solidFill>
                <a:srgbClr val="000000"/>
              </a:solidFill>
              <a:ea typeface="+mj-ea"/>
            </a:endParaRPr>
          </a:p>
          <a:p>
            <a:pPr marL="0" indent="0">
              <a:spcBef>
                <a:spcPts val="0"/>
              </a:spcBef>
              <a:buNone/>
            </a:pPr>
            <a:r>
              <a:rPr lang="en-US" altLang="zh-CN" sz="2000" b="1" dirty="0">
                <a:solidFill>
                  <a:srgbClr val="000000"/>
                </a:solidFill>
                <a:ea typeface="+mj-ea"/>
              </a:rPr>
              <a:t>void fun1(Point p)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p.getX</a:t>
            </a:r>
            <a:r>
              <a:rPr lang="en-US" altLang="zh-CN" sz="2000" b="1" dirty="0">
                <a:solidFill>
                  <a:srgbClr val="000000"/>
                </a:solidFill>
                <a:ea typeface="+mj-ea"/>
              </a:rPr>
              <a:t>()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r>
              <a:rPr lang="zh-CN" altLang="en-US" sz="2000" b="1" dirty="0">
                <a:solidFill>
                  <a:srgbClr val="000000"/>
                </a:solidFill>
                <a:ea typeface="+mj-ea"/>
              </a:rPr>
              <a:t>返回值为</a:t>
            </a:r>
            <a:r>
              <a:rPr lang="en-US" altLang="zh-CN" sz="2000" b="1" dirty="0">
                <a:solidFill>
                  <a:srgbClr val="000000"/>
                </a:solidFill>
                <a:ea typeface="+mj-ea"/>
              </a:rPr>
              <a:t>Point</a:t>
            </a:r>
            <a:r>
              <a:rPr lang="zh-CN" altLang="en-US" sz="2000" b="1" dirty="0">
                <a:solidFill>
                  <a:srgbClr val="000000"/>
                </a:solidFill>
                <a:ea typeface="+mj-ea"/>
              </a:rPr>
              <a:t>类对象的函数</a:t>
            </a:r>
            <a:endParaRPr lang="zh-CN" altLang="en-US" sz="2000" b="1" dirty="0">
              <a:solidFill>
                <a:srgbClr val="000000"/>
              </a:solidFill>
              <a:ea typeface="+mj-ea"/>
            </a:endParaRPr>
          </a:p>
          <a:p>
            <a:pPr marL="0" indent="0">
              <a:spcBef>
                <a:spcPts val="0"/>
              </a:spcBef>
              <a:buNone/>
            </a:pPr>
            <a:r>
              <a:rPr lang="en-US" altLang="zh-CN" sz="2000" b="1" dirty="0">
                <a:solidFill>
                  <a:srgbClr val="000000"/>
                </a:solidFill>
                <a:ea typeface="+mj-ea"/>
              </a:rPr>
              <a:t>Point fun2()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Point a(1, 2);</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return a;</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r>
              <a:rPr lang="zh-CN" altLang="en-US" sz="2000" b="1" dirty="0">
                <a:solidFill>
                  <a:srgbClr val="000000"/>
                </a:solidFill>
                <a:ea typeface="+mj-ea"/>
              </a:rPr>
              <a:t>主程序</a:t>
            </a:r>
            <a:endParaRPr lang="zh-CN" altLang="en-US" sz="2000" b="1" dirty="0">
              <a:solidFill>
                <a:srgbClr val="000000"/>
              </a:solidFill>
              <a:ea typeface="+mj-ea"/>
            </a:endParaRPr>
          </a:p>
          <a:p>
            <a:pPr marL="0" indent="0">
              <a:spcBef>
                <a:spcPts val="0"/>
              </a:spcBef>
              <a:buNone/>
            </a:pPr>
            <a:r>
              <a:rPr lang="en-US" altLang="zh-CN" sz="2000" b="1" dirty="0" err="1">
                <a:solidFill>
                  <a:srgbClr val="000000"/>
                </a:solidFill>
                <a:ea typeface="+mj-ea"/>
              </a:rPr>
              <a:t>int</a:t>
            </a:r>
            <a:r>
              <a:rPr lang="en-US" altLang="zh-CN" sz="2000" b="1" dirty="0">
                <a:solidFill>
                  <a:srgbClr val="000000"/>
                </a:solidFill>
                <a:ea typeface="+mj-ea"/>
              </a:rPr>
              <a:t> main()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Point a(4, 5);	//</a:t>
            </a:r>
            <a:r>
              <a:rPr lang="zh-CN" altLang="en-US" sz="2000" b="1" dirty="0">
                <a:solidFill>
                  <a:srgbClr val="000000"/>
                </a:solidFill>
                <a:ea typeface="+mj-ea"/>
              </a:rPr>
              <a:t>第一个</a:t>
            </a:r>
            <a:r>
              <a:rPr lang="zh-CN" altLang="en-US" sz="2000" b="1" dirty="0" smtClean="0">
                <a:solidFill>
                  <a:srgbClr val="000000"/>
                </a:solidFill>
                <a:ea typeface="+mj-ea"/>
              </a:rPr>
              <a:t>对象</a:t>
            </a:r>
            <a:r>
              <a:rPr lang="en-US" altLang="zh-CN" sz="2000" b="1" dirty="0" smtClean="0">
                <a:solidFill>
                  <a:srgbClr val="000000"/>
                </a:solidFill>
                <a:ea typeface="+mj-ea"/>
              </a:rPr>
              <a:t>a</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a:solidFill>
                  <a:srgbClr val="FF0000"/>
                </a:solidFill>
                <a:ea typeface="+mj-ea"/>
              </a:rPr>
              <a:t>Point b = a;	//</a:t>
            </a:r>
            <a:r>
              <a:rPr lang="zh-CN" altLang="en-US" sz="2000" b="1" dirty="0">
                <a:solidFill>
                  <a:srgbClr val="FF0000"/>
                </a:solidFill>
                <a:ea typeface="+mj-ea"/>
              </a:rPr>
              <a:t>情况一，</a:t>
            </a:r>
            <a:r>
              <a:rPr lang="zh-CN" altLang="en-US" sz="2000" b="1" dirty="0" smtClean="0">
                <a:solidFill>
                  <a:srgbClr val="FF0000"/>
                </a:solidFill>
                <a:ea typeface="+mj-ea"/>
              </a:rPr>
              <a:t>用</a:t>
            </a:r>
            <a:r>
              <a:rPr lang="en-US" altLang="zh-CN" sz="2000" b="1" dirty="0" smtClean="0">
                <a:solidFill>
                  <a:srgbClr val="FF0000"/>
                </a:solidFill>
                <a:ea typeface="+mj-ea"/>
              </a:rPr>
              <a:t>a</a:t>
            </a:r>
            <a:r>
              <a:rPr lang="zh-CN" altLang="en-US" sz="2000" b="1" dirty="0" smtClean="0">
                <a:solidFill>
                  <a:srgbClr val="FF0000"/>
                </a:solidFill>
                <a:ea typeface="+mj-ea"/>
              </a:rPr>
              <a:t>初始化</a:t>
            </a:r>
            <a:r>
              <a:rPr lang="en-US" altLang="zh-CN" sz="2000" b="1" dirty="0" smtClean="0">
                <a:solidFill>
                  <a:srgbClr val="FF0000"/>
                </a:solidFill>
                <a:ea typeface="+mj-ea"/>
              </a:rPr>
              <a:t>b</a:t>
            </a:r>
            <a:r>
              <a:rPr lang="zh-CN" altLang="en-US" sz="2000" b="1" dirty="0" smtClean="0">
                <a:solidFill>
                  <a:srgbClr val="FF0000"/>
                </a:solidFill>
                <a:ea typeface="+mj-ea"/>
              </a:rPr>
              <a:t>。</a:t>
            </a:r>
            <a:r>
              <a:rPr lang="zh-CN" altLang="en-US" sz="2000" b="1" dirty="0">
                <a:solidFill>
                  <a:srgbClr val="FF0000"/>
                </a:solidFill>
                <a:ea typeface="+mj-ea"/>
              </a:rPr>
              <a:t>第一次调用复制构造函数</a:t>
            </a:r>
            <a:endParaRPr lang="zh-CN" altLang="en-US" sz="2000" b="1" dirty="0">
              <a:solidFill>
                <a:srgbClr val="FF0000"/>
              </a:solidFill>
              <a:ea typeface="+mj-ea"/>
            </a:endParaRPr>
          </a:p>
          <a:p>
            <a:pPr marL="0" indent="0">
              <a:spcBef>
                <a:spcPts val="0"/>
              </a:spcBef>
              <a:buNone/>
            </a:pPr>
            <a:r>
              <a:rPr lang="zh-CN" altLang="en-US"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b.getX</a:t>
            </a:r>
            <a:r>
              <a:rPr lang="en-US" altLang="zh-CN" sz="2000" b="1" dirty="0">
                <a:solidFill>
                  <a:srgbClr val="000000"/>
                </a:solidFill>
                <a:ea typeface="+mj-ea"/>
              </a:rPr>
              <a:t>()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lvl="0" indent="0">
              <a:spcBef>
                <a:spcPts val="0"/>
              </a:spcBef>
              <a:buClr>
                <a:srgbClr val="00CCCC"/>
              </a:buClr>
              <a:buNone/>
            </a:pPr>
            <a:r>
              <a:rPr lang="en-US" altLang="zh-CN" sz="2000" b="1" dirty="0" smtClean="0">
                <a:solidFill>
                  <a:srgbClr val="000000"/>
                </a:solidFill>
                <a:ea typeface="+mj-ea"/>
              </a:rPr>
              <a:t>	</a:t>
            </a:r>
            <a:r>
              <a:rPr lang="en-US" altLang="zh-CN" sz="2000" b="1" dirty="0">
                <a:solidFill>
                  <a:srgbClr val="FF0000"/>
                </a:solidFill>
                <a:ea typeface="隶书" panose="02010509060101010101" pitchFamily="49" charset="-122"/>
              </a:rPr>
              <a:t>//</a:t>
            </a:r>
            <a:r>
              <a:rPr lang="zh-CN" altLang="en-US" sz="2000" b="1" dirty="0">
                <a:solidFill>
                  <a:srgbClr val="FF0000"/>
                </a:solidFill>
                <a:ea typeface="隶书" panose="02010509060101010101" pitchFamily="49" charset="-122"/>
              </a:rPr>
              <a:t>情况二，</a:t>
            </a:r>
            <a:r>
              <a:rPr lang="zh-CN" altLang="en-US" sz="2000" b="1" dirty="0" smtClean="0">
                <a:solidFill>
                  <a:srgbClr val="FF0000"/>
                </a:solidFill>
                <a:ea typeface="隶书" panose="02010509060101010101" pitchFamily="49" charset="-122"/>
              </a:rPr>
              <a:t>对象</a:t>
            </a:r>
            <a:r>
              <a:rPr lang="en-US" altLang="zh-CN" sz="2000" b="1" dirty="0" smtClean="0">
                <a:solidFill>
                  <a:srgbClr val="FF0000"/>
                </a:solidFill>
                <a:ea typeface="隶书" panose="02010509060101010101" pitchFamily="49" charset="-122"/>
              </a:rPr>
              <a:t>b</a:t>
            </a:r>
            <a:r>
              <a:rPr lang="zh-CN" altLang="en-US" sz="2000" b="1" dirty="0" smtClean="0">
                <a:solidFill>
                  <a:srgbClr val="FF0000"/>
                </a:solidFill>
                <a:ea typeface="隶书" panose="02010509060101010101" pitchFamily="49" charset="-122"/>
              </a:rPr>
              <a:t>作为</a:t>
            </a:r>
            <a:r>
              <a:rPr lang="en-US" altLang="zh-CN" sz="2000" b="1" dirty="0">
                <a:solidFill>
                  <a:srgbClr val="FF0000"/>
                </a:solidFill>
                <a:ea typeface="隶书" panose="02010509060101010101" pitchFamily="49" charset="-122"/>
              </a:rPr>
              <a:t>fun1</a:t>
            </a:r>
            <a:r>
              <a:rPr lang="zh-CN" altLang="en-US" sz="2000" b="1" dirty="0">
                <a:solidFill>
                  <a:srgbClr val="FF0000"/>
                </a:solidFill>
                <a:ea typeface="隶书" panose="02010509060101010101" pitchFamily="49" charset="-122"/>
              </a:rPr>
              <a:t>的实参。第二次调用复制构造函数</a:t>
            </a:r>
            <a:endParaRPr lang="zh-CN" altLang="en-US" sz="2000" b="1" dirty="0">
              <a:solidFill>
                <a:srgbClr val="FF0000"/>
              </a:solidFill>
              <a:ea typeface="隶书" panose="02010509060101010101" pitchFamily="49" charset="-122"/>
            </a:endParaRPr>
          </a:p>
          <a:p>
            <a:pPr marL="0" indent="0">
              <a:spcBef>
                <a:spcPts val="0"/>
              </a:spcBef>
              <a:buNone/>
            </a:pPr>
            <a:r>
              <a:rPr lang="en-US" altLang="zh-CN" sz="2000" b="1" dirty="0">
                <a:solidFill>
                  <a:srgbClr val="FF0000"/>
                </a:solidFill>
                <a:ea typeface="+mj-ea"/>
              </a:rPr>
              <a:t>	</a:t>
            </a:r>
            <a:r>
              <a:rPr lang="en-US" altLang="zh-CN" sz="2000" b="1" dirty="0" smtClean="0">
                <a:solidFill>
                  <a:srgbClr val="FF0000"/>
                </a:solidFill>
                <a:ea typeface="+mj-ea"/>
              </a:rPr>
              <a:t>fun1(b);</a:t>
            </a:r>
            <a:r>
              <a:rPr lang="en-US" altLang="zh-CN" sz="2000" b="1" dirty="0">
                <a:solidFill>
                  <a:srgbClr val="FF0000"/>
                </a:solidFill>
                <a:ea typeface="+mj-ea"/>
              </a:rPr>
              <a:t>	</a:t>
            </a:r>
            <a:endParaRPr lang="en-US" altLang="zh-CN" sz="2000" b="1" dirty="0" smtClean="0">
              <a:solidFill>
                <a:srgbClr val="FF0000"/>
              </a:solidFill>
              <a:ea typeface="+mj-ea"/>
            </a:endParaRPr>
          </a:p>
          <a:p>
            <a:pPr marL="0" lvl="0" indent="0">
              <a:spcBef>
                <a:spcPts val="0"/>
              </a:spcBef>
              <a:buClr>
                <a:srgbClr val="00CCCC"/>
              </a:buClr>
              <a:buNone/>
            </a:pPr>
            <a:r>
              <a:rPr lang="en-US" altLang="zh-CN" sz="2000" b="1" dirty="0" smtClean="0">
                <a:solidFill>
                  <a:srgbClr val="000000"/>
                </a:solidFill>
                <a:ea typeface="隶书" panose="02010509060101010101" pitchFamily="49" charset="-122"/>
              </a:rPr>
              <a:t>	</a:t>
            </a:r>
            <a:r>
              <a:rPr lang="en-US" altLang="zh-CN" sz="2000" b="1" dirty="0" smtClean="0">
                <a:solidFill>
                  <a:srgbClr val="2F2FC5"/>
                </a:solidFill>
                <a:ea typeface="隶书" panose="02010509060101010101" pitchFamily="49" charset="-122"/>
              </a:rPr>
              <a:t>//</a:t>
            </a:r>
            <a:r>
              <a:rPr lang="zh-CN" altLang="en-US" sz="2000" b="1" dirty="0">
                <a:solidFill>
                  <a:srgbClr val="2F2FC5"/>
                </a:solidFill>
                <a:ea typeface="隶书" panose="02010509060101010101" pitchFamily="49" charset="-122"/>
              </a:rPr>
              <a:t>情况三，函数的返回值是类对象，函数返回时调用复制构造函数</a:t>
            </a:r>
            <a:endParaRPr lang="zh-CN" altLang="en-US" sz="2000" b="1" dirty="0">
              <a:solidFill>
                <a:srgbClr val="2F2FC5"/>
              </a:solidFill>
              <a:ea typeface="隶书" panose="02010509060101010101" pitchFamily="49" charset="-122"/>
            </a:endParaRPr>
          </a:p>
          <a:p>
            <a:pPr marL="0" indent="0">
              <a:spcBef>
                <a:spcPts val="0"/>
              </a:spcBef>
              <a:buNone/>
            </a:pPr>
            <a:r>
              <a:rPr lang="zh-CN" altLang="en-US" sz="2000" b="1" dirty="0">
                <a:solidFill>
                  <a:srgbClr val="2F2FC5"/>
                </a:solidFill>
                <a:ea typeface="+mj-ea"/>
              </a:rPr>
              <a:t>	</a:t>
            </a:r>
            <a:r>
              <a:rPr lang="en-US" altLang="zh-CN" sz="2000" b="1" dirty="0">
                <a:solidFill>
                  <a:srgbClr val="2F2FC5"/>
                </a:solidFill>
                <a:ea typeface="+mj-ea"/>
              </a:rPr>
              <a:t>b = </a:t>
            </a:r>
            <a:r>
              <a:rPr lang="en-US" altLang="zh-CN" sz="2000" b="1" dirty="0" smtClean="0">
                <a:solidFill>
                  <a:srgbClr val="2F2FC5"/>
                </a:solidFill>
                <a:ea typeface="+mj-ea"/>
              </a:rPr>
              <a:t>fun2</a:t>
            </a:r>
            <a:r>
              <a:rPr lang="en-US" altLang="zh-CN" sz="2000" b="1" dirty="0" smtClean="0">
                <a:solidFill>
                  <a:srgbClr val="2F2FC5"/>
                </a:solidFill>
                <a:ea typeface="隶书" panose="02010509060101010101" pitchFamily="49" charset="-122"/>
              </a:rPr>
              <a:t>();</a:t>
            </a:r>
            <a:endParaRPr lang="en-US" altLang="zh-CN" sz="2000" b="1" dirty="0" smtClean="0">
              <a:solidFill>
                <a:srgbClr val="2F2FC5"/>
              </a:solidFill>
              <a:ea typeface="隶书" panose="02010509060101010101" pitchFamily="49" charset="-122"/>
            </a:endParaRPr>
          </a:p>
          <a:p>
            <a:pPr marL="0" indent="0">
              <a:spcBef>
                <a:spcPts val="0"/>
              </a:spcBef>
              <a:buNone/>
            </a:pPr>
            <a:r>
              <a:rPr lang="zh-CN" altLang="en-US"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b.getX</a:t>
            </a:r>
            <a:r>
              <a:rPr lang="en-US" altLang="zh-CN" sz="2000" b="1" dirty="0">
                <a:solidFill>
                  <a:srgbClr val="000000"/>
                </a:solidFill>
                <a:ea typeface="+mj-ea"/>
              </a:rPr>
              <a:t>()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return 0;</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endParaRPr lang="en-US" altLang="zh-CN" sz="2000" b="1" dirty="0">
              <a:solidFill>
                <a:srgbClr val="000000"/>
              </a:solidFill>
              <a:ea typeface="+mj-ea"/>
            </a:endParaRPr>
          </a:p>
        </p:txBody>
      </p:sp>
      <p:sp>
        <p:nvSpPr>
          <p:cNvPr id="41989" name="标题 1"/>
          <p:cNvSpPr>
            <a:spLocks noGrp="1"/>
          </p:cNvSpPr>
          <p:nvPr>
            <p:ph type="title"/>
          </p:nvPr>
        </p:nvSpPr>
        <p:spPr>
          <a:xfrm>
            <a:off x="5868144" y="34320"/>
            <a:ext cx="3114675" cy="1066800"/>
          </a:xfrm>
          <a:solidFill>
            <a:schemeClr val="bg1"/>
          </a:solidFill>
        </p:spPr>
        <p:txBody>
          <a:bodyPr/>
          <a:lstStyle/>
          <a:p>
            <a:pPr eaLnBrk="1" hangingPunct="1"/>
            <a:r>
              <a:rPr lang="zh-CN" altLang="en-US" smtClean="0"/>
              <a:t>例</a:t>
            </a:r>
            <a:r>
              <a:rPr lang="en-US" altLang="zh-CN" smtClean="0"/>
              <a:t>4-2 </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en-US" altLang="zh-CN" sz="3200" b="1" dirty="0">
                <a:solidFill>
                  <a:srgbClr val="FFFF00"/>
                </a:solidFill>
                <a:latin typeface="Times New Roman" panose="02020603050405020304" pitchFamily="18" charset="0"/>
                <a:ea typeface="隶书" panose="02010509060101010101" pitchFamily="49" charset="-122"/>
              </a:rPr>
              <a:t>*</a:t>
            </a:r>
            <a:r>
              <a:rPr lang="zh-CN" altLang="en-US" sz="3200" b="1" dirty="0">
                <a:solidFill>
                  <a:srgbClr val="FFFF00"/>
                </a:solidFill>
                <a:latin typeface="Times New Roman" panose="02020603050405020304" pitchFamily="18" charset="0"/>
                <a:ea typeface="隶书" panose="02010509060101010101" pitchFamily="49" charset="-122"/>
              </a:rPr>
              <a:t>函数参数尽量传递常引用而不是值</a:t>
            </a:r>
            <a:endParaRPr lang="zh-CN" altLang="en-US" sz="3200" b="1" dirty="0">
              <a:solidFill>
                <a:srgbClr val="FFFF00"/>
              </a:solidFill>
              <a:latin typeface="Times New Roman" panose="02020603050405020304" pitchFamily="18" charset="0"/>
              <a:ea typeface="隶书" panose="02010509060101010101" pitchFamily="49" charset="-122"/>
            </a:endParaRPr>
          </a:p>
        </p:txBody>
      </p:sp>
      <p:sp>
        <p:nvSpPr>
          <p:cNvPr id="43011" name="内容占位符 2"/>
          <p:cNvSpPr>
            <a:spLocks noGrp="1"/>
          </p:cNvSpPr>
          <p:nvPr>
            <p:ph idx="1"/>
          </p:nvPr>
        </p:nvSpPr>
        <p:spPr>
          <a:xfrm>
            <a:off x="611560" y="1484784"/>
            <a:ext cx="8352928" cy="4351338"/>
          </a:xfrm>
        </p:spPr>
        <p:txBody>
          <a:bodyPr/>
          <a:lstStyle/>
          <a:p>
            <a:pPr>
              <a:buClr>
                <a:srgbClr val="FFC000"/>
              </a:buClr>
            </a:pPr>
            <a:r>
              <a:rPr lang="zh-CN" altLang="en-US" sz="2400" b="1" dirty="0" smtClean="0">
                <a:latin typeface="微软雅黑" panose="020B0503020204020204" pitchFamily="34" charset="-122"/>
                <a:ea typeface="微软雅黑" panose="020B0503020204020204" pitchFamily="34" charset="-122"/>
              </a:rPr>
              <a:t>传递对象值会引起复制构造和析构，增加时间空间开销。</a:t>
            </a:r>
            <a:endParaRPr lang="en-US" altLang="zh-CN" sz="2400" b="1" dirty="0" smtClean="0">
              <a:latin typeface="微软雅黑" panose="020B0503020204020204" pitchFamily="34" charset="-122"/>
              <a:ea typeface="微软雅黑" panose="020B0503020204020204" pitchFamily="34" charset="-122"/>
            </a:endParaRPr>
          </a:p>
          <a:p>
            <a:pPr>
              <a:buClr>
                <a:srgbClr val="FFC000"/>
              </a:buClr>
            </a:pPr>
            <a:r>
              <a:rPr lang="zh-CN" altLang="en-US" sz="2400" b="1" dirty="0" smtClean="0">
                <a:latin typeface="微软雅黑" panose="020B0503020204020204" pitchFamily="34" charset="-122"/>
                <a:ea typeface="微软雅黑" panose="020B0503020204020204" pitchFamily="34" charset="-122"/>
              </a:rPr>
              <a:t>传常引用可避免这一问题。以引用做参数时，尽量使用常引用。（</a:t>
            </a:r>
            <a:r>
              <a:rPr lang="zh-CN" altLang="en-US" sz="2400" b="1" dirty="0" smtClean="0">
                <a:solidFill>
                  <a:srgbClr val="FFFF00"/>
                </a:solidFill>
                <a:latin typeface="微软雅黑" panose="020B0503020204020204" pitchFamily="34" charset="-122"/>
                <a:ea typeface="微软雅黑" panose="020B0503020204020204" pitchFamily="34" charset="-122"/>
              </a:rPr>
              <a:t>第</a:t>
            </a:r>
            <a:r>
              <a:rPr lang="en-US" altLang="zh-CN" sz="2400" b="1" dirty="0" smtClean="0">
                <a:solidFill>
                  <a:srgbClr val="FFFF00"/>
                </a:solidFill>
                <a:latin typeface="微软雅黑" panose="020B0503020204020204" pitchFamily="34" charset="-122"/>
                <a:ea typeface="微软雅黑" panose="020B0503020204020204" pitchFamily="34" charset="-122"/>
              </a:rPr>
              <a:t>5</a:t>
            </a:r>
            <a:r>
              <a:rPr lang="zh-CN" altLang="en-US" sz="2400" b="1" dirty="0" smtClean="0">
                <a:solidFill>
                  <a:srgbClr val="FFFF00"/>
                </a:solidFill>
                <a:latin typeface="微软雅黑" panose="020B0503020204020204" pitchFamily="34" charset="-122"/>
                <a:ea typeface="微软雅黑" panose="020B0503020204020204" pitchFamily="34" charset="-122"/>
              </a:rPr>
              <a:t>章</a:t>
            </a:r>
            <a:r>
              <a:rPr lang="zh-CN" altLang="en-US"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zh-CN" altLang="en-US" sz="2400" b="1" dirty="0" smtClean="0">
                <a:latin typeface="微软雅黑" panose="020B0503020204020204" pitchFamily="34" charset="-122"/>
                <a:ea typeface="微软雅黑" panose="020B0503020204020204" pitchFamily="34" charset="-122"/>
              </a:rPr>
              <a:t>例如：</a:t>
            </a:r>
            <a:endParaRPr lang="en-US" altLang="zh-CN" sz="2400" b="1" dirty="0" smtClean="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void fun1(</a:t>
            </a:r>
            <a:r>
              <a:rPr lang="en-US" altLang="zh-CN" sz="2400" b="1" dirty="0" err="1" smtClean="0">
                <a:latin typeface="微软雅黑" panose="020B0503020204020204" pitchFamily="34" charset="-122"/>
                <a:ea typeface="微软雅黑" panose="020B0503020204020204" pitchFamily="34" charset="-122"/>
              </a:rPr>
              <a:t>const</a:t>
            </a:r>
            <a:r>
              <a:rPr lang="en-US" altLang="zh-CN" sz="2400" b="1" dirty="0" smtClean="0">
                <a:latin typeface="微软雅黑" panose="020B0503020204020204" pitchFamily="34" charset="-122"/>
                <a:ea typeface="微软雅黑" panose="020B0503020204020204" pitchFamily="34" charset="-122"/>
              </a:rPr>
              <a:t> Point &amp;p) {</a:t>
            </a:r>
            <a:endParaRPr lang="en-US" altLang="zh-CN" sz="2400" b="1" dirty="0" smtClean="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cout</a:t>
            </a:r>
            <a:r>
              <a:rPr lang="en-US" altLang="zh-CN" sz="2400" b="1" dirty="0" smtClean="0">
                <a:latin typeface="微软雅黑" panose="020B0503020204020204" pitchFamily="34" charset="-122"/>
                <a:ea typeface="微软雅黑" panose="020B0503020204020204" pitchFamily="34" charset="-122"/>
              </a:rPr>
              <a:t> &lt;&lt; </a:t>
            </a:r>
            <a:r>
              <a:rPr lang="en-US" altLang="zh-CN" sz="2400" b="1" dirty="0" err="1" smtClean="0">
                <a:latin typeface="微软雅黑" panose="020B0503020204020204" pitchFamily="34" charset="-122"/>
                <a:ea typeface="微软雅黑" panose="020B0503020204020204" pitchFamily="34" charset="-122"/>
              </a:rPr>
              <a:t>p.getX</a:t>
            </a:r>
            <a:r>
              <a:rPr lang="en-US" altLang="zh-CN" sz="2400" b="1" dirty="0" smtClean="0">
                <a:latin typeface="微软雅黑" panose="020B0503020204020204" pitchFamily="34" charset="-122"/>
                <a:ea typeface="微软雅黑" panose="020B0503020204020204" pitchFamily="34" charset="-122"/>
              </a:rPr>
              <a:t>() &lt;&lt; </a:t>
            </a:r>
            <a:r>
              <a:rPr lang="en-US" altLang="zh-CN" sz="2400" b="1" dirty="0" err="1" smtClean="0">
                <a:latin typeface="微软雅黑" panose="020B0503020204020204" pitchFamily="34" charset="-122"/>
                <a:ea typeface="微软雅黑" panose="020B0503020204020204" pitchFamily="34" charset="-122"/>
              </a:rPr>
              <a:t>endl</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p.setX</a:t>
            </a:r>
            <a:r>
              <a:rPr lang="en-US" altLang="zh-CN" sz="2400" b="1" dirty="0" smtClean="0">
                <a:latin typeface="微软雅黑" panose="020B0503020204020204" pitchFamily="34" charset="-122"/>
                <a:ea typeface="微软雅黑" panose="020B0503020204020204" pitchFamily="34" charset="-122"/>
              </a:rPr>
              <a:t>(1); </a:t>
            </a: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en-US" sz="2400" b="1" dirty="0" smtClean="0">
                <a:solidFill>
                  <a:srgbClr val="FFFF00"/>
                </a:solidFill>
                <a:latin typeface="微软雅黑" panose="020B0503020204020204" pitchFamily="34" charset="-122"/>
                <a:ea typeface="微软雅黑" panose="020B0503020204020204" pitchFamily="34" charset="-122"/>
              </a:rPr>
              <a:t>语法错误：</a:t>
            </a:r>
            <a:r>
              <a:rPr lang="en-US" altLang="zh-CN" sz="2400" b="1" dirty="0" smtClean="0">
                <a:solidFill>
                  <a:srgbClr val="FFFF00"/>
                </a:solidFill>
                <a:latin typeface="微软雅黑" panose="020B0503020204020204" pitchFamily="34" charset="-122"/>
                <a:ea typeface="微软雅黑" panose="020B0503020204020204" pitchFamily="34" charset="-122"/>
              </a:rPr>
              <a:t>p</a:t>
            </a:r>
            <a:r>
              <a:rPr lang="zh-CN" altLang="en-US" sz="2400" b="1" dirty="0" smtClean="0">
                <a:solidFill>
                  <a:srgbClr val="FFFF00"/>
                </a:solidFill>
                <a:latin typeface="微软雅黑" panose="020B0503020204020204" pitchFamily="34" charset="-122"/>
                <a:ea typeface="微软雅黑" panose="020B0503020204020204" pitchFamily="34" charset="-122"/>
              </a:rPr>
              <a:t>是常引用而</a:t>
            </a:r>
            <a:r>
              <a:rPr lang="en-US" altLang="zh-CN" sz="2400" b="1" dirty="0" err="1" smtClean="0">
                <a:solidFill>
                  <a:srgbClr val="FFFF00"/>
                </a:solidFill>
                <a:latin typeface="微软雅黑" panose="020B0503020204020204" pitchFamily="34" charset="-122"/>
                <a:ea typeface="微软雅黑" panose="020B0503020204020204" pitchFamily="34" charset="-122"/>
              </a:rPr>
              <a:t>setX</a:t>
            </a:r>
            <a:r>
              <a:rPr lang="zh-CN" altLang="en-US" sz="2400" b="1" dirty="0" smtClean="0">
                <a:solidFill>
                  <a:srgbClr val="FFFF00"/>
                </a:solidFill>
                <a:latin typeface="微软雅黑" panose="020B0503020204020204" pitchFamily="34" charset="-122"/>
                <a:ea typeface="微软雅黑" panose="020B0503020204020204" pitchFamily="34" charset="-122"/>
              </a:rPr>
              <a:t>不是常函数</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a:buClr>
                <a:srgbClr val="FFC000"/>
              </a:buClr>
            </a:pPr>
            <a:r>
              <a:rPr lang="zh-CN" altLang="en-US" sz="2400" b="1" dirty="0" smtClean="0">
                <a:latin typeface="微软雅黑" panose="020B0503020204020204" pitchFamily="34" charset="-122"/>
                <a:ea typeface="微软雅黑" panose="020B0503020204020204" pitchFamily="34" charset="-122"/>
              </a:rPr>
              <a:t>基本类型、</a:t>
            </a:r>
            <a:r>
              <a:rPr lang="en-US" altLang="zh-CN" sz="2400" b="1" dirty="0" smtClean="0">
                <a:latin typeface="微软雅黑" panose="020B0503020204020204" pitchFamily="34" charset="-122"/>
                <a:ea typeface="微软雅黑" panose="020B0503020204020204" pitchFamily="34" charset="-122"/>
              </a:rPr>
              <a:t>STL</a:t>
            </a:r>
            <a:r>
              <a:rPr lang="zh-CN" altLang="en-US" sz="2400" b="1" dirty="0" smtClean="0">
                <a:latin typeface="微软雅黑" panose="020B0503020204020204" pitchFamily="34" charset="-122"/>
                <a:ea typeface="微软雅黑" panose="020B0503020204020204" pitchFamily="34" charset="-122"/>
              </a:rPr>
              <a:t>的迭代器和函数对象传值较好。（</a:t>
            </a:r>
            <a:r>
              <a:rPr lang="zh-CN" altLang="en-US" sz="2400" b="1" dirty="0" smtClean="0">
                <a:solidFill>
                  <a:srgbClr val="FFFF00"/>
                </a:solidFill>
                <a:latin typeface="微软雅黑" panose="020B0503020204020204" pitchFamily="34" charset="-122"/>
                <a:ea typeface="微软雅黑" panose="020B0503020204020204" pitchFamily="34" charset="-122"/>
              </a:rPr>
              <a:t>第</a:t>
            </a:r>
            <a:r>
              <a:rPr lang="en-US" altLang="zh-CN" sz="2400" b="1" dirty="0" smtClean="0">
                <a:solidFill>
                  <a:srgbClr val="FFFF00"/>
                </a:solidFill>
                <a:latin typeface="微软雅黑" panose="020B0503020204020204" pitchFamily="34" charset="-122"/>
                <a:ea typeface="微软雅黑" panose="020B0503020204020204" pitchFamily="34" charset="-122"/>
              </a:rPr>
              <a:t>12</a:t>
            </a:r>
            <a:r>
              <a:rPr lang="zh-CN" altLang="en-US" sz="2400" b="1" dirty="0" smtClean="0">
                <a:solidFill>
                  <a:srgbClr val="FFFF00"/>
                </a:solidFill>
                <a:latin typeface="微软雅黑" panose="020B0503020204020204" pitchFamily="34" charset="-122"/>
                <a:ea typeface="微软雅黑" panose="020B0503020204020204" pitchFamily="34" charset="-122"/>
              </a:rPr>
              <a:t>章</a:t>
            </a:r>
            <a:r>
              <a:rPr lang="zh-CN" altLang="en-US"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457200" y="188913"/>
            <a:ext cx="8229600" cy="10668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*返回值优化</a:t>
            </a:r>
            <a:endParaRPr lang="zh-CN" altLang="en-US" sz="4400" b="1" dirty="0">
              <a:latin typeface="Times New Roman" panose="02020603050405020304" pitchFamily="18" charset="0"/>
              <a:ea typeface="隶书" panose="02010509060101010101" pitchFamily="49" charset="-122"/>
            </a:endParaRPr>
          </a:p>
        </p:txBody>
      </p:sp>
      <p:sp>
        <p:nvSpPr>
          <p:cNvPr id="44035" name="内容占位符 2"/>
          <p:cNvSpPr>
            <a:spLocks noGrp="1"/>
          </p:cNvSpPr>
          <p:nvPr>
            <p:ph idx="1"/>
          </p:nvPr>
        </p:nvSpPr>
        <p:spPr>
          <a:xfrm>
            <a:off x="457200" y="1125538"/>
            <a:ext cx="8229600" cy="5448300"/>
          </a:xfrm>
        </p:spPr>
        <p:txBody>
          <a:bodyPr/>
          <a:lstStyle/>
          <a:p>
            <a:pPr>
              <a:spcBef>
                <a:spcPct val="0"/>
              </a:spcBef>
              <a:buClr>
                <a:srgbClr val="FFC000"/>
              </a:buClr>
            </a:pPr>
            <a:r>
              <a:rPr lang="zh-CN" altLang="en-US" sz="2400" b="1" dirty="0" smtClean="0">
                <a:latin typeface="微软雅黑" panose="020B0503020204020204" pitchFamily="34" charset="-122"/>
                <a:ea typeface="微软雅黑" panose="020B0503020204020204" pitchFamily="34" charset="-122"/>
              </a:rPr>
              <a:t>当函数返回一个对象时，会构造临时对象用以返回，这会增加开销。</a:t>
            </a:r>
            <a:endParaRPr lang="en-US" altLang="zh-CN" sz="2400" b="1" dirty="0" smtClean="0">
              <a:latin typeface="微软雅黑" panose="020B0503020204020204" pitchFamily="34" charset="-122"/>
              <a:ea typeface="微软雅黑" panose="020B0503020204020204" pitchFamily="34" charset="-122"/>
            </a:endParaRPr>
          </a:p>
          <a:p>
            <a:pPr>
              <a:spcBef>
                <a:spcPct val="0"/>
              </a:spcBef>
              <a:buClr>
                <a:srgbClr val="FFC000"/>
              </a:buClr>
            </a:pPr>
            <a:r>
              <a:rPr lang="zh-CN" altLang="en-US" sz="2400" b="1" dirty="0" smtClean="0">
                <a:latin typeface="微软雅黑" panose="020B0503020204020204" pitchFamily="34" charset="-122"/>
                <a:ea typeface="微软雅黑" panose="020B0503020204020204" pitchFamily="34" charset="-122"/>
              </a:rPr>
              <a:t>用返回引用或者指针替代不是好办法。返回指向局部对象的指针或者引用，会引发错误。返回指向动态内存的指针或引用容易忘记动态空间释放，引起内存泄露。</a:t>
            </a:r>
            <a:endParaRPr lang="en-US" altLang="zh-CN" sz="2400" b="1" dirty="0" smtClean="0">
              <a:latin typeface="微软雅黑" panose="020B0503020204020204" pitchFamily="34" charset="-122"/>
              <a:ea typeface="微软雅黑" panose="020B0503020204020204" pitchFamily="34" charset="-122"/>
            </a:endParaRPr>
          </a:p>
          <a:p>
            <a:pPr>
              <a:spcBef>
                <a:spcPct val="0"/>
              </a:spcBef>
              <a:buClr>
                <a:srgbClr val="FFC000"/>
              </a:buClr>
            </a:pPr>
            <a:r>
              <a:rPr lang="zh-CN" altLang="en-US" sz="2400" b="1" dirty="0" smtClean="0">
                <a:solidFill>
                  <a:srgbClr val="FFFF00"/>
                </a:solidFill>
                <a:latin typeface="微软雅黑" panose="020B0503020204020204" pitchFamily="34" charset="-122"/>
                <a:ea typeface="微软雅黑" panose="020B0503020204020204" pitchFamily="34" charset="-122"/>
              </a:rPr>
              <a:t>解决方法：显式构造临时对象返回。</a:t>
            </a:r>
            <a:r>
              <a:rPr lang="zh-CN" altLang="en-US" sz="2400" b="1" dirty="0" smtClean="0">
                <a:latin typeface="微软雅黑" panose="020B0503020204020204" pitchFamily="34" charset="-122"/>
                <a:ea typeface="微软雅黑" panose="020B0503020204020204" pitchFamily="34" charset="-122"/>
              </a:rPr>
              <a:t>此举表面上还是构造了一个临时对象，但是编译器通常都会进行优化，使之不产生临时对象。</a:t>
            </a:r>
            <a:endParaRPr lang="en-US" altLang="zh-CN" sz="2400" b="1" dirty="0" smtClean="0">
              <a:latin typeface="微软雅黑" panose="020B0503020204020204" pitchFamily="34" charset="-122"/>
              <a:ea typeface="微软雅黑" panose="020B0503020204020204" pitchFamily="34" charset="-122"/>
            </a:endParaRPr>
          </a:p>
          <a:p>
            <a:pPr lvl="1">
              <a:spcBef>
                <a:spcPct val="0"/>
              </a:spcBef>
              <a:buClr>
                <a:srgbClr val="FFC000"/>
              </a:buClr>
              <a:buFont typeface="Georgia" panose="02040502050405020303" pitchFamily="18" charset="0"/>
              <a:buNone/>
            </a:pPr>
            <a:r>
              <a:rPr lang="zh-CN" altLang="en-US" sz="2400" b="1" dirty="0" smtClean="0">
                <a:latin typeface="微软雅黑" panose="020B0503020204020204" pitchFamily="34" charset="-122"/>
                <a:ea typeface="微软雅黑" panose="020B0503020204020204" pitchFamily="34" charset="-122"/>
              </a:rPr>
              <a:t>例如：</a:t>
            </a:r>
            <a:endParaRPr lang="en-US" altLang="zh-CN" sz="2400" b="1" dirty="0" smtClean="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smtClean="0">
                <a:solidFill>
                  <a:srgbClr val="FFFF00"/>
                </a:solidFill>
                <a:latin typeface="微软雅黑" panose="020B0503020204020204" pitchFamily="34" charset="-122"/>
                <a:ea typeface="微软雅黑" panose="020B0503020204020204" pitchFamily="34" charset="-122"/>
              </a:rPr>
              <a:t>Point fun2() {</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smtClean="0">
                <a:solidFill>
                  <a:srgbClr val="FFFF00"/>
                </a:solidFill>
                <a:latin typeface="微软雅黑" panose="020B0503020204020204" pitchFamily="34" charset="-122"/>
                <a:ea typeface="微软雅黑" panose="020B0503020204020204" pitchFamily="34" charset="-122"/>
              </a:rPr>
              <a:t>	return Point(1, 2);</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smtClean="0">
                <a:solidFill>
                  <a:srgbClr val="FFFF00"/>
                </a:solidFill>
                <a:latin typeface="微软雅黑" panose="020B0503020204020204" pitchFamily="34" charset="-122"/>
                <a:ea typeface="微软雅黑" panose="020B0503020204020204" pitchFamily="34" charset="-122"/>
              </a:rPr>
              <a:t>}</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a:spcBef>
                <a:spcPct val="0"/>
              </a:spcBef>
            </a:pP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隐含的复制构造函数</a:t>
            </a:r>
            <a:endParaRPr lang="zh-CN" altLang="en-US" sz="4400" b="1">
              <a:latin typeface="Times New Roman" panose="02020603050405020304" pitchFamily="18" charset="0"/>
              <a:ea typeface="隶书" panose="02010509060101010101" pitchFamily="49" charset="-122"/>
            </a:endParaRPr>
          </a:p>
        </p:txBody>
      </p:sp>
      <p:sp>
        <p:nvSpPr>
          <p:cNvPr id="45059" name="内容占位符 2"/>
          <p:cNvSpPr>
            <a:spLocks noGrp="1"/>
          </p:cNvSpPr>
          <p:nvPr>
            <p:ph idx="1"/>
          </p:nvPr>
        </p:nvSpPr>
        <p:spPr>
          <a:xfrm>
            <a:off x="611560" y="1628800"/>
            <a:ext cx="8064896" cy="4351338"/>
          </a:xfrm>
        </p:spPr>
        <p:txBody>
          <a:bodyPr/>
          <a:lstStyle/>
          <a:p>
            <a:pPr marL="0" indent="0" eaLnBrk="1" hangingPunct="1">
              <a:lnSpc>
                <a:spcPct val="200000"/>
              </a:lnSpc>
              <a:buFont typeface="Georgia" panose="02040502050405020303" pitchFamily="18" charset="0"/>
              <a:buNone/>
            </a:pPr>
            <a:r>
              <a:rPr lang="zh-CN" altLang="en-US" sz="2400" b="1" dirty="0">
                <a:latin typeface="微软雅黑" panose="020B0503020204020204" pitchFamily="34" charset="-122"/>
                <a:ea typeface="微软雅黑" panose="020B0503020204020204" pitchFamily="34" charset="-122"/>
              </a:rPr>
              <a:t>如果程序员没有为类</a:t>
            </a:r>
            <a:r>
              <a:rPr lang="zh-CN" altLang="en-US" sz="2400" b="1" dirty="0" smtClean="0">
                <a:latin typeface="微软雅黑" panose="020B0503020204020204" pitchFamily="34" charset="-122"/>
                <a:ea typeface="微软雅黑" panose="020B0503020204020204" pitchFamily="34" charset="-122"/>
              </a:rPr>
              <a:t>声明复制构造</a:t>
            </a:r>
            <a:r>
              <a:rPr lang="zh-CN" altLang="en-US" sz="2400" b="1" dirty="0">
                <a:latin typeface="微软雅黑" panose="020B0503020204020204" pitchFamily="34" charset="-122"/>
                <a:ea typeface="微软雅黑" panose="020B0503020204020204" pitchFamily="34" charset="-122"/>
              </a:rPr>
              <a:t>函数，则编译器自己生成一个隐含的复制构造函数。</a:t>
            </a:r>
            <a:endParaRPr lang="zh-CN" altLang="en-US" sz="2400" b="1" dirty="0">
              <a:latin typeface="微软雅黑" panose="020B0503020204020204" pitchFamily="34" charset="-122"/>
              <a:ea typeface="微软雅黑" panose="020B0503020204020204" pitchFamily="34" charset="-122"/>
            </a:endParaRPr>
          </a:p>
          <a:p>
            <a:pPr marL="0" indent="0" eaLnBrk="1" hangingPunct="1">
              <a:lnSpc>
                <a:spcPct val="200000"/>
              </a:lnSpc>
              <a:buFont typeface="Georgia" panose="02040502050405020303" pitchFamily="18" charset="0"/>
              <a:buNone/>
            </a:pPr>
            <a:r>
              <a:rPr lang="zh-CN" altLang="en-US" sz="2400" b="1" dirty="0">
                <a:latin typeface="微软雅黑" panose="020B0503020204020204" pitchFamily="34" charset="-122"/>
                <a:ea typeface="微软雅黑" panose="020B0503020204020204" pitchFamily="34" charset="-122"/>
              </a:rPr>
              <a:t>这个构造函数执行的功能是：用作为初始值的对象的每个数据成员的值，初始化将要建立的对象的对应数据成员。</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4.3.5  </a:t>
            </a:r>
            <a:r>
              <a:rPr lang="zh-CN" altLang="en-US" sz="4400" b="1" dirty="0">
                <a:latin typeface="Times New Roman" panose="02020603050405020304" pitchFamily="18" charset="0"/>
                <a:ea typeface="隶书" panose="02010509060101010101" pitchFamily="49" charset="-122"/>
              </a:rPr>
              <a:t>析构函数</a:t>
            </a:r>
            <a:endParaRPr lang="zh-CN" altLang="en-US" sz="4400" b="1" dirty="0">
              <a:latin typeface="Times New Roman" panose="02020603050405020304" pitchFamily="18" charset="0"/>
              <a:ea typeface="隶书" panose="02010509060101010101" pitchFamily="49" charset="-122"/>
            </a:endParaRPr>
          </a:p>
        </p:txBody>
      </p:sp>
      <p:sp>
        <p:nvSpPr>
          <p:cNvPr id="46083" name="内容占位符 2"/>
          <p:cNvSpPr>
            <a:spLocks noGrp="1"/>
          </p:cNvSpPr>
          <p:nvPr>
            <p:ph idx="1"/>
          </p:nvPr>
        </p:nvSpPr>
        <p:spPr/>
        <p:txBody>
          <a:bodyPr/>
          <a:lstStyle/>
          <a:p>
            <a:pPr eaLnBrk="1" hangingPunct="1">
              <a:lnSpc>
                <a:spcPct val="150000"/>
              </a:lnSpc>
            </a:pPr>
            <a:r>
              <a:rPr lang="zh-CN" altLang="en-US" sz="2400" b="1" dirty="0">
                <a:latin typeface="微软雅黑" panose="020B0503020204020204" pitchFamily="34" charset="-122"/>
                <a:ea typeface="微软雅黑" panose="020B0503020204020204" pitchFamily="34" charset="-122"/>
              </a:rPr>
              <a:t>完成对象被删除前的一些清理工作。</a:t>
            </a: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a:latin typeface="微软雅黑" panose="020B0503020204020204" pitchFamily="34" charset="-122"/>
                <a:ea typeface="微软雅黑" panose="020B0503020204020204" pitchFamily="34" charset="-122"/>
              </a:rPr>
              <a:t>在对象的生存期结束的时刻系统自动调用它，然后再释放此对象所属的空间。</a:t>
            </a: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a:latin typeface="微软雅黑" panose="020B0503020204020204" pitchFamily="34" charset="-122"/>
                <a:ea typeface="微软雅黑" panose="020B0503020204020204" pitchFamily="34" charset="-122"/>
              </a:rPr>
              <a:t>如果程序中未声明析构函数，编译器将自动产生一个隐含的析构函数。</a:t>
            </a:r>
            <a:endParaRPr lang="zh-CN" altLang="en-US" sz="2400" b="1" dirty="0">
              <a:latin typeface="微软雅黑" panose="020B0503020204020204" pitchFamily="34" charset="-122"/>
              <a:ea typeface="微软雅黑" panose="020B0503020204020204" pitchFamily="34" charset="-122"/>
            </a:endParaRPr>
          </a:p>
          <a:p>
            <a:pPr eaLnBrk="1" hangingPunct="1"/>
            <a:endParaRPr lang="zh-CN" altLang="en-US" sz="2400"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a:xfrm>
            <a:off x="628650" y="365129"/>
            <a:ext cx="7886700" cy="831623"/>
          </a:xfrm>
        </p:spPr>
        <p:txBody>
          <a:bodyPr/>
          <a:lstStyle/>
          <a:p>
            <a:pPr algn="ctr"/>
            <a:r>
              <a:rPr lang="en-US" altLang="zh-CN" sz="4000" b="1" dirty="0" smtClean="0">
                <a:latin typeface="Times New Roman" panose="02020603050405020304" pitchFamily="18" charset="0"/>
                <a:ea typeface="隶书" panose="02010509060101010101" pitchFamily="49" charset="-122"/>
              </a:rPr>
              <a:t>4.3.5  </a:t>
            </a:r>
            <a:r>
              <a:rPr lang="zh-CN" altLang="en-US" sz="4000" b="1" dirty="0">
                <a:latin typeface="Times New Roman" panose="02020603050405020304" pitchFamily="18" charset="0"/>
                <a:ea typeface="隶书" panose="02010509060101010101" pitchFamily="49" charset="-122"/>
              </a:rPr>
              <a:t>析构函数</a:t>
            </a:r>
            <a:endParaRPr lang="zh-CN" altLang="en-US" sz="4000" b="1" dirty="0">
              <a:ea typeface="华文行楷" panose="02010800040101010101" pitchFamily="2" charset="-122"/>
            </a:endParaRPr>
          </a:p>
        </p:txBody>
      </p:sp>
      <p:sp>
        <p:nvSpPr>
          <p:cNvPr id="67589" name="Rectangle 3"/>
          <p:cNvSpPr>
            <a:spLocks noGrp="1" noChangeArrowheads="1"/>
          </p:cNvSpPr>
          <p:nvPr>
            <p:ph type="body" idx="1"/>
          </p:nvPr>
        </p:nvSpPr>
        <p:spPr>
          <a:xfrm>
            <a:off x="971600" y="1484784"/>
            <a:ext cx="7704856" cy="4410075"/>
          </a:xfrm>
          <a:noFill/>
          <a:ln>
            <a:noFill/>
            <a:miter lim="800000"/>
          </a:ln>
        </p:spPr>
        <p:txBody>
          <a:bodyPr/>
          <a:lstStyle/>
          <a:p>
            <a:pPr eaLnBrk="1" hangingPunct="1">
              <a:lnSpc>
                <a:spcPct val="120000"/>
              </a:lnSpc>
              <a:spcBef>
                <a:spcPct val="50000"/>
              </a:spcBef>
              <a:buClr>
                <a:srgbClr val="00B0F0"/>
              </a:buClr>
              <a:buSzPct val="65000"/>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析构函数的功能是在对象的生存期即将结束的时刻，由编译系统自动调用来完成一些清理工作。它的调用完成之后，对象也就消失了，相应的内存空间也被释放。</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spcBef>
                <a:spcPct val="50000"/>
              </a:spcBef>
              <a:buClr>
                <a:srgbClr val="00B0F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析构函数也是类的一个公有成员函数</a:t>
            </a:r>
            <a:r>
              <a:rPr lang="zh-CN" altLang="en-US" sz="2400" b="1" dirty="0" smtClean="0">
                <a:latin typeface="微软雅黑" panose="020B0503020204020204" pitchFamily="34" charset="-122"/>
                <a:ea typeface="微软雅黑" panose="020B0503020204020204" pitchFamily="34" charset="-122"/>
              </a:rPr>
              <a:t>，它的名称是由类名前面加</a:t>
            </a:r>
            <a:r>
              <a:rPr lang="zh-CN" altLang="en-US" sz="2400" b="1" dirty="0" smtClean="0">
                <a:solidFill>
                  <a:srgbClr val="FFFF00"/>
                </a:solidFill>
                <a:latin typeface="微软雅黑" panose="020B0503020204020204" pitchFamily="34" charset="-122"/>
                <a:ea typeface="微软雅黑" panose="020B0503020204020204" pitchFamily="34" charset="-122"/>
              </a:rPr>
              <a:t>“</a:t>
            </a: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构成，也不指定返回值类型。</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spcBef>
                <a:spcPct val="50000"/>
              </a:spcBef>
              <a:buClr>
                <a:srgbClr val="00B0F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和构造函数不同的是，析构函数不能有参数，因此不能重载。</a:t>
            </a:r>
            <a:endParaRPr lang="zh-CN" altLang="en-US" sz="2400" b="1" u="sng" dirty="0" smtClean="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Text Box 4"/>
          <p:cNvSpPr txBox="1">
            <a:spLocks noChangeArrowheads="1"/>
          </p:cNvSpPr>
          <p:nvPr/>
        </p:nvSpPr>
        <p:spPr bwMode="auto">
          <a:xfrm>
            <a:off x="1763713" y="2492375"/>
            <a:ext cx="6553200" cy="2881313"/>
          </a:xfrm>
          <a:prstGeom prst="rect">
            <a:avLst/>
          </a:prstGeom>
          <a:solidFill>
            <a:srgbClr val="FFFFFF"/>
          </a:solidFill>
          <a:ln w="9525">
            <a:noFill/>
            <a:miter lim="800000"/>
          </a:ln>
        </p:spPr>
        <p:txBody>
          <a:bodyPr/>
          <a:lstStyle>
            <a:lvl1pPr marL="624205" eaLnBrk="0" hangingPunct="0">
              <a:defRPr kumimoji="1" sz="24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kumimoji="1" sz="24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kumimoji="1" sz="24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kumimoji="1" sz="24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kumimoji="1" sz="2400" b="1">
                <a:solidFill>
                  <a:schemeClr val="tx1"/>
                </a:solidFill>
                <a:latin typeface="Times New Roman" panose="02020603050405020304" pitchFamily="18" charset="0"/>
                <a:ea typeface="华文楷体" panose="02010600040101010101" pitchFamily="2" charset="-122"/>
              </a:defRPr>
            </a:lvl5pPr>
            <a:lvl6pPr marL="25146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6pPr>
            <a:lvl7pPr marL="29718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7pPr>
            <a:lvl8pPr marL="34290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8pPr>
            <a:lvl9pPr marL="3886200" indent="-228600" algn="just" eaLnBrk="0" fontAlgn="base" hangingPunct="0">
              <a:lnSpc>
                <a:spcPct val="120000"/>
              </a:lnSpc>
              <a:spcBef>
                <a:spcPct val="25000"/>
              </a:spcBef>
              <a:spcAft>
                <a:spcPct val="0"/>
              </a:spcAft>
              <a:defRPr kumimoji="1" sz="2400" b="1">
                <a:solidFill>
                  <a:schemeClr val="tx1"/>
                </a:solidFill>
                <a:latin typeface="Times New Roman" panose="02020603050405020304" pitchFamily="18" charset="0"/>
                <a:ea typeface="华文楷体" panose="02010600040101010101" pitchFamily="2" charset="-122"/>
              </a:defRPr>
            </a:lvl9pPr>
          </a:lstStyle>
          <a:p>
            <a:pPr algn="l" eaLnBrk="1" hangingPunct="1">
              <a:lnSpc>
                <a:spcPct val="150000"/>
              </a:lnSpc>
              <a:spcBef>
                <a:spcPct val="0"/>
              </a:spcBef>
            </a:pPr>
            <a:r>
              <a:rPr kumimoji="0" lang="zh-CN" altLang="en-US" sz="2800">
                <a:solidFill>
                  <a:srgbClr val="000000"/>
                </a:solidFill>
              </a:rPr>
              <a:t>类名</a:t>
            </a:r>
            <a:r>
              <a:rPr kumimoji="0" lang="en-US" altLang="zh-CN" sz="2800">
                <a:solidFill>
                  <a:srgbClr val="000000"/>
                </a:solidFill>
              </a:rPr>
              <a:t>::~</a:t>
            </a:r>
            <a:r>
              <a:rPr kumimoji="0" lang="zh-CN" altLang="en-US" sz="2800">
                <a:solidFill>
                  <a:srgbClr val="000000"/>
                </a:solidFill>
              </a:rPr>
              <a:t>类名 </a:t>
            </a:r>
            <a:r>
              <a:rPr kumimoji="0" lang="en-US" altLang="zh-CN" sz="2800">
                <a:solidFill>
                  <a:srgbClr val="000000"/>
                </a:solidFill>
              </a:rPr>
              <a:t>()</a:t>
            </a:r>
            <a:endParaRPr kumimoji="0" lang="en-US" altLang="zh-CN" sz="2800">
              <a:solidFill>
                <a:srgbClr val="000000"/>
              </a:solidFill>
            </a:endParaRPr>
          </a:p>
          <a:p>
            <a:pPr algn="l" eaLnBrk="1" hangingPunct="1">
              <a:lnSpc>
                <a:spcPct val="150000"/>
              </a:lnSpc>
              <a:spcBef>
                <a:spcPct val="0"/>
              </a:spcBef>
            </a:pPr>
            <a:r>
              <a:rPr kumimoji="0" lang="en-US" altLang="zh-CN" sz="2800">
                <a:solidFill>
                  <a:srgbClr val="000000"/>
                </a:solidFill>
              </a:rPr>
              <a:t>{</a:t>
            </a:r>
            <a:endParaRPr kumimoji="0" lang="en-US" altLang="zh-CN" sz="2800">
              <a:solidFill>
                <a:srgbClr val="000000"/>
              </a:solidFill>
            </a:endParaRPr>
          </a:p>
          <a:p>
            <a:pPr algn="l" eaLnBrk="1" hangingPunct="1">
              <a:lnSpc>
                <a:spcPct val="150000"/>
              </a:lnSpc>
              <a:spcBef>
                <a:spcPct val="0"/>
              </a:spcBef>
            </a:pPr>
            <a:r>
              <a:rPr kumimoji="0" lang="zh-CN" altLang="en-US" sz="2800">
                <a:solidFill>
                  <a:srgbClr val="000000"/>
                </a:solidFill>
              </a:rPr>
              <a:t>　　</a:t>
            </a:r>
            <a:r>
              <a:rPr kumimoji="0" lang="en-US" altLang="zh-CN" sz="2800">
                <a:solidFill>
                  <a:srgbClr val="000000"/>
                </a:solidFill>
              </a:rPr>
              <a:t>&lt;</a:t>
            </a:r>
            <a:r>
              <a:rPr kumimoji="0" lang="zh-CN" altLang="en-US" sz="2800">
                <a:solidFill>
                  <a:srgbClr val="000000"/>
                </a:solidFill>
              </a:rPr>
              <a:t>函数体</a:t>
            </a:r>
            <a:r>
              <a:rPr kumimoji="0" lang="en-US" altLang="zh-CN" sz="2800">
                <a:solidFill>
                  <a:srgbClr val="000000"/>
                </a:solidFill>
              </a:rPr>
              <a:t>&gt;</a:t>
            </a:r>
            <a:endParaRPr kumimoji="0" lang="en-US" altLang="zh-CN" sz="2800">
              <a:solidFill>
                <a:srgbClr val="000000"/>
              </a:solidFill>
            </a:endParaRPr>
          </a:p>
          <a:p>
            <a:pPr algn="l" eaLnBrk="1" hangingPunct="1">
              <a:lnSpc>
                <a:spcPct val="150000"/>
              </a:lnSpc>
              <a:spcBef>
                <a:spcPct val="0"/>
              </a:spcBef>
            </a:pPr>
            <a:r>
              <a:rPr kumimoji="0" lang="en-US" altLang="zh-CN" sz="2800">
                <a:solidFill>
                  <a:srgbClr val="000000"/>
                </a:solidFill>
              </a:rPr>
              <a:t>}</a:t>
            </a:r>
            <a:endParaRPr kumimoji="0" lang="en-US" altLang="zh-CN" sz="2800">
              <a:solidFill>
                <a:srgbClr val="000000"/>
              </a:solidFill>
            </a:endParaRPr>
          </a:p>
        </p:txBody>
      </p:sp>
      <p:sp>
        <p:nvSpPr>
          <p:cNvPr id="68613" name="Rectangle 6"/>
          <p:cNvSpPr>
            <a:spLocks noGrp="1" noChangeArrowheads="1"/>
          </p:cNvSpPr>
          <p:nvPr>
            <p:ph type="title"/>
          </p:nvPr>
        </p:nvSpPr>
        <p:spPr/>
        <p:txBody>
          <a:body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4.3.5  </a:t>
            </a:r>
            <a:r>
              <a:rPr lang="zh-CN" altLang="en-US" sz="4400" b="1" dirty="0">
                <a:solidFill>
                  <a:srgbClr val="FFFFFF"/>
                </a:solidFill>
                <a:latin typeface="Times New Roman" panose="02020603050405020304" pitchFamily="18" charset="0"/>
                <a:ea typeface="隶书" panose="02010509060101010101" pitchFamily="49" charset="-122"/>
              </a:rPr>
              <a:t>析构函数</a:t>
            </a:r>
            <a:endParaRPr lang="zh-CN" altLang="en-US" sz="4000" b="1" dirty="0">
              <a:ea typeface="华文行楷" panose="02010800040101010101" pitchFamily="2"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ChangeArrowheads="1"/>
          </p:cNvSpPr>
          <p:nvPr>
            <p:ph type="title"/>
          </p:nvPr>
        </p:nvSpPr>
        <p:spPr>
          <a:xfrm>
            <a:off x="628650" y="365129"/>
            <a:ext cx="7886700" cy="83162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4.3.5  </a:t>
            </a:r>
            <a:r>
              <a:rPr lang="zh-CN" altLang="en-US" sz="4400" b="1" dirty="0">
                <a:solidFill>
                  <a:srgbClr val="FFFFFF"/>
                </a:solidFill>
                <a:latin typeface="Times New Roman" panose="02020603050405020304" pitchFamily="18" charset="0"/>
                <a:ea typeface="隶书" panose="02010509060101010101" pitchFamily="49" charset="-122"/>
              </a:rPr>
              <a:t>析构函数的特点</a:t>
            </a:r>
            <a:endParaRPr lang="zh-CN" altLang="en-US" sz="4400" b="1" dirty="0">
              <a:solidFill>
                <a:srgbClr val="FFFFFF"/>
              </a:solidFill>
              <a:latin typeface="Times New Roman" panose="02020603050405020304" pitchFamily="18" charset="0"/>
              <a:ea typeface="隶书" panose="02010509060101010101" pitchFamily="49" charset="-122"/>
            </a:endParaRPr>
          </a:p>
        </p:txBody>
      </p:sp>
      <p:sp>
        <p:nvSpPr>
          <p:cNvPr id="74757" name="Rectangle 3"/>
          <p:cNvSpPr>
            <a:spLocks noGrp="1" noChangeArrowheads="1"/>
          </p:cNvSpPr>
          <p:nvPr>
            <p:ph type="body" idx="1"/>
          </p:nvPr>
        </p:nvSpPr>
        <p:spPr>
          <a:xfrm>
            <a:off x="590550" y="1484784"/>
            <a:ext cx="8229600" cy="4530725"/>
          </a:xfrm>
          <a:noFill/>
          <a:ln>
            <a:noFill/>
            <a:miter lim="800000"/>
          </a:ln>
        </p:spPr>
        <p:txBody>
          <a:bodyPr/>
          <a:lstStyle/>
          <a:p>
            <a:pPr eaLnBrk="1" hangingPunct="1">
              <a:spcBef>
                <a:spcPct val="40000"/>
              </a:spcBef>
              <a:buClr>
                <a:srgbClr val="00B0F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析构函数是成员函数</a:t>
            </a:r>
            <a:r>
              <a:rPr lang="zh-CN" altLang="en-US" sz="2400" b="1" dirty="0" smtClean="0">
                <a:latin typeface="微软雅黑" panose="020B0503020204020204" pitchFamily="34" charset="-122"/>
                <a:ea typeface="微软雅黑" panose="020B0503020204020204" pitchFamily="34" charset="-122"/>
              </a:rPr>
              <a:t>，函数体可写在类体内，也可以写在类体外。</a:t>
            </a:r>
            <a:endParaRPr lang="zh-CN" altLang="en-US" sz="2400" b="1" dirty="0" smtClean="0">
              <a:latin typeface="微软雅黑" panose="020B0503020204020204" pitchFamily="34" charset="-122"/>
              <a:ea typeface="微软雅黑" panose="020B0503020204020204" pitchFamily="34" charset="-122"/>
            </a:endParaRPr>
          </a:p>
          <a:p>
            <a:pPr eaLnBrk="1" hangingPunct="1">
              <a:spcBef>
                <a:spcPct val="40000"/>
              </a:spcBef>
              <a:buClr>
                <a:srgbClr val="00B0F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析构函数的函数名与类名相同，并在前面加“</a:t>
            </a:r>
            <a:r>
              <a:rPr lang="en-US" altLang="zh-CN" sz="2400" b="1" u="sng" dirty="0" smtClean="0">
                <a:solidFill>
                  <a:srgbClr val="FFFF00"/>
                </a:solidFill>
                <a:latin typeface="微软雅黑" panose="020B0503020204020204" pitchFamily="34" charset="-122"/>
                <a:ea typeface="微软雅黑" panose="020B0503020204020204" pitchFamily="34" charset="-122"/>
              </a:rPr>
              <a:t>~”</a:t>
            </a:r>
            <a:r>
              <a:rPr lang="zh-CN" altLang="en-US" sz="2400" b="1" u="sng" dirty="0" smtClean="0">
                <a:solidFill>
                  <a:srgbClr val="FFFF00"/>
                </a:solidFill>
                <a:latin typeface="微软雅黑" panose="020B0503020204020204" pitchFamily="34" charset="-122"/>
                <a:ea typeface="微软雅黑" panose="020B0503020204020204" pitchFamily="34" charset="-122"/>
              </a:rPr>
              <a:t>字符，</a:t>
            </a:r>
            <a:r>
              <a:rPr lang="zh-CN" altLang="en-US" sz="2400" b="1" dirty="0" smtClean="0">
                <a:latin typeface="微软雅黑" panose="020B0503020204020204" pitchFamily="34" charset="-122"/>
                <a:ea typeface="微软雅黑" panose="020B0503020204020204" pitchFamily="34" charset="-122"/>
              </a:rPr>
              <a:t>用来与构造函数加以区别。</a:t>
            </a:r>
            <a:r>
              <a:rPr lang="zh-CN" altLang="en-US" sz="2400" b="1" dirty="0" smtClean="0">
                <a:solidFill>
                  <a:srgbClr val="FFFF00"/>
                </a:solidFill>
                <a:latin typeface="微软雅黑" panose="020B0503020204020204" pitchFamily="34" charset="-122"/>
                <a:ea typeface="微软雅黑" panose="020B0503020204020204" pitchFamily="34" charset="-122"/>
              </a:rPr>
              <a:t>析构函数不指定返回值类型</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smtClean="0">
              <a:latin typeface="微软雅黑" panose="020B0503020204020204" pitchFamily="34" charset="-122"/>
              <a:ea typeface="微软雅黑" panose="020B0503020204020204" pitchFamily="34" charset="-122"/>
            </a:endParaRPr>
          </a:p>
          <a:p>
            <a:pPr eaLnBrk="1" hangingPunct="1">
              <a:spcBef>
                <a:spcPct val="40000"/>
              </a:spcBef>
              <a:buClr>
                <a:srgbClr val="00B0F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析构函数没有参数，因此不能重载。一个类中只能定义一个析构函数。</a:t>
            </a:r>
            <a:endParaRPr lang="zh-CN" altLang="en-US" sz="2400" b="1" u="sng" dirty="0" smtClean="0">
              <a:solidFill>
                <a:srgbClr val="FFFF00"/>
              </a:solidFill>
              <a:latin typeface="微软雅黑" panose="020B0503020204020204" pitchFamily="34" charset="-122"/>
              <a:ea typeface="微软雅黑" panose="020B0503020204020204" pitchFamily="34" charset="-122"/>
            </a:endParaRPr>
          </a:p>
          <a:p>
            <a:pPr eaLnBrk="1" hangingPunct="1">
              <a:spcBef>
                <a:spcPct val="40000"/>
              </a:spcBef>
              <a:buClr>
                <a:srgbClr val="00B0F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每个类都必须有一个析构函数。</a:t>
            </a:r>
            <a:r>
              <a:rPr lang="zh-CN" altLang="en-US" sz="2400" b="1" dirty="0" smtClean="0">
                <a:latin typeface="微软雅黑" panose="020B0503020204020204" pitchFamily="34" charset="-122"/>
                <a:ea typeface="微软雅黑" panose="020B0503020204020204" pitchFamily="34" charset="-122"/>
              </a:rPr>
              <a:t>如果类中没有显式定义析构函数，则编译系统自动生成一个缺省形式的析构函数，作为该类的公有成员。</a:t>
            </a:r>
            <a:endParaRPr lang="zh-CN" altLang="en-US" sz="2400" b="1" dirty="0" smtClean="0">
              <a:latin typeface="微软雅黑" panose="020B0503020204020204" pitchFamily="34" charset="-122"/>
              <a:ea typeface="微软雅黑" panose="020B0503020204020204" pitchFamily="34" charset="-122"/>
            </a:endParaRPr>
          </a:p>
          <a:p>
            <a:pPr eaLnBrk="1" hangingPunct="1">
              <a:spcBef>
                <a:spcPct val="40000"/>
              </a:spcBef>
              <a:buClr>
                <a:srgbClr val="00B0F0"/>
              </a:buClr>
              <a:buSzPct val="65000"/>
              <a:buFont typeface="Wingdings" panose="05000000000000000000" pitchFamily="2" charset="2"/>
              <a:buChar char="u"/>
            </a:pPr>
            <a:r>
              <a:rPr lang="zh-CN" altLang="en-US" sz="2400" b="1" u="sng" dirty="0" smtClean="0">
                <a:solidFill>
                  <a:srgbClr val="FFFF00"/>
                </a:solidFill>
                <a:latin typeface="微软雅黑" panose="020B0503020204020204" pitchFamily="34" charset="-122"/>
                <a:ea typeface="微软雅黑" panose="020B0503020204020204" pitchFamily="34" charset="-122"/>
              </a:rPr>
              <a:t>析构函数在对象生存期结束前由编译系统自动调用。</a:t>
            </a:r>
            <a:r>
              <a:rPr lang="zh-CN" altLang="en-US" sz="2400" dirty="0" smtClean="0">
                <a:solidFill>
                  <a:srgbClr val="FFFF00"/>
                </a:solidFill>
                <a:latin typeface="微软雅黑" panose="020B0503020204020204" pitchFamily="34" charset="-122"/>
                <a:ea typeface="微软雅黑" panose="020B0503020204020204" pitchFamily="34" charset="-122"/>
              </a:rPr>
              <a:t> </a:t>
            </a:r>
            <a:endParaRPr lang="zh-CN" altLang="en-US" sz="2400" dirty="0" smtClean="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p:cNvSpPr>
            <a:spLocks noGrp="1" noChangeArrowheads="1"/>
          </p:cNvSpPr>
          <p:nvPr>
            <p:ph type="title"/>
          </p:nvPr>
        </p:nvSpPr>
        <p:spPr>
          <a:xfrm>
            <a:off x="628650" y="365129"/>
            <a:ext cx="7886700" cy="75961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4.3.5  </a:t>
            </a:r>
            <a:r>
              <a:rPr lang="zh-CN" altLang="en-US" sz="4400" b="1" dirty="0" smtClean="0">
                <a:solidFill>
                  <a:srgbClr val="FFFFFF"/>
                </a:solidFill>
                <a:latin typeface="Times New Roman" panose="02020603050405020304" pitchFamily="18" charset="0"/>
                <a:ea typeface="隶书" panose="02010509060101010101" pitchFamily="49" charset="-122"/>
              </a:rPr>
              <a:t>默认</a:t>
            </a:r>
            <a:r>
              <a:rPr lang="zh-CN" altLang="en-US" sz="4400" b="1" dirty="0">
                <a:solidFill>
                  <a:srgbClr val="FFFFFF"/>
                </a:solidFill>
                <a:latin typeface="Times New Roman" panose="02020603050405020304" pitchFamily="18" charset="0"/>
                <a:ea typeface="隶书" panose="02010509060101010101" pitchFamily="49" charset="-122"/>
              </a:rPr>
              <a:t>析构函数</a:t>
            </a:r>
            <a:endParaRPr lang="zh-CN" altLang="en-US" sz="4400" b="1" dirty="0">
              <a:solidFill>
                <a:srgbClr val="FFFFFF"/>
              </a:solidFill>
              <a:latin typeface="Times New Roman" panose="02020603050405020304" pitchFamily="18" charset="0"/>
              <a:ea typeface="隶书" panose="02010509060101010101" pitchFamily="49" charset="-122"/>
            </a:endParaRPr>
          </a:p>
        </p:txBody>
      </p:sp>
      <p:sp>
        <p:nvSpPr>
          <p:cNvPr id="75781" name="Rectangle 5"/>
          <p:cNvSpPr>
            <a:spLocks noGrp="1" noChangeArrowheads="1"/>
          </p:cNvSpPr>
          <p:nvPr>
            <p:ph type="body" idx="1"/>
          </p:nvPr>
        </p:nvSpPr>
        <p:spPr>
          <a:xfrm>
            <a:off x="590550" y="2133600"/>
            <a:ext cx="8229600" cy="2951163"/>
          </a:xfrm>
          <a:noFill/>
          <a:ln>
            <a:noFill/>
            <a:miter lim="800000"/>
          </a:ln>
        </p:spPr>
        <p:txBody>
          <a:bodyPr/>
          <a:lstStyle/>
          <a:p>
            <a:pPr eaLnBrk="1" hangingPunct="1">
              <a:lnSpc>
                <a:spcPct val="120000"/>
              </a:lnSpc>
              <a:spcBef>
                <a:spcPct val="50000"/>
              </a:spcBef>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当类没有定义析构函数时，编译器自动创建一个默认析构函数。</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spcBef>
                <a:spcPct val="50000"/>
              </a:spcBef>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默认析构函数的函数体是空的。</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120000"/>
              </a:lnSpc>
              <a:spcBef>
                <a:spcPct val="50000"/>
              </a:spcBef>
              <a:buClr>
                <a:srgbClr val="00B0F0"/>
              </a:buClr>
              <a:buFont typeface="Wingdings" panose="05000000000000000000" pitchFamily="2" charset="2"/>
              <a:buChar char="u"/>
            </a:pPr>
            <a:r>
              <a:rPr lang="zh-CN" altLang="en-US" sz="2400" b="1" dirty="0" smtClean="0">
                <a:latin typeface="微软雅黑" panose="020B0503020204020204" pitchFamily="34" charset="-122"/>
                <a:ea typeface="微软雅黑" panose="020B0503020204020204" pitchFamily="34" charset="-122"/>
              </a:rPr>
              <a:t>如果一个对象完成其操作之前需要一些特殊处理，则应该显式地定义析构函数。</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构造函数和析构函数举例</a:t>
            </a:r>
            <a:endParaRPr lang="zh-CN" altLang="en-US" sz="4400" b="1">
              <a:latin typeface="Times New Roman" panose="02020603050405020304" pitchFamily="18" charset="0"/>
              <a:ea typeface="隶书" panose="02010509060101010101" pitchFamily="49" charset="-122"/>
            </a:endParaRPr>
          </a:p>
        </p:txBody>
      </p:sp>
      <p:sp>
        <p:nvSpPr>
          <p:cNvPr id="47107" name="内容占位符 2"/>
          <p:cNvSpPr>
            <a:spLocks noGrp="1"/>
          </p:cNvSpPr>
          <p:nvPr>
            <p:ph idx="1"/>
          </p:nvPr>
        </p:nvSpPr>
        <p:spPr>
          <a:xfrm>
            <a:off x="457200" y="1785938"/>
            <a:ext cx="4043363" cy="4787900"/>
          </a:xfrm>
          <a:solidFill>
            <a:schemeClr val="tx1"/>
          </a:solidFill>
        </p:spPr>
        <p:txBody>
          <a:bodyPr/>
          <a:lstStyle/>
          <a:p>
            <a:pPr marL="0" indent="0">
              <a:spcBef>
                <a:spcPts val="0"/>
              </a:spcBef>
              <a:buNone/>
            </a:pPr>
            <a:r>
              <a:rPr lang="en-US" altLang="zh-CN" sz="2800" b="1">
                <a:solidFill>
                  <a:srgbClr val="000000"/>
                </a:solidFill>
                <a:ea typeface="+mj-ea"/>
              </a:rPr>
              <a:t>#include &lt;iostream&gt;</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using namespace std;</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class Point {     </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public:</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  Point(int xx,int yy);</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  ~Point();</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  //...</a:t>
            </a:r>
            <a:r>
              <a:rPr lang="zh-CN" altLang="en-US" sz="2800" b="1">
                <a:solidFill>
                  <a:srgbClr val="000000"/>
                </a:solidFill>
                <a:ea typeface="+mj-ea"/>
              </a:rPr>
              <a:t>其他函数原型</a:t>
            </a:r>
            <a:endParaRPr lang="zh-CN" altLang="en-US" sz="2800" b="1">
              <a:solidFill>
                <a:srgbClr val="000000"/>
              </a:solidFill>
              <a:ea typeface="+mj-ea"/>
            </a:endParaRPr>
          </a:p>
          <a:p>
            <a:pPr marL="0" indent="0">
              <a:spcBef>
                <a:spcPts val="0"/>
              </a:spcBef>
              <a:buNone/>
            </a:pPr>
            <a:r>
              <a:rPr lang="en-US" altLang="zh-CN" sz="2800" b="1">
                <a:solidFill>
                  <a:srgbClr val="000000"/>
                </a:solidFill>
                <a:ea typeface="+mj-ea"/>
              </a:rPr>
              <a:t>private:</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  int x, y;</a:t>
            </a:r>
            <a:endParaRPr lang="en-US" altLang="zh-CN" sz="2800" b="1">
              <a:solidFill>
                <a:srgbClr val="000000"/>
              </a:solidFill>
              <a:ea typeface="+mj-ea"/>
            </a:endParaRPr>
          </a:p>
          <a:p>
            <a:pPr marL="0" indent="0">
              <a:spcBef>
                <a:spcPts val="0"/>
              </a:spcBef>
              <a:buNone/>
            </a:pPr>
            <a:r>
              <a:rPr lang="en-US" altLang="zh-CN" sz="2800" b="1">
                <a:solidFill>
                  <a:srgbClr val="000000"/>
                </a:solidFill>
                <a:ea typeface="+mj-ea"/>
              </a:rPr>
              <a:t>};</a:t>
            </a:r>
            <a:endParaRPr lang="en-US" altLang="zh-CN" sz="2800" b="1">
              <a:solidFill>
                <a:srgbClr val="000000"/>
              </a:solidFill>
              <a:ea typeface="+mj-ea"/>
            </a:endParaRPr>
          </a:p>
        </p:txBody>
      </p:sp>
      <p:sp>
        <p:nvSpPr>
          <p:cNvPr id="6" name="内容占位符 2"/>
          <p:cNvSpPr txBox="1"/>
          <p:nvPr/>
        </p:nvSpPr>
        <p:spPr>
          <a:xfrm>
            <a:off x="4786313" y="1785938"/>
            <a:ext cx="4043362" cy="4787900"/>
          </a:xfrm>
          <a:prstGeom prst="rect">
            <a:avLst/>
          </a:prstGeom>
          <a:solidFill>
            <a:schemeClr val="tx1"/>
          </a:solidFill>
        </p:spPr>
        <p:txBody>
          <a:bodyPr/>
          <a:lstStyle>
            <a:lvl1pPr marL="0" indent="0" algn="l">
              <a:spcBef>
                <a:spcPts val="0"/>
              </a:spcBef>
              <a:buClr>
                <a:schemeClr val="tx2"/>
              </a:buClr>
              <a:buSzPct val="75000"/>
              <a:buFont typeface="Monotype Sorts" pitchFamily="2" charset="2"/>
              <a:buNone/>
              <a:defRPr sz="2800" b="1">
                <a:solidFill>
                  <a:srgbClr val="000000"/>
                </a:solidFill>
                <a:latin typeface="+mn-lt"/>
                <a:ea typeface="+mj-ea"/>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dirty="0"/>
              <a:t>Point::Point(int </a:t>
            </a:r>
            <a:r>
              <a:rPr lang="en-US" altLang="zh-CN" dirty="0" err="1"/>
              <a:t>xx,int</a:t>
            </a:r>
            <a:r>
              <a:rPr lang="en-US" altLang="zh-CN" dirty="0"/>
              <a:t> </a:t>
            </a:r>
            <a:r>
              <a:rPr lang="en-US" altLang="zh-CN" dirty="0" err="1"/>
              <a:t>yy</a:t>
            </a:r>
            <a:r>
              <a:rPr lang="en-US" altLang="zh-CN" dirty="0"/>
              <a:t>) {</a:t>
            </a:r>
            <a:endParaRPr lang="en-US" altLang="zh-CN" dirty="0"/>
          </a:p>
          <a:p>
            <a:r>
              <a:rPr lang="en-US" altLang="zh-CN" dirty="0"/>
              <a:t>  x = xx;</a:t>
            </a:r>
            <a:endParaRPr lang="en-US" altLang="zh-CN" dirty="0"/>
          </a:p>
          <a:p>
            <a:r>
              <a:rPr lang="en-US" altLang="zh-CN" dirty="0"/>
              <a:t>  y = </a:t>
            </a:r>
            <a:r>
              <a:rPr lang="en-US" altLang="zh-CN" dirty="0" err="1"/>
              <a:t>yy</a:t>
            </a:r>
            <a:r>
              <a:rPr lang="en-US" altLang="zh-CN" dirty="0"/>
              <a:t>;</a:t>
            </a:r>
            <a:endParaRPr lang="en-US" altLang="zh-CN" dirty="0"/>
          </a:p>
          <a:p>
            <a:r>
              <a:rPr lang="en-US" altLang="zh-CN" dirty="0"/>
              <a:t>}</a:t>
            </a:r>
            <a:endParaRPr lang="en-US" altLang="zh-CN" dirty="0"/>
          </a:p>
          <a:p>
            <a:r>
              <a:rPr lang="en-US" altLang="zh-CN" dirty="0"/>
              <a:t>Point::~Point() {</a:t>
            </a:r>
            <a:endParaRPr lang="en-US" altLang="zh-CN" dirty="0"/>
          </a:p>
          <a:p>
            <a:r>
              <a:rPr lang="en-US" altLang="zh-CN" dirty="0"/>
              <a:t>}</a:t>
            </a:r>
            <a:endParaRPr lang="en-US" altLang="zh-CN" dirty="0"/>
          </a:p>
          <a:p>
            <a:r>
              <a:rPr lang="en-US" altLang="zh-CN" dirty="0"/>
              <a:t>//...</a:t>
            </a:r>
            <a:r>
              <a:rPr lang="zh-CN" altLang="en-US" dirty="0"/>
              <a:t>其他函数的实现略</a:t>
            </a:r>
            <a:endParaRPr lang="zh-CN" altLang="en-US" dirty="0"/>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*编译器默认提供的函数</a:t>
            </a:r>
            <a:endParaRPr lang="zh-CN" altLang="en-US" sz="4400" b="1">
              <a:latin typeface="Times New Roman" panose="02020603050405020304" pitchFamily="18" charset="0"/>
              <a:ea typeface="隶书" panose="02010509060101010101" pitchFamily="49" charset="-122"/>
            </a:endParaRPr>
          </a:p>
        </p:txBody>
      </p:sp>
      <p:sp>
        <p:nvSpPr>
          <p:cNvPr id="48131" name="内容占位符 2"/>
          <p:cNvSpPr>
            <a:spLocks noGrp="1"/>
          </p:cNvSpPr>
          <p:nvPr>
            <p:ph idx="1"/>
          </p:nvPr>
        </p:nvSpPr>
        <p:spPr>
          <a:solidFill>
            <a:schemeClr val="tx1"/>
          </a:solidFill>
        </p:spPr>
        <p:txBody>
          <a:bodyPr/>
          <a:lstStyle/>
          <a:p>
            <a:pPr marL="0" indent="0">
              <a:spcBef>
                <a:spcPts val="0"/>
              </a:spcBef>
              <a:buNone/>
            </a:pPr>
            <a:r>
              <a:rPr lang="en-US" altLang="zh-CN" sz="2800" b="1" dirty="0">
                <a:solidFill>
                  <a:srgbClr val="000000"/>
                </a:solidFill>
                <a:ea typeface="+mj-ea"/>
              </a:rPr>
              <a:t>class Empty{</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public:</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Empty(){} </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Empty(</a:t>
            </a:r>
            <a:r>
              <a:rPr lang="en-US" altLang="zh-CN" sz="2800" b="1" dirty="0" err="1">
                <a:solidFill>
                  <a:srgbClr val="000000"/>
                </a:solidFill>
                <a:ea typeface="+mj-ea"/>
              </a:rPr>
              <a:t>const</a:t>
            </a:r>
            <a:r>
              <a:rPr lang="en-US" altLang="zh-CN" sz="2800" b="1" dirty="0">
                <a:solidFill>
                  <a:srgbClr val="000000"/>
                </a:solidFill>
                <a:ea typeface="+mj-ea"/>
              </a:rPr>
              <a:t> Empty&amp; </a:t>
            </a:r>
            <a:r>
              <a:rPr lang="en-US" altLang="zh-CN" sz="2800" b="1" dirty="0" err="1">
                <a:solidFill>
                  <a:srgbClr val="000000"/>
                </a:solidFill>
                <a:ea typeface="+mj-ea"/>
              </a:rPr>
              <a:t>rhs</a:t>
            </a:r>
            <a:r>
              <a:rPr lang="en-US" altLang="zh-CN" sz="2800" b="1" dirty="0">
                <a:solidFill>
                  <a:srgbClr val="000000"/>
                </a:solidFill>
                <a:ea typeface="+mj-ea"/>
              </a:rPr>
              <a:t>){…}</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~Empty(){}</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a:t>
            </a:r>
            <a:r>
              <a:rPr lang="en-US" altLang="zh-CN" sz="2800" b="1" dirty="0" smtClean="0">
                <a:solidFill>
                  <a:srgbClr val="000000"/>
                </a:solidFill>
                <a:ea typeface="+mj-ea"/>
              </a:rPr>
              <a:t>Empty&amp; </a:t>
            </a:r>
            <a:r>
              <a:rPr lang="en-US" altLang="zh-CN" sz="2800" b="1" dirty="0">
                <a:solidFill>
                  <a:srgbClr val="000000"/>
                </a:solidFill>
                <a:ea typeface="+mj-ea"/>
              </a:rPr>
              <a:t>operator=(</a:t>
            </a:r>
            <a:r>
              <a:rPr lang="en-US" altLang="zh-CN" sz="2800" b="1" dirty="0" err="1">
                <a:solidFill>
                  <a:srgbClr val="000000"/>
                </a:solidFill>
                <a:ea typeface="+mj-ea"/>
              </a:rPr>
              <a:t>const</a:t>
            </a:r>
            <a:r>
              <a:rPr lang="en-US" altLang="zh-CN" sz="2800" b="1" dirty="0">
                <a:solidFill>
                  <a:srgbClr val="000000"/>
                </a:solidFill>
                <a:ea typeface="+mj-ea"/>
              </a:rPr>
              <a:t> Empty&amp; </a:t>
            </a:r>
            <a:r>
              <a:rPr lang="en-US" altLang="zh-CN" sz="2800" b="1" dirty="0" err="1">
                <a:solidFill>
                  <a:srgbClr val="000000"/>
                </a:solidFill>
                <a:ea typeface="+mj-ea"/>
              </a:rPr>
              <a:t>rhs</a:t>
            </a:r>
            <a:r>
              <a:rPr lang="en-US" altLang="zh-CN" sz="2800" b="1" dirty="0">
                <a:solidFill>
                  <a:srgbClr val="000000"/>
                </a:solidFill>
                <a:ea typeface="+mj-ea"/>
              </a:rPr>
              <a:t>){…}</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a:t>
            </a:r>
            <a:endParaRPr lang="zh-CN" altLang="en-US" sz="28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*有时不应该有默认的构造函数</a:t>
            </a:r>
            <a:endParaRPr lang="zh-CN" altLang="en-US" sz="4400" b="1">
              <a:latin typeface="Times New Roman" panose="02020603050405020304" pitchFamily="18" charset="0"/>
              <a:ea typeface="隶书" panose="02010509060101010101" pitchFamily="49" charset="-122"/>
            </a:endParaRPr>
          </a:p>
        </p:txBody>
      </p:sp>
      <p:sp>
        <p:nvSpPr>
          <p:cNvPr id="49155" name="内容占位符 2"/>
          <p:cNvSpPr>
            <a:spLocks noGrp="1"/>
          </p:cNvSpPr>
          <p:nvPr>
            <p:ph idx="1"/>
          </p:nvPr>
        </p:nvSpPr>
        <p:spPr>
          <a:xfrm>
            <a:off x="611560" y="1556792"/>
            <a:ext cx="7886700" cy="4351338"/>
          </a:xfrm>
        </p:spPr>
        <p:txBody>
          <a:bodyPr/>
          <a:lstStyle/>
          <a:p>
            <a:r>
              <a:rPr lang="zh-CN" altLang="en-US" sz="2800" b="1" dirty="0">
                <a:solidFill>
                  <a:srgbClr val="FFFF00"/>
                </a:solidFill>
                <a:latin typeface="微软雅黑" panose="020B0503020204020204" pitchFamily="34" charset="-122"/>
                <a:ea typeface="微软雅黑" panose="020B0503020204020204" pitchFamily="34" charset="-122"/>
              </a:rPr>
              <a:t>有些类，不应该有默认初始化。 </a:t>
            </a:r>
            <a:endParaRPr lang="en-US" altLang="zh-CN" sz="2800" b="1" dirty="0">
              <a:solidFill>
                <a:srgbClr val="FFFF00"/>
              </a:solidFill>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例如，没有姓名的学生对象是没有意义的</a:t>
            </a:r>
            <a:endParaRPr lang="en-US" altLang="zh-CN"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解决：</a:t>
            </a:r>
            <a:endParaRPr lang="en-US" altLang="zh-CN" b="1"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至少定义一个有参数的构造函数</a:t>
            </a:r>
            <a:endParaRPr lang="en-US" altLang="zh-CN" sz="2800" b="1"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不定义默认构造函数</a:t>
            </a:r>
            <a:endParaRPr lang="zh-CN" altLang="en-US" sz="2800" b="1" dirty="0">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需要深层复制时，默认的复制构造会引起错误。（</a:t>
            </a:r>
            <a:r>
              <a:rPr lang="zh-CN" altLang="en-US" sz="2800" b="1" dirty="0">
                <a:solidFill>
                  <a:srgbClr val="FFFF00"/>
                </a:solidFill>
                <a:latin typeface="微软雅黑" panose="020B0503020204020204" pitchFamily="34" charset="-122"/>
                <a:ea typeface="微软雅黑" panose="020B0503020204020204" pitchFamily="34" charset="-122"/>
              </a:rPr>
              <a:t>见第</a:t>
            </a:r>
            <a:r>
              <a:rPr lang="en-US" altLang="zh-CN" sz="2800" b="1" dirty="0">
                <a:solidFill>
                  <a:srgbClr val="FFFF00"/>
                </a:solidFill>
                <a:latin typeface="微软雅黑" panose="020B0503020204020204" pitchFamily="34" charset="-122"/>
                <a:ea typeface="微软雅黑" panose="020B0503020204020204" pitchFamily="34" charset="-122"/>
              </a:rPr>
              <a:t>6</a:t>
            </a:r>
            <a:r>
              <a:rPr lang="zh-CN" altLang="en-US" sz="2800" b="1" dirty="0">
                <a:solidFill>
                  <a:srgbClr val="FFFF00"/>
                </a:solidFill>
                <a:latin typeface="微软雅黑" panose="020B0503020204020204" pitchFamily="34" charset="-122"/>
                <a:ea typeface="微软雅黑" panose="020B0503020204020204" pitchFamily="34" charset="-122"/>
              </a:rPr>
              <a:t>章</a:t>
            </a:r>
            <a:r>
              <a:rPr lang="zh-CN" altLang="en-US"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解决</a:t>
            </a:r>
            <a:r>
              <a:rPr lang="zh-CN" altLang="en-US"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自定义</a:t>
            </a:r>
            <a:r>
              <a:rPr lang="zh-CN" altLang="en-US" sz="2800" b="1" dirty="0">
                <a:latin typeface="微软雅黑" panose="020B0503020204020204" pitchFamily="34" charset="-122"/>
                <a:ea typeface="微软雅黑" panose="020B0503020204020204" pitchFamily="34" charset="-122"/>
              </a:rPr>
              <a:t>实现深层复制的复制构造函数</a:t>
            </a:r>
            <a:endParaRPr lang="en-US" altLang="zh-CN" sz="28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457200" y="260350"/>
            <a:ext cx="8229600" cy="10668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有时不应该进行复制和赋值</a:t>
            </a:r>
            <a:endParaRPr lang="zh-CN" altLang="en-US" sz="4400" b="1">
              <a:latin typeface="Times New Roman" panose="02020603050405020304" pitchFamily="18" charset="0"/>
              <a:ea typeface="隶书" panose="02010509060101010101" pitchFamily="49" charset="-122"/>
            </a:endParaRPr>
          </a:p>
        </p:txBody>
      </p:sp>
      <p:sp>
        <p:nvSpPr>
          <p:cNvPr id="50179" name="内容占位符 2"/>
          <p:cNvSpPr>
            <a:spLocks noGrp="1"/>
          </p:cNvSpPr>
          <p:nvPr>
            <p:ph idx="1"/>
          </p:nvPr>
        </p:nvSpPr>
        <p:spPr>
          <a:xfrm>
            <a:off x="457200" y="1196975"/>
            <a:ext cx="8229600" cy="5376863"/>
          </a:xfrm>
        </p:spPr>
        <p:txBody>
          <a:bodyPr/>
          <a:lstStyle/>
          <a:p>
            <a:r>
              <a:rPr lang="zh-CN" altLang="en-US" sz="2400" b="1" dirty="0">
                <a:latin typeface="微软雅黑" panose="020B0503020204020204" pitchFamily="34" charset="-122"/>
                <a:ea typeface="微软雅黑" panose="020B0503020204020204" pitchFamily="34" charset="-122"/>
              </a:rPr>
              <a:t>例如，房屋中介系统有一个类描述待售房屋</a:t>
            </a:r>
            <a:endParaRPr lang="en-US" altLang="zh-CN" sz="2400" b="1" dirty="0">
              <a:latin typeface="微软雅黑" panose="020B0503020204020204" pitchFamily="34" charset="-122"/>
              <a:ea typeface="微软雅黑" panose="020B0503020204020204" pitchFamily="34" charset="-122"/>
            </a:endParaRPr>
          </a:p>
          <a:p>
            <a:pPr marL="457200" lvl="1" indent="0">
              <a:buNone/>
            </a:pPr>
            <a:r>
              <a:rPr lang="en-US" altLang="zh-CN" sz="2400" b="1" dirty="0">
                <a:latin typeface="微软雅黑" panose="020B0503020204020204" pitchFamily="34" charset="-122"/>
                <a:ea typeface="微软雅黑" panose="020B0503020204020204" pitchFamily="34" charset="-122"/>
              </a:rPr>
              <a:t>class </a:t>
            </a:r>
            <a:r>
              <a:rPr lang="en-US" altLang="zh-CN" sz="2400" b="1" dirty="0" err="1">
                <a:latin typeface="微软雅黑" panose="020B0503020204020204" pitchFamily="34" charset="-122"/>
                <a:ea typeface="微软雅黑" panose="020B0503020204020204" pitchFamily="34" charset="-122"/>
              </a:rPr>
              <a:t>HomeForSale</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457200" lvl="1" indent="0">
              <a:buNone/>
            </a:pPr>
            <a:r>
              <a:rPr lang="zh-CN" altLang="en-US" sz="2400" b="1" dirty="0">
                <a:latin typeface="微软雅黑" panose="020B0503020204020204" pitchFamily="34" charset="-122"/>
                <a:ea typeface="微软雅黑" panose="020B0503020204020204" pitchFamily="34" charset="-122"/>
              </a:rPr>
              <a:t>通常没有完全一样的房屋，因此不应有复制构造</a:t>
            </a:r>
            <a:endParaRPr lang="en-US" altLang="zh-CN" sz="2400" b="1" dirty="0">
              <a:latin typeface="微软雅黑" panose="020B0503020204020204" pitchFamily="34" charset="-122"/>
              <a:ea typeface="微软雅黑" panose="020B0503020204020204" pitchFamily="34" charset="-122"/>
            </a:endParaRPr>
          </a:p>
          <a:p>
            <a:r>
              <a:rPr lang="zh-CN" altLang="en-US" sz="2400" b="1" dirty="0">
                <a:solidFill>
                  <a:srgbClr val="FFFF00"/>
                </a:solidFill>
                <a:latin typeface="微软雅黑" panose="020B0503020204020204" pitchFamily="34" charset="-122"/>
                <a:ea typeface="微软雅黑" panose="020B0503020204020204" pitchFamily="34" charset="-122"/>
              </a:rPr>
              <a:t>解决方法一：将不应该有的默认函数定义为私有</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class </a:t>
            </a:r>
            <a:r>
              <a:rPr lang="en-US" altLang="zh-CN" sz="2400" b="1" dirty="0" err="1">
                <a:latin typeface="微软雅黑" panose="020B0503020204020204" pitchFamily="34" charset="-122"/>
                <a:ea typeface="微软雅黑" panose="020B0503020204020204" pitchFamily="34" charset="-122"/>
              </a:rPr>
              <a:t>HomeForSale</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public:</a:t>
            </a:r>
            <a:endParaRPr lang="en-US" altLang="zh-CN" sz="2400" b="1" dirty="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private:</a:t>
            </a:r>
            <a:endParaRPr lang="en-US" altLang="zh-CN" sz="2400" b="1" dirty="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HomeForSale</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const</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HomeForSale</a:t>
            </a:r>
            <a:r>
              <a:rPr lang="en-US" altLang="zh-CN" sz="2400" b="1" dirty="0">
                <a:latin typeface="微软雅黑" panose="020B0503020204020204" pitchFamily="34" charset="-122"/>
                <a:ea typeface="微软雅黑" panose="020B0503020204020204" pitchFamily="34" charset="-122"/>
              </a:rPr>
              <a:t>&amp;);</a:t>
            </a:r>
            <a:endParaRPr lang="en-US" altLang="zh-CN" sz="2400" b="1" dirty="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HomeForSale</a:t>
            </a:r>
            <a:r>
              <a:rPr lang="en-US" altLang="zh-CN" sz="2400" b="1" dirty="0">
                <a:latin typeface="微软雅黑" panose="020B0503020204020204" pitchFamily="34" charset="-122"/>
                <a:ea typeface="微软雅黑" panose="020B0503020204020204" pitchFamily="34" charset="-122"/>
              </a:rPr>
              <a:t>&amp; operator=(</a:t>
            </a:r>
            <a:r>
              <a:rPr lang="en-US" altLang="zh-CN" sz="2400" b="1" dirty="0" err="1">
                <a:latin typeface="微软雅黑" panose="020B0503020204020204" pitchFamily="34" charset="-122"/>
                <a:ea typeface="微软雅黑" panose="020B0503020204020204" pitchFamily="34" charset="-122"/>
              </a:rPr>
              <a:t>const</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HomeForSale</a:t>
            </a:r>
            <a:r>
              <a:rPr lang="en-US" altLang="zh-CN" sz="2400" b="1" dirty="0">
                <a:latin typeface="微软雅黑" panose="020B0503020204020204" pitchFamily="34" charset="-122"/>
                <a:ea typeface="微软雅黑" panose="020B0503020204020204" pitchFamily="34" charset="-122"/>
              </a:rPr>
              <a:t>&amp;)</a:t>
            </a:r>
            <a:endParaRPr lang="en-US" altLang="zh-CN" sz="2400" b="1" dirty="0">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a:t>
            </a:r>
            <a:r>
              <a:rPr lang="en-US" altLang="zh-CN" sz="2400" b="1" dirty="0">
                <a:solidFill>
                  <a:srgbClr val="FFFF00"/>
                </a:solidFill>
                <a:latin typeface="微软雅黑" panose="020B0503020204020204" pitchFamily="34" charset="-122"/>
                <a:ea typeface="微软雅黑" panose="020B0503020204020204" pitchFamily="34" charset="-122"/>
              </a:rPr>
              <a:t>//</a:t>
            </a:r>
            <a:r>
              <a:rPr lang="zh-CN" altLang="en-US" sz="2400" b="1" dirty="0">
                <a:solidFill>
                  <a:srgbClr val="FFFF00"/>
                </a:solidFill>
                <a:latin typeface="微软雅黑" panose="020B0503020204020204" pitchFamily="34" charset="-122"/>
                <a:ea typeface="微软雅黑" panose="020B0503020204020204" pitchFamily="34" charset="-122"/>
              </a:rPr>
              <a:t>重载赋值运算符见第</a:t>
            </a:r>
            <a:r>
              <a:rPr lang="en-US" altLang="zh-CN" sz="2400" b="1" dirty="0">
                <a:solidFill>
                  <a:srgbClr val="FFFF00"/>
                </a:solidFill>
                <a:latin typeface="微软雅黑" panose="020B0503020204020204" pitchFamily="34" charset="-122"/>
                <a:ea typeface="微软雅黑" panose="020B0503020204020204" pitchFamily="34" charset="-122"/>
              </a:rPr>
              <a:t>8</a:t>
            </a:r>
            <a:r>
              <a:rPr lang="zh-CN" altLang="en-US" sz="2400" b="1" dirty="0">
                <a:solidFill>
                  <a:srgbClr val="FFFF00"/>
                </a:solidFill>
                <a:latin typeface="微软雅黑" panose="020B0503020204020204" pitchFamily="34" charset="-122"/>
                <a:ea typeface="微软雅黑" panose="020B0503020204020204" pitchFamily="34" charset="-122"/>
              </a:rPr>
              <a:t>章</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a:spcBef>
                <a:spcPct val="0"/>
              </a:spcBef>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250825" y="576263"/>
            <a:ext cx="8893175" cy="10668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有时不应该进行复制和赋值</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51203" name="内容占位符 2"/>
          <p:cNvSpPr>
            <a:spLocks noGrp="1"/>
          </p:cNvSpPr>
          <p:nvPr>
            <p:ph idx="1"/>
          </p:nvPr>
        </p:nvSpPr>
        <p:spPr/>
        <p:txBody>
          <a:bodyPr/>
          <a:lstStyle/>
          <a:p>
            <a:r>
              <a:rPr lang="zh-CN" altLang="en-US" sz="2400" b="1" dirty="0">
                <a:solidFill>
                  <a:srgbClr val="FFFF00"/>
                </a:solidFill>
                <a:latin typeface="微软雅黑" panose="020B0503020204020204" pitchFamily="34" charset="-122"/>
                <a:ea typeface="微软雅黑" panose="020B0503020204020204" pitchFamily="34" charset="-122"/>
              </a:rPr>
              <a:t>解决方法二：定义一个</a:t>
            </a:r>
            <a:r>
              <a:rPr lang="en-US" altLang="zh-CN" sz="2400" b="1" dirty="0" err="1">
                <a:solidFill>
                  <a:srgbClr val="FFFF00"/>
                </a:solidFill>
                <a:latin typeface="微软雅黑" panose="020B0503020204020204" pitchFamily="34" charset="-122"/>
                <a:ea typeface="微软雅黑" panose="020B0503020204020204" pitchFamily="34" charset="-122"/>
              </a:rPr>
              <a:t>Uncopyable</a:t>
            </a:r>
            <a:r>
              <a:rPr lang="zh-CN" altLang="en-US" sz="2400" b="1" dirty="0">
                <a:solidFill>
                  <a:srgbClr val="FFFF00"/>
                </a:solidFill>
                <a:latin typeface="微软雅黑" panose="020B0503020204020204" pitchFamily="34" charset="-122"/>
                <a:ea typeface="微软雅黑" panose="020B0503020204020204" pitchFamily="34" charset="-122"/>
              </a:rPr>
              <a:t>类作为基类（类的继承见第</a:t>
            </a:r>
            <a:r>
              <a:rPr lang="en-US" altLang="zh-CN" sz="2400" b="1" dirty="0">
                <a:solidFill>
                  <a:srgbClr val="FFFF00"/>
                </a:solidFill>
                <a:latin typeface="微软雅黑" panose="020B0503020204020204" pitchFamily="34" charset="-122"/>
                <a:ea typeface="微软雅黑" panose="020B0503020204020204" pitchFamily="34" charset="-122"/>
              </a:rPr>
              <a:t>7</a:t>
            </a:r>
            <a:r>
              <a:rPr lang="zh-CN" altLang="en-US" sz="2400" b="1" dirty="0">
                <a:solidFill>
                  <a:srgbClr val="FFFF00"/>
                </a:solidFill>
                <a:latin typeface="微软雅黑" panose="020B0503020204020204" pitchFamily="34" charset="-122"/>
                <a:ea typeface="微软雅黑" panose="020B0503020204020204" pitchFamily="34" charset="-122"/>
              </a:rPr>
              <a:t>章）</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class </a:t>
            </a:r>
            <a:r>
              <a:rPr lang="en-US" altLang="zh-CN" sz="2400" b="1" dirty="0" err="1">
                <a:latin typeface="微软雅黑" panose="020B0503020204020204" pitchFamily="34" charset="-122"/>
                <a:ea typeface="微软雅黑" panose="020B0503020204020204" pitchFamily="34" charset="-122"/>
              </a:rPr>
              <a:t>Uncopyable</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protected:</a:t>
            </a:r>
            <a:endParaRPr lang="en-US" altLang="zh-CN" sz="2400" b="1" dirty="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Uncopyable</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 </a:t>
            </a:r>
            <a:r>
              <a:rPr lang="en-US" altLang="zh-CN" sz="2400" b="1" dirty="0" err="1">
                <a:latin typeface="微软雅黑" panose="020B0503020204020204" pitchFamily="34" charset="-122"/>
                <a:ea typeface="微软雅黑" panose="020B0503020204020204" pitchFamily="34" charset="-122"/>
              </a:rPr>
              <a:t>Uncopyable</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private:</a:t>
            </a:r>
            <a:endParaRPr lang="en-US" altLang="zh-CN" sz="2400" b="1" dirty="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Uncopyable</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const</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Uncopyable</a:t>
            </a:r>
            <a:r>
              <a:rPr lang="en-US" altLang="zh-CN" sz="2400" b="1" dirty="0">
                <a:latin typeface="微软雅黑" panose="020B0503020204020204" pitchFamily="34" charset="-122"/>
                <a:ea typeface="微软雅黑" panose="020B0503020204020204" pitchFamily="34" charset="-122"/>
              </a:rPr>
              <a:t>&amp;);</a:t>
            </a:r>
            <a:endParaRPr lang="en-US" altLang="zh-CN" sz="2400" b="1" dirty="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Uncopyable</a:t>
            </a:r>
            <a:r>
              <a:rPr lang="en-US" altLang="zh-CN" sz="2400" b="1" dirty="0" smtClean="0">
                <a:latin typeface="微软雅黑" panose="020B0503020204020204" pitchFamily="34" charset="-122"/>
                <a:ea typeface="微软雅黑" panose="020B0503020204020204" pitchFamily="34" charset="-122"/>
              </a:rPr>
              <a:t>&amp; </a:t>
            </a:r>
            <a:r>
              <a:rPr lang="en-US" altLang="zh-CN" sz="2400" b="1" dirty="0">
                <a:latin typeface="微软雅黑" panose="020B0503020204020204" pitchFamily="34" charset="-122"/>
                <a:ea typeface="微软雅黑" panose="020B0503020204020204" pitchFamily="34" charset="-122"/>
              </a:rPr>
              <a:t>operator=(</a:t>
            </a:r>
            <a:r>
              <a:rPr lang="en-US" altLang="zh-CN" sz="2400" b="1" dirty="0" err="1">
                <a:latin typeface="微软雅黑" panose="020B0503020204020204" pitchFamily="34" charset="-122"/>
                <a:ea typeface="微软雅黑" panose="020B0503020204020204" pitchFamily="34" charset="-122"/>
              </a:rPr>
              <a:t>const</a:t>
            </a: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Uncopyable</a:t>
            </a:r>
            <a:r>
              <a:rPr lang="en-US" altLang="zh-CN" sz="2400" b="1" dirty="0">
                <a:latin typeface="微软雅黑" panose="020B0503020204020204" pitchFamily="34" charset="-122"/>
                <a:ea typeface="微软雅黑" panose="020B0503020204020204" pitchFamily="34" charset="-122"/>
              </a:rPr>
              <a:t>&amp;);</a:t>
            </a:r>
            <a:endParaRPr lang="en-US" altLang="zh-CN" sz="2400" b="1" dirty="0">
              <a:latin typeface="微软雅黑" panose="020B0503020204020204" pitchFamily="34" charset="-122"/>
              <a:ea typeface="微软雅黑" panose="020B0503020204020204" pitchFamily="34" charset="-122"/>
            </a:endParaRPr>
          </a:p>
          <a:p>
            <a:pPr lvl="1">
              <a:buFont typeface="Georgia" panose="02040502050405020303" pitchFamily="18" charset="0"/>
              <a:buNone/>
            </a:pPr>
            <a:r>
              <a:rPr lang="en-US" altLang="zh-CN"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57082" y="2331475"/>
            <a:ext cx="8272689" cy="3257203"/>
          </a:xfrm>
        </p:spPr>
        <p:txBody>
          <a:bodyPr/>
          <a:lstStyle/>
          <a:p>
            <a:pPr>
              <a:spcBef>
                <a:spcPts val="0"/>
              </a:spcBef>
              <a:spcAft>
                <a:spcPts val="0"/>
              </a:spcAft>
            </a:pPr>
            <a:r>
              <a:rPr lang="zh-CN" altLang="en-US" sz="2400" b="1" dirty="0">
                <a:latin typeface="微软雅黑" panose="020B0503020204020204" pitchFamily="34" charset="-122"/>
                <a:ea typeface="微软雅黑" panose="020B0503020204020204" pitchFamily="34" charset="-122"/>
              </a:rPr>
              <a:t>左值是位于赋值语句左侧的对象变量，右值是位于赋值语句右侧的值，右值不依附于对象。</a:t>
            </a:r>
            <a:endParaRPr lang="en-US" altLang="zh-CN" sz="2400" b="1" dirty="0">
              <a:latin typeface="微软雅黑" panose="020B0503020204020204" pitchFamily="34" charset="-122"/>
              <a:ea typeface="微软雅黑" panose="020B0503020204020204" pitchFamily="34" charset="-122"/>
            </a:endParaRPr>
          </a:p>
          <a:p>
            <a:pPr lvl="1">
              <a:spcBef>
                <a:spcPts val="0"/>
              </a:spcBef>
              <a:spcAft>
                <a:spcPts val="0"/>
              </a:spcAft>
            </a:pPr>
            <a:r>
              <a:rPr lang="en-US" altLang="zh-CN" sz="2400" b="1" dirty="0">
                <a:latin typeface="微软雅黑" panose="020B0503020204020204" pitchFamily="34" charset="-122"/>
                <a:ea typeface="微软雅黑" panose="020B0503020204020204" pitchFamily="34" charset="-122"/>
              </a:rPr>
              <a:t>int</a:t>
            </a: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42;</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 是左值，</a:t>
            </a:r>
            <a:r>
              <a:rPr lang="en-US" altLang="zh-CN" sz="2400" b="1" dirty="0">
                <a:latin typeface="微软雅黑" panose="020B0503020204020204" pitchFamily="34" charset="-122"/>
                <a:ea typeface="微软雅黑" panose="020B0503020204020204" pitchFamily="34" charset="-122"/>
              </a:rPr>
              <a:t>42</a:t>
            </a:r>
            <a:r>
              <a:rPr lang="zh-CN" altLang="en-US" sz="2400" b="1" dirty="0">
                <a:latin typeface="微软雅黑" panose="020B0503020204020204" pitchFamily="34" charset="-122"/>
                <a:ea typeface="微软雅黑" panose="020B0503020204020204" pitchFamily="34" charset="-122"/>
              </a:rPr>
              <a:t>是右值</a:t>
            </a:r>
            <a:endParaRPr lang="en-US" altLang="zh-CN" sz="2400" b="1" dirty="0">
              <a:latin typeface="微软雅黑" panose="020B0503020204020204" pitchFamily="34" charset="-122"/>
              <a:ea typeface="微软雅黑" panose="020B0503020204020204" pitchFamily="34" charset="-122"/>
            </a:endParaRPr>
          </a:p>
          <a:p>
            <a:pPr lvl="1">
              <a:spcBef>
                <a:spcPts val="0"/>
              </a:spcBef>
              <a:spcAft>
                <a:spcPts val="0"/>
              </a:spcAft>
            </a:pPr>
            <a:r>
              <a:rPr lang="en-US" altLang="zh-CN" sz="2400" b="1" dirty="0">
                <a:latin typeface="微软雅黑" panose="020B0503020204020204" pitchFamily="34" charset="-122"/>
                <a:ea typeface="微软雅黑" panose="020B0503020204020204" pitchFamily="34" charset="-122"/>
              </a:rPr>
              <a:t>int</a:t>
            </a: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foolbar</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a:p>
            <a:pPr lvl="1">
              <a:spcBef>
                <a:spcPts val="0"/>
              </a:spcBef>
              <a:spcAft>
                <a:spcPts val="0"/>
              </a:spcAft>
            </a:pPr>
            <a:r>
              <a:rPr lang="en-US" altLang="zh-CN" sz="2400" b="1" dirty="0">
                <a:latin typeface="微软雅黑" panose="020B0503020204020204" pitchFamily="34" charset="-122"/>
                <a:ea typeface="微软雅黑" panose="020B0503020204020204" pitchFamily="34" charset="-122"/>
              </a:rPr>
              <a:t>int</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foolbar</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foolbar</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是右值</a:t>
            </a:r>
            <a:endParaRPr lang="en-US" altLang="zh-CN" sz="2400" b="1" dirty="0">
              <a:latin typeface="微软雅黑" panose="020B0503020204020204" pitchFamily="34" charset="-122"/>
              <a:ea typeface="微软雅黑" panose="020B0503020204020204" pitchFamily="34" charset="-122"/>
            </a:endParaRPr>
          </a:p>
          <a:p>
            <a:pPr>
              <a:spcBef>
                <a:spcPts val="0"/>
              </a:spcBef>
              <a:spcAft>
                <a:spcPts val="0"/>
              </a:spcAft>
            </a:pPr>
            <a:r>
              <a:rPr lang="zh-CN" altLang="en-US" sz="2400" b="1" dirty="0">
                <a:latin typeface="微软雅黑" panose="020B0503020204020204" pitchFamily="34" charset="-122"/>
                <a:ea typeface="微软雅黑" panose="020B0503020204020204" pitchFamily="34" charset="-122"/>
              </a:rPr>
              <a:t>左值和右值之间的转换</a:t>
            </a:r>
            <a:endParaRPr lang="en-US" altLang="zh-CN" sz="2400" b="1" dirty="0">
              <a:latin typeface="微软雅黑" panose="020B0503020204020204" pitchFamily="34" charset="-122"/>
              <a:ea typeface="微软雅黑" panose="020B0503020204020204" pitchFamily="34" charset="-122"/>
            </a:endParaRPr>
          </a:p>
          <a:p>
            <a:pPr lvl="1">
              <a:spcBef>
                <a:spcPts val="0"/>
              </a:spcBef>
              <a:spcAft>
                <a:spcPts val="0"/>
              </a:spcAft>
            </a:pPr>
            <a:r>
              <a:rPr lang="en-US" altLang="zh-CN" sz="2400" b="1" dirty="0">
                <a:latin typeface="微软雅黑" panose="020B0503020204020204" pitchFamily="34" charset="-122"/>
                <a:ea typeface="微软雅黑" panose="020B0503020204020204" pitchFamily="34" charset="-122"/>
              </a:rPr>
              <a:t>int</a:t>
            </a: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6;</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 和 </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 是左值</a:t>
            </a:r>
            <a:endParaRPr lang="en-US" altLang="zh-CN" sz="2400" b="1" dirty="0">
              <a:latin typeface="微软雅黑" panose="020B0503020204020204" pitchFamily="34" charset="-122"/>
              <a:ea typeface="微软雅黑" panose="020B0503020204020204" pitchFamily="34" charset="-122"/>
            </a:endParaRPr>
          </a:p>
          <a:p>
            <a:pPr lvl="1">
              <a:spcBef>
                <a:spcPts val="0"/>
              </a:spcBef>
              <a:spcAft>
                <a:spcPts val="0"/>
              </a:spcAft>
            </a:pPr>
            <a:r>
              <a:rPr lang="en-US" altLang="zh-CN" sz="2400" b="1" dirty="0">
                <a:latin typeface="微软雅黑" panose="020B0503020204020204" pitchFamily="34" charset="-122"/>
                <a:ea typeface="微软雅黑" panose="020B0503020204020204" pitchFamily="34" charset="-122"/>
              </a:rPr>
              <a:t>int</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k</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 自动转化为右值表达式</a:t>
            </a:r>
            <a:endParaRPr lang="en-US" altLang="zh-CN" sz="2400" b="1" dirty="0">
              <a:latin typeface="微软雅黑" panose="020B0503020204020204" pitchFamily="34" charset="-122"/>
              <a:ea typeface="微软雅黑" panose="020B0503020204020204" pitchFamily="34" charset="-122"/>
            </a:endParaRPr>
          </a:p>
          <a:p>
            <a:pPr lvl="1">
              <a:spcBef>
                <a:spcPts val="0"/>
              </a:spcBef>
              <a:spcAft>
                <a:spcPts val="0"/>
              </a:spcAft>
            </a:pPr>
            <a:endParaRPr lang="en-US" altLang="zh-CN" dirty="0"/>
          </a:p>
        </p:txBody>
      </p:sp>
      <p:sp>
        <p:nvSpPr>
          <p:cNvPr id="4" name="Rectangle 2"/>
          <p:cNvSpPr txBox="1">
            <a:spLocks noChangeArrowheads="1"/>
          </p:cNvSpPr>
          <p:nvPr/>
        </p:nvSpPr>
        <p:spPr>
          <a:xfrm>
            <a:off x="628651" y="849948"/>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4.3.6  </a:t>
            </a:r>
            <a:r>
              <a:rPr lang="zh-CN" altLang="en-US" sz="4400" b="1" dirty="0" smtClean="0">
                <a:solidFill>
                  <a:srgbClr val="FFFFFF"/>
                </a:solidFill>
                <a:latin typeface="Times New Roman" panose="02020603050405020304" pitchFamily="18" charset="0"/>
                <a:ea typeface="隶书" panose="02010509060101010101" pitchFamily="49" charset="-122"/>
              </a:rPr>
              <a:t>移动构造函数</a:t>
            </a:r>
            <a:endParaRPr lang="en-US" altLang="zh-CN" sz="4400" b="1" dirty="0" smtClean="0">
              <a:solidFill>
                <a:srgbClr val="FFFFFF"/>
              </a:solidFill>
              <a:latin typeface="Times New Roman" panose="02020603050405020304" pitchFamily="18" charset="0"/>
              <a:ea typeface="隶书" panose="02010509060101010101" pitchFamily="49" charset="-122"/>
            </a:endParaRPr>
          </a:p>
          <a:p>
            <a:pPr algn="ctr"/>
            <a:r>
              <a:rPr lang="en-US" altLang="zh-CN" sz="4400" b="1" dirty="0" smtClean="0">
                <a:solidFill>
                  <a:srgbClr val="FFFFFF"/>
                </a:solidFill>
                <a:latin typeface="Times New Roman" panose="02020603050405020304" pitchFamily="18" charset="0"/>
                <a:ea typeface="隶书" panose="02010509060101010101" pitchFamily="49" charset="-122"/>
              </a:rPr>
              <a:t>——</a:t>
            </a:r>
            <a:r>
              <a:rPr lang="zh-CN" altLang="en-US" sz="4400" b="1" dirty="0" smtClean="0">
                <a:solidFill>
                  <a:srgbClr val="FFFFFF"/>
                </a:solidFill>
                <a:latin typeface="Times New Roman" panose="02020603050405020304" pitchFamily="18" charset="0"/>
                <a:ea typeface="隶书" panose="02010509060101010101" pitchFamily="49" charset="-122"/>
              </a:rPr>
              <a:t>左值与右值</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95250" y="1844675"/>
            <a:ext cx="8853805" cy="3256915"/>
          </a:xfrm>
        </p:spPr>
        <p:txBody>
          <a:bodyPr/>
          <a:lstStyle/>
          <a:p>
            <a:pPr>
              <a:lnSpc>
                <a:spcPct val="1500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对持久存在变量的引用称为左值引用，用</a:t>
            </a:r>
            <a:r>
              <a:rPr lang="en-US" altLang="zh-CN" sz="2000" b="1" dirty="0">
                <a:latin typeface="微软雅黑" panose="020B0503020204020204" pitchFamily="34" charset="-122"/>
                <a:ea typeface="微软雅黑" panose="020B0503020204020204" pitchFamily="34" charset="-122"/>
              </a:rPr>
              <a:t>&amp;</a:t>
            </a:r>
            <a:r>
              <a:rPr lang="zh-CN" altLang="en-US" sz="2000" b="1" dirty="0">
                <a:latin typeface="微软雅黑" panose="020B0503020204020204" pitchFamily="34" charset="-122"/>
                <a:ea typeface="微软雅黑" panose="020B0503020204020204" pitchFamily="34" charset="-122"/>
              </a:rPr>
              <a:t>表示（即第</a:t>
            </a: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章引用类型）</a:t>
            </a:r>
            <a:endParaRPr lang="en-US" altLang="zh-CN" sz="2000" b="1" dirty="0">
              <a:latin typeface="微软雅黑" panose="020B0503020204020204" pitchFamily="34" charset="-122"/>
              <a:ea typeface="微软雅黑" panose="020B0503020204020204" pitchFamily="34" charset="-122"/>
            </a:endParaRPr>
          </a:p>
          <a:p>
            <a:pPr>
              <a:lnSpc>
                <a:spcPct val="1500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对短暂存在可被移动的右值的引用称之为右值引用，用</a:t>
            </a:r>
            <a:r>
              <a:rPr lang="en-US" altLang="zh-CN" sz="2000" b="1" dirty="0">
                <a:latin typeface="微软雅黑" panose="020B0503020204020204" pitchFamily="34" charset="-122"/>
                <a:ea typeface="微软雅黑" panose="020B0503020204020204" pitchFamily="34" charset="-122"/>
              </a:rPr>
              <a:t>&amp;&amp;</a:t>
            </a:r>
            <a:r>
              <a:rPr lang="zh-CN" altLang="en-US" sz="2000" b="1" dirty="0">
                <a:latin typeface="微软雅黑" panose="020B0503020204020204" pitchFamily="34" charset="-122"/>
                <a:ea typeface="微软雅黑" panose="020B0503020204020204" pitchFamily="34" charset="-122"/>
              </a:rPr>
              <a:t>表示</a:t>
            </a:r>
            <a:endParaRPr lang="en-US" altLang="zh-CN" sz="2000" b="1"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en-US" altLang="zh-CN" sz="2000" b="1" dirty="0">
                <a:latin typeface="微软雅黑" panose="020B0503020204020204" pitchFamily="34" charset="-122"/>
                <a:ea typeface="微软雅黑" panose="020B0503020204020204" pitchFamily="34" charset="-122"/>
              </a:rPr>
              <a:t>float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6;</a:t>
            </a:r>
            <a:endParaRPr lang="en-US" altLang="zh-CN" sz="2000" b="1"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en-US" altLang="zh-CN" sz="2000" b="1" dirty="0">
                <a:latin typeface="微软雅黑" panose="020B0503020204020204" pitchFamily="34" charset="-122"/>
                <a:ea typeface="微软雅黑" panose="020B0503020204020204" pitchFamily="34" charset="-122"/>
              </a:rPr>
              <a:t>float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&amp;</a:t>
            </a:r>
            <a:r>
              <a:rPr lang="en-US" altLang="zh-CN" sz="2000" b="1" dirty="0" err="1">
                <a:latin typeface="微软雅黑" panose="020B0503020204020204" pitchFamily="34" charset="-122"/>
                <a:ea typeface="微软雅黑" panose="020B0503020204020204" pitchFamily="34" charset="-122"/>
              </a:rPr>
              <a:t>lr_n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左值引用</a:t>
            </a:r>
            <a:endParaRPr lang="en-US" altLang="zh-CN" sz="2000" b="1"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en-US" altLang="zh-CN" sz="2000" b="1" dirty="0">
                <a:latin typeface="微软雅黑" panose="020B0503020204020204" pitchFamily="34" charset="-122"/>
                <a:ea typeface="微软雅黑" panose="020B0503020204020204" pitchFamily="34" charset="-122"/>
              </a:rPr>
              <a:t>float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&amp;&amp;</a:t>
            </a:r>
            <a:r>
              <a:rPr lang="en-US" altLang="zh-CN" sz="2000" b="1" dirty="0" err="1">
                <a:latin typeface="微软雅黑" panose="020B0503020204020204" pitchFamily="34" charset="-122"/>
                <a:ea typeface="微软雅黑" panose="020B0503020204020204" pitchFamily="34" charset="-122"/>
              </a:rPr>
              <a:t>rr_n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错误，右值引用不能绑定到左值</a:t>
            </a:r>
            <a:endParaRPr lang="en-US" altLang="zh-CN" sz="2000" b="1"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en-US" altLang="zh-CN" sz="2000" b="1" dirty="0">
                <a:latin typeface="微软雅黑" panose="020B0503020204020204" pitchFamily="34" charset="-122"/>
                <a:ea typeface="微软雅黑" panose="020B0503020204020204" pitchFamily="34" charset="-122"/>
              </a:rPr>
              <a:t>float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&amp;&amp;</a:t>
            </a:r>
            <a:r>
              <a:rPr lang="en-US" altLang="zh-CN" sz="2000" b="1" dirty="0" err="1">
                <a:latin typeface="微软雅黑" panose="020B0503020204020204" pitchFamily="34" charset="-122"/>
                <a:ea typeface="微软雅黑" panose="020B0503020204020204" pitchFamily="34" charset="-122"/>
              </a:rPr>
              <a:t>rr_n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 * </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右值表达式绑定到右值引用</a:t>
            </a:r>
            <a:endParaRPr lang="en-US" altLang="zh-CN" sz="2000" b="1" dirty="0">
              <a:latin typeface="微软雅黑" panose="020B0503020204020204" pitchFamily="34" charset="-122"/>
              <a:ea typeface="微软雅黑" panose="020B0503020204020204" pitchFamily="34" charset="-122"/>
            </a:endParaRPr>
          </a:p>
          <a:p>
            <a:pPr>
              <a:lnSpc>
                <a:spcPct val="1500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通过标准库</a:t>
            </a:r>
            <a:r>
              <a:rPr lang="en-US" altLang="zh-CN" sz="2000" b="1" dirty="0">
                <a:latin typeface="微软雅黑" panose="020B0503020204020204" pitchFamily="34" charset="-122"/>
                <a:ea typeface="微软雅黑" panose="020B0503020204020204" pitchFamily="34" charset="-122"/>
              </a:rPr>
              <a:t>&lt;utility&gt;</a:t>
            </a:r>
            <a:r>
              <a:rPr lang="zh-CN" altLang="en-US" sz="2000" b="1" dirty="0">
                <a:latin typeface="微软雅黑" panose="020B0503020204020204" pitchFamily="34" charset="-122"/>
                <a:ea typeface="微软雅黑" panose="020B0503020204020204" pitchFamily="34" charset="-122"/>
              </a:rPr>
              <a:t>中的</a:t>
            </a:r>
            <a:r>
              <a:rPr lang="en-US" altLang="zh-CN" sz="2000" b="1" dirty="0">
                <a:latin typeface="微软雅黑" panose="020B0503020204020204" pitchFamily="34" charset="-122"/>
                <a:ea typeface="微软雅黑" panose="020B0503020204020204" pitchFamily="34" charset="-122"/>
              </a:rPr>
              <a:t>move</a:t>
            </a:r>
            <a:r>
              <a:rPr lang="zh-CN" altLang="en-US" sz="2000" b="1" dirty="0">
                <a:latin typeface="微软雅黑" panose="020B0503020204020204" pitchFamily="34" charset="-122"/>
                <a:ea typeface="微软雅黑" panose="020B0503020204020204" pitchFamily="34" charset="-122"/>
              </a:rPr>
              <a:t>函数可将左值对象移动为右值</a:t>
            </a:r>
            <a:endParaRPr lang="en-US" altLang="zh-CN" sz="2000" b="1"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en-US" altLang="zh-CN" sz="2000" b="1" dirty="0">
                <a:latin typeface="微软雅黑" panose="020B0503020204020204" pitchFamily="34" charset="-122"/>
                <a:ea typeface="微软雅黑" panose="020B0503020204020204" pitchFamily="34" charset="-122"/>
              </a:rPr>
              <a:t>float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10;</a:t>
            </a:r>
            <a:endParaRPr lang="en-US" altLang="zh-CN" sz="2000" b="1"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en-US" altLang="zh-CN" sz="2000" b="1" dirty="0">
                <a:latin typeface="微软雅黑" panose="020B0503020204020204" pitchFamily="34" charset="-122"/>
                <a:ea typeface="微软雅黑" panose="020B0503020204020204" pitchFamily="34" charset="-122"/>
              </a:rPr>
              <a:t>float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&amp;&amp;</a:t>
            </a:r>
            <a:r>
              <a:rPr lang="en-US" altLang="zh-CN" sz="2000" b="1" dirty="0" err="1">
                <a:latin typeface="微软雅黑" panose="020B0503020204020204" pitchFamily="34" charset="-122"/>
                <a:ea typeface="微软雅黑" panose="020B0503020204020204" pitchFamily="34" charset="-122"/>
              </a:rPr>
              <a:t>rr_n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std::move(n);</a:t>
            </a:r>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将</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转化为右值</a:t>
            </a:r>
            <a:endParaRPr lang="en-US" altLang="zh-CN" sz="2000" b="1"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zh-CN" altLang="en-US" sz="2000" b="1" dirty="0">
                <a:latin typeface="微软雅黑" panose="020B0503020204020204" pitchFamily="34" charset="-122"/>
                <a:ea typeface="微软雅黑" panose="020B0503020204020204" pitchFamily="34" charset="-122"/>
              </a:rPr>
              <a:t>使用</a:t>
            </a:r>
            <a:r>
              <a:rPr lang="en-US" altLang="zh-CN" sz="2000" b="1" dirty="0">
                <a:latin typeface="微软雅黑" panose="020B0503020204020204" pitchFamily="34" charset="-122"/>
                <a:ea typeface="微软雅黑" panose="020B0503020204020204" pitchFamily="34" charset="-122"/>
              </a:rPr>
              <a:t>move</a:t>
            </a:r>
            <a:r>
              <a:rPr lang="zh-CN" altLang="en-US" sz="2000" b="1" dirty="0">
                <a:latin typeface="微软雅黑" panose="020B0503020204020204" pitchFamily="34" charset="-122"/>
                <a:ea typeface="微软雅黑" panose="020B0503020204020204" pitchFamily="34" charset="-122"/>
              </a:rPr>
              <a:t>函数承诺除对</a:t>
            </a:r>
            <a:r>
              <a:rPr lang="en-US" altLang="zh-CN" sz="2000" b="1" dirty="0">
                <a:latin typeface="微软雅黑" panose="020B0503020204020204" pitchFamily="34" charset="-122"/>
                <a:ea typeface="微软雅黑" panose="020B0503020204020204" pitchFamily="34" charset="-122"/>
              </a:rPr>
              <a:t>n</a:t>
            </a:r>
            <a:r>
              <a:rPr lang="zh-CN" altLang="en-US" sz="2000" b="1" dirty="0">
                <a:latin typeface="微软雅黑" panose="020B0503020204020204" pitchFamily="34" charset="-122"/>
                <a:ea typeface="微软雅黑" panose="020B0503020204020204" pitchFamily="34" charset="-122"/>
              </a:rPr>
              <a:t>重新赋值或销毁外，不以</a:t>
            </a:r>
            <a:r>
              <a:rPr lang="en-US" altLang="zh-CN" sz="2000" b="1" dirty="0" err="1">
                <a:latin typeface="微软雅黑" panose="020B0503020204020204" pitchFamily="34" charset="-122"/>
                <a:ea typeface="微软雅黑" panose="020B0503020204020204" pitchFamily="34" charset="-122"/>
              </a:rPr>
              <a:t>rr_n</a:t>
            </a:r>
            <a:r>
              <a:rPr lang="zh-CN" altLang="en-US" sz="2000" b="1" dirty="0">
                <a:latin typeface="微软雅黑" panose="020B0503020204020204" pitchFamily="34" charset="-122"/>
                <a:ea typeface="微软雅黑" panose="020B0503020204020204" pitchFamily="34" charset="-122"/>
              </a:rPr>
              <a:t>以外方式使用</a:t>
            </a:r>
            <a:endParaRPr lang="en-US" altLang="zh-CN" sz="2000" b="1" dirty="0">
              <a:latin typeface="微软雅黑" panose="020B0503020204020204" pitchFamily="34" charset="-122"/>
              <a:ea typeface="微软雅黑" panose="020B0503020204020204" pitchFamily="34" charset="-122"/>
            </a:endParaRPr>
          </a:p>
        </p:txBody>
      </p:sp>
      <p:sp>
        <p:nvSpPr>
          <p:cNvPr id="4" name="Rectangle 2"/>
          <p:cNvSpPr txBox="1">
            <a:spLocks noChangeArrowheads="1"/>
          </p:cNvSpPr>
          <p:nvPr/>
        </p:nvSpPr>
        <p:spPr>
          <a:xfrm>
            <a:off x="628651" y="849948"/>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4.3.6  </a:t>
            </a:r>
            <a:r>
              <a:rPr lang="zh-CN" altLang="en-US" sz="4400" b="1" dirty="0" smtClean="0">
                <a:solidFill>
                  <a:srgbClr val="FFFFFF"/>
                </a:solidFill>
                <a:latin typeface="Times New Roman" panose="02020603050405020304" pitchFamily="18" charset="0"/>
                <a:ea typeface="隶书" panose="02010509060101010101" pitchFamily="49" charset="-122"/>
              </a:rPr>
              <a:t>移动构造函数</a:t>
            </a:r>
            <a:endParaRPr lang="en-US" altLang="zh-CN" sz="4400" b="1" dirty="0" smtClean="0">
              <a:solidFill>
                <a:srgbClr val="FFFFFF"/>
              </a:solidFill>
              <a:latin typeface="Times New Roman" panose="02020603050405020304" pitchFamily="18" charset="0"/>
              <a:ea typeface="隶书" panose="02010509060101010101" pitchFamily="49" charset="-122"/>
            </a:endParaRPr>
          </a:p>
          <a:p>
            <a:pPr algn="ctr"/>
            <a:r>
              <a:rPr lang="en-US" altLang="zh-CN" sz="4400" b="1" dirty="0" smtClean="0">
                <a:solidFill>
                  <a:srgbClr val="FFFFFF"/>
                </a:solidFill>
                <a:latin typeface="Times New Roman" panose="02020603050405020304" pitchFamily="18" charset="0"/>
                <a:ea typeface="隶书" panose="02010509060101010101" pitchFamily="49" charset="-122"/>
              </a:rPr>
              <a:t>——</a:t>
            </a:r>
            <a:r>
              <a:rPr lang="zh-CN" altLang="en-US" sz="4400" b="1" dirty="0" smtClean="0">
                <a:solidFill>
                  <a:srgbClr val="FFFFFF"/>
                </a:solidFill>
                <a:latin typeface="Times New Roman" panose="02020603050405020304" pitchFamily="18" charset="0"/>
                <a:ea typeface="隶书" panose="02010509060101010101" pitchFamily="49" charset="-122"/>
              </a:rPr>
              <a:t>右值引用</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1"/>
          </p:nvPr>
        </p:nvSpPr>
        <p:spPr>
          <a:xfrm>
            <a:off x="457081" y="1628800"/>
            <a:ext cx="8185797" cy="3107913"/>
          </a:xfrm>
        </p:spPr>
        <p:txBody>
          <a:bodyPr/>
          <a:lstStyle/>
          <a:p>
            <a:pPr marL="0" indent="262890">
              <a:buNone/>
            </a:pPr>
            <a:r>
              <a:rPr lang="zh-CN" altLang="en-US" sz="2000" b="1" dirty="0" smtClean="0">
                <a:latin typeface="微软雅黑" panose="020B0503020204020204" pitchFamily="34" charset="-122"/>
                <a:ea typeface="微软雅黑" panose="020B0503020204020204" pitchFamily="34" charset="-122"/>
              </a:rPr>
              <a:t>基于右值引用，移动构造函数通过移动数据方式构造新对象，与复制构造函数类似，移动构造函数参数为该类对象的右值引用。示例如下</a:t>
            </a:r>
            <a:endParaRPr lang="en-US" altLang="en-US" sz="2000" b="1" dirty="0" smtClean="0">
              <a:latin typeface="微软雅黑" panose="020B0503020204020204" pitchFamily="34" charset="-122"/>
              <a:ea typeface="微软雅黑" panose="020B0503020204020204" pitchFamily="34" charset="-122"/>
            </a:endParaRPr>
          </a:p>
          <a:p>
            <a:pPr marL="563245" lvl="1">
              <a:buNone/>
            </a:pPr>
            <a:r>
              <a:rPr lang="en-US" altLang="zh-CN" sz="2000" b="1" dirty="0" smtClean="0">
                <a:latin typeface="微软雅黑" panose="020B0503020204020204" pitchFamily="34" charset="-122"/>
                <a:ea typeface="微软雅黑" panose="020B0503020204020204" pitchFamily="34" charset="-122"/>
              </a:rPr>
              <a:t>#include&lt;utility&gt;</a:t>
            </a:r>
            <a:endParaRPr lang="en-US" altLang="zh-CN" sz="2000" b="1" dirty="0" smtClean="0">
              <a:latin typeface="微软雅黑" panose="020B0503020204020204" pitchFamily="34" charset="-122"/>
              <a:ea typeface="微软雅黑" panose="020B0503020204020204" pitchFamily="34" charset="-122"/>
            </a:endParaRPr>
          </a:p>
          <a:p>
            <a:pPr marL="563245" lvl="1">
              <a:buNone/>
            </a:pPr>
            <a:r>
              <a:rPr lang="en-US" altLang="zh-CN" sz="2000" b="1" dirty="0" smtClean="0">
                <a:latin typeface="微软雅黑" panose="020B0503020204020204" pitchFamily="34" charset="-122"/>
                <a:ea typeface="微软雅黑" panose="020B0503020204020204" pitchFamily="34" charset="-122"/>
              </a:rPr>
              <a:t>class </a:t>
            </a:r>
            <a:r>
              <a:rPr lang="en-US" altLang="zh-CN" sz="2000" b="1" dirty="0" err="1" smtClean="0">
                <a:latin typeface="微软雅黑" panose="020B0503020204020204" pitchFamily="34" charset="-122"/>
                <a:ea typeface="微软雅黑" panose="020B0503020204020204" pitchFamily="34" charset="-122"/>
              </a:rPr>
              <a:t>astring</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563245" lvl="1">
              <a:buNone/>
            </a:pPr>
            <a:r>
              <a:rPr lang="en-US" altLang="zh-CN" sz="2000" b="1" dirty="0" smtClean="0">
                <a:latin typeface="微软雅黑" panose="020B0503020204020204" pitchFamily="34" charset="-122"/>
                <a:ea typeface="微软雅黑" panose="020B0503020204020204" pitchFamily="34" charset="-122"/>
              </a:rPr>
              <a:t>public :</a:t>
            </a:r>
            <a:endParaRPr lang="en-US" altLang="zh-CN" sz="2000" b="1" dirty="0" smtClean="0">
              <a:latin typeface="微软雅黑" panose="020B0503020204020204" pitchFamily="34" charset="-122"/>
              <a:ea typeface="微软雅黑" panose="020B0503020204020204" pitchFamily="34" charset="-122"/>
            </a:endParaRPr>
          </a:p>
          <a:p>
            <a:pPr marL="563245" lvl="1">
              <a:buNone/>
            </a:pP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std</a:t>
            </a:r>
            <a:r>
              <a:rPr lang="en-US" altLang="zh-CN" sz="2000" b="1" dirty="0" smtClean="0">
                <a:latin typeface="微软雅黑" panose="020B0503020204020204" pitchFamily="34" charset="-122"/>
                <a:ea typeface="微软雅黑" panose="020B0503020204020204" pitchFamily="34" charset="-122"/>
              </a:rPr>
              <a:t>::string</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s;</a:t>
            </a:r>
            <a:endParaRPr lang="en-US" altLang="zh-CN" sz="2000" b="1" dirty="0" smtClean="0">
              <a:latin typeface="微软雅黑" panose="020B0503020204020204" pitchFamily="34" charset="-122"/>
              <a:ea typeface="微软雅黑" panose="020B0503020204020204" pitchFamily="34" charset="-122"/>
            </a:endParaRPr>
          </a:p>
          <a:p>
            <a:pPr marL="563245" lvl="1">
              <a:buNone/>
            </a:pP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astring</a:t>
            </a:r>
            <a:r>
              <a:rPr lang="en-US" altLang="zh-CN"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astring</a:t>
            </a:r>
            <a:r>
              <a:rPr lang="en-US" altLang="zh-CN" sz="2000" b="1" dirty="0" smtClean="0">
                <a:latin typeface="微软雅黑" panose="020B0503020204020204" pitchFamily="34" charset="-122"/>
                <a:ea typeface="微软雅黑" panose="020B0503020204020204" pitchFamily="34" charset="-122"/>
              </a:rPr>
              <a:t>&amp;&amp;</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o)</a:t>
            </a:r>
            <a:r>
              <a:rPr lang="zh-CN" altLang="en-US" sz="2000" b="1" dirty="0" smtClean="0">
                <a:latin typeface="微软雅黑" panose="020B0503020204020204" pitchFamily="34" charset="-122"/>
                <a:ea typeface="微软雅黑" panose="020B0503020204020204" pitchFamily="34" charset="-122"/>
              </a:rPr>
              <a:t> </a:t>
            </a:r>
            <a:r>
              <a:rPr lang="en-US" altLang="zh-CN" sz="2000" b="1" dirty="0" err="1" smtClean="0">
                <a:latin typeface="微软雅黑" panose="020B0503020204020204" pitchFamily="34" charset="-122"/>
                <a:ea typeface="微软雅黑" panose="020B0503020204020204" pitchFamily="34" charset="-122"/>
              </a:rPr>
              <a:t>noexcept</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s(</a:t>
            </a:r>
            <a:r>
              <a:rPr lang="en-US" altLang="zh-CN" sz="2000" b="1" dirty="0" err="1" smtClean="0">
                <a:latin typeface="微软雅黑" panose="020B0503020204020204" pitchFamily="34" charset="-122"/>
                <a:ea typeface="微软雅黑" panose="020B0503020204020204" pitchFamily="34" charset="-122"/>
              </a:rPr>
              <a:t>std</a:t>
            </a:r>
            <a:r>
              <a:rPr lang="en-US" altLang="zh-CN" sz="2000" b="1" dirty="0" smtClean="0">
                <a:latin typeface="微软雅黑" panose="020B0503020204020204" pitchFamily="34" charset="-122"/>
                <a:ea typeface="微软雅黑" panose="020B0503020204020204" pitchFamily="34" charset="-122"/>
              </a:rPr>
              <a:t>::move(</a:t>
            </a:r>
            <a:r>
              <a:rPr lang="en-US" altLang="zh-CN" sz="2000" b="1" dirty="0" err="1" smtClean="0">
                <a:latin typeface="微软雅黑" panose="020B0503020204020204" pitchFamily="34" charset="-122"/>
                <a:ea typeface="微软雅黑" panose="020B0503020204020204" pitchFamily="34" charset="-122"/>
              </a:rPr>
              <a:t>o.s</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显式移动所有成员</a:t>
            </a:r>
            <a:endParaRPr lang="en-US" altLang="zh-CN" sz="2000" b="1" dirty="0" smtClean="0">
              <a:latin typeface="微软雅黑" panose="020B0503020204020204" pitchFamily="34" charset="-122"/>
              <a:ea typeface="微软雅黑" panose="020B0503020204020204" pitchFamily="34" charset="-122"/>
            </a:endParaRPr>
          </a:p>
          <a:p>
            <a:pPr marL="563245" lvl="1">
              <a:buNone/>
            </a:pP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 函数体 </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563245" lvl="1">
              <a:buNone/>
            </a:pP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635635" lvl="1" indent="-257175"/>
            <a:r>
              <a:rPr lang="zh-CN" altLang="en-US" sz="2000" b="1" dirty="0" smtClean="0">
                <a:latin typeface="微软雅黑" panose="020B0503020204020204" pitchFamily="34" charset="-122"/>
                <a:ea typeface="微软雅黑" panose="020B0503020204020204" pitchFamily="34" charset="-122"/>
              </a:rPr>
              <a:t>移动构造函数不分配新内存，理论上不会报错，为配合异常捕获机制，需声明</a:t>
            </a:r>
            <a:r>
              <a:rPr lang="en-US" altLang="zh-CN" sz="2000" b="1" dirty="0" err="1" smtClean="0">
                <a:latin typeface="微软雅黑" panose="020B0503020204020204" pitchFamily="34" charset="-122"/>
                <a:ea typeface="微软雅黑" panose="020B0503020204020204" pitchFamily="34" charset="-122"/>
              </a:rPr>
              <a:t>noexcept</a:t>
            </a:r>
            <a:r>
              <a:rPr lang="zh-CN" altLang="en-US" sz="2000" b="1" dirty="0" smtClean="0">
                <a:latin typeface="微软雅黑" panose="020B0503020204020204" pitchFamily="34" charset="-122"/>
                <a:ea typeface="微软雅黑" panose="020B0503020204020204" pitchFamily="34" charset="-122"/>
              </a:rPr>
              <a:t>表明不会抛出异常（将于</a:t>
            </a:r>
            <a:r>
              <a:rPr lang="en-US" altLang="zh-CN" sz="2000" b="1" dirty="0" smtClean="0">
                <a:latin typeface="微软雅黑" panose="020B0503020204020204" pitchFamily="34" charset="-122"/>
                <a:ea typeface="微软雅黑" panose="020B0503020204020204" pitchFamily="34" charset="-122"/>
              </a:rPr>
              <a:t>12</a:t>
            </a:r>
            <a:r>
              <a:rPr lang="zh-CN" altLang="en-US" sz="2000" b="1" dirty="0" smtClean="0">
                <a:latin typeface="微软雅黑" panose="020B0503020204020204" pitchFamily="34" charset="-122"/>
                <a:ea typeface="微软雅黑" panose="020B0503020204020204" pitchFamily="34" charset="-122"/>
              </a:rPr>
              <a:t>章异常处理介绍）</a:t>
            </a:r>
            <a:endParaRPr lang="en-US" altLang="zh-CN" sz="2000" b="1" dirty="0" smtClean="0">
              <a:latin typeface="微软雅黑" panose="020B0503020204020204" pitchFamily="34" charset="-122"/>
              <a:ea typeface="微软雅黑" panose="020B0503020204020204" pitchFamily="34" charset="-122"/>
            </a:endParaRPr>
          </a:p>
          <a:p>
            <a:pPr marL="635635" lvl="1" indent="-257175"/>
            <a:r>
              <a:rPr lang="zh-CN" altLang="en-US" sz="2000" b="1" dirty="0" smtClean="0">
                <a:latin typeface="微软雅黑" panose="020B0503020204020204" pitchFamily="34" charset="-122"/>
                <a:ea typeface="微软雅黑" panose="020B0503020204020204" pitchFamily="34" charset="-122"/>
              </a:rPr>
              <a:t>被移动的对象不应再使用，需要销毁或重新赋值</a:t>
            </a:r>
            <a:endParaRPr lang="en-US" altLang="zh-CN" sz="2000" b="1" dirty="0">
              <a:latin typeface="微软雅黑" panose="020B0503020204020204" pitchFamily="34" charset="-122"/>
              <a:ea typeface="微软雅黑" panose="020B0503020204020204" pitchFamily="34" charset="-122"/>
            </a:endParaRPr>
          </a:p>
        </p:txBody>
      </p:sp>
      <p:sp>
        <p:nvSpPr>
          <p:cNvPr id="4" name="Rectangle 2"/>
          <p:cNvSpPr txBox="1">
            <a:spLocks noChangeArrowheads="1"/>
          </p:cNvSpPr>
          <p:nvPr/>
        </p:nvSpPr>
        <p:spPr>
          <a:xfrm>
            <a:off x="606629" y="260648"/>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4.3.6  </a:t>
            </a:r>
            <a:r>
              <a:rPr lang="zh-CN" altLang="en-US" sz="4400" b="1" dirty="0" smtClean="0">
                <a:solidFill>
                  <a:srgbClr val="FFFFFF"/>
                </a:solidFill>
                <a:latin typeface="Times New Roman" panose="02020603050405020304" pitchFamily="18" charset="0"/>
                <a:ea typeface="隶书" panose="02010509060101010101" pitchFamily="49" charset="-122"/>
              </a:rPr>
              <a:t>移动构造函数</a:t>
            </a:r>
            <a:endParaRPr lang="zh-CN" altLang="en-US" sz="4400" b="1" dirty="0" smtClean="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8632" y="1916832"/>
            <a:ext cx="8230076" cy="2952295"/>
          </a:xfrm>
        </p:spPr>
        <p:txBody>
          <a:bodyPr/>
          <a:lstStyle/>
          <a:p>
            <a:r>
              <a:rPr lang="zh-CN" altLang="en-US" sz="2000" b="1">
                <a:latin typeface="微软雅黑" panose="020B0503020204020204" pitchFamily="34" charset="-122"/>
                <a:ea typeface="微软雅黑" panose="020B0503020204020204" pitchFamily="34" charset="-122"/>
              </a:rPr>
              <a:t>如果</a:t>
            </a:r>
            <a:r>
              <a:rPr lang="zh-CN" altLang="zh-CN" sz="2000" b="1">
                <a:latin typeface="微软雅黑" panose="020B0503020204020204" pitchFamily="34" charset="-122"/>
                <a:ea typeface="微软雅黑" panose="020B0503020204020204" pitchFamily="34" charset="-122"/>
              </a:rPr>
              <a:t>临时</a:t>
            </a:r>
            <a:r>
              <a:rPr lang="zh-CN" altLang="zh-CN" sz="2000" b="1" dirty="0">
                <a:latin typeface="微软雅黑" panose="020B0503020204020204" pitchFamily="34" charset="-122"/>
                <a:ea typeface="微软雅黑" panose="020B0503020204020204" pitchFamily="34" charset="-122"/>
              </a:rPr>
              <a:t>对象在被</a:t>
            </a:r>
            <a:r>
              <a:rPr lang="zh-CN" altLang="zh-CN" sz="2000" b="1">
                <a:latin typeface="微软雅黑" panose="020B0503020204020204" pitchFamily="34" charset="-122"/>
                <a:ea typeface="微软雅黑" panose="020B0503020204020204" pitchFamily="34" charset="-122"/>
              </a:rPr>
              <a:t>复制后就不再</a:t>
            </a:r>
            <a:r>
              <a:rPr lang="zh-CN" altLang="en-US" sz="2000" b="1">
                <a:latin typeface="微软雅黑" panose="020B0503020204020204" pitchFamily="34" charset="-122"/>
                <a:ea typeface="微软雅黑" panose="020B0503020204020204" pitchFamily="34" charset="-122"/>
              </a:rPr>
              <a:t>使用</a:t>
            </a:r>
            <a:r>
              <a:rPr lang="zh-CN" altLang="zh-CN" sz="2000" b="1">
                <a:latin typeface="微软雅黑" panose="020B0503020204020204" pitchFamily="34" charset="-122"/>
                <a:ea typeface="微软雅黑" panose="020B0503020204020204" pitchFamily="34" charset="-122"/>
              </a:rPr>
              <a:t>了</a:t>
            </a:r>
            <a:r>
              <a:rPr lang="zh-CN" altLang="en-US" sz="2000" b="1">
                <a:latin typeface="微软雅黑" panose="020B0503020204020204" pitchFamily="34" charset="-122"/>
                <a:ea typeface="微软雅黑" panose="020B0503020204020204" pitchFamily="34" charset="-122"/>
              </a:rPr>
              <a:t>，就</a:t>
            </a:r>
            <a:r>
              <a:rPr lang="zh-CN" altLang="zh-CN" sz="2000" b="1">
                <a:latin typeface="微软雅黑" panose="020B0503020204020204" pitchFamily="34" charset="-122"/>
                <a:ea typeface="微软雅黑" panose="020B0503020204020204" pitchFamily="34" charset="-122"/>
              </a:rPr>
              <a:t>完全</a:t>
            </a:r>
            <a:r>
              <a:rPr lang="zh-CN" altLang="zh-CN" sz="2000" b="1" dirty="0">
                <a:latin typeface="微软雅黑" panose="020B0503020204020204" pitchFamily="34" charset="-122"/>
                <a:ea typeface="微软雅黑" panose="020B0503020204020204" pitchFamily="34" charset="-122"/>
              </a:rPr>
              <a:t>可以把临时对象的</a:t>
            </a:r>
            <a:r>
              <a:rPr lang="zh-CN" altLang="zh-CN" sz="2000" b="1">
                <a:latin typeface="微软雅黑" panose="020B0503020204020204" pitchFamily="34" charset="-122"/>
                <a:ea typeface="微软雅黑" panose="020B0503020204020204" pitchFamily="34" charset="-122"/>
              </a:rPr>
              <a:t>资源直接</a:t>
            </a:r>
            <a:r>
              <a:rPr lang="zh-CN" altLang="en-US" sz="2000" b="1">
                <a:latin typeface="微软雅黑" panose="020B0503020204020204" pitchFamily="34" charset="-122"/>
                <a:ea typeface="微软雅黑" panose="020B0503020204020204" pitchFamily="34" charset="-122"/>
              </a:rPr>
              <a:t>移动</a:t>
            </a:r>
            <a:r>
              <a:rPr lang="zh-CN" altLang="zh-CN" sz="2000" b="1">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这样就避免了多余的复制</a:t>
            </a:r>
            <a:r>
              <a:rPr lang="zh-CN" altLang="zh-CN" sz="2000" b="1">
                <a:latin typeface="微软雅黑" panose="020B0503020204020204" pitchFamily="34" charset="-122"/>
                <a:ea typeface="微软雅黑" panose="020B0503020204020204" pitchFamily="34" charset="-122"/>
              </a:rPr>
              <a:t>操作。</a:t>
            </a:r>
            <a:endParaRPr lang="en-US" altLang="zh-CN" sz="2000" b="1">
              <a:latin typeface="微软雅黑" panose="020B0503020204020204" pitchFamily="34" charset="-122"/>
              <a:ea typeface="微软雅黑" panose="020B0503020204020204" pitchFamily="34" charset="-122"/>
            </a:endParaRPr>
          </a:p>
          <a:p>
            <a:endParaRPr lang="en-US" altLang="zh-CN" sz="2000" b="1">
              <a:latin typeface="微软雅黑" panose="020B0503020204020204" pitchFamily="34" charset="-122"/>
              <a:ea typeface="微软雅黑" panose="020B0503020204020204" pitchFamily="34" charset="-122"/>
            </a:endParaRPr>
          </a:p>
          <a:p>
            <a:endParaRPr lang="en-US" altLang="zh-CN" sz="2000" b="1">
              <a:latin typeface="微软雅黑" panose="020B0503020204020204" pitchFamily="34" charset="-122"/>
              <a:ea typeface="微软雅黑" panose="020B0503020204020204" pitchFamily="34" charset="-122"/>
            </a:endParaRPr>
          </a:p>
          <a:p>
            <a:endParaRPr lang="en-US" altLang="zh-CN" sz="2000" b="1">
              <a:latin typeface="微软雅黑" panose="020B0503020204020204" pitchFamily="34" charset="-122"/>
              <a:ea typeface="微软雅黑" panose="020B0503020204020204" pitchFamily="34" charset="-122"/>
            </a:endParaRPr>
          </a:p>
          <a:p>
            <a:endParaRPr lang="en-US" altLang="zh-CN" sz="2000" b="1">
              <a:latin typeface="微软雅黑" panose="020B0503020204020204" pitchFamily="34" charset="-122"/>
              <a:ea typeface="微软雅黑" panose="020B0503020204020204" pitchFamily="34" charset="-122"/>
            </a:endParaRPr>
          </a:p>
          <a:p>
            <a:endParaRPr lang="en-US" altLang="zh-CN" sz="2000" b="1">
              <a:latin typeface="微软雅黑" panose="020B0503020204020204" pitchFamily="34" charset="-122"/>
              <a:ea typeface="微软雅黑" panose="020B0503020204020204" pitchFamily="34" charset="-122"/>
            </a:endParaRPr>
          </a:p>
          <a:p>
            <a:endParaRPr lang="en-US" altLang="zh-CN" sz="2000" b="1">
              <a:latin typeface="微软雅黑" panose="020B0503020204020204" pitchFamily="34" charset="-122"/>
              <a:ea typeface="微软雅黑" panose="020B0503020204020204" pitchFamily="34" charset="-122"/>
            </a:endParaRPr>
          </a:p>
          <a:p>
            <a:endParaRPr lang="en-US" altLang="zh-CN" sz="2000" b="1">
              <a:latin typeface="微软雅黑" panose="020B0503020204020204" pitchFamily="34" charset="-122"/>
              <a:ea typeface="微软雅黑" panose="020B0503020204020204" pitchFamily="34" charset="-122"/>
            </a:endParaRPr>
          </a:p>
          <a:p>
            <a:r>
              <a:rPr lang="zh-CN" altLang="en-US" sz="2000" b="1">
                <a:latin typeface="微软雅黑" panose="020B0503020204020204" pitchFamily="34" charset="-122"/>
                <a:ea typeface="微软雅黑" panose="020B0503020204020204" pitchFamily="34" charset="-122"/>
              </a:rPr>
              <a:t>什么时候该触发移动构造？</a:t>
            </a:r>
            <a:endParaRPr lang="en-US" altLang="zh-CN" sz="2000" b="1">
              <a:latin typeface="微软雅黑" panose="020B0503020204020204" pitchFamily="34" charset="-122"/>
              <a:ea typeface="微软雅黑" panose="020B0503020204020204" pitchFamily="34" charset="-122"/>
            </a:endParaRPr>
          </a:p>
          <a:p>
            <a:pPr lvl="1"/>
            <a:r>
              <a:rPr lang="zh-CN" altLang="en-US" sz="2000" b="1">
                <a:latin typeface="微软雅黑" panose="020B0503020204020204" pitchFamily="34" charset="-122"/>
                <a:ea typeface="微软雅黑" panose="020B0503020204020204" pitchFamily="34" charset="-122"/>
              </a:rPr>
              <a:t>有可被利用的临时对象，例如函数返回局部对象时，为避免不必要的复制构造，可以使用移动构造。</a:t>
            </a:r>
            <a:endParaRPr lang="en-US" altLang="zh-CN" sz="2000" b="1">
              <a:latin typeface="微软雅黑" panose="020B0503020204020204" pitchFamily="34" charset="-122"/>
              <a:ea typeface="微软雅黑" panose="020B0503020204020204" pitchFamily="34" charset="-122"/>
            </a:endParaRPr>
          </a:p>
        </p:txBody>
      </p:sp>
      <p:grpSp>
        <p:nvGrpSpPr>
          <p:cNvPr id="4" name="组合 3"/>
          <p:cNvGrpSpPr/>
          <p:nvPr/>
        </p:nvGrpSpPr>
        <p:grpSpPr>
          <a:xfrm>
            <a:off x="1278492" y="2774224"/>
            <a:ext cx="6358844" cy="2004575"/>
            <a:chOff x="1706242" y="3535752"/>
            <a:chExt cx="8480667" cy="2673463"/>
          </a:xfrm>
        </p:grpSpPr>
        <p:graphicFrame>
          <p:nvGraphicFramePr>
            <p:cNvPr id="7" name="对象 6"/>
            <p:cNvGraphicFramePr>
              <a:graphicFrameLocks noChangeAspect="1"/>
            </p:cNvGraphicFramePr>
            <p:nvPr/>
          </p:nvGraphicFramePr>
          <p:xfrm>
            <a:off x="1706244" y="3545612"/>
            <a:ext cx="8480665" cy="2663603"/>
          </p:xfrm>
          <a:graphic>
            <a:graphicData uri="http://schemas.openxmlformats.org/presentationml/2006/ole">
              <mc:AlternateContent xmlns:mc="http://schemas.openxmlformats.org/markup-compatibility/2006">
                <mc:Choice xmlns:v="urn:schemas-microsoft-com:vml" Requires="v">
                  <p:oleObj spid="_x0000_s603179" name="Microsoft Office Visio 绘图" r:id="rId1" imgW="8242300" imgH="2603500" progId="Visio.Drawing.11">
                    <p:embed/>
                  </p:oleObj>
                </mc:Choice>
                <mc:Fallback>
                  <p:oleObj name="Microsoft Office Visio 绘图" r:id="rId1" imgW="8242300" imgH="2603500" progId="Visio.Drawing.11">
                    <p:embed/>
                    <p:pic>
                      <p:nvPicPr>
                        <p:cNvPr id="0" name="图片 6031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244" y="3545612"/>
                          <a:ext cx="8480665" cy="2663603"/>
                        </a:xfrm>
                        <a:prstGeom prst="rect">
                          <a:avLst/>
                        </a:prstGeom>
                        <a:noFill/>
                      </p:spPr>
                    </p:pic>
                  </p:oleObj>
                </mc:Fallback>
              </mc:AlternateContent>
            </a:graphicData>
          </a:graphic>
        </p:graphicFrame>
        <p:sp>
          <p:nvSpPr>
            <p:cNvPr id="5" name="文本框 4"/>
            <p:cNvSpPr txBox="1"/>
            <p:nvPr/>
          </p:nvSpPr>
          <p:spPr>
            <a:xfrm>
              <a:off x="1706242" y="3535752"/>
              <a:ext cx="1295807" cy="788113"/>
            </a:xfrm>
            <a:prstGeom prst="rect">
              <a:avLst/>
            </a:prstGeom>
            <a:solidFill>
              <a:schemeClr val="bg1">
                <a:lumMod val="95000"/>
              </a:schemeClr>
            </a:solidFill>
            <a:ln>
              <a:solidFill>
                <a:schemeClr val="tx1"/>
              </a:solidFill>
            </a:ln>
          </p:spPr>
          <p:txBody>
            <a:bodyPr wrap="square" rtlCol="0" anchor="ctr">
              <a:spAutoFit/>
            </a:bodyPr>
            <a:lstStyle/>
            <a:p>
              <a:pPr algn="ctr">
                <a:lnSpc>
                  <a:spcPct val="270000"/>
                </a:lnSpc>
              </a:pPr>
              <a:r>
                <a:rPr lang="zh-CN" altLang="en-US" sz="1200">
                  <a:latin typeface="+mn-ea"/>
                  <a:ea typeface="+mn-ea"/>
                </a:rPr>
                <a:t>临时对象</a:t>
              </a:r>
              <a:endParaRPr lang="zh-CN" altLang="en-US" sz="1200">
                <a:latin typeface="+mn-ea"/>
                <a:ea typeface="+mn-ea"/>
              </a:endParaRPr>
            </a:p>
          </p:txBody>
        </p:sp>
        <p:sp>
          <p:nvSpPr>
            <p:cNvPr id="9" name="文本框 8"/>
            <p:cNvSpPr txBox="1"/>
            <p:nvPr/>
          </p:nvSpPr>
          <p:spPr>
            <a:xfrm>
              <a:off x="6241566" y="3629378"/>
              <a:ext cx="1295807" cy="788113"/>
            </a:xfrm>
            <a:prstGeom prst="rect">
              <a:avLst/>
            </a:prstGeom>
            <a:solidFill>
              <a:schemeClr val="bg1">
                <a:lumMod val="95000"/>
              </a:schemeClr>
            </a:solidFill>
            <a:ln>
              <a:solidFill>
                <a:schemeClr val="tx1"/>
              </a:solidFill>
            </a:ln>
          </p:spPr>
          <p:txBody>
            <a:bodyPr wrap="square" rtlCol="0" anchor="ctr">
              <a:spAutoFit/>
            </a:bodyPr>
            <a:lstStyle/>
            <a:p>
              <a:pPr algn="ctr">
                <a:lnSpc>
                  <a:spcPct val="270000"/>
                </a:lnSpc>
              </a:pPr>
              <a:r>
                <a:rPr lang="zh-CN" altLang="en-US" sz="1200">
                  <a:latin typeface="+mn-ea"/>
                  <a:ea typeface="+mn-ea"/>
                </a:rPr>
                <a:t>临时对象</a:t>
              </a:r>
              <a:endParaRPr lang="zh-CN" altLang="en-US" sz="1200">
                <a:latin typeface="+mn-ea"/>
                <a:ea typeface="+mn-ea"/>
              </a:endParaRPr>
            </a:p>
          </p:txBody>
        </p:sp>
      </p:grpSp>
      <p:sp>
        <p:nvSpPr>
          <p:cNvPr id="8" name="Rectangle 2"/>
          <p:cNvSpPr txBox="1">
            <a:spLocks noChangeArrowheads="1"/>
          </p:cNvSpPr>
          <p:nvPr/>
        </p:nvSpPr>
        <p:spPr>
          <a:xfrm>
            <a:off x="606629" y="260648"/>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4.3.6  </a:t>
            </a:r>
            <a:r>
              <a:rPr lang="zh-CN" altLang="en-US" sz="4400" b="1" dirty="0" smtClean="0">
                <a:solidFill>
                  <a:srgbClr val="FFFFFF"/>
                </a:solidFill>
                <a:latin typeface="Times New Roman" panose="02020603050405020304" pitchFamily="18" charset="0"/>
                <a:ea typeface="隶书" panose="02010509060101010101" pitchFamily="49" charset="-122"/>
              </a:rPr>
              <a:t>移动构造函数</a:t>
            </a:r>
            <a:endParaRPr lang="zh-CN" altLang="en-US" sz="4400" b="1" dirty="0" smtClean="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7543" y="1484784"/>
            <a:ext cx="8272689" cy="3257203"/>
          </a:xfrm>
        </p:spPr>
        <p:txBody>
          <a:bodyPr/>
          <a:lstStyle/>
          <a:p>
            <a:pPr>
              <a:lnSpc>
                <a:spcPct val="150000"/>
              </a:lnSpc>
              <a:spcBef>
                <a:spcPts val="0"/>
              </a:spcBef>
              <a:spcAft>
                <a:spcPts val="0"/>
              </a:spcAft>
            </a:pPr>
            <a:r>
              <a:rPr lang="en-US" altLang="zh-CN" sz="2400" b="1" dirty="0" smtClean="0">
                <a:latin typeface="微软雅黑" panose="020B0503020204020204" pitchFamily="34" charset="-122"/>
                <a:ea typeface="微软雅黑" panose="020B0503020204020204" pitchFamily="34" charset="-122"/>
              </a:rPr>
              <a:t>=default:</a:t>
            </a:r>
            <a:r>
              <a:rPr lang="zh-CN" altLang="en-US" sz="2400" b="1" dirty="0" smtClean="0">
                <a:latin typeface="微软雅黑" panose="020B0503020204020204" pitchFamily="34" charset="-122"/>
                <a:ea typeface="微软雅黑" panose="020B0503020204020204" pitchFamily="34" charset="-122"/>
              </a:rPr>
              <a:t>要求编译器生成默认或复制构造函数</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zh-CN" altLang="en-US" sz="2400" b="1" dirty="0" smtClean="0">
                <a:latin typeface="微软雅黑" panose="020B0503020204020204" pitchFamily="34" charset="-122"/>
                <a:ea typeface="微软雅黑" panose="020B0503020204020204" pitchFamily="34" charset="-122"/>
              </a:rPr>
              <a:t>例如：</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smtClean="0">
                <a:latin typeface="微软雅黑" panose="020B0503020204020204" pitchFamily="34" charset="-122"/>
                <a:ea typeface="微软雅黑" panose="020B0503020204020204" pitchFamily="34" charset="-122"/>
              </a:rPr>
              <a:t>class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smtClean="0">
                <a:latin typeface="微软雅黑" panose="020B0503020204020204" pitchFamily="34" charset="-122"/>
                <a:ea typeface="微软雅黑" panose="020B0503020204020204" pitchFamily="34" charset="-122"/>
              </a:rPr>
              <a:t>public: string s;</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()=default;  //</a:t>
            </a:r>
            <a:r>
              <a:rPr lang="zh-CN" altLang="en-US" sz="2400" b="1" dirty="0" smtClean="0">
                <a:latin typeface="微软雅黑" panose="020B0503020204020204" pitchFamily="34" charset="-122"/>
                <a:ea typeface="微软雅黑" panose="020B0503020204020204" pitchFamily="34" charset="-122"/>
              </a:rPr>
              <a:t>默认合成的无参构造函数</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(string _s):s(</a:t>
            </a:r>
            <a:r>
              <a:rPr lang="en-US" altLang="zh-CN" sz="2400" b="1" dirty="0" err="1" smtClean="0">
                <a:latin typeface="微软雅黑" panose="020B0503020204020204" pitchFamily="34" charset="-122"/>
                <a:ea typeface="微软雅黑" panose="020B0503020204020204" pitchFamily="34" charset="-122"/>
              </a:rPr>
              <a:t>std</a:t>
            </a:r>
            <a:r>
              <a:rPr lang="en-US" altLang="zh-CN" sz="2400" b="1" dirty="0" smtClean="0">
                <a:latin typeface="微软雅黑" panose="020B0503020204020204" pitchFamily="34" charset="-122"/>
                <a:ea typeface="微软雅黑" panose="020B0503020204020204" pitchFamily="34" charset="-122"/>
              </a:rPr>
              <a:t>::move(_s)){};//</a:t>
            </a:r>
            <a:r>
              <a:rPr lang="zh-CN" altLang="en-US" sz="2400" b="1" dirty="0" smtClean="0">
                <a:latin typeface="微软雅黑" panose="020B0503020204020204" pitchFamily="34" charset="-122"/>
                <a:ea typeface="微软雅黑" panose="020B0503020204020204" pitchFamily="34" charset="-122"/>
              </a:rPr>
              <a:t>有参构造函数</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 &amp;</a:t>
            </a:r>
            <a:r>
              <a:rPr lang="en-US" altLang="zh-CN" sz="2400" b="1" dirty="0" err="1" smtClean="0">
                <a:latin typeface="微软雅黑" panose="020B0503020204020204" pitchFamily="34" charset="-122"/>
                <a:ea typeface="微软雅黑" panose="020B0503020204020204" pitchFamily="34" charset="-122"/>
              </a:rPr>
              <a:t>str</a:t>
            </a:r>
            <a:r>
              <a:rPr lang="en-US" altLang="zh-CN" sz="2400" b="1" dirty="0" smtClean="0">
                <a:latin typeface="微软雅黑" panose="020B0503020204020204" pitchFamily="34" charset="-122"/>
                <a:ea typeface="微软雅黑" panose="020B0503020204020204" pitchFamily="34" charset="-122"/>
              </a:rPr>
              <a:t>)=default;  //</a:t>
            </a:r>
            <a:r>
              <a:rPr lang="zh-CN" altLang="en-US" sz="2400" b="1" dirty="0" smtClean="0">
                <a:latin typeface="微软雅黑" panose="020B0503020204020204" pitchFamily="34" charset="-122"/>
                <a:ea typeface="微软雅黑" panose="020B0503020204020204" pitchFamily="34" charset="-122"/>
              </a:rPr>
              <a:t>默认合成的复制构造函数</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()=default;//</a:t>
            </a:r>
            <a:r>
              <a:rPr lang="zh-CN" altLang="en-US" sz="2400" b="1" dirty="0" smtClean="0">
                <a:latin typeface="微软雅黑" panose="020B0503020204020204" pitchFamily="34" charset="-122"/>
                <a:ea typeface="微软雅黑" panose="020B0503020204020204" pitchFamily="34" charset="-122"/>
              </a:rPr>
              <a:t>默认合成的析构函数</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4.3.7  default</a:t>
            </a:r>
            <a:r>
              <a:rPr lang="zh-CN" altLang="en-US" sz="4400" b="1" dirty="0" smtClean="0">
                <a:solidFill>
                  <a:srgbClr val="FFFFFF"/>
                </a:solidFill>
                <a:latin typeface="Times New Roman" panose="02020603050405020304" pitchFamily="18" charset="0"/>
                <a:ea typeface="隶书" panose="02010509060101010101" pitchFamily="49" charset="-122"/>
              </a:rPr>
              <a:t>、</a:t>
            </a:r>
            <a:r>
              <a:rPr lang="en-US" altLang="zh-CN" sz="4400" b="1" dirty="0" smtClean="0">
                <a:solidFill>
                  <a:srgbClr val="FFFFFF"/>
                </a:solidFill>
                <a:latin typeface="Times New Roman" panose="02020603050405020304" pitchFamily="18" charset="0"/>
                <a:ea typeface="隶书" panose="02010509060101010101" pitchFamily="49" charset="-122"/>
              </a:rPr>
              <a:t>delete </a:t>
            </a:r>
            <a:r>
              <a:rPr lang="zh-CN" altLang="en-US" sz="4400" b="1" dirty="0" smtClean="0">
                <a:solidFill>
                  <a:srgbClr val="FFFFFF"/>
                </a:solidFill>
                <a:latin typeface="Times New Roman" panose="02020603050405020304" pitchFamily="18" charset="0"/>
                <a:ea typeface="隶书" panose="02010509060101010101" pitchFamily="49" charset="-122"/>
              </a:rPr>
              <a:t>函数</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7543" y="1484784"/>
            <a:ext cx="8272689" cy="3257203"/>
          </a:xfrm>
        </p:spPr>
        <p:txBody>
          <a:bodyPr/>
          <a:lstStyle/>
          <a:p>
            <a:pPr>
              <a:lnSpc>
                <a:spcPct val="150000"/>
              </a:lnSpc>
              <a:spcBef>
                <a:spcPts val="0"/>
              </a:spcBef>
              <a:spcAft>
                <a:spcPts val="0"/>
              </a:spcAft>
            </a:pPr>
            <a:r>
              <a:rPr lang="en-US" altLang="zh-CN" sz="2400" b="1" dirty="0" smtClean="0">
                <a:latin typeface="微软雅黑" panose="020B0503020204020204" pitchFamily="34" charset="-122"/>
                <a:ea typeface="微软雅黑" panose="020B0503020204020204" pitchFamily="34" charset="-122"/>
              </a:rPr>
              <a:t>=delete:</a:t>
            </a:r>
            <a:r>
              <a:rPr lang="zh-CN" altLang="en-US" sz="2400" b="1" dirty="0" smtClean="0">
                <a:latin typeface="微软雅黑" panose="020B0503020204020204" pitchFamily="34" charset="-122"/>
                <a:ea typeface="微软雅黑" panose="020B0503020204020204" pitchFamily="34" charset="-122"/>
              </a:rPr>
              <a:t>要求编译器删除指定函数，除析构函数之外均可删除。例如：</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smtClean="0">
                <a:latin typeface="微软雅黑" panose="020B0503020204020204" pitchFamily="34" charset="-122"/>
                <a:ea typeface="微软雅黑" panose="020B0503020204020204" pitchFamily="34" charset="-122"/>
              </a:rPr>
              <a:t>class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smtClean="0">
                <a:latin typeface="微软雅黑" panose="020B0503020204020204" pitchFamily="34" charset="-122"/>
                <a:ea typeface="微软雅黑" panose="020B0503020204020204" pitchFamily="34" charset="-122"/>
              </a:rPr>
              <a:t>public: string s;</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()=default;  //</a:t>
            </a:r>
            <a:r>
              <a:rPr lang="zh-CN" altLang="en-US" sz="2400" b="1" dirty="0" smtClean="0">
                <a:latin typeface="微软雅黑" panose="020B0503020204020204" pitchFamily="34" charset="-122"/>
                <a:ea typeface="微软雅黑" panose="020B0503020204020204" pitchFamily="34" charset="-122"/>
              </a:rPr>
              <a:t>默认合成的无参构造函数</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(string _s):s(</a:t>
            </a:r>
            <a:r>
              <a:rPr lang="en-US" altLang="zh-CN" sz="2400" b="1" dirty="0" err="1" smtClean="0">
                <a:latin typeface="微软雅黑" panose="020B0503020204020204" pitchFamily="34" charset="-122"/>
                <a:ea typeface="微软雅黑" panose="020B0503020204020204" pitchFamily="34" charset="-122"/>
              </a:rPr>
              <a:t>std</a:t>
            </a:r>
            <a:r>
              <a:rPr lang="en-US" altLang="zh-CN" sz="2400" b="1" dirty="0" smtClean="0">
                <a:latin typeface="微软雅黑" panose="020B0503020204020204" pitchFamily="34" charset="-122"/>
                <a:ea typeface="微软雅黑" panose="020B0503020204020204" pitchFamily="34" charset="-122"/>
              </a:rPr>
              <a:t>::move(_s)){};//</a:t>
            </a:r>
            <a:r>
              <a:rPr lang="zh-CN" altLang="en-US" sz="2400" b="1" dirty="0" smtClean="0">
                <a:latin typeface="微软雅黑" panose="020B0503020204020204" pitchFamily="34" charset="-122"/>
                <a:ea typeface="微软雅黑" panose="020B0503020204020204" pitchFamily="34" charset="-122"/>
              </a:rPr>
              <a:t>有参构造函数</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 &amp;</a:t>
            </a:r>
            <a:r>
              <a:rPr lang="en-US" altLang="zh-CN" sz="2400" b="1" dirty="0" err="1" smtClean="0">
                <a:latin typeface="微软雅黑" panose="020B0503020204020204" pitchFamily="34" charset="-122"/>
                <a:ea typeface="微软雅黑" panose="020B0503020204020204" pitchFamily="34" charset="-122"/>
              </a:rPr>
              <a:t>str</a:t>
            </a:r>
            <a:r>
              <a:rPr lang="en-US" altLang="zh-CN" sz="2400" b="1" dirty="0" smtClean="0">
                <a:latin typeface="微软雅黑" panose="020B0503020204020204" pitchFamily="34" charset="-122"/>
                <a:ea typeface="微软雅黑" panose="020B0503020204020204" pitchFamily="34" charset="-122"/>
              </a:rPr>
              <a:t>)=delete;  //</a:t>
            </a:r>
            <a:r>
              <a:rPr lang="zh-CN" altLang="en-US" sz="2400" b="1" dirty="0" smtClean="0">
                <a:latin typeface="微软雅黑" panose="020B0503020204020204" pitchFamily="34" charset="-122"/>
                <a:ea typeface="微软雅黑" panose="020B0503020204020204" pitchFamily="34" charset="-122"/>
              </a:rPr>
              <a:t>删除复制构造函数</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a:latin typeface="微软雅黑" panose="020B0503020204020204" pitchFamily="34" charset="-122"/>
                <a:ea typeface="微软雅黑" panose="020B0503020204020204" pitchFamily="34" charset="-122"/>
              </a:rPr>
              <a:t> </a:t>
            </a:r>
            <a:r>
              <a:rPr lang="en-US" altLang="zh-CN" sz="2400" b="1" dirty="0" smtClean="0">
                <a:latin typeface="微软雅黑" panose="020B0503020204020204" pitchFamily="34" charset="-122"/>
                <a:ea typeface="微软雅黑" panose="020B0503020204020204" pitchFamily="34" charset="-122"/>
              </a:rPr>
              <a:t>     ~</a:t>
            </a:r>
            <a:r>
              <a:rPr lang="en-US" altLang="zh-CN" sz="2400" b="1" dirty="0" err="1" smtClean="0">
                <a:latin typeface="微软雅黑" panose="020B0503020204020204" pitchFamily="34" charset="-122"/>
                <a:ea typeface="微软雅黑" panose="020B0503020204020204" pitchFamily="34" charset="-122"/>
              </a:rPr>
              <a:t>MyStr</a:t>
            </a:r>
            <a:r>
              <a:rPr lang="en-US" altLang="zh-CN" sz="2400" b="1" dirty="0" smtClean="0">
                <a:latin typeface="微软雅黑" panose="020B0503020204020204" pitchFamily="34" charset="-122"/>
                <a:ea typeface="微软雅黑" panose="020B0503020204020204" pitchFamily="34" charset="-122"/>
              </a:rPr>
              <a:t>()=default;//</a:t>
            </a:r>
            <a:r>
              <a:rPr lang="zh-CN" altLang="en-US" sz="2400" b="1" dirty="0" smtClean="0">
                <a:latin typeface="微软雅黑" panose="020B0503020204020204" pitchFamily="34" charset="-122"/>
                <a:ea typeface="微软雅黑" panose="020B0503020204020204" pitchFamily="34" charset="-122"/>
              </a:rPr>
              <a:t>默认合成的析构函数</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4.3.7  default</a:t>
            </a:r>
            <a:r>
              <a:rPr lang="zh-CN" altLang="en-US" sz="4400" b="1" dirty="0" smtClean="0">
                <a:solidFill>
                  <a:srgbClr val="FFFFFF"/>
                </a:solidFill>
                <a:latin typeface="Times New Roman" panose="02020603050405020304" pitchFamily="18" charset="0"/>
                <a:ea typeface="隶书" panose="02010509060101010101" pitchFamily="49" charset="-122"/>
              </a:rPr>
              <a:t>、</a:t>
            </a:r>
            <a:r>
              <a:rPr lang="en-US" altLang="zh-CN" sz="4400" b="1" dirty="0" smtClean="0">
                <a:solidFill>
                  <a:srgbClr val="FFFFFF"/>
                </a:solidFill>
                <a:latin typeface="Times New Roman" panose="02020603050405020304" pitchFamily="18" charset="0"/>
                <a:ea typeface="隶书" panose="02010509060101010101" pitchFamily="49" charset="-122"/>
              </a:rPr>
              <a:t>delete </a:t>
            </a:r>
            <a:r>
              <a:rPr lang="zh-CN" altLang="en-US" sz="4400" b="1" dirty="0" smtClean="0">
                <a:solidFill>
                  <a:srgbClr val="FFFFFF"/>
                </a:solidFill>
                <a:latin typeface="Times New Roman" panose="02020603050405020304" pitchFamily="18" charset="0"/>
                <a:ea typeface="隶书" panose="02010509060101010101" pitchFamily="49" charset="-122"/>
              </a:rPr>
              <a:t>函数</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4.3.8  </a:t>
            </a:r>
            <a:r>
              <a:rPr lang="zh-CN" altLang="en-US" sz="4400" b="1" dirty="0" smtClean="0">
                <a:solidFill>
                  <a:srgbClr val="FFFFFF"/>
                </a:solidFill>
                <a:latin typeface="Times New Roman" panose="02020603050405020304" pitchFamily="18" charset="0"/>
                <a:ea typeface="隶书" panose="02010509060101010101" pitchFamily="49" charset="-122"/>
              </a:rPr>
              <a:t>程序实例</a:t>
            </a:r>
            <a:endParaRPr lang="zh-CN" altLang="en-US" sz="4400" b="1" dirty="0">
              <a:solidFill>
                <a:srgbClr val="FFFFFF"/>
              </a:solidFill>
              <a:latin typeface="Times New Roman" panose="02020603050405020304" pitchFamily="18" charset="0"/>
              <a:ea typeface="隶书" panose="02010509060101010101" pitchFamily="49" charset="-122"/>
            </a:endParaRPr>
          </a:p>
        </p:txBody>
      </p:sp>
      <p:sp>
        <p:nvSpPr>
          <p:cNvPr id="5" name="内容占位符 2"/>
          <p:cNvSpPr>
            <a:spLocks noGrp="1"/>
          </p:cNvSpPr>
          <p:nvPr>
            <p:ph idx="1"/>
          </p:nvPr>
        </p:nvSpPr>
        <p:spPr>
          <a:xfrm>
            <a:off x="467543" y="1484784"/>
            <a:ext cx="8272689" cy="3257203"/>
          </a:xfrm>
        </p:spPr>
        <p:txBody>
          <a:bodyPr/>
          <a:lstStyle/>
          <a:p>
            <a:pPr marL="0" indent="0">
              <a:lnSpc>
                <a:spcPct val="150000"/>
              </a:lnSpc>
              <a:spcBef>
                <a:spcPts val="0"/>
              </a:spcBef>
              <a:spcAft>
                <a:spcPts val="0"/>
              </a:spcAft>
              <a:buNone/>
            </a:pPr>
            <a:r>
              <a:rPr lang="zh-CN" altLang="en-US" sz="2400" b="1" dirty="0" smtClean="0">
                <a:latin typeface="微软雅黑" panose="020B0503020204020204" pitchFamily="34" charset="-122"/>
                <a:ea typeface="微软雅黑" panose="020B0503020204020204" pitchFamily="34" charset="-122"/>
              </a:rPr>
              <a:t>例</a:t>
            </a:r>
            <a:r>
              <a:rPr lang="en-US" altLang="zh-CN" sz="2400" b="1" dirty="0" smtClean="0">
                <a:latin typeface="微软雅黑" panose="020B0503020204020204" pitchFamily="34" charset="-122"/>
                <a:ea typeface="微软雅黑" panose="020B0503020204020204" pitchFamily="34" charset="-122"/>
              </a:rPr>
              <a:t>4-3  </a:t>
            </a:r>
            <a:r>
              <a:rPr lang="zh-CN" altLang="en-US" sz="2400" b="1" dirty="0" smtClean="0">
                <a:latin typeface="微软雅黑" panose="020B0503020204020204" pitchFamily="34" charset="-122"/>
                <a:ea typeface="微软雅黑" panose="020B0503020204020204" pitchFamily="34" charset="-122"/>
              </a:rPr>
              <a:t>游泳池改造预算：现在需要在游泳池周围建一个圆形过道，并在其周围上栅栏。栅栏价格</a:t>
            </a:r>
            <a:r>
              <a:rPr lang="en-US" altLang="zh-CN" sz="2400" b="1" dirty="0" smtClean="0">
                <a:latin typeface="微软雅黑" panose="020B0503020204020204" pitchFamily="34" charset="-122"/>
                <a:ea typeface="微软雅黑" panose="020B0503020204020204" pitchFamily="34" charset="-122"/>
              </a:rPr>
              <a:t>35</a:t>
            </a:r>
            <a:r>
              <a:rPr lang="zh-CN" altLang="en-US" sz="2400" b="1" dirty="0" smtClean="0">
                <a:latin typeface="微软雅黑" panose="020B0503020204020204" pitchFamily="34" charset="-122"/>
                <a:ea typeface="微软雅黑" panose="020B0503020204020204" pitchFamily="34" charset="-122"/>
              </a:rPr>
              <a:t>元</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米，过道</a:t>
            </a:r>
            <a:r>
              <a:rPr lang="en-US" altLang="zh-CN" sz="2400" b="1" dirty="0" smtClean="0">
                <a:latin typeface="微软雅黑" panose="020B0503020204020204" pitchFamily="34" charset="-122"/>
                <a:ea typeface="微软雅黑" panose="020B0503020204020204" pitchFamily="34" charset="-122"/>
              </a:rPr>
              <a:t>20</a:t>
            </a:r>
            <a:r>
              <a:rPr lang="zh-CN" altLang="en-US" sz="2400" b="1" dirty="0" smtClean="0">
                <a:latin typeface="微软雅黑" panose="020B0503020204020204" pitchFamily="34" charset="-122"/>
                <a:ea typeface="微软雅黑" panose="020B0503020204020204" pitchFamily="34" charset="-122"/>
              </a:rPr>
              <a:t>元</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米。</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endParaRPr lang="en-US" altLang="zh-CN" sz="2400" b="1" dirty="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zh-CN" altLang="en-US" sz="2400" b="1" dirty="0" smtClean="0">
                <a:latin typeface="微软雅黑" panose="020B0503020204020204" pitchFamily="34" charset="-122"/>
                <a:ea typeface="微软雅黑" panose="020B0503020204020204" pitchFamily="34" charset="-122"/>
              </a:rPr>
              <a:t>问题分析：游泳池及栅栏看着是两个同心圆，大圆周长是栅栏的长度，圆环的面积就是过道的面积。</a:t>
            </a:r>
            <a:endParaRPr lang="en-US" altLang="zh-CN" sz="2400" b="1" dirty="0" smtClean="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endParaRPr lang="en-US" altLang="zh-CN" sz="2400" b="1" dirty="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buNone/>
            </a:pPr>
            <a:r>
              <a:rPr lang="zh-CN" altLang="en-US" sz="2400" b="1" dirty="0" smtClean="0">
                <a:latin typeface="微软雅黑" panose="020B0503020204020204" pitchFamily="34" charset="-122"/>
                <a:ea typeface="微软雅黑" panose="020B0503020204020204" pitchFamily="34" charset="-122"/>
              </a:rPr>
              <a:t>定义一个</a:t>
            </a:r>
            <a:r>
              <a:rPr lang="en-US" altLang="zh-CN" sz="2400" b="1" dirty="0" smtClean="0">
                <a:latin typeface="微软雅黑" panose="020B0503020204020204" pitchFamily="34" charset="-122"/>
                <a:ea typeface="微软雅黑" panose="020B0503020204020204" pitchFamily="34" charset="-122"/>
              </a:rPr>
              <a:t>Circle</a:t>
            </a:r>
            <a:r>
              <a:rPr lang="zh-CN" altLang="en-US" sz="2400" b="1" dirty="0" smtClean="0">
                <a:latin typeface="微软雅黑" panose="020B0503020204020204" pitchFamily="34" charset="-122"/>
                <a:ea typeface="微软雅黑" panose="020B0503020204020204" pitchFamily="34" charset="-122"/>
              </a:rPr>
              <a:t>类描述此问题。</a:t>
            </a:r>
            <a:endParaRPr lang="en-US" altLang="zh-CN" sz="2000" b="1" dirty="0">
              <a:latin typeface="微软雅黑" panose="020B0503020204020204" pitchFamily="34" charset="-122"/>
              <a:ea typeface="微软雅黑" panose="020B0503020204020204" pitchFamily="34" charset="-122"/>
            </a:endParaRPr>
          </a:p>
        </p:txBody>
      </p:sp>
      <p:sp>
        <p:nvSpPr>
          <p:cNvPr id="3" name="同心圆 2"/>
          <p:cNvSpPr/>
          <p:nvPr/>
        </p:nvSpPr>
        <p:spPr bwMode="auto">
          <a:xfrm>
            <a:off x="5868144" y="4437112"/>
            <a:ext cx="1656184" cy="1584176"/>
          </a:xfrm>
          <a:prstGeom prst="don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endParaRPr>
          </a:p>
        </p:txBody>
      </p:sp>
      <p:sp>
        <p:nvSpPr>
          <p:cNvPr id="7" name="文本框 6"/>
          <p:cNvSpPr txBox="1"/>
          <p:nvPr/>
        </p:nvSpPr>
        <p:spPr bwMode="auto">
          <a:xfrm>
            <a:off x="6444208" y="5008530"/>
            <a:ext cx="648072" cy="369332"/>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200" dirty="0" smtClean="0"/>
              <a:t>游泳池</a:t>
            </a:r>
            <a:endParaRPr lang="zh-CN" altLang="en-US" sz="1200" dirty="0" smtClean="0"/>
          </a:p>
        </p:txBody>
      </p:sp>
      <p:sp>
        <p:nvSpPr>
          <p:cNvPr id="9" name="文本框 8"/>
          <p:cNvSpPr txBox="1"/>
          <p:nvPr/>
        </p:nvSpPr>
        <p:spPr bwMode="auto">
          <a:xfrm>
            <a:off x="7122151" y="4722295"/>
            <a:ext cx="648072" cy="70359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200" dirty="0" smtClean="0"/>
              <a:t>过</a:t>
            </a:r>
            <a:endParaRPr lang="en-US" altLang="zh-CN" sz="1200" dirty="0" smtClean="0"/>
          </a:p>
          <a:p>
            <a:pPr algn="l" eaLnBrk="1" hangingPunct="1">
              <a:lnSpc>
                <a:spcPct val="150000"/>
              </a:lnSpc>
              <a:spcBef>
                <a:spcPct val="50000"/>
              </a:spcBef>
            </a:pPr>
            <a:r>
              <a:rPr lang="zh-CN" altLang="en-US" sz="1200" dirty="0" smtClean="0"/>
              <a:t>道</a:t>
            </a:r>
            <a:endParaRPr lang="zh-CN" altLang="en-US" sz="1200" dirty="0" smtClean="0"/>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7543" y="1484784"/>
            <a:ext cx="8272689" cy="5256584"/>
          </a:xfrm>
          <a:solidFill>
            <a:schemeClr val="tx1"/>
          </a:solidFill>
        </p:spPr>
        <p:txBody>
          <a:bodyPr/>
          <a:lstStyle/>
          <a:p>
            <a:pPr marL="0" indent="0">
              <a:lnSpc>
                <a:spcPct val="150000"/>
              </a:lnSpc>
              <a:spcBef>
                <a:spcPts val="0"/>
              </a:spcBef>
              <a:spcAft>
                <a:spcPts val="0"/>
              </a:spcAft>
              <a:buNone/>
            </a:pPr>
            <a:r>
              <a:rPr lang="en-US" altLang="zh-CN" sz="2000" b="1" dirty="0" smtClean="0">
                <a:solidFill>
                  <a:srgbClr val="000000"/>
                </a:solidFill>
                <a:ea typeface="微软雅黑" panose="020B0503020204020204" pitchFamily="34" charset="-122"/>
              </a:rPr>
              <a:t>//</a:t>
            </a:r>
            <a:r>
              <a:rPr lang="en-US" altLang="zh-CN" sz="2000" b="1" dirty="0">
                <a:solidFill>
                  <a:srgbClr val="000000"/>
                </a:solidFill>
                <a:ea typeface="微软雅黑" panose="020B0503020204020204" pitchFamily="34" charset="-122"/>
              </a:rPr>
              <a:t>4_3.cpp</a:t>
            </a:r>
            <a:endParaRPr lang="en-US" altLang="zh-CN"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a:solidFill>
                  <a:srgbClr val="000000"/>
                </a:solidFill>
                <a:ea typeface="微软雅黑" panose="020B0503020204020204" pitchFamily="34" charset="-122"/>
              </a:rPr>
              <a:t>#include &lt;</a:t>
            </a:r>
            <a:r>
              <a:rPr lang="en-US" altLang="zh-CN" sz="2000" b="1" dirty="0" err="1">
                <a:solidFill>
                  <a:srgbClr val="000000"/>
                </a:solidFill>
                <a:ea typeface="微软雅黑" panose="020B0503020204020204" pitchFamily="34" charset="-122"/>
              </a:rPr>
              <a:t>iostream</a:t>
            </a:r>
            <a:r>
              <a:rPr lang="en-US" altLang="zh-CN" sz="2000" b="1" dirty="0">
                <a:solidFill>
                  <a:srgbClr val="000000"/>
                </a:solidFill>
                <a:ea typeface="微软雅黑" panose="020B0503020204020204" pitchFamily="34" charset="-122"/>
              </a:rPr>
              <a:t>&gt;</a:t>
            </a:r>
            <a:endParaRPr lang="en-US" altLang="zh-CN"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a:solidFill>
                  <a:srgbClr val="000000"/>
                </a:solidFill>
                <a:ea typeface="微软雅黑" panose="020B0503020204020204" pitchFamily="34" charset="-122"/>
              </a:rPr>
              <a:t>using namespace </a:t>
            </a:r>
            <a:r>
              <a:rPr lang="en-US" altLang="zh-CN" sz="2000" b="1" dirty="0" err="1">
                <a:solidFill>
                  <a:srgbClr val="000000"/>
                </a:solidFill>
                <a:ea typeface="微软雅黑" panose="020B0503020204020204" pitchFamily="34" charset="-122"/>
              </a:rPr>
              <a:t>std</a:t>
            </a:r>
            <a:r>
              <a:rPr lang="en-US" altLang="zh-CN" sz="2000" b="1" dirty="0">
                <a:solidFill>
                  <a:srgbClr val="000000"/>
                </a:solidFill>
                <a:ea typeface="微软雅黑" panose="020B0503020204020204" pitchFamily="34" charset="-122"/>
              </a:rPr>
              <a:t>;</a:t>
            </a:r>
            <a:endParaRPr lang="en-US" altLang="zh-CN" sz="2000" b="1" dirty="0">
              <a:solidFill>
                <a:srgbClr val="000000"/>
              </a:solidFill>
              <a:ea typeface="微软雅黑" panose="020B0503020204020204" pitchFamily="34" charset="-122"/>
            </a:endParaRPr>
          </a:p>
          <a:p>
            <a:pPr marL="0" indent="0">
              <a:lnSpc>
                <a:spcPct val="150000"/>
              </a:lnSpc>
              <a:spcBef>
                <a:spcPts val="0"/>
              </a:spcBef>
              <a:spcAft>
                <a:spcPts val="0"/>
              </a:spcAft>
              <a:buNone/>
            </a:pPr>
            <a:endParaRPr lang="en-US" altLang="zh-CN"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err="1">
                <a:solidFill>
                  <a:srgbClr val="000000"/>
                </a:solidFill>
                <a:ea typeface="微软雅黑" panose="020B0503020204020204" pitchFamily="34" charset="-122"/>
              </a:rPr>
              <a:t>const</a:t>
            </a:r>
            <a:r>
              <a:rPr lang="en-US" altLang="zh-CN" sz="2000" b="1" dirty="0">
                <a:solidFill>
                  <a:srgbClr val="000000"/>
                </a:solidFill>
                <a:ea typeface="微软雅黑" panose="020B0503020204020204" pitchFamily="34" charset="-122"/>
              </a:rPr>
              <a:t> double PI = 3.141593;		//</a:t>
            </a:r>
            <a:r>
              <a:rPr lang="zh-CN" altLang="en-US" sz="2000" b="1" dirty="0">
                <a:solidFill>
                  <a:srgbClr val="000000"/>
                </a:solidFill>
                <a:ea typeface="微软雅黑" panose="020B0503020204020204" pitchFamily="34" charset="-122"/>
              </a:rPr>
              <a:t>给出</a:t>
            </a:r>
            <a:r>
              <a:rPr lang="en-US" altLang="zh-CN" sz="2000" b="1" dirty="0">
                <a:solidFill>
                  <a:srgbClr val="000000"/>
                </a:solidFill>
                <a:ea typeface="微软雅黑" panose="020B0503020204020204" pitchFamily="34" charset="-122"/>
              </a:rPr>
              <a:t>p</a:t>
            </a:r>
            <a:r>
              <a:rPr lang="zh-CN" altLang="en-US" sz="2000" b="1" dirty="0">
                <a:solidFill>
                  <a:srgbClr val="000000"/>
                </a:solidFill>
                <a:ea typeface="微软雅黑" panose="020B0503020204020204" pitchFamily="34" charset="-122"/>
              </a:rPr>
              <a:t>的值</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err="1">
                <a:solidFill>
                  <a:srgbClr val="000000"/>
                </a:solidFill>
                <a:ea typeface="微软雅黑" panose="020B0503020204020204" pitchFamily="34" charset="-122"/>
              </a:rPr>
              <a:t>const</a:t>
            </a:r>
            <a:r>
              <a:rPr lang="en-US" altLang="zh-CN" sz="2000" b="1" dirty="0">
                <a:solidFill>
                  <a:srgbClr val="000000"/>
                </a:solidFill>
                <a:ea typeface="微软雅黑" panose="020B0503020204020204" pitchFamily="34" charset="-122"/>
              </a:rPr>
              <a:t> double FENCE_PRICE = 35;	//</a:t>
            </a:r>
            <a:r>
              <a:rPr lang="zh-CN" altLang="en-US" sz="2000" b="1" dirty="0">
                <a:solidFill>
                  <a:srgbClr val="000000"/>
                </a:solidFill>
                <a:ea typeface="微软雅黑" panose="020B0503020204020204" pitchFamily="34" charset="-122"/>
              </a:rPr>
              <a:t>栅栏的单价</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err="1">
                <a:solidFill>
                  <a:srgbClr val="000000"/>
                </a:solidFill>
                <a:ea typeface="微软雅黑" panose="020B0503020204020204" pitchFamily="34" charset="-122"/>
              </a:rPr>
              <a:t>const</a:t>
            </a:r>
            <a:r>
              <a:rPr lang="en-US" altLang="zh-CN" sz="2000" b="1" dirty="0">
                <a:solidFill>
                  <a:srgbClr val="000000"/>
                </a:solidFill>
                <a:ea typeface="微软雅黑" panose="020B0503020204020204" pitchFamily="34" charset="-122"/>
              </a:rPr>
              <a:t> double CONCRETE_PRICE = 20;//</a:t>
            </a:r>
            <a:r>
              <a:rPr lang="zh-CN" altLang="en-US" sz="2000" b="1" dirty="0">
                <a:solidFill>
                  <a:srgbClr val="000000"/>
                </a:solidFill>
                <a:ea typeface="微软雅黑" panose="020B0503020204020204" pitchFamily="34" charset="-122"/>
              </a:rPr>
              <a:t>过道水泥</a:t>
            </a:r>
            <a:r>
              <a:rPr lang="zh-CN" altLang="en-US" sz="2000" b="1" dirty="0" smtClean="0">
                <a:solidFill>
                  <a:srgbClr val="000000"/>
                </a:solidFill>
                <a:ea typeface="微软雅黑" panose="020B0503020204020204" pitchFamily="34" charset="-122"/>
              </a:rPr>
              <a:t>单价</a:t>
            </a:r>
            <a:endParaRPr lang="en-US" altLang="zh-CN" sz="2000" b="1" dirty="0">
              <a:solidFill>
                <a:srgbClr val="000000"/>
              </a:solidFill>
              <a:ea typeface="微软雅黑" panose="020B0503020204020204" pitchFamily="34" charset="-122"/>
            </a:endParaRPr>
          </a:p>
        </p:txBody>
      </p:sp>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4.3.8  </a:t>
            </a:r>
            <a:r>
              <a:rPr lang="zh-CN" altLang="en-US" sz="4400" b="1" dirty="0" smtClean="0">
                <a:solidFill>
                  <a:srgbClr val="FFFFFF"/>
                </a:solidFill>
                <a:latin typeface="Times New Roman" panose="02020603050405020304" pitchFamily="18" charset="0"/>
                <a:ea typeface="隶书" panose="02010509060101010101" pitchFamily="49" charset="-122"/>
              </a:rPr>
              <a:t>程序实例</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7543" y="1484784"/>
            <a:ext cx="8272689" cy="5256584"/>
          </a:xfrm>
          <a:solidFill>
            <a:schemeClr val="tx1"/>
          </a:solidFill>
        </p:spPr>
        <p:txBody>
          <a:bodyPr/>
          <a:lstStyle/>
          <a:p>
            <a:pPr marL="0" indent="0">
              <a:lnSpc>
                <a:spcPct val="150000"/>
              </a:lnSpc>
              <a:spcBef>
                <a:spcPts val="0"/>
              </a:spcBef>
              <a:spcAft>
                <a:spcPts val="0"/>
              </a:spcAft>
              <a:buNone/>
            </a:pPr>
            <a:r>
              <a:rPr lang="en-US" altLang="zh-CN" sz="2000" b="1" dirty="0" smtClean="0">
                <a:solidFill>
                  <a:srgbClr val="000000"/>
                </a:solidFill>
                <a:ea typeface="微软雅黑" panose="020B0503020204020204" pitchFamily="34" charset="-122"/>
              </a:rPr>
              <a:t>class </a:t>
            </a:r>
            <a:r>
              <a:rPr lang="en-US" altLang="zh-CN" sz="2000" b="1" dirty="0">
                <a:solidFill>
                  <a:srgbClr val="000000"/>
                </a:solidFill>
                <a:ea typeface="微软雅黑" panose="020B0503020204020204" pitchFamily="34" charset="-122"/>
              </a:rPr>
              <a:t>Circle {	//</a:t>
            </a:r>
            <a:r>
              <a:rPr lang="zh-CN" altLang="en-US" sz="2000" b="1" dirty="0">
                <a:solidFill>
                  <a:srgbClr val="000000"/>
                </a:solidFill>
                <a:ea typeface="微软雅黑" panose="020B0503020204020204" pitchFamily="34" charset="-122"/>
              </a:rPr>
              <a:t>声明定义类</a:t>
            </a:r>
            <a:r>
              <a:rPr lang="en-US" altLang="zh-CN" sz="2000" b="1" dirty="0">
                <a:solidFill>
                  <a:srgbClr val="000000"/>
                </a:solidFill>
                <a:ea typeface="微软雅黑" panose="020B0503020204020204" pitchFamily="34" charset="-122"/>
              </a:rPr>
              <a:t>Circle </a:t>
            </a:r>
            <a:r>
              <a:rPr lang="zh-CN" altLang="en-US" sz="2000" b="1" dirty="0">
                <a:solidFill>
                  <a:srgbClr val="000000"/>
                </a:solidFill>
                <a:ea typeface="微软雅黑" panose="020B0503020204020204" pitchFamily="34" charset="-122"/>
              </a:rPr>
              <a:t>及其数据和方法</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a:solidFill>
                  <a:srgbClr val="000000"/>
                </a:solidFill>
                <a:ea typeface="微软雅黑" panose="020B0503020204020204" pitchFamily="34" charset="-122"/>
              </a:rPr>
              <a:t>public:		//</a:t>
            </a:r>
            <a:r>
              <a:rPr lang="zh-CN" altLang="en-US" sz="2000" b="1" dirty="0">
                <a:solidFill>
                  <a:srgbClr val="000000"/>
                </a:solidFill>
                <a:ea typeface="微软雅黑" panose="020B0503020204020204" pitchFamily="34" charset="-122"/>
              </a:rPr>
              <a:t>外部接口</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2000" b="1" dirty="0">
                <a:solidFill>
                  <a:srgbClr val="000000"/>
                </a:solidFill>
                <a:ea typeface="微软雅黑" panose="020B0503020204020204" pitchFamily="34" charset="-122"/>
              </a:rPr>
              <a:t>    </a:t>
            </a:r>
            <a:r>
              <a:rPr lang="en-US" altLang="zh-CN" sz="2000" b="1" dirty="0">
                <a:solidFill>
                  <a:srgbClr val="000000"/>
                </a:solidFill>
                <a:ea typeface="微软雅黑" panose="020B0503020204020204" pitchFamily="34" charset="-122"/>
              </a:rPr>
              <a:t>Circle(double r);		//</a:t>
            </a:r>
            <a:r>
              <a:rPr lang="zh-CN" altLang="en-US" sz="2000" b="1" dirty="0">
                <a:solidFill>
                  <a:srgbClr val="000000"/>
                </a:solidFill>
                <a:ea typeface="微软雅黑" panose="020B0503020204020204" pitchFamily="34" charset="-122"/>
              </a:rPr>
              <a:t>构造函数</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2000" b="1" dirty="0">
                <a:solidFill>
                  <a:srgbClr val="000000"/>
                </a:solidFill>
                <a:ea typeface="微软雅黑" panose="020B0503020204020204" pitchFamily="34" charset="-122"/>
              </a:rPr>
              <a:t>    </a:t>
            </a:r>
            <a:r>
              <a:rPr lang="en-US" altLang="zh-CN" sz="2000" b="1" dirty="0">
                <a:solidFill>
                  <a:srgbClr val="000000"/>
                </a:solidFill>
                <a:ea typeface="微软雅黑" panose="020B0503020204020204" pitchFamily="34" charset="-122"/>
              </a:rPr>
              <a:t>double circumference();	//</a:t>
            </a:r>
            <a:r>
              <a:rPr lang="zh-CN" altLang="en-US" sz="2000" b="1" dirty="0">
                <a:solidFill>
                  <a:srgbClr val="000000"/>
                </a:solidFill>
                <a:ea typeface="微软雅黑" panose="020B0503020204020204" pitchFamily="34" charset="-122"/>
              </a:rPr>
              <a:t>计算圆的周长</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2000" b="1" dirty="0">
                <a:solidFill>
                  <a:srgbClr val="000000"/>
                </a:solidFill>
                <a:ea typeface="微软雅黑" panose="020B0503020204020204" pitchFamily="34" charset="-122"/>
              </a:rPr>
              <a:t>    </a:t>
            </a:r>
            <a:r>
              <a:rPr lang="en-US" altLang="zh-CN" sz="2000" b="1" dirty="0">
                <a:solidFill>
                  <a:srgbClr val="000000"/>
                </a:solidFill>
                <a:ea typeface="微软雅黑" panose="020B0503020204020204" pitchFamily="34" charset="-122"/>
              </a:rPr>
              <a:t>double area();			//</a:t>
            </a:r>
            <a:r>
              <a:rPr lang="zh-CN" altLang="en-US" sz="2000" b="1" dirty="0">
                <a:solidFill>
                  <a:srgbClr val="000000"/>
                </a:solidFill>
                <a:ea typeface="微软雅黑" panose="020B0503020204020204" pitchFamily="34" charset="-122"/>
              </a:rPr>
              <a:t>计算圆的面积</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a:solidFill>
                  <a:srgbClr val="000000"/>
                </a:solidFill>
                <a:ea typeface="微软雅黑" panose="020B0503020204020204" pitchFamily="34" charset="-122"/>
              </a:rPr>
              <a:t>private:	//</a:t>
            </a:r>
            <a:r>
              <a:rPr lang="zh-CN" altLang="en-US" sz="2000" b="1" dirty="0">
                <a:solidFill>
                  <a:srgbClr val="000000"/>
                </a:solidFill>
                <a:ea typeface="微软雅黑" panose="020B0503020204020204" pitchFamily="34" charset="-122"/>
              </a:rPr>
              <a:t>私有数据成员</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2000" b="1" dirty="0">
                <a:solidFill>
                  <a:srgbClr val="000000"/>
                </a:solidFill>
                <a:ea typeface="微软雅黑" panose="020B0503020204020204" pitchFamily="34" charset="-122"/>
              </a:rPr>
              <a:t>    </a:t>
            </a:r>
            <a:r>
              <a:rPr lang="en-US" altLang="zh-CN" sz="2000" b="1" dirty="0">
                <a:solidFill>
                  <a:srgbClr val="000000"/>
                </a:solidFill>
                <a:ea typeface="微软雅黑" panose="020B0503020204020204" pitchFamily="34" charset="-122"/>
              </a:rPr>
              <a:t>double radius;			//</a:t>
            </a:r>
            <a:r>
              <a:rPr lang="zh-CN" altLang="en-US" sz="2000" b="1" dirty="0">
                <a:solidFill>
                  <a:srgbClr val="000000"/>
                </a:solidFill>
                <a:ea typeface="微软雅黑" panose="020B0503020204020204" pitchFamily="34" charset="-122"/>
              </a:rPr>
              <a:t>圆半径</a:t>
            </a:r>
            <a:endParaRPr lang="zh-CN" altLang="en-US" sz="20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2000" b="1" dirty="0">
                <a:solidFill>
                  <a:srgbClr val="000000"/>
                </a:solidFill>
                <a:ea typeface="微软雅黑" panose="020B0503020204020204" pitchFamily="34" charset="-122"/>
              </a:rPr>
              <a:t>};</a:t>
            </a:r>
            <a:endParaRPr lang="en-US" altLang="zh-CN" sz="2000" b="1" dirty="0">
              <a:solidFill>
                <a:srgbClr val="000000"/>
              </a:solidFill>
              <a:ea typeface="微软雅黑" panose="020B0503020204020204" pitchFamily="34" charset="-122"/>
            </a:endParaRPr>
          </a:p>
          <a:p>
            <a:pPr marL="0" indent="0">
              <a:lnSpc>
                <a:spcPct val="150000"/>
              </a:lnSpc>
              <a:spcBef>
                <a:spcPts val="0"/>
              </a:spcBef>
              <a:spcAft>
                <a:spcPts val="0"/>
              </a:spcAft>
              <a:buNone/>
            </a:pPr>
            <a:endParaRPr lang="en-US" altLang="zh-CN" sz="2000" b="1" dirty="0">
              <a:solidFill>
                <a:srgbClr val="000000"/>
              </a:solidFill>
              <a:ea typeface="微软雅黑" panose="020B0503020204020204" pitchFamily="34" charset="-122"/>
            </a:endParaRPr>
          </a:p>
        </p:txBody>
      </p:sp>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4.3.8  </a:t>
            </a:r>
            <a:r>
              <a:rPr lang="zh-CN" altLang="en-US" sz="4400" b="1" dirty="0" smtClean="0">
                <a:solidFill>
                  <a:srgbClr val="FFFFFF"/>
                </a:solidFill>
                <a:latin typeface="Times New Roman" panose="02020603050405020304" pitchFamily="18" charset="0"/>
                <a:ea typeface="隶书" panose="02010509060101010101" pitchFamily="49" charset="-122"/>
              </a:rPr>
              <a:t>程序实例</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7543" y="1340768"/>
            <a:ext cx="8272689" cy="5400600"/>
          </a:xfrm>
          <a:solidFill>
            <a:schemeClr val="tx1"/>
          </a:solidFill>
        </p:spPr>
        <p:txBody>
          <a:bodyPr/>
          <a:lstStyle/>
          <a:p>
            <a:pPr marL="0" indent="0">
              <a:lnSpc>
                <a:spcPct val="150000"/>
              </a:lnSpc>
              <a:spcBef>
                <a:spcPts val="0"/>
              </a:spcBef>
              <a:spcAft>
                <a:spcPts val="0"/>
              </a:spcAft>
              <a:buNone/>
            </a:pPr>
            <a:r>
              <a:rPr lang="en-US" altLang="zh-CN" sz="1800" b="1" dirty="0" smtClean="0">
                <a:solidFill>
                  <a:srgbClr val="000000"/>
                </a:solidFill>
                <a:ea typeface="微软雅黑" panose="020B0503020204020204" pitchFamily="34" charset="-122"/>
              </a:rPr>
              <a:t>//</a:t>
            </a:r>
            <a:r>
              <a:rPr lang="zh-CN" altLang="en-US" sz="1800" b="1" dirty="0">
                <a:solidFill>
                  <a:srgbClr val="000000"/>
                </a:solidFill>
                <a:ea typeface="微软雅黑" panose="020B0503020204020204" pitchFamily="34" charset="-122"/>
              </a:rPr>
              <a:t>类的实现</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smtClean="0">
                <a:solidFill>
                  <a:srgbClr val="000000"/>
                </a:solidFill>
                <a:ea typeface="微软雅黑" panose="020B0503020204020204" pitchFamily="34" charset="-122"/>
              </a:rPr>
              <a:t>//</a:t>
            </a:r>
            <a:r>
              <a:rPr lang="zh-CN" altLang="en-US" sz="1800" b="1" dirty="0">
                <a:solidFill>
                  <a:srgbClr val="000000"/>
                </a:solidFill>
                <a:ea typeface="微软雅黑" panose="020B0503020204020204" pitchFamily="34" charset="-122"/>
              </a:rPr>
              <a:t>构造函数初始化数据成员</a:t>
            </a:r>
            <a:r>
              <a:rPr lang="en-US" altLang="zh-CN" sz="1800" b="1" dirty="0">
                <a:solidFill>
                  <a:srgbClr val="000000"/>
                </a:solidFill>
                <a:ea typeface="微软雅黑" panose="020B0503020204020204" pitchFamily="34" charset="-122"/>
              </a:rPr>
              <a:t>radius</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Circle::Circle(double r) {</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radius = r;</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smtClean="0">
                <a:solidFill>
                  <a:srgbClr val="000000"/>
                </a:solidFill>
                <a:ea typeface="微软雅黑" panose="020B0503020204020204" pitchFamily="34" charset="-122"/>
              </a:rPr>
              <a:t>//</a:t>
            </a:r>
            <a:r>
              <a:rPr lang="zh-CN" altLang="en-US" sz="1800" b="1" dirty="0">
                <a:solidFill>
                  <a:srgbClr val="000000"/>
                </a:solidFill>
                <a:ea typeface="微软雅黑" panose="020B0503020204020204" pitchFamily="34" charset="-122"/>
              </a:rPr>
              <a:t>计算圆的周长</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double Circle::circumference() {</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return 2 * PI * radius;</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smtClean="0">
                <a:solidFill>
                  <a:srgbClr val="000000"/>
                </a:solidFill>
                <a:ea typeface="微软雅黑" panose="020B0503020204020204" pitchFamily="34" charset="-122"/>
              </a:rPr>
              <a:t>//</a:t>
            </a:r>
            <a:r>
              <a:rPr lang="zh-CN" altLang="en-US" sz="1800" b="1" dirty="0">
                <a:solidFill>
                  <a:srgbClr val="000000"/>
                </a:solidFill>
                <a:ea typeface="微软雅黑" panose="020B0503020204020204" pitchFamily="34" charset="-122"/>
              </a:rPr>
              <a:t>计算圆的面积</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double Circle::area() {</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return PI * radius * radius;</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smtClean="0">
                <a:solidFill>
                  <a:srgbClr val="000000"/>
                </a:solidFill>
                <a:ea typeface="微软雅黑" panose="020B0503020204020204" pitchFamily="34" charset="-122"/>
              </a:rPr>
              <a:t>}</a:t>
            </a:r>
            <a:endParaRPr lang="en-US" altLang="zh-CN" sz="1800" b="1" dirty="0">
              <a:solidFill>
                <a:srgbClr val="000000"/>
              </a:solidFill>
              <a:ea typeface="微软雅黑" panose="020B0503020204020204" pitchFamily="34" charset="-122"/>
            </a:endParaRPr>
          </a:p>
        </p:txBody>
      </p:sp>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4.3.8  </a:t>
            </a:r>
            <a:r>
              <a:rPr lang="zh-CN" altLang="en-US" sz="4400" b="1" dirty="0" smtClean="0">
                <a:solidFill>
                  <a:srgbClr val="FFFFFF"/>
                </a:solidFill>
                <a:latin typeface="Times New Roman" panose="02020603050405020304" pitchFamily="18" charset="0"/>
                <a:ea typeface="隶书" panose="02010509060101010101" pitchFamily="49" charset="-122"/>
              </a:rPr>
              <a:t>程序实例</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7543" y="1340768"/>
            <a:ext cx="8272689" cy="5400600"/>
          </a:xfrm>
          <a:solidFill>
            <a:schemeClr val="tx1"/>
          </a:solidFill>
        </p:spPr>
        <p:txBody>
          <a:bodyPr/>
          <a:lstStyle/>
          <a:p>
            <a:pPr marL="0" indent="0">
              <a:lnSpc>
                <a:spcPct val="150000"/>
              </a:lnSpc>
              <a:spcBef>
                <a:spcPts val="0"/>
              </a:spcBef>
              <a:spcAft>
                <a:spcPts val="0"/>
              </a:spcAft>
              <a:buNone/>
            </a:pPr>
            <a:r>
              <a:rPr lang="en-US" altLang="zh-CN" sz="1800" b="1" dirty="0" smtClean="0">
                <a:solidFill>
                  <a:srgbClr val="000000"/>
                </a:solidFill>
                <a:ea typeface="微软雅黑" panose="020B0503020204020204" pitchFamily="34" charset="-122"/>
              </a:rPr>
              <a:t>//</a:t>
            </a:r>
            <a:r>
              <a:rPr lang="zh-CN" altLang="en-US" sz="1800" b="1" dirty="0">
                <a:solidFill>
                  <a:srgbClr val="000000"/>
                </a:solidFill>
                <a:ea typeface="微软雅黑" panose="020B0503020204020204" pitchFamily="34" charset="-122"/>
              </a:rPr>
              <a:t>主函数实现</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err="1">
                <a:solidFill>
                  <a:srgbClr val="000000"/>
                </a:solidFill>
                <a:ea typeface="微软雅黑" panose="020B0503020204020204" pitchFamily="34" charset="-122"/>
              </a:rPr>
              <a:t>int</a:t>
            </a:r>
            <a:r>
              <a:rPr lang="en-US" altLang="zh-CN" sz="1800" b="1" dirty="0">
                <a:solidFill>
                  <a:srgbClr val="000000"/>
                </a:solidFill>
                <a:ea typeface="微软雅黑" panose="020B0503020204020204" pitchFamily="34" charset="-122"/>
              </a:rPr>
              <a:t> main () {</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double radius;</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a:t>
            </a:r>
            <a:r>
              <a:rPr lang="en-US" altLang="zh-CN" sz="1800" b="1" dirty="0" err="1">
                <a:solidFill>
                  <a:srgbClr val="000000"/>
                </a:solidFill>
                <a:ea typeface="微软雅黑" panose="020B0503020204020204" pitchFamily="34" charset="-122"/>
              </a:rPr>
              <a:t>cout</a:t>
            </a:r>
            <a:r>
              <a:rPr lang="en-US" altLang="zh-CN" sz="1800" b="1" dirty="0">
                <a:solidFill>
                  <a:srgbClr val="000000"/>
                </a:solidFill>
                <a:ea typeface="微软雅黑" panose="020B0503020204020204" pitchFamily="34" charset="-122"/>
              </a:rPr>
              <a:t> &lt;&lt; "Enter the radius of the pool: ";	 // </a:t>
            </a:r>
            <a:r>
              <a:rPr lang="zh-CN" altLang="en-US" sz="1800" b="1" dirty="0">
                <a:solidFill>
                  <a:srgbClr val="000000"/>
                </a:solidFill>
                <a:ea typeface="微软雅黑" panose="020B0503020204020204" pitchFamily="34" charset="-122"/>
              </a:rPr>
              <a:t>提示用户输入半径</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1800" b="1" dirty="0">
                <a:solidFill>
                  <a:srgbClr val="000000"/>
                </a:solidFill>
                <a:ea typeface="微软雅黑" panose="020B0503020204020204" pitchFamily="34" charset="-122"/>
              </a:rPr>
              <a:t>    </a:t>
            </a:r>
            <a:r>
              <a:rPr lang="en-US" altLang="zh-CN" sz="1800" b="1" dirty="0" err="1">
                <a:solidFill>
                  <a:srgbClr val="000000"/>
                </a:solidFill>
                <a:ea typeface="微软雅黑" panose="020B0503020204020204" pitchFamily="34" charset="-122"/>
              </a:rPr>
              <a:t>cin</a:t>
            </a:r>
            <a:r>
              <a:rPr lang="en-US" altLang="zh-CN" sz="1800" b="1" dirty="0">
                <a:solidFill>
                  <a:srgbClr val="000000"/>
                </a:solidFill>
                <a:ea typeface="微软雅黑" panose="020B0503020204020204" pitchFamily="34" charset="-122"/>
              </a:rPr>
              <a:t> &gt;&gt; radius;</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Circle pool(radius);		//</a:t>
            </a:r>
            <a:r>
              <a:rPr lang="zh-CN" altLang="en-US" sz="1800" b="1" dirty="0">
                <a:solidFill>
                  <a:srgbClr val="000000"/>
                </a:solidFill>
                <a:ea typeface="微软雅黑" panose="020B0503020204020204" pitchFamily="34" charset="-122"/>
              </a:rPr>
              <a:t>游泳池边界</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1800" b="1" dirty="0">
                <a:solidFill>
                  <a:srgbClr val="000000"/>
                </a:solidFill>
                <a:ea typeface="微软雅黑" panose="020B0503020204020204" pitchFamily="34" charset="-122"/>
              </a:rPr>
              <a:t>    </a:t>
            </a:r>
            <a:r>
              <a:rPr lang="en-US" altLang="zh-CN" sz="1800" b="1" dirty="0">
                <a:solidFill>
                  <a:srgbClr val="000000"/>
                </a:solidFill>
                <a:ea typeface="微软雅黑" panose="020B0503020204020204" pitchFamily="34" charset="-122"/>
              </a:rPr>
              <a:t>Circle </a:t>
            </a:r>
            <a:r>
              <a:rPr lang="en-US" altLang="zh-CN" sz="1800" b="1" dirty="0" err="1">
                <a:solidFill>
                  <a:srgbClr val="000000"/>
                </a:solidFill>
                <a:ea typeface="微软雅黑" panose="020B0503020204020204" pitchFamily="34" charset="-122"/>
              </a:rPr>
              <a:t>poolRim</a:t>
            </a:r>
            <a:r>
              <a:rPr lang="en-US" altLang="zh-CN" sz="1800" b="1" dirty="0">
                <a:solidFill>
                  <a:srgbClr val="000000"/>
                </a:solidFill>
                <a:ea typeface="微软雅黑" panose="020B0503020204020204" pitchFamily="34" charset="-122"/>
              </a:rPr>
              <a:t>(radius + 3);	//</a:t>
            </a:r>
            <a:r>
              <a:rPr lang="zh-CN" altLang="en-US" sz="1800" b="1" dirty="0">
                <a:solidFill>
                  <a:srgbClr val="000000"/>
                </a:solidFill>
                <a:ea typeface="微软雅黑" panose="020B0503020204020204" pitchFamily="34" charset="-122"/>
              </a:rPr>
              <a:t>栅栏</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1800" b="1" dirty="0">
                <a:solidFill>
                  <a:srgbClr val="000000"/>
                </a:solidFill>
                <a:ea typeface="微软雅黑" panose="020B0503020204020204" pitchFamily="34" charset="-122"/>
              </a:rPr>
              <a:t>    </a:t>
            </a:r>
            <a:r>
              <a:rPr lang="en-US" altLang="zh-CN" sz="1800" b="1" dirty="0">
                <a:solidFill>
                  <a:srgbClr val="000000"/>
                </a:solidFill>
                <a:ea typeface="微软雅黑" panose="020B0503020204020204" pitchFamily="34" charset="-122"/>
              </a:rPr>
              <a:t>//</a:t>
            </a:r>
            <a:r>
              <a:rPr lang="zh-CN" altLang="en-US" sz="1800" b="1" dirty="0">
                <a:solidFill>
                  <a:srgbClr val="000000"/>
                </a:solidFill>
                <a:ea typeface="微软雅黑" panose="020B0503020204020204" pitchFamily="34" charset="-122"/>
              </a:rPr>
              <a:t>计算栅栏造价并输出</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1800" b="1" dirty="0">
                <a:solidFill>
                  <a:srgbClr val="000000"/>
                </a:solidFill>
                <a:ea typeface="微软雅黑" panose="020B0503020204020204" pitchFamily="34" charset="-122"/>
              </a:rPr>
              <a:t>    </a:t>
            </a:r>
            <a:r>
              <a:rPr lang="en-US" altLang="zh-CN" sz="1800" b="1" dirty="0">
                <a:solidFill>
                  <a:srgbClr val="000000"/>
                </a:solidFill>
                <a:ea typeface="微软雅黑" panose="020B0503020204020204" pitchFamily="34" charset="-122"/>
              </a:rPr>
              <a:t>double </a:t>
            </a:r>
            <a:r>
              <a:rPr lang="en-US" altLang="zh-CN" sz="1800" b="1" dirty="0" err="1">
                <a:solidFill>
                  <a:srgbClr val="000000"/>
                </a:solidFill>
                <a:ea typeface="微软雅黑" panose="020B0503020204020204" pitchFamily="34" charset="-122"/>
              </a:rPr>
              <a:t>fenceCost</a:t>
            </a:r>
            <a:r>
              <a:rPr lang="en-US" altLang="zh-CN" sz="1800" b="1" dirty="0">
                <a:solidFill>
                  <a:srgbClr val="000000"/>
                </a:solidFill>
                <a:ea typeface="微软雅黑" panose="020B0503020204020204" pitchFamily="34" charset="-122"/>
              </a:rPr>
              <a:t> = </a:t>
            </a:r>
            <a:r>
              <a:rPr lang="en-US" altLang="zh-CN" sz="1800" b="1" dirty="0" err="1">
                <a:solidFill>
                  <a:srgbClr val="000000"/>
                </a:solidFill>
                <a:ea typeface="微软雅黑" panose="020B0503020204020204" pitchFamily="34" charset="-122"/>
              </a:rPr>
              <a:t>poolRim.circumference</a:t>
            </a:r>
            <a:r>
              <a:rPr lang="en-US" altLang="zh-CN" sz="1800" b="1" dirty="0">
                <a:solidFill>
                  <a:srgbClr val="000000"/>
                </a:solidFill>
                <a:ea typeface="微软雅黑" panose="020B0503020204020204" pitchFamily="34" charset="-122"/>
              </a:rPr>
              <a:t>() * FENCE_PRICE;</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a:t>
            </a:r>
            <a:r>
              <a:rPr lang="en-US" altLang="zh-CN" sz="1800" b="1" dirty="0" err="1">
                <a:solidFill>
                  <a:srgbClr val="000000"/>
                </a:solidFill>
                <a:ea typeface="微软雅黑" panose="020B0503020204020204" pitchFamily="34" charset="-122"/>
              </a:rPr>
              <a:t>cout</a:t>
            </a:r>
            <a:r>
              <a:rPr lang="en-US" altLang="zh-CN" sz="1800" b="1" dirty="0">
                <a:solidFill>
                  <a:srgbClr val="000000"/>
                </a:solidFill>
                <a:ea typeface="微软雅黑" panose="020B0503020204020204" pitchFamily="34" charset="-122"/>
              </a:rPr>
              <a:t> &lt;&lt; "Fencing Cost is $" &lt;&lt; </a:t>
            </a:r>
            <a:r>
              <a:rPr lang="en-US" altLang="zh-CN" sz="1800" b="1" dirty="0" err="1">
                <a:solidFill>
                  <a:srgbClr val="000000"/>
                </a:solidFill>
                <a:ea typeface="微软雅黑" panose="020B0503020204020204" pitchFamily="34" charset="-122"/>
              </a:rPr>
              <a:t>fenceCost</a:t>
            </a:r>
            <a:r>
              <a:rPr lang="en-US" altLang="zh-CN" sz="1800" b="1" dirty="0">
                <a:solidFill>
                  <a:srgbClr val="000000"/>
                </a:solidFill>
                <a:ea typeface="微软雅黑" panose="020B0503020204020204" pitchFamily="34" charset="-122"/>
              </a:rPr>
              <a:t> &lt;&lt; </a:t>
            </a:r>
            <a:r>
              <a:rPr lang="en-US" altLang="zh-CN" sz="1800" b="1" dirty="0" err="1">
                <a:solidFill>
                  <a:srgbClr val="000000"/>
                </a:solidFill>
                <a:ea typeface="微软雅黑" panose="020B0503020204020204" pitchFamily="34" charset="-122"/>
              </a:rPr>
              <a:t>endl</a:t>
            </a:r>
            <a:r>
              <a:rPr lang="en-US" altLang="zh-CN" sz="1800" b="1" dirty="0" smtClean="0">
                <a:solidFill>
                  <a:srgbClr val="000000"/>
                </a:solidFill>
                <a:ea typeface="微软雅黑" panose="020B0503020204020204" pitchFamily="34" charset="-122"/>
              </a:rPr>
              <a:t>;</a:t>
            </a:r>
            <a:endParaRPr lang="en-US" altLang="zh-CN" sz="1800" b="1" dirty="0">
              <a:solidFill>
                <a:srgbClr val="000000"/>
              </a:solidFill>
              <a:ea typeface="微软雅黑" panose="020B0503020204020204" pitchFamily="34" charset="-122"/>
            </a:endParaRPr>
          </a:p>
        </p:txBody>
      </p:sp>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4.3.8  </a:t>
            </a:r>
            <a:r>
              <a:rPr lang="zh-CN" altLang="en-US" sz="4400" b="1" dirty="0" smtClean="0">
                <a:solidFill>
                  <a:srgbClr val="FFFFFF"/>
                </a:solidFill>
                <a:latin typeface="Times New Roman" panose="02020603050405020304" pitchFamily="18" charset="0"/>
                <a:ea typeface="隶书" panose="02010509060101010101" pitchFamily="49" charset="-122"/>
              </a:rPr>
              <a:t>程序实例</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67543" y="1340768"/>
            <a:ext cx="8272689" cy="5400600"/>
          </a:xfrm>
          <a:solidFill>
            <a:schemeClr val="tx1"/>
          </a:solidFill>
        </p:spPr>
        <p:txBody>
          <a:bodyPr/>
          <a:lstStyle/>
          <a:p>
            <a:pPr marL="0" indent="0">
              <a:lnSpc>
                <a:spcPct val="150000"/>
              </a:lnSpc>
              <a:spcBef>
                <a:spcPts val="0"/>
              </a:spcBef>
              <a:spcAft>
                <a:spcPts val="0"/>
              </a:spcAft>
              <a:buNone/>
            </a:pP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a:t>
            </a:r>
            <a:r>
              <a:rPr lang="zh-CN" altLang="en-US" sz="1800" b="1" dirty="0">
                <a:solidFill>
                  <a:srgbClr val="000000"/>
                </a:solidFill>
                <a:ea typeface="微软雅黑" panose="020B0503020204020204" pitchFamily="34" charset="-122"/>
              </a:rPr>
              <a:t>计算过道造价并输出</a:t>
            </a:r>
            <a:endParaRPr lang="zh-CN" altLang="en-US"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zh-CN" altLang="en-US" sz="1800" b="1" dirty="0">
                <a:solidFill>
                  <a:srgbClr val="000000"/>
                </a:solidFill>
                <a:ea typeface="微软雅黑" panose="020B0503020204020204" pitchFamily="34" charset="-122"/>
              </a:rPr>
              <a:t>    </a:t>
            </a:r>
            <a:r>
              <a:rPr lang="en-US" altLang="zh-CN" sz="1800" b="1" dirty="0">
                <a:solidFill>
                  <a:srgbClr val="000000"/>
                </a:solidFill>
                <a:ea typeface="微软雅黑" panose="020B0503020204020204" pitchFamily="34" charset="-122"/>
              </a:rPr>
              <a:t>double </a:t>
            </a:r>
            <a:r>
              <a:rPr lang="en-US" altLang="zh-CN" sz="1800" b="1" dirty="0" err="1">
                <a:solidFill>
                  <a:srgbClr val="000000"/>
                </a:solidFill>
                <a:ea typeface="微软雅黑" panose="020B0503020204020204" pitchFamily="34" charset="-122"/>
              </a:rPr>
              <a:t>concreteCost</a:t>
            </a:r>
            <a:r>
              <a:rPr lang="en-US" altLang="zh-CN" sz="1800" b="1" dirty="0">
                <a:solidFill>
                  <a:srgbClr val="000000"/>
                </a:solidFill>
                <a:ea typeface="微软雅黑" panose="020B0503020204020204" pitchFamily="34" charset="-122"/>
              </a:rPr>
              <a:t> = (</a:t>
            </a:r>
            <a:r>
              <a:rPr lang="en-US" altLang="zh-CN" sz="1800" b="1" dirty="0" err="1">
                <a:solidFill>
                  <a:srgbClr val="000000"/>
                </a:solidFill>
                <a:ea typeface="微软雅黑" panose="020B0503020204020204" pitchFamily="34" charset="-122"/>
              </a:rPr>
              <a:t>poolRim.area</a:t>
            </a:r>
            <a:r>
              <a:rPr lang="en-US" altLang="zh-CN" sz="1800" b="1" dirty="0">
                <a:solidFill>
                  <a:srgbClr val="000000"/>
                </a:solidFill>
                <a:ea typeface="微软雅黑" panose="020B0503020204020204" pitchFamily="34" charset="-122"/>
              </a:rPr>
              <a:t>() - </a:t>
            </a:r>
            <a:r>
              <a:rPr lang="en-US" altLang="zh-CN" sz="1800" b="1" dirty="0" err="1">
                <a:solidFill>
                  <a:srgbClr val="000000"/>
                </a:solidFill>
                <a:ea typeface="微软雅黑" panose="020B0503020204020204" pitchFamily="34" charset="-122"/>
              </a:rPr>
              <a:t>pool.area</a:t>
            </a:r>
            <a:r>
              <a:rPr lang="en-US" altLang="zh-CN" sz="1800" b="1" dirty="0">
                <a:solidFill>
                  <a:srgbClr val="000000"/>
                </a:solidFill>
                <a:ea typeface="微软雅黑" panose="020B0503020204020204" pitchFamily="34" charset="-122"/>
              </a:rPr>
              <a:t>()) * CONCRETE_PRICE;</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a:t>
            </a:r>
            <a:r>
              <a:rPr lang="en-US" altLang="zh-CN" sz="1800" b="1" dirty="0" err="1">
                <a:solidFill>
                  <a:srgbClr val="000000"/>
                </a:solidFill>
                <a:ea typeface="微软雅黑" panose="020B0503020204020204" pitchFamily="34" charset="-122"/>
              </a:rPr>
              <a:t>cout</a:t>
            </a:r>
            <a:r>
              <a:rPr lang="en-US" altLang="zh-CN" sz="1800" b="1" dirty="0">
                <a:solidFill>
                  <a:srgbClr val="000000"/>
                </a:solidFill>
                <a:ea typeface="微软雅黑" panose="020B0503020204020204" pitchFamily="34" charset="-122"/>
              </a:rPr>
              <a:t> &lt;&lt; "Concrete Cost is $" &lt;&lt; </a:t>
            </a:r>
            <a:r>
              <a:rPr lang="en-US" altLang="zh-CN" sz="1800" b="1" dirty="0" err="1">
                <a:solidFill>
                  <a:srgbClr val="000000"/>
                </a:solidFill>
                <a:ea typeface="微软雅黑" panose="020B0503020204020204" pitchFamily="34" charset="-122"/>
              </a:rPr>
              <a:t>concreteCost</a:t>
            </a:r>
            <a:r>
              <a:rPr lang="en-US" altLang="zh-CN" sz="1800" b="1" dirty="0">
                <a:solidFill>
                  <a:srgbClr val="000000"/>
                </a:solidFill>
                <a:ea typeface="微软雅黑" panose="020B0503020204020204" pitchFamily="34" charset="-122"/>
              </a:rPr>
              <a:t> &lt;&lt; </a:t>
            </a:r>
            <a:r>
              <a:rPr lang="en-US" altLang="zh-CN" sz="1800" b="1" dirty="0" err="1">
                <a:solidFill>
                  <a:srgbClr val="000000"/>
                </a:solidFill>
                <a:ea typeface="微软雅黑" panose="020B0503020204020204" pitchFamily="34" charset="-122"/>
              </a:rPr>
              <a:t>endl</a:t>
            </a:r>
            <a:r>
              <a:rPr lang="en-US" altLang="zh-CN" sz="1800" b="1" dirty="0">
                <a:solidFill>
                  <a:srgbClr val="000000"/>
                </a:solidFill>
                <a:ea typeface="微软雅黑" panose="020B0503020204020204" pitchFamily="34" charset="-122"/>
              </a:rPr>
              <a:t>;</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return 0;</a:t>
            </a:r>
            <a:endParaRPr lang="en-US" altLang="zh-CN" sz="1800" b="1" dirty="0">
              <a:solidFill>
                <a:srgbClr val="000000"/>
              </a:solidFill>
              <a:ea typeface="微软雅黑" panose="020B0503020204020204" pitchFamily="34" charset="-122"/>
            </a:endParaRPr>
          </a:p>
          <a:p>
            <a:pPr marL="0" indent="0">
              <a:lnSpc>
                <a:spcPct val="150000"/>
              </a:lnSpc>
              <a:spcBef>
                <a:spcPts val="0"/>
              </a:spcBef>
              <a:spcAft>
                <a:spcPts val="0"/>
              </a:spcAft>
              <a:buNone/>
            </a:pPr>
            <a:r>
              <a:rPr lang="en-US" altLang="zh-CN" sz="1800" b="1" dirty="0">
                <a:solidFill>
                  <a:srgbClr val="000000"/>
                </a:solidFill>
                <a:ea typeface="微软雅黑" panose="020B0503020204020204" pitchFamily="34" charset="-122"/>
              </a:rPr>
              <a:t>} //</a:t>
            </a:r>
            <a:r>
              <a:rPr lang="en-US" altLang="zh-CN" sz="1800" b="1" dirty="0" smtClean="0">
                <a:solidFill>
                  <a:srgbClr val="000000"/>
                </a:solidFill>
                <a:ea typeface="微软雅黑" panose="020B0503020204020204" pitchFamily="34" charset="-122"/>
              </a:rPr>
              <a:t>4_3.cpp</a:t>
            </a:r>
            <a:endParaRPr lang="en-US" altLang="zh-CN" sz="1800" b="1" dirty="0">
              <a:solidFill>
                <a:srgbClr val="000000"/>
              </a:solidFill>
              <a:ea typeface="微软雅黑" panose="020B0503020204020204" pitchFamily="34" charset="-122"/>
            </a:endParaRPr>
          </a:p>
        </p:txBody>
      </p:sp>
      <p:sp>
        <p:nvSpPr>
          <p:cNvPr id="4" name="Rectangle 2"/>
          <p:cNvSpPr txBox="1">
            <a:spLocks noChangeArrowheads="1"/>
          </p:cNvSpPr>
          <p:nvPr/>
        </p:nvSpPr>
        <p:spPr>
          <a:xfrm>
            <a:off x="660538" y="332656"/>
            <a:ext cx="7886700" cy="75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ctr"/>
            <a:r>
              <a:rPr lang="en-US" altLang="zh-CN" sz="4400" b="1" dirty="0" smtClean="0">
                <a:solidFill>
                  <a:srgbClr val="FFFFFF"/>
                </a:solidFill>
                <a:latin typeface="Times New Roman" panose="02020603050405020304" pitchFamily="18" charset="0"/>
                <a:ea typeface="隶书" panose="02010509060101010101" pitchFamily="49" charset="-122"/>
              </a:rPr>
              <a:t>4.3.8  </a:t>
            </a:r>
            <a:r>
              <a:rPr lang="zh-CN" altLang="en-US" sz="4400" b="1" dirty="0" smtClean="0">
                <a:solidFill>
                  <a:srgbClr val="FFFFFF"/>
                </a:solidFill>
                <a:latin typeface="Times New Roman" panose="02020603050405020304" pitchFamily="18" charset="0"/>
                <a:ea typeface="隶书" panose="02010509060101010101" pitchFamily="49" charset="-122"/>
              </a:rPr>
              <a:t>程序实例</a:t>
            </a:r>
            <a:endParaRPr lang="zh-CN" altLang="en-US" sz="4400" b="1" dirty="0">
              <a:solidFill>
                <a:srgbClr val="FFFFFF"/>
              </a:solidFill>
              <a:latin typeface="Times New Roman" panose="02020603050405020304" pitchFamily="18" charset="0"/>
              <a:ea typeface="隶书" panose="02010509060101010101" pitchFamily="49"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2060848"/>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4"/>
            </a:pPr>
            <a:r>
              <a:rPr lang="en-US" altLang="zh-CN" sz="5800" b="1" dirty="0">
                <a:ea typeface="华文彩云" panose="02010800040101010101" pitchFamily="2" charset="-122"/>
              </a:rPr>
              <a:t> </a:t>
            </a:r>
            <a:r>
              <a:rPr lang="en-US" altLang="zh-CN" sz="5800" b="1" dirty="0" smtClean="0">
                <a:ea typeface="华文彩云" panose="02010800040101010101" pitchFamily="2" charset="-122"/>
              </a:rPr>
              <a:t>       </a:t>
            </a:r>
            <a:r>
              <a:rPr lang="zh-CN" altLang="en-US" sz="5800" b="1" dirty="0" smtClean="0">
                <a:ea typeface="华文彩云" panose="02010800040101010101" pitchFamily="2" charset="-122"/>
              </a:rPr>
              <a:t>类的组合</a:t>
            </a:r>
            <a:endParaRPr lang="zh-CN" altLang="en-US" sz="58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4.4.1  </a:t>
            </a:r>
            <a:r>
              <a:rPr lang="zh-CN" altLang="en-US" sz="4400" b="1" dirty="0" smtClean="0">
                <a:latin typeface="Times New Roman" panose="02020603050405020304" pitchFamily="18" charset="0"/>
                <a:ea typeface="隶书" panose="02010509060101010101" pitchFamily="49" charset="-122"/>
              </a:rPr>
              <a:t>组合</a:t>
            </a:r>
            <a:endParaRPr lang="zh-CN" altLang="en-US" sz="4400" b="1" dirty="0">
              <a:latin typeface="Times New Roman" panose="02020603050405020304" pitchFamily="18" charset="0"/>
              <a:ea typeface="隶书" panose="02010509060101010101" pitchFamily="49" charset="-122"/>
            </a:endParaRPr>
          </a:p>
        </p:txBody>
      </p:sp>
      <p:sp>
        <p:nvSpPr>
          <p:cNvPr id="52227" name="内容占位符 2"/>
          <p:cNvSpPr>
            <a:spLocks noGrp="1"/>
          </p:cNvSpPr>
          <p:nvPr>
            <p:ph idx="1"/>
          </p:nvPr>
        </p:nvSpPr>
        <p:spPr/>
        <p:txBody>
          <a:bodyPr/>
          <a:lstStyle/>
          <a:p>
            <a:pPr eaLnBrk="1" hangingPunct="1">
              <a:lnSpc>
                <a:spcPct val="200000"/>
              </a:lnSpc>
            </a:pPr>
            <a:r>
              <a:rPr lang="zh-CN" altLang="en-US" sz="2400" b="1" dirty="0">
                <a:latin typeface="微软雅黑" panose="020B0503020204020204" pitchFamily="34" charset="-122"/>
                <a:ea typeface="微软雅黑" panose="020B0503020204020204" pitchFamily="34" charset="-122"/>
              </a:rPr>
              <a:t>类中的成员数据是另一个类的对象</a:t>
            </a:r>
            <a:r>
              <a:rPr lang="zh-CN" altLang="en-US" sz="2400" b="1" dirty="0" smtClean="0">
                <a:latin typeface="微软雅黑" panose="020B0503020204020204" pitchFamily="34" charset="-122"/>
                <a:ea typeface="微软雅黑" panose="020B0503020204020204" pitchFamily="34" charset="-122"/>
              </a:rPr>
              <a:t>。例如，例</a:t>
            </a:r>
            <a:r>
              <a:rPr lang="en-US" altLang="zh-CN" sz="2400" b="1" dirty="0" smtClean="0">
                <a:latin typeface="微软雅黑" panose="020B0503020204020204" pitchFamily="34" charset="-122"/>
                <a:ea typeface="微软雅黑" panose="020B0503020204020204" pitchFamily="34" charset="-122"/>
              </a:rPr>
              <a:t>4-3</a:t>
            </a:r>
            <a:r>
              <a:rPr lang="zh-CN" altLang="en-US" sz="2400" b="1" dirty="0" smtClean="0">
                <a:latin typeface="微软雅黑" panose="020B0503020204020204" pitchFamily="34" charset="-122"/>
                <a:ea typeface="微软雅黑" panose="020B0503020204020204" pitchFamily="34" charset="-122"/>
              </a:rPr>
              <a:t>中的</a:t>
            </a:r>
            <a:r>
              <a:rPr lang="en-US" altLang="zh-CN" sz="2400" b="1" dirty="0" smtClean="0">
                <a:latin typeface="微软雅黑" panose="020B0503020204020204" pitchFamily="34" charset="-122"/>
                <a:ea typeface="微软雅黑" panose="020B0503020204020204" pitchFamily="34" charset="-122"/>
              </a:rPr>
              <a:t>Circle</a:t>
            </a:r>
            <a:r>
              <a:rPr lang="zh-CN" altLang="en-US" sz="2400" b="1" dirty="0" smtClean="0">
                <a:latin typeface="微软雅黑" panose="020B0503020204020204" pitchFamily="34" charset="-122"/>
                <a:ea typeface="微软雅黑" panose="020B0503020204020204" pitchFamily="34" charset="-122"/>
              </a:rPr>
              <a:t>类和半径</a:t>
            </a:r>
            <a:r>
              <a:rPr lang="en-US" altLang="zh-CN" sz="2400" b="1" dirty="0" smtClean="0">
                <a:latin typeface="微软雅黑" panose="020B0503020204020204" pitchFamily="34" charset="-122"/>
                <a:ea typeface="微软雅黑" panose="020B0503020204020204" pitchFamily="34" charset="-122"/>
              </a:rPr>
              <a:t>radius</a:t>
            </a:r>
            <a:r>
              <a:rPr lang="zh-CN" altLang="en-US" sz="2400" b="1" dirty="0" smtClean="0">
                <a:latin typeface="微软雅黑" panose="020B0503020204020204" pitchFamily="34" charset="-122"/>
                <a:ea typeface="微软雅黑" panose="020B0503020204020204" pitchFamily="34" charset="-122"/>
              </a:rPr>
              <a:t>的关系</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200000"/>
              </a:lnSpc>
            </a:pPr>
            <a:r>
              <a:rPr lang="zh-CN" altLang="en-US" sz="2400" b="1" dirty="0" smtClean="0">
                <a:latin typeface="微软雅黑" panose="020B0503020204020204" pitchFamily="34" charset="-122"/>
                <a:ea typeface="微软雅黑" panose="020B0503020204020204" pitchFamily="34" charset="-122"/>
              </a:rPr>
              <a:t>可以</a:t>
            </a:r>
            <a:r>
              <a:rPr lang="zh-CN" altLang="en-US" sz="2400" b="1" dirty="0">
                <a:latin typeface="微软雅黑" panose="020B0503020204020204" pitchFamily="34" charset="-122"/>
                <a:ea typeface="微软雅黑" panose="020B0503020204020204" pitchFamily="34" charset="-122"/>
              </a:rPr>
              <a:t>在已有抽象的基础上实现更复杂的抽象。</a:t>
            </a:r>
            <a:endParaRPr lang="zh-CN" altLang="en-US" sz="2400" b="1" dirty="0">
              <a:latin typeface="微软雅黑" panose="020B0503020204020204" pitchFamily="34" charset="-122"/>
              <a:ea typeface="微软雅黑" panose="020B0503020204020204" pitchFamily="34" charset="-122"/>
            </a:endParaRPr>
          </a:p>
          <a:p>
            <a:pPr eaLnBrk="1" hangingPunct="1"/>
            <a:endParaRPr lang="zh-CN" altLang="en-US" sz="2400"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类组合的构造函数设计</a:t>
            </a:r>
            <a:endParaRPr lang="zh-CN" altLang="en-US" sz="4400" b="1">
              <a:latin typeface="Times New Roman" panose="02020603050405020304" pitchFamily="18" charset="0"/>
              <a:ea typeface="隶书" panose="02010509060101010101" pitchFamily="49" charset="-122"/>
            </a:endParaRPr>
          </a:p>
        </p:txBody>
      </p:sp>
      <p:sp>
        <p:nvSpPr>
          <p:cNvPr id="53251" name="内容占位符 2"/>
          <p:cNvSpPr>
            <a:spLocks noGrp="1"/>
          </p:cNvSpPr>
          <p:nvPr>
            <p:ph idx="1"/>
          </p:nvPr>
        </p:nvSpPr>
        <p:spPr>
          <a:xfrm>
            <a:off x="611560" y="1844824"/>
            <a:ext cx="8191822" cy="4351338"/>
          </a:xfrm>
          <a:noFill/>
        </p:spPr>
        <p:txBody>
          <a:bodyPr/>
          <a:lstStyle/>
          <a:p>
            <a:pPr eaLnBrk="1" hangingPunct="1"/>
            <a:r>
              <a:rPr lang="zh-CN" altLang="en-US" sz="2800" b="1" dirty="0">
                <a:latin typeface="微软雅黑" panose="020B0503020204020204" pitchFamily="34" charset="-122"/>
                <a:ea typeface="微软雅黑" panose="020B0503020204020204" pitchFamily="34" charset="-122"/>
              </a:rPr>
              <a:t>原则：不仅要负责对本类中的基本类型成员数据赋初值，也要对对象成员初始化。</a:t>
            </a:r>
            <a:endParaRPr lang="zh-CN" altLang="en-US" sz="2800" b="1" dirty="0">
              <a:latin typeface="微软雅黑" panose="020B0503020204020204" pitchFamily="34" charset="-122"/>
              <a:ea typeface="微软雅黑" panose="020B0503020204020204" pitchFamily="34" charset="-122"/>
            </a:endParaRPr>
          </a:p>
          <a:p>
            <a:pPr eaLnBrk="1" hangingPunct="1"/>
            <a:r>
              <a:rPr lang="zh-CN" altLang="en-US" sz="2800" b="1" dirty="0">
                <a:latin typeface="微软雅黑" panose="020B0503020204020204" pitchFamily="34" charset="-122"/>
                <a:ea typeface="微软雅黑" panose="020B0503020204020204" pitchFamily="34" charset="-122"/>
              </a:rPr>
              <a:t>声明形式：</a:t>
            </a:r>
            <a:endParaRPr lang="zh-CN" altLang="en-US" sz="2800" b="1" dirty="0">
              <a:latin typeface="微软雅黑" panose="020B0503020204020204" pitchFamily="34" charset="-122"/>
              <a:ea typeface="微软雅黑" panose="020B0503020204020204" pitchFamily="34" charset="-122"/>
            </a:endParaRPr>
          </a:p>
          <a:p>
            <a:pPr lvl="1" eaLnBrk="1" hangingPunct="1">
              <a:buFont typeface="Georgia" panose="02040502050405020303" pitchFamily="18" charset="0"/>
              <a:buNone/>
            </a:pPr>
            <a:r>
              <a:rPr lang="zh-CN" altLang="en-US" b="1" dirty="0">
                <a:solidFill>
                  <a:srgbClr val="FFFF00"/>
                </a:solidFill>
                <a:latin typeface="微软雅黑" panose="020B0503020204020204" pitchFamily="34" charset="-122"/>
                <a:ea typeface="微软雅黑" panose="020B0503020204020204" pitchFamily="34" charset="-122"/>
              </a:rPr>
              <a:t>类名</a:t>
            </a:r>
            <a:r>
              <a:rPr lang="en-US" altLang="zh-CN" b="1" dirty="0">
                <a:solidFill>
                  <a:srgbClr val="FFFF00"/>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类名</a:t>
            </a:r>
            <a:r>
              <a:rPr lang="en-US" altLang="zh-CN" b="1" dirty="0">
                <a:solidFill>
                  <a:srgbClr val="FFFF00"/>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对象成员所需的形参，本类成员形参</a:t>
            </a:r>
            <a:r>
              <a:rPr lang="en-US" altLang="zh-CN" b="1" dirty="0">
                <a:solidFill>
                  <a:srgbClr val="FFFF00"/>
                </a:solidFill>
                <a:latin typeface="微软雅黑" panose="020B0503020204020204" pitchFamily="34" charset="-122"/>
                <a:ea typeface="微软雅黑" panose="020B0503020204020204" pitchFamily="34" charset="-122"/>
              </a:rPr>
              <a:t>)</a:t>
            </a:r>
            <a:endParaRPr lang="en-US" altLang="zh-CN" b="1" dirty="0">
              <a:solidFill>
                <a:srgbClr val="FFFF00"/>
              </a:solidFill>
              <a:latin typeface="微软雅黑" panose="020B0503020204020204" pitchFamily="34" charset="-122"/>
              <a:ea typeface="微软雅黑" panose="020B0503020204020204" pitchFamily="34" charset="-122"/>
            </a:endParaRPr>
          </a:p>
          <a:p>
            <a:pPr lvl="1" eaLnBrk="1" hangingPunct="1">
              <a:buFont typeface="Georgia" panose="02040502050405020303" pitchFamily="18" charset="0"/>
              <a:buNone/>
            </a:pPr>
            <a:r>
              <a:rPr lang="en-US" altLang="zh-CN" b="1" dirty="0">
                <a:solidFill>
                  <a:srgbClr val="FFFF00"/>
                </a:solidFill>
                <a:latin typeface="微软雅黑" panose="020B0503020204020204" pitchFamily="34" charset="-122"/>
                <a:ea typeface="微软雅黑" panose="020B0503020204020204" pitchFamily="34" charset="-122"/>
              </a:rPr>
              <a:t>       :</a:t>
            </a:r>
            <a:r>
              <a:rPr lang="zh-CN" altLang="en-US" b="1" dirty="0">
                <a:solidFill>
                  <a:srgbClr val="FFFF00"/>
                </a:solidFill>
                <a:latin typeface="微软雅黑" panose="020B0503020204020204" pitchFamily="34" charset="-122"/>
                <a:ea typeface="微软雅黑" panose="020B0503020204020204" pitchFamily="34" charset="-122"/>
              </a:rPr>
              <a:t>对象</a:t>
            </a:r>
            <a:r>
              <a:rPr lang="en-US" altLang="zh-CN" b="1" dirty="0">
                <a:solidFill>
                  <a:srgbClr val="FFFF00"/>
                </a:solidFill>
                <a:latin typeface="微软雅黑" panose="020B0503020204020204" pitchFamily="34" charset="-122"/>
                <a:ea typeface="微软雅黑" panose="020B0503020204020204" pitchFamily="34" charset="-122"/>
              </a:rPr>
              <a:t>1(</a:t>
            </a:r>
            <a:r>
              <a:rPr lang="zh-CN" altLang="en-US" b="1" dirty="0">
                <a:solidFill>
                  <a:srgbClr val="FFFF00"/>
                </a:solidFill>
                <a:latin typeface="微软雅黑" panose="020B0503020204020204" pitchFamily="34" charset="-122"/>
                <a:ea typeface="微软雅黑" panose="020B0503020204020204" pitchFamily="34" charset="-122"/>
              </a:rPr>
              <a:t>参数</a:t>
            </a:r>
            <a:r>
              <a:rPr lang="en-US" altLang="zh-CN" b="1" dirty="0">
                <a:solidFill>
                  <a:srgbClr val="FFFF00"/>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，对象</a:t>
            </a:r>
            <a:r>
              <a:rPr lang="en-US" altLang="zh-CN" b="1" dirty="0">
                <a:solidFill>
                  <a:srgbClr val="FFFF00"/>
                </a:solidFill>
                <a:latin typeface="微软雅黑" panose="020B0503020204020204" pitchFamily="34" charset="-122"/>
                <a:ea typeface="微软雅黑" panose="020B0503020204020204" pitchFamily="34" charset="-122"/>
              </a:rPr>
              <a:t>2(</a:t>
            </a:r>
            <a:r>
              <a:rPr lang="zh-CN" altLang="en-US" b="1" dirty="0">
                <a:solidFill>
                  <a:srgbClr val="FFFF00"/>
                </a:solidFill>
                <a:latin typeface="微软雅黑" panose="020B0503020204020204" pitchFamily="34" charset="-122"/>
                <a:ea typeface="微软雅黑" panose="020B0503020204020204" pitchFamily="34" charset="-122"/>
              </a:rPr>
              <a:t>参数</a:t>
            </a:r>
            <a:r>
              <a:rPr lang="en-US" altLang="zh-CN" b="1" dirty="0">
                <a:solidFill>
                  <a:srgbClr val="FFFF00"/>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a:t>
            </a:r>
            <a:r>
              <a:rPr lang="en-US" altLang="zh-CN" b="1" dirty="0">
                <a:solidFill>
                  <a:srgbClr val="FFFF00"/>
                </a:solidFill>
                <a:latin typeface="微软雅黑" panose="020B0503020204020204" pitchFamily="34" charset="-122"/>
                <a:ea typeface="微软雅黑" panose="020B0503020204020204" pitchFamily="34" charset="-122"/>
              </a:rPr>
              <a:t>......</a:t>
            </a:r>
            <a:endParaRPr lang="en-US" altLang="zh-CN" b="1" dirty="0">
              <a:solidFill>
                <a:srgbClr val="FFFF00"/>
              </a:solidFill>
              <a:latin typeface="微软雅黑" panose="020B0503020204020204" pitchFamily="34" charset="-122"/>
              <a:ea typeface="微软雅黑" panose="020B0503020204020204" pitchFamily="34" charset="-122"/>
            </a:endParaRPr>
          </a:p>
          <a:p>
            <a:pPr lvl="1" eaLnBrk="1" hangingPunct="1">
              <a:buFont typeface="Georgia" panose="02040502050405020303" pitchFamily="18" charset="0"/>
              <a:buNone/>
            </a:pPr>
            <a:r>
              <a:rPr lang="en-US" altLang="zh-CN" b="1" dirty="0">
                <a:solidFill>
                  <a:srgbClr val="FFFF00"/>
                </a:solidFill>
                <a:latin typeface="微软雅黑" panose="020B0503020204020204" pitchFamily="34" charset="-122"/>
                <a:ea typeface="微软雅黑" panose="020B0503020204020204" pitchFamily="34" charset="-122"/>
              </a:rPr>
              <a:t>{  </a:t>
            </a:r>
            <a:endParaRPr lang="en-US" altLang="zh-CN" b="1" dirty="0">
              <a:solidFill>
                <a:srgbClr val="FFFF00"/>
              </a:solidFill>
              <a:latin typeface="微软雅黑" panose="020B0503020204020204" pitchFamily="34" charset="-122"/>
              <a:ea typeface="微软雅黑" panose="020B0503020204020204" pitchFamily="34" charset="-122"/>
            </a:endParaRPr>
          </a:p>
          <a:p>
            <a:pPr lvl="1" eaLnBrk="1" hangingPunct="1">
              <a:buFont typeface="Georgia" panose="02040502050405020303" pitchFamily="18" charset="0"/>
              <a:buNone/>
            </a:pPr>
            <a:r>
              <a:rPr lang="en-US" altLang="zh-CN" b="1" dirty="0">
                <a:solidFill>
                  <a:srgbClr val="FFFF00"/>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函数体其他语句</a:t>
            </a:r>
            <a:endParaRPr lang="en-US" altLang="zh-CN" b="1" dirty="0">
              <a:solidFill>
                <a:srgbClr val="FFFF00"/>
              </a:solidFill>
              <a:latin typeface="微软雅黑" panose="020B0503020204020204" pitchFamily="34" charset="-122"/>
              <a:ea typeface="微软雅黑" panose="020B0503020204020204" pitchFamily="34" charset="-122"/>
            </a:endParaRPr>
          </a:p>
          <a:p>
            <a:pPr lvl="1" eaLnBrk="1" hangingPunct="1">
              <a:buFont typeface="Georgia" panose="02040502050405020303" pitchFamily="18" charset="0"/>
              <a:buNone/>
            </a:pPr>
            <a:r>
              <a:rPr lang="en-US" altLang="zh-CN" b="1" dirty="0">
                <a:solidFill>
                  <a:srgbClr val="FFFF00"/>
                </a:solidFill>
                <a:latin typeface="微软雅黑" panose="020B0503020204020204" pitchFamily="34" charset="-122"/>
                <a:ea typeface="微软雅黑" panose="020B0503020204020204" pitchFamily="34" charset="-122"/>
              </a:rPr>
              <a:t>}</a:t>
            </a:r>
            <a:endParaRPr lang="en-US" altLang="zh-CN"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000" b="1" dirty="0">
                <a:latin typeface="Times New Roman" panose="02020603050405020304" pitchFamily="18" charset="0"/>
                <a:ea typeface="隶书" panose="02010509060101010101" pitchFamily="49" charset="-122"/>
              </a:rPr>
              <a:t>构造组合类对象时的初始化次序</a:t>
            </a:r>
            <a:endParaRPr lang="zh-CN" altLang="en-US" sz="4000" b="1" dirty="0">
              <a:latin typeface="Times New Roman" panose="02020603050405020304" pitchFamily="18" charset="0"/>
              <a:ea typeface="隶书" panose="02010509060101010101" pitchFamily="49" charset="-122"/>
            </a:endParaRPr>
          </a:p>
        </p:txBody>
      </p:sp>
      <p:sp>
        <p:nvSpPr>
          <p:cNvPr id="54275" name="内容占位符 2"/>
          <p:cNvSpPr>
            <a:spLocks noGrp="1"/>
          </p:cNvSpPr>
          <p:nvPr>
            <p:ph idx="1"/>
          </p:nvPr>
        </p:nvSpPr>
        <p:spPr>
          <a:xfrm>
            <a:off x="717748" y="1412776"/>
            <a:ext cx="7886700" cy="4351338"/>
          </a:xfrm>
          <a:noFill/>
        </p:spPr>
        <p:txBody>
          <a:bodyPr/>
          <a:lstStyle/>
          <a:p>
            <a:r>
              <a:rPr lang="zh-CN" altLang="en-US" sz="2800" b="1" dirty="0">
                <a:latin typeface="微软雅黑" panose="020B0503020204020204" pitchFamily="34" charset="-122"/>
                <a:ea typeface="微软雅黑" panose="020B0503020204020204" pitchFamily="34" charset="-122"/>
              </a:rPr>
              <a:t>首先对构造函数初始化列表中列出的成员（包括基本类型成员和对象成员）进行初始化，初始化次序是成员在类体中定义的次序。</a:t>
            </a:r>
            <a:endParaRPr lang="en-US" altLang="zh-CN" sz="2800" b="1" dirty="0">
              <a:latin typeface="微软雅黑" panose="020B0503020204020204" pitchFamily="34" charset="-122"/>
              <a:ea typeface="微软雅黑" panose="020B0503020204020204" pitchFamily="34" charset="-122"/>
            </a:endParaRPr>
          </a:p>
          <a:p>
            <a:pPr marL="441325" lvl="1" indent="15875">
              <a:buFont typeface="Georgia" panose="02040502050405020303" pitchFamily="18" charset="0"/>
              <a:buNone/>
            </a:pPr>
            <a:r>
              <a:rPr lang="zh-CN" altLang="en-US" b="1" dirty="0">
                <a:solidFill>
                  <a:srgbClr val="FFFF00"/>
                </a:solidFill>
                <a:latin typeface="微软雅黑" panose="020B0503020204020204" pitchFamily="34" charset="-122"/>
                <a:ea typeface="微软雅黑" panose="020B0503020204020204" pitchFamily="34" charset="-122"/>
              </a:rPr>
              <a:t>成员对象构造函数调用顺序：按对象成员的声明顺序，先声明者先构造。</a:t>
            </a:r>
            <a:endParaRPr lang="zh-CN" altLang="en-US" b="1" dirty="0">
              <a:solidFill>
                <a:srgbClr val="FFFF00"/>
              </a:solidFill>
              <a:latin typeface="微软雅黑" panose="020B0503020204020204" pitchFamily="34" charset="-122"/>
              <a:ea typeface="微软雅黑" panose="020B0503020204020204" pitchFamily="34" charset="-122"/>
            </a:endParaRPr>
          </a:p>
          <a:p>
            <a:pPr marL="441325" lvl="1" indent="15875">
              <a:buFont typeface="Georgia" panose="02040502050405020303" pitchFamily="18" charset="0"/>
              <a:buNone/>
            </a:pPr>
            <a:r>
              <a:rPr lang="zh-CN" altLang="en-US" b="1" dirty="0">
                <a:solidFill>
                  <a:srgbClr val="FFFF00"/>
                </a:solidFill>
                <a:latin typeface="微软雅黑" panose="020B0503020204020204" pitchFamily="34" charset="-122"/>
                <a:ea typeface="微软雅黑" panose="020B0503020204020204" pitchFamily="34" charset="-122"/>
              </a:rPr>
              <a:t>初始化列表中未出现的成员对象，调用用默认构造函数（即无形参的）初始化</a:t>
            </a:r>
            <a:endParaRPr lang="en-US" altLang="zh-CN" b="1" dirty="0">
              <a:solidFill>
                <a:srgbClr val="FFFF00"/>
              </a:solidFill>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处理完初始化列表之后，再执行构造函数的函数体。</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428625" y="-14064"/>
            <a:ext cx="8229600" cy="850776"/>
          </a:xfrm>
        </p:spPr>
        <p:txBody>
          <a:bodyPr/>
          <a:lstStyle/>
          <a:p>
            <a:r>
              <a:rPr lang="zh-CN" altLang="en-US" b="1" dirty="0" smtClean="0"/>
              <a:t>例</a:t>
            </a:r>
            <a:r>
              <a:rPr lang="en-US" altLang="zh-CN" b="1" dirty="0" smtClean="0"/>
              <a:t>4-4 </a:t>
            </a:r>
            <a:r>
              <a:rPr lang="zh-CN" altLang="en-US" b="1" dirty="0" smtClean="0"/>
              <a:t>类的组合，线段（</a:t>
            </a:r>
            <a:r>
              <a:rPr lang="en-US" altLang="zh-CN" b="1" dirty="0" smtClean="0"/>
              <a:t>Line</a:t>
            </a:r>
            <a:r>
              <a:rPr lang="zh-CN" altLang="en-US" b="1" dirty="0" smtClean="0"/>
              <a:t>）类</a:t>
            </a:r>
            <a:endParaRPr lang="zh-CN" altLang="en-US" b="1" dirty="0" smtClean="0"/>
          </a:p>
        </p:txBody>
      </p:sp>
      <p:sp>
        <p:nvSpPr>
          <p:cNvPr id="55299" name="内容占位符 2"/>
          <p:cNvSpPr>
            <a:spLocks noGrp="1"/>
          </p:cNvSpPr>
          <p:nvPr>
            <p:ph idx="1"/>
          </p:nvPr>
        </p:nvSpPr>
        <p:spPr>
          <a:xfrm>
            <a:off x="457200" y="692696"/>
            <a:ext cx="8229600" cy="6165304"/>
          </a:xfrm>
          <a:solidFill>
            <a:schemeClr val="tx1"/>
          </a:solidFill>
        </p:spPr>
        <p:txBody>
          <a:bodyPr/>
          <a:lstStyle/>
          <a:p>
            <a:pPr marL="0" indent="0">
              <a:spcBef>
                <a:spcPts val="0"/>
              </a:spcBef>
              <a:buNone/>
            </a:pPr>
            <a:r>
              <a:rPr lang="en-US" altLang="zh-CN" sz="2000" b="1" dirty="0">
                <a:solidFill>
                  <a:srgbClr val="000000"/>
                </a:solidFill>
                <a:ea typeface="+mj-ea"/>
              </a:rPr>
              <a:t>//4_4.cpp</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#include &lt;</a:t>
            </a:r>
            <a:r>
              <a:rPr lang="en-US" altLang="zh-CN" sz="2000" b="1" dirty="0" err="1">
                <a:solidFill>
                  <a:srgbClr val="000000"/>
                </a:solidFill>
                <a:ea typeface="+mj-ea"/>
              </a:rPr>
              <a:t>iostream</a:t>
            </a:r>
            <a:r>
              <a:rPr lang="en-US" altLang="zh-CN" sz="2000" b="1" dirty="0">
                <a:solidFill>
                  <a:srgbClr val="000000"/>
                </a:solidFill>
                <a:ea typeface="+mj-ea"/>
              </a:rPr>
              <a:t>&gt;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#include &lt;</a:t>
            </a:r>
            <a:r>
              <a:rPr lang="en-US" altLang="zh-CN" sz="2000" b="1" dirty="0" err="1">
                <a:solidFill>
                  <a:srgbClr val="000000"/>
                </a:solidFill>
                <a:ea typeface="+mj-ea"/>
              </a:rPr>
              <a:t>cmath</a:t>
            </a:r>
            <a:r>
              <a:rPr lang="en-US" altLang="zh-CN" sz="2000" b="1" dirty="0">
                <a:solidFill>
                  <a:srgbClr val="000000"/>
                </a:solidFill>
                <a:ea typeface="+mj-ea"/>
              </a:rPr>
              <a:t>&gt;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using namespace </a:t>
            </a:r>
            <a:r>
              <a:rPr lang="en-US" altLang="zh-CN" sz="2000" b="1" dirty="0" err="1">
                <a:solidFill>
                  <a:srgbClr val="000000"/>
                </a:solidFill>
                <a:ea typeface="+mj-ea"/>
              </a:rPr>
              <a:t>std</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class Point {	//Point</a:t>
            </a:r>
            <a:r>
              <a:rPr lang="zh-CN" altLang="en-US" sz="2000" b="1" dirty="0">
                <a:solidFill>
                  <a:srgbClr val="000000"/>
                </a:solidFill>
                <a:ea typeface="+mj-ea"/>
              </a:rPr>
              <a:t>类定义</a:t>
            </a:r>
            <a:endParaRPr lang="zh-CN" altLang="en-US" sz="2000" b="1" dirty="0">
              <a:solidFill>
                <a:srgbClr val="000000"/>
              </a:solidFill>
              <a:ea typeface="+mj-ea"/>
            </a:endParaRPr>
          </a:p>
          <a:p>
            <a:pPr marL="0" indent="0">
              <a:spcBef>
                <a:spcPts val="0"/>
              </a:spcBef>
              <a:buNone/>
            </a:pPr>
            <a:r>
              <a:rPr lang="en-US" altLang="zh-CN" sz="2000" b="1" dirty="0">
                <a:solidFill>
                  <a:srgbClr val="000000"/>
                </a:solidFill>
                <a:ea typeface="+mj-ea"/>
              </a:rPr>
              <a:t>public:</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Point(</a:t>
            </a:r>
            <a:r>
              <a:rPr lang="en-US" altLang="zh-CN" sz="2000" b="1" dirty="0" err="1">
                <a:solidFill>
                  <a:srgbClr val="000000"/>
                </a:solidFill>
                <a:ea typeface="+mj-ea"/>
              </a:rPr>
              <a:t>int</a:t>
            </a:r>
            <a:r>
              <a:rPr lang="en-US" altLang="zh-CN" sz="2000" b="1" dirty="0">
                <a:solidFill>
                  <a:srgbClr val="000000"/>
                </a:solidFill>
                <a:ea typeface="+mj-ea"/>
              </a:rPr>
              <a:t> xx = 0, </a:t>
            </a:r>
            <a:r>
              <a:rPr lang="en-US" altLang="zh-CN" sz="2000" b="1" dirty="0" err="1">
                <a:solidFill>
                  <a:srgbClr val="000000"/>
                </a:solidFill>
                <a:ea typeface="+mj-ea"/>
              </a:rPr>
              <a:t>int</a:t>
            </a:r>
            <a:r>
              <a:rPr lang="en-US" altLang="zh-CN" sz="2000" b="1" dirty="0">
                <a:solidFill>
                  <a:srgbClr val="000000"/>
                </a:solidFill>
                <a:ea typeface="+mj-ea"/>
              </a:rPr>
              <a:t> </a:t>
            </a:r>
            <a:r>
              <a:rPr lang="en-US" altLang="zh-CN" sz="2000" b="1" dirty="0" err="1">
                <a:solidFill>
                  <a:srgbClr val="000000"/>
                </a:solidFill>
                <a:ea typeface="+mj-ea"/>
              </a:rPr>
              <a:t>yy</a:t>
            </a:r>
            <a:r>
              <a:rPr lang="en-US" altLang="zh-CN" sz="2000" b="1" dirty="0">
                <a:solidFill>
                  <a:srgbClr val="000000"/>
                </a:solidFill>
                <a:ea typeface="+mj-ea"/>
              </a:rPr>
              <a:t> = 0)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x = xx;</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y = </a:t>
            </a:r>
            <a:r>
              <a:rPr lang="en-US" altLang="zh-CN" sz="2000" b="1" dirty="0" err="1">
                <a:solidFill>
                  <a:srgbClr val="000000"/>
                </a:solidFill>
                <a:ea typeface="+mj-ea"/>
              </a:rPr>
              <a:t>yy</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Point(Point &amp;p);</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a:t>
            </a:r>
            <a:r>
              <a:rPr lang="en-US" altLang="zh-CN" sz="2000" b="1" dirty="0" err="1">
                <a:solidFill>
                  <a:srgbClr val="000000"/>
                </a:solidFill>
                <a:ea typeface="+mj-ea"/>
              </a:rPr>
              <a:t>getX</a:t>
            </a:r>
            <a:r>
              <a:rPr lang="en-US" altLang="zh-CN" sz="2000" b="1" dirty="0">
                <a:solidFill>
                  <a:srgbClr val="000000"/>
                </a:solidFill>
                <a:ea typeface="+mj-ea"/>
              </a:rPr>
              <a:t>() { return x;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a:t>
            </a:r>
            <a:r>
              <a:rPr lang="en-US" altLang="zh-CN" sz="2000" b="1" dirty="0" err="1">
                <a:solidFill>
                  <a:srgbClr val="000000"/>
                </a:solidFill>
                <a:ea typeface="+mj-ea"/>
              </a:rPr>
              <a:t>getY</a:t>
            </a:r>
            <a:r>
              <a:rPr lang="en-US" altLang="zh-CN" sz="2000" b="1" dirty="0">
                <a:solidFill>
                  <a:srgbClr val="000000"/>
                </a:solidFill>
                <a:ea typeface="+mj-ea"/>
              </a:rPr>
              <a:t>() { return y;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private</a:t>
            </a:r>
            <a:r>
              <a:rPr lang="en-US" altLang="zh-CN" sz="2000" b="1" dirty="0" smtClean="0">
                <a:solidFill>
                  <a:srgbClr val="000000"/>
                </a:solidFill>
                <a:ea typeface="+mj-ea"/>
              </a:rPr>
              <a:t>:  </a:t>
            </a:r>
            <a:r>
              <a:rPr lang="en-US" altLang="zh-CN" sz="2000" b="1" dirty="0">
                <a:solidFill>
                  <a:srgbClr val="000000"/>
                </a:solidFill>
                <a:ea typeface="+mj-ea"/>
              </a:rPr>
              <a:t>	</a:t>
            </a:r>
            <a:r>
              <a:rPr lang="en-US" altLang="zh-CN" sz="2000" b="1" dirty="0" err="1">
                <a:solidFill>
                  <a:srgbClr val="000000"/>
                </a:solidFill>
                <a:ea typeface="+mj-ea"/>
              </a:rPr>
              <a:t>int</a:t>
            </a:r>
            <a:r>
              <a:rPr lang="en-US" altLang="zh-CN" sz="2000" b="1" dirty="0">
                <a:solidFill>
                  <a:srgbClr val="000000"/>
                </a:solidFill>
                <a:ea typeface="+mj-ea"/>
              </a:rPr>
              <a:t> x, y;</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Point::Point(Point &amp;p) {	//</a:t>
            </a:r>
            <a:r>
              <a:rPr lang="zh-CN" altLang="en-US" sz="2000" b="1" dirty="0">
                <a:solidFill>
                  <a:srgbClr val="000000"/>
                </a:solidFill>
                <a:ea typeface="+mj-ea"/>
              </a:rPr>
              <a:t>复制构造函数的实现</a:t>
            </a:r>
            <a:endParaRPr lang="zh-CN" altLang="en-US" sz="2000" b="1" dirty="0">
              <a:solidFill>
                <a:srgbClr val="000000"/>
              </a:solidFill>
              <a:ea typeface="+mj-ea"/>
            </a:endParaRPr>
          </a:p>
          <a:p>
            <a:pPr marL="0" indent="0">
              <a:spcBef>
                <a:spcPts val="0"/>
              </a:spcBef>
              <a:buNone/>
            </a:pPr>
            <a:r>
              <a:rPr lang="zh-CN" altLang="en-US" sz="2000" b="1" dirty="0">
                <a:solidFill>
                  <a:srgbClr val="000000"/>
                </a:solidFill>
                <a:ea typeface="+mj-ea"/>
              </a:rPr>
              <a:t>	</a:t>
            </a:r>
            <a:r>
              <a:rPr lang="en-US" altLang="zh-CN" sz="2000" b="1" dirty="0">
                <a:solidFill>
                  <a:srgbClr val="000000"/>
                </a:solidFill>
                <a:ea typeface="+mj-ea"/>
              </a:rPr>
              <a:t>x = </a:t>
            </a:r>
            <a:r>
              <a:rPr lang="en-US" altLang="zh-CN" sz="2000" b="1" dirty="0" err="1">
                <a:solidFill>
                  <a:srgbClr val="000000"/>
                </a:solidFill>
                <a:ea typeface="+mj-ea"/>
              </a:rPr>
              <a:t>p.x</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y = </a:t>
            </a:r>
            <a:r>
              <a:rPr lang="en-US" altLang="zh-CN" sz="2000" b="1" dirty="0" err="1">
                <a:solidFill>
                  <a:srgbClr val="000000"/>
                </a:solidFill>
                <a:ea typeface="+mj-ea"/>
              </a:rPr>
              <a:t>p.y</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"Calling the copy constructor of Point"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p:nvPr>
        </p:nvSpPr>
        <p:spPr>
          <a:xfrm>
            <a:off x="500063" y="0"/>
            <a:ext cx="8229600" cy="6741368"/>
          </a:xfrm>
          <a:solidFill>
            <a:schemeClr val="tx1"/>
          </a:solidFill>
        </p:spPr>
        <p:txBody>
          <a:bodyPr/>
          <a:lstStyle/>
          <a:p>
            <a:pPr marL="0" indent="0">
              <a:spcBef>
                <a:spcPts val="0"/>
              </a:spcBef>
              <a:buNone/>
            </a:pPr>
            <a:r>
              <a:rPr lang="en-US" altLang="zh-CN" sz="2000" b="1" dirty="0">
                <a:solidFill>
                  <a:srgbClr val="000000"/>
                </a:solidFill>
                <a:ea typeface="+mj-ea"/>
              </a:rPr>
              <a:t>//</a:t>
            </a:r>
            <a:r>
              <a:rPr lang="zh-CN" altLang="en-US" sz="2000" b="1" dirty="0">
                <a:solidFill>
                  <a:srgbClr val="000000"/>
                </a:solidFill>
                <a:ea typeface="+mj-ea"/>
              </a:rPr>
              <a:t>类的组合</a:t>
            </a:r>
            <a:endParaRPr lang="zh-CN" altLang="en-US" sz="2000" b="1" dirty="0">
              <a:solidFill>
                <a:srgbClr val="000000"/>
              </a:solidFill>
              <a:ea typeface="+mj-ea"/>
            </a:endParaRPr>
          </a:p>
          <a:p>
            <a:pPr marL="0" indent="0">
              <a:spcBef>
                <a:spcPts val="0"/>
              </a:spcBef>
              <a:buNone/>
            </a:pPr>
            <a:r>
              <a:rPr lang="en-US" altLang="zh-CN" sz="2000" b="1" dirty="0">
                <a:solidFill>
                  <a:srgbClr val="000000"/>
                </a:solidFill>
                <a:ea typeface="+mj-ea"/>
              </a:rPr>
              <a:t>class Line {	//Line</a:t>
            </a:r>
            <a:r>
              <a:rPr lang="zh-CN" altLang="en-US" sz="2000" b="1" dirty="0">
                <a:solidFill>
                  <a:srgbClr val="000000"/>
                </a:solidFill>
                <a:ea typeface="+mj-ea"/>
              </a:rPr>
              <a:t>类的定义</a:t>
            </a:r>
            <a:endParaRPr lang="zh-CN" altLang="en-US" sz="2000" b="1" dirty="0">
              <a:solidFill>
                <a:srgbClr val="000000"/>
              </a:solidFill>
              <a:ea typeface="+mj-ea"/>
            </a:endParaRPr>
          </a:p>
          <a:p>
            <a:pPr marL="0" indent="0">
              <a:spcBef>
                <a:spcPts val="0"/>
              </a:spcBef>
              <a:buNone/>
            </a:pPr>
            <a:r>
              <a:rPr lang="en-US" altLang="zh-CN" sz="2000" b="1" dirty="0">
                <a:solidFill>
                  <a:srgbClr val="000000"/>
                </a:solidFill>
                <a:ea typeface="+mj-ea"/>
              </a:rPr>
              <a:t>public:	//</a:t>
            </a:r>
            <a:r>
              <a:rPr lang="zh-CN" altLang="en-US" sz="2000" b="1" dirty="0">
                <a:solidFill>
                  <a:srgbClr val="000000"/>
                </a:solidFill>
                <a:ea typeface="+mj-ea"/>
              </a:rPr>
              <a:t>外部接口</a:t>
            </a:r>
            <a:endParaRPr lang="zh-CN" altLang="en-US" sz="2000" b="1" dirty="0">
              <a:solidFill>
                <a:srgbClr val="000000"/>
              </a:solidFill>
              <a:ea typeface="+mj-ea"/>
            </a:endParaRPr>
          </a:p>
          <a:p>
            <a:pPr marL="0" indent="0">
              <a:spcBef>
                <a:spcPts val="0"/>
              </a:spcBef>
              <a:buNone/>
            </a:pPr>
            <a:r>
              <a:rPr lang="zh-CN" altLang="en-US" sz="2000" b="1" dirty="0">
                <a:solidFill>
                  <a:srgbClr val="000000"/>
                </a:solidFill>
                <a:ea typeface="+mj-ea"/>
              </a:rPr>
              <a:t>	</a:t>
            </a:r>
            <a:r>
              <a:rPr lang="en-US" altLang="zh-CN" sz="2000" b="1" dirty="0">
                <a:solidFill>
                  <a:srgbClr val="000000"/>
                </a:solidFill>
                <a:ea typeface="+mj-ea"/>
              </a:rPr>
              <a:t>Line(Point xp1, Point xp2);</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Line(Line &amp;l);</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double </a:t>
            </a:r>
            <a:r>
              <a:rPr lang="en-US" altLang="zh-CN" sz="2000" b="1" dirty="0" err="1">
                <a:solidFill>
                  <a:srgbClr val="000000"/>
                </a:solidFill>
                <a:ea typeface="+mj-ea"/>
              </a:rPr>
              <a:t>getLen</a:t>
            </a:r>
            <a:r>
              <a:rPr lang="en-US" altLang="zh-CN" sz="2000" b="1" dirty="0">
                <a:solidFill>
                  <a:srgbClr val="000000"/>
                </a:solidFill>
                <a:ea typeface="+mj-ea"/>
              </a:rPr>
              <a:t>() { return </a:t>
            </a:r>
            <a:r>
              <a:rPr lang="en-US" altLang="zh-CN" sz="2000" b="1" dirty="0" err="1">
                <a:solidFill>
                  <a:srgbClr val="000000"/>
                </a:solidFill>
                <a:ea typeface="+mj-ea"/>
              </a:rPr>
              <a:t>len</a:t>
            </a:r>
            <a:r>
              <a:rPr lang="en-US" altLang="zh-CN" sz="2000" b="1" dirty="0">
                <a:solidFill>
                  <a:srgbClr val="000000"/>
                </a:solidFill>
                <a:ea typeface="+mj-ea"/>
              </a:rPr>
              <a:t>;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private:	//</a:t>
            </a:r>
            <a:r>
              <a:rPr lang="zh-CN" altLang="en-US" sz="2000" b="1" dirty="0">
                <a:solidFill>
                  <a:srgbClr val="000000"/>
                </a:solidFill>
                <a:ea typeface="+mj-ea"/>
              </a:rPr>
              <a:t>私有数据成员</a:t>
            </a:r>
            <a:endParaRPr lang="zh-CN" altLang="en-US" sz="2000" b="1" dirty="0">
              <a:solidFill>
                <a:srgbClr val="000000"/>
              </a:solidFill>
              <a:ea typeface="+mj-ea"/>
            </a:endParaRPr>
          </a:p>
          <a:p>
            <a:pPr marL="0" indent="0">
              <a:spcBef>
                <a:spcPts val="0"/>
              </a:spcBef>
              <a:buNone/>
            </a:pPr>
            <a:r>
              <a:rPr lang="zh-CN" altLang="en-US" sz="2000" b="1" dirty="0">
                <a:solidFill>
                  <a:srgbClr val="000000"/>
                </a:solidFill>
                <a:ea typeface="+mj-ea"/>
              </a:rPr>
              <a:t>	</a:t>
            </a:r>
            <a:r>
              <a:rPr lang="en-US" altLang="zh-CN" sz="2000" b="1" dirty="0">
                <a:solidFill>
                  <a:srgbClr val="FF0000"/>
                </a:solidFill>
                <a:ea typeface="+mj-ea"/>
              </a:rPr>
              <a:t>Point p1, p2;	//Point</a:t>
            </a:r>
            <a:r>
              <a:rPr lang="zh-CN" altLang="en-US" sz="2000" b="1" dirty="0">
                <a:solidFill>
                  <a:srgbClr val="FF0000"/>
                </a:solidFill>
                <a:ea typeface="+mj-ea"/>
              </a:rPr>
              <a:t>类的对象</a:t>
            </a:r>
            <a:r>
              <a:rPr lang="en-US" altLang="zh-CN" sz="2000" b="1" dirty="0">
                <a:solidFill>
                  <a:srgbClr val="FF0000"/>
                </a:solidFill>
                <a:ea typeface="+mj-ea"/>
              </a:rPr>
              <a:t>p1,p2</a:t>
            </a:r>
            <a:endParaRPr lang="en-US" altLang="zh-CN" sz="2000" b="1" dirty="0">
              <a:solidFill>
                <a:srgbClr val="FF0000"/>
              </a:solidFill>
              <a:ea typeface="+mj-ea"/>
            </a:endParaRPr>
          </a:p>
          <a:p>
            <a:pPr marL="0" indent="0">
              <a:spcBef>
                <a:spcPts val="0"/>
              </a:spcBef>
              <a:buNone/>
            </a:pPr>
            <a:r>
              <a:rPr lang="en-US" altLang="zh-CN" sz="2000" b="1" dirty="0">
                <a:solidFill>
                  <a:srgbClr val="000000"/>
                </a:solidFill>
                <a:ea typeface="+mj-ea"/>
              </a:rPr>
              <a:t>	double </a:t>
            </a:r>
            <a:r>
              <a:rPr lang="en-US" altLang="zh-CN" sz="2000" b="1" dirty="0" err="1">
                <a:solidFill>
                  <a:srgbClr val="000000"/>
                </a:solidFill>
                <a:ea typeface="+mj-ea"/>
              </a:rPr>
              <a:t>len</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smtClean="0">
                <a:solidFill>
                  <a:srgbClr val="000000"/>
                </a:solidFill>
                <a:ea typeface="+mj-ea"/>
              </a:rPr>
              <a:t>};</a:t>
            </a:r>
            <a:endParaRPr lang="en-US" altLang="zh-CN" sz="2000" b="1" dirty="0" smtClean="0">
              <a:solidFill>
                <a:srgbClr val="000000"/>
              </a:solidFill>
              <a:ea typeface="+mj-ea"/>
            </a:endParaRPr>
          </a:p>
          <a:p>
            <a:pPr marL="0" indent="0">
              <a:spcBef>
                <a:spcPts val="0"/>
              </a:spcBef>
              <a:buNone/>
            </a:pP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r>
              <a:rPr lang="zh-CN" altLang="en-US" sz="2000" b="1" dirty="0">
                <a:solidFill>
                  <a:srgbClr val="000000"/>
                </a:solidFill>
                <a:ea typeface="+mj-ea"/>
              </a:rPr>
              <a:t>组合类的构造函数</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Line::Line(Point xp1, Point xp2) : </a:t>
            </a:r>
            <a:r>
              <a:rPr lang="en-US" altLang="zh-CN" sz="2000" b="1" dirty="0">
                <a:solidFill>
                  <a:srgbClr val="FF0000"/>
                </a:solidFill>
                <a:ea typeface="+mj-ea"/>
              </a:rPr>
              <a:t>p1(xp1), p2(xp2) </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"Calling constructor of Line"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double x = </a:t>
            </a:r>
            <a:r>
              <a:rPr lang="en-US" altLang="zh-CN" sz="2000" b="1" dirty="0" err="1">
                <a:solidFill>
                  <a:srgbClr val="000000"/>
                </a:solidFill>
                <a:ea typeface="+mj-ea"/>
              </a:rPr>
              <a:t>static_cast</a:t>
            </a:r>
            <a:r>
              <a:rPr lang="en-US" altLang="zh-CN" sz="2000" b="1" dirty="0">
                <a:solidFill>
                  <a:srgbClr val="000000"/>
                </a:solidFill>
                <a:ea typeface="+mj-ea"/>
              </a:rPr>
              <a:t>&lt;double&gt;(p1.getX() - p2.getX());</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double y = </a:t>
            </a:r>
            <a:r>
              <a:rPr lang="en-US" altLang="zh-CN" sz="2000" b="1" dirty="0" err="1">
                <a:solidFill>
                  <a:srgbClr val="000000"/>
                </a:solidFill>
                <a:ea typeface="+mj-ea"/>
              </a:rPr>
              <a:t>static_cast</a:t>
            </a:r>
            <a:r>
              <a:rPr lang="en-US" altLang="zh-CN" sz="2000" b="1" dirty="0">
                <a:solidFill>
                  <a:srgbClr val="000000"/>
                </a:solidFill>
                <a:ea typeface="+mj-ea"/>
              </a:rPr>
              <a:t>&lt;double&gt;(p1.getY() - p2.getY());</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len</a:t>
            </a:r>
            <a:r>
              <a:rPr lang="en-US" altLang="zh-CN" sz="2000" b="1" dirty="0">
                <a:solidFill>
                  <a:srgbClr val="000000"/>
                </a:solidFill>
                <a:ea typeface="+mj-ea"/>
              </a:rPr>
              <a:t> = </a:t>
            </a:r>
            <a:r>
              <a:rPr lang="en-US" altLang="zh-CN" sz="2000" b="1" dirty="0" err="1">
                <a:solidFill>
                  <a:srgbClr val="000000"/>
                </a:solidFill>
                <a:ea typeface="+mj-ea"/>
              </a:rPr>
              <a:t>sqrt</a:t>
            </a:r>
            <a:r>
              <a:rPr lang="en-US" altLang="zh-CN" sz="2000" b="1" dirty="0">
                <a:solidFill>
                  <a:srgbClr val="000000"/>
                </a:solidFill>
                <a:ea typeface="+mj-ea"/>
              </a:rPr>
              <a:t>(x * x + y * y);</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Line::Line (Line &amp;l): </a:t>
            </a:r>
            <a:r>
              <a:rPr lang="en-US" altLang="zh-CN" sz="2000" b="1" dirty="0">
                <a:solidFill>
                  <a:srgbClr val="FF0000"/>
                </a:solidFill>
                <a:ea typeface="+mj-ea"/>
              </a:rPr>
              <a:t>p1(l.p1), p2(l.p2) </a:t>
            </a:r>
            <a:r>
              <a:rPr lang="en-US" altLang="zh-CN" sz="2000" b="1" dirty="0">
                <a:solidFill>
                  <a:srgbClr val="000000"/>
                </a:solidFill>
                <a:ea typeface="+mj-ea"/>
              </a:rPr>
              <a:t>{//</a:t>
            </a:r>
            <a:r>
              <a:rPr lang="zh-CN" altLang="en-US" sz="2000" b="1" dirty="0">
                <a:solidFill>
                  <a:srgbClr val="000000"/>
                </a:solidFill>
                <a:ea typeface="+mj-ea"/>
              </a:rPr>
              <a:t>组合类的复制构造函数</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"Calling the copy constructor of Line"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len</a:t>
            </a:r>
            <a:r>
              <a:rPr lang="en-US" altLang="zh-CN" sz="2000" b="1" dirty="0">
                <a:solidFill>
                  <a:srgbClr val="000000"/>
                </a:solidFill>
                <a:ea typeface="+mj-ea"/>
              </a:rPr>
              <a:t> = </a:t>
            </a:r>
            <a:r>
              <a:rPr lang="en-US" altLang="zh-CN" sz="2000" b="1" dirty="0" err="1">
                <a:solidFill>
                  <a:srgbClr val="000000"/>
                </a:solidFill>
                <a:ea typeface="+mj-ea"/>
              </a:rPr>
              <a:t>l.len</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p:txBody>
      </p:sp>
      <p:sp>
        <p:nvSpPr>
          <p:cNvPr id="56325" name="标题 1"/>
          <p:cNvSpPr>
            <a:spLocks noGrp="1"/>
          </p:cNvSpPr>
          <p:nvPr>
            <p:ph type="title"/>
          </p:nvPr>
        </p:nvSpPr>
        <p:spPr>
          <a:xfrm>
            <a:off x="5672138" y="576263"/>
            <a:ext cx="3043237" cy="709612"/>
          </a:xfrm>
          <a:solidFill>
            <a:schemeClr val="bg1"/>
          </a:solidFill>
        </p:spPr>
        <p:txBody>
          <a:bodyPr/>
          <a:lstStyle/>
          <a:p>
            <a:r>
              <a:rPr lang="zh-CN" altLang="en-US" smtClean="0"/>
              <a:t>例</a:t>
            </a:r>
            <a:r>
              <a:rPr lang="en-US" altLang="zh-CN" smtClean="0"/>
              <a:t>4-4</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2"/>
          <p:cNvSpPr>
            <a:spLocks noGrp="1"/>
          </p:cNvSpPr>
          <p:nvPr>
            <p:ph idx="1"/>
          </p:nvPr>
        </p:nvSpPr>
        <p:spPr>
          <a:xfrm>
            <a:off x="500063" y="116632"/>
            <a:ext cx="8229600" cy="3433564"/>
          </a:xfrm>
          <a:solidFill>
            <a:schemeClr val="tx1"/>
          </a:solidFill>
        </p:spPr>
        <p:txBody>
          <a:bodyPr/>
          <a:lstStyle/>
          <a:p>
            <a:pPr marL="0" indent="0">
              <a:spcBef>
                <a:spcPts val="0"/>
              </a:spcBef>
              <a:buNone/>
            </a:pPr>
            <a:r>
              <a:rPr lang="en-US" altLang="zh-CN" sz="2000" b="1" dirty="0">
                <a:solidFill>
                  <a:srgbClr val="000000"/>
                </a:solidFill>
                <a:ea typeface="+mj-ea"/>
              </a:rPr>
              <a:t>//</a:t>
            </a:r>
            <a:r>
              <a:rPr lang="zh-CN" altLang="en-US" sz="2000" b="1" dirty="0">
                <a:solidFill>
                  <a:srgbClr val="000000"/>
                </a:solidFill>
                <a:ea typeface="+mj-ea"/>
              </a:rPr>
              <a:t>主函数</a:t>
            </a:r>
            <a:endParaRPr lang="zh-CN" altLang="en-US" sz="2000" b="1" dirty="0">
              <a:solidFill>
                <a:srgbClr val="000000"/>
              </a:solidFill>
              <a:ea typeface="+mj-ea"/>
            </a:endParaRPr>
          </a:p>
          <a:p>
            <a:pPr marL="0" indent="0">
              <a:spcBef>
                <a:spcPts val="0"/>
              </a:spcBef>
              <a:buNone/>
            </a:pPr>
            <a:r>
              <a:rPr lang="en-US" altLang="zh-CN" sz="2000" b="1" dirty="0" err="1">
                <a:solidFill>
                  <a:srgbClr val="000000"/>
                </a:solidFill>
                <a:ea typeface="+mj-ea"/>
              </a:rPr>
              <a:t>int</a:t>
            </a:r>
            <a:r>
              <a:rPr lang="en-US" altLang="zh-CN" sz="2000" b="1" dirty="0">
                <a:solidFill>
                  <a:srgbClr val="000000"/>
                </a:solidFill>
                <a:ea typeface="+mj-ea"/>
              </a:rPr>
              <a:t> main()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Point myp1(1, 1), myp2(4, 5);	//</a:t>
            </a:r>
            <a:r>
              <a:rPr lang="zh-CN" altLang="en-US" sz="2000" b="1" dirty="0">
                <a:solidFill>
                  <a:srgbClr val="000000"/>
                </a:solidFill>
                <a:ea typeface="+mj-ea"/>
              </a:rPr>
              <a:t>建立</a:t>
            </a:r>
            <a:r>
              <a:rPr lang="en-US" altLang="zh-CN" sz="2000" b="1" dirty="0">
                <a:solidFill>
                  <a:srgbClr val="000000"/>
                </a:solidFill>
                <a:ea typeface="+mj-ea"/>
              </a:rPr>
              <a:t>Point</a:t>
            </a:r>
            <a:r>
              <a:rPr lang="zh-CN" altLang="en-US" sz="2000" b="1" dirty="0">
                <a:solidFill>
                  <a:srgbClr val="000000"/>
                </a:solidFill>
                <a:ea typeface="+mj-ea"/>
              </a:rPr>
              <a:t>类的对象</a:t>
            </a:r>
            <a:endParaRPr lang="zh-CN" altLang="en-US" sz="2000" b="1" dirty="0">
              <a:solidFill>
                <a:srgbClr val="000000"/>
              </a:solidFill>
              <a:ea typeface="+mj-ea"/>
            </a:endParaRPr>
          </a:p>
          <a:p>
            <a:pPr marL="0" indent="0">
              <a:spcBef>
                <a:spcPts val="0"/>
              </a:spcBef>
              <a:buNone/>
            </a:pPr>
            <a:r>
              <a:rPr lang="zh-CN" altLang="en-US" sz="2000" b="1" dirty="0">
                <a:solidFill>
                  <a:srgbClr val="000000"/>
                </a:solidFill>
                <a:ea typeface="+mj-ea"/>
              </a:rPr>
              <a:t>	</a:t>
            </a:r>
            <a:r>
              <a:rPr lang="en-US" altLang="zh-CN" sz="2000" b="1" dirty="0">
                <a:solidFill>
                  <a:srgbClr val="000000"/>
                </a:solidFill>
                <a:ea typeface="+mj-ea"/>
              </a:rPr>
              <a:t>Line line(myp1, myp2);	//</a:t>
            </a:r>
            <a:r>
              <a:rPr lang="zh-CN" altLang="en-US" sz="2000" b="1" dirty="0">
                <a:solidFill>
                  <a:srgbClr val="000000"/>
                </a:solidFill>
                <a:ea typeface="+mj-ea"/>
              </a:rPr>
              <a:t>建立</a:t>
            </a:r>
            <a:r>
              <a:rPr lang="en-US" altLang="zh-CN" sz="2000" b="1" dirty="0">
                <a:solidFill>
                  <a:srgbClr val="000000"/>
                </a:solidFill>
                <a:ea typeface="+mj-ea"/>
              </a:rPr>
              <a:t>Line</a:t>
            </a:r>
            <a:r>
              <a:rPr lang="zh-CN" altLang="en-US" sz="2000" b="1" dirty="0">
                <a:solidFill>
                  <a:srgbClr val="000000"/>
                </a:solidFill>
                <a:ea typeface="+mj-ea"/>
              </a:rPr>
              <a:t>类的对象</a:t>
            </a:r>
            <a:endParaRPr lang="zh-CN" altLang="en-US" sz="2000" b="1" dirty="0">
              <a:solidFill>
                <a:srgbClr val="000000"/>
              </a:solidFill>
              <a:ea typeface="+mj-ea"/>
            </a:endParaRPr>
          </a:p>
          <a:p>
            <a:pPr marL="0" indent="0">
              <a:spcBef>
                <a:spcPts val="0"/>
              </a:spcBef>
              <a:buNone/>
            </a:pPr>
            <a:r>
              <a:rPr lang="zh-CN" altLang="en-US" sz="2000" b="1" dirty="0">
                <a:solidFill>
                  <a:srgbClr val="000000"/>
                </a:solidFill>
                <a:ea typeface="+mj-ea"/>
              </a:rPr>
              <a:t>	</a:t>
            </a:r>
            <a:r>
              <a:rPr lang="en-US" altLang="zh-CN" sz="2000" b="1" dirty="0">
                <a:solidFill>
                  <a:srgbClr val="000000"/>
                </a:solidFill>
                <a:ea typeface="+mj-ea"/>
              </a:rPr>
              <a:t>Line line2(line);	//</a:t>
            </a:r>
            <a:r>
              <a:rPr lang="zh-CN" altLang="en-US" sz="2000" b="1" dirty="0">
                <a:solidFill>
                  <a:srgbClr val="000000"/>
                </a:solidFill>
                <a:ea typeface="+mj-ea"/>
              </a:rPr>
              <a:t>利用复制构造函数建立一个新对象</a:t>
            </a:r>
            <a:endParaRPr lang="zh-CN" altLang="en-US" sz="2000" b="1" dirty="0">
              <a:solidFill>
                <a:srgbClr val="000000"/>
              </a:solidFill>
              <a:ea typeface="+mj-ea"/>
            </a:endParaRPr>
          </a:p>
          <a:p>
            <a:pPr marL="0" indent="0">
              <a:spcBef>
                <a:spcPts val="0"/>
              </a:spcBef>
              <a:buNone/>
            </a:pPr>
            <a:r>
              <a:rPr lang="zh-CN" altLang="en-US"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"The length of the line is: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a:t>
            </a:r>
            <a:r>
              <a:rPr lang="en-US" altLang="zh-CN" sz="2000" b="1" dirty="0" err="1">
                <a:solidFill>
                  <a:srgbClr val="000000"/>
                </a:solidFill>
                <a:ea typeface="+mj-ea"/>
              </a:rPr>
              <a:t>line.getLen</a:t>
            </a:r>
            <a:r>
              <a:rPr lang="en-US" altLang="zh-CN" sz="2000" b="1" dirty="0">
                <a:solidFill>
                  <a:srgbClr val="000000"/>
                </a:solidFill>
                <a:ea typeface="+mj-ea"/>
              </a:rPr>
              <a:t>()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"The length of the line2 is: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 &lt;&lt; line2.getLen() &lt;&lt; </a:t>
            </a:r>
            <a:r>
              <a:rPr lang="en-US" altLang="zh-CN" sz="2000" b="1" dirty="0" err="1">
                <a:solidFill>
                  <a:srgbClr val="000000"/>
                </a:solidFill>
                <a:ea typeface="+mj-ea"/>
              </a:rPr>
              <a:t>endl</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return 0;</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p:txBody>
      </p:sp>
      <p:sp>
        <p:nvSpPr>
          <p:cNvPr id="57349" name="标题 1"/>
          <p:cNvSpPr>
            <a:spLocks noGrp="1"/>
          </p:cNvSpPr>
          <p:nvPr>
            <p:ph type="title"/>
          </p:nvPr>
        </p:nvSpPr>
        <p:spPr>
          <a:xfrm>
            <a:off x="5572125" y="188640"/>
            <a:ext cx="3143250" cy="495300"/>
          </a:xfrm>
          <a:solidFill>
            <a:schemeClr val="bg1"/>
          </a:solidFill>
        </p:spPr>
        <p:txBody>
          <a:bodyPr anchor="ctr"/>
          <a:lstStyle/>
          <a:p>
            <a:pPr algn="ctr"/>
            <a:r>
              <a:rPr lang="zh-CN" altLang="en-US" b="1" dirty="0" smtClean="0"/>
              <a:t>例</a:t>
            </a:r>
            <a:r>
              <a:rPr lang="en-US" altLang="zh-CN" b="1" dirty="0" smtClean="0"/>
              <a:t>4-4</a:t>
            </a:r>
            <a:r>
              <a:rPr lang="zh-CN" altLang="en-US" b="1" dirty="0" smtClean="0"/>
              <a:t>（续）</a:t>
            </a:r>
            <a:endParaRPr lang="zh-CN" altLang="en-US" b="1" dirty="0" smtClean="0"/>
          </a:p>
        </p:txBody>
      </p:sp>
      <p:sp>
        <p:nvSpPr>
          <p:cNvPr id="6" name="内容占位符 2"/>
          <p:cNvSpPr txBox="1"/>
          <p:nvPr/>
        </p:nvSpPr>
        <p:spPr bwMode="auto">
          <a:xfrm>
            <a:off x="533152" y="3573016"/>
            <a:ext cx="8215312" cy="3071812"/>
          </a:xfrm>
          <a:prstGeom prst="rect">
            <a:avLst/>
          </a:prstGeom>
          <a:solidFill>
            <a:srgbClr val="000000"/>
          </a:solidFill>
          <a:ln w="9525">
            <a:noFill/>
            <a:miter lim="800000"/>
          </a:ln>
        </p:spPr>
        <p:txBody>
          <a:bodyPr/>
          <a:lstStyle/>
          <a:p>
            <a:pPr algn="l">
              <a:defRPr/>
            </a:pPr>
            <a:r>
              <a:rPr lang="zh-CN" altLang="en-US" sz="1800" b="1" dirty="0">
                <a:latin typeface="+mj-lt"/>
                <a:ea typeface="+mn-ea"/>
              </a:rPr>
              <a:t>运行结果如下：</a:t>
            </a:r>
            <a:endParaRPr lang="en-US" sz="1800" b="1" dirty="0">
              <a:latin typeface="+mj-lt"/>
              <a:ea typeface="+mn-ea"/>
            </a:endParaRPr>
          </a:p>
          <a:p>
            <a:pPr algn="l">
              <a:defRPr/>
            </a:pPr>
            <a:r>
              <a:rPr lang="en-US" sz="1800" b="1" dirty="0">
                <a:latin typeface="+mj-lt"/>
                <a:ea typeface="+mn-ea"/>
              </a:rPr>
              <a:t>Calling the copy constructor of Point</a:t>
            </a:r>
            <a:endParaRPr lang="zh-CN" altLang="en-US" sz="1800" b="1" dirty="0">
              <a:latin typeface="+mj-lt"/>
              <a:ea typeface="+mn-ea"/>
            </a:endParaRPr>
          </a:p>
          <a:p>
            <a:pPr algn="l">
              <a:defRPr/>
            </a:pPr>
            <a:r>
              <a:rPr lang="en-US" sz="1800" b="1" dirty="0">
                <a:latin typeface="+mj-lt"/>
                <a:ea typeface="+mn-ea"/>
              </a:rPr>
              <a:t>Calling the copy constructor of Point</a:t>
            </a:r>
            <a:endParaRPr lang="zh-CN" altLang="en-US" sz="1800" b="1" dirty="0">
              <a:latin typeface="+mj-lt"/>
              <a:ea typeface="+mn-ea"/>
            </a:endParaRPr>
          </a:p>
          <a:p>
            <a:pPr algn="l">
              <a:defRPr/>
            </a:pPr>
            <a:r>
              <a:rPr lang="en-US" sz="1800" b="1" dirty="0">
                <a:latin typeface="+mj-lt"/>
                <a:ea typeface="+mn-ea"/>
              </a:rPr>
              <a:t>Calling the copy constructor of Point</a:t>
            </a:r>
            <a:endParaRPr lang="zh-CN" altLang="en-US" sz="1800" b="1" dirty="0">
              <a:latin typeface="+mj-lt"/>
              <a:ea typeface="+mn-ea"/>
            </a:endParaRPr>
          </a:p>
          <a:p>
            <a:pPr algn="l">
              <a:defRPr/>
            </a:pPr>
            <a:r>
              <a:rPr lang="en-US" sz="1800" b="1" dirty="0">
                <a:latin typeface="+mj-lt"/>
                <a:ea typeface="+mn-ea"/>
              </a:rPr>
              <a:t>Calling the copy constructor of Point</a:t>
            </a:r>
            <a:endParaRPr lang="zh-CN" altLang="en-US" sz="1800" b="1" dirty="0">
              <a:latin typeface="+mj-lt"/>
              <a:ea typeface="+mn-ea"/>
            </a:endParaRPr>
          </a:p>
          <a:p>
            <a:pPr algn="l">
              <a:defRPr/>
            </a:pPr>
            <a:r>
              <a:rPr lang="en-US" sz="1800" b="1" dirty="0">
                <a:latin typeface="+mj-lt"/>
                <a:ea typeface="+mn-ea"/>
              </a:rPr>
              <a:t>Calling constructor of Line</a:t>
            </a:r>
            <a:endParaRPr lang="zh-CN" altLang="en-US" sz="1800" b="1" dirty="0">
              <a:latin typeface="+mj-lt"/>
              <a:ea typeface="+mn-ea"/>
            </a:endParaRPr>
          </a:p>
          <a:p>
            <a:pPr algn="l">
              <a:defRPr/>
            </a:pPr>
            <a:r>
              <a:rPr lang="en-US" sz="1800" b="1" dirty="0">
                <a:latin typeface="+mj-lt"/>
                <a:ea typeface="+mn-ea"/>
              </a:rPr>
              <a:t>Calling the copy constructor of Point</a:t>
            </a:r>
            <a:endParaRPr lang="zh-CN" altLang="en-US" sz="1800" b="1" dirty="0">
              <a:latin typeface="+mj-lt"/>
              <a:ea typeface="+mn-ea"/>
            </a:endParaRPr>
          </a:p>
          <a:p>
            <a:pPr algn="l">
              <a:defRPr/>
            </a:pPr>
            <a:r>
              <a:rPr lang="en-US" sz="1800" b="1" dirty="0">
                <a:latin typeface="+mj-lt"/>
                <a:ea typeface="+mn-ea"/>
              </a:rPr>
              <a:t>Calling the copy constructor of Point</a:t>
            </a:r>
            <a:endParaRPr lang="zh-CN" altLang="en-US" sz="1800" b="1" dirty="0">
              <a:latin typeface="+mj-lt"/>
              <a:ea typeface="+mn-ea"/>
            </a:endParaRPr>
          </a:p>
          <a:p>
            <a:pPr algn="l">
              <a:defRPr/>
            </a:pPr>
            <a:r>
              <a:rPr lang="en-US" sz="1800" b="1" dirty="0">
                <a:latin typeface="+mj-lt"/>
                <a:ea typeface="+mn-ea"/>
              </a:rPr>
              <a:t>Calling the copy constructor of Line</a:t>
            </a:r>
            <a:endParaRPr lang="zh-CN" altLang="en-US" sz="1800" b="1" dirty="0">
              <a:latin typeface="+mj-lt"/>
              <a:ea typeface="+mn-ea"/>
            </a:endParaRPr>
          </a:p>
          <a:p>
            <a:pPr algn="l">
              <a:defRPr/>
            </a:pPr>
            <a:r>
              <a:rPr lang="en-US" sz="1800" b="1" dirty="0">
                <a:latin typeface="+mj-lt"/>
                <a:ea typeface="+mn-ea"/>
              </a:rPr>
              <a:t>The length of the line is: 5</a:t>
            </a:r>
            <a:endParaRPr lang="zh-CN" altLang="en-US" sz="1800" b="1" dirty="0">
              <a:latin typeface="+mj-lt"/>
              <a:ea typeface="+mn-ea"/>
            </a:endParaRPr>
          </a:p>
          <a:p>
            <a:pPr algn="l">
              <a:defRPr/>
            </a:pPr>
            <a:r>
              <a:rPr lang="en-US" sz="1800" b="1" dirty="0">
                <a:latin typeface="+mj-lt"/>
                <a:ea typeface="+mn-ea"/>
              </a:rPr>
              <a:t>The length of the line2 is: 5</a:t>
            </a:r>
            <a:endParaRPr lang="zh-CN" altLang="en-US" sz="1800" b="1" dirty="0">
              <a:latin typeface="+mj-lt"/>
              <a:ea typeface="+mn-ea"/>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4.4.2 </a:t>
            </a:r>
            <a:r>
              <a:rPr lang="zh-CN" altLang="en-US" sz="4400" b="1">
                <a:latin typeface="Times New Roman" panose="02020603050405020304" pitchFamily="18" charset="0"/>
                <a:ea typeface="隶书" panose="02010509060101010101" pitchFamily="49" charset="-122"/>
              </a:rPr>
              <a:t>前向引用声明</a:t>
            </a:r>
            <a:endParaRPr lang="zh-CN" altLang="en-US" sz="4400" b="1">
              <a:latin typeface="Times New Roman" panose="02020603050405020304" pitchFamily="18" charset="0"/>
              <a:ea typeface="隶书" panose="02010509060101010101" pitchFamily="49" charset="-122"/>
            </a:endParaRPr>
          </a:p>
        </p:txBody>
      </p:sp>
      <p:sp>
        <p:nvSpPr>
          <p:cNvPr id="58371" name="内容占位符 2"/>
          <p:cNvSpPr>
            <a:spLocks noGrp="1"/>
          </p:cNvSpPr>
          <p:nvPr>
            <p:ph idx="1"/>
          </p:nvPr>
        </p:nvSpPr>
        <p:spPr/>
        <p:txBody>
          <a:bodyPr/>
          <a:lstStyle/>
          <a:p>
            <a:pPr eaLnBrk="1" hangingPunct="1">
              <a:lnSpc>
                <a:spcPct val="160000"/>
              </a:lnSpc>
            </a:pPr>
            <a:r>
              <a:rPr lang="zh-CN" altLang="en-US" sz="2800" b="1" dirty="0">
                <a:latin typeface="微软雅黑" panose="020B0503020204020204" pitchFamily="34" charset="-122"/>
                <a:ea typeface="微软雅黑" panose="020B0503020204020204" pitchFamily="34" charset="-122"/>
              </a:rPr>
              <a:t>类应该先声明，后使用</a:t>
            </a:r>
            <a:endParaRPr lang="zh-CN" altLang="en-US" sz="2800" b="1" dirty="0">
              <a:latin typeface="微软雅黑" panose="020B0503020204020204" pitchFamily="34" charset="-122"/>
              <a:ea typeface="微软雅黑" panose="020B0503020204020204" pitchFamily="34" charset="-122"/>
            </a:endParaRPr>
          </a:p>
          <a:p>
            <a:pPr eaLnBrk="1" hangingPunct="1">
              <a:lnSpc>
                <a:spcPct val="160000"/>
              </a:lnSpc>
            </a:pPr>
            <a:r>
              <a:rPr lang="zh-CN" altLang="en-US" sz="2800" b="1" dirty="0">
                <a:latin typeface="微软雅黑" panose="020B0503020204020204" pitchFamily="34" charset="-122"/>
                <a:ea typeface="微软雅黑" panose="020B0503020204020204" pitchFamily="34" charset="-122"/>
              </a:rPr>
              <a:t>如果需要在某个类的声明之前，引用该类，则应进行前向引用声明。</a:t>
            </a:r>
            <a:endParaRPr lang="zh-CN" altLang="en-US" sz="2800" b="1" dirty="0">
              <a:latin typeface="微软雅黑" panose="020B0503020204020204" pitchFamily="34" charset="-122"/>
              <a:ea typeface="微软雅黑" panose="020B0503020204020204" pitchFamily="34" charset="-122"/>
            </a:endParaRPr>
          </a:p>
          <a:p>
            <a:pPr eaLnBrk="1" hangingPunct="1">
              <a:lnSpc>
                <a:spcPct val="160000"/>
              </a:lnSpc>
            </a:pPr>
            <a:r>
              <a:rPr lang="zh-CN" altLang="en-US" sz="2800" b="1" dirty="0">
                <a:latin typeface="微软雅黑" panose="020B0503020204020204" pitchFamily="34" charset="-122"/>
                <a:ea typeface="微软雅黑" panose="020B0503020204020204" pitchFamily="34" charset="-122"/>
              </a:rPr>
              <a:t>前向引用声明只为程序引入一个标识符，但具体声明在其他地方。</a:t>
            </a:r>
            <a:endParaRPr lang="zh-CN" altLang="en-US" sz="2800" b="1" dirty="0">
              <a:latin typeface="微软雅黑" panose="020B0503020204020204" pitchFamily="34" charset="-122"/>
              <a:ea typeface="微软雅黑" panose="020B0503020204020204" pitchFamily="34" charset="-122"/>
            </a:endParaRPr>
          </a:p>
          <a:p>
            <a:pPr eaLnBrk="1" hangingPunct="1"/>
            <a:endParaRPr lang="zh-CN" altLang="en-US"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pPr eaLnBrk="1" hangingPunct="1"/>
            <a:r>
              <a:rPr lang="zh-CN" altLang="en-US" smtClean="0"/>
              <a:t>举例</a:t>
            </a:r>
            <a:endParaRPr lang="zh-CN" altLang="en-US" smtClean="0"/>
          </a:p>
        </p:txBody>
      </p:sp>
      <p:sp>
        <p:nvSpPr>
          <p:cNvPr id="59395" name="内容占位符 2"/>
          <p:cNvSpPr>
            <a:spLocks noGrp="1"/>
          </p:cNvSpPr>
          <p:nvPr>
            <p:ph idx="1"/>
          </p:nvPr>
        </p:nvSpPr>
        <p:spPr>
          <a:solidFill>
            <a:schemeClr val="tx1"/>
          </a:solidFill>
        </p:spPr>
        <p:txBody>
          <a:bodyPr/>
          <a:lstStyle/>
          <a:p>
            <a:pPr marL="0" indent="0">
              <a:spcBef>
                <a:spcPts val="0"/>
              </a:spcBef>
              <a:buNone/>
            </a:pPr>
            <a:r>
              <a:rPr lang="en-US" altLang="zh-CN" sz="2800" b="1" dirty="0">
                <a:solidFill>
                  <a:srgbClr val="FF0000"/>
                </a:solidFill>
                <a:ea typeface="+mj-ea"/>
              </a:rPr>
              <a:t>class B;  //</a:t>
            </a:r>
            <a:r>
              <a:rPr lang="zh-CN" altLang="en-US" sz="2800" b="1" dirty="0">
                <a:solidFill>
                  <a:srgbClr val="FF0000"/>
                </a:solidFill>
                <a:ea typeface="+mj-ea"/>
              </a:rPr>
              <a:t>前向引用声明</a:t>
            </a:r>
            <a:endParaRPr lang="en-US" altLang="en-US" sz="2800" b="1" dirty="0">
              <a:solidFill>
                <a:srgbClr val="FF0000"/>
              </a:solidFill>
              <a:ea typeface="+mj-ea"/>
            </a:endParaRPr>
          </a:p>
          <a:p>
            <a:pPr marL="0" indent="0">
              <a:spcBef>
                <a:spcPts val="0"/>
              </a:spcBef>
              <a:buNone/>
            </a:pPr>
            <a:r>
              <a:rPr lang="en-US" altLang="zh-CN" sz="2800" b="1" dirty="0">
                <a:solidFill>
                  <a:srgbClr val="000000"/>
                </a:solidFill>
                <a:ea typeface="+mj-ea"/>
              </a:rPr>
              <a:t>class A {</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public:</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void f(B </a:t>
            </a:r>
            <a:r>
              <a:rPr lang="en-US" altLang="zh-CN" sz="2800" b="1" dirty="0" smtClean="0">
                <a:solidFill>
                  <a:srgbClr val="000000"/>
                </a:solidFill>
                <a:ea typeface="+mj-ea"/>
              </a:rPr>
              <a:t>&amp;b</a:t>
            </a:r>
            <a:r>
              <a:rPr lang="en-US" altLang="zh-CN" sz="2800" b="1" dirty="0">
                <a:solidFill>
                  <a:srgbClr val="000000"/>
                </a:solidFill>
                <a:ea typeface="+mj-ea"/>
              </a:rPr>
              <a:t>);</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class B {</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public:</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  void g(A a);</a:t>
            </a:r>
            <a:endParaRPr lang="en-US" altLang="zh-CN" sz="2800" b="1" dirty="0">
              <a:solidFill>
                <a:srgbClr val="000000"/>
              </a:solidFill>
              <a:ea typeface="+mj-ea"/>
            </a:endParaRPr>
          </a:p>
          <a:p>
            <a:pPr marL="0" indent="0">
              <a:spcBef>
                <a:spcPts val="0"/>
              </a:spcBef>
              <a:buNone/>
            </a:pPr>
            <a:r>
              <a:rPr lang="en-US" altLang="zh-CN" sz="2800" b="1" dirty="0">
                <a:solidFill>
                  <a:srgbClr val="000000"/>
                </a:solidFill>
                <a:ea typeface="+mj-ea"/>
              </a:rPr>
              <a:t>};</a:t>
            </a:r>
            <a:endParaRPr lang="en-US" altLang="zh-CN" sz="28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前向引用声明注意事项</a:t>
            </a:r>
            <a:endParaRPr lang="zh-CN" altLang="en-US" sz="4400" b="1">
              <a:latin typeface="Times New Roman" panose="02020603050405020304" pitchFamily="18" charset="0"/>
              <a:ea typeface="隶书" panose="02010509060101010101" pitchFamily="49" charset="-122"/>
            </a:endParaRPr>
          </a:p>
        </p:txBody>
      </p:sp>
      <p:sp>
        <p:nvSpPr>
          <p:cNvPr id="60419" name="内容占位符 2"/>
          <p:cNvSpPr>
            <a:spLocks noGrp="1"/>
          </p:cNvSpPr>
          <p:nvPr>
            <p:ph idx="1"/>
          </p:nvPr>
        </p:nvSpPr>
        <p:spPr>
          <a:xfrm>
            <a:off x="467544" y="1412776"/>
            <a:ext cx="8229600" cy="1428750"/>
          </a:xfrm>
          <a:noFill/>
        </p:spPr>
        <p:txBody>
          <a:bodyPr/>
          <a:lstStyle/>
          <a:p>
            <a:pPr eaLnBrk="1" hangingPunct="1">
              <a:lnSpc>
                <a:spcPct val="90000"/>
              </a:lnSpc>
            </a:pPr>
            <a:r>
              <a:rPr lang="zh-CN" altLang="en-US" sz="2400" b="1" dirty="0">
                <a:latin typeface="微软雅黑" panose="020B0503020204020204" pitchFamily="34" charset="-122"/>
                <a:ea typeface="微软雅黑" panose="020B0503020204020204" pitchFamily="34" charset="-122"/>
              </a:rPr>
              <a:t>使用前向引用声明虽然可以解决一些问题，但它并不是万能的。需要注意的是，尽管使用了前向引用声明，但是在提供一个完整的类声明之前，</a:t>
            </a:r>
            <a:r>
              <a:rPr lang="zh-CN" altLang="en-US" sz="2400" b="1" dirty="0">
                <a:solidFill>
                  <a:srgbClr val="FFFF00"/>
                </a:solidFill>
                <a:latin typeface="微软雅黑" panose="020B0503020204020204" pitchFamily="34" charset="-122"/>
                <a:ea typeface="微软雅黑" panose="020B0503020204020204" pitchFamily="34" charset="-122"/>
              </a:rPr>
              <a:t>不能声明该类的对象</a:t>
            </a:r>
            <a:r>
              <a:rPr lang="zh-CN" altLang="en-US" sz="2400" b="1" dirty="0">
                <a:latin typeface="微软雅黑" panose="020B0503020204020204" pitchFamily="34" charset="-122"/>
                <a:ea typeface="微软雅黑" panose="020B0503020204020204" pitchFamily="34" charset="-122"/>
              </a:rPr>
              <a:t>，也不能在内联成员函数中使用该类的对象。请看下面的程序段：</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90000"/>
              </a:lnSpc>
              <a:buFont typeface="Georgia" panose="02040502050405020303" pitchFamily="18" charset="0"/>
              <a:buNone/>
            </a:pPr>
            <a:endParaRPr lang="en-US" altLang="zh-CN" sz="1600" dirty="0" smtClean="0">
              <a:latin typeface="微软雅黑" panose="020B0503020204020204" pitchFamily="34" charset="-122"/>
              <a:ea typeface="微软雅黑" panose="020B0503020204020204" pitchFamily="34" charset="-122"/>
            </a:endParaRPr>
          </a:p>
        </p:txBody>
      </p:sp>
      <p:sp>
        <p:nvSpPr>
          <p:cNvPr id="6" name="内容占位符 9"/>
          <p:cNvSpPr txBox="1"/>
          <p:nvPr/>
        </p:nvSpPr>
        <p:spPr>
          <a:xfrm>
            <a:off x="571500" y="3357562"/>
            <a:ext cx="8229600" cy="3239789"/>
          </a:xfrm>
          <a:prstGeom prst="rect">
            <a:avLst/>
          </a:prstGeom>
          <a:solidFill>
            <a:schemeClr val="tx1"/>
          </a:solidFill>
        </p:spPr>
        <p:txBody>
          <a:bodyPr/>
          <a:lstStyle>
            <a:lvl1pPr marL="0" indent="0" algn="l">
              <a:spcBef>
                <a:spcPts val="0"/>
              </a:spcBef>
              <a:buClr>
                <a:schemeClr val="tx2"/>
              </a:buClr>
              <a:buSzPct val="75000"/>
              <a:buFont typeface="Monotype Sorts" pitchFamily="2" charset="2"/>
              <a:buNone/>
              <a:defRPr sz="2800" b="1">
                <a:solidFill>
                  <a:srgbClr val="FF0000"/>
                </a:solidFill>
                <a:latin typeface="+mn-lt"/>
                <a:ea typeface="+mj-ea"/>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lvl="1" indent="0"/>
            <a:r>
              <a:rPr lang="en-US" altLang="zh-CN" sz="2400" b="1" dirty="0">
                <a:solidFill>
                  <a:srgbClr val="000000"/>
                </a:solidFill>
                <a:ea typeface="+mj-ea"/>
              </a:rPr>
              <a:t>class Fred; //</a:t>
            </a:r>
            <a:r>
              <a:rPr lang="zh-CN" altLang="en-US" sz="2400" b="1" dirty="0">
                <a:solidFill>
                  <a:srgbClr val="000000"/>
                </a:solidFill>
                <a:ea typeface="+mj-ea"/>
              </a:rPr>
              <a:t>前向引用声明</a:t>
            </a:r>
            <a:endParaRPr lang="en-US" altLang="zh-CN" sz="2400" b="1" dirty="0">
              <a:solidFill>
                <a:srgbClr val="000000"/>
              </a:solidFill>
              <a:ea typeface="+mj-ea"/>
            </a:endParaRPr>
          </a:p>
          <a:p>
            <a:pPr marL="0" lvl="1" indent="0"/>
            <a:r>
              <a:rPr lang="en-US" altLang="zh-CN" sz="2400" b="1" dirty="0">
                <a:solidFill>
                  <a:srgbClr val="000000"/>
                </a:solidFill>
                <a:ea typeface="+mj-ea"/>
              </a:rPr>
              <a:t>class Barney {</a:t>
            </a:r>
            <a:endParaRPr lang="en-US" altLang="zh-CN" sz="2400" b="1" dirty="0">
              <a:solidFill>
                <a:srgbClr val="000000"/>
              </a:solidFill>
              <a:ea typeface="+mj-ea"/>
            </a:endParaRPr>
          </a:p>
          <a:p>
            <a:pPr marL="0" lvl="1" indent="0"/>
            <a:r>
              <a:rPr lang="en-US" altLang="zh-CN" sz="2400" b="1" dirty="0">
                <a:solidFill>
                  <a:srgbClr val="000000"/>
                </a:solidFill>
                <a:ea typeface="+mj-ea"/>
              </a:rPr>
              <a:t>   </a:t>
            </a:r>
            <a:r>
              <a:rPr lang="en-US" altLang="zh-CN" sz="2400" b="1" dirty="0">
                <a:solidFill>
                  <a:srgbClr val="FF0000"/>
                </a:solidFill>
                <a:ea typeface="+mj-ea"/>
              </a:rPr>
              <a:t>Fred x; //</a:t>
            </a:r>
            <a:r>
              <a:rPr lang="zh-CN" altLang="en-US" sz="2400" b="1" dirty="0">
                <a:solidFill>
                  <a:srgbClr val="FF0000"/>
                </a:solidFill>
                <a:ea typeface="+mj-ea"/>
              </a:rPr>
              <a:t>错误：类</a:t>
            </a:r>
            <a:r>
              <a:rPr lang="en-US" altLang="zh-CN" sz="2400" b="1" dirty="0">
                <a:solidFill>
                  <a:srgbClr val="FF0000"/>
                </a:solidFill>
                <a:ea typeface="+mj-ea"/>
              </a:rPr>
              <a:t>Fred</a:t>
            </a:r>
            <a:r>
              <a:rPr lang="zh-CN" altLang="en-US" sz="2400" b="1" dirty="0">
                <a:solidFill>
                  <a:srgbClr val="FF0000"/>
                </a:solidFill>
                <a:ea typeface="+mj-ea"/>
              </a:rPr>
              <a:t>的声明尚不完善</a:t>
            </a:r>
            <a:endParaRPr lang="zh-CN" altLang="en-US" sz="2400" b="1" dirty="0">
              <a:solidFill>
                <a:srgbClr val="FF0000"/>
              </a:solidFill>
              <a:ea typeface="+mj-ea"/>
            </a:endParaRPr>
          </a:p>
          <a:p>
            <a:pPr marL="0" lvl="1" indent="0"/>
            <a:r>
              <a:rPr lang="en-US" altLang="zh-CN" sz="2400" b="1" dirty="0">
                <a:solidFill>
                  <a:srgbClr val="000000"/>
                </a:solidFill>
                <a:ea typeface="+mj-ea"/>
              </a:rPr>
              <a:t>};</a:t>
            </a:r>
            <a:endParaRPr lang="en-US" altLang="zh-CN" sz="2400" b="1" dirty="0">
              <a:solidFill>
                <a:srgbClr val="000000"/>
              </a:solidFill>
              <a:ea typeface="+mj-ea"/>
            </a:endParaRPr>
          </a:p>
          <a:p>
            <a:pPr marL="0" lvl="1" indent="0"/>
            <a:r>
              <a:rPr lang="en-US" altLang="zh-CN" sz="2400" b="1" dirty="0">
                <a:solidFill>
                  <a:srgbClr val="000000"/>
                </a:solidFill>
                <a:ea typeface="+mj-ea"/>
              </a:rPr>
              <a:t>class Fred {</a:t>
            </a:r>
            <a:endParaRPr lang="en-US" altLang="zh-CN" sz="2400" b="1" dirty="0">
              <a:solidFill>
                <a:srgbClr val="000000"/>
              </a:solidFill>
              <a:ea typeface="+mj-ea"/>
            </a:endParaRPr>
          </a:p>
          <a:p>
            <a:pPr marL="0" lvl="1" indent="0"/>
            <a:r>
              <a:rPr lang="en-US" altLang="zh-CN" sz="2400" b="1" dirty="0">
                <a:solidFill>
                  <a:srgbClr val="000000"/>
                </a:solidFill>
                <a:ea typeface="+mj-ea"/>
              </a:rPr>
              <a:t>   Barney y;</a:t>
            </a:r>
            <a:endParaRPr lang="en-US" altLang="zh-CN" sz="2400" b="1" dirty="0">
              <a:solidFill>
                <a:srgbClr val="000000"/>
              </a:solidFill>
              <a:ea typeface="+mj-ea"/>
            </a:endParaRPr>
          </a:p>
          <a:p>
            <a:pPr marL="0" lvl="1" indent="0"/>
            <a:r>
              <a:rPr lang="en-US" altLang="zh-CN" sz="2400" b="1" dirty="0">
                <a:solidFill>
                  <a:srgbClr val="000000"/>
                </a:solidFill>
                <a:ea typeface="+mj-ea"/>
              </a:rPr>
              <a:t>};</a:t>
            </a:r>
            <a:endParaRPr lang="en-US" altLang="zh-CN" sz="2400" b="1" dirty="0">
              <a:solidFill>
                <a:srgbClr val="000000"/>
              </a:solidFill>
              <a:ea typeface="+mj-ea"/>
            </a:endParaRPr>
          </a:p>
          <a:p>
            <a:endParaRPr lang="zh-CN" altLang="en-US" sz="2400" dirty="0">
              <a:solidFill>
                <a:srgbClr val="000000"/>
              </a:solidFill>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71500"/>
            <a:ext cx="8229600" cy="6002338"/>
          </a:xfrm>
          <a:solidFill>
            <a:schemeClr val="tx1"/>
          </a:solidFill>
        </p:spPr>
        <p:txBody>
          <a:bodyPr/>
          <a:lstStyle/>
          <a:p>
            <a:pPr marL="0" indent="0">
              <a:spcBef>
                <a:spcPts val="0"/>
              </a:spcBef>
              <a:buNone/>
            </a:pPr>
            <a:r>
              <a:rPr lang="en-US" altLang="zh-CN" sz="2000" b="1" dirty="0">
                <a:solidFill>
                  <a:srgbClr val="FF0000"/>
                </a:solidFill>
                <a:ea typeface="+mj-ea"/>
              </a:rPr>
              <a:t>class Fred;	//</a:t>
            </a:r>
            <a:r>
              <a:rPr lang="zh-CN" altLang="en-US" sz="2000" b="1" dirty="0">
                <a:solidFill>
                  <a:srgbClr val="FF0000"/>
                </a:solidFill>
                <a:ea typeface="+mj-ea"/>
              </a:rPr>
              <a:t>前向引用声明</a:t>
            </a:r>
            <a:endParaRPr lang="zh-CN" altLang="en-US" sz="2000" b="1" dirty="0">
              <a:solidFill>
                <a:srgbClr val="FF0000"/>
              </a:solidFill>
              <a:ea typeface="+mj-ea"/>
            </a:endParaRPr>
          </a:p>
          <a:p>
            <a:pPr marL="0" indent="0">
              <a:spcBef>
                <a:spcPts val="0"/>
              </a:spcBef>
              <a:buNone/>
            </a:pPr>
            <a:r>
              <a:rPr lang="zh-CN" altLang="en-US" sz="2000" b="1" dirty="0">
                <a:solidFill>
                  <a:srgbClr val="000000"/>
                </a:solidFill>
                <a:ea typeface="+mj-ea"/>
              </a:rPr>
              <a:t> </a:t>
            </a:r>
            <a:endParaRPr lang="zh-CN" altLang="en-US" sz="2000" b="1" dirty="0">
              <a:solidFill>
                <a:srgbClr val="000000"/>
              </a:solidFill>
              <a:ea typeface="+mj-ea"/>
            </a:endParaRPr>
          </a:p>
          <a:p>
            <a:pPr marL="0" indent="0">
              <a:spcBef>
                <a:spcPts val="0"/>
              </a:spcBef>
              <a:buNone/>
            </a:pPr>
            <a:r>
              <a:rPr lang="en-US" altLang="zh-CN" sz="2000" b="1" dirty="0">
                <a:solidFill>
                  <a:srgbClr val="000000"/>
                </a:solidFill>
                <a:ea typeface="+mj-ea"/>
              </a:rPr>
              <a:t>class Barney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public:</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void method()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err="1">
                <a:solidFill>
                  <a:srgbClr val="000000"/>
                </a:solidFill>
                <a:ea typeface="+mj-ea"/>
              </a:rPr>
              <a:t>x.yabbaDabbaDo</a:t>
            </a:r>
            <a:r>
              <a:rPr lang="en-US" altLang="zh-CN" sz="2000" b="1" dirty="0">
                <a:solidFill>
                  <a:srgbClr val="000000"/>
                </a:solidFill>
                <a:ea typeface="+mj-ea"/>
              </a:rPr>
              <a:t>();	//</a:t>
            </a:r>
            <a:r>
              <a:rPr lang="zh-CN" altLang="en-US" sz="2000" b="1" dirty="0">
                <a:solidFill>
                  <a:srgbClr val="000000"/>
                </a:solidFill>
                <a:ea typeface="+mj-ea"/>
              </a:rPr>
              <a:t>错误：</a:t>
            </a:r>
            <a:r>
              <a:rPr lang="en-US" altLang="zh-CN" sz="2000" b="1" dirty="0">
                <a:solidFill>
                  <a:srgbClr val="000000"/>
                </a:solidFill>
                <a:ea typeface="+mj-ea"/>
              </a:rPr>
              <a:t>Fred</a:t>
            </a:r>
            <a:r>
              <a:rPr lang="zh-CN" altLang="en-US" sz="2000" b="1" dirty="0">
                <a:solidFill>
                  <a:srgbClr val="000000"/>
                </a:solidFill>
                <a:ea typeface="+mj-ea"/>
              </a:rPr>
              <a:t>类的对象在定义之前被使用</a:t>
            </a:r>
            <a:endParaRPr lang="zh-CN" altLang="en-US" sz="2000" b="1" dirty="0">
              <a:solidFill>
                <a:srgbClr val="000000"/>
              </a:solidFill>
              <a:ea typeface="+mj-ea"/>
            </a:endParaRPr>
          </a:p>
          <a:p>
            <a:pPr marL="0" indent="0">
              <a:spcBef>
                <a:spcPts val="0"/>
              </a:spcBef>
              <a:buNone/>
            </a:pPr>
            <a:r>
              <a:rPr lang="zh-CN" altLang="en-US" sz="2000" b="1" dirty="0">
                <a:solidFill>
                  <a:srgbClr val="000000"/>
                </a:solidFill>
                <a:ea typeface="+mj-ea"/>
              </a:rPr>
              <a:t>  </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private:</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r>
              <a:rPr lang="en-US" altLang="zh-CN" sz="2000" b="1" dirty="0">
                <a:solidFill>
                  <a:srgbClr val="FF0000"/>
                </a:solidFill>
                <a:ea typeface="+mj-ea"/>
              </a:rPr>
              <a:t>Fred &amp;x;//</a:t>
            </a:r>
            <a:r>
              <a:rPr lang="zh-CN" altLang="en-US" sz="2000" b="1" dirty="0">
                <a:solidFill>
                  <a:srgbClr val="FF0000"/>
                </a:solidFill>
                <a:ea typeface="+mj-ea"/>
              </a:rPr>
              <a:t>正确，经过前向引用声明，可以声明</a:t>
            </a:r>
            <a:r>
              <a:rPr lang="en-US" altLang="zh-CN" sz="2000" b="1" dirty="0">
                <a:solidFill>
                  <a:srgbClr val="FF0000"/>
                </a:solidFill>
                <a:ea typeface="+mj-ea"/>
              </a:rPr>
              <a:t>Fred</a:t>
            </a:r>
            <a:r>
              <a:rPr lang="zh-CN" altLang="en-US" sz="2000" b="1" dirty="0">
                <a:solidFill>
                  <a:srgbClr val="FF0000"/>
                </a:solidFill>
                <a:ea typeface="+mj-ea"/>
              </a:rPr>
              <a:t>类的对象引用</a:t>
            </a:r>
            <a:endParaRPr lang="zh-CN" altLang="en-US" sz="2000" b="1" dirty="0">
              <a:solidFill>
                <a:srgbClr val="FF0000"/>
              </a:solidFill>
              <a:ea typeface="+mj-ea"/>
            </a:endParaRPr>
          </a:p>
          <a:p>
            <a:pPr marL="0" indent="0">
              <a:spcBef>
                <a:spcPts val="0"/>
              </a:spcBef>
              <a:buNone/>
            </a:pP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class Fred {</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public:</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void </a:t>
            </a:r>
            <a:r>
              <a:rPr lang="en-US" altLang="zh-CN" sz="2000" b="1" dirty="0" err="1">
                <a:solidFill>
                  <a:srgbClr val="000000"/>
                </a:solidFill>
                <a:ea typeface="+mj-ea"/>
              </a:rPr>
              <a:t>yabbaDabbaDo</a:t>
            </a:r>
            <a:r>
              <a:rPr lang="en-US" altLang="zh-CN" sz="2000" b="1" dirty="0">
                <a:solidFill>
                  <a:srgbClr val="000000"/>
                </a:solidFill>
                <a:ea typeface="+mj-ea"/>
              </a:rPr>
              <a:t>();</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private:</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Barney &amp;y;</a:t>
            </a:r>
            <a:endParaRPr lang="en-US" altLang="zh-CN" sz="2000" b="1" dirty="0">
              <a:solidFill>
                <a:srgbClr val="000000"/>
              </a:solidFill>
              <a:ea typeface="+mj-ea"/>
            </a:endParaRPr>
          </a:p>
          <a:p>
            <a:pPr marL="0" indent="0">
              <a:spcBef>
                <a:spcPts val="0"/>
              </a:spcBef>
              <a:buNone/>
            </a:pPr>
            <a:r>
              <a:rPr lang="en-US" altLang="zh-CN" sz="2000" b="1" dirty="0">
                <a:solidFill>
                  <a:srgbClr val="000000"/>
                </a:solidFill>
                <a:ea typeface="+mj-ea"/>
              </a:rPr>
              <a:t>}; </a:t>
            </a:r>
            <a:endParaRPr lang="en-US" altLang="zh-CN" sz="2000" b="1" dirty="0">
              <a:solidFill>
                <a:srgbClr val="000000"/>
              </a:solidFill>
              <a:ea typeface="+mj-ea"/>
            </a:endParaRPr>
          </a:p>
        </p:txBody>
      </p:sp>
      <p:sp>
        <p:nvSpPr>
          <p:cNvPr id="2" name="标题 1"/>
          <p:cNvSpPr>
            <a:spLocks noGrp="1"/>
          </p:cNvSpPr>
          <p:nvPr>
            <p:ph type="title"/>
          </p:nvPr>
        </p:nvSpPr>
        <p:spPr>
          <a:xfrm>
            <a:off x="2857500" y="5500688"/>
            <a:ext cx="5857875" cy="1066800"/>
          </a:xfrm>
          <a:solidFill>
            <a:schemeClr val="bg1"/>
          </a:solidFill>
        </p:spPr>
        <p:txBody>
          <a:bodyPr>
            <a:normAutofit/>
          </a:bodyPr>
          <a:lstStyle/>
          <a:p>
            <a:pPr eaLnBrk="1" fontAlgn="auto" hangingPunct="1">
              <a:spcAft>
                <a:spcPts val="0"/>
              </a:spcAft>
              <a:defRPr/>
            </a:pPr>
            <a:r>
              <a:rPr lang="zh-CN" altLang="en-US" dirty="0" smtClean="0"/>
              <a:t>前向引用声明注意事项（续）</a:t>
            </a:r>
            <a:endParaRPr lang="zh-CN" altLang="en-US" dirty="0"/>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前向引用声明注意事项</a:t>
            </a:r>
            <a:endParaRPr lang="zh-CN" altLang="en-US" sz="4400" b="1">
              <a:latin typeface="Times New Roman" panose="02020603050405020304" pitchFamily="18" charset="0"/>
              <a:ea typeface="隶书" panose="02010509060101010101" pitchFamily="49" charset="-122"/>
            </a:endParaRPr>
          </a:p>
        </p:txBody>
      </p:sp>
      <p:sp>
        <p:nvSpPr>
          <p:cNvPr id="60419" name="内容占位符 2"/>
          <p:cNvSpPr>
            <a:spLocks noGrp="1"/>
          </p:cNvSpPr>
          <p:nvPr>
            <p:ph idx="1"/>
          </p:nvPr>
        </p:nvSpPr>
        <p:spPr>
          <a:xfrm>
            <a:off x="467544" y="1412776"/>
            <a:ext cx="8229600" cy="1428750"/>
          </a:xfrm>
          <a:noFill/>
        </p:spPr>
        <p:txBody>
          <a:bodyPr/>
          <a:lstStyle/>
          <a:p>
            <a:pPr marL="0" indent="0" eaLnBrk="1" hangingPunct="1">
              <a:lnSpc>
                <a:spcPct val="150000"/>
              </a:lnSpc>
              <a:buNone/>
            </a:pPr>
            <a:r>
              <a:rPr lang="zh-CN" altLang="en-US" sz="2800" b="1" dirty="0" smtClean="0">
                <a:latin typeface="微软雅黑" panose="020B0503020204020204" pitchFamily="34" charset="-122"/>
                <a:ea typeface="微软雅黑" panose="020B0503020204020204" pitchFamily="34" charset="-122"/>
              </a:rPr>
              <a:t>仅仅</a:t>
            </a:r>
            <a:r>
              <a:rPr lang="zh-CN" altLang="en-US" sz="2800" b="1" dirty="0">
                <a:latin typeface="微软雅黑" panose="020B0503020204020204" pitchFamily="34" charset="-122"/>
                <a:ea typeface="微软雅黑" panose="020B0503020204020204" pitchFamily="34" charset="-122"/>
              </a:rPr>
              <a:t>进行前向声明而没有定义的类是</a:t>
            </a:r>
            <a:r>
              <a:rPr lang="zh-CN" altLang="en-US" sz="2800" b="1" dirty="0">
                <a:solidFill>
                  <a:srgbClr val="FFFF00"/>
                </a:solidFill>
                <a:latin typeface="微软雅黑" panose="020B0503020204020204" pitchFamily="34" charset="-122"/>
                <a:ea typeface="微软雅黑" panose="020B0503020204020204" pitchFamily="34" charset="-122"/>
              </a:rPr>
              <a:t>不完整</a:t>
            </a:r>
            <a:r>
              <a:rPr lang="zh-CN" altLang="en-US" sz="2800" b="1" dirty="0">
                <a:latin typeface="微软雅黑" panose="020B0503020204020204" pitchFamily="34" charset="-122"/>
                <a:ea typeface="微软雅黑" panose="020B0503020204020204" pitchFamily="34" charset="-122"/>
              </a:rPr>
              <a:t>的，这样的类，</a:t>
            </a:r>
            <a:r>
              <a:rPr lang="zh-CN" altLang="en-US" sz="2800" b="1" dirty="0">
                <a:solidFill>
                  <a:srgbClr val="FFFF00"/>
                </a:solidFill>
                <a:latin typeface="微软雅黑" panose="020B0503020204020204" pitchFamily="34" charset="-122"/>
                <a:ea typeface="微软雅黑" panose="020B0503020204020204" pitchFamily="34" charset="-122"/>
              </a:rPr>
              <a:t>只能用于定义指针、引用、以及用于函数形参的指针和引用</a:t>
            </a:r>
            <a:r>
              <a:rPr lang="zh-CN" altLang="en-US" sz="2800" b="1" dirty="0" smtClean="0">
                <a:latin typeface="微软雅黑" panose="020B0503020204020204" pitchFamily="34" charset="-122"/>
                <a:ea typeface="微软雅黑" panose="020B0503020204020204" pitchFamily="34" charset="-122"/>
              </a:rPr>
              <a:t>。而</a:t>
            </a:r>
            <a:r>
              <a:rPr lang="zh-CN" altLang="en-US" sz="2800" b="1" dirty="0">
                <a:latin typeface="微软雅黑" panose="020B0503020204020204" pitchFamily="34" charset="-122"/>
                <a:ea typeface="微软雅黑" panose="020B0503020204020204" pitchFamily="34" charset="-122"/>
              </a:rPr>
              <a:t>不能定义对象</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因为此时编译器只知道这是个类，还不知道这个类的大小有多大</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，也不能访问类的</a:t>
            </a:r>
            <a:r>
              <a:rPr lang="zh-CN" altLang="en-US" sz="2800" b="1" dirty="0" smtClean="0">
                <a:latin typeface="微软雅黑" panose="020B0503020204020204" pitchFamily="34" charset="-122"/>
                <a:ea typeface="微软雅黑" panose="020B0503020204020204" pitchFamily="34" charset="-122"/>
              </a:rPr>
              <a:t>对象。</a:t>
            </a:r>
            <a:r>
              <a:rPr lang="zh-CN" altLang="en-US" sz="2800" b="1" dirty="0">
                <a:latin typeface="微软雅黑" panose="020B0503020204020204" pitchFamily="34" charset="-122"/>
                <a:ea typeface="微软雅黑" panose="020B0503020204020204" pitchFamily="34" charset="-122"/>
              </a:rPr>
              <a:t>等到类正式定义以后，就可以以各种方式使用该类了</a:t>
            </a:r>
            <a:endParaRPr lang="zh-CN" altLang="en-US" sz="2800" b="1" dirty="0">
              <a:latin typeface="微软雅黑" panose="020B0503020204020204" pitchFamily="34" charset="-122"/>
              <a:ea typeface="微软雅黑" panose="020B0503020204020204" pitchFamily="34" charset="-122"/>
            </a:endParaRPr>
          </a:p>
          <a:p>
            <a:pPr marL="457200" lvl="1" indent="0">
              <a:lnSpc>
                <a:spcPct val="150000"/>
              </a:lnSpc>
              <a:buNone/>
            </a:pPr>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628650" y="27856"/>
            <a:ext cx="7886700" cy="13255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前向引用声明注意事项</a:t>
            </a:r>
            <a:endParaRPr lang="zh-CN" altLang="en-US" sz="4400" b="1" dirty="0">
              <a:latin typeface="Times New Roman" panose="02020603050405020304" pitchFamily="18" charset="0"/>
              <a:ea typeface="隶书" panose="02010509060101010101" pitchFamily="49" charset="-122"/>
            </a:endParaRPr>
          </a:p>
        </p:txBody>
      </p:sp>
      <p:sp>
        <p:nvSpPr>
          <p:cNvPr id="6" name="内容占位符 9"/>
          <p:cNvSpPr txBox="1"/>
          <p:nvPr/>
        </p:nvSpPr>
        <p:spPr>
          <a:xfrm>
            <a:off x="0" y="836712"/>
            <a:ext cx="9144000" cy="6048672"/>
          </a:xfrm>
          <a:prstGeom prst="rect">
            <a:avLst/>
          </a:prstGeom>
          <a:solidFill>
            <a:schemeClr val="tx1"/>
          </a:solidFill>
        </p:spPr>
        <p:txBody>
          <a:bodyPr/>
          <a:lstStyle>
            <a:lvl1pPr marL="0" indent="0" algn="l">
              <a:spcBef>
                <a:spcPts val="0"/>
              </a:spcBef>
              <a:buClr>
                <a:schemeClr val="tx2"/>
              </a:buClr>
              <a:buSzPct val="75000"/>
              <a:buFont typeface="Monotype Sorts" pitchFamily="2" charset="2"/>
              <a:buNone/>
              <a:defRPr sz="2800" b="1">
                <a:solidFill>
                  <a:srgbClr val="FF0000"/>
                </a:solidFill>
                <a:latin typeface="+mn-lt"/>
                <a:ea typeface="+mj-ea"/>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lvl="1" indent="0"/>
            <a:r>
              <a:rPr lang="en-US" altLang="zh-CN" sz="2000" b="1" dirty="0" smtClean="0">
                <a:solidFill>
                  <a:srgbClr val="000000"/>
                </a:solidFill>
                <a:ea typeface="+mj-ea"/>
              </a:rPr>
              <a:t>//</a:t>
            </a:r>
            <a:r>
              <a:rPr lang="zh-CN" altLang="en-US" sz="2000" b="1" dirty="0">
                <a:solidFill>
                  <a:srgbClr val="000000"/>
                </a:solidFill>
                <a:ea typeface="+mj-ea"/>
              </a:rPr>
              <a:t>前向声明此</a:t>
            </a:r>
            <a:r>
              <a:rPr lang="zh-CN" altLang="en-US" sz="2000" b="1" dirty="0" smtClean="0">
                <a:solidFill>
                  <a:srgbClr val="000000"/>
                </a:solidFill>
                <a:ea typeface="+mj-ea"/>
              </a:rPr>
              <a:t>类</a:t>
            </a:r>
            <a:endParaRPr lang="en-US" altLang="zh-CN" sz="2000" b="1" dirty="0" smtClean="0">
              <a:solidFill>
                <a:srgbClr val="000000"/>
              </a:solidFill>
              <a:ea typeface="+mj-ea"/>
            </a:endParaRPr>
          </a:p>
          <a:p>
            <a:pPr marL="0" lvl="1" indent="0"/>
            <a:r>
              <a:rPr lang="zh-CN" altLang="en-US" sz="2000" b="1" dirty="0" smtClean="0">
                <a:solidFill>
                  <a:srgbClr val="000000"/>
                </a:solidFill>
                <a:ea typeface="+mj-ea"/>
              </a:rPr>
              <a:t> </a:t>
            </a:r>
            <a:r>
              <a:rPr lang="en-US" altLang="zh-CN" sz="2000" b="1" dirty="0">
                <a:solidFill>
                  <a:srgbClr val="000000"/>
                </a:solidFill>
                <a:ea typeface="+mj-ea"/>
              </a:rPr>
              <a:t>class Video; </a:t>
            </a:r>
            <a:endParaRPr lang="en-US" altLang="zh-CN" sz="2000" b="1" dirty="0" smtClean="0">
              <a:solidFill>
                <a:srgbClr val="000000"/>
              </a:solidFill>
              <a:ea typeface="+mj-ea"/>
            </a:endParaRPr>
          </a:p>
          <a:p>
            <a:pPr marL="0" lvl="1" indent="0">
              <a:buNone/>
            </a:pPr>
            <a:r>
              <a:rPr lang="en-US" altLang="zh-CN" sz="2000" b="1" dirty="0" smtClean="0">
                <a:solidFill>
                  <a:srgbClr val="000000"/>
                </a:solidFill>
                <a:ea typeface="+mj-ea"/>
              </a:rPr>
              <a:t>//</a:t>
            </a:r>
            <a:r>
              <a:rPr lang="zh-CN" altLang="en-US" sz="2000" b="1" dirty="0" smtClean="0">
                <a:solidFill>
                  <a:srgbClr val="000000"/>
                </a:solidFill>
                <a:ea typeface="+mj-ea"/>
              </a:rPr>
              <a:t>此时只能</a:t>
            </a:r>
            <a:r>
              <a:rPr lang="zh-CN" altLang="en-US" sz="2000" b="1" dirty="0">
                <a:solidFill>
                  <a:srgbClr val="000000"/>
                </a:solidFill>
                <a:ea typeface="+mj-ea"/>
              </a:rPr>
              <a:t>定义指针和引用。不能定义对象，也不能以任何方式调用对象的成员 </a:t>
            </a:r>
            <a:endParaRPr lang="en-US" altLang="zh-CN" sz="2000" b="1" dirty="0" smtClean="0">
              <a:solidFill>
                <a:srgbClr val="000000"/>
              </a:solidFill>
              <a:ea typeface="+mj-ea"/>
            </a:endParaRPr>
          </a:p>
          <a:p>
            <a:pPr marL="0" lvl="1" indent="0"/>
            <a:r>
              <a:rPr lang="en-US" altLang="zh-CN" sz="2000" b="1" dirty="0" smtClean="0">
                <a:solidFill>
                  <a:srgbClr val="000000"/>
                </a:solidFill>
                <a:ea typeface="+mj-ea"/>
              </a:rPr>
              <a:t>void </a:t>
            </a:r>
            <a:r>
              <a:rPr lang="en-US" altLang="zh-CN" sz="2000" b="1" dirty="0">
                <a:solidFill>
                  <a:srgbClr val="000000"/>
                </a:solidFill>
                <a:ea typeface="+mj-ea"/>
              </a:rPr>
              <a:t>fun1(Video* </a:t>
            </a:r>
            <a:r>
              <a:rPr lang="en-US" altLang="zh-CN" sz="2000" b="1" dirty="0" err="1">
                <a:solidFill>
                  <a:srgbClr val="000000"/>
                </a:solidFill>
                <a:ea typeface="+mj-ea"/>
              </a:rPr>
              <a:t>pv,Video</a:t>
            </a:r>
            <a:r>
              <a:rPr lang="en-US" altLang="zh-CN" sz="2000" b="1" dirty="0">
                <a:solidFill>
                  <a:srgbClr val="000000"/>
                </a:solidFill>
                <a:ea typeface="+mj-ea"/>
              </a:rPr>
              <a:t>&amp; v1){} </a:t>
            </a:r>
            <a:endParaRPr lang="en-US" altLang="zh-CN" sz="2000" b="1" dirty="0" smtClean="0">
              <a:solidFill>
                <a:srgbClr val="000000"/>
              </a:solidFill>
              <a:ea typeface="+mj-ea"/>
            </a:endParaRPr>
          </a:p>
          <a:p>
            <a:pPr marL="0" lvl="1" indent="0"/>
            <a:r>
              <a:rPr lang="en-US" altLang="zh-CN" sz="2000" b="1" dirty="0" smtClean="0">
                <a:solidFill>
                  <a:srgbClr val="000000"/>
                </a:solidFill>
                <a:ea typeface="+mj-ea"/>
              </a:rPr>
              <a:t>//</a:t>
            </a:r>
            <a:r>
              <a:rPr lang="zh-CN" altLang="en-US" sz="2000" b="1" dirty="0">
                <a:solidFill>
                  <a:srgbClr val="000000"/>
                </a:solidFill>
                <a:ea typeface="+mj-ea"/>
              </a:rPr>
              <a:t>正式定义该</a:t>
            </a:r>
            <a:r>
              <a:rPr lang="zh-CN" altLang="en-US" sz="2000" b="1" dirty="0" smtClean="0">
                <a:solidFill>
                  <a:srgbClr val="000000"/>
                </a:solidFill>
                <a:ea typeface="+mj-ea"/>
              </a:rPr>
              <a:t>类</a:t>
            </a:r>
            <a:endParaRPr lang="en-US" altLang="zh-CN" sz="2000" b="1" dirty="0" smtClean="0">
              <a:solidFill>
                <a:srgbClr val="000000"/>
              </a:solidFill>
              <a:ea typeface="+mj-ea"/>
            </a:endParaRPr>
          </a:p>
          <a:p>
            <a:pPr marL="0" lvl="1" indent="0"/>
            <a:r>
              <a:rPr lang="zh-CN" altLang="en-US" sz="2000" b="1" dirty="0" smtClean="0">
                <a:solidFill>
                  <a:srgbClr val="000000"/>
                </a:solidFill>
                <a:ea typeface="+mj-ea"/>
              </a:rPr>
              <a:t> </a:t>
            </a:r>
            <a:r>
              <a:rPr lang="en-US" altLang="zh-CN" sz="2000" b="1" dirty="0">
                <a:solidFill>
                  <a:srgbClr val="000000"/>
                </a:solidFill>
                <a:ea typeface="+mj-ea"/>
              </a:rPr>
              <a:t>class Video { public: void show(); }; </a:t>
            </a:r>
            <a:endParaRPr lang="en-US" altLang="zh-CN" sz="2000" b="1" dirty="0" smtClean="0">
              <a:solidFill>
                <a:srgbClr val="000000"/>
              </a:solidFill>
              <a:ea typeface="+mj-ea"/>
            </a:endParaRPr>
          </a:p>
          <a:p>
            <a:pPr marL="0" lvl="1" indent="0"/>
            <a:r>
              <a:rPr lang="en-US" altLang="zh-CN" sz="2000" b="1" dirty="0" smtClean="0">
                <a:solidFill>
                  <a:srgbClr val="000000"/>
                </a:solidFill>
                <a:ea typeface="+mj-ea"/>
              </a:rPr>
              <a:t>//</a:t>
            </a:r>
            <a:r>
              <a:rPr lang="zh-CN" altLang="en-US" sz="2000" b="1" dirty="0">
                <a:solidFill>
                  <a:srgbClr val="000000"/>
                </a:solidFill>
                <a:ea typeface="+mj-ea"/>
              </a:rPr>
              <a:t>现在，这个类可以随便使用了，可以定义对象，访问</a:t>
            </a:r>
            <a:r>
              <a:rPr lang="zh-CN" altLang="en-US" sz="2000" b="1" dirty="0" smtClean="0">
                <a:solidFill>
                  <a:srgbClr val="000000"/>
                </a:solidFill>
                <a:ea typeface="+mj-ea"/>
              </a:rPr>
              <a:t>成员</a:t>
            </a:r>
            <a:endParaRPr lang="en-US" altLang="zh-CN" sz="2000" b="1" dirty="0" smtClean="0">
              <a:solidFill>
                <a:srgbClr val="000000"/>
              </a:solidFill>
              <a:ea typeface="+mj-ea"/>
            </a:endParaRPr>
          </a:p>
          <a:p>
            <a:pPr marL="0" lvl="1" indent="0"/>
            <a:r>
              <a:rPr lang="zh-CN" altLang="en-US" sz="2000" b="1" dirty="0" smtClean="0">
                <a:solidFill>
                  <a:srgbClr val="000000"/>
                </a:solidFill>
                <a:ea typeface="+mj-ea"/>
              </a:rPr>
              <a:t> </a:t>
            </a:r>
            <a:r>
              <a:rPr lang="en-US" altLang="zh-CN" sz="2000" b="1" dirty="0">
                <a:solidFill>
                  <a:srgbClr val="000000"/>
                </a:solidFill>
                <a:ea typeface="+mj-ea"/>
              </a:rPr>
              <a:t>void fun2(Video* </a:t>
            </a:r>
            <a:r>
              <a:rPr lang="en-US" altLang="zh-CN" sz="2000" b="1" dirty="0" err="1">
                <a:solidFill>
                  <a:srgbClr val="000000"/>
                </a:solidFill>
                <a:ea typeface="+mj-ea"/>
              </a:rPr>
              <a:t>pv,Video</a:t>
            </a:r>
            <a:r>
              <a:rPr lang="en-US" altLang="zh-CN" sz="2000" b="1" dirty="0">
                <a:solidFill>
                  <a:srgbClr val="000000"/>
                </a:solidFill>
                <a:ea typeface="+mj-ea"/>
              </a:rPr>
              <a:t>&amp; v1,Video v2</a:t>
            </a:r>
            <a:r>
              <a:rPr lang="en-US" altLang="zh-CN" sz="2000" b="1" dirty="0" smtClean="0">
                <a:solidFill>
                  <a:srgbClr val="000000"/>
                </a:solidFill>
                <a:ea typeface="+mj-ea"/>
              </a:rPr>
              <a:t>)</a:t>
            </a:r>
            <a:endParaRPr lang="en-US" altLang="zh-CN" sz="2000" b="1" dirty="0" smtClean="0">
              <a:solidFill>
                <a:srgbClr val="000000"/>
              </a:solidFill>
              <a:ea typeface="+mj-ea"/>
            </a:endParaRPr>
          </a:p>
          <a:p>
            <a:pPr marL="0" lvl="1" indent="0"/>
            <a:r>
              <a:rPr lang="en-US" altLang="zh-CN" sz="2000" b="1" dirty="0" smtClean="0">
                <a:solidFill>
                  <a:srgbClr val="000000"/>
                </a:solidFill>
                <a:ea typeface="+mj-ea"/>
              </a:rPr>
              <a:t>{ </a:t>
            </a:r>
            <a:r>
              <a:rPr lang="en-US" altLang="zh-CN" sz="2000" b="1" dirty="0" err="1">
                <a:solidFill>
                  <a:srgbClr val="000000"/>
                </a:solidFill>
                <a:ea typeface="+mj-ea"/>
              </a:rPr>
              <a:t>pv</a:t>
            </a:r>
            <a:r>
              <a:rPr lang="en-US" altLang="zh-CN" sz="2000" b="1" dirty="0">
                <a:solidFill>
                  <a:srgbClr val="000000"/>
                </a:solidFill>
                <a:ea typeface="+mj-ea"/>
              </a:rPr>
              <a:t>-&gt;show(); </a:t>
            </a:r>
            <a:endParaRPr lang="en-US" altLang="zh-CN" sz="2000" b="1" dirty="0" smtClean="0">
              <a:solidFill>
                <a:srgbClr val="000000"/>
              </a:solidFill>
              <a:ea typeface="+mj-ea"/>
            </a:endParaRPr>
          </a:p>
          <a:p>
            <a:pPr marL="0" lvl="1" indent="0"/>
            <a:r>
              <a:rPr lang="en-US" altLang="zh-CN" sz="2000" b="1" dirty="0" smtClean="0">
                <a:solidFill>
                  <a:srgbClr val="000000"/>
                </a:solidFill>
                <a:ea typeface="+mj-ea"/>
              </a:rPr>
              <a:t>v1.show</a:t>
            </a:r>
            <a:r>
              <a:rPr lang="en-US" altLang="zh-CN" sz="2000" b="1" dirty="0">
                <a:solidFill>
                  <a:srgbClr val="000000"/>
                </a:solidFill>
                <a:ea typeface="+mj-ea"/>
              </a:rPr>
              <a:t>(); </a:t>
            </a:r>
            <a:endParaRPr lang="en-US" altLang="zh-CN" sz="2000" b="1" dirty="0" smtClean="0">
              <a:solidFill>
                <a:srgbClr val="000000"/>
              </a:solidFill>
              <a:ea typeface="+mj-ea"/>
            </a:endParaRPr>
          </a:p>
          <a:p>
            <a:pPr marL="0" lvl="1" indent="0"/>
            <a:r>
              <a:rPr lang="en-US" altLang="zh-CN" sz="2000" b="1" dirty="0" smtClean="0">
                <a:solidFill>
                  <a:srgbClr val="000000"/>
                </a:solidFill>
                <a:ea typeface="+mj-ea"/>
              </a:rPr>
              <a:t>v2.show();</a:t>
            </a:r>
            <a:endParaRPr lang="en-US" altLang="zh-CN" sz="2000" b="1" dirty="0" smtClean="0">
              <a:solidFill>
                <a:srgbClr val="000000"/>
              </a:solidFill>
              <a:ea typeface="+mj-ea"/>
            </a:endParaRPr>
          </a:p>
          <a:p>
            <a:pPr marL="0" lvl="1" indent="0"/>
            <a:r>
              <a:rPr lang="en-US" altLang="zh-CN" sz="2000" b="1" dirty="0" smtClean="0">
                <a:solidFill>
                  <a:srgbClr val="000000"/>
                </a:solidFill>
                <a:ea typeface="+mj-ea"/>
              </a:rPr>
              <a:t> </a:t>
            </a:r>
            <a:r>
              <a:rPr lang="en-US" altLang="zh-CN" sz="2000" b="1" dirty="0">
                <a:solidFill>
                  <a:srgbClr val="000000"/>
                </a:solidFill>
                <a:ea typeface="+mj-ea"/>
              </a:rPr>
              <a:t>} </a:t>
            </a:r>
            <a:endParaRPr lang="en-US" altLang="zh-CN" sz="2000" b="1" dirty="0" smtClean="0">
              <a:solidFill>
                <a:srgbClr val="000000"/>
              </a:solidFill>
              <a:ea typeface="+mj-ea"/>
            </a:endParaRPr>
          </a:p>
          <a:p>
            <a:pPr marL="0" lvl="1" indent="0">
              <a:buNone/>
            </a:pPr>
            <a:r>
              <a:rPr lang="en-US" altLang="zh-CN" sz="2000" b="1" dirty="0" smtClean="0">
                <a:solidFill>
                  <a:srgbClr val="000000"/>
                </a:solidFill>
                <a:ea typeface="+mj-ea"/>
              </a:rPr>
              <a:t>//</a:t>
            </a:r>
            <a:r>
              <a:rPr lang="zh-CN" altLang="en-US" sz="2000" b="1" dirty="0">
                <a:solidFill>
                  <a:srgbClr val="000000"/>
                </a:solidFill>
                <a:ea typeface="+mj-ea"/>
              </a:rPr>
              <a:t>类的实现，前面的只能让编译通过，实现类成员以后，连接也可以通过了</a:t>
            </a:r>
            <a:r>
              <a:rPr lang="zh-CN" altLang="en-US" sz="2000" b="1" dirty="0" smtClean="0">
                <a:solidFill>
                  <a:srgbClr val="000000"/>
                </a:solidFill>
                <a:ea typeface="+mj-ea"/>
              </a:rPr>
              <a:t>。</a:t>
            </a:r>
            <a:endParaRPr lang="en-US" altLang="zh-CN" sz="2000" b="1" dirty="0" smtClean="0">
              <a:solidFill>
                <a:srgbClr val="000000"/>
              </a:solidFill>
              <a:ea typeface="+mj-ea"/>
            </a:endParaRPr>
          </a:p>
          <a:p>
            <a:pPr marL="0" lvl="1" indent="0">
              <a:buNone/>
            </a:pPr>
            <a:r>
              <a:rPr lang="zh-CN" altLang="en-US" sz="2000" b="1" dirty="0" smtClean="0">
                <a:solidFill>
                  <a:srgbClr val="000000"/>
                </a:solidFill>
                <a:ea typeface="+mj-ea"/>
              </a:rPr>
              <a:t> </a:t>
            </a:r>
            <a:r>
              <a:rPr lang="en-US" altLang="zh-CN" sz="2000" b="1" dirty="0">
                <a:solidFill>
                  <a:srgbClr val="000000"/>
                </a:solidFill>
                <a:ea typeface="+mj-ea"/>
              </a:rPr>
              <a:t>void Video::show()</a:t>
            </a:r>
            <a:br>
              <a:rPr lang="en-US" altLang="zh-CN" sz="2000" b="1" dirty="0">
                <a:solidFill>
                  <a:srgbClr val="000000"/>
                </a:solidFill>
                <a:ea typeface="+mj-ea"/>
              </a:rPr>
            </a:br>
            <a:r>
              <a:rPr lang="en-US" altLang="zh-CN" sz="2000" b="1" dirty="0">
                <a:solidFill>
                  <a:srgbClr val="000000"/>
                </a:solidFill>
                <a:ea typeface="+mj-ea"/>
              </a:rPr>
              <a:t>{</a:t>
            </a:r>
            <a:br>
              <a:rPr lang="en-US" altLang="zh-CN" sz="2000" b="1" dirty="0">
                <a:solidFill>
                  <a:srgbClr val="000000"/>
                </a:solidFill>
                <a:ea typeface="+mj-ea"/>
              </a:rPr>
            </a:br>
            <a:r>
              <a:rPr lang="zh-CN" altLang="en-US" sz="2000" b="1" dirty="0">
                <a:solidFill>
                  <a:srgbClr val="000000"/>
                </a:solidFill>
                <a:ea typeface="+mj-ea"/>
              </a:rPr>
              <a:t>　　</a:t>
            </a:r>
            <a:r>
              <a:rPr lang="en-US" altLang="zh-CN" sz="2000" b="1" dirty="0" err="1">
                <a:solidFill>
                  <a:srgbClr val="000000"/>
                </a:solidFill>
                <a:ea typeface="+mj-ea"/>
              </a:rPr>
              <a:t>cout</a:t>
            </a:r>
            <a:r>
              <a:rPr lang="en-US" altLang="zh-CN" sz="2000" b="1" dirty="0">
                <a:solidFill>
                  <a:srgbClr val="000000"/>
                </a:solidFill>
                <a:ea typeface="+mj-ea"/>
              </a:rPr>
              <a:t>&lt;&lt;"</a:t>
            </a:r>
            <a:r>
              <a:rPr lang="en-US" altLang="zh-CN" sz="2000" b="1" dirty="0" err="1">
                <a:solidFill>
                  <a:srgbClr val="000000"/>
                </a:solidFill>
                <a:ea typeface="+mj-ea"/>
              </a:rPr>
              <a:t>zhaojiankang</a:t>
            </a:r>
            <a:r>
              <a:rPr lang="en-US" altLang="zh-CN" sz="2000" b="1" dirty="0">
                <a:solidFill>
                  <a:srgbClr val="000000"/>
                </a:solidFill>
                <a:ea typeface="+mj-ea"/>
              </a:rPr>
              <a:t>"&lt;&lt;</a:t>
            </a:r>
            <a:r>
              <a:rPr lang="en-US" altLang="zh-CN" sz="2000" b="1" dirty="0" err="1">
                <a:solidFill>
                  <a:srgbClr val="000000"/>
                </a:solidFill>
                <a:ea typeface="+mj-ea"/>
              </a:rPr>
              <a:t>endl</a:t>
            </a:r>
            <a:r>
              <a:rPr lang="en-US" altLang="zh-CN" sz="2000" b="1" dirty="0">
                <a:solidFill>
                  <a:srgbClr val="000000"/>
                </a:solidFill>
                <a:ea typeface="+mj-ea"/>
              </a:rPr>
              <a:t>;</a:t>
            </a:r>
            <a:br>
              <a:rPr lang="en-US" altLang="zh-CN" sz="2000" b="1" dirty="0">
                <a:solidFill>
                  <a:srgbClr val="000000"/>
                </a:solidFill>
                <a:ea typeface="+mj-ea"/>
              </a:rPr>
            </a:br>
            <a:r>
              <a:rPr lang="en-US" altLang="zh-CN" sz="2000" b="1" dirty="0">
                <a:solidFill>
                  <a:srgbClr val="000000"/>
                </a:solidFill>
                <a:ea typeface="+mj-ea"/>
              </a:rPr>
              <a:t>}</a:t>
            </a:r>
            <a:endParaRPr lang="zh-CN" altLang="en-US" sz="20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前向引用声明注意事项（续）</a:t>
            </a:r>
            <a:endParaRPr lang="zh-CN" altLang="en-US" sz="4400" b="1">
              <a:latin typeface="Times New Roman" panose="02020603050405020304" pitchFamily="18" charset="0"/>
              <a:ea typeface="隶书" panose="02010509060101010101" pitchFamily="49" charset="-122"/>
            </a:endParaRPr>
          </a:p>
        </p:txBody>
      </p:sp>
      <p:sp>
        <p:nvSpPr>
          <p:cNvPr id="62467" name="内容占位符 2"/>
          <p:cNvSpPr>
            <a:spLocks noGrp="1"/>
          </p:cNvSpPr>
          <p:nvPr>
            <p:ph idx="1"/>
          </p:nvPr>
        </p:nvSpPr>
        <p:spPr>
          <a:xfrm>
            <a:off x="467544" y="2276872"/>
            <a:ext cx="8229600" cy="2143125"/>
          </a:xfrm>
          <a:noFill/>
        </p:spPr>
        <p:txBody>
          <a:bodyPr/>
          <a:lstStyle/>
          <a:p>
            <a:pPr>
              <a:lnSpc>
                <a:spcPct val="200000"/>
              </a:lnSpc>
            </a:pPr>
            <a:r>
              <a:rPr lang="zh-CN" altLang="en-US" sz="2800" b="1" dirty="0">
                <a:latin typeface="微软雅黑" panose="020B0503020204020204" pitchFamily="34" charset="-122"/>
                <a:ea typeface="微软雅黑" panose="020B0503020204020204" pitchFamily="34" charset="-122"/>
              </a:rPr>
              <a:t>应该记住：当你使用前向引用声明时，你只能使用被声明的符号，而不能涉及类的任何细节。</a:t>
            </a:r>
            <a:endParaRPr lang="en-US" altLang="zh-CN" sz="28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1772816"/>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5"/>
            </a:pPr>
            <a:r>
              <a:rPr lang="en-US" altLang="zh-CN" sz="5800" b="1" dirty="0" smtClean="0">
                <a:ea typeface="华文彩云" panose="02010800040101010101" pitchFamily="2" charset="-122"/>
              </a:rPr>
              <a:t>  UML</a:t>
            </a:r>
            <a:r>
              <a:rPr lang="zh-CN" altLang="en-US" sz="5800" b="1" dirty="0" smtClean="0">
                <a:ea typeface="华文彩云" panose="02010800040101010101" pitchFamily="2" charset="-122"/>
              </a:rPr>
              <a:t>图形标识</a:t>
            </a:r>
            <a:endParaRPr lang="zh-CN" altLang="en-US"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4.5.1 UML</a:t>
            </a:r>
            <a:r>
              <a:rPr lang="zh-CN" altLang="en-US" sz="4400" b="1">
                <a:latin typeface="Times New Roman" panose="02020603050405020304" pitchFamily="18" charset="0"/>
                <a:ea typeface="隶书" panose="02010509060101010101" pitchFamily="49" charset="-122"/>
              </a:rPr>
              <a:t>简介</a:t>
            </a:r>
            <a:endParaRPr lang="zh-CN" altLang="en-US" sz="4400" b="1">
              <a:latin typeface="Times New Roman" panose="02020603050405020304" pitchFamily="18" charset="0"/>
              <a:ea typeface="隶书" panose="02010509060101010101" pitchFamily="49" charset="-122"/>
            </a:endParaRPr>
          </a:p>
        </p:txBody>
      </p:sp>
      <p:sp>
        <p:nvSpPr>
          <p:cNvPr id="63491" name="内容占位符 2"/>
          <p:cNvSpPr>
            <a:spLocks noGrp="1"/>
          </p:cNvSpPr>
          <p:nvPr>
            <p:ph idx="1"/>
          </p:nvPr>
        </p:nvSpPr>
        <p:spPr>
          <a:xfrm>
            <a:off x="827584" y="1340768"/>
            <a:ext cx="7886700" cy="4351338"/>
          </a:xfrm>
        </p:spPr>
        <p:txBody>
          <a:bodyPr/>
          <a:lstStyle/>
          <a:p>
            <a:pPr eaLnBrk="1" hangingPunct="1">
              <a:spcAft>
                <a:spcPts val="1200"/>
              </a:spcAft>
            </a:pPr>
            <a:r>
              <a:rPr lang="en-US" altLang="zh-CN" sz="2400" b="1" dirty="0" smtClean="0">
                <a:solidFill>
                  <a:srgbClr val="FFFF00"/>
                </a:solidFill>
                <a:latin typeface="微软雅黑" panose="020B0503020204020204" pitchFamily="34" charset="-122"/>
                <a:ea typeface="微软雅黑" panose="020B0503020204020204" pitchFamily="34" charset="-122"/>
              </a:rPr>
              <a:t>UML</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Unified Modeling Language</a:t>
            </a:r>
            <a:r>
              <a:rPr lang="zh-CN" altLang="en-US" sz="2400" b="1" dirty="0" smtClean="0">
                <a:latin typeface="微软雅黑" panose="020B0503020204020204" pitchFamily="34" charset="-122"/>
                <a:ea typeface="微软雅黑" panose="020B0503020204020204" pitchFamily="34" charset="-122"/>
              </a:rPr>
              <a:t>）语言</a:t>
            </a:r>
            <a:r>
              <a:rPr lang="zh-CN" altLang="en-US" sz="2400" b="1" dirty="0" smtClean="0">
                <a:solidFill>
                  <a:srgbClr val="FFFF00"/>
                </a:solidFill>
                <a:latin typeface="微软雅黑" panose="020B0503020204020204" pitchFamily="34" charset="-122"/>
                <a:ea typeface="微软雅黑" panose="020B0503020204020204" pitchFamily="34" charset="-122"/>
              </a:rPr>
              <a:t>是一种可视化的面向对象建模语言。</a:t>
            </a:r>
            <a:endParaRPr lang="zh-CN" altLang="en-US" sz="2400" b="1" dirty="0" smtClean="0">
              <a:solidFill>
                <a:srgbClr val="FFFF00"/>
              </a:solidFill>
              <a:latin typeface="微软雅黑" panose="020B0503020204020204" pitchFamily="34" charset="-122"/>
              <a:ea typeface="微软雅黑" panose="020B0503020204020204" pitchFamily="34" charset="-122"/>
            </a:endParaRPr>
          </a:p>
          <a:p>
            <a:pPr eaLnBrk="1" hangingPunct="1">
              <a:spcAft>
                <a:spcPts val="1200"/>
              </a:spcAft>
            </a:pPr>
            <a:r>
              <a:rPr lang="en-US" altLang="zh-CN" sz="2400" b="1" dirty="0" smtClean="0">
                <a:latin typeface="微软雅黑" panose="020B0503020204020204" pitchFamily="34" charset="-122"/>
                <a:ea typeface="微软雅黑" panose="020B0503020204020204" pitchFamily="34" charset="-122"/>
              </a:rPr>
              <a:t>UML</a:t>
            </a:r>
            <a:r>
              <a:rPr lang="zh-CN" altLang="en-US" sz="2400" b="1" dirty="0" smtClean="0">
                <a:latin typeface="微软雅黑" panose="020B0503020204020204" pitchFamily="34" charset="-122"/>
                <a:ea typeface="微软雅黑" panose="020B0503020204020204" pitchFamily="34" charset="-122"/>
              </a:rPr>
              <a:t>有三个基本的部分</a:t>
            </a:r>
            <a:endParaRPr lang="zh-CN" altLang="en-US" sz="2400" b="1" dirty="0" smtClean="0">
              <a:latin typeface="微软雅黑" panose="020B0503020204020204" pitchFamily="34" charset="-122"/>
              <a:ea typeface="微软雅黑" panose="020B0503020204020204" pitchFamily="34" charset="-122"/>
            </a:endParaRPr>
          </a:p>
          <a:p>
            <a:pPr lvl="1" eaLnBrk="1" hangingPunct="1">
              <a:spcAft>
                <a:spcPts val="1200"/>
              </a:spcAft>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事物（</a:t>
            </a:r>
            <a:r>
              <a:rPr lang="en-US" altLang="zh-CN" sz="2400" b="1" dirty="0" smtClean="0">
                <a:solidFill>
                  <a:srgbClr val="FFFF00"/>
                </a:solidFill>
                <a:latin typeface="微软雅黑" panose="020B0503020204020204" pitchFamily="34" charset="-122"/>
                <a:ea typeface="微软雅黑" panose="020B0503020204020204" pitchFamily="34" charset="-122"/>
              </a:rPr>
              <a:t>Things</a:t>
            </a:r>
            <a:r>
              <a:rPr lang="zh-CN" altLang="en-US" sz="2400" b="1" dirty="0" smtClean="0">
                <a:solidFill>
                  <a:srgbClr val="FFFF00"/>
                </a:solidFill>
                <a:latin typeface="微软雅黑" panose="020B0503020204020204" pitchFamily="34" charset="-122"/>
                <a:ea typeface="微软雅黑" panose="020B0503020204020204" pitchFamily="34" charset="-122"/>
              </a:rPr>
              <a:t>）</a:t>
            </a:r>
            <a:br>
              <a:rPr lang="zh-CN" altLang="en-US" sz="2400" b="1" dirty="0" smtClean="0">
                <a:latin typeface="微软雅黑" panose="020B0503020204020204" pitchFamily="34" charset="-122"/>
                <a:ea typeface="微软雅黑" panose="020B0503020204020204" pitchFamily="34" charset="-122"/>
              </a:rPr>
            </a:br>
            <a:r>
              <a:rPr lang="en-US" altLang="zh-CN" sz="2400" b="1" dirty="0" smtClean="0">
                <a:latin typeface="微软雅黑" panose="020B0503020204020204" pitchFamily="34" charset="-122"/>
                <a:ea typeface="微软雅黑" panose="020B0503020204020204" pitchFamily="34" charset="-122"/>
              </a:rPr>
              <a:t>UML</a:t>
            </a:r>
            <a:r>
              <a:rPr lang="zh-CN" altLang="en-US" sz="2400" b="1" dirty="0" smtClean="0">
                <a:latin typeface="微软雅黑" panose="020B0503020204020204" pitchFamily="34" charset="-122"/>
                <a:ea typeface="微软雅黑" panose="020B0503020204020204" pitchFamily="34" charset="-122"/>
              </a:rPr>
              <a:t>中重要的组成部分，在模型中属于最静态的部分，代表概念上的或物理上的元素</a:t>
            </a:r>
            <a:endParaRPr lang="zh-CN" altLang="en-US" sz="2400" b="1" dirty="0" smtClean="0">
              <a:latin typeface="微软雅黑" panose="020B0503020204020204" pitchFamily="34" charset="-122"/>
              <a:ea typeface="微软雅黑" panose="020B0503020204020204" pitchFamily="34" charset="-122"/>
            </a:endParaRPr>
          </a:p>
          <a:p>
            <a:pPr lvl="1" eaLnBrk="1" hangingPunct="1">
              <a:spcAft>
                <a:spcPts val="1200"/>
              </a:spcAft>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关系（</a:t>
            </a:r>
            <a:r>
              <a:rPr lang="en-US" altLang="zh-CN" sz="2400" b="1" dirty="0" smtClean="0">
                <a:solidFill>
                  <a:srgbClr val="FFFF00"/>
                </a:solidFill>
                <a:latin typeface="微软雅黑" panose="020B0503020204020204" pitchFamily="34" charset="-122"/>
                <a:ea typeface="微软雅黑" panose="020B0503020204020204" pitchFamily="34" charset="-122"/>
              </a:rPr>
              <a:t>Relationships</a:t>
            </a:r>
            <a:r>
              <a:rPr lang="zh-CN" altLang="en-US" sz="2400" b="1" dirty="0" smtClean="0">
                <a:solidFill>
                  <a:srgbClr val="FFFF00"/>
                </a:solidFill>
                <a:latin typeface="微软雅黑" panose="020B0503020204020204" pitchFamily="34" charset="-122"/>
                <a:ea typeface="微软雅黑" panose="020B0503020204020204" pitchFamily="34" charset="-122"/>
              </a:rPr>
              <a:t>）</a:t>
            </a:r>
            <a:br>
              <a:rPr lang="zh-CN" altLang="en-US" sz="2400" b="1" dirty="0" smtClean="0">
                <a:solidFill>
                  <a:srgbClr val="FFFF00"/>
                </a:solidFill>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关系把事物紧密联系在一起</a:t>
            </a:r>
            <a:endParaRPr lang="zh-CN" altLang="en-US" sz="2400" b="1" dirty="0" smtClean="0">
              <a:latin typeface="微软雅黑" panose="020B0503020204020204" pitchFamily="34" charset="-122"/>
              <a:ea typeface="微软雅黑" panose="020B0503020204020204" pitchFamily="34" charset="-122"/>
            </a:endParaRPr>
          </a:p>
          <a:p>
            <a:pPr lvl="1" eaLnBrk="1" hangingPunct="1">
              <a:spcAft>
                <a:spcPts val="1200"/>
              </a:spcAft>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图（</a:t>
            </a:r>
            <a:r>
              <a:rPr lang="en-US" altLang="zh-CN" sz="2400" b="1" dirty="0" smtClean="0">
                <a:solidFill>
                  <a:srgbClr val="FFFF00"/>
                </a:solidFill>
                <a:latin typeface="微软雅黑" panose="020B0503020204020204" pitchFamily="34" charset="-122"/>
                <a:ea typeface="微软雅黑" panose="020B0503020204020204" pitchFamily="34" charset="-122"/>
              </a:rPr>
              <a:t>Diagrams</a:t>
            </a:r>
            <a:r>
              <a:rPr lang="zh-CN" altLang="en-US" sz="2400" b="1" dirty="0" smtClean="0">
                <a:solidFill>
                  <a:srgbClr val="FFFF00"/>
                </a:solidFill>
                <a:latin typeface="微软雅黑" panose="020B0503020204020204" pitchFamily="34" charset="-122"/>
                <a:ea typeface="微软雅黑" panose="020B0503020204020204" pitchFamily="34" charset="-122"/>
              </a:rPr>
              <a:t>）</a:t>
            </a:r>
            <a:br>
              <a:rPr lang="zh-CN" altLang="en-US" sz="2400" b="1" dirty="0" smtClean="0">
                <a:solidFill>
                  <a:srgbClr val="FFFF00"/>
                </a:solidFill>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图是很多有相互相关的事物的组</a:t>
            </a:r>
            <a:endParaRPr lang="zh-CN" altLang="en-US"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4.5.2 UML</a:t>
            </a:r>
            <a:r>
              <a:rPr lang="zh-CN" altLang="en-US" sz="4400" b="1">
                <a:latin typeface="Times New Roman" panose="02020603050405020304" pitchFamily="18" charset="0"/>
                <a:ea typeface="隶书" panose="02010509060101010101" pitchFamily="49" charset="-122"/>
              </a:rPr>
              <a:t>类图</a:t>
            </a:r>
            <a:endParaRPr lang="zh-CN" altLang="en-US" sz="4400" b="1">
              <a:latin typeface="Times New Roman" panose="02020603050405020304" pitchFamily="18" charset="0"/>
              <a:ea typeface="隶书" panose="02010509060101010101" pitchFamily="49" charset="-122"/>
            </a:endParaRPr>
          </a:p>
        </p:txBody>
      </p:sp>
      <p:sp>
        <p:nvSpPr>
          <p:cNvPr id="64515" name="内容占位符 2"/>
          <p:cNvSpPr>
            <a:spLocks noGrp="1"/>
          </p:cNvSpPr>
          <p:nvPr>
            <p:ph idx="1"/>
          </p:nvPr>
        </p:nvSpPr>
        <p:spPr>
          <a:xfrm>
            <a:off x="628650" y="1412776"/>
            <a:ext cx="7886700" cy="4351338"/>
          </a:xfrm>
        </p:spPr>
        <p:txBody>
          <a:bodyPr/>
          <a:lstStyle/>
          <a:p>
            <a:pPr eaLnBrk="1" hangingPunct="1">
              <a:spcBef>
                <a:spcPct val="10000"/>
              </a:spcBef>
            </a:pPr>
            <a:r>
              <a:rPr lang="zh-CN" altLang="en-US" b="1" dirty="0" smtClean="0">
                <a:ea typeface="+mj-ea"/>
              </a:rPr>
              <a:t>举例：</a:t>
            </a:r>
            <a:r>
              <a:rPr lang="en-US" altLang="zh-CN" b="1" dirty="0" smtClean="0">
                <a:ea typeface="+mj-ea"/>
              </a:rPr>
              <a:t>Clock</a:t>
            </a:r>
            <a:r>
              <a:rPr lang="zh-CN" altLang="en-US" b="1" dirty="0" smtClean="0">
                <a:ea typeface="+mj-ea"/>
              </a:rPr>
              <a:t>类的完整表示</a:t>
            </a:r>
            <a:endParaRPr lang="zh-CN" altLang="en-US" b="1" dirty="0" smtClean="0">
              <a:ea typeface="+mj-ea"/>
            </a:endParaRPr>
          </a:p>
          <a:p>
            <a:pPr eaLnBrk="1" hangingPunct="1">
              <a:spcBef>
                <a:spcPct val="10000"/>
              </a:spcBef>
            </a:pPr>
            <a:endParaRPr lang="zh-CN" altLang="en-US" b="1" dirty="0" smtClean="0">
              <a:ea typeface="+mj-ea"/>
            </a:endParaRPr>
          </a:p>
          <a:p>
            <a:pPr eaLnBrk="1" hangingPunct="1">
              <a:spcBef>
                <a:spcPct val="10000"/>
              </a:spcBef>
            </a:pPr>
            <a:endParaRPr lang="zh-CN" altLang="en-US" b="1" dirty="0" smtClean="0">
              <a:ea typeface="+mj-ea"/>
            </a:endParaRPr>
          </a:p>
          <a:p>
            <a:pPr eaLnBrk="1" hangingPunct="1">
              <a:spcBef>
                <a:spcPct val="10000"/>
              </a:spcBef>
            </a:pPr>
            <a:endParaRPr lang="zh-CN" altLang="en-US" b="1" dirty="0" smtClean="0">
              <a:ea typeface="+mj-ea"/>
            </a:endParaRPr>
          </a:p>
          <a:p>
            <a:pPr eaLnBrk="1" hangingPunct="1">
              <a:spcBef>
                <a:spcPct val="10000"/>
              </a:spcBef>
            </a:pPr>
            <a:endParaRPr lang="zh-CN" altLang="en-US" b="1" dirty="0" smtClean="0">
              <a:ea typeface="+mj-ea"/>
            </a:endParaRPr>
          </a:p>
          <a:p>
            <a:pPr eaLnBrk="1" hangingPunct="1">
              <a:spcBef>
                <a:spcPct val="10000"/>
              </a:spcBef>
            </a:pPr>
            <a:endParaRPr lang="en-US" altLang="zh-CN" sz="1800" b="1" dirty="0" smtClean="0">
              <a:ea typeface="+mj-ea"/>
            </a:endParaRPr>
          </a:p>
          <a:p>
            <a:pPr eaLnBrk="1" hangingPunct="1">
              <a:spcBef>
                <a:spcPct val="10000"/>
              </a:spcBef>
            </a:pPr>
            <a:r>
              <a:rPr lang="en-US" altLang="zh-CN" b="1" dirty="0" smtClean="0">
                <a:ea typeface="+mj-ea"/>
              </a:rPr>
              <a:t>Clock</a:t>
            </a:r>
            <a:r>
              <a:rPr lang="zh-CN" altLang="en-US" b="1" dirty="0" smtClean="0">
                <a:ea typeface="+mj-ea"/>
              </a:rPr>
              <a:t>类的简洁表示</a:t>
            </a:r>
            <a:endParaRPr lang="zh-CN" altLang="en-US" b="1" dirty="0" smtClean="0">
              <a:ea typeface="+mj-ea"/>
            </a:endParaRPr>
          </a:p>
        </p:txBody>
      </p:sp>
      <p:grpSp>
        <p:nvGrpSpPr>
          <p:cNvPr id="64518" name="Group 15"/>
          <p:cNvGrpSpPr/>
          <p:nvPr/>
        </p:nvGrpSpPr>
        <p:grpSpPr bwMode="auto">
          <a:xfrm>
            <a:off x="1571625" y="2204863"/>
            <a:ext cx="6210300" cy="1863685"/>
            <a:chOff x="1846" y="1833"/>
            <a:chExt cx="2074" cy="654"/>
          </a:xfrm>
        </p:grpSpPr>
        <p:sp>
          <p:nvSpPr>
            <p:cNvPr id="64522" name="Rectangle 6"/>
            <p:cNvSpPr>
              <a:spLocks noChangeArrowheads="1"/>
            </p:cNvSpPr>
            <p:nvPr/>
          </p:nvSpPr>
          <p:spPr bwMode="auto">
            <a:xfrm>
              <a:off x="1846" y="1833"/>
              <a:ext cx="2074" cy="649"/>
            </a:xfrm>
            <a:prstGeom prst="rect">
              <a:avLst/>
            </a:prstGeom>
            <a:noFill/>
            <a:ln w="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2000" b="1">
                <a:solidFill>
                  <a:srgbClr val="FFFF00"/>
                </a:solidFill>
                <a:latin typeface="+mn-lt"/>
              </a:endParaRPr>
            </a:p>
          </p:txBody>
        </p:sp>
        <p:sp>
          <p:nvSpPr>
            <p:cNvPr id="64523" name="Rectangle 7"/>
            <p:cNvSpPr>
              <a:spLocks noChangeArrowheads="1"/>
            </p:cNvSpPr>
            <p:nvPr/>
          </p:nvSpPr>
          <p:spPr bwMode="auto">
            <a:xfrm>
              <a:off x="2784" y="1852"/>
              <a:ext cx="214"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2000" b="1">
                  <a:solidFill>
                    <a:srgbClr val="FFFF00"/>
                  </a:solidFill>
                  <a:latin typeface="+mn-lt"/>
                </a:rPr>
                <a:t>Clock</a:t>
              </a:r>
              <a:endParaRPr lang="en-US" altLang="zh-CN" sz="2000" b="1">
                <a:solidFill>
                  <a:srgbClr val="FFFF00"/>
                </a:solidFill>
                <a:latin typeface="+mn-lt"/>
              </a:endParaRPr>
            </a:p>
          </p:txBody>
        </p:sp>
        <p:sp>
          <p:nvSpPr>
            <p:cNvPr id="64524" name="Rectangle 8"/>
            <p:cNvSpPr>
              <a:spLocks noChangeArrowheads="1"/>
            </p:cNvSpPr>
            <p:nvPr/>
          </p:nvSpPr>
          <p:spPr bwMode="auto">
            <a:xfrm>
              <a:off x="1846" y="1946"/>
              <a:ext cx="2074" cy="536"/>
            </a:xfrm>
            <a:prstGeom prst="rect">
              <a:avLst/>
            </a:prstGeom>
            <a:noFill/>
            <a:ln w="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2000" b="1">
                <a:solidFill>
                  <a:srgbClr val="FFFF00"/>
                </a:solidFill>
                <a:latin typeface="+mn-lt"/>
              </a:endParaRPr>
            </a:p>
          </p:txBody>
        </p:sp>
        <p:sp>
          <p:nvSpPr>
            <p:cNvPr id="64525" name="Rectangle 9"/>
            <p:cNvSpPr>
              <a:spLocks noChangeArrowheads="1"/>
            </p:cNvSpPr>
            <p:nvPr/>
          </p:nvSpPr>
          <p:spPr bwMode="auto">
            <a:xfrm>
              <a:off x="1846" y="2242"/>
              <a:ext cx="2074" cy="240"/>
            </a:xfrm>
            <a:prstGeom prst="rect">
              <a:avLst/>
            </a:prstGeom>
            <a:noFill/>
            <a:ln w="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2000" b="1">
                <a:solidFill>
                  <a:srgbClr val="FFFF00"/>
                </a:solidFill>
                <a:latin typeface="+mn-lt"/>
              </a:endParaRPr>
            </a:p>
          </p:txBody>
        </p:sp>
        <p:sp>
          <p:nvSpPr>
            <p:cNvPr id="64526" name="Rectangle 10"/>
            <p:cNvSpPr>
              <a:spLocks noChangeArrowheads="1"/>
            </p:cNvSpPr>
            <p:nvPr/>
          </p:nvSpPr>
          <p:spPr bwMode="auto">
            <a:xfrm>
              <a:off x="1916" y="1955"/>
              <a:ext cx="395"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2000" b="1" dirty="0">
                  <a:solidFill>
                    <a:srgbClr val="FFFF00"/>
                  </a:solidFill>
                  <a:latin typeface="+mn-lt"/>
                </a:rPr>
                <a:t>- hour : </a:t>
              </a:r>
              <a:r>
                <a:rPr lang="en-US" altLang="zh-CN" sz="2000" b="1" dirty="0" err="1">
                  <a:solidFill>
                    <a:srgbClr val="FFFF00"/>
                  </a:solidFill>
                  <a:latin typeface="+mn-lt"/>
                </a:rPr>
                <a:t>int</a:t>
              </a:r>
              <a:endParaRPr lang="en-US" altLang="zh-CN" sz="2000" b="1" dirty="0">
                <a:solidFill>
                  <a:srgbClr val="FFFF00"/>
                </a:solidFill>
                <a:latin typeface="+mn-lt"/>
              </a:endParaRPr>
            </a:p>
          </p:txBody>
        </p:sp>
        <p:sp>
          <p:nvSpPr>
            <p:cNvPr id="64527" name="Rectangle 11"/>
            <p:cNvSpPr>
              <a:spLocks noChangeArrowheads="1"/>
            </p:cNvSpPr>
            <p:nvPr/>
          </p:nvSpPr>
          <p:spPr bwMode="auto">
            <a:xfrm>
              <a:off x="1918" y="2040"/>
              <a:ext cx="477"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2000" b="1">
                  <a:solidFill>
                    <a:srgbClr val="FFFF00"/>
                  </a:solidFill>
                  <a:latin typeface="+mn-lt"/>
                </a:rPr>
                <a:t>- minute : int</a:t>
              </a:r>
              <a:endParaRPr lang="en-US" altLang="zh-CN" sz="2000" b="1">
                <a:solidFill>
                  <a:srgbClr val="FFFF00"/>
                </a:solidFill>
                <a:latin typeface="+mn-lt"/>
              </a:endParaRPr>
            </a:p>
          </p:txBody>
        </p:sp>
        <p:sp>
          <p:nvSpPr>
            <p:cNvPr id="64528" name="Rectangle 12"/>
            <p:cNvSpPr>
              <a:spLocks noChangeArrowheads="1"/>
            </p:cNvSpPr>
            <p:nvPr/>
          </p:nvSpPr>
          <p:spPr bwMode="auto">
            <a:xfrm>
              <a:off x="1922" y="2125"/>
              <a:ext cx="468"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2000" b="1">
                  <a:solidFill>
                    <a:srgbClr val="FFFF00"/>
                  </a:solidFill>
                  <a:latin typeface="+mn-lt"/>
                </a:rPr>
                <a:t>- second : int</a:t>
              </a:r>
              <a:endParaRPr lang="en-US" altLang="zh-CN" sz="2000" b="1">
                <a:solidFill>
                  <a:srgbClr val="FFFF00"/>
                </a:solidFill>
                <a:latin typeface="+mn-lt"/>
              </a:endParaRPr>
            </a:p>
          </p:txBody>
        </p:sp>
        <p:sp>
          <p:nvSpPr>
            <p:cNvPr id="64529" name="Rectangle 13"/>
            <p:cNvSpPr>
              <a:spLocks noChangeArrowheads="1"/>
            </p:cNvSpPr>
            <p:nvPr/>
          </p:nvSpPr>
          <p:spPr bwMode="auto">
            <a:xfrm>
              <a:off x="1897" y="2294"/>
              <a:ext cx="729"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2000" b="1">
                  <a:solidFill>
                    <a:srgbClr val="FFFF00"/>
                  </a:solidFill>
                  <a:latin typeface="+mn-lt"/>
                </a:rPr>
                <a:t>+ showTime() : void</a:t>
              </a:r>
              <a:endParaRPr lang="en-US" altLang="zh-CN" sz="2000" b="1">
                <a:solidFill>
                  <a:srgbClr val="FFFF00"/>
                </a:solidFill>
                <a:latin typeface="+mn-lt"/>
              </a:endParaRPr>
            </a:p>
          </p:txBody>
        </p:sp>
        <p:sp>
          <p:nvSpPr>
            <p:cNvPr id="64530" name="Rectangle 14"/>
            <p:cNvSpPr>
              <a:spLocks noChangeArrowheads="1"/>
            </p:cNvSpPr>
            <p:nvPr/>
          </p:nvSpPr>
          <p:spPr bwMode="auto">
            <a:xfrm>
              <a:off x="1905" y="2379"/>
              <a:ext cx="1940"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en-US" altLang="zh-CN" sz="2000" b="1">
                  <a:solidFill>
                    <a:srgbClr val="FFFF00"/>
                  </a:solidFill>
                  <a:latin typeface="+mn-lt"/>
                </a:rPr>
                <a:t>+ setTime(newH:int=0,newM:int=0,newS:int=0):void</a:t>
              </a:r>
              <a:endParaRPr lang="en-US" altLang="zh-CN" sz="2000" b="1">
                <a:solidFill>
                  <a:srgbClr val="FFFF00"/>
                </a:solidFill>
                <a:latin typeface="+mn-lt"/>
              </a:endParaRPr>
            </a:p>
          </p:txBody>
        </p:sp>
      </p:grpSp>
      <p:grpSp>
        <p:nvGrpSpPr>
          <p:cNvPr id="64519" name="Group 20"/>
          <p:cNvGrpSpPr/>
          <p:nvPr/>
        </p:nvGrpSpPr>
        <p:grpSpPr bwMode="auto">
          <a:xfrm>
            <a:off x="1585317" y="5000625"/>
            <a:ext cx="4714875" cy="1500188"/>
            <a:chOff x="1420" y="3105"/>
            <a:chExt cx="2085" cy="654"/>
          </a:xfrm>
        </p:grpSpPr>
        <p:sp>
          <p:nvSpPr>
            <p:cNvPr id="17" name="Rectangle 18"/>
            <p:cNvSpPr>
              <a:spLocks noChangeArrowheads="1"/>
            </p:cNvSpPr>
            <p:nvPr/>
          </p:nvSpPr>
          <p:spPr bwMode="auto">
            <a:xfrm>
              <a:off x="1420" y="3105"/>
              <a:ext cx="2085" cy="654"/>
            </a:xfrm>
            <a:prstGeom prst="rect">
              <a:avLst/>
            </a:prstGeom>
            <a:noFill/>
            <a:ln w="0">
              <a:solidFill>
                <a:schemeClr val="tx1"/>
              </a:solidFill>
              <a:miter lim="800000"/>
            </a:ln>
          </p:spPr>
          <p:txBody>
            <a:bodyPr/>
            <a:lstStyle/>
            <a:p>
              <a:pPr>
                <a:defRPr/>
              </a:pPr>
              <a:endParaRPr lang="zh-CN" altLang="en-US" sz="2000" b="1">
                <a:solidFill>
                  <a:srgbClr val="FFFF00"/>
                </a:solidFill>
                <a:latin typeface="+mn-lt"/>
              </a:endParaRPr>
            </a:p>
          </p:txBody>
        </p:sp>
        <p:sp>
          <p:nvSpPr>
            <p:cNvPr id="18" name="Rectangle 19"/>
            <p:cNvSpPr>
              <a:spLocks noChangeArrowheads="1"/>
            </p:cNvSpPr>
            <p:nvPr/>
          </p:nvSpPr>
          <p:spPr bwMode="auto">
            <a:xfrm>
              <a:off x="2108" y="3168"/>
              <a:ext cx="724" cy="134"/>
            </a:xfrm>
            <a:prstGeom prst="rect">
              <a:avLst/>
            </a:prstGeom>
            <a:noFill/>
            <a:ln w="9525">
              <a:noFill/>
              <a:miter lim="800000"/>
            </a:ln>
          </p:spPr>
          <p:txBody>
            <a:bodyPr lIns="0" tIns="0" rIns="0" bIns="0">
              <a:spAutoFit/>
            </a:bodyPr>
            <a:lstStyle/>
            <a:p>
              <a:pPr algn="ctr">
                <a:defRPr/>
              </a:pPr>
              <a:r>
                <a:rPr lang="en-US" altLang="zh-CN" sz="2000" b="1" dirty="0">
                  <a:solidFill>
                    <a:srgbClr val="FFFF00"/>
                  </a:solidFill>
                  <a:latin typeface="+mn-lt"/>
                </a:rPr>
                <a:t>Clock</a:t>
              </a:r>
              <a:endParaRPr lang="en-US" altLang="zh-CN" sz="2000" b="1" dirty="0">
                <a:solidFill>
                  <a:srgbClr val="FFFF00"/>
                </a:solidFill>
                <a:latin typeface="+mn-lt"/>
              </a:endParaRPr>
            </a:p>
          </p:txBody>
        </p:sp>
      </p:gr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对象图</a:t>
            </a:r>
            <a:endParaRPr lang="zh-CN" altLang="en-US" sz="4400" b="1">
              <a:latin typeface="Times New Roman" panose="02020603050405020304" pitchFamily="18" charset="0"/>
              <a:ea typeface="隶书" panose="02010509060101010101" pitchFamily="49" charset="-122"/>
            </a:endParaRPr>
          </a:p>
        </p:txBody>
      </p:sp>
      <p:grpSp>
        <p:nvGrpSpPr>
          <p:cNvPr id="65541" name="Group 13"/>
          <p:cNvGrpSpPr/>
          <p:nvPr/>
        </p:nvGrpSpPr>
        <p:grpSpPr bwMode="auto">
          <a:xfrm>
            <a:off x="2419101" y="1828800"/>
            <a:ext cx="4438900" cy="2967807"/>
            <a:chOff x="2300" y="1813"/>
            <a:chExt cx="1150" cy="991"/>
          </a:xfrm>
        </p:grpSpPr>
        <p:sp>
          <p:nvSpPr>
            <p:cNvPr id="21" name="Rectangle 6"/>
            <p:cNvSpPr>
              <a:spLocks noChangeArrowheads="1"/>
            </p:cNvSpPr>
            <p:nvPr/>
          </p:nvSpPr>
          <p:spPr bwMode="auto">
            <a:xfrm>
              <a:off x="2305" y="1813"/>
              <a:ext cx="1145" cy="687"/>
            </a:xfrm>
            <a:prstGeom prst="rect">
              <a:avLst/>
            </a:prstGeom>
            <a:noFill/>
            <a:ln w="3175">
              <a:solidFill>
                <a:schemeClr val="tx1"/>
              </a:solidFill>
              <a:miter lim="800000"/>
            </a:ln>
          </p:spPr>
          <p:txBody>
            <a:bodyPr/>
            <a:lstStyle/>
            <a:p>
              <a:pPr>
                <a:defRPr/>
              </a:pPr>
              <a:endParaRPr lang="zh-CN" altLang="en-US" b="1">
                <a:solidFill>
                  <a:srgbClr val="FFFF00"/>
                </a:solidFill>
                <a:latin typeface="+mn-lt"/>
              </a:endParaRPr>
            </a:p>
          </p:txBody>
        </p:sp>
        <p:sp>
          <p:nvSpPr>
            <p:cNvPr id="22" name="Rectangle 7"/>
            <p:cNvSpPr>
              <a:spLocks noChangeArrowheads="1"/>
            </p:cNvSpPr>
            <p:nvPr/>
          </p:nvSpPr>
          <p:spPr bwMode="auto">
            <a:xfrm>
              <a:off x="2595" y="1842"/>
              <a:ext cx="476" cy="103"/>
            </a:xfrm>
            <a:prstGeom prst="rect">
              <a:avLst/>
            </a:prstGeom>
            <a:noFill/>
            <a:ln w="9525">
              <a:noFill/>
              <a:miter lim="800000"/>
            </a:ln>
          </p:spPr>
          <p:txBody>
            <a:bodyPr wrap="none" lIns="0" tIns="0" rIns="0" bIns="0">
              <a:spAutoFit/>
            </a:bodyPr>
            <a:lstStyle/>
            <a:p>
              <a:pPr>
                <a:defRPr/>
              </a:pPr>
              <a:r>
                <a:rPr lang="en-US" altLang="zh-CN" sz="2000" b="1" dirty="0" err="1">
                  <a:solidFill>
                    <a:srgbClr val="FFFF00"/>
                  </a:solidFill>
                  <a:latin typeface="+mn-lt"/>
                </a:rPr>
                <a:t>myClock</a:t>
              </a:r>
              <a:r>
                <a:rPr lang="en-US" altLang="zh-CN" sz="2000" b="1" dirty="0">
                  <a:solidFill>
                    <a:srgbClr val="FFFF00"/>
                  </a:solidFill>
                  <a:latin typeface="+mn-lt"/>
                </a:rPr>
                <a:t> : Clock</a:t>
              </a:r>
              <a:endParaRPr lang="en-US" altLang="zh-CN" sz="2000" b="1" dirty="0">
                <a:solidFill>
                  <a:srgbClr val="FFFF00"/>
                </a:solidFill>
                <a:latin typeface="+mn-lt"/>
              </a:endParaRPr>
            </a:p>
          </p:txBody>
        </p:sp>
        <p:sp>
          <p:nvSpPr>
            <p:cNvPr id="23" name="Line 8"/>
            <p:cNvSpPr>
              <a:spLocks noChangeShapeType="1"/>
            </p:cNvSpPr>
            <p:nvPr/>
          </p:nvSpPr>
          <p:spPr bwMode="auto">
            <a:xfrm>
              <a:off x="2305" y="1984"/>
              <a:ext cx="1145" cy="0"/>
            </a:xfrm>
            <a:prstGeom prst="line">
              <a:avLst/>
            </a:prstGeom>
            <a:noFill/>
            <a:ln w="3175">
              <a:solidFill>
                <a:schemeClr val="tx1"/>
              </a:solidFill>
              <a:round/>
            </a:ln>
          </p:spPr>
          <p:txBody>
            <a:bodyPr/>
            <a:lstStyle/>
            <a:p>
              <a:pPr>
                <a:defRPr/>
              </a:pPr>
              <a:endParaRPr lang="zh-CN" altLang="en-US" b="1">
                <a:solidFill>
                  <a:srgbClr val="FFFF00"/>
                </a:solidFill>
                <a:latin typeface="+mn-lt"/>
              </a:endParaRPr>
            </a:p>
          </p:txBody>
        </p:sp>
        <p:sp>
          <p:nvSpPr>
            <p:cNvPr id="24" name="Line 9"/>
            <p:cNvSpPr>
              <a:spLocks noChangeShapeType="1"/>
            </p:cNvSpPr>
            <p:nvPr/>
          </p:nvSpPr>
          <p:spPr bwMode="auto">
            <a:xfrm flipV="1">
              <a:off x="2578" y="1963"/>
              <a:ext cx="491" cy="0"/>
            </a:xfrm>
            <a:prstGeom prst="line">
              <a:avLst/>
            </a:prstGeom>
            <a:noFill/>
            <a:ln w="3175">
              <a:solidFill>
                <a:schemeClr val="tx1"/>
              </a:solidFill>
              <a:round/>
            </a:ln>
          </p:spPr>
          <p:txBody>
            <a:bodyPr/>
            <a:lstStyle/>
            <a:p>
              <a:pPr>
                <a:defRPr/>
              </a:pPr>
              <a:endParaRPr lang="zh-CN" altLang="en-US" b="1">
                <a:solidFill>
                  <a:srgbClr val="FFFF00"/>
                </a:solidFill>
                <a:latin typeface="+mn-lt"/>
              </a:endParaRPr>
            </a:p>
          </p:txBody>
        </p:sp>
        <p:sp>
          <p:nvSpPr>
            <p:cNvPr id="25" name="Rectangle 10"/>
            <p:cNvSpPr>
              <a:spLocks noChangeArrowheads="1"/>
            </p:cNvSpPr>
            <p:nvPr/>
          </p:nvSpPr>
          <p:spPr bwMode="auto">
            <a:xfrm>
              <a:off x="2327" y="2012"/>
              <a:ext cx="307" cy="103"/>
            </a:xfrm>
            <a:prstGeom prst="rect">
              <a:avLst/>
            </a:prstGeom>
            <a:noFill/>
            <a:ln w="9525">
              <a:noFill/>
              <a:miter lim="800000"/>
            </a:ln>
          </p:spPr>
          <p:txBody>
            <a:bodyPr wrap="none" lIns="0" tIns="0" rIns="0" bIns="0">
              <a:spAutoFit/>
            </a:bodyPr>
            <a:lstStyle/>
            <a:p>
              <a:pPr>
                <a:defRPr/>
              </a:pPr>
              <a:r>
                <a:rPr lang="en-US" altLang="zh-CN" sz="2000" b="1" dirty="0">
                  <a:solidFill>
                    <a:srgbClr val="FFFF00"/>
                  </a:solidFill>
                  <a:latin typeface="+mn-lt"/>
                </a:rPr>
                <a:t>- hour : int</a:t>
              </a:r>
              <a:endParaRPr lang="en-US" altLang="zh-CN" sz="2000" b="1" dirty="0">
                <a:solidFill>
                  <a:srgbClr val="FFFF00"/>
                </a:solidFill>
                <a:latin typeface="+mn-lt"/>
              </a:endParaRPr>
            </a:p>
          </p:txBody>
        </p:sp>
        <p:sp>
          <p:nvSpPr>
            <p:cNvPr id="26" name="Rectangle 11"/>
            <p:cNvSpPr>
              <a:spLocks noChangeArrowheads="1"/>
            </p:cNvSpPr>
            <p:nvPr/>
          </p:nvSpPr>
          <p:spPr bwMode="auto">
            <a:xfrm>
              <a:off x="2331" y="2108"/>
              <a:ext cx="370" cy="103"/>
            </a:xfrm>
            <a:prstGeom prst="rect">
              <a:avLst/>
            </a:prstGeom>
            <a:noFill/>
            <a:ln w="9525">
              <a:noFill/>
              <a:miter lim="800000"/>
            </a:ln>
          </p:spPr>
          <p:txBody>
            <a:bodyPr wrap="none" lIns="0" tIns="0" rIns="0" bIns="0">
              <a:spAutoFit/>
            </a:bodyPr>
            <a:lstStyle/>
            <a:p>
              <a:pPr>
                <a:defRPr/>
              </a:pPr>
              <a:r>
                <a:rPr lang="en-US" altLang="zh-CN" sz="2000" b="1" dirty="0">
                  <a:solidFill>
                    <a:srgbClr val="FFFF00"/>
                  </a:solidFill>
                  <a:latin typeface="+mn-lt"/>
                </a:rPr>
                <a:t>- minute : int</a:t>
              </a:r>
              <a:endParaRPr lang="en-US" altLang="zh-CN" sz="2000" b="1" dirty="0">
                <a:solidFill>
                  <a:srgbClr val="FFFF00"/>
                </a:solidFill>
                <a:latin typeface="+mn-lt"/>
              </a:endParaRPr>
            </a:p>
          </p:txBody>
        </p:sp>
        <p:sp>
          <p:nvSpPr>
            <p:cNvPr id="27" name="Rectangle 12"/>
            <p:cNvSpPr>
              <a:spLocks noChangeArrowheads="1"/>
            </p:cNvSpPr>
            <p:nvPr/>
          </p:nvSpPr>
          <p:spPr bwMode="auto">
            <a:xfrm>
              <a:off x="2331" y="2204"/>
              <a:ext cx="363" cy="103"/>
            </a:xfrm>
            <a:prstGeom prst="rect">
              <a:avLst/>
            </a:prstGeom>
            <a:noFill/>
            <a:ln w="9525">
              <a:noFill/>
              <a:miter lim="800000"/>
            </a:ln>
          </p:spPr>
          <p:txBody>
            <a:bodyPr wrap="none" lIns="0" tIns="0" rIns="0" bIns="0">
              <a:spAutoFit/>
            </a:bodyPr>
            <a:lstStyle/>
            <a:p>
              <a:pPr>
                <a:defRPr/>
              </a:pPr>
              <a:r>
                <a:rPr lang="en-US" altLang="zh-CN" sz="2000" b="1" dirty="0">
                  <a:solidFill>
                    <a:srgbClr val="FFFF00"/>
                  </a:solidFill>
                  <a:latin typeface="+mn-lt"/>
                </a:rPr>
                <a:t>- second : int</a:t>
              </a:r>
              <a:endParaRPr lang="en-US" altLang="zh-CN" sz="2000" b="1" dirty="0">
                <a:solidFill>
                  <a:srgbClr val="FFFF00"/>
                </a:solidFill>
                <a:latin typeface="+mn-lt"/>
              </a:endParaRPr>
            </a:p>
          </p:txBody>
        </p:sp>
        <p:sp>
          <p:nvSpPr>
            <p:cNvPr id="16" name="Line 8"/>
            <p:cNvSpPr>
              <a:spLocks noChangeShapeType="1"/>
            </p:cNvSpPr>
            <p:nvPr/>
          </p:nvSpPr>
          <p:spPr bwMode="auto">
            <a:xfrm>
              <a:off x="2300" y="2804"/>
              <a:ext cx="1145" cy="0"/>
            </a:xfrm>
            <a:prstGeom prst="line">
              <a:avLst/>
            </a:prstGeom>
            <a:noFill/>
            <a:ln w="3175">
              <a:solidFill>
                <a:schemeClr val="tx1"/>
              </a:solidFill>
              <a:round/>
            </a:ln>
          </p:spPr>
          <p:txBody>
            <a:bodyPr/>
            <a:lstStyle/>
            <a:p>
              <a:pPr>
                <a:defRPr/>
              </a:pPr>
              <a:endParaRPr lang="zh-CN" altLang="en-US" b="1">
                <a:solidFill>
                  <a:srgbClr val="FFFF00"/>
                </a:solidFill>
                <a:latin typeface="+mn-lt"/>
              </a:endParaRPr>
            </a:p>
          </p:txBody>
        </p:sp>
      </p:grpSp>
      <p:grpSp>
        <p:nvGrpSpPr>
          <p:cNvPr id="65542" name="Group 25"/>
          <p:cNvGrpSpPr/>
          <p:nvPr/>
        </p:nvGrpSpPr>
        <p:grpSpPr bwMode="auto">
          <a:xfrm>
            <a:off x="2438400" y="4191000"/>
            <a:ext cx="4419600" cy="2286000"/>
            <a:chOff x="2305" y="1813"/>
            <a:chExt cx="1145" cy="687"/>
          </a:xfrm>
        </p:grpSpPr>
        <p:sp>
          <p:nvSpPr>
            <p:cNvPr id="29" name="Rectangle 22"/>
            <p:cNvSpPr>
              <a:spLocks noChangeArrowheads="1"/>
            </p:cNvSpPr>
            <p:nvPr/>
          </p:nvSpPr>
          <p:spPr bwMode="auto">
            <a:xfrm>
              <a:off x="2305" y="1813"/>
              <a:ext cx="1145" cy="687"/>
            </a:xfrm>
            <a:prstGeom prst="rect">
              <a:avLst/>
            </a:prstGeom>
            <a:noFill/>
            <a:ln w="3175">
              <a:solidFill>
                <a:schemeClr val="tx1"/>
              </a:solidFill>
              <a:miter lim="800000"/>
            </a:ln>
          </p:spPr>
          <p:txBody>
            <a:bodyPr/>
            <a:lstStyle/>
            <a:p>
              <a:pPr>
                <a:defRPr/>
              </a:pPr>
              <a:endParaRPr lang="zh-CN" altLang="en-US">
                <a:latin typeface="+mn-lt"/>
              </a:endParaRPr>
            </a:p>
          </p:txBody>
        </p:sp>
        <p:sp>
          <p:nvSpPr>
            <p:cNvPr id="30" name="Rectangle 23"/>
            <p:cNvSpPr>
              <a:spLocks noChangeArrowheads="1"/>
            </p:cNvSpPr>
            <p:nvPr/>
          </p:nvSpPr>
          <p:spPr bwMode="auto">
            <a:xfrm>
              <a:off x="2400" y="1872"/>
              <a:ext cx="472" cy="92"/>
            </a:xfrm>
            <a:prstGeom prst="rect">
              <a:avLst/>
            </a:prstGeom>
            <a:noFill/>
            <a:ln w="9525">
              <a:noFill/>
              <a:miter lim="800000"/>
            </a:ln>
          </p:spPr>
          <p:txBody>
            <a:bodyPr wrap="none" lIns="0" tIns="0" rIns="0" bIns="0">
              <a:spAutoFit/>
            </a:bodyPr>
            <a:lstStyle/>
            <a:p>
              <a:pPr>
                <a:defRPr/>
              </a:pPr>
              <a:r>
                <a:rPr lang="en-US" altLang="zh-CN" sz="2000" b="1" u="sng" dirty="0" err="1">
                  <a:solidFill>
                    <a:srgbClr val="FFFF00"/>
                  </a:solidFill>
                  <a:latin typeface="+mn-lt"/>
                </a:rPr>
                <a:t>myClock</a:t>
              </a:r>
              <a:r>
                <a:rPr lang="en-US" altLang="zh-CN" sz="2000" b="1" u="sng" dirty="0">
                  <a:solidFill>
                    <a:srgbClr val="FFFF00"/>
                  </a:solidFill>
                  <a:latin typeface="+mn-lt"/>
                </a:rPr>
                <a:t> : Clock</a:t>
              </a:r>
              <a:endParaRPr lang="en-US" altLang="zh-CN" sz="2000" b="1" u="sng" dirty="0">
                <a:solidFill>
                  <a:srgbClr val="FFFF00"/>
                </a:solidFill>
                <a:latin typeface="+mn-lt"/>
              </a:endParaRPr>
            </a:p>
          </p:txBody>
        </p:sp>
      </p:gr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几种关系的图形标识</a:t>
            </a:r>
            <a:endParaRPr lang="zh-CN" altLang="en-US" sz="4400" b="1" dirty="0">
              <a:latin typeface="Times New Roman" panose="02020603050405020304" pitchFamily="18" charset="0"/>
              <a:ea typeface="隶书" panose="02010509060101010101" pitchFamily="49" charset="-122"/>
            </a:endParaRPr>
          </a:p>
        </p:txBody>
      </p:sp>
      <p:sp>
        <p:nvSpPr>
          <p:cNvPr id="66563" name="内容占位符 2"/>
          <p:cNvSpPr>
            <a:spLocks noGrp="1"/>
          </p:cNvSpPr>
          <p:nvPr>
            <p:ph idx="1"/>
          </p:nvPr>
        </p:nvSpPr>
        <p:spPr/>
        <p:txBody>
          <a:bodyPr/>
          <a:lstStyle/>
          <a:p>
            <a:pPr eaLnBrk="1" hangingPunct="1"/>
            <a:r>
              <a:rPr lang="zh-CN" altLang="en-US" b="1" dirty="0" smtClean="0">
                <a:latin typeface="微软雅黑" panose="020B0503020204020204" pitchFamily="34" charset="-122"/>
                <a:ea typeface="微软雅黑" panose="020B0503020204020204" pitchFamily="34" charset="-122"/>
              </a:rPr>
              <a:t>依赖关系</a:t>
            </a:r>
            <a:endParaRPr lang="zh-CN" altLang="en-US" b="1" dirty="0" smtClean="0">
              <a:latin typeface="微软雅黑" panose="020B0503020204020204" pitchFamily="34" charset="-122"/>
              <a:ea typeface="微软雅黑" panose="020B0503020204020204" pitchFamily="34" charset="-122"/>
            </a:endParaRPr>
          </a:p>
          <a:p>
            <a:pPr eaLnBrk="1" hangingPunct="1"/>
            <a:endParaRPr lang="zh-CN" altLang="en-US" b="1" dirty="0" smtClean="0">
              <a:latin typeface="微软雅黑" panose="020B0503020204020204" pitchFamily="34" charset="-122"/>
              <a:ea typeface="微软雅黑" panose="020B0503020204020204" pitchFamily="34" charset="-122"/>
            </a:endParaRPr>
          </a:p>
          <a:p>
            <a:pPr eaLnBrk="1" hangingPunct="1"/>
            <a:endParaRPr lang="zh-CN" altLang="en-US" b="1" dirty="0" smtClean="0">
              <a:latin typeface="微软雅黑" panose="020B0503020204020204" pitchFamily="34" charset="-122"/>
              <a:ea typeface="微软雅黑" panose="020B0503020204020204" pitchFamily="34" charset="-122"/>
            </a:endParaRPr>
          </a:p>
          <a:p>
            <a:pPr eaLnBrk="1" hangingPunct="1"/>
            <a:endParaRPr lang="zh-CN" altLang="en-US" b="1" dirty="0" smtClean="0">
              <a:latin typeface="微软雅黑" panose="020B0503020204020204" pitchFamily="34" charset="-122"/>
              <a:ea typeface="微软雅黑" panose="020B0503020204020204" pitchFamily="34" charset="-122"/>
            </a:endParaRPr>
          </a:p>
          <a:p>
            <a:pPr marL="571500" lvl="1" indent="0" eaLnBrk="1" hangingPunct="1">
              <a:buFontTx/>
              <a:buNone/>
            </a:pPr>
            <a:r>
              <a:rPr lang="zh-CN" altLang="en-US" b="1" dirty="0" smtClean="0">
                <a:latin typeface="微软雅黑" panose="020B0503020204020204" pitchFamily="34" charset="-122"/>
                <a:ea typeface="微软雅黑" panose="020B0503020204020204" pitchFamily="34" charset="-122"/>
              </a:rPr>
              <a:t>图中的“类</a:t>
            </a:r>
            <a:r>
              <a:rPr lang="en-US" altLang="zh-CN" b="1" dirty="0" smtClean="0">
                <a:latin typeface="微软雅黑" panose="020B0503020204020204" pitchFamily="34" charset="-122"/>
                <a:ea typeface="微软雅黑" panose="020B0503020204020204" pitchFamily="34" charset="-122"/>
              </a:rPr>
              <a:t>A”</a:t>
            </a:r>
            <a:r>
              <a:rPr lang="zh-CN" altLang="en-US" b="1" dirty="0" smtClean="0">
                <a:latin typeface="微软雅黑" panose="020B0503020204020204" pitchFamily="34" charset="-122"/>
                <a:ea typeface="微软雅黑" panose="020B0503020204020204" pitchFamily="34" charset="-122"/>
              </a:rPr>
              <a:t>是源，“类</a:t>
            </a:r>
            <a:r>
              <a:rPr lang="en-US" altLang="zh-CN" b="1" dirty="0" smtClean="0">
                <a:latin typeface="微软雅黑" panose="020B0503020204020204" pitchFamily="34" charset="-122"/>
                <a:ea typeface="微软雅黑" panose="020B0503020204020204" pitchFamily="34" charset="-122"/>
              </a:rPr>
              <a:t>B”</a:t>
            </a:r>
            <a:r>
              <a:rPr lang="zh-CN" altLang="en-US" b="1" dirty="0" smtClean="0">
                <a:latin typeface="微软雅黑" panose="020B0503020204020204" pitchFamily="34" charset="-122"/>
                <a:ea typeface="微软雅黑" panose="020B0503020204020204" pitchFamily="34" charset="-122"/>
              </a:rPr>
              <a:t>是目标，表示“类</a:t>
            </a:r>
            <a:r>
              <a:rPr lang="en-US" altLang="zh-CN" b="1" dirty="0" smtClean="0">
                <a:latin typeface="微软雅黑" panose="020B0503020204020204" pitchFamily="34" charset="-122"/>
                <a:ea typeface="微软雅黑" panose="020B0503020204020204" pitchFamily="34" charset="-122"/>
              </a:rPr>
              <a:t>A”</a:t>
            </a:r>
            <a:r>
              <a:rPr lang="zh-CN" altLang="en-US" b="1" dirty="0" smtClean="0">
                <a:latin typeface="微软雅黑" panose="020B0503020204020204" pitchFamily="34" charset="-122"/>
                <a:ea typeface="微软雅黑" panose="020B0503020204020204" pitchFamily="34" charset="-122"/>
              </a:rPr>
              <a:t>使用了“类</a:t>
            </a:r>
            <a:r>
              <a:rPr lang="en-US" altLang="zh-CN" b="1" dirty="0" smtClean="0">
                <a:latin typeface="微软雅黑" panose="020B0503020204020204" pitchFamily="34" charset="-122"/>
                <a:ea typeface="微软雅黑" panose="020B0503020204020204" pitchFamily="34" charset="-122"/>
              </a:rPr>
              <a:t>B”</a:t>
            </a:r>
            <a:r>
              <a:rPr lang="zh-CN" altLang="en-US" b="1" dirty="0" smtClean="0">
                <a:latin typeface="微软雅黑" panose="020B0503020204020204" pitchFamily="34" charset="-122"/>
                <a:ea typeface="微软雅黑" panose="020B0503020204020204" pitchFamily="34" charset="-122"/>
              </a:rPr>
              <a:t>，或称“类</a:t>
            </a:r>
            <a:r>
              <a:rPr lang="en-US" altLang="zh-CN" b="1" dirty="0" smtClean="0">
                <a:latin typeface="微软雅黑" panose="020B0503020204020204" pitchFamily="34" charset="-122"/>
                <a:ea typeface="微软雅黑" panose="020B0503020204020204" pitchFamily="34" charset="-122"/>
              </a:rPr>
              <a:t>A”</a:t>
            </a:r>
            <a:r>
              <a:rPr lang="zh-CN" altLang="en-US" b="1" dirty="0" smtClean="0">
                <a:latin typeface="微软雅黑" panose="020B0503020204020204" pitchFamily="34" charset="-122"/>
                <a:ea typeface="微软雅黑" panose="020B0503020204020204" pitchFamily="34" charset="-122"/>
              </a:rPr>
              <a:t>依赖“类</a:t>
            </a:r>
            <a:r>
              <a:rPr lang="en-US" altLang="zh-CN" b="1" dirty="0" smtClean="0">
                <a:latin typeface="微软雅黑" panose="020B0503020204020204" pitchFamily="34" charset="-122"/>
                <a:ea typeface="微软雅黑" panose="020B0503020204020204" pitchFamily="34" charset="-122"/>
              </a:rPr>
              <a:t>B”</a:t>
            </a:r>
            <a:endParaRPr lang="en-US" altLang="zh-CN" b="1" dirty="0" smtClean="0">
              <a:latin typeface="微软雅黑" panose="020B0503020204020204" pitchFamily="34" charset="-122"/>
              <a:ea typeface="微软雅黑" panose="020B0503020204020204" pitchFamily="34" charset="-122"/>
            </a:endParaRPr>
          </a:p>
          <a:p>
            <a:pPr eaLnBrk="1" hangingPunct="1"/>
            <a:endParaRPr lang="zh-CN" altLang="en-US" b="1" dirty="0" smtClean="0">
              <a:latin typeface="微软雅黑" panose="020B0503020204020204" pitchFamily="34" charset="-122"/>
              <a:ea typeface="微软雅黑" panose="020B0503020204020204" pitchFamily="34" charset="-122"/>
            </a:endParaRPr>
          </a:p>
        </p:txBody>
      </p:sp>
      <p:grpSp>
        <p:nvGrpSpPr>
          <p:cNvPr id="66566" name="Group 4"/>
          <p:cNvGrpSpPr/>
          <p:nvPr/>
        </p:nvGrpSpPr>
        <p:grpSpPr bwMode="auto">
          <a:xfrm>
            <a:off x="1500188" y="2786063"/>
            <a:ext cx="6613525" cy="536575"/>
            <a:chOff x="3265" y="11164"/>
            <a:chExt cx="5796" cy="470"/>
          </a:xfrm>
        </p:grpSpPr>
        <p:sp>
          <p:nvSpPr>
            <p:cNvPr id="66567" name="Text Box 5"/>
            <p:cNvSpPr txBox="1">
              <a:spLocks noChangeArrowheads="1"/>
            </p:cNvSpPr>
            <p:nvPr/>
          </p:nvSpPr>
          <p:spPr bwMode="auto">
            <a:xfrm>
              <a:off x="3265" y="11169"/>
              <a:ext cx="1218" cy="4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b="1">
                  <a:solidFill>
                    <a:srgbClr val="FFFF00"/>
                  </a:solidFill>
                  <a:latin typeface="+mn-lt"/>
                </a:rPr>
                <a:t>类 </a:t>
              </a:r>
              <a:r>
                <a:rPr kumimoji="0" lang="en-US" altLang="zh-CN" b="1">
                  <a:solidFill>
                    <a:srgbClr val="FFFF00"/>
                  </a:solidFill>
                  <a:latin typeface="+mn-lt"/>
                </a:rPr>
                <a:t>A</a:t>
              </a:r>
              <a:endParaRPr kumimoji="0" lang="en-US" altLang="zh-CN" b="1">
                <a:solidFill>
                  <a:srgbClr val="FFFF00"/>
                </a:solidFill>
                <a:latin typeface="+mn-lt"/>
              </a:endParaRPr>
            </a:p>
          </p:txBody>
        </p:sp>
        <p:sp>
          <p:nvSpPr>
            <p:cNvPr id="66568" name="Line 6"/>
            <p:cNvSpPr>
              <a:spLocks noChangeShapeType="1"/>
            </p:cNvSpPr>
            <p:nvPr/>
          </p:nvSpPr>
          <p:spPr bwMode="auto">
            <a:xfrm>
              <a:off x="4483" y="11364"/>
              <a:ext cx="3360" cy="23"/>
            </a:xfrm>
            <a:prstGeom prst="line">
              <a:avLst/>
            </a:prstGeom>
            <a:noFill/>
            <a:ln w="12700">
              <a:solidFill>
                <a:schemeClr val="tx1"/>
              </a:solidFill>
              <a:prstDash val="dash"/>
              <a:round/>
              <a:tailEnd type="arrow" w="med" len="lg"/>
            </a:ln>
            <a:extLst>
              <a:ext uri="{909E8E84-426E-40DD-AFC4-6F175D3DCCD1}">
                <a14:hiddenFill xmlns:a14="http://schemas.microsoft.com/office/drawing/2010/main">
                  <a:noFill/>
                </a14:hiddenFill>
              </a:ext>
            </a:extLst>
          </p:spPr>
          <p:txBody>
            <a:bodyPr/>
            <a:lstStyle/>
            <a:p>
              <a:endParaRPr lang="zh-CN" altLang="en-US" b="1">
                <a:solidFill>
                  <a:srgbClr val="FFFF00"/>
                </a:solidFill>
                <a:latin typeface="+mn-lt"/>
              </a:endParaRPr>
            </a:p>
          </p:txBody>
        </p:sp>
        <p:sp>
          <p:nvSpPr>
            <p:cNvPr id="66569" name="Text Box 7"/>
            <p:cNvSpPr txBox="1">
              <a:spLocks noChangeArrowheads="1"/>
            </p:cNvSpPr>
            <p:nvPr/>
          </p:nvSpPr>
          <p:spPr bwMode="auto">
            <a:xfrm>
              <a:off x="7843" y="11164"/>
              <a:ext cx="1218" cy="4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b="1">
                  <a:solidFill>
                    <a:srgbClr val="FFFF00"/>
                  </a:solidFill>
                  <a:latin typeface="+mn-lt"/>
                </a:rPr>
                <a:t>类 </a:t>
              </a:r>
              <a:r>
                <a:rPr kumimoji="0" lang="en-US" altLang="zh-CN" b="1">
                  <a:solidFill>
                    <a:srgbClr val="FFFF00"/>
                  </a:solidFill>
                  <a:latin typeface="+mn-lt"/>
                </a:rPr>
                <a:t>B</a:t>
              </a:r>
              <a:endParaRPr kumimoji="0" lang="en-US" altLang="zh-CN" b="1">
                <a:solidFill>
                  <a:srgbClr val="FFFF00"/>
                </a:solidFill>
                <a:latin typeface="+mn-lt"/>
              </a:endParaRPr>
            </a:p>
          </p:txBody>
        </p:sp>
      </p:gr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几种关系的图形标识</a:t>
            </a:r>
            <a:endParaRPr lang="zh-CN" altLang="en-US" sz="4400" b="1">
              <a:latin typeface="Times New Roman" panose="02020603050405020304" pitchFamily="18" charset="0"/>
              <a:ea typeface="隶书" panose="02010509060101010101" pitchFamily="49" charset="-122"/>
            </a:endParaRPr>
          </a:p>
        </p:txBody>
      </p:sp>
      <p:sp>
        <p:nvSpPr>
          <p:cNvPr id="67587" name="内容占位符 2"/>
          <p:cNvSpPr>
            <a:spLocks noGrp="1"/>
          </p:cNvSpPr>
          <p:nvPr>
            <p:ph idx="1"/>
          </p:nvPr>
        </p:nvSpPr>
        <p:spPr/>
        <p:txBody>
          <a:bodyPr/>
          <a:lstStyle/>
          <a:p>
            <a:pPr eaLnBrk="1" hangingPunct="1">
              <a:lnSpc>
                <a:spcPct val="90000"/>
              </a:lnSpc>
            </a:pPr>
            <a:r>
              <a:rPr lang="zh-CN" altLang="en-US" b="1" smtClean="0">
                <a:latin typeface="微软雅黑" panose="020B0503020204020204" pitchFamily="34" charset="-122"/>
                <a:ea typeface="微软雅黑" panose="020B0503020204020204" pitchFamily="34" charset="-122"/>
              </a:rPr>
              <a:t>作用关系</a:t>
            </a:r>
            <a:r>
              <a:rPr lang="en-US" altLang="zh-CN" b="1" smtClean="0">
                <a:latin typeface="微软雅黑" panose="020B0503020204020204" pitchFamily="34" charset="-122"/>
                <a:ea typeface="微软雅黑" panose="020B0503020204020204" pitchFamily="34" charset="-122"/>
              </a:rPr>
              <a:t>——</a:t>
            </a:r>
            <a:r>
              <a:rPr lang="zh-CN" altLang="en-US" b="1" smtClean="0">
                <a:latin typeface="微软雅黑" panose="020B0503020204020204" pitchFamily="34" charset="-122"/>
                <a:ea typeface="微软雅黑" panose="020B0503020204020204" pitchFamily="34" charset="-122"/>
              </a:rPr>
              <a:t>关联</a:t>
            </a:r>
            <a:endParaRPr lang="zh-CN" altLang="en-US" b="1" smtClean="0">
              <a:latin typeface="微软雅黑" panose="020B0503020204020204" pitchFamily="34" charset="-122"/>
              <a:ea typeface="微软雅黑" panose="020B0503020204020204" pitchFamily="34" charset="-122"/>
            </a:endParaRPr>
          </a:p>
          <a:p>
            <a:pPr eaLnBrk="1" hangingPunct="1">
              <a:lnSpc>
                <a:spcPct val="90000"/>
              </a:lnSpc>
            </a:pPr>
            <a:endParaRPr lang="zh-CN" altLang="en-US" b="1" smtClean="0">
              <a:latin typeface="微软雅黑" panose="020B0503020204020204" pitchFamily="34" charset="-122"/>
              <a:ea typeface="微软雅黑" panose="020B0503020204020204" pitchFamily="34" charset="-122"/>
            </a:endParaRPr>
          </a:p>
          <a:p>
            <a:pPr eaLnBrk="1" hangingPunct="1">
              <a:lnSpc>
                <a:spcPct val="90000"/>
              </a:lnSpc>
            </a:pPr>
            <a:endParaRPr lang="zh-CN" altLang="en-US" b="1" smtClean="0">
              <a:latin typeface="微软雅黑" panose="020B0503020204020204" pitchFamily="34" charset="-122"/>
              <a:ea typeface="微软雅黑" panose="020B0503020204020204" pitchFamily="34" charset="-122"/>
            </a:endParaRPr>
          </a:p>
          <a:p>
            <a:pPr eaLnBrk="1" hangingPunct="1">
              <a:lnSpc>
                <a:spcPct val="90000"/>
              </a:lnSpc>
            </a:pPr>
            <a:endParaRPr lang="zh-CN" altLang="en-US" b="1" smtClean="0">
              <a:latin typeface="微软雅黑" panose="020B0503020204020204" pitchFamily="34" charset="-122"/>
              <a:ea typeface="微软雅黑" panose="020B0503020204020204" pitchFamily="34" charset="-122"/>
            </a:endParaRPr>
          </a:p>
          <a:p>
            <a:pPr marL="666750" lvl="1" indent="0" eaLnBrk="1" hangingPunct="1">
              <a:lnSpc>
                <a:spcPct val="90000"/>
              </a:lnSpc>
              <a:buFontTx/>
              <a:buNone/>
            </a:pPr>
            <a:r>
              <a:rPr lang="zh-CN" altLang="en-US" b="1" smtClean="0">
                <a:latin typeface="微软雅黑" panose="020B0503020204020204" pitchFamily="34" charset="-122"/>
                <a:ea typeface="微软雅黑" panose="020B0503020204020204" pitchFamily="34" charset="-122"/>
              </a:rPr>
              <a:t>图中的“重数</a:t>
            </a:r>
            <a:r>
              <a:rPr lang="en-US" altLang="zh-CN" b="1" smtClean="0">
                <a:latin typeface="微软雅黑" panose="020B0503020204020204" pitchFamily="34" charset="-122"/>
                <a:ea typeface="微软雅黑" panose="020B0503020204020204" pitchFamily="34" charset="-122"/>
              </a:rPr>
              <a:t>A”</a:t>
            </a:r>
            <a:r>
              <a:rPr lang="zh-CN" altLang="en-US" b="1" smtClean="0">
                <a:latin typeface="微软雅黑" panose="020B0503020204020204" pitchFamily="34" charset="-122"/>
                <a:ea typeface="微软雅黑" panose="020B0503020204020204" pitchFamily="34" charset="-122"/>
              </a:rPr>
              <a:t>决定了类</a:t>
            </a:r>
            <a:r>
              <a:rPr lang="en-US" altLang="zh-CN" b="1" smtClean="0">
                <a:latin typeface="微软雅黑" panose="020B0503020204020204" pitchFamily="34" charset="-122"/>
                <a:ea typeface="微软雅黑" panose="020B0503020204020204" pitchFamily="34" charset="-122"/>
              </a:rPr>
              <a:t>B</a:t>
            </a:r>
            <a:r>
              <a:rPr lang="zh-CN" altLang="en-US" b="1" smtClean="0">
                <a:latin typeface="微软雅黑" panose="020B0503020204020204" pitchFamily="34" charset="-122"/>
                <a:ea typeface="微软雅黑" panose="020B0503020204020204" pitchFamily="34" charset="-122"/>
              </a:rPr>
              <a:t>的每个对象与类</a:t>
            </a:r>
            <a:r>
              <a:rPr lang="en-US" altLang="zh-CN" b="1" smtClean="0">
                <a:latin typeface="微软雅黑" panose="020B0503020204020204" pitchFamily="34" charset="-122"/>
                <a:ea typeface="微软雅黑" panose="020B0503020204020204" pitchFamily="34" charset="-122"/>
              </a:rPr>
              <a:t>A</a:t>
            </a:r>
            <a:r>
              <a:rPr lang="zh-CN" altLang="en-US" b="1" smtClean="0">
                <a:latin typeface="微软雅黑" panose="020B0503020204020204" pitchFamily="34" charset="-122"/>
                <a:ea typeface="微软雅黑" panose="020B0503020204020204" pitchFamily="34" charset="-122"/>
              </a:rPr>
              <a:t>的多少个对象发生作用，同样“重数</a:t>
            </a:r>
            <a:r>
              <a:rPr lang="en-US" altLang="zh-CN" b="1" smtClean="0">
                <a:latin typeface="微软雅黑" panose="020B0503020204020204" pitchFamily="34" charset="-122"/>
                <a:ea typeface="微软雅黑" panose="020B0503020204020204" pitchFamily="34" charset="-122"/>
              </a:rPr>
              <a:t>B”</a:t>
            </a:r>
            <a:r>
              <a:rPr lang="zh-CN" altLang="en-US" b="1" smtClean="0">
                <a:latin typeface="微软雅黑" panose="020B0503020204020204" pitchFamily="34" charset="-122"/>
                <a:ea typeface="微软雅黑" panose="020B0503020204020204" pitchFamily="34" charset="-122"/>
              </a:rPr>
              <a:t>决定了类</a:t>
            </a:r>
            <a:r>
              <a:rPr lang="en-US" altLang="zh-CN" b="1" smtClean="0">
                <a:latin typeface="微软雅黑" panose="020B0503020204020204" pitchFamily="34" charset="-122"/>
                <a:ea typeface="微软雅黑" panose="020B0503020204020204" pitchFamily="34" charset="-122"/>
              </a:rPr>
              <a:t>A</a:t>
            </a:r>
            <a:r>
              <a:rPr lang="zh-CN" altLang="en-US" b="1" smtClean="0">
                <a:latin typeface="微软雅黑" panose="020B0503020204020204" pitchFamily="34" charset="-122"/>
                <a:ea typeface="微软雅黑" panose="020B0503020204020204" pitchFamily="34" charset="-122"/>
              </a:rPr>
              <a:t>的每个对象与类</a:t>
            </a:r>
            <a:r>
              <a:rPr lang="en-US" altLang="zh-CN" b="1" smtClean="0">
                <a:latin typeface="微软雅黑" panose="020B0503020204020204" pitchFamily="34" charset="-122"/>
                <a:ea typeface="微软雅黑" panose="020B0503020204020204" pitchFamily="34" charset="-122"/>
              </a:rPr>
              <a:t>B</a:t>
            </a:r>
            <a:r>
              <a:rPr lang="zh-CN" altLang="en-US" b="1" smtClean="0">
                <a:latin typeface="微软雅黑" panose="020B0503020204020204" pitchFamily="34" charset="-122"/>
                <a:ea typeface="微软雅黑" panose="020B0503020204020204" pitchFamily="34" charset="-122"/>
              </a:rPr>
              <a:t>的多少个对象发生作用。</a:t>
            </a:r>
            <a:endParaRPr lang="zh-CN" altLang="en-US" b="1" smtClean="0">
              <a:latin typeface="微软雅黑" panose="020B0503020204020204" pitchFamily="34" charset="-122"/>
              <a:ea typeface="微软雅黑" panose="020B0503020204020204" pitchFamily="34" charset="-122"/>
            </a:endParaRPr>
          </a:p>
        </p:txBody>
      </p:sp>
      <p:grpSp>
        <p:nvGrpSpPr>
          <p:cNvPr id="67590" name="Group 13"/>
          <p:cNvGrpSpPr/>
          <p:nvPr/>
        </p:nvGrpSpPr>
        <p:grpSpPr bwMode="auto">
          <a:xfrm>
            <a:off x="2000250" y="2428875"/>
            <a:ext cx="4953000" cy="990600"/>
            <a:chOff x="1536" y="1776"/>
            <a:chExt cx="2688" cy="397"/>
          </a:xfrm>
        </p:grpSpPr>
        <p:sp>
          <p:nvSpPr>
            <p:cNvPr id="67591" name="Text Box 5"/>
            <p:cNvSpPr txBox="1">
              <a:spLocks noChangeArrowheads="1"/>
            </p:cNvSpPr>
            <p:nvPr/>
          </p:nvSpPr>
          <p:spPr bwMode="auto">
            <a:xfrm>
              <a:off x="1536" y="1894"/>
              <a:ext cx="487" cy="18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sz="2000" b="1">
                  <a:solidFill>
                    <a:srgbClr val="FFFF00"/>
                  </a:solidFill>
                  <a:latin typeface="宋体" panose="02010600030101010101" pitchFamily="2" charset="-122"/>
                </a:rPr>
                <a:t>类 </a:t>
              </a:r>
              <a:r>
                <a:rPr kumimoji="0" lang="en-US" altLang="zh-CN" sz="2000" b="1">
                  <a:solidFill>
                    <a:srgbClr val="FFFF00"/>
                  </a:solidFill>
                  <a:latin typeface="宋体" panose="02010600030101010101" pitchFamily="2" charset="-122"/>
                </a:rPr>
                <a:t>A</a:t>
              </a:r>
              <a:endParaRPr kumimoji="0" lang="en-US" altLang="zh-CN" sz="2000" b="1">
                <a:solidFill>
                  <a:srgbClr val="FFFF00"/>
                </a:solidFill>
                <a:latin typeface="宋体" panose="02010600030101010101" pitchFamily="2" charset="-122"/>
              </a:endParaRPr>
            </a:p>
          </p:txBody>
        </p:sp>
        <p:sp>
          <p:nvSpPr>
            <p:cNvPr id="67592" name="Line 6"/>
            <p:cNvSpPr>
              <a:spLocks noChangeShapeType="1"/>
            </p:cNvSpPr>
            <p:nvPr/>
          </p:nvSpPr>
          <p:spPr bwMode="auto">
            <a:xfrm>
              <a:off x="2023" y="1975"/>
              <a:ext cx="171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000" b="1">
                <a:solidFill>
                  <a:srgbClr val="FFFF00"/>
                </a:solidFill>
              </a:endParaRPr>
            </a:p>
          </p:txBody>
        </p:sp>
        <p:sp>
          <p:nvSpPr>
            <p:cNvPr id="67593" name="Text Box 7"/>
            <p:cNvSpPr txBox="1">
              <a:spLocks noChangeArrowheads="1"/>
            </p:cNvSpPr>
            <p:nvPr/>
          </p:nvSpPr>
          <p:spPr bwMode="auto">
            <a:xfrm>
              <a:off x="2040" y="1776"/>
              <a:ext cx="48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a:r>
                <a:rPr kumimoji="0" lang="zh-CN" altLang="en-US" sz="2000" b="1">
                  <a:solidFill>
                    <a:srgbClr val="FFFF00"/>
                  </a:solidFill>
                  <a:latin typeface="宋体" panose="02010600030101010101" pitchFamily="2" charset="-122"/>
                </a:rPr>
                <a:t>重数</a:t>
              </a:r>
              <a:r>
                <a:rPr kumimoji="0" lang="en-US" altLang="zh-CN" sz="2000" b="1">
                  <a:solidFill>
                    <a:srgbClr val="FFFF00"/>
                  </a:solidFill>
                  <a:latin typeface="宋体" panose="02010600030101010101" pitchFamily="2" charset="-122"/>
                </a:rPr>
                <a:t>A</a:t>
              </a:r>
              <a:endParaRPr kumimoji="0" lang="en-US" altLang="zh-CN" sz="2000" b="1">
                <a:solidFill>
                  <a:srgbClr val="FFFF00"/>
                </a:solidFill>
                <a:latin typeface="宋体" panose="02010600030101010101" pitchFamily="2" charset="-122"/>
              </a:endParaRPr>
            </a:p>
          </p:txBody>
        </p:sp>
        <p:sp>
          <p:nvSpPr>
            <p:cNvPr id="67594" name="Text Box 8"/>
            <p:cNvSpPr txBox="1">
              <a:spLocks noChangeArrowheads="1"/>
            </p:cNvSpPr>
            <p:nvPr/>
          </p:nvSpPr>
          <p:spPr bwMode="auto">
            <a:xfrm>
              <a:off x="3737" y="1894"/>
              <a:ext cx="487" cy="18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sz="2000" b="1">
                  <a:solidFill>
                    <a:srgbClr val="FFFF00"/>
                  </a:solidFill>
                  <a:latin typeface="宋体" panose="02010600030101010101" pitchFamily="2" charset="-122"/>
                </a:rPr>
                <a:t>类 </a:t>
              </a:r>
              <a:r>
                <a:rPr kumimoji="0" lang="en-US" altLang="zh-CN" sz="2000" b="1">
                  <a:solidFill>
                    <a:srgbClr val="FFFF00"/>
                  </a:solidFill>
                  <a:latin typeface="宋体" panose="02010600030101010101" pitchFamily="2" charset="-122"/>
                </a:rPr>
                <a:t>B</a:t>
              </a:r>
              <a:endParaRPr kumimoji="0" lang="en-US" altLang="zh-CN" sz="2000" b="1">
                <a:solidFill>
                  <a:srgbClr val="FFFF00"/>
                </a:solidFill>
                <a:latin typeface="宋体" panose="02010600030101010101" pitchFamily="2" charset="-122"/>
              </a:endParaRPr>
            </a:p>
          </p:txBody>
        </p:sp>
        <p:sp>
          <p:nvSpPr>
            <p:cNvPr id="67595" name="Text Box 9"/>
            <p:cNvSpPr txBox="1">
              <a:spLocks noChangeArrowheads="1"/>
            </p:cNvSpPr>
            <p:nvPr/>
          </p:nvSpPr>
          <p:spPr bwMode="auto">
            <a:xfrm>
              <a:off x="3250" y="1776"/>
              <a:ext cx="48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a:r>
                <a:rPr kumimoji="0" lang="zh-CN" altLang="en-US" sz="2000" b="1">
                  <a:solidFill>
                    <a:srgbClr val="FFFF00"/>
                  </a:solidFill>
                  <a:latin typeface="宋体" panose="02010600030101010101" pitchFamily="2" charset="-122"/>
                </a:rPr>
                <a:t>重数</a:t>
              </a:r>
              <a:r>
                <a:rPr kumimoji="0" lang="en-US" altLang="zh-CN" sz="2000" b="1">
                  <a:solidFill>
                    <a:srgbClr val="FFFF00"/>
                  </a:solidFill>
                  <a:latin typeface="宋体" panose="02010600030101010101" pitchFamily="2" charset="-122"/>
                </a:rPr>
                <a:t>B</a:t>
              </a:r>
              <a:endParaRPr kumimoji="0" lang="en-US" altLang="zh-CN" sz="2000" b="1">
                <a:solidFill>
                  <a:srgbClr val="FFFF00"/>
                </a:solidFill>
                <a:latin typeface="宋体" panose="02010600030101010101" pitchFamily="2" charset="-122"/>
              </a:endParaRPr>
            </a:p>
          </p:txBody>
        </p:sp>
        <p:sp>
          <p:nvSpPr>
            <p:cNvPr id="67596" name="Text Box 10"/>
            <p:cNvSpPr txBox="1">
              <a:spLocks noChangeArrowheads="1"/>
            </p:cNvSpPr>
            <p:nvPr/>
          </p:nvSpPr>
          <p:spPr bwMode="auto">
            <a:xfrm>
              <a:off x="2040" y="1975"/>
              <a:ext cx="403"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a:endParaRPr kumimoji="0" lang="zh-CN" altLang="zh-CN" sz="2000" b="1">
                <a:solidFill>
                  <a:srgbClr val="FFFF00"/>
                </a:solidFill>
                <a:latin typeface="宋体" panose="02010600030101010101" pitchFamily="2" charset="-122"/>
              </a:endParaRPr>
            </a:p>
          </p:txBody>
        </p:sp>
        <p:sp>
          <p:nvSpPr>
            <p:cNvPr id="67597" name="Text Box 11"/>
            <p:cNvSpPr txBox="1">
              <a:spLocks noChangeArrowheads="1"/>
            </p:cNvSpPr>
            <p:nvPr/>
          </p:nvSpPr>
          <p:spPr bwMode="auto">
            <a:xfrm>
              <a:off x="3334" y="1975"/>
              <a:ext cx="38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a:endParaRPr kumimoji="0" lang="zh-CN" altLang="zh-CN" sz="2000" b="1">
                <a:solidFill>
                  <a:srgbClr val="FFFF00"/>
                </a:solidFill>
                <a:latin typeface="宋体" panose="02010600030101010101" pitchFamily="2" charset="-122"/>
              </a:endParaRPr>
            </a:p>
          </p:txBody>
        </p:sp>
        <p:sp>
          <p:nvSpPr>
            <p:cNvPr id="67598" name="Text Box 12"/>
            <p:cNvSpPr txBox="1">
              <a:spLocks noChangeArrowheads="1"/>
            </p:cNvSpPr>
            <p:nvPr/>
          </p:nvSpPr>
          <p:spPr bwMode="auto">
            <a:xfrm>
              <a:off x="2662" y="1776"/>
              <a:ext cx="40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a:endParaRPr kumimoji="0" lang="zh-CN" altLang="zh-CN" sz="2000" b="1">
                <a:solidFill>
                  <a:srgbClr val="FFFF00"/>
                </a:solidFill>
                <a:latin typeface="宋体" panose="02010600030101010101" pitchFamily="2" charset="-122"/>
              </a:endParaRPr>
            </a:p>
          </p:txBody>
        </p:sp>
      </p:gr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457200" y="333375"/>
            <a:ext cx="8229600" cy="10668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几种关系的图形标识</a:t>
            </a:r>
            <a:endParaRPr lang="zh-CN" altLang="en-US" sz="4400" b="1">
              <a:latin typeface="Times New Roman" panose="02020603050405020304" pitchFamily="18" charset="0"/>
              <a:ea typeface="隶书" panose="02010509060101010101" pitchFamily="49" charset="-122"/>
            </a:endParaRPr>
          </a:p>
        </p:txBody>
      </p:sp>
      <p:sp>
        <p:nvSpPr>
          <p:cNvPr id="68611" name="内容占位符 2"/>
          <p:cNvSpPr>
            <a:spLocks noGrp="1"/>
          </p:cNvSpPr>
          <p:nvPr>
            <p:ph idx="1"/>
          </p:nvPr>
        </p:nvSpPr>
        <p:spPr>
          <a:xfrm>
            <a:off x="457200" y="1196975"/>
            <a:ext cx="8435280" cy="5376863"/>
          </a:xfrm>
        </p:spPr>
        <p:txBody>
          <a:bodyPr/>
          <a:lstStyle/>
          <a:p>
            <a:pPr eaLnBrk="1" hangingPunct="1"/>
            <a:r>
              <a:rPr lang="zh-CN" altLang="en-US" sz="2400" b="1" dirty="0" smtClean="0">
                <a:latin typeface="微软雅黑" panose="020B0503020204020204" pitchFamily="34" charset="-122"/>
                <a:ea typeface="微软雅黑" panose="020B0503020204020204" pitchFamily="34" charset="-122"/>
              </a:rPr>
              <a:t>包含关系</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聚集和组合</a:t>
            </a: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90000"/>
              </a:lnSpc>
            </a:pP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90000"/>
              </a:lnSpc>
            </a:pPr>
            <a:endParaRPr lang="zh-CN" altLang="en-US" sz="2400" b="1" dirty="0" smtClean="0">
              <a:latin typeface="微软雅黑" panose="020B0503020204020204" pitchFamily="34" charset="-122"/>
              <a:ea typeface="微软雅黑" panose="020B0503020204020204" pitchFamily="34" charset="-122"/>
            </a:endParaRPr>
          </a:p>
          <a:p>
            <a:pPr eaLnBrk="1" hangingPunct="1">
              <a:lnSpc>
                <a:spcPct val="90000"/>
              </a:lnSpc>
            </a:pPr>
            <a:endParaRPr lang="zh-CN" altLang="en-US" sz="2400" b="1" dirty="0" smtClean="0">
              <a:latin typeface="微软雅黑" panose="020B0503020204020204" pitchFamily="34" charset="-122"/>
              <a:ea typeface="微软雅黑" panose="020B0503020204020204" pitchFamily="34" charset="-122"/>
            </a:endParaRPr>
          </a:p>
          <a:p>
            <a:pPr marL="666750" lvl="1" indent="0" eaLnBrk="1" hangingPunct="1">
              <a:lnSpc>
                <a:spcPct val="90000"/>
              </a:lnSpc>
              <a:buFont typeface="Georgia" panose="02040502050405020303" pitchFamily="18" charset="0"/>
              <a:buNone/>
            </a:pPr>
            <a:br>
              <a:rPr lang="en-US" altLang="zh-CN" sz="2400" b="1" dirty="0" smtClean="0">
                <a:latin typeface="微软雅黑" panose="020B0503020204020204" pitchFamily="34" charset="-122"/>
                <a:ea typeface="微软雅黑" panose="020B0503020204020204" pitchFamily="34" charset="-122"/>
              </a:rPr>
            </a:br>
            <a:endParaRPr lang="en-US" altLang="zh-CN" sz="2400" b="1" dirty="0" smtClean="0">
              <a:latin typeface="微软雅黑" panose="020B0503020204020204" pitchFamily="34" charset="-122"/>
              <a:ea typeface="微软雅黑" panose="020B0503020204020204" pitchFamily="34" charset="-122"/>
            </a:endParaRPr>
          </a:p>
          <a:p>
            <a:pPr marL="666750" lvl="1" indent="0" eaLnBrk="1" hangingPunct="1">
              <a:lnSpc>
                <a:spcPct val="90000"/>
              </a:lnSpc>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                   </a:t>
            </a:r>
            <a:endParaRPr lang="en-US" altLang="zh-CN" sz="2400" b="1" dirty="0" smtClean="0">
              <a:latin typeface="微软雅黑" panose="020B0503020204020204" pitchFamily="34" charset="-122"/>
              <a:ea typeface="微软雅黑" panose="020B0503020204020204" pitchFamily="34" charset="-122"/>
            </a:endParaRPr>
          </a:p>
          <a:p>
            <a:pPr marL="666750" lvl="1" indent="0" eaLnBrk="1" hangingPunct="1">
              <a:lnSpc>
                <a:spcPct val="90000"/>
              </a:lnSpc>
              <a:buFont typeface="Georgia" panose="02040502050405020303" pitchFamily="18" charset="0"/>
              <a:buNone/>
            </a:pP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共享聚集</a:t>
            </a: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组成聚集（简称组合）</a:t>
            </a:r>
            <a:endParaRPr lang="en-US" altLang="zh-CN" sz="2400" b="1" dirty="0" smtClean="0">
              <a:latin typeface="微软雅黑" panose="020B0503020204020204" pitchFamily="34" charset="-122"/>
              <a:ea typeface="微软雅黑" panose="020B0503020204020204" pitchFamily="34" charset="-122"/>
            </a:endParaRPr>
          </a:p>
          <a:p>
            <a:pPr marL="666750" lvl="1" indent="0" eaLnBrk="1" hangingPunct="1">
              <a:lnSpc>
                <a:spcPct val="90000"/>
              </a:lnSpc>
              <a:buFont typeface="Georgia" panose="02040502050405020303" pitchFamily="18" charset="0"/>
              <a:buNone/>
            </a:pPr>
            <a:endParaRPr lang="en-US" altLang="zh-CN" sz="2400" b="1" dirty="0" smtClean="0">
              <a:latin typeface="微软雅黑" panose="020B0503020204020204" pitchFamily="34" charset="-122"/>
              <a:ea typeface="微软雅黑" panose="020B0503020204020204" pitchFamily="34" charset="-122"/>
            </a:endParaRPr>
          </a:p>
          <a:p>
            <a:pPr marL="666750" lvl="1" indent="0" eaLnBrk="1" hangingPunct="1">
              <a:lnSpc>
                <a:spcPct val="90000"/>
              </a:lnSpc>
              <a:buFont typeface="Georgia" panose="02040502050405020303" pitchFamily="18" charset="0"/>
              <a:buNone/>
            </a:pPr>
            <a:r>
              <a:rPr lang="zh-CN" altLang="en-US" sz="2400" b="1" dirty="0" smtClean="0">
                <a:latin typeface="微软雅黑" panose="020B0503020204020204" pitchFamily="34" charset="-122"/>
                <a:ea typeface="微软雅黑" panose="020B0503020204020204" pitchFamily="34" charset="-122"/>
              </a:rPr>
              <a:t>聚集表示类之间的关系是整体与部分的关系，“包含”、“组成”、“分为</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部分”等都是聚集关系。</a:t>
            </a:r>
            <a:r>
              <a:rPr lang="zh-CN" altLang="en-US" sz="2400" b="1" dirty="0" smtClean="0">
                <a:solidFill>
                  <a:srgbClr val="FFFF00"/>
                </a:solidFill>
                <a:latin typeface="微软雅黑" panose="020B0503020204020204" pitchFamily="34" charset="-122"/>
                <a:ea typeface="微软雅黑" panose="020B0503020204020204" pitchFamily="34" charset="-122"/>
              </a:rPr>
              <a:t>共享聚集：部分可以参加多个整体；组成聚集（组合）：整体拥有各个部分，整体与部分共存，如果整体不存在了，那么部分也就不存在了。</a:t>
            </a:r>
            <a:endParaRPr lang="zh-CN" altLang="en-US" sz="2400" b="1" dirty="0" smtClean="0">
              <a:solidFill>
                <a:srgbClr val="FFFF00"/>
              </a:solidFill>
              <a:latin typeface="微软雅黑" panose="020B0503020204020204" pitchFamily="34" charset="-122"/>
              <a:ea typeface="微软雅黑" panose="020B0503020204020204" pitchFamily="34" charset="-122"/>
            </a:endParaRPr>
          </a:p>
        </p:txBody>
      </p:sp>
      <p:grpSp>
        <p:nvGrpSpPr>
          <p:cNvPr id="68614" name="Group 23"/>
          <p:cNvGrpSpPr/>
          <p:nvPr/>
        </p:nvGrpSpPr>
        <p:grpSpPr bwMode="auto">
          <a:xfrm>
            <a:off x="2357438" y="1989138"/>
            <a:ext cx="5486400" cy="1957387"/>
            <a:chOff x="1584" y="1647"/>
            <a:chExt cx="3456" cy="1233"/>
          </a:xfrm>
        </p:grpSpPr>
        <p:sp>
          <p:nvSpPr>
            <p:cNvPr id="20" name="Text Box 6"/>
            <p:cNvSpPr txBox="1">
              <a:spLocks noChangeArrowheads="1"/>
            </p:cNvSpPr>
            <p:nvPr/>
          </p:nvSpPr>
          <p:spPr bwMode="auto">
            <a:xfrm>
              <a:off x="1593" y="1647"/>
              <a:ext cx="757" cy="227"/>
            </a:xfrm>
            <a:prstGeom prst="rect">
              <a:avLst/>
            </a:prstGeom>
            <a:noFill/>
            <a:ln w="9525">
              <a:solidFill>
                <a:schemeClr val="tx1"/>
              </a:solidFill>
              <a:miter lim="800000"/>
            </a:ln>
          </p:spPr>
          <p:txBody>
            <a:bodyPr/>
            <a:lstStyle/>
            <a:p>
              <a:pPr algn="ctr" eaLnBrk="0" hangingPunct="0">
                <a:defRPr/>
              </a:pPr>
              <a:r>
                <a:rPr kumimoji="0" lang="zh-CN" altLang="en-US" sz="2000" b="1">
                  <a:solidFill>
                    <a:srgbClr val="FFFF00"/>
                  </a:solidFill>
                  <a:latin typeface="+mn-lt"/>
                  <a:ea typeface="+mj-ea"/>
                </a:rPr>
                <a:t>类 </a:t>
              </a:r>
              <a:r>
                <a:rPr kumimoji="0" lang="en-US" altLang="zh-CN" sz="2000" b="1">
                  <a:solidFill>
                    <a:srgbClr val="FFFF00"/>
                  </a:solidFill>
                  <a:latin typeface="+mn-lt"/>
                  <a:ea typeface="+mj-ea"/>
                </a:rPr>
                <a:t>A</a:t>
              </a:r>
              <a:endParaRPr kumimoji="0" lang="en-US" altLang="zh-CN" sz="2000" b="1">
                <a:solidFill>
                  <a:srgbClr val="FFFF00"/>
                </a:solidFill>
                <a:latin typeface="+mn-lt"/>
                <a:ea typeface="+mj-ea"/>
              </a:endParaRPr>
            </a:p>
          </p:txBody>
        </p:sp>
        <p:sp>
          <p:nvSpPr>
            <p:cNvPr id="21" name="Text Box 7"/>
            <p:cNvSpPr txBox="1">
              <a:spLocks noChangeArrowheads="1"/>
            </p:cNvSpPr>
            <p:nvPr/>
          </p:nvSpPr>
          <p:spPr bwMode="auto">
            <a:xfrm>
              <a:off x="1584" y="2653"/>
              <a:ext cx="757" cy="227"/>
            </a:xfrm>
            <a:prstGeom prst="rect">
              <a:avLst/>
            </a:prstGeom>
            <a:noFill/>
            <a:ln w="9525">
              <a:solidFill>
                <a:schemeClr val="tx1"/>
              </a:solidFill>
              <a:miter lim="800000"/>
            </a:ln>
          </p:spPr>
          <p:txBody>
            <a:bodyPr/>
            <a:lstStyle/>
            <a:p>
              <a:pPr algn="ctr" eaLnBrk="0" hangingPunct="0">
                <a:defRPr/>
              </a:pPr>
              <a:r>
                <a:rPr kumimoji="0" lang="zh-CN" altLang="en-US" sz="2000" b="1">
                  <a:solidFill>
                    <a:srgbClr val="FFFF00"/>
                  </a:solidFill>
                  <a:latin typeface="+mn-lt"/>
                  <a:ea typeface="+mj-ea"/>
                </a:rPr>
                <a:t>类 </a:t>
              </a:r>
              <a:r>
                <a:rPr kumimoji="0" lang="en-US" altLang="zh-CN" sz="2000" b="1">
                  <a:solidFill>
                    <a:srgbClr val="FFFF00"/>
                  </a:solidFill>
                  <a:latin typeface="+mn-lt"/>
                  <a:ea typeface="+mj-ea"/>
                </a:rPr>
                <a:t>B</a:t>
              </a:r>
              <a:endParaRPr kumimoji="0" lang="en-US" altLang="zh-CN" sz="2000" b="1">
                <a:solidFill>
                  <a:srgbClr val="FFFF00"/>
                </a:solidFill>
                <a:latin typeface="+mn-lt"/>
                <a:ea typeface="+mj-ea"/>
              </a:endParaRPr>
            </a:p>
          </p:txBody>
        </p:sp>
        <p:sp>
          <p:nvSpPr>
            <p:cNvPr id="22" name="AutoShape 8"/>
            <p:cNvSpPr>
              <a:spLocks noChangeArrowheads="1"/>
            </p:cNvSpPr>
            <p:nvPr/>
          </p:nvSpPr>
          <p:spPr bwMode="auto">
            <a:xfrm>
              <a:off x="1904" y="1875"/>
              <a:ext cx="131" cy="152"/>
            </a:xfrm>
            <a:prstGeom prst="diamond">
              <a:avLst/>
            </a:prstGeom>
            <a:noFill/>
            <a:ln w="9525">
              <a:solidFill>
                <a:schemeClr val="tx1"/>
              </a:solidFill>
              <a:miter lim="800000"/>
            </a:ln>
          </p:spPr>
          <p:txBody>
            <a:bodyPr/>
            <a:lstStyle/>
            <a:p>
              <a:pPr>
                <a:defRPr/>
              </a:pPr>
              <a:endParaRPr lang="zh-CN" altLang="en-US" sz="2000" b="1">
                <a:solidFill>
                  <a:srgbClr val="FFFF00"/>
                </a:solidFill>
                <a:latin typeface="+mn-lt"/>
                <a:ea typeface="+mj-ea"/>
              </a:endParaRPr>
            </a:p>
          </p:txBody>
        </p:sp>
        <p:sp>
          <p:nvSpPr>
            <p:cNvPr id="23" name="Line 9"/>
            <p:cNvSpPr>
              <a:spLocks noChangeShapeType="1"/>
            </p:cNvSpPr>
            <p:nvPr/>
          </p:nvSpPr>
          <p:spPr bwMode="auto">
            <a:xfrm flipH="1">
              <a:off x="1969" y="2012"/>
              <a:ext cx="0" cy="635"/>
            </a:xfrm>
            <a:prstGeom prst="line">
              <a:avLst/>
            </a:prstGeom>
            <a:noFill/>
            <a:ln w="9525">
              <a:solidFill>
                <a:schemeClr val="tx1"/>
              </a:solidFill>
              <a:round/>
            </a:ln>
          </p:spPr>
          <p:txBody>
            <a:bodyPr/>
            <a:lstStyle/>
            <a:p>
              <a:pPr>
                <a:defRPr/>
              </a:pPr>
              <a:endParaRPr lang="zh-CN" altLang="en-US" sz="2000" b="1">
                <a:solidFill>
                  <a:srgbClr val="FFFF00"/>
                </a:solidFill>
                <a:latin typeface="+mn-lt"/>
                <a:ea typeface="+mj-ea"/>
              </a:endParaRPr>
            </a:p>
          </p:txBody>
        </p:sp>
        <p:sp>
          <p:nvSpPr>
            <p:cNvPr id="24" name="Text Box 10"/>
            <p:cNvSpPr txBox="1">
              <a:spLocks noChangeArrowheads="1"/>
            </p:cNvSpPr>
            <p:nvPr/>
          </p:nvSpPr>
          <p:spPr bwMode="auto">
            <a:xfrm>
              <a:off x="2035" y="1890"/>
              <a:ext cx="756" cy="242"/>
            </a:xfrm>
            <a:prstGeom prst="rect">
              <a:avLst/>
            </a:prstGeom>
            <a:noFill/>
            <a:ln w="9525">
              <a:noFill/>
              <a:miter lim="800000"/>
            </a:ln>
          </p:spPr>
          <p:txBody>
            <a:bodyPr/>
            <a:lstStyle/>
            <a:p>
              <a:pPr algn="just" eaLnBrk="0" hangingPunct="0">
                <a:defRPr/>
              </a:pPr>
              <a:r>
                <a:rPr kumimoji="0" lang="zh-CN" altLang="en-US" sz="2000" b="1" dirty="0">
                  <a:solidFill>
                    <a:srgbClr val="FFFF00"/>
                  </a:solidFill>
                  <a:latin typeface="+mn-lt"/>
                  <a:ea typeface="+mj-ea"/>
                </a:rPr>
                <a:t>重数</a:t>
              </a:r>
              <a:r>
                <a:rPr kumimoji="0" lang="en-US" altLang="zh-CN" sz="2000" b="1" dirty="0">
                  <a:solidFill>
                    <a:srgbClr val="FFFF00"/>
                  </a:solidFill>
                  <a:latin typeface="+mn-lt"/>
                  <a:ea typeface="+mj-ea"/>
                </a:rPr>
                <a:t>A</a:t>
              </a:r>
              <a:endParaRPr kumimoji="0" lang="en-US" altLang="zh-CN" sz="2000" b="1" dirty="0">
                <a:solidFill>
                  <a:srgbClr val="FFFF00"/>
                </a:solidFill>
                <a:latin typeface="+mn-lt"/>
                <a:ea typeface="+mj-ea"/>
              </a:endParaRPr>
            </a:p>
          </p:txBody>
        </p:sp>
        <p:sp>
          <p:nvSpPr>
            <p:cNvPr id="25" name="Text Box 11"/>
            <p:cNvSpPr txBox="1">
              <a:spLocks noChangeArrowheads="1"/>
            </p:cNvSpPr>
            <p:nvPr/>
          </p:nvSpPr>
          <p:spPr bwMode="auto">
            <a:xfrm>
              <a:off x="2022" y="2444"/>
              <a:ext cx="757" cy="243"/>
            </a:xfrm>
            <a:prstGeom prst="rect">
              <a:avLst/>
            </a:prstGeom>
            <a:noFill/>
            <a:ln w="9525">
              <a:noFill/>
              <a:miter lim="800000"/>
            </a:ln>
          </p:spPr>
          <p:txBody>
            <a:bodyPr/>
            <a:lstStyle/>
            <a:p>
              <a:pPr algn="just" eaLnBrk="0" hangingPunct="0">
                <a:defRPr/>
              </a:pPr>
              <a:r>
                <a:rPr kumimoji="0" lang="zh-CN" altLang="en-US" sz="2000" b="1">
                  <a:solidFill>
                    <a:srgbClr val="FFFF00"/>
                  </a:solidFill>
                  <a:latin typeface="+mn-lt"/>
                  <a:ea typeface="+mj-ea"/>
                </a:rPr>
                <a:t>重数</a:t>
              </a:r>
              <a:r>
                <a:rPr kumimoji="0" lang="en-US" altLang="zh-CN" sz="2000" b="1">
                  <a:solidFill>
                    <a:srgbClr val="FFFF00"/>
                  </a:solidFill>
                  <a:latin typeface="+mn-lt"/>
                  <a:ea typeface="+mj-ea"/>
                </a:rPr>
                <a:t>B</a:t>
              </a:r>
              <a:endParaRPr kumimoji="0" lang="en-US" altLang="zh-CN" sz="2000" b="1">
                <a:solidFill>
                  <a:srgbClr val="FFFF00"/>
                </a:solidFill>
                <a:latin typeface="+mn-lt"/>
                <a:ea typeface="+mj-ea"/>
              </a:endParaRPr>
            </a:p>
          </p:txBody>
        </p:sp>
        <p:sp>
          <p:nvSpPr>
            <p:cNvPr id="26" name="Text Box 12"/>
            <p:cNvSpPr txBox="1">
              <a:spLocks noChangeArrowheads="1"/>
            </p:cNvSpPr>
            <p:nvPr/>
          </p:nvSpPr>
          <p:spPr bwMode="auto">
            <a:xfrm>
              <a:off x="2004" y="2298"/>
              <a:ext cx="809" cy="241"/>
            </a:xfrm>
            <a:prstGeom prst="rect">
              <a:avLst/>
            </a:prstGeom>
            <a:noFill/>
            <a:ln w="9525">
              <a:noFill/>
              <a:miter lim="800000"/>
            </a:ln>
          </p:spPr>
          <p:txBody>
            <a:bodyPr/>
            <a:lstStyle/>
            <a:p>
              <a:pPr algn="just" eaLnBrk="0" hangingPunct="0">
                <a:defRPr/>
              </a:pPr>
              <a:endParaRPr kumimoji="0" lang="zh-CN" altLang="zh-CN" sz="2000" b="1">
                <a:solidFill>
                  <a:srgbClr val="FFFF00"/>
                </a:solidFill>
                <a:latin typeface="+mn-lt"/>
                <a:ea typeface="+mj-ea"/>
              </a:endParaRPr>
            </a:p>
          </p:txBody>
        </p:sp>
        <p:sp>
          <p:nvSpPr>
            <p:cNvPr id="27" name="Text Box 14"/>
            <p:cNvSpPr txBox="1">
              <a:spLocks noChangeArrowheads="1"/>
            </p:cNvSpPr>
            <p:nvPr/>
          </p:nvSpPr>
          <p:spPr bwMode="auto">
            <a:xfrm>
              <a:off x="3820" y="1647"/>
              <a:ext cx="757" cy="227"/>
            </a:xfrm>
            <a:prstGeom prst="rect">
              <a:avLst/>
            </a:prstGeom>
            <a:noFill/>
            <a:ln w="9525">
              <a:solidFill>
                <a:schemeClr val="tx1"/>
              </a:solidFill>
              <a:miter lim="800000"/>
            </a:ln>
          </p:spPr>
          <p:txBody>
            <a:bodyPr/>
            <a:lstStyle/>
            <a:p>
              <a:pPr algn="ctr" eaLnBrk="0" hangingPunct="0">
                <a:defRPr/>
              </a:pPr>
              <a:r>
                <a:rPr kumimoji="0" lang="zh-CN" altLang="en-US" sz="2000" b="1">
                  <a:solidFill>
                    <a:srgbClr val="FFFF00"/>
                  </a:solidFill>
                  <a:latin typeface="+mn-lt"/>
                  <a:ea typeface="+mj-ea"/>
                </a:rPr>
                <a:t>类 </a:t>
              </a:r>
              <a:r>
                <a:rPr kumimoji="0" lang="en-US" altLang="zh-CN" sz="2000" b="1">
                  <a:solidFill>
                    <a:srgbClr val="FFFF00"/>
                  </a:solidFill>
                  <a:latin typeface="+mn-lt"/>
                  <a:ea typeface="+mj-ea"/>
                </a:rPr>
                <a:t>A</a:t>
              </a:r>
              <a:endParaRPr kumimoji="0" lang="en-US" altLang="zh-CN" sz="2000" b="1">
                <a:solidFill>
                  <a:srgbClr val="FFFF00"/>
                </a:solidFill>
                <a:latin typeface="+mn-lt"/>
                <a:ea typeface="+mj-ea"/>
              </a:endParaRPr>
            </a:p>
          </p:txBody>
        </p:sp>
        <p:sp>
          <p:nvSpPr>
            <p:cNvPr id="28" name="Text Box 15"/>
            <p:cNvSpPr txBox="1">
              <a:spLocks noChangeArrowheads="1"/>
            </p:cNvSpPr>
            <p:nvPr/>
          </p:nvSpPr>
          <p:spPr bwMode="auto">
            <a:xfrm>
              <a:off x="3811" y="2650"/>
              <a:ext cx="757" cy="228"/>
            </a:xfrm>
            <a:prstGeom prst="rect">
              <a:avLst/>
            </a:prstGeom>
            <a:noFill/>
            <a:ln w="9525">
              <a:solidFill>
                <a:schemeClr val="tx1"/>
              </a:solidFill>
              <a:miter lim="800000"/>
            </a:ln>
          </p:spPr>
          <p:txBody>
            <a:bodyPr/>
            <a:lstStyle/>
            <a:p>
              <a:pPr algn="ctr" eaLnBrk="0" hangingPunct="0">
                <a:defRPr/>
              </a:pPr>
              <a:r>
                <a:rPr kumimoji="0" lang="zh-CN" altLang="en-US" sz="2000" b="1">
                  <a:solidFill>
                    <a:srgbClr val="FFFF00"/>
                  </a:solidFill>
                  <a:latin typeface="+mn-lt"/>
                  <a:ea typeface="+mj-ea"/>
                </a:rPr>
                <a:t>类 </a:t>
              </a:r>
              <a:r>
                <a:rPr kumimoji="0" lang="en-US" altLang="zh-CN" sz="2000" b="1">
                  <a:solidFill>
                    <a:srgbClr val="FFFF00"/>
                  </a:solidFill>
                  <a:latin typeface="+mn-lt"/>
                  <a:ea typeface="+mj-ea"/>
                </a:rPr>
                <a:t>B</a:t>
              </a:r>
              <a:endParaRPr kumimoji="0" lang="en-US" altLang="zh-CN" sz="2000" b="1">
                <a:solidFill>
                  <a:srgbClr val="FFFF00"/>
                </a:solidFill>
                <a:latin typeface="+mn-lt"/>
                <a:ea typeface="+mj-ea"/>
              </a:endParaRPr>
            </a:p>
          </p:txBody>
        </p:sp>
        <p:sp>
          <p:nvSpPr>
            <p:cNvPr id="29" name="AutoShape 16"/>
            <p:cNvSpPr>
              <a:spLocks noChangeArrowheads="1"/>
            </p:cNvSpPr>
            <p:nvPr/>
          </p:nvSpPr>
          <p:spPr bwMode="auto">
            <a:xfrm>
              <a:off x="4131" y="1874"/>
              <a:ext cx="130" cy="151"/>
            </a:xfrm>
            <a:prstGeom prst="diamond">
              <a:avLst/>
            </a:prstGeom>
            <a:solidFill>
              <a:schemeClr val="tx1"/>
            </a:solidFill>
            <a:ln w="9525">
              <a:solidFill>
                <a:schemeClr val="tx1"/>
              </a:solidFill>
              <a:miter lim="800000"/>
            </a:ln>
          </p:spPr>
          <p:txBody>
            <a:bodyPr/>
            <a:lstStyle/>
            <a:p>
              <a:pPr>
                <a:defRPr/>
              </a:pPr>
              <a:endParaRPr lang="zh-CN" altLang="en-US" sz="2000" b="1">
                <a:solidFill>
                  <a:srgbClr val="FFFF00"/>
                </a:solidFill>
                <a:latin typeface="+mn-lt"/>
                <a:ea typeface="+mj-ea"/>
              </a:endParaRPr>
            </a:p>
          </p:txBody>
        </p:sp>
        <p:sp>
          <p:nvSpPr>
            <p:cNvPr id="30" name="Line 17"/>
            <p:cNvSpPr>
              <a:spLocks noChangeShapeType="1"/>
            </p:cNvSpPr>
            <p:nvPr/>
          </p:nvSpPr>
          <p:spPr bwMode="auto">
            <a:xfrm flipH="1">
              <a:off x="4196" y="2011"/>
              <a:ext cx="0" cy="635"/>
            </a:xfrm>
            <a:prstGeom prst="line">
              <a:avLst/>
            </a:prstGeom>
            <a:noFill/>
            <a:ln w="9525">
              <a:solidFill>
                <a:schemeClr val="tx1"/>
              </a:solidFill>
              <a:round/>
            </a:ln>
          </p:spPr>
          <p:txBody>
            <a:bodyPr/>
            <a:lstStyle/>
            <a:p>
              <a:pPr>
                <a:defRPr/>
              </a:pPr>
              <a:endParaRPr lang="zh-CN" altLang="en-US" sz="2000" b="1">
                <a:solidFill>
                  <a:srgbClr val="FFFF00"/>
                </a:solidFill>
                <a:latin typeface="+mn-lt"/>
                <a:ea typeface="+mj-ea"/>
              </a:endParaRPr>
            </a:p>
          </p:txBody>
        </p:sp>
        <p:sp>
          <p:nvSpPr>
            <p:cNvPr id="31" name="Text Box 18"/>
            <p:cNvSpPr txBox="1">
              <a:spLocks noChangeArrowheads="1"/>
            </p:cNvSpPr>
            <p:nvPr/>
          </p:nvSpPr>
          <p:spPr bwMode="auto">
            <a:xfrm>
              <a:off x="4261" y="1859"/>
              <a:ext cx="757" cy="242"/>
            </a:xfrm>
            <a:prstGeom prst="rect">
              <a:avLst/>
            </a:prstGeom>
            <a:noFill/>
            <a:ln w="9525">
              <a:noFill/>
              <a:miter lim="800000"/>
            </a:ln>
          </p:spPr>
          <p:txBody>
            <a:bodyPr/>
            <a:lstStyle/>
            <a:p>
              <a:pPr algn="just" eaLnBrk="0" hangingPunct="0">
                <a:defRPr/>
              </a:pPr>
              <a:r>
                <a:rPr kumimoji="0" lang="zh-CN" altLang="en-US" sz="2000" b="1">
                  <a:solidFill>
                    <a:srgbClr val="FFFF00"/>
                  </a:solidFill>
                  <a:latin typeface="+mn-lt"/>
                  <a:ea typeface="+mj-ea"/>
                </a:rPr>
                <a:t>重数</a:t>
              </a:r>
              <a:r>
                <a:rPr kumimoji="0" lang="en-US" altLang="zh-CN" sz="2000" b="1">
                  <a:solidFill>
                    <a:srgbClr val="FFFF00"/>
                  </a:solidFill>
                  <a:latin typeface="+mn-lt"/>
                  <a:ea typeface="+mj-ea"/>
                </a:rPr>
                <a:t>A</a:t>
              </a:r>
              <a:endParaRPr kumimoji="0" lang="en-US" altLang="zh-CN" sz="2000" b="1">
                <a:solidFill>
                  <a:srgbClr val="FFFF00"/>
                </a:solidFill>
                <a:latin typeface="+mn-lt"/>
                <a:ea typeface="+mj-ea"/>
              </a:endParaRPr>
            </a:p>
          </p:txBody>
        </p:sp>
        <p:sp>
          <p:nvSpPr>
            <p:cNvPr id="32" name="Text Box 19"/>
            <p:cNvSpPr txBox="1">
              <a:spLocks noChangeArrowheads="1"/>
            </p:cNvSpPr>
            <p:nvPr/>
          </p:nvSpPr>
          <p:spPr bwMode="auto">
            <a:xfrm>
              <a:off x="4249" y="2434"/>
              <a:ext cx="757" cy="242"/>
            </a:xfrm>
            <a:prstGeom prst="rect">
              <a:avLst/>
            </a:prstGeom>
            <a:noFill/>
            <a:ln w="9525">
              <a:noFill/>
              <a:miter lim="800000"/>
            </a:ln>
          </p:spPr>
          <p:txBody>
            <a:bodyPr/>
            <a:lstStyle/>
            <a:p>
              <a:pPr algn="just" eaLnBrk="0" hangingPunct="0">
                <a:defRPr/>
              </a:pPr>
              <a:r>
                <a:rPr kumimoji="0" lang="zh-CN" altLang="en-US" sz="2000" b="1">
                  <a:solidFill>
                    <a:srgbClr val="FFFF00"/>
                  </a:solidFill>
                  <a:latin typeface="+mn-lt"/>
                  <a:ea typeface="+mj-ea"/>
                </a:rPr>
                <a:t>重数</a:t>
              </a:r>
              <a:r>
                <a:rPr kumimoji="0" lang="en-US" altLang="zh-CN" sz="2000" b="1">
                  <a:solidFill>
                    <a:srgbClr val="FFFF00"/>
                  </a:solidFill>
                  <a:latin typeface="+mn-lt"/>
                  <a:ea typeface="+mj-ea"/>
                </a:rPr>
                <a:t>B</a:t>
              </a:r>
              <a:endParaRPr kumimoji="0" lang="en-US" altLang="zh-CN" sz="2000" b="1">
                <a:solidFill>
                  <a:srgbClr val="FFFF00"/>
                </a:solidFill>
                <a:latin typeface="+mn-lt"/>
                <a:ea typeface="+mj-ea"/>
              </a:endParaRPr>
            </a:p>
          </p:txBody>
        </p:sp>
        <p:sp>
          <p:nvSpPr>
            <p:cNvPr id="33" name="Text Box 20"/>
            <p:cNvSpPr txBox="1">
              <a:spLocks noChangeArrowheads="1"/>
            </p:cNvSpPr>
            <p:nvPr/>
          </p:nvSpPr>
          <p:spPr bwMode="auto">
            <a:xfrm>
              <a:off x="4230" y="2253"/>
              <a:ext cx="810" cy="241"/>
            </a:xfrm>
            <a:prstGeom prst="rect">
              <a:avLst/>
            </a:prstGeom>
            <a:noFill/>
            <a:ln w="9525">
              <a:noFill/>
              <a:miter lim="800000"/>
            </a:ln>
          </p:spPr>
          <p:txBody>
            <a:bodyPr/>
            <a:lstStyle/>
            <a:p>
              <a:pPr algn="just" eaLnBrk="0" hangingPunct="0">
                <a:defRPr/>
              </a:pPr>
              <a:endParaRPr kumimoji="0" lang="zh-CN" altLang="zh-CN" sz="2000" b="1">
                <a:solidFill>
                  <a:srgbClr val="FFFF00"/>
                </a:solidFill>
                <a:latin typeface="+mn-lt"/>
                <a:ea typeface="+mj-ea"/>
              </a:endParaRPr>
            </a:p>
          </p:txBody>
        </p:sp>
      </p:gr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z="3600" b="1" dirty="0" smtClean="0"/>
              <a:t>例</a:t>
            </a:r>
            <a:r>
              <a:rPr lang="en-US" altLang="zh-CN" sz="3600" b="1" dirty="0" smtClean="0"/>
              <a:t>4-5 </a:t>
            </a:r>
            <a:r>
              <a:rPr lang="zh-CN" altLang="en-US" sz="3600" b="1" dirty="0" smtClean="0"/>
              <a:t>采用</a:t>
            </a:r>
            <a:r>
              <a:rPr lang="en-US" altLang="zh-CN" sz="3600" b="1" dirty="0" smtClean="0"/>
              <a:t>UML</a:t>
            </a:r>
            <a:r>
              <a:rPr lang="zh-CN" altLang="en-US" sz="3600" b="1" dirty="0" smtClean="0"/>
              <a:t>方法来描述例</a:t>
            </a:r>
            <a:r>
              <a:rPr lang="en-US" altLang="zh-CN" sz="3600" b="1" dirty="0" smtClean="0"/>
              <a:t>4-4</a:t>
            </a:r>
            <a:r>
              <a:rPr lang="zh-CN" altLang="en-US" sz="3600" b="1" dirty="0" smtClean="0"/>
              <a:t>中</a:t>
            </a:r>
            <a:r>
              <a:rPr lang="en-US" altLang="zh-CN" sz="3600" b="1" dirty="0" smtClean="0"/>
              <a:t>Line</a:t>
            </a:r>
            <a:r>
              <a:rPr lang="zh-CN" altLang="en-US" sz="3600" b="1" dirty="0" smtClean="0"/>
              <a:t>类和</a:t>
            </a:r>
            <a:r>
              <a:rPr lang="en-US" altLang="zh-CN" sz="3600" b="1" dirty="0" smtClean="0"/>
              <a:t>Point</a:t>
            </a:r>
            <a:r>
              <a:rPr lang="zh-CN" altLang="en-US" sz="3600" b="1" dirty="0" smtClean="0"/>
              <a:t>类的关系</a:t>
            </a:r>
            <a:endParaRPr lang="zh-CN" altLang="en-US" sz="3600" b="1" dirty="0" smtClean="0"/>
          </a:p>
        </p:txBody>
      </p:sp>
      <p:grpSp>
        <p:nvGrpSpPr>
          <p:cNvPr id="69638" name="Group 3"/>
          <p:cNvGrpSpPr>
            <a:grpSpLocks noChangeAspect="1"/>
          </p:cNvGrpSpPr>
          <p:nvPr/>
        </p:nvGrpSpPr>
        <p:grpSpPr bwMode="auto">
          <a:xfrm>
            <a:off x="1785938" y="1785938"/>
            <a:ext cx="5286375" cy="4767262"/>
            <a:chOff x="0" y="0"/>
            <a:chExt cx="6570" cy="5925"/>
          </a:xfrm>
        </p:grpSpPr>
        <p:sp>
          <p:nvSpPr>
            <p:cNvPr id="69640" name="AutoShape 40"/>
            <p:cNvSpPr>
              <a:spLocks noChangeAspect="1" noChangeArrowheads="1" noTextEdit="1"/>
            </p:cNvSpPr>
            <p:nvPr/>
          </p:nvSpPr>
          <p:spPr bwMode="auto">
            <a:xfrm>
              <a:off x="0" y="0"/>
              <a:ext cx="6570" cy="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FFFF00"/>
                </a:solidFill>
              </a:endParaRPr>
            </a:p>
          </p:txBody>
        </p:sp>
        <p:sp>
          <p:nvSpPr>
            <p:cNvPr id="69641" name="Rectangle 39"/>
            <p:cNvSpPr>
              <a:spLocks noChangeArrowheads="1"/>
            </p:cNvSpPr>
            <p:nvPr/>
          </p:nvSpPr>
          <p:spPr bwMode="auto">
            <a:xfrm>
              <a:off x="3395" y="3555"/>
              <a:ext cx="3175" cy="2074"/>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69642" name="Rectangle 38"/>
            <p:cNvSpPr>
              <a:spLocks noChangeArrowheads="1"/>
            </p:cNvSpPr>
            <p:nvPr/>
          </p:nvSpPr>
          <p:spPr bwMode="auto">
            <a:xfrm>
              <a:off x="4579" y="3612"/>
              <a:ext cx="55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Point</a:t>
              </a:r>
              <a:endParaRPr lang="en-US" altLang="zh-CN" sz="4000" b="1">
                <a:solidFill>
                  <a:srgbClr val="FFFF00"/>
                </a:solidFill>
              </a:endParaRPr>
            </a:p>
          </p:txBody>
        </p:sp>
        <p:sp>
          <p:nvSpPr>
            <p:cNvPr id="69643" name="Rectangle 37"/>
            <p:cNvSpPr>
              <a:spLocks noChangeArrowheads="1"/>
            </p:cNvSpPr>
            <p:nvPr/>
          </p:nvSpPr>
          <p:spPr bwMode="auto">
            <a:xfrm>
              <a:off x="3395" y="3876"/>
              <a:ext cx="3175" cy="1753"/>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69644" name="Rectangle 36"/>
            <p:cNvSpPr>
              <a:spLocks noChangeArrowheads="1"/>
            </p:cNvSpPr>
            <p:nvPr/>
          </p:nvSpPr>
          <p:spPr bwMode="auto">
            <a:xfrm>
              <a:off x="3395" y="4475"/>
              <a:ext cx="3175" cy="1154"/>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69645" name="Rectangle 35"/>
            <p:cNvSpPr>
              <a:spLocks noChangeArrowheads="1"/>
            </p:cNvSpPr>
            <p:nvPr/>
          </p:nvSpPr>
          <p:spPr bwMode="auto">
            <a:xfrm>
              <a:off x="3408" y="3905"/>
              <a:ext cx="72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x : int</a:t>
              </a:r>
              <a:endParaRPr lang="en-US" altLang="zh-CN" sz="4000" b="1">
                <a:solidFill>
                  <a:srgbClr val="FFFF00"/>
                </a:solidFill>
              </a:endParaRPr>
            </a:p>
          </p:txBody>
        </p:sp>
        <p:sp>
          <p:nvSpPr>
            <p:cNvPr id="69646" name="Rectangle 34"/>
            <p:cNvSpPr>
              <a:spLocks noChangeArrowheads="1"/>
            </p:cNvSpPr>
            <p:nvPr/>
          </p:nvSpPr>
          <p:spPr bwMode="auto">
            <a:xfrm>
              <a:off x="3408" y="4144"/>
              <a:ext cx="72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y : int</a:t>
              </a:r>
              <a:endParaRPr lang="en-US" altLang="zh-CN" sz="4000" b="1">
                <a:solidFill>
                  <a:srgbClr val="FFFF00"/>
                </a:solidFill>
              </a:endParaRPr>
            </a:p>
          </p:txBody>
        </p:sp>
        <p:sp>
          <p:nvSpPr>
            <p:cNvPr id="69647" name="Rectangle 33"/>
            <p:cNvSpPr>
              <a:spLocks noChangeArrowheads="1"/>
            </p:cNvSpPr>
            <p:nvPr/>
          </p:nvSpPr>
          <p:spPr bwMode="auto">
            <a:xfrm>
              <a:off x="3342" y="4623"/>
              <a:ext cx="320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Point(xx : int = 0, yy : int = 0)</a:t>
              </a:r>
              <a:endParaRPr lang="en-US" altLang="zh-CN" sz="4000" b="1">
                <a:solidFill>
                  <a:srgbClr val="FFFF00"/>
                </a:solidFill>
              </a:endParaRPr>
            </a:p>
          </p:txBody>
        </p:sp>
        <p:sp>
          <p:nvSpPr>
            <p:cNvPr id="69648" name="Rectangle 32"/>
            <p:cNvSpPr>
              <a:spLocks noChangeArrowheads="1"/>
            </p:cNvSpPr>
            <p:nvPr/>
          </p:nvSpPr>
          <p:spPr bwMode="auto">
            <a:xfrm>
              <a:off x="3372" y="4863"/>
              <a:ext cx="200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Point(p : Point &amp;)</a:t>
              </a:r>
              <a:endParaRPr lang="en-US" altLang="zh-CN" sz="4000" b="1">
                <a:solidFill>
                  <a:srgbClr val="FFFF00"/>
                </a:solidFill>
              </a:endParaRPr>
            </a:p>
          </p:txBody>
        </p:sp>
        <p:sp>
          <p:nvSpPr>
            <p:cNvPr id="69649" name="Rectangle 31"/>
            <p:cNvSpPr>
              <a:spLocks noChangeArrowheads="1"/>
            </p:cNvSpPr>
            <p:nvPr/>
          </p:nvSpPr>
          <p:spPr bwMode="auto">
            <a:xfrm>
              <a:off x="3402" y="5102"/>
              <a:ext cx="1289"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getX() : int</a:t>
              </a:r>
              <a:endParaRPr lang="en-US" altLang="zh-CN" sz="4000" b="1">
                <a:solidFill>
                  <a:srgbClr val="FFFF00"/>
                </a:solidFill>
              </a:endParaRPr>
            </a:p>
          </p:txBody>
        </p:sp>
        <p:sp>
          <p:nvSpPr>
            <p:cNvPr id="69650" name="Rectangle 30"/>
            <p:cNvSpPr>
              <a:spLocks noChangeArrowheads="1"/>
            </p:cNvSpPr>
            <p:nvPr/>
          </p:nvSpPr>
          <p:spPr bwMode="auto">
            <a:xfrm>
              <a:off x="3402" y="5342"/>
              <a:ext cx="1289"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getY() : int</a:t>
              </a:r>
              <a:endParaRPr lang="en-US" altLang="zh-CN" sz="4000" b="1">
                <a:solidFill>
                  <a:srgbClr val="FFFF00"/>
                </a:solidFill>
              </a:endParaRPr>
            </a:p>
          </p:txBody>
        </p:sp>
        <p:sp>
          <p:nvSpPr>
            <p:cNvPr id="69651" name="Rectangle 29"/>
            <p:cNvSpPr>
              <a:spLocks noChangeArrowheads="1"/>
            </p:cNvSpPr>
            <p:nvPr/>
          </p:nvSpPr>
          <p:spPr bwMode="auto">
            <a:xfrm>
              <a:off x="89" y="268"/>
              <a:ext cx="2965" cy="1596"/>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69652" name="Rectangle 28"/>
            <p:cNvSpPr>
              <a:spLocks noChangeArrowheads="1"/>
            </p:cNvSpPr>
            <p:nvPr/>
          </p:nvSpPr>
          <p:spPr bwMode="auto">
            <a:xfrm>
              <a:off x="1483" y="326"/>
              <a:ext cx="45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Line</a:t>
              </a:r>
              <a:endParaRPr lang="en-US" altLang="zh-CN" sz="4000" b="1">
                <a:solidFill>
                  <a:srgbClr val="FFFF00"/>
                </a:solidFill>
              </a:endParaRPr>
            </a:p>
          </p:txBody>
        </p:sp>
        <p:sp>
          <p:nvSpPr>
            <p:cNvPr id="69653" name="Rectangle 27"/>
            <p:cNvSpPr>
              <a:spLocks noChangeArrowheads="1"/>
            </p:cNvSpPr>
            <p:nvPr/>
          </p:nvSpPr>
          <p:spPr bwMode="auto">
            <a:xfrm>
              <a:off x="89" y="589"/>
              <a:ext cx="2965" cy="1275"/>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69654" name="Rectangle 26"/>
            <p:cNvSpPr>
              <a:spLocks noChangeArrowheads="1"/>
            </p:cNvSpPr>
            <p:nvPr/>
          </p:nvSpPr>
          <p:spPr bwMode="auto">
            <a:xfrm>
              <a:off x="89" y="949"/>
              <a:ext cx="2965" cy="915"/>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69655" name="Rectangle 25"/>
            <p:cNvSpPr>
              <a:spLocks noChangeArrowheads="1"/>
            </p:cNvSpPr>
            <p:nvPr/>
          </p:nvSpPr>
          <p:spPr bwMode="auto">
            <a:xfrm>
              <a:off x="292" y="618"/>
              <a:ext cx="138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len : double</a:t>
              </a:r>
              <a:endParaRPr lang="en-US" altLang="zh-CN" sz="4000" b="1">
                <a:solidFill>
                  <a:srgbClr val="FFFF00"/>
                </a:solidFill>
              </a:endParaRPr>
            </a:p>
          </p:txBody>
        </p:sp>
        <p:sp>
          <p:nvSpPr>
            <p:cNvPr id="69656" name="Rectangle 24"/>
            <p:cNvSpPr>
              <a:spLocks noChangeArrowheads="1"/>
            </p:cNvSpPr>
            <p:nvPr/>
          </p:nvSpPr>
          <p:spPr bwMode="auto">
            <a:xfrm>
              <a:off x="19" y="1097"/>
              <a:ext cx="319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Line(xp1 : Point, xp2 : Point)</a:t>
              </a:r>
              <a:endParaRPr lang="en-US" altLang="zh-CN" sz="4000" b="1">
                <a:solidFill>
                  <a:srgbClr val="FFFF00"/>
                </a:solidFill>
              </a:endParaRPr>
            </a:p>
          </p:txBody>
        </p:sp>
        <p:sp>
          <p:nvSpPr>
            <p:cNvPr id="69657" name="Rectangle 23"/>
            <p:cNvSpPr>
              <a:spLocks noChangeArrowheads="1"/>
            </p:cNvSpPr>
            <p:nvPr/>
          </p:nvSpPr>
          <p:spPr bwMode="auto">
            <a:xfrm>
              <a:off x="63" y="1337"/>
              <a:ext cx="167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Line( : Line &amp;)</a:t>
              </a:r>
              <a:endParaRPr lang="en-US" altLang="zh-CN" sz="4000" b="1">
                <a:solidFill>
                  <a:srgbClr val="FFFF00"/>
                </a:solidFill>
              </a:endParaRPr>
            </a:p>
          </p:txBody>
        </p:sp>
        <p:sp>
          <p:nvSpPr>
            <p:cNvPr id="69658" name="Rectangle 22"/>
            <p:cNvSpPr>
              <a:spLocks noChangeArrowheads="1"/>
            </p:cNvSpPr>
            <p:nvPr/>
          </p:nvSpPr>
          <p:spPr bwMode="auto">
            <a:xfrm>
              <a:off x="81" y="1576"/>
              <a:ext cx="199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getLen() : double</a:t>
              </a:r>
              <a:endParaRPr lang="en-US" altLang="zh-CN" sz="4000" b="1">
                <a:solidFill>
                  <a:srgbClr val="FFFF00"/>
                </a:solidFill>
              </a:endParaRPr>
            </a:p>
          </p:txBody>
        </p:sp>
        <p:sp>
          <p:nvSpPr>
            <p:cNvPr id="69659" name="Line 21"/>
            <p:cNvSpPr>
              <a:spLocks noChangeShapeType="1"/>
            </p:cNvSpPr>
            <p:nvPr/>
          </p:nvSpPr>
          <p:spPr bwMode="auto">
            <a:xfrm flipV="1">
              <a:off x="1673" y="1878"/>
              <a:ext cx="5" cy="2218"/>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69660" name="Freeform 20"/>
            <p:cNvSpPr/>
            <p:nvPr/>
          </p:nvSpPr>
          <p:spPr bwMode="auto">
            <a:xfrm>
              <a:off x="1606" y="1878"/>
              <a:ext cx="144" cy="259"/>
            </a:xfrm>
            <a:custGeom>
              <a:avLst/>
              <a:gdLst>
                <a:gd name="T0" fmla="*/ 72 w 144"/>
                <a:gd name="T1" fmla="*/ 0 h 259"/>
                <a:gd name="T2" fmla="*/ 144 w 144"/>
                <a:gd name="T3" fmla="*/ 129 h 259"/>
                <a:gd name="T4" fmla="*/ 72 w 144"/>
                <a:gd name="T5" fmla="*/ 259 h 259"/>
                <a:gd name="T6" fmla="*/ 0 w 144"/>
                <a:gd name="T7" fmla="*/ 129 h 259"/>
                <a:gd name="T8" fmla="*/ 72 w 144"/>
                <a:gd name="T9" fmla="*/ 0 h 259"/>
                <a:gd name="T10" fmla="*/ 0 60000 65536"/>
                <a:gd name="T11" fmla="*/ 0 60000 65536"/>
                <a:gd name="T12" fmla="*/ 0 60000 65536"/>
                <a:gd name="T13" fmla="*/ 0 60000 65536"/>
                <a:gd name="T14" fmla="*/ 0 60000 65536"/>
                <a:gd name="T15" fmla="*/ 0 w 144"/>
                <a:gd name="T16" fmla="*/ 0 h 259"/>
                <a:gd name="T17" fmla="*/ 144 w 144"/>
                <a:gd name="T18" fmla="*/ 259 h 259"/>
              </a:gdLst>
              <a:ahLst/>
              <a:cxnLst>
                <a:cxn ang="T10">
                  <a:pos x="T0" y="T1"/>
                </a:cxn>
                <a:cxn ang="T11">
                  <a:pos x="T2" y="T3"/>
                </a:cxn>
                <a:cxn ang="T12">
                  <a:pos x="T4" y="T5"/>
                </a:cxn>
                <a:cxn ang="T13">
                  <a:pos x="T6" y="T7"/>
                </a:cxn>
                <a:cxn ang="T14">
                  <a:pos x="T8" y="T9"/>
                </a:cxn>
              </a:cxnLst>
              <a:rect l="T15" t="T16" r="T17" b="T18"/>
              <a:pathLst>
                <a:path w="144" h="259">
                  <a:moveTo>
                    <a:pt x="72" y="0"/>
                  </a:moveTo>
                  <a:lnTo>
                    <a:pt x="144" y="129"/>
                  </a:lnTo>
                  <a:lnTo>
                    <a:pt x="72" y="259"/>
                  </a:lnTo>
                  <a:lnTo>
                    <a:pt x="0" y="129"/>
                  </a:lnTo>
                  <a:lnTo>
                    <a:pt x="72" y="0"/>
                  </a:lnTo>
                  <a:close/>
                </a:path>
              </a:pathLst>
            </a:custGeom>
            <a:solidFill>
              <a:srgbClr val="FFFFFF"/>
            </a:solidFill>
            <a:ln w="4">
              <a:solidFill>
                <a:srgbClr val="000000"/>
              </a:solidFill>
              <a:round/>
            </a:ln>
          </p:spPr>
          <p:txBody>
            <a:bodyPr/>
            <a:lstStyle/>
            <a:p>
              <a:endParaRPr lang="zh-CN" altLang="en-US" b="1">
                <a:solidFill>
                  <a:srgbClr val="FFFF00"/>
                </a:solidFill>
              </a:endParaRPr>
            </a:p>
          </p:txBody>
        </p:sp>
        <p:sp>
          <p:nvSpPr>
            <p:cNvPr id="69661" name="Freeform 19"/>
            <p:cNvSpPr/>
            <p:nvPr/>
          </p:nvSpPr>
          <p:spPr bwMode="auto">
            <a:xfrm>
              <a:off x="1673" y="4096"/>
              <a:ext cx="1717" cy="503"/>
            </a:xfrm>
            <a:custGeom>
              <a:avLst/>
              <a:gdLst>
                <a:gd name="T0" fmla="*/ 0 w 358"/>
                <a:gd name="T1" fmla="*/ 0 h 105"/>
                <a:gd name="T2" fmla="*/ 0 w 358"/>
                <a:gd name="T3" fmla="*/ 2147483647 h 105"/>
                <a:gd name="T4" fmla="*/ 2147483647 w 358"/>
                <a:gd name="T5" fmla="*/ 2147483647 h 105"/>
                <a:gd name="T6" fmla="*/ 0 60000 65536"/>
                <a:gd name="T7" fmla="*/ 0 60000 65536"/>
                <a:gd name="T8" fmla="*/ 0 60000 65536"/>
                <a:gd name="T9" fmla="*/ 0 w 358"/>
                <a:gd name="T10" fmla="*/ 0 h 105"/>
                <a:gd name="T11" fmla="*/ 358 w 358"/>
                <a:gd name="T12" fmla="*/ 105 h 105"/>
              </a:gdLst>
              <a:ahLst/>
              <a:cxnLst>
                <a:cxn ang="T6">
                  <a:pos x="T0" y="T1"/>
                </a:cxn>
                <a:cxn ang="T7">
                  <a:pos x="T2" y="T3"/>
                </a:cxn>
                <a:cxn ang="T8">
                  <a:pos x="T4" y="T5"/>
                </a:cxn>
              </a:cxnLst>
              <a:rect l="T9" t="T10" r="T11" b="T12"/>
              <a:pathLst>
                <a:path w="358" h="105">
                  <a:moveTo>
                    <a:pt x="0" y="0"/>
                  </a:moveTo>
                  <a:lnTo>
                    <a:pt x="0" y="105"/>
                  </a:lnTo>
                  <a:lnTo>
                    <a:pt x="358" y="105"/>
                  </a:lnTo>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69662" name="Line 18"/>
            <p:cNvSpPr>
              <a:spLocks noChangeShapeType="1"/>
            </p:cNvSpPr>
            <p:nvPr/>
          </p:nvSpPr>
          <p:spPr bwMode="auto">
            <a:xfrm flipH="1">
              <a:off x="3217" y="4599"/>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69663" name="Line 17"/>
            <p:cNvSpPr>
              <a:spLocks noChangeShapeType="1"/>
            </p:cNvSpPr>
            <p:nvPr/>
          </p:nvSpPr>
          <p:spPr bwMode="auto">
            <a:xfrm flipH="1" flipV="1">
              <a:off x="3217" y="4527"/>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69664" name="Rectangle 16"/>
            <p:cNvSpPr>
              <a:spLocks noChangeArrowheads="1"/>
            </p:cNvSpPr>
            <p:nvPr/>
          </p:nvSpPr>
          <p:spPr bwMode="auto">
            <a:xfrm>
              <a:off x="2655" y="4283"/>
              <a:ext cx="33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-p1</a:t>
              </a:r>
              <a:endParaRPr lang="en-US" altLang="zh-CN" sz="4000" b="1">
                <a:solidFill>
                  <a:srgbClr val="FFFF00"/>
                </a:solidFill>
              </a:endParaRPr>
            </a:p>
          </p:txBody>
        </p:sp>
        <p:sp>
          <p:nvSpPr>
            <p:cNvPr id="69665" name="Rectangle 15"/>
            <p:cNvSpPr>
              <a:spLocks noChangeArrowheads="1"/>
            </p:cNvSpPr>
            <p:nvPr/>
          </p:nvSpPr>
          <p:spPr bwMode="auto">
            <a:xfrm>
              <a:off x="2655" y="4748"/>
              <a:ext cx="33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-p2</a:t>
              </a:r>
              <a:endParaRPr lang="en-US" altLang="zh-CN" sz="4000" b="1">
                <a:solidFill>
                  <a:srgbClr val="FFFF00"/>
                </a:solidFill>
              </a:endParaRPr>
            </a:p>
          </p:txBody>
        </p:sp>
        <p:sp>
          <p:nvSpPr>
            <p:cNvPr id="69666" name="Line 14"/>
            <p:cNvSpPr>
              <a:spLocks noChangeShapeType="1"/>
            </p:cNvSpPr>
            <p:nvPr/>
          </p:nvSpPr>
          <p:spPr bwMode="auto">
            <a:xfrm flipV="1">
              <a:off x="1673" y="1878"/>
              <a:ext cx="5" cy="2218"/>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69667" name="Rectangle 13"/>
            <p:cNvSpPr>
              <a:spLocks noChangeArrowheads="1"/>
            </p:cNvSpPr>
            <p:nvPr/>
          </p:nvSpPr>
          <p:spPr bwMode="auto">
            <a:xfrm>
              <a:off x="1788" y="1983"/>
              <a:ext cx="335"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1..*</a:t>
              </a:r>
              <a:endParaRPr lang="en-US" altLang="zh-CN" sz="4000" b="1">
                <a:solidFill>
                  <a:srgbClr val="FFFF00"/>
                </a:solidFill>
              </a:endParaRPr>
            </a:p>
          </p:txBody>
        </p:sp>
        <p:sp>
          <p:nvSpPr>
            <p:cNvPr id="69668" name="Freeform 12"/>
            <p:cNvSpPr/>
            <p:nvPr/>
          </p:nvSpPr>
          <p:spPr bwMode="auto">
            <a:xfrm>
              <a:off x="1606" y="1878"/>
              <a:ext cx="144" cy="259"/>
            </a:xfrm>
            <a:custGeom>
              <a:avLst/>
              <a:gdLst>
                <a:gd name="T0" fmla="*/ 72 w 144"/>
                <a:gd name="T1" fmla="*/ 0 h 259"/>
                <a:gd name="T2" fmla="*/ 144 w 144"/>
                <a:gd name="T3" fmla="*/ 129 h 259"/>
                <a:gd name="T4" fmla="*/ 72 w 144"/>
                <a:gd name="T5" fmla="*/ 259 h 259"/>
                <a:gd name="T6" fmla="*/ 0 w 144"/>
                <a:gd name="T7" fmla="*/ 129 h 259"/>
                <a:gd name="T8" fmla="*/ 72 w 144"/>
                <a:gd name="T9" fmla="*/ 0 h 259"/>
                <a:gd name="T10" fmla="*/ 0 60000 65536"/>
                <a:gd name="T11" fmla="*/ 0 60000 65536"/>
                <a:gd name="T12" fmla="*/ 0 60000 65536"/>
                <a:gd name="T13" fmla="*/ 0 60000 65536"/>
                <a:gd name="T14" fmla="*/ 0 60000 65536"/>
                <a:gd name="T15" fmla="*/ 0 w 144"/>
                <a:gd name="T16" fmla="*/ 0 h 259"/>
                <a:gd name="T17" fmla="*/ 144 w 144"/>
                <a:gd name="T18" fmla="*/ 259 h 259"/>
              </a:gdLst>
              <a:ahLst/>
              <a:cxnLst>
                <a:cxn ang="T10">
                  <a:pos x="T0" y="T1"/>
                </a:cxn>
                <a:cxn ang="T11">
                  <a:pos x="T2" y="T3"/>
                </a:cxn>
                <a:cxn ang="T12">
                  <a:pos x="T4" y="T5"/>
                </a:cxn>
                <a:cxn ang="T13">
                  <a:pos x="T6" y="T7"/>
                </a:cxn>
                <a:cxn ang="T14">
                  <a:pos x="T8" y="T9"/>
                </a:cxn>
              </a:cxnLst>
              <a:rect l="T15" t="T16" r="T17" b="T18"/>
              <a:pathLst>
                <a:path w="144" h="259">
                  <a:moveTo>
                    <a:pt x="72" y="0"/>
                  </a:moveTo>
                  <a:lnTo>
                    <a:pt x="144" y="129"/>
                  </a:lnTo>
                  <a:lnTo>
                    <a:pt x="72" y="259"/>
                  </a:lnTo>
                  <a:lnTo>
                    <a:pt x="0" y="129"/>
                  </a:lnTo>
                  <a:lnTo>
                    <a:pt x="72" y="0"/>
                  </a:lnTo>
                  <a:close/>
                </a:path>
              </a:pathLst>
            </a:custGeom>
            <a:solidFill>
              <a:srgbClr val="000000"/>
            </a:solidFill>
            <a:ln w="4">
              <a:solidFill>
                <a:srgbClr val="000000"/>
              </a:solidFill>
              <a:round/>
            </a:ln>
          </p:spPr>
          <p:txBody>
            <a:bodyPr/>
            <a:lstStyle/>
            <a:p>
              <a:endParaRPr lang="zh-CN" altLang="en-US" b="1">
                <a:solidFill>
                  <a:srgbClr val="FFFF00"/>
                </a:solidFill>
              </a:endParaRPr>
            </a:p>
          </p:txBody>
        </p:sp>
        <p:sp>
          <p:nvSpPr>
            <p:cNvPr id="69669" name="Freeform 11"/>
            <p:cNvSpPr/>
            <p:nvPr/>
          </p:nvSpPr>
          <p:spPr bwMode="auto">
            <a:xfrm>
              <a:off x="1673" y="4096"/>
              <a:ext cx="1717" cy="503"/>
            </a:xfrm>
            <a:custGeom>
              <a:avLst/>
              <a:gdLst>
                <a:gd name="T0" fmla="*/ 0 w 358"/>
                <a:gd name="T1" fmla="*/ 0 h 105"/>
                <a:gd name="T2" fmla="*/ 0 w 358"/>
                <a:gd name="T3" fmla="*/ 2147483647 h 105"/>
                <a:gd name="T4" fmla="*/ 2147483647 w 358"/>
                <a:gd name="T5" fmla="*/ 2147483647 h 105"/>
                <a:gd name="T6" fmla="*/ 0 60000 65536"/>
                <a:gd name="T7" fmla="*/ 0 60000 65536"/>
                <a:gd name="T8" fmla="*/ 0 60000 65536"/>
                <a:gd name="T9" fmla="*/ 0 w 358"/>
                <a:gd name="T10" fmla="*/ 0 h 105"/>
                <a:gd name="T11" fmla="*/ 358 w 358"/>
                <a:gd name="T12" fmla="*/ 105 h 105"/>
              </a:gdLst>
              <a:ahLst/>
              <a:cxnLst>
                <a:cxn ang="T6">
                  <a:pos x="T0" y="T1"/>
                </a:cxn>
                <a:cxn ang="T7">
                  <a:pos x="T2" y="T3"/>
                </a:cxn>
                <a:cxn ang="T8">
                  <a:pos x="T4" y="T5"/>
                </a:cxn>
              </a:cxnLst>
              <a:rect l="T9" t="T10" r="T11" b="T12"/>
              <a:pathLst>
                <a:path w="358" h="105">
                  <a:moveTo>
                    <a:pt x="0" y="0"/>
                  </a:moveTo>
                  <a:lnTo>
                    <a:pt x="0" y="105"/>
                  </a:lnTo>
                  <a:lnTo>
                    <a:pt x="358" y="105"/>
                  </a:lnTo>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69670" name="Rectangle 10"/>
            <p:cNvSpPr>
              <a:spLocks noChangeArrowheads="1"/>
            </p:cNvSpPr>
            <p:nvPr/>
          </p:nvSpPr>
          <p:spPr bwMode="auto">
            <a:xfrm>
              <a:off x="3112" y="4738"/>
              <a:ext cx="124"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2</a:t>
              </a:r>
              <a:endParaRPr lang="en-US" altLang="zh-CN" sz="4000" b="1">
                <a:solidFill>
                  <a:srgbClr val="FFFF00"/>
                </a:solidFill>
              </a:endParaRPr>
            </a:p>
          </p:txBody>
        </p:sp>
        <p:sp>
          <p:nvSpPr>
            <p:cNvPr id="69671" name="Line 9"/>
            <p:cNvSpPr>
              <a:spLocks noChangeShapeType="1"/>
            </p:cNvSpPr>
            <p:nvPr/>
          </p:nvSpPr>
          <p:spPr bwMode="auto">
            <a:xfrm flipH="1">
              <a:off x="3217" y="4599"/>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69672" name="Line 8"/>
            <p:cNvSpPr>
              <a:spLocks noChangeShapeType="1"/>
            </p:cNvSpPr>
            <p:nvPr/>
          </p:nvSpPr>
          <p:spPr bwMode="auto">
            <a:xfrm flipH="1" flipV="1">
              <a:off x="3217" y="4527"/>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69673" name="Rectangle 7"/>
            <p:cNvSpPr>
              <a:spLocks noChangeArrowheads="1"/>
            </p:cNvSpPr>
            <p:nvPr/>
          </p:nvSpPr>
          <p:spPr bwMode="auto">
            <a:xfrm>
              <a:off x="1788" y="1983"/>
              <a:ext cx="335"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1..*</a:t>
              </a:r>
              <a:endParaRPr lang="en-US" altLang="zh-CN" sz="4000" b="1">
                <a:solidFill>
                  <a:srgbClr val="FFFF00"/>
                </a:solidFill>
              </a:endParaRPr>
            </a:p>
          </p:txBody>
        </p:sp>
        <p:sp>
          <p:nvSpPr>
            <p:cNvPr id="69674" name="Freeform 6"/>
            <p:cNvSpPr/>
            <p:nvPr/>
          </p:nvSpPr>
          <p:spPr bwMode="auto">
            <a:xfrm>
              <a:off x="3069" y="1064"/>
              <a:ext cx="1754" cy="2486"/>
            </a:xfrm>
            <a:custGeom>
              <a:avLst/>
              <a:gdLst>
                <a:gd name="T0" fmla="*/ 0 w 366"/>
                <a:gd name="T1" fmla="*/ 2147483647 h 519"/>
                <a:gd name="T2" fmla="*/ 2147483647 w 366"/>
                <a:gd name="T3" fmla="*/ 0 h 519"/>
                <a:gd name="T4" fmla="*/ 2147483647 w 366"/>
                <a:gd name="T5" fmla="*/ 2147483647 h 519"/>
                <a:gd name="T6" fmla="*/ 0 60000 65536"/>
                <a:gd name="T7" fmla="*/ 0 60000 65536"/>
                <a:gd name="T8" fmla="*/ 0 60000 65536"/>
                <a:gd name="T9" fmla="*/ 0 w 366"/>
                <a:gd name="T10" fmla="*/ 0 h 519"/>
                <a:gd name="T11" fmla="*/ 366 w 366"/>
                <a:gd name="T12" fmla="*/ 519 h 519"/>
              </a:gdLst>
              <a:ahLst/>
              <a:cxnLst>
                <a:cxn ang="T6">
                  <a:pos x="T0" y="T1"/>
                </a:cxn>
                <a:cxn ang="T7">
                  <a:pos x="T2" y="T3"/>
                </a:cxn>
                <a:cxn ang="T8">
                  <a:pos x="T4" y="T5"/>
                </a:cxn>
              </a:cxnLst>
              <a:rect l="T9" t="T10" r="T11" b="T12"/>
              <a:pathLst>
                <a:path w="366" h="519">
                  <a:moveTo>
                    <a:pt x="0" y="1"/>
                  </a:moveTo>
                  <a:lnTo>
                    <a:pt x="366" y="0"/>
                  </a:lnTo>
                  <a:lnTo>
                    <a:pt x="366" y="519"/>
                  </a:lnTo>
                </a:path>
              </a:pathLst>
            </a:custGeom>
            <a:noFill/>
            <a:ln w="0">
              <a:solidFill>
                <a:srgbClr val="00000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69675" name="Line 5"/>
            <p:cNvSpPr>
              <a:spLocks noChangeShapeType="1"/>
            </p:cNvSpPr>
            <p:nvPr/>
          </p:nvSpPr>
          <p:spPr bwMode="auto">
            <a:xfrm flipV="1">
              <a:off x="4823" y="3378"/>
              <a:ext cx="72" cy="1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69676" name="Line 4"/>
            <p:cNvSpPr>
              <a:spLocks noChangeShapeType="1"/>
            </p:cNvSpPr>
            <p:nvPr/>
          </p:nvSpPr>
          <p:spPr bwMode="auto">
            <a:xfrm flipH="1" flipV="1">
              <a:off x="976" y="689"/>
              <a:ext cx="15" cy="36"/>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grpSp>
      <p:sp>
        <p:nvSpPr>
          <p:cNvPr id="69639" name="Line 5"/>
          <p:cNvSpPr>
            <a:spLocks noChangeShapeType="1"/>
          </p:cNvSpPr>
          <p:nvPr/>
        </p:nvSpPr>
        <p:spPr bwMode="auto">
          <a:xfrm flipH="1" flipV="1">
            <a:off x="5597525" y="4500563"/>
            <a:ext cx="46038" cy="15081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几种关系的图形标识</a:t>
            </a:r>
            <a:endParaRPr lang="zh-CN" altLang="en-US" sz="4400" b="1">
              <a:latin typeface="Times New Roman" panose="02020603050405020304" pitchFamily="18" charset="0"/>
              <a:ea typeface="隶书" panose="02010509060101010101" pitchFamily="49" charset="-122"/>
            </a:endParaRPr>
          </a:p>
        </p:txBody>
      </p:sp>
      <p:sp>
        <p:nvSpPr>
          <p:cNvPr id="70659" name="内容占位符 2"/>
          <p:cNvSpPr>
            <a:spLocks noGrp="1"/>
          </p:cNvSpPr>
          <p:nvPr>
            <p:ph idx="1"/>
          </p:nvPr>
        </p:nvSpPr>
        <p:spPr>
          <a:xfrm>
            <a:off x="611560" y="1700808"/>
            <a:ext cx="7886700" cy="4351338"/>
          </a:xfrm>
        </p:spPr>
        <p:txBody>
          <a:bodyPr/>
          <a:lstStyle/>
          <a:p>
            <a:pPr eaLnBrk="1" hangingPunct="1"/>
            <a:r>
              <a:rPr lang="zh-CN" altLang="en-US" b="1" dirty="0" smtClean="0">
                <a:latin typeface="微软雅黑" panose="020B0503020204020204" pitchFamily="34" charset="-122"/>
                <a:ea typeface="微软雅黑" panose="020B0503020204020204" pitchFamily="34" charset="-122"/>
              </a:rPr>
              <a:t>继承关系</a:t>
            </a:r>
            <a:r>
              <a:rPr lang="en-US" altLang="zh-CN" b="1" dirty="0" smtClean="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泛化</a:t>
            </a:r>
            <a:endParaRPr lang="zh-CN" altLang="en-US" b="1" dirty="0" smtClean="0">
              <a:latin typeface="微软雅黑" panose="020B0503020204020204" pitchFamily="34" charset="-122"/>
              <a:ea typeface="微软雅黑" panose="020B0503020204020204" pitchFamily="34" charset="-122"/>
            </a:endParaRPr>
          </a:p>
          <a:p>
            <a:pPr eaLnBrk="1" hangingPunct="1">
              <a:lnSpc>
                <a:spcPct val="90000"/>
              </a:lnSpc>
              <a:buFont typeface="Georgia" panose="02040502050405020303" pitchFamily="18" charset="0"/>
              <a:buNone/>
            </a:pPr>
            <a:endParaRPr lang="zh-CN" altLang="en-US" b="1" dirty="0" smtClean="0">
              <a:ea typeface="+mj-ea"/>
            </a:endParaRPr>
          </a:p>
          <a:p>
            <a:pPr eaLnBrk="1" hangingPunct="1">
              <a:lnSpc>
                <a:spcPct val="90000"/>
              </a:lnSpc>
            </a:pPr>
            <a:endParaRPr lang="zh-CN" altLang="en-US" b="1" dirty="0" smtClean="0">
              <a:ea typeface="+mj-ea"/>
            </a:endParaRPr>
          </a:p>
          <a:p>
            <a:pPr eaLnBrk="1" hangingPunct="1">
              <a:lnSpc>
                <a:spcPct val="90000"/>
              </a:lnSpc>
            </a:pPr>
            <a:endParaRPr lang="zh-CN" altLang="en-US" b="1" dirty="0" smtClean="0">
              <a:ea typeface="+mj-ea"/>
            </a:endParaRPr>
          </a:p>
          <a:p>
            <a:pPr marL="666750" lvl="1" indent="0" eaLnBrk="1" hangingPunct="1">
              <a:lnSpc>
                <a:spcPct val="90000"/>
              </a:lnSpc>
              <a:buFont typeface="Georgia" panose="02040502050405020303" pitchFamily="18" charset="0"/>
              <a:buNone/>
            </a:pPr>
            <a:br>
              <a:rPr lang="en-US" altLang="zh-CN" b="1" dirty="0" smtClean="0">
                <a:ea typeface="+mj-ea"/>
              </a:rPr>
            </a:br>
            <a:endParaRPr lang="en-US" altLang="zh-CN" b="1" dirty="0" smtClean="0">
              <a:ea typeface="+mj-ea"/>
            </a:endParaRPr>
          </a:p>
          <a:p>
            <a:pPr marL="666750" lvl="1" indent="0" eaLnBrk="1" hangingPunct="1">
              <a:lnSpc>
                <a:spcPct val="90000"/>
              </a:lnSpc>
              <a:buFont typeface="Georgia" panose="02040502050405020303" pitchFamily="18" charset="0"/>
              <a:buNone/>
            </a:pPr>
            <a:endParaRPr lang="en-US" altLang="zh-CN" b="1" dirty="0" smtClean="0">
              <a:ea typeface="+mj-ea"/>
            </a:endParaRPr>
          </a:p>
        </p:txBody>
      </p:sp>
      <p:grpSp>
        <p:nvGrpSpPr>
          <p:cNvPr id="70662" name="Group 4"/>
          <p:cNvGrpSpPr/>
          <p:nvPr/>
        </p:nvGrpSpPr>
        <p:grpSpPr bwMode="auto">
          <a:xfrm>
            <a:off x="1714500" y="2357438"/>
            <a:ext cx="5943600" cy="2268537"/>
            <a:chOff x="3717" y="1616"/>
            <a:chExt cx="4684" cy="1786"/>
          </a:xfrm>
        </p:grpSpPr>
        <p:sp>
          <p:nvSpPr>
            <p:cNvPr id="70663" name="Text Box 5"/>
            <p:cNvSpPr txBox="1">
              <a:spLocks noChangeArrowheads="1"/>
            </p:cNvSpPr>
            <p:nvPr/>
          </p:nvSpPr>
          <p:spPr bwMode="auto">
            <a:xfrm>
              <a:off x="4599" y="1616"/>
              <a:ext cx="1218" cy="4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b="1">
                  <a:solidFill>
                    <a:srgbClr val="FFFF00"/>
                  </a:solidFill>
                  <a:latin typeface="+mn-lt"/>
                  <a:ea typeface="+mj-ea"/>
                </a:rPr>
                <a:t>父类 </a:t>
              </a:r>
              <a:r>
                <a:rPr kumimoji="0" lang="en-US" altLang="zh-CN" b="1">
                  <a:solidFill>
                    <a:srgbClr val="FFFF00"/>
                  </a:solidFill>
                  <a:latin typeface="+mn-lt"/>
                  <a:ea typeface="+mj-ea"/>
                </a:rPr>
                <a:t>A</a:t>
              </a:r>
              <a:endParaRPr kumimoji="0" lang="en-US" altLang="zh-CN" b="1">
                <a:solidFill>
                  <a:srgbClr val="FFFF00"/>
                </a:solidFill>
                <a:latin typeface="+mn-lt"/>
                <a:ea typeface="+mj-ea"/>
              </a:endParaRPr>
            </a:p>
          </p:txBody>
        </p:sp>
        <p:sp>
          <p:nvSpPr>
            <p:cNvPr id="70664" name="Text Box 6"/>
            <p:cNvSpPr txBox="1">
              <a:spLocks noChangeArrowheads="1"/>
            </p:cNvSpPr>
            <p:nvPr/>
          </p:nvSpPr>
          <p:spPr bwMode="auto">
            <a:xfrm>
              <a:off x="7183" y="1626"/>
              <a:ext cx="1218" cy="4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b="1">
                  <a:solidFill>
                    <a:srgbClr val="FFFF00"/>
                  </a:solidFill>
                  <a:latin typeface="+mn-lt"/>
                  <a:ea typeface="+mj-ea"/>
                </a:rPr>
                <a:t>父类 </a:t>
              </a:r>
              <a:r>
                <a:rPr kumimoji="0" lang="en-US" altLang="zh-CN" b="1">
                  <a:solidFill>
                    <a:srgbClr val="FFFF00"/>
                  </a:solidFill>
                  <a:latin typeface="+mn-lt"/>
                  <a:ea typeface="+mj-ea"/>
                </a:rPr>
                <a:t>B</a:t>
              </a:r>
              <a:endParaRPr kumimoji="0" lang="en-US" altLang="zh-CN" b="1">
                <a:solidFill>
                  <a:srgbClr val="FFFF00"/>
                </a:solidFill>
                <a:latin typeface="+mn-lt"/>
                <a:ea typeface="+mj-ea"/>
              </a:endParaRPr>
            </a:p>
          </p:txBody>
        </p:sp>
        <p:sp>
          <p:nvSpPr>
            <p:cNvPr id="70665" name="Text Box 7"/>
            <p:cNvSpPr txBox="1">
              <a:spLocks noChangeArrowheads="1"/>
            </p:cNvSpPr>
            <p:nvPr/>
          </p:nvSpPr>
          <p:spPr bwMode="auto">
            <a:xfrm>
              <a:off x="3717" y="2937"/>
              <a:ext cx="1218" cy="4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b="1">
                  <a:solidFill>
                    <a:srgbClr val="FFFF00"/>
                  </a:solidFill>
                  <a:latin typeface="+mn-lt"/>
                  <a:ea typeface="+mj-ea"/>
                </a:rPr>
                <a:t>子类 </a:t>
              </a:r>
              <a:r>
                <a:rPr kumimoji="0" lang="en-US" altLang="zh-CN" b="1">
                  <a:solidFill>
                    <a:srgbClr val="FFFF00"/>
                  </a:solidFill>
                  <a:latin typeface="+mn-lt"/>
                  <a:ea typeface="+mj-ea"/>
                </a:rPr>
                <a:t>1</a:t>
              </a:r>
              <a:endParaRPr kumimoji="0" lang="en-US" altLang="zh-CN" b="1">
                <a:solidFill>
                  <a:srgbClr val="FFFF00"/>
                </a:solidFill>
                <a:latin typeface="+mn-lt"/>
                <a:ea typeface="+mj-ea"/>
              </a:endParaRPr>
            </a:p>
          </p:txBody>
        </p:sp>
        <p:sp>
          <p:nvSpPr>
            <p:cNvPr id="70666" name="Text Box 8"/>
            <p:cNvSpPr txBox="1">
              <a:spLocks noChangeArrowheads="1"/>
            </p:cNvSpPr>
            <p:nvPr/>
          </p:nvSpPr>
          <p:spPr bwMode="auto">
            <a:xfrm>
              <a:off x="6363" y="2934"/>
              <a:ext cx="1218" cy="4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kumimoji="0" lang="zh-CN" altLang="en-US" b="1">
                  <a:solidFill>
                    <a:srgbClr val="FFFF00"/>
                  </a:solidFill>
                  <a:latin typeface="+mn-lt"/>
                  <a:ea typeface="+mj-ea"/>
                </a:rPr>
                <a:t>子类 </a:t>
              </a:r>
              <a:r>
                <a:rPr kumimoji="0" lang="en-US" altLang="zh-CN" b="1">
                  <a:solidFill>
                    <a:srgbClr val="FFFF00"/>
                  </a:solidFill>
                  <a:latin typeface="+mn-lt"/>
                  <a:ea typeface="+mj-ea"/>
                </a:rPr>
                <a:t>2</a:t>
              </a:r>
              <a:endParaRPr kumimoji="0" lang="en-US" altLang="zh-CN" b="1">
                <a:solidFill>
                  <a:srgbClr val="FFFF00"/>
                </a:solidFill>
                <a:latin typeface="+mn-lt"/>
                <a:ea typeface="+mj-ea"/>
              </a:endParaRPr>
            </a:p>
          </p:txBody>
        </p:sp>
        <p:sp>
          <p:nvSpPr>
            <p:cNvPr id="70667" name="AutoShape 9"/>
            <p:cNvSpPr>
              <a:spLocks noChangeArrowheads="1"/>
            </p:cNvSpPr>
            <p:nvPr/>
          </p:nvSpPr>
          <p:spPr bwMode="auto">
            <a:xfrm>
              <a:off x="5119" y="2089"/>
              <a:ext cx="168" cy="186"/>
            </a:xfrm>
            <a:prstGeom prst="triangle">
              <a:avLst>
                <a:gd name="adj"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a typeface="+mj-ea"/>
              </a:endParaRPr>
            </a:p>
          </p:txBody>
        </p:sp>
        <p:sp>
          <p:nvSpPr>
            <p:cNvPr id="70668" name="AutoShape 10"/>
            <p:cNvSpPr>
              <a:spLocks noChangeArrowheads="1"/>
            </p:cNvSpPr>
            <p:nvPr/>
          </p:nvSpPr>
          <p:spPr bwMode="auto">
            <a:xfrm>
              <a:off x="7707" y="2121"/>
              <a:ext cx="168" cy="186"/>
            </a:xfrm>
            <a:prstGeom prst="triangle">
              <a:avLst>
                <a:gd name="adj"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a typeface="+mj-ea"/>
              </a:endParaRPr>
            </a:p>
          </p:txBody>
        </p:sp>
        <p:sp>
          <p:nvSpPr>
            <p:cNvPr id="70669" name="Line 11"/>
            <p:cNvSpPr>
              <a:spLocks noChangeShapeType="1"/>
            </p:cNvSpPr>
            <p:nvPr/>
          </p:nvSpPr>
          <p:spPr bwMode="auto">
            <a:xfrm>
              <a:off x="5187" y="2289"/>
              <a:ext cx="1176" cy="65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latin typeface="+mn-lt"/>
                <a:ea typeface="+mj-ea"/>
              </a:endParaRPr>
            </a:p>
          </p:txBody>
        </p:sp>
        <p:sp>
          <p:nvSpPr>
            <p:cNvPr id="70670" name="Line 12"/>
            <p:cNvSpPr>
              <a:spLocks noChangeShapeType="1"/>
            </p:cNvSpPr>
            <p:nvPr/>
          </p:nvSpPr>
          <p:spPr bwMode="auto">
            <a:xfrm flipH="1">
              <a:off x="4347" y="2289"/>
              <a:ext cx="861" cy="65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latin typeface="+mn-lt"/>
                <a:ea typeface="+mj-ea"/>
              </a:endParaRPr>
            </a:p>
          </p:txBody>
        </p:sp>
        <p:sp>
          <p:nvSpPr>
            <p:cNvPr id="70671" name="Line 13"/>
            <p:cNvSpPr>
              <a:spLocks noChangeShapeType="1"/>
            </p:cNvSpPr>
            <p:nvPr/>
          </p:nvSpPr>
          <p:spPr bwMode="auto">
            <a:xfrm flipH="1">
              <a:off x="7014" y="2320"/>
              <a:ext cx="777" cy="6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latin typeface="+mn-lt"/>
                <a:ea typeface="+mj-ea"/>
              </a:endParaRPr>
            </a:p>
          </p:txBody>
        </p:sp>
      </p:gr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注释</a:t>
            </a:r>
            <a:endParaRPr lang="zh-CN" altLang="en-US" sz="4400" b="1">
              <a:latin typeface="Times New Roman" panose="02020603050405020304" pitchFamily="18" charset="0"/>
              <a:ea typeface="隶书" panose="02010509060101010101" pitchFamily="49" charset="-122"/>
            </a:endParaRPr>
          </a:p>
        </p:txBody>
      </p:sp>
      <p:sp>
        <p:nvSpPr>
          <p:cNvPr id="71683" name="内容占位符 2"/>
          <p:cNvSpPr>
            <a:spLocks noGrp="1"/>
          </p:cNvSpPr>
          <p:nvPr>
            <p:ph idx="1"/>
          </p:nvPr>
        </p:nvSpPr>
        <p:spPr>
          <a:xfrm>
            <a:off x="611560" y="1558759"/>
            <a:ext cx="7886700" cy="4351338"/>
          </a:xfrm>
        </p:spPr>
        <p:txBody>
          <a:bodyPr/>
          <a:lstStyle/>
          <a:p>
            <a:pPr eaLnBrk="1" hangingPunct="1"/>
            <a:r>
              <a:rPr lang="zh-CN" altLang="en-US" b="1" dirty="0">
                <a:latin typeface="微软雅黑" panose="020B0503020204020204" pitchFamily="34" charset="-122"/>
                <a:ea typeface="微软雅黑" panose="020B0503020204020204" pitchFamily="34" charset="-122"/>
              </a:rPr>
              <a:t>在</a:t>
            </a: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图形上，注释表示为带有褶角的矩形，然后用虚线连接到</a:t>
            </a: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的其他元素上，它是一种用于在图中附加文字注释的机制。</a:t>
            </a:r>
            <a:endParaRPr lang="zh-CN" altLang="en-US" b="1" dirty="0">
              <a:latin typeface="微软雅黑" panose="020B0503020204020204" pitchFamily="34" charset="-122"/>
              <a:ea typeface="微软雅黑" panose="020B0503020204020204" pitchFamily="34" charset="-122"/>
            </a:endParaRPr>
          </a:p>
        </p:txBody>
      </p:sp>
      <p:sp>
        <p:nvSpPr>
          <p:cNvPr id="71686" name="Line 10"/>
          <p:cNvSpPr>
            <a:spLocks noChangeShapeType="1"/>
          </p:cNvSpPr>
          <p:nvPr/>
        </p:nvSpPr>
        <p:spPr bwMode="auto">
          <a:xfrm flipH="1">
            <a:off x="2786063" y="4572000"/>
            <a:ext cx="1981200" cy="53340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grpSp>
        <p:nvGrpSpPr>
          <p:cNvPr id="71687" name="Group 9"/>
          <p:cNvGrpSpPr/>
          <p:nvPr/>
        </p:nvGrpSpPr>
        <p:grpSpPr bwMode="auto">
          <a:xfrm>
            <a:off x="4786313" y="3500438"/>
            <a:ext cx="1981200" cy="1050925"/>
            <a:chOff x="2448" y="2736"/>
            <a:chExt cx="1248" cy="662"/>
          </a:xfrm>
        </p:grpSpPr>
        <p:grpSp>
          <p:nvGrpSpPr>
            <p:cNvPr id="71688" name="Group 5"/>
            <p:cNvGrpSpPr/>
            <p:nvPr/>
          </p:nvGrpSpPr>
          <p:grpSpPr bwMode="auto">
            <a:xfrm>
              <a:off x="2448" y="2736"/>
              <a:ext cx="1248" cy="662"/>
              <a:chOff x="6802" y="3031"/>
              <a:chExt cx="1465" cy="777"/>
            </a:xfrm>
          </p:grpSpPr>
          <p:sp>
            <p:nvSpPr>
              <p:cNvPr id="71690" name="Freeform 6"/>
              <p:cNvSpPr/>
              <p:nvPr/>
            </p:nvSpPr>
            <p:spPr bwMode="auto">
              <a:xfrm>
                <a:off x="6802" y="3031"/>
                <a:ext cx="1465" cy="777"/>
              </a:xfrm>
              <a:custGeom>
                <a:avLst/>
                <a:gdLst>
                  <a:gd name="T0" fmla="*/ 0 w 306"/>
                  <a:gd name="T1" fmla="*/ 0 h 162"/>
                  <a:gd name="T2" fmla="*/ 2147483647 w 306"/>
                  <a:gd name="T3" fmla="*/ 0 h 162"/>
                  <a:gd name="T4" fmla="*/ 2147483647 w 306"/>
                  <a:gd name="T5" fmla="*/ 2147483647 h 162"/>
                  <a:gd name="T6" fmla="*/ 2147483647 w 306"/>
                  <a:gd name="T7" fmla="*/ 2147483647 h 162"/>
                  <a:gd name="T8" fmla="*/ 0 w 306"/>
                  <a:gd name="T9" fmla="*/ 2147483647 h 162"/>
                  <a:gd name="T10" fmla="*/ 0 w 306"/>
                  <a:gd name="T11" fmla="*/ 0 h 162"/>
                  <a:gd name="T12" fmla="*/ 0 60000 65536"/>
                  <a:gd name="T13" fmla="*/ 0 60000 65536"/>
                  <a:gd name="T14" fmla="*/ 0 60000 65536"/>
                  <a:gd name="T15" fmla="*/ 0 60000 65536"/>
                  <a:gd name="T16" fmla="*/ 0 60000 65536"/>
                  <a:gd name="T17" fmla="*/ 0 60000 65536"/>
                  <a:gd name="T18" fmla="*/ 0 w 306"/>
                  <a:gd name="T19" fmla="*/ 0 h 162"/>
                  <a:gd name="T20" fmla="*/ 306 w 306"/>
                  <a:gd name="T21" fmla="*/ 162 h 162"/>
                </a:gdLst>
                <a:ahLst/>
                <a:cxnLst>
                  <a:cxn ang="T12">
                    <a:pos x="T0" y="T1"/>
                  </a:cxn>
                  <a:cxn ang="T13">
                    <a:pos x="T2" y="T3"/>
                  </a:cxn>
                  <a:cxn ang="T14">
                    <a:pos x="T4" y="T5"/>
                  </a:cxn>
                  <a:cxn ang="T15">
                    <a:pos x="T6" y="T7"/>
                  </a:cxn>
                  <a:cxn ang="T16">
                    <a:pos x="T8" y="T9"/>
                  </a:cxn>
                  <a:cxn ang="T17">
                    <a:pos x="T10" y="T11"/>
                  </a:cxn>
                </a:cxnLst>
                <a:rect l="T18" t="T19" r="T20" b="T21"/>
                <a:pathLst>
                  <a:path w="306" h="162">
                    <a:moveTo>
                      <a:pt x="0" y="0"/>
                    </a:moveTo>
                    <a:lnTo>
                      <a:pt x="270" y="0"/>
                    </a:lnTo>
                    <a:lnTo>
                      <a:pt x="306" y="36"/>
                    </a:lnTo>
                    <a:lnTo>
                      <a:pt x="306" y="162"/>
                    </a:lnTo>
                    <a:lnTo>
                      <a:pt x="0" y="162"/>
                    </a:lnTo>
                    <a:lnTo>
                      <a:pt x="0" y="0"/>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71691" name="Freeform 7"/>
              <p:cNvSpPr/>
              <p:nvPr/>
            </p:nvSpPr>
            <p:spPr bwMode="auto">
              <a:xfrm>
                <a:off x="8095" y="3031"/>
                <a:ext cx="172" cy="173"/>
              </a:xfrm>
              <a:custGeom>
                <a:avLst/>
                <a:gdLst>
                  <a:gd name="T0" fmla="*/ 0 w 36"/>
                  <a:gd name="T1" fmla="*/ 0 h 36"/>
                  <a:gd name="T2" fmla="*/ 0 w 36"/>
                  <a:gd name="T3" fmla="*/ 2147483647 h 36"/>
                  <a:gd name="T4" fmla="*/ 2147483647 w 36"/>
                  <a:gd name="T5" fmla="*/ 2147483647 h 36"/>
                  <a:gd name="T6" fmla="*/ 0 60000 65536"/>
                  <a:gd name="T7" fmla="*/ 0 60000 65536"/>
                  <a:gd name="T8" fmla="*/ 0 60000 65536"/>
                  <a:gd name="T9" fmla="*/ 0 w 36"/>
                  <a:gd name="T10" fmla="*/ 0 h 36"/>
                  <a:gd name="T11" fmla="*/ 36 w 36"/>
                  <a:gd name="T12" fmla="*/ 36 h 36"/>
                </a:gdLst>
                <a:ahLst/>
                <a:cxnLst>
                  <a:cxn ang="T6">
                    <a:pos x="T0" y="T1"/>
                  </a:cxn>
                  <a:cxn ang="T7">
                    <a:pos x="T2" y="T3"/>
                  </a:cxn>
                  <a:cxn ang="T8">
                    <a:pos x="T4" y="T5"/>
                  </a:cxn>
                </a:cxnLst>
                <a:rect l="T9" t="T10" r="T11" b="T12"/>
                <a:pathLst>
                  <a:path w="36" h="36">
                    <a:moveTo>
                      <a:pt x="0" y="0"/>
                    </a:moveTo>
                    <a:lnTo>
                      <a:pt x="0" y="36"/>
                    </a:lnTo>
                    <a:lnTo>
                      <a:pt x="36" y="36"/>
                    </a:lnTo>
                  </a:path>
                </a:pathLst>
              </a:custGeom>
              <a:noFill/>
              <a:ln w="31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grpSp>
        <p:sp>
          <p:nvSpPr>
            <p:cNvPr id="71689" name="Text Box 8"/>
            <p:cNvSpPr txBox="1">
              <a:spLocks noChangeArrowheads="1"/>
            </p:cNvSpPr>
            <p:nvPr/>
          </p:nvSpPr>
          <p:spPr bwMode="auto">
            <a:xfrm>
              <a:off x="2544" y="2880"/>
              <a:ext cx="11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pPr>
              <a:r>
                <a:rPr lang="zh-CN" altLang="en-US" b="1">
                  <a:solidFill>
                    <a:srgbClr val="FFFF00"/>
                  </a:solidFill>
                </a:rPr>
                <a:t>注释文字</a:t>
              </a:r>
              <a:endParaRPr lang="zh-CN" altLang="en-US" b="1">
                <a:solidFill>
                  <a:srgbClr val="FFFF00"/>
                </a:solidFill>
              </a:endParaRPr>
            </a:p>
          </p:txBody>
        </p:sp>
      </p:gr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sz="3600" b="1" smtClean="0"/>
              <a:t>例</a:t>
            </a:r>
            <a:r>
              <a:rPr lang="en-US" altLang="zh-CN" sz="3600" b="1" smtClean="0"/>
              <a:t>4-6</a:t>
            </a:r>
            <a:r>
              <a:rPr lang="zh-CN" altLang="en-US" sz="3600" b="1" smtClean="0"/>
              <a:t>带有注释的</a:t>
            </a:r>
            <a:r>
              <a:rPr lang="en-US" altLang="zh-CN" sz="3600" b="1" smtClean="0"/>
              <a:t>Line</a:t>
            </a:r>
            <a:r>
              <a:rPr lang="zh-CN" altLang="en-US" sz="3600" b="1" smtClean="0"/>
              <a:t>类和</a:t>
            </a:r>
            <a:r>
              <a:rPr lang="en-US" altLang="zh-CN" sz="3600" b="1" smtClean="0"/>
              <a:t>Point</a:t>
            </a:r>
            <a:r>
              <a:rPr lang="zh-CN" altLang="en-US" sz="3600" b="1" smtClean="0"/>
              <a:t>类关系的描述</a:t>
            </a:r>
            <a:endParaRPr lang="zh-CN" altLang="en-US" sz="3600" b="1" smtClean="0"/>
          </a:p>
        </p:txBody>
      </p:sp>
      <p:sp>
        <p:nvSpPr>
          <p:cNvPr id="72709" name="Rectangle 44"/>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grpSp>
        <p:nvGrpSpPr>
          <p:cNvPr id="72710" name="Group 1"/>
          <p:cNvGrpSpPr>
            <a:grpSpLocks noChangeAspect="1"/>
          </p:cNvGrpSpPr>
          <p:nvPr/>
        </p:nvGrpSpPr>
        <p:grpSpPr bwMode="auto">
          <a:xfrm>
            <a:off x="1918199" y="1500188"/>
            <a:ext cx="5582739" cy="4837112"/>
            <a:chOff x="-13" y="0"/>
            <a:chExt cx="6838" cy="5925"/>
          </a:xfrm>
        </p:grpSpPr>
        <p:sp>
          <p:nvSpPr>
            <p:cNvPr id="72712" name="AutoShape 43"/>
            <p:cNvSpPr>
              <a:spLocks noChangeAspect="1" noChangeArrowheads="1" noTextEdit="1"/>
            </p:cNvSpPr>
            <p:nvPr/>
          </p:nvSpPr>
          <p:spPr bwMode="auto">
            <a:xfrm>
              <a:off x="0" y="0"/>
              <a:ext cx="6825" cy="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FFFF00"/>
                </a:solidFill>
              </a:endParaRPr>
            </a:p>
          </p:txBody>
        </p:sp>
        <p:sp>
          <p:nvSpPr>
            <p:cNvPr id="72713" name="Rectangle 42"/>
            <p:cNvSpPr>
              <a:spLocks noChangeArrowheads="1"/>
            </p:cNvSpPr>
            <p:nvPr/>
          </p:nvSpPr>
          <p:spPr bwMode="auto">
            <a:xfrm>
              <a:off x="3405" y="3555"/>
              <a:ext cx="3070" cy="2074"/>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72714" name="Rectangle 41"/>
            <p:cNvSpPr>
              <a:spLocks noChangeArrowheads="1"/>
            </p:cNvSpPr>
            <p:nvPr/>
          </p:nvSpPr>
          <p:spPr bwMode="auto">
            <a:xfrm>
              <a:off x="4590" y="3612"/>
              <a:ext cx="54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Point</a:t>
              </a:r>
              <a:endParaRPr lang="en-US" altLang="zh-CN" sz="4000" b="1">
                <a:solidFill>
                  <a:srgbClr val="FFFF00"/>
                </a:solidFill>
              </a:endParaRPr>
            </a:p>
          </p:txBody>
        </p:sp>
        <p:sp>
          <p:nvSpPr>
            <p:cNvPr id="72715" name="Rectangle 40"/>
            <p:cNvSpPr>
              <a:spLocks noChangeArrowheads="1"/>
            </p:cNvSpPr>
            <p:nvPr/>
          </p:nvSpPr>
          <p:spPr bwMode="auto">
            <a:xfrm>
              <a:off x="3405" y="3876"/>
              <a:ext cx="3070" cy="1753"/>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72716" name="Rectangle 39"/>
            <p:cNvSpPr>
              <a:spLocks noChangeArrowheads="1"/>
            </p:cNvSpPr>
            <p:nvPr/>
          </p:nvSpPr>
          <p:spPr bwMode="auto">
            <a:xfrm>
              <a:off x="3405" y="4475"/>
              <a:ext cx="3070" cy="1154"/>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72717" name="Rectangle 38"/>
            <p:cNvSpPr>
              <a:spLocks noChangeArrowheads="1"/>
            </p:cNvSpPr>
            <p:nvPr/>
          </p:nvSpPr>
          <p:spPr bwMode="auto">
            <a:xfrm>
              <a:off x="3419" y="3905"/>
              <a:ext cx="71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x : int</a:t>
              </a:r>
              <a:endParaRPr lang="en-US" altLang="zh-CN" sz="4000" b="1">
                <a:solidFill>
                  <a:srgbClr val="FFFF00"/>
                </a:solidFill>
              </a:endParaRPr>
            </a:p>
          </p:txBody>
        </p:sp>
        <p:sp>
          <p:nvSpPr>
            <p:cNvPr id="72718" name="Rectangle 37"/>
            <p:cNvSpPr>
              <a:spLocks noChangeArrowheads="1"/>
            </p:cNvSpPr>
            <p:nvPr/>
          </p:nvSpPr>
          <p:spPr bwMode="auto">
            <a:xfrm>
              <a:off x="3419" y="4144"/>
              <a:ext cx="71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y : int</a:t>
              </a:r>
              <a:endParaRPr lang="en-US" altLang="zh-CN" sz="4000" b="1">
                <a:solidFill>
                  <a:srgbClr val="FFFF00"/>
                </a:solidFill>
              </a:endParaRPr>
            </a:p>
          </p:txBody>
        </p:sp>
        <p:sp>
          <p:nvSpPr>
            <p:cNvPr id="72719" name="Rectangle 36"/>
            <p:cNvSpPr>
              <a:spLocks noChangeArrowheads="1"/>
            </p:cNvSpPr>
            <p:nvPr/>
          </p:nvSpPr>
          <p:spPr bwMode="auto">
            <a:xfrm>
              <a:off x="3354" y="4623"/>
              <a:ext cx="3155"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Point(xx : int = 0, yy : int = 0)</a:t>
              </a:r>
              <a:endParaRPr lang="en-US" altLang="zh-CN" sz="4000" b="1">
                <a:solidFill>
                  <a:srgbClr val="FFFF00"/>
                </a:solidFill>
              </a:endParaRPr>
            </a:p>
          </p:txBody>
        </p:sp>
        <p:sp>
          <p:nvSpPr>
            <p:cNvPr id="72720" name="Rectangle 35"/>
            <p:cNvSpPr>
              <a:spLocks noChangeArrowheads="1"/>
            </p:cNvSpPr>
            <p:nvPr/>
          </p:nvSpPr>
          <p:spPr bwMode="auto">
            <a:xfrm>
              <a:off x="3383" y="4863"/>
              <a:ext cx="197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Point(p : Point &amp;)</a:t>
              </a:r>
              <a:endParaRPr lang="en-US" altLang="zh-CN" sz="4000" b="1">
                <a:solidFill>
                  <a:srgbClr val="FFFF00"/>
                </a:solidFill>
              </a:endParaRPr>
            </a:p>
          </p:txBody>
        </p:sp>
        <p:sp>
          <p:nvSpPr>
            <p:cNvPr id="72721" name="Rectangle 34"/>
            <p:cNvSpPr>
              <a:spLocks noChangeArrowheads="1"/>
            </p:cNvSpPr>
            <p:nvPr/>
          </p:nvSpPr>
          <p:spPr bwMode="auto">
            <a:xfrm>
              <a:off x="3413" y="5102"/>
              <a:ext cx="127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getX() : int</a:t>
              </a:r>
              <a:endParaRPr lang="en-US" altLang="zh-CN" sz="4000" b="1">
                <a:solidFill>
                  <a:srgbClr val="FFFF00"/>
                </a:solidFill>
              </a:endParaRPr>
            </a:p>
          </p:txBody>
        </p:sp>
        <p:sp>
          <p:nvSpPr>
            <p:cNvPr id="72722" name="Rectangle 33"/>
            <p:cNvSpPr>
              <a:spLocks noChangeArrowheads="1"/>
            </p:cNvSpPr>
            <p:nvPr/>
          </p:nvSpPr>
          <p:spPr bwMode="auto">
            <a:xfrm>
              <a:off x="3413" y="5342"/>
              <a:ext cx="127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getY() : int</a:t>
              </a:r>
              <a:endParaRPr lang="en-US" altLang="zh-CN" sz="4000" b="1">
                <a:solidFill>
                  <a:srgbClr val="FFFF00"/>
                </a:solidFill>
              </a:endParaRPr>
            </a:p>
          </p:txBody>
        </p:sp>
        <p:sp>
          <p:nvSpPr>
            <p:cNvPr id="72723" name="Rectangle 32"/>
            <p:cNvSpPr>
              <a:spLocks noChangeArrowheads="1"/>
            </p:cNvSpPr>
            <p:nvPr/>
          </p:nvSpPr>
          <p:spPr bwMode="auto">
            <a:xfrm>
              <a:off x="88" y="268"/>
              <a:ext cx="2976" cy="1596"/>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72724" name="Rectangle 31"/>
            <p:cNvSpPr>
              <a:spLocks noChangeArrowheads="1"/>
            </p:cNvSpPr>
            <p:nvPr/>
          </p:nvSpPr>
          <p:spPr bwMode="auto">
            <a:xfrm>
              <a:off x="1493" y="326"/>
              <a:ext cx="45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Line</a:t>
              </a:r>
              <a:endParaRPr lang="en-US" altLang="zh-CN" sz="4000" b="1">
                <a:solidFill>
                  <a:srgbClr val="FFFF00"/>
                </a:solidFill>
              </a:endParaRPr>
            </a:p>
          </p:txBody>
        </p:sp>
        <p:sp>
          <p:nvSpPr>
            <p:cNvPr id="72725" name="Rectangle 30"/>
            <p:cNvSpPr>
              <a:spLocks noChangeArrowheads="1"/>
            </p:cNvSpPr>
            <p:nvPr/>
          </p:nvSpPr>
          <p:spPr bwMode="auto">
            <a:xfrm>
              <a:off x="88" y="589"/>
              <a:ext cx="2976" cy="1275"/>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72726" name="Rectangle 29"/>
            <p:cNvSpPr>
              <a:spLocks noChangeArrowheads="1"/>
            </p:cNvSpPr>
            <p:nvPr/>
          </p:nvSpPr>
          <p:spPr bwMode="auto">
            <a:xfrm>
              <a:off x="88" y="949"/>
              <a:ext cx="2976" cy="915"/>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sz="4000" b="1">
                <a:solidFill>
                  <a:srgbClr val="FFFF00"/>
                </a:solidFill>
              </a:endParaRPr>
            </a:p>
          </p:txBody>
        </p:sp>
        <p:sp>
          <p:nvSpPr>
            <p:cNvPr id="72727" name="Rectangle 28"/>
            <p:cNvSpPr>
              <a:spLocks noChangeArrowheads="1"/>
            </p:cNvSpPr>
            <p:nvPr/>
          </p:nvSpPr>
          <p:spPr bwMode="auto">
            <a:xfrm>
              <a:off x="303" y="618"/>
              <a:ext cx="1361"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len : double</a:t>
              </a:r>
              <a:endParaRPr lang="en-US" altLang="zh-CN" sz="4000" b="1">
                <a:solidFill>
                  <a:srgbClr val="FFFF00"/>
                </a:solidFill>
              </a:endParaRPr>
            </a:p>
          </p:txBody>
        </p:sp>
        <p:sp>
          <p:nvSpPr>
            <p:cNvPr id="72728" name="Rectangle 27"/>
            <p:cNvSpPr>
              <a:spLocks noChangeArrowheads="1"/>
            </p:cNvSpPr>
            <p:nvPr/>
          </p:nvSpPr>
          <p:spPr bwMode="auto">
            <a:xfrm>
              <a:off x="-13" y="1050"/>
              <a:ext cx="3143"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Line(xp1 : Point, xp2 : Point)</a:t>
              </a:r>
              <a:endParaRPr lang="en-US" altLang="zh-CN" sz="4000" b="1">
                <a:solidFill>
                  <a:srgbClr val="FFFF00"/>
                </a:solidFill>
              </a:endParaRPr>
            </a:p>
          </p:txBody>
        </p:sp>
        <p:sp>
          <p:nvSpPr>
            <p:cNvPr id="72729" name="Rectangle 26"/>
            <p:cNvSpPr>
              <a:spLocks noChangeArrowheads="1"/>
            </p:cNvSpPr>
            <p:nvPr/>
          </p:nvSpPr>
          <p:spPr bwMode="auto">
            <a:xfrm>
              <a:off x="40" y="1313"/>
              <a:ext cx="164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Line( : Line &amp;)</a:t>
              </a:r>
              <a:endParaRPr lang="en-US" altLang="zh-CN" sz="4000" b="1">
                <a:solidFill>
                  <a:srgbClr val="FFFF00"/>
                </a:solidFill>
              </a:endParaRPr>
            </a:p>
          </p:txBody>
        </p:sp>
        <p:sp>
          <p:nvSpPr>
            <p:cNvPr id="72730" name="Rectangle 25"/>
            <p:cNvSpPr>
              <a:spLocks noChangeArrowheads="1"/>
            </p:cNvSpPr>
            <p:nvPr/>
          </p:nvSpPr>
          <p:spPr bwMode="auto">
            <a:xfrm>
              <a:off x="28" y="1575"/>
              <a:ext cx="1961"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 getLen() : double</a:t>
              </a:r>
              <a:endParaRPr lang="en-US" altLang="zh-CN" sz="4000" b="1">
                <a:solidFill>
                  <a:srgbClr val="FFFF00"/>
                </a:solidFill>
              </a:endParaRPr>
            </a:p>
          </p:txBody>
        </p:sp>
        <p:sp>
          <p:nvSpPr>
            <p:cNvPr id="72731" name="Line 24"/>
            <p:cNvSpPr>
              <a:spLocks noChangeShapeType="1"/>
            </p:cNvSpPr>
            <p:nvPr/>
          </p:nvSpPr>
          <p:spPr bwMode="auto">
            <a:xfrm flipV="1">
              <a:off x="1683" y="1878"/>
              <a:ext cx="5" cy="2218"/>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2732" name="Freeform 23"/>
            <p:cNvSpPr/>
            <p:nvPr/>
          </p:nvSpPr>
          <p:spPr bwMode="auto">
            <a:xfrm>
              <a:off x="1616" y="1878"/>
              <a:ext cx="144" cy="259"/>
            </a:xfrm>
            <a:custGeom>
              <a:avLst/>
              <a:gdLst>
                <a:gd name="T0" fmla="*/ 72 w 144"/>
                <a:gd name="T1" fmla="*/ 0 h 259"/>
                <a:gd name="T2" fmla="*/ 144 w 144"/>
                <a:gd name="T3" fmla="*/ 129 h 259"/>
                <a:gd name="T4" fmla="*/ 72 w 144"/>
                <a:gd name="T5" fmla="*/ 259 h 259"/>
                <a:gd name="T6" fmla="*/ 0 w 144"/>
                <a:gd name="T7" fmla="*/ 129 h 259"/>
                <a:gd name="T8" fmla="*/ 72 w 144"/>
                <a:gd name="T9" fmla="*/ 0 h 259"/>
                <a:gd name="T10" fmla="*/ 0 60000 65536"/>
                <a:gd name="T11" fmla="*/ 0 60000 65536"/>
                <a:gd name="T12" fmla="*/ 0 60000 65536"/>
                <a:gd name="T13" fmla="*/ 0 60000 65536"/>
                <a:gd name="T14" fmla="*/ 0 60000 65536"/>
                <a:gd name="T15" fmla="*/ 0 w 144"/>
                <a:gd name="T16" fmla="*/ 0 h 259"/>
                <a:gd name="T17" fmla="*/ 144 w 144"/>
                <a:gd name="T18" fmla="*/ 259 h 259"/>
              </a:gdLst>
              <a:ahLst/>
              <a:cxnLst>
                <a:cxn ang="T10">
                  <a:pos x="T0" y="T1"/>
                </a:cxn>
                <a:cxn ang="T11">
                  <a:pos x="T2" y="T3"/>
                </a:cxn>
                <a:cxn ang="T12">
                  <a:pos x="T4" y="T5"/>
                </a:cxn>
                <a:cxn ang="T13">
                  <a:pos x="T6" y="T7"/>
                </a:cxn>
                <a:cxn ang="T14">
                  <a:pos x="T8" y="T9"/>
                </a:cxn>
              </a:cxnLst>
              <a:rect l="T15" t="T16" r="T17" b="T18"/>
              <a:pathLst>
                <a:path w="144" h="259">
                  <a:moveTo>
                    <a:pt x="72" y="0"/>
                  </a:moveTo>
                  <a:lnTo>
                    <a:pt x="144" y="129"/>
                  </a:lnTo>
                  <a:lnTo>
                    <a:pt x="72" y="259"/>
                  </a:lnTo>
                  <a:lnTo>
                    <a:pt x="0" y="129"/>
                  </a:lnTo>
                  <a:lnTo>
                    <a:pt x="72" y="0"/>
                  </a:lnTo>
                  <a:close/>
                </a:path>
              </a:pathLst>
            </a:custGeom>
            <a:solidFill>
              <a:srgbClr val="FFFFFF"/>
            </a:solidFill>
            <a:ln w="4">
              <a:solidFill>
                <a:srgbClr val="000000"/>
              </a:solidFill>
              <a:round/>
            </a:ln>
          </p:spPr>
          <p:txBody>
            <a:bodyPr/>
            <a:lstStyle/>
            <a:p>
              <a:endParaRPr lang="zh-CN" altLang="en-US" b="1">
                <a:solidFill>
                  <a:srgbClr val="FFFF00"/>
                </a:solidFill>
              </a:endParaRPr>
            </a:p>
          </p:txBody>
        </p:sp>
        <p:sp>
          <p:nvSpPr>
            <p:cNvPr id="72733" name="Freeform 22"/>
            <p:cNvSpPr/>
            <p:nvPr/>
          </p:nvSpPr>
          <p:spPr bwMode="auto">
            <a:xfrm>
              <a:off x="1683" y="4096"/>
              <a:ext cx="1717" cy="503"/>
            </a:xfrm>
            <a:custGeom>
              <a:avLst/>
              <a:gdLst>
                <a:gd name="T0" fmla="*/ 0 w 358"/>
                <a:gd name="T1" fmla="*/ 0 h 105"/>
                <a:gd name="T2" fmla="*/ 0 w 358"/>
                <a:gd name="T3" fmla="*/ 2147483647 h 105"/>
                <a:gd name="T4" fmla="*/ 2147483647 w 358"/>
                <a:gd name="T5" fmla="*/ 2147483647 h 105"/>
                <a:gd name="T6" fmla="*/ 0 60000 65536"/>
                <a:gd name="T7" fmla="*/ 0 60000 65536"/>
                <a:gd name="T8" fmla="*/ 0 60000 65536"/>
                <a:gd name="T9" fmla="*/ 0 w 358"/>
                <a:gd name="T10" fmla="*/ 0 h 105"/>
                <a:gd name="T11" fmla="*/ 358 w 358"/>
                <a:gd name="T12" fmla="*/ 105 h 105"/>
              </a:gdLst>
              <a:ahLst/>
              <a:cxnLst>
                <a:cxn ang="T6">
                  <a:pos x="T0" y="T1"/>
                </a:cxn>
                <a:cxn ang="T7">
                  <a:pos x="T2" y="T3"/>
                </a:cxn>
                <a:cxn ang="T8">
                  <a:pos x="T4" y="T5"/>
                </a:cxn>
              </a:cxnLst>
              <a:rect l="T9" t="T10" r="T11" b="T12"/>
              <a:pathLst>
                <a:path w="358" h="105">
                  <a:moveTo>
                    <a:pt x="0" y="0"/>
                  </a:moveTo>
                  <a:lnTo>
                    <a:pt x="0" y="105"/>
                  </a:lnTo>
                  <a:lnTo>
                    <a:pt x="358" y="105"/>
                  </a:lnTo>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72734" name="Line 21"/>
            <p:cNvSpPr>
              <a:spLocks noChangeShapeType="1"/>
            </p:cNvSpPr>
            <p:nvPr/>
          </p:nvSpPr>
          <p:spPr bwMode="auto">
            <a:xfrm flipH="1">
              <a:off x="3227" y="4599"/>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2735" name="Line 20"/>
            <p:cNvSpPr>
              <a:spLocks noChangeShapeType="1"/>
            </p:cNvSpPr>
            <p:nvPr/>
          </p:nvSpPr>
          <p:spPr bwMode="auto">
            <a:xfrm flipH="1" flipV="1">
              <a:off x="3227" y="4527"/>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2736" name="Rectangle 19"/>
            <p:cNvSpPr>
              <a:spLocks noChangeArrowheads="1"/>
            </p:cNvSpPr>
            <p:nvPr/>
          </p:nvSpPr>
          <p:spPr bwMode="auto">
            <a:xfrm>
              <a:off x="2665" y="4283"/>
              <a:ext cx="3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-p1</a:t>
              </a:r>
              <a:endParaRPr lang="en-US" altLang="zh-CN" sz="4000" b="1">
                <a:solidFill>
                  <a:srgbClr val="FFFF00"/>
                </a:solidFill>
              </a:endParaRPr>
            </a:p>
          </p:txBody>
        </p:sp>
        <p:sp>
          <p:nvSpPr>
            <p:cNvPr id="72737" name="Rectangle 18"/>
            <p:cNvSpPr>
              <a:spLocks noChangeArrowheads="1"/>
            </p:cNvSpPr>
            <p:nvPr/>
          </p:nvSpPr>
          <p:spPr bwMode="auto">
            <a:xfrm>
              <a:off x="2665" y="4748"/>
              <a:ext cx="32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-p2</a:t>
              </a:r>
              <a:endParaRPr lang="en-US" altLang="zh-CN" sz="4000" b="1">
                <a:solidFill>
                  <a:srgbClr val="FFFF00"/>
                </a:solidFill>
              </a:endParaRPr>
            </a:p>
          </p:txBody>
        </p:sp>
        <p:sp>
          <p:nvSpPr>
            <p:cNvPr id="72738" name="Rectangle 17"/>
            <p:cNvSpPr>
              <a:spLocks noChangeArrowheads="1"/>
            </p:cNvSpPr>
            <p:nvPr/>
          </p:nvSpPr>
          <p:spPr bwMode="auto">
            <a:xfrm>
              <a:off x="1798" y="1983"/>
              <a:ext cx="33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1..*</a:t>
              </a:r>
              <a:endParaRPr lang="en-US" altLang="zh-CN" sz="4000" b="1">
                <a:solidFill>
                  <a:srgbClr val="FFFF00"/>
                </a:solidFill>
              </a:endParaRPr>
            </a:p>
          </p:txBody>
        </p:sp>
        <p:sp>
          <p:nvSpPr>
            <p:cNvPr id="72739" name="Freeform 16"/>
            <p:cNvSpPr/>
            <p:nvPr/>
          </p:nvSpPr>
          <p:spPr bwMode="auto">
            <a:xfrm>
              <a:off x="1616" y="1878"/>
              <a:ext cx="144" cy="259"/>
            </a:xfrm>
            <a:custGeom>
              <a:avLst/>
              <a:gdLst>
                <a:gd name="T0" fmla="*/ 72 w 144"/>
                <a:gd name="T1" fmla="*/ 0 h 259"/>
                <a:gd name="T2" fmla="*/ 144 w 144"/>
                <a:gd name="T3" fmla="*/ 129 h 259"/>
                <a:gd name="T4" fmla="*/ 72 w 144"/>
                <a:gd name="T5" fmla="*/ 259 h 259"/>
                <a:gd name="T6" fmla="*/ 0 w 144"/>
                <a:gd name="T7" fmla="*/ 129 h 259"/>
                <a:gd name="T8" fmla="*/ 72 w 144"/>
                <a:gd name="T9" fmla="*/ 0 h 259"/>
                <a:gd name="T10" fmla="*/ 0 60000 65536"/>
                <a:gd name="T11" fmla="*/ 0 60000 65536"/>
                <a:gd name="T12" fmla="*/ 0 60000 65536"/>
                <a:gd name="T13" fmla="*/ 0 60000 65536"/>
                <a:gd name="T14" fmla="*/ 0 60000 65536"/>
                <a:gd name="T15" fmla="*/ 0 w 144"/>
                <a:gd name="T16" fmla="*/ 0 h 259"/>
                <a:gd name="T17" fmla="*/ 144 w 144"/>
                <a:gd name="T18" fmla="*/ 259 h 259"/>
              </a:gdLst>
              <a:ahLst/>
              <a:cxnLst>
                <a:cxn ang="T10">
                  <a:pos x="T0" y="T1"/>
                </a:cxn>
                <a:cxn ang="T11">
                  <a:pos x="T2" y="T3"/>
                </a:cxn>
                <a:cxn ang="T12">
                  <a:pos x="T4" y="T5"/>
                </a:cxn>
                <a:cxn ang="T13">
                  <a:pos x="T6" y="T7"/>
                </a:cxn>
                <a:cxn ang="T14">
                  <a:pos x="T8" y="T9"/>
                </a:cxn>
              </a:cxnLst>
              <a:rect l="T15" t="T16" r="T17" b="T18"/>
              <a:pathLst>
                <a:path w="144" h="259">
                  <a:moveTo>
                    <a:pt x="72" y="0"/>
                  </a:moveTo>
                  <a:lnTo>
                    <a:pt x="144" y="129"/>
                  </a:lnTo>
                  <a:lnTo>
                    <a:pt x="72" y="259"/>
                  </a:lnTo>
                  <a:lnTo>
                    <a:pt x="0" y="129"/>
                  </a:lnTo>
                  <a:lnTo>
                    <a:pt x="72" y="0"/>
                  </a:lnTo>
                  <a:close/>
                </a:path>
              </a:pathLst>
            </a:custGeom>
            <a:solidFill>
              <a:srgbClr val="000000"/>
            </a:solidFill>
            <a:ln w="4">
              <a:solidFill>
                <a:srgbClr val="000000"/>
              </a:solidFill>
              <a:round/>
            </a:ln>
          </p:spPr>
          <p:txBody>
            <a:bodyPr/>
            <a:lstStyle/>
            <a:p>
              <a:endParaRPr lang="zh-CN" altLang="en-US" b="1">
                <a:solidFill>
                  <a:srgbClr val="FFFF00"/>
                </a:solidFill>
              </a:endParaRPr>
            </a:p>
          </p:txBody>
        </p:sp>
        <p:sp>
          <p:nvSpPr>
            <p:cNvPr id="72740" name="Freeform 15"/>
            <p:cNvSpPr/>
            <p:nvPr/>
          </p:nvSpPr>
          <p:spPr bwMode="auto">
            <a:xfrm>
              <a:off x="1683" y="4096"/>
              <a:ext cx="1717" cy="503"/>
            </a:xfrm>
            <a:custGeom>
              <a:avLst/>
              <a:gdLst>
                <a:gd name="T0" fmla="*/ 0 w 358"/>
                <a:gd name="T1" fmla="*/ 0 h 105"/>
                <a:gd name="T2" fmla="*/ 0 w 358"/>
                <a:gd name="T3" fmla="*/ 2147483647 h 105"/>
                <a:gd name="T4" fmla="*/ 2147483647 w 358"/>
                <a:gd name="T5" fmla="*/ 2147483647 h 105"/>
                <a:gd name="T6" fmla="*/ 0 60000 65536"/>
                <a:gd name="T7" fmla="*/ 0 60000 65536"/>
                <a:gd name="T8" fmla="*/ 0 60000 65536"/>
                <a:gd name="T9" fmla="*/ 0 w 358"/>
                <a:gd name="T10" fmla="*/ 0 h 105"/>
                <a:gd name="T11" fmla="*/ 358 w 358"/>
                <a:gd name="T12" fmla="*/ 105 h 105"/>
              </a:gdLst>
              <a:ahLst/>
              <a:cxnLst>
                <a:cxn ang="T6">
                  <a:pos x="T0" y="T1"/>
                </a:cxn>
                <a:cxn ang="T7">
                  <a:pos x="T2" y="T3"/>
                </a:cxn>
                <a:cxn ang="T8">
                  <a:pos x="T4" y="T5"/>
                </a:cxn>
              </a:cxnLst>
              <a:rect l="T9" t="T10" r="T11" b="T12"/>
              <a:pathLst>
                <a:path w="358" h="105">
                  <a:moveTo>
                    <a:pt x="0" y="0"/>
                  </a:moveTo>
                  <a:lnTo>
                    <a:pt x="0" y="105"/>
                  </a:lnTo>
                  <a:lnTo>
                    <a:pt x="358" y="105"/>
                  </a:lnTo>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72741" name="Rectangle 14"/>
            <p:cNvSpPr>
              <a:spLocks noChangeArrowheads="1"/>
            </p:cNvSpPr>
            <p:nvPr/>
          </p:nvSpPr>
          <p:spPr bwMode="auto">
            <a:xfrm>
              <a:off x="3122" y="4738"/>
              <a:ext cx="12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2</a:t>
              </a:r>
              <a:endParaRPr lang="en-US" altLang="zh-CN" sz="4000" b="1">
                <a:solidFill>
                  <a:srgbClr val="FFFF00"/>
                </a:solidFill>
              </a:endParaRPr>
            </a:p>
          </p:txBody>
        </p:sp>
        <p:sp>
          <p:nvSpPr>
            <p:cNvPr id="72742" name="Line 13"/>
            <p:cNvSpPr>
              <a:spLocks noChangeShapeType="1"/>
            </p:cNvSpPr>
            <p:nvPr/>
          </p:nvSpPr>
          <p:spPr bwMode="auto">
            <a:xfrm flipH="1">
              <a:off x="3227" y="4599"/>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2743" name="Line 12"/>
            <p:cNvSpPr>
              <a:spLocks noChangeShapeType="1"/>
            </p:cNvSpPr>
            <p:nvPr/>
          </p:nvSpPr>
          <p:spPr bwMode="auto">
            <a:xfrm flipH="1" flipV="1">
              <a:off x="3227" y="4527"/>
              <a:ext cx="173" cy="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2744" name="Rectangle 11"/>
            <p:cNvSpPr>
              <a:spLocks noChangeArrowheads="1"/>
            </p:cNvSpPr>
            <p:nvPr/>
          </p:nvSpPr>
          <p:spPr bwMode="auto">
            <a:xfrm>
              <a:off x="1798" y="1983"/>
              <a:ext cx="33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1400" b="1">
                  <a:solidFill>
                    <a:srgbClr val="FFFF00"/>
                  </a:solidFill>
                  <a:latin typeface="Arial" panose="020B0604020202020204" pitchFamily="34" charset="0"/>
                  <a:cs typeface="Arial" panose="020B0604020202020204" pitchFamily="34" charset="0"/>
                </a:rPr>
                <a:t>1..*</a:t>
              </a:r>
              <a:endParaRPr lang="en-US" altLang="zh-CN" sz="4000" b="1">
                <a:solidFill>
                  <a:srgbClr val="FFFF00"/>
                </a:solidFill>
              </a:endParaRPr>
            </a:p>
          </p:txBody>
        </p:sp>
        <p:sp>
          <p:nvSpPr>
            <p:cNvPr id="72745" name="Freeform 10"/>
            <p:cNvSpPr/>
            <p:nvPr/>
          </p:nvSpPr>
          <p:spPr bwMode="auto">
            <a:xfrm>
              <a:off x="3079" y="1064"/>
              <a:ext cx="1755" cy="2486"/>
            </a:xfrm>
            <a:custGeom>
              <a:avLst/>
              <a:gdLst>
                <a:gd name="T0" fmla="*/ 0 w 366"/>
                <a:gd name="T1" fmla="*/ 2147483647 h 519"/>
                <a:gd name="T2" fmla="*/ 2147483647 w 366"/>
                <a:gd name="T3" fmla="*/ 0 h 519"/>
                <a:gd name="T4" fmla="*/ 2147483647 w 366"/>
                <a:gd name="T5" fmla="*/ 2147483647 h 519"/>
                <a:gd name="T6" fmla="*/ 0 60000 65536"/>
                <a:gd name="T7" fmla="*/ 0 60000 65536"/>
                <a:gd name="T8" fmla="*/ 0 60000 65536"/>
                <a:gd name="T9" fmla="*/ 0 w 366"/>
                <a:gd name="T10" fmla="*/ 0 h 519"/>
                <a:gd name="T11" fmla="*/ 366 w 366"/>
                <a:gd name="T12" fmla="*/ 519 h 519"/>
              </a:gdLst>
              <a:ahLst/>
              <a:cxnLst>
                <a:cxn ang="T6">
                  <a:pos x="T0" y="T1"/>
                </a:cxn>
                <a:cxn ang="T7">
                  <a:pos x="T2" y="T3"/>
                </a:cxn>
                <a:cxn ang="T8">
                  <a:pos x="T4" y="T5"/>
                </a:cxn>
              </a:cxnLst>
              <a:rect l="T9" t="T10" r="T11" b="T12"/>
              <a:pathLst>
                <a:path w="366" h="519">
                  <a:moveTo>
                    <a:pt x="0" y="1"/>
                  </a:moveTo>
                  <a:lnTo>
                    <a:pt x="366" y="0"/>
                  </a:lnTo>
                  <a:lnTo>
                    <a:pt x="366" y="519"/>
                  </a:lnTo>
                </a:path>
              </a:pathLst>
            </a:custGeom>
            <a:noFill/>
            <a:ln w="0">
              <a:solidFill>
                <a:srgbClr val="000000"/>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72746" name="Line 9"/>
            <p:cNvSpPr>
              <a:spLocks noChangeShapeType="1"/>
            </p:cNvSpPr>
            <p:nvPr/>
          </p:nvSpPr>
          <p:spPr bwMode="auto">
            <a:xfrm flipV="1">
              <a:off x="4834" y="3378"/>
              <a:ext cx="72" cy="1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2747" name="Line 8"/>
            <p:cNvSpPr>
              <a:spLocks noChangeShapeType="1"/>
            </p:cNvSpPr>
            <p:nvPr/>
          </p:nvSpPr>
          <p:spPr bwMode="auto">
            <a:xfrm flipH="1" flipV="1">
              <a:off x="4762" y="3378"/>
              <a:ext cx="72" cy="172"/>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2748" name="Freeform 7"/>
            <p:cNvSpPr/>
            <p:nvPr/>
          </p:nvSpPr>
          <p:spPr bwMode="auto">
            <a:xfrm>
              <a:off x="5011" y="1591"/>
              <a:ext cx="1593" cy="1079"/>
            </a:xfrm>
            <a:custGeom>
              <a:avLst/>
              <a:gdLst>
                <a:gd name="T0" fmla="*/ 0 w 306"/>
                <a:gd name="T1" fmla="*/ 0 h 162"/>
                <a:gd name="T2" fmla="*/ 2147483647 w 306"/>
                <a:gd name="T3" fmla="*/ 0 h 162"/>
                <a:gd name="T4" fmla="*/ 2147483647 w 306"/>
                <a:gd name="T5" fmla="*/ 2147483647 h 162"/>
                <a:gd name="T6" fmla="*/ 2147483647 w 306"/>
                <a:gd name="T7" fmla="*/ 2147483647 h 162"/>
                <a:gd name="T8" fmla="*/ 0 w 306"/>
                <a:gd name="T9" fmla="*/ 2147483647 h 162"/>
                <a:gd name="T10" fmla="*/ 0 w 306"/>
                <a:gd name="T11" fmla="*/ 0 h 162"/>
                <a:gd name="T12" fmla="*/ 0 60000 65536"/>
                <a:gd name="T13" fmla="*/ 0 60000 65536"/>
                <a:gd name="T14" fmla="*/ 0 60000 65536"/>
                <a:gd name="T15" fmla="*/ 0 60000 65536"/>
                <a:gd name="T16" fmla="*/ 0 60000 65536"/>
                <a:gd name="T17" fmla="*/ 0 60000 65536"/>
                <a:gd name="T18" fmla="*/ 0 w 306"/>
                <a:gd name="T19" fmla="*/ 0 h 162"/>
                <a:gd name="T20" fmla="*/ 306 w 306"/>
                <a:gd name="T21" fmla="*/ 162 h 162"/>
              </a:gdLst>
              <a:ahLst/>
              <a:cxnLst>
                <a:cxn ang="T12">
                  <a:pos x="T0" y="T1"/>
                </a:cxn>
                <a:cxn ang="T13">
                  <a:pos x="T2" y="T3"/>
                </a:cxn>
                <a:cxn ang="T14">
                  <a:pos x="T4" y="T5"/>
                </a:cxn>
                <a:cxn ang="T15">
                  <a:pos x="T6" y="T7"/>
                </a:cxn>
                <a:cxn ang="T16">
                  <a:pos x="T8" y="T9"/>
                </a:cxn>
                <a:cxn ang="T17">
                  <a:pos x="T10" y="T11"/>
                </a:cxn>
              </a:cxnLst>
              <a:rect l="T18" t="T19" r="T20" b="T21"/>
              <a:pathLst>
                <a:path w="306" h="162">
                  <a:moveTo>
                    <a:pt x="0" y="0"/>
                  </a:moveTo>
                  <a:lnTo>
                    <a:pt x="270" y="0"/>
                  </a:lnTo>
                  <a:lnTo>
                    <a:pt x="306" y="36"/>
                  </a:lnTo>
                  <a:lnTo>
                    <a:pt x="306" y="162"/>
                  </a:lnTo>
                  <a:lnTo>
                    <a:pt x="0" y="162"/>
                  </a:lnTo>
                  <a:lnTo>
                    <a:pt x="0" y="0"/>
                  </a:lnTo>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72749" name="Freeform 6"/>
            <p:cNvSpPr/>
            <p:nvPr/>
          </p:nvSpPr>
          <p:spPr bwMode="auto">
            <a:xfrm>
              <a:off x="6306" y="1591"/>
              <a:ext cx="173" cy="172"/>
            </a:xfrm>
            <a:custGeom>
              <a:avLst/>
              <a:gdLst>
                <a:gd name="T0" fmla="*/ 0 w 36"/>
                <a:gd name="T1" fmla="*/ 0 h 36"/>
                <a:gd name="T2" fmla="*/ 0 w 36"/>
                <a:gd name="T3" fmla="*/ 2147483647 h 36"/>
                <a:gd name="T4" fmla="*/ 2147483647 w 36"/>
                <a:gd name="T5" fmla="*/ 2147483647 h 36"/>
                <a:gd name="T6" fmla="*/ 0 60000 65536"/>
                <a:gd name="T7" fmla="*/ 0 60000 65536"/>
                <a:gd name="T8" fmla="*/ 0 60000 65536"/>
                <a:gd name="T9" fmla="*/ 0 w 36"/>
                <a:gd name="T10" fmla="*/ 0 h 36"/>
                <a:gd name="T11" fmla="*/ 36 w 36"/>
                <a:gd name="T12" fmla="*/ 36 h 36"/>
              </a:gdLst>
              <a:ahLst/>
              <a:cxnLst>
                <a:cxn ang="T6">
                  <a:pos x="T0" y="T1"/>
                </a:cxn>
                <a:cxn ang="T7">
                  <a:pos x="T2" y="T3"/>
                </a:cxn>
                <a:cxn ang="T8">
                  <a:pos x="T4" y="T5"/>
                </a:cxn>
              </a:cxnLst>
              <a:rect l="T9" t="T10" r="T11" b="T12"/>
              <a:pathLst>
                <a:path w="36" h="36">
                  <a:moveTo>
                    <a:pt x="0" y="0"/>
                  </a:moveTo>
                  <a:lnTo>
                    <a:pt x="0" y="36"/>
                  </a:lnTo>
                  <a:lnTo>
                    <a:pt x="36" y="36"/>
                  </a:lnTo>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FFFF00"/>
                </a:solidFill>
              </a:endParaRPr>
            </a:p>
          </p:txBody>
        </p:sp>
        <p:sp>
          <p:nvSpPr>
            <p:cNvPr id="72750" name="Rectangle 5"/>
            <p:cNvSpPr>
              <a:spLocks noChangeArrowheads="1"/>
            </p:cNvSpPr>
            <p:nvPr/>
          </p:nvSpPr>
          <p:spPr bwMode="auto">
            <a:xfrm>
              <a:off x="5069" y="1619"/>
              <a:ext cx="110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zh-CN" sz="1400" b="1" dirty="0">
                  <a:solidFill>
                    <a:srgbClr val="FFFF00"/>
                  </a:solidFill>
                  <a:latin typeface="微软雅黑" panose="020B0503020204020204" pitchFamily="34" charset="-122"/>
                  <a:ea typeface="微软雅黑" panose="020B0503020204020204" pitchFamily="34" charset="-122"/>
                  <a:cs typeface="Arial" panose="020B0604020202020204" pitchFamily="34" charset="0"/>
                </a:rPr>
                <a:t>单向组合：</a:t>
              </a:r>
              <a:endParaRPr lang="zh-CN" altLang="zh-CN" sz="4000" b="1" dirty="0">
                <a:solidFill>
                  <a:srgbClr val="FFFF00"/>
                </a:solidFill>
                <a:latin typeface="微软雅黑" panose="020B0503020204020204" pitchFamily="34" charset="-122"/>
                <a:ea typeface="微软雅黑" panose="020B0503020204020204" pitchFamily="34" charset="-122"/>
              </a:endParaRPr>
            </a:p>
          </p:txBody>
        </p:sp>
        <p:sp>
          <p:nvSpPr>
            <p:cNvPr id="72751" name="Rectangle 4"/>
            <p:cNvSpPr>
              <a:spLocks noChangeArrowheads="1"/>
            </p:cNvSpPr>
            <p:nvPr/>
          </p:nvSpPr>
          <p:spPr bwMode="auto">
            <a:xfrm>
              <a:off x="5069" y="1859"/>
              <a:ext cx="110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zh-CN" sz="1400" b="1" dirty="0">
                  <a:solidFill>
                    <a:srgbClr val="FFFF00"/>
                  </a:solidFill>
                  <a:latin typeface="微软雅黑" panose="020B0503020204020204" pitchFamily="34" charset="-122"/>
                  <a:ea typeface="微软雅黑" panose="020B0503020204020204" pitchFamily="34" charset="-122"/>
                  <a:cs typeface="Arial" panose="020B0604020202020204" pitchFamily="34" charset="0"/>
                </a:rPr>
                <a:t>直线段包含</a:t>
              </a:r>
              <a:endParaRPr lang="zh-CN" altLang="zh-CN" sz="4000" b="1" dirty="0">
                <a:solidFill>
                  <a:srgbClr val="FFFF00"/>
                </a:solidFill>
                <a:latin typeface="微软雅黑" panose="020B0503020204020204" pitchFamily="34" charset="-122"/>
                <a:ea typeface="微软雅黑" panose="020B0503020204020204" pitchFamily="34" charset="-122"/>
              </a:endParaRPr>
            </a:p>
          </p:txBody>
        </p:sp>
        <p:sp>
          <p:nvSpPr>
            <p:cNvPr id="72752" name="Rectangle 3"/>
            <p:cNvSpPr>
              <a:spLocks noChangeArrowheads="1"/>
            </p:cNvSpPr>
            <p:nvPr/>
          </p:nvSpPr>
          <p:spPr bwMode="auto">
            <a:xfrm>
              <a:off x="5057" y="2098"/>
              <a:ext cx="117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zh-CN" sz="1400" b="1" dirty="0">
                  <a:solidFill>
                    <a:srgbClr val="FFFF00"/>
                  </a:solidFill>
                  <a:latin typeface="微软雅黑" panose="020B0503020204020204" pitchFamily="34" charset="-122"/>
                  <a:ea typeface="微软雅黑" panose="020B0503020204020204" pitchFamily="34" charset="-122"/>
                  <a:cs typeface="Arial" panose="020B0604020202020204" pitchFamily="34" charset="0"/>
                </a:rPr>
                <a:t>端点</a:t>
              </a:r>
              <a:r>
                <a:rPr lang="en-US" altLang="zh-CN" sz="1400" b="1" dirty="0">
                  <a:solidFill>
                    <a:srgbClr val="FFFF00"/>
                  </a:solidFill>
                  <a:latin typeface="Arial" panose="020B0604020202020204" pitchFamily="34" charset="0"/>
                  <a:cs typeface="Arial" panose="020B0604020202020204" pitchFamily="34" charset="0"/>
                </a:rPr>
                <a:t>p1</a:t>
              </a:r>
              <a:r>
                <a:rPr lang="zh-CN" altLang="en-US" sz="1400" b="1" dirty="0">
                  <a:solidFill>
                    <a:srgbClr val="FFFF00"/>
                  </a:solidFill>
                  <a:latin typeface="Arial" panose="020B0604020202020204" pitchFamily="34" charset="0"/>
                  <a:cs typeface="Arial" panose="020B0604020202020204" pitchFamily="34" charset="0"/>
                </a:rPr>
                <a:t>、</a:t>
              </a:r>
              <a:r>
                <a:rPr lang="en-US" altLang="zh-CN" sz="1400" b="1" dirty="0">
                  <a:solidFill>
                    <a:srgbClr val="FFFF00"/>
                  </a:solidFill>
                  <a:latin typeface="Arial" panose="020B0604020202020204" pitchFamily="34" charset="0"/>
                  <a:cs typeface="Arial" panose="020B0604020202020204" pitchFamily="34" charset="0"/>
                </a:rPr>
                <a:t>p2</a:t>
              </a:r>
              <a:endParaRPr lang="en-US" altLang="zh-CN" sz="4000" b="1" dirty="0">
                <a:solidFill>
                  <a:srgbClr val="FFFF00"/>
                </a:solidFill>
              </a:endParaRPr>
            </a:p>
          </p:txBody>
        </p:sp>
        <p:sp>
          <p:nvSpPr>
            <p:cNvPr id="72753" name="Line 2"/>
            <p:cNvSpPr>
              <a:spLocks noChangeShapeType="1"/>
            </p:cNvSpPr>
            <p:nvPr/>
          </p:nvSpPr>
          <p:spPr bwMode="auto">
            <a:xfrm flipV="1">
              <a:off x="1760" y="2357"/>
              <a:ext cx="3251" cy="1381"/>
            </a:xfrm>
            <a:prstGeom prst="line">
              <a:avLst/>
            </a:prstGeom>
            <a:noFill/>
            <a:ln w="0">
              <a:solidFill>
                <a:srgbClr val="000000"/>
              </a:solidFill>
              <a:prstDash val="sysDash"/>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grpSp>
      <p:sp>
        <p:nvSpPr>
          <p:cNvPr id="72711" name="Rectangle 65"/>
          <p:cNvSpPr>
            <a:spLocks noChangeArrowheads="1"/>
          </p:cNvSpPr>
          <p:nvPr/>
        </p:nvSpPr>
        <p:spPr bwMode="auto">
          <a:xfrm>
            <a:off x="4479634" y="3988743"/>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endParaRPr lang="zh-CN" altLang="zh-CN" b="1">
              <a:solidFill>
                <a:srgbClr val="FFFF00"/>
              </a:solidFill>
            </a:endParaRPr>
          </a:p>
        </p:txBody>
      </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4.6.2  </a:t>
            </a:r>
            <a:r>
              <a:rPr lang="zh-CN" altLang="en-US" sz="4400" b="1">
                <a:latin typeface="Times New Roman" panose="02020603050405020304" pitchFamily="18" charset="0"/>
                <a:ea typeface="隶书" panose="02010509060101010101" pitchFamily="49" charset="-122"/>
              </a:rPr>
              <a:t>联合体</a:t>
            </a:r>
            <a:endParaRPr lang="zh-CN" altLang="en-US" sz="4400" b="1">
              <a:latin typeface="Times New Roman" panose="02020603050405020304" pitchFamily="18" charset="0"/>
              <a:ea typeface="隶书" panose="02010509060101010101" pitchFamily="49" charset="-122"/>
            </a:endParaRPr>
          </a:p>
        </p:txBody>
      </p:sp>
      <p:sp>
        <p:nvSpPr>
          <p:cNvPr id="77827" name="内容占位符 2"/>
          <p:cNvSpPr>
            <a:spLocks noGrp="1"/>
          </p:cNvSpPr>
          <p:nvPr>
            <p:ph idx="1"/>
          </p:nvPr>
        </p:nvSpPr>
        <p:spPr>
          <a:xfrm>
            <a:off x="683568" y="1412776"/>
            <a:ext cx="7886700" cy="4351338"/>
          </a:xfrm>
        </p:spPr>
        <p:txBody>
          <a:bodyPr/>
          <a:lstStyle/>
          <a:p>
            <a:pPr eaLnBrk="1" hangingPunct="1"/>
            <a:r>
              <a:rPr lang="zh-CN" altLang="en-US" sz="2400" b="1" dirty="0">
                <a:latin typeface="微软雅黑" panose="020B0503020204020204" pitchFamily="34" charset="-122"/>
                <a:ea typeface="微软雅黑" panose="020B0503020204020204" pitchFamily="34" charset="-122"/>
              </a:rPr>
              <a:t>声明形式</a:t>
            </a:r>
            <a:endParaRPr lang="en-US" altLang="zh-CN" sz="2400" b="1" dirty="0">
              <a:latin typeface="微软雅黑" panose="020B0503020204020204" pitchFamily="34" charset="-122"/>
              <a:ea typeface="微软雅黑" panose="020B0503020204020204" pitchFamily="34" charset="-122"/>
            </a:endParaRPr>
          </a:p>
          <a:p>
            <a:pPr lvl="1" eaLnBrk="1" hangingPunct="1">
              <a:buFontTx/>
              <a:buNone/>
              <a:tabLst>
                <a:tab pos="2865120" algn="l"/>
              </a:tabLst>
            </a:pPr>
            <a:r>
              <a:rPr lang="en-US" altLang="zh-CN" sz="2400" b="1" dirty="0">
                <a:solidFill>
                  <a:srgbClr val="FFFF00"/>
                </a:solidFill>
                <a:latin typeface="微软雅黑" panose="020B0503020204020204" pitchFamily="34" charset="-122"/>
                <a:ea typeface="微软雅黑" panose="020B0503020204020204" pitchFamily="34" charset="-122"/>
              </a:rPr>
              <a:t>union </a:t>
            </a:r>
            <a:r>
              <a:rPr lang="zh-CN" altLang="en-US" sz="2400" b="1" dirty="0">
                <a:solidFill>
                  <a:srgbClr val="FFFF00"/>
                </a:solidFill>
                <a:latin typeface="微软雅黑" panose="020B0503020204020204" pitchFamily="34" charset="-122"/>
                <a:ea typeface="微软雅黑" panose="020B0503020204020204" pitchFamily="34" charset="-122"/>
              </a:rPr>
              <a:t>联合体名称 </a:t>
            </a:r>
            <a:r>
              <a:rPr lang="en-US" altLang="zh-CN" sz="2400" b="1" dirty="0">
                <a:solidFill>
                  <a:srgbClr val="FFFF00"/>
                </a:solidFill>
                <a:latin typeface="微软雅黑" panose="020B0503020204020204" pitchFamily="34" charset="-122"/>
                <a:ea typeface="微软雅黑" panose="020B0503020204020204" pitchFamily="34" charset="-122"/>
              </a:rPr>
              <a:t>{</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tabLst>
                <a:tab pos="2865120" algn="l"/>
              </a:tabLst>
            </a:pPr>
            <a:r>
              <a:rPr lang="zh-CN" altLang="en-US" sz="2400" b="1" dirty="0">
                <a:solidFill>
                  <a:srgbClr val="FFFF00"/>
                </a:solidFill>
                <a:latin typeface="微软雅黑" panose="020B0503020204020204" pitchFamily="34" charset="-122"/>
                <a:ea typeface="微软雅黑" panose="020B0503020204020204" pitchFamily="34" charset="-122"/>
              </a:rPr>
              <a:t>    公有成员</a:t>
            </a:r>
            <a:endParaRPr lang="zh-CN" altLang="en-US"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tabLst>
                <a:tab pos="2865120" algn="l"/>
              </a:tabLst>
            </a:pPr>
            <a:r>
              <a:rPr lang="en-US" altLang="zh-CN" sz="2400" b="1" dirty="0">
                <a:solidFill>
                  <a:srgbClr val="FFFF00"/>
                </a:solidFill>
                <a:latin typeface="微软雅黑" panose="020B0503020204020204" pitchFamily="34" charset="-122"/>
                <a:ea typeface="微软雅黑" panose="020B0503020204020204" pitchFamily="34" charset="-122"/>
              </a:rPr>
              <a:t>protected:</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tabLst>
                <a:tab pos="2865120" algn="l"/>
              </a:tabLst>
            </a:pPr>
            <a:r>
              <a:rPr lang="en-US" altLang="zh-CN" sz="2400" b="1" dirty="0">
                <a:solidFill>
                  <a:srgbClr val="FFFF00"/>
                </a:solidFill>
                <a:latin typeface="微软雅黑" panose="020B0503020204020204" pitchFamily="34" charset="-122"/>
                <a:ea typeface="微软雅黑" panose="020B0503020204020204" pitchFamily="34" charset="-122"/>
              </a:rPr>
              <a:t>    </a:t>
            </a:r>
            <a:r>
              <a:rPr lang="zh-CN" altLang="en-US" sz="2400" b="1" dirty="0">
                <a:solidFill>
                  <a:srgbClr val="FFFF00"/>
                </a:solidFill>
                <a:latin typeface="微软雅黑" panose="020B0503020204020204" pitchFamily="34" charset="-122"/>
                <a:ea typeface="微软雅黑" panose="020B0503020204020204" pitchFamily="34" charset="-122"/>
              </a:rPr>
              <a:t>保护型成员</a:t>
            </a:r>
            <a:endParaRPr lang="zh-CN" altLang="en-US"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tabLst>
                <a:tab pos="2865120" algn="l"/>
              </a:tabLst>
            </a:pPr>
            <a:r>
              <a:rPr lang="en-US" altLang="zh-CN" sz="2400" b="1" dirty="0">
                <a:solidFill>
                  <a:srgbClr val="FFFF00"/>
                </a:solidFill>
                <a:latin typeface="微软雅黑" panose="020B0503020204020204" pitchFamily="34" charset="-122"/>
                <a:ea typeface="微软雅黑" panose="020B0503020204020204" pitchFamily="34" charset="-122"/>
              </a:rPr>
              <a:t>private:</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tabLst>
                <a:tab pos="2865120" algn="l"/>
              </a:tabLst>
            </a:pPr>
            <a:r>
              <a:rPr lang="en-US" altLang="zh-CN" sz="2400" b="1" dirty="0">
                <a:solidFill>
                  <a:srgbClr val="FFFF00"/>
                </a:solidFill>
                <a:latin typeface="微软雅黑" panose="020B0503020204020204" pitchFamily="34" charset="-122"/>
                <a:ea typeface="微软雅黑" panose="020B0503020204020204" pitchFamily="34" charset="-122"/>
              </a:rPr>
              <a:t>    </a:t>
            </a:r>
            <a:r>
              <a:rPr lang="zh-CN" altLang="en-US" sz="2400" b="1" dirty="0">
                <a:solidFill>
                  <a:srgbClr val="FFFF00"/>
                </a:solidFill>
                <a:latin typeface="微软雅黑" panose="020B0503020204020204" pitchFamily="34" charset="-122"/>
                <a:ea typeface="微软雅黑" panose="020B0503020204020204" pitchFamily="34" charset="-122"/>
              </a:rPr>
              <a:t>私有成员</a:t>
            </a:r>
            <a:endParaRPr lang="zh-CN" altLang="en-US" sz="2400" b="1" dirty="0">
              <a:solidFill>
                <a:srgbClr val="FFFF00"/>
              </a:solidFill>
              <a:latin typeface="微软雅黑" panose="020B0503020204020204" pitchFamily="34" charset="-122"/>
              <a:ea typeface="微软雅黑" panose="020B0503020204020204" pitchFamily="34" charset="-122"/>
            </a:endParaRPr>
          </a:p>
          <a:p>
            <a:pPr lvl="1" eaLnBrk="1" hangingPunct="1">
              <a:buFontTx/>
              <a:buNone/>
              <a:tabLst>
                <a:tab pos="2865120" algn="l"/>
              </a:tabLst>
            </a:pPr>
            <a:r>
              <a:rPr lang="en-US" altLang="zh-CN" sz="2400" b="1" dirty="0">
                <a:solidFill>
                  <a:srgbClr val="FFFF00"/>
                </a:solidFill>
                <a:latin typeface="微软雅黑" panose="020B0503020204020204" pitchFamily="34" charset="-122"/>
                <a:ea typeface="微软雅黑" panose="020B0503020204020204" pitchFamily="34" charset="-122"/>
              </a:rPr>
              <a:t>};</a:t>
            </a:r>
            <a:endParaRPr lang="en-US" altLang="zh-CN" sz="2400" b="1" dirty="0">
              <a:solidFill>
                <a:srgbClr val="FFFF00"/>
              </a:solidFill>
              <a:latin typeface="微软雅黑" panose="020B0503020204020204" pitchFamily="34" charset="-122"/>
              <a:ea typeface="微软雅黑" panose="020B0503020204020204" pitchFamily="34" charset="-122"/>
            </a:endParaRPr>
          </a:p>
          <a:p>
            <a:pPr eaLnBrk="1" hangingPunct="1"/>
            <a:r>
              <a:rPr lang="zh-CN" altLang="en-US" sz="2400" b="1" dirty="0">
                <a:latin typeface="微软雅黑" panose="020B0503020204020204" pitchFamily="34" charset="-122"/>
                <a:ea typeface="微软雅黑" panose="020B0503020204020204" pitchFamily="34" charset="-122"/>
              </a:rPr>
              <a:t>特点：</a:t>
            </a:r>
            <a:endParaRPr lang="en-US" altLang="zh-CN" sz="2400" b="1"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sz="2400" b="1" dirty="0">
                <a:solidFill>
                  <a:srgbClr val="FFFF00"/>
                </a:solidFill>
                <a:latin typeface="微软雅黑" panose="020B0503020204020204" pitchFamily="34" charset="-122"/>
                <a:ea typeface="微软雅黑" panose="020B0503020204020204" pitchFamily="34" charset="-122"/>
              </a:rPr>
              <a:t>成员共用相同的内存单元</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sz="2400" b="1" dirty="0">
                <a:solidFill>
                  <a:srgbClr val="FFFF00"/>
                </a:solidFill>
                <a:latin typeface="微软雅黑" panose="020B0503020204020204" pitchFamily="34" charset="-122"/>
                <a:ea typeface="微软雅黑" panose="020B0503020204020204" pitchFamily="34" charset="-122"/>
              </a:rPr>
              <a:t>任何两个成员不会同时有效</a:t>
            </a:r>
            <a:endParaRPr lang="en-US" altLang="zh-CN"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联合体的内存分配</a:t>
            </a:r>
            <a:endParaRPr lang="zh-CN" altLang="en-US" sz="4400" b="1">
              <a:latin typeface="Times New Roman" panose="02020603050405020304" pitchFamily="18" charset="0"/>
              <a:ea typeface="隶书" panose="02010509060101010101" pitchFamily="49" charset="-122"/>
            </a:endParaRPr>
          </a:p>
        </p:txBody>
      </p:sp>
      <p:sp>
        <p:nvSpPr>
          <p:cNvPr id="78851" name="内容占位符 2"/>
          <p:cNvSpPr>
            <a:spLocks noGrp="1"/>
          </p:cNvSpPr>
          <p:nvPr>
            <p:ph idx="1"/>
          </p:nvPr>
        </p:nvSpPr>
        <p:spPr>
          <a:xfrm>
            <a:off x="457200" y="1412776"/>
            <a:ext cx="8229600" cy="2087662"/>
          </a:xfrm>
          <a:solidFill>
            <a:schemeClr val="tx1"/>
          </a:solidFill>
        </p:spPr>
        <p:txBody>
          <a:bodyPr/>
          <a:lstStyle/>
          <a:p>
            <a:pPr marL="0" indent="0">
              <a:spcBef>
                <a:spcPts val="0"/>
              </a:spcBef>
              <a:buNone/>
            </a:pPr>
            <a:r>
              <a:rPr lang="en-US" altLang="zh-CN" sz="2400" b="1" dirty="0">
                <a:solidFill>
                  <a:srgbClr val="000000"/>
                </a:solidFill>
                <a:latin typeface="微软雅黑" panose="020B0503020204020204" pitchFamily="34" charset="-122"/>
                <a:ea typeface="微软雅黑" panose="020B0503020204020204" pitchFamily="34" charset="-122"/>
              </a:rPr>
              <a:t>union Mark {	</a:t>
            </a: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表示成绩的联合体</a:t>
            </a:r>
            <a:endParaRPr lang="en-US" altLang="zh-CN" sz="2400" b="1" dirty="0">
              <a:solidFill>
                <a:srgbClr val="000000"/>
              </a:solidFill>
              <a:latin typeface="微软雅黑" panose="020B0503020204020204" pitchFamily="34" charset="-122"/>
              <a:ea typeface="微软雅黑" panose="020B0503020204020204" pitchFamily="34" charset="-122"/>
            </a:endParaRPr>
          </a:p>
          <a:p>
            <a:pPr marL="0" indent="0">
              <a:spcBef>
                <a:spcPts val="0"/>
              </a:spcBef>
              <a:buNone/>
            </a:pPr>
            <a:r>
              <a:rPr lang="en-US" altLang="zh-CN" sz="2400" b="1" dirty="0">
                <a:solidFill>
                  <a:srgbClr val="000000"/>
                </a:solidFill>
                <a:latin typeface="微软雅黑" panose="020B0503020204020204" pitchFamily="34" charset="-122"/>
                <a:ea typeface="微软雅黑" panose="020B0503020204020204" pitchFamily="34" charset="-122"/>
              </a:rPr>
              <a:t>	char grade;	//</a:t>
            </a:r>
            <a:r>
              <a:rPr lang="zh-CN" altLang="en-US" sz="2400" b="1" dirty="0">
                <a:solidFill>
                  <a:srgbClr val="000000"/>
                </a:solidFill>
                <a:latin typeface="微软雅黑" panose="020B0503020204020204" pitchFamily="34" charset="-122"/>
                <a:ea typeface="微软雅黑" panose="020B0503020204020204" pitchFamily="34" charset="-122"/>
              </a:rPr>
              <a:t>等级制的成绩</a:t>
            </a:r>
            <a:endParaRPr lang="zh-CN" altLang="en-US" sz="2400" b="1" dirty="0">
              <a:solidFill>
                <a:srgbClr val="000000"/>
              </a:solidFill>
              <a:latin typeface="微软雅黑" panose="020B0503020204020204" pitchFamily="34" charset="-122"/>
              <a:ea typeface="微软雅黑" panose="020B0503020204020204" pitchFamily="34" charset="-122"/>
            </a:endParaRPr>
          </a:p>
          <a:p>
            <a:pPr marL="0" indent="0">
              <a:spcBef>
                <a:spcPts val="0"/>
              </a:spcBef>
              <a:buNone/>
            </a:pPr>
            <a:r>
              <a:rPr lang="zh-CN" altLang="en-US" sz="2400" b="1" dirty="0">
                <a:solidFill>
                  <a:srgbClr val="000000"/>
                </a:solidFill>
                <a:latin typeface="微软雅黑" panose="020B0503020204020204" pitchFamily="34" charset="-122"/>
                <a:ea typeface="微软雅黑" panose="020B0503020204020204" pitchFamily="34" charset="-122"/>
              </a:rPr>
              <a:t>	</a:t>
            </a:r>
            <a:r>
              <a:rPr lang="en-US" altLang="zh-CN" sz="2400" b="1" dirty="0">
                <a:solidFill>
                  <a:srgbClr val="000000"/>
                </a:solidFill>
                <a:latin typeface="微软雅黑" panose="020B0503020204020204" pitchFamily="34" charset="-122"/>
                <a:ea typeface="微软雅黑" panose="020B0503020204020204" pitchFamily="34" charset="-122"/>
              </a:rPr>
              <a:t>bool pass;	//</a:t>
            </a:r>
            <a:r>
              <a:rPr lang="zh-CN" altLang="en-US" sz="2400" b="1" dirty="0">
                <a:solidFill>
                  <a:srgbClr val="000000"/>
                </a:solidFill>
                <a:latin typeface="微软雅黑" panose="020B0503020204020204" pitchFamily="34" charset="-122"/>
                <a:ea typeface="微软雅黑" panose="020B0503020204020204" pitchFamily="34" charset="-122"/>
              </a:rPr>
              <a:t>只记是否通过课程的成绩</a:t>
            </a:r>
            <a:endParaRPr lang="zh-CN" altLang="en-US" sz="2400" b="1" dirty="0">
              <a:solidFill>
                <a:srgbClr val="000000"/>
              </a:solidFill>
              <a:latin typeface="微软雅黑" panose="020B0503020204020204" pitchFamily="34" charset="-122"/>
              <a:ea typeface="微软雅黑" panose="020B0503020204020204" pitchFamily="34" charset="-122"/>
            </a:endParaRPr>
          </a:p>
          <a:p>
            <a:pPr marL="0" indent="0">
              <a:spcBef>
                <a:spcPts val="0"/>
              </a:spcBef>
              <a:buNone/>
            </a:pPr>
            <a:r>
              <a:rPr lang="zh-CN" altLang="en-US" sz="2400" b="1" dirty="0">
                <a:solidFill>
                  <a:srgbClr val="000000"/>
                </a:solidFill>
                <a:latin typeface="微软雅黑" panose="020B0503020204020204" pitchFamily="34" charset="-122"/>
                <a:ea typeface="微软雅黑" panose="020B0503020204020204" pitchFamily="34" charset="-122"/>
              </a:rPr>
              <a:t>	</a:t>
            </a:r>
            <a:r>
              <a:rPr lang="en-US" altLang="zh-CN" sz="2400" b="1" dirty="0" err="1">
                <a:solidFill>
                  <a:srgbClr val="000000"/>
                </a:solidFill>
                <a:latin typeface="微软雅黑" panose="020B0503020204020204" pitchFamily="34" charset="-122"/>
                <a:ea typeface="微软雅黑" panose="020B0503020204020204" pitchFamily="34" charset="-122"/>
              </a:rPr>
              <a:t>int</a:t>
            </a:r>
            <a:r>
              <a:rPr lang="en-US" altLang="zh-CN" sz="2400" b="1" dirty="0">
                <a:solidFill>
                  <a:srgbClr val="000000"/>
                </a:solidFill>
                <a:latin typeface="微软雅黑" panose="020B0503020204020204" pitchFamily="34" charset="-122"/>
                <a:ea typeface="微软雅黑" panose="020B0503020204020204" pitchFamily="34" charset="-122"/>
              </a:rPr>
              <a:t> percent;	//</a:t>
            </a:r>
            <a:r>
              <a:rPr lang="zh-CN" altLang="en-US" sz="2400" b="1" dirty="0">
                <a:solidFill>
                  <a:srgbClr val="000000"/>
                </a:solidFill>
                <a:latin typeface="微软雅黑" panose="020B0503020204020204" pitchFamily="34" charset="-122"/>
                <a:ea typeface="微软雅黑" panose="020B0503020204020204" pitchFamily="34" charset="-122"/>
              </a:rPr>
              <a:t>百分制的成绩</a:t>
            </a:r>
            <a:endParaRPr lang="zh-CN" altLang="en-US" sz="2400" b="1" dirty="0">
              <a:solidFill>
                <a:srgbClr val="000000"/>
              </a:solidFill>
              <a:latin typeface="微软雅黑" panose="020B0503020204020204" pitchFamily="34" charset="-122"/>
              <a:ea typeface="微软雅黑" panose="020B0503020204020204" pitchFamily="34" charset="-122"/>
            </a:endParaRPr>
          </a:p>
          <a:p>
            <a:pPr marL="0" indent="0">
              <a:spcBef>
                <a:spcPts val="0"/>
              </a:spcBef>
              <a:buNone/>
            </a:pPr>
            <a:r>
              <a:rPr lang="en-US" altLang="zh-CN" sz="2400" b="1" dirty="0">
                <a:solidFill>
                  <a:srgbClr val="000000"/>
                </a:solidFill>
                <a:latin typeface="微软雅黑" panose="020B0503020204020204" pitchFamily="34" charset="-122"/>
                <a:ea typeface="微软雅黑" panose="020B0503020204020204" pitchFamily="34" charset="-122"/>
              </a:rPr>
              <a:t>};</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pSp>
        <p:nvGrpSpPr>
          <p:cNvPr id="78854" name="Group 1027"/>
          <p:cNvGrpSpPr/>
          <p:nvPr/>
        </p:nvGrpSpPr>
        <p:grpSpPr bwMode="auto">
          <a:xfrm>
            <a:off x="642938" y="3714750"/>
            <a:ext cx="7454900" cy="2652713"/>
            <a:chOff x="676" y="2361"/>
            <a:chExt cx="4696" cy="1671"/>
          </a:xfrm>
        </p:grpSpPr>
        <p:grpSp>
          <p:nvGrpSpPr>
            <p:cNvPr id="78855" name="Group 1028"/>
            <p:cNvGrpSpPr/>
            <p:nvPr/>
          </p:nvGrpSpPr>
          <p:grpSpPr bwMode="auto">
            <a:xfrm>
              <a:off x="676" y="2688"/>
              <a:ext cx="4696" cy="1344"/>
              <a:chOff x="676" y="2688"/>
              <a:chExt cx="4696" cy="1344"/>
            </a:xfrm>
          </p:grpSpPr>
          <p:sp>
            <p:nvSpPr>
              <p:cNvPr id="78860" name="Rectangle 1029"/>
              <p:cNvSpPr>
                <a:spLocks noChangeArrowheads="1"/>
              </p:cNvSpPr>
              <p:nvPr/>
            </p:nvSpPr>
            <p:spPr bwMode="auto">
              <a:xfrm>
                <a:off x="676" y="2692"/>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1" name="Rectangle 1030"/>
              <p:cNvSpPr>
                <a:spLocks noChangeArrowheads="1"/>
              </p:cNvSpPr>
              <p:nvPr/>
            </p:nvSpPr>
            <p:spPr bwMode="auto">
              <a:xfrm>
                <a:off x="676" y="3028"/>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2" name="Rectangle 1031"/>
              <p:cNvSpPr>
                <a:spLocks noChangeArrowheads="1"/>
              </p:cNvSpPr>
              <p:nvPr/>
            </p:nvSpPr>
            <p:spPr bwMode="auto">
              <a:xfrm>
                <a:off x="676" y="3364"/>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3" name="Rectangle 1032"/>
              <p:cNvSpPr>
                <a:spLocks noChangeArrowheads="1"/>
              </p:cNvSpPr>
              <p:nvPr/>
            </p:nvSpPr>
            <p:spPr bwMode="auto">
              <a:xfrm>
                <a:off x="676" y="3700"/>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4" name="Rectangle 1033"/>
              <p:cNvSpPr>
                <a:spLocks noChangeArrowheads="1"/>
              </p:cNvSpPr>
              <p:nvPr/>
            </p:nvSpPr>
            <p:spPr bwMode="auto">
              <a:xfrm>
                <a:off x="1924" y="2692"/>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5" name="Rectangle 1034"/>
              <p:cNvSpPr>
                <a:spLocks noChangeArrowheads="1"/>
              </p:cNvSpPr>
              <p:nvPr/>
            </p:nvSpPr>
            <p:spPr bwMode="auto">
              <a:xfrm>
                <a:off x="3172" y="2692"/>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6" name="Rectangle 1035"/>
              <p:cNvSpPr>
                <a:spLocks noChangeArrowheads="1"/>
              </p:cNvSpPr>
              <p:nvPr/>
            </p:nvSpPr>
            <p:spPr bwMode="auto">
              <a:xfrm>
                <a:off x="4420" y="2692"/>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7" name="Rectangle 1036"/>
              <p:cNvSpPr>
                <a:spLocks noChangeArrowheads="1"/>
              </p:cNvSpPr>
              <p:nvPr/>
            </p:nvSpPr>
            <p:spPr bwMode="auto">
              <a:xfrm>
                <a:off x="4420" y="3028"/>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8" name="Rectangle 1037"/>
              <p:cNvSpPr>
                <a:spLocks noChangeArrowheads="1"/>
              </p:cNvSpPr>
              <p:nvPr/>
            </p:nvSpPr>
            <p:spPr bwMode="auto">
              <a:xfrm>
                <a:off x="4420" y="3364"/>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69" name="Rectangle 1038"/>
              <p:cNvSpPr>
                <a:spLocks noChangeArrowheads="1"/>
              </p:cNvSpPr>
              <p:nvPr/>
            </p:nvSpPr>
            <p:spPr bwMode="auto">
              <a:xfrm>
                <a:off x="4420" y="3700"/>
                <a:ext cx="952" cy="328"/>
              </a:xfrm>
              <a:prstGeom prst="rect">
                <a:avLst/>
              </a:prstGeom>
              <a:solidFill>
                <a:srgbClr val="00CC99"/>
              </a:solidFill>
              <a:ln w="12699">
                <a:solidFill>
                  <a:schemeClr val="accent1"/>
                </a:solidFill>
                <a:miter lim="800000"/>
              </a:ln>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b="1">
                  <a:solidFill>
                    <a:srgbClr val="FFFF00"/>
                  </a:solidFill>
                  <a:latin typeface="+mn-lt"/>
                </a:endParaRPr>
              </a:p>
            </p:txBody>
          </p:sp>
          <p:sp>
            <p:nvSpPr>
              <p:cNvPr id="78870" name="Line 1040"/>
              <p:cNvSpPr>
                <a:spLocks noChangeShapeType="1"/>
              </p:cNvSpPr>
              <p:nvPr/>
            </p:nvSpPr>
            <p:spPr bwMode="auto">
              <a:xfrm>
                <a:off x="1632" y="2688"/>
                <a:ext cx="288" cy="0"/>
              </a:xfrm>
              <a:prstGeom prst="line">
                <a:avLst/>
              </a:prstGeom>
              <a:noFill/>
              <a:ln w="12699">
                <a:solidFill>
                  <a:schemeClr val="accent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latin typeface="+mn-lt"/>
                </a:endParaRPr>
              </a:p>
            </p:txBody>
          </p:sp>
          <p:sp>
            <p:nvSpPr>
              <p:cNvPr id="78871" name="Line 1041"/>
              <p:cNvSpPr>
                <a:spLocks noChangeShapeType="1"/>
              </p:cNvSpPr>
              <p:nvPr/>
            </p:nvSpPr>
            <p:spPr bwMode="auto">
              <a:xfrm>
                <a:off x="2880" y="2688"/>
                <a:ext cx="288" cy="0"/>
              </a:xfrm>
              <a:prstGeom prst="line">
                <a:avLst/>
              </a:prstGeom>
              <a:noFill/>
              <a:ln w="12699">
                <a:solidFill>
                  <a:schemeClr val="accent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latin typeface="+mn-lt"/>
                </a:endParaRPr>
              </a:p>
            </p:txBody>
          </p:sp>
          <p:sp>
            <p:nvSpPr>
              <p:cNvPr id="78872" name="Line 1042"/>
              <p:cNvSpPr>
                <a:spLocks noChangeShapeType="1"/>
              </p:cNvSpPr>
              <p:nvPr/>
            </p:nvSpPr>
            <p:spPr bwMode="auto">
              <a:xfrm>
                <a:off x="4128" y="2688"/>
                <a:ext cx="288" cy="0"/>
              </a:xfrm>
              <a:prstGeom prst="line">
                <a:avLst/>
              </a:prstGeom>
              <a:noFill/>
              <a:ln w="12699">
                <a:solidFill>
                  <a:schemeClr val="accent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latin typeface="+mn-lt"/>
                </a:endParaRPr>
              </a:p>
            </p:txBody>
          </p:sp>
          <p:sp>
            <p:nvSpPr>
              <p:cNvPr id="78873" name="Line 1043"/>
              <p:cNvSpPr>
                <a:spLocks noChangeShapeType="1"/>
              </p:cNvSpPr>
              <p:nvPr/>
            </p:nvSpPr>
            <p:spPr bwMode="auto">
              <a:xfrm>
                <a:off x="1632" y="3024"/>
                <a:ext cx="288" cy="0"/>
              </a:xfrm>
              <a:prstGeom prst="line">
                <a:avLst/>
              </a:prstGeom>
              <a:noFill/>
              <a:ln w="12699">
                <a:solidFill>
                  <a:schemeClr val="accent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latin typeface="+mn-lt"/>
                </a:endParaRPr>
              </a:p>
            </p:txBody>
          </p:sp>
          <p:sp>
            <p:nvSpPr>
              <p:cNvPr id="78874" name="Line 1044"/>
              <p:cNvSpPr>
                <a:spLocks noChangeShapeType="1"/>
              </p:cNvSpPr>
              <p:nvPr/>
            </p:nvSpPr>
            <p:spPr bwMode="auto">
              <a:xfrm>
                <a:off x="2909" y="3015"/>
                <a:ext cx="1536" cy="0"/>
              </a:xfrm>
              <a:prstGeom prst="line">
                <a:avLst/>
              </a:prstGeom>
              <a:noFill/>
              <a:ln w="12699">
                <a:solidFill>
                  <a:schemeClr val="accent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latin typeface="+mn-lt"/>
                </a:endParaRPr>
              </a:p>
            </p:txBody>
          </p:sp>
          <p:sp>
            <p:nvSpPr>
              <p:cNvPr id="78875" name="Line 1045"/>
              <p:cNvSpPr>
                <a:spLocks noChangeShapeType="1"/>
              </p:cNvSpPr>
              <p:nvPr/>
            </p:nvSpPr>
            <p:spPr bwMode="auto">
              <a:xfrm>
                <a:off x="1632" y="4032"/>
                <a:ext cx="2784" cy="0"/>
              </a:xfrm>
              <a:prstGeom prst="line">
                <a:avLst/>
              </a:prstGeom>
              <a:noFill/>
              <a:ln w="12699">
                <a:solidFill>
                  <a:schemeClr val="accent1"/>
                </a:solidFill>
                <a:prstDash val="dash"/>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latin typeface="+mn-lt"/>
                </a:endParaRPr>
              </a:p>
            </p:txBody>
          </p:sp>
        </p:grpSp>
        <p:sp>
          <p:nvSpPr>
            <p:cNvPr id="78856" name="Rectangle 1046"/>
            <p:cNvSpPr>
              <a:spLocks noChangeArrowheads="1"/>
            </p:cNvSpPr>
            <p:nvPr/>
          </p:nvSpPr>
          <p:spPr bwMode="auto">
            <a:xfrm>
              <a:off x="826" y="2361"/>
              <a:ext cx="6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7620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2800" b="1">
                  <a:solidFill>
                    <a:srgbClr val="FFFF00"/>
                  </a:solidFill>
                  <a:latin typeface="+mn-lt"/>
                </a:rPr>
                <a:t>Mark</a:t>
              </a:r>
              <a:endParaRPr lang="en-US" altLang="zh-CN" sz="2800" b="1">
                <a:solidFill>
                  <a:srgbClr val="FFFF00"/>
                </a:solidFill>
                <a:latin typeface="+mn-lt"/>
              </a:endParaRPr>
            </a:p>
          </p:txBody>
        </p:sp>
        <p:sp>
          <p:nvSpPr>
            <p:cNvPr id="78857" name="Rectangle 1047"/>
            <p:cNvSpPr>
              <a:spLocks noChangeArrowheads="1"/>
            </p:cNvSpPr>
            <p:nvPr/>
          </p:nvSpPr>
          <p:spPr bwMode="auto">
            <a:xfrm>
              <a:off x="2136" y="2361"/>
              <a:ext cx="6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7620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2800" b="1">
                  <a:solidFill>
                    <a:srgbClr val="FFFF00"/>
                  </a:solidFill>
                  <a:latin typeface="+mn-lt"/>
                </a:rPr>
                <a:t>grade</a:t>
              </a:r>
              <a:endParaRPr lang="en-US" altLang="zh-CN" sz="2800" b="1">
                <a:solidFill>
                  <a:srgbClr val="FFFF00"/>
                </a:solidFill>
                <a:latin typeface="+mn-lt"/>
              </a:endParaRPr>
            </a:p>
          </p:txBody>
        </p:sp>
        <p:sp>
          <p:nvSpPr>
            <p:cNvPr id="78858" name="Rectangle 1048"/>
            <p:cNvSpPr>
              <a:spLocks noChangeArrowheads="1"/>
            </p:cNvSpPr>
            <p:nvPr/>
          </p:nvSpPr>
          <p:spPr bwMode="auto">
            <a:xfrm>
              <a:off x="4484" y="2361"/>
              <a:ext cx="8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7620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2800" b="1">
                  <a:solidFill>
                    <a:srgbClr val="FFFF00"/>
                  </a:solidFill>
                  <a:latin typeface="+mn-lt"/>
                </a:rPr>
                <a:t>percent</a:t>
              </a:r>
              <a:endParaRPr lang="en-US" altLang="zh-CN" sz="2800" b="1">
                <a:solidFill>
                  <a:srgbClr val="FFFF00"/>
                </a:solidFill>
                <a:latin typeface="+mn-lt"/>
              </a:endParaRPr>
            </a:p>
          </p:txBody>
        </p:sp>
        <p:sp>
          <p:nvSpPr>
            <p:cNvPr id="78859" name="Rectangle 1049"/>
            <p:cNvSpPr>
              <a:spLocks noChangeArrowheads="1"/>
            </p:cNvSpPr>
            <p:nvPr/>
          </p:nvSpPr>
          <p:spPr bwMode="auto">
            <a:xfrm>
              <a:off x="3391" y="2361"/>
              <a:ext cx="53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7620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7620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en-US" altLang="zh-CN" sz="2800" b="1">
                  <a:solidFill>
                    <a:srgbClr val="FFFF00"/>
                  </a:solidFill>
                  <a:latin typeface="+mn-lt"/>
                </a:rPr>
                <a:t>pass</a:t>
              </a:r>
              <a:endParaRPr lang="en-US" altLang="zh-CN" sz="2800" b="1">
                <a:solidFill>
                  <a:srgbClr val="FFFF00"/>
                </a:solidFill>
                <a:latin typeface="+mn-lt"/>
              </a:endParaRPr>
            </a:p>
          </p:txBody>
        </p:sp>
      </p:gr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xfrm>
            <a:off x="628650" y="332656"/>
            <a:ext cx="7886700" cy="13255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无名联合</a:t>
            </a:r>
            <a:endParaRPr lang="zh-CN" altLang="en-US" sz="4400" b="1" dirty="0">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500063" y="3143250"/>
            <a:ext cx="8229600" cy="3500438"/>
          </a:xfrm>
          <a:solidFill>
            <a:schemeClr val="tx1"/>
          </a:solidFill>
        </p:spPr>
        <p:txBody>
          <a:bodyPr/>
          <a:lstStyle/>
          <a:p>
            <a:pPr marL="0" lvl="1" indent="0"/>
            <a:r>
              <a:rPr lang="zh-CN" altLang="en-US" sz="2400" b="1" dirty="0">
                <a:solidFill>
                  <a:srgbClr val="000000"/>
                </a:solidFill>
                <a:ea typeface="+mj-ea"/>
              </a:rPr>
              <a:t>例：</a:t>
            </a:r>
            <a:endParaRPr lang="en-US" altLang="zh-CN" sz="2400" b="1" dirty="0">
              <a:solidFill>
                <a:srgbClr val="000000"/>
              </a:solidFill>
              <a:ea typeface="+mj-ea"/>
            </a:endParaRPr>
          </a:p>
          <a:p>
            <a:pPr marL="0" lvl="1" indent="0"/>
            <a:r>
              <a:rPr lang="en-US" altLang="zh-CN" sz="2400" b="1" dirty="0">
                <a:solidFill>
                  <a:srgbClr val="000000"/>
                </a:solidFill>
                <a:ea typeface="+mj-ea"/>
              </a:rPr>
              <a:t>union {</a:t>
            </a:r>
            <a:endParaRPr lang="en-US" altLang="zh-CN" sz="2400" b="1" dirty="0">
              <a:solidFill>
                <a:srgbClr val="000000"/>
              </a:solidFill>
              <a:ea typeface="+mj-ea"/>
            </a:endParaRPr>
          </a:p>
          <a:p>
            <a:pPr marL="0" lvl="1" indent="0"/>
            <a:r>
              <a:rPr lang="en-US" altLang="zh-CN" sz="2400" b="1" dirty="0">
                <a:solidFill>
                  <a:srgbClr val="000000"/>
                </a:solidFill>
                <a:ea typeface="+mj-ea"/>
              </a:rPr>
              <a:t>  int </a:t>
            </a:r>
            <a:r>
              <a:rPr lang="en-US" altLang="zh-CN" sz="2400" b="1" dirty="0" err="1">
                <a:solidFill>
                  <a:srgbClr val="000000"/>
                </a:solidFill>
                <a:ea typeface="+mj-ea"/>
              </a:rPr>
              <a:t>i</a:t>
            </a:r>
            <a:r>
              <a:rPr lang="en-US" altLang="zh-CN" sz="2400" b="1" dirty="0">
                <a:solidFill>
                  <a:srgbClr val="000000"/>
                </a:solidFill>
                <a:ea typeface="+mj-ea"/>
              </a:rPr>
              <a:t>;</a:t>
            </a:r>
            <a:endParaRPr lang="en-US" altLang="zh-CN" sz="2400" b="1" dirty="0">
              <a:solidFill>
                <a:srgbClr val="000000"/>
              </a:solidFill>
              <a:ea typeface="+mj-ea"/>
            </a:endParaRPr>
          </a:p>
          <a:p>
            <a:pPr marL="0" lvl="1" indent="0"/>
            <a:r>
              <a:rPr lang="en-US" altLang="zh-CN" sz="2400" b="1" dirty="0">
                <a:solidFill>
                  <a:srgbClr val="000000"/>
                </a:solidFill>
                <a:ea typeface="+mj-ea"/>
              </a:rPr>
              <a:t>  float f;</a:t>
            </a:r>
            <a:endParaRPr lang="en-US" altLang="zh-CN" sz="2400" b="1" dirty="0">
              <a:solidFill>
                <a:srgbClr val="000000"/>
              </a:solidFill>
              <a:ea typeface="+mj-ea"/>
            </a:endParaRPr>
          </a:p>
          <a:p>
            <a:pPr marL="0" lvl="1" indent="0"/>
            <a:r>
              <a:rPr lang="en-US" altLang="zh-CN" sz="2400" b="1" dirty="0" smtClean="0">
                <a:solidFill>
                  <a:srgbClr val="000000"/>
                </a:solidFill>
                <a:ea typeface="+mj-ea"/>
              </a:rPr>
              <a:t>};</a:t>
            </a:r>
            <a:endParaRPr lang="en-US" altLang="zh-CN" sz="2400" b="1" dirty="0">
              <a:solidFill>
                <a:srgbClr val="000000"/>
              </a:solidFill>
              <a:ea typeface="+mj-ea"/>
            </a:endParaRPr>
          </a:p>
          <a:p>
            <a:pPr marL="0" lvl="1" indent="0"/>
            <a:r>
              <a:rPr lang="zh-CN" altLang="en-US" sz="2400" b="1" dirty="0">
                <a:solidFill>
                  <a:srgbClr val="000000"/>
                </a:solidFill>
                <a:ea typeface="+mj-ea"/>
              </a:rPr>
              <a:t>在程序中可以这样使用：</a:t>
            </a:r>
            <a:endParaRPr lang="zh-CN" altLang="en-US" sz="2400" b="1" dirty="0">
              <a:solidFill>
                <a:srgbClr val="000000"/>
              </a:solidFill>
              <a:ea typeface="+mj-ea"/>
            </a:endParaRPr>
          </a:p>
          <a:p>
            <a:pPr marL="0" lvl="1" indent="0"/>
            <a:r>
              <a:rPr lang="en-US" altLang="zh-CN" sz="2400" b="1" dirty="0" err="1">
                <a:solidFill>
                  <a:srgbClr val="FF0000"/>
                </a:solidFill>
                <a:ea typeface="+mj-ea"/>
              </a:rPr>
              <a:t>i</a:t>
            </a:r>
            <a:r>
              <a:rPr lang="en-US" altLang="zh-CN" sz="2400" b="1" dirty="0">
                <a:solidFill>
                  <a:srgbClr val="FF0000"/>
                </a:solidFill>
                <a:ea typeface="+mj-ea"/>
              </a:rPr>
              <a:t> = 10;</a:t>
            </a:r>
            <a:endParaRPr lang="en-US" altLang="zh-CN" sz="2400" b="1" dirty="0">
              <a:solidFill>
                <a:srgbClr val="FF0000"/>
              </a:solidFill>
              <a:ea typeface="+mj-ea"/>
            </a:endParaRPr>
          </a:p>
          <a:p>
            <a:pPr marL="0" lvl="1" indent="0"/>
            <a:r>
              <a:rPr lang="en-US" altLang="zh-CN" sz="2400" b="1" dirty="0">
                <a:solidFill>
                  <a:srgbClr val="FF0000"/>
                </a:solidFill>
                <a:ea typeface="+mj-ea"/>
              </a:rPr>
              <a:t>f = 2.2;</a:t>
            </a:r>
            <a:endParaRPr lang="en-US" altLang="zh-CN" sz="2400" b="1" dirty="0">
              <a:solidFill>
                <a:srgbClr val="FF0000"/>
              </a:solidFill>
              <a:ea typeface="+mj-ea"/>
            </a:endParaRPr>
          </a:p>
        </p:txBody>
      </p:sp>
      <p:sp>
        <p:nvSpPr>
          <p:cNvPr id="28" name="内容占位符 2"/>
          <p:cNvSpPr txBox="1"/>
          <p:nvPr/>
        </p:nvSpPr>
        <p:spPr bwMode="auto">
          <a:xfrm>
            <a:off x="500063" y="1500188"/>
            <a:ext cx="8229600" cy="1571625"/>
          </a:xfrm>
          <a:prstGeom prst="rect">
            <a:avLst/>
          </a:prstGeom>
          <a:noFill/>
          <a:ln w="9525">
            <a:noFill/>
            <a:miter lim="800000"/>
          </a:ln>
        </p:spPr>
        <p:txBody>
          <a:bodyPr/>
          <a:lstStyle/>
          <a:p>
            <a:pPr algn="l">
              <a:lnSpc>
                <a:spcPct val="150000"/>
              </a:lnSpc>
              <a:defRPr/>
            </a:pPr>
            <a:r>
              <a:rPr lang="zh-CN" altLang="en-US" b="1" dirty="0">
                <a:latin typeface="微软雅黑" panose="020B0503020204020204" pitchFamily="34" charset="-122"/>
                <a:ea typeface="微软雅黑" panose="020B0503020204020204" pitchFamily="34" charset="-122"/>
              </a:rPr>
              <a:t>无名联合没有标记名，只是声明一个成员项的集合，这些成员项具有相同的内存地址，可以由成员项的名字直接访问。</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pPr eaLnBrk="1" hangingPunct="1"/>
            <a:r>
              <a:rPr lang="zh-CN" altLang="en-US" sz="3200" b="1" smtClean="0"/>
              <a:t>例</a:t>
            </a:r>
            <a:r>
              <a:rPr lang="en-US" altLang="zh-CN" sz="3200" b="1" smtClean="0"/>
              <a:t>4-8</a:t>
            </a:r>
            <a:r>
              <a:rPr lang="zh-CN" altLang="en-US" sz="3200" b="1" smtClean="0"/>
              <a:t>使用联合体保存成绩信息，并且输出。</a:t>
            </a:r>
            <a:endParaRPr lang="zh-CN" altLang="en-US" sz="3200" b="1" smtClean="0"/>
          </a:p>
        </p:txBody>
      </p:sp>
      <p:sp>
        <p:nvSpPr>
          <p:cNvPr id="80899" name="内容占位符 2"/>
          <p:cNvSpPr>
            <a:spLocks noGrp="1"/>
          </p:cNvSpPr>
          <p:nvPr>
            <p:ph idx="1"/>
          </p:nvPr>
        </p:nvSpPr>
        <p:spPr>
          <a:xfrm>
            <a:off x="500063" y="1785938"/>
            <a:ext cx="8229600" cy="4857750"/>
          </a:xfrm>
          <a:solidFill>
            <a:schemeClr val="tx1"/>
          </a:solidFill>
        </p:spPr>
        <p:txBody>
          <a:bodyPr/>
          <a:lstStyle/>
          <a:p>
            <a:pPr marL="0" indent="0">
              <a:spcBef>
                <a:spcPts val="0"/>
              </a:spcBef>
              <a:buNone/>
            </a:pPr>
            <a:r>
              <a:rPr lang="en-US" altLang="zh-CN" sz="2400" b="1" dirty="0">
                <a:solidFill>
                  <a:srgbClr val="000000"/>
                </a:solidFill>
                <a:ea typeface="+mj-ea"/>
              </a:rPr>
              <a:t>#include &lt;string&gt;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#include &lt;</a:t>
            </a:r>
            <a:r>
              <a:rPr lang="en-US" altLang="zh-CN" sz="2400" b="1" dirty="0" err="1">
                <a:solidFill>
                  <a:srgbClr val="000000"/>
                </a:solidFill>
                <a:ea typeface="+mj-ea"/>
              </a:rPr>
              <a:t>iostream</a:t>
            </a:r>
            <a:r>
              <a:rPr lang="en-US" altLang="zh-CN" sz="2400" b="1" dirty="0">
                <a:solidFill>
                  <a:srgbClr val="000000"/>
                </a:solidFill>
                <a:ea typeface="+mj-ea"/>
              </a:rPr>
              <a:t>&gt;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using namespace </a:t>
            </a:r>
            <a:r>
              <a:rPr lang="en-US" altLang="zh-CN" sz="2400" b="1" dirty="0" err="1">
                <a:solidFill>
                  <a:srgbClr val="000000"/>
                </a:solidFill>
                <a:ea typeface="+mj-ea"/>
              </a:rPr>
              <a:t>std</a:t>
            </a:r>
            <a:r>
              <a:rPr lang="en-US" altLang="zh-CN" sz="2400" b="1" dirty="0">
                <a:solidFill>
                  <a:srgbClr val="000000"/>
                </a:solidFill>
                <a:ea typeface="+mj-ea"/>
              </a:rPr>
              <a: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class </a:t>
            </a:r>
            <a:r>
              <a:rPr lang="en-US" altLang="zh-CN" sz="2400" b="1" dirty="0" err="1">
                <a:solidFill>
                  <a:srgbClr val="000000"/>
                </a:solidFill>
                <a:ea typeface="+mj-ea"/>
              </a:rPr>
              <a:t>ExamInfo</a:t>
            </a:r>
            <a:r>
              <a:rPr lang="en-US" altLang="zh-CN" sz="2400" b="1" dirty="0">
                <a:solidFill>
                  <a:srgbClr val="000000"/>
                </a:solidFill>
                <a:ea typeface="+mj-ea"/>
              </a:rPr>
              <a:t>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private:</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string name;	//</a:t>
            </a:r>
            <a:r>
              <a:rPr lang="zh-CN" altLang="en-US" sz="2400" b="1" dirty="0">
                <a:solidFill>
                  <a:srgbClr val="000000"/>
                </a:solidFill>
                <a:ea typeface="+mj-ea"/>
              </a:rPr>
              <a:t>课程名称</a:t>
            </a:r>
            <a:endParaRPr lang="zh-CN" altLang="en-US" sz="2400" b="1" dirty="0">
              <a:solidFill>
                <a:srgbClr val="000000"/>
              </a:solidFill>
              <a:ea typeface="+mj-ea"/>
            </a:endParaRPr>
          </a:p>
          <a:p>
            <a:pPr marL="0" indent="0">
              <a:spcBef>
                <a:spcPts val="0"/>
              </a:spcBef>
              <a:buNone/>
            </a:pPr>
            <a:r>
              <a:rPr lang="zh-CN" altLang="en-US" sz="2400" b="1" dirty="0">
                <a:solidFill>
                  <a:srgbClr val="000000"/>
                </a:solidFill>
                <a:ea typeface="+mj-ea"/>
              </a:rPr>
              <a:t>	</a:t>
            </a:r>
            <a:r>
              <a:rPr lang="en-US" altLang="zh-CN" sz="2400" b="1" dirty="0" err="1">
                <a:solidFill>
                  <a:srgbClr val="000000"/>
                </a:solidFill>
                <a:ea typeface="+mj-ea"/>
              </a:rPr>
              <a:t>enum</a:t>
            </a:r>
            <a:r>
              <a:rPr lang="en-US" altLang="zh-CN" sz="2400" b="1" dirty="0">
                <a:solidFill>
                  <a:srgbClr val="000000"/>
                </a:solidFill>
                <a:ea typeface="+mj-ea"/>
              </a:rPr>
              <a:t> { GRADE, PASS, PERCENTAGE } mode</a:t>
            </a:r>
            <a:r>
              <a:rPr lang="en-US" altLang="zh-CN" sz="2400" b="1" dirty="0" smtClean="0">
                <a:solidFill>
                  <a:srgbClr val="000000"/>
                </a:solidFill>
                <a:ea typeface="+mj-ea"/>
              </a:rPr>
              <a:t>;</a:t>
            </a:r>
            <a:endParaRPr lang="en-US" altLang="zh-CN" sz="2400" b="1" dirty="0" smtClean="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smtClean="0">
                <a:solidFill>
                  <a:srgbClr val="000000"/>
                </a:solidFill>
                <a:ea typeface="+mj-ea"/>
              </a:rPr>
              <a:t>            //</a:t>
            </a:r>
            <a:r>
              <a:rPr lang="zh-CN" altLang="en-US" sz="2400" b="1" dirty="0">
                <a:solidFill>
                  <a:srgbClr val="000000"/>
                </a:solidFill>
                <a:ea typeface="+mj-ea"/>
              </a:rPr>
              <a:t>采用何种计分方式</a:t>
            </a:r>
            <a:endParaRPr lang="zh-CN" altLang="en-US" sz="2400" b="1" dirty="0">
              <a:solidFill>
                <a:srgbClr val="000000"/>
              </a:solidFill>
              <a:ea typeface="+mj-ea"/>
            </a:endParaRPr>
          </a:p>
          <a:p>
            <a:pPr marL="0" indent="0">
              <a:spcBef>
                <a:spcPts val="0"/>
              </a:spcBef>
              <a:buNone/>
            </a:pPr>
            <a:r>
              <a:rPr lang="zh-CN" altLang="en-US" sz="2400" b="1" dirty="0">
                <a:solidFill>
                  <a:srgbClr val="000000"/>
                </a:solidFill>
                <a:ea typeface="+mj-ea"/>
              </a:rPr>
              <a:t>	</a:t>
            </a:r>
            <a:r>
              <a:rPr lang="en-US" altLang="zh-CN" sz="2400" b="1" dirty="0">
                <a:solidFill>
                  <a:srgbClr val="000000"/>
                </a:solidFill>
                <a:ea typeface="+mj-ea"/>
              </a:rPr>
              <a:t>union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char grade;	//</a:t>
            </a:r>
            <a:r>
              <a:rPr lang="zh-CN" altLang="en-US" sz="2400" b="1" dirty="0">
                <a:solidFill>
                  <a:srgbClr val="000000"/>
                </a:solidFill>
                <a:ea typeface="+mj-ea"/>
              </a:rPr>
              <a:t>等级制的成绩</a:t>
            </a:r>
            <a:endParaRPr lang="zh-CN" altLang="en-US" sz="2400" b="1" dirty="0">
              <a:solidFill>
                <a:srgbClr val="000000"/>
              </a:solidFill>
              <a:ea typeface="+mj-ea"/>
            </a:endParaRPr>
          </a:p>
          <a:p>
            <a:pPr marL="0" indent="0">
              <a:spcBef>
                <a:spcPts val="0"/>
              </a:spcBef>
              <a:buNone/>
            </a:pPr>
            <a:r>
              <a:rPr lang="zh-CN" altLang="en-US" sz="2400" b="1" dirty="0">
                <a:solidFill>
                  <a:srgbClr val="000000"/>
                </a:solidFill>
                <a:ea typeface="+mj-ea"/>
              </a:rPr>
              <a:t>		</a:t>
            </a:r>
            <a:r>
              <a:rPr lang="en-US" altLang="zh-CN" sz="2400" b="1" dirty="0">
                <a:solidFill>
                  <a:srgbClr val="000000"/>
                </a:solidFill>
                <a:ea typeface="+mj-ea"/>
              </a:rPr>
              <a:t>bool pass;	//</a:t>
            </a:r>
            <a:r>
              <a:rPr lang="zh-CN" altLang="en-US" sz="2400" b="1" dirty="0">
                <a:solidFill>
                  <a:srgbClr val="000000"/>
                </a:solidFill>
                <a:ea typeface="+mj-ea"/>
              </a:rPr>
              <a:t>只记是否通过课程的成绩</a:t>
            </a:r>
            <a:endParaRPr lang="zh-CN" altLang="en-US" sz="2400" b="1" dirty="0">
              <a:solidFill>
                <a:srgbClr val="000000"/>
              </a:solidFill>
              <a:ea typeface="+mj-ea"/>
            </a:endParaRPr>
          </a:p>
          <a:p>
            <a:pPr marL="0" indent="0">
              <a:spcBef>
                <a:spcPts val="0"/>
              </a:spcBef>
              <a:buNone/>
            </a:pPr>
            <a:r>
              <a:rPr lang="zh-CN" altLang="en-US" sz="2400" b="1" dirty="0">
                <a:solidFill>
                  <a:srgbClr val="000000"/>
                </a:solidFill>
                <a:ea typeface="+mj-ea"/>
              </a:rPr>
              <a:t>		</a:t>
            </a:r>
            <a:r>
              <a:rPr lang="en-US" altLang="zh-CN" sz="2400" b="1" dirty="0" err="1">
                <a:solidFill>
                  <a:srgbClr val="000000"/>
                </a:solidFill>
                <a:ea typeface="+mj-ea"/>
              </a:rPr>
              <a:t>int</a:t>
            </a:r>
            <a:r>
              <a:rPr lang="en-US" altLang="zh-CN" sz="2400" b="1" dirty="0">
                <a:solidFill>
                  <a:srgbClr val="000000"/>
                </a:solidFill>
                <a:ea typeface="+mj-ea"/>
              </a:rPr>
              <a:t> percent;	//</a:t>
            </a:r>
            <a:r>
              <a:rPr lang="zh-CN" altLang="en-US" sz="2400" b="1" dirty="0">
                <a:solidFill>
                  <a:srgbClr val="000000"/>
                </a:solidFill>
                <a:ea typeface="+mj-ea"/>
              </a:rPr>
              <a:t>百分制的成绩</a:t>
            </a:r>
            <a:endParaRPr lang="zh-CN" altLang="en-US" sz="2400" b="1" dirty="0">
              <a:solidFill>
                <a:srgbClr val="000000"/>
              </a:solidFill>
              <a:ea typeface="+mj-ea"/>
            </a:endParaRPr>
          </a:p>
          <a:p>
            <a:pPr marL="0" indent="0">
              <a:spcBef>
                <a:spcPts val="0"/>
              </a:spcBef>
              <a:buNone/>
            </a:pPr>
            <a:r>
              <a:rPr lang="zh-CN" altLang="en-US" sz="2400" b="1" dirty="0">
                <a:solidFill>
                  <a:srgbClr val="000000"/>
                </a:solidFill>
                <a:ea typeface="+mj-ea"/>
              </a:rPr>
              <a:t>	</a:t>
            </a:r>
            <a:r>
              <a:rPr lang="en-US" altLang="zh-CN" sz="2400" b="1" dirty="0">
                <a:solidFill>
                  <a:srgbClr val="000000"/>
                </a:solidFill>
                <a:ea typeface="+mj-ea"/>
              </a:rPr>
              <a:t>};</a:t>
            </a:r>
            <a:endParaRPr lang="zh-CN" altLang="en-US" sz="24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pPr eaLnBrk="1" hangingPunct="1"/>
            <a:r>
              <a:rPr lang="zh-CN" altLang="en-US" sz="3200" b="1" dirty="0" smtClean="0"/>
              <a:t>例</a:t>
            </a:r>
            <a:r>
              <a:rPr lang="en-US" altLang="zh-CN" sz="3200" b="1" dirty="0" smtClean="0"/>
              <a:t>4-8</a:t>
            </a:r>
            <a:r>
              <a:rPr lang="zh-CN" altLang="en-US" sz="3200" b="1" dirty="0" smtClean="0"/>
              <a:t>（续）</a:t>
            </a:r>
            <a:endParaRPr lang="zh-CN" altLang="en-US" sz="3200" b="1" dirty="0" smtClean="0"/>
          </a:p>
        </p:txBody>
      </p:sp>
      <p:sp>
        <p:nvSpPr>
          <p:cNvPr id="81923" name="内容占位符 2"/>
          <p:cNvSpPr>
            <a:spLocks noGrp="1"/>
          </p:cNvSpPr>
          <p:nvPr>
            <p:ph idx="1"/>
          </p:nvPr>
        </p:nvSpPr>
        <p:spPr>
          <a:xfrm>
            <a:off x="500063" y="1785938"/>
            <a:ext cx="8229600" cy="4857750"/>
          </a:xfrm>
          <a:solidFill>
            <a:schemeClr val="tx1"/>
          </a:solidFill>
        </p:spPr>
        <p:txBody>
          <a:bodyPr/>
          <a:lstStyle/>
          <a:p>
            <a:pPr marL="0" indent="0">
              <a:spcBef>
                <a:spcPts val="0"/>
              </a:spcBef>
              <a:buNone/>
            </a:pPr>
            <a:r>
              <a:rPr lang="en-US" altLang="zh-CN" sz="2400" b="1" dirty="0">
                <a:solidFill>
                  <a:srgbClr val="000000"/>
                </a:solidFill>
                <a:ea typeface="+mj-ea"/>
              </a:rPr>
              <a:t>public:</a:t>
            </a:r>
            <a:endParaRPr lang="en-US" altLang="zh-CN" sz="2400" b="1" dirty="0">
              <a:solidFill>
                <a:srgbClr val="000000"/>
              </a:solidFill>
              <a:ea typeface="+mj-ea"/>
            </a:endParaRPr>
          </a:p>
          <a:p>
            <a:pPr marL="0" indent="0">
              <a:spcBef>
                <a:spcPts val="0"/>
              </a:spcBef>
              <a:buNone/>
            </a:pPr>
            <a:r>
              <a:rPr lang="en-US" altLang="zh-CN" sz="2400" b="1" dirty="0" smtClean="0">
                <a:solidFill>
                  <a:srgbClr val="000000"/>
                </a:solidFill>
                <a:ea typeface="+mj-ea"/>
              </a:rPr>
              <a:t>         //</a:t>
            </a:r>
            <a:r>
              <a:rPr lang="zh-CN" altLang="en-US" sz="2400" b="1" dirty="0">
                <a:solidFill>
                  <a:srgbClr val="000000"/>
                </a:solidFill>
                <a:ea typeface="+mj-ea"/>
              </a:rPr>
              <a:t>三种构造函数，分别用等级、是否通过和百分初始化</a:t>
            </a:r>
            <a:endParaRPr lang="zh-CN" altLang="en-US" sz="2400" b="1" dirty="0">
              <a:solidFill>
                <a:srgbClr val="000000"/>
              </a:solidFill>
              <a:ea typeface="+mj-ea"/>
            </a:endParaRPr>
          </a:p>
          <a:p>
            <a:pPr marL="0" indent="0">
              <a:spcBef>
                <a:spcPts val="0"/>
              </a:spcBef>
              <a:buNone/>
            </a:pPr>
            <a:r>
              <a:rPr lang="zh-CN" altLang="en-US" sz="2400" b="1" dirty="0">
                <a:solidFill>
                  <a:srgbClr val="000000"/>
                </a:solidFill>
                <a:ea typeface="+mj-ea"/>
              </a:rPr>
              <a:t>	</a:t>
            </a:r>
            <a:r>
              <a:rPr lang="en-US" altLang="zh-CN" sz="2400" b="1" dirty="0" err="1">
                <a:solidFill>
                  <a:srgbClr val="000000"/>
                </a:solidFill>
                <a:ea typeface="+mj-ea"/>
              </a:rPr>
              <a:t>ExamInfo</a:t>
            </a:r>
            <a:r>
              <a:rPr lang="en-US" altLang="zh-CN" sz="2400" b="1" dirty="0">
                <a:solidFill>
                  <a:srgbClr val="000000"/>
                </a:solidFill>
                <a:ea typeface="+mj-ea"/>
              </a:rPr>
              <a:t>(string name, char grade)</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 name(name), mode(GRADE), grade(grade) {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ExamInfo</a:t>
            </a:r>
            <a:r>
              <a:rPr lang="en-US" altLang="zh-CN" sz="2400" b="1" dirty="0">
                <a:solidFill>
                  <a:srgbClr val="000000"/>
                </a:solidFill>
                <a:ea typeface="+mj-ea"/>
              </a:rPr>
              <a:t>(string name, bool pass)</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 name(name), mode(PASS), pass(pass) {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ExamInfo</a:t>
            </a:r>
            <a:r>
              <a:rPr lang="en-US" altLang="zh-CN" sz="2400" b="1" dirty="0">
                <a:solidFill>
                  <a:srgbClr val="000000"/>
                </a:solidFill>
                <a:ea typeface="+mj-ea"/>
              </a:rPr>
              <a:t>(string name, </a:t>
            </a:r>
            <a:r>
              <a:rPr lang="en-US" altLang="zh-CN" sz="2400" b="1" dirty="0" err="1">
                <a:solidFill>
                  <a:srgbClr val="000000"/>
                </a:solidFill>
                <a:ea typeface="+mj-ea"/>
              </a:rPr>
              <a:t>int</a:t>
            </a:r>
            <a:r>
              <a:rPr lang="en-US" altLang="zh-CN" sz="2400" b="1" dirty="0">
                <a:solidFill>
                  <a:srgbClr val="000000"/>
                </a:solidFill>
                <a:ea typeface="+mj-ea"/>
              </a:rPr>
              <a:t> percent)</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 name(name), mode(PERCENTAGE), </a:t>
            </a:r>
            <a:r>
              <a:rPr lang="en-US" altLang="zh-CN" sz="2400" b="1" dirty="0" smtClean="0">
                <a:solidFill>
                  <a:srgbClr val="000000"/>
                </a:solidFill>
                <a:ea typeface="+mj-ea"/>
              </a:rPr>
              <a:t> </a:t>
            </a:r>
            <a:endParaRPr lang="en-US" altLang="zh-CN" sz="2400" b="1" dirty="0" smtClean="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smtClean="0">
                <a:solidFill>
                  <a:srgbClr val="000000"/>
                </a:solidFill>
                <a:ea typeface="+mj-ea"/>
              </a:rPr>
              <a:t>                       percent(percent</a:t>
            </a:r>
            <a:r>
              <a:rPr lang="en-US" altLang="zh-CN" sz="2400" b="1" dirty="0">
                <a:solidFill>
                  <a:srgbClr val="000000"/>
                </a:solidFill>
                <a:ea typeface="+mj-ea"/>
              </a:rPr>
              <a:t>) {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void show();</a:t>
            </a:r>
            <a:endParaRPr lang="en-US" altLang="zh-CN" sz="2400" b="1" dirty="0">
              <a:solidFill>
                <a:srgbClr val="000000"/>
              </a:solidFill>
              <a:ea typeface="+mj-ea"/>
            </a:endParaRPr>
          </a:p>
          <a:p>
            <a:pPr marL="0" indent="0">
              <a:spcBef>
                <a:spcPts val="0"/>
              </a:spcBef>
              <a:buNone/>
            </a:pPr>
            <a:r>
              <a:rPr lang="en-US" altLang="zh-CN" sz="2400" b="1" dirty="0" smtClean="0">
                <a:solidFill>
                  <a:srgbClr val="000000"/>
                </a:solidFill>
                <a:ea typeface="+mj-ea"/>
              </a:rPr>
              <a:t>};</a:t>
            </a:r>
            <a:endParaRPr lang="en-US" altLang="zh-CN" sz="2400" b="1" dirty="0">
              <a:solidFill>
                <a:srgbClr val="000000"/>
              </a:solidFill>
              <a:ea typeface="+mj-ea"/>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a:lstStyle/>
          <a:p>
            <a:pPr eaLnBrk="1" hangingPunct="1"/>
            <a:r>
              <a:rPr lang="zh-CN" altLang="en-US" sz="3200" smtClean="0"/>
              <a:t>例</a:t>
            </a:r>
            <a:r>
              <a:rPr lang="en-US" altLang="zh-CN" sz="3200" smtClean="0"/>
              <a:t>4-8</a:t>
            </a:r>
            <a:r>
              <a:rPr lang="zh-CN" altLang="en-US" sz="3200" smtClean="0"/>
              <a:t>（续）</a:t>
            </a:r>
            <a:endParaRPr lang="zh-CN" altLang="en-US" sz="3200" smtClean="0"/>
          </a:p>
        </p:txBody>
      </p:sp>
      <p:sp>
        <p:nvSpPr>
          <p:cNvPr id="82947" name="内容占位符 2"/>
          <p:cNvSpPr>
            <a:spLocks noGrp="1"/>
          </p:cNvSpPr>
          <p:nvPr>
            <p:ph idx="1"/>
          </p:nvPr>
        </p:nvSpPr>
        <p:spPr>
          <a:xfrm>
            <a:off x="500063" y="1785938"/>
            <a:ext cx="8229600" cy="4857750"/>
          </a:xfrm>
          <a:solidFill>
            <a:schemeClr val="tx1"/>
          </a:solidFill>
        </p:spPr>
        <p:txBody>
          <a:bodyPr/>
          <a:lstStyle/>
          <a:p>
            <a:pPr marL="0" indent="0">
              <a:spcBef>
                <a:spcPts val="0"/>
              </a:spcBef>
              <a:buNone/>
            </a:pPr>
            <a:r>
              <a:rPr lang="en-US" altLang="zh-CN" sz="2400" b="1">
                <a:solidFill>
                  <a:srgbClr val="000000"/>
                </a:solidFill>
                <a:ea typeface="+mj-ea"/>
              </a:rPr>
              <a:t>void ExamInfo::show() {</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	cout &lt;&lt; name &lt;&lt; ": ";</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	switch (mode) {</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	  case GRADE: cout &lt;&lt; grade;  break;</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	  case PASS: cout &lt;&lt; (pass ? "PASS" : "FAIL"); break;</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	  case PERCENTAGE: cout &lt;&lt; percent; break;</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	}</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	cout &lt;&lt; endl;</a:t>
            </a:r>
            <a:endParaRPr lang="en-US" altLang="zh-CN" sz="2400" b="1">
              <a:solidFill>
                <a:srgbClr val="000000"/>
              </a:solidFill>
              <a:ea typeface="+mj-ea"/>
            </a:endParaRPr>
          </a:p>
          <a:p>
            <a:pPr marL="0" indent="0">
              <a:spcBef>
                <a:spcPts val="0"/>
              </a:spcBef>
              <a:buNone/>
            </a:pPr>
            <a:r>
              <a:rPr lang="en-US" altLang="zh-CN" sz="2400" b="1">
                <a:solidFill>
                  <a:srgbClr val="000000"/>
                </a:solidFill>
                <a:ea typeface="+mj-ea"/>
              </a:rPr>
              <a:t>}</a:t>
            </a:r>
            <a:endParaRPr lang="zh-CN" altLang="en-US" sz="2400" b="1">
              <a:solidFill>
                <a:srgbClr val="000000"/>
              </a:solidFill>
              <a:ea typeface="+mj-ea"/>
            </a:endParaRPr>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xfrm>
            <a:off x="467544" y="260648"/>
            <a:ext cx="7886700" cy="1325563"/>
          </a:xfrm>
        </p:spPr>
        <p:txBody>
          <a:bodyPr/>
          <a:lstStyle/>
          <a:p>
            <a:pPr eaLnBrk="1" hangingPunct="1"/>
            <a:r>
              <a:rPr lang="zh-CN" altLang="en-US" sz="3200" b="1" smtClean="0"/>
              <a:t>例</a:t>
            </a:r>
            <a:r>
              <a:rPr lang="en-US" altLang="zh-CN" sz="3200" b="1" smtClean="0"/>
              <a:t>4-8</a:t>
            </a:r>
            <a:r>
              <a:rPr lang="zh-CN" altLang="en-US" sz="3200" b="1" smtClean="0"/>
              <a:t>（续）</a:t>
            </a:r>
            <a:endParaRPr lang="zh-CN" altLang="en-US" sz="3200" b="1" smtClean="0"/>
          </a:p>
        </p:txBody>
      </p:sp>
      <p:sp>
        <p:nvSpPr>
          <p:cNvPr id="83971" name="内容占位符 2"/>
          <p:cNvSpPr>
            <a:spLocks noGrp="1"/>
          </p:cNvSpPr>
          <p:nvPr>
            <p:ph idx="1"/>
          </p:nvPr>
        </p:nvSpPr>
        <p:spPr>
          <a:xfrm>
            <a:off x="539552" y="1196752"/>
            <a:ext cx="8229600" cy="3528392"/>
          </a:xfrm>
          <a:solidFill>
            <a:schemeClr val="tx1"/>
          </a:solidFill>
        </p:spPr>
        <p:txBody>
          <a:bodyPr/>
          <a:lstStyle/>
          <a:p>
            <a:pPr marL="0" indent="0">
              <a:spcBef>
                <a:spcPts val="0"/>
              </a:spcBef>
              <a:buNone/>
            </a:pPr>
            <a:r>
              <a:rPr lang="en-US" altLang="zh-CN" sz="2400" b="1" dirty="0" err="1">
                <a:solidFill>
                  <a:srgbClr val="000000"/>
                </a:solidFill>
                <a:ea typeface="+mj-ea"/>
              </a:rPr>
              <a:t>int</a:t>
            </a:r>
            <a:r>
              <a:rPr lang="en-US" altLang="zh-CN" sz="2400" b="1" dirty="0">
                <a:solidFill>
                  <a:srgbClr val="000000"/>
                </a:solidFill>
                <a:ea typeface="+mj-ea"/>
              </a:rPr>
              <a:t> main() {</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ExamInfo</a:t>
            </a:r>
            <a:r>
              <a:rPr lang="en-US" altLang="zh-CN" sz="2400" b="1" dirty="0">
                <a:solidFill>
                  <a:srgbClr val="000000"/>
                </a:solidFill>
                <a:ea typeface="+mj-ea"/>
              </a:rPr>
              <a:t> course1("English", 'B');</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ExamInfo</a:t>
            </a:r>
            <a:r>
              <a:rPr lang="en-US" altLang="zh-CN" sz="2400" b="1" dirty="0">
                <a:solidFill>
                  <a:srgbClr val="000000"/>
                </a:solidFill>
                <a:ea typeface="+mj-ea"/>
              </a:rPr>
              <a:t> course2("Calculus", true);</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a:t>
            </a:r>
            <a:r>
              <a:rPr lang="en-US" altLang="zh-CN" sz="2400" b="1" dirty="0" err="1">
                <a:solidFill>
                  <a:srgbClr val="000000"/>
                </a:solidFill>
                <a:ea typeface="+mj-ea"/>
              </a:rPr>
              <a:t>ExamInfo</a:t>
            </a:r>
            <a:r>
              <a:rPr lang="en-US" altLang="zh-CN" sz="2400" b="1" dirty="0">
                <a:solidFill>
                  <a:srgbClr val="000000"/>
                </a:solidFill>
                <a:ea typeface="+mj-ea"/>
              </a:rPr>
              <a:t> course3("C++ Programming", 85);</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course1.show();</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course2.show();</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course3.show();</a:t>
            </a:r>
            <a:endParaRPr lang="en-US" altLang="zh-CN" sz="2400" b="1" dirty="0">
              <a:solidFill>
                <a:srgbClr val="000000"/>
              </a:solidFill>
              <a:ea typeface="+mj-ea"/>
            </a:endParaRPr>
          </a:p>
          <a:p>
            <a:pPr marL="0" indent="0">
              <a:spcBef>
                <a:spcPts val="0"/>
              </a:spcBef>
              <a:buNone/>
            </a:pPr>
            <a:r>
              <a:rPr lang="en-US" altLang="zh-CN" sz="2400" b="1" dirty="0">
                <a:solidFill>
                  <a:srgbClr val="000000"/>
                </a:solidFill>
                <a:ea typeface="+mj-ea"/>
              </a:rPr>
              <a:t>	return 0;</a:t>
            </a:r>
            <a:endParaRPr lang="en-US" altLang="zh-CN" sz="2400" b="1" dirty="0">
              <a:solidFill>
                <a:srgbClr val="000000"/>
              </a:solidFill>
              <a:ea typeface="+mj-ea"/>
            </a:endParaRPr>
          </a:p>
          <a:p>
            <a:pPr marL="0" indent="0">
              <a:spcBef>
                <a:spcPts val="0"/>
              </a:spcBef>
              <a:buNone/>
            </a:pPr>
            <a:r>
              <a:rPr lang="en-US" altLang="zh-CN" sz="2400" b="1" dirty="0" smtClean="0">
                <a:solidFill>
                  <a:srgbClr val="000000"/>
                </a:solidFill>
                <a:ea typeface="+mj-ea"/>
              </a:rPr>
              <a:t>}</a:t>
            </a:r>
            <a:endParaRPr lang="en-US" altLang="zh-CN" sz="2400" b="1" dirty="0">
              <a:solidFill>
                <a:srgbClr val="000000"/>
              </a:solidFill>
              <a:ea typeface="+mj-ea"/>
            </a:endParaRPr>
          </a:p>
        </p:txBody>
      </p:sp>
      <p:sp>
        <p:nvSpPr>
          <p:cNvPr id="6" name="内容占位符 2"/>
          <p:cNvSpPr txBox="1"/>
          <p:nvPr/>
        </p:nvSpPr>
        <p:spPr>
          <a:xfrm>
            <a:off x="539552" y="4725144"/>
            <a:ext cx="8229600" cy="1584176"/>
          </a:xfrm>
          <a:prstGeom prst="rect">
            <a:avLst/>
          </a:prstGeom>
          <a:solidFill>
            <a:srgbClr val="000000"/>
          </a:solidFill>
        </p:spPr>
        <p:txBody>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Monotype Sorts" pitchFamily="2" charset="2"/>
              <a:buNone/>
            </a:pPr>
            <a:r>
              <a:rPr lang="zh-CN" altLang="en-US" sz="2400" b="1" dirty="0" smtClean="0">
                <a:ea typeface="+mj-ea"/>
              </a:rPr>
              <a:t>运行结果：</a:t>
            </a:r>
            <a:endParaRPr lang="en-US" altLang="zh-CN" sz="2400" b="1" dirty="0" smtClean="0">
              <a:ea typeface="+mj-ea"/>
            </a:endParaRPr>
          </a:p>
          <a:p>
            <a:pPr marL="0" indent="0">
              <a:spcBef>
                <a:spcPts val="0"/>
              </a:spcBef>
              <a:buFont typeface="Monotype Sorts" pitchFamily="2" charset="2"/>
              <a:buNone/>
            </a:pPr>
            <a:r>
              <a:rPr lang="en-US" altLang="zh-CN" sz="2400" b="1" dirty="0" smtClean="0">
                <a:ea typeface="+mj-ea"/>
              </a:rPr>
              <a:t>English: B</a:t>
            </a:r>
            <a:endParaRPr lang="en-US" altLang="zh-CN" sz="2400" b="1" dirty="0" smtClean="0">
              <a:ea typeface="+mj-ea"/>
            </a:endParaRPr>
          </a:p>
          <a:p>
            <a:pPr marL="0" indent="0">
              <a:spcBef>
                <a:spcPts val="0"/>
              </a:spcBef>
              <a:buFont typeface="Monotype Sorts" pitchFamily="2" charset="2"/>
              <a:buNone/>
            </a:pPr>
            <a:r>
              <a:rPr lang="en-US" altLang="zh-CN" sz="2400" b="1" dirty="0" smtClean="0">
                <a:ea typeface="+mj-ea"/>
              </a:rPr>
              <a:t>Calculus: PASS</a:t>
            </a:r>
            <a:endParaRPr lang="en-US" altLang="zh-CN" sz="2400" b="1" dirty="0" smtClean="0">
              <a:ea typeface="+mj-ea"/>
            </a:endParaRPr>
          </a:p>
          <a:p>
            <a:pPr marL="0" indent="0">
              <a:spcBef>
                <a:spcPts val="0"/>
              </a:spcBef>
              <a:buFont typeface="Monotype Sorts" pitchFamily="2" charset="2"/>
              <a:buNone/>
            </a:pPr>
            <a:r>
              <a:rPr lang="en-US" altLang="zh-CN" sz="2400" b="1" dirty="0" smtClean="0">
                <a:ea typeface="+mj-ea"/>
              </a:rPr>
              <a:t>C++ Programming: 85</a:t>
            </a:r>
            <a:endParaRPr lang="en-US" altLang="zh-CN" sz="2400" b="1" dirty="0">
              <a:ea typeface="+mj-ea"/>
            </a:endParaRP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556792"/>
            <a:ext cx="7886700" cy="1997575"/>
          </a:xfrm>
        </p:spPr>
        <p:txBody>
          <a:bodyPr/>
          <a:lstStyle/>
          <a:p>
            <a:pPr marL="1371600" indent="-1371600" algn="ctr">
              <a:buFont typeface="+mj-lt"/>
              <a:buAutoNum type="arabicPeriod" startAt="7"/>
            </a:pPr>
            <a:r>
              <a:rPr lang="zh-CN" altLang="en-US" sz="8800" b="1" dirty="0" smtClean="0">
                <a:ea typeface="华文彩云" panose="02010800040101010101" pitchFamily="2" charset="-122"/>
              </a:rPr>
              <a:t>枚举</a:t>
            </a:r>
            <a:r>
              <a:rPr lang="zh-CN" altLang="en-US" sz="8800" b="1" dirty="0">
                <a:ea typeface="华文彩云" panose="02010800040101010101" pitchFamily="2" charset="-122"/>
              </a:rPr>
              <a:t>类型</a:t>
            </a:r>
            <a:endParaRPr lang="zh-CN" altLang="en-US" sz="8800" b="1" dirty="0">
              <a:ea typeface="华文彩云" panose="02010800040101010101" pitchFamily="2" charset="-122"/>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枚举类型</a:t>
            </a:r>
            <a:endParaRPr lang="zh-CN" altLang="en-US" b="1" dirty="0">
              <a:latin typeface="微软雅黑" panose="020B0503020204020204" pitchFamily="34" charset="-122"/>
              <a:ea typeface="微软雅黑" panose="020B0503020204020204" pitchFamily="34" charset="-122"/>
            </a:endParaRPr>
          </a:p>
        </p:txBody>
      </p:sp>
      <p:sp>
        <p:nvSpPr>
          <p:cNvPr id="147459" name="内容占位符 2"/>
          <p:cNvSpPr>
            <a:spLocks noGrp="1"/>
          </p:cNvSpPr>
          <p:nvPr>
            <p:ph idx="1"/>
          </p:nvPr>
        </p:nvSpPr>
        <p:spPr>
          <a:xfrm>
            <a:off x="628650" y="1556792"/>
            <a:ext cx="7886700" cy="4351338"/>
          </a:xfrm>
        </p:spPr>
        <p:txBody>
          <a:bodyPr/>
          <a:lstStyle/>
          <a:p>
            <a:r>
              <a:rPr lang="zh-CN" altLang="en-US" sz="2400" b="1" dirty="0">
                <a:latin typeface="微软雅黑" panose="020B0503020204020204" pitchFamily="34" charset="-122"/>
                <a:ea typeface="微软雅黑" panose="020B0503020204020204" pitchFamily="34" charset="-122"/>
              </a:rPr>
              <a:t>只要将需要</a:t>
            </a:r>
            <a:r>
              <a:rPr lang="zh-CN" altLang="en-US" sz="2400" b="1" dirty="0" smtClean="0">
                <a:latin typeface="微软雅黑" panose="020B0503020204020204" pitchFamily="34" charset="-122"/>
                <a:ea typeface="微软雅黑" panose="020B0503020204020204" pitchFamily="34" charset="-122"/>
              </a:rPr>
              <a:t>的</a:t>
            </a:r>
            <a:r>
              <a:rPr lang="zh-CN" altLang="en-US" sz="2400" b="1" dirty="0">
                <a:latin typeface="微软雅黑" panose="020B0503020204020204" pitchFamily="34" charset="-122"/>
                <a:ea typeface="微软雅黑" panose="020B0503020204020204" pitchFamily="34" charset="-122"/>
              </a:rPr>
              <a:t>枚举</a:t>
            </a:r>
            <a:r>
              <a:rPr lang="zh-CN" altLang="en-US" sz="2400" b="1" dirty="0" smtClean="0">
                <a:latin typeface="微软雅黑" panose="020B0503020204020204" pitchFamily="34" charset="-122"/>
                <a:ea typeface="微软雅黑" panose="020B0503020204020204" pitchFamily="34" charset="-122"/>
              </a:rPr>
              <a:t>元素值（变量值）一一列举</a:t>
            </a:r>
            <a:r>
              <a:rPr lang="zh-CN" altLang="en-US" sz="2400" b="1" dirty="0">
                <a:latin typeface="微软雅黑" panose="020B0503020204020204" pitchFamily="34" charset="-122"/>
                <a:ea typeface="微软雅黑" panose="020B0503020204020204" pitchFamily="34" charset="-122"/>
              </a:rPr>
              <a:t>出来，便构成了一个枚举类型。</a:t>
            </a:r>
            <a:endParaRPr lang="zh-CN" altLang="en-US" sz="2400" b="1" dirty="0">
              <a:latin typeface="微软雅黑" panose="020B0503020204020204" pitchFamily="34" charset="-122"/>
              <a:ea typeface="微软雅黑" panose="020B0503020204020204" pitchFamily="34" charset="-122"/>
            </a:endParaRPr>
          </a:p>
          <a:p>
            <a:r>
              <a:rPr lang="en-US" altLang="zh-CN" sz="2400" b="1" dirty="0">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包含两种枚举类型：不限定作用域的枚举类型和限定作用域的枚举类。</a:t>
            </a:r>
            <a:endParaRPr lang="zh-CN" altLang="en-US"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不限定作用域枚举类型声明形式如下：</a:t>
            </a:r>
            <a:endParaRPr lang="zh-CN" altLang="en-US" sz="2400" b="1" dirty="0">
              <a:latin typeface="微软雅黑" panose="020B0503020204020204" pitchFamily="34" charset="-122"/>
              <a:ea typeface="微软雅黑" panose="020B0503020204020204" pitchFamily="34" charset="-122"/>
            </a:endParaRPr>
          </a:p>
          <a:p>
            <a:pPr lvl="1"/>
            <a:r>
              <a:rPr lang="en-US" altLang="zh-CN" sz="2400" b="1" dirty="0" err="1">
                <a:latin typeface="微软雅黑" panose="020B0503020204020204" pitchFamily="34" charset="-122"/>
                <a:ea typeface="微软雅黑" panose="020B0503020204020204" pitchFamily="34" charset="-122"/>
              </a:rPr>
              <a:t>enum</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枚举类型名  </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枚举元素值（变量值）列表</a:t>
            </a:r>
            <a:r>
              <a:rPr lang="en-US" altLang="zh-CN"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lvl="1"/>
            <a:r>
              <a:rPr lang="zh-CN" altLang="en-US" sz="2400" b="1" dirty="0">
                <a:latin typeface="微软雅黑" panose="020B0503020204020204" pitchFamily="34" charset="-122"/>
                <a:ea typeface="微软雅黑" panose="020B0503020204020204" pitchFamily="34" charset="-122"/>
              </a:rPr>
              <a:t>例如：</a:t>
            </a:r>
            <a:endParaRPr lang="zh-CN" altLang="en-US" sz="2400" b="1" dirty="0">
              <a:latin typeface="微软雅黑" panose="020B0503020204020204" pitchFamily="34" charset="-122"/>
              <a:ea typeface="微软雅黑" panose="020B0503020204020204" pitchFamily="34" charset="-122"/>
            </a:endParaRPr>
          </a:p>
          <a:p>
            <a:pPr marL="914400" lvl="2" indent="0">
              <a:buNone/>
            </a:pPr>
            <a:r>
              <a:rPr lang="en-US" altLang="zh-CN" b="1" dirty="0" err="1">
                <a:solidFill>
                  <a:srgbClr val="FFFF00"/>
                </a:solidFill>
                <a:latin typeface="微软雅黑" panose="020B0503020204020204" pitchFamily="34" charset="-122"/>
                <a:ea typeface="微软雅黑" panose="020B0503020204020204" pitchFamily="34" charset="-122"/>
              </a:rPr>
              <a:t>enum</a:t>
            </a:r>
            <a:r>
              <a:rPr lang="en-US" altLang="zh-CN" b="1" dirty="0">
                <a:solidFill>
                  <a:srgbClr val="FFFF00"/>
                </a:solidFill>
                <a:latin typeface="微软雅黑" panose="020B0503020204020204" pitchFamily="34" charset="-122"/>
                <a:ea typeface="微软雅黑" panose="020B0503020204020204" pitchFamily="34" charset="-122"/>
              </a:rPr>
              <a:t> Weekday</a:t>
            </a:r>
            <a:endParaRPr lang="en-US" altLang="zh-CN" b="1" dirty="0">
              <a:solidFill>
                <a:srgbClr val="FFFF00"/>
              </a:solidFill>
              <a:latin typeface="微软雅黑" panose="020B0503020204020204" pitchFamily="34" charset="-122"/>
              <a:ea typeface="微软雅黑" panose="020B0503020204020204" pitchFamily="34" charset="-122"/>
            </a:endParaRPr>
          </a:p>
          <a:p>
            <a:pPr marL="914400" lvl="2" indent="0">
              <a:buNone/>
            </a:pPr>
            <a:r>
              <a:rPr lang="en-US" altLang="zh-CN" b="1" dirty="0">
                <a:solidFill>
                  <a:srgbClr val="FFFF00"/>
                </a:solidFill>
                <a:latin typeface="微软雅黑" panose="020B0503020204020204" pitchFamily="34" charset="-122"/>
                <a:ea typeface="微软雅黑" panose="020B0503020204020204" pitchFamily="34" charset="-122"/>
              </a:rPr>
              <a:t>{SUN, MON, TUE, WED, THU, FRI, SAT};</a:t>
            </a:r>
            <a:endParaRPr lang="en-US" altLang="zh-CN" b="1" dirty="0">
              <a:solidFill>
                <a:srgbClr val="FFFF00"/>
              </a:solidFill>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关于限定作用域的</a:t>
            </a:r>
            <a:r>
              <a:rPr lang="en-US" altLang="zh-CN" sz="2400" b="1" dirty="0" err="1">
                <a:latin typeface="微软雅黑" panose="020B0503020204020204" pitchFamily="34" charset="-122"/>
                <a:ea typeface="微软雅黑" panose="020B0503020204020204" pitchFamily="34" charset="-122"/>
              </a:rPr>
              <a:t>enum</a:t>
            </a:r>
            <a:r>
              <a:rPr lang="zh-CN" altLang="en-US" sz="2400" b="1" dirty="0">
                <a:latin typeface="微软雅黑" panose="020B0503020204020204" pitchFamily="34" charset="-122"/>
                <a:ea typeface="微软雅黑" panose="020B0503020204020204" pitchFamily="34" charset="-122"/>
              </a:rPr>
              <a:t>类将在第</a:t>
            </a:r>
            <a:r>
              <a:rPr lang="en-US" altLang="zh-CN" sz="2400" b="1" dirty="0">
                <a:latin typeface="微软雅黑" panose="020B0503020204020204" pitchFamily="34" charset="-122"/>
                <a:ea typeface="微软雅黑" panose="020B0503020204020204" pitchFamily="34" charset="-122"/>
              </a:rPr>
              <a:t>4</a:t>
            </a:r>
            <a:r>
              <a:rPr lang="zh-CN" altLang="en-US" sz="2400" b="1" dirty="0">
                <a:latin typeface="微软雅黑" panose="020B0503020204020204" pitchFamily="34" charset="-122"/>
                <a:ea typeface="微软雅黑" panose="020B0503020204020204" pitchFamily="34" charset="-122"/>
              </a:rPr>
              <a:t>章和第</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章详细介绍。</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1000" fill="hold"/>
                                        <p:tgtEl>
                                          <p:spTgt spid="14745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47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7459">
                                            <p:txEl>
                                              <p:pRg st="1" end="1"/>
                                            </p:txEl>
                                          </p:spTgt>
                                        </p:tgtEl>
                                        <p:attrNameLst>
                                          <p:attrName>style.visibility</p:attrName>
                                        </p:attrNameLst>
                                      </p:cBhvr>
                                      <p:to>
                                        <p:strVal val="visible"/>
                                      </p:to>
                                    </p:set>
                                    <p:anim calcmode="lin" valueType="num">
                                      <p:cBhvr additive="base">
                                        <p:cTn id="13" dur="1000" fill="hold"/>
                                        <p:tgtEl>
                                          <p:spTgt spid="147459">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47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7459">
                                            <p:txEl>
                                              <p:pRg st="2" end="2"/>
                                            </p:txEl>
                                          </p:spTgt>
                                        </p:tgtEl>
                                        <p:attrNameLst>
                                          <p:attrName>style.visibility</p:attrName>
                                        </p:attrNameLst>
                                      </p:cBhvr>
                                      <p:to>
                                        <p:strVal val="visible"/>
                                      </p:to>
                                    </p:set>
                                    <p:anim calcmode="lin" valueType="num">
                                      <p:cBhvr additive="base">
                                        <p:cTn id="19" dur="1000" fill="hold"/>
                                        <p:tgtEl>
                                          <p:spTgt spid="147459">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47459">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47459">
                                            <p:txEl>
                                              <p:pRg st="3" end="3"/>
                                            </p:txEl>
                                          </p:spTgt>
                                        </p:tgtEl>
                                        <p:attrNameLst>
                                          <p:attrName>style.visibility</p:attrName>
                                        </p:attrNameLst>
                                      </p:cBhvr>
                                      <p:to>
                                        <p:strVal val="visible"/>
                                      </p:to>
                                    </p:set>
                                    <p:anim calcmode="lin" valueType="num">
                                      <p:cBhvr additive="base">
                                        <p:cTn id="23" dur="1000" fill="hold"/>
                                        <p:tgtEl>
                                          <p:spTgt spid="147459">
                                            <p:txEl>
                                              <p:pRg st="3" end="3"/>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1474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47459">
                                            <p:txEl>
                                              <p:pRg st="4" end="4"/>
                                            </p:txEl>
                                          </p:spTgt>
                                        </p:tgtEl>
                                        <p:attrNameLst>
                                          <p:attrName>style.visibility</p:attrName>
                                        </p:attrNameLst>
                                      </p:cBhvr>
                                      <p:to>
                                        <p:strVal val="visible"/>
                                      </p:to>
                                    </p:set>
                                    <p:anim calcmode="lin" valueType="num">
                                      <p:cBhvr additive="base">
                                        <p:cTn id="29" dur="1000" fill="hold"/>
                                        <p:tgtEl>
                                          <p:spTgt spid="147459">
                                            <p:txEl>
                                              <p:pRg st="4" end="4"/>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147459">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47459">
                                            <p:txEl>
                                              <p:pRg st="5" end="5"/>
                                            </p:txEl>
                                          </p:spTgt>
                                        </p:tgtEl>
                                        <p:attrNameLst>
                                          <p:attrName>style.visibility</p:attrName>
                                        </p:attrNameLst>
                                      </p:cBhvr>
                                      <p:to>
                                        <p:strVal val="visible"/>
                                      </p:to>
                                    </p:set>
                                    <p:anim calcmode="lin" valueType="num">
                                      <p:cBhvr additive="base">
                                        <p:cTn id="33" dur="1000" fill="hold"/>
                                        <p:tgtEl>
                                          <p:spTgt spid="147459">
                                            <p:txEl>
                                              <p:pRg st="5" end="5"/>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147459">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8" fill="hold" nodeType="withEffect">
                                  <p:stCondLst>
                                    <p:cond delay="0"/>
                                  </p:stCondLst>
                                  <p:childTnLst>
                                    <p:set>
                                      <p:cBhvr>
                                        <p:cTn id="36" dur="1" fill="hold">
                                          <p:stCondLst>
                                            <p:cond delay="0"/>
                                          </p:stCondLst>
                                        </p:cTn>
                                        <p:tgtEl>
                                          <p:spTgt spid="147459">
                                            <p:txEl>
                                              <p:pRg st="6" end="6"/>
                                            </p:txEl>
                                          </p:spTgt>
                                        </p:tgtEl>
                                        <p:attrNameLst>
                                          <p:attrName>style.visibility</p:attrName>
                                        </p:attrNameLst>
                                      </p:cBhvr>
                                      <p:to>
                                        <p:strVal val="visible"/>
                                      </p:to>
                                    </p:set>
                                    <p:anim calcmode="lin" valueType="num">
                                      <p:cBhvr additive="base">
                                        <p:cTn id="37" dur="1000" fill="hold"/>
                                        <p:tgtEl>
                                          <p:spTgt spid="147459">
                                            <p:txEl>
                                              <p:pRg st="6" end="6"/>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147459">
                                            <p:txEl>
                                              <p:pRg st="6" end="6"/>
                                            </p:txEl>
                                          </p:spTgt>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147459">
                                            <p:txEl>
                                              <p:pRg st="7" end="7"/>
                                            </p:txEl>
                                          </p:spTgt>
                                        </p:tgtEl>
                                        <p:attrNameLst>
                                          <p:attrName>style.visibility</p:attrName>
                                        </p:attrNameLst>
                                      </p:cBhvr>
                                      <p:to>
                                        <p:strVal val="visible"/>
                                      </p:to>
                                    </p:set>
                                    <p:anim calcmode="lin" valueType="num">
                                      <p:cBhvr additive="base">
                                        <p:cTn id="41" dur="1000" fill="hold"/>
                                        <p:tgtEl>
                                          <p:spTgt spid="147459">
                                            <p:txEl>
                                              <p:pRg st="7" end="7"/>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14745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不限定作用域枚举类型说明</a:t>
            </a:r>
            <a:endParaRPr lang="zh-CN" altLang="en-US" b="1" dirty="0">
              <a:latin typeface="微软雅黑" panose="020B0503020204020204" pitchFamily="34" charset="-122"/>
              <a:ea typeface="微软雅黑" panose="020B0503020204020204" pitchFamily="34" charset="-122"/>
            </a:endParaRPr>
          </a:p>
        </p:txBody>
      </p:sp>
      <p:sp>
        <p:nvSpPr>
          <p:cNvPr id="148483" name="内容占位符 2"/>
          <p:cNvSpPr>
            <a:spLocks noGrp="1"/>
          </p:cNvSpPr>
          <p:nvPr>
            <p:ph idx="1"/>
          </p:nvPr>
        </p:nvSpPr>
        <p:spPr/>
        <p:txBody>
          <a:bodyPr/>
          <a:lstStyle/>
          <a:p>
            <a:r>
              <a:rPr lang="zh-CN" altLang="en-US" sz="1950" b="1" dirty="0">
                <a:latin typeface="微软雅黑" panose="020B0503020204020204" pitchFamily="34" charset="-122"/>
                <a:ea typeface="微软雅黑" panose="020B0503020204020204" pitchFamily="34" charset="-122"/>
              </a:rPr>
              <a:t>对枚举元素按常量处理，不能对它们赋值。例如，不能写：</a:t>
            </a:r>
            <a:r>
              <a:rPr lang="en-US" altLang="zh-CN" sz="1950" b="1" dirty="0">
                <a:latin typeface="微软雅黑" panose="020B0503020204020204" pitchFamily="34" charset="-122"/>
                <a:ea typeface="微软雅黑" panose="020B0503020204020204" pitchFamily="34" charset="-122"/>
              </a:rPr>
              <a:t>SUN = 0;</a:t>
            </a:r>
            <a:endParaRPr lang="en-US" altLang="zh-CN" sz="1950" b="1" dirty="0">
              <a:latin typeface="微软雅黑" panose="020B0503020204020204" pitchFamily="34" charset="-122"/>
              <a:ea typeface="微软雅黑" panose="020B0503020204020204" pitchFamily="34" charset="-122"/>
            </a:endParaRPr>
          </a:p>
          <a:p>
            <a:r>
              <a:rPr lang="zh-CN" altLang="en-US" sz="1950" b="1" dirty="0">
                <a:latin typeface="微软雅黑" panose="020B0503020204020204" pitchFamily="34" charset="-122"/>
                <a:ea typeface="微软雅黑" panose="020B0503020204020204" pitchFamily="34" charset="-122"/>
              </a:rPr>
              <a:t>枚举元素具有默认值，它们依次为： </a:t>
            </a:r>
            <a:r>
              <a:rPr lang="en-US" altLang="zh-CN" sz="1950" b="1" dirty="0">
                <a:latin typeface="微软雅黑" panose="020B0503020204020204" pitchFamily="34" charset="-122"/>
                <a:ea typeface="微软雅黑" panose="020B0503020204020204" pitchFamily="34" charset="-122"/>
              </a:rPr>
              <a:t>0,1,2,......</a:t>
            </a:r>
            <a:r>
              <a:rPr lang="zh-CN" altLang="en-US" sz="1950" b="1" dirty="0">
                <a:latin typeface="微软雅黑" panose="020B0503020204020204" pitchFamily="34" charset="-122"/>
                <a:ea typeface="微软雅黑" panose="020B0503020204020204" pitchFamily="34" charset="-122"/>
              </a:rPr>
              <a:t>。</a:t>
            </a:r>
            <a:endParaRPr lang="zh-CN" altLang="en-US" sz="1950" b="1" dirty="0">
              <a:latin typeface="微软雅黑" panose="020B0503020204020204" pitchFamily="34" charset="-122"/>
              <a:ea typeface="微软雅黑" panose="020B0503020204020204" pitchFamily="34" charset="-122"/>
            </a:endParaRPr>
          </a:p>
          <a:p>
            <a:r>
              <a:rPr lang="zh-CN" altLang="en-US" sz="1950" b="1" dirty="0">
                <a:latin typeface="微软雅黑" panose="020B0503020204020204" pitchFamily="34" charset="-122"/>
                <a:ea typeface="微软雅黑" panose="020B0503020204020204" pitchFamily="34" charset="-122"/>
              </a:rPr>
              <a:t>也可以在声明时另行指定枚举元素的值，如：</a:t>
            </a:r>
            <a:endParaRPr lang="zh-CN" altLang="en-US" sz="1950" b="1" dirty="0">
              <a:latin typeface="微软雅黑" panose="020B0503020204020204" pitchFamily="34" charset="-122"/>
              <a:ea typeface="微软雅黑" panose="020B0503020204020204" pitchFamily="34" charset="-122"/>
            </a:endParaRPr>
          </a:p>
          <a:p>
            <a:pPr lvl="1"/>
            <a:r>
              <a:rPr lang="en-US" altLang="zh-CN" sz="1800" b="1" dirty="0" err="1">
                <a:latin typeface="微软雅黑" panose="020B0503020204020204" pitchFamily="34" charset="-122"/>
                <a:ea typeface="微软雅黑" panose="020B0503020204020204" pitchFamily="34" charset="-122"/>
              </a:rPr>
              <a:t>enum</a:t>
            </a:r>
            <a:r>
              <a:rPr lang="en-US" altLang="zh-CN" sz="1800" b="1" dirty="0">
                <a:latin typeface="微软雅黑" panose="020B0503020204020204" pitchFamily="34" charset="-122"/>
                <a:ea typeface="微软雅黑" panose="020B0503020204020204" pitchFamily="34" charset="-122"/>
              </a:rPr>
              <a:t> Weekday{SUN=7,MON=1,TUE,WED, THU,FRI,SAT};</a:t>
            </a:r>
            <a:endParaRPr lang="en-US" altLang="zh-CN" sz="1800" b="1" dirty="0">
              <a:latin typeface="微软雅黑" panose="020B0503020204020204" pitchFamily="34" charset="-122"/>
              <a:ea typeface="微软雅黑" panose="020B0503020204020204" pitchFamily="34" charset="-122"/>
            </a:endParaRPr>
          </a:p>
          <a:p>
            <a:r>
              <a:rPr lang="zh-CN" altLang="en-US" sz="1950" b="1" dirty="0">
                <a:latin typeface="微软雅黑" panose="020B0503020204020204" pitchFamily="34" charset="-122"/>
                <a:ea typeface="微软雅黑" panose="020B0503020204020204" pitchFamily="34" charset="-122"/>
              </a:rPr>
              <a:t>枚举值可以进行关系运算。</a:t>
            </a:r>
            <a:endParaRPr lang="zh-CN" altLang="en-US" sz="1950" b="1" dirty="0">
              <a:latin typeface="微软雅黑" panose="020B0503020204020204" pitchFamily="34" charset="-122"/>
              <a:ea typeface="微软雅黑" panose="020B0503020204020204" pitchFamily="34" charset="-122"/>
            </a:endParaRPr>
          </a:p>
          <a:p>
            <a:r>
              <a:rPr lang="zh-CN" altLang="en-US" sz="1950" b="1" dirty="0">
                <a:latin typeface="微软雅黑" panose="020B0503020204020204" pitchFamily="34" charset="-122"/>
                <a:ea typeface="微软雅黑" panose="020B0503020204020204" pitchFamily="34" charset="-122"/>
              </a:rPr>
              <a:t>整数值不能直接赋给枚举变量，如需要将整数赋值给枚举变量，应进行</a:t>
            </a:r>
            <a:r>
              <a:rPr lang="zh-CN" altLang="en-US" sz="1950" b="1" dirty="0" smtClean="0">
                <a:latin typeface="微软雅黑" panose="020B0503020204020204" pitchFamily="34" charset="-122"/>
                <a:ea typeface="微软雅黑" panose="020B0503020204020204" pitchFamily="34" charset="-122"/>
              </a:rPr>
              <a:t>强制</a:t>
            </a:r>
            <a:r>
              <a:rPr lang="zh-CN" altLang="en-US" sz="1950" b="1" dirty="0">
                <a:latin typeface="微软雅黑" panose="020B0503020204020204" pitchFamily="34" charset="-122"/>
                <a:ea typeface="微软雅黑" panose="020B0503020204020204" pitchFamily="34" charset="-122"/>
              </a:rPr>
              <a:t>类型转换。</a:t>
            </a:r>
            <a:endParaRPr lang="zh-CN" altLang="en-US" sz="195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 calcmode="lin" valueType="num">
                                      <p:cBhvr additive="base">
                                        <p:cTn id="7" dur="1000" fill="hold"/>
                                        <p:tgtEl>
                                          <p:spTgt spid="14848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48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8483">
                                            <p:txEl>
                                              <p:pRg st="1" end="1"/>
                                            </p:txEl>
                                          </p:spTgt>
                                        </p:tgtEl>
                                        <p:attrNameLst>
                                          <p:attrName>style.visibility</p:attrName>
                                        </p:attrNameLst>
                                      </p:cBhvr>
                                      <p:to>
                                        <p:strVal val="visible"/>
                                      </p:to>
                                    </p:set>
                                    <p:anim calcmode="lin" valueType="num">
                                      <p:cBhvr additive="base">
                                        <p:cTn id="13" dur="1000" fill="hold"/>
                                        <p:tgtEl>
                                          <p:spTgt spid="14848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48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8483">
                                            <p:txEl>
                                              <p:pRg st="2" end="2"/>
                                            </p:txEl>
                                          </p:spTgt>
                                        </p:tgtEl>
                                        <p:attrNameLst>
                                          <p:attrName>style.visibility</p:attrName>
                                        </p:attrNameLst>
                                      </p:cBhvr>
                                      <p:to>
                                        <p:strVal val="visible"/>
                                      </p:to>
                                    </p:set>
                                    <p:anim calcmode="lin" valueType="num">
                                      <p:cBhvr additive="base">
                                        <p:cTn id="19" dur="1000" fill="hold"/>
                                        <p:tgtEl>
                                          <p:spTgt spid="14848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48483">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48483">
                                            <p:txEl>
                                              <p:pRg st="3" end="3"/>
                                            </p:txEl>
                                          </p:spTgt>
                                        </p:tgtEl>
                                        <p:attrNameLst>
                                          <p:attrName>style.visibility</p:attrName>
                                        </p:attrNameLst>
                                      </p:cBhvr>
                                      <p:to>
                                        <p:strVal val="visible"/>
                                      </p:to>
                                    </p:set>
                                    <p:anim calcmode="lin" valueType="num">
                                      <p:cBhvr additive="base">
                                        <p:cTn id="23" dur="1000" fill="hold"/>
                                        <p:tgtEl>
                                          <p:spTgt spid="148483">
                                            <p:txEl>
                                              <p:pRg st="3" end="3"/>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1484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48483">
                                            <p:txEl>
                                              <p:pRg st="4" end="4"/>
                                            </p:txEl>
                                          </p:spTgt>
                                        </p:tgtEl>
                                        <p:attrNameLst>
                                          <p:attrName>style.visibility</p:attrName>
                                        </p:attrNameLst>
                                      </p:cBhvr>
                                      <p:to>
                                        <p:strVal val="visible"/>
                                      </p:to>
                                    </p:set>
                                    <p:anim calcmode="lin" valueType="num">
                                      <p:cBhvr additive="base">
                                        <p:cTn id="29" dur="1000" fill="hold"/>
                                        <p:tgtEl>
                                          <p:spTgt spid="148483">
                                            <p:txEl>
                                              <p:pRg st="4" end="4"/>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1484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48483">
                                            <p:txEl>
                                              <p:pRg st="5" end="5"/>
                                            </p:txEl>
                                          </p:spTgt>
                                        </p:tgtEl>
                                        <p:attrNameLst>
                                          <p:attrName>style.visibility</p:attrName>
                                        </p:attrNameLst>
                                      </p:cBhvr>
                                      <p:to>
                                        <p:strVal val="visible"/>
                                      </p:to>
                                    </p:set>
                                    <p:anim calcmode="lin" valueType="num">
                                      <p:cBhvr additive="base">
                                        <p:cTn id="35" dur="1000" fill="hold"/>
                                        <p:tgtEl>
                                          <p:spTgt spid="148483">
                                            <p:txEl>
                                              <p:pRg st="5" end="5"/>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1484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例</a:t>
            </a:r>
            <a:r>
              <a:rPr lang="en-US" altLang="zh-CN" b="1" dirty="0">
                <a:latin typeface="微软雅黑" panose="020B0503020204020204" pitchFamily="34" charset="-122"/>
                <a:ea typeface="微软雅黑" panose="020B0503020204020204" pitchFamily="34" charset="-122"/>
              </a:rPr>
              <a:t>4-9</a:t>
            </a:r>
            <a:endParaRPr lang="zh-CN" altLang="en-US" b="1" dirty="0">
              <a:latin typeface="微软雅黑" panose="020B0503020204020204" pitchFamily="34" charset="-122"/>
              <a:ea typeface="微软雅黑" panose="020B0503020204020204" pitchFamily="34" charset="-122"/>
            </a:endParaRPr>
          </a:p>
        </p:txBody>
      </p:sp>
      <p:sp>
        <p:nvSpPr>
          <p:cNvPr id="149507" name="内容占位符 2"/>
          <p:cNvSpPr>
            <a:spLocks noGrp="1"/>
          </p:cNvSpPr>
          <p:nvPr>
            <p:ph idx="1"/>
          </p:nvPr>
        </p:nvSpPr>
        <p:spPr/>
        <p:txBody>
          <a:bodyPr/>
          <a:lstStyle/>
          <a:p>
            <a:pPr marL="0" indent="0">
              <a:buNone/>
            </a:pPr>
            <a:r>
              <a:rPr lang="zh-CN" altLang="en-US" b="1">
                <a:latin typeface="微软雅黑" panose="020B0503020204020204" pitchFamily="34" charset="-122"/>
                <a:ea typeface="微软雅黑" panose="020B0503020204020204" pitchFamily="34" charset="-122"/>
              </a:rPr>
              <a:t>设某次体育比赛的结果有四种可能：胜（</a:t>
            </a:r>
            <a:r>
              <a:rPr lang="en-US" altLang="zh-CN" b="1">
                <a:latin typeface="微软雅黑" panose="020B0503020204020204" pitchFamily="34" charset="-122"/>
                <a:ea typeface="微软雅黑" panose="020B0503020204020204" pitchFamily="34" charset="-122"/>
              </a:rPr>
              <a:t>WIN</a:t>
            </a:r>
            <a:r>
              <a:rPr lang="zh-CN" altLang="en-US" b="1">
                <a:latin typeface="微软雅黑" panose="020B0503020204020204" pitchFamily="34" charset="-122"/>
                <a:ea typeface="微软雅黑" panose="020B0503020204020204" pitchFamily="34" charset="-122"/>
              </a:rPr>
              <a:t>）、负（</a:t>
            </a:r>
            <a:r>
              <a:rPr lang="en-US" altLang="zh-CN" b="1">
                <a:latin typeface="微软雅黑" panose="020B0503020204020204" pitchFamily="34" charset="-122"/>
                <a:ea typeface="微软雅黑" panose="020B0503020204020204" pitchFamily="34" charset="-122"/>
              </a:rPr>
              <a:t>LOSE</a:t>
            </a:r>
            <a:r>
              <a:rPr lang="zh-CN" altLang="en-US" b="1">
                <a:latin typeface="微软雅黑" panose="020B0503020204020204" pitchFamily="34" charset="-122"/>
                <a:ea typeface="微软雅黑" panose="020B0503020204020204" pitchFamily="34" charset="-122"/>
              </a:rPr>
              <a:t>）、平局（</a:t>
            </a:r>
            <a:r>
              <a:rPr lang="en-US" altLang="zh-CN" b="1">
                <a:latin typeface="微软雅黑" panose="020B0503020204020204" pitchFamily="34" charset="-122"/>
                <a:ea typeface="微软雅黑" panose="020B0503020204020204" pitchFamily="34" charset="-122"/>
              </a:rPr>
              <a:t>TIE</a:t>
            </a:r>
            <a:r>
              <a:rPr lang="zh-CN" altLang="en-US" b="1">
                <a:latin typeface="微软雅黑" panose="020B0503020204020204" pitchFamily="34" charset="-122"/>
                <a:ea typeface="微软雅黑" panose="020B0503020204020204" pitchFamily="34" charset="-122"/>
              </a:rPr>
              <a:t>）、比赛取消（</a:t>
            </a:r>
            <a:r>
              <a:rPr lang="en-US" altLang="zh-CN" b="1">
                <a:latin typeface="微软雅黑" panose="020B0503020204020204" pitchFamily="34" charset="-122"/>
                <a:ea typeface="微软雅黑" panose="020B0503020204020204" pitchFamily="34" charset="-122"/>
              </a:rPr>
              <a:t>CANCEL</a:t>
            </a:r>
            <a:r>
              <a:rPr lang="zh-CN" altLang="en-US" b="1">
                <a:latin typeface="微软雅黑" panose="020B0503020204020204" pitchFamily="34" charset="-122"/>
                <a:ea typeface="微软雅黑" panose="020B0503020204020204" pitchFamily="34" charset="-122"/>
              </a:rPr>
              <a:t>），编写程序顺序输出这四种情况。</a:t>
            </a:r>
            <a:endParaRPr lang="en-US" altLang="zh-CN" b="1">
              <a:latin typeface="微软雅黑" panose="020B0503020204020204" pitchFamily="34" charset="-122"/>
              <a:ea typeface="微软雅黑" panose="020B0503020204020204" pitchFamily="34" charset="-122"/>
            </a:endParaRPr>
          </a:p>
          <a:p>
            <a:pPr marL="457200" lvl="1" indent="0">
              <a:buNone/>
            </a:pPr>
            <a:r>
              <a:rPr lang="zh-CN" altLang="en-US" b="1">
                <a:latin typeface="微软雅黑" panose="020B0503020204020204" pitchFamily="34" charset="-122"/>
                <a:ea typeface="微软雅黑" panose="020B0503020204020204" pitchFamily="34" charset="-122"/>
              </a:rPr>
              <a:t>分析：由于比赛结果只有四种可能，所以可以声明一个枚举类型，声明一个枚举类型的变量来存放比赛结果。</a:t>
            </a:r>
            <a:endParaRPr lang="zh-CN" altLang="en-US" b="1">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additive="base">
                                        <p:cTn id="7" dur="1000" fill="hold"/>
                                        <p:tgtEl>
                                          <p:spTgt spid="149507">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49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49507">
                                            <p:txEl>
                                              <p:pRg st="1" end="1"/>
                                            </p:txEl>
                                          </p:spTgt>
                                        </p:tgtEl>
                                        <p:attrNameLst>
                                          <p:attrName>style.visibility</p:attrName>
                                        </p:attrNameLst>
                                      </p:cBhvr>
                                      <p:to>
                                        <p:strVal val="visible"/>
                                      </p:to>
                                    </p:set>
                                    <p:anim calcmode="lin" valueType="num">
                                      <p:cBhvr additive="base">
                                        <p:cTn id="13" dur="1000" fill="hold"/>
                                        <p:tgtEl>
                                          <p:spTgt spid="149507">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4950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标题 1"/>
          <p:cNvSpPr>
            <a:spLocks noGrp="1"/>
          </p:cNvSpPr>
          <p:nvPr>
            <p:ph type="title"/>
          </p:nvPr>
        </p:nvSpPr>
        <p:spPr>
          <a:xfrm>
            <a:off x="717581" y="620688"/>
            <a:ext cx="6446095" cy="629937"/>
          </a:xfrm>
        </p:spPr>
        <p:txBody>
          <a:bodyPr/>
          <a:lstStyle/>
          <a:p>
            <a:pPr eaLnBrk="1" hangingPunct="1">
              <a:defRPr/>
            </a:pPr>
            <a:r>
              <a:rPr lang="zh-CN" altLang="en-US" dirty="0">
                <a:solidFill>
                  <a:srgbClr val="FFFF00"/>
                </a:solidFill>
                <a:latin typeface="微软雅黑" panose="020B0503020204020204" pitchFamily="34" charset="-122"/>
                <a:ea typeface="微软雅黑" panose="020B0503020204020204" pitchFamily="34" charset="-122"/>
              </a:rPr>
              <a:t>例</a:t>
            </a:r>
            <a:r>
              <a:rPr lang="en-US" altLang="zh-CN" dirty="0">
                <a:solidFill>
                  <a:srgbClr val="FFFF00"/>
                </a:solidFill>
                <a:latin typeface="微软雅黑" panose="020B0503020204020204" pitchFamily="34" charset="-122"/>
                <a:ea typeface="微软雅黑" panose="020B0503020204020204" pitchFamily="34" charset="-122"/>
              </a:rPr>
              <a:t>4-9</a:t>
            </a:r>
            <a:endParaRPr lang="zh-CN" altLang="en-US" dirty="0">
              <a:solidFill>
                <a:srgbClr val="FFFF00"/>
              </a:solidFill>
              <a:latin typeface="微软雅黑" panose="020B0503020204020204" pitchFamily="34" charset="-122"/>
              <a:ea typeface="微软雅黑" panose="020B0503020204020204" pitchFamily="34" charset="-122"/>
            </a:endParaRPr>
          </a:p>
        </p:txBody>
      </p:sp>
      <p:sp>
        <p:nvSpPr>
          <p:cNvPr id="121861" name="内容占位符 11"/>
          <p:cNvSpPr>
            <a:spLocks noGrp="1"/>
          </p:cNvSpPr>
          <p:nvPr>
            <p:ph idx="1"/>
          </p:nvPr>
        </p:nvSpPr>
        <p:spPr>
          <a:xfrm>
            <a:off x="738572" y="1647266"/>
            <a:ext cx="7126936" cy="4017313"/>
          </a:xfrm>
        </p:spPr>
        <p:txBody>
          <a:bodyPr/>
          <a:lstStyle/>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#include &lt;</a:t>
            </a:r>
            <a:r>
              <a:rPr lang="en-US" altLang="zh-CN" sz="1350" b="1" dirty="0" err="1">
                <a:latin typeface="微软雅黑" panose="020B0503020204020204" pitchFamily="34" charset="-122"/>
                <a:ea typeface="微软雅黑" panose="020B0503020204020204" pitchFamily="34" charset="-122"/>
              </a:rPr>
              <a:t>iostream</a:t>
            </a:r>
            <a:r>
              <a:rPr lang="en-US" altLang="zh-CN" sz="1350" b="1" dirty="0">
                <a:latin typeface="微软雅黑" panose="020B0503020204020204" pitchFamily="34" charset="-122"/>
                <a:ea typeface="微软雅黑" panose="020B0503020204020204" pitchFamily="34" charset="-122"/>
              </a:rPr>
              <a:t>&gt;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using namespace </a:t>
            </a:r>
            <a:r>
              <a:rPr lang="en-US" altLang="zh-CN" sz="1350" b="1" dirty="0" err="1">
                <a:latin typeface="微软雅黑" panose="020B0503020204020204" pitchFamily="34" charset="-122"/>
                <a:ea typeface="微软雅黑" panose="020B0503020204020204" pitchFamily="34" charset="-122"/>
              </a:rPr>
              <a:t>std</a:t>
            </a:r>
            <a:r>
              <a:rPr lang="en-US" altLang="zh-CN" sz="1350" b="1" dirty="0">
                <a:latin typeface="微软雅黑" panose="020B0503020204020204" pitchFamily="34" charset="-122"/>
                <a:ea typeface="微软雅黑" panose="020B0503020204020204" pitchFamily="34" charset="-122"/>
              </a:rPr>
              <a: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err="1">
                <a:solidFill>
                  <a:srgbClr val="FFFF00"/>
                </a:solidFill>
                <a:latin typeface="微软雅黑" panose="020B0503020204020204" pitchFamily="34" charset="-122"/>
                <a:ea typeface="微软雅黑" panose="020B0503020204020204" pitchFamily="34" charset="-122"/>
              </a:rPr>
              <a:t>enum</a:t>
            </a:r>
            <a:r>
              <a:rPr lang="en-US" altLang="zh-CN" sz="1350" b="1" dirty="0">
                <a:solidFill>
                  <a:srgbClr val="FFFF00"/>
                </a:solidFill>
                <a:latin typeface="微软雅黑" panose="020B0503020204020204" pitchFamily="34" charset="-122"/>
                <a:ea typeface="微软雅黑" panose="020B0503020204020204" pitchFamily="34" charset="-122"/>
              </a:rPr>
              <a:t> </a:t>
            </a:r>
            <a:r>
              <a:rPr lang="en-US" altLang="zh-CN" sz="1350" b="1" dirty="0" err="1">
                <a:solidFill>
                  <a:srgbClr val="FFFF00"/>
                </a:solidFill>
                <a:latin typeface="微软雅黑" panose="020B0503020204020204" pitchFamily="34" charset="-122"/>
                <a:ea typeface="微软雅黑" panose="020B0503020204020204" pitchFamily="34" charset="-122"/>
              </a:rPr>
              <a:t>GameResult</a:t>
            </a:r>
            <a:r>
              <a:rPr lang="en-US" altLang="zh-CN" sz="1350" b="1" dirty="0">
                <a:solidFill>
                  <a:srgbClr val="FFFF00"/>
                </a:solidFill>
                <a:latin typeface="微软雅黑" panose="020B0503020204020204" pitchFamily="34" charset="-122"/>
                <a:ea typeface="微软雅黑" panose="020B0503020204020204" pitchFamily="34" charset="-122"/>
              </a:rPr>
              <a:t> {WIN, LOSE, TIE, CANCEL};</a:t>
            </a:r>
            <a:endParaRPr lang="en-US" altLang="zh-CN" sz="1350" b="1" dirty="0">
              <a:solidFill>
                <a:srgbClr val="FFFF00"/>
              </a:solidFill>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err="1">
                <a:latin typeface="微软雅黑" panose="020B0503020204020204" pitchFamily="34" charset="-122"/>
                <a:ea typeface="微软雅黑" panose="020B0503020204020204" pitchFamily="34" charset="-122"/>
              </a:rPr>
              <a:t>int</a:t>
            </a:r>
            <a:r>
              <a:rPr lang="en-US" altLang="zh-CN" sz="1350" b="1" dirty="0">
                <a:latin typeface="微软雅黑" panose="020B0503020204020204" pitchFamily="34" charset="-122"/>
                <a:ea typeface="微软雅黑" panose="020B0503020204020204" pitchFamily="34" charset="-122"/>
              </a:rPr>
              <a:t> main() {</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a:t>
            </a:r>
            <a:r>
              <a:rPr lang="en-US" altLang="zh-CN" sz="1350" b="1" dirty="0" err="1">
                <a:latin typeface="微软雅黑" panose="020B0503020204020204" pitchFamily="34" charset="-122"/>
                <a:ea typeface="微软雅黑" panose="020B0503020204020204" pitchFamily="34" charset="-122"/>
              </a:rPr>
              <a:t>GameResult</a:t>
            </a:r>
            <a:r>
              <a:rPr lang="en-US" altLang="zh-CN" sz="1350" b="1" dirty="0">
                <a:latin typeface="微软雅黑" panose="020B0503020204020204" pitchFamily="34" charset="-122"/>
                <a:ea typeface="微软雅黑" panose="020B0503020204020204" pitchFamily="34" charset="-122"/>
              </a:rPr>
              <a:t> result;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a:t>
            </a:r>
            <a:r>
              <a:rPr lang="en-US" altLang="zh-CN" sz="1350" b="1" dirty="0" err="1">
                <a:latin typeface="微软雅黑" panose="020B0503020204020204" pitchFamily="34" charset="-122"/>
                <a:ea typeface="微软雅黑" panose="020B0503020204020204" pitchFamily="34" charset="-122"/>
              </a:rPr>
              <a:t>enum</a:t>
            </a:r>
            <a:r>
              <a:rPr lang="en-US" altLang="zh-CN" sz="1350" b="1" dirty="0">
                <a:latin typeface="微软雅黑" panose="020B0503020204020204" pitchFamily="34" charset="-122"/>
                <a:ea typeface="微软雅黑" panose="020B0503020204020204" pitchFamily="34" charset="-122"/>
              </a:rPr>
              <a:t> </a:t>
            </a:r>
            <a:r>
              <a:rPr lang="en-US" altLang="zh-CN" sz="1350" b="1" dirty="0" err="1">
                <a:latin typeface="微软雅黑" panose="020B0503020204020204" pitchFamily="34" charset="-122"/>
                <a:ea typeface="微软雅黑" panose="020B0503020204020204" pitchFamily="34" charset="-122"/>
              </a:rPr>
              <a:t>GameResult</a:t>
            </a:r>
            <a:r>
              <a:rPr lang="en-US" altLang="zh-CN" sz="1350" b="1" dirty="0">
                <a:latin typeface="微软雅黑" panose="020B0503020204020204" pitchFamily="34" charset="-122"/>
                <a:ea typeface="微软雅黑" panose="020B0503020204020204" pitchFamily="34" charset="-122"/>
              </a:rPr>
              <a:t> omit = CANCEL;</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for (</a:t>
            </a:r>
            <a:r>
              <a:rPr lang="en-US" altLang="zh-CN" sz="1350" b="1" dirty="0" err="1">
                <a:latin typeface="微软雅黑" panose="020B0503020204020204" pitchFamily="34" charset="-122"/>
                <a:ea typeface="微软雅黑" panose="020B0503020204020204" pitchFamily="34" charset="-122"/>
              </a:rPr>
              <a:t>int</a:t>
            </a:r>
            <a:r>
              <a:rPr lang="en-US" altLang="zh-CN" sz="1350" b="1" dirty="0">
                <a:latin typeface="微软雅黑" panose="020B0503020204020204" pitchFamily="34" charset="-122"/>
                <a:ea typeface="微软雅黑" panose="020B0503020204020204" pitchFamily="34" charset="-122"/>
              </a:rPr>
              <a:t> count = WIN; count &lt;= CANCEL; count++) {</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result = </a:t>
            </a:r>
            <a:r>
              <a:rPr lang="en-US" altLang="zh-CN" sz="1350" b="1" dirty="0" err="1">
                <a:latin typeface="微软雅黑" panose="020B0503020204020204" pitchFamily="34" charset="-122"/>
                <a:ea typeface="微软雅黑" panose="020B0503020204020204" pitchFamily="34" charset="-122"/>
              </a:rPr>
              <a:t>GameResult</a:t>
            </a:r>
            <a:r>
              <a:rPr lang="en-US" altLang="zh-CN" sz="1350" b="1" dirty="0">
                <a:latin typeface="微软雅黑" panose="020B0503020204020204" pitchFamily="34" charset="-122"/>
                <a:ea typeface="微软雅黑" panose="020B0503020204020204" pitchFamily="34" charset="-122"/>
              </a:rPr>
              <a:t>(count);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if (result == omit) </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a:t>
            </a:r>
            <a:r>
              <a:rPr lang="en-US" altLang="zh-CN" sz="1350" b="1" dirty="0" err="1">
                <a:latin typeface="微软雅黑" panose="020B0503020204020204" pitchFamily="34" charset="-122"/>
                <a:ea typeface="微软雅黑" panose="020B0503020204020204" pitchFamily="34" charset="-122"/>
              </a:rPr>
              <a:t>cout</a:t>
            </a:r>
            <a:r>
              <a:rPr lang="en-US" altLang="zh-CN" sz="1350" b="1" dirty="0">
                <a:latin typeface="微软雅黑" panose="020B0503020204020204" pitchFamily="34" charset="-122"/>
                <a:ea typeface="微软雅黑" panose="020B0503020204020204" pitchFamily="34" charset="-122"/>
              </a:rPr>
              <a:t> &lt;&lt; "The game was cancelled" &lt;&lt; </a:t>
            </a:r>
            <a:r>
              <a:rPr lang="en-US" altLang="zh-CN" sz="1350" b="1" dirty="0" err="1">
                <a:latin typeface="微软雅黑" panose="020B0503020204020204" pitchFamily="34" charset="-122"/>
                <a:ea typeface="微软雅黑" panose="020B0503020204020204" pitchFamily="34" charset="-122"/>
              </a:rPr>
              <a:t>endl</a:t>
            </a:r>
            <a:r>
              <a:rPr lang="en-US" altLang="zh-CN" sz="1350" b="1" dirty="0">
                <a:latin typeface="微软雅黑" panose="020B0503020204020204" pitchFamily="34" charset="-122"/>
                <a:ea typeface="微软雅黑" panose="020B0503020204020204" pitchFamily="34" charset="-122"/>
              </a:rPr>
              <a: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else {</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a:t>
            </a:r>
            <a:r>
              <a:rPr lang="en-US" altLang="zh-CN" sz="1350" b="1" dirty="0" err="1">
                <a:latin typeface="微软雅黑" panose="020B0503020204020204" pitchFamily="34" charset="-122"/>
                <a:ea typeface="微软雅黑" panose="020B0503020204020204" pitchFamily="34" charset="-122"/>
              </a:rPr>
              <a:t>cout</a:t>
            </a:r>
            <a:r>
              <a:rPr lang="en-US" altLang="zh-CN" sz="1350" b="1" dirty="0">
                <a:latin typeface="微软雅黑" panose="020B0503020204020204" pitchFamily="34" charset="-122"/>
                <a:ea typeface="微软雅黑" panose="020B0503020204020204" pitchFamily="34" charset="-122"/>
              </a:rPr>
              <a:t> &lt;&lt; "The game was played ";</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if (result == WIN)      </a:t>
            </a:r>
            <a:r>
              <a:rPr lang="en-US" altLang="zh-CN" sz="1350" b="1" dirty="0" err="1">
                <a:latin typeface="微软雅黑" panose="020B0503020204020204" pitchFamily="34" charset="-122"/>
                <a:ea typeface="微软雅黑" panose="020B0503020204020204" pitchFamily="34" charset="-122"/>
              </a:rPr>
              <a:t>cout</a:t>
            </a:r>
            <a:r>
              <a:rPr lang="en-US" altLang="zh-CN" sz="1350" b="1" dirty="0">
                <a:latin typeface="微软雅黑" panose="020B0503020204020204" pitchFamily="34" charset="-122"/>
                <a:ea typeface="微软雅黑" panose="020B0503020204020204" pitchFamily="34" charset="-122"/>
              </a:rPr>
              <a:t> &lt;&lt; "and we won!";</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if (result == LOSE)       </a:t>
            </a:r>
            <a:r>
              <a:rPr lang="en-US" altLang="zh-CN" sz="1350" b="1" dirty="0" err="1">
                <a:latin typeface="微软雅黑" panose="020B0503020204020204" pitchFamily="34" charset="-122"/>
                <a:ea typeface="微软雅黑" panose="020B0503020204020204" pitchFamily="34" charset="-122"/>
              </a:rPr>
              <a:t>cout</a:t>
            </a:r>
            <a:r>
              <a:rPr lang="en-US" altLang="zh-CN" sz="1350" b="1" dirty="0">
                <a:latin typeface="微软雅黑" panose="020B0503020204020204" pitchFamily="34" charset="-122"/>
                <a:ea typeface="微软雅黑" panose="020B0503020204020204" pitchFamily="34" charset="-122"/>
              </a:rPr>
              <a:t> &lt;&lt; "and we lost.";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a:t>
            </a:r>
            <a:r>
              <a:rPr lang="en-US" altLang="zh-CN" sz="1350" b="1" dirty="0" err="1">
                <a:latin typeface="微软雅黑" panose="020B0503020204020204" pitchFamily="34" charset="-122"/>
                <a:ea typeface="微软雅黑" panose="020B0503020204020204" pitchFamily="34" charset="-122"/>
              </a:rPr>
              <a:t>cout</a:t>
            </a:r>
            <a:r>
              <a:rPr lang="en-US" altLang="zh-CN" sz="1350" b="1" dirty="0">
                <a:latin typeface="微软雅黑" panose="020B0503020204020204" pitchFamily="34" charset="-122"/>
                <a:ea typeface="微软雅黑" panose="020B0503020204020204" pitchFamily="34" charset="-122"/>
              </a:rPr>
              <a:t> &lt;&lt; </a:t>
            </a:r>
            <a:r>
              <a:rPr lang="en-US" altLang="zh-CN" sz="1350" b="1" dirty="0" err="1">
                <a:latin typeface="微软雅黑" panose="020B0503020204020204" pitchFamily="34" charset="-122"/>
                <a:ea typeface="微软雅黑" panose="020B0503020204020204" pitchFamily="34" charset="-122"/>
              </a:rPr>
              <a:t>endl</a:t>
            </a:r>
            <a:r>
              <a:rPr lang="en-US" altLang="zh-CN" sz="1350" b="1" dirty="0">
                <a:latin typeface="微软雅黑" panose="020B0503020204020204" pitchFamily="34" charset="-122"/>
                <a:ea typeface="微软雅黑" panose="020B0503020204020204" pitchFamily="34" charset="-122"/>
              </a:rPr>
              <a: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	return 0;</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r>
              <a:rPr lang="en-US" altLang="zh-CN" sz="1350" b="1" dirty="0">
                <a:latin typeface="微软雅黑" panose="020B0503020204020204" pitchFamily="34" charset="-122"/>
                <a:ea typeface="微软雅黑" panose="020B0503020204020204" pitchFamily="34" charset="-122"/>
              </a:rPr>
              <a:t>}</a:t>
            </a:r>
            <a:endParaRPr lang="en-US" altLang="zh-CN" sz="1350" b="1" dirty="0">
              <a:latin typeface="微软雅黑" panose="020B0503020204020204" pitchFamily="34" charset="-122"/>
              <a:ea typeface="微软雅黑" panose="020B0503020204020204" pitchFamily="34" charset="-122"/>
            </a:endParaRPr>
          </a:p>
          <a:p>
            <a:pPr eaLnBrk="1" hangingPunct="1">
              <a:lnSpc>
                <a:spcPct val="85000"/>
              </a:lnSpc>
              <a:buFont typeface="Wingdings" panose="05000000000000000000" pitchFamily="2" charset="2"/>
              <a:buNone/>
            </a:pPr>
            <a:endParaRPr lang="en-US" altLang="zh-CN" sz="1350" b="1" dirty="0">
              <a:latin typeface="微软雅黑" panose="020B0503020204020204" pitchFamily="34" charset="-122"/>
              <a:ea typeface="微软雅黑" panose="020B0503020204020204" pitchFamily="34" charset="-122"/>
            </a:endParaRPr>
          </a:p>
        </p:txBody>
      </p:sp>
      <p:sp>
        <p:nvSpPr>
          <p:cNvPr id="7" name="内容占位符 6"/>
          <p:cNvSpPr txBox="1"/>
          <p:nvPr/>
        </p:nvSpPr>
        <p:spPr bwMode="auto">
          <a:xfrm>
            <a:off x="5373216" y="3904580"/>
            <a:ext cx="3251903" cy="1288107"/>
          </a:xfrm>
          <a:prstGeom prst="rect">
            <a:avLst/>
          </a:prstGeom>
          <a:noFill/>
          <a:ln w="9525">
            <a:solidFill>
              <a:srgbClr val="000000"/>
            </a:solidFill>
            <a:miter lim="800000"/>
          </a:ln>
        </p:spPr>
        <p:txBody>
          <a:bodyPr vert="horz" wrap="square" lIns="68562" tIns="34281" rIns="68562" bIns="34281" numCol="1" anchor="t" anchorCtr="0" compatLnSpc="1">
            <a:normAutofit/>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2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2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2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20303"/>
              <a:buChar char="◦"/>
              <a:defRPr kumimoji="0" sz="1400" kern="1200" baseline="0">
                <a:solidFill>
                  <a:schemeClr val="accent3"/>
                </a:solidFill>
                <a:latin typeface="+mn-lt"/>
                <a:ea typeface="+mn-ea"/>
                <a:cs typeface="+mn-cs"/>
              </a:defRPr>
            </a:lvl9pPr>
          </a:lstStyle>
          <a:p>
            <a:pPr eaLnBrk="1" hangingPunct="1">
              <a:buFont typeface="Wingdings" panose="05000000000000000000" pitchFamily="2" charset="2"/>
              <a:buNone/>
              <a:defRPr/>
            </a:pPr>
            <a:r>
              <a:rPr kumimoji="0" lang="zh-CN" altLang="en-US" sz="1350">
                <a:latin typeface="微软雅黑" panose="020B0503020204020204" pitchFamily="34" charset="-122"/>
                <a:ea typeface="微软雅黑" panose="020B0503020204020204" pitchFamily="34" charset="-122"/>
              </a:rPr>
              <a:t>运行结果</a:t>
            </a:r>
            <a:endParaRPr kumimoji="0" lang="zh-CN" altLang="en-US" sz="135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defRPr/>
            </a:pPr>
            <a:r>
              <a:rPr kumimoji="0" lang="zh-CN" altLang="en-US" sz="1350">
                <a:latin typeface="微软雅黑" panose="020B0503020204020204" pitchFamily="34" charset="-122"/>
                <a:ea typeface="微软雅黑" panose="020B0503020204020204" pitchFamily="34" charset="-122"/>
              </a:rPr>
              <a:t> </a:t>
            </a:r>
            <a:r>
              <a:rPr kumimoji="0" lang="en-US" altLang="zh-CN" sz="1350">
                <a:latin typeface="微软雅黑" panose="020B0503020204020204" pitchFamily="34" charset="-122"/>
                <a:ea typeface="微软雅黑" panose="020B0503020204020204" pitchFamily="34" charset="-122"/>
              </a:rPr>
              <a:t>The game was played and we won!</a:t>
            </a:r>
            <a:endParaRPr kumimoji="0" lang="en-US" altLang="zh-CN" sz="135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defRPr/>
            </a:pPr>
            <a:r>
              <a:rPr kumimoji="0" lang="en-US" altLang="zh-CN" sz="1350">
                <a:latin typeface="微软雅黑" panose="020B0503020204020204" pitchFamily="34" charset="-122"/>
                <a:ea typeface="微软雅黑" panose="020B0503020204020204" pitchFamily="34" charset="-122"/>
              </a:rPr>
              <a:t> The game was played and we lost.</a:t>
            </a:r>
            <a:endParaRPr kumimoji="0" lang="en-US" altLang="zh-CN" sz="135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defRPr/>
            </a:pPr>
            <a:r>
              <a:rPr kumimoji="0" lang="en-US" altLang="zh-CN" sz="1350">
                <a:latin typeface="微软雅黑" panose="020B0503020204020204" pitchFamily="34" charset="-122"/>
                <a:ea typeface="微软雅黑" panose="020B0503020204020204" pitchFamily="34" charset="-122"/>
              </a:rPr>
              <a:t> The game was played</a:t>
            </a:r>
            <a:endParaRPr kumimoji="0" lang="en-US" altLang="zh-CN" sz="135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defRPr/>
            </a:pPr>
            <a:r>
              <a:rPr kumimoji="0" lang="en-US" altLang="zh-CN" sz="1350">
                <a:latin typeface="微软雅黑" panose="020B0503020204020204" pitchFamily="34" charset="-122"/>
                <a:ea typeface="微软雅黑" panose="020B0503020204020204" pitchFamily="34" charset="-122"/>
              </a:rPr>
              <a:t> The game was cancelled</a:t>
            </a:r>
            <a:endParaRPr kumimoji="0" lang="en-US" altLang="zh-CN" sz="135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332656"/>
            <a:ext cx="8229838" cy="799892"/>
          </a:xfrm>
        </p:spPr>
        <p:txBody>
          <a:bodyPr/>
          <a:lstStyle/>
          <a:p>
            <a:r>
              <a:rPr lang="zh-CN" altLang="en-US" b="1" dirty="0">
                <a:latin typeface="微软雅黑" panose="020B0503020204020204" pitchFamily="34" charset="-122"/>
                <a:ea typeface="微软雅黑" panose="020B0503020204020204" pitchFamily="34" charset="-122"/>
              </a:rPr>
              <a:t>枚举类</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强类型枚举</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11560" y="1628800"/>
            <a:ext cx="8229838" cy="3221885"/>
          </a:xfrm>
        </p:spPr>
        <p:txBody>
          <a:bodyPr/>
          <a:lstStyle/>
          <a:p>
            <a:r>
              <a:rPr lang="zh-CN" altLang="en-US" b="1" dirty="0">
                <a:latin typeface="微软雅黑" panose="020B0503020204020204" pitchFamily="34" charset="-122"/>
                <a:ea typeface="微软雅黑" panose="020B0503020204020204" pitchFamily="34" charset="-122"/>
              </a:rPr>
              <a:t>定义语法形式</a:t>
            </a:r>
            <a:endParaRPr lang="en-US" altLang="zh-CN" b="1" dirty="0">
              <a:latin typeface="微软雅黑" panose="020B0503020204020204" pitchFamily="34" charset="-122"/>
              <a:ea typeface="微软雅黑" panose="020B0503020204020204" pitchFamily="34" charset="-122"/>
            </a:endParaRPr>
          </a:p>
          <a:p>
            <a:pPr marL="307975" lvl="1" indent="0">
              <a:buNone/>
            </a:pPr>
            <a:r>
              <a:rPr lang="en-US" altLang="zh-CN" b="1" dirty="0" err="1">
                <a:solidFill>
                  <a:srgbClr val="FFFF00"/>
                </a:solidFill>
                <a:latin typeface="微软雅黑" panose="020B0503020204020204" pitchFamily="34" charset="-122"/>
                <a:ea typeface="微软雅黑" panose="020B0503020204020204" pitchFamily="34" charset="-122"/>
              </a:rPr>
              <a:t>enum</a:t>
            </a:r>
            <a:r>
              <a:rPr lang="en-US" altLang="zh-CN" b="1" dirty="0">
                <a:solidFill>
                  <a:srgbClr val="FFFF00"/>
                </a:solidFill>
                <a:latin typeface="微软雅黑" panose="020B0503020204020204" pitchFamily="34" charset="-122"/>
                <a:ea typeface="微软雅黑" panose="020B0503020204020204" pitchFamily="34" charset="-122"/>
              </a:rPr>
              <a:t> class </a:t>
            </a:r>
            <a:r>
              <a:rPr lang="zh-CN" altLang="en-US" b="1" dirty="0">
                <a:solidFill>
                  <a:srgbClr val="FFFF00"/>
                </a:solidFill>
                <a:latin typeface="微软雅黑" panose="020B0503020204020204" pitchFamily="34" charset="-122"/>
                <a:ea typeface="微软雅黑" panose="020B0503020204020204" pitchFamily="34" charset="-122"/>
              </a:rPr>
              <a:t>枚举类型名</a:t>
            </a:r>
            <a:r>
              <a:rPr lang="en-US" altLang="zh-CN" b="1" dirty="0">
                <a:solidFill>
                  <a:srgbClr val="FFFF00"/>
                </a:solidFill>
                <a:latin typeface="微软雅黑" panose="020B0503020204020204" pitchFamily="34" charset="-122"/>
                <a:ea typeface="微软雅黑" panose="020B0503020204020204" pitchFamily="34" charset="-122"/>
              </a:rPr>
              <a:t>: </a:t>
            </a:r>
            <a:r>
              <a:rPr lang="zh-CN" altLang="en-US" b="1" dirty="0">
                <a:solidFill>
                  <a:srgbClr val="FFFF00"/>
                </a:solidFill>
                <a:latin typeface="微软雅黑" panose="020B0503020204020204" pitchFamily="34" charset="-122"/>
                <a:ea typeface="微软雅黑" panose="020B0503020204020204" pitchFamily="34" charset="-122"/>
              </a:rPr>
              <a:t>底层类型 </a:t>
            </a:r>
            <a:r>
              <a:rPr lang="en-US" altLang="zh-CN" b="1" dirty="0">
                <a:solidFill>
                  <a:srgbClr val="FFFF00"/>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枚举值列表</a:t>
            </a:r>
            <a:r>
              <a:rPr lang="en-US" altLang="zh-CN" b="1" dirty="0">
                <a:solidFill>
                  <a:srgbClr val="FFFF00"/>
                </a:solidFill>
                <a:latin typeface="微软雅黑" panose="020B0503020204020204" pitchFamily="34" charset="-122"/>
                <a:ea typeface="微软雅黑" panose="020B0503020204020204" pitchFamily="34" charset="-122"/>
              </a:rPr>
              <a:t>};</a:t>
            </a:r>
            <a:endParaRPr lang="en-US" altLang="zh-CN" b="1" dirty="0">
              <a:solidFill>
                <a:srgbClr val="FFFF00"/>
              </a:solidFill>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例：</a:t>
            </a:r>
            <a:endParaRPr lang="en-US" altLang="zh-CN" b="1" dirty="0">
              <a:latin typeface="微软雅黑" panose="020B0503020204020204" pitchFamily="34" charset="-122"/>
              <a:ea typeface="微软雅黑" panose="020B0503020204020204" pitchFamily="34" charset="-122"/>
            </a:endParaRPr>
          </a:p>
          <a:p>
            <a:pPr marL="307975" lvl="1" indent="0">
              <a:buNone/>
            </a:pPr>
            <a:r>
              <a:rPr lang="en-US" altLang="zh-CN" b="1" dirty="0" err="1">
                <a:solidFill>
                  <a:srgbClr val="FFFF00"/>
                </a:solidFill>
                <a:latin typeface="微软雅黑" panose="020B0503020204020204" pitchFamily="34" charset="-122"/>
                <a:ea typeface="微软雅黑" panose="020B0503020204020204" pitchFamily="34" charset="-122"/>
              </a:rPr>
              <a:t>enum</a:t>
            </a:r>
            <a:r>
              <a:rPr lang="en-US" altLang="zh-CN" b="1" dirty="0">
                <a:solidFill>
                  <a:srgbClr val="FFFF00"/>
                </a:solidFill>
                <a:latin typeface="微软雅黑" panose="020B0503020204020204" pitchFamily="34" charset="-122"/>
                <a:ea typeface="微软雅黑" panose="020B0503020204020204" pitchFamily="34" charset="-122"/>
              </a:rPr>
              <a:t> class Type { General, Light, Medium, Heavy};</a:t>
            </a:r>
            <a:endParaRPr lang="en-US" altLang="zh-CN" b="1" dirty="0">
              <a:solidFill>
                <a:srgbClr val="FFFF00"/>
              </a:solidFill>
              <a:latin typeface="微软雅黑" panose="020B0503020204020204" pitchFamily="34" charset="-122"/>
              <a:ea typeface="微软雅黑" panose="020B0503020204020204" pitchFamily="34" charset="-122"/>
            </a:endParaRPr>
          </a:p>
          <a:p>
            <a:pPr marL="307975" lvl="1" indent="0">
              <a:buNone/>
            </a:pPr>
            <a:r>
              <a:rPr lang="en-US" altLang="zh-CN" b="1" dirty="0" err="1">
                <a:solidFill>
                  <a:srgbClr val="FFFF00"/>
                </a:solidFill>
                <a:latin typeface="微软雅黑" panose="020B0503020204020204" pitchFamily="34" charset="-122"/>
                <a:ea typeface="微软雅黑" panose="020B0503020204020204" pitchFamily="34" charset="-122"/>
              </a:rPr>
              <a:t>enum</a:t>
            </a:r>
            <a:r>
              <a:rPr lang="en-US" altLang="zh-CN" b="1" dirty="0">
                <a:solidFill>
                  <a:srgbClr val="FFFF00"/>
                </a:solidFill>
                <a:latin typeface="微软雅黑" panose="020B0503020204020204" pitchFamily="34" charset="-122"/>
                <a:ea typeface="微软雅黑" panose="020B0503020204020204" pitchFamily="34" charset="-122"/>
              </a:rPr>
              <a:t> class Type: char { General, Light, Medium, Heavy};</a:t>
            </a:r>
            <a:endParaRPr lang="en-US" altLang="zh-CN" b="1" dirty="0">
              <a:solidFill>
                <a:srgbClr val="FFFF00"/>
              </a:solidFill>
              <a:latin typeface="微软雅黑" panose="020B0503020204020204" pitchFamily="34" charset="-122"/>
              <a:ea typeface="微软雅黑" panose="020B0503020204020204" pitchFamily="34" charset="-122"/>
            </a:endParaRPr>
          </a:p>
          <a:p>
            <a:pPr marL="307975" lvl="1" indent="0">
              <a:buNone/>
            </a:pPr>
            <a:r>
              <a:rPr lang="en-US" altLang="zh-CN" b="1" dirty="0" err="1">
                <a:solidFill>
                  <a:srgbClr val="FFFF00"/>
                </a:solidFill>
                <a:latin typeface="微软雅黑" panose="020B0503020204020204" pitchFamily="34" charset="-122"/>
                <a:ea typeface="微软雅黑" panose="020B0503020204020204" pitchFamily="34" charset="-122"/>
              </a:rPr>
              <a:t>enum</a:t>
            </a:r>
            <a:r>
              <a:rPr lang="en-US" altLang="zh-CN" b="1" dirty="0">
                <a:solidFill>
                  <a:srgbClr val="FFFF00"/>
                </a:solidFill>
                <a:latin typeface="微软雅黑" panose="020B0503020204020204" pitchFamily="34" charset="-122"/>
                <a:ea typeface="微软雅黑" panose="020B0503020204020204" pitchFamily="34" charset="-122"/>
              </a:rPr>
              <a:t> class Category { General=1, Pistol, </a:t>
            </a:r>
            <a:r>
              <a:rPr lang="en-US" altLang="zh-CN" b="1" dirty="0" err="1">
                <a:solidFill>
                  <a:srgbClr val="FFFF00"/>
                </a:solidFill>
                <a:latin typeface="微软雅黑" panose="020B0503020204020204" pitchFamily="34" charset="-122"/>
                <a:ea typeface="微软雅黑" panose="020B0503020204020204" pitchFamily="34" charset="-122"/>
              </a:rPr>
              <a:t>MachineGun</a:t>
            </a:r>
            <a:r>
              <a:rPr lang="en-US" altLang="zh-CN" b="1" dirty="0">
                <a:solidFill>
                  <a:srgbClr val="FFFF00"/>
                </a:solidFill>
                <a:latin typeface="微软雅黑" panose="020B0503020204020204" pitchFamily="34" charset="-122"/>
                <a:ea typeface="微软雅黑" panose="020B0503020204020204" pitchFamily="34" charset="-122"/>
              </a:rPr>
              <a:t>, Cannon};</a:t>
            </a:r>
            <a:endParaRPr lang="en-US" altLang="zh-CN" b="1" dirty="0">
              <a:solidFill>
                <a:srgbClr val="FFFF00"/>
              </a:solidFill>
              <a:latin typeface="微软雅黑" panose="020B0503020204020204" pitchFamily="34" charset="-122"/>
              <a:ea typeface="微软雅黑" panose="020B0503020204020204" pitchFamily="34" charset="-122"/>
            </a:endParaRPr>
          </a:p>
          <a:p>
            <a:pPr marL="307975" lvl="1" indent="0">
              <a:buNone/>
            </a:pPr>
            <a:endParaRPr lang="en-US" altLang="zh-CN" b="1" dirty="0">
              <a:latin typeface="微软雅黑" panose="020B0503020204020204" pitchFamily="34" charset="-122"/>
              <a:ea typeface="微软雅黑" panose="020B0503020204020204" pitchFamily="34" charset="-122"/>
            </a:endParaRPr>
          </a:p>
          <a:p>
            <a:pPr marL="307975" lvl="1" indent="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76447"/>
            <a:ext cx="8229838" cy="799892"/>
          </a:xfrm>
        </p:spPr>
        <p:txBody>
          <a:bodyPr/>
          <a:lstStyle/>
          <a:p>
            <a:r>
              <a:rPr lang="zh-CN" altLang="en-US" b="1" dirty="0">
                <a:latin typeface="微软雅黑" panose="020B0503020204020204" pitchFamily="34" charset="-122"/>
                <a:ea typeface="微软雅黑" panose="020B0503020204020204" pitchFamily="34" charset="-122"/>
              </a:rPr>
              <a:t>枚举类的优势</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457082" y="2348880"/>
            <a:ext cx="8229838" cy="3221885"/>
          </a:xfrm>
        </p:spPr>
        <p:txBody>
          <a:bodyPr/>
          <a:lstStyle/>
          <a:p>
            <a:r>
              <a:rPr lang="zh-CN" altLang="en-US" b="1" dirty="0">
                <a:latin typeface="微软雅黑" panose="020B0503020204020204" pitchFamily="34" charset="-122"/>
                <a:ea typeface="微软雅黑" panose="020B0503020204020204" pitchFamily="34" charset="-122"/>
              </a:rPr>
              <a:t>强作用域，其作用域限制在枚举类中。</a:t>
            </a:r>
            <a:endParaRPr lang="en-US" altLang="zh-CN" b="1" dirty="0">
              <a:latin typeface="微软雅黑" panose="020B0503020204020204" pitchFamily="34" charset="-122"/>
              <a:ea typeface="微软雅黑" panose="020B0503020204020204" pitchFamily="34" charset="-122"/>
            </a:endParaRPr>
          </a:p>
          <a:p>
            <a:pPr lvl="1"/>
            <a:r>
              <a:rPr lang="zh-CN" altLang="en-US" b="1" dirty="0">
                <a:latin typeface="微软雅黑" panose="020B0503020204020204" pitchFamily="34" charset="-122"/>
                <a:ea typeface="微软雅黑" panose="020B0503020204020204" pitchFamily="34" charset="-122"/>
              </a:rPr>
              <a:t>例：使用</a:t>
            </a:r>
            <a:r>
              <a:rPr lang="en-US" altLang="zh-CN" b="1" dirty="0">
                <a:latin typeface="微软雅黑" panose="020B0503020204020204" pitchFamily="34" charset="-122"/>
                <a:ea typeface="微软雅黑" panose="020B0503020204020204" pitchFamily="34" charset="-122"/>
              </a:rPr>
              <a:t>Type</a:t>
            </a:r>
            <a:r>
              <a:rPr lang="zh-CN" altLang="en-US" b="1" dirty="0">
                <a:latin typeface="微软雅黑" panose="020B0503020204020204" pitchFamily="34" charset="-122"/>
                <a:ea typeface="微软雅黑" panose="020B0503020204020204" pitchFamily="34" charset="-122"/>
              </a:rPr>
              <a:t>的枚举值</a:t>
            </a:r>
            <a:r>
              <a:rPr lang="en-US" altLang="zh-CN" b="1" dirty="0">
                <a:latin typeface="微软雅黑" panose="020B0503020204020204" pitchFamily="34" charset="-122"/>
                <a:ea typeface="微软雅黑" panose="020B0503020204020204" pitchFamily="34" charset="-122"/>
              </a:rPr>
              <a:t>General</a:t>
            </a:r>
            <a:r>
              <a:rPr lang="zh-CN" altLang="en-US" b="1" dirty="0">
                <a:latin typeface="微软雅黑" panose="020B0503020204020204" pitchFamily="34" charset="-122"/>
                <a:ea typeface="微软雅黑" panose="020B0503020204020204" pitchFamily="34" charset="-122"/>
              </a:rPr>
              <a:t>：</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Type::General</a:t>
            </a:r>
            <a:endParaRPr lang="en-US" altLang="zh-CN" b="1" dirty="0">
              <a:latin typeface="微软雅黑" panose="020B0503020204020204" pitchFamily="34" charset="-122"/>
              <a:ea typeface="微软雅黑" panose="020B0503020204020204" pitchFamily="34" charset="-122"/>
            </a:endParaRPr>
          </a:p>
          <a:p>
            <a:pPr marL="273685" lvl="1" indent="-191770">
              <a:buClr>
                <a:srgbClr val="A04DA3"/>
              </a:buClr>
              <a:buFont typeface="Georgia" panose="02040502050405020303" pitchFamily="18" charset="0"/>
              <a:buChar char="•"/>
            </a:pPr>
            <a:r>
              <a:rPr lang="zh-CN" altLang="en-US" sz="2100" b="1" dirty="0">
                <a:latin typeface="微软雅黑" panose="020B0503020204020204" pitchFamily="34" charset="-122"/>
                <a:ea typeface="微软雅黑" panose="020B0503020204020204" pitchFamily="34" charset="-122"/>
              </a:rPr>
              <a:t>转换限制，枚举类对象不可以与整型隐式地互相转换。</a:t>
            </a:r>
            <a:endParaRPr lang="en-US" altLang="zh-CN" sz="2100" b="1" dirty="0">
              <a:latin typeface="微软雅黑" panose="020B0503020204020204" pitchFamily="34" charset="-122"/>
              <a:ea typeface="微软雅黑" panose="020B0503020204020204" pitchFamily="34" charset="-122"/>
            </a:endParaRPr>
          </a:p>
          <a:p>
            <a:pPr marL="273685" lvl="1" indent="-191770">
              <a:buClr>
                <a:srgbClr val="A04DA3"/>
              </a:buClr>
              <a:buFont typeface="Georgia" panose="02040502050405020303" pitchFamily="18" charset="0"/>
              <a:buChar char="•"/>
            </a:pPr>
            <a:r>
              <a:rPr lang="zh-CN" altLang="en-US" sz="2100" b="1" dirty="0">
                <a:latin typeface="微软雅黑" panose="020B0503020204020204" pitchFamily="34" charset="-122"/>
                <a:ea typeface="微软雅黑" panose="020B0503020204020204" pitchFamily="34" charset="-122"/>
              </a:rPr>
              <a:t>可以指定底层类型</a:t>
            </a:r>
            <a:endParaRPr lang="en-US" altLang="zh-CN" sz="2100" b="1" dirty="0">
              <a:latin typeface="微软雅黑" panose="020B0503020204020204" pitchFamily="34" charset="-122"/>
              <a:ea typeface="微软雅黑" panose="020B0503020204020204" pitchFamily="34" charset="-122"/>
            </a:endParaRPr>
          </a:p>
          <a:p>
            <a:pPr marL="472440" lvl="2" indent="-191770">
              <a:buClr>
                <a:srgbClr val="A04DA3"/>
              </a:buClr>
              <a:buFont typeface="Georgia" panose="02040502050405020303" pitchFamily="18" charset="0"/>
              <a:buChar char="•"/>
            </a:pPr>
            <a:r>
              <a:rPr lang="zh-CN" altLang="en-US" b="1" dirty="0">
                <a:solidFill>
                  <a:schemeClr val="tx1"/>
                </a:solidFill>
                <a:latin typeface="微软雅黑" panose="020B0503020204020204" pitchFamily="34" charset="-122"/>
                <a:ea typeface="微软雅黑" panose="020B0503020204020204" pitchFamily="34" charset="-122"/>
              </a:rPr>
              <a:t>例：</a:t>
            </a:r>
            <a:br>
              <a:rPr lang="en-US" altLang="zh-CN" b="1" dirty="0">
                <a:solidFill>
                  <a:schemeClr val="tx1"/>
                </a:solidFill>
                <a:latin typeface="微软雅黑" panose="020B0503020204020204" pitchFamily="34" charset="-122"/>
                <a:ea typeface="微软雅黑" panose="020B0503020204020204" pitchFamily="34" charset="-122"/>
              </a:rPr>
            </a:br>
            <a:r>
              <a:rPr lang="en-US" altLang="zh-CN" b="1" dirty="0" err="1">
                <a:latin typeface="微软雅黑" panose="020B0503020204020204" pitchFamily="34" charset="-122"/>
                <a:ea typeface="微软雅黑" panose="020B0503020204020204" pitchFamily="34" charset="-122"/>
              </a:rPr>
              <a:t>enum</a:t>
            </a:r>
            <a:r>
              <a:rPr lang="en-US" altLang="zh-CN" b="1" dirty="0">
                <a:latin typeface="微软雅黑" panose="020B0503020204020204" pitchFamily="34" charset="-122"/>
                <a:ea typeface="微软雅黑" panose="020B0503020204020204" pitchFamily="34" charset="-122"/>
              </a:rPr>
              <a:t> class Type: </a:t>
            </a:r>
            <a:r>
              <a:rPr lang="en-US" altLang="zh-CN" b="1" dirty="0">
                <a:solidFill>
                  <a:srgbClr val="FFFF00"/>
                </a:solidFill>
                <a:latin typeface="微软雅黑" panose="020B0503020204020204" pitchFamily="34" charset="-122"/>
                <a:ea typeface="微软雅黑" panose="020B0503020204020204" pitchFamily="34" charset="-122"/>
              </a:rPr>
              <a:t>char </a:t>
            </a:r>
            <a:r>
              <a:rPr lang="en-US" altLang="zh-CN" b="1" dirty="0">
                <a:latin typeface="微软雅黑" panose="020B0503020204020204" pitchFamily="34" charset="-122"/>
                <a:ea typeface="微软雅黑" panose="020B0503020204020204" pitchFamily="34" charset="-122"/>
              </a:rPr>
              <a:t>{ General, Light, Medium, Heavy};</a:t>
            </a:r>
            <a:endParaRPr lang="en-US" altLang="zh-CN" b="1" dirty="0">
              <a:latin typeface="微软雅黑" panose="020B0503020204020204" pitchFamily="34" charset="-122"/>
              <a:ea typeface="微软雅黑" panose="020B0503020204020204" pitchFamily="34" charset="-122"/>
            </a:endParaRPr>
          </a:p>
          <a:p>
            <a:pPr marL="280670" lvl="2" indent="0">
              <a:buClr>
                <a:srgbClr val="A04DA3"/>
              </a:buClr>
              <a:buNone/>
            </a:pPr>
            <a:br>
              <a:rPr lang="en-US" altLang="zh-CN" b="1" dirty="0">
                <a:solidFill>
                  <a:schemeClr val="tx1"/>
                </a:solidFill>
                <a:latin typeface="微软雅黑" panose="020B0503020204020204" pitchFamily="34" charset="-122"/>
                <a:ea typeface="微软雅黑" panose="020B0503020204020204" pitchFamily="34" charset="-122"/>
              </a:rPr>
            </a:br>
            <a:endParaRPr lang="zh-CN" altLang="en-US"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FF00"/>
                </a:solidFill>
              </a:rPr>
              <a:t>枚举类举例</a:t>
            </a:r>
            <a:endParaRPr lang="zh-CN" altLang="en-US" dirty="0">
              <a:solidFill>
                <a:srgbClr val="FFFF00"/>
              </a:solidFill>
            </a:endParaRPr>
          </a:p>
        </p:txBody>
      </p:sp>
      <p:sp>
        <p:nvSpPr>
          <p:cNvPr id="3" name="内容占位符 2"/>
          <p:cNvSpPr>
            <a:spLocks noGrp="1"/>
          </p:cNvSpPr>
          <p:nvPr>
            <p:ph idx="1"/>
          </p:nvPr>
        </p:nvSpPr>
        <p:spPr/>
        <p:txBody>
          <a:bodyPr>
            <a:noAutofit/>
          </a:bodyPr>
          <a:lstStyle/>
          <a:p>
            <a:pPr marL="274320" indent="-191770" fontAlgn="auto">
              <a:spcBef>
                <a:spcPts val="0"/>
              </a:spcBef>
              <a:spcAft>
                <a:spcPts val="0"/>
              </a:spcAft>
              <a:buClr>
                <a:schemeClr val="accent3"/>
              </a:buClr>
              <a:buNone/>
              <a:defRPr/>
            </a:pPr>
            <a:r>
              <a:rPr lang="en-US" altLang="zh-CN" sz="1950" dirty="0"/>
              <a:t>#include&lt;</a:t>
            </a:r>
            <a:r>
              <a:rPr lang="en-US" altLang="zh-CN" sz="1950" dirty="0" err="1"/>
              <a:t>iostream</a:t>
            </a:r>
            <a:r>
              <a:rPr lang="en-US" altLang="zh-CN" sz="1950" dirty="0"/>
              <a:t>&gt;</a:t>
            </a:r>
            <a:endParaRPr lang="en-US" altLang="zh-CN" sz="1950" dirty="0"/>
          </a:p>
          <a:p>
            <a:pPr marL="274320" indent="-191770" fontAlgn="auto">
              <a:spcBef>
                <a:spcPts val="0"/>
              </a:spcBef>
              <a:spcAft>
                <a:spcPts val="0"/>
              </a:spcAft>
              <a:buClr>
                <a:schemeClr val="accent3"/>
              </a:buClr>
              <a:buNone/>
              <a:defRPr/>
            </a:pPr>
            <a:r>
              <a:rPr lang="en-US" altLang="zh-CN" sz="1950" dirty="0"/>
              <a:t>using namespace </a:t>
            </a:r>
            <a:r>
              <a:rPr lang="en-US" altLang="zh-CN" sz="1950" dirty="0" err="1"/>
              <a:t>std</a:t>
            </a:r>
            <a:r>
              <a:rPr lang="en-US" altLang="zh-CN" sz="1950" dirty="0"/>
              <a:t>;</a:t>
            </a:r>
            <a:endParaRPr lang="en-US" altLang="zh-CN" sz="1950" dirty="0"/>
          </a:p>
          <a:p>
            <a:pPr marL="274320" indent="-191770" fontAlgn="auto">
              <a:spcBef>
                <a:spcPts val="0"/>
              </a:spcBef>
              <a:spcAft>
                <a:spcPts val="0"/>
              </a:spcAft>
              <a:buClr>
                <a:schemeClr val="accent3"/>
              </a:buClr>
              <a:buNone/>
              <a:defRPr/>
            </a:pPr>
            <a:r>
              <a:rPr lang="en-US" altLang="zh-CN" sz="1950" dirty="0" err="1"/>
              <a:t>enum</a:t>
            </a:r>
            <a:r>
              <a:rPr lang="en-US" altLang="zh-CN" sz="1950" dirty="0"/>
              <a:t> class Side{ </a:t>
            </a:r>
            <a:r>
              <a:rPr lang="en-US" altLang="zh-CN" sz="1950" dirty="0">
                <a:solidFill>
                  <a:srgbClr val="FFFF00"/>
                </a:solidFill>
              </a:rPr>
              <a:t>Right</a:t>
            </a:r>
            <a:r>
              <a:rPr lang="en-US" altLang="zh-CN" sz="1950" dirty="0"/>
              <a:t>, Left };</a:t>
            </a:r>
            <a:endParaRPr lang="en-US" altLang="zh-CN" sz="1950" dirty="0"/>
          </a:p>
          <a:p>
            <a:pPr marL="274320" indent="-191770" fontAlgn="auto">
              <a:spcBef>
                <a:spcPts val="0"/>
              </a:spcBef>
              <a:spcAft>
                <a:spcPts val="0"/>
              </a:spcAft>
              <a:buClr>
                <a:schemeClr val="accent3"/>
              </a:buClr>
              <a:buNone/>
              <a:defRPr/>
            </a:pPr>
            <a:r>
              <a:rPr lang="en-US" altLang="zh-CN" sz="1950" dirty="0" err="1"/>
              <a:t>enum</a:t>
            </a:r>
            <a:r>
              <a:rPr lang="en-US" altLang="zh-CN" sz="1950" dirty="0"/>
              <a:t> class Thing{ Wrong, </a:t>
            </a:r>
            <a:r>
              <a:rPr lang="en-US" altLang="zh-CN" sz="1950" dirty="0">
                <a:solidFill>
                  <a:srgbClr val="FFFF00"/>
                </a:solidFill>
              </a:rPr>
              <a:t>Right </a:t>
            </a:r>
            <a:r>
              <a:rPr lang="en-US" altLang="zh-CN" sz="1950" dirty="0"/>
              <a:t>};  //</a:t>
            </a:r>
            <a:r>
              <a:rPr lang="zh-CN" altLang="en-US" sz="1950" dirty="0"/>
              <a:t>不冲突</a:t>
            </a:r>
            <a:endParaRPr lang="zh-CN" altLang="en-US" sz="1950" dirty="0"/>
          </a:p>
          <a:p>
            <a:pPr marL="274320" indent="-191770" fontAlgn="auto">
              <a:spcBef>
                <a:spcPts val="0"/>
              </a:spcBef>
              <a:spcAft>
                <a:spcPts val="0"/>
              </a:spcAft>
              <a:buClr>
                <a:schemeClr val="accent3"/>
              </a:buClr>
              <a:buNone/>
              <a:defRPr/>
            </a:pPr>
            <a:r>
              <a:rPr lang="en-US" altLang="zh-CN" sz="1950" dirty="0" err="1"/>
              <a:t>int</a:t>
            </a:r>
            <a:r>
              <a:rPr lang="en-US" altLang="zh-CN" sz="1950" dirty="0"/>
              <a:t> main()</a:t>
            </a:r>
            <a:endParaRPr lang="en-US" altLang="zh-CN" sz="1950" dirty="0"/>
          </a:p>
          <a:p>
            <a:pPr marL="274320" indent="-191770" fontAlgn="auto">
              <a:spcBef>
                <a:spcPts val="0"/>
              </a:spcBef>
              <a:spcAft>
                <a:spcPts val="0"/>
              </a:spcAft>
              <a:buClr>
                <a:schemeClr val="accent3"/>
              </a:buClr>
              <a:buNone/>
              <a:defRPr/>
            </a:pPr>
            <a:r>
              <a:rPr lang="en-US" altLang="zh-CN" sz="1950" dirty="0"/>
              <a:t>{</a:t>
            </a:r>
            <a:endParaRPr lang="en-US" altLang="zh-CN" sz="1950" dirty="0"/>
          </a:p>
          <a:p>
            <a:pPr marL="274320" indent="-191770" fontAlgn="auto">
              <a:spcBef>
                <a:spcPts val="0"/>
              </a:spcBef>
              <a:spcAft>
                <a:spcPts val="0"/>
              </a:spcAft>
              <a:buClr>
                <a:schemeClr val="accent3"/>
              </a:buClr>
              <a:buNone/>
              <a:defRPr/>
            </a:pPr>
            <a:r>
              <a:rPr lang="en-US" altLang="zh-CN" sz="1950" dirty="0"/>
              <a:t>    Side s = Side::Right;</a:t>
            </a:r>
            <a:endParaRPr lang="en-US" altLang="zh-CN" sz="1950" dirty="0"/>
          </a:p>
          <a:p>
            <a:pPr marL="274320" indent="-191770" fontAlgn="auto">
              <a:spcBef>
                <a:spcPts val="0"/>
              </a:spcBef>
              <a:spcAft>
                <a:spcPts val="0"/>
              </a:spcAft>
              <a:buClr>
                <a:schemeClr val="accent3"/>
              </a:buClr>
              <a:buNone/>
              <a:defRPr/>
            </a:pPr>
            <a:r>
              <a:rPr lang="en-US" altLang="zh-CN" sz="1950" dirty="0"/>
              <a:t>    Thing w = Thing::Wrong;</a:t>
            </a:r>
            <a:endParaRPr lang="en-US" altLang="zh-CN" sz="1950" dirty="0"/>
          </a:p>
          <a:p>
            <a:pPr marL="274320" indent="-191770" fontAlgn="auto">
              <a:spcBef>
                <a:spcPts val="0"/>
              </a:spcBef>
              <a:spcAft>
                <a:spcPts val="0"/>
              </a:spcAft>
              <a:buClr>
                <a:schemeClr val="accent3"/>
              </a:buClr>
              <a:buNone/>
              <a:defRPr/>
            </a:pPr>
            <a:r>
              <a:rPr lang="en-US" altLang="zh-CN" sz="1950" dirty="0"/>
              <a:t>    </a:t>
            </a:r>
            <a:r>
              <a:rPr lang="en-US" altLang="zh-CN" sz="1950" dirty="0" err="1"/>
              <a:t>cout</a:t>
            </a:r>
            <a:r>
              <a:rPr lang="en-US" altLang="zh-CN" sz="1950" dirty="0"/>
              <a:t> &lt;&lt; (</a:t>
            </a:r>
            <a:r>
              <a:rPr lang="en-US" altLang="zh-CN" sz="1950" dirty="0">
                <a:solidFill>
                  <a:srgbClr val="FFFF00"/>
                </a:solidFill>
              </a:rPr>
              <a:t>s == w</a:t>
            </a:r>
            <a:r>
              <a:rPr lang="en-US" altLang="zh-CN" sz="1950" dirty="0"/>
              <a:t>) &lt;&lt; </a:t>
            </a:r>
            <a:r>
              <a:rPr lang="en-US" altLang="zh-CN" sz="1950" dirty="0" err="1"/>
              <a:t>endl</a:t>
            </a:r>
            <a:r>
              <a:rPr lang="en-US" altLang="zh-CN" sz="1950" dirty="0"/>
              <a:t>;  //</a:t>
            </a:r>
            <a:r>
              <a:rPr lang="zh-CN" altLang="en-US" sz="1950" dirty="0"/>
              <a:t>编译错误，无法直接比较不同枚举类</a:t>
            </a:r>
            <a:endParaRPr lang="zh-CN" altLang="en-US" sz="1950" dirty="0"/>
          </a:p>
          <a:p>
            <a:pPr marL="274320" indent="-191770" fontAlgn="auto">
              <a:spcBef>
                <a:spcPts val="0"/>
              </a:spcBef>
              <a:spcAft>
                <a:spcPts val="0"/>
              </a:spcAft>
              <a:buClr>
                <a:schemeClr val="accent3"/>
              </a:buClr>
              <a:buNone/>
              <a:defRPr/>
            </a:pPr>
            <a:r>
              <a:rPr lang="en-US" altLang="zh-CN" sz="1950" dirty="0"/>
              <a:t>    return 0;</a:t>
            </a:r>
            <a:endParaRPr lang="en-US" altLang="zh-CN" sz="1950" dirty="0"/>
          </a:p>
          <a:p>
            <a:pPr marL="274320" indent="-191770" fontAlgn="auto">
              <a:spcBef>
                <a:spcPts val="0"/>
              </a:spcBef>
              <a:spcAft>
                <a:spcPts val="0"/>
              </a:spcAft>
              <a:buClr>
                <a:schemeClr val="accent3"/>
              </a:buClr>
              <a:buNone/>
              <a:defRPr/>
            </a:pPr>
            <a:r>
              <a:rPr lang="en-US" altLang="zh-CN" sz="1950" dirty="0"/>
              <a:t>}</a:t>
            </a:r>
            <a:endParaRPr lang="en-US" altLang="zh-CN" sz="1950" dirty="0"/>
          </a:p>
        </p:txBody>
      </p:sp>
      <p:sp>
        <p:nvSpPr>
          <p:cNvPr id="5" name="标题 4"/>
          <p:cNvSpPr txBox="1"/>
          <p:nvPr/>
        </p:nvSpPr>
        <p:spPr>
          <a:xfrm>
            <a:off x="516598" y="857919"/>
            <a:ext cx="7644203" cy="681363"/>
          </a:xfrm>
          <a:prstGeom prst="rect">
            <a:avLst/>
          </a:prstGeom>
        </p:spPr>
        <p:txBody>
          <a:bodyPr anchor="ctr">
            <a:normAutofit/>
          </a:bodyPr>
          <a:lstStyle/>
          <a:p>
            <a:pPr fontAlgn="auto">
              <a:spcAft>
                <a:spcPts val="0"/>
              </a:spcAft>
              <a:defRPr/>
            </a:pPr>
            <a:endParaRPr kumimoji="0" lang="zh-CN" altLang="en-US" sz="2700" dirty="0">
              <a:solidFill>
                <a:schemeClr val="bg1"/>
              </a:solidFill>
              <a:latin typeface="微软雅黑" panose="020B0503020204020204" pitchFamily="34" charset="-122"/>
              <a:ea typeface="微软雅黑" panose="020B0503020204020204" pitchFamily="34" charset="-122"/>
              <a:cs typeface="+mj-cs"/>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76447"/>
            <a:ext cx="8229838" cy="799892"/>
          </a:xfrm>
        </p:spPr>
        <p:txBody>
          <a:bodyPr/>
          <a:lstStyle/>
          <a:p>
            <a:r>
              <a:rPr lang="zh-CN" altLang="en-US" b="1" dirty="0" smtClean="0">
                <a:latin typeface="微软雅黑" panose="020B0503020204020204" pitchFamily="34" charset="-122"/>
                <a:ea typeface="微软雅黑" panose="020B0503020204020204" pitchFamily="34" charset="-122"/>
              </a:rPr>
              <a:t>传统枚举类型和枚举</a:t>
            </a:r>
            <a:r>
              <a:rPr lang="zh-CN" altLang="en-US" b="1" dirty="0">
                <a:latin typeface="微软雅黑" panose="020B0503020204020204" pitchFamily="34" charset="-122"/>
                <a:ea typeface="微软雅黑" panose="020B0503020204020204" pitchFamily="34" charset="-122"/>
              </a:rPr>
              <a:t>类</a:t>
            </a:r>
            <a:r>
              <a:rPr lang="zh-CN" altLang="en-US" b="1" dirty="0" smtClean="0">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比较</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11560" y="1700808"/>
            <a:ext cx="8229838" cy="3221885"/>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传统</a:t>
            </a:r>
            <a:r>
              <a:rPr lang="en-US" altLang="zh-CN" sz="2000" b="1" dirty="0">
                <a:latin typeface="微软雅黑" panose="020B0503020204020204" pitchFamily="34" charset="-122"/>
                <a:ea typeface="微软雅黑" panose="020B0503020204020204" pitchFamily="34" charset="-122"/>
              </a:rPr>
              <a:t>C++</a:t>
            </a:r>
            <a:r>
              <a:rPr lang="zh-CN" altLang="en-US" sz="2000" b="1" dirty="0">
                <a:latin typeface="微软雅黑" panose="020B0503020204020204" pitchFamily="34" charset="-122"/>
                <a:ea typeface="微软雅黑" panose="020B0503020204020204" pitchFamily="34" charset="-122"/>
              </a:rPr>
              <a:t>的</a:t>
            </a:r>
            <a:r>
              <a:rPr lang="en-US" altLang="zh-CN" sz="2000" b="1" dirty="0" err="1" smtClean="0">
                <a:latin typeface="微软雅黑" panose="020B0503020204020204" pitchFamily="34" charset="-122"/>
                <a:ea typeface="微软雅黑" panose="020B0503020204020204" pitchFamily="34" charset="-122"/>
              </a:rPr>
              <a:t>enum</a:t>
            </a:r>
            <a:r>
              <a:rPr lang="zh-CN" altLang="en-US" sz="2000" b="1" dirty="0" smtClean="0">
                <a:latin typeface="微软雅黑" panose="020B0503020204020204" pitchFamily="34" charset="-122"/>
                <a:ea typeface="微软雅黑" panose="020B0503020204020204" pitchFamily="34" charset="-122"/>
              </a:rPr>
              <a:t>特殊之处：只要</a:t>
            </a:r>
            <a:r>
              <a:rPr lang="zh-CN" altLang="en-US" sz="2000" b="1" dirty="0">
                <a:latin typeface="微软雅黑" panose="020B0503020204020204" pitchFamily="34" charset="-122"/>
                <a:ea typeface="微软雅黑" panose="020B0503020204020204" pitchFamily="34" charset="-122"/>
              </a:rPr>
              <a:t>有作用域包含这个枚举类型，那么在这个作用域内这个枚举的变量名就生效了。即枚举量的名字泄露到了包含这个枚举类型的作用域内。在这个作用域内就不能有其他实体取相同的名字。所以在</a:t>
            </a:r>
            <a:r>
              <a:rPr lang="en-US" altLang="zh-CN" sz="2000" b="1" dirty="0">
                <a:latin typeface="微软雅黑" panose="020B0503020204020204" pitchFamily="34" charset="-122"/>
                <a:ea typeface="微软雅黑" panose="020B0503020204020204" pitchFamily="34" charset="-122"/>
              </a:rPr>
              <a:t>C++98</a:t>
            </a:r>
            <a:r>
              <a:rPr lang="zh-CN" altLang="en-US" sz="2000" b="1" dirty="0">
                <a:latin typeface="微软雅黑" panose="020B0503020204020204" pitchFamily="34" charset="-122"/>
                <a:ea typeface="微软雅黑" panose="020B0503020204020204" pitchFamily="34" charset="-122"/>
              </a:rPr>
              <a:t>中这个称之为不限范围的枚举型</a:t>
            </a:r>
            <a:r>
              <a:rPr lang="zh-CN" altLang="en-US" sz="2000" b="1" dirty="0" smtClean="0">
                <a:latin typeface="微软雅黑" panose="020B0503020204020204" pitchFamily="34" charset="-122"/>
                <a:ea typeface="微软雅黑" panose="020B0503020204020204" pitchFamily="34" charset="-122"/>
              </a:rPr>
              <a:t>别</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r>
              <a:rPr lang="en-US" altLang="zh-CN" sz="2000" b="1" dirty="0" err="1" smtClean="0">
                <a:latin typeface="微软雅黑" panose="020B0503020204020204" pitchFamily="34" charset="-122"/>
                <a:ea typeface="微软雅黑" panose="020B0503020204020204" pitchFamily="34" charset="-122"/>
              </a:rPr>
              <a:t>enum</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Color{</a:t>
            </a:r>
            <a:r>
              <a:rPr lang="en-US" altLang="zh-CN" sz="2000" b="1" dirty="0" err="1">
                <a:latin typeface="微软雅黑" panose="020B0503020204020204" pitchFamily="34" charset="-122"/>
                <a:ea typeface="微软雅黑" panose="020B0503020204020204" pitchFamily="34" charset="-122"/>
              </a:rPr>
              <a:t>black,white,red</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black</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white</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red</a:t>
            </a:r>
            <a:r>
              <a:rPr lang="zh-CN" altLang="en-US" sz="2000" b="1" dirty="0">
                <a:latin typeface="微软雅黑" panose="020B0503020204020204" pitchFamily="34" charset="-122"/>
                <a:ea typeface="微软雅黑" panose="020B0503020204020204" pitchFamily="34" charset="-122"/>
              </a:rPr>
              <a:t>作用域和</a:t>
            </a:r>
            <a:r>
              <a:rPr lang="en-US" altLang="zh-CN" sz="2000" b="1" dirty="0">
                <a:latin typeface="微软雅黑" panose="020B0503020204020204" pitchFamily="34" charset="-122"/>
                <a:ea typeface="微软雅黑" panose="020B0503020204020204" pitchFamily="34" charset="-122"/>
              </a:rPr>
              <a:t>color</a:t>
            </a:r>
            <a:r>
              <a:rPr lang="zh-CN" altLang="en-US" sz="2000" b="1" dirty="0">
                <a:latin typeface="微软雅黑" panose="020B0503020204020204" pitchFamily="34" charset="-122"/>
                <a:ea typeface="微软雅黑" panose="020B0503020204020204" pitchFamily="34" charset="-122"/>
              </a:rPr>
              <a:t>作用域</a:t>
            </a:r>
            <a:r>
              <a:rPr lang="zh-CN" altLang="en-US" sz="2000" b="1" dirty="0" smtClean="0">
                <a:latin typeface="微软雅黑" panose="020B0503020204020204" pitchFamily="34" charset="-122"/>
                <a:ea typeface="微软雅黑" panose="020B0503020204020204" pitchFamily="34" charset="-122"/>
              </a:rPr>
              <a:t>相同</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auto </a:t>
            </a:r>
            <a:r>
              <a:rPr lang="en-US" altLang="zh-CN" sz="2000" b="1" dirty="0">
                <a:latin typeface="微软雅黑" panose="020B0503020204020204" pitchFamily="34" charset="-122"/>
                <a:ea typeface="微软雅黑" panose="020B0503020204020204" pitchFamily="34" charset="-122"/>
              </a:rPr>
              <a:t>white = false; //</a:t>
            </a:r>
            <a:r>
              <a:rPr lang="zh-CN" altLang="en-US" sz="2000" b="1" dirty="0">
                <a:latin typeface="微软雅黑" panose="020B0503020204020204" pitchFamily="34" charset="-122"/>
                <a:ea typeface="微软雅黑" panose="020B0503020204020204" pitchFamily="34" charset="-122"/>
              </a:rPr>
              <a:t>错误，</a:t>
            </a:r>
            <a:r>
              <a:rPr lang="en-US" altLang="zh-CN" sz="2000" b="1" dirty="0">
                <a:latin typeface="微软雅黑" panose="020B0503020204020204" pitchFamily="34" charset="-122"/>
                <a:ea typeface="微软雅黑" panose="020B0503020204020204" pitchFamily="34" charset="-122"/>
              </a:rPr>
              <a:t>white</a:t>
            </a:r>
            <a:r>
              <a:rPr lang="zh-CN" altLang="en-US" sz="2000" b="1" dirty="0">
                <a:latin typeface="微软雅黑" panose="020B0503020204020204" pitchFamily="34" charset="-122"/>
                <a:ea typeface="微软雅黑" panose="020B0503020204020204" pitchFamily="34" charset="-122"/>
              </a:rPr>
              <a:t>已经被声明过</a:t>
            </a:r>
            <a:r>
              <a:rPr lang="zh-CN" altLang="en-US" sz="2000" b="1" dirty="0" smtClean="0">
                <a:latin typeface="微软雅黑" panose="020B0503020204020204" pitchFamily="34" charset="-122"/>
                <a:ea typeface="微软雅黑" panose="020B0503020204020204" pitchFamily="34" charset="-122"/>
              </a:rPr>
              <a:t>了</a:t>
            </a:r>
            <a:endParaRPr lang="en-US" altLang="zh-CN" sz="2000" b="1" dirty="0">
              <a:latin typeface="微软雅黑" panose="020B0503020204020204" pitchFamily="34" charset="-122"/>
              <a:ea typeface="微软雅黑" panose="020B0503020204020204" pitchFamily="34" charset="-122"/>
            </a:endParaRPr>
          </a:p>
          <a:p>
            <a:pPr marL="0" indent="0">
              <a:buNone/>
            </a:pPr>
            <a:endParaRPr lang="zh-CN" altLang="en-US" sz="20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76447"/>
            <a:ext cx="8229838" cy="799892"/>
          </a:xfrm>
        </p:spPr>
        <p:txBody>
          <a:bodyPr/>
          <a:lstStyle/>
          <a:p>
            <a:r>
              <a:rPr lang="zh-CN" altLang="en-US" b="1" dirty="0" smtClean="0">
                <a:latin typeface="微软雅黑" panose="020B0503020204020204" pitchFamily="34" charset="-122"/>
                <a:ea typeface="微软雅黑" panose="020B0503020204020204" pitchFamily="34" charset="-122"/>
              </a:rPr>
              <a:t>传统枚举类型和枚举</a:t>
            </a:r>
            <a:r>
              <a:rPr lang="zh-CN" altLang="en-US" b="1" dirty="0">
                <a:latin typeface="微软雅黑" panose="020B0503020204020204" pitchFamily="34" charset="-122"/>
                <a:ea typeface="微软雅黑" panose="020B0503020204020204" pitchFamily="34" charset="-122"/>
              </a:rPr>
              <a:t>类</a:t>
            </a:r>
            <a:r>
              <a:rPr lang="zh-CN" altLang="en-US" b="1" dirty="0" smtClean="0">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比较</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11560" y="1700808"/>
            <a:ext cx="8229838" cy="3221885"/>
          </a:xfrm>
        </p:spPr>
        <p:txBody>
          <a:bodyPr/>
          <a:lstStyle/>
          <a:p>
            <a:pPr marL="0" indent="0">
              <a:buNone/>
            </a:pPr>
            <a:r>
              <a:rPr lang="en-US" altLang="zh-CN" sz="2000" b="1" dirty="0" smtClean="0">
                <a:latin typeface="微软雅黑" panose="020B0503020204020204" pitchFamily="34" charset="-122"/>
                <a:ea typeface="微软雅黑" panose="020B0503020204020204" pitchFamily="34" charset="-122"/>
              </a:rPr>
              <a:t>C</a:t>
            </a:r>
            <a:r>
              <a:rPr lang="en-US" altLang="zh-CN" sz="2000" b="1" dirty="0">
                <a:latin typeface="微软雅黑" panose="020B0503020204020204" pitchFamily="34" charset="-122"/>
                <a:ea typeface="微软雅黑" panose="020B0503020204020204" pitchFamily="34" charset="-122"/>
              </a:rPr>
              <a:t>++11</a:t>
            </a:r>
            <a:r>
              <a:rPr lang="zh-CN" altLang="en-US" sz="2000" b="1" dirty="0">
                <a:latin typeface="微软雅黑" panose="020B0503020204020204" pitchFamily="34" charset="-122"/>
                <a:ea typeface="微软雅黑" panose="020B0503020204020204" pitchFamily="34" charset="-122"/>
              </a:rPr>
              <a:t>中新增了枚举</a:t>
            </a:r>
            <a:r>
              <a:rPr lang="zh-CN" altLang="en-US" sz="2000" b="1" dirty="0" smtClean="0">
                <a:latin typeface="微软雅黑" panose="020B0503020204020204" pitchFamily="34" charset="-122"/>
                <a:ea typeface="微软雅黑" panose="020B0503020204020204" pitchFamily="34" charset="-122"/>
              </a:rPr>
              <a:t>类：也</a:t>
            </a:r>
            <a:r>
              <a:rPr lang="zh-CN" altLang="en-US" sz="2000" b="1" dirty="0">
                <a:latin typeface="微软雅黑" panose="020B0503020204020204" pitchFamily="34" charset="-122"/>
                <a:ea typeface="微软雅黑" panose="020B0503020204020204" pitchFamily="34" charset="-122"/>
              </a:rPr>
              <a:t>称作限定作用域的枚举</a:t>
            </a:r>
            <a:r>
              <a:rPr lang="zh-CN" altLang="en-US" sz="2000" b="1" dirty="0" smtClean="0">
                <a:latin typeface="微软雅黑" panose="020B0503020204020204" pitchFamily="34" charset="-122"/>
                <a:ea typeface="微软雅黑" panose="020B0503020204020204" pitchFamily="34" charset="-122"/>
              </a:rPr>
              <a:t>类</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、枚举</a:t>
            </a:r>
            <a:r>
              <a:rPr lang="zh-CN" altLang="en-US" sz="2000" b="1" dirty="0">
                <a:latin typeface="微软雅黑" panose="020B0503020204020204" pitchFamily="34" charset="-122"/>
                <a:ea typeface="微软雅黑" panose="020B0503020204020204" pitchFamily="34" charset="-122"/>
              </a:rPr>
              <a:t>类优势</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降低命名空间污染  </a:t>
            </a:r>
            <a:endParaRPr lang="en-US" altLang="zh-CN" sz="2000" b="1" dirty="0">
              <a:latin typeface="微软雅黑" panose="020B0503020204020204" pitchFamily="34" charset="-122"/>
              <a:ea typeface="微软雅黑" panose="020B0503020204020204" pitchFamily="34" charset="-122"/>
            </a:endParaRPr>
          </a:p>
          <a:p>
            <a:pPr marL="0" indent="0">
              <a:buNone/>
            </a:pPr>
            <a:r>
              <a:rPr lang="en-US" altLang="zh-CN" sz="2000" b="1" dirty="0" err="1" smtClean="0">
                <a:latin typeface="微软雅黑" panose="020B0503020204020204" pitchFamily="34" charset="-122"/>
                <a:ea typeface="微软雅黑" panose="020B0503020204020204" pitchFamily="34" charset="-122"/>
              </a:rPr>
              <a:t>enum</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class Color{</a:t>
            </a:r>
            <a:r>
              <a:rPr lang="en-US" altLang="zh-CN" sz="2000" b="1" dirty="0" err="1">
                <a:latin typeface="微软雅黑" panose="020B0503020204020204" pitchFamily="34" charset="-122"/>
                <a:ea typeface="微软雅黑" panose="020B0503020204020204" pitchFamily="34" charset="-122"/>
              </a:rPr>
              <a:t>black,white,red</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black</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white</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red</a:t>
            </a:r>
            <a:r>
              <a:rPr lang="zh-CN" altLang="en-US" sz="2000" b="1" dirty="0">
                <a:latin typeface="微软雅黑" panose="020B0503020204020204" pitchFamily="34" charset="-122"/>
                <a:ea typeface="微软雅黑" panose="020B0503020204020204" pitchFamily="34" charset="-122"/>
              </a:rPr>
              <a:t>作用域仅在大括号内</a:t>
            </a:r>
            <a:r>
              <a:rPr lang="zh-CN" altLang="en-US" sz="2000" b="1" dirty="0" smtClean="0">
                <a:latin typeface="微软雅黑" panose="020B0503020204020204" pitchFamily="34" charset="-122"/>
                <a:ea typeface="微软雅黑" panose="020B0503020204020204" pitchFamily="34" charset="-122"/>
              </a:rPr>
              <a:t>生效</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auto </a:t>
            </a:r>
            <a:r>
              <a:rPr lang="en-US" altLang="zh-CN" sz="2000" b="1" dirty="0">
                <a:latin typeface="微软雅黑" panose="020B0503020204020204" pitchFamily="34" charset="-122"/>
                <a:ea typeface="微软雅黑" panose="020B0503020204020204" pitchFamily="34" charset="-122"/>
              </a:rPr>
              <a:t>white = false; //</a:t>
            </a:r>
            <a:r>
              <a:rPr lang="zh-CN" altLang="en-US" sz="2000" b="1" dirty="0">
                <a:latin typeface="微软雅黑" panose="020B0503020204020204" pitchFamily="34" charset="-122"/>
                <a:ea typeface="微软雅黑" panose="020B0503020204020204" pitchFamily="34" charset="-122"/>
              </a:rPr>
              <a:t>正确，这个</a:t>
            </a:r>
            <a:r>
              <a:rPr lang="en-US" altLang="zh-CN" sz="2000" b="1" dirty="0">
                <a:latin typeface="微软雅黑" panose="020B0503020204020204" pitchFamily="34" charset="-122"/>
                <a:ea typeface="微软雅黑" panose="020B0503020204020204" pitchFamily="34" charset="-122"/>
              </a:rPr>
              <a:t>white</a:t>
            </a:r>
            <a:r>
              <a:rPr lang="zh-CN" altLang="en-US" sz="2000" b="1" dirty="0">
                <a:latin typeface="微软雅黑" panose="020B0503020204020204" pitchFamily="34" charset="-122"/>
                <a:ea typeface="微软雅黑" panose="020B0503020204020204" pitchFamily="34" charset="-122"/>
              </a:rPr>
              <a:t>并不是</a:t>
            </a:r>
            <a:r>
              <a:rPr lang="en-US" altLang="zh-CN" sz="2000" b="1" dirty="0">
                <a:latin typeface="微软雅黑" panose="020B0503020204020204" pitchFamily="34" charset="-122"/>
                <a:ea typeface="微软雅黑" panose="020B0503020204020204" pitchFamily="34" charset="-122"/>
              </a:rPr>
              <a:t>Color</a:t>
            </a:r>
            <a:r>
              <a:rPr lang="zh-CN" altLang="en-US" sz="2000" b="1" dirty="0">
                <a:latin typeface="微软雅黑" panose="020B0503020204020204" pitchFamily="34" charset="-122"/>
                <a:ea typeface="微软雅黑" panose="020B0503020204020204" pitchFamily="34" charset="-122"/>
              </a:rPr>
              <a:t>中的</a:t>
            </a:r>
            <a:r>
              <a:rPr lang="en-US" altLang="zh-CN" sz="2000" b="1" dirty="0" smtClean="0">
                <a:latin typeface="微软雅黑" panose="020B0503020204020204" pitchFamily="34" charset="-122"/>
                <a:ea typeface="微软雅黑" panose="020B0503020204020204" pitchFamily="34" charset="-122"/>
              </a:rPr>
              <a:t>white</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Color </a:t>
            </a:r>
            <a:r>
              <a:rPr lang="en-US" altLang="zh-CN" sz="2000" b="1" dirty="0">
                <a:latin typeface="微软雅黑" panose="020B0503020204020204" pitchFamily="34" charset="-122"/>
                <a:ea typeface="微软雅黑" panose="020B0503020204020204" pitchFamily="34" charset="-122"/>
              </a:rPr>
              <a:t>c = white; //</a:t>
            </a:r>
            <a:r>
              <a:rPr lang="zh-CN" altLang="en-US" sz="2000" b="1" dirty="0">
                <a:latin typeface="微软雅黑" panose="020B0503020204020204" pitchFamily="34" charset="-122"/>
                <a:ea typeface="微软雅黑" panose="020B0503020204020204" pitchFamily="34" charset="-122"/>
              </a:rPr>
              <a:t>错误，在作用域范围内没有</a:t>
            </a:r>
            <a:r>
              <a:rPr lang="en-US" altLang="zh-CN" sz="2000" b="1" dirty="0">
                <a:latin typeface="微软雅黑" panose="020B0503020204020204" pitchFamily="34" charset="-122"/>
                <a:ea typeface="微软雅黑" panose="020B0503020204020204" pitchFamily="34" charset="-122"/>
              </a:rPr>
              <a:t>white</a:t>
            </a:r>
            <a:r>
              <a:rPr lang="zh-CN" altLang="en-US" sz="2000" b="1" dirty="0">
                <a:latin typeface="微软雅黑" panose="020B0503020204020204" pitchFamily="34" charset="-122"/>
                <a:ea typeface="微软雅黑" panose="020B0503020204020204" pitchFamily="34" charset="-122"/>
              </a:rPr>
              <a:t>这个枚举量</a:t>
            </a:r>
            <a:r>
              <a:rPr lang="en-US" altLang="zh-CN" sz="2000" b="1" dirty="0">
                <a:latin typeface="微软雅黑" panose="020B0503020204020204" pitchFamily="34" charset="-122"/>
                <a:ea typeface="微软雅黑" panose="020B0503020204020204" pitchFamily="34" charset="-122"/>
              </a:rPr>
              <a:t>Color c = Color::white; //</a:t>
            </a:r>
            <a:r>
              <a:rPr lang="zh-CN" altLang="en-US" sz="2000" b="1" dirty="0" smtClean="0">
                <a:latin typeface="微软雅黑" panose="020B0503020204020204" pitchFamily="34" charset="-122"/>
                <a:ea typeface="微软雅黑" panose="020B0503020204020204" pitchFamily="34" charset="-122"/>
              </a:rPr>
              <a:t>正确</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auto </a:t>
            </a:r>
            <a:r>
              <a:rPr lang="en-US" altLang="zh-CN" sz="2000" b="1" dirty="0">
                <a:latin typeface="微软雅黑" panose="020B0503020204020204" pitchFamily="34" charset="-122"/>
                <a:ea typeface="微软雅黑" panose="020B0503020204020204" pitchFamily="34" charset="-122"/>
              </a:rPr>
              <a:t>c = Color::white; //</a:t>
            </a:r>
            <a:r>
              <a:rPr lang="zh-CN" altLang="en-US" sz="2000" b="1" dirty="0" smtClean="0">
                <a:latin typeface="微软雅黑" panose="020B0503020204020204" pitchFamily="34" charset="-122"/>
                <a:ea typeface="微软雅黑" panose="020B0503020204020204" pitchFamily="34" charset="-122"/>
              </a:rPr>
              <a:t>正确</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76447"/>
            <a:ext cx="8229838" cy="799892"/>
          </a:xfrm>
        </p:spPr>
        <p:txBody>
          <a:bodyPr/>
          <a:lstStyle/>
          <a:p>
            <a:r>
              <a:rPr lang="zh-CN" altLang="en-US" b="1" dirty="0" smtClean="0">
                <a:latin typeface="微软雅黑" panose="020B0503020204020204" pitchFamily="34" charset="-122"/>
                <a:ea typeface="微软雅黑" panose="020B0503020204020204" pitchFamily="34" charset="-122"/>
              </a:rPr>
              <a:t>传统枚举类型和枚举</a:t>
            </a:r>
            <a:r>
              <a:rPr lang="zh-CN" altLang="en-US" b="1" dirty="0">
                <a:latin typeface="微软雅黑" panose="020B0503020204020204" pitchFamily="34" charset="-122"/>
                <a:ea typeface="微软雅黑" panose="020B0503020204020204" pitchFamily="34" charset="-122"/>
              </a:rPr>
              <a:t>类</a:t>
            </a:r>
            <a:r>
              <a:rPr lang="zh-CN" altLang="en-US" b="1" dirty="0" smtClean="0">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比较</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11560" y="1700808"/>
            <a:ext cx="8229838" cy="3221885"/>
          </a:xfrm>
        </p:spPr>
        <p:txBody>
          <a:bodyPr/>
          <a:lstStyle/>
          <a:p>
            <a:pPr marL="0" indent="0">
              <a:buNone/>
            </a:pPr>
            <a:r>
              <a:rPr lang="en-US" altLang="zh-CN" sz="2000" b="1" dirty="0" smtClean="0">
                <a:latin typeface="微软雅黑" panose="020B0503020204020204" pitchFamily="34" charset="-122"/>
                <a:ea typeface="微软雅黑" panose="020B0503020204020204" pitchFamily="34" charset="-122"/>
              </a:rPr>
              <a:t>C</a:t>
            </a:r>
            <a:r>
              <a:rPr lang="en-US" altLang="zh-CN" sz="2000" b="1" dirty="0">
                <a:latin typeface="微软雅黑" panose="020B0503020204020204" pitchFamily="34" charset="-122"/>
                <a:ea typeface="微软雅黑" panose="020B0503020204020204" pitchFamily="34" charset="-122"/>
              </a:rPr>
              <a:t>++11</a:t>
            </a:r>
            <a:r>
              <a:rPr lang="zh-CN" altLang="en-US" sz="2000" b="1" dirty="0">
                <a:latin typeface="微软雅黑" panose="020B0503020204020204" pitchFamily="34" charset="-122"/>
                <a:ea typeface="微软雅黑" panose="020B0503020204020204" pitchFamily="34" charset="-122"/>
              </a:rPr>
              <a:t>中新增了枚举</a:t>
            </a:r>
            <a:r>
              <a:rPr lang="zh-CN" altLang="en-US" sz="2000" b="1" dirty="0" smtClean="0">
                <a:latin typeface="微软雅黑" panose="020B0503020204020204" pitchFamily="34" charset="-122"/>
                <a:ea typeface="微软雅黑" panose="020B0503020204020204" pitchFamily="34" charset="-122"/>
              </a:rPr>
              <a:t>类：也</a:t>
            </a:r>
            <a:r>
              <a:rPr lang="zh-CN" altLang="en-US" sz="2000" b="1" dirty="0">
                <a:latin typeface="微软雅黑" panose="020B0503020204020204" pitchFamily="34" charset="-122"/>
                <a:ea typeface="微软雅黑" panose="020B0503020204020204" pitchFamily="34" charset="-122"/>
              </a:rPr>
              <a:t>称作限定作用域的枚举</a:t>
            </a:r>
            <a:r>
              <a:rPr lang="zh-CN" altLang="en-US" sz="2000" b="1" dirty="0" smtClean="0">
                <a:latin typeface="微软雅黑" panose="020B0503020204020204" pitchFamily="34" charset="-122"/>
                <a:ea typeface="微软雅黑" panose="020B0503020204020204" pitchFamily="34" charset="-122"/>
              </a:rPr>
              <a:t>类</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2</a:t>
            </a:r>
            <a:r>
              <a:rPr lang="zh-CN" altLang="en-US" sz="2000" b="1" dirty="0" smtClean="0">
                <a:latin typeface="微软雅黑" panose="020B0503020204020204" pitchFamily="34" charset="-122"/>
                <a:ea typeface="微软雅黑" panose="020B0503020204020204" pitchFamily="34" charset="-122"/>
              </a:rPr>
              <a:t>、枚举</a:t>
            </a:r>
            <a:r>
              <a:rPr lang="zh-CN" altLang="en-US" sz="2000" b="1" dirty="0">
                <a:latin typeface="微软雅黑" panose="020B0503020204020204" pitchFamily="34" charset="-122"/>
                <a:ea typeface="微软雅黑" panose="020B0503020204020204" pitchFamily="34" charset="-122"/>
              </a:rPr>
              <a:t>类优势</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避免发生隐式</a:t>
            </a:r>
            <a:r>
              <a:rPr lang="zh-CN" altLang="en-US" sz="2000" b="1" dirty="0" smtClean="0">
                <a:latin typeface="微软雅黑" panose="020B0503020204020204" pitchFamily="34" charset="-122"/>
                <a:ea typeface="微软雅黑" panose="020B0503020204020204" pitchFamily="34" charset="-122"/>
              </a:rPr>
              <a:t>转换</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r>
              <a:rPr lang="zh-CN" altLang="en-US" sz="2000" b="1" dirty="0" smtClean="0">
                <a:latin typeface="微软雅黑" panose="020B0503020204020204" pitchFamily="34" charset="-122"/>
                <a:ea typeface="微软雅黑" panose="020B0503020204020204" pitchFamily="34" charset="-122"/>
              </a:rPr>
              <a:t>传统</a:t>
            </a:r>
            <a:r>
              <a:rPr lang="zh-CN" altLang="en-US" sz="2000" b="1" dirty="0">
                <a:latin typeface="微软雅黑" panose="020B0503020204020204" pitchFamily="34" charset="-122"/>
                <a:ea typeface="微软雅黑" panose="020B0503020204020204" pitchFamily="34" charset="-122"/>
              </a:rPr>
              <a:t>的不限范围的枚举类是可以发生隐式转换的</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err="1" smtClean="0">
                <a:latin typeface="微软雅黑" panose="020B0503020204020204" pitchFamily="34" charset="-122"/>
                <a:ea typeface="微软雅黑" panose="020B0503020204020204" pitchFamily="34" charset="-122"/>
              </a:rPr>
              <a:t>enum</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Color{</a:t>
            </a:r>
            <a:r>
              <a:rPr lang="en-US" altLang="zh-CN" sz="2000" b="1" dirty="0" err="1">
                <a:latin typeface="微软雅黑" panose="020B0503020204020204" pitchFamily="34" charset="-122"/>
                <a:ea typeface="微软雅黑" panose="020B0503020204020204" pitchFamily="34" charset="-122"/>
              </a:rPr>
              <a:t>black,white,red</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r>
              <a:rPr lang="en-US" altLang="zh-CN" sz="2000" b="1" dirty="0" err="1" smtClean="0">
                <a:latin typeface="微软雅黑" panose="020B0503020204020204" pitchFamily="34" charset="-122"/>
                <a:ea typeface="微软雅黑" panose="020B0503020204020204" pitchFamily="34" charset="-122"/>
              </a:rPr>
              <a:t>std</a:t>
            </a:r>
            <a:r>
              <a:rPr lang="en-US" altLang="zh-CN"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vectorstd</a:t>
            </a:r>
            <a:r>
              <a:rPr lang="en-US" altLang="zh-CN"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size_t</a:t>
            </a:r>
            <a:r>
              <a:rPr lang="en-US" altLang="zh-CN" sz="2000" b="1" dirty="0">
                <a:latin typeface="微软雅黑" panose="020B0503020204020204" pitchFamily="34" charset="-122"/>
                <a:ea typeface="微软雅黑" panose="020B0503020204020204" pitchFamily="34" charset="-122"/>
              </a:rPr>
              <a:t> </a:t>
            </a:r>
            <a:r>
              <a:rPr lang="en-US" altLang="zh-CN" sz="2000" b="1" dirty="0" err="1">
                <a:latin typeface="微软雅黑" panose="020B0503020204020204" pitchFamily="34" charset="-122"/>
                <a:ea typeface="微软雅黑" panose="020B0503020204020204" pitchFamily="34" charset="-122"/>
              </a:rPr>
              <a:t>primeFactors</a:t>
            </a:r>
            <a:r>
              <a:rPr lang="en-US" altLang="zh-CN"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std</a:t>
            </a:r>
            <a:r>
              <a:rPr lang="en-US" altLang="zh-CN"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size_t</a:t>
            </a:r>
            <a:r>
              <a:rPr lang="en-US" altLang="zh-CN" sz="2000" b="1" dirty="0">
                <a:latin typeface="微软雅黑" panose="020B0503020204020204" pitchFamily="34" charset="-122"/>
                <a:ea typeface="微软雅黑" panose="020B0503020204020204" pitchFamily="34" charset="-122"/>
              </a:rPr>
              <a:t> x</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函数返回</a:t>
            </a:r>
            <a:r>
              <a:rPr lang="en-US" altLang="zh-CN" sz="2000" b="1" dirty="0">
                <a:latin typeface="微软雅黑" panose="020B0503020204020204" pitchFamily="34" charset="-122"/>
                <a:ea typeface="微软雅黑" panose="020B0503020204020204" pitchFamily="34" charset="-122"/>
              </a:rPr>
              <a:t>x</a:t>
            </a:r>
            <a:r>
              <a:rPr lang="zh-CN" altLang="en-US" sz="2000" b="1" dirty="0">
                <a:latin typeface="微软雅黑" panose="020B0503020204020204" pitchFamily="34" charset="-122"/>
                <a:ea typeface="微软雅黑" panose="020B0503020204020204" pitchFamily="34" charset="-122"/>
              </a:rPr>
              <a:t>的</a:t>
            </a:r>
            <a:r>
              <a:rPr lang="zh-CN" altLang="en-US" sz="2000" b="1" dirty="0" smtClean="0">
                <a:latin typeface="微软雅黑" panose="020B0503020204020204" pitchFamily="34" charset="-122"/>
                <a:ea typeface="微软雅黑" panose="020B0503020204020204" pitchFamily="34" charset="-122"/>
              </a:rPr>
              <a:t>质因数</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Color </a:t>
            </a:r>
            <a:r>
              <a:rPr lang="en-US" altLang="zh-CN" sz="2000" b="1" dirty="0">
                <a:latin typeface="微软雅黑" panose="020B0503020204020204" pitchFamily="34" charset="-122"/>
                <a:ea typeface="微软雅黑" panose="020B0503020204020204" pitchFamily="34" charset="-122"/>
              </a:rPr>
              <a:t>c = </a:t>
            </a:r>
            <a:r>
              <a:rPr lang="en-US" altLang="zh-CN" sz="2000" b="1" dirty="0" err="1">
                <a:latin typeface="微软雅黑" panose="020B0503020204020204" pitchFamily="34" charset="-122"/>
                <a:ea typeface="微软雅黑" panose="020B0503020204020204" pitchFamily="34" charset="-122"/>
              </a:rPr>
              <a:t>red;if</a:t>
            </a:r>
            <a:r>
              <a:rPr lang="en-US" altLang="zh-CN" sz="2000" b="1" dirty="0">
                <a:latin typeface="微软雅黑" panose="020B0503020204020204" pitchFamily="34" charset="-122"/>
                <a:ea typeface="微软雅黑" panose="020B0503020204020204" pitchFamily="34" charset="-122"/>
              </a:rPr>
              <a:t>(c &lt; 14.5) </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将</a:t>
            </a:r>
            <a:r>
              <a:rPr lang="en-US" altLang="zh-CN" sz="2000" b="1" dirty="0">
                <a:latin typeface="微软雅黑" panose="020B0503020204020204" pitchFamily="34" charset="-122"/>
                <a:ea typeface="微软雅黑" panose="020B0503020204020204" pitchFamily="34" charset="-122"/>
              </a:rPr>
              <a:t>color</a:t>
            </a:r>
            <a:r>
              <a:rPr lang="zh-CN" altLang="en-US" sz="2000" b="1" dirty="0">
                <a:latin typeface="微软雅黑" panose="020B0503020204020204" pitchFamily="34" charset="-122"/>
                <a:ea typeface="微软雅黑" panose="020B0503020204020204" pitchFamily="34" charset="-122"/>
              </a:rPr>
              <a:t>型别和</a:t>
            </a:r>
            <a:r>
              <a:rPr lang="en-US" altLang="zh-CN" sz="2000" b="1" dirty="0">
                <a:latin typeface="微软雅黑" panose="020B0503020204020204" pitchFamily="34" charset="-122"/>
                <a:ea typeface="微软雅黑" panose="020B0503020204020204" pitchFamily="34" charset="-122"/>
              </a:rPr>
              <a:t>double</a:t>
            </a:r>
            <a:r>
              <a:rPr lang="zh-CN" altLang="en-US" sz="2000" b="1" dirty="0">
                <a:latin typeface="微软雅黑" panose="020B0503020204020204" pitchFamily="34" charset="-122"/>
                <a:ea typeface="微软雅黑" panose="020B0503020204020204" pitchFamily="34" charset="-122"/>
              </a:rPr>
              <a:t>型别比较，发生隐式</a:t>
            </a:r>
            <a:r>
              <a:rPr lang="zh-CN" altLang="en-US" sz="2000" b="1" dirty="0" smtClean="0">
                <a:latin typeface="微软雅黑" panose="020B0503020204020204" pitchFamily="34" charset="-122"/>
                <a:ea typeface="微软雅黑" panose="020B0503020204020204" pitchFamily="34" charset="-122"/>
              </a:rPr>
              <a:t>转换</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auto </a:t>
            </a:r>
            <a:r>
              <a:rPr lang="en-US" altLang="zh-CN" sz="2000" b="1" dirty="0">
                <a:latin typeface="微软雅黑" panose="020B0503020204020204" pitchFamily="34" charset="-122"/>
                <a:ea typeface="微软雅黑" panose="020B0503020204020204" pitchFamily="34" charset="-122"/>
              </a:rPr>
              <a:t>factors = </a:t>
            </a:r>
            <a:r>
              <a:rPr lang="en-US" altLang="zh-CN" sz="2000" b="1" dirty="0" err="1" smtClean="0">
                <a:latin typeface="微软雅黑" panose="020B0503020204020204" pitchFamily="34" charset="-122"/>
                <a:ea typeface="微软雅黑" panose="020B0503020204020204" pitchFamily="34" charset="-122"/>
              </a:rPr>
              <a:t>primeFactors</a:t>
            </a:r>
            <a:r>
              <a:rPr lang="en-US" altLang="zh-CN" sz="2000" b="1" dirty="0" smtClean="0">
                <a:latin typeface="微软雅黑" panose="020B0503020204020204" pitchFamily="34" charset="-122"/>
                <a:ea typeface="微软雅黑" panose="020B0503020204020204" pitchFamily="34" charset="-122"/>
              </a:rPr>
              <a:t>(c);</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计算一个</a:t>
            </a:r>
            <a:r>
              <a:rPr lang="en-US" altLang="zh-CN" sz="2000" b="1" dirty="0">
                <a:latin typeface="微软雅黑" panose="020B0503020204020204" pitchFamily="34" charset="-122"/>
                <a:ea typeface="微软雅黑" panose="020B0503020204020204" pitchFamily="34" charset="-122"/>
              </a:rPr>
              <a:t>color</a:t>
            </a:r>
            <a:r>
              <a:rPr lang="zh-CN" altLang="en-US" sz="2000" b="1" dirty="0">
                <a:latin typeface="微软雅黑" panose="020B0503020204020204" pitchFamily="34" charset="-122"/>
                <a:ea typeface="微软雅黑" panose="020B0503020204020204" pitchFamily="34" charset="-122"/>
              </a:rPr>
              <a:t>型别的质因数，发生隐式</a:t>
            </a:r>
            <a:r>
              <a:rPr lang="zh-CN" altLang="en-US" sz="2000" b="1" dirty="0" smtClean="0">
                <a:latin typeface="微软雅黑" panose="020B0503020204020204" pitchFamily="34" charset="-122"/>
                <a:ea typeface="微软雅黑" panose="020B0503020204020204" pitchFamily="34" charset="-122"/>
              </a:rPr>
              <a:t>转换</a:t>
            </a:r>
            <a:endParaRPr lang="en-US" altLang="zh-CN" sz="2000" b="1" dirty="0" smtClean="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76447"/>
            <a:ext cx="8229838" cy="799892"/>
          </a:xfrm>
        </p:spPr>
        <p:txBody>
          <a:bodyPr/>
          <a:lstStyle/>
          <a:p>
            <a:r>
              <a:rPr lang="zh-CN" altLang="en-US" b="1" dirty="0" smtClean="0">
                <a:latin typeface="微软雅黑" panose="020B0503020204020204" pitchFamily="34" charset="-122"/>
                <a:ea typeface="微软雅黑" panose="020B0503020204020204" pitchFamily="34" charset="-122"/>
              </a:rPr>
              <a:t>传统枚举类型和枚举</a:t>
            </a:r>
            <a:r>
              <a:rPr lang="zh-CN" altLang="en-US" b="1" dirty="0">
                <a:latin typeface="微软雅黑" panose="020B0503020204020204" pitchFamily="34" charset="-122"/>
                <a:ea typeface="微软雅黑" panose="020B0503020204020204" pitchFamily="34" charset="-122"/>
              </a:rPr>
              <a:t>类</a:t>
            </a:r>
            <a:r>
              <a:rPr lang="zh-CN" altLang="en-US" b="1" dirty="0" smtClean="0">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比较</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11560" y="1700808"/>
            <a:ext cx="8229838" cy="3221885"/>
          </a:xfrm>
        </p:spPr>
        <p:txBody>
          <a:bodyPr/>
          <a:lstStyle/>
          <a:p>
            <a:pPr marL="0" indent="0">
              <a:buNone/>
            </a:pPr>
            <a:r>
              <a:rPr lang="en-US" altLang="zh-CN" sz="2000" b="1" dirty="0" smtClean="0">
                <a:latin typeface="微软雅黑" panose="020B0503020204020204" pitchFamily="34" charset="-122"/>
                <a:ea typeface="微软雅黑" panose="020B0503020204020204" pitchFamily="34" charset="-122"/>
              </a:rPr>
              <a:t>C</a:t>
            </a:r>
            <a:r>
              <a:rPr lang="en-US" altLang="zh-CN" sz="2000" b="1" dirty="0">
                <a:latin typeface="微软雅黑" panose="020B0503020204020204" pitchFamily="34" charset="-122"/>
                <a:ea typeface="微软雅黑" panose="020B0503020204020204" pitchFamily="34" charset="-122"/>
              </a:rPr>
              <a:t>++11</a:t>
            </a:r>
            <a:r>
              <a:rPr lang="zh-CN" altLang="en-US" sz="2000" b="1" dirty="0">
                <a:latin typeface="微软雅黑" panose="020B0503020204020204" pitchFamily="34" charset="-122"/>
                <a:ea typeface="微软雅黑" panose="020B0503020204020204" pitchFamily="34" charset="-122"/>
              </a:rPr>
              <a:t>中新增了枚举</a:t>
            </a:r>
            <a:r>
              <a:rPr lang="zh-CN" altLang="en-US" sz="2000" b="1" dirty="0" smtClean="0">
                <a:latin typeface="微软雅黑" panose="020B0503020204020204" pitchFamily="34" charset="-122"/>
                <a:ea typeface="微软雅黑" panose="020B0503020204020204" pitchFamily="34" charset="-122"/>
              </a:rPr>
              <a:t>类：也</a:t>
            </a:r>
            <a:r>
              <a:rPr lang="zh-CN" altLang="en-US" sz="2000" b="1" dirty="0">
                <a:latin typeface="微软雅黑" panose="020B0503020204020204" pitchFamily="34" charset="-122"/>
                <a:ea typeface="微软雅黑" panose="020B0503020204020204" pitchFamily="34" charset="-122"/>
              </a:rPr>
              <a:t>称作限定作用域的枚举</a:t>
            </a:r>
            <a:r>
              <a:rPr lang="zh-CN" altLang="en-US" sz="2000" b="1" dirty="0" smtClean="0">
                <a:latin typeface="微软雅黑" panose="020B0503020204020204" pitchFamily="34" charset="-122"/>
                <a:ea typeface="微软雅黑" panose="020B0503020204020204" pitchFamily="34" charset="-122"/>
              </a:rPr>
              <a:t>类</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2</a:t>
            </a:r>
            <a:r>
              <a:rPr lang="zh-CN" altLang="en-US" sz="2000" b="1" dirty="0" smtClean="0">
                <a:latin typeface="微软雅黑" panose="020B0503020204020204" pitchFamily="34" charset="-122"/>
                <a:ea typeface="微软雅黑" panose="020B0503020204020204" pitchFamily="34" charset="-122"/>
              </a:rPr>
              <a:t>、枚举</a:t>
            </a:r>
            <a:r>
              <a:rPr lang="zh-CN" altLang="en-US" sz="2000" b="1" dirty="0">
                <a:latin typeface="微软雅黑" panose="020B0503020204020204" pitchFamily="34" charset="-122"/>
                <a:ea typeface="微软雅黑" panose="020B0503020204020204" pitchFamily="34" charset="-122"/>
              </a:rPr>
              <a:t>类优势</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避免发生隐式</a:t>
            </a:r>
            <a:r>
              <a:rPr lang="zh-CN" altLang="en-US" sz="2000" b="1" dirty="0" smtClean="0">
                <a:latin typeface="微软雅黑" panose="020B0503020204020204" pitchFamily="34" charset="-122"/>
                <a:ea typeface="微软雅黑" panose="020B0503020204020204" pitchFamily="34" charset="-122"/>
              </a:rPr>
              <a:t>转换</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r>
              <a:rPr lang="zh-CN" altLang="en-US" sz="2000" b="1" dirty="0" smtClean="0">
                <a:latin typeface="微软雅黑" panose="020B0503020204020204" pitchFamily="34" charset="-122"/>
                <a:ea typeface="微软雅黑" panose="020B0503020204020204" pitchFamily="34" charset="-122"/>
              </a:rPr>
              <a:t>限定</a:t>
            </a:r>
            <a:r>
              <a:rPr lang="zh-CN" altLang="en-US" sz="2000" b="1" dirty="0">
                <a:latin typeface="微软雅黑" panose="020B0503020204020204" pitchFamily="34" charset="-122"/>
                <a:ea typeface="微软雅黑" panose="020B0503020204020204" pitchFamily="34" charset="-122"/>
              </a:rPr>
              <a:t>作用域的枚举型别不允许发生任何隐式转换。如果非要转换，按就只能使用</a:t>
            </a:r>
            <a:r>
              <a:rPr lang="en-US" altLang="zh-CN" sz="2000" b="1" dirty="0" err="1">
                <a:latin typeface="微软雅黑" panose="020B0503020204020204" pitchFamily="34" charset="-122"/>
                <a:ea typeface="微软雅黑" panose="020B0503020204020204" pitchFamily="34" charset="-122"/>
              </a:rPr>
              <a:t>static_cast</a:t>
            </a:r>
            <a:r>
              <a:rPr lang="zh-CN" altLang="en-US" sz="2000" b="1" dirty="0">
                <a:latin typeface="微软雅黑" panose="020B0503020204020204" pitchFamily="34" charset="-122"/>
                <a:ea typeface="微软雅黑" panose="020B0503020204020204" pitchFamily="34" charset="-122"/>
              </a:rPr>
              <a:t>进行强制转换</a:t>
            </a:r>
            <a:r>
              <a:rPr lang="zh-CN" altLang="en-US"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err="1" smtClean="0">
                <a:latin typeface="微软雅黑" panose="020B0503020204020204" pitchFamily="34" charset="-122"/>
                <a:ea typeface="微软雅黑" panose="020B0503020204020204" pitchFamily="34" charset="-122"/>
              </a:rPr>
              <a:t>enum</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class Color{</a:t>
            </a:r>
            <a:r>
              <a:rPr lang="en-US" altLang="zh-CN" sz="2000" b="1" dirty="0" err="1">
                <a:latin typeface="微软雅黑" panose="020B0503020204020204" pitchFamily="34" charset="-122"/>
                <a:ea typeface="微软雅黑" panose="020B0503020204020204" pitchFamily="34" charset="-122"/>
              </a:rPr>
              <a:t>black,white,red</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Color </a:t>
            </a:r>
            <a:r>
              <a:rPr lang="en-US" altLang="zh-CN" sz="2000" b="1" dirty="0">
                <a:latin typeface="微软雅黑" panose="020B0503020204020204" pitchFamily="34" charset="-122"/>
                <a:ea typeface="微软雅黑" panose="020B0503020204020204" pitchFamily="34" charset="-122"/>
              </a:rPr>
              <a:t>c = Color::</a:t>
            </a:r>
            <a:r>
              <a:rPr lang="en-US" altLang="zh-CN" sz="2000" b="1" dirty="0" err="1">
                <a:latin typeface="微软雅黑" panose="020B0503020204020204" pitchFamily="34" charset="-122"/>
                <a:ea typeface="微软雅黑" panose="020B0503020204020204" pitchFamily="34" charset="-122"/>
              </a:rPr>
              <a:t>red;if</a:t>
            </a:r>
            <a:r>
              <a:rPr lang="en-US" altLang="zh-CN" sz="2000" b="1" dirty="0">
                <a:latin typeface="微软雅黑" panose="020B0503020204020204" pitchFamily="34" charset="-122"/>
                <a:ea typeface="微软雅黑" panose="020B0503020204020204" pitchFamily="34" charset="-122"/>
              </a:rPr>
              <a:t>(c &lt; 14.5</a:t>
            </a:r>
            <a:r>
              <a:rPr lang="en-US" altLang="zh-CN" sz="2000" b="1" dirty="0" smtClean="0">
                <a:latin typeface="微软雅黑" panose="020B0503020204020204" pitchFamily="34" charset="-122"/>
                <a:ea typeface="微软雅黑" panose="020B0503020204020204" pitchFamily="34" charset="-122"/>
              </a:rPr>
              <a:t>)</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错误，不能将枚举类和</a:t>
            </a:r>
            <a:r>
              <a:rPr lang="en-US" altLang="zh-CN" sz="2000" b="1" dirty="0">
                <a:latin typeface="微软雅黑" panose="020B0503020204020204" pitchFamily="34" charset="-122"/>
                <a:ea typeface="微软雅黑" panose="020B0503020204020204" pitchFamily="34" charset="-122"/>
              </a:rPr>
              <a:t>double</a:t>
            </a:r>
            <a:r>
              <a:rPr lang="zh-CN" altLang="en-US" sz="2000" b="1" dirty="0">
                <a:latin typeface="微软雅黑" panose="020B0503020204020204" pitchFamily="34" charset="-122"/>
                <a:ea typeface="微软雅黑" panose="020B0503020204020204" pitchFamily="34" charset="-122"/>
              </a:rPr>
              <a:t>进行</a:t>
            </a:r>
            <a:r>
              <a:rPr lang="zh-CN" altLang="en-US" sz="2000" b="1" dirty="0" smtClean="0">
                <a:latin typeface="微软雅黑" panose="020B0503020204020204" pitchFamily="34" charset="-122"/>
                <a:ea typeface="微软雅黑" panose="020B0503020204020204" pitchFamily="34" charset="-122"/>
              </a:rPr>
              <a:t>比较</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auto </a:t>
            </a:r>
            <a:r>
              <a:rPr lang="en-US" altLang="zh-CN" sz="2000" b="1" dirty="0">
                <a:latin typeface="微软雅黑" panose="020B0503020204020204" pitchFamily="34" charset="-122"/>
                <a:ea typeface="微软雅黑" panose="020B0503020204020204" pitchFamily="34" charset="-122"/>
              </a:rPr>
              <a:t>factors = </a:t>
            </a:r>
            <a:r>
              <a:rPr lang="en-US" altLang="zh-CN" sz="2000" b="1" dirty="0" err="1" smtClean="0">
                <a:latin typeface="微软雅黑" panose="020B0503020204020204" pitchFamily="34" charset="-122"/>
                <a:ea typeface="微软雅黑" panose="020B0503020204020204" pitchFamily="34" charset="-122"/>
              </a:rPr>
              <a:t>primeFactors</a:t>
            </a:r>
            <a:r>
              <a:rPr lang="en-US" altLang="zh-CN" sz="2000" b="1" dirty="0" smtClean="0">
                <a:latin typeface="微软雅黑" panose="020B0503020204020204" pitchFamily="34" charset="-122"/>
                <a:ea typeface="微软雅黑" panose="020B0503020204020204" pitchFamily="34" charset="-122"/>
              </a:rPr>
              <a:t>(c); </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错误，</a:t>
            </a:r>
            <a:r>
              <a:rPr lang="en-US" altLang="zh-CN" sz="2000" b="1" dirty="0">
                <a:latin typeface="微软雅黑" panose="020B0503020204020204" pitchFamily="34" charset="-122"/>
                <a:ea typeface="微软雅黑" panose="020B0503020204020204" pitchFamily="34" charset="-122"/>
              </a:rPr>
              <a:t>Color</a:t>
            </a:r>
            <a:r>
              <a:rPr lang="zh-CN" altLang="en-US" sz="2000" b="1" dirty="0">
                <a:latin typeface="微软雅黑" panose="020B0503020204020204" pitchFamily="34" charset="-122"/>
                <a:ea typeface="微软雅黑" panose="020B0503020204020204" pitchFamily="34" charset="-122"/>
              </a:rPr>
              <a:t>不能转化为</a:t>
            </a:r>
            <a:r>
              <a:rPr lang="en-US" altLang="zh-CN" sz="2000" b="1" dirty="0" err="1">
                <a:latin typeface="微软雅黑" panose="020B0503020204020204" pitchFamily="34" charset="-122"/>
                <a:ea typeface="微软雅黑" panose="020B0503020204020204" pitchFamily="34" charset="-122"/>
              </a:rPr>
              <a:t>size_t</a:t>
            </a:r>
            <a:r>
              <a:rPr lang="zh-CN" altLang="en-US" sz="2000" b="1" dirty="0">
                <a:latin typeface="微软雅黑" panose="020B0503020204020204" pitchFamily="34" charset="-122"/>
                <a:ea typeface="微软雅黑" panose="020B0503020204020204" pitchFamily="34" charset="-122"/>
              </a:rPr>
              <a:t>型</a:t>
            </a:r>
            <a:r>
              <a:rPr lang="zh-CN" altLang="en-US" sz="2000" b="1" dirty="0" smtClean="0">
                <a:latin typeface="微软雅黑" panose="020B0503020204020204" pitchFamily="34" charset="-122"/>
                <a:ea typeface="微软雅黑" panose="020B0503020204020204" pitchFamily="34" charset="-122"/>
              </a:rPr>
              <a:t>别</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endParaRPr lang="en-US" altLang="zh-CN" sz="2000" b="1" dirty="0" smtClean="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76447"/>
            <a:ext cx="8229838" cy="799892"/>
          </a:xfrm>
        </p:spPr>
        <p:txBody>
          <a:bodyPr/>
          <a:lstStyle/>
          <a:p>
            <a:r>
              <a:rPr lang="zh-CN" altLang="en-US" b="1" dirty="0" smtClean="0">
                <a:latin typeface="微软雅黑" panose="020B0503020204020204" pitchFamily="34" charset="-122"/>
                <a:ea typeface="微软雅黑" panose="020B0503020204020204" pitchFamily="34" charset="-122"/>
              </a:rPr>
              <a:t>传统枚举类型和枚举</a:t>
            </a:r>
            <a:r>
              <a:rPr lang="zh-CN" altLang="en-US" b="1" dirty="0">
                <a:latin typeface="微软雅黑" panose="020B0503020204020204" pitchFamily="34" charset="-122"/>
                <a:ea typeface="微软雅黑" panose="020B0503020204020204" pitchFamily="34" charset="-122"/>
              </a:rPr>
              <a:t>类</a:t>
            </a:r>
            <a:r>
              <a:rPr lang="zh-CN" altLang="en-US" b="1" dirty="0" smtClean="0">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比较</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611560" y="1700808"/>
            <a:ext cx="8229838" cy="3221885"/>
          </a:xfrm>
        </p:spPr>
        <p:txBody>
          <a:bodyPr/>
          <a:lstStyle/>
          <a:p>
            <a:pPr marL="0" indent="0">
              <a:buNone/>
            </a:pPr>
            <a:r>
              <a:rPr lang="en-US" altLang="zh-CN" sz="2000" b="1" dirty="0" smtClean="0">
                <a:latin typeface="微软雅黑" panose="020B0503020204020204" pitchFamily="34" charset="-122"/>
                <a:ea typeface="微软雅黑" panose="020B0503020204020204" pitchFamily="34" charset="-122"/>
              </a:rPr>
              <a:t>C</a:t>
            </a:r>
            <a:r>
              <a:rPr lang="en-US" altLang="zh-CN" sz="2000" b="1" dirty="0">
                <a:latin typeface="微软雅黑" panose="020B0503020204020204" pitchFamily="34" charset="-122"/>
                <a:ea typeface="微软雅黑" panose="020B0503020204020204" pitchFamily="34" charset="-122"/>
              </a:rPr>
              <a:t>++11</a:t>
            </a:r>
            <a:r>
              <a:rPr lang="zh-CN" altLang="en-US" sz="2000" b="1" dirty="0">
                <a:latin typeface="微软雅黑" panose="020B0503020204020204" pitchFamily="34" charset="-122"/>
                <a:ea typeface="微软雅黑" panose="020B0503020204020204" pitchFamily="34" charset="-122"/>
              </a:rPr>
              <a:t>中新增了枚举</a:t>
            </a:r>
            <a:r>
              <a:rPr lang="zh-CN" altLang="en-US" sz="2000" b="1" dirty="0" smtClean="0">
                <a:latin typeface="微软雅黑" panose="020B0503020204020204" pitchFamily="34" charset="-122"/>
                <a:ea typeface="微软雅黑" panose="020B0503020204020204" pitchFamily="34" charset="-122"/>
              </a:rPr>
              <a:t>类：也</a:t>
            </a:r>
            <a:r>
              <a:rPr lang="zh-CN" altLang="en-US" sz="2000" b="1" dirty="0">
                <a:latin typeface="微软雅黑" panose="020B0503020204020204" pitchFamily="34" charset="-122"/>
                <a:ea typeface="微软雅黑" panose="020B0503020204020204" pitchFamily="34" charset="-122"/>
              </a:rPr>
              <a:t>称作限定作用域的枚举</a:t>
            </a:r>
            <a:r>
              <a:rPr lang="zh-CN" altLang="en-US" sz="2000" b="1" dirty="0" smtClean="0">
                <a:latin typeface="微软雅黑" panose="020B0503020204020204" pitchFamily="34" charset="-122"/>
                <a:ea typeface="微软雅黑" panose="020B0503020204020204" pitchFamily="34" charset="-122"/>
              </a:rPr>
              <a:t>类</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a:latin typeface="微软雅黑" panose="020B0503020204020204" pitchFamily="34" charset="-122"/>
                <a:ea typeface="微软雅黑" panose="020B0503020204020204" pitchFamily="34" charset="-122"/>
              </a:rPr>
              <a:t>3</a:t>
            </a:r>
            <a:r>
              <a:rPr lang="zh-CN" altLang="en-US" sz="2000" b="1" dirty="0" smtClean="0">
                <a:latin typeface="微软雅黑" panose="020B0503020204020204" pitchFamily="34" charset="-122"/>
                <a:ea typeface="微软雅黑" panose="020B0503020204020204" pitchFamily="34" charset="-122"/>
              </a:rPr>
              <a:t>、枚举</a:t>
            </a:r>
            <a:r>
              <a:rPr lang="zh-CN" altLang="en-US" sz="2000" b="1" dirty="0">
                <a:latin typeface="微软雅黑" panose="020B0503020204020204" pitchFamily="34" charset="-122"/>
                <a:ea typeface="微软雅黑" panose="020B0503020204020204" pitchFamily="34" charset="-122"/>
              </a:rPr>
              <a:t>类优势</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可以前置</a:t>
            </a:r>
            <a:r>
              <a:rPr lang="zh-CN" altLang="en-US" sz="2000" b="1" dirty="0" smtClean="0">
                <a:latin typeface="微软雅黑" panose="020B0503020204020204" pitchFamily="34" charset="-122"/>
                <a:ea typeface="微软雅黑" panose="020B0503020204020204" pitchFamily="34" charset="-122"/>
              </a:rPr>
              <a:t>声明</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b="1" dirty="0">
              <a:latin typeface="微软雅黑" panose="020B0503020204020204" pitchFamily="34" charset="-122"/>
              <a:ea typeface="微软雅黑" panose="020B0503020204020204" pitchFamily="34" charset="-122"/>
            </a:endParaRPr>
          </a:p>
          <a:p>
            <a:pPr marL="0" indent="0">
              <a:buNone/>
            </a:pPr>
            <a:r>
              <a:rPr lang="en-US" altLang="zh-CN" sz="2000" b="1" dirty="0" err="1" smtClean="0">
                <a:latin typeface="微软雅黑" panose="020B0503020204020204" pitchFamily="34" charset="-122"/>
                <a:ea typeface="微软雅黑" panose="020B0503020204020204" pitchFamily="34" charset="-122"/>
              </a:rPr>
              <a:t>enum</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Color; //</a:t>
            </a:r>
            <a:r>
              <a:rPr lang="zh-CN" altLang="en-US" sz="2000" b="1" dirty="0" smtClean="0">
                <a:latin typeface="微软雅黑" panose="020B0503020204020204" pitchFamily="34" charset="-122"/>
                <a:ea typeface="微软雅黑" panose="020B0503020204020204" pitchFamily="34" charset="-122"/>
              </a:rPr>
              <a:t>错误</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b="1" dirty="0" err="1" smtClean="0">
                <a:latin typeface="微软雅黑" panose="020B0503020204020204" pitchFamily="34" charset="-122"/>
                <a:ea typeface="微软雅黑" panose="020B0503020204020204" pitchFamily="34" charset="-122"/>
              </a:rPr>
              <a:t>enum</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class Color; //</a:t>
            </a:r>
            <a:r>
              <a:rPr lang="zh-CN" altLang="en-US" sz="2000" b="1" dirty="0" smtClean="0">
                <a:latin typeface="微软雅黑" panose="020B0503020204020204" pitchFamily="34" charset="-122"/>
                <a:ea typeface="微软雅黑" panose="020B0503020204020204" pitchFamily="34" charset="-122"/>
              </a:rPr>
              <a:t>正确</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zh-CN" altLang="en-US" sz="20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11560" y="2060848"/>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9"/>
            </a:pPr>
            <a:r>
              <a:rPr lang="zh-CN" altLang="en-US" sz="6000" b="1" dirty="0" smtClean="0">
                <a:ea typeface="华文彩云" panose="02010800040101010101" pitchFamily="2" charset="-122"/>
              </a:rPr>
              <a:t>深度探索</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4.9.1 </a:t>
            </a:r>
            <a:r>
              <a:rPr lang="zh-CN" altLang="en-US" sz="4400" b="1" dirty="0" smtClean="0">
                <a:latin typeface="Times New Roman" panose="02020603050405020304" pitchFamily="18" charset="0"/>
                <a:ea typeface="隶书" panose="02010509060101010101" pitchFamily="49" charset="-122"/>
              </a:rPr>
              <a:t>位域</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611560" y="1268760"/>
            <a:ext cx="8208912" cy="4351338"/>
          </a:xfrm>
        </p:spPr>
        <p:txBody>
          <a:bodyPr/>
          <a:lstStyle/>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在类或结构体定义中，位域的定义方式：</a:t>
            </a:r>
            <a:endParaRPr lang="en-US" altLang="zh-CN" sz="2400" b="1" dirty="0" smtClean="0">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zh-CN" altLang="en-US" sz="2400" b="1" dirty="0" smtClean="0">
                <a:solidFill>
                  <a:srgbClr val="FFFF00"/>
                </a:solidFill>
                <a:latin typeface="微软雅黑" panose="020B0503020204020204" pitchFamily="34" charset="-122"/>
                <a:ea typeface="微软雅黑" panose="020B0503020204020204" pitchFamily="34" charset="-122"/>
              </a:rPr>
              <a:t>数据类型说明符  成员名：位数；</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注意：</a:t>
            </a:r>
            <a:endParaRPr lang="en-US" altLang="zh-CN" sz="2400" b="1" dirty="0" smtClean="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位数是指定一个位域所占用二进制位数</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r>
              <a:rPr lang="en-US" altLang="zh-CN" sz="2400" b="1" dirty="0" smtClean="0">
                <a:solidFill>
                  <a:srgbClr val="FFFF00"/>
                </a:solidFill>
                <a:latin typeface="微软雅黑" panose="020B0503020204020204" pitchFamily="34" charset="-122"/>
                <a:ea typeface="微软雅黑" panose="020B0503020204020204" pitchFamily="34" charset="-122"/>
              </a:rPr>
              <a:t>C++</a:t>
            </a:r>
            <a:r>
              <a:rPr lang="zh-CN" altLang="en-US" sz="2400" b="1" dirty="0" smtClean="0">
                <a:solidFill>
                  <a:srgbClr val="FFFF00"/>
                </a:solidFill>
                <a:latin typeface="微软雅黑" panose="020B0503020204020204" pitchFamily="34" charset="-122"/>
                <a:ea typeface="微软雅黑" panose="020B0503020204020204" pitchFamily="34" charset="-122"/>
              </a:rPr>
              <a:t>标准规定允许编译器将不同 位域打包，但是具体方式没有规定，因此不同编译器下，包含位域的类或结构体所占用的空间会有所不同。</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r>
              <a:rPr lang="zh-CN" altLang="en-US" sz="2400" b="1" dirty="0" smtClean="0">
                <a:solidFill>
                  <a:srgbClr val="FFFF00"/>
                </a:solidFill>
                <a:latin typeface="微软雅黑" panose="020B0503020204020204" pitchFamily="34" charset="-122"/>
                <a:ea typeface="微软雅黑" panose="020B0503020204020204" pitchFamily="34" charset="-122"/>
              </a:rPr>
              <a:t>优点是节省空间；弱点 是运行时间可能增加。</a:t>
            </a:r>
            <a:endParaRPr lang="en-US" altLang="zh-CN" sz="2400" b="1" dirty="0">
              <a:solidFill>
                <a:srgbClr val="FFFF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ü"/>
            </a:pP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4.9.1 </a:t>
            </a:r>
            <a:r>
              <a:rPr lang="zh-CN" altLang="en-US" sz="4400" b="1" dirty="0" smtClean="0">
                <a:latin typeface="Times New Roman" panose="02020603050405020304" pitchFamily="18" charset="0"/>
                <a:ea typeface="隶书" panose="02010509060101010101" pitchFamily="49" charset="-122"/>
              </a:rPr>
              <a:t>位域</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611560" y="1268760"/>
            <a:ext cx="8208912" cy="4351338"/>
          </a:xfrm>
        </p:spPr>
        <p:txBody>
          <a:bodyPr/>
          <a:lstStyle/>
          <a:p>
            <a:pPr marL="0" indent="0" eaLnBrk="1" hangingPunct="1">
              <a:lnSpc>
                <a:spcPct val="150000"/>
              </a:lnSpc>
              <a:buNone/>
            </a:pPr>
            <a:r>
              <a:rPr lang="zh-CN" altLang="en-US" sz="2400" b="1" dirty="0" smtClean="0">
                <a:latin typeface="微软雅黑" panose="020B0503020204020204" pitchFamily="34" charset="-122"/>
                <a:ea typeface="微软雅黑" panose="020B0503020204020204" pitchFamily="34" charset="-122"/>
              </a:rPr>
              <a:t>例</a:t>
            </a:r>
            <a:r>
              <a:rPr lang="en-US" altLang="zh-CN" sz="2400" b="1" dirty="0" smtClean="0">
                <a:latin typeface="微软雅黑" panose="020B0503020204020204" pitchFamily="34" charset="-122"/>
                <a:ea typeface="微软雅黑" panose="020B0503020204020204" pitchFamily="34" charset="-122"/>
              </a:rPr>
              <a:t>4-11 </a:t>
            </a:r>
            <a:r>
              <a:rPr lang="zh-CN" altLang="en-US" sz="2400" b="1" dirty="0" smtClean="0">
                <a:latin typeface="微软雅黑" panose="020B0503020204020204" pitchFamily="34" charset="-122"/>
                <a:ea typeface="微软雅黑" panose="020B0503020204020204" pitchFamily="34" charset="-122"/>
              </a:rPr>
              <a:t>设计一个结构体存储学生的成绩信息，需要包含学号（</a:t>
            </a:r>
            <a:r>
              <a:rPr lang="en-US" altLang="zh-CN" sz="2400" b="1" dirty="0" smtClean="0">
                <a:latin typeface="微软雅黑" panose="020B0503020204020204" pitchFamily="34" charset="-122"/>
                <a:ea typeface="微软雅黑" panose="020B0503020204020204" pitchFamily="34" charset="-122"/>
              </a:rPr>
              <a:t>0</a:t>
            </a:r>
            <a:r>
              <a:rPr lang="zh-CN" altLang="en-US" sz="2400" b="1" dirty="0" smtClean="0">
                <a:latin typeface="微软雅黑" panose="020B0503020204020204" pitchFamily="34" charset="-122"/>
                <a:ea typeface="微软雅黑" panose="020B0503020204020204" pitchFamily="34" charset="-122"/>
              </a:rPr>
              <a:t>到 </a:t>
            </a:r>
            <a:r>
              <a:rPr lang="en-US" altLang="zh-CN" sz="2400" b="1" dirty="0" smtClean="0">
                <a:latin typeface="微软雅黑" panose="020B0503020204020204" pitchFamily="34" charset="-122"/>
                <a:ea typeface="微软雅黑" panose="020B0503020204020204" pitchFamily="34" charset="-122"/>
              </a:rPr>
              <a:t>99 999 999</a:t>
            </a:r>
            <a:r>
              <a:rPr lang="zh-CN" altLang="en-US" sz="2400" b="1" dirty="0" smtClean="0">
                <a:latin typeface="微软雅黑" panose="020B0503020204020204" pitchFamily="34" charset="-122"/>
                <a:ea typeface="微软雅黑" panose="020B0503020204020204" pitchFamily="34" charset="-122"/>
              </a:rPr>
              <a:t>）、年级（</a:t>
            </a:r>
            <a:r>
              <a:rPr lang="en-US" altLang="zh-CN" sz="2400" b="1" dirty="0" smtClean="0">
                <a:latin typeface="微软雅黑" panose="020B0503020204020204" pitchFamily="34" charset="-122"/>
                <a:ea typeface="微软雅黑" panose="020B0503020204020204" pitchFamily="34" charset="-122"/>
              </a:rPr>
              <a:t>freshman</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sophomore</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junior</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senior</a:t>
            </a:r>
            <a:r>
              <a:rPr lang="zh-CN" altLang="en-US" sz="2400" b="1" dirty="0" smtClean="0">
                <a:latin typeface="微软雅黑" panose="020B0503020204020204" pitchFamily="34" charset="-122"/>
                <a:ea typeface="微软雅黑" panose="020B0503020204020204" pitchFamily="34" charset="-122"/>
              </a:rPr>
              <a:t>）、成绩（</a:t>
            </a:r>
            <a:r>
              <a:rPr lang="en-US" altLang="zh-CN" sz="2400" b="1" dirty="0" smtClean="0">
                <a:latin typeface="微软雅黑" panose="020B0503020204020204" pitchFamily="34" charset="-122"/>
                <a:ea typeface="微软雅黑" panose="020B0503020204020204" pitchFamily="34" charset="-122"/>
              </a:rPr>
              <a:t>A</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B</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C</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D</a:t>
            </a:r>
            <a:r>
              <a:rPr lang="zh-CN" altLang="en-US" sz="2400" b="1" dirty="0" smtClean="0">
                <a:latin typeface="微软雅黑" panose="020B0503020204020204" pitchFamily="34" charset="-122"/>
                <a:ea typeface="微软雅黑" panose="020B0503020204020204" pitchFamily="34" charset="-122"/>
              </a:rPr>
              <a:t>四个等级）。</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755576" y="3284984"/>
            <a:ext cx="8280920" cy="1631216"/>
          </a:xfrm>
          <a:prstGeom prst="rect">
            <a:avLst/>
          </a:prstGeom>
          <a:solidFill>
            <a:schemeClr val="tx1"/>
          </a:solidFill>
        </p:spPr>
        <p:txBody>
          <a:bodyPr wrap="square">
            <a:spAutoFit/>
          </a:bodyPr>
          <a:lstStyle/>
          <a:p>
            <a:pPr algn="l"/>
            <a:r>
              <a:rPr lang="en-US" altLang="zh-CN" sz="2000" b="1" dirty="0">
                <a:solidFill>
                  <a:srgbClr val="000000"/>
                </a:solidFill>
              </a:rPr>
              <a:t>#include &lt;</a:t>
            </a:r>
            <a:r>
              <a:rPr lang="en-US" altLang="zh-CN" sz="2000" b="1" dirty="0" err="1">
                <a:solidFill>
                  <a:srgbClr val="000000"/>
                </a:solidFill>
              </a:rPr>
              <a:t>iostream</a:t>
            </a:r>
            <a:r>
              <a:rPr lang="en-US" altLang="zh-CN" sz="2000" b="1" dirty="0">
                <a:solidFill>
                  <a:srgbClr val="000000"/>
                </a:solidFill>
              </a:rPr>
              <a:t>&gt;</a:t>
            </a:r>
            <a:endParaRPr lang="en-US" altLang="zh-CN" sz="2000" b="1" dirty="0">
              <a:solidFill>
                <a:srgbClr val="000000"/>
              </a:solidFill>
            </a:endParaRPr>
          </a:p>
          <a:p>
            <a:pPr algn="l"/>
            <a:r>
              <a:rPr lang="en-US" altLang="zh-CN" sz="2000" b="1" dirty="0">
                <a:solidFill>
                  <a:srgbClr val="000000"/>
                </a:solidFill>
              </a:rPr>
              <a:t>using namespace </a:t>
            </a:r>
            <a:r>
              <a:rPr lang="en-US" altLang="zh-CN" sz="2000" b="1" dirty="0" err="1">
                <a:solidFill>
                  <a:srgbClr val="000000"/>
                </a:solidFill>
              </a:rPr>
              <a:t>std</a:t>
            </a:r>
            <a:r>
              <a:rPr lang="en-US" altLang="zh-CN" sz="2000" b="1" dirty="0">
                <a:solidFill>
                  <a:srgbClr val="000000"/>
                </a:solidFill>
              </a:rPr>
              <a:t>;</a:t>
            </a:r>
            <a:endParaRPr lang="en-US" altLang="zh-CN" sz="2000" b="1" dirty="0">
              <a:solidFill>
                <a:srgbClr val="000000"/>
              </a:solidFill>
            </a:endParaRPr>
          </a:p>
          <a:p>
            <a:pPr algn="l"/>
            <a:endParaRPr lang="en-US" altLang="zh-CN" sz="2000" b="1" dirty="0">
              <a:solidFill>
                <a:srgbClr val="000000"/>
              </a:solidFill>
            </a:endParaRPr>
          </a:p>
          <a:p>
            <a:pPr algn="l"/>
            <a:r>
              <a:rPr lang="en-US" altLang="zh-CN" sz="2000" b="1" dirty="0" err="1">
                <a:solidFill>
                  <a:srgbClr val="000000"/>
                </a:solidFill>
              </a:rPr>
              <a:t>enum</a:t>
            </a:r>
            <a:r>
              <a:rPr lang="en-US" altLang="zh-CN" sz="2000" b="1" dirty="0">
                <a:solidFill>
                  <a:srgbClr val="000000"/>
                </a:solidFill>
              </a:rPr>
              <a:t> Level { FRESHMAN, SOPHOMORE, JUNIOR, SENIOR };</a:t>
            </a:r>
            <a:endParaRPr lang="en-US" altLang="zh-CN" sz="2000" b="1" dirty="0">
              <a:solidFill>
                <a:srgbClr val="000000"/>
              </a:solidFill>
            </a:endParaRPr>
          </a:p>
          <a:p>
            <a:pPr algn="l"/>
            <a:r>
              <a:rPr lang="en-US" altLang="zh-CN" sz="2000" b="1" dirty="0" err="1">
                <a:solidFill>
                  <a:srgbClr val="000000"/>
                </a:solidFill>
              </a:rPr>
              <a:t>enum</a:t>
            </a:r>
            <a:r>
              <a:rPr lang="en-US" altLang="zh-CN" sz="2000" b="1" dirty="0">
                <a:solidFill>
                  <a:srgbClr val="000000"/>
                </a:solidFill>
              </a:rPr>
              <a:t> Grade { A, B, C, D </a:t>
            </a:r>
            <a:r>
              <a:rPr lang="en-US" altLang="zh-CN" sz="2000" b="1" dirty="0" smtClean="0">
                <a:solidFill>
                  <a:srgbClr val="000000"/>
                </a:solidFill>
              </a:rPr>
              <a:t>};</a:t>
            </a:r>
            <a:endParaRPr lang="en-US" altLang="zh-CN" sz="2000" b="1" dirty="0">
              <a:solidFill>
                <a:srgbClr val="000000"/>
              </a:solidFill>
            </a:endParaRPr>
          </a:p>
        </p:txBody>
      </p:sp>
    </p:spTree>
  </p:cSld>
  <p:clrMapOvr>
    <a:masterClrMapping/>
  </p:clrMapOvr>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4.9.1 </a:t>
            </a:r>
            <a:r>
              <a:rPr lang="zh-CN" altLang="en-US" sz="4400" b="1" dirty="0" smtClean="0">
                <a:latin typeface="Times New Roman" panose="02020603050405020304" pitchFamily="18" charset="0"/>
                <a:ea typeface="隶书" panose="02010509060101010101" pitchFamily="49" charset="-122"/>
              </a:rPr>
              <a:t>位域</a:t>
            </a:r>
            <a:endParaRPr lang="zh-CN" altLang="en-US" sz="4400" b="1" dirty="0">
              <a:latin typeface="Times New Roman" panose="02020603050405020304" pitchFamily="18" charset="0"/>
              <a:ea typeface="隶书" panose="02010509060101010101" pitchFamily="49" charset="-122"/>
            </a:endParaRPr>
          </a:p>
        </p:txBody>
      </p:sp>
      <p:sp>
        <p:nvSpPr>
          <p:cNvPr id="2" name="矩形 1"/>
          <p:cNvSpPr/>
          <p:nvPr/>
        </p:nvSpPr>
        <p:spPr>
          <a:xfrm>
            <a:off x="755576" y="1772816"/>
            <a:ext cx="8280920" cy="3170099"/>
          </a:xfrm>
          <a:prstGeom prst="rect">
            <a:avLst/>
          </a:prstGeom>
          <a:solidFill>
            <a:schemeClr val="tx1"/>
          </a:solidFill>
        </p:spPr>
        <p:txBody>
          <a:bodyPr wrap="square">
            <a:spAutoFit/>
          </a:bodyPr>
          <a:lstStyle/>
          <a:p>
            <a:pPr algn="l"/>
            <a:r>
              <a:rPr lang="en-US" altLang="zh-CN" sz="2000" b="1" dirty="0" smtClean="0">
                <a:solidFill>
                  <a:srgbClr val="000000"/>
                </a:solidFill>
              </a:rPr>
              <a:t>class </a:t>
            </a:r>
            <a:r>
              <a:rPr lang="en-US" altLang="zh-CN" sz="2000" b="1" dirty="0">
                <a:solidFill>
                  <a:srgbClr val="000000"/>
                </a:solidFill>
              </a:rPr>
              <a:t>Student {</a:t>
            </a:r>
            <a:endParaRPr lang="en-US" altLang="zh-CN" sz="2000" b="1" dirty="0">
              <a:solidFill>
                <a:srgbClr val="000000"/>
              </a:solidFill>
            </a:endParaRPr>
          </a:p>
          <a:p>
            <a:pPr algn="l"/>
            <a:r>
              <a:rPr lang="en-US" altLang="zh-CN" sz="2000" b="1" dirty="0">
                <a:solidFill>
                  <a:srgbClr val="000000"/>
                </a:solidFill>
              </a:rPr>
              <a:t>public:</a:t>
            </a:r>
            <a:endParaRPr lang="en-US" altLang="zh-CN" sz="2000" b="1" dirty="0">
              <a:solidFill>
                <a:srgbClr val="000000"/>
              </a:solidFill>
            </a:endParaRPr>
          </a:p>
          <a:p>
            <a:pPr algn="l"/>
            <a:r>
              <a:rPr lang="en-US" altLang="zh-CN" sz="2000" b="1" dirty="0">
                <a:solidFill>
                  <a:srgbClr val="000000"/>
                </a:solidFill>
              </a:rPr>
              <a:t>    Student(unsigned number, Level </a:t>
            </a:r>
            <a:r>
              <a:rPr lang="en-US" altLang="zh-CN" sz="2000" b="1" dirty="0" err="1">
                <a:solidFill>
                  <a:srgbClr val="000000"/>
                </a:solidFill>
              </a:rPr>
              <a:t>level</a:t>
            </a:r>
            <a:r>
              <a:rPr lang="en-US" altLang="zh-CN" sz="2000" b="1" dirty="0">
                <a:solidFill>
                  <a:srgbClr val="000000"/>
                </a:solidFill>
              </a:rPr>
              <a:t>, Grade grade)</a:t>
            </a:r>
            <a:endParaRPr lang="en-US" altLang="zh-CN" sz="2000" b="1" dirty="0">
              <a:solidFill>
                <a:srgbClr val="000000"/>
              </a:solidFill>
            </a:endParaRPr>
          </a:p>
          <a:p>
            <a:pPr algn="l"/>
            <a:r>
              <a:rPr lang="en-US" altLang="zh-CN" sz="2000" b="1" dirty="0">
                <a:solidFill>
                  <a:srgbClr val="000000"/>
                </a:solidFill>
              </a:rPr>
              <a:t>            : number(number), level(level), grade(grade) { }</a:t>
            </a:r>
            <a:endParaRPr lang="en-US" altLang="zh-CN" sz="2000" b="1" dirty="0">
              <a:solidFill>
                <a:srgbClr val="000000"/>
              </a:solidFill>
            </a:endParaRPr>
          </a:p>
          <a:p>
            <a:pPr algn="l"/>
            <a:r>
              <a:rPr lang="en-US" altLang="zh-CN" sz="2000" b="1" dirty="0">
                <a:solidFill>
                  <a:srgbClr val="000000"/>
                </a:solidFill>
              </a:rPr>
              <a:t>    void show();</a:t>
            </a:r>
            <a:endParaRPr lang="en-US" altLang="zh-CN" sz="2000" b="1" dirty="0">
              <a:solidFill>
                <a:srgbClr val="000000"/>
              </a:solidFill>
            </a:endParaRPr>
          </a:p>
          <a:p>
            <a:pPr algn="l"/>
            <a:r>
              <a:rPr lang="en-US" altLang="zh-CN" sz="2000" b="1" dirty="0">
                <a:solidFill>
                  <a:srgbClr val="000000"/>
                </a:solidFill>
              </a:rPr>
              <a:t>private:</a:t>
            </a:r>
            <a:endParaRPr lang="en-US" altLang="zh-CN" sz="2000" b="1" dirty="0">
              <a:solidFill>
                <a:srgbClr val="000000"/>
              </a:solidFill>
            </a:endParaRPr>
          </a:p>
          <a:p>
            <a:pPr algn="l"/>
            <a:r>
              <a:rPr lang="en-US" altLang="zh-CN" sz="2000" b="1" dirty="0">
                <a:solidFill>
                  <a:srgbClr val="000000"/>
                </a:solidFill>
              </a:rPr>
              <a:t>    </a:t>
            </a:r>
            <a:r>
              <a:rPr lang="en-US" altLang="zh-CN" sz="2000" b="1" dirty="0">
                <a:solidFill>
                  <a:srgbClr val="FF0000"/>
                </a:solidFill>
              </a:rPr>
              <a:t>unsigned number : 27;</a:t>
            </a:r>
            <a:endParaRPr lang="en-US" altLang="zh-CN" sz="2000" b="1" dirty="0">
              <a:solidFill>
                <a:srgbClr val="FF0000"/>
              </a:solidFill>
            </a:endParaRPr>
          </a:p>
          <a:p>
            <a:pPr algn="l"/>
            <a:r>
              <a:rPr lang="en-US" altLang="zh-CN" sz="2000" b="1" dirty="0">
                <a:solidFill>
                  <a:srgbClr val="FF0000"/>
                </a:solidFill>
              </a:rPr>
              <a:t>    Level </a:t>
            </a:r>
            <a:r>
              <a:rPr lang="en-US" altLang="zh-CN" sz="2000" b="1" dirty="0" err="1">
                <a:solidFill>
                  <a:srgbClr val="FF0000"/>
                </a:solidFill>
              </a:rPr>
              <a:t>level</a:t>
            </a:r>
            <a:r>
              <a:rPr lang="en-US" altLang="zh-CN" sz="2000" b="1" dirty="0">
                <a:solidFill>
                  <a:srgbClr val="FF0000"/>
                </a:solidFill>
              </a:rPr>
              <a:t> : 2;</a:t>
            </a:r>
            <a:endParaRPr lang="en-US" altLang="zh-CN" sz="2000" b="1" dirty="0">
              <a:solidFill>
                <a:srgbClr val="FF0000"/>
              </a:solidFill>
            </a:endParaRPr>
          </a:p>
          <a:p>
            <a:pPr algn="l"/>
            <a:r>
              <a:rPr lang="en-US" altLang="zh-CN" sz="2000" b="1" dirty="0">
                <a:solidFill>
                  <a:srgbClr val="FF0000"/>
                </a:solidFill>
              </a:rPr>
              <a:t>    Grade </a:t>
            </a:r>
            <a:r>
              <a:rPr lang="en-US" altLang="zh-CN" sz="2000" b="1" dirty="0" err="1">
                <a:solidFill>
                  <a:srgbClr val="FF0000"/>
                </a:solidFill>
              </a:rPr>
              <a:t>grade</a:t>
            </a:r>
            <a:r>
              <a:rPr lang="en-US" altLang="zh-CN" sz="2000" b="1" dirty="0">
                <a:solidFill>
                  <a:srgbClr val="FF0000"/>
                </a:solidFill>
              </a:rPr>
              <a:t> : 2;</a:t>
            </a:r>
            <a:endParaRPr lang="en-US" altLang="zh-CN" sz="2000" b="1" dirty="0">
              <a:solidFill>
                <a:srgbClr val="FF0000"/>
              </a:solidFill>
            </a:endParaRPr>
          </a:p>
          <a:p>
            <a:pPr algn="l"/>
            <a:r>
              <a:rPr lang="en-US" altLang="zh-CN" sz="2000" b="1" dirty="0" smtClean="0">
                <a:solidFill>
                  <a:srgbClr val="000000"/>
                </a:solidFill>
              </a:rPr>
              <a:t>};</a:t>
            </a:r>
            <a:endParaRPr lang="en-US" altLang="zh-CN" sz="2000" b="1" dirty="0">
              <a:solidFill>
                <a:srgbClr val="000000"/>
              </a:solidFill>
            </a:endParaRPr>
          </a:p>
        </p:txBody>
      </p:sp>
    </p:spTree>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4.9.1 </a:t>
            </a:r>
            <a:r>
              <a:rPr lang="zh-CN" altLang="en-US" sz="4400" b="1" dirty="0" smtClean="0">
                <a:latin typeface="Times New Roman" panose="02020603050405020304" pitchFamily="18" charset="0"/>
                <a:ea typeface="隶书" panose="02010509060101010101" pitchFamily="49" charset="-122"/>
              </a:rPr>
              <a:t>位域</a:t>
            </a:r>
            <a:endParaRPr lang="zh-CN" altLang="en-US" sz="4400" b="1" dirty="0">
              <a:latin typeface="Times New Roman" panose="02020603050405020304" pitchFamily="18" charset="0"/>
              <a:ea typeface="隶书" panose="02010509060101010101" pitchFamily="49" charset="-122"/>
            </a:endParaRPr>
          </a:p>
        </p:txBody>
      </p:sp>
      <p:sp>
        <p:nvSpPr>
          <p:cNvPr id="2" name="矩形 1"/>
          <p:cNvSpPr/>
          <p:nvPr/>
        </p:nvSpPr>
        <p:spPr>
          <a:xfrm>
            <a:off x="610254" y="764704"/>
            <a:ext cx="8280920" cy="5940088"/>
          </a:xfrm>
          <a:prstGeom prst="rect">
            <a:avLst/>
          </a:prstGeom>
          <a:solidFill>
            <a:schemeClr val="tx1"/>
          </a:solidFill>
        </p:spPr>
        <p:txBody>
          <a:bodyPr wrap="square">
            <a:spAutoFit/>
          </a:bodyPr>
          <a:lstStyle/>
          <a:p>
            <a:pPr algn="l"/>
            <a:r>
              <a:rPr lang="en-US" altLang="zh-CN" sz="2000" b="1" dirty="0" smtClean="0">
                <a:solidFill>
                  <a:srgbClr val="000000"/>
                </a:solidFill>
              </a:rPr>
              <a:t>void </a:t>
            </a:r>
            <a:r>
              <a:rPr lang="en-US" altLang="zh-CN" sz="2000" b="1" dirty="0">
                <a:solidFill>
                  <a:srgbClr val="000000"/>
                </a:solidFill>
              </a:rPr>
              <a:t>Student::show() {</a:t>
            </a:r>
            <a:endParaRPr lang="en-US" altLang="zh-CN" sz="2000" b="1" dirty="0">
              <a:solidFill>
                <a:srgbClr val="000000"/>
              </a:solidFill>
            </a:endParaRPr>
          </a:p>
          <a:p>
            <a:pPr algn="l"/>
            <a:r>
              <a:rPr lang="en-US" altLang="zh-CN" sz="2000" b="1" dirty="0">
                <a:solidFill>
                  <a:srgbClr val="000000"/>
                </a:solidFill>
              </a:rPr>
              <a:t>    </a:t>
            </a:r>
            <a:r>
              <a:rPr lang="en-US" altLang="zh-CN" sz="2000" b="1" dirty="0" err="1">
                <a:solidFill>
                  <a:srgbClr val="000000"/>
                </a:solidFill>
              </a:rPr>
              <a:t>cout</a:t>
            </a:r>
            <a:r>
              <a:rPr lang="en-US" altLang="zh-CN" sz="2000" b="1" dirty="0">
                <a:solidFill>
                  <a:srgbClr val="000000"/>
                </a:solidFill>
              </a:rPr>
              <a:t> &lt;&lt; "Number:    " &lt;&lt; number &lt;&lt; </a:t>
            </a:r>
            <a:r>
              <a:rPr lang="en-US" altLang="zh-CN" sz="2000" b="1" dirty="0" err="1">
                <a:solidFill>
                  <a:srgbClr val="000000"/>
                </a:solidFill>
              </a:rPr>
              <a:t>endl</a:t>
            </a:r>
            <a:r>
              <a:rPr lang="en-US" altLang="zh-CN" sz="2000" b="1" dirty="0">
                <a:solidFill>
                  <a:srgbClr val="000000"/>
                </a:solidFill>
              </a:rPr>
              <a:t>;</a:t>
            </a:r>
            <a:endParaRPr lang="en-US" altLang="zh-CN" sz="2000" b="1" dirty="0">
              <a:solidFill>
                <a:srgbClr val="000000"/>
              </a:solidFill>
            </a:endParaRPr>
          </a:p>
          <a:p>
            <a:pPr algn="l"/>
            <a:r>
              <a:rPr lang="en-US" altLang="zh-CN" sz="2000" b="1" dirty="0">
                <a:solidFill>
                  <a:srgbClr val="000000"/>
                </a:solidFill>
              </a:rPr>
              <a:t>    </a:t>
            </a:r>
            <a:r>
              <a:rPr lang="en-US" altLang="zh-CN" sz="2000" b="1" dirty="0" err="1">
                <a:solidFill>
                  <a:srgbClr val="000000"/>
                </a:solidFill>
              </a:rPr>
              <a:t>cout</a:t>
            </a:r>
            <a:r>
              <a:rPr lang="en-US" altLang="zh-CN" sz="2000" b="1" dirty="0">
                <a:solidFill>
                  <a:srgbClr val="000000"/>
                </a:solidFill>
              </a:rPr>
              <a:t> &lt;&lt; "Level:     ";</a:t>
            </a:r>
            <a:endParaRPr lang="en-US" altLang="zh-CN" sz="2000" b="1" dirty="0">
              <a:solidFill>
                <a:srgbClr val="000000"/>
              </a:solidFill>
            </a:endParaRPr>
          </a:p>
          <a:p>
            <a:pPr algn="l"/>
            <a:r>
              <a:rPr lang="en-US" altLang="zh-CN" sz="2000" b="1" dirty="0">
                <a:solidFill>
                  <a:srgbClr val="000000"/>
                </a:solidFill>
              </a:rPr>
              <a:t>    switch (level) {</a:t>
            </a:r>
            <a:endParaRPr lang="en-US" altLang="zh-CN" sz="2000" b="1" dirty="0">
              <a:solidFill>
                <a:srgbClr val="000000"/>
              </a:solidFill>
            </a:endParaRPr>
          </a:p>
          <a:p>
            <a:pPr algn="l"/>
            <a:r>
              <a:rPr lang="en-US" altLang="zh-CN" sz="2000" b="1" dirty="0">
                <a:solidFill>
                  <a:srgbClr val="000000"/>
                </a:solidFill>
              </a:rPr>
              <a:t>        case FRESHMAN:  </a:t>
            </a:r>
            <a:r>
              <a:rPr lang="en-US" altLang="zh-CN" sz="2000" b="1" dirty="0" err="1">
                <a:solidFill>
                  <a:srgbClr val="000000"/>
                </a:solidFill>
              </a:rPr>
              <a:t>cout</a:t>
            </a:r>
            <a:r>
              <a:rPr lang="en-US" altLang="zh-CN" sz="2000" b="1" dirty="0">
                <a:solidFill>
                  <a:srgbClr val="000000"/>
                </a:solidFill>
              </a:rPr>
              <a:t> &lt;&lt; "freshman"; break;</a:t>
            </a:r>
            <a:endParaRPr lang="en-US" altLang="zh-CN" sz="2000" b="1" dirty="0">
              <a:solidFill>
                <a:srgbClr val="000000"/>
              </a:solidFill>
            </a:endParaRPr>
          </a:p>
          <a:p>
            <a:pPr algn="l"/>
            <a:r>
              <a:rPr lang="en-US" altLang="zh-CN" sz="2000" b="1" dirty="0">
                <a:solidFill>
                  <a:srgbClr val="000000"/>
                </a:solidFill>
              </a:rPr>
              <a:t>        case SOPHOMORE: </a:t>
            </a:r>
            <a:r>
              <a:rPr lang="en-US" altLang="zh-CN" sz="2000" b="1" dirty="0" err="1">
                <a:solidFill>
                  <a:srgbClr val="000000"/>
                </a:solidFill>
              </a:rPr>
              <a:t>cout</a:t>
            </a:r>
            <a:r>
              <a:rPr lang="en-US" altLang="zh-CN" sz="2000" b="1" dirty="0">
                <a:solidFill>
                  <a:srgbClr val="000000"/>
                </a:solidFill>
              </a:rPr>
              <a:t> &lt;&lt; "sophomore"; break;</a:t>
            </a:r>
            <a:endParaRPr lang="en-US" altLang="zh-CN" sz="2000" b="1" dirty="0">
              <a:solidFill>
                <a:srgbClr val="000000"/>
              </a:solidFill>
            </a:endParaRPr>
          </a:p>
          <a:p>
            <a:pPr algn="l"/>
            <a:r>
              <a:rPr lang="en-US" altLang="zh-CN" sz="2000" b="1" dirty="0">
                <a:solidFill>
                  <a:srgbClr val="000000"/>
                </a:solidFill>
              </a:rPr>
              <a:t>        case JUNIOR:    </a:t>
            </a:r>
            <a:r>
              <a:rPr lang="en-US" altLang="zh-CN" sz="2000" b="1" dirty="0" err="1">
                <a:solidFill>
                  <a:srgbClr val="000000"/>
                </a:solidFill>
              </a:rPr>
              <a:t>cout</a:t>
            </a:r>
            <a:r>
              <a:rPr lang="en-US" altLang="zh-CN" sz="2000" b="1" dirty="0">
                <a:solidFill>
                  <a:srgbClr val="000000"/>
                </a:solidFill>
              </a:rPr>
              <a:t> &lt;&lt; "junior"; break;</a:t>
            </a:r>
            <a:endParaRPr lang="en-US" altLang="zh-CN" sz="2000" b="1" dirty="0">
              <a:solidFill>
                <a:srgbClr val="000000"/>
              </a:solidFill>
            </a:endParaRPr>
          </a:p>
          <a:p>
            <a:pPr algn="l"/>
            <a:r>
              <a:rPr lang="en-US" altLang="zh-CN" sz="2000" b="1" dirty="0">
                <a:solidFill>
                  <a:srgbClr val="000000"/>
                </a:solidFill>
              </a:rPr>
              <a:t>        case SENIOR:    </a:t>
            </a:r>
            <a:r>
              <a:rPr lang="en-US" altLang="zh-CN" sz="2000" b="1" dirty="0" err="1">
                <a:solidFill>
                  <a:srgbClr val="000000"/>
                </a:solidFill>
              </a:rPr>
              <a:t>cout</a:t>
            </a:r>
            <a:r>
              <a:rPr lang="en-US" altLang="zh-CN" sz="2000" b="1" dirty="0">
                <a:solidFill>
                  <a:srgbClr val="000000"/>
                </a:solidFill>
              </a:rPr>
              <a:t> &lt;&lt; "senior"; break;</a:t>
            </a:r>
            <a:endParaRPr lang="en-US" altLang="zh-CN" sz="2000" b="1" dirty="0">
              <a:solidFill>
                <a:srgbClr val="000000"/>
              </a:solidFill>
            </a:endParaRPr>
          </a:p>
          <a:p>
            <a:pPr algn="l"/>
            <a:r>
              <a:rPr lang="en-US" altLang="zh-CN" sz="2000" b="1" dirty="0">
                <a:solidFill>
                  <a:srgbClr val="000000"/>
                </a:solidFill>
              </a:rPr>
              <a:t>    }</a:t>
            </a:r>
            <a:endParaRPr lang="en-US" altLang="zh-CN" sz="2000" b="1" dirty="0">
              <a:solidFill>
                <a:srgbClr val="000000"/>
              </a:solidFill>
            </a:endParaRPr>
          </a:p>
          <a:p>
            <a:pPr algn="l"/>
            <a:r>
              <a:rPr lang="en-US" altLang="zh-CN" sz="2000" b="1" dirty="0">
                <a:solidFill>
                  <a:srgbClr val="000000"/>
                </a:solidFill>
              </a:rPr>
              <a:t>    </a:t>
            </a:r>
            <a:r>
              <a:rPr lang="en-US" altLang="zh-CN" sz="2000" b="1" dirty="0" err="1">
                <a:solidFill>
                  <a:srgbClr val="000000"/>
                </a:solidFill>
              </a:rPr>
              <a:t>cout</a:t>
            </a:r>
            <a:r>
              <a:rPr lang="en-US" altLang="zh-CN" sz="2000" b="1" dirty="0">
                <a:solidFill>
                  <a:srgbClr val="000000"/>
                </a:solidFill>
              </a:rPr>
              <a:t> &lt;&lt; </a:t>
            </a:r>
            <a:r>
              <a:rPr lang="en-US" altLang="zh-CN" sz="2000" b="1" dirty="0" err="1">
                <a:solidFill>
                  <a:srgbClr val="000000"/>
                </a:solidFill>
              </a:rPr>
              <a:t>endl</a:t>
            </a:r>
            <a:r>
              <a:rPr lang="en-US" altLang="zh-CN" sz="2000" b="1" dirty="0">
                <a:solidFill>
                  <a:srgbClr val="000000"/>
                </a:solidFill>
              </a:rPr>
              <a:t>;</a:t>
            </a:r>
            <a:endParaRPr lang="en-US" altLang="zh-CN" sz="2000" b="1" dirty="0">
              <a:solidFill>
                <a:srgbClr val="000000"/>
              </a:solidFill>
            </a:endParaRPr>
          </a:p>
          <a:p>
            <a:pPr algn="l"/>
            <a:r>
              <a:rPr lang="en-US" altLang="zh-CN" sz="2000" b="1" dirty="0">
                <a:solidFill>
                  <a:srgbClr val="000000"/>
                </a:solidFill>
              </a:rPr>
              <a:t>    </a:t>
            </a:r>
            <a:r>
              <a:rPr lang="en-US" altLang="zh-CN" sz="2000" b="1" dirty="0" err="1">
                <a:solidFill>
                  <a:srgbClr val="000000"/>
                </a:solidFill>
              </a:rPr>
              <a:t>cout</a:t>
            </a:r>
            <a:r>
              <a:rPr lang="en-US" altLang="zh-CN" sz="2000" b="1" dirty="0">
                <a:solidFill>
                  <a:srgbClr val="000000"/>
                </a:solidFill>
              </a:rPr>
              <a:t> &lt;&lt; "Grade:     ";</a:t>
            </a:r>
            <a:endParaRPr lang="en-US" altLang="zh-CN" sz="2000" b="1" dirty="0">
              <a:solidFill>
                <a:srgbClr val="000000"/>
              </a:solidFill>
            </a:endParaRPr>
          </a:p>
          <a:p>
            <a:pPr algn="l"/>
            <a:r>
              <a:rPr lang="en-US" altLang="zh-CN" sz="2000" b="1" dirty="0">
                <a:solidFill>
                  <a:srgbClr val="000000"/>
                </a:solidFill>
              </a:rPr>
              <a:t>    switch (grade) {</a:t>
            </a:r>
            <a:endParaRPr lang="en-US" altLang="zh-CN" sz="2000" b="1" dirty="0">
              <a:solidFill>
                <a:srgbClr val="000000"/>
              </a:solidFill>
            </a:endParaRPr>
          </a:p>
          <a:p>
            <a:pPr algn="l"/>
            <a:r>
              <a:rPr lang="en-US" altLang="zh-CN" sz="2000" b="1" dirty="0">
                <a:solidFill>
                  <a:srgbClr val="000000"/>
                </a:solidFill>
              </a:rPr>
              <a:t>        case A: </a:t>
            </a:r>
            <a:r>
              <a:rPr lang="en-US" altLang="zh-CN" sz="2000" b="1" dirty="0" err="1">
                <a:solidFill>
                  <a:srgbClr val="000000"/>
                </a:solidFill>
              </a:rPr>
              <a:t>cout</a:t>
            </a:r>
            <a:r>
              <a:rPr lang="en-US" altLang="zh-CN" sz="2000" b="1" dirty="0">
                <a:solidFill>
                  <a:srgbClr val="000000"/>
                </a:solidFill>
              </a:rPr>
              <a:t> &lt;&lt; "A"; break;</a:t>
            </a:r>
            <a:endParaRPr lang="en-US" altLang="zh-CN" sz="2000" b="1" dirty="0">
              <a:solidFill>
                <a:srgbClr val="000000"/>
              </a:solidFill>
            </a:endParaRPr>
          </a:p>
          <a:p>
            <a:pPr algn="l"/>
            <a:r>
              <a:rPr lang="en-US" altLang="zh-CN" sz="2000" b="1" dirty="0">
                <a:solidFill>
                  <a:srgbClr val="000000"/>
                </a:solidFill>
              </a:rPr>
              <a:t>        case B: </a:t>
            </a:r>
            <a:r>
              <a:rPr lang="en-US" altLang="zh-CN" sz="2000" b="1" dirty="0" err="1">
                <a:solidFill>
                  <a:srgbClr val="000000"/>
                </a:solidFill>
              </a:rPr>
              <a:t>cout</a:t>
            </a:r>
            <a:r>
              <a:rPr lang="en-US" altLang="zh-CN" sz="2000" b="1" dirty="0">
                <a:solidFill>
                  <a:srgbClr val="000000"/>
                </a:solidFill>
              </a:rPr>
              <a:t> &lt;&lt; "B"; break;</a:t>
            </a:r>
            <a:endParaRPr lang="en-US" altLang="zh-CN" sz="2000" b="1" dirty="0">
              <a:solidFill>
                <a:srgbClr val="000000"/>
              </a:solidFill>
            </a:endParaRPr>
          </a:p>
          <a:p>
            <a:pPr algn="l"/>
            <a:r>
              <a:rPr lang="en-US" altLang="zh-CN" sz="2000" b="1" dirty="0">
                <a:solidFill>
                  <a:srgbClr val="000000"/>
                </a:solidFill>
              </a:rPr>
              <a:t>        case C: </a:t>
            </a:r>
            <a:r>
              <a:rPr lang="en-US" altLang="zh-CN" sz="2000" b="1" dirty="0" err="1">
                <a:solidFill>
                  <a:srgbClr val="000000"/>
                </a:solidFill>
              </a:rPr>
              <a:t>cout</a:t>
            </a:r>
            <a:r>
              <a:rPr lang="en-US" altLang="zh-CN" sz="2000" b="1" dirty="0">
                <a:solidFill>
                  <a:srgbClr val="000000"/>
                </a:solidFill>
              </a:rPr>
              <a:t> &lt;&lt; "C"; break;</a:t>
            </a:r>
            <a:endParaRPr lang="en-US" altLang="zh-CN" sz="2000" b="1" dirty="0">
              <a:solidFill>
                <a:srgbClr val="000000"/>
              </a:solidFill>
            </a:endParaRPr>
          </a:p>
          <a:p>
            <a:pPr algn="l"/>
            <a:r>
              <a:rPr lang="en-US" altLang="zh-CN" sz="2000" b="1" dirty="0">
                <a:solidFill>
                  <a:srgbClr val="000000"/>
                </a:solidFill>
              </a:rPr>
              <a:t>        case D: </a:t>
            </a:r>
            <a:r>
              <a:rPr lang="en-US" altLang="zh-CN" sz="2000" b="1" dirty="0" err="1">
                <a:solidFill>
                  <a:srgbClr val="000000"/>
                </a:solidFill>
              </a:rPr>
              <a:t>cout</a:t>
            </a:r>
            <a:r>
              <a:rPr lang="en-US" altLang="zh-CN" sz="2000" b="1" dirty="0">
                <a:solidFill>
                  <a:srgbClr val="000000"/>
                </a:solidFill>
              </a:rPr>
              <a:t> &lt;&lt; "D"; break;</a:t>
            </a:r>
            <a:endParaRPr lang="en-US" altLang="zh-CN" sz="2000" b="1" dirty="0">
              <a:solidFill>
                <a:srgbClr val="000000"/>
              </a:solidFill>
            </a:endParaRPr>
          </a:p>
          <a:p>
            <a:pPr algn="l"/>
            <a:r>
              <a:rPr lang="en-US" altLang="zh-CN" sz="2000" b="1" dirty="0">
                <a:solidFill>
                  <a:srgbClr val="000000"/>
                </a:solidFill>
              </a:rPr>
              <a:t>    }</a:t>
            </a:r>
            <a:endParaRPr lang="en-US" altLang="zh-CN" sz="2000" b="1" dirty="0">
              <a:solidFill>
                <a:srgbClr val="000000"/>
              </a:solidFill>
            </a:endParaRPr>
          </a:p>
          <a:p>
            <a:pPr algn="l"/>
            <a:r>
              <a:rPr lang="en-US" altLang="zh-CN" sz="2000" b="1" dirty="0">
                <a:solidFill>
                  <a:srgbClr val="000000"/>
                </a:solidFill>
              </a:rPr>
              <a:t>    </a:t>
            </a:r>
            <a:r>
              <a:rPr lang="en-US" altLang="zh-CN" sz="2000" b="1" dirty="0" err="1">
                <a:solidFill>
                  <a:srgbClr val="000000"/>
                </a:solidFill>
              </a:rPr>
              <a:t>cout</a:t>
            </a:r>
            <a:r>
              <a:rPr lang="en-US" altLang="zh-CN" sz="2000" b="1" dirty="0">
                <a:solidFill>
                  <a:srgbClr val="000000"/>
                </a:solidFill>
              </a:rPr>
              <a:t> &lt;&lt; </a:t>
            </a:r>
            <a:r>
              <a:rPr lang="en-US" altLang="zh-CN" sz="2000" b="1" dirty="0" err="1">
                <a:solidFill>
                  <a:srgbClr val="000000"/>
                </a:solidFill>
              </a:rPr>
              <a:t>endl</a:t>
            </a:r>
            <a:r>
              <a:rPr lang="en-US" altLang="zh-CN" sz="2000" b="1" dirty="0">
                <a:solidFill>
                  <a:srgbClr val="000000"/>
                </a:solidFill>
              </a:rPr>
              <a:t>;</a:t>
            </a:r>
            <a:endParaRPr lang="en-US" altLang="zh-CN" sz="2000" b="1" dirty="0">
              <a:solidFill>
                <a:srgbClr val="000000"/>
              </a:solidFill>
            </a:endParaRPr>
          </a:p>
          <a:p>
            <a:pPr algn="l"/>
            <a:r>
              <a:rPr lang="en-US" altLang="zh-CN" sz="2000" b="1" dirty="0" smtClean="0">
                <a:solidFill>
                  <a:srgbClr val="000000"/>
                </a:solidFill>
              </a:rPr>
              <a:t>}</a:t>
            </a:r>
            <a:endParaRPr lang="zh-CN" altLang="en-US" sz="2000" b="1" dirty="0">
              <a:solidFill>
                <a:srgbClr val="000000"/>
              </a:solidFill>
            </a:endParaRPr>
          </a:p>
        </p:txBody>
      </p:sp>
    </p:spTree>
  </p:cSld>
  <p:clrMapOvr>
    <a:masterClrMapping/>
  </p:clrMapOvr>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4.9.1 </a:t>
            </a:r>
            <a:r>
              <a:rPr lang="zh-CN" altLang="en-US" sz="4400" b="1" dirty="0" smtClean="0">
                <a:latin typeface="Times New Roman" panose="02020603050405020304" pitchFamily="18" charset="0"/>
                <a:ea typeface="隶书" panose="02010509060101010101" pitchFamily="49" charset="-122"/>
              </a:rPr>
              <a:t>位域</a:t>
            </a:r>
            <a:endParaRPr lang="zh-CN" altLang="en-US" sz="4400" b="1" dirty="0">
              <a:latin typeface="Times New Roman" panose="02020603050405020304" pitchFamily="18" charset="0"/>
              <a:ea typeface="隶书" panose="02010509060101010101" pitchFamily="49" charset="-122"/>
            </a:endParaRPr>
          </a:p>
        </p:txBody>
      </p:sp>
      <p:sp>
        <p:nvSpPr>
          <p:cNvPr id="2" name="矩形 1"/>
          <p:cNvSpPr/>
          <p:nvPr/>
        </p:nvSpPr>
        <p:spPr>
          <a:xfrm>
            <a:off x="628650" y="2348880"/>
            <a:ext cx="8280920" cy="1938992"/>
          </a:xfrm>
          <a:prstGeom prst="rect">
            <a:avLst/>
          </a:prstGeom>
          <a:solidFill>
            <a:schemeClr val="tx1"/>
          </a:solidFill>
        </p:spPr>
        <p:txBody>
          <a:bodyPr wrap="square">
            <a:spAutoFit/>
          </a:bodyPr>
          <a:lstStyle/>
          <a:p>
            <a:pPr algn="l"/>
            <a:r>
              <a:rPr lang="en-US" altLang="zh-CN" sz="2000" b="1" dirty="0" err="1" smtClean="0">
                <a:solidFill>
                  <a:srgbClr val="000000"/>
                </a:solidFill>
              </a:rPr>
              <a:t>int</a:t>
            </a:r>
            <a:r>
              <a:rPr lang="en-US" altLang="zh-CN" sz="2000" b="1" dirty="0" smtClean="0">
                <a:solidFill>
                  <a:srgbClr val="000000"/>
                </a:solidFill>
              </a:rPr>
              <a:t> </a:t>
            </a:r>
            <a:r>
              <a:rPr lang="en-US" altLang="zh-CN" sz="2000" b="1" dirty="0">
                <a:solidFill>
                  <a:srgbClr val="000000"/>
                </a:solidFill>
              </a:rPr>
              <a:t>main() {</a:t>
            </a:r>
            <a:endParaRPr lang="en-US" altLang="zh-CN" sz="2000" b="1" dirty="0">
              <a:solidFill>
                <a:srgbClr val="000000"/>
              </a:solidFill>
            </a:endParaRPr>
          </a:p>
          <a:p>
            <a:pPr algn="l"/>
            <a:r>
              <a:rPr lang="en-US" altLang="zh-CN" sz="2000" b="1" dirty="0">
                <a:solidFill>
                  <a:srgbClr val="000000"/>
                </a:solidFill>
              </a:rPr>
              <a:t>    Student s(12345678, SOPHOMORE, B);</a:t>
            </a:r>
            <a:endParaRPr lang="en-US" altLang="zh-CN" sz="2000" b="1" dirty="0">
              <a:solidFill>
                <a:srgbClr val="000000"/>
              </a:solidFill>
            </a:endParaRPr>
          </a:p>
          <a:p>
            <a:pPr algn="l"/>
            <a:r>
              <a:rPr lang="en-US" altLang="zh-CN" sz="2000" b="1" dirty="0">
                <a:solidFill>
                  <a:srgbClr val="000000"/>
                </a:solidFill>
              </a:rPr>
              <a:t>    </a:t>
            </a:r>
            <a:r>
              <a:rPr lang="en-US" altLang="zh-CN" sz="2000" b="1" dirty="0" err="1">
                <a:solidFill>
                  <a:srgbClr val="000000"/>
                </a:solidFill>
              </a:rPr>
              <a:t>cout</a:t>
            </a:r>
            <a:r>
              <a:rPr lang="en-US" altLang="zh-CN" sz="2000" b="1" dirty="0">
                <a:solidFill>
                  <a:srgbClr val="000000"/>
                </a:solidFill>
              </a:rPr>
              <a:t> &lt;&lt; "Size of Student: " &lt;&lt; </a:t>
            </a:r>
            <a:r>
              <a:rPr lang="en-US" altLang="zh-CN" sz="2000" b="1" dirty="0" err="1">
                <a:solidFill>
                  <a:srgbClr val="000000"/>
                </a:solidFill>
              </a:rPr>
              <a:t>sizeof</a:t>
            </a:r>
            <a:r>
              <a:rPr lang="en-US" altLang="zh-CN" sz="2000" b="1" dirty="0">
                <a:solidFill>
                  <a:srgbClr val="000000"/>
                </a:solidFill>
              </a:rPr>
              <a:t>(Student) &lt;&lt; </a:t>
            </a:r>
            <a:r>
              <a:rPr lang="en-US" altLang="zh-CN" sz="2000" b="1" dirty="0" err="1">
                <a:solidFill>
                  <a:srgbClr val="000000"/>
                </a:solidFill>
              </a:rPr>
              <a:t>endl</a:t>
            </a:r>
            <a:r>
              <a:rPr lang="en-US" altLang="zh-CN" sz="2000" b="1" dirty="0">
                <a:solidFill>
                  <a:srgbClr val="000000"/>
                </a:solidFill>
              </a:rPr>
              <a:t>;</a:t>
            </a:r>
            <a:endParaRPr lang="en-US" altLang="zh-CN" sz="2000" b="1" dirty="0">
              <a:solidFill>
                <a:srgbClr val="000000"/>
              </a:solidFill>
            </a:endParaRPr>
          </a:p>
          <a:p>
            <a:pPr algn="l"/>
            <a:r>
              <a:rPr lang="en-US" altLang="zh-CN" sz="2000" b="1" dirty="0">
                <a:solidFill>
                  <a:srgbClr val="000000"/>
                </a:solidFill>
              </a:rPr>
              <a:t>    </a:t>
            </a:r>
            <a:r>
              <a:rPr lang="en-US" altLang="zh-CN" sz="2000" b="1" dirty="0" err="1">
                <a:solidFill>
                  <a:srgbClr val="000000"/>
                </a:solidFill>
              </a:rPr>
              <a:t>s.show</a:t>
            </a:r>
            <a:r>
              <a:rPr lang="en-US" altLang="zh-CN" sz="2000" b="1" dirty="0">
                <a:solidFill>
                  <a:srgbClr val="000000"/>
                </a:solidFill>
              </a:rPr>
              <a:t>();</a:t>
            </a:r>
            <a:endParaRPr lang="en-US" altLang="zh-CN" sz="2000" b="1" dirty="0">
              <a:solidFill>
                <a:srgbClr val="000000"/>
              </a:solidFill>
            </a:endParaRPr>
          </a:p>
          <a:p>
            <a:pPr algn="l"/>
            <a:r>
              <a:rPr lang="en-US" altLang="zh-CN" sz="2000" b="1" dirty="0">
                <a:solidFill>
                  <a:srgbClr val="000000"/>
                </a:solidFill>
              </a:rPr>
              <a:t>    return 0;</a:t>
            </a:r>
            <a:endParaRPr lang="en-US" altLang="zh-CN" sz="2000" b="1" dirty="0">
              <a:solidFill>
                <a:srgbClr val="000000"/>
              </a:solidFill>
            </a:endParaRPr>
          </a:p>
          <a:p>
            <a:pPr algn="l"/>
            <a:r>
              <a:rPr lang="en-US" altLang="zh-CN" sz="2000" b="1" dirty="0">
                <a:solidFill>
                  <a:srgbClr val="000000"/>
                </a:solidFill>
              </a:rPr>
              <a:t>}</a:t>
            </a:r>
            <a:endParaRPr lang="zh-CN" altLang="en-US" sz="2000" b="1" dirty="0">
              <a:solidFill>
                <a:srgbClr val="000000"/>
              </a:solidFill>
            </a:endParaRPr>
          </a:p>
        </p:txBody>
      </p:sp>
    </p:spTree>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4.9.2 </a:t>
            </a:r>
            <a:r>
              <a:rPr lang="zh-CN" altLang="en-US" sz="4400" b="1" dirty="0" smtClean="0">
                <a:latin typeface="Times New Roman" panose="02020603050405020304" pitchFamily="18" charset="0"/>
                <a:ea typeface="隶书" panose="02010509060101010101" pitchFamily="49" charset="-122"/>
              </a:rPr>
              <a:t>用构造函数定义类型转换</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467544" y="1988840"/>
            <a:ext cx="8208912" cy="4351338"/>
          </a:xfrm>
        </p:spPr>
        <p:txBody>
          <a:bodyPr/>
          <a:lstStyle/>
          <a:p>
            <a:pPr marL="0" indent="0" eaLnBrk="1" hangingPunct="1">
              <a:lnSpc>
                <a:spcPct val="150000"/>
              </a:lnSpc>
              <a:buNone/>
            </a:pPr>
            <a:r>
              <a:rPr lang="zh-CN" altLang="en-US" sz="2400" b="1" dirty="0" smtClean="0">
                <a:latin typeface="微软雅黑" panose="020B0503020204020204" pitchFamily="34" charset="-122"/>
                <a:ea typeface="微软雅黑" panose="020B0503020204020204" pitchFamily="34" charset="-122"/>
              </a:rPr>
              <a:t>用构造函数定义的类型转换：</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当一个函数的返回类型是类类型时，函数调用返回后，隐式产生一个临时对象。临时对象也可以显式创建，例如：</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en-US" altLang="zh-CN" sz="2400" b="1" dirty="0" err="1" smtClean="0">
                <a:solidFill>
                  <a:srgbClr val="FFFF00"/>
                </a:solidFill>
                <a:latin typeface="微软雅黑" panose="020B0503020204020204" pitchFamily="34" charset="-122"/>
                <a:ea typeface="微软雅黑" panose="020B0503020204020204" pitchFamily="34" charset="-122"/>
              </a:rPr>
              <a:t>cout</a:t>
            </a:r>
            <a:r>
              <a:rPr lang="en-US" altLang="zh-CN" sz="2400" b="1" dirty="0" smtClean="0">
                <a:solidFill>
                  <a:srgbClr val="FFFF00"/>
                </a:solidFill>
                <a:latin typeface="微软雅黑" panose="020B0503020204020204" pitchFamily="34" charset="-122"/>
                <a:ea typeface="微软雅黑" panose="020B0503020204020204" pitchFamily="34" charset="-122"/>
              </a:rPr>
              <a:t>&lt;&lt;Line(Point(1),Point(4)).</a:t>
            </a:r>
            <a:r>
              <a:rPr lang="en-US" altLang="zh-CN" sz="2400" b="1" dirty="0" err="1" smtClean="0">
                <a:solidFill>
                  <a:srgbClr val="FFFF00"/>
                </a:solidFill>
                <a:latin typeface="微软雅黑" panose="020B0503020204020204" pitchFamily="34" charset="-122"/>
                <a:ea typeface="微软雅黑" panose="020B0503020204020204" pitchFamily="34" charset="-122"/>
              </a:rPr>
              <a:t>getLen</a:t>
            </a:r>
            <a:r>
              <a:rPr lang="en-US" altLang="zh-CN" sz="2400" b="1" dirty="0" smtClean="0">
                <a:solidFill>
                  <a:srgbClr val="FFFF00"/>
                </a:solidFill>
                <a:latin typeface="微软雅黑" panose="020B0503020204020204" pitchFamily="34" charset="-122"/>
                <a:ea typeface="微软雅黑" panose="020B0503020204020204" pitchFamily="34" charset="-122"/>
              </a:rPr>
              <a:t>()&lt;&lt;</a:t>
            </a:r>
            <a:r>
              <a:rPr lang="en-US" altLang="zh-CN" sz="2400" b="1" dirty="0" err="1" smtClean="0">
                <a:solidFill>
                  <a:srgbClr val="FFFF00"/>
                </a:solidFill>
                <a:latin typeface="微软雅黑" panose="020B0503020204020204" pitchFamily="34" charset="-122"/>
                <a:ea typeface="微软雅黑" panose="020B0503020204020204" pitchFamily="34" charset="-122"/>
              </a:rPr>
              <a:t>endl</a:t>
            </a:r>
            <a:r>
              <a:rPr lang="zh-CN" altLang="en-US" sz="2400" b="1" dirty="0" smtClean="0">
                <a:solidFill>
                  <a:srgbClr val="FFFF00"/>
                </a:solidFill>
                <a:latin typeface="微软雅黑" panose="020B0503020204020204" pitchFamily="34" charset="-122"/>
                <a:ea typeface="微软雅黑" panose="020B0503020204020204" pitchFamily="34" charset="-122"/>
              </a:rPr>
              <a:t>；</a:t>
            </a:r>
            <a:endParaRPr lang="en-US" altLang="zh-CN" sz="2400" b="1" dirty="0" smtClean="0">
              <a:solidFill>
                <a:srgbClr val="FFFF00"/>
              </a:solidFill>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en-US" altLang="zh-CN" sz="2400" b="1" dirty="0" smtClean="0">
                <a:solidFill>
                  <a:srgbClr val="FFFF00"/>
                </a:solidFill>
                <a:latin typeface="微软雅黑" panose="020B0503020204020204" pitchFamily="34" charset="-122"/>
                <a:ea typeface="微软雅黑" panose="020B0503020204020204" pitchFamily="34" charset="-122"/>
              </a:rPr>
              <a:t>//</a:t>
            </a:r>
            <a:r>
              <a:rPr lang="zh-CN" altLang="en-US" sz="2400" b="1" dirty="0" smtClean="0">
                <a:solidFill>
                  <a:srgbClr val="FFFF00"/>
                </a:solidFill>
                <a:latin typeface="微软雅黑" panose="020B0503020204020204" pitchFamily="34" charset="-122"/>
                <a:ea typeface="微软雅黑" panose="020B0503020204020204" pitchFamily="34" charset="-122"/>
              </a:rPr>
              <a:t>也可以写成如下形式</a:t>
            </a:r>
            <a:endParaRPr lang="en-US" altLang="zh-CN" sz="2400" b="1" dirty="0">
              <a:solidFill>
                <a:srgbClr val="FFFF00"/>
              </a:solidFill>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en-US" altLang="zh-CN" sz="2400" b="1" dirty="0" err="1" smtClean="0">
                <a:solidFill>
                  <a:srgbClr val="FFFF00"/>
                </a:solidFill>
                <a:latin typeface="微软雅黑" panose="020B0503020204020204" pitchFamily="34" charset="-122"/>
                <a:ea typeface="微软雅黑" panose="020B0503020204020204" pitchFamily="34" charset="-122"/>
              </a:rPr>
              <a:t>cout</a:t>
            </a:r>
            <a:r>
              <a:rPr lang="en-US" altLang="zh-CN" sz="2400" b="1" dirty="0" smtClean="0">
                <a:solidFill>
                  <a:srgbClr val="FFFF00"/>
                </a:solidFill>
                <a:latin typeface="微软雅黑" panose="020B0503020204020204" pitchFamily="34" charset="-122"/>
                <a:ea typeface="微软雅黑" panose="020B0503020204020204" pitchFamily="34" charset="-122"/>
              </a:rPr>
              <a:t>&lt;&lt;Line(1,4).</a:t>
            </a:r>
            <a:r>
              <a:rPr lang="en-US" altLang="zh-CN" sz="2400" b="1" dirty="0" err="1" smtClean="0">
                <a:solidFill>
                  <a:srgbClr val="FFFF00"/>
                </a:solidFill>
                <a:latin typeface="微软雅黑" panose="020B0503020204020204" pitchFamily="34" charset="-122"/>
                <a:ea typeface="微软雅黑" panose="020B0503020204020204" pitchFamily="34" charset="-122"/>
              </a:rPr>
              <a:t>getLen</a:t>
            </a:r>
            <a:r>
              <a:rPr lang="en-US" altLang="zh-CN" sz="2400" b="1" dirty="0" smtClean="0">
                <a:solidFill>
                  <a:srgbClr val="FFFF00"/>
                </a:solidFill>
                <a:latin typeface="微软雅黑" panose="020B0503020204020204" pitchFamily="34" charset="-122"/>
                <a:ea typeface="微软雅黑" panose="020B0503020204020204" pitchFamily="34" charset="-122"/>
              </a:rPr>
              <a:t>()&lt;&lt;</a:t>
            </a:r>
            <a:r>
              <a:rPr lang="en-US" altLang="zh-CN" sz="2400" b="1" dirty="0" err="1" smtClean="0">
                <a:solidFill>
                  <a:srgbClr val="FFFF00"/>
                </a:solidFill>
                <a:latin typeface="微软雅黑" panose="020B0503020204020204" pitchFamily="34" charset="-122"/>
                <a:ea typeface="微软雅黑" panose="020B0503020204020204" pitchFamily="34" charset="-122"/>
              </a:rPr>
              <a:t>endl</a:t>
            </a:r>
            <a:r>
              <a:rPr lang="en-US" altLang="zh-CN" sz="2400" b="1" dirty="0"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4.9.2 </a:t>
            </a:r>
            <a:r>
              <a:rPr lang="zh-CN" altLang="en-US" sz="4400" b="1" dirty="0" smtClean="0">
                <a:latin typeface="Times New Roman" panose="02020603050405020304" pitchFamily="18" charset="0"/>
                <a:ea typeface="隶书" panose="02010509060101010101" pitchFamily="49" charset="-122"/>
              </a:rPr>
              <a:t>用构造函数定义类型转换</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467544" y="1628800"/>
            <a:ext cx="8208912" cy="4351338"/>
          </a:xfrm>
        </p:spPr>
        <p:txBody>
          <a:bodyPr/>
          <a:lstStyle/>
          <a:p>
            <a:pPr marL="0" indent="0" eaLnBrk="1" hangingPunct="1">
              <a:lnSpc>
                <a:spcPct val="150000"/>
              </a:lnSpc>
              <a:buNone/>
            </a:pPr>
            <a:r>
              <a:rPr lang="zh-CN" altLang="en-US" sz="2400" b="1" dirty="0" smtClean="0">
                <a:latin typeface="微软雅黑" panose="020B0503020204020204" pitchFamily="34" charset="-122"/>
                <a:ea typeface="微软雅黑" panose="020B0503020204020204" pitchFamily="34" charset="-122"/>
              </a:rPr>
              <a:t>只允许显式执行的类型转换：</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当不希望这种隐式类型 转换发生时，只要在构造函数</a:t>
            </a:r>
            <a:r>
              <a:rPr lang="zh-CN" altLang="en-US" sz="2400" b="1" dirty="0">
                <a:latin typeface="微软雅黑" panose="020B0503020204020204" pitchFamily="34" charset="-122"/>
                <a:ea typeface="微软雅黑" panose="020B0503020204020204" pitchFamily="34" charset="-122"/>
              </a:rPr>
              <a:t>前面加</a:t>
            </a:r>
            <a:r>
              <a:rPr lang="en-US" altLang="zh-CN" sz="2400" b="1" dirty="0">
                <a:latin typeface="微软雅黑" panose="020B0503020204020204" pitchFamily="34" charset="-122"/>
                <a:ea typeface="微软雅黑" panose="020B0503020204020204" pitchFamily="34" charset="-122"/>
              </a:rPr>
              <a:t>explicit</a:t>
            </a:r>
            <a:r>
              <a:rPr lang="zh-CN" altLang="en-US" sz="2400" b="1" dirty="0">
                <a:latin typeface="微软雅黑" panose="020B0503020204020204" pitchFamily="34" charset="-122"/>
                <a:ea typeface="微软雅黑" panose="020B0503020204020204" pitchFamily="34" charset="-122"/>
              </a:rPr>
              <a:t>关键字即可。</a:t>
            </a:r>
            <a:endParaRPr lang="en-US" altLang="zh-CN" sz="2400" b="1" dirty="0">
              <a:latin typeface="微软雅黑" panose="020B0503020204020204" pitchFamily="34" charset="-122"/>
              <a:ea typeface="微软雅黑" panose="020B0503020204020204" pitchFamily="34" charset="-122"/>
            </a:endParaRPr>
          </a:p>
          <a:p>
            <a:pPr eaLnBrk="1" hangingPunct="1">
              <a:lnSpc>
                <a:spcPct val="150000"/>
              </a:lnSpc>
            </a:pPr>
            <a:r>
              <a:rPr lang="en-US" altLang="zh-CN" sz="2400" b="1" dirty="0">
                <a:latin typeface="微软雅黑" panose="020B0503020204020204" pitchFamily="34" charset="-122"/>
                <a:ea typeface="微软雅黑" panose="020B0503020204020204" pitchFamily="34" charset="-122"/>
              </a:rPr>
              <a:t>explicit</a:t>
            </a:r>
            <a:r>
              <a:rPr lang="zh-CN" altLang="en-US" sz="2400" b="1" dirty="0">
                <a:latin typeface="微软雅黑" panose="020B0503020204020204" pitchFamily="34" charset="-122"/>
                <a:ea typeface="微软雅黑" panose="020B0503020204020204" pitchFamily="34" charset="-122"/>
              </a:rPr>
              <a:t>关键字应写在函数原型声明处，而不是实现处。</a:t>
            </a:r>
            <a:endParaRPr lang="en-US" altLang="zh-CN" sz="2400" b="1"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a:latin typeface="微软雅黑" panose="020B0503020204020204" pitchFamily="34" charset="-122"/>
                <a:ea typeface="微软雅黑" panose="020B0503020204020204" pitchFamily="34" charset="-122"/>
              </a:rPr>
              <a:t>如果一个构造函数可以只用一个参数调用，且由此定义的类型转换没有意义，则应当使用</a:t>
            </a:r>
            <a:r>
              <a:rPr lang="en-US" altLang="zh-CN" sz="2400" b="1" dirty="0">
                <a:latin typeface="微软雅黑" panose="020B0503020204020204" pitchFamily="34" charset="-122"/>
                <a:ea typeface="微软雅黑" panose="020B0503020204020204" pitchFamily="34" charset="-122"/>
              </a:rPr>
              <a:t>explicit</a:t>
            </a:r>
            <a:r>
              <a:rPr lang="zh-CN" altLang="en-US" sz="2400" b="1" dirty="0">
                <a:latin typeface="微软雅黑" panose="020B0503020204020204" pitchFamily="34" charset="-122"/>
                <a:ea typeface="微软雅黑" panose="020B0503020204020204" pitchFamily="34" charset="-122"/>
              </a:rPr>
              <a:t>，避免类型转换被误用。</a:t>
            </a:r>
            <a:br>
              <a:rPr lang="en-US" altLang="zh-CN" sz="2400" b="1" dirty="0">
                <a:latin typeface="微软雅黑" panose="020B0503020204020204" pitchFamily="34" charset="-122"/>
                <a:ea typeface="微软雅黑" panose="020B0503020204020204" pitchFamily="34" charset="-122"/>
              </a:rPr>
            </a:br>
            <a:r>
              <a:rPr lang="zh-CN" altLang="en-US" sz="2400" b="1" dirty="0" smtClean="0">
                <a:solidFill>
                  <a:srgbClr val="FFFF00"/>
                </a:solidFill>
                <a:latin typeface="微软雅黑" panose="020B0503020204020204" pitchFamily="34" charset="-122"/>
                <a:ea typeface="微软雅黑" panose="020B0503020204020204" pitchFamily="34" charset="-122"/>
              </a:rPr>
              <a:t>例如：</a:t>
            </a:r>
            <a:r>
              <a:rPr lang="en-US" altLang="zh-CN" sz="2400" b="1" dirty="0" smtClean="0">
                <a:solidFill>
                  <a:srgbClr val="FFFF00"/>
                </a:solidFill>
                <a:latin typeface="微软雅黑" panose="020B0503020204020204" pitchFamily="34" charset="-122"/>
                <a:ea typeface="微软雅黑" panose="020B0503020204020204" pitchFamily="34" charset="-122"/>
              </a:rPr>
              <a:t>explicit Point(</a:t>
            </a:r>
            <a:r>
              <a:rPr lang="en-US" altLang="zh-CN" sz="2400" b="1" dirty="0" err="1" smtClean="0">
                <a:solidFill>
                  <a:srgbClr val="FFFF00"/>
                </a:solidFill>
                <a:latin typeface="微软雅黑" panose="020B0503020204020204" pitchFamily="34" charset="-122"/>
                <a:ea typeface="微软雅黑" panose="020B0503020204020204" pitchFamily="34" charset="-122"/>
              </a:rPr>
              <a:t>int</a:t>
            </a:r>
            <a:r>
              <a:rPr lang="en-US" altLang="zh-CN" sz="2400" b="1" dirty="0" smtClean="0">
                <a:solidFill>
                  <a:srgbClr val="FFFF00"/>
                </a:solidFill>
                <a:latin typeface="微软雅黑" panose="020B0503020204020204" pitchFamily="34" charset="-122"/>
                <a:ea typeface="微软雅黑" panose="020B0503020204020204" pitchFamily="34" charset="-122"/>
              </a:rPr>
              <a:t> xx=0,int </a:t>
            </a:r>
            <a:r>
              <a:rPr lang="en-US" altLang="zh-CN" sz="2400" b="1" dirty="0" err="1" smtClean="0">
                <a:solidFill>
                  <a:srgbClr val="FFFF00"/>
                </a:solidFill>
                <a:latin typeface="微软雅黑" panose="020B0503020204020204" pitchFamily="34" charset="-122"/>
                <a:ea typeface="微软雅黑" panose="020B0503020204020204" pitchFamily="34" charset="-122"/>
              </a:rPr>
              <a:t>yy</a:t>
            </a:r>
            <a:r>
              <a:rPr lang="en-US" altLang="zh-CN" sz="2400" b="1" dirty="0" smtClean="0">
                <a:solidFill>
                  <a:srgbClr val="FFFF00"/>
                </a:solidFill>
                <a:latin typeface="微软雅黑" panose="020B0503020204020204" pitchFamily="34" charset="-122"/>
                <a:ea typeface="微软雅黑" panose="020B0503020204020204" pitchFamily="34" charset="-122"/>
              </a:rPr>
              <a:t>=0);</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4.9.3 </a:t>
            </a:r>
            <a:r>
              <a:rPr lang="zh-CN" altLang="en-US" sz="4400" b="1" dirty="0" smtClean="0">
                <a:latin typeface="Times New Roman" panose="02020603050405020304" pitchFamily="18" charset="0"/>
                <a:ea typeface="隶书" panose="02010509060101010101" pitchFamily="49" charset="-122"/>
              </a:rPr>
              <a:t>对象作为函数参数和返回值的传递方式</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467544" y="1628800"/>
            <a:ext cx="8208912" cy="4351338"/>
          </a:xfrm>
        </p:spPr>
        <p:txBody>
          <a:bodyPr/>
          <a:lstStyle/>
          <a:p>
            <a:pPr marL="0" indent="0" eaLnBrk="1" hangingPunct="1">
              <a:lnSpc>
                <a:spcPct val="150000"/>
              </a:lnSpc>
              <a:buNone/>
            </a:pPr>
            <a:r>
              <a:rPr lang="zh-CN" altLang="en-US" sz="2400" b="1" dirty="0" smtClean="0">
                <a:latin typeface="微软雅黑" panose="020B0503020204020204" pitchFamily="34" charset="-122"/>
                <a:ea typeface="微软雅黑" panose="020B0503020204020204" pitchFamily="34" charset="-122"/>
              </a:rPr>
              <a:t>对象作为函数参数 的传递方式：</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和传递基本类型数据参数不一样的是，传递对象参数，则需要复制构造函数的调用。例如，例</a:t>
            </a:r>
            <a:r>
              <a:rPr lang="en-US" altLang="zh-CN" sz="2400" b="1" dirty="0" smtClean="0">
                <a:latin typeface="微软雅黑" panose="020B0503020204020204" pitchFamily="34" charset="-122"/>
                <a:ea typeface="微软雅黑" panose="020B0503020204020204" pitchFamily="34" charset="-122"/>
              </a:rPr>
              <a:t>4-2</a:t>
            </a:r>
            <a:r>
              <a:rPr lang="zh-CN" altLang="en-US" sz="2400" b="1" dirty="0" smtClean="0">
                <a:latin typeface="微软雅黑" panose="020B0503020204020204" pitchFamily="34" charset="-122"/>
                <a:ea typeface="微软雅黑" panose="020B0503020204020204" pitchFamily="34" charset="-122"/>
              </a:rPr>
              <a:t>中：</a:t>
            </a:r>
            <a:br>
              <a:rPr lang="en-US" altLang="zh-CN" sz="2400" b="1" dirty="0" smtClean="0">
                <a:latin typeface="微软雅黑" panose="020B0503020204020204" pitchFamily="34" charset="-122"/>
                <a:ea typeface="微软雅黑" panose="020B0503020204020204" pitchFamily="34" charset="-122"/>
              </a:rPr>
            </a:br>
            <a:r>
              <a:rPr lang="en-US" altLang="zh-CN" sz="2400" b="1" dirty="0" smtClean="0">
                <a:solidFill>
                  <a:srgbClr val="FFFF00"/>
                </a:solidFill>
                <a:latin typeface="微软雅黑" panose="020B0503020204020204" pitchFamily="34" charset="-122"/>
                <a:ea typeface="微软雅黑" panose="020B0503020204020204" pitchFamily="34" charset="-122"/>
              </a:rPr>
              <a:t>fun1(b);</a:t>
            </a:r>
            <a:br>
              <a:rPr lang="en-US" altLang="zh-CN" sz="2400" b="1" dirty="0" smtClean="0">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就需要调用</a:t>
            </a:r>
            <a:r>
              <a:rPr lang="en-US" altLang="zh-CN" sz="2400" b="1" dirty="0" smtClean="0">
                <a:latin typeface="微软雅黑" panose="020B0503020204020204" pitchFamily="34" charset="-122"/>
                <a:ea typeface="微软雅黑" panose="020B0503020204020204" pitchFamily="34" charset="-122"/>
              </a:rPr>
              <a:t>Point</a:t>
            </a:r>
            <a:r>
              <a:rPr lang="zh-CN" altLang="en-US" sz="2400" b="1" dirty="0" smtClean="0">
                <a:latin typeface="微软雅黑" panose="020B0503020204020204" pitchFamily="34" charset="-122"/>
                <a:ea typeface="微软雅黑" panose="020B0503020204020204" pitchFamily="34" charset="-122"/>
              </a:rPr>
              <a:t>的复制构造函数，用</a:t>
            </a:r>
            <a:r>
              <a:rPr lang="en-US" altLang="zh-CN" sz="2400" b="1" dirty="0" smtClean="0">
                <a:latin typeface="微软雅黑" panose="020B0503020204020204" pitchFamily="34" charset="-122"/>
                <a:ea typeface="微软雅黑" panose="020B0503020204020204" pitchFamily="34" charset="-122"/>
              </a:rPr>
              <a:t>b</a:t>
            </a:r>
            <a:r>
              <a:rPr lang="zh-CN" altLang="en-US" sz="2400" b="1" dirty="0" smtClean="0">
                <a:latin typeface="微软雅黑" panose="020B0503020204020204" pitchFamily="34" charset="-122"/>
                <a:ea typeface="微软雅黑" panose="020B0503020204020204" pitchFamily="34" charset="-122"/>
              </a:rPr>
              <a:t>在运行栈的传参区域创建临时的对象。</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4.9.3 </a:t>
            </a:r>
            <a:r>
              <a:rPr lang="zh-CN" altLang="en-US" sz="4400" b="1" dirty="0" smtClean="0">
                <a:latin typeface="Times New Roman" panose="02020603050405020304" pitchFamily="18" charset="0"/>
                <a:ea typeface="隶书" panose="02010509060101010101" pitchFamily="49" charset="-122"/>
              </a:rPr>
              <a:t>对象作为函数参数和返回值的传递方式</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467544" y="1628800"/>
            <a:ext cx="8208912" cy="4351338"/>
          </a:xfrm>
        </p:spPr>
        <p:txBody>
          <a:bodyPr/>
          <a:lstStyle/>
          <a:p>
            <a:pPr marL="0" indent="0" eaLnBrk="1" hangingPunct="1">
              <a:lnSpc>
                <a:spcPct val="150000"/>
              </a:lnSpc>
              <a:buNone/>
            </a:pPr>
            <a:r>
              <a:rPr lang="zh-CN" altLang="en-US" sz="2400" b="1" dirty="0" smtClean="0">
                <a:latin typeface="微软雅黑" panose="020B0503020204020204" pitchFamily="34" charset="-122"/>
                <a:ea typeface="微软雅黑" panose="020B0503020204020204" pitchFamily="34" charset="-122"/>
              </a:rPr>
              <a:t>对象作为函数参数 的传递方式：</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有时传递对象参数时，编译器会做出适当优化，使得复制构造函数不必被调用。例如：</a:t>
            </a:r>
            <a:br>
              <a:rPr lang="en-US" altLang="zh-CN" sz="2400" b="1" dirty="0" smtClean="0">
                <a:latin typeface="微软雅黑" panose="020B0503020204020204" pitchFamily="34" charset="-122"/>
                <a:ea typeface="微软雅黑" panose="020B0503020204020204" pitchFamily="34" charset="-122"/>
              </a:rPr>
            </a:br>
            <a:r>
              <a:rPr lang="en-US" altLang="zh-CN" sz="2400" b="1" dirty="0" smtClean="0">
                <a:solidFill>
                  <a:srgbClr val="FFFF00"/>
                </a:solidFill>
                <a:latin typeface="微软雅黑" panose="020B0503020204020204" pitchFamily="34" charset="-122"/>
                <a:ea typeface="微软雅黑" panose="020B0503020204020204" pitchFamily="34" charset="-122"/>
              </a:rPr>
              <a:t>fun1(Point</a:t>
            </a:r>
            <a:r>
              <a:rPr lang="zh-CN" altLang="en-US" sz="2400" b="1" dirty="0" smtClean="0">
                <a:solidFill>
                  <a:srgbClr val="FFFF00"/>
                </a:solidFill>
                <a:latin typeface="微软雅黑" panose="020B0503020204020204" pitchFamily="34" charset="-122"/>
                <a:ea typeface="微软雅黑" panose="020B0503020204020204" pitchFamily="34" charset="-122"/>
              </a:rPr>
              <a:t>（</a:t>
            </a:r>
            <a:r>
              <a:rPr lang="en-US" altLang="zh-CN" sz="2400" b="1" dirty="0" smtClean="0">
                <a:solidFill>
                  <a:srgbClr val="FFFF00"/>
                </a:solidFill>
                <a:latin typeface="微软雅黑" panose="020B0503020204020204" pitchFamily="34" charset="-122"/>
                <a:ea typeface="微软雅黑" panose="020B0503020204020204" pitchFamily="34" charset="-122"/>
              </a:rPr>
              <a:t>1,2</a:t>
            </a:r>
            <a:r>
              <a:rPr lang="zh-CN" altLang="en-US" sz="2400" b="1" dirty="0" smtClean="0">
                <a:solidFill>
                  <a:srgbClr val="FFFF00"/>
                </a:solidFill>
                <a:latin typeface="微软雅黑" panose="020B0503020204020204" pitchFamily="34" charset="-122"/>
                <a:ea typeface="微软雅黑" panose="020B0503020204020204" pitchFamily="34" charset="-122"/>
              </a:rPr>
              <a:t>）</a:t>
            </a:r>
            <a:r>
              <a:rPr lang="en-US" altLang="zh-CN" sz="2400" b="1" dirty="0" smtClean="0">
                <a:solidFill>
                  <a:srgbClr val="FFFF00"/>
                </a:solidFill>
                <a:latin typeface="微软雅黑" panose="020B0503020204020204" pitchFamily="34" charset="-122"/>
                <a:ea typeface="微软雅黑" panose="020B0503020204020204" pitchFamily="34" charset="-122"/>
              </a:rPr>
              <a:t>);</a:t>
            </a:r>
            <a:br>
              <a:rPr lang="en-US" altLang="zh-CN" sz="2400" b="1" dirty="0" smtClean="0">
                <a:solidFill>
                  <a:srgbClr val="FFFF00"/>
                </a:solidFill>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为避免两次临时对象创建，编译器可能采用更好的做法：直接调用</a:t>
            </a:r>
            <a:r>
              <a:rPr lang="en-US" altLang="zh-CN" sz="2400" b="1" dirty="0" smtClean="0">
                <a:latin typeface="微软雅黑" panose="020B0503020204020204" pitchFamily="34" charset="-122"/>
                <a:ea typeface="微软雅黑" panose="020B0503020204020204" pitchFamily="34" charset="-122"/>
              </a:rPr>
              <a:t>Point</a:t>
            </a:r>
            <a:r>
              <a:rPr lang="zh-CN" altLang="en-US" sz="2400" b="1" dirty="0" smtClean="0">
                <a:latin typeface="微软雅黑" panose="020B0503020204020204" pitchFamily="34" charset="-122"/>
                <a:ea typeface="微软雅黑" panose="020B0503020204020204" pitchFamily="34" charset="-122"/>
              </a:rPr>
              <a:t>的构造函数，在运行栈的传参区域创建临时的对象，这样免去一次复制构造函数的调用。</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4.9.3 </a:t>
            </a:r>
            <a:r>
              <a:rPr lang="zh-CN" altLang="en-US" sz="4400" b="1" dirty="0" smtClean="0">
                <a:latin typeface="Times New Roman" panose="02020603050405020304" pitchFamily="18" charset="0"/>
                <a:ea typeface="隶书" panose="02010509060101010101" pitchFamily="49" charset="-122"/>
              </a:rPr>
              <a:t>对象作为函数参数和返回值的传递方式</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467544" y="1628800"/>
            <a:ext cx="8208912" cy="4351338"/>
          </a:xfrm>
        </p:spPr>
        <p:txBody>
          <a:bodyPr/>
          <a:lstStyle/>
          <a:p>
            <a:pPr marL="0" indent="0" eaLnBrk="1" hangingPunct="1">
              <a:lnSpc>
                <a:spcPct val="150000"/>
              </a:lnSpc>
              <a:buNone/>
            </a:pPr>
            <a:r>
              <a:rPr lang="zh-CN" altLang="en-US" sz="2400" b="1" dirty="0" smtClean="0">
                <a:latin typeface="微软雅黑" panose="020B0503020204020204" pitchFamily="34" charset="-122"/>
                <a:ea typeface="微软雅黑" panose="020B0503020204020204" pitchFamily="34" charset="-122"/>
              </a:rPr>
              <a:t>对象作为函数参数 的传递方式：</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如果在传参时发生由构造函数所定义的类型转换，复制构造函数的调用可以避免。例如：</a:t>
            </a:r>
            <a:br>
              <a:rPr lang="en-US" altLang="zh-CN" sz="2400" b="1" dirty="0" smtClean="0">
                <a:latin typeface="微软雅黑" panose="020B0503020204020204" pitchFamily="34" charset="-122"/>
                <a:ea typeface="微软雅黑" panose="020B0503020204020204" pitchFamily="34" charset="-122"/>
              </a:rPr>
            </a:br>
            <a:r>
              <a:rPr lang="en-US" altLang="zh-CN" sz="2400" b="1" dirty="0" smtClean="0">
                <a:solidFill>
                  <a:srgbClr val="FFFF00"/>
                </a:solidFill>
                <a:latin typeface="微软雅黑" panose="020B0503020204020204" pitchFamily="34" charset="-122"/>
                <a:ea typeface="微软雅黑" panose="020B0503020204020204" pitchFamily="34" charset="-122"/>
              </a:rPr>
              <a:t>fun1(1)</a:t>
            </a:r>
            <a:r>
              <a:rPr lang="en-US" altLang="zh-CN" sz="2400" b="1" dirty="0" smtClean="0">
                <a:latin typeface="微软雅黑" panose="020B0503020204020204" pitchFamily="34" charset="-122"/>
                <a:ea typeface="微软雅黑" panose="020B0503020204020204" pitchFamily="34" charset="-122"/>
              </a:rPr>
              <a:t>;</a:t>
            </a:r>
            <a:br>
              <a:rPr lang="en-US" altLang="zh-CN" sz="2400" b="1" dirty="0" smtClean="0">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编译器直接调用</a:t>
            </a:r>
            <a:r>
              <a:rPr lang="en-US" altLang="zh-CN" sz="2400" b="1" dirty="0" smtClean="0">
                <a:latin typeface="微软雅黑" panose="020B0503020204020204" pitchFamily="34" charset="-122"/>
                <a:ea typeface="微软雅黑" panose="020B0503020204020204" pitchFamily="34" charset="-122"/>
              </a:rPr>
              <a:t>Point</a:t>
            </a:r>
            <a:r>
              <a:rPr lang="zh-CN" altLang="en-US" sz="2400" b="1" dirty="0" smtClean="0">
                <a:latin typeface="微软雅黑" panose="020B0503020204020204" pitchFamily="34" charset="-122"/>
                <a:ea typeface="微软雅黑" panose="020B0503020204020204" pitchFamily="34" charset="-122"/>
              </a:rPr>
              <a:t>的构造函数，在运行栈的传参区域创建临时的对象，不再需要复制构造函数的调用。</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4.9.3 </a:t>
            </a:r>
            <a:r>
              <a:rPr lang="zh-CN" altLang="en-US" sz="4400" b="1" dirty="0" smtClean="0">
                <a:latin typeface="Times New Roman" panose="02020603050405020304" pitchFamily="18" charset="0"/>
                <a:ea typeface="隶书" panose="02010509060101010101" pitchFamily="49" charset="-122"/>
              </a:rPr>
              <a:t>对象作为函数参数和返回值的传递方式</a:t>
            </a:r>
            <a:endParaRPr lang="zh-CN" altLang="en-US" sz="4400" b="1" dirty="0">
              <a:latin typeface="Times New Roman" panose="02020603050405020304" pitchFamily="18" charset="0"/>
              <a:ea typeface="隶书" panose="02010509060101010101" pitchFamily="49" charset="-122"/>
            </a:endParaRPr>
          </a:p>
        </p:txBody>
      </p:sp>
      <p:sp>
        <p:nvSpPr>
          <p:cNvPr id="73731" name="内容占位符 2"/>
          <p:cNvSpPr>
            <a:spLocks noGrp="1"/>
          </p:cNvSpPr>
          <p:nvPr>
            <p:ph idx="1"/>
          </p:nvPr>
        </p:nvSpPr>
        <p:spPr>
          <a:xfrm>
            <a:off x="467544" y="1628800"/>
            <a:ext cx="8208912" cy="4351338"/>
          </a:xfrm>
        </p:spPr>
        <p:txBody>
          <a:bodyPr/>
          <a:lstStyle/>
          <a:p>
            <a:pPr marL="0" indent="0" eaLnBrk="1" hangingPunct="1">
              <a:lnSpc>
                <a:spcPct val="150000"/>
              </a:lnSpc>
              <a:buNone/>
            </a:pPr>
            <a:r>
              <a:rPr lang="zh-CN" altLang="en-US" sz="2400" b="1" dirty="0" smtClean="0">
                <a:latin typeface="微软雅黑" panose="020B0503020204020204" pitchFamily="34" charset="-122"/>
                <a:ea typeface="微软雅黑" panose="020B0503020204020204" pitchFamily="34" charset="-122"/>
              </a:rPr>
              <a:t>返回值的传递方式：</a:t>
            </a:r>
            <a:endParaRPr lang="en-US" altLang="zh-CN" sz="2400" b="1" dirty="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400" b="1" dirty="0" smtClean="0">
                <a:latin typeface="微软雅黑" panose="020B0503020204020204" pitchFamily="34" charset="-122"/>
                <a:ea typeface="微软雅黑" panose="020B0503020204020204" pitchFamily="34" charset="-122"/>
              </a:rPr>
              <a:t>为保存返回值所生成的临时对象，它的空间分配由主调函数进行，构造函数在被调函数中执行。例如：</a:t>
            </a:r>
            <a:br>
              <a:rPr lang="en-US" altLang="zh-CN" sz="2400" b="1" dirty="0" smtClean="0">
                <a:latin typeface="微软雅黑" panose="020B0503020204020204" pitchFamily="34" charset="-122"/>
                <a:ea typeface="微软雅黑" panose="020B0503020204020204" pitchFamily="34" charset="-122"/>
              </a:rPr>
            </a:br>
            <a:r>
              <a:rPr lang="en-US" altLang="zh-CN" sz="2400" b="1" dirty="0" smtClean="0">
                <a:solidFill>
                  <a:srgbClr val="FFFF00"/>
                </a:solidFill>
                <a:latin typeface="微软雅黑" panose="020B0503020204020204" pitchFamily="34" charset="-122"/>
                <a:ea typeface="微软雅黑" panose="020B0503020204020204" pitchFamily="34" charset="-122"/>
              </a:rPr>
              <a:t>Point fun2(){</a:t>
            </a:r>
            <a:br>
              <a:rPr lang="en-US" altLang="zh-CN" sz="2400" b="1" dirty="0" smtClean="0">
                <a:solidFill>
                  <a:srgbClr val="FFFF00"/>
                </a:solidFill>
                <a:latin typeface="微软雅黑" panose="020B0503020204020204" pitchFamily="34" charset="-122"/>
                <a:ea typeface="微软雅黑" panose="020B0503020204020204" pitchFamily="34" charset="-122"/>
              </a:rPr>
            </a:br>
            <a:r>
              <a:rPr lang="en-US" altLang="zh-CN" sz="2400" b="1" dirty="0" smtClean="0">
                <a:solidFill>
                  <a:srgbClr val="FFFF00"/>
                </a:solidFill>
                <a:latin typeface="微软雅黑" panose="020B0503020204020204" pitchFamily="34" charset="-122"/>
                <a:ea typeface="微软雅黑" panose="020B0503020204020204" pitchFamily="34" charset="-122"/>
              </a:rPr>
              <a:t>    return Point(1,2); //</a:t>
            </a:r>
            <a:r>
              <a:rPr lang="zh-CN" altLang="en-US" sz="2400" b="1" dirty="0" smtClean="0">
                <a:solidFill>
                  <a:srgbClr val="FFFF00"/>
                </a:solidFill>
                <a:latin typeface="微软雅黑" panose="020B0503020204020204" pitchFamily="34" charset="-122"/>
                <a:ea typeface="微软雅黑" panose="020B0503020204020204" pitchFamily="34" charset="-122"/>
              </a:rPr>
              <a:t>用临时对象生成返回值</a:t>
            </a:r>
            <a:br>
              <a:rPr lang="en-US" altLang="zh-CN" sz="2400" b="1" dirty="0" smtClean="0">
                <a:solidFill>
                  <a:srgbClr val="FFFF00"/>
                </a:solidFill>
                <a:latin typeface="微软雅黑" panose="020B0503020204020204" pitchFamily="34" charset="-122"/>
                <a:ea typeface="微软雅黑" panose="020B0503020204020204" pitchFamily="34" charset="-122"/>
              </a:rPr>
            </a:br>
            <a:r>
              <a:rPr lang="en-US" altLang="zh-CN" sz="2400" b="1" dirty="0" smtClean="0">
                <a:solidFill>
                  <a:srgbClr val="FFFF00"/>
                </a:solidFill>
                <a:latin typeface="微软雅黑" panose="020B0503020204020204" pitchFamily="34" charset="-122"/>
                <a:ea typeface="微软雅黑" panose="020B0503020204020204" pitchFamily="34" charset="-122"/>
              </a:rPr>
              <a:t>}</a:t>
            </a:r>
            <a:br>
              <a:rPr lang="en-US" altLang="zh-CN" sz="2400" b="1" dirty="0" smtClean="0">
                <a:solidFill>
                  <a:srgbClr val="FFFF00"/>
                </a:solidFill>
                <a:latin typeface="微软雅黑" panose="020B0503020204020204" pitchFamily="34" charset="-122"/>
                <a:ea typeface="微软雅黑" panose="020B0503020204020204" pitchFamily="34" charset="-122"/>
              </a:rPr>
            </a:br>
            <a:r>
              <a:rPr lang="zh-CN" altLang="en-US" sz="2400" b="1" dirty="0" smtClean="0">
                <a:latin typeface="微软雅黑" panose="020B0503020204020204" pitchFamily="34" charset="-122"/>
                <a:ea typeface="微软雅黑" panose="020B0503020204020204" pitchFamily="34" charset="-122"/>
              </a:rPr>
              <a:t>更直接的实现方式是：</a:t>
            </a:r>
            <a:br>
              <a:rPr lang="en-US" altLang="zh-CN" sz="2400" b="1" smtClean="0">
                <a:latin typeface="微软雅黑" panose="020B0503020204020204" pitchFamily="34" charset="-122"/>
                <a:ea typeface="微软雅黑" panose="020B0503020204020204" pitchFamily="34" charset="-122"/>
              </a:rPr>
            </a:br>
            <a:r>
              <a:rPr lang="en-US" altLang="zh-CN" sz="2400" b="1" smtClean="0">
                <a:solidFill>
                  <a:srgbClr val="FFFF00"/>
                </a:solidFill>
                <a:latin typeface="微软雅黑" panose="020B0503020204020204" pitchFamily="34" charset="-122"/>
                <a:ea typeface="微软雅黑" panose="020B0503020204020204" pitchFamily="34" charset="-122"/>
              </a:rPr>
              <a:t>void _fun2(Point </a:t>
            </a:r>
            <a:r>
              <a:rPr lang="en-US" altLang="zh-CN" sz="2400" b="1" dirty="0" smtClean="0">
                <a:solidFill>
                  <a:srgbClr val="FFFF00"/>
                </a:solidFill>
                <a:latin typeface="微软雅黑" panose="020B0503020204020204" pitchFamily="34" charset="-122"/>
                <a:ea typeface="微软雅黑" panose="020B0503020204020204" pitchFamily="34" charset="-122"/>
              </a:rPr>
              <a:t>&amp;result){</a:t>
            </a:r>
            <a:br>
              <a:rPr lang="en-US" altLang="zh-CN" sz="2400" b="1" dirty="0" smtClean="0">
                <a:solidFill>
                  <a:srgbClr val="FFFF00"/>
                </a:solidFill>
                <a:latin typeface="微软雅黑" panose="020B0503020204020204" pitchFamily="34" charset="-122"/>
                <a:ea typeface="微软雅黑" panose="020B0503020204020204" pitchFamily="34" charset="-122"/>
              </a:rPr>
            </a:br>
            <a:r>
              <a:rPr lang="en-US" altLang="zh-CN" sz="2400" b="1" dirty="0" smtClean="0">
                <a:solidFill>
                  <a:srgbClr val="FFFF00"/>
                </a:solidFill>
                <a:latin typeface="微软雅黑" panose="020B0503020204020204" pitchFamily="34" charset="-122"/>
                <a:ea typeface="微软雅黑" panose="020B0503020204020204" pitchFamily="34" charset="-122"/>
              </a:rPr>
              <a:t>    </a:t>
            </a:r>
            <a:r>
              <a:rPr lang="en-US" altLang="zh-CN" sz="2400" b="1" dirty="0" err="1" smtClean="0">
                <a:solidFill>
                  <a:srgbClr val="FFFF00"/>
                </a:solidFill>
                <a:latin typeface="微软雅黑" panose="020B0503020204020204" pitchFamily="34" charset="-122"/>
                <a:ea typeface="微软雅黑" panose="020B0503020204020204" pitchFamily="34" charset="-122"/>
              </a:rPr>
              <a:t>result.Point</a:t>
            </a:r>
            <a:r>
              <a:rPr lang="en-US" altLang="zh-CN" sz="2400" b="1" dirty="0" smtClean="0">
                <a:solidFill>
                  <a:srgbClr val="FFFF00"/>
                </a:solidFill>
                <a:latin typeface="微软雅黑" panose="020B0503020204020204" pitchFamily="34" charset="-122"/>
                <a:ea typeface="微软雅黑" panose="020B0503020204020204" pitchFamily="34" charset="-122"/>
              </a:rPr>
              <a:t>(1,2);}</a:t>
            </a:r>
            <a:endParaRPr lang="en-US" altLang="zh-CN" sz="2400" b="1" dirty="0" smtClean="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1905" y="2924944"/>
            <a:ext cx="7313613" cy="1143000"/>
          </a:xfrm>
        </p:spPr>
        <p:txBody>
          <a:bodyPr/>
          <a:lstStyle/>
          <a:p>
            <a:pPr algn="ctr" eaLnBrk="1" hangingPunct="1"/>
            <a:r>
              <a:rPr lang="zh-CN" altLang="en-US" sz="5800" b="1" dirty="0">
                <a:ea typeface="华文彩云" panose="02010800040101010101" pitchFamily="2" charset="-122"/>
              </a:rPr>
              <a:t>本讲小结</a:t>
            </a:r>
            <a:endParaRPr lang="zh-CN" altLang="en-US" sz="5800" b="1" dirty="0">
              <a:ea typeface="华文彩云" panose="02010800040101010101" pitchFamily="2" charset="-122"/>
            </a:endParaRPr>
          </a:p>
        </p:txBody>
      </p:sp>
      <p:grpSp>
        <p:nvGrpSpPr>
          <p:cNvPr id="3" name="Group 16"/>
          <p:cNvGrpSpPr/>
          <p:nvPr/>
        </p:nvGrpSpPr>
        <p:grpSpPr bwMode="auto">
          <a:xfrm>
            <a:off x="6084168" y="332656"/>
            <a:ext cx="2438400" cy="1752600"/>
            <a:chOff x="2208" y="384"/>
            <a:chExt cx="1536" cy="1104"/>
          </a:xfrm>
        </p:grpSpPr>
        <p:sp>
          <p:nvSpPr>
            <p:cNvPr id="4"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5" name="Group 6"/>
            <p:cNvGrpSpPr/>
            <p:nvPr/>
          </p:nvGrpSpPr>
          <p:grpSpPr bwMode="auto">
            <a:xfrm>
              <a:off x="2592" y="384"/>
              <a:ext cx="820" cy="734"/>
              <a:chOff x="613" y="1858"/>
              <a:chExt cx="672" cy="686"/>
            </a:xfrm>
          </p:grpSpPr>
          <p:grpSp>
            <p:nvGrpSpPr>
              <p:cNvPr id="6" name="Group 7"/>
              <p:cNvGrpSpPr/>
              <p:nvPr/>
            </p:nvGrpSpPr>
            <p:grpSpPr bwMode="auto">
              <a:xfrm>
                <a:off x="613" y="2062"/>
                <a:ext cx="216" cy="482"/>
                <a:chOff x="3064" y="2792"/>
                <a:chExt cx="281" cy="626"/>
              </a:xfrm>
            </p:grpSpPr>
            <p:sp>
              <p:nvSpPr>
                <p:cNvPr id="13"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4"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7" name="Group 10"/>
              <p:cNvGrpSpPr/>
              <p:nvPr/>
            </p:nvGrpSpPr>
            <p:grpSpPr bwMode="auto">
              <a:xfrm>
                <a:off x="850" y="1858"/>
                <a:ext cx="183" cy="470"/>
                <a:chOff x="2073" y="2933"/>
                <a:chExt cx="238" cy="611"/>
              </a:xfrm>
            </p:grpSpPr>
            <p:sp>
              <p:nvSpPr>
                <p:cNvPr id="11"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2"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8" name="Group 13"/>
              <p:cNvGrpSpPr/>
              <p:nvPr/>
            </p:nvGrpSpPr>
            <p:grpSpPr bwMode="auto">
              <a:xfrm>
                <a:off x="1069" y="1987"/>
                <a:ext cx="216" cy="482"/>
                <a:chOff x="2326" y="3101"/>
                <a:chExt cx="281" cy="626"/>
              </a:xfrm>
            </p:grpSpPr>
            <p:sp>
              <p:nvSpPr>
                <p:cNvPr id="9"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0"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gn="ctr" eaLnBrk="1" hangingPunct="1"/>
            <a:r>
              <a:rPr lang="zh-CN" altLang="en-US" b="1" dirty="0" smtClean="0">
                <a:latin typeface="Times New Roman" panose="02020603050405020304" pitchFamily="18" charset="0"/>
                <a:ea typeface="隶书" panose="02010509060101010101" pitchFamily="49" charset="-122"/>
              </a:rPr>
              <a:t>本讲主要知识点</a:t>
            </a:r>
            <a:endParaRPr lang="zh-CN" altLang="en-US" b="1" dirty="0" smtClean="0">
              <a:latin typeface="Times New Roman" panose="02020603050405020304" pitchFamily="18" charset="0"/>
              <a:ea typeface="隶书" panose="02010509060101010101" pitchFamily="49" charset="-122"/>
            </a:endParaRPr>
          </a:p>
        </p:txBody>
      </p:sp>
      <p:sp>
        <p:nvSpPr>
          <p:cNvPr id="645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6" name="Rectangle 4"/>
          <p:cNvSpPr>
            <a:spLocks noChangeArrowheads="1"/>
          </p:cNvSpPr>
          <p:nvPr/>
        </p:nvSpPr>
        <p:spPr bwMode="auto">
          <a:xfrm>
            <a:off x="873125" y="1268760"/>
            <a:ext cx="7956550" cy="475205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lIns="0" rIns="0"/>
          <a:lstStyle>
            <a:lvl1pPr marL="552450" indent="-55245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微软雅黑" panose="020B0503020204020204" pitchFamily="34" charset="-122"/>
                <a:ea typeface="微软雅黑" panose="020B0503020204020204" pitchFamily="34" charset="-122"/>
              </a:rPr>
              <a:t>面向对象</a:t>
            </a:r>
            <a:r>
              <a:rPr lang="zh-CN" altLang="en-US" sz="2800" dirty="0">
                <a:latin typeface="微软雅黑" panose="020B0503020204020204" pitchFamily="34" charset="-122"/>
                <a:ea typeface="微软雅黑" panose="020B0503020204020204" pitchFamily="34" charset="-122"/>
              </a:rPr>
              <a:t>的基本</a:t>
            </a:r>
            <a:r>
              <a:rPr lang="zh-CN" altLang="en-US" sz="2800" dirty="0" smtClean="0">
                <a:latin typeface="微软雅黑" panose="020B0503020204020204" pitchFamily="34" charset="-122"/>
                <a:ea typeface="微软雅黑" panose="020B0503020204020204" pitchFamily="34" charset="-122"/>
              </a:rPr>
              <a:t>概念</a:t>
            </a:r>
            <a:endParaRPr lang="en-US" altLang="zh-CN" sz="2800" dirty="0" smtClean="0">
              <a:latin typeface="微软雅黑" panose="020B0503020204020204" pitchFamily="34" charset="-122"/>
              <a:ea typeface="微软雅黑" panose="020B0503020204020204" pitchFamily="34" charset="-122"/>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微软雅黑" panose="020B0503020204020204" pitchFamily="34" charset="-122"/>
                <a:ea typeface="微软雅黑" panose="020B0503020204020204" pitchFamily="34" charset="-122"/>
              </a:rPr>
              <a:t>类</a:t>
            </a:r>
            <a:r>
              <a:rPr lang="zh-CN" altLang="en-US" sz="2800" dirty="0">
                <a:latin typeface="微软雅黑" panose="020B0503020204020204" pitchFamily="34" charset="-122"/>
                <a:ea typeface="微软雅黑" panose="020B0503020204020204" pitchFamily="34" charset="-122"/>
              </a:rPr>
              <a:t>和对象的</a:t>
            </a:r>
            <a:r>
              <a:rPr lang="zh-CN" altLang="en-US" sz="2800" dirty="0" smtClean="0">
                <a:latin typeface="微软雅黑" panose="020B0503020204020204" pitchFamily="34" charset="-122"/>
                <a:ea typeface="微软雅黑" panose="020B0503020204020204" pitchFamily="34" charset="-122"/>
              </a:rPr>
              <a:t>声明</a:t>
            </a:r>
            <a:endParaRPr lang="en-US" altLang="zh-CN" sz="2800" dirty="0" smtClean="0">
              <a:latin typeface="微软雅黑" panose="020B0503020204020204" pitchFamily="34" charset="-122"/>
              <a:ea typeface="微软雅黑" panose="020B0503020204020204" pitchFamily="34" charset="-122"/>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微软雅黑" panose="020B0503020204020204" pitchFamily="34" charset="-122"/>
                <a:ea typeface="微软雅黑" panose="020B0503020204020204" pitchFamily="34" charset="-122"/>
              </a:rPr>
              <a:t>构造函数</a:t>
            </a:r>
            <a:endParaRPr lang="en-US" altLang="zh-CN" sz="2800" dirty="0" smtClean="0">
              <a:latin typeface="微软雅黑" panose="020B0503020204020204" pitchFamily="34" charset="-122"/>
              <a:ea typeface="微软雅黑" panose="020B0503020204020204" pitchFamily="34" charset="-122"/>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微软雅黑" panose="020B0503020204020204" pitchFamily="34" charset="-122"/>
                <a:ea typeface="微软雅黑" panose="020B0503020204020204" pitchFamily="34" charset="-122"/>
              </a:rPr>
              <a:t>析</a:t>
            </a:r>
            <a:r>
              <a:rPr lang="zh-CN" altLang="en-US" sz="2800" dirty="0">
                <a:latin typeface="微软雅黑" panose="020B0503020204020204" pitchFamily="34" charset="-122"/>
                <a:ea typeface="微软雅黑" panose="020B0503020204020204" pitchFamily="34" charset="-122"/>
              </a:rPr>
              <a:t>构</a:t>
            </a:r>
            <a:r>
              <a:rPr lang="zh-CN" altLang="en-US" sz="2800" dirty="0" smtClean="0">
                <a:latin typeface="微软雅黑" panose="020B0503020204020204" pitchFamily="34" charset="-122"/>
                <a:ea typeface="微软雅黑" panose="020B0503020204020204" pitchFamily="34" charset="-122"/>
              </a:rPr>
              <a:t>函数</a:t>
            </a:r>
            <a:endParaRPr lang="en-US" altLang="zh-CN" sz="2800" dirty="0" smtClean="0">
              <a:latin typeface="微软雅黑" panose="020B0503020204020204" pitchFamily="34" charset="-122"/>
              <a:ea typeface="微软雅黑" panose="020B0503020204020204" pitchFamily="34" charset="-122"/>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微软雅黑" panose="020B0503020204020204" pitchFamily="34" charset="-122"/>
                <a:ea typeface="微软雅黑" panose="020B0503020204020204" pitchFamily="34" charset="-122"/>
              </a:rPr>
              <a:t>内</a:t>
            </a:r>
            <a:r>
              <a:rPr lang="zh-CN" altLang="en-US" sz="2800" dirty="0">
                <a:latin typeface="微软雅黑" panose="020B0503020204020204" pitchFamily="34" charset="-122"/>
                <a:ea typeface="微软雅黑" panose="020B0503020204020204" pitchFamily="34" charset="-122"/>
              </a:rPr>
              <a:t>联成员</a:t>
            </a:r>
            <a:r>
              <a:rPr lang="zh-CN" altLang="en-US" sz="2800" dirty="0" smtClean="0">
                <a:latin typeface="微软雅黑" panose="020B0503020204020204" pitchFamily="34" charset="-122"/>
                <a:ea typeface="微软雅黑" panose="020B0503020204020204" pitchFamily="34" charset="-122"/>
              </a:rPr>
              <a:t>函数</a:t>
            </a:r>
            <a:endParaRPr lang="en-US" altLang="zh-CN" sz="2800" dirty="0" smtClean="0">
              <a:latin typeface="微软雅黑" panose="020B0503020204020204" pitchFamily="34" charset="-122"/>
              <a:ea typeface="微软雅黑" panose="020B0503020204020204" pitchFamily="34" charset="-122"/>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微软雅黑" panose="020B0503020204020204" pitchFamily="34" charset="-122"/>
                <a:ea typeface="微软雅黑" panose="020B0503020204020204" pitchFamily="34" charset="-122"/>
              </a:rPr>
              <a:t>复制</a:t>
            </a:r>
            <a:r>
              <a:rPr lang="zh-CN" altLang="en-US" sz="2800" dirty="0">
                <a:latin typeface="微软雅黑" panose="020B0503020204020204" pitchFamily="34" charset="-122"/>
                <a:ea typeface="微软雅黑" panose="020B0503020204020204" pitchFamily="34" charset="-122"/>
              </a:rPr>
              <a:t>构造</a:t>
            </a:r>
            <a:r>
              <a:rPr lang="zh-CN" altLang="en-US" sz="2800" dirty="0" smtClean="0">
                <a:latin typeface="微软雅黑" panose="020B0503020204020204" pitchFamily="34" charset="-122"/>
                <a:ea typeface="微软雅黑" panose="020B0503020204020204" pitchFamily="34" charset="-122"/>
              </a:rPr>
              <a:t>函数</a:t>
            </a:r>
            <a:endParaRPr lang="en-US" altLang="zh-CN" sz="2800" dirty="0" smtClean="0">
              <a:latin typeface="微软雅黑" panose="020B0503020204020204" pitchFamily="34" charset="-122"/>
              <a:ea typeface="微软雅黑" panose="020B0503020204020204" pitchFamily="34" charset="-122"/>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微软雅黑" panose="020B0503020204020204" pitchFamily="34" charset="-122"/>
                <a:ea typeface="微软雅黑" panose="020B0503020204020204" pitchFamily="34" charset="-122"/>
              </a:rPr>
              <a:t>类</a:t>
            </a:r>
            <a:r>
              <a:rPr lang="zh-CN" altLang="en-US" sz="2800" dirty="0">
                <a:latin typeface="微软雅黑" panose="020B0503020204020204" pitchFamily="34" charset="-122"/>
                <a:ea typeface="微软雅黑" panose="020B0503020204020204" pitchFamily="34" charset="-122"/>
              </a:rPr>
              <a:t>的组合</a:t>
            </a:r>
            <a:endParaRPr lang="zh-CN" altLang="en-US" sz="2800" dirty="0">
              <a:latin typeface="微软雅黑" panose="020B0503020204020204" pitchFamily="34" charset="-122"/>
              <a:ea typeface="微软雅黑" panose="020B0503020204020204" pitchFamily="34" charset="-122"/>
            </a:endParaRPr>
          </a:p>
        </p:txBody>
      </p:sp>
      <p:sp>
        <p:nvSpPr>
          <p:cNvPr id="645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9"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482726"/>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dirty="0" smtClean="0">
                <a:solidFill>
                  <a:srgbClr val="FFFF00"/>
                </a:solidFill>
                <a:latin typeface="+mn-lt"/>
                <a:ea typeface="+mj-ea"/>
              </a:rPr>
              <a:t>作业：</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4-10</a:t>
            </a:r>
            <a:r>
              <a:rPr lang="zh-CN" altLang="en-US" dirty="0" smtClean="0">
                <a:solidFill>
                  <a:srgbClr val="FFFF00"/>
                </a:solidFill>
                <a:latin typeface="+mn-lt"/>
                <a:ea typeface="+mj-ea"/>
              </a:rPr>
              <a:t>、设计一个用于人事管理的“人员”类。由于考虑到通用性，这里只抽象出所有类型人员都具有的属性：编号、性别、出生日期、身份证号等。其中“出生日期”声明为一个内嵌子对象“日期”。用成员函数实现对人员信息的录入和显示。要求包括：</a:t>
            </a:r>
            <a:r>
              <a:rPr lang="zh-CN" altLang="en-US" dirty="0">
                <a:solidFill>
                  <a:srgbClr val="FFFF00"/>
                </a:solidFill>
                <a:latin typeface="+mn-lt"/>
                <a:ea typeface="+mj-ea"/>
              </a:rPr>
              <a:t>构造</a:t>
            </a:r>
            <a:r>
              <a:rPr lang="zh-CN" altLang="en-US" dirty="0" smtClean="0">
                <a:solidFill>
                  <a:srgbClr val="FFFF00"/>
                </a:solidFill>
                <a:latin typeface="+mn-lt"/>
                <a:ea typeface="+mj-ea"/>
              </a:rPr>
              <a:t>函数和析构函数、复制 构造函数、内联成员函数、带默认形参值的成员函数、类的组合。</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4-13</a:t>
            </a:r>
            <a:r>
              <a:rPr lang="zh-CN" altLang="en-US" dirty="0" smtClean="0">
                <a:solidFill>
                  <a:srgbClr val="FFFF00"/>
                </a:solidFill>
                <a:latin typeface="+mn-lt"/>
                <a:ea typeface="+mj-ea"/>
              </a:rPr>
              <a:t>、定义一个</a:t>
            </a:r>
            <a:r>
              <a:rPr lang="en-US" altLang="zh-CN" dirty="0" smtClean="0">
                <a:solidFill>
                  <a:srgbClr val="FFFF00"/>
                </a:solidFill>
                <a:latin typeface="+mn-lt"/>
                <a:ea typeface="+mj-ea"/>
              </a:rPr>
              <a:t>Circle</a:t>
            </a:r>
            <a:r>
              <a:rPr lang="zh-CN" altLang="en-US" dirty="0" smtClean="0">
                <a:solidFill>
                  <a:srgbClr val="FFFF00"/>
                </a:solidFill>
                <a:latin typeface="+mn-lt"/>
                <a:ea typeface="+mj-ea"/>
              </a:rPr>
              <a:t>类，有数据成员</a:t>
            </a:r>
            <a:r>
              <a:rPr lang="en-US" altLang="zh-CN" dirty="0" smtClean="0">
                <a:solidFill>
                  <a:srgbClr val="FFFF00"/>
                </a:solidFill>
                <a:latin typeface="+mn-lt"/>
                <a:ea typeface="+mj-ea"/>
              </a:rPr>
              <a:t>radius</a:t>
            </a:r>
            <a:r>
              <a:rPr lang="zh-CN" altLang="en-US" dirty="0" smtClean="0">
                <a:solidFill>
                  <a:srgbClr val="FFFF00"/>
                </a:solidFill>
                <a:latin typeface="+mn-lt"/>
                <a:ea typeface="+mj-ea"/>
              </a:rPr>
              <a:t>（</a:t>
            </a:r>
            <a:r>
              <a:rPr lang="zh-CN" altLang="en-US" dirty="0">
                <a:solidFill>
                  <a:srgbClr val="FFFF00"/>
                </a:solidFill>
                <a:latin typeface="+mn-lt"/>
                <a:ea typeface="+mj-ea"/>
              </a:rPr>
              <a:t>半径</a:t>
            </a:r>
            <a:r>
              <a:rPr lang="zh-CN" altLang="en-US" dirty="0" smtClean="0">
                <a:solidFill>
                  <a:srgbClr val="FFFF00"/>
                </a:solidFill>
                <a:latin typeface="+mn-lt"/>
                <a:ea typeface="+mj-ea"/>
              </a:rPr>
              <a:t>），成员函数</a:t>
            </a:r>
            <a:r>
              <a:rPr lang="en-US" altLang="zh-CN" dirty="0" err="1" smtClean="0">
                <a:solidFill>
                  <a:srgbClr val="FFFF00"/>
                </a:solidFill>
                <a:latin typeface="+mn-lt"/>
                <a:ea typeface="+mj-ea"/>
              </a:rPr>
              <a:t>getArea</a:t>
            </a:r>
            <a:r>
              <a:rPr lang="en-US" altLang="zh-CN" dirty="0" smtClean="0">
                <a:solidFill>
                  <a:srgbClr val="FFFF00"/>
                </a:solidFill>
                <a:latin typeface="+mn-lt"/>
                <a:ea typeface="+mj-ea"/>
              </a:rPr>
              <a:t>()</a:t>
            </a:r>
            <a:r>
              <a:rPr lang="zh-CN" altLang="en-US" dirty="0" smtClean="0">
                <a:solidFill>
                  <a:srgbClr val="FFFF00"/>
                </a:solidFill>
                <a:latin typeface="+mn-lt"/>
                <a:ea typeface="+mj-ea"/>
              </a:rPr>
              <a:t>，计算圆的面积。构造一个</a:t>
            </a:r>
            <a:r>
              <a:rPr lang="en-US" altLang="zh-CN" dirty="0" smtClean="0">
                <a:solidFill>
                  <a:srgbClr val="FFFF00"/>
                </a:solidFill>
                <a:latin typeface="+mn-lt"/>
                <a:ea typeface="+mj-ea"/>
              </a:rPr>
              <a:t>Circle</a:t>
            </a:r>
            <a:r>
              <a:rPr lang="zh-CN" altLang="en-US" dirty="0" smtClean="0">
                <a:solidFill>
                  <a:srgbClr val="FFFF00"/>
                </a:solidFill>
                <a:latin typeface="+mn-lt"/>
                <a:ea typeface="+mj-ea"/>
              </a:rPr>
              <a:t>的对象进行测试。</a:t>
            </a:r>
            <a:endParaRPr lang="en-US" altLang="zh-CN" dirty="0" smtClean="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buClrTx/>
              <a:buSzTx/>
              <a:buFontTx/>
              <a:buNone/>
            </a:pPr>
            <a:r>
              <a:rPr lang="zh-CN" altLang="en-US" sz="4400" i="1" dirty="0" smtClean="0">
                <a:effectLst>
                  <a:outerShdw blurRad="38100" dist="38100" dir="2700000" algn="tl">
                    <a:srgbClr val="000000"/>
                  </a:outerShdw>
                </a:effectLst>
                <a:ea typeface="隶书" panose="02010509060101010101" pitchFamily="49" charset="-122"/>
                <a:cs typeface="+mj-cs"/>
              </a:rPr>
              <a:t>第</a:t>
            </a:r>
            <a:r>
              <a:rPr lang="en-US" altLang="zh-CN" sz="4400" i="1" dirty="0">
                <a:effectLst>
                  <a:outerShdw blurRad="38100" dist="38100" dir="2700000" algn="tl">
                    <a:srgbClr val="000000"/>
                  </a:outerShdw>
                </a:effectLst>
                <a:ea typeface="隶书" panose="02010509060101010101" pitchFamily="49" charset="-122"/>
                <a:cs typeface="+mj-cs"/>
              </a:rPr>
              <a:t>4</a:t>
            </a:r>
            <a:r>
              <a:rPr lang="zh-CN" altLang="en-US" sz="4400" i="1" dirty="0" smtClean="0">
                <a:effectLst>
                  <a:outerShdw blurRad="38100" dist="38100" dir="2700000" algn="tl">
                    <a:srgbClr val="000000"/>
                  </a:outerShdw>
                </a:effectLst>
                <a:ea typeface="隶书" panose="02010509060101010101" pitchFamily="49" charset="-122"/>
                <a:cs typeface="+mj-cs"/>
              </a:rPr>
              <a:t>讲 课后练习</a:t>
            </a:r>
            <a:endParaRPr lang="zh-CN" altLang="en-US" sz="4400" i="1" dirty="0">
              <a:solidFill>
                <a:srgbClr val="FFFF00"/>
              </a:solidFill>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482726"/>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dirty="0" smtClean="0">
                <a:solidFill>
                  <a:srgbClr val="FFFF00"/>
                </a:solidFill>
                <a:latin typeface="+mn-lt"/>
                <a:ea typeface="+mj-ea"/>
              </a:rPr>
              <a:t>作业：</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4-16</a:t>
            </a:r>
            <a:r>
              <a:rPr lang="zh-CN" altLang="en-US" dirty="0" smtClean="0">
                <a:solidFill>
                  <a:srgbClr val="FFFF00"/>
                </a:solidFill>
                <a:latin typeface="+mn-lt"/>
                <a:ea typeface="+mj-ea"/>
              </a:rPr>
              <a:t>、根据下面的</a:t>
            </a:r>
            <a:r>
              <a:rPr lang="en-US" altLang="zh-CN" dirty="0" smtClean="0">
                <a:solidFill>
                  <a:srgbClr val="FFFF00"/>
                </a:solidFill>
                <a:latin typeface="+mn-lt"/>
                <a:ea typeface="+mj-ea"/>
              </a:rPr>
              <a:t>C++</a:t>
            </a:r>
            <a:r>
              <a:rPr lang="zh-CN" altLang="en-US" dirty="0" smtClean="0">
                <a:solidFill>
                  <a:srgbClr val="FFFF00"/>
                </a:solidFill>
                <a:latin typeface="+mn-lt"/>
                <a:ea typeface="+mj-ea"/>
              </a:rPr>
              <a:t>代码绘出相应的</a:t>
            </a:r>
            <a:r>
              <a:rPr lang="en-US" altLang="zh-CN" dirty="0" smtClean="0">
                <a:solidFill>
                  <a:srgbClr val="FFFF00"/>
                </a:solidFill>
                <a:latin typeface="+mn-lt"/>
                <a:ea typeface="+mj-ea"/>
              </a:rPr>
              <a:t>UML</a:t>
            </a:r>
            <a:r>
              <a:rPr lang="zh-CN" altLang="en-US" dirty="0" smtClean="0">
                <a:solidFill>
                  <a:srgbClr val="FFFF00"/>
                </a:solidFill>
                <a:latin typeface="+mn-lt"/>
                <a:ea typeface="+mj-ea"/>
              </a:rPr>
              <a:t>图形表示出类</a:t>
            </a:r>
            <a:r>
              <a:rPr lang="en-US" altLang="zh-CN" dirty="0" smtClean="0">
                <a:solidFill>
                  <a:srgbClr val="FFFF00"/>
                </a:solidFill>
                <a:latin typeface="+mn-lt"/>
                <a:ea typeface="+mj-ea"/>
              </a:rPr>
              <a:t>ZRF</a:t>
            </a:r>
            <a:r>
              <a:rPr lang="zh-CN" altLang="en-US" dirty="0" smtClean="0">
                <a:solidFill>
                  <a:srgbClr val="FFFF00"/>
                </a:solidFill>
                <a:latin typeface="+mn-lt"/>
                <a:ea typeface="+mj-ea"/>
              </a:rPr>
              <a:t>、类</a:t>
            </a:r>
            <a:r>
              <a:rPr lang="en-US" altLang="zh-CN" dirty="0" smtClean="0">
                <a:solidFill>
                  <a:srgbClr val="FFFF00"/>
                </a:solidFill>
                <a:latin typeface="+mn-lt"/>
                <a:ea typeface="+mj-ea"/>
              </a:rPr>
              <a:t>SSH</a:t>
            </a:r>
            <a:r>
              <a:rPr lang="zh-CN" altLang="en-US" dirty="0" smtClean="0">
                <a:solidFill>
                  <a:srgbClr val="FFFF00"/>
                </a:solidFill>
                <a:latin typeface="+mn-lt"/>
                <a:ea typeface="+mj-ea"/>
              </a:rPr>
              <a:t>和类</a:t>
            </a:r>
            <a:r>
              <a:rPr lang="en-US" altLang="zh-CN" dirty="0" smtClean="0">
                <a:solidFill>
                  <a:srgbClr val="FFFF00"/>
                </a:solidFill>
                <a:latin typeface="+mn-lt"/>
                <a:ea typeface="+mj-ea"/>
              </a:rPr>
              <a:t>Person</a:t>
            </a:r>
            <a:r>
              <a:rPr lang="zh-CN" altLang="en-US" dirty="0" smtClean="0">
                <a:solidFill>
                  <a:srgbClr val="FFFF00"/>
                </a:solidFill>
                <a:latin typeface="+mn-lt"/>
                <a:ea typeface="+mj-ea"/>
              </a:rPr>
              <a:t>之间的继承 关系。</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class Person{</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public:</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a:solidFill>
                  <a:srgbClr val="FFFF00"/>
                </a:solidFill>
                <a:latin typeface="+mn-lt"/>
                <a:ea typeface="+mj-ea"/>
              </a:rPr>
              <a:t>	</a:t>
            </a:r>
            <a:r>
              <a:rPr lang="en-US" altLang="zh-CN" dirty="0" smtClean="0">
                <a:solidFill>
                  <a:srgbClr val="FFFF00"/>
                </a:solidFill>
                <a:latin typeface="+mn-lt"/>
                <a:ea typeface="+mj-ea"/>
              </a:rPr>
              <a:t>Person(</a:t>
            </a:r>
            <a:r>
              <a:rPr lang="en-US" altLang="zh-CN" dirty="0" err="1" smtClean="0">
                <a:solidFill>
                  <a:srgbClr val="FFFF00"/>
                </a:solidFill>
                <a:latin typeface="+mn-lt"/>
                <a:ea typeface="+mj-ea"/>
              </a:rPr>
              <a:t>const</a:t>
            </a:r>
            <a:r>
              <a:rPr lang="en-US" altLang="zh-CN" dirty="0" smtClean="0">
                <a:solidFill>
                  <a:srgbClr val="FFFF00"/>
                </a:solidFill>
                <a:latin typeface="+mn-lt"/>
                <a:ea typeface="+mj-ea"/>
              </a:rPr>
              <a:t> Person&amp; right);</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a:solidFill>
                  <a:srgbClr val="FFFF00"/>
                </a:solidFill>
                <a:latin typeface="+mn-lt"/>
                <a:ea typeface="+mj-ea"/>
              </a:rPr>
              <a:t>	</a:t>
            </a:r>
            <a:r>
              <a:rPr lang="en-US" altLang="zh-CN" dirty="0" smtClean="0">
                <a:solidFill>
                  <a:srgbClr val="FFFF00"/>
                </a:solidFill>
                <a:latin typeface="+mn-lt"/>
                <a:ea typeface="+mj-ea"/>
              </a:rPr>
              <a:t>~Person();</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private:</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a:solidFill>
                  <a:srgbClr val="FFFF00"/>
                </a:solidFill>
                <a:latin typeface="+mn-lt"/>
                <a:ea typeface="+mj-ea"/>
              </a:rPr>
              <a:t>	</a:t>
            </a:r>
            <a:r>
              <a:rPr lang="en-US" altLang="zh-CN" dirty="0" smtClean="0">
                <a:solidFill>
                  <a:srgbClr val="FFFF00"/>
                </a:solidFill>
                <a:latin typeface="+mn-lt"/>
                <a:ea typeface="+mj-ea"/>
              </a:rPr>
              <a:t>char Name[50];</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a:solidFill>
                  <a:srgbClr val="FFFF00"/>
                </a:solidFill>
                <a:latin typeface="+mn-lt"/>
                <a:ea typeface="+mj-ea"/>
              </a:rPr>
              <a:t>	</a:t>
            </a:r>
            <a:r>
              <a:rPr lang="en-US" altLang="zh-CN" dirty="0" err="1" smtClean="0">
                <a:solidFill>
                  <a:srgbClr val="FFFF00"/>
                </a:solidFill>
                <a:latin typeface="+mn-lt"/>
                <a:ea typeface="+mj-ea"/>
              </a:rPr>
              <a:t>int</a:t>
            </a:r>
            <a:r>
              <a:rPr lang="en-US" altLang="zh-CN" dirty="0" smtClean="0">
                <a:solidFill>
                  <a:srgbClr val="FFFF00"/>
                </a:solidFill>
                <a:latin typeface="+mn-lt"/>
                <a:ea typeface="+mj-ea"/>
              </a:rPr>
              <a:t> Age;</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class </a:t>
            </a:r>
            <a:r>
              <a:rPr lang="en-US" altLang="zh-CN" dirty="0" err="1" smtClean="0">
                <a:solidFill>
                  <a:srgbClr val="FFFF00"/>
                </a:solidFill>
                <a:latin typeface="+mn-lt"/>
                <a:ea typeface="+mj-ea"/>
              </a:rPr>
              <a:t>ZRF:protected</a:t>
            </a:r>
            <a:r>
              <a:rPr lang="en-US" altLang="zh-CN" dirty="0" smtClean="0">
                <a:solidFill>
                  <a:srgbClr val="FFFF00"/>
                </a:solidFill>
                <a:latin typeface="+mn-lt"/>
                <a:ea typeface="+mj-ea"/>
              </a:rPr>
              <a:t> Person{}</a:t>
            </a:r>
            <a:r>
              <a:rPr lang="zh-CN" altLang="en-US" dirty="0" smtClean="0">
                <a:solidFill>
                  <a:srgbClr val="FFFF00"/>
                </a:solidFill>
                <a:latin typeface="+mn-lt"/>
                <a:ea typeface="+mj-ea"/>
              </a:rPr>
              <a:t>；</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class </a:t>
            </a:r>
            <a:r>
              <a:rPr lang="en-US" altLang="zh-CN" dirty="0" err="1" smtClean="0">
                <a:solidFill>
                  <a:srgbClr val="FFFF00"/>
                </a:solidFill>
                <a:latin typeface="+mn-lt"/>
                <a:ea typeface="+mj-ea"/>
              </a:rPr>
              <a:t>SSH:private</a:t>
            </a:r>
            <a:r>
              <a:rPr lang="en-US" altLang="zh-CN" dirty="0" smtClean="0">
                <a:solidFill>
                  <a:srgbClr val="FFFF00"/>
                </a:solidFill>
                <a:latin typeface="+mn-lt"/>
                <a:ea typeface="+mj-ea"/>
              </a:rPr>
              <a:t> Person{ }</a:t>
            </a:r>
            <a:r>
              <a:rPr lang="zh-CN" altLang="en-US" dirty="0" smtClean="0">
                <a:solidFill>
                  <a:srgbClr val="FFFF00"/>
                </a:solidFill>
                <a:latin typeface="+mn-lt"/>
                <a:ea typeface="+mj-ea"/>
              </a:rPr>
              <a:t>；</a:t>
            </a:r>
            <a:endParaRPr lang="zh-CN" altLang="en-US"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buClrTx/>
              <a:buSzTx/>
              <a:buFontTx/>
              <a:buNone/>
            </a:pPr>
            <a:r>
              <a:rPr lang="zh-CN" altLang="en-US" sz="4400" i="1" dirty="0" smtClean="0">
                <a:effectLst>
                  <a:outerShdw blurRad="38100" dist="38100" dir="2700000" algn="tl">
                    <a:srgbClr val="000000"/>
                  </a:outerShdw>
                </a:effectLst>
                <a:ea typeface="隶书" panose="02010509060101010101" pitchFamily="49" charset="-122"/>
                <a:cs typeface="+mj-cs"/>
              </a:rPr>
              <a:t>第</a:t>
            </a:r>
            <a:r>
              <a:rPr lang="en-US" altLang="zh-CN" sz="4400" i="1" dirty="0">
                <a:effectLst>
                  <a:outerShdw blurRad="38100" dist="38100" dir="2700000" algn="tl">
                    <a:srgbClr val="000000"/>
                  </a:outerShdw>
                </a:effectLst>
                <a:ea typeface="隶书" panose="02010509060101010101" pitchFamily="49" charset="-122"/>
                <a:cs typeface="+mj-cs"/>
              </a:rPr>
              <a:t>4</a:t>
            </a:r>
            <a:r>
              <a:rPr lang="zh-CN" altLang="en-US" sz="4400" i="1" dirty="0" smtClean="0">
                <a:effectLst>
                  <a:outerShdw blurRad="38100" dist="38100" dir="2700000" algn="tl">
                    <a:srgbClr val="000000"/>
                  </a:outerShdw>
                </a:effectLst>
                <a:ea typeface="隶书" panose="02010509060101010101" pitchFamily="49" charset="-122"/>
                <a:cs typeface="+mj-cs"/>
              </a:rPr>
              <a:t>讲 课后练习</a:t>
            </a:r>
            <a:endParaRPr lang="zh-CN" altLang="en-US" sz="4400" i="1" dirty="0">
              <a:solidFill>
                <a:srgbClr val="FFFF00"/>
              </a:solidFill>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27584" y="1482726"/>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dirty="0" smtClean="0">
                <a:solidFill>
                  <a:srgbClr val="FFFF00"/>
                </a:solidFill>
                <a:latin typeface="+mn-lt"/>
                <a:ea typeface="+mj-ea"/>
              </a:rPr>
              <a:t>作业：</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4-19</a:t>
            </a:r>
            <a:r>
              <a:rPr lang="zh-CN" altLang="en-US" dirty="0" smtClean="0">
                <a:solidFill>
                  <a:srgbClr val="FFFF00"/>
                </a:solidFill>
                <a:latin typeface="+mn-lt"/>
                <a:ea typeface="+mj-ea"/>
              </a:rPr>
              <a:t>、编写一个名为</a:t>
            </a:r>
            <a:r>
              <a:rPr lang="en-US" altLang="zh-CN" dirty="0" smtClean="0">
                <a:solidFill>
                  <a:srgbClr val="FFFF00"/>
                </a:solidFill>
                <a:latin typeface="+mn-lt"/>
                <a:ea typeface="+mj-ea"/>
              </a:rPr>
              <a:t>CPU</a:t>
            </a:r>
            <a:r>
              <a:rPr lang="zh-CN" altLang="en-US" dirty="0" smtClean="0">
                <a:solidFill>
                  <a:srgbClr val="FFFF00"/>
                </a:solidFill>
                <a:latin typeface="+mn-lt"/>
                <a:ea typeface="+mj-ea"/>
              </a:rPr>
              <a:t>的类，描述一个</a:t>
            </a:r>
            <a:r>
              <a:rPr lang="en-US" altLang="zh-CN" dirty="0" smtClean="0">
                <a:solidFill>
                  <a:srgbClr val="FFFF00"/>
                </a:solidFill>
                <a:latin typeface="+mn-lt"/>
                <a:ea typeface="+mj-ea"/>
              </a:rPr>
              <a:t>CPU</a:t>
            </a:r>
            <a:r>
              <a:rPr lang="zh-CN" altLang="en-US" dirty="0" smtClean="0">
                <a:solidFill>
                  <a:srgbClr val="FFFF00"/>
                </a:solidFill>
                <a:latin typeface="+mn-lt"/>
                <a:ea typeface="+mj-ea"/>
              </a:rPr>
              <a:t>以下的信息：时钟频率，最大不会超过</a:t>
            </a:r>
            <a:r>
              <a:rPr lang="en-US" altLang="zh-CN" dirty="0" smtClean="0">
                <a:solidFill>
                  <a:srgbClr val="FFFF00"/>
                </a:solidFill>
                <a:latin typeface="+mn-lt"/>
                <a:ea typeface="+mj-ea"/>
              </a:rPr>
              <a:t>3000MHz</a:t>
            </a:r>
            <a:r>
              <a:rPr lang="zh-CN" altLang="en-US" dirty="0" smtClean="0">
                <a:solidFill>
                  <a:srgbClr val="FFFF00"/>
                </a:solidFill>
                <a:latin typeface="+mn-lt"/>
                <a:ea typeface="+mj-ea"/>
              </a:rPr>
              <a:t>；字长可以是</a:t>
            </a:r>
            <a:r>
              <a:rPr lang="en-US" altLang="zh-CN" dirty="0" smtClean="0">
                <a:solidFill>
                  <a:srgbClr val="FFFF00"/>
                </a:solidFill>
                <a:latin typeface="+mn-lt"/>
                <a:ea typeface="+mj-ea"/>
              </a:rPr>
              <a:t>32</a:t>
            </a:r>
            <a:r>
              <a:rPr lang="zh-CN" altLang="en-US" dirty="0" smtClean="0">
                <a:solidFill>
                  <a:srgbClr val="FFFF00"/>
                </a:solidFill>
                <a:latin typeface="+mn-lt"/>
                <a:ea typeface="+mj-ea"/>
              </a:rPr>
              <a:t>位或</a:t>
            </a:r>
            <a:r>
              <a:rPr lang="en-US" altLang="zh-CN" dirty="0" smtClean="0">
                <a:solidFill>
                  <a:srgbClr val="FFFF00"/>
                </a:solidFill>
                <a:latin typeface="+mn-lt"/>
                <a:ea typeface="+mj-ea"/>
              </a:rPr>
              <a:t>64</a:t>
            </a:r>
            <a:r>
              <a:rPr lang="zh-CN" altLang="en-US" dirty="0" smtClean="0">
                <a:solidFill>
                  <a:srgbClr val="FFFF00"/>
                </a:solidFill>
                <a:latin typeface="+mn-lt"/>
                <a:ea typeface="+mj-ea"/>
              </a:rPr>
              <a:t>位；核数可以是单核、双核或四核；是否支持超线程。各项信息要求使用位域来表示。通过输出</a:t>
            </a:r>
            <a:r>
              <a:rPr lang="en-US" altLang="zh-CN" dirty="0" err="1" smtClean="0">
                <a:solidFill>
                  <a:srgbClr val="FFFF00"/>
                </a:solidFill>
                <a:latin typeface="+mn-lt"/>
                <a:ea typeface="+mj-ea"/>
              </a:rPr>
              <a:t>sizeof</a:t>
            </a:r>
            <a:r>
              <a:rPr lang="en-US" altLang="zh-CN" dirty="0" smtClean="0">
                <a:solidFill>
                  <a:srgbClr val="FFFF00"/>
                </a:solidFill>
                <a:latin typeface="+mn-lt"/>
                <a:ea typeface="+mj-ea"/>
              </a:rPr>
              <a:t>(CPU)</a:t>
            </a:r>
            <a:r>
              <a:rPr lang="zh-CN" altLang="en-US" dirty="0" smtClean="0">
                <a:solidFill>
                  <a:srgbClr val="FFFF00"/>
                </a:solidFill>
                <a:latin typeface="+mn-lt"/>
                <a:ea typeface="+mj-ea"/>
              </a:rPr>
              <a:t>来观察该类的字节数。</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4-20</a:t>
            </a:r>
            <a:r>
              <a:rPr lang="zh-CN" altLang="en-US" dirty="0" smtClean="0">
                <a:solidFill>
                  <a:srgbClr val="FFFF00"/>
                </a:solidFill>
                <a:latin typeface="+mn-lt"/>
                <a:ea typeface="+mj-ea"/>
              </a:rPr>
              <a:t>、定义一个复数类</a:t>
            </a:r>
            <a:r>
              <a:rPr lang="en-US" altLang="zh-CN" dirty="0" smtClean="0">
                <a:solidFill>
                  <a:srgbClr val="FFFF00"/>
                </a:solidFill>
                <a:latin typeface="+mn-lt"/>
                <a:ea typeface="+mj-ea"/>
              </a:rPr>
              <a:t>Complex</a:t>
            </a:r>
            <a:r>
              <a:rPr lang="zh-CN" altLang="en-US" dirty="0" smtClean="0">
                <a:solidFill>
                  <a:srgbClr val="FFFF00"/>
                </a:solidFill>
                <a:latin typeface="+mn-lt"/>
                <a:ea typeface="+mj-ea"/>
              </a:rPr>
              <a:t>，使得下面的代码能够工作：</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Complex c1(3,5);             //</a:t>
            </a:r>
            <a:r>
              <a:rPr lang="zh-CN" altLang="en-US" dirty="0" smtClean="0">
                <a:solidFill>
                  <a:srgbClr val="FFFF00"/>
                </a:solidFill>
                <a:latin typeface="+mn-lt"/>
                <a:ea typeface="+mj-ea"/>
              </a:rPr>
              <a:t>用复数</a:t>
            </a:r>
            <a:r>
              <a:rPr lang="en-US" altLang="zh-CN" dirty="0" smtClean="0">
                <a:solidFill>
                  <a:srgbClr val="FFFF00"/>
                </a:solidFill>
                <a:latin typeface="+mn-lt"/>
                <a:ea typeface="+mj-ea"/>
              </a:rPr>
              <a:t>3+5i</a:t>
            </a:r>
            <a:r>
              <a:rPr lang="zh-CN" altLang="en-US" dirty="0" smtClean="0">
                <a:solidFill>
                  <a:srgbClr val="FFFF00"/>
                </a:solidFill>
                <a:latin typeface="+mn-lt"/>
                <a:ea typeface="+mj-ea"/>
              </a:rPr>
              <a:t>初始化</a:t>
            </a:r>
            <a:r>
              <a:rPr lang="en-US" altLang="zh-CN" dirty="0" smtClean="0">
                <a:solidFill>
                  <a:srgbClr val="FFFF00"/>
                </a:solidFill>
                <a:latin typeface="+mn-lt"/>
                <a:ea typeface="+mj-ea"/>
              </a:rPr>
              <a:t>c1</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Complex c2=4.5;             //</a:t>
            </a:r>
            <a:r>
              <a:rPr lang="zh-CN" altLang="en-US" dirty="0" smtClean="0">
                <a:solidFill>
                  <a:srgbClr val="FFFF00"/>
                </a:solidFill>
                <a:latin typeface="+mn-lt"/>
                <a:ea typeface="+mj-ea"/>
              </a:rPr>
              <a:t>用实数</a:t>
            </a:r>
            <a:r>
              <a:rPr lang="en-US" altLang="zh-CN" dirty="0" smtClean="0">
                <a:solidFill>
                  <a:srgbClr val="FFFF00"/>
                </a:solidFill>
                <a:latin typeface="+mn-lt"/>
                <a:ea typeface="+mj-ea"/>
              </a:rPr>
              <a:t>4.5</a:t>
            </a:r>
            <a:r>
              <a:rPr lang="zh-CN" altLang="en-US" dirty="0" smtClean="0">
                <a:solidFill>
                  <a:srgbClr val="FFFF00"/>
                </a:solidFill>
                <a:latin typeface="+mn-lt"/>
                <a:ea typeface="+mj-ea"/>
              </a:rPr>
              <a:t>初始化</a:t>
            </a:r>
            <a:r>
              <a:rPr lang="en-US" altLang="zh-CN" dirty="0" smtClean="0">
                <a:solidFill>
                  <a:srgbClr val="FFFF00"/>
                </a:solidFill>
                <a:latin typeface="+mn-lt"/>
                <a:ea typeface="+mj-ea"/>
              </a:rPr>
              <a:t>c2</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c1.add(c2)</a:t>
            </a:r>
            <a:r>
              <a:rPr lang="zh-CN" altLang="en-US" dirty="0" smtClean="0">
                <a:solidFill>
                  <a:srgbClr val="FFFF00"/>
                </a:solidFill>
                <a:latin typeface="+mn-lt"/>
                <a:ea typeface="+mj-ea"/>
              </a:rPr>
              <a:t>；                    </a:t>
            </a:r>
            <a:r>
              <a:rPr lang="en-US" altLang="zh-CN" dirty="0" smtClean="0">
                <a:solidFill>
                  <a:srgbClr val="FFFF00"/>
                </a:solidFill>
                <a:latin typeface="+mn-lt"/>
                <a:ea typeface="+mj-ea"/>
              </a:rPr>
              <a:t>//</a:t>
            </a:r>
            <a:r>
              <a:rPr lang="zh-CN" altLang="en-US" dirty="0" smtClean="0">
                <a:solidFill>
                  <a:srgbClr val="FFFF00"/>
                </a:solidFill>
                <a:latin typeface="+mn-lt"/>
                <a:ea typeface="+mj-ea"/>
              </a:rPr>
              <a:t>将</a:t>
            </a:r>
            <a:r>
              <a:rPr lang="en-US" altLang="zh-CN" dirty="0" smtClean="0">
                <a:solidFill>
                  <a:srgbClr val="FFFF00"/>
                </a:solidFill>
                <a:latin typeface="+mn-lt"/>
                <a:ea typeface="+mj-ea"/>
              </a:rPr>
              <a:t>c1</a:t>
            </a:r>
            <a:r>
              <a:rPr lang="zh-CN" altLang="en-US" dirty="0" smtClean="0">
                <a:solidFill>
                  <a:srgbClr val="FFFF00"/>
                </a:solidFill>
                <a:latin typeface="+mn-lt"/>
                <a:ea typeface="+mj-ea"/>
              </a:rPr>
              <a:t>和</a:t>
            </a:r>
            <a:r>
              <a:rPr lang="en-US" altLang="zh-CN" dirty="0" smtClean="0">
                <a:solidFill>
                  <a:srgbClr val="FFFF00"/>
                </a:solidFill>
                <a:latin typeface="+mn-lt"/>
                <a:ea typeface="+mj-ea"/>
              </a:rPr>
              <a:t>3c2</a:t>
            </a:r>
            <a:r>
              <a:rPr lang="zh-CN" altLang="en-US" dirty="0" smtClean="0">
                <a:solidFill>
                  <a:srgbClr val="FFFF00"/>
                </a:solidFill>
                <a:latin typeface="+mn-lt"/>
                <a:ea typeface="+mj-ea"/>
              </a:rPr>
              <a:t>相加，结果保存在</a:t>
            </a:r>
            <a:r>
              <a:rPr lang="en-US" altLang="zh-CN" dirty="0" smtClean="0">
                <a:solidFill>
                  <a:srgbClr val="FFFF00"/>
                </a:solidFill>
                <a:latin typeface="+mn-lt"/>
                <a:ea typeface="+mj-ea"/>
              </a:rPr>
              <a:t>c1</a:t>
            </a:r>
            <a:r>
              <a:rPr lang="zh-CN" altLang="en-US" dirty="0" smtClean="0">
                <a:solidFill>
                  <a:srgbClr val="FFFF00"/>
                </a:solidFill>
                <a:latin typeface="+mn-lt"/>
                <a:ea typeface="+mj-ea"/>
              </a:rPr>
              <a:t>中</a:t>
            </a:r>
            <a:endParaRPr lang="en-US" altLang="zh-CN"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dirty="0" smtClean="0">
                <a:solidFill>
                  <a:srgbClr val="FFFF00"/>
                </a:solidFill>
                <a:latin typeface="+mn-lt"/>
                <a:ea typeface="+mj-ea"/>
              </a:rPr>
              <a:t>c1.show();                       //</a:t>
            </a:r>
            <a:r>
              <a:rPr lang="zh-CN" altLang="en-US" dirty="0" smtClean="0">
                <a:solidFill>
                  <a:srgbClr val="FFFF00"/>
                </a:solidFill>
                <a:latin typeface="+mn-lt"/>
                <a:ea typeface="+mj-ea"/>
              </a:rPr>
              <a:t>将</a:t>
            </a:r>
            <a:r>
              <a:rPr lang="en-US" altLang="zh-CN" dirty="0" smtClean="0">
                <a:solidFill>
                  <a:srgbClr val="FFFF00"/>
                </a:solidFill>
                <a:latin typeface="+mn-lt"/>
                <a:ea typeface="+mj-ea"/>
              </a:rPr>
              <a:t>c1</a:t>
            </a:r>
            <a:r>
              <a:rPr lang="zh-CN" altLang="en-US" dirty="0" smtClean="0">
                <a:solidFill>
                  <a:srgbClr val="FFFF00"/>
                </a:solidFill>
                <a:latin typeface="+mn-lt"/>
                <a:ea typeface="+mj-ea"/>
              </a:rPr>
              <a:t>输出（这时的结果应该是</a:t>
            </a:r>
            <a:r>
              <a:rPr lang="en-US" altLang="zh-CN" smtClean="0">
                <a:solidFill>
                  <a:srgbClr val="FFFF00"/>
                </a:solidFill>
                <a:latin typeface="+mn-lt"/>
                <a:ea typeface="+mj-ea"/>
              </a:rPr>
              <a:t>7.5+5i</a:t>
            </a:r>
            <a:r>
              <a:rPr lang="zh-CN" altLang="en-US" smtClean="0">
                <a:solidFill>
                  <a:srgbClr val="FFFF00"/>
                </a:solidFill>
                <a:latin typeface="+mn-lt"/>
                <a:ea typeface="+mj-ea"/>
              </a:rPr>
              <a:t>）</a:t>
            </a:r>
            <a:endParaRPr lang="zh-CN" altLang="en-US"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ctr" eaLnBrk="1" hangingPunct="1">
              <a:lnSpc>
                <a:spcPct val="100000"/>
              </a:lnSpc>
              <a:spcBef>
                <a:spcPct val="0"/>
              </a:spcBef>
              <a:buClrTx/>
              <a:buSzTx/>
              <a:buFontTx/>
              <a:buNone/>
            </a:pPr>
            <a:r>
              <a:rPr lang="zh-CN" altLang="en-US" sz="4400" i="1" dirty="0" smtClean="0">
                <a:effectLst>
                  <a:outerShdw blurRad="38100" dist="38100" dir="2700000" algn="tl">
                    <a:srgbClr val="000000"/>
                  </a:outerShdw>
                </a:effectLst>
                <a:ea typeface="隶书" panose="02010509060101010101" pitchFamily="49" charset="-122"/>
                <a:cs typeface="+mj-cs"/>
              </a:rPr>
              <a:t>第</a:t>
            </a:r>
            <a:r>
              <a:rPr lang="en-US" altLang="zh-CN" sz="4400" i="1" dirty="0">
                <a:effectLst>
                  <a:outerShdw blurRad="38100" dist="38100" dir="2700000" algn="tl">
                    <a:srgbClr val="000000"/>
                  </a:outerShdw>
                </a:effectLst>
                <a:ea typeface="隶书" panose="02010509060101010101" pitchFamily="49" charset="-122"/>
                <a:cs typeface="+mj-cs"/>
              </a:rPr>
              <a:t>4</a:t>
            </a:r>
            <a:r>
              <a:rPr lang="zh-CN" altLang="en-US" sz="4400" i="1" dirty="0" smtClean="0">
                <a:effectLst>
                  <a:outerShdw blurRad="38100" dist="38100" dir="2700000" algn="tl">
                    <a:srgbClr val="000000"/>
                  </a:outerShdw>
                </a:effectLst>
                <a:ea typeface="隶书" panose="02010509060101010101" pitchFamily="49" charset="-122"/>
                <a:cs typeface="+mj-cs"/>
              </a:rPr>
              <a:t>讲 课后练习</a:t>
            </a:r>
            <a:endParaRPr lang="zh-CN" altLang="en-US" sz="4400" i="1" dirty="0">
              <a:solidFill>
                <a:srgbClr val="FFFF00"/>
              </a:solidFill>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WordArt 2"/>
          <p:cNvSpPr>
            <a:spLocks noChangeArrowheads="1" noChangeShapeType="1" noTextEdit="1"/>
          </p:cNvSpPr>
          <p:nvPr/>
        </p:nvSpPr>
        <p:spPr bwMode="auto">
          <a:xfrm>
            <a:off x="4644008" y="5181600"/>
            <a:ext cx="3966592" cy="83820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kern="10" dirty="0" smtClean="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rPr>
              <a:t>有问题吗？</a:t>
            </a:r>
            <a:endPar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endParaRPr>
          </a:p>
        </p:txBody>
      </p:sp>
      <p:pic>
        <p:nvPicPr>
          <p:cNvPr id="635907" name="Picture 3"/>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3505200" y="3048000"/>
            <a:ext cx="1828800" cy="1143000"/>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35908" name="Text Box 4"/>
          <p:cNvSpPr txBox="1">
            <a:spLocks noChangeArrowheads="1"/>
          </p:cNvSpPr>
          <p:nvPr/>
        </p:nvSpPr>
        <p:spPr bwMode="auto">
          <a:xfrm>
            <a:off x="539552" y="1196752"/>
            <a:ext cx="8153400" cy="1142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lnSpc>
                <a:spcPct val="75000"/>
              </a:lnSpc>
              <a:spcBef>
                <a:spcPct val="50000"/>
              </a:spcBef>
            </a:pPr>
            <a:r>
              <a:rPr lang="zh-CN" altLang="en-US" sz="8800" dirty="0">
                <a:latin typeface="华文彩云" panose="02010800040101010101" pitchFamily="2" charset="-122"/>
                <a:ea typeface="华文彩云" panose="02010800040101010101" pitchFamily="2" charset="-122"/>
              </a:rPr>
              <a:t>本讲结束</a:t>
            </a:r>
            <a:endParaRPr lang="zh-CN" altLang="en-US" sz="8800" dirty="0">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p:cTn id="7" dur="500" fill="hold"/>
                                        <p:tgtEl>
                                          <p:spTgt spid="635906"/>
                                        </p:tgtEl>
                                        <p:attrNameLst>
                                          <p:attrName>ppt_w</p:attrName>
                                        </p:attrNameLst>
                                      </p:cBhvr>
                                      <p:tavLst>
                                        <p:tav tm="0">
                                          <p:val>
                                            <p:fltVal val="0"/>
                                          </p:val>
                                        </p:tav>
                                        <p:tav tm="100000">
                                          <p:val>
                                            <p:strVal val="#ppt_w"/>
                                          </p:val>
                                        </p:tav>
                                      </p:tavLst>
                                    </p:anim>
                                    <p:anim calcmode="lin" valueType="num">
                                      <p:cBhvr>
                                        <p:cTn id="8" dur="500" fill="hold"/>
                                        <p:tgtEl>
                                          <p:spTgt spid="635906"/>
                                        </p:tgtEl>
                                        <p:attrNameLst>
                                          <p:attrName>ppt_h</p:attrName>
                                        </p:attrNameLst>
                                      </p:cBhvr>
                                      <p:tavLst>
                                        <p:tav tm="0">
                                          <p:val>
                                            <p:fltVal val="0"/>
                                          </p:val>
                                        </p:tav>
                                        <p:tav tm="100000">
                                          <p:val>
                                            <p:strVal val="#ppt_h"/>
                                          </p:val>
                                        </p:tav>
                                      </p:tavLst>
                                    </p:anim>
                                    <p:anim calcmode="lin" valueType="num">
                                      <p:cBhvr>
                                        <p:cTn id="9" dur="500" fill="hold"/>
                                        <p:tgtEl>
                                          <p:spTgt spid="635906"/>
                                        </p:tgtEl>
                                        <p:attrNameLst>
                                          <p:attrName>ppt_x</p:attrName>
                                        </p:attrNameLst>
                                      </p:cBhvr>
                                      <p:tavLst>
                                        <p:tav tm="0">
                                          <p:val>
                                            <p:fltVal val="0.5"/>
                                          </p:val>
                                        </p:tav>
                                        <p:tav tm="100000">
                                          <p:val>
                                            <p:strVal val="#ppt_x"/>
                                          </p:val>
                                        </p:tav>
                                      </p:tavLst>
                                    </p:anim>
                                    <p:anim calcmode="lin" valueType="num">
                                      <p:cBhvr>
                                        <p:cTn id="10" dur="500" fill="hold"/>
                                        <p:tgtEl>
                                          <p:spTgt spid="63590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 name="KSO_WM_UNIT_PLACING_PICTURE_USER_VIEWPORT" val="{&quot;height&quot;:4083,&quot;width&quot;:7631}"/>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 name="KSO_WM_UNIT_PLACING_PICTURE_USER_VIEWPORT" val="{&quot;height&quot;:4083,&quot;width&quot;:7631}"/>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PP_MARK_KEY" val="f2c720fd-00a1-42df-b10b-6d14c3080ea4"/>
  <p:tag name="COMMONDATA" val="eyJoZGlkIjoiYjE5NTMxMzVkMjIwM2E5N2RhNTBjOGFiMGNlN2E4NzUifQ=="/>
</p:tagLst>
</file>

<file path=ppt/theme/theme1.xml><?xml version="1.0" encoding="utf-8"?>
<a:theme xmlns:a="http://schemas.openxmlformats.org/drawingml/2006/main" name="Blank Presentation">
  <a:themeElements>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fontScheme name="Blank Presentation">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lnDef>
    <a:txDef>
      <a:spPr bwMode="auto">
        <a:noFill/>
        <a:ln w="9525" algn="ctr">
          <a:noFill/>
          <a:miter lim="800000"/>
        </a:ln>
      </a:spPr>
      <a:bodyPr anchor="ctr"/>
      <a:lstStyle>
        <a:defPPr algn="l" eaLnBrk="1" hangingPunct="1">
          <a:lnSpc>
            <a:spcPct val="150000"/>
          </a:lnSpc>
          <a:spcBef>
            <a:spcPct val="50000"/>
          </a:spcBef>
          <a:defRPr sz="2400" dirty="0" smtClean="0"/>
        </a:defPPr>
      </a:lstStyle>
    </a:txDef>
  </a:objectDefaults>
  <a:extraClrSchemeLst>
    <a:extraClrScheme>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clrMap bg1="dk2" tx1="lt1" bg2="dk1" tx2="lt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CCECFF"/>
        </a:lt2>
        <a:accent1>
          <a:srgbClr val="CC99FF"/>
        </a:accent1>
        <a:accent2>
          <a:srgbClr val="3366FF"/>
        </a:accent2>
        <a:accent3>
          <a:srgbClr val="FFFFFF"/>
        </a:accent3>
        <a:accent4>
          <a:srgbClr val="000000"/>
        </a:accent4>
        <a:accent5>
          <a:srgbClr val="E2CAFF"/>
        </a:accent5>
        <a:accent6>
          <a:srgbClr val="2D5CE7"/>
        </a:accent6>
        <a:hlink>
          <a:srgbClr val="00CCFF"/>
        </a:hlink>
        <a:folHlink>
          <a:srgbClr val="99CCFF"/>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969696"/>
        </a:lt2>
        <a:accent1>
          <a:srgbClr val="777777"/>
        </a:accent1>
        <a:accent2>
          <a:srgbClr val="CBCBCB"/>
        </a:accent2>
        <a:accent3>
          <a:srgbClr val="FFFFFF"/>
        </a:accent3>
        <a:accent4>
          <a:srgbClr val="000000"/>
        </a:accent4>
        <a:accent5>
          <a:srgbClr val="BDBDBD"/>
        </a:accent5>
        <a:accent6>
          <a:srgbClr val="B8B8B8"/>
        </a:accent6>
        <a:hlink>
          <a:srgbClr val="4D4D4D"/>
        </a:hlink>
        <a:folHlink>
          <a:srgbClr val="DDDDDD"/>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00CCCC"/>
        </a:lt1>
        <a:dk2>
          <a:srgbClr val="FFFFCC"/>
        </a:dk2>
        <a:lt2>
          <a:srgbClr val="009999"/>
        </a:lt2>
        <a:accent1>
          <a:srgbClr val="CC99FF"/>
        </a:accent1>
        <a:accent2>
          <a:srgbClr val="3366FF"/>
        </a:accent2>
        <a:accent3>
          <a:srgbClr val="AAE2E2"/>
        </a:accent3>
        <a:accent4>
          <a:srgbClr val="000000"/>
        </a:accent4>
        <a:accent5>
          <a:srgbClr val="E2CAFF"/>
        </a:accent5>
        <a:accent6>
          <a:srgbClr val="2D5CE7"/>
        </a:accent6>
        <a:hlink>
          <a:srgbClr val="00CCFF"/>
        </a:hlink>
        <a:folHlink>
          <a:srgbClr val="00FFCC"/>
        </a:folHlink>
      </a:clrScheme>
      <a:clrMap bg1="lt1" tx1="dk1" bg2="lt2" tx2="dk2" accent1="accent1" accent2="accent2" accent3="accent3" accent4="accent4" accent5="accent5" accent6="accent6" hlink="hlink" folHlink="folHlink"/>
    </a:extraClrScheme>
    <a:extraClrScheme>
      <a:clrScheme name="Blank Presentation 5">
        <a:dk1>
          <a:srgbClr val="003300"/>
        </a:dk1>
        <a:lt1>
          <a:srgbClr val="FFFFFF"/>
        </a:lt1>
        <a:dk2>
          <a:srgbClr val="669900"/>
        </a:dk2>
        <a:lt2>
          <a:srgbClr val="FFCC66"/>
        </a:lt2>
        <a:accent1>
          <a:srgbClr val="990033"/>
        </a:accent1>
        <a:accent2>
          <a:srgbClr val="FF9933"/>
        </a:accent2>
        <a:accent3>
          <a:srgbClr val="B8CAAA"/>
        </a:accent3>
        <a:accent4>
          <a:srgbClr val="DADADA"/>
        </a:accent4>
        <a:accent5>
          <a:srgbClr val="CAAAAD"/>
        </a:accent5>
        <a:accent6>
          <a:srgbClr val="E78A2D"/>
        </a:accent6>
        <a:hlink>
          <a:srgbClr val="CCCC00"/>
        </a:hlink>
        <a:folHlink>
          <a:srgbClr val="009900"/>
        </a:folHlink>
      </a:clrScheme>
      <a:clrMap bg1="dk2" tx1="lt1" bg2="dk1" tx2="lt2" accent1="accent1" accent2="accent2" accent3="accent3" accent4="accent4" accent5="accent5" accent6="accent6" hlink="hlink" folHlink="folHlink"/>
    </a:extraClrScheme>
    <a:extraClrScheme>
      <a:clrScheme name="Blank Presentation 6">
        <a:dk1>
          <a:srgbClr val="663300"/>
        </a:dk1>
        <a:lt1>
          <a:srgbClr val="FFFFFF"/>
        </a:lt1>
        <a:dk2>
          <a:srgbClr val="CC6600"/>
        </a:dk2>
        <a:lt2>
          <a:srgbClr val="FFCC00"/>
        </a:lt2>
        <a:accent1>
          <a:srgbClr val="990033"/>
        </a:accent1>
        <a:accent2>
          <a:srgbClr val="FF0033"/>
        </a:accent2>
        <a:accent3>
          <a:srgbClr val="E2B8AA"/>
        </a:accent3>
        <a:accent4>
          <a:srgbClr val="DADADA"/>
        </a:accent4>
        <a:accent5>
          <a:srgbClr val="CAAAAD"/>
        </a:accent5>
        <a:accent6>
          <a:srgbClr val="E7002D"/>
        </a:accent6>
        <a:hlink>
          <a:srgbClr val="CCCC00"/>
        </a:hlink>
        <a:folHlink>
          <a:srgbClr val="FF9900"/>
        </a:folHlink>
      </a:clrScheme>
      <a:clrMap bg1="dk2" tx1="lt1" bg2="dk1" tx2="lt2" accent1="accent1" accent2="accent2" accent3="accent3" accent4="accent4" accent5="accent5" accent6="accent6" hlink="hlink" folHlink="folHlink"/>
    </a:extraClrScheme>
    <a:extraClrScheme>
      <a:clrScheme name="Blank Presentation 7">
        <a:dk1>
          <a:srgbClr val="660033"/>
        </a:dk1>
        <a:lt1>
          <a:srgbClr val="FFFFFF"/>
        </a:lt1>
        <a:dk2>
          <a:srgbClr val="990066"/>
        </a:dk2>
        <a:lt2>
          <a:srgbClr val="FFFF66"/>
        </a:lt2>
        <a:accent1>
          <a:srgbClr val="9933FF"/>
        </a:accent1>
        <a:accent2>
          <a:srgbClr val="00CCCC"/>
        </a:accent2>
        <a:accent3>
          <a:srgbClr val="CAAAB8"/>
        </a:accent3>
        <a:accent4>
          <a:srgbClr val="DADADA"/>
        </a:accent4>
        <a:accent5>
          <a:srgbClr val="CAADFF"/>
        </a:accent5>
        <a:accent6>
          <a:srgbClr val="00B9B9"/>
        </a:accent6>
        <a:hlink>
          <a:srgbClr val="CC66FF"/>
        </a:hlink>
        <a:folHlink>
          <a:srgbClr val="D6009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26587</Words>
  <Application>WPS 演示</Application>
  <PresentationFormat>全屏显示(4:3)</PresentationFormat>
  <Paragraphs>1886</Paragraphs>
  <Slides>149</Slides>
  <Notes>52</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6</vt:i4>
      </vt:variant>
      <vt:variant>
        <vt:lpstr>幻灯片标题</vt:lpstr>
      </vt:variant>
      <vt:variant>
        <vt:i4>149</vt:i4>
      </vt:variant>
    </vt:vector>
  </HeadingPairs>
  <TitlesOfParts>
    <vt:vector size="177" baseType="lpstr">
      <vt:lpstr>Arial</vt:lpstr>
      <vt:lpstr>宋体</vt:lpstr>
      <vt:lpstr>Wingdings</vt:lpstr>
      <vt:lpstr>Times New Roman</vt:lpstr>
      <vt:lpstr>幼圆</vt:lpstr>
      <vt:lpstr>隶书</vt:lpstr>
      <vt:lpstr>Monotype Sorts</vt:lpstr>
      <vt:lpstr>Wingdings</vt:lpstr>
      <vt:lpstr>Book Antiqua</vt:lpstr>
      <vt:lpstr>黑体</vt:lpstr>
      <vt:lpstr>华文行楷</vt:lpstr>
      <vt:lpstr>方正舒体</vt:lpstr>
      <vt:lpstr>华文中宋</vt:lpstr>
      <vt:lpstr>微软雅黑</vt:lpstr>
      <vt:lpstr>华文彩云</vt:lpstr>
      <vt:lpstr>华文楷体</vt:lpstr>
      <vt:lpstr>Arial Unicode MS</vt:lpstr>
      <vt:lpstr>Georgia</vt:lpstr>
      <vt:lpstr>Georgia</vt:lpstr>
      <vt:lpstr>Verdana</vt:lpstr>
      <vt:lpstr>Wingdings 2</vt:lpstr>
      <vt:lpstr>Blank Presentation</vt:lpstr>
      <vt:lpstr>Visio.Drawing.15</vt:lpstr>
      <vt:lpstr>Visio.Drawing.15</vt:lpstr>
      <vt:lpstr>Visio.Drawing.15</vt:lpstr>
      <vt:lpstr>Visio.Drawing.15</vt:lpstr>
      <vt:lpstr>Visio.Drawing.15</vt:lpstr>
      <vt:lpstr>Visio.Drawing.11</vt:lpstr>
      <vt:lpstr>程序设计D</vt:lpstr>
      <vt:lpstr>PowerPoint 演示文稿</vt:lpstr>
      <vt:lpstr>4.0 课程导入</vt:lpstr>
      <vt:lpstr>4.0 基本数据类型面临的问题</vt:lpstr>
      <vt:lpstr>4.0 课程导入</vt:lpstr>
      <vt:lpstr>4.0 结构体</vt:lpstr>
      <vt:lpstr>4.0 结构体</vt:lpstr>
      <vt:lpstr>结构体的定义和初始化</vt:lpstr>
      <vt:lpstr>例4-7用结构体表示学生的基本信息</vt:lpstr>
      <vt:lpstr>例4-7（续）</vt:lpstr>
      <vt:lpstr>4.0 结构体的问题</vt:lpstr>
      <vt:lpstr>4.0 行为整合到自定义结构中</vt:lpstr>
      <vt:lpstr>   OOP的4个基本特点</vt:lpstr>
      <vt:lpstr>4.1.1 抽象</vt:lpstr>
      <vt:lpstr>抽象实例——钟表</vt:lpstr>
      <vt:lpstr>抽象实例——钟表（续）</vt:lpstr>
      <vt:lpstr>4.1.2 封装</vt:lpstr>
      <vt:lpstr>4.1.2 封装（续）</vt:lpstr>
      <vt:lpstr>4.1.3 继承</vt:lpstr>
      <vt:lpstr>4.1.4 多态</vt:lpstr>
      <vt:lpstr>   类和对象</vt:lpstr>
      <vt:lpstr>4.2 类和对象</vt:lpstr>
      <vt:lpstr>4.2.1 类的定义</vt:lpstr>
      <vt:lpstr>PowerPoint 演示文稿</vt:lpstr>
      <vt:lpstr>PowerPoint 演示文稿</vt:lpstr>
      <vt:lpstr>4.2.2 类成员的访问控制</vt:lpstr>
      <vt:lpstr>PowerPoint 演示文稿</vt:lpstr>
      <vt:lpstr>4.2.2 类成员的访问控制</vt:lpstr>
      <vt:lpstr>4.2.2 类成员的访问控制 ——公有类型成员</vt:lpstr>
      <vt:lpstr>4.2.2 类成员的访问控制—— 私有类型成员</vt:lpstr>
      <vt:lpstr>4.2.2 类成员的访问控制—— 保护类型成员</vt:lpstr>
      <vt:lpstr> 4.2.3 对象</vt:lpstr>
      <vt:lpstr>4.2.3 对象——类成员的访问 </vt:lpstr>
      <vt:lpstr>PowerPoint 演示文稿</vt:lpstr>
      <vt:lpstr>PowerPoint 演示文稿</vt:lpstr>
      <vt:lpstr>PowerPoint 演示文稿</vt:lpstr>
      <vt:lpstr>4.2.3 对象——对象的赋值语句</vt:lpstr>
      <vt:lpstr>4.2.3 对象——对象的赋值语句</vt:lpstr>
      <vt:lpstr>4.2.4 类的成员函数</vt:lpstr>
      <vt:lpstr>4.2.4 类的成员函数</vt:lpstr>
      <vt:lpstr>PowerPoint 演示文稿</vt:lpstr>
      <vt:lpstr>PowerPoint 演示文稿</vt:lpstr>
      <vt:lpstr>PowerPoint 演示文稿</vt:lpstr>
      <vt:lpstr>内联成员函数</vt:lpstr>
      <vt:lpstr>PowerPoint 演示文稿</vt:lpstr>
      <vt:lpstr>PowerPoint 演示文稿</vt:lpstr>
      <vt:lpstr>构造函数和析构函数</vt:lpstr>
      <vt:lpstr>4.3.1 构造函数</vt:lpstr>
      <vt:lpstr>4.3.1 构造函数</vt:lpstr>
      <vt:lpstr>PowerPoint 演示文稿</vt:lpstr>
      <vt:lpstr>4.3.1 构造函数——初始值列表</vt:lpstr>
      <vt:lpstr>构造函数举例</vt:lpstr>
      <vt:lpstr>构造函数举例（续）</vt:lpstr>
      <vt:lpstr>4.3.2默认构造函数</vt:lpstr>
      <vt:lpstr>PowerPoint 演示文稿</vt:lpstr>
      <vt:lpstr>4.3.2默认构造函数的作用</vt:lpstr>
      <vt:lpstr>4.3.3 委托构造函数</vt:lpstr>
      <vt:lpstr>4.3.4 复制构造函数</vt:lpstr>
      <vt:lpstr>4.3.4 复制构造函数</vt:lpstr>
      <vt:lpstr>例4-2 Point类的完整程序</vt:lpstr>
      <vt:lpstr>例4-2 （续）</vt:lpstr>
      <vt:lpstr>*函数参数尽量传递常引用而不是值</vt:lpstr>
      <vt:lpstr>*返回值优化</vt:lpstr>
      <vt:lpstr>隐含的复制构造函数</vt:lpstr>
      <vt:lpstr>4.3.5  析构函数</vt:lpstr>
      <vt:lpstr>4.3.5  析构函数</vt:lpstr>
      <vt:lpstr>4.3.5  析构函数</vt:lpstr>
      <vt:lpstr>4.3.5  析构函数的特点</vt:lpstr>
      <vt:lpstr>4.3.5  默认析构函数</vt:lpstr>
      <vt:lpstr>构造函数和析构函数举例</vt:lpstr>
      <vt:lpstr>*编译器默认提供的函数</vt:lpstr>
      <vt:lpstr>*有时不应该有默认的构造函数</vt:lpstr>
      <vt:lpstr>*有时不应该进行复制和赋值</vt:lpstr>
      <vt:lpstr>*有时不应该进行复制和赋值(续)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类的组合</vt:lpstr>
      <vt:lpstr>4.4.1  组合</vt:lpstr>
      <vt:lpstr>类组合的构造函数设计</vt:lpstr>
      <vt:lpstr>构造组合类对象时的初始化次序</vt:lpstr>
      <vt:lpstr>例4-4 类的组合，线段（Line）类</vt:lpstr>
      <vt:lpstr>例4-4（续）</vt:lpstr>
      <vt:lpstr>例4-4（续）</vt:lpstr>
      <vt:lpstr>4.4.2 前向引用声明</vt:lpstr>
      <vt:lpstr>举例</vt:lpstr>
      <vt:lpstr>前向引用声明注意事项</vt:lpstr>
      <vt:lpstr>前向引用声明注意事项（续）</vt:lpstr>
      <vt:lpstr>前向引用声明注意事项</vt:lpstr>
      <vt:lpstr>前向引用声明注意事项</vt:lpstr>
      <vt:lpstr>前向引用声明注意事项（续）</vt:lpstr>
      <vt:lpstr>  UML图形标识</vt:lpstr>
      <vt:lpstr>4.5.1 UML简介</vt:lpstr>
      <vt:lpstr>4.5.2 UML类图</vt:lpstr>
      <vt:lpstr>对象图</vt:lpstr>
      <vt:lpstr>几种关系的图形标识</vt:lpstr>
      <vt:lpstr>几种关系的图形标识</vt:lpstr>
      <vt:lpstr>几种关系的图形标识</vt:lpstr>
      <vt:lpstr>例4-5 采用UML方法来描述例4-4中Line类和Point类的关系</vt:lpstr>
      <vt:lpstr>几种关系的图形标识</vt:lpstr>
      <vt:lpstr>注释</vt:lpstr>
      <vt:lpstr>例4-6带有注释的Line类和Point类关系的描述</vt:lpstr>
      <vt:lpstr>4.6.2  联合体</vt:lpstr>
      <vt:lpstr>联合体的内存分配</vt:lpstr>
      <vt:lpstr>无名联合</vt:lpstr>
      <vt:lpstr>例4-8使用联合体保存成绩信息，并且输出。</vt:lpstr>
      <vt:lpstr>例4-8（续）</vt:lpstr>
      <vt:lpstr>例4-8（续）</vt:lpstr>
      <vt:lpstr>例4-8（续）</vt:lpstr>
      <vt:lpstr>枚举类型</vt:lpstr>
      <vt:lpstr>枚举类型</vt:lpstr>
      <vt:lpstr>不限定作用域枚举类型说明</vt:lpstr>
      <vt:lpstr>例4-9</vt:lpstr>
      <vt:lpstr>例4-9</vt:lpstr>
      <vt:lpstr>枚举类——强类型枚举</vt:lpstr>
      <vt:lpstr>枚举类的优势</vt:lpstr>
      <vt:lpstr>枚举类举例</vt:lpstr>
      <vt:lpstr>传统枚举类型和枚举类的比较</vt:lpstr>
      <vt:lpstr>传统枚举类型和枚举类的比较</vt:lpstr>
      <vt:lpstr>传统枚举类型和枚举类的比较</vt:lpstr>
      <vt:lpstr>传统枚举类型和枚举类的比较</vt:lpstr>
      <vt:lpstr>传统枚举类型和枚举类的比较</vt:lpstr>
      <vt:lpstr>深度探索</vt:lpstr>
      <vt:lpstr>4.9.1 位域</vt:lpstr>
      <vt:lpstr>4.9.1 位域</vt:lpstr>
      <vt:lpstr>4.9.1 位域</vt:lpstr>
      <vt:lpstr>4.9.1 位域</vt:lpstr>
      <vt:lpstr>4.9.1 位域</vt:lpstr>
      <vt:lpstr>4.9.2 用构造函数定义类型转换</vt:lpstr>
      <vt:lpstr>4.9.2 用构造函数定义类型转换</vt:lpstr>
      <vt:lpstr>4.9.3 对象作为函数参数和返回值的传递方式</vt:lpstr>
      <vt:lpstr>4.9.3 对象作为函数参数和返回值的传递方式</vt:lpstr>
      <vt:lpstr>4.9.3 对象作为函数参数和返回值的传递方式</vt:lpstr>
      <vt:lpstr>4.9.3 对象作为函数参数和返回值的传递方式</vt:lpstr>
      <vt:lpstr>本讲小结</vt:lpstr>
      <vt:lpstr>本讲主要知识点</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谭成予</dc:creator>
  <cp:lastModifiedBy>刘峰</cp:lastModifiedBy>
  <cp:revision>1740</cp:revision>
  <cp:lastPrinted>2019-04-03T16:10:00Z</cp:lastPrinted>
  <dcterms:created xsi:type="dcterms:W3CDTF">1999-08-09T22:53:00Z</dcterms:created>
  <dcterms:modified xsi:type="dcterms:W3CDTF">2023-10-26T12:21:32Z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E043748E1A414FB4A5FA99F503A69DBD_12</vt:lpwstr>
  </property>
  <property fmtid="{D5CDD505-2E9C-101B-9397-08002B2CF9AE}" pid="3" name="KSOProductBuildVer">
    <vt:lpwstr>2052-11.1.0.14309</vt:lpwstr>
  </property>
</Properties>
</file>