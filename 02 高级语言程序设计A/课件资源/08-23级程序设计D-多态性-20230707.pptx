
<file path=[Content_Types].xml><?xml version="1.0" encoding="utf-8"?>
<Types xmlns="http://schemas.openxmlformats.org/package/2006/content-types">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02"/>
  </p:handoutMasterIdLst>
  <p:sldIdLst>
    <p:sldId id="880" r:id="rId3"/>
    <p:sldId id="1375" r:id="rId4"/>
    <p:sldId id="716" r:id="rId5"/>
    <p:sldId id="2055" r:id="rId6"/>
    <p:sldId id="2056" r:id="rId8"/>
    <p:sldId id="2118" r:id="rId9"/>
    <p:sldId id="2119" r:id="rId10"/>
    <p:sldId id="2120" r:id="rId11"/>
    <p:sldId id="2123" r:id="rId12"/>
    <p:sldId id="2124" r:id="rId13"/>
    <p:sldId id="2125" r:id="rId14"/>
    <p:sldId id="2126" r:id="rId15"/>
    <p:sldId id="2057" r:id="rId16"/>
    <p:sldId id="2041" r:id="rId17"/>
    <p:sldId id="2058" r:id="rId18"/>
    <p:sldId id="2127" r:id="rId19"/>
    <p:sldId id="2128" r:id="rId20"/>
    <p:sldId id="2059" r:id="rId21"/>
    <p:sldId id="2137" r:id="rId22"/>
    <p:sldId id="2138" r:id="rId23"/>
    <p:sldId id="2129" r:id="rId24"/>
    <p:sldId id="2130" r:id="rId25"/>
    <p:sldId id="2131" r:id="rId26"/>
    <p:sldId id="2132" r:id="rId27"/>
    <p:sldId id="2134" r:id="rId28"/>
    <p:sldId id="2135" r:id="rId29"/>
    <p:sldId id="2062" r:id="rId30"/>
    <p:sldId id="2063" r:id="rId31"/>
    <p:sldId id="2064" r:id="rId32"/>
    <p:sldId id="2065" r:id="rId33"/>
    <p:sldId id="2067" r:id="rId34"/>
    <p:sldId id="2068" r:id="rId35"/>
    <p:sldId id="2069" r:id="rId36"/>
    <p:sldId id="2070" r:id="rId37"/>
    <p:sldId id="2071" r:id="rId38"/>
    <p:sldId id="2072" r:id="rId39"/>
    <p:sldId id="2139" r:id="rId40"/>
    <p:sldId id="2140" r:id="rId41"/>
    <p:sldId id="2073" r:id="rId42"/>
    <p:sldId id="2074" r:id="rId43"/>
    <p:sldId id="2075" r:id="rId44"/>
    <p:sldId id="2076" r:id="rId45"/>
    <p:sldId id="2077" r:id="rId46"/>
    <p:sldId id="2141" r:id="rId47"/>
    <p:sldId id="2142" r:id="rId48"/>
    <p:sldId id="2143" r:id="rId49"/>
    <p:sldId id="2144" r:id="rId50"/>
    <p:sldId id="2145" r:id="rId51"/>
    <p:sldId id="2146" r:id="rId52"/>
    <p:sldId id="2147" r:id="rId53"/>
    <p:sldId id="2148" r:id="rId54"/>
    <p:sldId id="2149" r:id="rId55"/>
    <p:sldId id="2150" r:id="rId56"/>
    <p:sldId id="2151" r:id="rId57"/>
    <p:sldId id="2152" r:id="rId58"/>
    <p:sldId id="2153" r:id="rId59"/>
    <p:sldId id="2154" r:id="rId60"/>
    <p:sldId id="2155" r:id="rId61"/>
    <p:sldId id="2156" r:id="rId62"/>
    <p:sldId id="2157" r:id="rId63"/>
    <p:sldId id="2042" r:id="rId64"/>
    <p:sldId id="2078" r:id="rId65"/>
    <p:sldId id="2079" r:id="rId66"/>
    <p:sldId id="2080" r:id="rId67"/>
    <p:sldId id="2081" r:id="rId68"/>
    <p:sldId id="2160" r:id="rId69"/>
    <p:sldId id="2161" r:id="rId70"/>
    <p:sldId id="2162" r:id="rId71"/>
    <p:sldId id="2164" r:id="rId72"/>
    <p:sldId id="2165" r:id="rId73"/>
    <p:sldId id="2163" r:id="rId74"/>
    <p:sldId id="2082" r:id="rId75"/>
    <p:sldId id="2083" r:id="rId76"/>
    <p:sldId id="2084" r:id="rId77"/>
    <p:sldId id="2158" r:id="rId78"/>
    <p:sldId id="2043" r:id="rId79"/>
    <p:sldId id="2085" r:id="rId80"/>
    <p:sldId id="2086" r:id="rId81"/>
    <p:sldId id="2087" r:id="rId82"/>
    <p:sldId id="2088" r:id="rId83"/>
    <p:sldId id="2046" r:id="rId84"/>
    <p:sldId id="2108" r:id="rId85"/>
    <p:sldId id="2109" r:id="rId86"/>
    <p:sldId id="2110" r:id="rId87"/>
    <p:sldId id="2111" r:id="rId88"/>
    <p:sldId id="2112" r:id="rId89"/>
    <p:sldId id="2113" r:id="rId90"/>
    <p:sldId id="2114" r:id="rId91"/>
    <p:sldId id="2115" r:id="rId92"/>
    <p:sldId id="2116" r:id="rId93"/>
    <p:sldId id="2117" r:id="rId94"/>
    <p:sldId id="2050" r:id="rId95"/>
    <p:sldId id="2051" r:id="rId96"/>
    <p:sldId id="2053" r:id="rId97"/>
    <p:sldId id="2166" r:id="rId98"/>
    <p:sldId id="2167" r:id="rId99"/>
    <p:sldId id="2168" r:id="rId100"/>
    <p:sldId id="2054" r:id="rId101"/>
  </p:sldIdLst>
  <p:sldSz cx="9144000" cy="6858000" type="screen4x3"/>
  <p:notesSz cx="6648450" cy="9782175"/>
  <p:custDataLst>
    <p:tags r:id="rId106"/>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24"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2F2FC5"/>
    <a:srgbClr val="CC0066"/>
    <a:srgbClr val="4B0064"/>
    <a:srgbClr val="FFFF99"/>
    <a:srgbClr val="E682E1"/>
    <a:srgbClr val="3030C7"/>
    <a:srgbClr val="740000"/>
    <a:srgbClr val="3333FF"/>
    <a:srgbClr val="CB1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47" autoAdjust="0"/>
    <p:restoredTop sz="92973" autoAdjust="0"/>
  </p:normalViewPr>
  <p:slideViewPr>
    <p:cSldViewPr showGuides="1">
      <p:cViewPr varScale="1">
        <p:scale>
          <a:sx n="104" d="100"/>
          <a:sy n="104" d="100"/>
        </p:scale>
        <p:origin x="1332" y="72"/>
      </p:cViewPr>
      <p:guideLst>
        <p:guide orient="horz" pos="1824"/>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0" d="100"/>
          <a:sy n="50" d="100"/>
        </p:scale>
        <p:origin x="2922" y="60"/>
      </p:cViewPr>
      <p:guideLst>
        <p:guide orient="horz" pos="3080"/>
        <p:guide pos="209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6" Type="http://schemas.openxmlformats.org/officeDocument/2006/relationships/tags" Target="tags/tag1.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handoutMaster" Target="handoutMasters/handoutMaster1.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eaLnBrk="0" hangingPunct="0">
              <a:defRPr sz="10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eaLnBrk="0" hangingPunct="0">
              <a:defRPr sz="10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defTabSz="762000" eaLnBrk="0" hangingPunct="0">
              <a:defRPr sz="10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defTabSz="762000" eaLnBrk="0" hangingPunct="0">
              <a:defRPr sz="10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defTabSz="762000" eaLnBrk="0" hangingPunct="0">
              <a:defRPr sz="10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defTabSz="762000" eaLnBrk="0" hangingPunct="0">
              <a:defRPr sz="10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885825" y="4645025"/>
            <a:ext cx="4876800" cy="440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p>
            <a:pPr lvl="0"/>
            <a:r>
              <a:rPr lang="en-US" altLang="zh-CN" smtClean="0"/>
              <a:t>Click to edit Master notes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5" name="Rectangle 7"/>
          <p:cNvSpPr>
            <a:spLocks noGrp="1" noRot="1" noChangeAspect="1" noChangeArrowheads="1" noTextEdit="1"/>
          </p:cNvSpPr>
          <p:nvPr>
            <p:ph type="sldImg" idx="2"/>
          </p:nvPr>
        </p:nvSpPr>
        <p:spPr bwMode="auto">
          <a:xfrm>
            <a:off x="889000" y="739775"/>
            <a:ext cx="4872038" cy="3654425"/>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隶书" panose="02010509060101010101" pitchFamily="49" charset="-122"/>
              </a:defRPr>
            </a:lvl1pPr>
            <a:lvl2pPr marL="704215" indent="-271145" defTabSz="939165" eaLnBrk="0" hangingPunct="0">
              <a:defRPr kumimoji="1" sz="2300">
                <a:solidFill>
                  <a:schemeClr val="tx1"/>
                </a:solidFill>
                <a:latin typeface="Times New Roman" panose="02020603050405020304" pitchFamily="18" charset="0"/>
                <a:ea typeface="隶书" panose="02010509060101010101" pitchFamily="49" charset="-122"/>
              </a:defRPr>
            </a:lvl2pPr>
            <a:lvl3pPr marL="108331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3pPr>
            <a:lvl4pPr marL="151638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4pPr>
            <a:lvl5pPr marL="1950085"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9pPr>
          </a:lstStyle>
          <a:p>
            <a:pPr eaLnBrk="1" hangingPunct="1"/>
            <a:fld id="{8C9BDC3B-5570-463C-ADC7-D90179A45B66}" type="slidenum">
              <a:rPr lang="en-US" altLang="zh-CN" sz="1200"/>
            </a:fld>
            <a:endParaRPr lang="en-US" altLang="zh-CN" sz="1200"/>
          </a:p>
        </p:txBody>
      </p:sp>
      <p:sp>
        <p:nvSpPr>
          <p:cNvPr id="84995" name="Rectangle 2"/>
          <p:cNvSpPr>
            <a:spLocks noGrp="1" noRot="1" noChangeAspect="1" noChangeArrowheads="1" noTextEdit="1"/>
          </p:cNvSpPr>
          <p:nvPr>
            <p:ph type="sldImg"/>
          </p:nvPr>
        </p:nvSpPr>
        <p:spPr/>
      </p:sp>
      <p:sp>
        <p:nvSpPr>
          <p:cNvPr id="849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kumimoji="1"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运算符不能重载是为了保证访问成员的功能不能被改变，域运算符、</a:t>
            </a:r>
            <a:r>
              <a:rPr kumimoji="1"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sizeof</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运算符的运算对象是类型而不是变量或一般表达式，不具备重载的特征。</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zh-CN" altLang="en-US" smtClean="0"/>
          </a:p>
        </p:txBody>
      </p:sp>
      <p:sp>
        <p:nvSpPr>
          <p:cNvPr id="860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隶书" panose="02010509060101010101" pitchFamily="49" charset="-122"/>
              </a:defRPr>
            </a:lvl1pPr>
            <a:lvl2pPr marL="704215" indent="-271145" defTabSz="939165" eaLnBrk="0" hangingPunct="0">
              <a:defRPr kumimoji="1" sz="2300">
                <a:solidFill>
                  <a:schemeClr val="tx1"/>
                </a:solidFill>
                <a:latin typeface="Times New Roman" panose="02020603050405020304" pitchFamily="18" charset="0"/>
                <a:ea typeface="隶书" panose="02010509060101010101" pitchFamily="49" charset="-122"/>
              </a:defRPr>
            </a:lvl2pPr>
            <a:lvl3pPr marL="108331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3pPr>
            <a:lvl4pPr marL="151638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4pPr>
            <a:lvl5pPr marL="1950085"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9pPr>
          </a:lstStyle>
          <a:p>
            <a:pPr eaLnBrk="1" hangingPunct="1"/>
            <a:fld id="{28F35E5A-74D1-4419-B3E0-36BBD7411805}" type="slidenum">
              <a:rPr lang="en-US" altLang="zh-CN" sz="1200"/>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5939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925BA086-E91A-47A3-839B-9BF14561243C}" type="slidenum">
              <a:rPr lang="en-US" altLang="zh-CN" sz="1300"/>
            </a:fld>
            <a:endParaRPr lang="en-US" altLang="zh-CN"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fld id="{3EFAE924-96DC-4E9A-92DE-A41D0E9771C3}" type="slidenum">
              <a:rPr lang="en-US" altLang="zh-CN" sz="1200" b="0" smtClean="0">
                <a:latin typeface="Arial" panose="020B0604020202020204" pitchFamily="34" charset="0"/>
                <a:ea typeface="宋体" panose="02010600030101010101" pitchFamily="2" charset="-122"/>
              </a:rPr>
            </a:fld>
            <a:endParaRPr lang="en-US" altLang="zh-CN" sz="1200" b="0" smtClean="0">
              <a:latin typeface="Arial" panose="020B0604020202020204" pitchFamily="34" charset="0"/>
              <a:ea typeface="宋体" panose="02010600030101010101" pitchFamily="2" charset="-122"/>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p>
        </p:txBody>
      </p:sp>
      <p:sp>
        <p:nvSpPr>
          <p:cNvPr id="870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隶书" panose="02010509060101010101" pitchFamily="49" charset="-122"/>
              </a:defRPr>
            </a:lvl1pPr>
            <a:lvl2pPr marL="704215" indent="-271145" defTabSz="939165" eaLnBrk="0" hangingPunct="0">
              <a:defRPr kumimoji="1" sz="2300">
                <a:solidFill>
                  <a:schemeClr val="tx1"/>
                </a:solidFill>
                <a:latin typeface="Times New Roman" panose="02020603050405020304" pitchFamily="18" charset="0"/>
                <a:ea typeface="隶书" panose="02010509060101010101" pitchFamily="49" charset="-122"/>
              </a:defRPr>
            </a:lvl2pPr>
            <a:lvl3pPr marL="108331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3pPr>
            <a:lvl4pPr marL="151638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4pPr>
            <a:lvl5pPr marL="1950085"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9pPr>
          </a:lstStyle>
          <a:p>
            <a:pPr eaLnBrk="1" hangingPunct="1"/>
            <a:fld id="{26EB89A0-16A3-44CA-9AD4-94FA334A1476}" type="slidenum">
              <a:rPr lang="en-US" altLang="zh-CN" sz="1200"/>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accent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accent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accent6"/>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stretch>
            <a:fillRect/>
          </a:stretch>
        </p:blipFill>
        <p:spPr>
          <a:xfrm>
            <a:off x="1066340" y="6525344"/>
            <a:ext cx="6241965" cy="260648"/>
          </a:xfrm>
          <a:prstGeom prst="rect">
            <a:avLst/>
          </a:prstGeom>
        </p:spPr>
      </p:pic>
      <p:sp>
        <p:nvSpPr>
          <p:cNvPr id="3" name="标题 2"/>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accent6"/>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accent6"/>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accent6"/>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accent6"/>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bg>
      <p:bgPr>
        <a:solidFill>
          <a:schemeClr val="accent6"/>
        </a:solidFill>
        <a:effectLst/>
      </p:bgPr>
    </p:bg>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xfrm>
            <a:off x="899592" y="6093296"/>
            <a:ext cx="2133600" cy="457200"/>
          </a:xfrm>
          <a:prstGeom prst="rect">
            <a:avLst/>
          </a:prstGeom>
        </p:spPr>
        <p:txBody>
          <a:bodyPr/>
          <a:lstStyle>
            <a:lvl1pPr>
              <a:defRPr/>
            </a:lvl1pPr>
          </a:lstStyle>
          <a:p>
            <a:pPr>
              <a:defRPr/>
            </a:pPr>
            <a:endParaRPr lang="en-US" altLang="zh-CN" dirty="0"/>
          </a:p>
        </p:txBody>
      </p:sp>
      <p:sp>
        <p:nvSpPr>
          <p:cNvPr id="3" name="Rectangle 10"/>
          <p:cNvSpPr>
            <a:spLocks noGrp="1" noChangeArrowheads="1"/>
          </p:cNvSpPr>
          <p:nvPr>
            <p:ph type="sldNum" sz="quarter" idx="11"/>
          </p:nvPr>
        </p:nvSpPr>
        <p:spPr>
          <a:xfrm>
            <a:off x="6553200" y="6248400"/>
            <a:ext cx="2133600" cy="457200"/>
          </a:xfrm>
          <a:prstGeom prst="rect">
            <a:avLst/>
          </a:prstGeom>
        </p:spPr>
        <p:txBody>
          <a:bodyPr/>
          <a:lstStyle>
            <a:lvl1pPr>
              <a:defRPr/>
            </a:lvl1pPr>
          </a:lstStyle>
          <a:p>
            <a:fld id="{CD93F86F-4456-4A2F-971B-4345979D2996}" type="slidenum">
              <a:rPr lang="en-US" altLang="zh-CN"/>
            </a:fld>
            <a:r>
              <a:rPr lang="en-US" altLang="zh-CN"/>
              <a:t> </a:t>
            </a:r>
            <a:endParaRPr lang="en-US" altLang="zh-CN"/>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iming>
    <p:tnLst>
      <p:par>
        <p:cTn id="1" dur="indefinite" restart="never" nodeType="tmRoot"/>
      </p:par>
    </p:tnLst>
  </p:timing>
  <p:hf sldNum="0" hdr="0" ftr="0" dt="0"/>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image" Target="../media/image5.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971600" y="2806484"/>
            <a:ext cx="7848872"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rPr>
              <a:t>UNIT </a:t>
            </a:r>
            <a:r>
              <a:rPr lang="en-US" altLang="zh-CN" sz="4400" b="1" dirty="0" smtClean="0">
                <a:solidFill>
                  <a:srgbClr val="FFFF00"/>
                </a:solidFill>
                <a:effectLst>
                  <a:outerShdw blurRad="38100" dist="38100" dir="2700000" algn="tl">
                    <a:srgbClr val="000000"/>
                  </a:outerShdw>
                </a:effectLst>
                <a:latin typeface="+mj-lt"/>
                <a:ea typeface="黑体" panose="02010609060101010101" pitchFamily="49" charset="-122"/>
              </a:rPr>
              <a:t>08      </a:t>
            </a:r>
            <a:r>
              <a:rPr lang="zh-CN" altLang="en-US" sz="4000" b="1" dirty="0" smtClean="0">
                <a:effectLst>
                  <a:outerShdw blurRad="38100" dist="38100" dir="2700000" algn="tl">
                    <a:srgbClr val="000000"/>
                  </a:outerShdw>
                </a:effectLst>
                <a:latin typeface="+mn-lt"/>
                <a:ea typeface="微软雅黑" panose="020B0503020204020204" pitchFamily="34" charset="-122"/>
              </a:rPr>
              <a:t>多态性</a:t>
            </a:r>
            <a:endParaRPr lang="zh-CN" altLang="en-US" sz="2800" b="1" dirty="0">
              <a:effectLst>
                <a:outerShdw blurRad="38100" dist="38100" dir="2700000" algn="tl">
                  <a:srgbClr val="000000"/>
                </a:outerShdw>
              </a:effectLst>
              <a:latin typeface="+mn-lt"/>
              <a:ea typeface="微软雅黑" panose="020B0503020204020204" pitchFamily="34" charset="-122"/>
            </a:endParaRPr>
          </a:p>
        </p:txBody>
      </p:sp>
      <p:sp>
        <p:nvSpPr>
          <p:cNvPr id="9" name="Rectangle 9"/>
          <p:cNvSpPr txBox="1">
            <a:spLocks noChangeArrowheads="1"/>
          </p:cNvSpPr>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dist"/>
            <a:r>
              <a:rPr lang="zh-CN" altLang="en-US" sz="4200" b="1" i="0" dirty="0" smtClean="0">
                <a:solidFill>
                  <a:srgbClr val="FFFFFF"/>
                </a:solidFill>
                <a:latin typeface="方正舒体" panose="02010601030101010101" pitchFamily="2" charset="-122"/>
                <a:ea typeface="方正舒体" panose="02010601030101010101" pitchFamily="2" charset="-122"/>
              </a:rPr>
              <a:t>程序设计</a:t>
            </a:r>
            <a:r>
              <a:rPr lang="en-US" altLang="zh-CN" sz="4200" b="1" i="0" smtClean="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212152" y="476672"/>
            <a:ext cx="6948264" cy="5400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Autofit/>
          </a:bodyPr>
          <a:lstStyle/>
          <a:p>
            <a:pPr>
              <a:lnSpc>
                <a:spcPct val="150000"/>
              </a:lnSpc>
              <a:spcBef>
                <a:spcPts val="600"/>
              </a:spcBef>
              <a:buClr>
                <a:schemeClr val="tx1"/>
              </a:buClr>
              <a:buFont typeface="Monotype Sorts" pitchFamily="2" charset="2"/>
              <a:buChar char="&amp;"/>
            </a:pPr>
            <a:r>
              <a:rPr lang="zh-CN" altLang="en-US" b="1" dirty="0" smtClean="0">
                <a:latin typeface="华文中宋" panose="02010600040101010101" pitchFamily="2" charset="-122"/>
                <a:ea typeface="华文中宋" panose="02010600040101010101" pitchFamily="2" charset="-122"/>
              </a:rPr>
              <a:t>  多态性概述</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运算符</a:t>
            </a:r>
            <a:r>
              <a:rPr lang="zh-CN" altLang="en-US" b="1" dirty="0" smtClean="0">
                <a:latin typeface="华文中宋" panose="02010600040101010101" pitchFamily="2" charset="-122"/>
                <a:ea typeface="华文中宋" panose="02010600040101010101" pitchFamily="2" charset="-122"/>
              </a:rPr>
              <a:t>重载</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虚</a:t>
            </a:r>
            <a:r>
              <a:rPr lang="zh-CN" altLang="en-US" b="1" dirty="0" smtClean="0">
                <a:latin typeface="华文中宋" panose="02010600040101010101" pitchFamily="2" charset="-122"/>
                <a:ea typeface="华文中宋" panose="02010600040101010101" pitchFamily="2" charset="-122"/>
              </a:rPr>
              <a:t>函数</a:t>
            </a:r>
            <a:endParaRPr lang="en-US" altLang="zh-CN" b="1" dirty="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smtClean="0">
                <a:latin typeface="华文中宋" panose="02010600040101010101" pitchFamily="2" charset="-122"/>
                <a:ea typeface="华文中宋" panose="02010600040101010101" pitchFamily="2" charset="-122"/>
              </a:rPr>
              <a:t>纯虚函数和抽象类</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程序实例</a:t>
            </a:r>
            <a:r>
              <a:rPr lang="en-US" altLang="zh-CN" sz="1800" b="1" dirty="0">
                <a:latin typeface="华文中宋" panose="02010600040101010101" pitchFamily="2" charset="-122"/>
                <a:ea typeface="华文中宋" panose="02010600040101010101" pitchFamily="2" charset="-122"/>
              </a:rPr>
              <a:t>—</a:t>
            </a:r>
            <a:r>
              <a:rPr lang="zh-CN" altLang="en-US" sz="1800" b="1" dirty="0">
                <a:latin typeface="华文中宋" panose="02010600040101010101" pitchFamily="2" charset="-122"/>
                <a:ea typeface="华文中宋" panose="02010600040101010101" pitchFamily="2" charset="-122"/>
              </a:rPr>
              <a:t>变步长梯形积分算法求解函数的</a:t>
            </a:r>
            <a:r>
              <a:rPr lang="zh-CN" altLang="en-US" sz="1800" b="1" dirty="0" smtClean="0">
                <a:latin typeface="华文中宋" panose="02010600040101010101" pitchFamily="2" charset="-122"/>
                <a:ea typeface="华文中宋" panose="02010600040101010101" pitchFamily="2" charset="-122"/>
              </a:rPr>
              <a:t>定积分</a:t>
            </a:r>
            <a:endParaRPr lang="en-US" altLang="zh-CN" sz="18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综合实例</a:t>
            </a:r>
            <a:r>
              <a:rPr lang="en-US" altLang="zh-CN" sz="1800" b="1" dirty="0" smtClean="0">
                <a:latin typeface="华文中宋" panose="02010600040101010101" pitchFamily="2" charset="-122"/>
                <a:ea typeface="华文中宋" panose="02010600040101010101" pitchFamily="2" charset="-122"/>
              </a:rPr>
              <a:t>—</a:t>
            </a:r>
            <a:r>
              <a:rPr lang="zh-CN" altLang="en-US" sz="1800" b="1" dirty="0" smtClean="0">
                <a:latin typeface="华文中宋" panose="02010600040101010101" pitchFamily="2" charset="-122"/>
                <a:ea typeface="华文中宋" panose="02010600040101010101" pitchFamily="2" charset="-122"/>
              </a:rPr>
              <a:t>对</a:t>
            </a:r>
            <a:r>
              <a:rPr lang="zh-CN" altLang="en-US" sz="1800" b="1" dirty="0">
                <a:latin typeface="华文中宋" panose="02010600040101010101" pitchFamily="2" charset="-122"/>
                <a:ea typeface="华文中宋" panose="02010600040101010101" pitchFamily="2" charset="-122"/>
              </a:rPr>
              <a:t>个人银行账户管理程序的</a:t>
            </a:r>
            <a:r>
              <a:rPr lang="zh-CN" altLang="en-US" sz="1800" b="1" dirty="0" smtClean="0">
                <a:latin typeface="华文中宋" panose="02010600040101010101" pitchFamily="2" charset="-122"/>
                <a:ea typeface="华文中宋" panose="02010600040101010101" pitchFamily="2" charset="-122"/>
              </a:rPr>
              <a:t>改进</a:t>
            </a:r>
            <a:endParaRPr lang="en-US" altLang="zh-CN" sz="18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en-US" altLang="zh-CN" b="1" dirty="0" smtClean="0">
                <a:latin typeface="华文中宋" panose="02010600040101010101" pitchFamily="2" charset="-122"/>
                <a:ea typeface="华文中宋" panose="02010600040101010101" pitchFamily="2" charset="-122"/>
              </a:rPr>
              <a:t> </a:t>
            </a:r>
            <a:r>
              <a:rPr lang="zh-CN" altLang="en-US" b="1" dirty="0" smtClean="0">
                <a:latin typeface="华文中宋" panose="02010600040101010101" pitchFamily="2" charset="-122"/>
                <a:ea typeface="华文中宋" panose="02010600040101010101" pitchFamily="2" charset="-122"/>
              </a:rPr>
              <a:t>深度探索</a:t>
            </a:r>
            <a:r>
              <a:rPr lang="en-US" altLang="zh-CN" b="1" baseline="30000" dirty="0" smtClean="0">
                <a:latin typeface="华文中宋" panose="02010600040101010101" pitchFamily="2" charset="-122"/>
                <a:ea typeface="华文中宋" panose="02010600040101010101" pitchFamily="2" charset="-122"/>
              </a:rPr>
              <a:t>*</a:t>
            </a:r>
            <a:endParaRPr lang="en-US" altLang="zh-CN" b="1" dirty="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188640"/>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a:pPr>
            <a:r>
              <a:rPr lang="zh-CN" altLang="en-US" sz="6000" b="1" dirty="0" smtClean="0">
                <a:ea typeface="华文彩云" panose="02010800040101010101" pitchFamily="2" charset="-122"/>
              </a:rPr>
              <a:t>多态性概述</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8.1 </a:t>
            </a:r>
            <a:r>
              <a:rPr lang="zh-CN" altLang="en-US" sz="4400" b="1">
                <a:latin typeface="Times New Roman" panose="02020603050405020304" pitchFamily="18" charset="0"/>
                <a:ea typeface="隶书" panose="02010509060101010101" pitchFamily="49" charset="-122"/>
              </a:rPr>
              <a:t>多态性概述</a:t>
            </a:r>
            <a:endParaRPr lang="zh-CN" altLang="en-US" sz="4400" b="1">
              <a:latin typeface="Times New Roman" panose="02020603050405020304" pitchFamily="18" charset="0"/>
              <a:ea typeface="隶书" panose="02010509060101010101" pitchFamily="49" charset="-122"/>
            </a:endParaRPr>
          </a:p>
        </p:txBody>
      </p:sp>
      <p:sp>
        <p:nvSpPr>
          <p:cNvPr id="18435" name="Rectangle 3"/>
          <p:cNvSpPr>
            <a:spLocks noGrp="1" noChangeArrowheads="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多态是指操作接口具有表现多种形态的能力</a:t>
            </a:r>
            <a:r>
              <a:rPr lang="zh-CN" altLang="en-US" sz="2400" b="1" dirty="0">
                <a:ea typeface="华文楷体" panose="02010600040101010101" pitchFamily="2" charset="-122"/>
              </a:rPr>
              <a:t>，即能根据操作环境的不同采用不同的处理方式。多态性是面向对象系统的主要特性之一，在这样的系统中，一组具有相同基本语义的方法能在同一接口下为不同的对象服务。</a:t>
            </a:r>
            <a:endParaRPr lang="en-US" altLang="zh-CN" sz="2400" b="1" dirty="0">
              <a:ea typeface="华文楷体" panose="02010600040101010101" pitchFamily="2" charset="-122"/>
            </a:endParaRPr>
          </a:p>
          <a:p>
            <a:pPr>
              <a:lnSpc>
                <a:spcPct val="150000"/>
              </a:lnSpc>
              <a:spcAft>
                <a:spcPct val="25000"/>
              </a:spcAft>
            </a:pPr>
            <a:r>
              <a:rPr lang="en-US" altLang="zh-CN" sz="2400" b="1" dirty="0">
                <a:solidFill>
                  <a:srgbClr val="FFFF00"/>
                </a:solidFill>
                <a:ea typeface="华文楷体" panose="02010600040101010101" pitchFamily="2" charset="-122"/>
              </a:rPr>
              <a:t>C++</a:t>
            </a:r>
            <a:r>
              <a:rPr lang="zh-CN" altLang="en-US" sz="2400" b="1" dirty="0">
                <a:solidFill>
                  <a:srgbClr val="FFFF00"/>
                </a:solidFill>
                <a:ea typeface="华文楷体" panose="02010600040101010101" pitchFamily="2" charset="-122"/>
              </a:rPr>
              <a:t>语言支持</a:t>
            </a:r>
            <a:r>
              <a:rPr lang="zh-CN" altLang="en-US" sz="2400" b="1" dirty="0">
                <a:ea typeface="华文楷体" panose="02010600040101010101" pitchFamily="2" charset="-122"/>
              </a:rPr>
              <a:t>的多态性可以按其实现的时机分为</a:t>
            </a:r>
            <a:r>
              <a:rPr lang="zh-CN" altLang="en-US" sz="2400" b="1" dirty="0">
                <a:solidFill>
                  <a:srgbClr val="FFFF00"/>
                </a:solidFill>
                <a:ea typeface="华文楷体" panose="02010600040101010101" pitchFamily="2" charset="-122"/>
              </a:rPr>
              <a:t>编译时多态</a:t>
            </a:r>
            <a:r>
              <a:rPr lang="zh-CN" altLang="en-US" sz="2400" b="1" dirty="0">
                <a:ea typeface="华文楷体" panose="02010600040101010101" pitchFamily="2" charset="-122"/>
              </a:rPr>
              <a:t>和</a:t>
            </a:r>
            <a:r>
              <a:rPr lang="zh-CN" altLang="en-US" sz="2400" b="1" dirty="0">
                <a:solidFill>
                  <a:srgbClr val="FFFF00"/>
                </a:solidFill>
                <a:ea typeface="华文楷体" panose="02010600040101010101" pitchFamily="2" charset="-122"/>
              </a:rPr>
              <a:t>运行时多态</a:t>
            </a:r>
            <a:r>
              <a:rPr lang="zh-CN" altLang="en-US" sz="2400" b="1" dirty="0">
                <a:ea typeface="华文楷体" panose="02010600040101010101" pitchFamily="2" charset="-122"/>
              </a:rPr>
              <a:t>两类。</a:t>
            </a:r>
            <a:endParaRPr lang="en-US" altLang="zh-CN" sz="2400" b="1" dirty="0">
              <a:ea typeface="华文楷体" panose="02010600040101010101" pitchFamily="2" charset="-122"/>
            </a:endParaRPr>
          </a:p>
          <a:p>
            <a:pPr>
              <a:lnSpc>
                <a:spcPct val="150000"/>
              </a:lnSpc>
              <a:spcAft>
                <a:spcPct val="25000"/>
              </a:spcAft>
            </a:pPr>
            <a:endParaRPr lang="zh-CN" altLang="en-US" sz="2400" b="1" dirty="0">
              <a:ea typeface="华文楷体" panose="02010600040101010101" pitchFamily="2" charset="-122"/>
            </a:endParaRPr>
          </a:p>
        </p:txBody>
      </p:sp>
      <p:sp>
        <p:nvSpPr>
          <p:cNvPr id="10" name="标题 4"/>
          <p:cNvSpPr txBox="1"/>
          <p:nvPr/>
        </p:nvSpPr>
        <p:spPr>
          <a:xfrm>
            <a:off x="0" y="0"/>
            <a:ext cx="5429250" cy="500063"/>
          </a:xfrm>
          <a:prstGeom prst="rect">
            <a:avLst/>
          </a:prstGeom>
        </p:spPr>
        <p:txBody>
          <a:bodyPr anchor="ctr">
            <a:normAutofit lnSpcReduction="10000"/>
          </a:bodyPr>
          <a:lstStyle/>
          <a:p>
            <a:pPr fontAlgn="auto">
              <a:spcAft>
                <a:spcPts val="0"/>
              </a:spcAft>
              <a:defRPr/>
            </a:pPr>
            <a:endParaRPr kumimoji="0" lang="zh-CN" altLang="en-US" sz="2800" dirty="0">
              <a:solidFill>
                <a:schemeClr val="bg1"/>
              </a:solidFill>
              <a:latin typeface="+mj-lt"/>
              <a:ea typeface="+mj-ea"/>
              <a:cs typeface="+mj-cs"/>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8.1.1 </a:t>
            </a:r>
            <a:r>
              <a:rPr lang="zh-CN" altLang="en-US" sz="4400" b="1" dirty="0">
                <a:latin typeface="Times New Roman" panose="02020603050405020304" pitchFamily="18" charset="0"/>
                <a:ea typeface="隶书" panose="02010509060101010101" pitchFamily="49" charset="-122"/>
              </a:rPr>
              <a:t>多态的类型</a:t>
            </a:r>
            <a:endParaRPr lang="zh-CN" altLang="en-US" sz="4400" b="1" dirty="0">
              <a:latin typeface="Times New Roman" panose="02020603050405020304" pitchFamily="18" charset="0"/>
              <a:ea typeface="隶书" panose="02010509060101010101" pitchFamily="49" charset="-122"/>
            </a:endParaRPr>
          </a:p>
        </p:txBody>
      </p:sp>
      <p:sp>
        <p:nvSpPr>
          <p:cNvPr id="19459" name="内容占位符 2"/>
          <p:cNvSpPr>
            <a:spLocks noGrp="1"/>
          </p:cNvSpPr>
          <p:nvPr>
            <p:ph idx="1"/>
          </p:nvPr>
        </p:nvSpPr>
        <p:spPr>
          <a:xfrm>
            <a:off x="539552" y="1268760"/>
            <a:ext cx="8229600" cy="4945063"/>
          </a:xfrm>
        </p:spPr>
        <p:txBody>
          <a:bodyPr/>
          <a:lstStyle/>
          <a:p>
            <a:pPr>
              <a:spcBef>
                <a:spcPts val="0"/>
              </a:spcBef>
              <a:spcAft>
                <a:spcPts val="600"/>
              </a:spcAft>
            </a:pPr>
            <a:r>
              <a:rPr lang="zh-CN" altLang="en-US" sz="2400" b="1" dirty="0">
                <a:solidFill>
                  <a:srgbClr val="FFFF00"/>
                </a:solidFill>
                <a:ea typeface="华文楷体" panose="02010600040101010101" pitchFamily="2" charset="-122"/>
              </a:rPr>
              <a:t>多态的类型</a:t>
            </a:r>
            <a:endParaRPr lang="en-US" altLang="zh-CN" sz="2400" b="1" dirty="0">
              <a:solidFill>
                <a:srgbClr val="FFFF00"/>
              </a:solidFill>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a:solidFill>
                  <a:srgbClr val="FFFF00"/>
                </a:solidFill>
                <a:ea typeface="华文楷体" panose="02010600040101010101" pitchFamily="2" charset="-122"/>
              </a:rPr>
              <a:t>重载</a:t>
            </a:r>
            <a:r>
              <a:rPr lang="zh-CN" altLang="en-US" sz="2400" b="1" dirty="0" smtClean="0">
                <a:solidFill>
                  <a:srgbClr val="FFFF00"/>
                </a:solidFill>
                <a:ea typeface="华文楷体" panose="02010600040101010101" pitchFamily="2" charset="-122"/>
              </a:rPr>
              <a:t>多态：</a:t>
            </a:r>
            <a:r>
              <a:rPr lang="zh-CN" altLang="en-US" sz="2400" b="1" dirty="0" smtClean="0">
                <a:ea typeface="华文楷体" panose="02010600040101010101" pitchFamily="2" charset="-122"/>
              </a:rPr>
              <a:t>函数重载、运算符重载</a:t>
            </a:r>
            <a:endParaRPr lang="en-US" altLang="zh-CN" sz="2400" b="1" dirty="0">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a:solidFill>
                  <a:srgbClr val="FFFF00"/>
                </a:solidFill>
                <a:ea typeface="华文楷体" panose="02010600040101010101" pitchFamily="2" charset="-122"/>
              </a:rPr>
              <a:t>强制</a:t>
            </a:r>
            <a:r>
              <a:rPr lang="zh-CN" altLang="en-US" sz="2400" b="1" dirty="0" smtClean="0">
                <a:solidFill>
                  <a:srgbClr val="FFFF00"/>
                </a:solidFill>
                <a:ea typeface="华文楷体" panose="02010600040101010101" pitchFamily="2" charset="-122"/>
              </a:rPr>
              <a:t>多态：</a:t>
            </a:r>
            <a:r>
              <a:rPr lang="zh-CN" altLang="en-US" sz="2400" b="1" dirty="0">
                <a:latin typeface="Times New Roman" panose="02020603050405020304" pitchFamily="18" charset="0"/>
                <a:ea typeface="华文楷体" panose="02010600040101010101" pitchFamily="2" charset="-122"/>
              </a:rPr>
              <a:t>将一个变量类型加以变化，以符合一个函数或操作的要求。例如：强制类型转换</a:t>
            </a:r>
            <a:endParaRPr lang="zh-CN" altLang="en-US" sz="2400" b="1" dirty="0">
              <a:latin typeface="Times New Roman" panose="02020603050405020304" pitchFamily="18" charset="0"/>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smtClean="0">
                <a:solidFill>
                  <a:srgbClr val="FFFF00"/>
                </a:solidFill>
                <a:ea typeface="华文楷体" panose="02010600040101010101" pitchFamily="2" charset="-122"/>
              </a:rPr>
              <a:t>包含多态：</a:t>
            </a:r>
            <a:r>
              <a:rPr lang="zh-CN" altLang="en-US" sz="2400" b="1" dirty="0">
                <a:latin typeface="Times New Roman" panose="02020603050405020304" pitchFamily="18" charset="0"/>
                <a:ea typeface="华文楷体" panose="02010600040101010101" pitchFamily="2" charset="-122"/>
              </a:rPr>
              <a:t>同样的操作可用于一个类型及其子类型。包含多态一般需要进行运行时类型检查，主要通过虚函数来实现</a:t>
            </a:r>
            <a:endParaRPr lang="zh-CN" altLang="en-US" sz="2400" b="1" dirty="0">
              <a:latin typeface="Times New Roman" panose="02020603050405020304" pitchFamily="18" charset="0"/>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smtClean="0">
                <a:solidFill>
                  <a:srgbClr val="FFFF00"/>
                </a:solidFill>
                <a:ea typeface="华文楷体" panose="02010600040101010101" pitchFamily="2" charset="-122"/>
              </a:rPr>
              <a:t>参数多态：</a:t>
            </a:r>
            <a:r>
              <a:rPr lang="zh-CN" altLang="en-US" sz="2400" b="1" dirty="0">
                <a:latin typeface="Times New Roman" panose="02020603050405020304" pitchFamily="18" charset="0"/>
                <a:ea typeface="华文楷体" panose="02010600040101010101" pitchFamily="2" charset="-122"/>
              </a:rPr>
              <a:t>采用参数化模板，使得一个结构可以适用于多种数据类型</a:t>
            </a:r>
            <a:r>
              <a:rPr lang="zh-CN" altLang="en-US" sz="2400" b="1" dirty="0" smtClean="0">
                <a:latin typeface="Times New Roman" panose="02020603050405020304" pitchFamily="18" charset="0"/>
                <a:ea typeface="华文楷体" panose="02010600040101010101" pitchFamily="2" charset="-122"/>
              </a:rPr>
              <a:t>。例如，函数模板、类模板</a:t>
            </a:r>
            <a:endParaRPr lang="en-US" altLang="zh-CN"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根据多态性作用的时机可以分为</a:t>
            </a:r>
            <a:endParaRPr lang="en-US" altLang="zh-CN" sz="2400" b="1" dirty="0">
              <a:solidFill>
                <a:srgbClr val="FFFF00"/>
              </a:solidFill>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a:ea typeface="华文楷体" panose="02010600040101010101" pitchFamily="2" charset="-122"/>
              </a:rPr>
              <a:t>编译时的多态</a:t>
            </a:r>
            <a:endParaRPr lang="en-US" altLang="zh-CN" sz="2400" b="1" dirty="0">
              <a:ea typeface="华文楷体" panose="02010600040101010101" pitchFamily="2" charset="-122"/>
            </a:endParaRPr>
          </a:p>
          <a:p>
            <a:pPr lvl="1">
              <a:spcBef>
                <a:spcPts val="0"/>
              </a:spcBef>
              <a:spcAft>
                <a:spcPts val="600"/>
              </a:spcAft>
              <a:buFont typeface="Wingdings" panose="05000000000000000000" pitchFamily="2" charset="2"/>
              <a:buChar char="ü"/>
            </a:pPr>
            <a:r>
              <a:rPr lang="zh-CN" altLang="en-US" sz="2400" b="1" dirty="0">
                <a:ea typeface="华文楷体" panose="02010600040101010101" pitchFamily="2" charset="-122"/>
              </a:rPr>
              <a:t>运行时的多态</a:t>
            </a:r>
            <a:endParaRPr lang="en-US" altLang="zh-CN"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00113" y="333375"/>
            <a:ext cx="7772400" cy="1143000"/>
          </a:xfrm>
        </p:spPr>
        <p:txBody>
          <a:bodyPr/>
          <a:lstStyle/>
          <a:p>
            <a:pPr algn="ctr" eaLnBrk="1" hangingPunct="1"/>
            <a:r>
              <a:rPr lang="en-US" altLang="zh-CN" sz="4400" b="1" dirty="0">
                <a:latin typeface="Times New Roman" panose="02020603050405020304" pitchFamily="18" charset="0"/>
                <a:ea typeface="隶书" panose="02010509060101010101" pitchFamily="49" charset="-122"/>
              </a:rPr>
              <a:t>8.1.1 </a:t>
            </a:r>
            <a:r>
              <a:rPr lang="zh-CN" altLang="en-US" sz="4400" b="1" dirty="0">
                <a:latin typeface="Times New Roman" panose="02020603050405020304" pitchFamily="18" charset="0"/>
                <a:ea typeface="隶书" panose="02010509060101010101" pitchFamily="49" charset="-122"/>
              </a:rPr>
              <a:t>多态的类型</a:t>
            </a:r>
            <a:r>
              <a:rPr lang="zh-CN" altLang="en-US" sz="4400" b="1" dirty="0" smtClean="0">
                <a:latin typeface="Times New Roman" panose="02020603050405020304" pitchFamily="18" charset="0"/>
                <a:ea typeface="隶书" panose="02010509060101010101" pitchFamily="49" charset="-122"/>
              </a:rPr>
              <a:t>（</a:t>
            </a:r>
            <a:r>
              <a:rPr lang="zh-CN" altLang="en-US" sz="4400" b="1" dirty="0" smtClean="0">
                <a:solidFill>
                  <a:srgbClr val="FFFF00"/>
                </a:solidFill>
                <a:latin typeface="Times New Roman" panose="02020603050405020304" pitchFamily="18" charset="0"/>
                <a:ea typeface="隶书" panose="02010509060101010101" pitchFamily="49" charset="-122"/>
              </a:rPr>
              <a:t>编译时动态 </a:t>
            </a:r>
            <a:r>
              <a:rPr lang="zh-CN" altLang="en-US" sz="4400" b="1" dirty="0">
                <a:solidFill>
                  <a:srgbClr val="FFFF00"/>
                </a:solidFill>
                <a:latin typeface="Times New Roman" panose="02020603050405020304" pitchFamily="18" charset="0"/>
                <a:ea typeface="隶书" panose="02010509060101010101" pitchFamily="49" charset="-122"/>
              </a:rPr>
              <a:t>）</a:t>
            </a:r>
            <a:endParaRPr lang="zh-CN" altLang="en-US" sz="4400" b="1" dirty="0">
              <a:solidFill>
                <a:srgbClr val="FFFF00"/>
              </a:solidFill>
              <a:latin typeface="Times New Roman" panose="02020603050405020304" pitchFamily="18" charset="0"/>
              <a:ea typeface="隶书" panose="02010509060101010101" pitchFamily="49" charset="-122"/>
            </a:endParaRPr>
          </a:p>
        </p:txBody>
      </p:sp>
      <p:sp>
        <p:nvSpPr>
          <p:cNvPr id="10243" name="Rectangle 3"/>
          <p:cNvSpPr>
            <a:spLocks noGrp="1" noChangeArrowheads="1"/>
          </p:cNvSpPr>
          <p:nvPr>
            <p:ph type="body" idx="1"/>
          </p:nvPr>
        </p:nvSpPr>
        <p:spPr>
          <a:xfrm>
            <a:off x="1043608" y="1628800"/>
            <a:ext cx="7777162" cy="4392488"/>
          </a:xfrm>
          <a:ln>
            <a:solidFill>
              <a:schemeClr val="tx1"/>
            </a:solidFill>
            <a:miter lim="800000"/>
          </a:ln>
        </p:spPr>
        <p:txBody>
          <a:bodyPr/>
          <a:lstStyle/>
          <a:p>
            <a:pPr>
              <a:spcBef>
                <a:spcPts val="600"/>
              </a:spcBef>
              <a:spcAft>
                <a:spcPts val="600"/>
              </a:spcAft>
              <a:buClr>
                <a:srgbClr val="00B0F0"/>
              </a:buClr>
              <a:buSzPct val="65000"/>
              <a:buFont typeface="Wingdings" panose="05000000000000000000" pitchFamily="2" charset="2"/>
            </a:pPr>
            <a:r>
              <a:rPr lang="zh-CN" altLang="en-US" sz="2400" b="1" dirty="0">
                <a:solidFill>
                  <a:srgbClr val="FFFF00"/>
                </a:solidFill>
                <a:latin typeface="Times New Roman" panose="02020603050405020304" pitchFamily="18" charset="0"/>
                <a:ea typeface="华文楷体" panose="02010600040101010101" pitchFamily="2" charset="-122"/>
              </a:rPr>
              <a:t>在编译阶段完成</a:t>
            </a:r>
            <a:r>
              <a:rPr lang="zh-CN" altLang="en-US" sz="2400" b="1" dirty="0" smtClean="0">
                <a:solidFill>
                  <a:srgbClr val="FFFF00"/>
                </a:solidFill>
                <a:latin typeface="Times New Roman" panose="02020603050405020304" pitchFamily="18" charset="0"/>
                <a:ea typeface="华文楷体" panose="02010600040101010101" pitchFamily="2" charset="-122"/>
              </a:rPr>
              <a:t>的绑定称为静态绑定，</a:t>
            </a:r>
            <a:r>
              <a:rPr lang="zh-CN" altLang="en-US" sz="2400" b="1" dirty="0">
                <a:solidFill>
                  <a:srgbClr val="FFFF00"/>
                </a:solidFill>
                <a:latin typeface="Times New Roman" panose="02020603050405020304" pitchFamily="18" charset="0"/>
                <a:ea typeface="华文楷体" panose="02010600040101010101" pitchFamily="2" charset="-122"/>
              </a:rPr>
              <a:t>或称</a:t>
            </a:r>
            <a:r>
              <a:rPr lang="zh-CN" altLang="en-US" sz="2400" b="1" dirty="0" smtClean="0">
                <a:solidFill>
                  <a:srgbClr val="FFFF00"/>
                </a:solidFill>
                <a:latin typeface="Times New Roman" panose="02020603050405020304" pitchFamily="18" charset="0"/>
                <a:ea typeface="华文楷体" panose="02010600040101010101" pitchFamily="2" charset="-122"/>
              </a:rPr>
              <a:t>静态联编、</a:t>
            </a:r>
            <a:r>
              <a:rPr lang="zh-CN" altLang="en-US" sz="2400" b="1" dirty="0">
                <a:solidFill>
                  <a:srgbClr val="FFFF00"/>
                </a:solidFill>
                <a:latin typeface="Times New Roman" panose="02020603050405020304" pitchFamily="18" charset="0"/>
                <a:ea typeface="华文楷体" panose="02010600040101010101" pitchFamily="2" charset="-122"/>
              </a:rPr>
              <a:t>编译时多态。</a:t>
            </a:r>
            <a:r>
              <a:rPr lang="zh-CN" altLang="en-US" sz="2400" b="1" dirty="0">
                <a:latin typeface="Times New Roman" panose="02020603050405020304" pitchFamily="18" charset="0"/>
                <a:ea typeface="华文楷体" panose="02010600040101010101" pitchFamily="2" charset="-122"/>
              </a:rPr>
              <a:t>这属于静态多态性。</a:t>
            </a:r>
            <a:endParaRPr lang="zh-CN" altLang="en-US" sz="2400" b="1" dirty="0">
              <a:latin typeface="Times New Roman" panose="02020603050405020304" pitchFamily="18" charset="0"/>
              <a:ea typeface="华文楷体" panose="02010600040101010101" pitchFamily="2" charset="-122"/>
            </a:endParaRPr>
          </a:p>
          <a:p>
            <a:pPr>
              <a:spcBef>
                <a:spcPts val="600"/>
              </a:spcBef>
              <a:spcAft>
                <a:spcPts val="600"/>
              </a:spcAft>
              <a:buClr>
                <a:srgbClr val="00B0F0"/>
              </a:buClr>
              <a:buSzPct val="65000"/>
              <a:buFont typeface="Wingdings" panose="05000000000000000000" pitchFamily="2" charset="2"/>
            </a:pPr>
            <a:r>
              <a:rPr lang="zh-CN" altLang="en-US" sz="2400" b="1" dirty="0">
                <a:latin typeface="Times New Roman" panose="02020603050405020304" pitchFamily="18" charset="0"/>
                <a:ea typeface="华文楷体" panose="02010600040101010101" pitchFamily="2" charset="-122"/>
              </a:rPr>
              <a:t>在编译过程中，</a:t>
            </a:r>
            <a:r>
              <a:rPr lang="zh-CN" altLang="en-US" sz="2400" b="1" dirty="0">
                <a:solidFill>
                  <a:srgbClr val="FFFF00"/>
                </a:solidFill>
                <a:latin typeface="Times New Roman" panose="02020603050405020304" pitchFamily="18" charset="0"/>
                <a:ea typeface="华文楷体" panose="02010600040101010101" pitchFamily="2" charset="-122"/>
              </a:rPr>
              <a:t>编译系统可以根据类型匹配等特征</a:t>
            </a:r>
            <a:r>
              <a:rPr lang="zh-CN" altLang="en-US" sz="2400" b="1" dirty="0">
                <a:latin typeface="Times New Roman" panose="02020603050405020304" pitchFamily="18" charset="0"/>
                <a:ea typeface="华文楷体" panose="02010600040101010101" pitchFamily="2" charset="-122"/>
              </a:rPr>
              <a:t>来</a:t>
            </a:r>
            <a:r>
              <a:rPr lang="zh-CN" altLang="en-US" sz="2400" b="1" dirty="0">
                <a:solidFill>
                  <a:srgbClr val="FFFF00"/>
                </a:solidFill>
                <a:latin typeface="Times New Roman" panose="02020603050405020304" pitchFamily="18" charset="0"/>
                <a:ea typeface="华文楷体" panose="02010600040101010101" pitchFamily="2" charset="-122"/>
              </a:rPr>
              <a:t>确定程序中调用</a:t>
            </a:r>
            <a:r>
              <a:rPr lang="zh-CN" altLang="en-US" sz="2400" b="1" dirty="0">
                <a:latin typeface="Times New Roman" panose="02020603050405020304" pitchFamily="18" charset="0"/>
                <a:ea typeface="华文楷体" panose="02010600040101010101" pitchFamily="2" charset="-122"/>
              </a:rPr>
              <a:t>操作与执行某个同名函数实现之间的关系，即确定某一个同名函数到底是要调用哪一段函数实现代码。</a:t>
            </a:r>
            <a:endParaRPr lang="zh-CN" altLang="en-US" sz="2400" b="1" dirty="0">
              <a:latin typeface="Times New Roman" panose="02020603050405020304" pitchFamily="18" charset="0"/>
              <a:ea typeface="华文楷体" panose="02010600040101010101" pitchFamily="2" charset="-122"/>
            </a:endParaRPr>
          </a:p>
          <a:p>
            <a:pPr>
              <a:spcBef>
                <a:spcPts val="600"/>
              </a:spcBef>
              <a:spcAft>
                <a:spcPts val="600"/>
              </a:spcAft>
              <a:buClr>
                <a:srgbClr val="00B0F0"/>
              </a:buClr>
              <a:buSzPct val="65000"/>
              <a:buFont typeface="Wingdings" panose="05000000000000000000" pitchFamily="2" charset="2"/>
            </a:pPr>
            <a:r>
              <a:rPr lang="zh-CN" altLang="en-US" sz="2400" b="1" dirty="0">
                <a:solidFill>
                  <a:srgbClr val="FFFF00"/>
                </a:solidFill>
                <a:latin typeface="Times New Roman" panose="02020603050405020304" pitchFamily="18" charset="0"/>
                <a:ea typeface="华文楷体" panose="02010600040101010101" pitchFamily="2" charset="-122"/>
              </a:rPr>
              <a:t>函数重载和运算符重载就是</a:t>
            </a:r>
            <a:r>
              <a:rPr lang="zh-CN" altLang="en-US" sz="2400" b="1" dirty="0" smtClean="0">
                <a:solidFill>
                  <a:srgbClr val="FFFF00"/>
                </a:solidFill>
                <a:latin typeface="Times New Roman" panose="02020603050405020304" pitchFamily="18" charset="0"/>
                <a:ea typeface="华文楷体" panose="02010600040101010101" pitchFamily="2" charset="-122"/>
              </a:rPr>
              <a:t>通过编译时多态方式</a:t>
            </a:r>
            <a:r>
              <a:rPr lang="zh-CN" altLang="en-US" sz="2400" b="1" dirty="0">
                <a:solidFill>
                  <a:srgbClr val="FFFF00"/>
                </a:solidFill>
                <a:latin typeface="Times New Roman" panose="02020603050405020304" pitchFamily="18" charset="0"/>
                <a:ea typeface="华文楷体" panose="02010600040101010101" pitchFamily="2" charset="-122"/>
              </a:rPr>
              <a:t>实现的编译时多态性的体现。</a:t>
            </a:r>
            <a:endParaRPr lang="zh-CN" altLang="en-US" sz="2400" b="1" dirty="0">
              <a:solidFill>
                <a:srgbClr val="FFFF00"/>
              </a:solidFill>
              <a:latin typeface="Times New Roman" panose="02020603050405020304" pitchFamily="18" charset="0"/>
              <a:ea typeface="华文楷体" panose="02010600040101010101" pitchFamily="2" charset="-122"/>
            </a:endParaRPr>
          </a:p>
          <a:p>
            <a:pPr>
              <a:spcBef>
                <a:spcPts val="600"/>
              </a:spcBef>
              <a:spcAft>
                <a:spcPts val="600"/>
              </a:spcAft>
              <a:buClr>
                <a:srgbClr val="00B0F0"/>
              </a:buClr>
              <a:buSzPct val="65000"/>
              <a:buFont typeface="Wingdings" panose="05000000000000000000" pitchFamily="2" charset="2"/>
            </a:pPr>
            <a:r>
              <a:rPr lang="zh-CN" altLang="en-US" sz="2400" b="1" dirty="0" smtClean="0">
                <a:latin typeface="Times New Roman" panose="02020603050405020304" pitchFamily="18" charset="0"/>
                <a:ea typeface="华文楷体" panose="02010600040101010101" pitchFamily="2" charset="-122"/>
              </a:rPr>
              <a:t>静态时多态的</a:t>
            </a:r>
            <a:r>
              <a:rPr lang="zh-CN" altLang="en-US" sz="2400" b="1" dirty="0">
                <a:latin typeface="Times New Roman" panose="02020603050405020304" pitchFamily="18" charset="0"/>
                <a:ea typeface="华文楷体" panose="02010600040101010101" pitchFamily="2" charset="-122"/>
              </a:rPr>
              <a:t>优点是函数调用速度快、效率较高，缺点是编程不够灵活 。</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ctr" eaLnBrk="1" hangingPunct="1"/>
            <a:r>
              <a:rPr lang="en-US" altLang="zh-CN" sz="4000" b="1" dirty="0">
                <a:latin typeface="Times New Roman" panose="02020603050405020304" pitchFamily="18" charset="0"/>
                <a:ea typeface="隶书" panose="02010509060101010101" pitchFamily="49" charset="-122"/>
              </a:rPr>
              <a:t>8.1.1 </a:t>
            </a:r>
            <a:r>
              <a:rPr lang="zh-CN" altLang="en-US" sz="4000" b="1" dirty="0">
                <a:latin typeface="Times New Roman" panose="02020603050405020304" pitchFamily="18" charset="0"/>
                <a:ea typeface="隶书" panose="02010509060101010101" pitchFamily="49" charset="-122"/>
              </a:rPr>
              <a:t>多态的类型</a:t>
            </a:r>
            <a:r>
              <a:rPr lang="zh-CN" altLang="en-US" sz="4000" b="1" dirty="0" smtClean="0">
                <a:solidFill>
                  <a:srgbClr val="FFFF00"/>
                </a:solidFill>
                <a:latin typeface="Times New Roman" panose="02020603050405020304" pitchFamily="18" charset="0"/>
                <a:ea typeface="隶书" panose="02010509060101010101" pitchFamily="49" charset="-122"/>
              </a:rPr>
              <a:t>（动态时多态 </a:t>
            </a:r>
            <a:r>
              <a:rPr lang="zh-CN" altLang="en-US" sz="4000" b="1" dirty="0">
                <a:solidFill>
                  <a:srgbClr val="FFFF00"/>
                </a:solidFill>
                <a:latin typeface="Times New Roman" panose="02020603050405020304" pitchFamily="18" charset="0"/>
                <a:ea typeface="隶书" panose="02010509060101010101" pitchFamily="49" charset="-122"/>
              </a:rPr>
              <a:t>）</a:t>
            </a:r>
            <a:endParaRPr lang="zh-CN" altLang="en-US" sz="4000" b="1" dirty="0">
              <a:solidFill>
                <a:srgbClr val="FFFF00"/>
              </a:solidFill>
              <a:latin typeface="Times New Roman" panose="02020603050405020304" pitchFamily="18" charset="0"/>
              <a:ea typeface="隶书" panose="02010509060101010101" pitchFamily="49" charset="-122"/>
            </a:endParaRPr>
          </a:p>
        </p:txBody>
      </p:sp>
      <p:sp>
        <p:nvSpPr>
          <p:cNvPr id="11267" name="Rectangle 3"/>
          <p:cNvSpPr>
            <a:spLocks noGrp="1" noChangeArrowheads="1"/>
          </p:cNvSpPr>
          <p:nvPr>
            <p:ph type="body" idx="1"/>
          </p:nvPr>
        </p:nvSpPr>
        <p:spPr>
          <a:xfrm>
            <a:off x="1403350" y="1700213"/>
            <a:ext cx="7313613" cy="4824412"/>
          </a:xfrm>
          <a:ln>
            <a:solidFill>
              <a:schemeClr val="tx1"/>
            </a:solidFill>
            <a:miter lim="800000"/>
          </a:ln>
        </p:spPr>
        <p:txBody>
          <a:bodyPr/>
          <a:lstStyle/>
          <a:p>
            <a:pPr eaLnBrk="1" hangingPunct="1">
              <a:lnSpc>
                <a:spcPct val="150000"/>
              </a:lnSpc>
              <a:buClr>
                <a:srgbClr val="00B0F0"/>
              </a:buClr>
              <a:buSzPct val="65000"/>
              <a:buFont typeface="Wingdings" panose="05000000000000000000" pitchFamily="2" charset="2"/>
              <a:buChar char="u"/>
            </a:pPr>
            <a:r>
              <a:rPr lang="zh-CN" altLang="en-US" sz="2400" b="1" dirty="0" smtClean="0">
                <a:latin typeface="Times New Roman" panose="02020603050405020304" pitchFamily="18" charset="0"/>
                <a:ea typeface="华文楷体" panose="02010600040101010101" pitchFamily="2" charset="-122"/>
              </a:rPr>
              <a:t>只有在运行程序时才能确定将要调用的函数。这种</a:t>
            </a:r>
            <a:r>
              <a:rPr lang="zh-CN" altLang="en-US" sz="2400" b="1" u="sng" dirty="0" smtClean="0">
                <a:solidFill>
                  <a:srgbClr val="FFFF00"/>
                </a:solidFill>
                <a:latin typeface="Times New Roman" panose="02020603050405020304" pitchFamily="18" charset="0"/>
                <a:ea typeface="华文楷体" panose="02010600040101010101" pitchFamily="2" charset="-122"/>
              </a:rPr>
              <a:t>在运行阶段进行的绑定称为动态绑定，或称动态联编、运行时多态。</a:t>
            </a:r>
            <a:r>
              <a:rPr lang="zh-CN" altLang="en-US" sz="2400" b="1" dirty="0" smtClean="0">
                <a:solidFill>
                  <a:srgbClr val="FFFF00"/>
                </a:solidFill>
                <a:latin typeface="Times New Roman" panose="02020603050405020304" pitchFamily="18" charset="0"/>
                <a:ea typeface="华文楷体" panose="02010600040101010101" pitchFamily="2" charset="-122"/>
              </a:rPr>
              <a:t>主要通过继承和虚函数来实现。</a:t>
            </a:r>
            <a:r>
              <a:rPr lang="zh-CN" altLang="en-US" sz="2400" b="1" dirty="0" smtClean="0">
                <a:latin typeface="Times New Roman" panose="02020603050405020304" pitchFamily="18" charset="0"/>
                <a:ea typeface="华文楷体" panose="02010600040101010101" pitchFamily="2" charset="-122"/>
              </a:rPr>
              <a:t>这属于动态多态性。</a:t>
            </a:r>
            <a:endParaRPr lang="zh-CN" altLang="en-US" sz="2400" b="1" u="sng" dirty="0" smtClean="0">
              <a:solidFill>
                <a:srgbClr val="800000"/>
              </a:solidFill>
              <a:latin typeface="Times New Roman" panose="02020603050405020304" pitchFamily="18" charset="0"/>
              <a:ea typeface="华文楷体" panose="02010600040101010101" pitchFamily="2" charset="-122"/>
            </a:endParaRPr>
          </a:p>
          <a:p>
            <a:pPr>
              <a:lnSpc>
                <a:spcPct val="150000"/>
              </a:lnSpc>
              <a:buClr>
                <a:srgbClr val="00B0F0"/>
              </a:buClr>
              <a:buSzPct val="65000"/>
              <a:buFont typeface="Wingdings" panose="05000000000000000000" pitchFamily="2" charset="2"/>
              <a:buChar char="u"/>
            </a:pPr>
            <a:r>
              <a:rPr lang="zh-CN" altLang="en-US" sz="2400" b="1" dirty="0">
                <a:latin typeface="Times New Roman" panose="02020603050405020304" pitchFamily="18" charset="0"/>
                <a:ea typeface="华文楷体" panose="02010600040101010101" pitchFamily="2" charset="-122"/>
              </a:rPr>
              <a:t>动态时多态</a:t>
            </a:r>
            <a:r>
              <a:rPr lang="zh-CN" altLang="en-US" sz="2400" b="1" dirty="0" smtClean="0">
                <a:latin typeface="Times New Roman" panose="02020603050405020304" pitchFamily="18" charset="0"/>
                <a:ea typeface="华文楷体" panose="02010600040101010101" pitchFamily="2" charset="-122"/>
              </a:rPr>
              <a:t>的优点是提供了更好的编程灵活性、问题抽象性和程序易维护性</a:t>
            </a:r>
            <a:endParaRPr lang="zh-CN" altLang="en-US" sz="2400" b="1" dirty="0" smtClean="0">
              <a:latin typeface="Times New Roman" panose="02020603050405020304" pitchFamily="18" charset="0"/>
              <a:ea typeface="华文楷体" panose="02010600040101010101" pitchFamily="2" charset="-122"/>
            </a:endParaRPr>
          </a:p>
          <a:p>
            <a:pPr eaLnBrk="1" hangingPunct="1">
              <a:lnSpc>
                <a:spcPct val="150000"/>
              </a:lnSpc>
              <a:buClr>
                <a:srgbClr val="00B0F0"/>
              </a:buClr>
              <a:buSzPct val="65000"/>
              <a:buFont typeface="Wingdings" panose="05000000000000000000" pitchFamily="2" charset="2"/>
              <a:buChar char="u"/>
            </a:pPr>
            <a:r>
              <a:rPr lang="zh-CN" altLang="en-US" sz="2400" b="1" dirty="0" smtClean="0">
                <a:latin typeface="Times New Roman" panose="02020603050405020304" pitchFamily="18" charset="0"/>
                <a:ea typeface="华文楷体" panose="02010600040101010101" pitchFamily="2" charset="-122"/>
              </a:rPr>
              <a:t>动态时多态的缺点是：与编译时多态相比，函数调用速度慢。</a:t>
            </a:r>
            <a:endParaRPr lang="zh-CN" altLang="en-US" sz="2400" b="1" dirty="0" smtClean="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971550" y="1574800"/>
            <a:ext cx="7775575" cy="1489075"/>
          </a:xfrm>
          <a:prstGeom prst="rect">
            <a:avLst/>
          </a:prstGeom>
          <a:solidFill>
            <a:schemeClr val="bg1"/>
          </a:solidFill>
          <a:ln w="9525">
            <a:solidFill>
              <a:schemeClr val="tx1"/>
            </a:solidFill>
            <a:miter lim="800000"/>
          </a:ln>
        </p:spPr>
        <p:txBody>
          <a:bodyP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20000"/>
              </a:spcBef>
              <a:buClr>
                <a:srgbClr val="000099"/>
              </a:buClr>
              <a:buSzPct val="65000"/>
            </a:pPr>
            <a:r>
              <a:rPr lang="zh-CN" altLang="en-US" sz="2400" dirty="0"/>
              <a:t>编译</a:t>
            </a:r>
            <a:r>
              <a:rPr lang="zh-CN" altLang="en-US" sz="2400" dirty="0" smtClean="0"/>
              <a:t>时动态和运行时多态的</a:t>
            </a:r>
            <a:r>
              <a:rPr lang="zh-CN" altLang="en-US" sz="2400" dirty="0"/>
              <a:t>本质就是静态类型检查和动态类型检查。</a:t>
            </a:r>
            <a:endParaRPr lang="zh-CN" altLang="en-US" sz="2400" dirty="0"/>
          </a:p>
          <a:p>
            <a:pPr algn="l" eaLnBrk="1" hangingPunct="1">
              <a:lnSpc>
                <a:spcPct val="120000"/>
              </a:lnSpc>
              <a:spcBef>
                <a:spcPct val="20000"/>
              </a:spcBef>
              <a:buClr>
                <a:srgbClr val="000099"/>
              </a:buClr>
              <a:buSzPct val="65000"/>
            </a:pPr>
            <a:r>
              <a:rPr lang="zh-CN" altLang="en-US" sz="2400" dirty="0"/>
              <a:t>对象的静态类型是指声明在程序代码中的类型。</a:t>
            </a:r>
            <a:endParaRPr lang="zh-CN" altLang="en-US" sz="2400" dirty="0"/>
          </a:p>
        </p:txBody>
      </p:sp>
      <p:sp>
        <p:nvSpPr>
          <p:cNvPr id="12291" name="Rectangle 3"/>
          <p:cNvSpPr>
            <a:spLocks noChangeArrowheads="1"/>
          </p:cNvSpPr>
          <p:nvPr/>
        </p:nvSpPr>
        <p:spPr bwMode="auto">
          <a:xfrm>
            <a:off x="900113"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cs typeface="+mj-cs"/>
              </a:rPr>
              <a:t>8.1.1 </a:t>
            </a:r>
            <a:r>
              <a:rPr lang="zh-CN" altLang="en-US" sz="4000" i="1" dirty="0">
                <a:solidFill>
                  <a:srgbClr val="FFFFFF"/>
                </a:solidFill>
                <a:effectLst>
                  <a:outerShdw blurRad="38100" dist="38100" dir="2700000" algn="tl">
                    <a:srgbClr val="000000"/>
                  </a:outerShdw>
                </a:effectLst>
                <a:ea typeface="隶书" panose="02010509060101010101" pitchFamily="49" charset="-122"/>
                <a:cs typeface="+mj-cs"/>
              </a:rPr>
              <a:t>多态的类型</a:t>
            </a:r>
            <a:endParaRPr lang="zh-CN" altLang="en-US" sz="3600" dirty="0">
              <a:solidFill>
                <a:srgbClr val="000099"/>
              </a:solidFill>
              <a:ea typeface="隶书" panose="02010509060101010101" pitchFamily="49" charset="-122"/>
            </a:endParaRPr>
          </a:p>
        </p:txBody>
      </p:sp>
      <p:sp>
        <p:nvSpPr>
          <p:cNvPr id="12292" name="Rectangle 4"/>
          <p:cNvSpPr>
            <a:spLocks noChangeArrowheads="1"/>
          </p:cNvSpPr>
          <p:nvPr/>
        </p:nvSpPr>
        <p:spPr bwMode="auto">
          <a:xfrm>
            <a:off x="973138" y="3341688"/>
            <a:ext cx="7775575" cy="2895600"/>
          </a:xfrm>
          <a:prstGeom prst="rect">
            <a:avLst/>
          </a:prstGeom>
          <a:noFill/>
          <a:ln>
            <a:noFill/>
          </a:ln>
        </p:spPr>
        <p:txBody>
          <a:bodyP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ct val="0"/>
              </a:spcBef>
              <a:buClr>
                <a:srgbClr val="000099"/>
              </a:buClr>
              <a:buSzPct val="65000"/>
            </a:pPr>
            <a:r>
              <a:rPr lang="zh-CN" altLang="en-US" sz="2400"/>
              <a:t>例如：</a:t>
            </a:r>
            <a:endParaRPr lang="zh-CN" altLang="en-US" sz="2400"/>
          </a:p>
          <a:p>
            <a:pPr algn="l" eaLnBrk="1" hangingPunct="1">
              <a:spcBef>
                <a:spcPct val="0"/>
              </a:spcBef>
              <a:buClr>
                <a:srgbClr val="000099"/>
              </a:buClr>
              <a:buSzPct val="65000"/>
            </a:pPr>
            <a:r>
              <a:rPr lang="en-US" altLang="zh-CN"/>
              <a:t>enum ShapeColor { RED, GREEN, BLUE };</a:t>
            </a:r>
            <a:endParaRPr lang="en-US" altLang="zh-CN"/>
          </a:p>
          <a:p>
            <a:pPr algn="l" eaLnBrk="1" hangingPunct="1">
              <a:spcBef>
                <a:spcPct val="0"/>
              </a:spcBef>
              <a:buClr>
                <a:srgbClr val="000099"/>
              </a:buClr>
              <a:buSzPct val="65000"/>
            </a:pPr>
            <a:r>
              <a:rPr lang="en-US" altLang="zh-CN">
                <a:solidFill>
                  <a:schemeClr val="hlink"/>
                </a:solidFill>
              </a:rPr>
              <a:t>// </a:t>
            </a:r>
            <a:r>
              <a:rPr lang="zh-CN" altLang="en-US">
                <a:solidFill>
                  <a:schemeClr val="hlink"/>
                </a:solidFill>
              </a:rPr>
              <a:t>一个表示几何形状的类</a:t>
            </a:r>
            <a:endParaRPr lang="zh-CN" altLang="en-US">
              <a:solidFill>
                <a:schemeClr val="hlink"/>
              </a:solidFill>
            </a:endParaRPr>
          </a:p>
          <a:p>
            <a:pPr algn="l" eaLnBrk="1" hangingPunct="1">
              <a:spcBef>
                <a:spcPct val="0"/>
              </a:spcBef>
              <a:buClr>
                <a:srgbClr val="000099"/>
              </a:buClr>
              <a:buSzPct val="65000"/>
            </a:pPr>
            <a:r>
              <a:rPr lang="en-US" altLang="zh-CN"/>
              <a:t>class Shape</a:t>
            </a:r>
            <a:endParaRPr lang="en-US" altLang="zh-CN"/>
          </a:p>
          <a:p>
            <a:pPr algn="l" eaLnBrk="1" hangingPunct="1">
              <a:spcBef>
                <a:spcPct val="0"/>
              </a:spcBef>
              <a:buClr>
                <a:srgbClr val="000099"/>
              </a:buClr>
              <a:buSzPct val="65000"/>
            </a:pPr>
            <a:r>
              <a:rPr lang="en-US" altLang="zh-CN"/>
              <a:t>{   ...  };</a:t>
            </a:r>
            <a:endParaRPr lang="en-US" altLang="zh-CN"/>
          </a:p>
          <a:p>
            <a:pPr algn="l" eaLnBrk="1" hangingPunct="1">
              <a:spcBef>
                <a:spcPct val="0"/>
              </a:spcBef>
              <a:buClr>
                <a:srgbClr val="000099"/>
              </a:buClr>
              <a:buSzPct val="65000"/>
            </a:pPr>
            <a:r>
              <a:rPr lang="en-US" altLang="zh-CN"/>
              <a:t>class Rectangle: public Shape</a:t>
            </a:r>
            <a:endParaRPr lang="en-US" altLang="zh-CN"/>
          </a:p>
          <a:p>
            <a:pPr algn="l" eaLnBrk="1" hangingPunct="1">
              <a:spcBef>
                <a:spcPct val="0"/>
              </a:spcBef>
              <a:buClr>
                <a:srgbClr val="000099"/>
              </a:buClr>
              <a:buSzPct val="65000"/>
            </a:pPr>
            <a:r>
              <a:rPr lang="en-US" altLang="zh-CN"/>
              <a:t>{  ...  };</a:t>
            </a:r>
            <a:endParaRPr lang="en-US" altLang="zh-CN"/>
          </a:p>
          <a:p>
            <a:pPr algn="l" eaLnBrk="1" hangingPunct="1">
              <a:spcBef>
                <a:spcPct val="0"/>
              </a:spcBef>
              <a:buClr>
                <a:srgbClr val="000099"/>
              </a:buClr>
              <a:buSzPct val="65000"/>
            </a:pPr>
            <a:r>
              <a:rPr lang="en-US" altLang="zh-CN"/>
              <a:t>class Circle: public Shape</a:t>
            </a:r>
            <a:endParaRPr lang="en-US" altLang="zh-CN"/>
          </a:p>
          <a:p>
            <a:pPr algn="l" eaLnBrk="1" hangingPunct="1">
              <a:spcBef>
                <a:spcPct val="0"/>
              </a:spcBef>
              <a:buClr>
                <a:srgbClr val="000099"/>
              </a:buClr>
              <a:buSzPct val="65000"/>
            </a:pPr>
            <a:r>
              <a:rPr lang="en-US" altLang="zh-CN"/>
              <a:t>{  ...  };</a:t>
            </a:r>
            <a:endParaRPr lang="en-US" altLang="zh-CN" sz="240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971550" y="3860800"/>
            <a:ext cx="7775575" cy="2063750"/>
          </a:xfrm>
          <a:prstGeom prst="rect">
            <a:avLst/>
          </a:prstGeom>
          <a:noFill/>
          <a:ln>
            <a:noFill/>
          </a:ln>
        </p:spPr>
        <p:txBody>
          <a:bodyP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20000"/>
              </a:spcBef>
              <a:buClr>
                <a:srgbClr val="000099"/>
              </a:buClr>
              <a:buSzPct val="65000"/>
            </a:pPr>
            <a:r>
              <a:rPr lang="zh-CN" altLang="en-US" sz="2400" dirty="0"/>
              <a:t>动态类型：可以在程序运行时改变，典型的方法是通过</a:t>
            </a:r>
            <a:endParaRPr lang="zh-CN" altLang="en-US" sz="2400" dirty="0"/>
          </a:p>
          <a:p>
            <a:pPr algn="l" eaLnBrk="1" hangingPunct="1">
              <a:lnSpc>
                <a:spcPct val="120000"/>
              </a:lnSpc>
              <a:spcBef>
                <a:spcPct val="20000"/>
              </a:spcBef>
              <a:buClr>
                <a:srgbClr val="000099"/>
              </a:buClr>
              <a:buSzPct val="65000"/>
            </a:pPr>
            <a:r>
              <a:rPr lang="zh-CN" altLang="en-US" sz="2400" dirty="0"/>
              <a:t>赋值：</a:t>
            </a:r>
            <a:endParaRPr lang="zh-CN" altLang="en-US" sz="2400" dirty="0"/>
          </a:p>
          <a:p>
            <a:pPr algn="l" eaLnBrk="1" hangingPunct="1">
              <a:lnSpc>
                <a:spcPct val="120000"/>
              </a:lnSpc>
              <a:spcBef>
                <a:spcPct val="20000"/>
              </a:spcBef>
              <a:buClr>
                <a:srgbClr val="000099"/>
              </a:buClr>
              <a:buSzPct val="65000"/>
            </a:pPr>
            <a:r>
              <a:rPr lang="en-US" altLang="zh-CN" sz="2400" dirty="0" err="1"/>
              <a:t>ps</a:t>
            </a:r>
            <a:r>
              <a:rPr lang="en-US" altLang="zh-CN" sz="2400" dirty="0"/>
              <a:t> = pc;    </a:t>
            </a:r>
            <a:r>
              <a:rPr lang="en-US" altLang="zh-CN" sz="2400" dirty="0">
                <a:solidFill>
                  <a:srgbClr val="FFFF00"/>
                </a:solidFill>
              </a:rPr>
              <a:t>// </a:t>
            </a:r>
            <a:r>
              <a:rPr lang="en-US" altLang="zh-CN" sz="2400" dirty="0" err="1">
                <a:solidFill>
                  <a:srgbClr val="FFFF00"/>
                </a:solidFill>
              </a:rPr>
              <a:t>ps</a:t>
            </a:r>
            <a:r>
              <a:rPr lang="zh-CN" altLang="en-US" sz="2400" dirty="0">
                <a:solidFill>
                  <a:srgbClr val="FFFF00"/>
                </a:solidFill>
              </a:rPr>
              <a:t>的动态类型 现在是</a:t>
            </a:r>
            <a:r>
              <a:rPr lang="en-US" altLang="zh-CN" sz="2400" dirty="0">
                <a:solidFill>
                  <a:srgbClr val="FFFF00"/>
                </a:solidFill>
              </a:rPr>
              <a:t>Circle*</a:t>
            </a:r>
            <a:endParaRPr lang="en-US" altLang="zh-CN" sz="2400" dirty="0">
              <a:solidFill>
                <a:srgbClr val="FFFF00"/>
              </a:solidFill>
            </a:endParaRPr>
          </a:p>
          <a:p>
            <a:pPr algn="l" eaLnBrk="1" hangingPunct="1">
              <a:lnSpc>
                <a:spcPct val="120000"/>
              </a:lnSpc>
              <a:spcBef>
                <a:spcPct val="20000"/>
              </a:spcBef>
              <a:buClr>
                <a:srgbClr val="000099"/>
              </a:buClr>
              <a:buSzPct val="65000"/>
            </a:pPr>
            <a:r>
              <a:rPr lang="en-US" altLang="zh-CN" sz="2400" dirty="0" err="1"/>
              <a:t>ps</a:t>
            </a:r>
            <a:r>
              <a:rPr lang="en-US" altLang="zh-CN" sz="2400" dirty="0"/>
              <a:t> = </a:t>
            </a:r>
            <a:r>
              <a:rPr lang="en-US" altLang="zh-CN" sz="2400" dirty="0" err="1"/>
              <a:t>pr</a:t>
            </a:r>
            <a:r>
              <a:rPr lang="en-US" altLang="zh-CN" sz="2400" dirty="0">
                <a:solidFill>
                  <a:srgbClr val="FFFF00"/>
                </a:solidFill>
              </a:rPr>
              <a:t>;   // </a:t>
            </a:r>
            <a:r>
              <a:rPr lang="en-US" altLang="zh-CN" sz="2400" dirty="0" err="1">
                <a:solidFill>
                  <a:srgbClr val="FFFF00"/>
                </a:solidFill>
              </a:rPr>
              <a:t>ps</a:t>
            </a:r>
            <a:r>
              <a:rPr lang="zh-CN" altLang="en-US" sz="2400" dirty="0">
                <a:solidFill>
                  <a:srgbClr val="FFFF00"/>
                </a:solidFill>
              </a:rPr>
              <a:t>的动态类型 现在是</a:t>
            </a:r>
            <a:r>
              <a:rPr lang="en-US" altLang="zh-CN" sz="2400" dirty="0">
                <a:solidFill>
                  <a:srgbClr val="FFFF00"/>
                </a:solidFill>
              </a:rPr>
              <a:t>Rectangle*</a:t>
            </a:r>
            <a:endParaRPr lang="en-US" altLang="zh-CN" sz="2400" dirty="0">
              <a:solidFill>
                <a:srgbClr val="FFFF00"/>
              </a:solidFill>
            </a:endParaRPr>
          </a:p>
        </p:txBody>
      </p:sp>
      <p:sp>
        <p:nvSpPr>
          <p:cNvPr id="15363" name="Rectangle 3"/>
          <p:cNvSpPr>
            <a:spLocks noChangeArrowheads="1"/>
          </p:cNvSpPr>
          <p:nvPr/>
        </p:nvSpPr>
        <p:spPr bwMode="auto">
          <a:xfrm>
            <a:off x="900113" y="3333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8.1.1 </a:t>
            </a:r>
            <a:r>
              <a:rPr lang="zh-CN" altLang="en-US" sz="4000" i="1" dirty="0">
                <a:solidFill>
                  <a:srgbClr val="FFFFFF"/>
                </a:solidFill>
                <a:effectLst>
                  <a:outerShdw blurRad="38100" dist="38100" dir="2700000" algn="tl">
                    <a:srgbClr val="000000"/>
                  </a:outerShdw>
                </a:effectLst>
                <a:ea typeface="隶书" panose="02010509060101010101" pitchFamily="49" charset="-122"/>
              </a:rPr>
              <a:t>多态的类型</a:t>
            </a:r>
            <a:endParaRPr lang="zh-CN" altLang="en-US" sz="3600" dirty="0">
              <a:solidFill>
                <a:srgbClr val="000099"/>
              </a:solidFill>
              <a:ea typeface="隶书" panose="02010509060101010101" pitchFamily="49" charset="-122"/>
            </a:endParaRPr>
          </a:p>
        </p:txBody>
      </p:sp>
      <p:sp>
        <p:nvSpPr>
          <p:cNvPr id="15364" name="Rectangle 4"/>
          <p:cNvSpPr>
            <a:spLocks noChangeArrowheads="1"/>
          </p:cNvSpPr>
          <p:nvPr/>
        </p:nvSpPr>
        <p:spPr bwMode="auto">
          <a:xfrm>
            <a:off x="971550" y="1574800"/>
            <a:ext cx="7775575" cy="1927225"/>
          </a:xfrm>
          <a:prstGeom prst="rect">
            <a:avLst/>
          </a:prstGeom>
          <a:solidFill>
            <a:schemeClr val="bg1"/>
          </a:solidFill>
          <a:ln w="9525">
            <a:solidFill>
              <a:schemeClr val="tx1"/>
            </a:solidFill>
            <a:miter lim="800000"/>
          </a:ln>
        </p:spPr>
        <p:txBody>
          <a:bodyP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20000"/>
              </a:spcBef>
              <a:buClr>
                <a:srgbClr val="000099"/>
              </a:buClr>
              <a:buSzPct val="65000"/>
            </a:pPr>
            <a:r>
              <a:rPr lang="zh-CN" altLang="en-US" sz="2400" dirty="0"/>
              <a:t>编译</a:t>
            </a:r>
            <a:r>
              <a:rPr lang="zh-CN" altLang="en-US" sz="2400" dirty="0" smtClean="0"/>
              <a:t>时多态和运行时多态的</a:t>
            </a:r>
            <a:r>
              <a:rPr lang="zh-CN" altLang="en-US" sz="2400" dirty="0"/>
              <a:t>本质就是静态类型检查和动态类型检查。</a:t>
            </a:r>
            <a:endParaRPr lang="zh-CN" altLang="en-US" sz="2400" dirty="0"/>
          </a:p>
          <a:p>
            <a:pPr algn="l" eaLnBrk="1" hangingPunct="1">
              <a:lnSpc>
                <a:spcPct val="120000"/>
              </a:lnSpc>
              <a:spcBef>
                <a:spcPct val="20000"/>
              </a:spcBef>
              <a:buClr>
                <a:srgbClr val="000099"/>
              </a:buClr>
              <a:buSzPct val="65000"/>
            </a:pPr>
            <a:r>
              <a:rPr lang="zh-CN" altLang="en-US" sz="2400" dirty="0"/>
              <a:t>对象的动态类型是由它当前所指的对象的类型决定的。即，对象的动态类型表示它将执行何种行为。</a:t>
            </a:r>
            <a:endParaRPr lang="zh-CN" altLang="en-US" sz="2400"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042988" y="1458913"/>
            <a:ext cx="7580312" cy="5283200"/>
          </a:xfrm>
          <a:prstGeom prst="rect">
            <a:avLst/>
          </a:prstGeom>
          <a:solidFill>
            <a:schemeClr val="tx1"/>
          </a:solidFill>
          <a:ln w="9525">
            <a:solidFill>
              <a:schemeClr val="tx1"/>
            </a:solidFill>
            <a:miter lim="800000"/>
          </a:ln>
        </p:spPr>
        <p:txBody>
          <a:bodyPr>
            <a:spAutoFit/>
          </a:bodyPr>
          <a:lstStyle>
            <a:lvl1pPr indent="26670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just" eaLnBrk="1" hangingPunct="1">
              <a:spcBef>
                <a:spcPct val="0"/>
              </a:spcBef>
              <a:buClrTx/>
              <a:buSzTx/>
              <a:buFontTx/>
              <a:buNone/>
            </a:pPr>
            <a:r>
              <a:rPr lang="en-US" altLang="zh-CN" dirty="0">
                <a:solidFill>
                  <a:srgbClr val="000000"/>
                </a:solidFill>
              </a:rPr>
              <a:t>//  </a:t>
            </a:r>
            <a:r>
              <a:rPr lang="zh-CN" altLang="en-US" dirty="0" smtClean="0">
                <a:solidFill>
                  <a:srgbClr val="000000"/>
                </a:solidFill>
              </a:rPr>
              <a:t>示例编译时多态。</a:t>
            </a:r>
            <a:r>
              <a:rPr lang="zh-CN" altLang="en-US" dirty="0">
                <a:solidFill>
                  <a:srgbClr val="000000"/>
                </a:solidFill>
              </a:rPr>
              <a:t>函数重载在多态性中的应用</a:t>
            </a:r>
            <a:endParaRPr lang="zh-CN" altLang="en-US" dirty="0">
              <a:solidFill>
                <a:srgbClr val="000000"/>
              </a:solidFill>
            </a:endParaRPr>
          </a:p>
          <a:p>
            <a:pPr algn="just">
              <a:spcBef>
                <a:spcPct val="0"/>
              </a:spcBef>
              <a:buClrTx/>
              <a:buSzTx/>
              <a:buFontTx/>
              <a:buNone/>
            </a:pPr>
            <a:r>
              <a:rPr lang="en-US" altLang="zh-CN" dirty="0">
                <a:solidFill>
                  <a:srgbClr val="000000"/>
                </a:solidFill>
              </a:rPr>
              <a:t>#include &lt;</a:t>
            </a:r>
            <a:r>
              <a:rPr lang="en-US" altLang="zh-CN" dirty="0" err="1">
                <a:solidFill>
                  <a:srgbClr val="000000"/>
                </a:solidFill>
              </a:rPr>
              <a:t>iostream</a:t>
            </a:r>
            <a:r>
              <a:rPr lang="en-US" altLang="zh-CN" dirty="0">
                <a:solidFill>
                  <a:srgbClr val="000000"/>
                </a:solidFill>
              </a:rPr>
              <a:t>&gt;</a:t>
            </a:r>
            <a:endParaRPr lang="en-US" altLang="zh-CN" dirty="0">
              <a:solidFill>
                <a:srgbClr val="000000"/>
              </a:solidFill>
            </a:endParaRPr>
          </a:p>
          <a:p>
            <a:pPr algn="just">
              <a:spcBef>
                <a:spcPct val="0"/>
              </a:spcBef>
              <a:buClrTx/>
              <a:buSzTx/>
              <a:buFontTx/>
              <a:buNone/>
            </a:pPr>
            <a:r>
              <a:rPr lang="en-US" altLang="zh-CN" dirty="0">
                <a:solidFill>
                  <a:srgbClr val="000000"/>
                </a:solidFill>
              </a:rPr>
              <a:t>using namespace </a:t>
            </a:r>
            <a:r>
              <a:rPr lang="en-US" altLang="zh-CN" dirty="0" err="1">
                <a:solidFill>
                  <a:srgbClr val="000000"/>
                </a:solidFill>
              </a:rPr>
              <a:t>std</a:t>
            </a:r>
            <a:r>
              <a:rPr lang="en-US" altLang="zh-CN" dirty="0">
                <a:solidFill>
                  <a:srgbClr val="000000"/>
                </a:solidFill>
              </a:rPr>
              <a:t>;</a:t>
            </a:r>
            <a:endParaRPr lang="en-US" altLang="zh-CN" dirty="0">
              <a:solidFill>
                <a:srgbClr val="000000"/>
              </a:solidFill>
            </a:endParaRPr>
          </a:p>
          <a:p>
            <a:pPr algn="just">
              <a:spcBef>
                <a:spcPct val="0"/>
              </a:spcBef>
              <a:buClrTx/>
              <a:buSzTx/>
              <a:buFontTx/>
              <a:buNone/>
            </a:pPr>
            <a:r>
              <a:rPr lang="en-US" altLang="zh-CN" dirty="0">
                <a:solidFill>
                  <a:srgbClr val="000000"/>
                </a:solidFill>
              </a:rPr>
              <a:t>class Student</a:t>
            </a:r>
            <a:endParaRPr lang="en-US" altLang="zh-CN" dirty="0">
              <a:solidFill>
                <a:srgbClr val="000000"/>
              </a:solidFill>
            </a:endParaRPr>
          </a:p>
          <a:p>
            <a:pPr algn="just">
              <a:spcBef>
                <a:spcPct val="0"/>
              </a:spcBef>
              <a:buClrTx/>
              <a:buSzTx/>
              <a:buFontTx/>
              <a:buNone/>
            </a:pPr>
            <a:r>
              <a:rPr lang="en-US" altLang="zh-CN" dirty="0">
                <a:solidFill>
                  <a:srgbClr val="000000"/>
                </a:solidFill>
              </a:rPr>
              <a:t>{  public:</a:t>
            </a:r>
            <a:endParaRPr lang="en-US" altLang="zh-CN" dirty="0">
              <a:solidFill>
                <a:srgbClr val="000000"/>
              </a:solidFill>
            </a:endParaRPr>
          </a:p>
          <a:p>
            <a:pPr algn="just">
              <a:spcBef>
                <a:spcPct val="0"/>
              </a:spcBef>
              <a:buClrTx/>
              <a:buSzTx/>
              <a:buFontTx/>
              <a:buNone/>
            </a:pPr>
            <a:r>
              <a:rPr lang="en-US" altLang="zh-CN" dirty="0">
                <a:solidFill>
                  <a:srgbClr val="000000"/>
                </a:solidFill>
              </a:rPr>
              <a:t>	void print()</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cout</a:t>
            </a:r>
            <a:r>
              <a:rPr lang="en-US" altLang="zh-CN" dirty="0">
                <a:solidFill>
                  <a:srgbClr val="000000"/>
                </a:solidFill>
              </a:rPr>
              <a:t>&lt;&lt;"A student"&lt;&lt;</a:t>
            </a:r>
            <a:r>
              <a:rPr lang="en-US" altLang="zh-CN" dirty="0" err="1">
                <a:solidFill>
                  <a:srgbClr val="000000"/>
                </a:solidFill>
              </a:rPr>
              <a:t>endl</a:t>
            </a: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a:t>
            </a:r>
            <a:endParaRPr lang="en-US" altLang="zh-CN" dirty="0">
              <a:solidFill>
                <a:srgbClr val="000000"/>
              </a:solidFill>
            </a:endParaRPr>
          </a:p>
          <a:p>
            <a:pPr algn="just">
              <a:spcBef>
                <a:spcPct val="0"/>
              </a:spcBef>
              <a:buClrTx/>
              <a:buSzTx/>
              <a:buFontTx/>
              <a:buNone/>
            </a:pPr>
            <a:r>
              <a:rPr lang="en-US" altLang="zh-CN" dirty="0">
                <a:solidFill>
                  <a:srgbClr val="000000"/>
                </a:solidFill>
              </a:rPr>
              <a:t>class </a:t>
            </a:r>
            <a:r>
              <a:rPr lang="en-US" altLang="zh-CN" dirty="0" err="1">
                <a:solidFill>
                  <a:srgbClr val="000000"/>
                </a:solidFill>
              </a:rPr>
              <a:t>GStudent:public</a:t>
            </a:r>
            <a:r>
              <a:rPr lang="en-US" altLang="zh-CN" dirty="0">
                <a:solidFill>
                  <a:srgbClr val="000000"/>
                </a:solidFill>
              </a:rPr>
              <a:t> Student</a:t>
            </a:r>
            <a:endParaRPr lang="en-US" altLang="zh-CN" dirty="0">
              <a:solidFill>
                <a:srgbClr val="000000"/>
              </a:solidFill>
            </a:endParaRPr>
          </a:p>
          <a:p>
            <a:pPr algn="just">
              <a:spcBef>
                <a:spcPct val="0"/>
              </a:spcBef>
              <a:buClrTx/>
              <a:buSzTx/>
              <a:buFontTx/>
              <a:buNone/>
            </a:pPr>
            <a:r>
              <a:rPr lang="en-US" altLang="zh-CN" dirty="0">
                <a:solidFill>
                  <a:srgbClr val="000000"/>
                </a:solidFill>
              </a:rPr>
              <a:t>{  public:</a:t>
            </a:r>
            <a:endParaRPr lang="en-US" altLang="zh-CN" dirty="0">
              <a:solidFill>
                <a:srgbClr val="000000"/>
              </a:solidFill>
            </a:endParaRPr>
          </a:p>
          <a:p>
            <a:pPr algn="just">
              <a:spcBef>
                <a:spcPct val="0"/>
              </a:spcBef>
              <a:buClrTx/>
              <a:buSzTx/>
              <a:buFontTx/>
              <a:buNone/>
            </a:pPr>
            <a:r>
              <a:rPr lang="en-US" altLang="zh-CN" dirty="0">
                <a:solidFill>
                  <a:srgbClr val="000000"/>
                </a:solidFill>
              </a:rPr>
              <a:t>	void print()</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cout</a:t>
            </a:r>
            <a:r>
              <a:rPr lang="en-US" altLang="zh-CN" dirty="0">
                <a:solidFill>
                  <a:srgbClr val="000000"/>
                </a:solidFill>
              </a:rPr>
              <a:t>&lt;&lt;"A graduate student"&lt;&lt;</a:t>
            </a:r>
            <a:r>
              <a:rPr lang="en-US" altLang="zh-CN" dirty="0" err="1">
                <a:solidFill>
                  <a:srgbClr val="000000"/>
                </a:solidFill>
              </a:rPr>
              <a:t>endl</a:t>
            </a: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endParaRPr lang="en-US" altLang="zh-CN" dirty="0">
              <a:solidFill>
                <a:srgbClr val="000000"/>
              </a:solidFill>
            </a:endParaRPr>
          </a:p>
          <a:p>
            <a:pPr algn="just">
              <a:spcBef>
                <a:spcPct val="0"/>
              </a:spcBef>
              <a:buClrTx/>
              <a:buSzTx/>
              <a:buFontTx/>
              <a:buNone/>
            </a:pPr>
            <a:r>
              <a:rPr lang="en-US" altLang="zh-CN" dirty="0">
                <a:solidFill>
                  <a:srgbClr val="000000"/>
                </a:solidFill>
              </a:rPr>
              <a:t>};</a:t>
            </a:r>
            <a:endParaRPr lang="en-US" altLang="zh-CN" dirty="0">
              <a:solidFill>
                <a:srgbClr val="000000"/>
              </a:solidFill>
            </a:endParaRPr>
          </a:p>
        </p:txBody>
      </p:sp>
      <p:sp>
        <p:nvSpPr>
          <p:cNvPr id="16387" name="Rectangle 3"/>
          <p:cNvSpPr>
            <a:spLocks noChangeArrowheads="1"/>
          </p:cNvSpPr>
          <p:nvPr/>
        </p:nvSpPr>
        <p:spPr bwMode="auto">
          <a:xfrm>
            <a:off x="827088" y="1254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8.1.1 </a:t>
            </a:r>
            <a:r>
              <a:rPr lang="zh-CN" altLang="en-US" sz="4000" i="1" dirty="0">
                <a:solidFill>
                  <a:srgbClr val="FFFFFF"/>
                </a:solidFill>
                <a:effectLst>
                  <a:outerShdw blurRad="38100" dist="38100" dir="2700000" algn="tl">
                    <a:srgbClr val="000000"/>
                  </a:outerShdw>
                </a:effectLst>
                <a:ea typeface="隶书" panose="02010509060101010101" pitchFamily="49" charset="-122"/>
              </a:rPr>
              <a:t>多态的类型</a:t>
            </a:r>
            <a:endParaRPr lang="zh-CN" altLang="en-US" sz="3600" dirty="0">
              <a:solidFill>
                <a:srgbClr val="000099"/>
              </a:solidFill>
              <a:ea typeface="隶书" panose="02010509060101010101" pitchFamily="49" charset="-122"/>
            </a:endParaRPr>
          </a:p>
          <a:p>
            <a:pPr algn="ctr" eaLnBrk="1" hangingPunct="1">
              <a:spcBef>
                <a:spcPct val="0"/>
              </a:spcBef>
              <a:buClrTx/>
              <a:buSzTx/>
              <a:buFontTx/>
              <a:buNone/>
            </a:pPr>
            <a:r>
              <a:rPr lang="zh-CN" altLang="en-US" sz="3200" dirty="0" smtClean="0">
                <a:solidFill>
                  <a:srgbClr val="FFFF00"/>
                </a:solidFill>
                <a:ea typeface="隶书" panose="02010509060101010101" pitchFamily="49" charset="-122"/>
              </a:rPr>
              <a:t>（基</a:t>
            </a:r>
            <a:r>
              <a:rPr lang="zh-CN" altLang="en-US" sz="3200" dirty="0">
                <a:solidFill>
                  <a:srgbClr val="FFFF00"/>
                </a:solidFill>
                <a:ea typeface="隶书" panose="02010509060101010101" pitchFamily="49" charset="-122"/>
              </a:rPr>
              <a:t>类指针指向派生类</a:t>
            </a:r>
            <a:r>
              <a:rPr lang="zh-CN" altLang="en-US" sz="3200" dirty="0" smtClean="0">
                <a:solidFill>
                  <a:srgbClr val="FFFF00"/>
                </a:solidFill>
                <a:ea typeface="隶书" panose="02010509060101010101" pitchFamily="49" charset="-122"/>
              </a:rPr>
              <a:t>对象）</a:t>
            </a:r>
            <a:endParaRPr lang="zh-CN" altLang="en-US" sz="3200" dirty="0">
              <a:solidFill>
                <a:srgbClr val="FFFF00"/>
              </a:solidFill>
              <a:ea typeface="隶书" panose="02010509060101010101" pitchFamily="49" charset="-122"/>
            </a:endParaRPr>
          </a:p>
        </p:txBody>
      </p:sp>
      <p:sp>
        <p:nvSpPr>
          <p:cNvPr id="16388" name="AutoShape 4"/>
          <p:cNvSpPr>
            <a:spLocks noChangeArrowheads="1"/>
          </p:cNvSpPr>
          <p:nvPr/>
        </p:nvSpPr>
        <p:spPr bwMode="auto">
          <a:xfrm>
            <a:off x="5651500" y="4149724"/>
            <a:ext cx="3241675" cy="1151483"/>
          </a:xfrm>
          <a:prstGeom prst="wedgeRoundRectCallout">
            <a:avLst>
              <a:gd name="adj1" fmla="val -112949"/>
              <a:gd name="adj2" fmla="val 49171"/>
              <a:gd name="adj3" fmla="val 16667"/>
            </a:avLst>
          </a:prstGeom>
          <a:solidFill>
            <a:srgbClr val="000099"/>
          </a:solidFill>
          <a:ln w="9525" algn="ctr">
            <a:solidFill>
              <a:schemeClr val="tx1"/>
            </a:solidFill>
            <a:miter lim="800000"/>
          </a:ln>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ct val="0"/>
              </a:spcBef>
              <a:buClrTx/>
              <a:buSzTx/>
              <a:buFontTx/>
              <a:buNone/>
            </a:pPr>
            <a:r>
              <a:rPr lang="zh-CN" altLang="en-US" sz="2400"/>
              <a:t>派生类中重写了成员函数</a:t>
            </a:r>
            <a:r>
              <a:rPr lang="en-US" altLang="zh-CN" sz="2400"/>
              <a:t>print( )</a:t>
            </a:r>
            <a:r>
              <a:rPr lang="zh-CN" altLang="en-US" sz="2400"/>
              <a:t>：编译时多态</a:t>
            </a:r>
            <a:endParaRPr lang="zh-CN" altLang="en-US" sz="240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971550" y="1773238"/>
            <a:ext cx="7775575" cy="5100637"/>
          </a:xfrm>
          <a:prstGeom prst="rect">
            <a:avLst/>
          </a:prstGeom>
          <a:solidFill>
            <a:schemeClr val="tx1"/>
          </a:solidFill>
          <a:ln w="9525">
            <a:solidFill>
              <a:schemeClr val="tx1"/>
            </a:solidFill>
            <a:miter lim="800000"/>
          </a:ln>
        </p:spPr>
        <p:txBody>
          <a:bodyPr>
            <a:spAutoFit/>
          </a:bodyPr>
          <a:lstStyle>
            <a:lvl1pPr indent="26670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just" eaLnBrk="1" hangingPunct="1">
              <a:spcBef>
                <a:spcPct val="0"/>
              </a:spcBef>
              <a:buClrTx/>
              <a:buSzTx/>
              <a:buFontTx/>
              <a:buNone/>
            </a:pPr>
            <a:r>
              <a:rPr lang="en-US" altLang="zh-CN">
                <a:solidFill>
                  <a:srgbClr val="000000"/>
                </a:solidFill>
              </a:rPr>
              <a:t>int main()</a:t>
            </a:r>
            <a:endParaRPr lang="en-US" altLang="zh-CN">
              <a:solidFill>
                <a:srgbClr val="000000"/>
              </a:solidFill>
              <a:cs typeface="Times New Roman" panose="02020603050405020304" pitchFamily="18" charset="0"/>
            </a:endParaRPr>
          </a:p>
          <a:p>
            <a:pPr algn="just">
              <a:spcBef>
                <a:spcPct val="0"/>
              </a:spcBef>
              <a:buClrTx/>
              <a:buSzTx/>
              <a:buFontTx/>
              <a:buNone/>
            </a:pPr>
            <a:r>
              <a:rPr lang="en-US" altLang="zh-CN">
                <a:solidFill>
                  <a:srgbClr val="000000"/>
                </a:solidFill>
              </a:rPr>
              <a:t>{</a:t>
            </a:r>
            <a:endParaRPr lang="en-US" altLang="zh-CN">
              <a:solidFill>
                <a:srgbClr val="000000"/>
              </a:solidFill>
            </a:endParaRPr>
          </a:p>
          <a:p>
            <a:pPr algn="just">
              <a:spcBef>
                <a:spcPct val="0"/>
              </a:spcBef>
              <a:buClrTx/>
              <a:buSzTx/>
              <a:buFontTx/>
              <a:buNone/>
            </a:pPr>
            <a:r>
              <a:rPr lang="en-US" altLang="zh-CN">
                <a:solidFill>
                  <a:srgbClr val="000000"/>
                </a:solidFill>
              </a:rPr>
              <a:t>	Student s1,*ps;</a:t>
            </a:r>
            <a:endParaRPr lang="en-US" altLang="zh-CN">
              <a:solidFill>
                <a:srgbClr val="000000"/>
              </a:solidFill>
            </a:endParaRPr>
          </a:p>
          <a:p>
            <a:pPr algn="just">
              <a:spcBef>
                <a:spcPct val="0"/>
              </a:spcBef>
              <a:buClrTx/>
              <a:buSzTx/>
              <a:buFontTx/>
              <a:buNone/>
            </a:pPr>
            <a:r>
              <a:rPr lang="en-US" altLang="zh-CN">
                <a:solidFill>
                  <a:srgbClr val="000000"/>
                </a:solidFill>
              </a:rPr>
              <a:t>	GStudent s2;</a:t>
            </a:r>
            <a:endParaRPr lang="en-US" altLang="zh-CN">
              <a:solidFill>
                <a:srgbClr val="000000"/>
              </a:solidFill>
            </a:endParaRPr>
          </a:p>
          <a:p>
            <a:pPr algn="just">
              <a:spcBef>
                <a:spcPct val="0"/>
              </a:spcBef>
              <a:buClrTx/>
              <a:buSzTx/>
              <a:buFontTx/>
              <a:buNone/>
            </a:pPr>
            <a:r>
              <a:rPr lang="en-US" altLang="zh-CN">
                <a:solidFill>
                  <a:srgbClr val="000000"/>
                </a:solidFill>
              </a:rPr>
              <a:t>	s1.print();</a:t>
            </a:r>
            <a:endParaRPr lang="en-US" altLang="zh-CN">
              <a:solidFill>
                <a:srgbClr val="000000"/>
              </a:solidFill>
            </a:endParaRPr>
          </a:p>
          <a:p>
            <a:pPr algn="just">
              <a:spcBef>
                <a:spcPct val="0"/>
              </a:spcBef>
              <a:buClrTx/>
              <a:buSzTx/>
              <a:buFontTx/>
              <a:buNone/>
            </a:pPr>
            <a:r>
              <a:rPr lang="en-US" altLang="zh-CN">
                <a:solidFill>
                  <a:srgbClr val="000000"/>
                </a:solidFill>
              </a:rPr>
              <a:t>	s2.print();</a:t>
            </a:r>
            <a:endParaRPr lang="en-US" altLang="zh-CN">
              <a:solidFill>
                <a:srgbClr val="000000"/>
              </a:solidFill>
            </a:endParaRPr>
          </a:p>
          <a:p>
            <a:pPr algn="just">
              <a:spcBef>
                <a:spcPct val="0"/>
              </a:spcBef>
              <a:buClrTx/>
              <a:buSzTx/>
              <a:buFontTx/>
              <a:buNone/>
            </a:pPr>
            <a:r>
              <a:rPr lang="en-US" altLang="zh-CN">
                <a:solidFill>
                  <a:srgbClr val="000000"/>
                </a:solidFill>
              </a:rPr>
              <a:t>	s2.Student::print();</a:t>
            </a:r>
            <a:endParaRPr lang="en-US" altLang="zh-CN">
              <a:solidFill>
                <a:srgbClr val="000000"/>
              </a:solidFill>
            </a:endParaRPr>
          </a:p>
          <a:p>
            <a:pPr algn="just">
              <a:spcBef>
                <a:spcPct val="0"/>
              </a:spcBef>
              <a:buClrTx/>
              <a:buSzTx/>
              <a:buFontTx/>
              <a:buNone/>
            </a:pPr>
            <a:r>
              <a:rPr lang="en-US" altLang="zh-CN">
                <a:solidFill>
                  <a:srgbClr val="000000"/>
                </a:solidFill>
              </a:rPr>
              <a:t>	ps=&amp;s1;</a:t>
            </a:r>
            <a:endParaRPr lang="en-US" altLang="zh-CN">
              <a:solidFill>
                <a:srgbClr val="000000"/>
              </a:solidFill>
            </a:endParaRPr>
          </a:p>
          <a:p>
            <a:pPr algn="just">
              <a:spcBef>
                <a:spcPct val="0"/>
              </a:spcBef>
              <a:buClrTx/>
              <a:buSzTx/>
              <a:buFontTx/>
              <a:buNone/>
            </a:pPr>
            <a:r>
              <a:rPr lang="en-US" altLang="zh-CN">
                <a:solidFill>
                  <a:srgbClr val="000000"/>
                </a:solidFill>
              </a:rPr>
              <a:t>	ps-&gt;print();</a:t>
            </a:r>
            <a:endParaRPr lang="en-US" altLang="zh-CN">
              <a:solidFill>
                <a:srgbClr val="000000"/>
              </a:solidFill>
            </a:endParaRPr>
          </a:p>
          <a:p>
            <a:pPr algn="just">
              <a:spcBef>
                <a:spcPct val="0"/>
              </a:spcBef>
              <a:buClrTx/>
              <a:buSzTx/>
              <a:buFontTx/>
              <a:buNone/>
            </a:pPr>
            <a:r>
              <a:rPr lang="en-US" altLang="zh-CN">
                <a:solidFill>
                  <a:srgbClr val="000000"/>
                </a:solidFill>
              </a:rPr>
              <a:t>	ps=&amp;s2;</a:t>
            </a:r>
            <a:endParaRPr lang="en-US" altLang="zh-CN">
              <a:solidFill>
                <a:srgbClr val="000000"/>
              </a:solidFill>
            </a:endParaRPr>
          </a:p>
          <a:p>
            <a:pPr algn="just">
              <a:spcBef>
                <a:spcPct val="0"/>
              </a:spcBef>
              <a:buClrTx/>
              <a:buSzTx/>
              <a:buFontTx/>
              <a:buNone/>
            </a:pPr>
            <a:r>
              <a:rPr lang="en-US" altLang="zh-CN">
                <a:solidFill>
                  <a:srgbClr val="000000"/>
                </a:solidFill>
              </a:rPr>
              <a:t>	</a:t>
            </a:r>
            <a:r>
              <a:rPr lang="en-US" altLang="zh-CN" sz="2800">
                <a:solidFill>
                  <a:srgbClr val="000000"/>
                </a:solidFill>
              </a:rPr>
              <a:t>ps-&gt;print();</a:t>
            </a:r>
            <a:endParaRPr lang="en-US" altLang="zh-CN" sz="2800">
              <a:solidFill>
                <a:srgbClr val="000000"/>
              </a:solidFill>
            </a:endParaRPr>
          </a:p>
          <a:p>
            <a:pPr algn="just">
              <a:spcBef>
                <a:spcPct val="0"/>
              </a:spcBef>
              <a:buClrTx/>
              <a:buSzTx/>
              <a:buFontTx/>
              <a:buNone/>
            </a:pPr>
            <a:endParaRPr lang="en-US" altLang="zh-CN">
              <a:solidFill>
                <a:srgbClr val="000000"/>
              </a:solidFill>
            </a:endParaRPr>
          </a:p>
          <a:p>
            <a:pPr algn="just">
              <a:spcBef>
                <a:spcPct val="0"/>
              </a:spcBef>
              <a:buClrTx/>
              <a:buSzTx/>
              <a:buFontTx/>
              <a:buNone/>
            </a:pPr>
            <a:r>
              <a:rPr lang="en-US" altLang="zh-CN">
                <a:solidFill>
                  <a:srgbClr val="000000"/>
                </a:solidFill>
              </a:rPr>
              <a:t>//</a:t>
            </a:r>
            <a:r>
              <a:rPr lang="zh-CN" altLang="en-US">
                <a:solidFill>
                  <a:srgbClr val="000000"/>
                </a:solidFill>
              </a:rPr>
              <a:t>希望调用对象</a:t>
            </a:r>
            <a:r>
              <a:rPr lang="en-US" altLang="zh-CN">
                <a:solidFill>
                  <a:srgbClr val="000000"/>
                </a:solidFill>
              </a:rPr>
              <a:t>s2</a:t>
            </a:r>
            <a:r>
              <a:rPr lang="zh-CN" altLang="en-US">
                <a:solidFill>
                  <a:srgbClr val="000000"/>
                </a:solidFill>
              </a:rPr>
              <a:t>的输出函数，但调用的却是对象</a:t>
            </a:r>
            <a:r>
              <a:rPr lang="en-US" altLang="zh-CN">
                <a:solidFill>
                  <a:srgbClr val="000000"/>
                </a:solidFill>
              </a:rPr>
              <a:t>s1</a:t>
            </a:r>
            <a:r>
              <a:rPr lang="zh-CN" altLang="en-US">
                <a:solidFill>
                  <a:srgbClr val="000000"/>
                </a:solidFill>
              </a:rPr>
              <a:t>的输出函数</a:t>
            </a:r>
            <a:endParaRPr lang="zh-CN" altLang="en-US">
              <a:solidFill>
                <a:srgbClr val="000000"/>
              </a:solidFill>
            </a:endParaRPr>
          </a:p>
          <a:p>
            <a:pPr algn="just">
              <a:spcBef>
                <a:spcPct val="0"/>
              </a:spcBef>
              <a:buClrTx/>
              <a:buSzTx/>
              <a:buFontTx/>
              <a:buNone/>
            </a:pPr>
            <a:r>
              <a:rPr lang="zh-CN" altLang="en-US">
                <a:solidFill>
                  <a:srgbClr val="000000"/>
                </a:solidFill>
              </a:rPr>
              <a:t>          </a:t>
            </a:r>
            <a:r>
              <a:rPr lang="en-US" altLang="zh-CN">
                <a:solidFill>
                  <a:srgbClr val="000000"/>
                </a:solidFill>
              </a:rPr>
              <a:t>cin.ignore();</a:t>
            </a:r>
            <a:endParaRPr lang="en-US" altLang="zh-CN">
              <a:solidFill>
                <a:srgbClr val="000000"/>
              </a:solidFill>
            </a:endParaRPr>
          </a:p>
          <a:p>
            <a:pPr algn="just">
              <a:spcBef>
                <a:spcPct val="0"/>
              </a:spcBef>
              <a:buClrTx/>
              <a:buSzTx/>
              <a:buFontTx/>
              <a:buNone/>
            </a:pPr>
            <a:r>
              <a:rPr lang="en-US" altLang="zh-CN">
                <a:solidFill>
                  <a:srgbClr val="000000"/>
                </a:solidFill>
              </a:rPr>
              <a:t>          return 0;</a:t>
            </a:r>
            <a:endParaRPr lang="en-US" altLang="zh-CN">
              <a:solidFill>
                <a:srgbClr val="000000"/>
              </a:solidFill>
            </a:endParaRPr>
          </a:p>
          <a:p>
            <a:pPr algn="just">
              <a:spcBef>
                <a:spcPct val="0"/>
              </a:spcBef>
              <a:buClrTx/>
              <a:buSzTx/>
              <a:buFontTx/>
              <a:buNone/>
            </a:pPr>
            <a:r>
              <a:rPr lang="en-US" altLang="zh-CN">
                <a:solidFill>
                  <a:srgbClr val="000000"/>
                </a:solidFill>
              </a:rPr>
              <a:t>}</a:t>
            </a:r>
            <a:endParaRPr lang="en-US" altLang="zh-CN">
              <a:solidFill>
                <a:srgbClr val="000000"/>
              </a:solidFill>
            </a:endParaRPr>
          </a:p>
        </p:txBody>
      </p:sp>
      <p:sp>
        <p:nvSpPr>
          <p:cNvPr id="89091" name="Text Box 3"/>
          <p:cNvSpPr txBox="1">
            <a:spLocks noChangeArrowheads="1"/>
          </p:cNvSpPr>
          <p:nvPr/>
        </p:nvSpPr>
        <p:spPr bwMode="auto">
          <a:xfrm>
            <a:off x="6372225" y="1419225"/>
            <a:ext cx="2663825" cy="2225675"/>
          </a:xfrm>
          <a:prstGeom prst="rect">
            <a:avLst/>
          </a:prstGeom>
          <a:solidFill>
            <a:srgbClr val="000000"/>
          </a:solidFill>
          <a:ln>
            <a:noFill/>
          </a:ln>
        </p:spPr>
        <p:txBody>
          <a:bodyP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ct val="50000"/>
              </a:spcBef>
              <a:buClrTx/>
              <a:buSzTx/>
              <a:buFontTx/>
              <a:buNone/>
            </a:pPr>
            <a:r>
              <a:rPr lang="en-US" altLang="zh-CN"/>
              <a:t>A student</a:t>
            </a:r>
            <a:endParaRPr lang="en-US" altLang="zh-CN"/>
          </a:p>
          <a:p>
            <a:pPr algn="l" eaLnBrk="1" hangingPunct="1">
              <a:spcBef>
                <a:spcPct val="50000"/>
              </a:spcBef>
              <a:buClrTx/>
              <a:buSzTx/>
              <a:buFontTx/>
              <a:buNone/>
            </a:pPr>
            <a:r>
              <a:rPr lang="en-US" altLang="zh-CN"/>
              <a:t>A graduate student</a:t>
            </a:r>
            <a:endParaRPr lang="en-US" altLang="zh-CN"/>
          </a:p>
          <a:p>
            <a:pPr algn="l" eaLnBrk="1" hangingPunct="1">
              <a:spcBef>
                <a:spcPct val="50000"/>
              </a:spcBef>
              <a:buClrTx/>
              <a:buSzTx/>
              <a:buFontTx/>
              <a:buNone/>
            </a:pPr>
            <a:r>
              <a:rPr lang="en-US" altLang="zh-CN"/>
              <a:t>A student</a:t>
            </a:r>
            <a:endParaRPr lang="en-US" altLang="zh-CN"/>
          </a:p>
          <a:p>
            <a:pPr algn="l" eaLnBrk="1" hangingPunct="1">
              <a:spcBef>
                <a:spcPct val="50000"/>
              </a:spcBef>
              <a:buClrTx/>
              <a:buSzTx/>
              <a:buFontTx/>
              <a:buNone/>
            </a:pPr>
            <a:r>
              <a:rPr lang="en-US" altLang="zh-CN"/>
              <a:t>A student</a:t>
            </a:r>
            <a:endParaRPr lang="en-US" altLang="zh-CN"/>
          </a:p>
          <a:p>
            <a:pPr algn="l" eaLnBrk="1" hangingPunct="1">
              <a:spcBef>
                <a:spcPct val="50000"/>
              </a:spcBef>
              <a:buClrTx/>
              <a:buSzTx/>
              <a:buFontTx/>
              <a:buNone/>
            </a:pPr>
            <a:r>
              <a:rPr lang="en-US" altLang="zh-CN"/>
              <a:t>A student</a:t>
            </a:r>
            <a:endParaRPr lang="en-US" altLang="zh-CN"/>
          </a:p>
        </p:txBody>
      </p:sp>
      <p:sp>
        <p:nvSpPr>
          <p:cNvPr id="17412" name="Rectangle 4"/>
          <p:cNvSpPr>
            <a:spLocks noChangeArrowheads="1"/>
          </p:cNvSpPr>
          <p:nvPr/>
        </p:nvSpPr>
        <p:spPr bwMode="auto">
          <a:xfrm>
            <a:off x="900113" y="3333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8.1.1 </a:t>
            </a:r>
            <a:r>
              <a:rPr lang="zh-CN" altLang="en-US" sz="4000" i="1" dirty="0">
                <a:solidFill>
                  <a:srgbClr val="FFFFFF"/>
                </a:solidFill>
                <a:effectLst>
                  <a:outerShdw blurRad="38100" dist="38100" dir="2700000" algn="tl">
                    <a:srgbClr val="000000"/>
                  </a:outerShdw>
                </a:effectLst>
                <a:ea typeface="隶书" panose="02010509060101010101" pitchFamily="49" charset="-122"/>
              </a:rPr>
              <a:t>多态的类型</a:t>
            </a:r>
            <a:endParaRPr lang="zh-CN" altLang="en-US" sz="3600" dirty="0">
              <a:solidFill>
                <a:srgbClr val="000099"/>
              </a:solidFill>
              <a:ea typeface="隶书" panose="02010509060101010101" pitchFamily="49" charset="-122"/>
            </a:endParaRPr>
          </a:p>
          <a:p>
            <a:pPr lvl="0" eaLnBrk="1" hangingPunct="1"/>
            <a:r>
              <a:rPr lang="zh-CN" altLang="en-US" sz="3200" dirty="0">
                <a:solidFill>
                  <a:srgbClr val="FFFF00"/>
                </a:solidFill>
                <a:ea typeface="隶书" panose="02010509060101010101" pitchFamily="49" charset="-122"/>
              </a:rPr>
              <a:t>（基类指针指向派生类对象）</a:t>
            </a:r>
            <a:endParaRPr lang="zh-CN" altLang="en-US" sz="3200" dirty="0">
              <a:solidFill>
                <a:srgbClr val="FFFF00"/>
              </a:solidFill>
              <a:ea typeface="隶书" panose="02010509060101010101" pitchFamily="49" charset="-122"/>
            </a:endParaRPr>
          </a:p>
        </p:txBody>
      </p:sp>
      <p:sp>
        <p:nvSpPr>
          <p:cNvPr id="89093" name="AutoShape 5"/>
          <p:cNvSpPr>
            <a:spLocks noChangeArrowheads="1"/>
          </p:cNvSpPr>
          <p:nvPr/>
        </p:nvSpPr>
        <p:spPr bwMode="auto">
          <a:xfrm>
            <a:off x="4572000" y="3716338"/>
            <a:ext cx="4321175" cy="1800225"/>
          </a:xfrm>
          <a:prstGeom prst="wedgeRoundRectCallout">
            <a:avLst>
              <a:gd name="adj1" fmla="val -66056"/>
              <a:gd name="adj2" fmla="val 29806"/>
              <a:gd name="adj3" fmla="val 16667"/>
            </a:avLst>
          </a:prstGeom>
          <a:solidFill>
            <a:srgbClr val="000099"/>
          </a:solidFill>
          <a:ln w="9525" algn="ctr">
            <a:solidFill>
              <a:schemeClr val="tx1"/>
            </a:solidFill>
            <a:miter lim="800000"/>
          </a:ln>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ct val="0"/>
              </a:spcBef>
              <a:buClrTx/>
              <a:buSzTx/>
              <a:buFontTx/>
              <a:buNone/>
            </a:pPr>
            <a:r>
              <a:rPr lang="zh-CN" altLang="en-US" dirty="0"/>
              <a:t>基类指针可以指向派生类对象，但仍然调用的是基类成员函数：但是</a:t>
            </a:r>
            <a:r>
              <a:rPr lang="zh-CN" altLang="en-US" dirty="0" smtClean="0"/>
              <a:t>由于编译时多态的</a:t>
            </a:r>
            <a:r>
              <a:rPr lang="zh-CN" altLang="en-US" dirty="0"/>
              <a:t>原因，编译器不知道指针指向的对象已经重写了该成员函数</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anim calcmode="lin" valueType="num">
                                      <p:cBhvr additive="base">
                                        <p:cTn id="7" dur="500" fill="hold"/>
                                        <p:tgtEl>
                                          <p:spTgt spid="89091"/>
                                        </p:tgtEl>
                                        <p:attrNameLst>
                                          <p:attrName>ppt_x</p:attrName>
                                        </p:attrNameLst>
                                      </p:cBhvr>
                                      <p:tavLst>
                                        <p:tav tm="0">
                                          <p:val>
                                            <p:strVal val="1+#ppt_w/2"/>
                                          </p:val>
                                        </p:tav>
                                        <p:tav tm="100000">
                                          <p:val>
                                            <p:strVal val="#ppt_x"/>
                                          </p:val>
                                        </p:tav>
                                      </p:tavLst>
                                    </p:anim>
                                    <p:anim calcmode="lin" valueType="num">
                                      <p:cBhvr additive="base">
                                        <p:cTn id="8" dur="500" fill="hold"/>
                                        <p:tgtEl>
                                          <p:spTgt spid="890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3"/>
                                        </p:tgtEl>
                                        <p:attrNameLst>
                                          <p:attrName>style.visibility</p:attrName>
                                        </p:attrNameLst>
                                      </p:cBhvr>
                                      <p:to>
                                        <p:strVal val="visible"/>
                                      </p:to>
                                    </p:set>
                                    <p:anim calcmode="lin" valueType="num">
                                      <p:cBhvr additive="base">
                                        <p:cTn id="13" dur="500" fill="hold"/>
                                        <p:tgtEl>
                                          <p:spTgt spid="89093"/>
                                        </p:tgtEl>
                                        <p:attrNameLst>
                                          <p:attrName>ppt_x</p:attrName>
                                        </p:attrNameLst>
                                      </p:cBhvr>
                                      <p:tavLst>
                                        <p:tav tm="0">
                                          <p:val>
                                            <p:strVal val="0-#ppt_w/2"/>
                                          </p:val>
                                        </p:tav>
                                        <p:tav tm="100000">
                                          <p:val>
                                            <p:strVal val="#ppt_x"/>
                                          </p:val>
                                        </p:tav>
                                      </p:tavLst>
                                    </p:anim>
                                    <p:anim calcmode="lin" valueType="num">
                                      <p:cBhvr additive="base">
                                        <p:cTn id="14" dur="500" fill="hold"/>
                                        <p:tgtEl>
                                          <p:spTgt spid="890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animBg="1" autoUpdateAnimBg="0"/>
      <p:bldP spid="8909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971550" y="1773238"/>
            <a:ext cx="7775575" cy="5100637"/>
          </a:xfrm>
          <a:prstGeom prst="rect">
            <a:avLst/>
          </a:prstGeom>
          <a:solidFill>
            <a:schemeClr val="tx1"/>
          </a:solidFill>
          <a:ln w="9525">
            <a:solidFill>
              <a:schemeClr val="tx1"/>
            </a:solidFill>
            <a:miter lim="800000"/>
          </a:ln>
        </p:spPr>
        <p:txBody>
          <a:bodyPr>
            <a:spAutoFit/>
          </a:bodyPr>
          <a:lstStyle>
            <a:lvl1pPr indent="26670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just" eaLnBrk="1" hangingPunct="1">
              <a:spcBef>
                <a:spcPct val="0"/>
              </a:spcBef>
              <a:buClrTx/>
              <a:buSzTx/>
              <a:buFontTx/>
              <a:buNone/>
            </a:pPr>
            <a:r>
              <a:rPr lang="en-US" altLang="zh-CN" dirty="0" err="1">
                <a:solidFill>
                  <a:srgbClr val="000000"/>
                </a:solidFill>
              </a:rPr>
              <a:t>int</a:t>
            </a:r>
            <a:r>
              <a:rPr lang="en-US" altLang="zh-CN" dirty="0">
                <a:solidFill>
                  <a:srgbClr val="000000"/>
                </a:solidFill>
              </a:rPr>
              <a:t> main()</a:t>
            </a:r>
            <a:endParaRPr lang="en-US" altLang="zh-CN" dirty="0">
              <a:solidFill>
                <a:srgbClr val="000000"/>
              </a:solidFill>
              <a:cs typeface="Times New Roman" panose="02020603050405020304" pitchFamily="18" charset="0"/>
            </a:endParaRPr>
          </a:p>
          <a:p>
            <a:pPr algn="just">
              <a:spcBef>
                <a:spcPct val="0"/>
              </a:spcBef>
              <a:buClrTx/>
              <a:buSzTx/>
              <a:buFontTx/>
              <a:buNone/>
            </a:pPr>
            <a:r>
              <a:rPr lang="en-US" altLang="zh-CN" dirty="0">
                <a:solidFill>
                  <a:srgbClr val="000000"/>
                </a:solidFill>
              </a:rPr>
              <a:t>{</a:t>
            </a:r>
            <a:endParaRPr lang="en-US" altLang="zh-CN" dirty="0">
              <a:solidFill>
                <a:srgbClr val="000000"/>
              </a:solidFill>
            </a:endParaRPr>
          </a:p>
          <a:p>
            <a:pPr algn="just">
              <a:spcBef>
                <a:spcPct val="0"/>
              </a:spcBef>
              <a:buClrTx/>
              <a:buSzTx/>
              <a:buFontTx/>
              <a:buNone/>
            </a:pPr>
            <a:r>
              <a:rPr lang="en-US" altLang="zh-CN" dirty="0">
                <a:solidFill>
                  <a:srgbClr val="000000"/>
                </a:solidFill>
              </a:rPr>
              <a:t>	Student s1,*</a:t>
            </a:r>
            <a:r>
              <a:rPr lang="en-US" altLang="zh-CN" dirty="0" err="1">
                <a:solidFill>
                  <a:srgbClr val="000000"/>
                </a:solidFill>
              </a:rPr>
              <a:t>ps</a:t>
            </a:r>
            <a:r>
              <a:rPr lang="en-US" altLang="zh-CN" dirty="0">
                <a:solidFill>
                  <a:srgbClr val="000000"/>
                </a:solidFill>
              </a:rPr>
              <a:t>;</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GStudent</a:t>
            </a:r>
            <a:r>
              <a:rPr lang="en-US" altLang="zh-CN" dirty="0">
                <a:solidFill>
                  <a:srgbClr val="000000"/>
                </a:solidFill>
              </a:rPr>
              <a:t> s2;</a:t>
            </a:r>
            <a:endParaRPr lang="en-US" altLang="zh-CN" dirty="0">
              <a:solidFill>
                <a:srgbClr val="000000"/>
              </a:solidFill>
            </a:endParaRPr>
          </a:p>
          <a:p>
            <a:pPr algn="just">
              <a:spcBef>
                <a:spcPct val="0"/>
              </a:spcBef>
              <a:buClrTx/>
              <a:buSzTx/>
              <a:buFontTx/>
              <a:buNone/>
            </a:pPr>
            <a:r>
              <a:rPr lang="en-US" altLang="zh-CN" dirty="0">
                <a:solidFill>
                  <a:srgbClr val="000000"/>
                </a:solidFill>
              </a:rPr>
              <a:t>	s1.print();</a:t>
            </a:r>
            <a:endParaRPr lang="en-US" altLang="zh-CN" dirty="0">
              <a:solidFill>
                <a:srgbClr val="000000"/>
              </a:solidFill>
            </a:endParaRPr>
          </a:p>
          <a:p>
            <a:pPr algn="just">
              <a:spcBef>
                <a:spcPct val="0"/>
              </a:spcBef>
              <a:buClrTx/>
              <a:buSzTx/>
              <a:buFontTx/>
              <a:buNone/>
            </a:pPr>
            <a:r>
              <a:rPr lang="en-US" altLang="zh-CN" dirty="0">
                <a:solidFill>
                  <a:srgbClr val="000000"/>
                </a:solidFill>
              </a:rPr>
              <a:t>	s2.print();</a:t>
            </a:r>
            <a:endParaRPr lang="en-US" altLang="zh-CN" dirty="0">
              <a:solidFill>
                <a:srgbClr val="000000"/>
              </a:solidFill>
            </a:endParaRPr>
          </a:p>
          <a:p>
            <a:pPr algn="just">
              <a:spcBef>
                <a:spcPct val="0"/>
              </a:spcBef>
              <a:buClrTx/>
              <a:buSzTx/>
              <a:buFontTx/>
              <a:buNone/>
            </a:pPr>
            <a:r>
              <a:rPr lang="en-US" altLang="zh-CN" dirty="0">
                <a:solidFill>
                  <a:srgbClr val="000000"/>
                </a:solidFill>
              </a:rPr>
              <a:t>	s2.Student::print();</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ps</a:t>
            </a:r>
            <a:r>
              <a:rPr lang="en-US" altLang="zh-CN" dirty="0">
                <a:solidFill>
                  <a:srgbClr val="000000"/>
                </a:solidFill>
              </a:rPr>
              <a:t>=&amp;s1;</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ps</a:t>
            </a:r>
            <a:r>
              <a:rPr lang="en-US" altLang="zh-CN" dirty="0">
                <a:solidFill>
                  <a:srgbClr val="000000"/>
                </a:solidFill>
              </a:rPr>
              <a:t>-&gt;print();</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dirty="0" err="1">
                <a:solidFill>
                  <a:srgbClr val="000000"/>
                </a:solidFill>
              </a:rPr>
              <a:t>ps</a:t>
            </a:r>
            <a:r>
              <a:rPr lang="en-US" altLang="zh-CN" dirty="0">
                <a:solidFill>
                  <a:srgbClr val="000000"/>
                </a:solidFill>
              </a:rPr>
              <a:t>=&amp;s2;</a:t>
            </a:r>
            <a:endParaRPr lang="en-US" altLang="zh-CN" dirty="0">
              <a:solidFill>
                <a:srgbClr val="000000"/>
              </a:solidFill>
            </a:endParaRPr>
          </a:p>
          <a:p>
            <a:pPr algn="just">
              <a:spcBef>
                <a:spcPct val="0"/>
              </a:spcBef>
              <a:buClrTx/>
              <a:buSzTx/>
              <a:buFontTx/>
              <a:buNone/>
            </a:pPr>
            <a:r>
              <a:rPr lang="en-US" altLang="zh-CN" dirty="0">
                <a:solidFill>
                  <a:srgbClr val="000000"/>
                </a:solidFill>
              </a:rPr>
              <a:t>	</a:t>
            </a:r>
            <a:r>
              <a:rPr lang="en-US" altLang="zh-CN" sz="2800" dirty="0" err="1">
                <a:solidFill>
                  <a:srgbClr val="FF0000"/>
                </a:solidFill>
              </a:rPr>
              <a:t>ps</a:t>
            </a:r>
            <a:r>
              <a:rPr lang="en-US" altLang="zh-CN" sz="2800" dirty="0">
                <a:solidFill>
                  <a:srgbClr val="FF0000"/>
                </a:solidFill>
              </a:rPr>
              <a:t>-&gt;print();</a:t>
            </a:r>
            <a:endParaRPr lang="en-US" altLang="zh-CN" sz="2800" dirty="0">
              <a:solidFill>
                <a:srgbClr val="FF0000"/>
              </a:solidFill>
            </a:endParaRPr>
          </a:p>
          <a:p>
            <a:pPr algn="just">
              <a:spcBef>
                <a:spcPct val="0"/>
              </a:spcBef>
              <a:buClrTx/>
              <a:buSzTx/>
              <a:buFontTx/>
              <a:buNone/>
            </a:pPr>
            <a:endParaRPr lang="en-US" altLang="zh-CN" dirty="0">
              <a:solidFill>
                <a:srgbClr val="000000"/>
              </a:solidFill>
            </a:endParaRPr>
          </a:p>
          <a:p>
            <a:pPr algn="just">
              <a:spcBef>
                <a:spcPct val="0"/>
              </a:spcBef>
              <a:buClrTx/>
              <a:buSzTx/>
              <a:buFontTx/>
              <a:buNone/>
            </a:pPr>
            <a:r>
              <a:rPr lang="en-US" altLang="zh-CN" dirty="0">
                <a:solidFill>
                  <a:srgbClr val="000000"/>
                </a:solidFill>
              </a:rPr>
              <a:t>//</a:t>
            </a:r>
            <a:r>
              <a:rPr lang="zh-CN" altLang="en-US" dirty="0">
                <a:solidFill>
                  <a:srgbClr val="000000"/>
                </a:solidFill>
              </a:rPr>
              <a:t>希望调用对象</a:t>
            </a:r>
            <a:r>
              <a:rPr lang="en-US" altLang="zh-CN" dirty="0">
                <a:solidFill>
                  <a:srgbClr val="000000"/>
                </a:solidFill>
              </a:rPr>
              <a:t>s2</a:t>
            </a:r>
            <a:r>
              <a:rPr lang="zh-CN" altLang="en-US" dirty="0">
                <a:solidFill>
                  <a:srgbClr val="000000"/>
                </a:solidFill>
              </a:rPr>
              <a:t>的输出函数，但调用的却是对象</a:t>
            </a:r>
            <a:r>
              <a:rPr lang="en-US" altLang="zh-CN" dirty="0">
                <a:solidFill>
                  <a:srgbClr val="000000"/>
                </a:solidFill>
              </a:rPr>
              <a:t>s1</a:t>
            </a:r>
            <a:r>
              <a:rPr lang="zh-CN" altLang="en-US" dirty="0">
                <a:solidFill>
                  <a:srgbClr val="000000"/>
                </a:solidFill>
              </a:rPr>
              <a:t>的输出函数</a:t>
            </a:r>
            <a:endParaRPr lang="zh-CN" altLang="en-US" dirty="0">
              <a:solidFill>
                <a:srgbClr val="000000"/>
              </a:solidFill>
            </a:endParaRPr>
          </a:p>
          <a:p>
            <a:pPr algn="just">
              <a:spcBef>
                <a:spcPct val="0"/>
              </a:spcBef>
              <a:buClrTx/>
              <a:buSzTx/>
              <a:buFontTx/>
              <a:buNone/>
            </a:pPr>
            <a:r>
              <a:rPr lang="zh-CN" altLang="en-US" dirty="0">
                <a:solidFill>
                  <a:srgbClr val="000000"/>
                </a:solidFill>
              </a:rPr>
              <a:t>          </a:t>
            </a:r>
            <a:r>
              <a:rPr lang="en-US" altLang="zh-CN" dirty="0" err="1">
                <a:solidFill>
                  <a:srgbClr val="000000"/>
                </a:solidFill>
              </a:rPr>
              <a:t>cin.ignore</a:t>
            </a:r>
            <a:r>
              <a:rPr lang="en-US" altLang="zh-CN" dirty="0">
                <a:solidFill>
                  <a:srgbClr val="000000"/>
                </a:solidFill>
              </a:rPr>
              <a:t>();</a:t>
            </a:r>
            <a:endParaRPr lang="en-US" altLang="zh-CN" dirty="0">
              <a:solidFill>
                <a:srgbClr val="000000"/>
              </a:solidFill>
            </a:endParaRPr>
          </a:p>
          <a:p>
            <a:pPr algn="just">
              <a:spcBef>
                <a:spcPct val="0"/>
              </a:spcBef>
              <a:buClrTx/>
              <a:buSzTx/>
              <a:buFontTx/>
              <a:buNone/>
            </a:pPr>
            <a:r>
              <a:rPr lang="en-US" altLang="zh-CN" dirty="0">
                <a:solidFill>
                  <a:srgbClr val="000000"/>
                </a:solidFill>
              </a:rPr>
              <a:t>          return 0;</a:t>
            </a:r>
            <a:endParaRPr lang="en-US" altLang="zh-CN" dirty="0">
              <a:solidFill>
                <a:srgbClr val="000000"/>
              </a:solidFill>
            </a:endParaRPr>
          </a:p>
          <a:p>
            <a:pPr algn="just">
              <a:spcBef>
                <a:spcPct val="0"/>
              </a:spcBef>
              <a:buClrTx/>
              <a:buSzTx/>
              <a:buFontTx/>
              <a:buNone/>
            </a:pPr>
            <a:r>
              <a:rPr lang="en-US" altLang="zh-CN" dirty="0">
                <a:solidFill>
                  <a:srgbClr val="000000"/>
                </a:solidFill>
              </a:rPr>
              <a:t>}</a:t>
            </a:r>
            <a:endParaRPr lang="en-US" altLang="zh-CN" dirty="0">
              <a:solidFill>
                <a:srgbClr val="000000"/>
              </a:solidFill>
            </a:endParaRPr>
          </a:p>
        </p:txBody>
      </p:sp>
      <p:sp>
        <p:nvSpPr>
          <p:cNvPr id="18435" name="Rectangle 4"/>
          <p:cNvSpPr>
            <a:spLocks noChangeArrowheads="1"/>
          </p:cNvSpPr>
          <p:nvPr/>
        </p:nvSpPr>
        <p:spPr bwMode="auto">
          <a:xfrm>
            <a:off x="900113" y="3333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8.1.1 </a:t>
            </a:r>
            <a:r>
              <a:rPr lang="zh-CN" altLang="en-US" sz="4000" i="1" dirty="0">
                <a:solidFill>
                  <a:srgbClr val="FFFFFF"/>
                </a:solidFill>
                <a:effectLst>
                  <a:outerShdw blurRad="38100" dist="38100" dir="2700000" algn="tl">
                    <a:srgbClr val="000000"/>
                  </a:outerShdw>
                </a:effectLst>
                <a:ea typeface="隶书" panose="02010509060101010101" pitchFamily="49" charset="-122"/>
              </a:rPr>
              <a:t>多态的类型</a:t>
            </a:r>
            <a:endParaRPr lang="zh-CN" altLang="en-US" sz="3600" dirty="0">
              <a:solidFill>
                <a:srgbClr val="000099"/>
              </a:solidFill>
              <a:ea typeface="隶书" panose="02010509060101010101" pitchFamily="49" charset="-122"/>
            </a:endParaRPr>
          </a:p>
          <a:p>
            <a:pPr lvl="0" eaLnBrk="1" hangingPunct="1"/>
            <a:r>
              <a:rPr lang="zh-CN" altLang="en-US" sz="3200" dirty="0">
                <a:solidFill>
                  <a:srgbClr val="FFFF00"/>
                </a:solidFill>
                <a:ea typeface="隶书" panose="02010509060101010101" pitchFamily="49" charset="-122"/>
              </a:rPr>
              <a:t>（基类指针指向派生类对象）</a:t>
            </a:r>
            <a:endParaRPr lang="zh-CN" altLang="en-US" sz="3200" dirty="0">
              <a:solidFill>
                <a:srgbClr val="FFFF00"/>
              </a:solidFill>
              <a:ea typeface="隶书" panose="02010509060101010101" pitchFamily="49" charset="-122"/>
            </a:endParaRPr>
          </a:p>
        </p:txBody>
      </p:sp>
      <p:sp>
        <p:nvSpPr>
          <p:cNvPr id="90117" name="AutoShape 5"/>
          <p:cNvSpPr>
            <a:spLocks noChangeArrowheads="1"/>
          </p:cNvSpPr>
          <p:nvPr/>
        </p:nvSpPr>
        <p:spPr bwMode="auto">
          <a:xfrm>
            <a:off x="4572000" y="2636838"/>
            <a:ext cx="4321175" cy="2879725"/>
          </a:xfrm>
          <a:prstGeom prst="wedgeRoundRectCallout">
            <a:avLst>
              <a:gd name="adj1" fmla="val -66056"/>
              <a:gd name="adj2" fmla="val 37375"/>
              <a:gd name="adj3" fmla="val 16667"/>
            </a:avLst>
          </a:prstGeom>
          <a:solidFill>
            <a:srgbClr val="000099"/>
          </a:solidFill>
          <a:ln w="9525" algn="ctr">
            <a:solidFill>
              <a:schemeClr val="tx1"/>
            </a:solidFill>
            <a:miter lim="800000"/>
          </a:ln>
        </p:spPr>
        <p:txBody>
          <a:bodyPr anchor="ct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0"/>
              </a:spcBef>
              <a:buClrTx/>
              <a:buSzTx/>
              <a:buFontTx/>
              <a:buNone/>
            </a:pPr>
            <a:r>
              <a:rPr lang="zh-CN" altLang="en-US" sz="2400" dirty="0">
                <a:solidFill>
                  <a:srgbClr val="FFFF00"/>
                </a:solidFill>
              </a:rPr>
              <a:t>问题：如何实现通过一个基类指针调用派生类重写后的成员函数？</a:t>
            </a:r>
            <a:endParaRPr lang="zh-CN" altLang="en-US" sz="2400" dirty="0">
              <a:solidFill>
                <a:srgbClr val="FFFF00"/>
              </a:solidFill>
            </a:endParaRPr>
          </a:p>
          <a:p>
            <a:pPr algn="l" eaLnBrk="1" hangingPunct="1">
              <a:lnSpc>
                <a:spcPct val="120000"/>
              </a:lnSpc>
              <a:spcBef>
                <a:spcPct val="0"/>
              </a:spcBef>
              <a:buClrTx/>
              <a:buSzTx/>
              <a:buFontTx/>
              <a:buNone/>
            </a:pPr>
            <a:r>
              <a:rPr lang="zh-CN" altLang="en-US" sz="2400" dirty="0"/>
              <a:t>回答：必须通过</a:t>
            </a:r>
            <a:r>
              <a:rPr lang="zh-CN" altLang="en-US" sz="2400" dirty="0" smtClean="0"/>
              <a:t>动态时多态技术</a:t>
            </a:r>
            <a:r>
              <a:rPr lang="zh-CN" altLang="en-US" sz="2400" dirty="0"/>
              <a:t>，把派生类中要重写的函数声明为虚函数</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117"/>
                                        </p:tgtEl>
                                        <p:attrNameLst>
                                          <p:attrName>style.visibility</p:attrName>
                                        </p:attrNameLst>
                                      </p:cBhvr>
                                      <p:to>
                                        <p:strVal val="visible"/>
                                      </p:to>
                                    </p:set>
                                    <p:anim calcmode="lin" valueType="num">
                                      <p:cBhvr additive="base">
                                        <p:cTn id="7" dur="500" fill="hold"/>
                                        <p:tgtEl>
                                          <p:spTgt spid="90117"/>
                                        </p:tgtEl>
                                        <p:attrNameLst>
                                          <p:attrName>ppt_x</p:attrName>
                                        </p:attrNameLst>
                                      </p:cBhvr>
                                      <p:tavLst>
                                        <p:tav tm="0">
                                          <p:val>
                                            <p:strVal val="0-#ppt_w/2"/>
                                          </p:val>
                                        </p:tav>
                                        <p:tav tm="100000">
                                          <p:val>
                                            <p:strVal val="#ppt_x"/>
                                          </p:val>
                                        </p:tav>
                                      </p:tavLst>
                                    </p:anim>
                                    <p:anim calcmode="lin" valueType="num">
                                      <p:cBhvr additive="base">
                                        <p:cTn id="8" dur="500" fill="hold"/>
                                        <p:tgtEl>
                                          <p:spTgt spid="90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8.1.2 </a:t>
            </a:r>
            <a:r>
              <a:rPr lang="zh-CN" altLang="en-US" sz="4400" b="1">
                <a:latin typeface="Times New Roman" panose="02020603050405020304" pitchFamily="18" charset="0"/>
                <a:ea typeface="隶书" panose="02010509060101010101" pitchFamily="49" charset="-122"/>
              </a:rPr>
              <a:t>多态的实现</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28650" y="1825625"/>
            <a:ext cx="8119814" cy="4351338"/>
          </a:xfrm>
        </p:spPr>
        <p:txBody>
          <a:bodyPr/>
          <a:lstStyle/>
          <a:p>
            <a:pPr>
              <a:lnSpc>
                <a:spcPct val="150000"/>
              </a:lnSpc>
              <a:spcAft>
                <a:spcPct val="25000"/>
              </a:spcAft>
            </a:pPr>
            <a:r>
              <a:rPr lang="zh-CN" altLang="en-US" sz="2400" b="1" dirty="0" smtClean="0">
                <a:ea typeface="华文楷体" panose="02010600040101010101" pitchFamily="2" charset="-122"/>
              </a:rPr>
              <a:t>绑定（又称联编）是</a:t>
            </a:r>
            <a:r>
              <a:rPr lang="zh-CN" altLang="en-US" sz="2400" b="1" dirty="0">
                <a:ea typeface="华文楷体" panose="02010600040101010101" pitchFamily="2" charset="-122"/>
              </a:rPr>
              <a:t>指将一个标识符名和一个存储地址联系在一起的过程</a:t>
            </a:r>
            <a:endParaRPr lang="en-US" altLang="zh-CN"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编译时的多态</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绑定工作在编译连接阶段完成的</a:t>
            </a:r>
            <a:r>
              <a:rPr lang="zh-CN" altLang="en-US" sz="2400" b="1" dirty="0" smtClean="0">
                <a:ea typeface="华文楷体" panose="02010600040101010101" pitchFamily="2" charset="-122"/>
              </a:rPr>
              <a:t>情况，称为</a:t>
            </a:r>
            <a:r>
              <a:rPr lang="zh-CN" altLang="en-US" sz="2400" b="1" dirty="0">
                <a:ea typeface="华文楷体" panose="02010600040101010101" pitchFamily="2" charset="-122"/>
              </a:rPr>
              <a:t>静态绑定。</a:t>
            </a:r>
            <a:endParaRPr lang="en-US" altLang="zh-CN"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运行时的多态</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绑定工作在程序运行阶段完成的</a:t>
            </a:r>
            <a:r>
              <a:rPr lang="zh-CN" altLang="en-US" sz="2400" b="1" dirty="0" smtClean="0">
                <a:ea typeface="华文楷体" panose="02010600040101010101" pitchFamily="2" charset="-122"/>
              </a:rPr>
              <a:t>情况，称为</a:t>
            </a:r>
            <a:r>
              <a:rPr lang="zh-CN" altLang="en-US" sz="2400" b="1" dirty="0">
                <a:ea typeface="华文楷体" panose="02010600040101010101" pitchFamily="2" charset="-122"/>
              </a:rPr>
              <a:t>动态</a:t>
            </a:r>
            <a:r>
              <a:rPr lang="zh-CN" altLang="en-US" sz="2400" b="1" dirty="0" smtClean="0">
                <a:ea typeface="华文楷体" panose="02010600040101010101" pitchFamily="2" charset="-122"/>
              </a:rPr>
              <a:t>绑定。</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2"/>
            </a:pPr>
            <a:r>
              <a:rPr lang="en-US" altLang="zh-CN" sz="6600" b="1" dirty="0" smtClean="0">
                <a:ea typeface="华文彩云" panose="02010800040101010101" pitchFamily="2" charset="-122"/>
              </a:rPr>
              <a:t>   </a:t>
            </a:r>
            <a:r>
              <a:rPr lang="zh-CN" altLang="en-US" sz="6600" b="1" dirty="0" smtClean="0">
                <a:ea typeface="华文彩云" panose="02010800040101010101" pitchFamily="2" charset="-122"/>
              </a:rPr>
              <a:t>运算符重载</a:t>
            </a:r>
            <a:endParaRPr lang="zh-CN" altLang="en-US" sz="6600" dirty="0">
              <a:solidFill>
                <a:srgbClr val="FFFF00"/>
              </a:solidFill>
            </a:endParaRPr>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8.2 </a:t>
            </a:r>
            <a:r>
              <a:rPr lang="zh-CN" altLang="en-US" sz="4400" b="1" dirty="0">
                <a:latin typeface="Times New Roman" panose="02020603050405020304" pitchFamily="18" charset="0"/>
                <a:ea typeface="隶书" panose="02010509060101010101" pitchFamily="49" charset="-122"/>
              </a:rPr>
              <a:t>运算符重载</a:t>
            </a:r>
            <a:endParaRPr lang="zh-CN" altLang="en-US" sz="4400" b="1" dirty="0">
              <a:latin typeface="Times New Roman" panose="02020603050405020304" pitchFamily="18" charset="0"/>
              <a:ea typeface="隶书" panose="02010509060101010101" pitchFamily="49" charset="-122"/>
            </a:endParaRPr>
          </a:p>
        </p:txBody>
      </p:sp>
      <p:sp>
        <p:nvSpPr>
          <p:cNvPr id="21507" name="内容占位符 2"/>
          <p:cNvSpPr>
            <a:spLocks noGrp="1"/>
          </p:cNvSpPr>
          <p:nvPr>
            <p:ph idx="1"/>
          </p:nvPr>
        </p:nvSpPr>
        <p:spPr/>
        <p:txBody>
          <a:bodyPr/>
          <a:lstStyle/>
          <a:p>
            <a:pPr marL="0" indent="0">
              <a:lnSpc>
                <a:spcPct val="150000"/>
              </a:lnSpc>
              <a:spcAft>
                <a:spcPct val="25000"/>
              </a:spcAft>
              <a:buNone/>
            </a:pPr>
            <a:r>
              <a:rPr lang="zh-CN" altLang="en-US" sz="2400" b="1" dirty="0">
                <a:ea typeface="华文楷体" panose="02010600040101010101" pitchFamily="2" charset="-122"/>
              </a:rPr>
              <a:t>思考：用“</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能够实现复数的加减运算吗？</a:t>
            </a:r>
            <a:endParaRPr lang="zh-CN" altLang="en-US" sz="2400" b="1" dirty="0">
              <a:ea typeface="华文楷体" panose="02010600040101010101" pitchFamily="2" charset="-122"/>
            </a:endParaRPr>
          </a:p>
          <a:p>
            <a:pPr marL="0" indent="0">
              <a:lnSpc>
                <a:spcPct val="150000"/>
              </a:lnSpc>
              <a:spcAft>
                <a:spcPct val="25000"/>
              </a:spcAft>
              <a:buNone/>
            </a:pPr>
            <a:r>
              <a:rPr lang="zh-CN" altLang="en-US" sz="2400" b="1" dirty="0">
                <a:ea typeface="华文楷体" panose="02010600040101010101" pitchFamily="2" charset="-122"/>
              </a:rPr>
              <a:t>实现复数加减运算的方法</a:t>
            </a:r>
            <a:br>
              <a:rPr lang="zh-CN" altLang="en-US" sz="2400" b="1" dirty="0">
                <a:ea typeface="华文楷体" panose="02010600040101010101" pitchFamily="2" charset="-122"/>
              </a:rPr>
            </a:br>
            <a:r>
              <a:rPr lang="zh-CN" altLang="en-US" sz="2400" b="1" dirty="0">
                <a:ea typeface="华文楷体" panose="02010600040101010101" pitchFamily="2" charset="-122"/>
              </a:rPr>
              <a:t>          </a:t>
            </a:r>
            <a:r>
              <a:rPr lang="en-US" altLang="zh-CN" sz="2400" b="1" dirty="0">
                <a:ea typeface="华文楷体" panose="02010600040101010101" pitchFamily="2" charset="-122"/>
              </a:rPr>
              <a:t>——</a:t>
            </a:r>
            <a:r>
              <a:rPr lang="zh-CN" altLang="en-US" sz="2400" b="1" dirty="0">
                <a:ea typeface="华文楷体" panose="02010600040101010101" pitchFamily="2" charset="-122"/>
              </a:rPr>
              <a:t>重载“</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运算符</a:t>
            </a:r>
            <a:endParaRPr lang="en-US" altLang="zh-CN" sz="2400" b="1" dirty="0">
              <a:ea typeface="华文楷体" panose="02010600040101010101" pitchFamily="2" charset="-122"/>
            </a:endParaRPr>
          </a:p>
          <a:p>
            <a:pPr marL="0" indent="0">
              <a:lnSpc>
                <a:spcPct val="150000"/>
              </a:lnSpc>
              <a:spcAft>
                <a:spcPct val="25000"/>
              </a:spcAft>
              <a:buNone/>
            </a:pPr>
            <a:r>
              <a:rPr lang="zh-CN" altLang="en-US" sz="2400" b="1" dirty="0">
                <a:solidFill>
                  <a:srgbClr val="FFFF00"/>
                </a:solidFill>
                <a:ea typeface="华文楷体" panose="02010600040101010101" pitchFamily="2" charset="-122"/>
              </a:rPr>
              <a:t>运算符重载是对已有的运算符赋予多重含义，使同一个运算符作用于不同类型的数据时导致不同的行为。</a:t>
            </a: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1258888" y="24638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8.2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运算符重载</a:t>
            </a:r>
            <a:endParaRPr kumimoji="0" lang="zh-CN" altLang="en-US" sz="3600" dirty="0">
              <a:solidFill>
                <a:schemeClr val="tx2"/>
              </a:solidFill>
              <a:ea typeface="隶书" panose="02010509060101010101" pitchFamily="49" charset="-122"/>
            </a:endParaRPr>
          </a:p>
        </p:txBody>
      </p:sp>
      <p:grpSp>
        <p:nvGrpSpPr>
          <p:cNvPr id="6147" name="Group 12"/>
          <p:cNvGrpSpPr/>
          <p:nvPr/>
        </p:nvGrpSpPr>
        <p:grpSpPr bwMode="auto">
          <a:xfrm>
            <a:off x="1403350" y="1630363"/>
            <a:ext cx="7272338" cy="1366837"/>
            <a:chOff x="884" y="981"/>
            <a:chExt cx="4581" cy="861"/>
          </a:xfrm>
        </p:grpSpPr>
        <p:sp>
          <p:nvSpPr>
            <p:cNvPr id="6154" name="Rectangle 5"/>
            <p:cNvSpPr>
              <a:spLocks noChangeArrowheads="1"/>
            </p:cNvSpPr>
            <p:nvPr/>
          </p:nvSpPr>
          <p:spPr bwMode="auto">
            <a:xfrm>
              <a:off x="884" y="981"/>
              <a:ext cx="4581" cy="317"/>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lnSpc>
                  <a:spcPct val="120000"/>
                </a:lnSpc>
                <a:spcBef>
                  <a:spcPct val="50000"/>
                </a:spcBef>
                <a:buClr>
                  <a:srgbClr val="000099"/>
                </a:buClr>
                <a:buSzPct val="65000"/>
              </a:pPr>
              <a:r>
                <a:rPr kumimoji="0" lang="zh-CN" altLang="en-US" sz="2400" dirty="0">
                  <a:solidFill>
                    <a:srgbClr val="FF0000"/>
                  </a:solidFill>
                </a:rPr>
                <a:t>运算符重载：重新解释运算符的含义</a:t>
              </a:r>
              <a:endParaRPr kumimoji="0" lang="zh-CN" altLang="en-US" sz="2400" dirty="0">
                <a:solidFill>
                  <a:srgbClr val="FF0000"/>
                </a:solidFill>
              </a:endParaRPr>
            </a:p>
          </p:txBody>
        </p:sp>
        <p:sp>
          <p:nvSpPr>
            <p:cNvPr id="6155" name="Rectangle 6"/>
            <p:cNvSpPr>
              <a:spLocks noChangeArrowheads="1"/>
            </p:cNvSpPr>
            <p:nvPr/>
          </p:nvSpPr>
          <p:spPr bwMode="auto">
            <a:xfrm>
              <a:off x="884" y="1298"/>
              <a:ext cx="4581" cy="544"/>
            </a:xfrm>
            <a:prstGeom prst="rect">
              <a:avLst/>
            </a:prstGeom>
            <a:solidFill>
              <a:schemeClr val="bg1"/>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Char char="u"/>
              </a:pPr>
              <a:r>
                <a:rPr kumimoji="0" lang="zh-CN" altLang="en-US" sz="2400"/>
                <a:t>运算符重载的需要：使得用户自定义的数据以一种更简洁的方式工作</a:t>
              </a:r>
              <a:endParaRPr kumimoji="0" lang="zh-CN" altLang="en-US" sz="2400"/>
            </a:p>
          </p:txBody>
        </p:sp>
      </p:grpSp>
      <p:grpSp>
        <p:nvGrpSpPr>
          <p:cNvPr id="6148" name="Group 13"/>
          <p:cNvGrpSpPr/>
          <p:nvPr/>
        </p:nvGrpSpPr>
        <p:grpSpPr bwMode="auto">
          <a:xfrm>
            <a:off x="1058863" y="4048125"/>
            <a:ext cx="7834312" cy="2044700"/>
            <a:chOff x="667" y="2423"/>
            <a:chExt cx="4935" cy="1288"/>
          </a:xfrm>
        </p:grpSpPr>
        <p:sp>
          <p:nvSpPr>
            <p:cNvPr id="361480" name="Text Box 8"/>
            <p:cNvSpPr txBox="1">
              <a:spLocks noChangeArrowheads="1"/>
            </p:cNvSpPr>
            <p:nvPr/>
          </p:nvSpPr>
          <p:spPr bwMode="auto">
            <a:xfrm>
              <a:off x="667" y="2423"/>
              <a:ext cx="983" cy="1288"/>
            </a:xfrm>
            <a:prstGeom prst="rect">
              <a:avLst/>
            </a:prstGeom>
            <a:noFill/>
            <a:ln w="9525">
              <a:solidFill>
                <a:schemeClr val="tx1"/>
              </a:solidFill>
              <a:miter lim="800000"/>
            </a:ln>
            <a:effectLst/>
          </p:spPr>
          <p:txBody>
            <a:bodyPr anchor="ctr"/>
            <a:lstStyle/>
            <a:p>
              <a:pPr algn="l">
                <a:lnSpc>
                  <a:spcPct val="150000"/>
                </a:lnSpc>
                <a:defRPr/>
              </a:pPr>
              <a:r>
                <a:rPr lang="zh-CN" altLang="en-US" b="1" dirty="0">
                  <a:latin typeface="+mn-lt"/>
                  <a:ea typeface="华文楷体" panose="02010600040101010101" pitchFamily="2" charset="-122"/>
                </a:rPr>
                <a:t>例如：</a:t>
              </a:r>
              <a:endParaRPr lang="zh-CN" altLang="en-US" b="1" dirty="0">
                <a:latin typeface="+mn-lt"/>
                <a:ea typeface="华文楷体" panose="02010600040101010101" pitchFamily="2" charset="-122"/>
              </a:endParaRPr>
            </a:p>
            <a:p>
              <a:pPr algn="l">
                <a:lnSpc>
                  <a:spcPct val="150000"/>
                </a:lnSpc>
                <a:defRPr/>
              </a:pPr>
              <a:r>
                <a:rPr lang="en-US" altLang="zh-CN" b="1" dirty="0" err="1">
                  <a:latin typeface="+mn-lt"/>
                  <a:ea typeface="华文楷体" panose="02010600040101010101" pitchFamily="2" charset="-122"/>
                </a:rPr>
                <a:t>int</a:t>
              </a:r>
              <a:r>
                <a:rPr lang="en-US" altLang="zh-CN" b="1" dirty="0">
                  <a:latin typeface="+mn-lt"/>
                  <a:ea typeface="华文楷体" panose="02010600040101010101" pitchFamily="2" charset="-122"/>
                </a:rPr>
                <a:t>  x , </a:t>
              </a:r>
              <a:r>
                <a:rPr lang="en-US" altLang="zh-CN" b="1" dirty="0" smtClean="0">
                  <a:latin typeface="+mn-lt"/>
                  <a:ea typeface="华文楷体" panose="02010600040101010101" pitchFamily="2" charset="-122"/>
                </a:rPr>
                <a:t>y</a:t>
              </a:r>
              <a:endParaRPr lang="en-US" altLang="zh-CN" b="1" dirty="0">
                <a:latin typeface="+mn-lt"/>
                <a:ea typeface="华文楷体" panose="02010600040101010101" pitchFamily="2" charset="-122"/>
              </a:endParaRPr>
            </a:p>
            <a:p>
              <a:pPr algn="l">
                <a:lnSpc>
                  <a:spcPct val="150000"/>
                </a:lnSpc>
                <a:defRPr/>
              </a:pPr>
              <a:r>
                <a:rPr lang="en-US" altLang="zh-CN" b="1" dirty="0">
                  <a:latin typeface="+mn-lt"/>
                  <a:ea typeface="华文楷体" panose="02010600040101010101" pitchFamily="2" charset="-122"/>
                </a:rPr>
                <a:t>y = x + y ; </a:t>
              </a:r>
              <a:endParaRPr lang="en-US" altLang="zh-CN" b="1" dirty="0">
                <a:latin typeface="+mn-lt"/>
                <a:ea typeface="华文楷体" panose="02010600040101010101" pitchFamily="2" charset="-122"/>
              </a:endParaRPr>
            </a:p>
          </p:txBody>
        </p:sp>
        <p:sp>
          <p:nvSpPr>
            <p:cNvPr id="6152" name="Rectangle 9"/>
            <p:cNvSpPr>
              <a:spLocks noChangeArrowheads="1"/>
            </p:cNvSpPr>
            <p:nvPr/>
          </p:nvSpPr>
          <p:spPr bwMode="auto">
            <a:xfrm>
              <a:off x="1650" y="2423"/>
              <a:ext cx="3952" cy="61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pPr>
              <a:r>
                <a:rPr lang="en-US" altLang="zh-CN" dirty="0">
                  <a:latin typeface="+mn-lt"/>
                </a:rPr>
                <a:t>complex  c1 , c2 ;  	// </a:t>
              </a:r>
              <a:r>
                <a:rPr lang="zh-CN" altLang="en-US" dirty="0">
                  <a:latin typeface="+mn-lt"/>
                </a:rPr>
                <a:t>复数类对象</a:t>
              </a:r>
              <a:endParaRPr lang="zh-CN" altLang="en-US" dirty="0">
                <a:latin typeface="+mn-lt"/>
              </a:endParaRPr>
            </a:p>
            <a:p>
              <a:pPr algn="l" eaLnBrk="1" hangingPunct="1">
                <a:lnSpc>
                  <a:spcPct val="150000"/>
                </a:lnSpc>
              </a:pPr>
              <a:r>
                <a:rPr lang="en-US" altLang="zh-CN" dirty="0">
                  <a:latin typeface="+mn-lt"/>
                </a:rPr>
                <a:t>c1 = </a:t>
              </a:r>
              <a:r>
                <a:rPr lang="en-US" altLang="zh-CN" dirty="0" err="1">
                  <a:latin typeface="+mn-lt"/>
                </a:rPr>
                <a:t>Cadd</a:t>
              </a:r>
              <a:r>
                <a:rPr lang="en-US" altLang="zh-CN" dirty="0">
                  <a:latin typeface="+mn-lt"/>
                </a:rPr>
                <a:t> (c1 , c2 ) ;	// </a:t>
              </a:r>
              <a:r>
                <a:rPr lang="zh-CN" altLang="en-US" dirty="0">
                  <a:latin typeface="+mn-lt"/>
                </a:rPr>
                <a:t>调用函数计算两个复数的和</a:t>
              </a:r>
              <a:endParaRPr lang="zh-CN" altLang="en-US" dirty="0">
                <a:latin typeface="+mn-lt"/>
              </a:endParaRPr>
            </a:p>
          </p:txBody>
        </p:sp>
        <p:sp>
          <p:nvSpPr>
            <p:cNvPr id="361482" name="Rectangle 10"/>
            <p:cNvSpPr>
              <a:spLocks noChangeArrowheads="1"/>
            </p:cNvSpPr>
            <p:nvPr/>
          </p:nvSpPr>
          <p:spPr bwMode="auto">
            <a:xfrm>
              <a:off x="1650" y="3031"/>
              <a:ext cx="3952" cy="680"/>
            </a:xfrm>
            <a:prstGeom prst="rect">
              <a:avLst/>
            </a:prstGeom>
            <a:solidFill>
              <a:schemeClr val="bg1"/>
            </a:solidFill>
            <a:ln w="9525">
              <a:solidFill>
                <a:schemeClr val="tx1"/>
              </a:solidFill>
              <a:miter lim="800000"/>
            </a:ln>
            <a:effectLst/>
          </p:spPr>
          <p:txBody>
            <a:bodyPr>
              <a:noAutofit/>
            </a:bodyPr>
            <a:lstStyle/>
            <a:p>
              <a:pPr algn="l">
                <a:lnSpc>
                  <a:spcPct val="150000"/>
                </a:lnSpc>
                <a:defRPr/>
              </a:pPr>
              <a:r>
                <a:rPr lang="en-US" altLang="zh-CN" sz="2000" b="1" dirty="0">
                  <a:latin typeface="+mn-lt"/>
                  <a:ea typeface="华文楷体" panose="02010600040101010101" pitchFamily="2" charset="-122"/>
                </a:rPr>
                <a:t>matrix  m1 , m2 ;	 // </a:t>
              </a:r>
              <a:r>
                <a:rPr lang="zh-CN" altLang="en-US" sz="2000" b="1" dirty="0">
                  <a:latin typeface="+mn-lt"/>
                  <a:ea typeface="华文楷体" panose="02010600040101010101" pitchFamily="2" charset="-122"/>
                </a:rPr>
                <a:t>矩阵类对象	</a:t>
              </a:r>
              <a:endParaRPr lang="zh-CN" altLang="en-US" sz="2000" b="1" dirty="0">
                <a:latin typeface="+mn-lt"/>
                <a:ea typeface="华文楷体" panose="02010600040101010101" pitchFamily="2" charset="-122"/>
              </a:endParaRPr>
            </a:p>
            <a:p>
              <a:pPr algn="l">
                <a:lnSpc>
                  <a:spcPct val="150000"/>
                </a:lnSpc>
                <a:defRPr/>
              </a:pPr>
              <a:r>
                <a:rPr lang="en-US" altLang="zh-CN" sz="2000" b="1" dirty="0">
                  <a:latin typeface="+mn-lt"/>
                  <a:ea typeface="华文楷体" panose="02010600040101010101" pitchFamily="2" charset="-122"/>
                </a:rPr>
                <a:t>m2 = </a:t>
              </a:r>
              <a:r>
                <a:rPr lang="en-US" altLang="zh-CN" sz="2000" b="1" dirty="0" err="1">
                  <a:latin typeface="+mn-lt"/>
                  <a:ea typeface="华文楷体" panose="02010600040101010101" pitchFamily="2" charset="-122"/>
                </a:rPr>
                <a:t>Madd</a:t>
              </a:r>
              <a:r>
                <a:rPr lang="en-US" altLang="zh-CN" sz="2000" b="1" dirty="0">
                  <a:latin typeface="+mn-lt"/>
                  <a:ea typeface="华文楷体" panose="02010600040101010101" pitchFamily="2" charset="-122"/>
                </a:rPr>
                <a:t> ( m1 , m2 ) ;	 // </a:t>
              </a:r>
              <a:r>
                <a:rPr lang="zh-CN" altLang="en-US" sz="2000" b="1" dirty="0">
                  <a:latin typeface="+mn-lt"/>
                  <a:ea typeface="华文楷体" panose="02010600040101010101" pitchFamily="2" charset="-122"/>
                </a:rPr>
                <a:t>调用函数计算两个矩阵的和</a:t>
              </a:r>
              <a:endParaRPr lang="zh-CN" altLang="en-US" sz="2000" b="1" dirty="0">
                <a:latin typeface="+mn-lt"/>
                <a:ea typeface="华文楷体" panose="02010600040101010101" pitchFamily="2" charset="-122"/>
              </a:endParaRPr>
            </a:p>
          </p:txBody>
        </p:sp>
      </p:grpSp>
      <p:sp>
        <p:nvSpPr>
          <p:cNvPr id="361488" name="AutoShape 16"/>
          <p:cNvSpPr>
            <a:spLocks noChangeArrowheads="1"/>
          </p:cNvSpPr>
          <p:nvPr/>
        </p:nvSpPr>
        <p:spPr bwMode="auto">
          <a:xfrm>
            <a:off x="1058863" y="3213100"/>
            <a:ext cx="3468687" cy="609600"/>
          </a:xfrm>
          <a:prstGeom prst="wedgeRoundRectCallout">
            <a:avLst>
              <a:gd name="adj1" fmla="val 1671"/>
              <a:gd name="adj2" fmla="val 105731"/>
              <a:gd name="adj3" fmla="val 16667"/>
            </a:avLst>
          </a:prstGeom>
          <a:solidFill>
            <a:srgbClr val="DDDDDD"/>
          </a:solidFill>
          <a:ln w="28575">
            <a:solidFill>
              <a:schemeClr val="tx1"/>
            </a:solidFill>
            <a:miter lim="800000"/>
          </a:ln>
        </p:spPr>
        <p:txBody>
          <a:bodyPr lIns="0" rIns="0"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zh-CN" altLang="en-US">
                <a:solidFill>
                  <a:srgbClr val="FF0000"/>
                </a:solidFill>
              </a:rPr>
              <a:t>能否表示为  </a:t>
            </a:r>
            <a:r>
              <a:rPr lang="en-US" altLang="zh-CN">
                <a:solidFill>
                  <a:srgbClr val="FF0000"/>
                </a:solidFill>
              </a:rPr>
              <a:t>c1 = c1 + c2 ; ?</a:t>
            </a:r>
            <a:endParaRPr kumimoji="0" lang="en-US" altLang="zh-CN">
              <a:solidFill>
                <a:srgbClr val="FF0000"/>
              </a:solidFill>
            </a:endParaRPr>
          </a:p>
        </p:txBody>
      </p:sp>
      <p:sp>
        <p:nvSpPr>
          <p:cNvPr id="361489" name="AutoShape 17"/>
          <p:cNvSpPr>
            <a:spLocks noChangeArrowheads="1"/>
          </p:cNvSpPr>
          <p:nvPr/>
        </p:nvSpPr>
        <p:spPr bwMode="auto">
          <a:xfrm>
            <a:off x="4859338" y="3213100"/>
            <a:ext cx="4033837" cy="609600"/>
          </a:xfrm>
          <a:prstGeom prst="wedgeRoundRectCallout">
            <a:avLst>
              <a:gd name="adj1" fmla="val 35440"/>
              <a:gd name="adj2" fmla="val 353384"/>
              <a:gd name="adj3" fmla="val 16667"/>
            </a:avLst>
          </a:prstGeom>
          <a:solidFill>
            <a:srgbClr val="DDDDDD"/>
          </a:solidFill>
          <a:ln w="28575">
            <a:solidFill>
              <a:schemeClr val="tx1"/>
            </a:solidFill>
            <a:miter lim="800000"/>
          </a:ln>
        </p:spPr>
        <p:txBody>
          <a:bodyPr lIns="0" rIns="0" anchor="ctr" anchorCtr="1"/>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zh-CN" altLang="en-US">
                <a:solidFill>
                  <a:srgbClr val="FF0000"/>
                </a:solidFill>
              </a:rPr>
              <a:t>能否表示为  </a:t>
            </a:r>
            <a:r>
              <a:rPr lang="en-US" altLang="zh-CN">
                <a:solidFill>
                  <a:srgbClr val="FF0000"/>
                </a:solidFill>
              </a:rPr>
              <a:t>m1 = m1 + m2 ; ?</a:t>
            </a:r>
            <a:endParaRPr kumimoji="0" lang="en-US" altLang="zh-CN">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1488"/>
                                        </p:tgtEl>
                                        <p:attrNameLst>
                                          <p:attrName>style.visibility</p:attrName>
                                        </p:attrNameLst>
                                      </p:cBhvr>
                                      <p:to>
                                        <p:strVal val="visible"/>
                                      </p:to>
                                    </p:set>
                                    <p:anim calcmode="lin" valueType="num">
                                      <p:cBhvr additive="base">
                                        <p:cTn id="7" dur="500" fill="hold"/>
                                        <p:tgtEl>
                                          <p:spTgt spid="361488"/>
                                        </p:tgtEl>
                                        <p:attrNameLst>
                                          <p:attrName>ppt_x</p:attrName>
                                        </p:attrNameLst>
                                      </p:cBhvr>
                                      <p:tavLst>
                                        <p:tav tm="0">
                                          <p:val>
                                            <p:strVal val="0-#ppt_w/2"/>
                                          </p:val>
                                        </p:tav>
                                        <p:tav tm="100000">
                                          <p:val>
                                            <p:strVal val="#ppt_x"/>
                                          </p:val>
                                        </p:tav>
                                      </p:tavLst>
                                    </p:anim>
                                    <p:anim calcmode="lin" valueType="num">
                                      <p:cBhvr additive="base">
                                        <p:cTn id="8" dur="500" fill="hold"/>
                                        <p:tgtEl>
                                          <p:spTgt spid="3614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61489"/>
                                        </p:tgtEl>
                                        <p:attrNameLst>
                                          <p:attrName>style.visibility</p:attrName>
                                        </p:attrNameLst>
                                      </p:cBhvr>
                                      <p:to>
                                        <p:strVal val="visible"/>
                                      </p:to>
                                    </p:set>
                                    <p:anim calcmode="lin" valueType="num">
                                      <p:cBhvr additive="base">
                                        <p:cTn id="13" dur="500" fill="hold"/>
                                        <p:tgtEl>
                                          <p:spTgt spid="361489"/>
                                        </p:tgtEl>
                                        <p:attrNameLst>
                                          <p:attrName>ppt_x</p:attrName>
                                        </p:attrNameLst>
                                      </p:cBhvr>
                                      <p:tavLst>
                                        <p:tav tm="0">
                                          <p:val>
                                            <p:strVal val="1+#ppt_w/2"/>
                                          </p:val>
                                        </p:tav>
                                        <p:tav tm="100000">
                                          <p:val>
                                            <p:strVal val="#ppt_x"/>
                                          </p:val>
                                        </p:tav>
                                      </p:tavLst>
                                    </p:anim>
                                    <p:anim calcmode="lin" valueType="num">
                                      <p:cBhvr additive="base">
                                        <p:cTn id="14" dur="500" fill="hold"/>
                                        <p:tgtEl>
                                          <p:spTgt spid="3614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88" grpId="0" animBg="1"/>
      <p:bldP spid="36148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8.2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运算符重载</a:t>
            </a:r>
            <a:endParaRPr kumimoji="0" lang="zh-CN" altLang="en-US" sz="3600" dirty="0">
              <a:solidFill>
                <a:schemeClr val="tx2"/>
              </a:solidFill>
              <a:ea typeface="隶书" panose="02010509060101010101" pitchFamily="49" charset="-122"/>
            </a:endParaRPr>
          </a:p>
        </p:txBody>
      </p:sp>
      <p:sp>
        <p:nvSpPr>
          <p:cNvPr id="8195" name="Rectangle 3"/>
          <p:cNvSpPr>
            <a:spLocks noChangeArrowheads="1"/>
          </p:cNvSpPr>
          <p:nvPr/>
        </p:nvSpPr>
        <p:spPr bwMode="auto">
          <a:xfrm>
            <a:off x="1403350" y="1663700"/>
            <a:ext cx="7272338" cy="503238"/>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800">
                <a:solidFill>
                  <a:srgbClr val="800000"/>
                </a:solidFill>
              </a:rPr>
              <a:t>运算符重载：本质上是函数重载</a:t>
            </a:r>
            <a:endParaRPr kumimoji="0" lang="zh-CN" altLang="en-US" sz="2800">
              <a:solidFill>
                <a:srgbClr val="800000"/>
              </a:solidFill>
            </a:endParaRPr>
          </a:p>
        </p:txBody>
      </p:sp>
      <p:sp>
        <p:nvSpPr>
          <p:cNvPr id="8196" name="Rectangle 4"/>
          <p:cNvSpPr>
            <a:spLocks noChangeArrowheads="1"/>
          </p:cNvSpPr>
          <p:nvPr/>
        </p:nvSpPr>
        <p:spPr bwMode="auto">
          <a:xfrm>
            <a:off x="1403350" y="2166938"/>
            <a:ext cx="7272338" cy="4357687"/>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
                <a:srgbClr val="00B0F0"/>
              </a:buClr>
              <a:buSzPct val="65000"/>
              <a:buFont typeface="Wingdings" panose="05000000000000000000" pitchFamily="2" charset="2"/>
              <a:buChar char="u"/>
            </a:pPr>
            <a:r>
              <a:rPr kumimoji="0" lang="en-US" altLang="zh-CN" sz="2400" dirty="0"/>
              <a:t> C++</a:t>
            </a:r>
            <a:r>
              <a:rPr kumimoji="0" lang="zh-CN" altLang="en-US" sz="2400" dirty="0"/>
              <a:t>中所有预定义的运算符都是通过运算符函数来实现的。例如：</a:t>
            </a:r>
            <a:br>
              <a:rPr kumimoji="0" lang="zh-CN" altLang="en-US" sz="2400" dirty="0"/>
            </a:br>
            <a:r>
              <a:rPr kumimoji="0" lang="zh-CN" altLang="en-US" sz="2400" dirty="0"/>
              <a:t>     </a:t>
            </a:r>
            <a:r>
              <a:rPr kumimoji="0" lang="en-US" altLang="zh-CN" sz="2400" dirty="0" err="1"/>
              <a:t>i</a:t>
            </a:r>
            <a:r>
              <a:rPr kumimoji="0" lang="en-US" altLang="zh-CN" sz="2400" dirty="0"/>
              <a:t> +j          </a:t>
            </a:r>
            <a:r>
              <a:rPr kumimoji="0" lang="zh-CN" altLang="en-US" sz="2400" dirty="0"/>
              <a:t>编译器自动解析为     </a:t>
            </a:r>
            <a:r>
              <a:rPr kumimoji="0" lang="en-US" altLang="zh-CN" sz="2400" dirty="0"/>
              <a:t>operator+(</a:t>
            </a:r>
            <a:r>
              <a:rPr kumimoji="0" lang="en-US" altLang="zh-CN" sz="2400" dirty="0" err="1"/>
              <a:t>i</a:t>
            </a:r>
            <a:r>
              <a:rPr kumimoji="0" lang="en-US" altLang="zh-CN" sz="2400" dirty="0"/>
              <a:t>, j)</a:t>
            </a:r>
            <a:endParaRPr kumimoji="0" lang="en-US" altLang="zh-CN" sz="2400" dirty="0"/>
          </a:p>
          <a:p>
            <a:pPr algn="l" eaLnBrk="1" hangingPunct="1">
              <a:lnSpc>
                <a:spcPct val="100000"/>
              </a:lnSpc>
              <a:spcBef>
                <a:spcPct val="50000"/>
              </a:spcBef>
              <a:buClr>
                <a:srgbClr val="00B0F0"/>
              </a:buClr>
              <a:buSzPct val="65000"/>
              <a:buFont typeface="Wingdings" panose="05000000000000000000" pitchFamily="2" charset="2"/>
              <a:buChar char="u"/>
            </a:pPr>
            <a:r>
              <a:rPr kumimoji="0" lang="zh-CN" altLang="en-US" sz="2400" dirty="0"/>
              <a:t>标准</a:t>
            </a:r>
            <a:r>
              <a:rPr kumimoji="0" lang="en-US" altLang="zh-CN" sz="2400" dirty="0"/>
              <a:t>C++</a:t>
            </a:r>
            <a:r>
              <a:rPr kumimoji="0" lang="zh-CN" altLang="en-US" sz="2400" dirty="0"/>
              <a:t>语言中已经为各种基本数据类型重载了运算符函数</a:t>
            </a:r>
            <a:r>
              <a:rPr kumimoji="0" lang="en-US" altLang="zh-CN" sz="2400" dirty="0"/>
              <a:t>operator+()</a:t>
            </a:r>
            <a:r>
              <a:rPr kumimoji="0" lang="zh-CN" altLang="en-US" sz="2400" dirty="0"/>
              <a:t>。这些重载形式如：</a:t>
            </a:r>
            <a:br>
              <a:rPr kumimoji="0" lang="zh-CN" altLang="en-US" sz="2400" dirty="0"/>
            </a:br>
            <a:r>
              <a:rPr kumimoji="0" lang="zh-CN" altLang="en-US" sz="2400" dirty="0"/>
              <a:t>　</a:t>
            </a:r>
            <a:r>
              <a:rPr kumimoji="0" lang="en-US" altLang="zh-CN" sz="2400" dirty="0"/>
              <a:t>operator+(</a:t>
            </a:r>
            <a:r>
              <a:rPr kumimoji="0" lang="en-US" altLang="zh-CN" sz="2400" dirty="0" err="1"/>
              <a:t>int</a:t>
            </a:r>
            <a:r>
              <a:rPr kumimoji="0" lang="en-US" altLang="zh-CN" sz="2400" dirty="0"/>
              <a:t>, </a:t>
            </a:r>
            <a:r>
              <a:rPr kumimoji="0" lang="en-US" altLang="zh-CN" sz="2400" dirty="0" err="1"/>
              <a:t>int</a:t>
            </a:r>
            <a:r>
              <a:rPr kumimoji="0" lang="en-US" altLang="zh-CN" sz="2400" dirty="0"/>
              <a:t>)</a:t>
            </a:r>
            <a:br>
              <a:rPr kumimoji="0" lang="en-US" altLang="zh-CN" sz="2400" dirty="0"/>
            </a:br>
            <a:r>
              <a:rPr kumimoji="0" lang="en-US" altLang="zh-CN" sz="2400" dirty="0"/>
              <a:t>    operator+(float, float)</a:t>
            </a:r>
            <a:br>
              <a:rPr kumimoji="0" lang="en-US" altLang="zh-CN" sz="2400" dirty="0"/>
            </a:br>
            <a:r>
              <a:rPr kumimoji="0" lang="en-US" altLang="zh-CN" sz="2400" dirty="0"/>
              <a:t>    operator+(double, double)</a:t>
            </a:r>
            <a:endParaRPr kumimoji="0" lang="en-US" altLang="zh-CN" sz="2400" dirty="0"/>
          </a:p>
          <a:p>
            <a:pPr algn="l" eaLnBrk="1" hangingPunct="1">
              <a:lnSpc>
                <a:spcPct val="100000"/>
              </a:lnSpc>
              <a:spcBef>
                <a:spcPct val="50000"/>
              </a:spcBef>
              <a:buClr>
                <a:srgbClr val="00B0F0"/>
              </a:buClr>
              <a:buSzPct val="65000"/>
              <a:buFont typeface="Wingdings" panose="05000000000000000000" pitchFamily="2" charset="2"/>
              <a:buChar char="u"/>
            </a:pPr>
            <a:r>
              <a:rPr kumimoji="0" lang="zh-CN" altLang="en-US" sz="2400" dirty="0"/>
              <a:t>根据函数重载原则，系统会用</a:t>
            </a:r>
            <a:r>
              <a:rPr kumimoji="0" lang="en-US" altLang="zh-CN" sz="2400" dirty="0"/>
              <a:t>operator+(</a:t>
            </a:r>
            <a:r>
              <a:rPr kumimoji="0" lang="en-US" altLang="zh-CN" sz="2400" dirty="0" err="1"/>
              <a:t>int</a:t>
            </a:r>
            <a:r>
              <a:rPr kumimoji="0" lang="en-US" altLang="zh-CN" sz="2400" dirty="0"/>
              <a:t>, </a:t>
            </a:r>
            <a:r>
              <a:rPr kumimoji="0" lang="en-US" altLang="zh-CN" sz="2400" dirty="0" err="1"/>
              <a:t>int</a:t>
            </a:r>
            <a:r>
              <a:rPr kumimoji="0" lang="en-US" altLang="zh-CN" sz="2400" dirty="0"/>
              <a:t>)</a:t>
            </a:r>
            <a:r>
              <a:rPr kumimoji="0" lang="zh-CN" altLang="en-US" sz="2400" dirty="0"/>
              <a:t>与表达式“</a:t>
            </a:r>
            <a:r>
              <a:rPr kumimoji="0" lang="en-US" altLang="zh-CN" sz="2400" dirty="0" err="1"/>
              <a:t>i+j</a:t>
            </a:r>
            <a:r>
              <a:rPr kumimoji="0" lang="en-US" altLang="zh-CN" sz="2400" dirty="0"/>
              <a:t>”</a:t>
            </a:r>
            <a:r>
              <a:rPr kumimoji="0" lang="zh-CN" altLang="en-US" sz="2400" dirty="0"/>
              <a:t>匹配。</a:t>
            </a:r>
            <a:endParaRPr kumimoji="0" lang="zh-CN" altLang="en-US" sz="2400"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8.2.1 </a:t>
            </a:r>
            <a:r>
              <a:rPr lang="zh-CN" altLang="en-US" sz="4400" b="1" dirty="0">
                <a:latin typeface="Times New Roman" panose="02020603050405020304" pitchFamily="18" charset="0"/>
                <a:ea typeface="隶书" panose="02010509060101010101" pitchFamily="49" charset="-122"/>
              </a:rPr>
              <a:t>运算符重载的规则</a:t>
            </a:r>
            <a:endParaRPr lang="zh-CN" altLang="en-US" sz="4400" b="1" dirty="0">
              <a:latin typeface="Times New Roman" panose="02020603050405020304" pitchFamily="18" charset="0"/>
              <a:ea typeface="隶书" panose="02010509060101010101" pitchFamily="49" charset="-122"/>
            </a:endParaRPr>
          </a:p>
        </p:txBody>
      </p:sp>
      <p:sp>
        <p:nvSpPr>
          <p:cNvPr id="22531" name="内容占位符 2"/>
          <p:cNvSpPr>
            <a:spLocks noGrp="1"/>
          </p:cNvSpPr>
          <p:nvPr>
            <p:ph idx="1"/>
          </p:nvPr>
        </p:nvSpPr>
        <p:spPr>
          <a:xfrm>
            <a:off x="611560" y="1412776"/>
            <a:ext cx="7886700" cy="5112568"/>
          </a:xfrm>
        </p:spPr>
        <p:txBody>
          <a:bodyPr/>
          <a:lstStyle/>
          <a:p>
            <a:pPr>
              <a:lnSpc>
                <a:spcPct val="150000"/>
              </a:lnSpc>
              <a:spcAft>
                <a:spcPct val="25000"/>
              </a:spcAft>
            </a:pPr>
            <a:r>
              <a:rPr lang="en-US" altLang="zh-CN" sz="2400" b="1" dirty="0">
                <a:solidFill>
                  <a:srgbClr val="FFFF00"/>
                </a:solidFill>
                <a:ea typeface="华文楷体" panose="02010600040101010101" pitchFamily="2" charset="-122"/>
              </a:rPr>
              <a:t>C++</a:t>
            </a:r>
            <a:r>
              <a:rPr lang="zh-CN" altLang="en-US" sz="2400" b="1" dirty="0">
                <a:solidFill>
                  <a:srgbClr val="FFFF00"/>
                </a:solidFill>
                <a:ea typeface="华文楷体" panose="02010600040101010101" pitchFamily="2" charset="-122"/>
              </a:rPr>
              <a:t> 几乎可以重载全部的运算符，而且只能够重载</a:t>
            </a:r>
            <a:r>
              <a:rPr lang="en-US" altLang="zh-CN" sz="2400" b="1" dirty="0">
                <a:solidFill>
                  <a:srgbClr val="FFFF00"/>
                </a:solidFill>
                <a:ea typeface="华文楷体" panose="02010600040101010101" pitchFamily="2" charset="-122"/>
              </a:rPr>
              <a:t>C++</a:t>
            </a:r>
            <a:r>
              <a:rPr lang="zh-CN" altLang="en-US" sz="2400" b="1" dirty="0">
                <a:solidFill>
                  <a:srgbClr val="FFFF00"/>
                </a:solidFill>
                <a:ea typeface="华文楷体" panose="02010600040101010101" pitchFamily="2" charset="-122"/>
              </a:rPr>
              <a:t>中已经有的。</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000" b="1" dirty="0">
                <a:ea typeface="华文楷体" panose="02010600040101010101" pitchFamily="2" charset="-122"/>
              </a:rPr>
              <a:t>不能重载的运算符举例：</a:t>
            </a:r>
            <a:r>
              <a:rPr lang="en-US" altLang="zh-CN" sz="2000" b="1" dirty="0">
                <a:ea typeface="华文楷体" panose="02010600040101010101" pitchFamily="2" charset="-122"/>
              </a:rPr>
              <a:t>“.”</a:t>
            </a:r>
            <a:r>
              <a:rPr lang="zh-CN" altLang="en-US" sz="2000" b="1" dirty="0">
                <a:ea typeface="华文楷体" panose="02010600040101010101" pitchFamily="2" charset="-122"/>
              </a:rPr>
              <a:t>、</a:t>
            </a:r>
            <a:r>
              <a:rPr lang="zh-CN" altLang="en-US" sz="2000" b="1" dirty="0" smtClean="0">
                <a:ea typeface="华文楷体" panose="02010600040101010101" pitchFamily="2" charset="-122"/>
              </a:rPr>
              <a:t>“</a:t>
            </a:r>
            <a:r>
              <a:rPr lang="en-US" altLang="zh-CN" sz="2000" b="1" dirty="0" smtClean="0">
                <a:ea typeface="华文楷体" panose="02010600040101010101" pitchFamily="2" charset="-122"/>
              </a:rPr>
              <a:t>.*”</a:t>
            </a:r>
            <a:r>
              <a:rPr lang="zh-CN" altLang="en-US" sz="2000" b="1" dirty="0">
                <a:ea typeface="华文楷体" panose="02010600040101010101" pitchFamily="2" charset="-122"/>
              </a:rPr>
              <a:t>、“</a:t>
            </a:r>
            <a:r>
              <a:rPr lang="en-US" altLang="zh-CN" sz="2000" b="1" dirty="0">
                <a:ea typeface="华文楷体" panose="02010600040101010101" pitchFamily="2" charset="-122"/>
              </a:rPr>
              <a:t>::”</a:t>
            </a:r>
            <a:r>
              <a:rPr lang="zh-CN" altLang="en-US" sz="2000" b="1" dirty="0">
                <a:ea typeface="华文楷体" panose="02010600040101010101" pitchFamily="2" charset="-122"/>
              </a:rPr>
              <a:t>、“</a:t>
            </a:r>
            <a:r>
              <a:rPr lang="en-US" altLang="zh-CN" sz="2000" b="1" dirty="0">
                <a:ea typeface="华文楷体" panose="02010600040101010101" pitchFamily="2" charset="-122"/>
              </a:rPr>
              <a:t>?:</a:t>
            </a:r>
            <a:r>
              <a:rPr lang="zh-CN" altLang="en-US" sz="2000" b="1" dirty="0" smtClean="0">
                <a:ea typeface="华文楷体" panose="02010600040101010101" pitchFamily="2" charset="-122"/>
              </a:rPr>
              <a:t>”、</a:t>
            </a:r>
            <a:r>
              <a:rPr lang="en-US" altLang="zh-CN" sz="2000" b="1" dirty="0" err="1" smtClean="0">
                <a:ea typeface="华文楷体" panose="02010600040101010101" pitchFamily="2" charset="-122"/>
              </a:rPr>
              <a:t>sizeof</a:t>
            </a:r>
            <a:endParaRPr lang="en-US" altLang="zh-CN" sz="20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重载之后运算符的优先级和结合性都不会改变。</a:t>
            </a:r>
            <a:endParaRPr lang="en-US" altLang="zh-CN" sz="2400" b="1" dirty="0">
              <a:solidFill>
                <a:srgbClr val="FFFF00"/>
              </a:solidFill>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运算符重载是针对新类型数据的实际需要，对原有运算符进行适当的改造。</a:t>
            </a:r>
            <a:endParaRPr lang="en-US" altLang="zh-CN" sz="2400" b="1" dirty="0">
              <a:solidFill>
                <a:srgbClr val="FFFF00"/>
              </a:solidFill>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两种重载方式：重载为类的非静态成员函数和重载为非成员函数。</a:t>
            </a: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Group 3"/>
          <p:cNvGrpSpPr/>
          <p:nvPr/>
        </p:nvGrpSpPr>
        <p:grpSpPr bwMode="auto">
          <a:xfrm>
            <a:off x="1258888" y="1628775"/>
            <a:ext cx="7705725" cy="2016125"/>
            <a:chOff x="793" y="1026"/>
            <a:chExt cx="4854" cy="998"/>
          </a:xfrm>
        </p:grpSpPr>
        <p:sp>
          <p:nvSpPr>
            <p:cNvPr id="10253" name="Rectangle 4"/>
            <p:cNvSpPr>
              <a:spLocks noChangeArrowheads="1"/>
            </p:cNvSpPr>
            <p:nvPr/>
          </p:nvSpPr>
          <p:spPr bwMode="auto">
            <a:xfrm>
              <a:off x="793" y="1029"/>
              <a:ext cx="908" cy="995"/>
            </a:xfrm>
            <a:prstGeom prst="rect">
              <a:avLst/>
            </a:prstGeom>
            <a:solidFill>
              <a:srgbClr val="DDDDDD"/>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zh-CN" altLang="en-US" sz="2400" dirty="0">
                  <a:solidFill>
                    <a:srgbClr val="000000"/>
                  </a:solidFill>
                </a:rPr>
                <a:t>成员函数重载运算符的一般形式</a:t>
              </a:r>
              <a:endParaRPr kumimoji="0" lang="zh-CN" altLang="en-US" sz="2400" dirty="0">
                <a:solidFill>
                  <a:srgbClr val="000000"/>
                </a:solidFill>
              </a:endParaRPr>
            </a:p>
          </p:txBody>
        </p:sp>
        <p:sp>
          <p:nvSpPr>
            <p:cNvPr id="10254" name="Rectangle 5"/>
            <p:cNvSpPr>
              <a:spLocks noChangeArrowheads="1"/>
            </p:cNvSpPr>
            <p:nvPr/>
          </p:nvSpPr>
          <p:spPr bwMode="auto">
            <a:xfrm>
              <a:off x="1701" y="1026"/>
              <a:ext cx="3946" cy="998"/>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rgbClr val="000099"/>
                </a:buClr>
                <a:buSzPct val="65000"/>
                <a:buFont typeface="Wingdings" panose="05000000000000000000" pitchFamily="2" charset="2"/>
                <a:buNone/>
              </a:pPr>
              <a:r>
                <a:rPr kumimoji="0" lang="zh-CN" altLang="en-US" sz="2400"/>
                <a:t>返回类型  类名</a:t>
              </a:r>
              <a:r>
                <a:rPr kumimoji="0" lang="en-US" altLang="zh-CN" sz="2400"/>
                <a:t>::</a:t>
              </a:r>
              <a:r>
                <a:rPr kumimoji="0" lang="en-US" altLang="zh-CN" sz="2400" u="sng"/>
                <a:t>operator</a:t>
              </a:r>
              <a:r>
                <a:rPr kumimoji="0" lang="zh-CN" altLang="en-US" sz="2400" u="sng"/>
                <a:t>重载运算符</a:t>
              </a:r>
              <a:r>
                <a:rPr kumimoji="0" lang="en-US" altLang="zh-CN" sz="2400"/>
                <a:t>(</a:t>
              </a:r>
              <a:r>
                <a:rPr kumimoji="0" lang="zh-CN" altLang="en-US" sz="2400"/>
                <a:t>参数表</a:t>
              </a:r>
              <a:r>
                <a:rPr kumimoji="0" lang="en-US" altLang="zh-CN" sz="2400"/>
                <a:t>)</a:t>
              </a:r>
              <a:endParaRPr kumimoji="0" lang="en-US" altLang="zh-CN" sz="2400"/>
            </a:p>
            <a:p>
              <a:pPr algn="l" eaLnBrk="1" hangingPunct="1">
                <a:lnSpc>
                  <a:spcPct val="100000"/>
                </a:lnSpc>
                <a:buClr>
                  <a:srgbClr val="000099"/>
                </a:buClr>
                <a:buSzPct val="65000"/>
                <a:buFont typeface="Wingdings" panose="05000000000000000000" pitchFamily="2" charset="2"/>
                <a:buNone/>
              </a:pPr>
              <a:r>
                <a:rPr kumimoji="0" lang="en-US" altLang="zh-CN" sz="2400"/>
                <a:t>{</a:t>
              </a:r>
              <a:endParaRPr kumimoji="0" lang="en-US" altLang="zh-CN" sz="2400"/>
            </a:p>
            <a:p>
              <a:pPr algn="l" eaLnBrk="1" hangingPunct="1">
                <a:lnSpc>
                  <a:spcPct val="100000"/>
                </a:lnSpc>
                <a:buClr>
                  <a:srgbClr val="000099"/>
                </a:buClr>
                <a:buSzPct val="65000"/>
                <a:buFont typeface="Wingdings" panose="05000000000000000000" pitchFamily="2" charset="2"/>
                <a:buNone/>
              </a:pPr>
              <a:r>
                <a:rPr kumimoji="0" lang="en-US" altLang="zh-CN" sz="2400"/>
                <a:t>	</a:t>
              </a:r>
              <a:r>
                <a:rPr kumimoji="0" lang="zh-CN" altLang="en-US" sz="2400"/>
                <a:t>函数体</a:t>
              </a:r>
              <a:endParaRPr kumimoji="0" lang="zh-CN" altLang="en-US" sz="2400"/>
            </a:p>
            <a:p>
              <a:pPr algn="l" eaLnBrk="1" hangingPunct="1">
                <a:lnSpc>
                  <a:spcPct val="100000"/>
                </a:lnSpc>
                <a:buClr>
                  <a:srgbClr val="000099"/>
                </a:buClr>
                <a:buSzPct val="65000"/>
                <a:buFont typeface="Wingdings" panose="05000000000000000000" pitchFamily="2" charset="2"/>
                <a:buNone/>
              </a:pPr>
              <a:r>
                <a:rPr kumimoji="0" lang="en-US" altLang="zh-CN" sz="2400"/>
                <a:t>}</a:t>
              </a:r>
              <a:endParaRPr kumimoji="0" lang="en-US" altLang="zh-CN" sz="2400"/>
            </a:p>
          </p:txBody>
        </p:sp>
      </p:grpSp>
      <p:grpSp>
        <p:nvGrpSpPr>
          <p:cNvPr id="10244" name="Group 6"/>
          <p:cNvGrpSpPr/>
          <p:nvPr/>
        </p:nvGrpSpPr>
        <p:grpSpPr bwMode="auto">
          <a:xfrm>
            <a:off x="1258888" y="4005263"/>
            <a:ext cx="7705725" cy="2016125"/>
            <a:chOff x="793" y="2523"/>
            <a:chExt cx="4854" cy="1270"/>
          </a:xfrm>
        </p:grpSpPr>
        <p:sp>
          <p:nvSpPr>
            <p:cNvPr id="10251" name="Rectangle 7"/>
            <p:cNvSpPr>
              <a:spLocks noChangeArrowheads="1"/>
            </p:cNvSpPr>
            <p:nvPr/>
          </p:nvSpPr>
          <p:spPr bwMode="auto">
            <a:xfrm>
              <a:off x="793" y="2523"/>
              <a:ext cx="908" cy="1270"/>
            </a:xfrm>
            <a:prstGeom prst="rect">
              <a:avLst/>
            </a:prstGeom>
            <a:solidFill>
              <a:srgbClr val="DDDDDD"/>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友元函数重载运算符的一般形式</a:t>
              </a:r>
              <a:endParaRPr kumimoji="0" lang="zh-CN" altLang="en-US" sz="2400">
                <a:solidFill>
                  <a:srgbClr val="000000"/>
                </a:solidFill>
              </a:endParaRPr>
            </a:p>
          </p:txBody>
        </p:sp>
        <p:sp>
          <p:nvSpPr>
            <p:cNvPr id="10252" name="Rectangle 8"/>
            <p:cNvSpPr>
              <a:spLocks noChangeArrowheads="1"/>
            </p:cNvSpPr>
            <p:nvPr/>
          </p:nvSpPr>
          <p:spPr bwMode="auto">
            <a:xfrm>
              <a:off x="1701" y="2523"/>
              <a:ext cx="3946" cy="1270"/>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rgbClr val="000099"/>
                </a:buClr>
                <a:buSzPct val="65000"/>
                <a:buFont typeface="Wingdings" panose="05000000000000000000" pitchFamily="2" charset="2"/>
                <a:buNone/>
              </a:pPr>
              <a:r>
                <a:rPr kumimoji="0" lang="en-US" altLang="zh-CN" sz="2400" dirty="0"/>
                <a:t>friend </a:t>
              </a:r>
              <a:r>
                <a:rPr kumimoji="0" lang="zh-CN" altLang="en-US" sz="2400" dirty="0"/>
                <a:t>返回类型  </a:t>
              </a:r>
              <a:r>
                <a:rPr kumimoji="0" lang="en-US" altLang="zh-CN" sz="2400" u="sng" dirty="0"/>
                <a:t>operator</a:t>
              </a:r>
              <a:r>
                <a:rPr kumimoji="0" lang="zh-CN" altLang="en-US" sz="2400" u="sng" dirty="0"/>
                <a:t>重载运算符</a:t>
              </a:r>
              <a:r>
                <a:rPr kumimoji="0" lang="en-US" altLang="zh-CN" sz="2400" dirty="0"/>
                <a:t>(</a:t>
              </a:r>
              <a:r>
                <a:rPr kumimoji="0" lang="zh-CN" altLang="en-US" sz="2400" dirty="0"/>
                <a:t>参数表</a:t>
              </a:r>
              <a:r>
                <a:rPr kumimoji="0" lang="en-US" altLang="zh-CN" sz="2400" dirty="0"/>
                <a:t>)</a:t>
              </a:r>
              <a:endParaRPr kumimoji="0" lang="en-US" altLang="zh-CN" sz="2400" dirty="0"/>
            </a:p>
            <a:p>
              <a:pPr algn="l" eaLnBrk="1" hangingPunct="1">
                <a:lnSpc>
                  <a:spcPct val="100000"/>
                </a:lnSpc>
                <a:buClr>
                  <a:srgbClr val="000099"/>
                </a:buClr>
                <a:buSzPct val="65000"/>
                <a:buFont typeface="Wingdings" panose="05000000000000000000" pitchFamily="2" charset="2"/>
                <a:buNone/>
              </a:pPr>
              <a:r>
                <a:rPr kumimoji="0" lang="en-US" altLang="zh-CN" sz="2400" dirty="0"/>
                <a:t>{</a:t>
              </a:r>
              <a:endParaRPr kumimoji="0" lang="en-US" altLang="zh-CN" sz="2400" dirty="0"/>
            </a:p>
            <a:p>
              <a:pPr algn="l" eaLnBrk="1" hangingPunct="1">
                <a:lnSpc>
                  <a:spcPct val="100000"/>
                </a:lnSpc>
                <a:buClr>
                  <a:srgbClr val="000099"/>
                </a:buClr>
                <a:buSzPct val="65000"/>
                <a:buFont typeface="Wingdings" panose="05000000000000000000" pitchFamily="2" charset="2"/>
                <a:buNone/>
              </a:pPr>
              <a:r>
                <a:rPr kumimoji="0" lang="en-US" altLang="zh-CN" sz="2400" dirty="0"/>
                <a:t>	</a:t>
              </a:r>
              <a:r>
                <a:rPr kumimoji="0" lang="zh-CN" altLang="en-US" sz="2400" dirty="0"/>
                <a:t>函数体</a:t>
              </a:r>
              <a:endParaRPr kumimoji="0" lang="zh-CN" altLang="en-US" sz="2400" dirty="0"/>
            </a:p>
            <a:p>
              <a:pPr algn="l" eaLnBrk="1" hangingPunct="1">
                <a:lnSpc>
                  <a:spcPct val="100000"/>
                </a:lnSpc>
                <a:buClr>
                  <a:srgbClr val="000099"/>
                </a:buClr>
                <a:buSzPct val="65000"/>
                <a:buFont typeface="Wingdings" panose="05000000000000000000" pitchFamily="2" charset="2"/>
                <a:buNone/>
              </a:pPr>
              <a:r>
                <a:rPr kumimoji="0" lang="en-US" altLang="zh-CN" sz="2400" dirty="0"/>
                <a:t>}</a:t>
              </a:r>
              <a:endParaRPr kumimoji="0" lang="en-US" altLang="zh-CN" sz="2400" dirty="0"/>
            </a:p>
          </p:txBody>
        </p:sp>
      </p:grpSp>
      <p:sp>
        <p:nvSpPr>
          <p:cNvPr id="10245" name="Text Box 9"/>
          <p:cNvSpPr txBox="1">
            <a:spLocks noChangeArrowheads="1"/>
          </p:cNvSpPr>
          <p:nvPr/>
        </p:nvSpPr>
        <p:spPr bwMode="auto">
          <a:xfrm>
            <a:off x="0" y="2492375"/>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00000"/>
              </a:lnSpc>
              <a:spcBef>
                <a:spcPct val="50000"/>
              </a:spcBef>
            </a:pPr>
            <a:endParaRPr kumimoji="0" lang="zh-CN" altLang="zh-CN" sz="1800" b="0">
              <a:latin typeface="Verdana" panose="020B0604030504040204" pitchFamily="34" charset="0"/>
              <a:ea typeface="宋体" panose="02010600030101010101" pitchFamily="2" charset="-122"/>
            </a:endParaRPr>
          </a:p>
        </p:txBody>
      </p:sp>
      <p:sp>
        <p:nvSpPr>
          <p:cNvPr id="10246" name="Text Box 10"/>
          <p:cNvSpPr txBox="1">
            <a:spLocks noChangeArrowheads="1"/>
          </p:cNvSpPr>
          <p:nvPr/>
        </p:nvSpPr>
        <p:spPr bwMode="auto">
          <a:xfrm>
            <a:off x="307690" y="1200150"/>
            <a:ext cx="443198" cy="488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vert="eaVert">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fontAlgn="ctr" hangingPunct="1">
              <a:lnSpc>
                <a:spcPct val="70000"/>
              </a:lnSpc>
            </a:pPr>
            <a:r>
              <a:rPr kumimoji="0" lang="zh-CN" altLang="en-US" sz="2400">
                <a:solidFill>
                  <a:srgbClr val="FFFF00"/>
                </a:solidFill>
                <a:latin typeface="Verdana" panose="020B0604030504040204" pitchFamily="34" charset="0"/>
              </a:rPr>
              <a:t>运算符通过运算符函数重载</a:t>
            </a:r>
            <a:endParaRPr kumimoji="0" lang="zh-CN" altLang="en-US" sz="2400">
              <a:solidFill>
                <a:srgbClr val="FFFF00"/>
              </a:solidFill>
              <a:latin typeface="Verdana" panose="020B0604030504040204" pitchFamily="34" charset="0"/>
            </a:endParaRPr>
          </a:p>
        </p:txBody>
      </p:sp>
      <p:grpSp>
        <p:nvGrpSpPr>
          <p:cNvPr id="4" name="Group 11"/>
          <p:cNvGrpSpPr/>
          <p:nvPr/>
        </p:nvGrpSpPr>
        <p:grpSpPr bwMode="auto">
          <a:xfrm>
            <a:off x="5435600" y="2276475"/>
            <a:ext cx="2808288" cy="2089150"/>
            <a:chOff x="3424" y="1434"/>
            <a:chExt cx="1769" cy="1316"/>
          </a:xfrm>
        </p:grpSpPr>
        <p:sp>
          <p:nvSpPr>
            <p:cNvPr id="10248" name="Rectangle 12"/>
            <p:cNvSpPr>
              <a:spLocks noChangeArrowheads="1"/>
            </p:cNvSpPr>
            <p:nvPr/>
          </p:nvSpPr>
          <p:spPr bwMode="auto">
            <a:xfrm>
              <a:off x="3424" y="1797"/>
              <a:ext cx="1769" cy="618"/>
            </a:xfrm>
            <a:prstGeom prst="rect">
              <a:avLst/>
            </a:prstGeom>
            <a:solidFill>
              <a:srgbClr val="DDDDDD"/>
            </a:solidFill>
            <a:ln w="12700">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pPr>
              <a:r>
                <a:rPr lang="zh-CN" altLang="en-US" sz="2400">
                  <a:solidFill>
                    <a:srgbClr val="000000"/>
                  </a:solidFill>
                  <a:latin typeface="Verdana" panose="020B0604030504040204" pitchFamily="34" charset="0"/>
                </a:rPr>
                <a:t>由关键字和要重载算符组成函数名</a:t>
              </a:r>
              <a:endParaRPr lang="zh-CN" altLang="en-US" sz="2400">
                <a:solidFill>
                  <a:srgbClr val="000000"/>
                </a:solidFill>
                <a:latin typeface="Verdana" panose="020B0604030504040204" pitchFamily="34" charset="0"/>
              </a:endParaRPr>
            </a:p>
          </p:txBody>
        </p:sp>
        <p:sp>
          <p:nvSpPr>
            <p:cNvPr id="10249" name="Line 13"/>
            <p:cNvSpPr>
              <a:spLocks noChangeShapeType="1"/>
            </p:cNvSpPr>
            <p:nvPr/>
          </p:nvSpPr>
          <p:spPr bwMode="auto">
            <a:xfrm flipH="1" flipV="1">
              <a:off x="3787" y="1434"/>
              <a:ext cx="91" cy="363"/>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10250" name="Line 14"/>
            <p:cNvSpPr>
              <a:spLocks noChangeShapeType="1"/>
            </p:cNvSpPr>
            <p:nvPr/>
          </p:nvSpPr>
          <p:spPr bwMode="auto">
            <a:xfrm flipH="1">
              <a:off x="3651" y="2415"/>
              <a:ext cx="273" cy="335"/>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grpSp>
      <p:sp>
        <p:nvSpPr>
          <p:cNvPr id="15" name="标题 1"/>
          <p:cNvSpPr>
            <a:spLocks noGrp="1"/>
          </p:cNvSpPr>
          <p:nvPr>
            <p:ph type="title"/>
          </p:nvPr>
        </p:nvSpPr>
        <p:spPr>
          <a:xfrm>
            <a:off x="628650" y="365129"/>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8.2.1 </a:t>
            </a:r>
            <a:r>
              <a:rPr lang="zh-CN" altLang="en-US" sz="4400" b="1" dirty="0">
                <a:latin typeface="Times New Roman" panose="02020603050405020304" pitchFamily="18" charset="0"/>
                <a:ea typeface="隶书" panose="02010509060101010101" pitchFamily="49" charset="-122"/>
              </a:rPr>
              <a:t>运算符重载的规则</a:t>
            </a:r>
            <a:endParaRPr lang="zh-CN" altLang="en-US" sz="44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5" name="Group 12"/>
          <p:cNvGrpSpPr/>
          <p:nvPr/>
        </p:nvGrpSpPr>
        <p:grpSpPr bwMode="auto">
          <a:xfrm>
            <a:off x="1403350" y="1628775"/>
            <a:ext cx="6913563" cy="574675"/>
            <a:chOff x="884" y="1026"/>
            <a:chExt cx="4355" cy="362"/>
          </a:xfrm>
        </p:grpSpPr>
        <p:sp>
          <p:nvSpPr>
            <p:cNvPr id="13331" name="Rectangle 4"/>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dirty="0">
                  <a:solidFill>
                    <a:srgbClr val="000000"/>
                  </a:solidFill>
                </a:rPr>
                <a:t>算术运算符</a:t>
              </a:r>
              <a:endParaRPr kumimoji="0" lang="zh-CN" altLang="en-US" sz="2400" dirty="0">
                <a:solidFill>
                  <a:srgbClr val="000000"/>
                </a:solidFill>
              </a:endParaRPr>
            </a:p>
          </p:txBody>
        </p:sp>
        <p:sp>
          <p:nvSpPr>
            <p:cNvPr id="13332" name="Rectangle 5"/>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en-US" altLang="zh-CN" sz="2400"/>
                <a:t>+  -   *   /   %</a:t>
              </a:r>
              <a:endParaRPr kumimoji="0" lang="en-US" altLang="zh-CN" sz="2400"/>
            </a:p>
          </p:txBody>
        </p:sp>
      </p:grpSp>
      <p:grpSp>
        <p:nvGrpSpPr>
          <p:cNvPr id="13316" name="Group 13"/>
          <p:cNvGrpSpPr/>
          <p:nvPr/>
        </p:nvGrpSpPr>
        <p:grpSpPr bwMode="auto">
          <a:xfrm>
            <a:off x="1403350" y="2276475"/>
            <a:ext cx="6913563" cy="574675"/>
            <a:chOff x="884" y="1026"/>
            <a:chExt cx="4355" cy="362"/>
          </a:xfrm>
        </p:grpSpPr>
        <p:sp>
          <p:nvSpPr>
            <p:cNvPr id="13329" name="Rectangle 14"/>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位运算符</a:t>
              </a:r>
              <a:endParaRPr kumimoji="0" lang="zh-CN" altLang="en-US" sz="2400">
                <a:solidFill>
                  <a:srgbClr val="000000"/>
                </a:solidFill>
              </a:endParaRPr>
            </a:p>
          </p:txBody>
        </p:sp>
        <p:sp>
          <p:nvSpPr>
            <p:cNvPr id="13330" name="Rectangle 15"/>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en-US" altLang="zh-CN" sz="2400"/>
                <a:t>^  &amp;  |  ~    &gt;&gt;  &lt;&lt;</a:t>
              </a:r>
              <a:endParaRPr kumimoji="0" lang="en-US" altLang="zh-CN" sz="2400"/>
            </a:p>
          </p:txBody>
        </p:sp>
      </p:grpSp>
      <p:grpSp>
        <p:nvGrpSpPr>
          <p:cNvPr id="13317" name="Group 16"/>
          <p:cNvGrpSpPr/>
          <p:nvPr/>
        </p:nvGrpSpPr>
        <p:grpSpPr bwMode="auto">
          <a:xfrm>
            <a:off x="1403350" y="2924175"/>
            <a:ext cx="6913563" cy="574675"/>
            <a:chOff x="884" y="1026"/>
            <a:chExt cx="4355" cy="362"/>
          </a:xfrm>
        </p:grpSpPr>
        <p:sp>
          <p:nvSpPr>
            <p:cNvPr id="13327" name="Rectangle 17"/>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关系运算符</a:t>
              </a:r>
              <a:endParaRPr kumimoji="0" lang="zh-CN" altLang="en-US" sz="2400">
                <a:solidFill>
                  <a:srgbClr val="000000"/>
                </a:solidFill>
              </a:endParaRPr>
            </a:p>
          </p:txBody>
        </p:sp>
        <p:sp>
          <p:nvSpPr>
            <p:cNvPr id="13328" name="Rectangle 18"/>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en-US" altLang="zh-CN" sz="2400" dirty="0"/>
                <a:t>&lt;    &lt;=    &gt;    &gt;=    !=    ==</a:t>
              </a:r>
              <a:endParaRPr kumimoji="0" lang="en-US" altLang="zh-CN" sz="2400" dirty="0"/>
            </a:p>
          </p:txBody>
        </p:sp>
      </p:grpSp>
      <p:grpSp>
        <p:nvGrpSpPr>
          <p:cNvPr id="13318" name="Group 19"/>
          <p:cNvGrpSpPr/>
          <p:nvPr/>
        </p:nvGrpSpPr>
        <p:grpSpPr bwMode="auto">
          <a:xfrm>
            <a:off x="1403350" y="3573463"/>
            <a:ext cx="6913563" cy="574675"/>
            <a:chOff x="884" y="1026"/>
            <a:chExt cx="4355" cy="362"/>
          </a:xfrm>
        </p:grpSpPr>
        <p:sp>
          <p:nvSpPr>
            <p:cNvPr id="13325" name="Rectangle 20"/>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逻辑运算符</a:t>
              </a:r>
              <a:endParaRPr kumimoji="0" lang="zh-CN" altLang="en-US" sz="2400">
                <a:solidFill>
                  <a:srgbClr val="000000"/>
                </a:solidFill>
              </a:endParaRPr>
            </a:p>
          </p:txBody>
        </p:sp>
        <p:sp>
          <p:nvSpPr>
            <p:cNvPr id="13326" name="Rectangle 21"/>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en-US" altLang="zh-CN" sz="2400" dirty="0"/>
                <a:t>!  &amp;&amp;  ||</a:t>
              </a:r>
              <a:endParaRPr kumimoji="0" lang="en-US" altLang="zh-CN" sz="2400" dirty="0"/>
            </a:p>
          </p:txBody>
        </p:sp>
      </p:grpSp>
      <p:grpSp>
        <p:nvGrpSpPr>
          <p:cNvPr id="13319" name="Group 22"/>
          <p:cNvGrpSpPr/>
          <p:nvPr/>
        </p:nvGrpSpPr>
        <p:grpSpPr bwMode="auto">
          <a:xfrm>
            <a:off x="1403350" y="4221163"/>
            <a:ext cx="6913563" cy="935037"/>
            <a:chOff x="884" y="1026"/>
            <a:chExt cx="4355" cy="362"/>
          </a:xfrm>
        </p:grpSpPr>
        <p:sp>
          <p:nvSpPr>
            <p:cNvPr id="13323" name="Rectangle 23"/>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赋值运算符</a:t>
              </a:r>
              <a:endParaRPr kumimoji="0" lang="zh-CN" altLang="en-US" sz="2400">
                <a:solidFill>
                  <a:srgbClr val="000000"/>
                </a:solidFill>
              </a:endParaRPr>
            </a:p>
          </p:txBody>
        </p:sp>
        <p:sp>
          <p:nvSpPr>
            <p:cNvPr id="13324" name="Rectangle 24"/>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en-US" altLang="zh-CN" sz="2400" dirty="0"/>
                <a:t>=  +=  -=  *=  /=  %=  &lt;&lt;=  &gt;&gt;=  &amp;= |=  ^=</a:t>
              </a:r>
              <a:endParaRPr kumimoji="0" lang="en-US" altLang="zh-CN" sz="2400" dirty="0"/>
            </a:p>
          </p:txBody>
        </p:sp>
      </p:grpSp>
      <p:grpSp>
        <p:nvGrpSpPr>
          <p:cNvPr id="13320" name="Group 25"/>
          <p:cNvGrpSpPr/>
          <p:nvPr/>
        </p:nvGrpSpPr>
        <p:grpSpPr bwMode="auto">
          <a:xfrm>
            <a:off x="1403350" y="5229225"/>
            <a:ext cx="6913563" cy="936625"/>
            <a:chOff x="884" y="1026"/>
            <a:chExt cx="4355" cy="362"/>
          </a:xfrm>
        </p:grpSpPr>
        <p:sp>
          <p:nvSpPr>
            <p:cNvPr id="13321" name="Rectangle 26"/>
            <p:cNvSpPr>
              <a:spLocks noChangeArrowheads="1"/>
            </p:cNvSpPr>
            <p:nvPr/>
          </p:nvSpPr>
          <p:spPr bwMode="auto">
            <a:xfrm>
              <a:off x="884" y="1027"/>
              <a:ext cx="1452" cy="361"/>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其他运算符</a:t>
              </a:r>
              <a:endParaRPr kumimoji="0" lang="zh-CN" altLang="en-US" sz="2400">
                <a:solidFill>
                  <a:srgbClr val="000000"/>
                </a:solidFill>
              </a:endParaRPr>
            </a:p>
          </p:txBody>
        </p:sp>
        <p:sp>
          <p:nvSpPr>
            <p:cNvPr id="13322" name="Rectangle 27"/>
            <p:cNvSpPr>
              <a:spLocks noChangeArrowheads="1"/>
            </p:cNvSpPr>
            <p:nvPr/>
          </p:nvSpPr>
          <p:spPr bwMode="auto">
            <a:xfrm>
              <a:off x="2336" y="1026"/>
              <a:ext cx="2903" cy="362"/>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buClr>
                  <a:srgbClr val="000099"/>
                </a:buClr>
                <a:buSzPct val="65000"/>
                <a:buFont typeface="Wingdings" panose="05000000000000000000" pitchFamily="2" charset="2"/>
                <a:buNone/>
              </a:pPr>
              <a:r>
                <a:rPr kumimoji="0" lang="en-US" altLang="zh-CN" sz="2400" dirty="0"/>
                <a:t>++  --  [ ]  ( )  -&gt;  new  new[ ]  delete  delete[ ]</a:t>
              </a:r>
              <a:endParaRPr kumimoji="0" lang="en-US" altLang="zh-CN" sz="2400" dirty="0"/>
            </a:p>
          </p:txBody>
        </p:sp>
      </p:grpSp>
      <p:sp>
        <p:nvSpPr>
          <p:cNvPr id="21" name="标题 1"/>
          <p:cNvSpPr>
            <a:spLocks noGrp="1"/>
          </p:cNvSpPr>
          <p:nvPr>
            <p:ph type="title"/>
          </p:nvPr>
        </p:nvSpPr>
        <p:spPr>
          <a:xfrm>
            <a:off x="628650" y="365129"/>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8.2.1 </a:t>
            </a:r>
            <a:r>
              <a:rPr lang="zh-CN" altLang="en-US" sz="4400" b="1" dirty="0">
                <a:latin typeface="Times New Roman" panose="02020603050405020304" pitchFamily="18" charset="0"/>
                <a:ea typeface="隶书" panose="02010509060101010101" pitchFamily="49" charset="-122"/>
              </a:rPr>
              <a:t>运算符重载的规则</a:t>
            </a:r>
            <a:endParaRPr lang="zh-CN" altLang="en-US" sz="44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8.2.1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运算符重载的规则</a:t>
            </a:r>
            <a:endParaRPr kumimoji="0" lang="zh-CN" altLang="en-US" sz="3600" dirty="0">
              <a:solidFill>
                <a:schemeClr val="tx2"/>
              </a:solidFill>
              <a:ea typeface="隶书" panose="02010509060101010101" pitchFamily="49" charset="-122"/>
            </a:endParaRPr>
          </a:p>
        </p:txBody>
      </p:sp>
      <p:grpSp>
        <p:nvGrpSpPr>
          <p:cNvPr id="14339" name="Group 21"/>
          <p:cNvGrpSpPr/>
          <p:nvPr/>
        </p:nvGrpSpPr>
        <p:grpSpPr bwMode="auto">
          <a:xfrm>
            <a:off x="1258888" y="1628775"/>
            <a:ext cx="7705725" cy="1368425"/>
            <a:chOff x="793" y="1026"/>
            <a:chExt cx="4854" cy="998"/>
          </a:xfrm>
        </p:grpSpPr>
        <p:sp>
          <p:nvSpPr>
            <p:cNvPr id="14341" name="Rectangle 4"/>
            <p:cNvSpPr>
              <a:spLocks noChangeArrowheads="1"/>
            </p:cNvSpPr>
            <p:nvPr/>
          </p:nvSpPr>
          <p:spPr bwMode="auto">
            <a:xfrm>
              <a:off x="793" y="1029"/>
              <a:ext cx="908" cy="995"/>
            </a:xfrm>
            <a:prstGeom prst="rect">
              <a:avLst/>
            </a:prstGeom>
            <a:solidFill>
              <a:srgbClr val="DDDDDD"/>
            </a:solidFill>
            <a:ln w="9525">
              <a:solidFill>
                <a:schemeClr val="tx1"/>
              </a:solidFill>
              <a:miter lim="800000"/>
            </a:ln>
          </p:spPr>
          <p:txBody>
            <a:bodyPr anchor="ctr"/>
            <a:lstStyle>
              <a:lvl1pPr marL="342900" indent="-3429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不可重载</a:t>
              </a:r>
              <a:endParaRPr kumimoji="0" lang="zh-CN" altLang="en-US" sz="2400">
                <a:solidFill>
                  <a:srgbClr val="000000"/>
                </a:solidFill>
              </a:endParaRPr>
            </a:p>
            <a:p>
              <a:pPr algn="l" eaLnBrk="1" hangingPunct="1">
                <a:lnSpc>
                  <a:spcPct val="120000"/>
                </a:lnSpc>
                <a:spcBef>
                  <a:spcPct val="50000"/>
                </a:spcBef>
                <a:buClr>
                  <a:srgbClr val="000099"/>
                </a:buClr>
                <a:buSzPct val="65000"/>
                <a:buFont typeface="Wingdings" panose="05000000000000000000" pitchFamily="2" charset="2"/>
                <a:buNone/>
              </a:pPr>
              <a:r>
                <a:rPr kumimoji="0" lang="zh-CN" altLang="en-US" sz="2400">
                  <a:solidFill>
                    <a:srgbClr val="000000"/>
                  </a:solidFill>
                </a:rPr>
                <a:t>运算符</a:t>
              </a:r>
              <a:endParaRPr kumimoji="0" lang="zh-CN" altLang="en-US" sz="2400">
                <a:solidFill>
                  <a:srgbClr val="000000"/>
                </a:solidFill>
              </a:endParaRPr>
            </a:p>
          </p:txBody>
        </p:sp>
        <p:sp>
          <p:nvSpPr>
            <p:cNvPr id="14342" name="Rectangle 5"/>
            <p:cNvSpPr>
              <a:spLocks noChangeArrowheads="1"/>
            </p:cNvSpPr>
            <p:nvPr/>
          </p:nvSpPr>
          <p:spPr bwMode="auto">
            <a:xfrm>
              <a:off x="1701" y="1026"/>
              <a:ext cx="3946" cy="998"/>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rgbClr val="000099"/>
                </a:buClr>
                <a:buSzPct val="65000"/>
                <a:buFont typeface="Wingdings" panose="05000000000000000000" pitchFamily="2" charset="2"/>
                <a:buNone/>
              </a:pPr>
              <a:r>
                <a:rPr kumimoji="0" lang="en-US" altLang="zh-CN" sz="2400" dirty="0"/>
                <a:t>. </a:t>
              </a:r>
              <a:r>
                <a:rPr kumimoji="0" lang="zh-CN" altLang="en-US" sz="2400" dirty="0"/>
                <a:t>（成员引用运算符）   </a:t>
              </a:r>
              <a:r>
                <a:rPr kumimoji="0" lang="en-US" altLang="zh-CN" sz="2400" smtClean="0"/>
                <a:t>.</a:t>
              </a:r>
              <a:r>
                <a:rPr kumimoji="0" lang="zh-CN" altLang="en-US" sz="2400" smtClean="0"/>
                <a:t>*</a:t>
              </a:r>
              <a:r>
                <a:rPr kumimoji="0" lang="zh-CN" altLang="en-US" sz="2400"/>
                <a:t>（成员指针运算符）</a:t>
              </a:r>
              <a:endParaRPr kumimoji="0" lang="zh-CN" altLang="en-US" sz="2400"/>
            </a:p>
            <a:p>
              <a:pPr algn="l" eaLnBrk="1" hangingPunct="1">
                <a:lnSpc>
                  <a:spcPct val="100000"/>
                </a:lnSpc>
                <a:buClr>
                  <a:srgbClr val="000099"/>
                </a:buClr>
                <a:buSzPct val="65000"/>
                <a:buFont typeface="Wingdings" panose="05000000000000000000" pitchFamily="2" charset="2"/>
                <a:buNone/>
              </a:pPr>
              <a:r>
                <a:rPr kumimoji="0" lang="en-US" altLang="zh-CN" sz="2400" dirty="0"/>
                <a:t>::                                       ? :</a:t>
              </a:r>
              <a:endParaRPr kumimoji="0" lang="en-US" altLang="zh-CN" sz="2400" dirty="0"/>
            </a:p>
            <a:p>
              <a:pPr algn="l" eaLnBrk="1" hangingPunct="1">
                <a:lnSpc>
                  <a:spcPct val="100000"/>
                </a:lnSpc>
                <a:buClr>
                  <a:srgbClr val="000099"/>
                </a:buClr>
                <a:buSzPct val="65000"/>
                <a:buFont typeface="Wingdings" panose="05000000000000000000" pitchFamily="2" charset="2"/>
                <a:buNone/>
              </a:pPr>
              <a:r>
                <a:rPr kumimoji="0" lang="en-US" altLang="zh-CN" sz="2400" dirty="0" err="1"/>
                <a:t>sizeof</a:t>
              </a:r>
              <a:r>
                <a:rPr kumimoji="0" lang="en-US" altLang="zh-CN" sz="2400" dirty="0"/>
                <a:t> </a:t>
              </a:r>
              <a:endParaRPr kumimoji="0" lang="en-US" altLang="zh-CN" sz="2400" dirty="0"/>
            </a:p>
          </p:txBody>
        </p:sp>
      </p:grpSp>
      <p:sp>
        <p:nvSpPr>
          <p:cNvPr id="14340" name="Rectangle 8"/>
          <p:cNvSpPr>
            <a:spLocks noChangeArrowheads="1"/>
          </p:cNvSpPr>
          <p:nvPr/>
        </p:nvSpPr>
        <p:spPr bwMode="auto">
          <a:xfrm>
            <a:off x="1258888" y="3213100"/>
            <a:ext cx="7705725" cy="3240088"/>
          </a:xfrm>
          <a:prstGeom prst="rect">
            <a:avLst/>
          </a:prstGeom>
          <a:solidFill>
            <a:schemeClr val="bg1"/>
          </a:solidFill>
          <a:ln w="9525">
            <a:solidFill>
              <a:schemeClr val="tx1"/>
            </a:solidFill>
            <a:miter lim="800000"/>
          </a:ln>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spcBef>
                <a:spcPct val="10000"/>
              </a:spcBef>
              <a:buClr>
                <a:srgbClr val="000099"/>
              </a:buClr>
              <a:buSzPct val="65000"/>
              <a:buFont typeface="Wingdings" panose="05000000000000000000" pitchFamily="2" charset="2"/>
              <a:buNone/>
            </a:pPr>
            <a:r>
              <a:rPr kumimoji="0" lang="zh-CN" altLang="en-US" sz="2400" dirty="0"/>
              <a:t>运算符重载需要注意的问题：</a:t>
            </a:r>
            <a:endParaRPr kumimoji="0" lang="zh-CN" altLang="en-US" sz="2400" dirty="0"/>
          </a:p>
          <a:p>
            <a:pPr algn="l" eaLnBrk="1" hangingPunct="1">
              <a:lnSpc>
                <a:spcPct val="120000"/>
              </a:lnSpc>
              <a:spcBef>
                <a:spcPct val="10000"/>
              </a:spcBef>
              <a:buClr>
                <a:srgbClr val="000099"/>
              </a:buClr>
              <a:buSzPct val="65000"/>
              <a:buFont typeface="Wingdings" panose="05000000000000000000" pitchFamily="2" charset="2"/>
              <a:buChar char="u"/>
            </a:pPr>
            <a:r>
              <a:rPr kumimoji="0" lang="zh-CN" altLang="en-US" sz="2400" dirty="0"/>
              <a:t>重载的运算符</a:t>
            </a:r>
            <a:r>
              <a:rPr kumimoji="0" lang="zh-CN" altLang="en-US" sz="2400" u="sng" dirty="0">
                <a:solidFill>
                  <a:srgbClr val="FFFF00"/>
                </a:solidFill>
              </a:rPr>
              <a:t>要保持原运算符的意义</a:t>
            </a:r>
            <a:r>
              <a:rPr kumimoji="0" lang="zh-CN" altLang="en-US" sz="2400" dirty="0"/>
              <a:t>。例如，单目运算符不能重载为双目运算符；</a:t>
            </a:r>
            <a:endParaRPr kumimoji="0" lang="zh-CN" altLang="en-US" sz="2400" dirty="0"/>
          </a:p>
          <a:p>
            <a:pPr algn="l" eaLnBrk="1" hangingPunct="1">
              <a:lnSpc>
                <a:spcPct val="120000"/>
              </a:lnSpc>
              <a:spcBef>
                <a:spcPct val="10000"/>
              </a:spcBef>
              <a:buClr>
                <a:srgbClr val="000099"/>
              </a:buClr>
              <a:buSzPct val="65000"/>
              <a:buFont typeface="Wingdings" panose="05000000000000000000" pitchFamily="2" charset="2"/>
              <a:buChar char="u"/>
            </a:pPr>
            <a:r>
              <a:rPr kumimoji="0" lang="zh-CN" altLang="en-US" sz="2400" dirty="0"/>
              <a:t>只能对已有的运算符重载，</a:t>
            </a:r>
            <a:r>
              <a:rPr kumimoji="0" lang="zh-CN" altLang="en-US" sz="2400" u="sng" dirty="0">
                <a:solidFill>
                  <a:srgbClr val="FFFF00"/>
                </a:solidFill>
              </a:rPr>
              <a:t>不能增加新的运算符</a:t>
            </a:r>
            <a:r>
              <a:rPr kumimoji="0" lang="zh-CN" altLang="en-US" sz="2400" dirty="0"/>
              <a:t>；</a:t>
            </a:r>
            <a:endParaRPr kumimoji="0" lang="zh-CN" altLang="en-US" sz="2400" dirty="0"/>
          </a:p>
          <a:p>
            <a:pPr algn="l" eaLnBrk="1" hangingPunct="1">
              <a:lnSpc>
                <a:spcPct val="120000"/>
              </a:lnSpc>
              <a:spcBef>
                <a:spcPct val="10000"/>
              </a:spcBef>
              <a:buClr>
                <a:srgbClr val="000099"/>
              </a:buClr>
              <a:buSzPct val="65000"/>
              <a:buFont typeface="Wingdings" panose="05000000000000000000" pitchFamily="2" charset="2"/>
              <a:buChar char="u"/>
            </a:pPr>
            <a:r>
              <a:rPr kumimoji="0" lang="zh-CN" altLang="en-US" sz="2400" dirty="0"/>
              <a:t>重载的运算符</a:t>
            </a:r>
            <a:r>
              <a:rPr kumimoji="0" lang="zh-CN" altLang="en-US" sz="2400" u="sng" dirty="0">
                <a:solidFill>
                  <a:srgbClr val="FFFF00"/>
                </a:solidFill>
              </a:rPr>
              <a:t>不会改变优先级别和结合性</a:t>
            </a:r>
            <a:r>
              <a:rPr kumimoji="0" lang="zh-CN" altLang="en-US" sz="2400" dirty="0"/>
              <a:t>；</a:t>
            </a:r>
            <a:endParaRPr kumimoji="0" lang="zh-CN" altLang="en-US" sz="2400" dirty="0"/>
          </a:p>
          <a:p>
            <a:pPr algn="l" eaLnBrk="1" hangingPunct="1">
              <a:lnSpc>
                <a:spcPct val="120000"/>
              </a:lnSpc>
              <a:spcBef>
                <a:spcPct val="10000"/>
              </a:spcBef>
              <a:buClr>
                <a:srgbClr val="000099"/>
              </a:buClr>
              <a:buSzPct val="65000"/>
              <a:buFont typeface="Wingdings" panose="05000000000000000000" pitchFamily="2" charset="2"/>
              <a:buChar char="u"/>
            </a:pPr>
            <a:r>
              <a:rPr kumimoji="0" lang="zh-CN" altLang="en-US" sz="2400" dirty="0"/>
              <a:t>以下运算符只允许用成员函数重载：</a:t>
            </a:r>
            <a:r>
              <a:rPr kumimoji="0" lang="en-US" altLang="zh-CN" sz="2400" dirty="0"/>
              <a:t>=   ( )   [  ]  new  delete</a:t>
            </a:r>
            <a:endParaRPr kumimoji="0" lang="en-US" altLang="zh-CN" sz="2400"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258888" y="2349500"/>
            <a:ext cx="7672387" cy="26574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Clr>
                <a:srgbClr val="000099"/>
              </a:buClr>
              <a:buSzPct val="65000"/>
              <a:buFont typeface="Wingdings" panose="05000000000000000000" pitchFamily="2" charset="2"/>
              <a:buChar char="u"/>
            </a:pPr>
            <a:r>
              <a:rPr lang="zh-CN" altLang="en-US" sz="2400" dirty="0"/>
              <a:t>运算符重载时，运算符函数只能定义为两种方式：</a:t>
            </a:r>
            <a:br>
              <a:rPr lang="zh-CN" altLang="en-US" sz="2400" dirty="0"/>
            </a:br>
            <a:r>
              <a:rPr lang="zh-CN" altLang="en-US" sz="2400" dirty="0"/>
              <a:t>          类的成员函数</a:t>
            </a:r>
            <a:br>
              <a:rPr lang="zh-CN" altLang="en-US" sz="2400" dirty="0"/>
            </a:br>
            <a:r>
              <a:rPr lang="zh-CN" altLang="en-US" sz="2400" dirty="0"/>
              <a:t>          友元函数</a:t>
            </a:r>
            <a:endParaRPr lang="zh-CN" altLang="en-US" sz="2400" dirty="0"/>
          </a:p>
          <a:p>
            <a:pPr algn="l" eaLnBrk="1" hangingPunct="1">
              <a:lnSpc>
                <a:spcPct val="100000"/>
              </a:lnSpc>
              <a:buClr>
                <a:srgbClr val="000099"/>
              </a:buClr>
              <a:buSzPct val="65000"/>
              <a:buFont typeface="Wingdings" panose="05000000000000000000" pitchFamily="2" charset="2"/>
              <a:buNone/>
            </a:pPr>
            <a:endParaRPr lang="zh-CN" altLang="en-US" sz="2400" dirty="0"/>
          </a:p>
          <a:p>
            <a:pPr algn="l" eaLnBrk="1" hangingPunct="1">
              <a:lnSpc>
                <a:spcPct val="100000"/>
              </a:lnSpc>
              <a:buClr>
                <a:srgbClr val="000099"/>
              </a:buClr>
              <a:buSzPct val="65000"/>
              <a:buFont typeface="Wingdings" panose="05000000000000000000" pitchFamily="2" charset="2"/>
              <a:buChar char="u"/>
            </a:pPr>
            <a:r>
              <a:rPr lang="zh-CN" altLang="en-US" sz="2400" dirty="0"/>
              <a:t>这两种方式非常相似，关键区别在于</a:t>
            </a:r>
            <a:br>
              <a:rPr lang="zh-CN" altLang="en-US" sz="2400" dirty="0"/>
            </a:br>
            <a:r>
              <a:rPr lang="zh-CN" altLang="en-US" sz="2400" dirty="0"/>
              <a:t>          </a:t>
            </a:r>
            <a:r>
              <a:rPr lang="zh-CN" altLang="en-US" sz="2400" u="sng" dirty="0">
                <a:solidFill>
                  <a:srgbClr val="FFFF00"/>
                </a:solidFill>
              </a:rPr>
              <a:t>成员函数具有 </a:t>
            </a:r>
            <a:r>
              <a:rPr lang="en-US" altLang="zh-CN" sz="2400" u="sng" dirty="0">
                <a:solidFill>
                  <a:srgbClr val="FFFF00"/>
                </a:solidFill>
              </a:rPr>
              <a:t>this </a:t>
            </a:r>
            <a:r>
              <a:rPr lang="zh-CN" altLang="en-US" sz="2400" u="sng" dirty="0">
                <a:solidFill>
                  <a:srgbClr val="FFFF00"/>
                </a:solidFill>
              </a:rPr>
              <a:t>指针</a:t>
            </a:r>
            <a:br>
              <a:rPr lang="zh-CN" altLang="en-US" sz="2400" u="sng" dirty="0">
                <a:solidFill>
                  <a:srgbClr val="FFFF00"/>
                </a:solidFill>
              </a:rPr>
            </a:br>
            <a:r>
              <a:rPr lang="zh-CN" altLang="en-US" sz="2400" dirty="0">
                <a:solidFill>
                  <a:srgbClr val="FFFF00"/>
                </a:solidFill>
              </a:rPr>
              <a:t>          </a:t>
            </a:r>
            <a:r>
              <a:rPr lang="zh-CN" altLang="en-US" sz="2400" u="sng" dirty="0">
                <a:solidFill>
                  <a:srgbClr val="FFFF00"/>
                </a:solidFill>
              </a:rPr>
              <a:t>友元函数没有 </a:t>
            </a:r>
            <a:r>
              <a:rPr lang="en-US" altLang="zh-CN" sz="2400" u="sng" dirty="0">
                <a:solidFill>
                  <a:srgbClr val="FFFF00"/>
                </a:solidFill>
              </a:rPr>
              <a:t>this </a:t>
            </a:r>
            <a:r>
              <a:rPr lang="zh-CN" altLang="en-US" sz="2400" u="sng" dirty="0">
                <a:solidFill>
                  <a:srgbClr val="FFFF00"/>
                </a:solidFill>
              </a:rPr>
              <a:t>指针</a:t>
            </a:r>
            <a:endParaRPr lang="zh-CN" altLang="en-US" sz="2400" u="sng" dirty="0">
              <a:solidFill>
                <a:srgbClr val="FFFF00"/>
              </a:solidFill>
            </a:endParaRPr>
          </a:p>
        </p:txBody>
      </p:sp>
      <p:sp>
        <p:nvSpPr>
          <p:cNvPr id="15363" name="Rectangle 7"/>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8.2.1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运算符重载的规则</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a:p>
            <a:pPr algn="ctr" eaLnBrk="1" hangingPunct="1">
              <a:lnSpc>
                <a:spcPct val="100000"/>
              </a:lnSpc>
            </a:pPr>
            <a:r>
              <a:rPr lang="en-US" altLang="zh-CN" sz="4000" i="1" dirty="0">
                <a:solidFill>
                  <a:srgbClr val="FFFF00"/>
                </a:solidFill>
                <a:effectLst>
                  <a:outerShdw blurRad="38100" dist="38100" dir="2700000" algn="tl">
                    <a:srgbClr val="000000"/>
                  </a:outerShdw>
                </a:effectLst>
                <a:ea typeface="隶书" panose="02010509060101010101" pitchFamily="49" charset="-122"/>
              </a:rPr>
              <a:t>(</a:t>
            </a:r>
            <a:r>
              <a:rPr lang="zh-CN" altLang="en-US" sz="4000" i="1" dirty="0">
                <a:solidFill>
                  <a:srgbClr val="FFFF00"/>
                </a:solidFill>
                <a:effectLst>
                  <a:outerShdw blurRad="38100" dist="38100" dir="2700000" algn="tl">
                    <a:srgbClr val="000000"/>
                  </a:outerShdw>
                </a:effectLst>
                <a:ea typeface="隶书" panose="02010509060101010101" pitchFamily="49" charset="-122"/>
              </a:rPr>
              <a:t>一元运算符重载的方法</a:t>
            </a:r>
            <a:r>
              <a:rPr lang="en-US" altLang="zh-CN" sz="4000" i="1" dirty="0">
                <a:solidFill>
                  <a:srgbClr val="FFFF00"/>
                </a:solidFill>
                <a:effectLst>
                  <a:outerShdw blurRad="38100" dist="38100" dir="2700000" algn="tl">
                    <a:srgbClr val="000000"/>
                  </a:outerShdw>
                </a:effectLst>
                <a:ea typeface="隶书" panose="02010509060101010101" pitchFamily="49" charset="-122"/>
              </a:rPr>
              <a:t>)</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8.2.1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运算符重载的规则</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a:p>
            <a:pPr eaLnBrk="1" hangingPunct="1"/>
            <a:r>
              <a:rPr lang="en-US" altLang="zh-CN" sz="4000" i="1" dirty="0">
                <a:solidFill>
                  <a:srgbClr val="FFFF00"/>
                </a:solidFill>
                <a:effectLst>
                  <a:outerShdw blurRad="38100" dist="38100" dir="2700000" algn="tl">
                    <a:srgbClr val="000000"/>
                  </a:outerShdw>
                </a:effectLst>
                <a:ea typeface="隶书" panose="02010509060101010101" pitchFamily="49" charset="-122"/>
              </a:rPr>
              <a:t>(</a:t>
            </a:r>
            <a:r>
              <a:rPr lang="zh-CN" altLang="en-US" sz="4000" i="1" dirty="0">
                <a:solidFill>
                  <a:srgbClr val="FFFF00"/>
                </a:solidFill>
                <a:effectLst>
                  <a:outerShdw blurRad="38100" dist="38100" dir="2700000" algn="tl">
                    <a:srgbClr val="000000"/>
                  </a:outerShdw>
                </a:effectLst>
                <a:ea typeface="隶书" panose="02010509060101010101" pitchFamily="49" charset="-122"/>
              </a:rPr>
              <a:t>一元运算符重载的方法</a:t>
            </a:r>
            <a:r>
              <a:rPr lang="en-US" altLang="zh-CN" sz="4000" i="1" dirty="0">
                <a:solidFill>
                  <a:srgbClr val="FFFF00"/>
                </a:solidFill>
                <a:effectLst>
                  <a:outerShdw blurRad="38100" dist="38100" dir="2700000" algn="tl">
                    <a:srgbClr val="000000"/>
                  </a:outerShdw>
                </a:effectLst>
                <a:ea typeface="隶书" panose="02010509060101010101" pitchFamily="49" charset="-122"/>
              </a:rPr>
              <a:t>)</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
        <p:nvSpPr>
          <p:cNvPr id="16387" name="Rectangle 4"/>
          <p:cNvSpPr>
            <a:spLocks noChangeArrowheads="1"/>
          </p:cNvSpPr>
          <p:nvPr/>
        </p:nvSpPr>
        <p:spPr bwMode="auto">
          <a:xfrm>
            <a:off x="1042988" y="1628775"/>
            <a:ext cx="78882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t>一元运算符，不论是前缀还是后缀，都需要一个操作数：</a:t>
            </a:r>
            <a:endParaRPr lang="zh-CN" altLang="en-US" sz="2400" dirty="0"/>
          </a:p>
          <a:p>
            <a:pPr eaLnBrk="1" hangingPunct="1">
              <a:lnSpc>
                <a:spcPct val="100000"/>
              </a:lnSpc>
            </a:pPr>
            <a:endParaRPr lang="zh-CN" altLang="en-US" sz="2400" dirty="0">
              <a:solidFill>
                <a:srgbClr val="800000"/>
              </a:solidFill>
            </a:endParaRPr>
          </a:p>
          <a:p>
            <a:pPr algn="l" eaLnBrk="1" hangingPunct="1">
              <a:lnSpc>
                <a:spcPct val="100000"/>
              </a:lnSpc>
            </a:pPr>
            <a:r>
              <a:rPr lang="zh-CN" altLang="en-US" sz="2400" dirty="0">
                <a:solidFill>
                  <a:srgbClr val="FFFF00"/>
                </a:solidFill>
              </a:rPr>
              <a:t>               </a:t>
            </a:r>
            <a:r>
              <a:rPr lang="en-US" altLang="zh-CN" sz="2400" dirty="0">
                <a:solidFill>
                  <a:srgbClr val="FFFF00"/>
                </a:solidFill>
              </a:rPr>
              <a:t>aa @	</a:t>
            </a:r>
            <a:r>
              <a:rPr lang="en-US" altLang="zh-CN" sz="2400" dirty="0"/>
              <a:t>	</a:t>
            </a:r>
            <a:r>
              <a:rPr lang="zh-CN" altLang="zh-CN" sz="2400" dirty="0"/>
              <a:t>及                </a:t>
            </a:r>
            <a:r>
              <a:rPr lang="en-US" altLang="zh-CN" sz="2400" dirty="0">
                <a:solidFill>
                  <a:srgbClr val="FFFF00"/>
                </a:solidFill>
              </a:rPr>
              <a:t>@ aa</a:t>
            </a:r>
            <a:endParaRPr lang="en-US" altLang="zh-CN" sz="2400" dirty="0">
              <a:solidFill>
                <a:srgbClr val="FFFF00"/>
              </a:solidFill>
            </a:endParaRPr>
          </a:p>
          <a:p>
            <a:pPr algn="l" eaLnBrk="1" hangingPunct="1">
              <a:lnSpc>
                <a:spcPct val="100000"/>
              </a:lnSpc>
              <a:buClr>
                <a:srgbClr val="000099"/>
              </a:buClr>
              <a:buSzPct val="65000"/>
              <a:buFont typeface="Wingdings" panose="05000000000000000000" pitchFamily="2" charset="2"/>
              <a:buChar char="u"/>
            </a:pPr>
            <a:r>
              <a:rPr lang="en-US" altLang="zh-CN" sz="2400" dirty="0">
                <a:solidFill>
                  <a:srgbClr val="800000"/>
                </a:solidFill>
              </a:rPr>
              <a:t>  </a:t>
            </a:r>
            <a:r>
              <a:rPr lang="en-US" altLang="zh-CN" sz="2400" dirty="0">
                <a:solidFill>
                  <a:srgbClr val="FFFF00"/>
                </a:solidFill>
              </a:rPr>
              <a:t>@</a:t>
            </a:r>
            <a:r>
              <a:rPr lang="zh-CN" altLang="en-US" sz="2400" dirty="0">
                <a:solidFill>
                  <a:srgbClr val="000099"/>
                </a:solidFill>
              </a:rPr>
              <a:t>：</a:t>
            </a:r>
            <a:r>
              <a:rPr lang="zh-CN" altLang="en-US" sz="2400" dirty="0"/>
              <a:t>重载的运算符</a:t>
            </a:r>
            <a:endParaRPr lang="zh-CN" altLang="en-US" sz="2400" dirty="0"/>
          </a:p>
          <a:p>
            <a:pPr algn="l" eaLnBrk="1" hangingPunct="1">
              <a:lnSpc>
                <a:spcPct val="100000"/>
              </a:lnSpc>
              <a:buClr>
                <a:srgbClr val="000099"/>
              </a:buClr>
              <a:buSzPct val="65000"/>
              <a:buFont typeface="Wingdings" panose="05000000000000000000" pitchFamily="2" charset="2"/>
              <a:buChar char="u"/>
            </a:pPr>
            <a:r>
              <a:rPr lang="zh-CN" altLang="en-US" sz="2400" dirty="0"/>
              <a:t>  </a:t>
            </a:r>
            <a:r>
              <a:rPr lang="en-US" altLang="zh-CN" sz="2400" dirty="0">
                <a:solidFill>
                  <a:srgbClr val="FFFF00"/>
                </a:solidFill>
              </a:rPr>
              <a:t>aa</a:t>
            </a:r>
            <a:r>
              <a:rPr lang="zh-CN" altLang="en-US" sz="2400" dirty="0">
                <a:solidFill>
                  <a:srgbClr val="FFFF00"/>
                </a:solidFill>
              </a:rPr>
              <a:t>：</a:t>
            </a:r>
            <a:r>
              <a:rPr lang="zh-CN" altLang="en-US" sz="2400" dirty="0"/>
              <a:t>重载运算符的类的对象</a:t>
            </a:r>
            <a:endParaRPr lang="zh-CN" altLang="en-US" sz="2400" dirty="0">
              <a:solidFill>
                <a:srgbClr val="000099"/>
              </a:solidFill>
            </a:endParaRPr>
          </a:p>
        </p:txBody>
      </p:sp>
      <p:sp>
        <p:nvSpPr>
          <p:cNvPr id="16388" name="Text Box 5"/>
          <p:cNvSpPr txBox="1">
            <a:spLocks noChangeArrowheads="1"/>
          </p:cNvSpPr>
          <p:nvPr/>
        </p:nvSpPr>
        <p:spPr bwMode="auto">
          <a:xfrm>
            <a:off x="539750" y="4610100"/>
            <a:ext cx="3744913" cy="100469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30000"/>
              </a:lnSpc>
            </a:pPr>
            <a:r>
              <a:rPr lang="zh-CN" altLang="en-US" sz="2400" dirty="0"/>
              <a:t>可以解释为：</a:t>
            </a:r>
            <a:endParaRPr lang="zh-CN" altLang="en-US" sz="2400" dirty="0"/>
          </a:p>
          <a:p>
            <a:pPr eaLnBrk="1" hangingPunct="1">
              <a:lnSpc>
                <a:spcPct val="130000"/>
              </a:lnSpc>
            </a:pPr>
            <a:r>
              <a:rPr lang="zh-CN" altLang="en-US" sz="2400" dirty="0"/>
              <a:t>	</a:t>
            </a:r>
            <a:r>
              <a:rPr lang="en-US" altLang="zh-CN" sz="2400" dirty="0">
                <a:solidFill>
                  <a:srgbClr val="FFFF00"/>
                </a:solidFill>
              </a:rPr>
              <a:t>aa . operator @ ( )</a:t>
            </a:r>
            <a:endParaRPr lang="en-US" altLang="zh-CN" sz="2400" dirty="0">
              <a:solidFill>
                <a:srgbClr val="FFFF00"/>
              </a:solidFill>
            </a:endParaRPr>
          </a:p>
        </p:txBody>
      </p:sp>
      <p:sp>
        <p:nvSpPr>
          <p:cNvPr id="16389" name="Text Box 6"/>
          <p:cNvSpPr txBox="1">
            <a:spLocks noChangeArrowheads="1"/>
          </p:cNvSpPr>
          <p:nvPr/>
        </p:nvSpPr>
        <p:spPr bwMode="auto">
          <a:xfrm>
            <a:off x="4799013" y="3803650"/>
            <a:ext cx="4132262" cy="2474913"/>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30000"/>
              </a:lnSpc>
            </a:pPr>
            <a:r>
              <a:rPr lang="zh-CN" altLang="en-US" sz="2400" dirty="0"/>
              <a:t>一元运算符函数 </a:t>
            </a:r>
            <a:r>
              <a:rPr lang="en-US" altLang="zh-CN" sz="2400" u="sng" dirty="0"/>
              <a:t>operator @</a:t>
            </a:r>
            <a:r>
              <a:rPr lang="en-US" altLang="zh-CN" sz="2400" dirty="0"/>
              <a:t> </a:t>
            </a:r>
            <a:r>
              <a:rPr lang="zh-CN" altLang="en-US" sz="2400" dirty="0"/>
              <a:t>所需的一个</a:t>
            </a:r>
            <a:r>
              <a:rPr lang="zh-CN" altLang="en-US" sz="2400" u="sng" dirty="0"/>
              <a:t>操作数由对象 </a:t>
            </a:r>
            <a:r>
              <a:rPr lang="en-US" altLang="zh-CN" sz="2400" u="sng" dirty="0"/>
              <a:t>aa</a:t>
            </a:r>
            <a:r>
              <a:rPr lang="zh-CN" altLang="en-US" sz="2400" u="sng" dirty="0"/>
              <a:t>通过</a:t>
            </a:r>
            <a:r>
              <a:rPr lang="en-US" altLang="zh-CN" sz="2400" u="sng" dirty="0"/>
              <a:t>this </a:t>
            </a:r>
            <a:r>
              <a:rPr lang="zh-CN" altLang="en-US" sz="2400" u="sng" dirty="0"/>
              <a:t>指针隐含地传递</a:t>
            </a:r>
            <a:r>
              <a:rPr lang="zh-CN" altLang="en-US" sz="2400" dirty="0"/>
              <a:t>，因此参数表为空。这时，运算符函数</a:t>
            </a:r>
            <a:r>
              <a:rPr lang="zh-CN" altLang="en-US" sz="2400" u="sng" dirty="0"/>
              <a:t>用类的成员函数表示</a:t>
            </a:r>
            <a:endParaRPr lang="zh-CN" altLang="en-US" sz="2400" u="sng" dirty="0"/>
          </a:p>
        </p:txBody>
      </p:sp>
      <p:sp>
        <p:nvSpPr>
          <p:cNvPr id="16390" name="AutoShape 9"/>
          <p:cNvSpPr>
            <a:spLocks noChangeArrowheads="1"/>
          </p:cNvSpPr>
          <p:nvPr/>
        </p:nvSpPr>
        <p:spPr bwMode="auto">
          <a:xfrm>
            <a:off x="4356100" y="4437063"/>
            <a:ext cx="442913" cy="1368425"/>
          </a:xfrm>
          <a:prstGeom prst="rightArrow">
            <a:avLst>
              <a:gd name="adj1" fmla="val 50000"/>
              <a:gd name="adj2" fmla="val 25000"/>
            </a:avLst>
          </a:prstGeom>
          <a:solidFill>
            <a:schemeClr val="hlink"/>
          </a:solidFill>
          <a:ln w="9525" algn="ctr">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8.2.1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运算符重载的规则</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a:p>
            <a:pPr eaLnBrk="1" hangingPunct="1"/>
            <a:r>
              <a:rPr lang="en-US" altLang="zh-CN" sz="4000" i="1" dirty="0">
                <a:solidFill>
                  <a:srgbClr val="FFFF00"/>
                </a:solidFill>
                <a:effectLst>
                  <a:outerShdw blurRad="38100" dist="38100" dir="2700000" algn="tl">
                    <a:srgbClr val="000000"/>
                  </a:outerShdw>
                </a:effectLst>
                <a:ea typeface="隶书" panose="02010509060101010101" pitchFamily="49" charset="-122"/>
              </a:rPr>
              <a:t>(</a:t>
            </a:r>
            <a:r>
              <a:rPr lang="zh-CN" altLang="en-US" sz="4000" i="1" dirty="0">
                <a:solidFill>
                  <a:srgbClr val="FFFF00"/>
                </a:solidFill>
                <a:effectLst>
                  <a:outerShdw blurRad="38100" dist="38100" dir="2700000" algn="tl">
                    <a:srgbClr val="000000"/>
                  </a:outerShdw>
                </a:effectLst>
                <a:ea typeface="隶书" panose="02010509060101010101" pitchFamily="49" charset="-122"/>
              </a:rPr>
              <a:t>一元运算符重载的方法</a:t>
            </a:r>
            <a:r>
              <a:rPr lang="en-US" altLang="zh-CN" sz="4000" i="1" dirty="0">
                <a:solidFill>
                  <a:srgbClr val="FFFF00"/>
                </a:solidFill>
                <a:effectLst>
                  <a:outerShdw blurRad="38100" dist="38100" dir="2700000" algn="tl">
                    <a:srgbClr val="000000"/>
                  </a:outerShdw>
                </a:effectLst>
                <a:ea typeface="隶书" panose="02010509060101010101" pitchFamily="49" charset="-122"/>
              </a:rPr>
              <a:t>)</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
        <p:nvSpPr>
          <p:cNvPr id="17411" name="Rectangle 3"/>
          <p:cNvSpPr>
            <a:spLocks noChangeArrowheads="1"/>
          </p:cNvSpPr>
          <p:nvPr/>
        </p:nvSpPr>
        <p:spPr bwMode="auto">
          <a:xfrm>
            <a:off x="1042988" y="1628775"/>
            <a:ext cx="78882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t>一元运算符，不论是前缀还是后缀，都需要一个操作数：</a:t>
            </a:r>
            <a:endParaRPr lang="zh-CN" altLang="en-US" sz="2400" dirty="0"/>
          </a:p>
          <a:p>
            <a:pPr eaLnBrk="1" hangingPunct="1">
              <a:lnSpc>
                <a:spcPct val="100000"/>
              </a:lnSpc>
            </a:pPr>
            <a:endParaRPr lang="zh-CN" altLang="en-US" sz="2400" dirty="0">
              <a:solidFill>
                <a:srgbClr val="800000"/>
              </a:solidFill>
            </a:endParaRPr>
          </a:p>
          <a:p>
            <a:pPr algn="l" eaLnBrk="1" hangingPunct="1">
              <a:lnSpc>
                <a:spcPct val="100000"/>
              </a:lnSpc>
            </a:pPr>
            <a:r>
              <a:rPr lang="zh-CN" altLang="en-US" sz="2400" dirty="0">
                <a:solidFill>
                  <a:srgbClr val="FFFF00"/>
                </a:solidFill>
              </a:rPr>
              <a:t>               </a:t>
            </a:r>
            <a:r>
              <a:rPr lang="en-US" altLang="zh-CN" sz="2400" dirty="0">
                <a:solidFill>
                  <a:srgbClr val="FFFF00"/>
                </a:solidFill>
              </a:rPr>
              <a:t>aa @		</a:t>
            </a:r>
            <a:r>
              <a:rPr lang="zh-CN" altLang="zh-CN" sz="2400" dirty="0"/>
              <a:t>及             </a:t>
            </a:r>
            <a:r>
              <a:rPr lang="zh-CN" altLang="zh-CN" sz="2400" dirty="0">
                <a:solidFill>
                  <a:srgbClr val="FFFF00"/>
                </a:solidFill>
              </a:rPr>
              <a:t>   </a:t>
            </a:r>
            <a:r>
              <a:rPr lang="en-US" altLang="zh-CN" sz="2400" dirty="0">
                <a:solidFill>
                  <a:srgbClr val="FFFF00"/>
                </a:solidFill>
              </a:rPr>
              <a:t>@ aa</a:t>
            </a:r>
            <a:endParaRPr lang="en-US" altLang="zh-CN" sz="2400" dirty="0">
              <a:solidFill>
                <a:srgbClr val="FFFF00"/>
              </a:solidFill>
            </a:endParaRPr>
          </a:p>
          <a:p>
            <a:pPr algn="l" eaLnBrk="1" hangingPunct="1">
              <a:lnSpc>
                <a:spcPct val="100000"/>
              </a:lnSpc>
              <a:buClr>
                <a:srgbClr val="000099"/>
              </a:buClr>
              <a:buSzPct val="65000"/>
              <a:buFont typeface="Wingdings" panose="05000000000000000000" pitchFamily="2" charset="2"/>
              <a:buChar char="u"/>
            </a:pPr>
            <a:r>
              <a:rPr lang="en-US" altLang="zh-CN" sz="2400" dirty="0">
                <a:solidFill>
                  <a:srgbClr val="800000"/>
                </a:solidFill>
              </a:rPr>
              <a:t>  </a:t>
            </a:r>
            <a:r>
              <a:rPr lang="en-US" altLang="zh-CN" sz="2400" dirty="0">
                <a:solidFill>
                  <a:srgbClr val="FFFF00"/>
                </a:solidFill>
              </a:rPr>
              <a:t>@</a:t>
            </a:r>
            <a:r>
              <a:rPr lang="zh-CN" altLang="en-US" sz="2400" dirty="0">
                <a:solidFill>
                  <a:srgbClr val="FFFF00"/>
                </a:solidFill>
              </a:rPr>
              <a:t>：</a:t>
            </a:r>
            <a:r>
              <a:rPr lang="zh-CN" altLang="en-US" sz="2400" dirty="0"/>
              <a:t>重载的运算符</a:t>
            </a:r>
            <a:endParaRPr lang="zh-CN" altLang="en-US" sz="2400" dirty="0"/>
          </a:p>
          <a:p>
            <a:pPr algn="l" eaLnBrk="1" hangingPunct="1">
              <a:lnSpc>
                <a:spcPct val="100000"/>
              </a:lnSpc>
              <a:buClr>
                <a:srgbClr val="000099"/>
              </a:buClr>
              <a:buSzPct val="65000"/>
              <a:buFont typeface="Wingdings" panose="05000000000000000000" pitchFamily="2" charset="2"/>
              <a:buChar char="u"/>
            </a:pPr>
            <a:r>
              <a:rPr lang="zh-CN" altLang="en-US" sz="2400" dirty="0"/>
              <a:t>  </a:t>
            </a:r>
            <a:r>
              <a:rPr lang="en-US" altLang="zh-CN" sz="2400" dirty="0">
                <a:solidFill>
                  <a:srgbClr val="FFFF00"/>
                </a:solidFill>
              </a:rPr>
              <a:t>aa</a:t>
            </a:r>
            <a:r>
              <a:rPr lang="zh-CN" altLang="en-US" sz="2400" dirty="0">
                <a:solidFill>
                  <a:srgbClr val="FFFF00"/>
                </a:solidFill>
              </a:rPr>
              <a:t>：</a:t>
            </a:r>
            <a:r>
              <a:rPr lang="zh-CN" altLang="en-US" sz="2400" dirty="0"/>
              <a:t>重载运算符的类的对象</a:t>
            </a:r>
            <a:endParaRPr lang="zh-CN" altLang="en-US" sz="2400" dirty="0">
              <a:solidFill>
                <a:srgbClr val="000099"/>
              </a:solidFill>
            </a:endParaRPr>
          </a:p>
        </p:txBody>
      </p:sp>
      <p:sp>
        <p:nvSpPr>
          <p:cNvPr id="17412" name="Text Box 4"/>
          <p:cNvSpPr txBox="1">
            <a:spLocks noChangeArrowheads="1"/>
          </p:cNvSpPr>
          <p:nvPr/>
        </p:nvSpPr>
        <p:spPr bwMode="auto">
          <a:xfrm>
            <a:off x="539750" y="4610100"/>
            <a:ext cx="3744913" cy="10509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lnSpc>
                <a:spcPct val="130000"/>
              </a:lnSpc>
            </a:pPr>
            <a:r>
              <a:rPr lang="zh-CN" altLang="en-US" sz="2400" dirty="0"/>
              <a:t>或者可以解释为：</a:t>
            </a:r>
            <a:endParaRPr lang="zh-CN" altLang="en-US" sz="2400" dirty="0"/>
          </a:p>
          <a:p>
            <a:pPr eaLnBrk="1" hangingPunct="1">
              <a:lnSpc>
                <a:spcPct val="130000"/>
              </a:lnSpc>
            </a:pPr>
            <a:r>
              <a:rPr lang="zh-CN" altLang="en-US" sz="2400" dirty="0"/>
              <a:t>	</a:t>
            </a:r>
            <a:r>
              <a:rPr lang="zh-CN" altLang="en-US" sz="2400" dirty="0">
                <a:solidFill>
                  <a:srgbClr val="000099"/>
                </a:solidFill>
              </a:rPr>
              <a:t> </a:t>
            </a:r>
            <a:r>
              <a:rPr lang="en-US" altLang="zh-CN" sz="2400" dirty="0">
                <a:solidFill>
                  <a:srgbClr val="FFFF00"/>
                </a:solidFill>
              </a:rPr>
              <a:t>operator @ (aa)</a:t>
            </a:r>
            <a:endParaRPr lang="en-US" altLang="zh-CN" sz="2400" dirty="0">
              <a:solidFill>
                <a:srgbClr val="FFFF00"/>
              </a:solidFill>
            </a:endParaRPr>
          </a:p>
        </p:txBody>
      </p:sp>
      <p:sp>
        <p:nvSpPr>
          <p:cNvPr id="17413" name="Text Box 5"/>
          <p:cNvSpPr txBox="1">
            <a:spLocks noChangeArrowheads="1"/>
          </p:cNvSpPr>
          <p:nvPr/>
        </p:nvSpPr>
        <p:spPr bwMode="auto">
          <a:xfrm>
            <a:off x="4799013" y="3803650"/>
            <a:ext cx="4132262" cy="2292350"/>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t>一元运算符函数 </a:t>
            </a:r>
            <a:r>
              <a:rPr lang="en-US" altLang="zh-CN" sz="2400" u="sng" dirty="0"/>
              <a:t>operator @</a:t>
            </a:r>
            <a:r>
              <a:rPr lang="en-US" altLang="zh-CN" sz="2400" dirty="0"/>
              <a:t> </a:t>
            </a:r>
            <a:r>
              <a:rPr lang="zh-CN" altLang="en-US" sz="2400" dirty="0"/>
              <a:t>所需的一个</a:t>
            </a:r>
            <a:r>
              <a:rPr lang="zh-CN" altLang="en-US" sz="2400" u="sng" dirty="0"/>
              <a:t>操作数在参数表中由对象显式地提供</a:t>
            </a:r>
            <a:r>
              <a:rPr lang="zh-CN" altLang="en-US" sz="2400" dirty="0"/>
              <a:t>，适用于没有</a:t>
            </a:r>
            <a:r>
              <a:rPr lang="en-US" altLang="zh-CN" sz="2400" dirty="0"/>
              <a:t>this</a:t>
            </a:r>
            <a:r>
              <a:rPr lang="zh-CN" altLang="en-US" sz="2400" dirty="0"/>
              <a:t>指针的情况。这时，运算符函数</a:t>
            </a:r>
            <a:r>
              <a:rPr lang="zh-CN" altLang="en-US" sz="2400" u="sng" dirty="0"/>
              <a:t>用类的友元函数表示</a:t>
            </a:r>
            <a:endParaRPr lang="zh-CN" altLang="en-US" sz="2400" u="sng" dirty="0"/>
          </a:p>
        </p:txBody>
      </p:sp>
      <p:sp>
        <p:nvSpPr>
          <p:cNvPr id="17414" name="AutoShape 6"/>
          <p:cNvSpPr>
            <a:spLocks noChangeArrowheads="1"/>
          </p:cNvSpPr>
          <p:nvPr/>
        </p:nvSpPr>
        <p:spPr bwMode="auto">
          <a:xfrm>
            <a:off x="4356100" y="4437063"/>
            <a:ext cx="442913" cy="1368425"/>
          </a:xfrm>
          <a:prstGeom prst="rightArrow">
            <a:avLst>
              <a:gd name="adj1" fmla="val 50000"/>
              <a:gd name="adj2" fmla="val 25000"/>
            </a:avLst>
          </a:prstGeom>
          <a:solidFill>
            <a:schemeClr val="hlink"/>
          </a:solidFill>
          <a:ln w="9525" algn="ctr">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8.2.1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运算符重载的规则</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a:p>
            <a:pPr eaLnBrk="1" hangingPunct="1"/>
            <a:r>
              <a:rPr lang="en-US" altLang="zh-CN" sz="4000" i="1" dirty="0" smtClean="0">
                <a:solidFill>
                  <a:srgbClr val="FFFF00"/>
                </a:solidFill>
                <a:effectLst>
                  <a:outerShdw blurRad="38100" dist="38100" dir="2700000" algn="tl">
                    <a:srgbClr val="000000"/>
                  </a:outerShdw>
                </a:effectLst>
                <a:ea typeface="隶书" panose="02010509060101010101" pitchFamily="49" charset="-122"/>
              </a:rPr>
              <a:t>(</a:t>
            </a:r>
            <a:r>
              <a:rPr lang="zh-CN" altLang="en-US" sz="4000" i="1" dirty="0" smtClean="0">
                <a:solidFill>
                  <a:srgbClr val="FFFF00"/>
                </a:solidFill>
                <a:effectLst>
                  <a:outerShdw blurRad="38100" dist="38100" dir="2700000" algn="tl">
                    <a:srgbClr val="000000"/>
                  </a:outerShdw>
                </a:effectLst>
                <a:ea typeface="隶书" panose="02010509060101010101" pitchFamily="49" charset="-122"/>
              </a:rPr>
              <a:t>二元运算</a:t>
            </a:r>
            <a:r>
              <a:rPr lang="zh-CN" altLang="en-US" sz="4000" i="1" dirty="0">
                <a:solidFill>
                  <a:srgbClr val="FFFF00"/>
                </a:solidFill>
                <a:effectLst>
                  <a:outerShdw blurRad="38100" dist="38100" dir="2700000" algn="tl">
                    <a:srgbClr val="000000"/>
                  </a:outerShdw>
                </a:effectLst>
                <a:ea typeface="隶书" panose="02010509060101010101" pitchFamily="49" charset="-122"/>
              </a:rPr>
              <a:t>符重载的方法</a:t>
            </a:r>
            <a:r>
              <a:rPr lang="en-US" altLang="zh-CN" sz="4000" i="1" dirty="0" smtClean="0">
                <a:solidFill>
                  <a:srgbClr val="FFFF00"/>
                </a:solidFill>
                <a:effectLst>
                  <a:outerShdw blurRad="38100" dist="38100" dir="2700000" algn="tl">
                    <a:srgbClr val="000000"/>
                  </a:outerShdw>
                </a:effectLst>
                <a:ea typeface="隶书" panose="02010509060101010101" pitchFamily="49" charset="-122"/>
              </a:rPr>
              <a:t>)</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
        <p:nvSpPr>
          <p:cNvPr id="19459" name="Rectangle 3"/>
          <p:cNvSpPr>
            <a:spLocks noChangeArrowheads="1"/>
          </p:cNvSpPr>
          <p:nvPr/>
        </p:nvSpPr>
        <p:spPr bwMode="auto">
          <a:xfrm>
            <a:off x="1042988" y="1628775"/>
            <a:ext cx="78882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t>二元运算符，需要两个操作数：</a:t>
            </a:r>
            <a:endParaRPr lang="zh-CN" altLang="en-US" sz="2400" dirty="0"/>
          </a:p>
          <a:p>
            <a:pPr algn="l" eaLnBrk="1" hangingPunct="1">
              <a:lnSpc>
                <a:spcPct val="100000"/>
              </a:lnSpc>
            </a:pPr>
            <a:endParaRPr lang="zh-CN" altLang="en-US" sz="2400" dirty="0">
              <a:solidFill>
                <a:srgbClr val="800000"/>
              </a:solidFill>
            </a:endParaRPr>
          </a:p>
          <a:p>
            <a:pPr algn="l" eaLnBrk="1" hangingPunct="1">
              <a:lnSpc>
                <a:spcPct val="100000"/>
              </a:lnSpc>
            </a:pPr>
            <a:r>
              <a:rPr lang="zh-CN" altLang="en-US" sz="2400" dirty="0">
                <a:solidFill>
                  <a:srgbClr val="800000"/>
                </a:solidFill>
              </a:rPr>
              <a:t>               </a:t>
            </a:r>
            <a:r>
              <a:rPr lang="en-US" altLang="zh-CN" sz="2400" dirty="0">
                <a:solidFill>
                  <a:srgbClr val="FFFF00"/>
                </a:solidFill>
              </a:rPr>
              <a:t>aa @	 bb</a:t>
            </a:r>
            <a:r>
              <a:rPr lang="en-US" altLang="zh-CN" sz="2400" dirty="0"/>
              <a:t>	</a:t>
            </a:r>
            <a:endParaRPr lang="en-US" altLang="zh-CN" sz="2400" dirty="0">
              <a:solidFill>
                <a:srgbClr val="800000"/>
              </a:solidFill>
            </a:endParaRPr>
          </a:p>
          <a:p>
            <a:pPr algn="l" eaLnBrk="1" hangingPunct="1">
              <a:lnSpc>
                <a:spcPct val="100000"/>
              </a:lnSpc>
              <a:buClr>
                <a:srgbClr val="000099"/>
              </a:buClr>
              <a:buSzPct val="65000"/>
              <a:buFont typeface="Wingdings" panose="05000000000000000000" pitchFamily="2" charset="2"/>
              <a:buChar char="u"/>
            </a:pPr>
            <a:r>
              <a:rPr lang="en-US" altLang="zh-CN" sz="2400" dirty="0">
                <a:solidFill>
                  <a:srgbClr val="800000"/>
                </a:solidFill>
              </a:rPr>
              <a:t>  </a:t>
            </a:r>
            <a:r>
              <a:rPr lang="en-US" altLang="zh-CN" sz="2400" dirty="0">
                <a:solidFill>
                  <a:srgbClr val="FFFF00"/>
                </a:solidFill>
              </a:rPr>
              <a:t>@</a:t>
            </a:r>
            <a:r>
              <a:rPr lang="zh-CN" altLang="en-US" sz="2400" dirty="0">
                <a:solidFill>
                  <a:srgbClr val="FFFF00"/>
                </a:solidFill>
              </a:rPr>
              <a:t>：</a:t>
            </a:r>
            <a:r>
              <a:rPr lang="zh-CN" altLang="en-US" sz="2400" dirty="0"/>
              <a:t>重载的运算符</a:t>
            </a:r>
            <a:endParaRPr lang="zh-CN" altLang="en-US" sz="2400" dirty="0"/>
          </a:p>
          <a:p>
            <a:pPr algn="l" eaLnBrk="1" hangingPunct="1">
              <a:lnSpc>
                <a:spcPct val="100000"/>
              </a:lnSpc>
              <a:buClr>
                <a:srgbClr val="000099"/>
              </a:buClr>
              <a:buSzPct val="65000"/>
              <a:buFont typeface="Wingdings" panose="05000000000000000000" pitchFamily="2" charset="2"/>
              <a:buChar char="u"/>
            </a:pPr>
            <a:r>
              <a:rPr lang="zh-CN" altLang="en-US" sz="2400" dirty="0"/>
              <a:t>  </a:t>
            </a:r>
            <a:r>
              <a:rPr lang="en-US" altLang="zh-CN" sz="2400" dirty="0">
                <a:solidFill>
                  <a:srgbClr val="FFFF00"/>
                </a:solidFill>
              </a:rPr>
              <a:t>aa</a:t>
            </a:r>
            <a:r>
              <a:rPr lang="zh-CN" altLang="en-US" sz="2400" dirty="0">
                <a:solidFill>
                  <a:srgbClr val="FFFF00"/>
                </a:solidFill>
              </a:rPr>
              <a:t>：</a:t>
            </a:r>
            <a:r>
              <a:rPr lang="zh-CN" altLang="en-US" sz="2400" dirty="0"/>
              <a:t>重载运算符的类的对象</a:t>
            </a:r>
            <a:endParaRPr lang="zh-CN" altLang="en-US" sz="2400" dirty="0">
              <a:solidFill>
                <a:srgbClr val="000099"/>
              </a:solidFill>
            </a:endParaRPr>
          </a:p>
        </p:txBody>
      </p:sp>
      <p:sp>
        <p:nvSpPr>
          <p:cNvPr id="19460" name="Text Box 5"/>
          <p:cNvSpPr txBox="1">
            <a:spLocks noChangeArrowheads="1"/>
          </p:cNvSpPr>
          <p:nvPr/>
        </p:nvSpPr>
        <p:spPr bwMode="auto">
          <a:xfrm>
            <a:off x="4799013" y="3989388"/>
            <a:ext cx="4132262" cy="2292350"/>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a:t>二元运算符函数 </a:t>
            </a:r>
            <a:r>
              <a:rPr lang="en-US" altLang="zh-CN" sz="2400"/>
              <a:t>operator @ </a:t>
            </a:r>
            <a:r>
              <a:rPr lang="zh-CN" altLang="en-US" sz="2400"/>
              <a:t>所需的</a:t>
            </a:r>
            <a:r>
              <a:rPr lang="zh-CN" altLang="en-US" sz="2400" u="sng"/>
              <a:t>一个操作数由对象 </a:t>
            </a:r>
            <a:r>
              <a:rPr lang="en-US" altLang="zh-CN" sz="2400" u="sng"/>
              <a:t>aa</a:t>
            </a:r>
            <a:endParaRPr lang="en-US" altLang="zh-CN" sz="2400" u="sng"/>
          </a:p>
          <a:p>
            <a:pPr algn="l" eaLnBrk="1" hangingPunct="1">
              <a:lnSpc>
                <a:spcPct val="100000"/>
              </a:lnSpc>
            </a:pPr>
            <a:r>
              <a:rPr lang="zh-CN" altLang="en-US" sz="2400" u="sng"/>
              <a:t>通过 </a:t>
            </a:r>
            <a:r>
              <a:rPr lang="en-US" altLang="zh-CN" sz="2400" u="sng"/>
              <a:t>this </a:t>
            </a:r>
            <a:r>
              <a:rPr lang="zh-CN" altLang="en-US" sz="2400" u="sng"/>
              <a:t>指针隐含地传递</a:t>
            </a:r>
            <a:r>
              <a:rPr lang="zh-CN" altLang="en-US" sz="2400"/>
              <a:t>。因此它只有一个参数。这时，</a:t>
            </a:r>
            <a:r>
              <a:rPr lang="zh-CN" altLang="en-US" sz="2400" u="sng"/>
              <a:t>运算符函数用类的成员函数表示</a:t>
            </a:r>
            <a:endParaRPr lang="zh-CN" altLang="en-US" sz="2400" u="sng"/>
          </a:p>
        </p:txBody>
      </p:sp>
      <p:sp>
        <p:nvSpPr>
          <p:cNvPr id="19461" name="Text Box 6"/>
          <p:cNvSpPr txBox="1">
            <a:spLocks noChangeArrowheads="1"/>
          </p:cNvSpPr>
          <p:nvPr/>
        </p:nvSpPr>
        <p:spPr bwMode="auto">
          <a:xfrm>
            <a:off x="395288" y="4416425"/>
            <a:ext cx="3744912" cy="105259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30000"/>
              </a:lnSpc>
            </a:pPr>
            <a:r>
              <a:rPr lang="zh-CN" altLang="en-US" sz="2400" dirty="0"/>
              <a:t>可以解释为：</a:t>
            </a:r>
            <a:endParaRPr lang="zh-CN" altLang="en-US" sz="2400" dirty="0"/>
          </a:p>
          <a:p>
            <a:pPr eaLnBrk="1" hangingPunct="1">
              <a:lnSpc>
                <a:spcPct val="130000"/>
              </a:lnSpc>
            </a:pPr>
            <a:r>
              <a:rPr lang="zh-CN" altLang="en-US" sz="2400" dirty="0"/>
              <a:t>	</a:t>
            </a:r>
            <a:r>
              <a:rPr lang="en-US" altLang="zh-CN" sz="2400" dirty="0">
                <a:solidFill>
                  <a:srgbClr val="FFFF00"/>
                </a:solidFill>
              </a:rPr>
              <a:t>aa . operator @ (bb)</a:t>
            </a:r>
            <a:endParaRPr lang="en-US" altLang="zh-CN" sz="2400" dirty="0">
              <a:solidFill>
                <a:srgbClr val="FFFF00"/>
              </a:solidFill>
            </a:endParaRPr>
          </a:p>
        </p:txBody>
      </p:sp>
      <p:sp>
        <p:nvSpPr>
          <p:cNvPr id="19462" name="AutoShape 7"/>
          <p:cNvSpPr>
            <a:spLocks noChangeArrowheads="1"/>
          </p:cNvSpPr>
          <p:nvPr/>
        </p:nvSpPr>
        <p:spPr bwMode="auto">
          <a:xfrm>
            <a:off x="4356100" y="3573463"/>
            <a:ext cx="227013" cy="2967037"/>
          </a:xfrm>
          <a:prstGeom prst="rightArrow">
            <a:avLst>
              <a:gd name="adj1" fmla="val 50000"/>
              <a:gd name="adj2" fmla="val 25000"/>
            </a:avLst>
          </a:prstGeom>
          <a:solidFill>
            <a:schemeClr val="hlink"/>
          </a:solidFill>
          <a:ln w="9525" algn="ctr">
            <a:solidFill>
              <a:schemeClr val="tx1"/>
            </a:solidFill>
            <a:miter lim="800000"/>
          </a:ln>
        </p:spPr>
        <p:txBody>
          <a:bodyPr vert="eaVert"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endParaRPr kumimoji="0" lang="zh-CN" altLang="zh-CN" sz="1800" b="0">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a:solidFill>
                  <a:srgbClr val="FFFFFF"/>
                </a:solidFill>
                <a:effectLst>
                  <a:outerShdw blurRad="38100" dist="38100" dir="2700000" algn="tl">
                    <a:srgbClr val="000000"/>
                  </a:outerShdw>
                </a:effectLst>
                <a:ea typeface="隶书" panose="02010509060101010101" pitchFamily="49" charset="-122"/>
              </a:rPr>
              <a:t>8.2.1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运算符重载的规则</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a:p>
            <a:pPr eaLnBrk="1" hangingPunct="1"/>
            <a:r>
              <a:rPr lang="en-US" altLang="zh-CN" sz="4000" i="1" dirty="0">
                <a:solidFill>
                  <a:srgbClr val="FFFF00"/>
                </a:solidFill>
                <a:effectLst>
                  <a:outerShdw blurRad="38100" dist="38100" dir="2700000" algn="tl">
                    <a:srgbClr val="000000"/>
                  </a:outerShdw>
                </a:effectLst>
                <a:ea typeface="隶书" panose="02010509060101010101" pitchFamily="49" charset="-122"/>
              </a:rPr>
              <a:t>(</a:t>
            </a:r>
            <a:r>
              <a:rPr lang="zh-CN" altLang="en-US" sz="4000" i="1" dirty="0">
                <a:solidFill>
                  <a:srgbClr val="FFFF00"/>
                </a:solidFill>
                <a:effectLst>
                  <a:outerShdw blurRad="38100" dist="38100" dir="2700000" algn="tl">
                    <a:srgbClr val="000000"/>
                  </a:outerShdw>
                </a:effectLst>
                <a:ea typeface="隶书" panose="02010509060101010101" pitchFamily="49" charset="-122"/>
              </a:rPr>
              <a:t>二元运算符重载的方法</a:t>
            </a:r>
            <a:r>
              <a:rPr lang="en-US" altLang="zh-CN" sz="4000" i="1" dirty="0">
                <a:solidFill>
                  <a:srgbClr val="FFFF00"/>
                </a:solidFill>
                <a:effectLst>
                  <a:outerShdw blurRad="38100" dist="38100" dir="2700000" algn="tl">
                    <a:srgbClr val="000000"/>
                  </a:outerShdw>
                </a:effectLst>
                <a:ea typeface="隶书" panose="02010509060101010101" pitchFamily="49" charset="-122"/>
              </a:rPr>
              <a:t>)</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
        <p:nvSpPr>
          <p:cNvPr id="20483" name="Rectangle 3"/>
          <p:cNvSpPr>
            <a:spLocks noChangeArrowheads="1"/>
          </p:cNvSpPr>
          <p:nvPr/>
        </p:nvSpPr>
        <p:spPr bwMode="auto">
          <a:xfrm>
            <a:off x="1042988" y="1628775"/>
            <a:ext cx="78882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t>二元运算符，需要两个操作数：</a:t>
            </a:r>
            <a:endParaRPr lang="zh-CN" altLang="en-US" sz="2400" dirty="0"/>
          </a:p>
          <a:p>
            <a:pPr algn="l" eaLnBrk="1" hangingPunct="1">
              <a:lnSpc>
                <a:spcPct val="100000"/>
              </a:lnSpc>
            </a:pPr>
            <a:endParaRPr lang="zh-CN" altLang="en-US" sz="2400" dirty="0">
              <a:solidFill>
                <a:srgbClr val="800000"/>
              </a:solidFill>
            </a:endParaRPr>
          </a:p>
          <a:p>
            <a:pPr algn="l" eaLnBrk="1" hangingPunct="1">
              <a:lnSpc>
                <a:spcPct val="100000"/>
              </a:lnSpc>
            </a:pPr>
            <a:r>
              <a:rPr lang="zh-CN" altLang="en-US" sz="2400" dirty="0">
                <a:solidFill>
                  <a:srgbClr val="FFFF00"/>
                </a:solidFill>
              </a:rPr>
              <a:t>               </a:t>
            </a:r>
            <a:r>
              <a:rPr lang="en-US" altLang="zh-CN" sz="2400" dirty="0">
                <a:solidFill>
                  <a:srgbClr val="FFFF00"/>
                </a:solidFill>
              </a:rPr>
              <a:t>aa @	 bb</a:t>
            </a:r>
            <a:r>
              <a:rPr lang="en-US" altLang="zh-CN" sz="2400" dirty="0"/>
              <a:t>	</a:t>
            </a:r>
            <a:endParaRPr lang="en-US" altLang="zh-CN" sz="2400" dirty="0">
              <a:solidFill>
                <a:srgbClr val="800000"/>
              </a:solidFill>
            </a:endParaRPr>
          </a:p>
          <a:p>
            <a:pPr algn="l" eaLnBrk="1" hangingPunct="1">
              <a:lnSpc>
                <a:spcPct val="100000"/>
              </a:lnSpc>
              <a:buClr>
                <a:srgbClr val="000099"/>
              </a:buClr>
              <a:buSzPct val="65000"/>
              <a:buFont typeface="Wingdings" panose="05000000000000000000" pitchFamily="2" charset="2"/>
              <a:buChar char="u"/>
            </a:pPr>
            <a:r>
              <a:rPr lang="en-US" altLang="zh-CN" sz="2400" dirty="0">
                <a:solidFill>
                  <a:srgbClr val="FFFF00"/>
                </a:solidFill>
              </a:rPr>
              <a:t>  @</a:t>
            </a:r>
            <a:r>
              <a:rPr lang="zh-CN" altLang="en-US" sz="2400" dirty="0">
                <a:solidFill>
                  <a:srgbClr val="FFFF00"/>
                </a:solidFill>
              </a:rPr>
              <a:t>：</a:t>
            </a:r>
            <a:r>
              <a:rPr lang="zh-CN" altLang="en-US" sz="2400" dirty="0"/>
              <a:t>重载的运算符</a:t>
            </a:r>
            <a:endParaRPr lang="zh-CN" altLang="en-US" sz="2400" dirty="0"/>
          </a:p>
          <a:p>
            <a:pPr algn="l" eaLnBrk="1" hangingPunct="1">
              <a:lnSpc>
                <a:spcPct val="100000"/>
              </a:lnSpc>
              <a:buClr>
                <a:srgbClr val="000099"/>
              </a:buClr>
              <a:buSzPct val="65000"/>
              <a:buFont typeface="Wingdings" panose="05000000000000000000" pitchFamily="2" charset="2"/>
              <a:buChar char="u"/>
            </a:pPr>
            <a:r>
              <a:rPr lang="zh-CN" altLang="en-US" sz="2400" dirty="0"/>
              <a:t>  </a:t>
            </a:r>
            <a:r>
              <a:rPr lang="en-US" altLang="zh-CN" sz="2400" dirty="0">
                <a:solidFill>
                  <a:srgbClr val="FFFF00"/>
                </a:solidFill>
              </a:rPr>
              <a:t>aa</a:t>
            </a:r>
            <a:r>
              <a:rPr lang="zh-CN" altLang="en-US" sz="2400" dirty="0">
                <a:solidFill>
                  <a:srgbClr val="FFFF00"/>
                </a:solidFill>
              </a:rPr>
              <a:t>：</a:t>
            </a:r>
            <a:r>
              <a:rPr lang="zh-CN" altLang="en-US" sz="2400" dirty="0"/>
              <a:t>重载运算符的类的对象</a:t>
            </a:r>
            <a:endParaRPr lang="zh-CN" altLang="en-US" sz="2400" dirty="0">
              <a:solidFill>
                <a:srgbClr val="000099"/>
              </a:solidFill>
            </a:endParaRPr>
          </a:p>
        </p:txBody>
      </p:sp>
      <p:sp>
        <p:nvSpPr>
          <p:cNvPr id="20484" name="Text Box 4"/>
          <p:cNvSpPr txBox="1">
            <a:spLocks noChangeArrowheads="1"/>
          </p:cNvSpPr>
          <p:nvPr/>
        </p:nvSpPr>
        <p:spPr bwMode="auto">
          <a:xfrm>
            <a:off x="468313" y="4437063"/>
            <a:ext cx="3744912" cy="100469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30000"/>
              </a:lnSpc>
            </a:pPr>
            <a:r>
              <a:rPr lang="zh-CN" altLang="en-US" sz="2400" dirty="0"/>
              <a:t>或者可以解释为：</a:t>
            </a:r>
            <a:endParaRPr lang="zh-CN" altLang="en-US" sz="2400" dirty="0"/>
          </a:p>
          <a:p>
            <a:pPr algn="l" eaLnBrk="1" hangingPunct="1">
              <a:lnSpc>
                <a:spcPct val="130000"/>
              </a:lnSpc>
            </a:pPr>
            <a:r>
              <a:rPr lang="zh-CN" altLang="en-US" sz="2400" dirty="0"/>
              <a:t>	</a:t>
            </a:r>
            <a:r>
              <a:rPr lang="zh-CN" altLang="en-US" sz="2400" dirty="0">
                <a:solidFill>
                  <a:srgbClr val="000099"/>
                </a:solidFill>
              </a:rPr>
              <a:t> </a:t>
            </a:r>
            <a:r>
              <a:rPr lang="en-US" altLang="zh-CN" sz="2400" dirty="0">
                <a:solidFill>
                  <a:srgbClr val="FFFF00"/>
                </a:solidFill>
              </a:rPr>
              <a:t>operator @ (</a:t>
            </a:r>
            <a:r>
              <a:rPr lang="en-US" altLang="zh-CN" sz="2400" dirty="0" err="1">
                <a:solidFill>
                  <a:srgbClr val="FFFF00"/>
                </a:solidFill>
              </a:rPr>
              <a:t>aa,bb</a:t>
            </a:r>
            <a:r>
              <a:rPr lang="en-US" altLang="zh-CN" sz="2400" dirty="0">
                <a:solidFill>
                  <a:srgbClr val="FFFF00"/>
                </a:solidFill>
              </a:rPr>
              <a:t>)</a:t>
            </a:r>
            <a:endParaRPr lang="en-US" altLang="zh-CN" sz="2400" dirty="0">
              <a:solidFill>
                <a:srgbClr val="FFFF00"/>
              </a:solidFill>
            </a:endParaRPr>
          </a:p>
        </p:txBody>
      </p:sp>
      <p:sp>
        <p:nvSpPr>
          <p:cNvPr id="20485" name="Text Box 5"/>
          <p:cNvSpPr txBox="1">
            <a:spLocks noChangeArrowheads="1"/>
          </p:cNvSpPr>
          <p:nvPr/>
        </p:nvSpPr>
        <p:spPr bwMode="auto">
          <a:xfrm>
            <a:off x="4799013" y="3989388"/>
            <a:ext cx="4132262" cy="2292350"/>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a:t>二元运算符函数 </a:t>
            </a:r>
            <a:r>
              <a:rPr lang="en-US" altLang="zh-CN" sz="2400"/>
              <a:t>operator @ </a:t>
            </a:r>
            <a:r>
              <a:rPr lang="zh-CN" altLang="en-US" sz="2400"/>
              <a:t>所需的两</a:t>
            </a:r>
            <a:r>
              <a:rPr lang="zh-CN" altLang="en-US" sz="2400" u="sng"/>
              <a:t>个操作数在参数表中由对象 </a:t>
            </a:r>
            <a:r>
              <a:rPr lang="en-US" altLang="zh-CN" sz="2400" u="sng"/>
              <a:t>aa </a:t>
            </a:r>
            <a:r>
              <a:rPr lang="zh-CN" altLang="en-US" sz="2400" u="sng"/>
              <a:t>和 </a:t>
            </a:r>
            <a:r>
              <a:rPr lang="en-US" altLang="zh-CN" sz="2400" u="sng"/>
              <a:t>bb</a:t>
            </a:r>
            <a:r>
              <a:rPr lang="zh-CN" altLang="en-US" sz="2400" u="sng"/>
              <a:t>显式地提供</a:t>
            </a:r>
            <a:r>
              <a:rPr lang="zh-CN" altLang="en-US" sz="2400"/>
              <a:t>，适用于没有</a:t>
            </a:r>
            <a:r>
              <a:rPr lang="en-US" altLang="zh-CN" sz="2400"/>
              <a:t>this</a:t>
            </a:r>
            <a:r>
              <a:rPr lang="zh-CN" altLang="en-US" sz="2400"/>
              <a:t>指针的情况。这时，</a:t>
            </a:r>
            <a:r>
              <a:rPr lang="zh-CN" altLang="en-US" sz="2400" u="sng"/>
              <a:t>运算符函数用类的友元函数表示</a:t>
            </a:r>
            <a:endParaRPr lang="zh-CN" altLang="en-US" sz="2400" u="sng"/>
          </a:p>
        </p:txBody>
      </p:sp>
      <p:sp>
        <p:nvSpPr>
          <p:cNvPr id="20486" name="AutoShape 7"/>
          <p:cNvSpPr>
            <a:spLocks noChangeArrowheads="1"/>
          </p:cNvSpPr>
          <p:nvPr/>
        </p:nvSpPr>
        <p:spPr bwMode="auto">
          <a:xfrm>
            <a:off x="4284663" y="3573463"/>
            <a:ext cx="442912" cy="2967037"/>
          </a:xfrm>
          <a:prstGeom prst="rightArrow">
            <a:avLst>
              <a:gd name="adj1" fmla="val 50000"/>
              <a:gd name="adj2" fmla="val 25000"/>
            </a:avLst>
          </a:prstGeom>
          <a:solidFill>
            <a:schemeClr val="hlink"/>
          </a:solidFill>
          <a:ln w="9525" algn="ctr">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endParaRPr kumimoji="0" lang="zh-CN" altLang="zh-CN" sz="1800" b="0">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403350"/>
            <a:ext cx="8191822" cy="709964"/>
          </a:xfrm>
        </p:spPr>
        <p:txBody>
          <a:bodyPr>
            <a:normAutofit/>
          </a:bodyPr>
          <a:lstStyle/>
          <a:p>
            <a:pPr eaLnBrk="1" fontAlgn="auto" hangingPunct="1">
              <a:spcAft>
                <a:spcPts val="0"/>
              </a:spcAft>
              <a:defRPr/>
            </a:pPr>
            <a:r>
              <a:rPr lang="zh-CN" altLang="en-US" sz="2800" b="1" i="0" dirty="0" smtClean="0"/>
              <a:t>例</a:t>
            </a:r>
            <a:r>
              <a:rPr lang="en-US" altLang="zh-CN" sz="2800" b="1" i="0" dirty="0" smtClean="0"/>
              <a:t>8-1</a:t>
            </a:r>
            <a:r>
              <a:rPr lang="zh-CN" altLang="en-US" sz="2800" b="1" i="0" dirty="0" smtClean="0"/>
              <a:t>复数类加减法运算重载：成员函数形式</a:t>
            </a:r>
            <a:endParaRPr lang="zh-CN" altLang="en-US" sz="2800" b="1" i="0" dirty="0"/>
          </a:p>
        </p:txBody>
      </p:sp>
      <p:sp>
        <p:nvSpPr>
          <p:cNvPr id="3" name="内容占位符 2"/>
          <p:cNvSpPr>
            <a:spLocks noGrp="1"/>
          </p:cNvSpPr>
          <p:nvPr>
            <p:ph idx="1"/>
          </p:nvPr>
        </p:nvSpPr>
        <p:spPr>
          <a:xfrm>
            <a:off x="611560" y="2060848"/>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   </a:t>
            </a:r>
            <a:r>
              <a:rPr lang="zh-CN" altLang="en-US" sz="2400" b="1" dirty="0" smtClean="0">
                <a:solidFill>
                  <a:srgbClr val="FFFF00"/>
                </a:solidFill>
                <a:ea typeface="华文楷体" panose="02010600040101010101" pitchFamily="2" charset="-122"/>
              </a:rPr>
              <a:t>将</a:t>
            </a:r>
            <a:r>
              <a:rPr lang="zh-CN" altLang="en-US" sz="2400" b="1" dirty="0">
                <a:solidFill>
                  <a:srgbClr val="FFFF00"/>
                </a:solidFill>
                <a:ea typeface="华文楷体" panose="02010600040101010101" pitchFamily="2" charset="-122"/>
              </a:rPr>
              <a:t>“</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运算重载为复数类的成员函数。</a:t>
            </a:r>
            <a:endParaRPr lang="zh-CN" altLang="en-US" sz="2400" b="1" dirty="0">
              <a:solidFill>
                <a:srgbClr val="FFFF00"/>
              </a:solidFill>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  规则</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实部和虚部分别相加减。</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  操作数</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两个操作数都是复数类的对象。</a:t>
            </a:r>
            <a:endParaRPr lang="zh-CN" altLang="en-US" sz="2400" b="1" dirty="0">
              <a:ea typeface="华文楷体" panose="02010600040101010101" pitchFamily="2" charset="-122"/>
            </a:endParaRPr>
          </a:p>
          <a:p>
            <a:pPr>
              <a:lnSpc>
                <a:spcPct val="150000"/>
              </a:lnSpc>
              <a:spcAft>
                <a:spcPct val="25000"/>
              </a:spcAft>
            </a:pPr>
            <a:endParaRPr lang="zh-CN" altLang="en-US" sz="2400" b="1" dirty="0">
              <a:solidFill>
                <a:srgbClr val="FFFF00"/>
              </a:solidFill>
              <a:ea typeface="华文楷体" panose="02010600040101010101" pitchFamily="2" charset="-122"/>
            </a:endParaRPr>
          </a:p>
        </p:txBody>
      </p:sp>
      <p:sp>
        <p:nvSpPr>
          <p:cNvPr id="4"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000" i="1" dirty="0" smtClean="0">
                <a:solidFill>
                  <a:srgbClr val="FFFFFF"/>
                </a:solidFill>
                <a:effectLst>
                  <a:outerShdw blurRad="38100" dist="38100" dir="2700000" algn="tl">
                    <a:srgbClr val="000000"/>
                  </a:outerShdw>
                </a:effectLst>
                <a:ea typeface="隶书" panose="02010509060101010101" pitchFamily="49" charset="-122"/>
              </a:rPr>
              <a:t>8.2.2 </a:t>
            </a:r>
            <a:r>
              <a:rPr lang="zh-CN" altLang="en-US" sz="4000" i="1" dirty="0">
                <a:solidFill>
                  <a:srgbClr val="FFFFFF"/>
                </a:solidFill>
                <a:effectLst>
                  <a:outerShdw blurRad="38100" dist="38100" dir="2700000" algn="tl">
                    <a:srgbClr val="000000"/>
                  </a:outerShdw>
                </a:effectLst>
                <a:ea typeface="隶书" panose="02010509060101010101" pitchFamily="49" charset="-122"/>
              </a:rPr>
              <a:t>运算符</a:t>
            </a:r>
            <a:r>
              <a:rPr lang="zh-CN" altLang="en-US" sz="4000" i="1" dirty="0" smtClean="0">
                <a:solidFill>
                  <a:srgbClr val="FFFFFF"/>
                </a:solidFill>
                <a:effectLst>
                  <a:outerShdw blurRad="38100" dist="38100" dir="2700000" algn="tl">
                    <a:srgbClr val="000000"/>
                  </a:outerShdw>
                </a:effectLst>
                <a:ea typeface="隶书" panose="02010509060101010101" pitchFamily="49" charset="-122"/>
              </a:rPr>
              <a:t>重载为成员函数</a:t>
            </a:r>
            <a:endParaRPr lang="zh-CN" altLang="en-US" sz="4000" i="1" dirty="0">
              <a:solidFill>
                <a:srgbClr val="FFFF00"/>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sz="3200" b="1" smtClean="0"/>
              <a:t>例</a:t>
            </a:r>
            <a:r>
              <a:rPr lang="en-US" altLang="zh-CN" sz="3200" b="1" smtClean="0"/>
              <a:t>8-1</a:t>
            </a:r>
            <a:r>
              <a:rPr lang="zh-CN" altLang="en-US" sz="3200" b="1" smtClean="0"/>
              <a:t>（续）</a:t>
            </a:r>
            <a:endParaRPr lang="zh-CN" altLang="en-US" sz="3200" b="1" smtClean="0"/>
          </a:p>
        </p:txBody>
      </p:sp>
      <p:sp>
        <p:nvSpPr>
          <p:cNvPr id="3" name="内容占位符 2"/>
          <p:cNvSpPr>
            <a:spLocks noGrp="1"/>
          </p:cNvSpPr>
          <p:nvPr>
            <p:ph idx="1"/>
          </p:nvPr>
        </p:nvSpPr>
        <p:spPr>
          <a:xfrm>
            <a:off x="457200" y="1484313"/>
            <a:ext cx="8229600" cy="470898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Complex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复数类定义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Complex(double r = 0.0,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0.0) : real(r), </a:t>
            </a:r>
            <a:r>
              <a:rPr kumimoji="0" lang="en-US" altLang="zh-CN" sz="2000" b="1" dirty="0" err="1">
                <a:solidFill>
                  <a:srgbClr val="000000"/>
                </a:solidFill>
                <a:latin typeface="Times New Roman" panose="02020603050405020304" pitchFamily="18" charset="0"/>
                <a:ea typeface="华文楷体" panose="02010600040101010101" pitchFamily="2" charset="-122"/>
              </a:rPr>
              <a:t>imag</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Complex operator + (const Complex &amp;c2) </a:t>
            </a:r>
            <a:r>
              <a:rPr kumimoji="0" lang="en-US" altLang="zh-CN" sz="2000" b="1" dirty="0" err="1">
                <a:solidFill>
                  <a:srgbClr val="FF0000"/>
                </a:solidFill>
                <a:latin typeface="Times New Roman" panose="02020603050405020304" pitchFamily="18" charset="0"/>
                <a:ea typeface="华文楷体" panose="02010600040101010101" pitchFamily="2" charset="-122"/>
              </a:rPr>
              <a:t>const</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运算符</a:t>
            </a:r>
            <a:r>
              <a:rPr kumimoji="0" lang="en-US" altLang="zh-CN" sz="2000" b="1" dirty="0">
                <a:solidFill>
                  <a:srgbClr val="FF0000"/>
                </a:solidFill>
                <a:latin typeface="Times New Roman" panose="02020603050405020304" pitchFamily="18" charset="0"/>
                <a:ea typeface="华文楷体" panose="02010600040101010101" pitchFamily="2" charset="-122"/>
              </a:rPr>
              <a:t>+</a:t>
            </a:r>
            <a:r>
              <a:rPr kumimoji="0" lang="zh-CN" altLang="en-US" sz="2000" b="1" dirty="0">
                <a:solidFill>
                  <a:srgbClr val="FF0000"/>
                </a:solidFill>
                <a:latin typeface="Times New Roman" panose="02020603050405020304" pitchFamily="18" charset="0"/>
                <a:ea typeface="华文楷体" panose="02010600040101010101" pitchFamily="2" charset="-122"/>
              </a:rPr>
              <a:t>重载成员函数</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Complex operator - (const Complex &amp;c2) </a:t>
            </a:r>
            <a:r>
              <a:rPr kumimoji="0" lang="en-US" altLang="zh-CN" sz="2000" b="1" dirty="0" err="1">
                <a:solidFill>
                  <a:srgbClr val="002060"/>
                </a:solidFill>
                <a:latin typeface="Times New Roman" panose="02020603050405020304" pitchFamily="18" charset="0"/>
                <a:ea typeface="华文楷体" panose="02010600040101010101" pitchFamily="2" charset="-122"/>
              </a:rPr>
              <a:t>const</a:t>
            </a:r>
            <a:r>
              <a:rPr kumimoji="0" lang="en-US" altLang="zh-CN" sz="2000" b="1" dirty="0" smtClean="0">
                <a:solidFill>
                  <a:srgbClr val="002060"/>
                </a:solidFill>
                <a:latin typeface="Times New Roman" panose="02020603050405020304" pitchFamily="18" charset="0"/>
                <a:ea typeface="华文楷体" panose="02010600040101010101" pitchFamily="2" charset="-122"/>
              </a:rPr>
              <a:t>;</a:t>
            </a:r>
            <a:endParaRPr kumimoji="0" lang="en-US" altLang="zh-CN" sz="2000" b="1" dirty="0" smtClean="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	//</a:t>
            </a:r>
            <a:r>
              <a:rPr kumimoji="0" lang="zh-CN" altLang="en-US" sz="2000" b="1" dirty="0">
                <a:solidFill>
                  <a:srgbClr val="002060"/>
                </a:solidFill>
                <a:latin typeface="Times New Roman" panose="02020603050405020304" pitchFamily="18" charset="0"/>
                <a:ea typeface="华文楷体" panose="02010600040101010101" pitchFamily="2" charset="-122"/>
              </a:rPr>
              <a:t>运算符</a:t>
            </a:r>
            <a:r>
              <a:rPr kumimoji="0" lang="en-US" altLang="zh-CN" sz="2000" b="1" dirty="0">
                <a:solidFill>
                  <a:srgbClr val="002060"/>
                </a:solidFill>
                <a:latin typeface="Times New Roman" panose="02020603050405020304" pitchFamily="18" charset="0"/>
                <a:ea typeface="华文楷体" panose="02010600040101010101" pitchFamily="2" charset="-122"/>
              </a:rPr>
              <a:t>-</a:t>
            </a:r>
            <a:r>
              <a:rPr kumimoji="0" lang="zh-CN" altLang="en-US" sz="2000" b="1" dirty="0">
                <a:solidFill>
                  <a:srgbClr val="002060"/>
                </a:solidFill>
                <a:latin typeface="Times New Roman" panose="02020603050405020304" pitchFamily="18" charset="0"/>
                <a:ea typeface="华文楷体" panose="02010600040101010101" pitchFamily="2" charset="-122"/>
              </a:rPr>
              <a:t>重载成员函数</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display() const;	//</a:t>
            </a:r>
            <a:r>
              <a:rPr kumimoji="0" lang="zh-CN" altLang="en-US" sz="2000" b="1" dirty="0">
                <a:solidFill>
                  <a:srgbClr val="000000"/>
                </a:solidFill>
                <a:latin typeface="Times New Roman" panose="02020603050405020304" pitchFamily="18" charset="0"/>
                <a:ea typeface="华文楷体" panose="02010600040101010101" pitchFamily="2" charset="-122"/>
              </a:rPr>
              <a:t>输出复数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real</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复数实部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t>
            </a:r>
            <a:r>
              <a:rPr kumimoji="0" lang="en-US" altLang="zh-CN" sz="2000" b="1" dirty="0" err="1">
                <a:solidFill>
                  <a:srgbClr val="000000"/>
                </a:solidFill>
                <a:latin typeface="Times New Roman" panose="02020603050405020304" pitchFamily="18" charset="0"/>
                <a:ea typeface="华文楷体" panose="02010600040101010101" pitchFamily="2" charset="-122"/>
              </a:rPr>
              <a:t>imag</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复数虚部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pPr eaLnBrk="1" hangingPunct="1"/>
            <a:r>
              <a:rPr lang="zh-CN" altLang="en-US" sz="3200" b="1" smtClean="0"/>
              <a:t>例</a:t>
            </a:r>
            <a:r>
              <a:rPr lang="en-US" altLang="zh-CN" sz="3200" b="1" smtClean="0"/>
              <a:t>8-1</a:t>
            </a:r>
            <a:r>
              <a:rPr lang="zh-CN" altLang="en-US" sz="3200" b="1" smtClean="0"/>
              <a:t>（续）</a:t>
            </a:r>
            <a:endParaRPr lang="zh-CN" altLang="en-US" sz="3200" b="1" smtClean="0"/>
          </a:p>
        </p:txBody>
      </p:sp>
      <p:sp>
        <p:nvSpPr>
          <p:cNvPr id="3" name="内容占位符 2"/>
          <p:cNvSpPr>
            <a:spLocks noGrp="1"/>
          </p:cNvSpPr>
          <p:nvPr>
            <p:ph idx="1"/>
          </p:nvPr>
        </p:nvSpPr>
        <p:spPr>
          <a:xfrm>
            <a:off x="611560" y="1484784"/>
            <a:ext cx="7886700" cy="470898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Complex Complex::operator + (const Complex &amp;c2) </a:t>
            </a:r>
            <a:r>
              <a:rPr kumimoji="0" lang="en-US" altLang="zh-CN" sz="2000" b="1" dirty="0" err="1">
                <a:solidFill>
                  <a:srgbClr val="FF0000"/>
                </a:solidFill>
                <a:latin typeface="Times New Roman" panose="02020603050405020304" pitchFamily="18" charset="0"/>
                <a:ea typeface="华文楷体" panose="02010600040101010101" pitchFamily="2" charset="-122"/>
              </a:rPr>
              <a:t>const</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重载运算符函数实现</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return Complex(real + c2.real, </a:t>
            </a:r>
            <a:r>
              <a:rPr kumimoji="0" lang="en-US" altLang="zh-CN" sz="2000" b="1" dirty="0" err="1">
                <a:solidFill>
                  <a:srgbClr val="FF0000"/>
                </a:solidFill>
                <a:latin typeface="Times New Roman" panose="02020603050405020304" pitchFamily="18" charset="0"/>
                <a:ea typeface="华文楷体" panose="02010600040101010101" pitchFamily="2" charset="-122"/>
              </a:rPr>
              <a:t>imag</a:t>
            </a:r>
            <a:r>
              <a:rPr kumimoji="0" lang="en-US" altLang="zh-CN" sz="2000" b="1" dirty="0">
                <a:solidFill>
                  <a:srgbClr val="FF0000"/>
                </a:solidFill>
                <a:latin typeface="Times New Roman" panose="02020603050405020304" pitchFamily="18" charset="0"/>
                <a:ea typeface="华文楷体" panose="02010600040101010101" pitchFamily="2" charset="-122"/>
              </a:rPr>
              <a:t> + c2.imag); </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创建一个临时无名对象作为返回值</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Complex Complex::operator - (const Complex &amp;c2) const {	</a:t>
            </a:r>
            <a:endParaRPr kumimoji="0" lang="en-US" altLang="zh-CN" sz="2000" b="1" dirty="0" smtClean="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2060"/>
                </a:solidFill>
                <a:latin typeface="Times New Roman" panose="02020603050405020304" pitchFamily="18" charset="0"/>
                <a:ea typeface="华文楷体" panose="02010600040101010101" pitchFamily="2" charset="-122"/>
              </a:rPr>
              <a:t>//</a:t>
            </a:r>
            <a:r>
              <a:rPr kumimoji="0" lang="zh-CN" altLang="en-US" sz="2000" b="1" dirty="0">
                <a:solidFill>
                  <a:srgbClr val="002060"/>
                </a:solidFill>
                <a:latin typeface="Times New Roman" panose="02020603050405020304" pitchFamily="18" charset="0"/>
                <a:ea typeface="华文楷体" panose="02010600040101010101" pitchFamily="2" charset="-122"/>
              </a:rPr>
              <a:t>重载运算符函数实现</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return Complex(real - c2.real, </a:t>
            </a:r>
            <a:r>
              <a:rPr kumimoji="0" lang="en-US" altLang="zh-CN" sz="2000" b="1" dirty="0" err="1">
                <a:solidFill>
                  <a:srgbClr val="002060"/>
                </a:solidFill>
                <a:latin typeface="Times New Roman" panose="02020603050405020304" pitchFamily="18" charset="0"/>
                <a:ea typeface="华文楷体" panose="02010600040101010101" pitchFamily="2" charset="-122"/>
              </a:rPr>
              <a:t>imag</a:t>
            </a:r>
            <a:r>
              <a:rPr kumimoji="0" lang="en-US" altLang="zh-CN" sz="2000" b="1" dirty="0">
                <a:solidFill>
                  <a:srgbClr val="002060"/>
                </a:solidFill>
                <a:latin typeface="Times New Roman" panose="02020603050405020304" pitchFamily="18" charset="0"/>
                <a:ea typeface="华文楷体" panose="02010600040101010101" pitchFamily="2" charset="-122"/>
              </a:rPr>
              <a:t> - c2.imag); </a:t>
            </a:r>
            <a:endParaRPr kumimoji="0" lang="en-US" altLang="zh-CN" sz="2000" b="1" dirty="0" smtClean="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smtClean="0">
                <a:solidFill>
                  <a:srgbClr val="002060"/>
                </a:solidFill>
                <a:latin typeface="Times New Roman" panose="02020603050405020304" pitchFamily="18" charset="0"/>
                <a:ea typeface="华文楷体" panose="02010600040101010101" pitchFamily="2" charset="-122"/>
              </a:rPr>
              <a:t>    //</a:t>
            </a:r>
            <a:r>
              <a:rPr kumimoji="0" lang="zh-CN" altLang="en-US" sz="2000" b="1" dirty="0">
                <a:solidFill>
                  <a:srgbClr val="002060"/>
                </a:solidFill>
                <a:latin typeface="Times New Roman" panose="02020603050405020304" pitchFamily="18" charset="0"/>
                <a:ea typeface="华文楷体" panose="02010600040101010101" pitchFamily="2" charset="-122"/>
              </a:rPr>
              <a:t>创建一个临时无名对象作为返回值</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2060"/>
                </a:solidFill>
                <a:latin typeface="Times New Roman" panose="02020603050405020304" pitchFamily="18" charset="0"/>
                <a:ea typeface="华文楷体" panose="02010600040101010101" pitchFamily="2" charset="-122"/>
              </a:rPr>
              <a:t>}</a:t>
            </a:r>
            <a:endParaRPr kumimoji="0" lang="en-US" altLang="zh-CN" sz="2000" b="1" dirty="0" smtClean="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Complex::display() const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 &lt;&lt; real &lt;&lt; ", " &lt;&lt; </a:t>
            </a:r>
            <a:r>
              <a:rPr kumimoji="0" lang="en-US" altLang="zh-CN" sz="2000" b="1" dirty="0" err="1">
                <a:solidFill>
                  <a:srgbClr val="000000"/>
                </a:solidFill>
                <a:latin typeface="Times New Roman" panose="02020603050405020304" pitchFamily="18" charset="0"/>
                <a:ea typeface="华文楷体" panose="02010600040101010101" pitchFamily="2" charset="-122"/>
              </a:rPr>
              <a:t>imag</a:t>
            </a:r>
            <a:r>
              <a:rPr kumimoji="0" lang="en-US" altLang="zh-CN" sz="2000" b="1" dirty="0">
                <a:solidFill>
                  <a:srgbClr val="000000"/>
                </a:solidFill>
                <a:latin typeface="Times New Roman" panose="02020603050405020304" pitchFamily="18" charset="0"/>
                <a:ea typeface="华文楷体" panose="02010600040101010101" pitchFamily="2" charset="-122"/>
              </a:rPr>
              <a:t> &lt;&lt; ")"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eaLnBrk="1" hangingPunct="1"/>
            <a:r>
              <a:rPr lang="zh-CN" altLang="en-US" sz="3200" b="1" smtClean="0"/>
              <a:t>例</a:t>
            </a:r>
            <a:r>
              <a:rPr lang="en-US" altLang="zh-CN" sz="3200" b="1" smtClean="0"/>
              <a:t>8-1</a:t>
            </a:r>
            <a:r>
              <a:rPr lang="zh-CN" altLang="en-US" sz="3200" b="1" smtClean="0"/>
              <a:t>（续）</a:t>
            </a:r>
            <a:endParaRPr lang="zh-CN" altLang="en-US" sz="3200" b="1" smtClean="0"/>
          </a:p>
        </p:txBody>
      </p:sp>
      <p:sp>
        <p:nvSpPr>
          <p:cNvPr id="3" name="内容占位符 2"/>
          <p:cNvSpPr>
            <a:spLocks noGrp="1"/>
          </p:cNvSpPr>
          <p:nvPr>
            <p:ph idx="1"/>
          </p:nvPr>
        </p:nvSpPr>
        <p:spPr>
          <a:xfrm>
            <a:off x="611560" y="1340768"/>
            <a:ext cx="7886700" cy="4708981"/>
          </a:xfrm>
          <a:solidFill>
            <a:schemeClr val="tx1"/>
          </a:solidFill>
          <a:ln w="9525">
            <a:solidFill>
              <a:schemeClr val="tx1"/>
            </a:solidFill>
            <a:miter lim="800000"/>
          </a:ln>
        </p:spPr>
        <p:txBody>
          <a:bodyPr>
            <a:spAutoFit/>
          </a:bodyPr>
          <a:lstStyle/>
          <a:p>
            <a:pPr>
              <a:lnSpc>
                <a:spcPct val="150000"/>
              </a:lnSpc>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Complex c1(5, 4), c2(2, 10), c3;	//</a:t>
            </a:r>
            <a:r>
              <a:rPr kumimoji="0" lang="zh-CN" altLang="en-US" sz="2000" b="1" dirty="0">
                <a:solidFill>
                  <a:srgbClr val="000000"/>
                </a:solidFill>
                <a:latin typeface="Times New Roman" panose="02020603050405020304" pitchFamily="18" charset="0"/>
                <a:ea typeface="华文楷体" panose="02010600040101010101" pitchFamily="2" charset="-122"/>
              </a:rPr>
              <a:t>定义复数类的对象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"c1 = "; c1.display();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"c2 = "; c2.display();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c3 = c1 - c2;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使用重载运算符完成复数减法</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"c3 = c1 - c2 = "; c3.display();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c3 = c1 + c2;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使用重载运算符完成复数加法</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"c3 = c1 + c2 = "; c3.display();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lnSpc>
                <a:spcPct val="150000"/>
              </a:lnSpc>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4" name="内容占位符 2"/>
          <p:cNvSpPr txBox="1"/>
          <p:nvPr/>
        </p:nvSpPr>
        <p:spPr>
          <a:xfrm>
            <a:off x="6101650" y="4797152"/>
            <a:ext cx="3007246" cy="1938992"/>
          </a:xfrm>
          <a:prstGeom prst="rect">
            <a:avLst/>
          </a:prstGeom>
          <a:solidFill>
            <a:srgbClr val="000000"/>
          </a:solidFill>
          <a:ln>
            <a:noFill/>
          </a:ln>
        </p:spPr>
        <p:txBody>
          <a:bodyPr wrap="square">
            <a:sp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Font typeface="Monotype Sorts" pitchFamily="2" charset="2"/>
              <a:buNone/>
            </a:pPr>
            <a:r>
              <a:rPr lang="zh-CN" altLang="en-US" sz="2000" b="1" dirty="0" smtClean="0">
                <a:latin typeface="华文楷体" panose="02010600040101010101" pitchFamily="2" charset="-122"/>
                <a:ea typeface="华文楷体" panose="02010600040101010101" pitchFamily="2" charset="-122"/>
              </a:rPr>
              <a:t>程序输出的结果为：</a:t>
            </a:r>
            <a:endParaRPr lang="zh-CN" altLang="en-US" sz="2000" b="1" dirty="0" smtClean="0">
              <a:latin typeface="华文楷体" panose="02010600040101010101" pitchFamily="2" charset="-122"/>
              <a:ea typeface="华文楷体" panose="02010600040101010101" pitchFamily="2" charset="-122"/>
            </a:endParaRPr>
          </a:p>
          <a:p>
            <a:pPr marL="0" indent="0">
              <a:spcBef>
                <a:spcPct val="0"/>
              </a:spcBef>
              <a:buFont typeface="Monotype Sorts" pitchFamily="2" charset="2"/>
              <a:buNone/>
            </a:pPr>
            <a:endParaRPr lang="zh-CN" altLang="en-US" sz="2000" b="1" dirty="0" smtClean="0">
              <a:latin typeface="华文楷体" panose="02010600040101010101" pitchFamily="2" charset="-122"/>
              <a:ea typeface="华文楷体" panose="02010600040101010101" pitchFamily="2" charset="-122"/>
            </a:endParaRPr>
          </a:p>
          <a:p>
            <a:pPr marL="0" indent="0">
              <a:spcBef>
                <a:spcPct val="0"/>
              </a:spcBef>
              <a:buFont typeface="Monotype Sorts" pitchFamily="2" charset="2"/>
              <a:buNone/>
            </a:pPr>
            <a:r>
              <a:rPr lang="en-US" altLang="zh-CN" sz="2000" b="1" dirty="0" smtClean="0">
                <a:latin typeface="华文楷体" panose="02010600040101010101" pitchFamily="2" charset="-122"/>
                <a:ea typeface="华文楷体" panose="02010600040101010101" pitchFamily="2" charset="-122"/>
              </a:rPr>
              <a:t>c1 = (5, 4)</a:t>
            </a:r>
            <a:endParaRPr lang="en-US" altLang="zh-CN" sz="2000" b="1" dirty="0" smtClean="0">
              <a:latin typeface="华文楷体" panose="02010600040101010101" pitchFamily="2" charset="-122"/>
              <a:ea typeface="华文楷体" panose="02010600040101010101" pitchFamily="2" charset="-122"/>
            </a:endParaRPr>
          </a:p>
          <a:p>
            <a:pPr marL="0" indent="0">
              <a:spcBef>
                <a:spcPct val="0"/>
              </a:spcBef>
              <a:buFont typeface="Monotype Sorts" pitchFamily="2" charset="2"/>
              <a:buNone/>
            </a:pPr>
            <a:r>
              <a:rPr lang="en-US" altLang="zh-CN" sz="2000" b="1" dirty="0" smtClean="0">
                <a:latin typeface="华文楷体" panose="02010600040101010101" pitchFamily="2" charset="-122"/>
                <a:ea typeface="华文楷体" panose="02010600040101010101" pitchFamily="2" charset="-122"/>
              </a:rPr>
              <a:t>c2 = (2, 10)</a:t>
            </a:r>
            <a:endParaRPr lang="en-US" altLang="zh-CN" sz="2000" b="1" dirty="0" smtClean="0">
              <a:latin typeface="华文楷体" panose="02010600040101010101" pitchFamily="2" charset="-122"/>
              <a:ea typeface="华文楷体" panose="02010600040101010101" pitchFamily="2" charset="-122"/>
            </a:endParaRPr>
          </a:p>
          <a:p>
            <a:pPr marL="0" indent="0">
              <a:spcBef>
                <a:spcPct val="0"/>
              </a:spcBef>
              <a:buFont typeface="Monotype Sorts" pitchFamily="2" charset="2"/>
              <a:buNone/>
            </a:pPr>
            <a:r>
              <a:rPr lang="en-US" altLang="zh-CN" sz="2000" b="1" dirty="0" smtClean="0">
                <a:latin typeface="华文楷体" panose="02010600040101010101" pitchFamily="2" charset="-122"/>
                <a:ea typeface="华文楷体" panose="02010600040101010101" pitchFamily="2" charset="-122"/>
              </a:rPr>
              <a:t>c3 = c1 - c2 = (3, -6)</a:t>
            </a:r>
            <a:endParaRPr lang="en-US" altLang="zh-CN" sz="2000" b="1" dirty="0" smtClean="0">
              <a:latin typeface="华文楷体" panose="02010600040101010101" pitchFamily="2" charset="-122"/>
              <a:ea typeface="华文楷体" panose="02010600040101010101" pitchFamily="2" charset="-122"/>
            </a:endParaRPr>
          </a:p>
          <a:p>
            <a:pPr marL="0" indent="0">
              <a:spcBef>
                <a:spcPct val="0"/>
              </a:spcBef>
              <a:buFont typeface="Monotype Sorts" pitchFamily="2" charset="2"/>
              <a:buNone/>
            </a:pPr>
            <a:r>
              <a:rPr lang="en-US" altLang="zh-CN" sz="2000" b="1" dirty="0" smtClean="0">
                <a:latin typeface="华文楷体" panose="02010600040101010101" pitchFamily="2" charset="-122"/>
                <a:ea typeface="华文楷体" panose="02010600040101010101" pitchFamily="2" charset="-122"/>
              </a:rPr>
              <a:t>c3 = c1 + c2 = (7, 14)</a:t>
            </a:r>
            <a:endParaRPr lang="en-US" altLang="zh-CN" sz="2000" b="1"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4400" b="1" dirty="0">
                <a:latin typeface="Times New Roman" panose="02020603050405020304" pitchFamily="18" charset="0"/>
                <a:ea typeface="隶书" panose="02010509060101010101" pitchFamily="49" charset="-122"/>
              </a:rPr>
              <a:t>运算符成员函数的设计</a:t>
            </a:r>
            <a:endParaRPr lang="zh-CN" altLang="en-US" sz="4400" b="1" dirty="0">
              <a:latin typeface="Times New Roman" panose="02020603050405020304" pitchFamily="18" charset="0"/>
              <a:ea typeface="隶书" panose="02010509060101010101" pitchFamily="49" charset="-122"/>
            </a:endParaRPr>
          </a:p>
        </p:txBody>
      </p:sp>
      <p:sp>
        <p:nvSpPr>
          <p:cNvPr id="30723"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前置单目运算符 </a:t>
            </a:r>
            <a:r>
              <a:rPr lang="en-US" altLang="zh-CN" sz="2400" b="1" dirty="0">
                <a:solidFill>
                  <a:srgbClr val="FFFF00"/>
                </a:solidFill>
                <a:ea typeface="华文楷体" panose="02010600040101010101" pitchFamily="2" charset="-122"/>
              </a:rPr>
              <a:t>U</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如果要重载 </a:t>
            </a:r>
            <a:r>
              <a:rPr lang="en-US" altLang="zh-CN" sz="2400" b="1" dirty="0">
                <a:ea typeface="华文楷体" panose="02010600040101010101" pitchFamily="2" charset="-122"/>
              </a:rPr>
              <a:t>U </a:t>
            </a:r>
            <a:r>
              <a:rPr lang="zh-CN" altLang="en-US" sz="2400" b="1" dirty="0">
                <a:ea typeface="华文楷体" panose="02010600040101010101" pitchFamily="2" charset="-122"/>
              </a:rPr>
              <a:t>为类成员函数，使之能够实现表达式 </a:t>
            </a:r>
            <a:r>
              <a:rPr lang="en-US" altLang="zh-CN" sz="2400" b="1" dirty="0">
                <a:ea typeface="华文楷体" panose="02010600040101010101" pitchFamily="2" charset="-122"/>
              </a:rPr>
              <a:t>U </a:t>
            </a:r>
            <a:r>
              <a:rPr lang="en-US" altLang="zh-CN" sz="2400" b="1" dirty="0" err="1">
                <a:ea typeface="华文楷体" panose="02010600040101010101" pitchFamily="2" charset="-122"/>
              </a:rPr>
              <a:t>oprd</a:t>
            </a:r>
            <a:r>
              <a:rPr lang="zh-CN" altLang="en-US" sz="2400" b="1" dirty="0">
                <a:ea typeface="华文楷体" panose="02010600040101010101" pitchFamily="2" charset="-122"/>
              </a:rPr>
              <a:t>，其中</a:t>
            </a:r>
            <a:r>
              <a:rPr lang="en-US" altLang="en-US" sz="2400" b="1" dirty="0">
                <a:ea typeface="华文楷体" panose="02010600040101010101" pitchFamily="2" charset="-122"/>
              </a:rPr>
              <a:t>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为</a:t>
            </a:r>
            <a:r>
              <a:rPr lang="en-US" altLang="zh-CN" sz="2400" b="1" dirty="0">
                <a:ea typeface="华文楷体" panose="02010600040101010101" pitchFamily="2" charset="-122"/>
              </a:rPr>
              <a:t>A</a:t>
            </a:r>
            <a:r>
              <a:rPr lang="zh-CN" altLang="en-US" sz="2400" b="1" dirty="0">
                <a:ea typeface="华文楷体" panose="02010600040101010101" pitchFamily="2" charset="-122"/>
              </a:rPr>
              <a:t>类对象，则 </a:t>
            </a:r>
            <a:r>
              <a:rPr lang="en-US" altLang="zh-CN" sz="2400" b="1" dirty="0">
                <a:ea typeface="华文楷体" panose="02010600040101010101" pitchFamily="2" charset="-122"/>
              </a:rPr>
              <a:t>U </a:t>
            </a:r>
            <a:r>
              <a:rPr lang="zh-CN" altLang="en-US" sz="2400" b="1" dirty="0">
                <a:ea typeface="华文楷体" panose="02010600040101010101" pitchFamily="2" charset="-122"/>
              </a:rPr>
              <a:t>应被重载为 </a:t>
            </a:r>
            <a:r>
              <a:rPr lang="en-US" altLang="zh-CN" sz="2400" b="1" dirty="0">
                <a:ea typeface="华文楷体" panose="02010600040101010101" pitchFamily="2" charset="-122"/>
              </a:rPr>
              <a:t>A </a:t>
            </a:r>
            <a:r>
              <a:rPr lang="zh-CN" altLang="en-US" sz="2400" b="1" dirty="0">
                <a:ea typeface="华文楷体" panose="02010600040101010101" pitchFamily="2" charset="-122"/>
              </a:rPr>
              <a:t>类的成员函数，无形参。</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经重载后，</a:t>
            </a:r>
            <a:br>
              <a:rPr lang="zh-CN" altLang="en-US" sz="2400" b="1" dirty="0">
                <a:ea typeface="华文楷体" panose="02010600040101010101" pitchFamily="2" charset="-122"/>
              </a:rPr>
            </a:br>
            <a:r>
              <a:rPr lang="zh-CN" altLang="en-US" sz="2400" b="1" dirty="0">
                <a:ea typeface="华文楷体" panose="02010600040101010101" pitchFamily="2" charset="-122"/>
              </a:rPr>
              <a:t>表达式</a:t>
            </a:r>
            <a:r>
              <a:rPr lang="en-US" altLang="en-US" sz="2400" b="1" dirty="0">
                <a:ea typeface="华文楷体" panose="02010600040101010101" pitchFamily="2" charset="-122"/>
              </a:rPr>
              <a:t> </a:t>
            </a:r>
            <a:r>
              <a:rPr lang="en-US" altLang="zh-CN" sz="2400" b="1" dirty="0">
                <a:ea typeface="华文楷体" panose="02010600040101010101" pitchFamily="2" charset="-122"/>
              </a:rPr>
              <a:t>U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相当于 </a:t>
            </a:r>
            <a:r>
              <a:rPr lang="en-US" altLang="zh-CN" sz="2400" b="1" dirty="0" err="1">
                <a:solidFill>
                  <a:srgbClr val="FFFF00"/>
                </a:solidFill>
                <a:ea typeface="华文楷体" panose="02010600040101010101" pitchFamily="2" charset="-122"/>
              </a:rPr>
              <a:t>oprd.operator</a:t>
            </a:r>
            <a:r>
              <a:rPr lang="en-US" altLang="zh-CN" sz="2400" b="1" dirty="0">
                <a:solidFill>
                  <a:srgbClr val="FFFF00"/>
                </a:solidFill>
                <a:ea typeface="华文楷体" panose="02010600040101010101" pitchFamily="2" charset="-122"/>
              </a:rPr>
              <a:t> U()</a:t>
            </a:r>
            <a:endParaRPr lang="en-US" altLang="zh-CN" sz="2400" b="1" dirty="0">
              <a:solidFill>
                <a:srgbClr val="FFFF00"/>
              </a:solidFill>
              <a:ea typeface="华文楷体" panose="02010600040101010101" pitchFamily="2" charset="-122"/>
            </a:endParaRPr>
          </a:p>
          <a:p>
            <a:pPr>
              <a:lnSpc>
                <a:spcPct val="150000"/>
              </a:lnSpc>
              <a:spcAft>
                <a:spcPct val="25000"/>
              </a:spcAft>
            </a:pP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pPr eaLnBrk="1" hangingPunct="1"/>
            <a:r>
              <a:rPr lang="zh-CN" altLang="en-US" b="1" smtClean="0"/>
              <a:t>运算符成员函数的设计（续）</a:t>
            </a:r>
            <a:endParaRPr lang="zh-CN" altLang="en-US" b="1" smtClean="0"/>
          </a:p>
        </p:txBody>
      </p:sp>
      <p:sp>
        <p:nvSpPr>
          <p:cNvPr id="31747" name="内容占位符 2"/>
          <p:cNvSpPr>
            <a:spLocks noGrp="1"/>
          </p:cNvSpPr>
          <p:nvPr>
            <p:ph idx="1"/>
          </p:nvPr>
        </p:nvSpPr>
        <p:spPr>
          <a:xfrm>
            <a:off x="611560" y="1700808"/>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后置单目运算符 </a:t>
            </a:r>
            <a:r>
              <a:rPr lang="en-US" altLang="en-US"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和</a:t>
            </a:r>
            <a:r>
              <a:rPr lang="en-US" altLang="zh-CN" sz="2400" b="1" dirty="0">
                <a:solidFill>
                  <a:srgbClr val="FFFF00"/>
                </a:solidFill>
                <a:ea typeface="华文楷体" panose="02010600040101010101" pitchFamily="2" charset="-122"/>
              </a:rPr>
              <a:t>--</a:t>
            </a:r>
            <a:endParaRPr lang="en-US"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如果要重载 </a:t>
            </a:r>
            <a:r>
              <a:rPr lang="en-US" altLang="en-US" sz="2400" b="1" dirty="0">
                <a:ea typeface="华文楷体" panose="02010600040101010101" pitchFamily="2" charset="-122"/>
              </a:rPr>
              <a:t>++</a:t>
            </a:r>
            <a:r>
              <a:rPr lang="zh-CN" altLang="en-US" sz="2400" b="1" dirty="0">
                <a:ea typeface="华文楷体" panose="02010600040101010101" pitchFamily="2" charset="-122"/>
              </a:rPr>
              <a:t>或</a:t>
            </a:r>
            <a:r>
              <a:rPr lang="en-US" altLang="zh-CN" sz="2400" b="1" dirty="0">
                <a:ea typeface="华文楷体" panose="02010600040101010101" pitchFamily="2" charset="-122"/>
              </a:rPr>
              <a:t>--</a:t>
            </a:r>
            <a:r>
              <a:rPr lang="zh-CN" altLang="en-US" sz="2400" b="1" dirty="0">
                <a:ea typeface="华文楷体" panose="02010600040101010101" pitchFamily="2" charset="-122"/>
              </a:rPr>
              <a:t>为类成员函数，使之能够实现表达式 </a:t>
            </a:r>
            <a:r>
              <a:rPr lang="en-US" altLang="en-US" sz="2400" b="1" dirty="0">
                <a:ea typeface="华文楷体" panose="02010600040101010101" pitchFamily="2" charset="-122"/>
              </a:rPr>
              <a:t>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或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，其中</a:t>
            </a:r>
            <a:r>
              <a:rPr lang="en-US" altLang="en-US" sz="2400" b="1" dirty="0">
                <a:ea typeface="华文楷体" panose="02010600040101010101" pitchFamily="2" charset="-122"/>
              </a:rPr>
              <a:t>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为</a:t>
            </a:r>
            <a:r>
              <a:rPr lang="en-US" altLang="zh-CN" sz="2400" b="1" dirty="0">
                <a:ea typeface="华文楷体" panose="02010600040101010101" pitchFamily="2" charset="-122"/>
              </a:rPr>
              <a:t>A</a:t>
            </a:r>
            <a:r>
              <a:rPr lang="zh-CN" altLang="en-US" sz="2400" b="1" dirty="0">
                <a:ea typeface="华文楷体" panose="02010600040101010101" pitchFamily="2" charset="-122"/>
              </a:rPr>
              <a:t>类对象，则 </a:t>
            </a:r>
            <a:r>
              <a:rPr lang="en-US" altLang="en-US" sz="2400" b="1" dirty="0">
                <a:ea typeface="华文楷体" panose="02010600040101010101" pitchFamily="2" charset="-122"/>
              </a:rPr>
              <a:t>++</a:t>
            </a:r>
            <a:r>
              <a:rPr lang="zh-CN" altLang="en-US" sz="2400" b="1" dirty="0">
                <a:ea typeface="华文楷体" panose="02010600040101010101" pitchFamily="2" charset="-122"/>
              </a:rPr>
              <a:t>或</a:t>
            </a:r>
            <a:r>
              <a:rPr lang="en-US" altLang="zh-CN" sz="2400" b="1" dirty="0">
                <a:ea typeface="华文楷体" panose="02010600040101010101" pitchFamily="2" charset="-122"/>
              </a:rPr>
              <a:t>--  </a:t>
            </a:r>
            <a:r>
              <a:rPr lang="zh-CN" altLang="en-US" sz="2400" b="1" dirty="0">
                <a:ea typeface="华文楷体" panose="02010600040101010101" pitchFamily="2" charset="-122"/>
              </a:rPr>
              <a:t>应被重载为 </a:t>
            </a:r>
            <a:r>
              <a:rPr lang="en-US" altLang="zh-CN" sz="2400" b="1" dirty="0">
                <a:ea typeface="华文楷体" panose="02010600040101010101" pitchFamily="2" charset="-122"/>
              </a:rPr>
              <a:t>A </a:t>
            </a:r>
            <a:r>
              <a:rPr lang="zh-CN" altLang="en-US" sz="2400" b="1" dirty="0">
                <a:ea typeface="华文楷体" panose="02010600040101010101" pitchFamily="2" charset="-122"/>
              </a:rPr>
              <a:t>类的成员函数，且具有一个 </a:t>
            </a:r>
            <a:r>
              <a:rPr lang="en-US" altLang="zh-CN" sz="2400" b="1" dirty="0" err="1">
                <a:ea typeface="华文楷体" panose="02010600040101010101" pitchFamily="2" charset="-122"/>
              </a:rPr>
              <a:t>int</a:t>
            </a:r>
            <a:r>
              <a:rPr lang="en-US" altLang="zh-CN" sz="2400" b="1" dirty="0">
                <a:ea typeface="华文楷体" panose="02010600040101010101" pitchFamily="2" charset="-122"/>
              </a:rPr>
              <a:t> </a:t>
            </a:r>
            <a:r>
              <a:rPr lang="zh-CN" altLang="en-US" sz="2400" b="1" dirty="0">
                <a:ea typeface="华文楷体" panose="02010600040101010101" pitchFamily="2" charset="-122"/>
              </a:rPr>
              <a:t>类型</a:t>
            </a:r>
            <a:r>
              <a:rPr lang="zh-CN" altLang="zh-CN" sz="2400" b="1" dirty="0">
                <a:ea typeface="华文楷体" panose="02010600040101010101" pitchFamily="2" charset="-122"/>
              </a:rPr>
              <a:t>形参</a:t>
            </a:r>
            <a:r>
              <a:rPr lang="zh-CN" altLang="en-US" sz="2400" b="1" dirty="0">
                <a:ea typeface="华文楷体" panose="02010600040101010101" pitchFamily="2" charset="-122"/>
              </a:rPr>
              <a:t>。</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经重载后，表达式 </a:t>
            </a:r>
            <a:r>
              <a:rPr lang="en-US" altLang="en-US" sz="2400" b="1" dirty="0">
                <a:ea typeface="华文楷体" panose="02010600040101010101" pitchFamily="2" charset="-122"/>
              </a:rPr>
              <a:t>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r>
              <a:rPr lang="zh-CN" altLang="en-US" sz="2400" b="1" dirty="0">
                <a:ea typeface="华文楷体" panose="02010600040101010101" pitchFamily="2" charset="-122"/>
              </a:rPr>
              <a:t>相当于 </a:t>
            </a:r>
            <a:r>
              <a:rPr lang="zh-CN" altLang="en-US"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oprd.operator</a:t>
            </a:r>
            <a:r>
              <a:rPr lang="en-US" altLang="zh-CN" sz="2400" b="1" dirty="0">
                <a:solidFill>
                  <a:srgbClr val="FFFF00"/>
                </a:solidFill>
                <a:ea typeface="华文楷体" panose="02010600040101010101" pitchFamily="2" charset="-122"/>
              </a:rPr>
              <a:t> ++(0)</a:t>
            </a: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eaLnBrk="1" hangingPunct="1"/>
            <a:r>
              <a:rPr lang="zh-CN" altLang="en-US" b="1" dirty="0" smtClean="0"/>
              <a:t>例</a:t>
            </a:r>
            <a:r>
              <a:rPr lang="en-US" altLang="zh-CN" b="1" dirty="0" smtClean="0"/>
              <a:t>8-2 </a:t>
            </a:r>
            <a:endParaRPr lang="zh-CN" altLang="en-US" b="1" dirty="0" smtClean="0"/>
          </a:p>
        </p:txBody>
      </p:sp>
      <p:sp>
        <p:nvSpPr>
          <p:cNvPr id="32771" name="内容占位符 2"/>
          <p:cNvSpPr>
            <a:spLocks noGrp="1"/>
          </p:cNvSpPr>
          <p:nvPr>
            <p:ph idx="1"/>
          </p:nvPr>
        </p:nvSpPr>
        <p:spPr/>
        <p:txBody>
          <a:bodyPr/>
          <a:lstStyle/>
          <a:p>
            <a:pPr marL="0" indent="0">
              <a:lnSpc>
                <a:spcPct val="150000"/>
              </a:lnSpc>
              <a:spcAft>
                <a:spcPct val="25000"/>
              </a:spcAft>
              <a:buNone/>
            </a:pPr>
            <a:r>
              <a:rPr lang="zh-CN" altLang="en-US" sz="2400" b="1" dirty="0">
                <a:ea typeface="华文楷体" panose="02010600040101010101" pitchFamily="2" charset="-122"/>
              </a:rPr>
              <a:t>运算符前置</a:t>
            </a:r>
            <a:r>
              <a:rPr lang="en-US" altLang="zh-CN" sz="2400" b="1" dirty="0">
                <a:ea typeface="华文楷体" panose="02010600040101010101" pitchFamily="2" charset="-122"/>
              </a:rPr>
              <a:t>++</a:t>
            </a:r>
            <a:r>
              <a:rPr lang="zh-CN" altLang="en-US" sz="2400" b="1" dirty="0">
                <a:ea typeface="华文楷体" panose="02010600040101010101" pitchFamily="2" charset="-122"/>
              </a:rPr>
              <a:t>和后置</a:t>
            </a:r>
            <a:r>
              <a:rPr lang="en-US" altLang="zh-CN" sz="2400" b="1" dirty="0">
                <a:ea typeface="华文楷体" panose="02010600040101010101" pitchFamily="2" charset="-122"/>
              </a:rPr>
              <a:t>++</a:t>
            </a:r>
            <a:r>
              <a:rPr lang="zh-CN" altLang="en-US" sz="2400" b="1" dirty="0">
                <a:ea typeface="华文楷体" panose="02010600040101010101" pitchFamily="2" charset="-122"/>
              </a:rPr>
              <a:t>重载为时钟类的成员函数。</a:t>
            </a:r>
            <a:endParaRPr lang="zh-CN" altLang="en-US" sz="2400" b="1" dirty="0">
              <a:ea typeface="华文楷体" panose="02010600040101010101" pitchFamily="2" charset="-122"/>
            </a:endParaRPr>
          </a:p>
          <a:p>
            <a:pPr marL="0" indent="0">
              <a:lnSpc>
                <a:spcPct val="150000"/>
              </a:lnSpc>
              <a:spcAft>
                <a:spcPct val="25000"/>
              </a:spcAft>
              <a:buNone/>
            </a:pPr>
            <a:r>
              <a:rPr lang="zh-CN" altLang="en-US" sz="2400" b="1" dirty="0">
                <a:ea typeface="华文楷体" panose="02010600040101010101" pitchFamily="2" charset="-122"/>
              </a:rPr>
              <a:t>前置单目运算符，重载函数没有形参，对于后置单目运算符，重载函数需要有一个整型形参。</a:t>
            </a:r>
            <a:endParaRPr lang="zh-CN" altLang="en-US" sz="2400" b="1" dirty="0">
              <a:ea typeface="华文楷体" panose="02010600040101010101" pitchFamily="2" charset="-122"/>
            </a:endParaRPr>
          </a:p>
          <a:p>
            <a:pPr marL="0" indent="0">
              <a:lnSpc>
                <a:spcPct val="150000"/>
              </a:lnSpc>
              <a:spcAft>
                <a:spcPct val="25000"/>
              </a:spcAft>
              <a:buNone/>
            </a:pPr>
            <a:r>
              <a:rPr lang="zh-CN" altLang="en-US" sz="2400" b="1" dirty="0">
                <a:ea typeface="华文楷体" panose="02010600040101010101" pitchFamily="2" charset="-122"/>
              </a:rPr>
              <a:t>操作数是时钟类的对象。</a:t>
            </a:r>
            <a:endParaRPr lang="zh-CN" altLang="en-US" sz="2400" b="1" dirty="0">
              <a:ea typeface="华文楷体" panose="02010600040101010101" pitchFamily="2" charset="-122"/>
            </a:endParaRPr>
          </a:p>
          <a:p>
            <a:pPr marL="0" indent="0">
              <a:lnSpc>
                <a:spcPct val="150000"/>
              </a:lnSpc>
              <a:spcAft>
                <a:spcPct val="25000"/>
              </a:spcAft>
              <a:buNone/>
            </a:pPr>
            <a:r>
              <a:rPr lang="zh-CN" altLang="en-US" sz="2400" b="1" dirty="0">
                <a:ea typeface="华文楷体" panose="02010600040101010101" pitchFamily="2" charset="-122"/>
              </a:rPr>
              <a:t>实现时间增加</a:t>
            </a:r>
            <a:r>
              <a:rPr lang="en-US" altLang="zh-CN" sz="2400" b="1" dirty="0">
                <a:ea typeface="华文楷体" panose="02010600040101010101" pitchFamily="2" charset="-122"/>
              </a:rPr>
              <a:t>1</a:t>
            </a:r>
            <a:r>
              <a:rPr lang="zh-CN" altLang="en-US" sz="2400" b="1" dirty="0">
                <a:ea typeface="华文楷体" panose="02010600040101010101" pitchFamily="2" charset="-122"/>
              </a:rPr>
              <a:t>秒钟。</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3719"/>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Clock	{	//</a:t>
            </a:r>
            <a:r>
              <a:rPr kumimoji="0" lang="zh-CN" altLang="en-US" sz="2000" b="1" dirty="0">
                <a:solidFill>
                  <a:srgbClr val="000000"/>
                </a:solidFill>
                <a:latin typeface="Times New Roman" panose="02020603050405020304" pitchFamily="18" charset="0"/>
                <a:ea typeface="华文楷体" panose="02010600040101010101" pitchFamily="2" charset="-122"/>
              </a:rPr>
              <a:t>时钟类定义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zh-CN" altLang="en-US" sz="2000" b="1" dirty="0">
                <a:solidFill>
                  <a:srgbClr val="000000"/>
                </a:solidFill>
                <a:latin typeface="Times New Roman" panose="02020603050405020304" pitchFamily="18" charset="0"/>
                <a:ea typeface="华文楷体" panose="02010600040101010101" pitchFamily="2" charset="-122"/>
              </a:rPr>
              <a:t>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Clock(</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hour = 0,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minute = 0,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second =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showTime</a:t>
            </a:r>
            <a:r>
              <a:rPr kumimoji="0" lang="en-US" altLang="zh-CN" sz="2000" b="1" dirty="0">
                <a:solidFill>
                  <a:srgbClr val="000000"/>
                </a:solidFill>
                <a:latin typeface="Times New Roman" panose="02020603050405020304" pitchFamily="18" charset="0"/>
                <a:ea typeface="华文楷体" panose="02010600040101010101" pitchFamily="2" charset="-122"/>
              </a:rPr>
              <a:t>() const;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Clock&amp; operator ++ ();		//</a:t>
            </a:r>
            <a:r>
              <a:rPr kumimoji="0" lang="zh-CN" altLang="en-US" sz="2000" b="1" dirty="0">
                <a:solidFill>
                  <a:srgbClr val="FF0000"/>
                </a:solidFill>
                <a:latin typeface="Times New Roman" panose="02020603050405020304" pitchFamily="18" charset="0"/>
                <a:ea typeface="华文楷体" panose="02010600040101010101" pitchFamily="2" charset="-122"/>
              </a:rPr>
              <a:t>前置单目运算符重载</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Clock operator ++ (</a:t>
            </a:r>
            <a:r>
              <a:rPr kumimoji="0" lang="en-US" altLang="zh-CN" sz="2000" b="1" dirty="0" err="1">
                <a:solidFill>
                  <a:srgbClr val="002060"/>
                </a:solidFill>
                <a:latin typeface="Times New Roman" panose="02020603050405020304" pitchFamily="18" charset="0"/>
                <a:ea typeface="华文楷体" panose="02010600040101010101" pitchFamily="2" charset="-122"/>
              </a:rPr>
              <a:t>int</a:t>
            </a:r>
            <a:r>
              <a:rPr kumimoji="0" lang="en-US" altLang="zh-CN"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smtClean="0">
                <a:solidFill>
                  <a:srgbClr val="002060"/>
                </a:solidFill>
                <a:latin typeface="Times New Roman" panose="02020603050405020304" pitchFamily="18" charset="0"/>
                <a:ea typeface="华文楷体" panose="02010600040101010101" pitchFamily="2" charset="-122"/>
              </a:rPr>
              <a:t>	//</a:t>
            </a:r>
            <a:r>
              <a:rPr kumimoji="0" lang="zh-CN" altLang="en-US" sz="2000" b="1" dirty="0">
                <a:solidFill>
                  <a:srgbClr val="002060"/>
                </a:solidFill>
                <a:latin typeface="Times New Roman" panose="02020603050405020304" pitchFamily="18" charset="0"/>
                <a:ea typeface="华文楷体" panose="02010600040101010101" pitchFamily="2" charset="-122"/>
              </a:rPr>
              <a:t>后置单目运算符重载</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hour, minute, second;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Clock::Clock(</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hour/* = 0 */,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minute/* = 0 */,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second/* = 0 */)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(0 &lt;= hour &amp;&amp; hour &lt; 24 &amp;&amp; 0 &lt;= minute &amp;&amp; minute &lt; 60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&amp;&amp; 0 &lt;= second &amp;&amp; second &lt; 60)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this-&gt;hour = hour;</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this-&gt;minute = minute;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this-&gt;second = second;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else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"Time error!"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3797" name="标题 1"/>
          <p:cNvSpPr>
            <a:spLocks noGrp="1"/>
          </p:cNvSpPr>
          <p:nvPr>
            <p:ph type="title"/>
          </p:nvPr>
        </p:nvSpPr>
        <p:spPr>
          <a:xfrm>
            <a:off x="5490914" y="0"/>
            <a:ext cx="3257550" cy="692696"/>
          </a:xfrm>
          <a:solidFill>
            <a:schemeClr val="bg1"/>
          </a:solidFill>
        </p:spPr>
        <p:txBody>
          <a:bodyPr/>
          <a:lstStyle/>
          <a:p>
            <a:pPr eaLnBrk="1" hangingPunct="1"/>
            <a:r>
              <a:rPr lang="zh-CN" altLang="en-US" dirty="0" smtClean="0"/>
              <a:t>例</a:t>
            </a:r>
            <a:r>
              <a:rPr lang="en-US" altLang="zh-CN" dirty="0" smtClean="0"/>
              <a:t>8-2</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Clock::</a:t>
            </a:r>
            <a:r>
              <a:rPr kumimoji="0" lang="en-US" altLang="zh-CN" sz="2000" b="1" dirty="0" err="1">
                <a:solidFill>
                  <a:srgbClr val="000000"/>
                </a:solidFill>
                <a:latin typeface="Times New Roman" panose="02020603050405020304" pitchFamily="18" charset="0"/>
                <a:ea typeface="华文楷体" panose="02010600040101010101" pitchFamily="2" charset="-122"/>
              </a:rPr>
              <a:t>showTime</a:t>
            </a:r>
            <a:r>
              <a:rPr kumimoji="0" lang="en-US" altLang="zh-CN" sz="2000" b="1" dirty="0">
                <a:solidFill>
                  <a:srgbClr val="000000"/>
                </a:solidFill>
                <a:latin typeface="Times New Roman" panose="02020603050405020304" pitchFamily="18" charset="0"/>
                <a:ea typeface="华文楷体" panose="02010600040101010101" pitchFamily="2" charset="-122"/>
              </a:rPr>
              <a:t>() const {	//</a:t>
            </a:r>
            <a:r>
              <a:rPr kumimoji="0" lang="zh-CN" altLang="en-US" sz="2000" b="1" dirty="0">
                <a:solidFill>
                  <a:srgbClr val="000000"/>
                </a:solidFill>
                <a:latin typeface="Times New Roman" panose="02020603050405020304" pitchFamily="18" charset="0"/>
                <a:ea typeface="华文楷体" panose="02010600040101010101" pitchFamily="2" charset="-122"/>
              </a:rPr>
              <a:t>显示时间函数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hour &lt;&lt; ":" &lt;&lt; minute &lt;&lt; ":" &lt;&lt; second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Clock &amp; Clock::operator ++ () {	//</a:t>
            </a:r>
            <a:r>
              <a:rPr kumimoji="0" lang="zh-CN" altLang="en-US" sz="2000" b="1" dirty="0">
                <a:solidFill>
                  <a:srgbClr val="FF0000"/>
                </a:solidFill>
                <a:latin typeface="Times New Roman" panose="02020603050405020304" pitchFamily="18" charset="0"/>
                <a:ea typeface="华文楷体" panose="02010600040101010101" pitchFamily="2" charset="-122"/>
              </a:rPr>
              <a:t>前置单目运算符重载函数</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second++;</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if (second &gt;= 60)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second -= 60;</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minute++;</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if (minute &gt;= 60)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minute -= 60;</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hour = (hour + 1) % 24;</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return *this;</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r>
              <a:rPr kumimoji="0" lang="en-US" altLang="zh-CN" sz="2000" b="1" dirty="0">
                <a:solidFill>
                  <a:srgbClr val="FF0000"/>
                </a:solidFill>
                <a:latin typeface="Times New Roman" panose="02020603050405020304" pitchFamily="18" charset="0"/>
                <a:ea typeface="华文楷体" panose="02010600040101010101" pitchFamily="2" charset="-122"/>
              </a:rPr>
              <a:t>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Clock </a:t>
            </a:r>
            <a:r>
              <a:rPr kumimoji="0" lang="en-US" altLang="zh-CN" sz="2000" b="1" dirty="0" err="1">
                <a:solidFill>
                  <a:srgbClr val="002060"/>
                </a:solidFill>
                <a:latin typeface="Times New Roman" panose="02020603050405020304" pitchFamily="18" charset="0"/>
                <a:ea typeface="华文楷体" panose="02010600040101010101" pitchFamily="2" charset="-122"/>
              </a:rPr>
              <a:t>Clock</a:t>
            </a:r>
            <a:r>
              <a:rPr kumimoji="0" lang="en-US" altLang="zh-CN" sz="2000" b="1" dirty="0">
                <a:solidFill>
                  <a:srgbClr val="002060"/>
                </a:solidFill>
                <a:latin typeface="Times New Roman" panose="02020603050405020304" pitchFamily="18" charset="0"/>
                <a:ea typeface="华文楷体" panose="02010600040101010101" pitchFamily="2" charset="-122"/>
              </a:rPr>
              <a:t>::operator ++ (</a:t>
            </a:r>
            <a:r>
              <a:rPr kumimoji="0" lang="en-US" altLang="zh-CN" sz="2000" b="1" dirty="0" err="1">
                <a:solidFill>
                  <a:srgbClr val="002060"/>
                </a:solidFill>
                <a:latin typeface="Times New Roman" panose="02020603050405020304" pitchFamily="18" charset="0"/>
                <a:ea typeface="华文楷体" panose="02010600040101010101" pitchFamily="2" charset="-122"/>
              </a:rPr>
              <a:t>int</a:t>
            </a:r>
            <a:r>
              <a:rPr kumimoji="0" lang="en-US" altLang="zh-CN" sz="2000" b="1" dirty="0">
                <a:solidFill>
                  <a:srgbClr val="002060"/>
                </a:solidFill>
                <a:latin typeface="Times New Roman" panose="02020603050405020304" pitchFamily="18" charset="0"/>
                <a:ea typeface="华文楷体" panose="02010600040101010101" pitchFamily="2" charset="-122"/>
              </a:rPr>
              <a:t>) {	//</a:t>
            </a:r>
            <a:r>
              <a:rPr kumimoji="0" lang="zh-CN" altLang="en-US" sz="2000" b="1" dirty="0">
                <a:solidFill>
                  <a:srgbClr val="002060"/>
                </a:solidFill>
                <a:latin typeface="Times New Roman" panose="02020603050405020304" pitchFamily="18" charset="0"/>
                <a:ea typeface="华文楷体" panose="02010600040101010101" pitchFamily="2" charset="-122"/>
              </a:rPr>
              <a:t>后置单目运算符重载</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a:t>
            </a:r>
            <a:r>
              <a:rPr kumimoji="0" lang="zh-CN" altLang="en-US" sz="2000" b="1" dirty="0">
                <a:solidFill>
                  <a:srgbClr val="002060"/>
                </a:solidFill>
                <a:latin typeface="Times New Roman" panose="02020603050405020304" pitchFamily="18" charset="0"/>
                <a:ea typeface="华文楷体" panose="02010600040101010101" pitchFamily="2" charset="-122"/>
              </a:rPr>
              <a:t>注意形参表中的整型参数</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Clock old = *this;</a:t>
            </a:r>
            <a:endParaRPr kumimoji="0" lang="en-US" altLang="zh-CN"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	++(*this);	//</a:t>
            </a:r>
            <a:r>
              <a:rPr kumimoji="0" lang="zh-CN" altLang="en-US" sz="2000" b="1" dirty="0">
                <a:solidFill>
                  <a:srgbClr val="002060"/>
                </a:solidFill>
                <a:latin typeface="Times New Roman" panose="02020603050405020304" pitchFamily="18" charset="0"/>
                <a:ea typeface="华文楷体" panose="02010600040101010101" pitchFamily="2" charset="-122"/>
              </a:rPr>
              <a:t>调用前置“</a:t>
            </a:r>
            <a:r>
              <a:rPr kumimoji="0" lang="en-US" altLang="zh-CN" sz="2000" b="1" dirty="0">
                <a:solidFill>
                  <a:srgbClr val="002060"/>
                </a:solidFill>
                <a:latin typeface="Times New Roman" panose="02020603050405020304" pitchFamily="18" charset="0"/>
                <a:ea typeface="华文楷体" panose="02010600040101010101" pitchFamily="2" charset="-122"/>
              </a:rPr>
              <a:t>++”</a:t>
            </a:r>
            <a:r>
              <a:rPr kumimoji="0" lang="zh-CN" altLang="en-US" sz="2000" b="1" dirty="0">
                <a:solidFill>
                  <a:srgbClr val="002060"/>
                </a:solidFill>
                <a:latin typeface="Times New Roman" panose="02020603050405020304" pitchFamily="18" charset="0"/>
                <a:ea typeface="华文楷体" panose="02010600040101010101" pitchFamily="2" charset="-122"/>
              </a:rPr>
              <a:t>运算符</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return old;</a:t>
            </a:r>
            <a:endParaRPr kumimoji="0" lang="en-US" altLang="zh-CN"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a:t>
            </a:r>
            <a:endParaRPr kumimoji="0" lang="en-US" altLang="zh-CN" sz="2000" b="1" dirty="0">
              <a:solidFill>
                <a:srgbClr val="002060"/>
              </a:solidFill>
              <a:latin typeface="Times New Roman" panose="02020603050405020304" pitchFamily="18" charset="0"/>
              <a:ea typeface="华文楷体" panose="02010600040101010101" pitchFamily="2" charset="-122"/>
            </a:endParaRPr>
          </a:p>
        </p:txBody>
      </p:sp>
      <p:sp>
        <p:nvSpPr>
          <p:cNvPr id="34821" name="标题 1"/>
          <p:cNvSpPr>
            <a:spLocks noGrp="1"/>
          </p:cNvSpPr>
          <p:nvPr>
            <p:ph type="title"/>
          </p:nvPr>
        </p:nvSpPr>
        <p:spPr>
          <a:xfrm>
            <a:off x="5508104" y="5733256"/>
            <a:ext cx="3257550" cy="736624"/>
          </a:xfrm>
          <a:solidFill>
            <a:schemeClr val="bg1"/>
          </a:solidFill>
        </p:spPr>
        <p:txBody>
          <a:bodyPr/>
          <a:lstStyle/>
          <a:p>
            <a:pPr eaLnBrk="1" hangingPunct="1"/>
            <a:r>
              <a:rPr lang="zh-CN" altLang="en-US" dirty="0" smtClean="0"/>
              <a:t>例</a:t>
            </a:r>
            <a:r>
              <a:rPr lang="en-US" altLang="zh-CN" dirty="0" smtClean="0"/>
              <a:t>8-2</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2"/>
          <p:cNvSpPr>
            <a:spLocks noGrp="1"/>
          </p:cNvSpPr>
          <p:nvPr>
            <p:ph idx="1"/>
          </p:nvPr>
        </p:nvSpPr>
        <p:spPr>
          <a:xfrm>
            <a:off x="457200" y="500063"/>
            <a:ext cx="8229600" cy="3170099"/>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int main()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Clock myClock(23, 59, 59);</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"First time output: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myClock.showTime();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"Show myClock++: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(myClock++).showTime();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"Show ++myClock: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(++myClock).showTime();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return 0;</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
        <p:nvSpPr>
          <p:cNvPr id="35845" name="标题 1"/>
          <p:cNvSpPr>
            <a:spLocks noGrp="1"/>
          </p:cNvSpPr>
          <p:nvPr>
            <p:ph type="title"/>
          </p:nvPr>
        </p:nvSpPr>
        <p:spPr>
          <a:xfrm>
            <a:off x="5715000" y="500063"/>
            <a:ext cx="3114675" cy="857250"/>
          </a:xfrm>
          <a:solidFill>
            <a:schemeClr val="bg1"/>
          </a:solidFill>
        </p:spPr>
        <p:txBody>
          <a:bodyPr/>
          <a:lstStyle/>
          <a:p>
            <a:pPr eaLnBrk="1" hangingPunct="1"/>
            <a:r>
              <a:rPr lang="zh-CN" altLang="en-US" smtClean="0"/>
              <a:t>例</a:t>
            </a:r>
            <a:r>
              <a:rPr lang="en-US" altLang="zh-CN" smtClean="0"/>
              <a:t>8-2</a:t>
            </a:r>
            <a:r>
              <a:rPr lang="zh-CN" altLang="en-US" smtClean="0"/>
              <a:t>（续）</a:t>
            </a:r>
            <a:endParaRPr lang="zh-CN" altLang="en-US" smtClean="0"/>
          </a:p>
        </p:txBody>
      </p:sp>
      <p:sp>
        <p:nvSpPr>
          <p:cNvPr id="6" name="TextBox 5"/>
          <p:cNvSpPr txBox="1"/>
          <p:nvPr/>
        </p:nvSpPr>
        <p:spPr>
          <a:xfrm>
            <a:off x="428625" y="5000625"/>
            <a:ext cx="8286750" cy="1323439"/>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latin typeface="+mj-lt"/>
                <a:ea typeface="华文楷体" panose="02010600040101010101" pitchFamily="2" charset="-122"/>
              </a:rPr>
              <a:t>运行结果：</a:t>
            </a:r>
            <a:endParaRPr lang="en-US" dirty="0">
              <a:latin typeface="+mj-lt"/>
              <a:ea typeface="华文楷体" panose="02010600040101010101" pitchFamily="2" charset="-122"/>
            </a:endParaRPr>
          </a:p>
          <a:p>
            <a:r>
              <a:rPr lang="en-US" dirty="0">
                <a:latin typeface="+mj-lt"/>
                <a:ea typeface="华文楷体" panose="02010600040101010101" pitchFamily="2" charset="-122"/>
              </a:rPr>
              <a:t>First time output: 23:59:59</a:t>
            </a:r>
            <a:endParaRPr lang="zh-CN" altLang="en-US" dirty="0">
              <a:latin typeface="+mj-lt"/>
              <a:ea typeface="华文楷体" panose="02010600040101010101" pitchFamily="2" charset="-122"/>
            </a:endParaRPr>
          </a:p>
          <a:p>
            <a:r>
              <a:rPr lang="en-US" dirty="0">
                <a:latin typeface="+mj-lt"/>
                <a:ea typeface="华文楷体" panose="02010600040101010101" pitchFamily="2" charset="-122"/>
              </a:rPr>
              <a:t>Show </a:t>
            </a:r>
            <a:r>
              <a:rPr lang="en-US" dirty="0" err="1">
                <a:latin typeface="+mj-lt"/>
                <a:ea typeface="华文楷体" panose="02010600040101010101" pitchFamily="2" charset="-122"/>
              </a:rPr>
              <a:t>myClock</a:t>
            </a:r>
            <a:r>
              <a:rPr lang="en-US" dirty="0">
                <a:latin typeface="+mj-lt"/>
                <a:ea typeface="华文楷体" panose="02010600040101010101" pitchFamily="2" charset="-122"/>
              </a:rPr>
              <a:t>++:    23:59:59</a:t>
            </a:r>
            <a:endParaRPr lang="zh-CN" altLang="en-US" dirty="0">
              <a:latin typeface="+mj-lt"/>
              <a:ea typeface="华文楷体" panose="02010600040101010101" pitchFamily="2" charset="-122"/>
            </a:endParaRPr>
          </a:p>
          <a:p>
            <a:r>
              <a:rPr lang="en-US" dirty="0">
                <a:latin typeface="+mj-lt"/>
                <a:ea typeface="华文楷体" panose="02010600040101010101" pitchFamily="2" charset="-122"/>
              </a:rPr>
              <a:t>Show ++</a:t>
            </a:r>
            <a:r>
              <a:rPr lang="en-US" dirty="0" err="1">
                <a:latin typeface="+mj-lt"/>
                <a:ea typeface="华文楷体" panose="02010600040101010101" pitchFamily="2" charset="-122"/>
              </a:rPr>
              <a:t>myClock</a:t>
            </a:r>
            <a:r>
              <a:rPr lang="en-US" dirty="0">
                <a:latin typeface="+mj-lt"/>
                <a:ea typeface="华文楷体" panose="02010600040101010101" pitchFamily="2" charset="-122"/>
              </a:rPr>
              <a:t>:    0:0:1</a:t>
            </a:r>
            <a:endParaRPr lang="zh-CN" altLang="en-US" dirty="0">
              <a:latin typeface="+mj-lt"/>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1258888" y="260350"/>
            <a:ext cx="7705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4000" b="1" i="1" dirty="0">
                <a:solidFill>
                  <a:srgbClr val="FFFFFF"/>
                </a:solidFill>
                <a:effectLst>
                  <a:outerShdw blurRad="38100" dist="38100" dir="2700000" algn="tl">
                    <a:srgbClr val="000000"/>
                  </a:outerShdw>
                </a:effectLst>
                <a:ea typeface="隶书" panose="02010509060101010101" pitchFamily="49" charset="-122"/>
              </a:rPr>
              <a:t>运算符重载为成员</a:t>
            </a:r>
            <a:r>
              <a:rPr lang="zh-CN" altLang="en-US" sz="4000" b="1" i="1" dirty="0" smtClean="0">
                <a:solidFill>
                  <a:srgbClr val="FFFFFF"/>
                </a:solidFill>
                <a:effectLst>
                  <a:outerShdw blurRad="38100" dist="38100" dir="2700000" algn="tl">
                    <a:srgbClr val="000000"/>
                  </a:outerShdw>
                </a:effectLst>
                <a:ea typeface="隶书" panose="02010509060101010101" pitchFamily="49" charset="-122"/>
              </a:rPr>
              <a:t>函数（</a:t>
            </a:r>
            <a:r>
              <a:rPr lang="zh-CN" altLang="en-US" sz="4000" b="1" i="1" dirty="0">
                <a:solidFill>
                  <a:srgbClr val="FFFFFF"/>
                </a:solidFill>
                <a:effectLst>
                  <a:outerShdw blurRad="38100" dist="38100" dir="2700000" algn="tl">
                    <a:srgbClr val="000000"/>
                  </a:outerShdw>
                </a:effectLst>
                <a:ea typeface="隶书" panose="02010509060101010101" pitchFamily="49" charset="-122"/>
              </a:rPr>
              <a:t>的问题）</a:t>
            </a:r>
            <a:endParaRPr lang="zh-CN" altLang="en-US" sz="4000" b="1" i="1" dirty="0">
              <a:solidFill>
                <a:srgbClr val="FFFFFF"/>
              </a:solidFill>
              <a:effectLst>
                <a:outerShdw blurRad="38100" dist="38100" dir="2700000" algn="tl">
                  <a:srgbClr val="000000"/>
                </a:outerShdw>
              </a:effectLst>
              <a:ea typeface="隶书" panose="02010509060101010101" pitchFamily="49" charset="-122"/>
            </a:endParaRPr>
          </a:p>
        </p:txBody>
      </p:sp>
      <p:sp>
        <p:nvSpPr>
          <p:cNvPr id="33795" name="Text Box 3"/>
          <p:cNvSpPr txBox="1">
            <a:spLocks noChangeArrowheads="1"/>
          </p:cNvSpPr>
          <p:nvPr/>
        </p:nvSpPr>
        <p:spPr bwMode="auto">
          <a:xfrm>
            <a:off x="107950" y="1628775"/>
            <a:ext cx="6192838" cy="4978400"/>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dirty="0"/>
              <a:t>有时候，用成员函数重载运算符会碰到麻烦。例如：</a:t>
            </a:r>
            <a:endParaRPr lang="zh-CN" altLang="en-US" dirty="0"/>
          </a:p>
          <a:p>
            <a:pPr algn="l" eaLnBrk="1" hangingPunct="1">
              <a:lnSpc>
                <a:spcPct val="100000"/>
              </a:lnSpc>
            </a:pPr>
            <a:r>
              <a:rPr lang="en-US" altLang="zh-CN" dirty="0"/>
              <a:t>class   Complex</a:t>
            </a:r>
            <a:endParaRPr lang="en-US" altLang="zh-CN" dirty="0"/>
          </a:p>
          <a:p>
            <a:pPr algn="l" eaLnBrk="1" hangingPunct="1">
              <a:lnSpc>
                <a:spcPct val="100000"/>
              </a:lnSpc>
            </a:pPr>
            <a:r>
              <a:rPr lang="en-US" altLang="zh-CN" dirty="0"/>
              <a:t>{     </a:t>
            </a:r>
            <a:r>
              <a:rPr lang="en-US" altLang="zh-CN" dirty="0" err="1"/>
              <a:t>int</a:t>
            </a:r>
            <a:r>
              <a:rPr lang="en-US" altLang="zh-CN" dirty="0"/>
              <a:t>    Real ;	</a:t>
            </a:r>
            <a:r>
              <a:rPr lang="en-US" altLang="zh-CN" dirty="0" err="1"/>
              <a:t>int</a:t>
            </a:r>
            <a:r>
              <a:rPr lang="en-US" altLang="zh-CN" dirty="0"/>
              <a:t>    </a:t>
            </a:r>
            <a:r>
              <a:rPr lang="en-US" altLang="zh-CN" dirty="0" err="1"/>
              <a:t>Imag</a:t>
            </a:r>
            <a:r>
              <a:rPr lang="en-US" altLang="zh-CN" dirty="0"/>
              <a:t> ;</a:t>
            </a:r>
            <a:endParaRPr lang="en-US" altLang="zh-CN" dirty="0"/>
          </a:p>
          <a:p>
            <a:pPr algn="l" eaLnBrk="1" hangingPunct="1">
              <a:lnSpc>
                <a:spcPct val="100000"/>
              </a:lnSpc>
            </a:pPr>
            <a:r>
              <a:rPr lang="en-US" altLang="zh-CN" dirty="0"/>
              <a:t>   public :</a:t>
            </a:r>
            <a:endParaRPr lang="en-US" altLang="zh-CN" dirty="0"/>
          </a:p>
          <a:p>
            <a:pPr algn="l" eaLnBrk="1" hangingPunct="1">
              <a:lnSpc>
                <a:spcPct val="100000"/>
              </a:lnSpc>
            </a:pPr>
            <a:r>
              <a:rPr lang="en-US" altLang="zh-CN" dirty="0">
                <a:solidFill>
                  <a:srgbClr val="FFFF00"/>
                </a:solidFill>
              </a:rPr>
              <a:t>       </a:t>
            </a:r>
            <a:r>
              <a:rPr lang="en-US" altLang="zh-CN" i="1" dirty="0">
                <a:solidFill>
                  <a:srgbClr val="FFFF00"/>
                </a:solidFill>
              </a:rPr>
              <a:t>Complex ( </a:t>
            </a:r>
            <a:r>
              <a:rPr lang="en-US" altLang="zh-CN" i="1" dirty="0" err="1">
                <a:solidFill>
                  <a:srgbClr val="FFFF00"/>
                </a:solidFill>
              </a:rPr>
              <a:t>int</a:t>
            </a:r>
            <a:r>
              <a:rPr lang="en-US" altLang="zh-CN" i="1" dirty="0">
                <a:solidFill>
                  <a:srgbClr val="FFFF00"/>
                </a:solidFill>
              </a:rPr>
              <a:t> a ) { Real = a ;   </a:t>
            </a:r>
            <a:r>
              <a:rPr lang="en-US" altLang="zh-CN" i="1" dirty="0" err="1">
                <a:solidFill>
                  <a:srgbClr val="FFFF00"/>
                </a:solidFill>
              </a:rPr>
              <a:t>Imag</a:t>
            </a:r>
            <a:r>
              <a:rPr lang="en-US" altLang="zh-CN" i="1" dirty="0">
                <a:solidFill>
                  <a:srgbClr val="FFFF00"/>
                </a:solidFill>
              </a:rPr>
              <a:t> = 0 ; }     </a:t>
            </a:r>
            <a:endParaRPr lang="en-US" altLang="zh-CN" i="1" dirty="0">
              <a:solidFill>
                <a:srgbClr val="FFFF00"/>
              </a:solidFill>
            </a:endParaRPr>
          </a:p>
          <a:p>
            <a:pPr algn="l" eaLnBrk="1" hangingPunct="1">
              <a:lnSpc>
                <a:spcPct val="100000"/>
              </a:lnSpc>
            </a:pPr>
            <a:r>
              <a:rPr lang="en-US" altLang="zh-CN" dirty="0"/>
              <a:t>       Complex ( </a:t>
            </a:r>
            <a:r>
              <a:rPr lang="en-US" altLang="zh-CN" dirty="0" err="1"/>
              <a:t>int</a:t>
            </a:r>
            <a:r>
              <a:rPr lang="en-US" altLang="zh-CN" dirty="0"/>
              <a:t>  a  , </a:t>
            </a:r>
            <a:r>
              <a:rPr lang="en-US" altLang="zh-CN" dirty="0" err="1"/>
              <a:t>int</a:t>
            </a:r>
            <a:r>
              <a:rPr lang="en-US" altLang="zh-CN" dirty="0"/>
              <a:t>  b ) </a:t>
            </a:r>
            <a:endParaRPr lang="en-US" altLang="zh-CN" dirty="0"/>
          </a:p>
          <a:p>
            <a:pPr algn="l" eaLnBrk="1" hangingPunct="1">
              <a:lnSpc>
                <a:spcPct val="100000"/>
              </a:lnSpc>
            </a:pPr>
            <a:r>
              <a:rPr lang="en-US" altLang="zh-CN" dirty="0"/>
              <a:t>       { Real = a ;   </a:t>
            </a:r>
            <a:r>
              <a:rPr lang="en-US" altLang="zh-CN" dirty="0" err="1"/>
              <a:t>Imag</a:t>
            </a:r>
            <a:r>
              <a:rPr lang="en-US" altLang="zh-CN" dirty="0"/>
              <a:t> = b ; }</a:t>
            </a:r>
            <a:endParaRPr lang="en-US" altLang="zh-CN" dirty="0"/>
          </a:p>
          <a:p>
            <a:pPr algn="l" eaLnBrk="1" hangingPunct="1">
              <a:lnSpc>
                <a:spcPct val="100000"/>
              </a:lnSpc>
            </a:pPr>
            <a:r>
              <a:rPr lang="en-US" altLang="zh-CN" dirty="0"/>
              <a:t>       </a:t>
            </a:r>
            <a:r>
              <a:rPr lang="en-US" altLang="zh-CN" i="1" dirty="0">
                <a:solidFill>
                  <a:srgbClr val="FFFF00"/>
                </a:solidFill>
              </a:rPr>
              <a:t>Complex  operator + ( Complex ) ;</a:t>
            </a:r>
            <a:endParaRPr lang="en-US" altLang="zh-CN" i="1" dirty="0">
              <a:solidFill>
                <a:srgbClr val="FFFF00"/>
              </a:solidFill>
            </a:endParaRPr>
          </a:p>
          <a:p>
            <a:pPr algn="l" eaLnBrk="1" hangingPunct="1">
              <a:lnSpc>
                <a:spcPct val="100000"/>
              </a:lnSpc>
            </a:pPr>
            <a:r>
              <a:rPr lang="en-US" altLang="zh-CN" dirty="0"/>
              <a:t>	…...</a:t>
            </a:r>
            <a:endParaRPr lang="en-US" altLang="zh-CN" dirty="0"/>
          </a:p>
          <a:p>
            <a:pPr algn="l" eaLnBrk="1" hangingPunct="1">
              <a:lnSpc>
                <a:spcPct val="100000"/>
              </a:lnSpc>
            </a:pPr>
            <a:r>
              <a:rPr lang="en-US" altLang="zh-CN" dirty="0"/>
              <a:t>} ;   </a:t>
            </a:r>
            <a:endParaRPr lang="en-US" altLang="zh-CN" dirty="0"/>
          </a:p>
          <a:p>
            <a:pPr algn="l" eaLnBrk="1" hangingPunct="1">
              <a:lnSpc>
                <a:spcPct val="100000"/>
              </a:lnSpc>
            </a:pPr>
            <a:r>
              <a:rPr lang="en-US" altLang="zh-CN" dirty="0" err="1"/>
              <a:t>int</a:t>
            </a:r>
            <a:r>
              <a:rPr lang="en-US" altLang="zh-CN" dirty="0"/>
              <a:t>   f ( )</a:t>
            </a:r>
            <a:endParaRPr lang="en-US" altLang="zh-CN" dirty="0"/>
          </a:p>
          <a:p>
            <a:pPr algn="l" eaLnBrk="1" hangingPunct="1">
              <a:lnSpc>
                <a:spcPct val="100000"/>
              </a:lnSpc>
            </a:pPr>
            <a:r>
              <a:rPr lang="en-US" altLang="zh-CN" dirty="0"/>
              <a:t>{ Complex  z ( 2 , 3 ) ,   k ( 3 , 4 ) ;</a:t>
            </a:r>
            <a:endParaRPr lang="en-US" altLang="zh-CN" dirty="0"/>
          </a:p>
          <a:p>
            <a:pPr algn="l" eaLnBrk="1" hangingPunct="1">
              <a:lnSpc>
                <a:spcPct val="100000"/>
              </a:lnSpc>
            </a:pPr>
            <a:r>
              <a:rPr lang="en-US" altLang="zh-CN" dirty="0"/>
              <a:t>   z = </a:t>
            </a:r>
            <a:r>
              <a:rPr lang="en-US" altLang="zh-CN" i="1" dirty="0">
                <a:solidFill>
                  <a:srgbClr val="FFFF00"/>
                </a:solidFill>
              </a:rPr>
              <a:t>z + 27 ;</a:t>
            </a:r>
            <a:r>
              <a:rPr lang="en-US" altLang="zh-CN" i="1" dirty="0">
                <a:solidFill>
                  <a:srgbClr val="CC3300"/>
                </a:solidFill>
              </a:rPr>
              <a:t>	</a:t>
            </a:r>
            <a:r>
              <a:rPr lang="en-US" altLang="zh-CN" dirty="0">
                <a:solidFill>
                  <a:srgbClr val="FFFF00"/>
                </a:solidFill>
              </a:rPr>
              <a:t>     </a:t>
            </a:r>
            <a:r>
              <a:rPr lang="en-US" altLang="zh-CN" i="1" dirty="0">
                <a:solidFill>
                  <a:srgbClr val="FFFF00"/>
                </a:solidFill>
              </a:rPr>
              <a:t>//  OK</a:t>
            </a:r>
            <a:r>
              <a:rPr lang="en-US" altLang="zh-CN" i="1" dirty="0">
                <a:solidFill>
                  <a:srgbClr val="CC3300"/>
                </a:solidFill>
              </a:rPr>
              <a:t>	</a:t>
            </a:r>
            <a:endParaRPr lang="en-US" altLang="zh-CN" i="1" dirty="0">
              <a:solidFill>
                <a:srgbClr val="CC3300"/>
              </a:solidFill>
            </a:endParaRPr>
          </a:p>
          <a:p>
            <a:pPr algn="l" eaLnBrk="1" hangingPunct="1">
              <a:lnSpc>
                <a:spcPct val="100000"/>
              </a:lnSpc>
            </a:pPr>
            <a:r>
              <a:rPr lang="en-US" altLang="zh-CN" dirty="0"/>
              <a:t>   z = 27 + z ;		</a:t>
            </a:r>
            <a:endParaRPr lang="en-US" altLang="zh-CN" dirty="0"/>
          </a:p>
          <a:p>
            <a:pPr algn="l" eaLnBrk="1" hangingPunct="1">
              <a:lnSpc>
                <a:spcPct val="100000"/>
              </a:lnSpc>
            </a:pPr>
            <a:r>
              <a:rPr lang="en-US" altLang="zh-CN" dirty="0"/>
              <a:t>      …...</a:t>
            </a:r>
            <a:endParaRPr lang="en-US" altLang="zh-CN" dirty="0"/>
          </a:p>
          <a:p>
            <a:pPr algn="l" eaLnBrk="1" hangingPunct="1">
              <a:lnSpc>
                <a:spcPct val="100000"/>
              </a:lnSpc>
            </a:pPr>
            <a:r>
              <a:rPr lang="en-US" altLang="zh-CN" dirty="0"/>
              <a:t>}</a:t>
            </a:r>
            <a:endParaRPr lang="en-US" altLang="zh-CN" dirty="0">
              <a:solidFill>
                <a:srgbClr val="000099"/>
              </a:solidFill>
            </a:endParaRPr>
          </a:p>
        </p:txBody>
      </p:sp>
      <p:sp>
        <p:nvSpPr>
          <p:cNvPr id="387076" name="AutoShape 4"/>
          <p:cNvSpPr>
            <a:spLocks noChangeArrowheads="1"/>
          </p:cNvSpPr>
          <p:nvPr/>
        </p:nvSpPr>
        <p:spPr bwMode="auto">
          <a:xfrm>
            <a:off x="4932363" y="2087563"/>
            <a:ext cx="4267200" cy="4510087"/>
          </a:xfrm>
          <a:prstGeom prst="verticalScroll">
            <a:avLst>
              <a:gd name="adj" fmla="val 6731"/>
            </a:avLst>
          </a:prstGeom>
          <a:solidFill>
            <a:srgbClr val="FFFFCC"/>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pPr>
            <a:r>
              <a:rPr lang="en-US" altLang="zh-CN" dirty="0">
                <a:solidFill>
                  <a:srgbClr val="000000"/>
                </a:solidFill>
              </a:rPr>
              <a:t>   </a:t>
            </a:r>
            <a:r>
              <a:rPr lang="zh-CN" altLang="en-US" dirty="0">
                <a:solidFill>
                  <a:srgbClr val="000000"/>
                </a:solidFill>
              </a:rPr>
              <a:t>表达式 </a:t>
            </a:r>
            <a:r>
              <a:rPr lang="en-US" altLang="zh-CN" dirty="0">
                <a:solidFill>
                  <a:srgbClr val="FF0000"/>
                </a:solidFill>
              </a:rPr>
              <a:t>z + 27 </a:t>
            </a:r>
            <a:r>
              <a:rPr lang="zh-CN" altLang="en-US" dirty="0">
                <a:solidFill>
                  <a:srgbClr val="000000"/>
                </a:solidFill>
              </a:rPr>
              <a:t>可被解释为</a:t>
            </a:r>
            <a:endParaRPr lang="zh-CN" altLang="en-US" dirty="0">
              <a:solidFill>
                <a:srgbClr val="000000"/>
              </a:solidFill>
            </a:endParaRPr>
          </a:p>
          <a:p>
            <a:pPr algn="l" eaLnBrk="1" hangingPunct="1">
              <a:lnSpc>
                <a:spcPct val="150000"/>
              </a:lnSpc>
            </a:pPr>
            <a:r>
              <a:rPr lang="zh-CN" altLang="en-US" dirty="0">
                <a:solidFill>
                  <a:srgbClr val="000000"/>
                </a:solidFill>
              </a:rPr>
              <a:t>	</a:t>
            </a:r>
            <a:r>
              <a:rPr lang="en-US" altLang="zh-CN" dirty="0">
                <a:solidFill>
                  <a:srgbClr val="FF0000"/>
                </a:solidFill>
              </a:rPr>
              <a:t>z . operator + ( 27 )</a:t>
            </a:r>
            <a:endParaRPr lang="en-US" altLang="zh-CN" dirty="0">
              <a:solidFill>
                <a:srgbClr val="FF0000"/>
              </a:solidFill>
            </a:endParaRPr>
          </a:p>
          <a:p>
            <a:pPr algn="l" eaLnBrk="1" hangingPunct="1">
              <a:lnSpc>
                <a:spcPct val="150000"/>
              </a:lnSpc>
            </a:pPr>
            <a:r>
              <a:rPr lang="en-US" altLang="zh-CN" dirty="0">
                <a:solidFill>
                  <a:srgbClr val="000000"/>
                </a:solidFill>
              </a:rPr>
              <a:t>   z </a:t>
            </a:r>
            <a:r>
              <a:rPr lang="zh-CN" altLang="en-US" dirty="0">
                <a:solidFill>
                  <a:srgbClr val="000000"/>
                </a:solidFill>
              </a:rPr>
              <a:t>是复数对象，使用“ </a:t>
            </a:r>
            <a:r>
              <a:rPr lang="en-US" altLang="zh-CN" dirty="0">
                <a:solidFill>
                  <a:srgbClr val="000000"/>
                </a:solidFill>
              </a:rPr>
              <a:t>+ ”</a:t>
            </a:r>
            <a:r>
              <a:rPr lang="zh-CN" altLang="en-US" dirty="0">
                <a:solidFill>
                  <a:srgbClr val="000000"/>
                </a:solidFill>
              </a:rPr>
              <a:t>的</a:t>
            </a:r>
            <a:endParaRPr lang="zh-CN" altLang="en-US" dirty="0">
              <a:solidFill>
                <a:srgbClr val="000000"/>
              </a:solidFill>
            </a:endParaRPr>
          </a:p>
          <a:p>
            <a:pPr algn="l" eaLnBrk="1" hangingPunct="1">
              <a:lnSpc>
                <a:spcPct val="150000"/>
              </a:lnSpc>
            </a:pPr>
            <a:r>
              <a:rPr lang="zh-CN" altLang="en-US" dirty="0">
                <a:solidFill>
                  <a:srgbClr val="000000"/>
                </a:solidFill>
              </a:rPr>
              <a:t>   重载版本；</a:t>
            </a:r>
            <a:endParaRPr lang="zh-CN" altLang="en-US" dirty="0">
              <a:solidFill>
                <a:srgbClr val="000000"/>
              </a:solidFill>
            </a:endParaRPr>
          </a:p>
          <a:p>
            <a:pPr algn="l" eaLnBrk="1" hangingPunct="1">
              <a:lnSpc>
                <a:spcPct val="150000"/>
              </a:lnSpc>
            </a:pPr>
            <a:r>
              <a:rPr lang="zh-CN" altLang="en-US" dirty="0">
                <a:solidFill>
                  <a:srgbClr val="000000"/>
                </a:solidFill>
              </a:rPr>
              <a:t>   </a:t>
            </a:r>
            <a:r>
              <a:rPr lang="zh-CN" altLang="en-US" dirty="0" smtClean="0">
                <a:solidFill>
                  <a:srgbClr val="000000"/>
                </a:solidFill>
              </a:rPr>
              <a:t>       由于</a:t>
            </a:r>
            <a:r>
              <a:rPr lang="zh-CN" altLang="en-US" dirty="0">
                <a:solidFill>
                  <a:srgbClr val="000000"/>
                </a:solidFill>
              </a:rPr>
              <a:t>重载算符函数要求的</a:t>
            </a:r>
            <a:endParaRPr lang="zh-CN" altLang="en-US" dirty="0">
              <a:solidFill>
                <a:srgbClr val="000000"/>
              </a:solidFill>
            </a:endParaRPr>
          </a:p>
          <a:p>
            <a:pPr algn="l" eaLnBrk="1" hangingPunct="1">
              <a:lnSpc>
                <a:spcPct val="150000"/>
              </a:lnSpc>
            </a:pPr>
            <a:r>
              <a:rPr lang="zh-CN" altLang="en-US" dirty="0">
                <a:solidFill>
                  <a:srgbClr val="000000"/>
                </a:solidFill>
              </a:rPr>
              <a:t>   右操作数也为复数，系统通过</a:t>
            </a:r>
            <a:endParaRPr lang="zh-CN" altLang="en-US" dirty="0">
              <a:solidFill>
                <a:srgbClr val="000000"/>
              </a:solidFill>
            </a:endParaRPr>
          </a:p>
          <a:p>
            <a:pPr algn="l" eaLnBrk="1" hangingPunct="1">
              <a:lnSpc>
                <a:spcPct val="150000"/>
              </a:lnSpc>
            </a:pPr>
            <a:r>
              <a:rPr lang="zh-CN" altLang="en-US" dirty="0">
                <a:solidFill>
                  <a:srgbClr val="000000"/>
                </a:solidFill>
              </a:rPr>
              <a:t>   构造函数 </a:t>
            </a:r>
            <a:r>
              <a:rPr lang="en-US" altLang="zh-CN" dirty="0">
                <a:solidFill>
                  <a:srgbClr val="000000"/>
                </a:solidFill>
              </a:rPr>
              <a:t>Complex ( </a:t>
            </a:r>
            <a:r>
              <a:rPr lang="en-US" altLang="zh-CN" dirty="0" err="1">
                <a:solidFill>
                  <a:srgbClr val="000000"/>
                </a:solidFill>
              </a:rPr>
              <a:t>int</a:t>
            </a:r>
            <a:r>
              <a:rPr lang="en-US" altLang="zh-CN" dirty="0">
                <a:solidFill>
                  <a:srgbClr val="000000"/>
                </a:solidFill>
              </a:rPr>
              <a:t> a ) </a:t>
            </a:r>
            <a:r>
              <a:rPr lang="zh-CN" altLang="en-US" dirty="0">
                <a:solidFill>
                  <a:srgbClr val="000000"/>
                </a:solidFill>
              </a:rPr>
              <a:t>将</a:t>
            </a:r>
            <a:endParaRPr lang="zh-CN" altLang="en-US" dirty="0">
              <a:solidFill>
                <a:srgbClr val="000000"/>
              </a:solidFill>
            </a:endParaRPr>
          </a:p>
          <a:p>
            <a:pPr algn="l" eaLnBrk="1" hangingPunct="1">
              <a:lnSpc>
                <a:spcPct val="150000"/>
              </a:lnSpc>
            </a:pPr>
            <a:r>
              <a:rPr lang="zh-CN" altLang="en-US" dirty="0">
                <a:solidFill>
                  <a:srgbClr val="000000"/>
                </a:solidFill>
              </a:rPr>
              <a:t>   整数 </a:t>
            </a:r>
            <a:r>
              <a:rPr lang="en-US" altLang="zh-CN" dirty="0">
                <a:solidFill>
                  <a:srgbClr val="000000"/>
                </a:solidFill>
              </a:rPr>
              <a:t>27 </a:t>
            </a:r>
            <a:r>
              <a:rPr lang="zh-CN" altLang="en-US" dirty="0">
                <a:solidFill>
                  <a:srgbClr val="000000"/>
                </a:solidFill>
              </a:rPr>
              <a:t>转换为 </a:t>
            </a:r>
            <a:r>
              <a:rPr lang="en-US" altLang="zh-CN" dirty="0">
                <a:solidFill>
                  <a:srgbClr val="000000"/>
                </a:solidFill>
              </a:rPr>
              <a:t>Complex </a:t>
            </a:r>
            <a:r>
              <a:rPr lang="zh-CN" altLang="en-US" dirty="0">
                <a:solidFill>
                  <a:srgbClr val="000000"/>
                </a:solidFill>
              </a:rPr>
              <a:t>类常</a:t>
            </a:r>
            <a:endParaRPr lang="zh-CN" altLang="en-US" dirty="0">
              <a:solidFill>
                <a:srgbClr val="000000"/>
              </a:solidFill>
            </a:endParaRPr>
          </a:p>
          <a:p>
            <a:pPr algn="l" eaLnBrk="1" hangingPunct="1">
              <a:lnSpc>
                <a:spcPct val="150000"/>
              </a:lnSpc>
            </a:pPr>
            <a:r>
              <a:rPr lang="zh-CN" altLang="en-US" dirty="0">
                <a:solidFill>
                  <a:srgbClr val="000000"/>
                </a:solidFill>
              </a:rPr>
              <a:t>   量</a:t>
            </a:r>
            <a:r>
              <a:rPr lang="en-US" altLang="zh-CN" dirty="0">
                <a:solidFill>
                  <a:srgbClr val="000000"/>
                </a:solidFill>
              </a:rPr>
              <a:t>Complex ( 27 ) </a:t>
            </a:r>
            <a:endParaRPr lang="en-US" altLang="zh-CN"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87076"/>
                                        </p:tgtEl>
                                        <p:attrNameLst>
                                          <p:attrName>style.visibility</p:attrName>
                                        </p:attrNameLst>
                                      </p:cBhvr>
                                      <p:to>
                                        <p:strVal val="visible"/>
                                      </p:to>
                                    </p:set>
                                    <p:anim calcmode="lin" valueType="num">
                                      <p:cBhvr additive="base">
                                        <p:cTn id="7" dur="500" fill="hold"/>
                                        <p:tgtEl>
                                          <p:spTgt spid="387076"/>
                                        </p:tgtEl>
                                        <p:attrNameLst>
                                          <p:attrName>ppt_x</p:attrName>
                                        </p:attrNameLst>
                                      </p:cBhvr>
                                      <p:tavLst>
                                        <p:tav tm="0">
                                          <p:val>
                                            <p:strVal val="1+#ppt_w/2"/>
                                          </p:val>
                                        </p:tav>
                                        <p:tav tm="100000">
                                          <p:val>
                                            <p:strVal val="#ppt_x"/>
                                          </p:val>
                                        </p:tav>
                                      </p:tavLst>
                                    </p:anim>
                                    <p:anim calcmode="lin" valueType="num">
                                      <p:cBhvr additive="base">
                                        <p:cTn id="8" dur="500" fill="hold"/>
                                        <p:tgtEl>
                                          <p:spTgt spid="3870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971600" y="260350"/>
            <a:ext cx="79928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r>
              <a:rPr lang="zh-CN" altLang="en-US" sz="4000" i="1" dirty="0">
                <a:solidFill>
                  <a:srgbClr val="FFFFFF"/>
                </a:solidFill>
                <a:effectLst>
                  <a:outerShdw blurRad="38100" dist="38100" dir="2700000" algn="tl">
                    <a:srgbClr val="000000"/>
                  </a:outerShdw>
                </a:effectLst>
                <a:ea typeface="隶书" panose="02010509060101010101" pitchFamily="49" charset="-122"/>
              </a:rPr>
              <a:t>运算符重载为成员函数（的问题）</a:t>
            </a:r>
            <a:endParaRPr lang="zh-CN" altLang="en-US" sz="4000" i="1" dirty="0">
              <a:solidFill>
                <a:srgbClr val="FFFFFF"/>
              </a:solidFill>
              <a:effectLst>
                <a:outerShdw blurRad="38100" dist="38100" dir="2700000" algn="tl">
                  <a:srgbClr val="000000"/>
                </a:outerShdw>
              </a:effectLst>
              <a:ea typeface="隶书" panose="02010509060101010101" pitchFamily="49" charset="-122"/>
            </a:endParaRPr>
          </a:p>
        </p:txBody>
      </p:sp>
      <p:sp>
        <p:nvSpPr>
          <p:cNvPr id="34819" name="Text Box 3"/>
          <p:cNvSpPr txBox="1">
            <a:spLocks noChangeArrowheads="1"/>
          </p:cNvSpPr>
          <p:nvPr/>
        </p:nvSpPr>
        <p:spPr bwMode="auto">
          <a:xfrm>
            <a:off x="107950" y="1628775"/>
            <a:ext cx="6192838" cy="4978400"/>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dirty="0"/>
              <a:t>有时候，用成员函数重载运算符会碰到麻烦。例如：</a:t>
            </a:r>
            <a:endParaRPr lang="zh-CN" altLang="en-US" dirty="0"/>
          </a:p>
          <a:p>
            <a:pPr algn="l" eaLnBrk="1" hangingPunct="1">
              <a:lnSpc>
                <a:spcPct val="100000"/>
              </a:lnSpc>
            </a:pPr>
            <a:r>
              <a:rPr lang="en-US" altLang="zh-CN" dirty="0"/>
              <a:t>class   Complex</a:t>
            </a:r>
            <a:endParaRPr lang="en-US" altLang="zh-CN" dirty="0"/>
          </a:p>
          <a:p>
            <a:pPr algn="l" eaLnBrk="1" hangingPunct="1">
              <a:lnSpc>
                <a:spcPct val="100000"/>
              </a:lnSpc>
            </a:pPr>
            <a:r>
              <a:rPr lang="en-US" altLang="zh-CN" dirty="0"/>
              <a:t>{     </a:t>
            </a:r>
            <a:r>
              <a:rPr lang="en-US" altLang="zh-CN" dirty="0" err="1"/>
              <a:t>int</a:t>
            </a:r>
            <a:r>
              <a:rPr lang="en-US" altLang="zh-CN" dirty="0"/>
              <a:t>    Real ;	</a:t>
            </a:r>
            <a:r>
              <a:rPr lang="en-US" altLang="zh-CN" dirty="0" err="1"/>
              <a:t>int</a:t>
            </a:r>
            <a:r>
              <a:rPr lang="en-US" altLang="zh-CN" dirty="0"/>
              <a:t>    </a:t>
            </a:r>
            <a:r>
              <a:rPr lang="en-US" altLang="zh-CN" dirty="0" err="1"/>
              <a:t>Imag</a:t>
            </a:r>
            <a:r>
              <a:rPr lang="en-US" altLang="zh-CN" dirty="0"/>
              <a:t> ;</a:t>
            </a:r>
            <a:endParaRPr lang="en-US" altLang="zh-CN" dirty="0"/>
          </a:p>
          <a:p>
            <a:pPr algn="l" eaLnBrk="1" hangingPunct="1">
              <a:lnSpc>
                <a:spcPct val="100000"/>
              </a:lnSpc>
            </a:pPr>
            <a:r>
              <a:rPr lang="en-US" altLang="zh-CN" dirty="0"/>
              <a:t>   public :</a:t>
            </a:r>
            <a:endParaRPr lang="en-US" altLang="zh-CN" dirty="0"/>
          </a:p>
          <a:p>
            <a:pPr algn="l" eaLnBrk="1" hangingPunct="1">
              <a:lnSpc>
                <a:spcPct val="100000"/>
              </a:lnSpc>
            </a:pPr>
            <a:r>
              <a:rPr lang="en-US" altLang="zh-CN" dirty="0"/>
              <a:t>       Complex ( </a:t>
            </a:r>
            <a:r>
              <a:rPr lang="en-US" altLang="zh-CN" dirty="0" err="1"/>
              <a:t>int</a:t>
            </a:r>
            <a:r>
              <a:rPr lang="en-US" altLang="zh-CN" dirty="0"/>
              <a:t> a ) { Real = a ;   </a:t>
            </a:r>
            <a:r>
              <a:rPr lang="en-US" altLang="zh-CN" dirty="0" err="1"/>
              <a:t>Imag</a:t>
            </a:r>
            <a:r>
              <a:rPr lang="en-US" altLang="zh-CN" dirty="0"/>
              <a:t> = 0 ; }     </a:t>
            </a:r>
            <a:endParaRPr lang="en-US" altLang="zh-CN" dirty="0"/>
          </a:p>
          <a:p>
            <a:pPr algn="l" eaLnBrk="1" hangingPunct="1">
              <a:lnSpc>
                <a:spcPct val="100000"/>
              </a:lnSpc>
            </a:pPr>
            <a:r>
              <a:rPr lang="en-US" altLang="zh-CN" dirty="0"/>
              <a:t>       Complex ( </a:t>
            </a:r>
            <a:r>
              <a:rPr lang="en-US" altLang="zh-CN" dirty="0" err="1"/>
              <a:t>int</a:t>
            </a:r>
            <a:r>
              <a:rPr lang="en-US" altLang="zh-CN" dirty="0"/>
              <a:t>  a  , </a:t>
            </a:r>
            <a:r>
              <a:rPr lang="en-US" altLang="zh-CN" dirty="0" err="1"/>
              <a:t>int</a:t>
            </a:r>
            <a:r>
              <a:rPr lang="en-US" altLang="zh-CN" dirty="0"/>
              <a:t>  b )</a:t>
            </a:r>
            <a:endParaRPr lang="en-US" altLang="zh-CN" dirty="0"/>
          </a:p>
          <a:p>
            <a:pPr algn="l" eaLnBrk="1" hangingPunct="1">
              <a:lnSpc>
                <a:spcPct val="100000"/>
              </a:lnSpc>
            </a:pPr>
            <a:r>
              <a:rPr lang="en-US" altLang="zh-CN" dirty="0"/>
              <a:t>       { Real = a ;   </a:t>
            </a:r>
            <a:r>
              <a:rPr lang="en-US" altLang="zh-CN" dirty="0" err="1"/>
              <a:t>Imag</a:t>
            </a:r>
            <a:r>
              <a:rPr lang="en-US" altLang="zh-CN" dirty="0"/>
              <a:t> = b ; }</a:t>
            </a:r>
            <a:endParaRPr lang="en-US" altLang="zh-CN" dirty="0"/>
          </a:p>
          <a:p>
            <a:pPr algn="l" eaLnBrk="1" hangingPunct="1">
              <a:lnSpc>
                <a:spcPct val="100000"/>
              </a:lnSpc>
            </a:pPr>
            <a:r>
              <a:rPr lang="en-US" altLang="zh-CN" dirty="0"/>
              <a:t>       Complex  operator + ( Complex ) ;</a:t>
            </a:r>
            <a:endParaRPr lang="en-US" altLang="zh-CN" dirty="0"/>
          </a:p>
          <a:p>
            <a:pPr algn="l" eaLnBrk="1" hangingPunct="1">
              <a:lnSpc>
                <a:spcPct val="100000"/>
              </a:lnSpc>
            </a:pPr>
            <a:r>
              <a:rPr lang="en-US" altLang="zh-CN" dirty="0"/>
              <a:t>	…...</a:t>
            </a:r>
            <a:endParaRPr lang="en-US" altLang="zh-CN" dirty="0"/>
          </a:p>
          <a:p>
            <a:pPr algn="l" eaLnBrk="1" hangingPunct="1">
              <a:lnSpc>
                <a:spcPct val="100000"/>
              </a:lnSpc>
            </a:pPr>
            <a:r>
              <a:rPr lang="en-US" altLang="zh-CN" dirty="0"/>
              <a:t>} ;   </a:t>
            </a:r>
            <a:endParaRPr lang="en-US" altLang="zh-CN" dirty="0"/>
          </a:p>
          <a:p>
            <a:pPr algn="l" eaLnBrk="1" hangingPunct="1">
              <a:lnSpc>
                <a:spcPct val="100000"/>
              </a:lnSpc>
            </a:pPr>
            <a:r>
              <a:rPr lang="en-US" altLang="zh-CN" dirty="0" err="1"/>
              <a:t>int</a:t>
            </a:r>
            <a:r>
              <a:rPr lang="en-US" altLang="zh-CN" dirty="0"/>
              <a:t>   f ( )</a:t>
            </a:r>
            <a:endParaRPr lang="en-US" altLang="zh-CN" dirty="0"/>
          </a:p>
          <a:p>
            <a:pPr algn="l" eaLnBrk="1" hangingPunct="1">
              <a:lnSpc>
                <a:spcPct val="100000"/>
              </a:lnSpc>
            </a:pPr>
            <a:r>
              <a:rPr lang="en-US" altLang="zh-CN" dirty="0"/>
              <a:t>{ Complex  z ( 2 , 3 ) ,   k ( 3 , 4 ) ;</a:t>
            </a:r>
            <a:endParaRPr lang="en-US" altLang="zh-CN" dirty="0"/>
          </a:p>
          <a:p>
            <a:pPr algn="l" eaLnBrk="1" hangingPunct="1">
              <a:lnSpc>
                <a:spcPct val="100000"/>
              </a:lnSpc>
            </a:pPr>
            <a:r>
              <a:rPr lang="en-US" altLang="zh-CN" dirty="0"/>
              <a:t>   z = z + 27 ;	     //  OK	</a:t>
            </a:r>
            <a:endParaRPr lang="en-US" altLang="zh-CN" dirty="0"/>
          </a:p>
          <a:p>
            <a:pPr algn="l" eaLnBrk="1" hangingPunct="1">
              <a:lnSpc>
                <a:spcPct val="100000"/>
              </a:lnSpc>
            </a:pPr>
            <a:r>
              <a:rPr lang="en-US" altLang="zh-CN" dirty="0"/>
              <a:t>   z = </a:t>
            </a:r>
            <a:r>
              <a:rPr lang="en-US" altLang="zh-CN" i="1" dirty="0">
                <a:solidFill>
                  <a:srgbClr val="FFFF00"/>
                </a:solidFill>
              </a:rPr>
              <a:t>27 + z</a:t>
            </a:r>
            <a:r>
              <a:rPr lang="en-US" altLang="zh-CN" dirty="0">
                <a:solidFill>
                  <a:srgbClr val="FFFF00"/>
                </a:solidFill>
              </a:rPr>
              <a:t> </a:t>
            </a:r>
            <a:r>
              <a:rPr lang="en-US" altLang="zh-CN" dirty="0"/>
              <a:t>;            </a:t>
            </a:r>
            <a:r>
              <a:rPr lang="en-US" altLang="zh-CN" i="1" dirty="0">
                <a:solidFill>
                  <a:srgbClr val="FFFF00"/>
                </a:solidFill>
              </a:rPr>
              <a:t>//  ERROR</a:t>
            </a:r>
            <a:r>
              <a:rPr lang="en-US" altLang="zh-CN" dirty="0"/>
              <a:t>		</a:t>
            </a:r>
            <a:endParaRPr lang="en-US" altLang="zh-CN" dirty="0"/>
          </a:p>
          <a:p>
            <a:pPr algn="l" eaLnBrk="1" hangingPunct="1">
              <a:lnSpc>
                <a:spcPct val="100000"/>
              </a:lnSpc>
            </a:pPr>
            <a:r>
              <a:rPr lang="en-US" altLang="zh-CN" dirty="0"/>
              <a:t>      …...</a:t>
            </a:r>
            <a:endParaRPr lang="en-US" altLang="zh-CN" dirty="0"/>
          </a:p>
          <a:p>
            <a:pPr algn="l" eaLnBrk="1" hangingPunct="1">
              <a:lnSpc>
                <a:spcPct val="100000"/>
              </a:lnSpc>
            </a:pPr>
            <a:r>
              <a:rPr lang="en-US" altLang="zh-CN" dirty="0"/>
              <a:t>}</a:t>
            </a:r>
            <a:endParaRPr lang="en-US" altLang="zh-CN" dirty="0">
              <a:solidFill>
                <a:srgbClr val="000099"/>
              </a:solidFill>
            </a:endParaRPr>
          </a:p>
        </p:txBody>
      </p:sp>
      <p:sp>
        <p:nvSpPr>
          <p:cNvPr id="389124" name="AutoShape 4"/>
          <p:cNvSpPr>
            <a:spLocks noChangeArrowheads="1"/>
          </p:cNvSpPr>
          <p:nvPr/>
        </p:nvSpPr>
        <p:spPr bwMode="auto">
          <a:xfrm>
            <a:off x="4841875" y="2087563"/>
            <a:ext cx="4267200" cy="4510087"/>
          </a:xfrm>
          <a:prstGeom prst="verticalScroll">
            <a:avLst>
              <a:gd name="adj" fmla="val 6731"/>
            </a:avLst>
          </a:prstGeom>
          <a:solidFill>
            <a:srgbClr val="FFFFCC"/>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pPr>
            <a:r>
              <a:rPr lang="zh-CN" altLang="en-US" dirty="0">
                <a:solidFill>
                  <a:srgbClr val="000000"/>
                </a:solidFill>
              </a:rPr>
              <a:t>表达式 </a:t>
            </a:r>
            <a:r>
              <a:rPr lang="en-US" altLang="zh-CN" dirty="0">
                <a:solidFill>
                  <a:srgbClr val="000000"/>
                </a:solidFill>
              </a:rPr>
              <a:t>27 + z </a:t>
            </a:r>
            <a:r>
              <a:rPr lang="zh-CN" altLang="en-US" dirty="0">
                <a:solidFill>
                  <a:srgbClr val="000000"/>
                </a:solidFill>
              </a:rPr>
              <a:t>可被解释为</a:t>
            </a:r>
            <a:endParaRPr lang="zh-CN" altLang="en-US" dirty="0">
              <a:solidFill>
                <a:srgbClr val="000000"/>
              </a:solidFill>
            </a:endParaRPr>
          </a:p>
          <a:p>
            <a:pPr algn="l" eaLnBrk="1" hangingPunct="1">
              <a:lnSpc>
                <a:spcPct val="100000"/>
              </a:lnSpc>
              <a:spcBef>
                <a:spcPct val="50000"/>
              </a:spcBef>
            </a:pPr>
            <a:r>
              <a:rPr lang="en-US" altLang="en-US" dirty="0">
                <a:solidFill>
                  <a:srgbClr val="000000"/>
                </a:solidFill>
              </a:rPr>
              <a:t>             27</a:t>
            </a:r>
            <a:r>
              <a:rPr lang="en-US" altLang="zh-CN" dirty="0">
                <a:solidFill>
                  <a:srgbClr val="000000"/>
                </a:solidFill>
              </a:rPr>
              <a:t> </a:t>
            </a:r>
            <a:r>
              <a:rPr lang="en-US" altLang="en-US" dirty="0">
                <a:solidFill>
                  <a:srgbClr val="000000"/>
                </a:solidFill>
              </a:rPr>
              <a:t>. </a:t>
            </a:r>
            <a:r>
              <a:rPr lang="en-US" altLang="zh-CN" dirty="0">
                <a:solidFill>
                  <a:srgbClr val="000000"/>
                </a:solidFill>
              </a:rPr>
              <a:t>operator + ( z )</a:t>
            </a:r>
            <a:endParaRPr lang="en-US" altLang="zh-CN" dirty="0">
              <a:solidFill>
                <a:srgbClr val="000000"/>
              </a:solidFill>
            </a:endParaRPr>
          </a:p>
          <a:p>
            <a:pPr algn="l" eaLnBrk="1" hangingPunct="1">
              <a:lnSpc>
                <a:spcPct val="100000"/>
              </a:lnSpc>
              <a:spcBef>
                <a:spcPct val="50000"/>
              </a:spcBef>
            </a:pPr>
            <a:r>
              <a:rPr lang="en-US" altLang="zh-CN" dirty="0">
                <a:solidFill>
                  <a:srgbClr val="000000"/>
                </a:solidFill>
              </a:rPr>
              <a:t> </a:t>
            </a:r>
            <a:r>
              <a:rPr lang="zh-CN" altLang="en-US" dirty="0" smtClean="0">
                <a:solidFill>
                  <a:srgbClr val="000000"/>
                </a:solidFill>
              </a:rPr>
              <a:t>该</a:t>
            </a:r>
            <a:r>
              <a:rPr lang="zh-CN" altLang="en-US" dirty="0">
                <a:solidFill>
                  <a:srgbClr val="000000"/>
                </a:solidFill>
              </a:rPr>
              <a:t>式子毫无意义。</a:t>
            </a:r>
            <a:endParaRPr lang="zh-CN" altLang="en-US" dirty="0">
              <a:solidFill>
                <a:srgbClr val="000000"/>
              </a:solidFill>
            </a:endParaRPr>
          </a:p>
          <a:p>
            <a:pPr algn="l" eaLnBrk="1" hangingPunct="1">
              <a:lnSpc>
                <a:spcPct val="100000"/>
              </a:lnSpc>
              <a:spcBef>
                <a:spcPct val="50000"/>
              </a:spcBef>
            </a:pPr>
            <a:r>
              <a:rPr lang="zh-CN" altLang="en-US" dirty="0">
                <a:solidFill>
                  <a:srgbClr val="000000"/>
                </a:solidFill>
              </a:rPr>
              <a:t>          </a:t>
            </a:r>
            <a:r>
              <a:rPr lang="en-US" altLang="zh-CN" dirty="0">
                <a:solidFill>
                  <a:srgbClr val="000000"/>
                </a:solidFill>
              </a:rPr>
              <a:t>27</a:t>
            </a:r>
            <a:r>
              <a:rPr lang="zh-CN" altLang="en-US" dirty="0">
                <a:solidFill>
                  <a:srgbClr val="000000"/>
                </a:solidFill>
              </a:rPr>
              <a:t>不是 </a:t>
            </a:r>
            <a:r>
              <a:rPr lang="en-US" altLang="zh-CN" dirty="0">
                <a:solidFill>
                  <a:srgbClr val="000000"/>
                </a:solidFill>
              </a:rPr>
              <a:t>Complex </a:t>
            </a:r>
            <a:r>
              <a:rPr lang="zh-CN" altLang="en-US" dirty="0">
                <a:solidFill>
                  <a:srgbClr val="000000"/>
                </a:solidFill>
              </a:rPr>
              <a:t>类对象，</a:t>
            </a:r>
            <a:endParaRPr lang="zh-CN" altLang="en-US" dirty="0">
              <a:solidFill>
                <a:srgbClr val="000000"/>
              </a:solidFill>
            </a:endParaRPr>
          </a:p>
          <a:p>
            <a:pPr algn="l" eaLnBrk="1" hangingPunct="1">
              <a:lnSpc>
                <a:spcPct val="100000"/>
              </a:lnSpc>
              <a:spcBef>
                <a:spcPct val="50000"/>
              </a:spcBef>
            </a:pPr>
            <a:r>
              <a:rPr lang="zh-CN" altLang="en-US" dirty="0">
                <a:solidFill>
                  <a:srgbClr val="000000"/>
                </a:solidFill>
              </a:rPr>
              <a:t>  不能调用算符重载函数与对象 </a:t>
            </a:r>
            <a:endParaRPr lang="zh-CN" altLang="en-US" dirty="0">
              <a:solidFill>
                <a:srgbClr val="000000"/>
              </a:solidFill>
            </a:endParaRPr>
          </a:p>
          <a:p>
            <a:pPr algn="l" eaLnBrk="1" hangingPunct="1">
              <a:lnSpc>
                <a:spcPct val="100000"/>
              </a:lnSpc>
              <a:spcBef>
                <a:spcPct val="50000"/>
              </a:spcBef>
            </a:pPr>
            <a:r>
              <a:rPr lang="zh-CN" altLang="en-US" dirty="0">
                <a:solidFill>
                  <a:srgbClr val="000000"/>
                </a:solidFill>
              </a:rPr>
              <a:t>   </a:t>
            </a:r>
            <a:r>
              <a:rPr lang="en-US" altLang="zh-CN" dirty="0">
                <a:solidFill>
                  <a:srgbClr val="000000"/>
                </a:solidFill>
              </a:rPr>
              <a:t>z </a:t>
            </a:r>
            <a:r>
              <a:rPr lang="zh-CN" altLang="en-US" dirty="0">
                <a:solidFill>
                  <a:srgbClr val="000000"/>
                </a:solidFill>
              </a:rPr>
              <a:t>相加</a:t>
            </a:r>
            <a:r>
              <a:rPr lang="en-US" altLang="en-US" dirty="0">
                <a:solidFill>
                  <a:srgbClr val="000000"/>
                </a:solidFill>
              </a:rPr>
              <a:t> </a:t>
            </a:r>
            <a:r>
              <a:rPr lang="zh-CN" altLang="en-US" dirty="0">
                <a:solidFill>
                  <a:srgbClr val="000000"/>
                </a:solidFill>
              </a:rPr>
              <a:t>！</a:t>
            </a:r>
            <a:endParaRPr lang="zh-CN" altLang="en-US" dirty="0">
              <a:solidFill>
                <a:srgbClr val="000000"/>
              </a:solidFill>
            </a:endParaRPr>
          </a:p>
          <a:p>
            <a:pPr algn="l" eaLnBrk="1" hangingPunct="1">
              <a:lnSpc>
                <a:spcPct val="100000"/>
              </a:lnSpc>
              <a:spcBef>
                <a:spcPct val="50000"/>
              </a:spcBef>
            </a:pPr>
            <a:r>
              <a:rPr lang="zh-CN" altLang="en-US" dirty="0">
                <a:solidFill>
                  <a:srgbClr val="000000"/>
                </a:solidFill>
              </a:rPr>
              <a:t>          此时，成员函数重载的算</a:t>
            </a:r>
            <a:endParaRPr lang="zh-CN" altLang="en-US" dirty="0">
              <a:solidFill>
                <a:srgbClr val="000000"/>
              </a:solidFill>
            </a:endParaRPr>
          </a:p>
          <a:p>
            <a:pPr algn="l" eaLnBrk="1" hangingPunct="1">
              <a:lnSpc>
                <a:spcPct val="100000"/>
              </a:lnSpc>
              <a:spcBef>
                <a:spcPct val="50000"/>
              </a:spcBef>
            </a:pPr>
            <a:r>
              <a:rPr lang="zh-CN" altLang="en-US" dirty="0">
                <a:solidFill>
                  <a:srgbClr val="000000"/>
                </a:solidFill>
              </a:rPr>
              <a:t>  符“ </a:t>
            </a:r>
            <a:r>
              <a:rPr lang="en-US" altLang="zh-CN" dirty="0">
                <a:solidFill>
                  <a:srgbClr val="000000"/>
                </a:solidFill>
              </a:rPr>
              <a:t>+ ”</a:t>
            </a:r>
            <a:r>
              <a:rPr lang="zh-CN" altLang="en-US" dirty="0">
                <a:solidFill>
                  <a:srgbClr val="000000"/>
                </a:solidFill>
              </a:rPr>
              <a:t>不支持交换律。</a:t>
            </a:r>
            <a:endParaRPr lang="zh-CN" altLang="en-US"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89124"/>
                                        </p:tgtEl>
                                        <p:attrNameLst>
                                          <p:attrName>style.visibility</p:attrName>
                                        </p:attrNameLst>
                                      </p:cBhvr>
                                      <p:to>
                                        <p:strVal val="visible"/>
                                      </p:to>
                                    </p:set>
                                    <p:anim calcmode="lin" valueType="num">
                                      <p:cBhvr additive="base">
                                        <p:cTn id="7" dur="500" fill="hold"/>
                                        <p:tgtEl>
                                          <p:spTgt spid="389124"/>
                                        </p:tgtEl>
                                        <p:attrNameLst>
                                          <p:attrName>ppt_x</p:attrName>
                                        </p:attrNameLst>
                                      </p:cBhvr>
                                      <p:tavLst>
                                        <p:tav tm="0">
                                          <p:val>
                                            <p:strVal val="1+#ppt_w/2"/>
                                          </p:val>
                                        </p:tav>
                                        <p:tav tm="100000">
                                          <p:val>
                                            <p:strVal val="#ppt_x"/>
                                          </p:val>
                                        </p:tav>
                                      </p:tavLst>
                                    </p:anim>
                                    <p:anim calcmode="lin" valueType="num">
                                      <p:cBhvr additive="base">
                                        <p:cTn id="8" dur="500" fill="hold"/>
                                        <p:tgtEl>
                                          <p:spTgt spid="389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8.2.3</a:t>
            </a:r>
            <a:r>
              <a:rPr lang="zh-CN" altLang="en-US" sz="4400" b="1" dirty="0">
                <a:latin typeface="Times New Roman" panose="02020603050405020304" pitchFamily="18" charset="0"/>
                <a:ea typeface="隶书" panose="02010509060101010101" pitchFamily="49" charset="-122"/>
              </a:rPr>
              <a:t>运算符重载为非成员函数</a:t>
            </a:r>
            <a:endParaRPr lang="zh-CN" altLang="en-US" sz="4400" b="1" dirty="0">
              <a:latin typeface="Times New Roman" panose="02020603050405020304" pitchFamily="18" charset="0"/>
              <a:ea typeface="隶书" panose="02010509060101010101" pitchFamily="49" charset="-122"/>
            </a:endParaRPr>
          </a:p>
        </p:txBody>
      </p:sp>
      <p:sp>
        <p:nvSpPr>
          <p:cNvPr id="36867" name="内容占位符 2"/>
          <p:cNvSpPr>
            <a:spLocks noGrp="1"/>
          </p:cNvSpPr>
          <p:nvPr>
            <p:ph idx="1"/>
          </p:nvPr>
        </p:nvSpPr>
        <p:spPr>
          <a:xfrm>
            <a:off x="628650" y="1825625"/>
            <a:ext cx="7886700" cy="3475583"/>
          </a:xfrm>
        </p:spPr>
        <p:txBody>
          <a:bodyPr/>
          <a:lstStyle/>
          <a:p>
            <a:pPr>
              <a:lnSpc>
                <a:spcPct val="150000"/>
              </a:lnSpc>
              <a:spcAft>
                <a:spcPct val="25000"/>
              </a:spcAft>
            </a:pPr>
            <a:r>
              <a:rPr lang="zh-CN" altLang="en-US" sz="2400" b="1" dirty="0">
                <a:ea typeface="华文楷体" panose="02010600040101010101" pitchFamily="2" charset="-122"/>
              </a:rPr>
              <a:t>函数的形参代表依自左至右次序排列的各操作数。</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后置单目运算符 </a:t>
            </a:r>
            <a:r>
              <a:rPr lang="en-US" altLang="en-US" sz="2400" b="1" dirty="0">
                <a:ea typeface="华文楷体" panose="02010600040101010101" pitchFamily="2" charset="-122"/>
              </a:rPr>
              <a:t>++</a:t>
            </a:r>
            <a:r>
              <a:rPr lang="zh-CN" altLang="en-US" sz="2400" b="1" dirty="0">
                <a:ea typeface="华文楷体" panose="02010600040101010101" pitchFamily="2" charset="-122"/>
              </a:rPr>
              <a:t>和</a:t>
            </a:r>
            <a:r>
              <a:rPr lang="en-US" altLang="zh-CN" sz="2400" b="1" dirty="0">
                <a:ea typeface="华文楷体" panose="02010600040101010101" pitchFamily="2" charset="-122"/>
              </a:rPr>
              <a:t>--</a:t>
            </a:r>
            <a:r>
              <a:rPr lang="zh-CN" altLang="en-US" sz="2400" b="1" dirty="0">
                <a:ea typeface="华文楷体" panose="02010600040101010101" pitchFamily="2" charset="-122"/>
              </a:rPr>
              <a:t>的重载函数，形参列表中要增加一个</a:t>
            </a:r>
            <a:r>
              <a:rPr lang="en-US" altLang="zh-CN" sz="2400" b="1" dirty="0" err="1">
                <a:ea typeface="华文楷体" panose="02010600040101010101" pitchFamily="2" charset="-122"/>
              </a:rPr>
              <a:t>int</a:t>
            </a:r>
            <a:r>
              <a:rPr lang="zh-CN" altLang="en-US" sz="2400" b="1" dirty="0">
                <a:ea typeface="华文楷体" panose="02010600040101010101" pitchFamily="2" charset="-122"/>
              </a:rPr>
              <a:t>，但不必写形参名。</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如果在运算符的重载函数中需要操作某类对象的私有成员，可以将此函数声明为该类的友元。</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000" b="1" dirty="0">
                <a:latin typeface="Times New Roman" panose="02020603050405020304" pitchFamily="18" charset="0"/>
                <a:ea typeface="隶书" panose="02010509060101010101" pitchFamily="49" charset="-122"/>
              </a:rPr>
              <a:t>8.2.3</a:t>
            </a:r>
            <a:r>
              <a:rPr lang="zh-CN" altLang="en-US" sz="4000" b="1" dirty="0">
                <a:latin typeface="Times New Roman" panose="02020603050405020304" pitchFamily="18" charset="0"/>
                <a:ea typeface="隶书" panose="02010509060101010101" pitchFamily="49" charset="-122"/>
              </a:rPr>
              <a:t>运算符重载为非成员函数（续）</a:t>
            </a:r>
            <a:endParaRPr lang="zh-CN" altLang="en-US" sz="4000" b="1" dirty="0">
              <a:latin typeface="Times New Roman" panose="02020603050405020304" pitchFamily="18" charset="0"/>
              <a:ea typeface="隶书" panose="02010509060101010101" pitchFamily="49" charset="-122"/>
            </a:endParaRPr>
          </a:p>
        </p:txBody>
      </p:sp>
      <p:sp>
        <p:nvSpPr>
          <p:cNvPr id="37891"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双目运算符 </a:t>
            </a:r>
            <a:r>
              <a:rPr lang="en-US" altLang="zh-CN" sz="2400" b="1" dirty="0">
                <a:ea typeface="华文楷体" panose="02010600040101010101" pitchFamily="2" charset="-122"/>
              </a:rPr>
              <a:t>B</a:t>
            </a:r>
            <a:r>
              <a:rPr lang="zh-CN" altLang="en-US" sz="2400" b="1" dirty="0">
                <a:ea typeface="华文楷体" panose="02010600040101010101" pitchFamily="2" charset="-122"/>
              </a:rPr>
              <a:t>重载后，</a:t>
            </a:r>
            <a:br>
              <a:rPr lang="zh-CN" altLang="en-US" sz="2400" b="1" dirty="0">
                <a:ea typeface="华文楷体" panose="02010600040101010101" pitchFamily="2" charset="-122"/>
              </a:rPr>
            </a:br>
            <a:r>
              <a:rPr lang="zh-CN" altLang="en-US" sz="2400" b="1" dirty="0">
                <a:ea typeface="华文楷体" panose="02010600040101010101" pitchFamily="2" charset="-122"/>
              </a:rPr>
              <a:t>表达式</a:t>
            </a:r>
            <a:r>
              <a:rPr lang="en-US" altLang="zh-CN" sz="2400" b="1" dirty="0">
                <a:ea typeface="华文楷体" panose="02010600040101010101" pitchFamily="2" charset="-122"/>
              </a:rPr>
              <a:t>oprd1 B oprd2 </a:t>
            </a:r>
            <a:br>
              <a:rPr lang="en-US" altLang="zh-CN" sz="2400" b="1" dirty="0">
                <a:ea typeface="华文楷体" panose="02010600040101010101" pitchFamily="2" charset="-122"/>
              </a:rPr>
            </a:br>
            <a:r>
              <a:rPr lang="zh-CN" altLang="en-US" sz="2400" b="1" dirty="0">
                <a:ea typeface="华文楷体" panose="02010600040101010101" pitchFamily="2" charset="-122"/>
              </a:rPr>
              <a:t>等同于</a:t>
            </a:r>
            <a:r>
              <a:rPr lang="en-US" altLang="zh-CN" sz="2400" b="1" dirty="0">
                <a:solidFill>
                  <a:srgbClr val="FFFF00"/>
                </a:solidFill>
                <a:ea typeface="华文楷体" panose="02010600040101010101" pitchFamily="2" charset="-122"/>
              </a:rPr>
              <a:t>operator B(oprd1,oprd2 )</a:t>
            </a:r>
            <a:endParaRPr lang="en-US" altLang="zh-CN" sz="24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前置单目运算符 </a:t>
            </a:r>
            <a:r>
              <a:rPr lang="en-US" altLang="zh-CN" sz="2400" b="1" dirty="0">
                <a:ea typeface="华文楷体" panose="02010600040101010101" pitchFamily="2" charset="-122"/>
              </a:rPr>
              <a:t>B</a:t>
            </a:r>
            <a:r>
              <a:rPr lang="zh-CN" altLang="en-US" sz="2400" b="1" dirty="0">
                <a:ea typeface="华文楷体" panose="02010600040101010101" pitchFamily="2" charset="-122"/>
              </a:rPr>
              <a:t>重载后，</a:t>
            </a:r>
            <a:br>
              <a:rPr lang="zh-CN" altLang="en-US" sz="2400" b="1" dirty="0">
                <a:ea typeface="华文楷体" panose="02010600040101010101" pitchFamily="2" charset="-122"/>
              </a:rPr>
            </a:br>
            <a:r>
              <a:rPr lang="zh-CN" altLang="zh-CN" sz="2400" b="1" dirty="0">
                <a:ea typeface="华文楷体" panose="02010600040101010101" pitchFamily="2" charset="-122"/>
              </a:rPr>
              <a:t>表达式 </a:t>
            </a:r>
            <a:r>
              <a:rPr lang="en-US" altLang="zh-CN" sz="2400" b="1" dirty="0">
                <a:ea typeface="华文楷体" panose="02010600040101010101" pitchFamily="2" charset="-122"/>
              </a:rPr>
              <a:t>B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a:t>
            </a:r>
            <a:br>
              <a:rPr lang="en-US" altLang="zh-CN" sz="2400" b="1" dirty="0">
                <a:ea typeface="华文楷体" panose="02010600040101010101" pitchFamily="2" charset="-122"/>
              </a:rPr>
            </a:br>
            <a:r>
              <a:rPr lang="zh-CN" altLang="zh-CN" sz="2400" b="1" dirty="0">
                <a:ea typeface="华文楷体" panose="02010600040101010101" pitchFamily="2" charset="-122"/>
              </a:rPr>
              <a:t>等同于</a:t>
            </a:r>
            <a:r>
              <a:rPr lang="en-US" altLang="zh-CN" sz="2400" b="1" dirty="0">
                <a:solidFill>
                  <a:srgbClr val="FFFF00"/>
                </a:solidFill>
                <a:ea typeface="华文楷体" panose="02010600040101010101" pitchFamily="2" charset="-122"/>
              </a:rPr>
              <a:t>operator B(</a:t>
            </a:r>
            <a:r>
              <a:rPr lang="en-US" altLang="zh-CN" sz="2400" b="1" dirty="0" err="1">
                <a:solidFill>
                  <a:srgbClr val="FFFF00"/>
                </a:solidFill>
                <a:ea typeface="华文楷体" panose="02010600040101010101" pitchFamily="2" charset="-122"/>
              </a:rPr>
              <a:t>oprd</a:t>
            </a:r>
            <a:r>
              <a:rPr lang="en-US" altLang="zh-CN" sz="2400" b="1" dirty="0">
                <a:solidFill>
                  <a:srgbClr val="FFFF00"/>
                </a:solidFill>
                <a:ea typeface="华文楷体" panose="02010600040101010101" pitchFamily="2" charset="-122"/>
              </a:rPr>
              <a:t> )</a:t>
            </a:r>
            <a:endParaRPr lang="en-US" altLang="zh-CN" sz="24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后置单目运算符 </a:t>
            </a:r>
            <a:r>
              <a:rPr lang="en-US" altLang="en-US" sz="2400" b="1" dirty="0">
                <a:ea typeface="华文楷体" panose="02010600040101010101" pitchFamily="2" charset="-122"/>
              </a:rPr>
              <a:t>++</a:t>
            </a:r>
            <a:r>
              <a:rPr lang="zh-CN" altLang="en-US" sz="2400" b="1" dirty="0">
                <a:ea typeface="华文楷体" panose="02010600040101010101" pitchFamily="2" charset="-122"/>
              </a:rPr>
              <a:t>和</a:t>
            </a:r>
            <a:r>
              <a:rPr lang="en-US" altLang="zh-CN" sz="2400" b="1" dirty="0">
                <a:ea typeface="华文楷体" panose="02010600040101010101" pitchFamily="2" charset="-122"/>
              </a:rPr>
              <a:t>--</a:t>
            </a:r>
            <a:r>
              <a:rPr lang="zh-CN" altLang="en-US" sz="2400" b="1" dirty="0">
                <a:ea typeface="华文楷体" panose="02010600040101010101" pitchFamily="2" charset="-122"/>
              </a:rPr>
              <a:t>重载后，</a:t>
            </a:r>
            <a:br>
              <a:rPr lang="zh-CN" altLang="en-US" sz="2400" b="1" dirty="0">
                <a:ea typeface="华文楷体" panose="02010600040101010101" pitchFamily="2" charset="-122"/>
              </a:rPr>
            </a:br>
            <a:r>
              <a:rPr lang="zh-CN" altLang="zh-CN" sz="2400" b="1" dirty="0">
                <a:ea typeface="华文楷体" panose="02010600040101010101" pitchFamily="2" charset="-122"/>
              </a:rPr>
              <a:t>表达式 </a:t>
            </a:r>
            <a:r>
              <a:rPr lang="en-US" altLang="zh-CN" sz="2400" b="1" dirty="0" err="1">
                <a:ea typeface="华文楷体" panose="02010600040101010101" pitchFamily="2" charset="-122"/>
              </a:rPr>
              <a:t>oprd</a:t>
            </a:r>
            <a:r>
              <a:rPr lang="en-US" altLang="zh-CN" sz="2400" b="1" dirty="0">
                <a:ea typeface="华文楷体" panose="02010600040101010101" pitchFamily="2" charset="-122"/>
              </a:rPr>
              <a:t> B </a:t>
            </a:r>
            <a:br>
              <a:rPr lang="en-US" altLang="zh-CN" sz="2400" b="1" dirty="0">
                <a:ea typeface="华文楷体" panose="02010600040101010101" pitchFamily="2" charset="-122"/>
              </a:rPr>
            </a:br>
            <a:r>
              <a:rPr lang="zh-CN" altLang="zh-CN" sz="2400" b="1" dirty="0">
                <a:ea typeface="华文楷体" panose="02010600040101010101" pitchFamily="2" charset="-122"/>
              </a:rPr>
              <a:t>等同于</a:t>
            </a:r>
            <a:r>
              <a:rPr lang="en-US" altLang="zh-CN" sz="2400" b="1" dirty="0">
                <a:solidFill>
                  <a:srgbClr val="FFFF00"/>
                </a:solidFill>
                <a:ea typeface="华文楷体" panose="02010600040101010101" pitchFamily="2" charset="-122"/>
              </a:rPr>
              <a:t>operator B(oprd,0 )</a:t>
            </a: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886700" cy="1325563"/>
          </a:xfrm>
        </p:spPr>
        <p:txBody>
          <a:bodyPr>
            <a:noAutofit/>
          </a:bodyPr>
          <a:lstStyle/>
          <a:p>
            <a:pPr eaLnBrk="1" fontAlgn="auto" hangingPunct="1">
              <a:spcAft>
                <a:spcPts val="0"/>
              </a:spcAft>
              <a:defRPr/>
            </a:pPr>
            <a:r>
              <a:rPr lang="zh-CN" altLang="en-US" sz="2800" b="1" dirty="0" smtClean="0"/>
              <a:t>例</a:t>
            </a:r>
            <a:r>
              <a:rPr lang="en-US" altLang="zh-CN" sz="2800" b="1" dirty="0" smtClean="0"/>
              <a:t>8-3</a:t>
            </a:r>
            <a:r>
              <a:rPr lang="zh-CN" altLang="en-US" sz="2800" b="1" dirty="0" smtClean="0"/>
              <a:t>以非成员函数形式重载</a:t>
            </a:r>
            <a:r>
              <a:rPr lang="en-US" sz="2800" b="1" dirty="0" smtClean="0"/>
              <a:t>Complex</a:t>
            </a:r>
            <a:r>
              <a:rPr lang="zh-CN" altLang="en-US" sz="2800" b="1" dirty="0" smtClean="0"/>
              <a:t>的加减法运算和“</a:t>
            </a:r>
            <a:r>
              <a:rPr lang="en-US" sz="2800" b="1" dirty="0" smtClean="0"/>
              <a:t>&lt;&lt;</a:t>
            </a:r>
            <a:r>
              <a:rPr lang="zh-CN" altLang="en-US" sz="2800" b="1" dirty="0" smtClean="0"/>
              <a:t>”运算符</a:t>
            </a:r>
            <a:endParaRPr lang="zh-CN" altLang="en-US" sz="2800" b="1" dirty="0"/>
          </a:p>
        </p:txBody>
      </p:sp>
      <p:sp>
        <p:nvSpPr>
          <p:cNvPr id="3" name="内容占位符 2"/>
          <p:cNvSpPr>
            <a:spLocks noGrp="1"/>
          </p:cNvSpPr>
          <p:nvPr>
            <p:ph idx="1"/>
          </p:nvPr>
        </p:nvSpPr>
        <p:spPr>
          <a:xfrm>
            <a:off x="611560" y="1885974"/>
            <a:ext cx="7886700" cy="4351338"/>
          </a:xfrm>
        </p:spPr>
        <p:txBody>
          <a:bodyPr/>
          <a:lstStyle/>
          <a:p>
            <a:pPr>
              <a:spcAft>
                <a:spcPct val="25000"/>
              </a:spcAft>
            </a:pPr>
            <a:r>
              <a:rPr lang="zh-CN" altLang="en-US" sz="2400" b="1" dirty="0">
                <a:ea typeface="华文楷体" panose="02010600040101010101" pitchFamily="2" charset="-122"/>
              </a:rPr>
              <a:t>将</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（双目）重载为非成员函数，并将其声明为复数类的友元，两个操作数都是复数类的常引用。</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将</a:t>
            </a:r>
            <a:r>
              <a:rPr lang="en-US" altLang="zh-CN" sz="2400" b="1" dirty="0">
                <a:ea typeface="华文楷体" panose="02010600040101010101" pitchFamily="2" charset="-122"/>
              </a:rPr>
              <a:t>&lt;&lt;</a:t>
            </a:r>
            <a:r>
              <a:rPr lang="zh-CN" altLang="en-US" sz="2400" b="1" dirty="0">
                <a:ea typeface="华文楷体" panose="02010600040101010101" pitchFamily="2" charset="-122"/>
              </a:rPr>
              <a:t>（双目）重载为非成员函数，并将其声明为复数类的友元，它的左操作数是</a:t>
            </a:r>
            <a:r>
              <a:rPr lang="en-US" altLang="zh-CN" sz="2400" b="1" dirty="0">
                <a:ea typeface="华文楷体" panose="02010600040101010101" pitchFamily="2" charset="-122"/>
              </a:rPr>
              <a:t>std::</a:t>
            </a:r>
            <a:r>
              <a:rPr lang="en-US" altLang="zh-CN" sz="2400" b="1" dirty="0" err="1">
                <a:ea typeface="华文楷体" panose="02010600040101010101" pitchFamily="2" charset="-122"/>
              </a:rPr>
              <a:t>ostream</a:t>
            </a:r>
            <a:r>
              <a:rPr lang="zh-CN" altLang="en-US" sz="2400" b="1" dirty="0">
                <a:ea typeface="华文楷体" panose="02010600040101010101" pitchFamily="2" charset="-122"/>
              </a:rPr>
              <a:t>引用，右操作数为复数类的常引用，返回</a:t>
            </a:r>
            <a:r>
              <a:rPr lang="en-US" altLang="zh-CN" sz="2400" b="1" dirty="0">
                <a:ea typeface="华文楷体" panose="02010600040101010101" pitchFamily="2" charset="-122"/>
              </a:rPr>
              <a:t>std::</a:t>
            </a:r>
            <a:r>
              <a:rPr lang="en-US" altLang="zh-CN" sz="2400" b="1" dirty="0" err="1">
                <a:ea typeface="华文楷体" panose="02010600040101010101" pitchFamily="2" charset="-122"/>
              </a:rPr>
              <a:t>ostream</a:t>
            </a:r>
            <a:r>
              <a:rPr lang="zh-CN" altLang="en-US" sz="2400" b="1" dirty="0">
                <a:ea typeface="华文楷体" panose="02010600040101010101" pitchFamily="2" charset="-122"/>
              </a:rPr>
              <a:t>引用，用以支持下面形式的输出：</a:t>
            </a:r>
            <a:br>
              <a:rPr lang="en-US" altLang="zh-CN" sz="2400" b="1" dirty="0">
                <a:ea typeface="华文楷体" panose="02010600040101010101" pitchFamily="2" charset="-122"/>
              </a:rPr>
            </a:br>
            <a:r>
              <a:rPr lang="en-US" altLang="zh-CN" sz="2400" b="1" dirty="0" err="1">
                <a:ea typeface="华文楷体" panose="02010600040101010101" pitchFamily="2" charset="-122"/>
              </a:rPr>
              <a:t>cout</a:t>
            </a:r>
            <a:r>
              <a:rPr lang="en-US" altLang="zh-CN" sz="2400" b="1" dirty="0">
                <a:ea typeface="华文楷体" panose="02010600040101010101" pitchFamily="2" charset="-122"/>
              </a:rPr>
              <a:t> &lt;&lt; a &lt;&lt; b;</a:t>
            </a:r>
            <a:br>
              <a:rPr lang="en-US" altLang="zh-CN" sz="2400" b="1" dirty="0">
                <a:ea typeface="华文楷体" panose="02010600040101010101" pitchFamily="2" charset="-122"/>
              </a:rPr>
            </a:br>
            <a:r>
              <a:rPr lang="zh-CN" altLang="en-US" sz="2400" b="1" dirty="0">
                <a:ea typeface="华文楷体" panose="02010600040101010101" pitchFamily="2" charset="-122"/>
              </a:rPr>
              <a:t>该输出调用的是：</a:t>
            </a:r>
            <a:br>
              <a:rPr lang="en-US" altLang="zh-CN" sz="2400" b="1" dirty="0">
                <a:ea typeface="华文楷体" panose="02010600040101010101" pitchFamily="2" charset="-122"/>
              </a:rPr>
            </a:br>
            <a:r>
              <a:rPr lang="en-US" altLang="zh-CN" sz="2400" b="1" dirty="0">
                <a:ea typeface="华文楷体" panose="02010600040101010101" pitchFamily="2" charset="-122"/>
              </a:rPr>
              <a:t>operator &lt;&lt; (operator &lt;&lt; (</a:t>
            </a:r>
            <a:r>
              <a:rPr lang="en-US" altLang="zh-CN" sz="2400" b="1" dirty="0" err="1">
                <a:ea typeface="华文楷体" panose="02010600040101010101" pitchFamily="2" charset="-122"/>
              </a:rPr>
              <a:t>cout</a:t>
            </a:r>
            <a:r>
              <a:rPr lang="en-US" altLang="zh-CN" sz="2400" b="1" dirty="0">
                <a:ea typeface="华文楷体" panose="02010600040101010101" pitchFamily="2" charset="-122"/>
              </a:rPr>
              <a:t>, a), b);</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60648"/>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//8_3.cpp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class </a:t>
            </a:r>
            <a:r>
              <a:rPr kumimoji="0" lang="en-US" altLang="zh-CN" sz="2000" b="1" dirty="0">
                <a:solidFill>
                  <a:srgbClr val="000000"/>
                </a:solidFill>
                <a:latin typeface="Times New Roman" panose="02020603050405020304" pitchFamily="18" charset="0"/>
                <a:ea typeface="华文楷体" panose="02010600040101010101" pitchFamily="2" charset="-122"/>
              </a:rPr>
              <a:t>Complex {	//</a:t>
            </a:r>
            <a:r>
              <a:rPr kumimoji="0" lang="zh-CN" altLang="en-US" sz="2000" b="1" dirty="0">
                <a:solidFill>
                  <a:srgbClr val="000000"/>
                </a:solidFill>
                <a:latin typeface="Times New Roman" panose="02020603050405020304" pitchFamily="18" charset="0"/>
                <a:ea typeface="华文楷体" panose="02010600040101010101" pitchFamily="2" charset="-122"/>
              </a:rPr>
              <a:t>复数类定义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Complex(double r = 0.0,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0.0) : real(r), </a:t>
            </a:r>
            <a:r>
              <a:rPr kumimoji="0" lang="en-US" altLang="zh-CN" sz="2000" b="1" dirty="0" err="1">
                <a:solidFill>
                  <a:srgbClr val="000000"/>
                </a:solidFill>
                <a:latin typeface="Times New Roman" panose="02020603050405020304" pitchFamily="18" charset="0"/>
                <a:ea typeface="华文楷体" panose="02010600040101010101" pitchFamily="2" charset="-122"/>
              </a:rPr>
              <a:t>imag</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	</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friend Complex operator + (const Complex &amp;c1, const Complex &amp;c2</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运算符</a:t>
            </a:r>
            <a:r>
              <a:rPr kumimoji="0" lang="en-US" altLang="zh-CN" sz="2000" b="1" dirty="0">
                <a:solidFill>
                  <a:srgbClr val="FF0000"/>
                </a:solidFill>
                <a:latin typeface="Times New Roman" panose="02020603050405020304" pitchFamily="18" charset="0"/>
                <a:ea typeface="华文楷体" panose="02010600040101010101" pitchFamily="2" charset="-122"/>
              </a:rPr>
              <a:t>+</a:t>
            </a:r>
            <a:r>
              <a:rPr kumimoji="0" lang="zh-CN" altLang="en-US" sz="2000" b="1" dirty="0">
                <a:solidFill>
                  <a:srgbClr val="FF0000"/>
                </a:solidFill>
                <a:latin typeface="Times New Roman" panose="02020603050405020304" pitchFamily="18" charset="0"/>
                <a:ea typeface="华文楷体" panose="02010600040101010101" pitchFamily="2" charset="-122"/>
              </a:rPr>
              <a:t>重载</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4B0064"/>
                </a:solidFill>
                <a:latin typeface="Times New Roman" panose="02020603050405020304" pitchFamily="18" charset="0"/>
                <a:ea typeface="华文楷体" panose="02010600040101010101" pitchFamily="2" charset="-122"/>
              </a:rPr>
              <a:t>friend Complex operator - (const Complex &amp;c1, const Complex &amp;c2</a:t>
            </a:r>
            <a:r>
              <a:rPr kumimoji="0" lang="en-US" altLang="zh-CN" sz="2000" b="1" dirty="0" smtClean="0">
                <a:solidFill>
                  <a:srgbClr val="4B0064"/>
                </a:solidFill>
                <a:latin typeface="Times New Roman" panose="02020603050405020304" pitchFamily="18" charset="0"/>
                <a:ea typeface="华文楷体" panose="02010600040101010101" pitchFamily="2" charset="-122"/>
              </a:rPr>
              <a:t>);</a:t>
            </a:r>
            <a:endParaRPr kumimoji="0" lang="en-US" altLang="zh-CN" sz="2000" b="1" dirty="0">
              <a:solidFill>
                <a:srgbClr val="4B0064"/>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4B0064"/>
                </a:solidFill>
                <a:latin typeface="Times New Roman" panose="02020603050405020304" pitchFamily="18" charset="0"/>
                <a:ea typeface="华文楷体" panose="02010600040101010101" pitchFamily="2" charset="-122"/>
              </a:rPr>
              <a:t> </a:t>
            </a:r>
            <a:r>
              <a:rPr kumimoji="0" lang="en-US" altLang="zh-CN" sz="2000" b="1" dirty="0" smtClean="0">
                <a:solidFill>
                  <a:srgbClr val="4B0064"/>
                </a:solidFill>
                <a:latin typeface="Times New Roman" panose="02020603050405020304" pitchFamily="18" charset="0"/>
                <a:ea typeface="华文楷体" panose="02010600040101010101" pitchFamily="2" charset="-122"/>
              </a:rPr>
              <a:t>     //</a:t>
            </a:r>
            <a:r>
              <a:rPr kumimoji="0" lang="zh-CN" altLang="en-US" sz="2000" b="1" dirty="0">
                <a:solidFill>
                  <a:srgbClr val="4B0064"/>
                </a:solidFill>
                <a:latin typeface="Times New Roman" panose="02020603050405020304" pitchFamily="18" charset="0"/>
                <a:ea typeface="华文楷体" panose="02010600040101010101" pitchFamily="2" charset="-122"/>
              </a:rPr>
              <a:t>运算符</a:t>
            </a:r>
            <a:r>
              <a:rPr kumimoji="0" lang="en-US" altLang="zh-CN" sz="2000" b="1" dirty="0">
                <a:solidFill>
                  <a:srgbClr val="4B0064"/>
                </a:solidFill>
                <a:latin typeface="Times New Roman" panose="02020603050405020304" pitchFamily="18" charset="0"/>
                <a:ea typeface="华文楷体" panose="02010600040101010101" pitchFamily="2" charset="-122"/>
              </a:rPr>
              <a:t>-</a:t>
            </a:r>
            <a:r>
              <a:rPr kumimoji="0" lang="zh-CN" altLang="en-US" sz="2000" b="1" dirty="0">
                <a:solidFill>
                  <a:srgbClr val="4B0064"/>
                </a:solidFill>
                <a:latin typeface="Times New Roman" panose="02020603050405020304" pitchFamily="18" charset="0"/>
                <a:ea typeface="华文楷体" panose="02010600040101010101" pitchFamily="2" charset="-122"/>
              </a:rPr>
              <a:t>重载</a:t>
            </a:r>
            <a:endParaRPr kumimoji="0" lang="zh-CN" altLang="en-US" sz="2000" b="1" dirty="0">
              <a:solidFill>
                <a:srgbClr val="4B0064"/>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friend </a:t>
            </a: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ostream</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&amp; operator &lt;&lt; (</a:t>
            </a: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ostream</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&amp;out, const Complex &amp;c</a:t>
            </a:r>
            <a:r>
              <a:rPr kumimoji="0" lang="en-US" altLang="zh-CN" sz="2000" b="1" dirty="0" smtClean="0">
                <a:solidFill>
                  <a:schemeClr val="accent5">
                    <a:lumMod val="50000"/>
                  </a:schemeClr>
                </a:solidFill>
                <a:latin typeface="Times New Roman" panose="02020603050405020304" pitchFamily="18" charset="0"/>
                <a:ea typeface="华文楷体" panose="02010600040101010101" pitchFamily="2" charset="-122"/>
              </a:rPr>
              <a:t>);</a:t>
            </a:r>
            <a:endParaRPr kumimoji="0" lang="en-US" altLang="zh-CN" sz="2000" b="1" dirty="0" smtClean="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a:t>
            </a:r>
            <a:r>
              <a:rPr kumimoji="0" lang="en-US" altLang="zh-CN" sz="2000" b="1" dirty="0" smtClean="0">
                <a:solidFill>
                  <a:schemeClr val="accent5">
                    <a:lumMod val="50000"/>
                  </a:schemeClr>
                </a:solidFill>
                <a:latin typeface="Times New Roman" panose="02020603050405020304" pitchFamily="18" charset="0"/>
                <a:ea typeface="华文楷体" panose="02010600040101010101" pitchFamily="2" charset="-122"/>
              </a:rPr>
              <a:t>    </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a:t>
            </a:r>
            <a:r>
              <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rPr>
              <a:t>运算符</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&lt;&lt;</a:t>
            </a:r>
            <a:r>
              <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rPr>
              <a:t>重载</a:t>
            </a:r>
            <a:endPar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real;	//</a:t>
            </a:r>
            <a:r>
              <a:rPr kumimoji="0" lang="zh-CN" altLang="en-US" sz="2000" b="1" dirty="0">
                <a:solidFill>
                  <a:srgbClr val="000000"/>
                </a:solidFill>
                <a:latin typeface="Times New Roman" panose="02020603050405020304" pitchFamily="18" charset="0"/>
                <a:ea typeface="华文楷体" panose="02010600040101010101" pitchFamily="2" charset="-122"/>
              </a:rPr>
              <a:t>复数实部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t>
            </a:r>
            <a:r>
              <a:rPr kumimoji="0" lang="en-US" altLang="zh-CN" sz="2000" b="1" dirty="0" err="1">
                <a:solidFill>
                  <a:srgbClr val="000000"/>
                </a:solidFill>
                <a:latin typeface="Times New Roman" panose="02020603050405020304" pitchFamily="18" charset="0"/>
                <a:ea typeface="华文楷体" panose="02010600040101010101" pitchFamily="2" charset="-122"/>
              </a:rPr>
              <a:t>imag</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复数虚部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Complex operator + (const Complex &amp;c1, const Complex &amp;c2) {	</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r>
              <a:rPr kumimoji="0" lang="zh-CN" altLang="en-US" sz="2000" b="1" dirty="0">
                <a:solidFill>
                  <a:srgbClr val="FF0000"/>
                </a:solidFill>
                <a:latin typeface="Times New Roman" panose="02020603050405020304" pitchFamily="18" charset="0"/>
                <a:ea typeface="华文楷体" panose="02010600040101010101" pitchFamily="2" charset="-122"/>
              </a:rPr>
              <a:t>重载运算符函数实现</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return Complex(c1.real + c2.real, c1.imag + c2.imag); </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endParaRPr kumimoji="0" lang="zh-CN" altLang="en-US" sz="2000" b="1" dirty="0">
              <a:solidFill>
                <a:srgbClr val="FF0000"/>
              </a:solidFill>
              <a:latin typeface="Times New Roman" panose="02020603050405020304" pitchFamily="18" charset="0"/>
              <a:ea typeface="华文楷体" panose="02010600040101010101" pitchFamily="2" charset="-122"/>
            </a:endParaRPr>
          </a:p>
        </p:txBody>
      </p:sp>
      <p:sp>
        <p:nvSpPr>
          <p:cNvPr id="39941" name="标题 1"/>
          <p:cNvSpPr>
            <a:spLocks noGrp="1"/>
          </p:cNvSpPr>
          <p:nvPr>
            <p:ph type="title"/>
          </p:nvPr>
        </p:nvSpPr>
        <p:spPr>
          <a:xfrm>
            <a:off x="5643563" y="500063"/>
            <a:ext cx="3043237" cy="1066800"/>
          </a:xfrm>
          <a:solidFill>
            <a:schemeClr val="bg1"/>
          </a:solidFill>
        </p:spPr>
        <p:txBody>
          <a:bodyPr/>
          <a:lstStyle/>
          <a:p>
            <a:pPr eaLnBrk="1" hangingPunct="1"/>
            <a:r>
              <a:rPr lang="zh-CN" altLang="en-US" smtClean="0"/>
              <a:t>例</a:t>
            </a:r>
            <a:r>
              <a:rPr lang="en-US" altLang="zh-CN" smtClean="0"/>
              <a:t>8-3</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6632"/>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Complex operator - (const Complex &amp;c1, const Complex &amp;c2) {	</a:t>
            </a:r>
            <a:endParaRPr kumimoji="0" lang="en-US" altLang="zh-CN" sz="2000" b="1" dirty="0" smtClean="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2060"/>
                </a:solidFill>
                <a:latin typeface="Times New Roman" panose="02020603050405020304" pitchFamily="18" charset="0"/>
                <a:ea typeface="华文楷体" panose="02010600040101010101" pitchFamily="2" charset="-122"/>
              </a:rPr>
              <a:t>//</a:t>
            </a:r>
            <a:r>
              <a:rPr kumimoji="0" lang="zh-CN" altLang="en-US" sz="2000" b="1" dirty="0">
                <a:solidFill>
                  <a:srgbClr val="002060"/>
                </a:solidFill>
                <a:latin typeface="Times New Roman" panose="02020603050405020304" pitchFamily="18" charset="0"/>
                <a:ea typeface="华文楷体" panose="02010600040101010101" pitchFamily="2" charset="-122"/>
              </a:rPr>
              <a:t>重载运算符函数实现</a:t>
            </a:r>
            <a:endParaRPr kumimoji="0" lang="zh-CN" altLang="en-US"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2060"/>
                </a:solidFill>
                <a:latin typeface="Times New Roman" panose="02020603050405020304" pitchFamily="18" charset="0"/>
                <a:ea typeface="华文楷体" panose="02010600040101010101" pitchFamily="2" charset="-122"/>
              </a:rPr>
              <a:t>	</a:t>
            </a:r>
            <a:r>
              <a:rPr kumimoji="0" lang="en-US" altLang="zh-CN" sz="2000" b="1" dirty="0">
                <a:solidFill>
                  <a:srgbClr val="002060"/>
                </a:solidFill>
                <a:latin typeface="Times New Roman" panose="02020603050405020304" pitchFamily="18" charset="0"/>
                <a:ea typeface="华文楷体" panose="02010600040101010101" pitchFamily="2" charset="-122"/>
              </a:rPr>
              <a:t>return Complex(c1.real - c2.real, c1.imag - c2.imag); </a:t>
            </a:r>
            <a:endParaRPr kumimoji="0" lang="en-US" altLang="zh-CN"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a:t>
            </a:r>
            <a:endParaRPr kumimoji="0" lang="en-US" altLang="zh-CN"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2060"/>
                </a:solidFill>
                <a:latin typeface="Times New Roman" panose="02020603050405020304" pitchFamily="18" charset="0"/>
                <a:ea typeface="华文楷体" panose="02010600040101010101" pitchFamily="2" charset="-122"/>
              </a:rPr>
              <a:t> </a:t>
            </a:r>
            <a:endParaRPr kumimoji="0" lang="en-US" altLang="zh-CN" sz="2000" b="1" dirty="0">
              <a:solidFill>
                <a:srgbClr val="00206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ostream</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&amp; operator &lt;&lt; (</a:t>
            </a: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ostream</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&amp;out, const Complex &amp;c) {	</a:t>
            </a:r>
            <a:endParaRPr kumimoji="0" lang="en-US" altLang="zh-CN" sz="2000" b="1" dirty="0" smtClean="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chemeClr val="accent5">
                    <a:lumMod val="50000"/>
                  </a:schemeClr>
                </a:solidFill>
                <a:latin typeface="Times New Roman" panose="02020603050405020304" pitchFamily="18" charset="0"/>
                <a:ea typeface="华文楷体" panose="02010600040101010101" pitchFamily="2" charset="-122"/>
              </a:rPr>
              <a:t>//</a:t>
            </a:r>
            <a:r>
              <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rPr>
              <a:t>重载运算符函数实现</a:t>
            </a:r>
            <a:endPar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chemeClr val="accent5">
                    <a:lumMod val="50000"/>
                  </a:schemeClr>
                </a:solidFill>
                <a:latin typeface="Times New Roman" panose="02020603050405020304" pitchFamily="18" charset="0"/>
                <a:ea typeface="华文楷体" panose="02010600040101010101" pitchFamily="2" charset="-122"/>
              </a:rPr>
              <a:t>	</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out &lt;&lt; "(" &lt;&lt; </a:t>
            </a: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c.real</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&lt;&lt; ", " &lt;&lt; </a:t>
            </a:r>
            <a:r>
              <a:rPr kumimoji="0" lang="en-US" altLang="zh-CN" sz="2000" b="1" dirty="0" err="1">
                <a:solidFill>
                  <a:schemeClr val="accent5">
                    <a:lumMod val="50000"/>
                  </a:schemeClr>
                </a:solidFill>
                <a:latin typeface="Times New Roman" panose="02020603050405020304" pitchFamily="18" charset="0"/>
                <a:ea typeface="华文楷体" panose="02010600040101010101" pitchFamily="2" charset="-122"/>
              </a:rPr>
              <a:t>c.imag</a:t>
            </a: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&lt;&lt; ")";</a:t>
            </a:r>
            <a:endPar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	return out;</a:t>
            </a:r>
            <a:endPar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rPr>
              <a:t>}</a:t>
            </a:r>
            <a:endParaRPr kumimoji="0" lang="en-US" altLang="zh-CN" sz="2000" b="1" dirty="0">
              <a:solidFill>
                <a:schemeClr val="accent5">
                  <a:lumMod val="50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Complex c1(5, 4), c2(2, 10), c3;	//</a:t>
            </a:r>
            <a:r>
              <a:rPr kumimoji="0" lang="zh-CN" altLang="en-US" sz="2000" b="1" dirty="0">
                <a:solidFill>
                  <a:srgbClr val="000000"/>
                </a:solidFill>
                <a:latin typeface="Times New Roman" panose="02020603050405020304" pitchFamily="18" charset="0"/>
                <a:ea typeface="华文楷体" panose="02010600040101010101" pitchFamily="2" charset="-122"/>
              </a:rPr>
              <a:t>定义复数类的对象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"c1 = " &lt;&lt; c1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"c2 = " &lt;&lt; c2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c3 = c1 - c2;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使用重载运算符完成复数减法</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"c3 = c1 - c2 = " &lt;&lt; c3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c3 = c1 + c2;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使用重载运算符完成复数加法</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"c3 = c1 + c2 = " &lt;&lt; c3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40965" name="标题 1"/>
          <p:cNvSpPr>
            <a:spLocks noGrp="1"/>
          </p:cNvSpPr>
          <p:nvPr>
            <p:ph type="title"/>
          </p:nvPr>
        </p:nvSpPr>
        <p:spPr>
          <a:xfrm>
            <a:off x="6072188" y="5786438"/>
            <a:ext cx="2614612" cy="781050"/>
          </a:xfrm>
          <a:solidFill>
            <a:schemeClr val="bg1"/>
          </a:solidFill>
        </p:spPr>
        <p:txBody>
          <a:bodyPr/>
          <a:lstStyle/>
          <a:p>
            <a:pPr eaLnBrk="1" hangingPunct="1"/>
            <a:r>
              <a:rPr lang="zh-CN" altLang="en-US" smtClean="0"/>
              <a:t>例</a:t>
            </a:r>
            <a:r>
              <a:rPr lang="en-US" altLang="zh-CN" smtClean="0"/>
              <a:t>8-3</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重载赋值运算符</a:t>
            </a:r>
            <a:r>
              <a:rPr lang="zh-CN" altLang="en-US" sz="4400" b="1" i="1" dirty="0" smtClean="0">
                <a:solidFill>
                  <a:srgbClr val="FFFF00"/>
                </a:solidFill>
                <a:effectLst>
                  <a:outerShdw blurRad="38100" dist="38100" dir="2700000" algn="tl">
                    <a:srgbClr val="000000"/>
                  </a:outerShdw>
                </a:effectLst>
                <a:ea typeface="隶书" panose="02010509060101010101" pitchFamily="49" charset="-122"/>
                <a:cs typeface="+mj-cs"/>
              </a:rPr>
              <a:t>（</a:t>
            </a: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重载格式）</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59395" name="Text Box 4"/>
          <p:cNvSpPr txBox="1">
            <a:spLocks noChangeArrowheads="1"/>
          </p:cNvSpPr>
          <p:nvPr/>
        </p:nvSpPr>
        <p:spPr bwMode="auto">
          <a:xfrm>
            <a:off x="1082675" y="1722438"/>
            <a:ext cx="7810500" cy="1778000"/>
          </a:xfrm>
          <a:prstGeom prst="rect">
            <a:avLst/>
          </a:prstGeom>
          <a:solidFill>
            <a:srgbClr val="DDDDDD"/>
          </a:solidFill>
          <a:ln w="9525">
            <a:solidFill>
              <a:schemeClr val="tx1"/>
            </a:solidFill>
            <a:miter lim="800000"/>
          </a:ln>
        </p:spPr>
        <p:txBody>
          <a:bodyPr lIns="90000" tIns="46800" rIns="90000" bIns="46800" anchor="ct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pPr>
            <a:r>
              <a:rPr lang="en-US" altLang="zh-CN">
                <a:solidFill>
                  <a:srgbClr val="FF0000"/>
                </a:solidFill>
              </a:rPr>
              <a:t>X &amp;  X :: operator = ( </a:t>
            </a:r>
            <a:r>
              <a:rPr lang="en-US" altLang="zh-CN" i="1">
                <a:solidFill>
                  <a:srgbClr val="FF0000"/>
                </a:solidFill>
              </a:rPr>
              <a:t>const</a:t>
            </a:r>
            <a:r>
              <a:rPr lang="en-US" altLang="zh-CN">
                <a:solidFill>
                  <a:srgbClr val="FF0000"/>
                </a:solidFill>
              </a:rPr>
              <a:t>  X &amp; from)</a:t>
            </a:r>
            <a:endParaRPr lang="en-US" altLang="zh-CN">
              <a:solidFill>
                <a:srgbClr val="FF0000"/>
              </a:solidFill>
            </a:endParaRPr>
          </a:p>
          <a:p>
            <a:pPr algn="l" eaLnBrk="1" hangingPunct="1">
              <a:lnSpc>
                <a:spcPct val="100000"/>
              </a:lnSpc>
              <a:spcBef>
                <a:spcPct val="50000"/>
              </a:spcBef>
            </a:pPr>
            <a:r>
              <a:rPr lang="en-US" altLang="zh-CN">
                <a:solidFill>
                  <a:srgbClr val="FF0000"/>
                </a:solidFill>
              </a:rPr>
              <a:t>{	</a:t>
            </a:r>
            <a:endParaRPr lang="en-US" altLang="zh-CN">
              <a:solidFill>
                <a:srgbClr val="FF0000"/>
              </a:solidFill>
            </a:endParaRPr>
          </a:p>
          <a:p>
            <a:pPr algn="l" eaLnBrk="1" hangingPunct="1">
              <a:lnSpc>
                <a:spcPct val="100000"/>
              </a:lnSpc>
              <a:spcBef>
                <a:spcPct val="50000"/>
              </a:spcBef>
            </a:pPr>
            <a:r>
              <a:rPr lang="en-US" altLang="zh-CN">
                <a:solidFill>
                  <a:srgbClr val="FF0000"/>
                </a:solidFill>
              </a:rPr>
              <a:t>	// </a:t>
            </a:r>
            <a:r>
              <a:rPr lang="zh-CN" altLang="zh-CN">
                <a:solidFill>
                  <a:srgbClr val="FF0000"/>
                </a:solidFill>
              </a:rPr>
              <a:t>复制 </a:t>
            </a:r>
            <a:r>
              <a:rPr lang="en-US" altLang="zh-CN">
                <a:solidFill>
                  <a:srgbClr val="FF0000"/>
                </a:solidFill>
              </a:rPr>
              <a:t>X </a:t>
            </a:r>
            <a:r>
              <a:rPr lang="zh-CN" altLang="zh-CN">
                <a:solidFill>
                  <a:srgbClr val="FF0000"/>
                </a:solidFill>
              </a:rPr>
              <a:t>的成员</a:t>
            </a:r>
            <a:r>
              <a:rPr lang="zh-CN" altLang="en-US">
                <a:solidFill>
                  <a:srgbClr val="FF0000"/>
                </a:solidFill>
              </a:rPr>
              <a:t> </a:t>
            </a:r>
            <a:endParaRPr lang="zh-CN" altLang="en-US">
              <a:solidFill>
                <a:srgbClr val="FF0000"/>
              </a:solidFill>
            </a:endParaRPr>
          </a:p>
          <a:p>
            <a:pPr algn="l" eaLnBrk="1" hangingPunct="1">
              <a:lnSpc>
                <a:spcPct val="100000"/>
              </a:lnSpc>
              <a:spcBef>
                <a:spcPct val="50000"/>
              </a:spcBef>
            </a:pPr>
            <a:r>
              <a:rPr lang="en-US" altLang="zh-CN">
                <a:solidFill>
                  <a:srgbClr val="FF0000"/>
                </a:solidFill>
              </a:rPr>
              <a:t>} </a:t>
            </a:r>
            <a:endParaRPr lang="en-US" altLang="zh-CN">
              <a:solidFill>
                <a:srgbClr val="FF0000"/>
              </a:solidFill>
            </a:endParaRPr>
          </a:p>
        </p:txBody>
      </p:sp>
      <p:sp>
        <p:nvSpPr>
          <p:cNvPr id="59396" name="Text Box 5"/>
          <p:cNvSpPr txBox="1">
            <a:spLocks noChangeArrowheads="1"/>
          </p:cNvSpPr>
          <p:nvPr/>
        </p:nvSpPr>
        <p:spPr bwMode="auto">
          <a:xfrm>
            <a:off x="1082675" y="4076700"/>
            <a:ext cx="7810500" cy="137953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buClr>
                <a:srgbClr val="000099"/>
              </a:buClr>
              <a:buSzPct val="65000"/>
              <a:buFont typeface="Wingdings" panose="05000000000000000000" pitchFamily="2" charset="2"/>
              <a:buChar char="u"/>
            </a:pPr>
            <a:r>
              <a:rPr lang="en-US" altLang="zh-CN" sz="2400"/>
              <a:t>    </a:t>
            </a:r>
            <a:r>
              <a:rPr lang="zh-CN" altLang="en-US" sz="2400"/>
              <a:t>返回类类型的引用是为了与 </a:t>
            </a:r>
            <a:r>
              <a:rPr lang="en-US" altLang="zh-CN" sz="2400"/>
              <a:t>C + + </a:t>
            </a:r>
            <a:r>
              <a:rPr lang="zh-CN" altLang="en-US" sz="2400"/>
              <a:t>原有赋值号的语义相匹配</a:t>
            </a:r>
            <a:endParaRPr lang="zh-CN" altLang="en-US" sz="2400"/>
          </a:p>
          <a:p>
            <a:pPr algn="l" eaLnBrk="1" hangingPunct="1">
              <a:lnSpc>
                <a:spcPct val="100000"/>
              </a:lnSpc>
              <a:spcBef>
                <a:spcPct val="50000"/>
              </a:spcBef>
              <a:buClr>
                <a:srgbClr val="000099"/>
              </a:buClr>
              <a:buSzPct val="65000"/>
              <a:buFont typeface="Wingdings" panose="05000000000000000000" pitchFamily="2" charset="2"/>
              <a:buChar char="u"/>
            </a:pPr>
            <a:r>
              <a:rPr lang="zh-CN" altLang="en-US" sz="2400">
                <a:sym typeface="Symbol" panose="05050102010706020507" pitchFamily="18" charset="2"/>
              </a:rPr>
              <a:t>    </a:t>
            </a:r>
            <a:r>
              <a:rPr lang="zh-CN" altLang="en-US" sz="2400"/>
              <a:t>用 </a:t>
            </a:r>
            <a:r>
              <a:rPr lang="en-US" altLang="zh-CN" sz="2400"/>
              <a:t>const </a:t>
            </a:r>
            <a:r>
              <a:rPr lang="zh-CN" altLang="en-US" sz="2400"/>
              <a:t>修饰参数，保证函数体内不修改实际参数</a:t>
            </a:r>
            <a:endParaRPr lang="zh-CN" altLang="en-US" sz="240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258888" y="-26988"/>
            <a:ext cx="7313612" cy="927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（范例）</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0419" name="Text Box 4"/>
          <p:cNvSpPr txBox="1">
            <a:spLocks noChangeArrowheads="1"/>
          </p:cNvSpPr>
          <p:nvPr/>
        </p:nvSpPr>
        <p:spPr bwMode="auto">
          <a:xfrm>
            <a:off x="1082675" y="981075"/>
            <a:ext cx="7810500" cy="5892800"/>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en-US" altLang="zh-CN" dirty="0">
                <a:solidFill>
                  <a:srgbClr val="000000"/>
                </a:solidFill>
              </a:rPr>
              <a:t>//   </a:t>
            </a:r>
            <a:r>
              <a:rPr lang="zh-CN" altLang="en-US" dirty="0">
                <a:solidFill>
                  <a:srgbClr val="000000"/>
                </a:solidFill>
              </a:rPr>
              <a:t>赋值运算符重载，一个正确的范例程序</a:t>
            </a:r>
            <a:endParaRPr lang="zh-CN" altLang="en-US" dirty="0">
              <a:solidFill>
                <a:srgbClr val="000000"/>
              </a:solidFill>
            </a:endParaRPr>
          </a:p>
          <a:p>
            <a:pPr algn="l" eaLnBrk="1" hangingPunct="1">
              <a:lnSpc>
                <a:spcPct val="100000"/>
              </a:lnSpc>
            </a:pPr>
            <a:r>
              <a:rPr lang="en-US" altLang="zh-CN" dirty="0">
                <a:solidFill>
                  <a:srgbClr val="000000"/>
                </a:solidFill>
              </a:rPr>
              <a:t>class  </a:t>
            </a:r>
            <a:r>
              <a:rPr lang="en-US" altLang="zh-CN" dirty="0" err="1">
                <a:solidFill>
                  <a:srgbClr val="000000"/>
                </a:solidFill>
              </a:rPr>
              <a:t>three_d</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int</a:t>
            </a:r>
            <a:r>
              <a:rPr lang="en-US" altLang="zh-CN" dirty="0">
                <a:solidFill>
                  <a:srgbClr val="000000"/>
                </a:solidFill>
              </a:rPr>
              <a:t>  x , y , z ;		//3_d coordinates</a:t>
            </a:r>
            <a:endParaRPr lang="en-US" altLang="zh-CN" dirty="0">
              <a:solidFill>
                <a:srgbClr val="000000"/>
              </a:solidFill>
            </a:endParaRPr>
          </a:p>
          <a:p>
            <a:pPr algn="l" eaLnBrk="1" hangingPunct="1">
              <a:lnSpc>
                <a:spcPct val="100000"/>
              </a:lnSpc>
            </a:pPr>
            <a:r>
              <a:rPr lang="en-US" altLang="zh-CN" dirty="0">
                <a:solidFill>
                  <a:srgbClr val="000000"/>
                </a:solidFill>
              </a:rPr>
              <a:t>  public :</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FF0000"/>
                </a:solidFill>
              </a:rPr>
              <a:t>three_d</a:t>
            </a:r>
            <a:r>
              <a:rPr lang="en-US" altLang="zh-CN" dirty="0">
                <a:solidFill>
                  <a:srgbClr val="FF0000"/>
                </a:solidFill>
              </a:rPr>
              <a:t> &amp; operator = </a:t>
            </a:r>
            <a:r>
              <a:rPr lang="en-US" altLang="zh-CN" dirty="0" smtClean="0">
                <a:solidFill>
                  <a:srgbClr val="FF0000"/>
                </a:solidFill>
              </a:rPr>
              <a:t>( </a:t>
            </a:r>
            <a:r>
              <a:rPr lang="en-US" altLang="zh-CN" dirty="0" err="1" smtClean="0">
                <a:solidFill>
                  <a:srgbClr val="FF0000"/>
                </a:solidFill>
              </a:rPr>
              <a:t>const</a:t>
            </a:r>
            <a:r>
              <a:rPr lang="en-US" altLang="zh-CN" dirty="0" smtClean="0">
                <a:solidFill>
                  <a:srgbClr val="FF0000"/>
                </a:solidFill>
              </a:rPr>
              <a:t> </a:t>
            </a:r>
            <a:r>
              <a:rPr lang="en-US" altLang="zh-CN" dirty="0" err="1">
                <a:solidFill>
                  <a:srgbClr val="FF0000"/>
                </a:solidFill>
              </a:rPr>
              <a:t>three_d</a:t>
            </a:r>
            <a:r>
              <a:rPr lang="en-US" altLang="zh-CN" dirty="0">
                <a:solidFill>
                  <a:srgbClr val="FF0000"/>
                </a:solidFill>
              </a:rPr>
              <a:t> &amp; t ) ;</a:t>
            </a:r>
            <a:endParaRPr lang="en-US" altLang="zh-CN" dirty="0">
              <a:solidFill>
                <a:srgbClr val="FF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three_d</a:t>
            </a:r>
            <a:r>
              <a:rPr lang="en-US" altLang="zh-CN" dirty="0">
                <a:solidFill>
                  <a:srgbClr val="000000"/>
                </a:solidFill>
              </a:rPr>
              <a:t>  operator ++ ( ) ;	    void  show ( ) ;</a:t>
            </a:r>
            <a:endParaRPr lang="en-US" altLang="zh-CN" dirty="0">
              <a:solidFill>
                <a:srgbClr val="000000"/>
              </a:solidFill>
            </a:endParaRPr>
          </a:p>
          <a:p>
            <a:pPr algn="l" eaLnBrk="1" hangingPunct="1">
              <a:lnSpc>
                <a:spcPct val="100000"/>
              </a:lnSpc>
            </a:pPr>
            <a:r>
              <a:rPr lang="en-US" altLang="zh-CN" dirty="0">
                <a:solidFill>
                  <a:srgbClr val="000000"/>
                </a:solidFill>
              </a:rPr>
              <a:t>    void  assign ( </a:t>
            </a:r>
            <a:r>
              <a:rPr lang="en-US" altLang="zh-CN" dirty="0" err="1">
                <a:solidFill>
                  <a:srgbClr val="000000"/>
                </a:solidFill>
              </a:rPr>
              <a:t>int</a:t>
            </a:r>
            <a:r>
              <a:rPr lang="en-US" altLang="zh-CN" dirty="0">
                <a:solidFill>
                  <a:srgbClr val="000000"/>
                </a:solidFill>
              </a:rPr>
              <a:t>  mx ,  </a:t>
            </a:r>
            <a:r>
              <a:rPr lang="en-US" altLang="zh-CN" dirty="0" err="1">
                <a:solidFill>
                  <a:srgbClr val="000000"/>
                </a:solidFill>
              </a:rPr>
              <a:t>int</a:t>
            </a:r>
            <a:r>
              <a:rPr lang="en-US" altLang="zh-CN" dirty="0">
                <a:solidFill>
                  <a:srgbClr val="000000"/>
                </a:solidFill>
              </a:rPr>
              <a:t>  my ,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mz</a:t>
            </a:r>
            <a:r>
              <a:rPr lang="en-US" altLang="zh-CN" dirty="0">
                <a:solidFill>
                  <a:srgbClr val="000000"/>
                </a:solidFill>
              </a:rPr>
              <a:t> ) ;</a:t>
            </a:r>
            <a:endParaRPr lang="en-US" altLang="zh-CN" dirty="0">
              <a:solidFill>
                <a:srgbClr val="000000"/>
              </a:solidFill>
            </a:endParaRPr>
          </a:p>
          <a:p>
            <a:pPr algn="l" eaLnBrk="1" hangingPunct="1">
              <a:lnSpc>
                <a:spcPct val="100000"/>
              </a:lnSpc>
            </a:pPr>
            <a:r>
              <a:rPr lang="en-US" altLang="zh-CN" dirty="0">
                <a:solidFill>
                  <a:srgbClr val="000000"/>
                </a:solidFill>
              </a:rPr>
              <a:t>} ;</a:t>
            </a:r>
            <a:endParaRPr lang="en-US" altLang="zh-CN" dirty="0">
              <a:solidFill>
                <a:srgbClr val="000000"/>
              </a:solidFill>
            </a:endParaRPr>
          </a:p>
          <a:p>
            <a:pPr algn="l" eaLnBrk="1" hangingPunct="1">
              <a:lnSpc>
                <a:spcPct val="100000"/>
              </a:lnSpc>
            </a:pPr>
            <a:r>
              <a:rPr lang="en-US" altLang="zh-CN" dirty="0" err="1">
                <a:solidFill>
                  <a:srgbClr val="FF0000"/>
                </a:solidFill>
              </a:rPr>
              <a:t>three_d</a:t>
            </a:r>
            <a:r>
              <a:rPr lang="en-US" altLang="zh-CN" dirty="0">
                <a:solidFill>
                  <a:srgbClr val="FF0000"/>
                </a:solidFill>
              </a:rPr>
              <a:t> &amp; </a:t>
            </a:r>
            <a:r>
              <a:rPr lang="en-US" altLang="zh-CN" dirty="0" err="1">
                <a:solidFill>
                  <a:srgbClr val="FF0000"/>
                </a:solidFill>
              </a:rPr>
              <a:t>three_d</a:t>
            </a:r>
            <a:r>
              <a:rPr lang="en-US" altLang="zh-CN" dirty="0">
                <a:solidFill>
                  <a:srgbClr val="FF0000"/>
                </a:solidFill>
              </a:rPr>
              <a:t> :: operator = </a:t>
            </a:r>
            <a:r>
              <a:rPr lang="en-US" altLang="zh-CN" dirty="0" smtClean="0">
                <a:solidFill>
                  <a:srgbClr val="FF0000"/>
                </a:solidFill>
              </a:rPr>
              <a:t>( </a:t>
            </a:r>
            <a:r>
              <a:rPr lang="en-US" altLang="zh-CN" dirty="0" err="1" smtClean="0">
                <a:solidFill>
                  <a:srgbClr val="FF0000"/>
                </a:solidFill>
              </a:rPr>
              <a:t>const</a:t>
            </a:r>
            <a:r>
              <a:rPr lang="en-US" altLang="zh-CN" dirty="0" smtClean="0">
                <a:solidFill>
                  <a:srgbClr val="FF0000"/>
                </a:solidFill>
              </a:rPr>
              <a:t> </a:t>
            </a:r>
            <a:r>
              <a:rPr lang="en-US" altLang="zh-CN" dirty="0" err="1">
                <a:solidFill>
                  <a:srgbClr val="FF0000"/>
                </a:solidFill>
              </a:rPr>
              <a:t>three_d</a:t>
            </a:r>
            <a:r>
              <a:rPr lang="en-US" altLang="zh-CN" dirty="0">
                <a:solidFill>
                  <a:srgbClr val="FF0000"/>
                </a:solidFill>
              </a:rPr>
              <a:t> &amp; t )</a:t>
            </a:r>
            <a:endParaRPr lang="en-US" altLang="zh-CN" dirty="0">
              <a:solidFill>
                <a:srgbClr val="FF0000"/>
              </a:solidFill>
            </a:endParaRPr>
          </a:p>
          <a:p>
            <a:pPr algn="l" eaLnBrk="1" hangingPunct="1">
              <a:lnSpc>
                <a:spcPct val="100000"/>
              </a:lnSpc>
            </a:pPr>
            <a:r>
              <a:rPr lang="en-US" altLang="zh-CN" dirty="0">
                <a:solidFill>
                  <a:srgbClr val="FF0000"/>
                </a:solidFill>
              </a:rPr>
              <a:t>{ x = t . x ;  y = t . y ;</a:t>
            </a:r>
            <a:endParaRPr lang="en-US" altLang="zh-CN" dirty="0">
              <a:solidFill>
                <a:srgbClr val="FF0000"/>
              </a:solidFill>
            </a:endParaRPr>
          </a:p>
          <a:p>
            <a:pPr algn="l" eaLnBrk="1" hangingPunct="1">
              <a:lnSpc>
                <a:spcPct val="100000"/>
              </a:lnSpc>
            </a:pPr>
            <a:r>
              <a:rPr lang="en-US" altLang="zh-CN" dirty="0">
                <a:solidFill>
                  <a:srgbClr val="FF0000"/>
                </a:solidFill>
              </a:rPr>
              <a:t>   z = t . z ;</a:t>
            </a:r>
            <a:endParaRPr lang="en-US" altLang="zh-CN" dirty="0">
              <a:solidFill>
                <a:srgbClr val="FF0000"/>
              </a:solidFill>
            </a:endParaRPr>
          </a:p>
          <a:p>
            <a:pPr algn="l" eaLnBrk="1" hangingPunct="1">
              <a:lnSpc>
                <a:spcPct val="100000"/>
              </a:lnSpc>
            </a:pPr>
            <a:r>
              <a:rPr lang="en-US" altLang="zh-CN" dirty="0">
                <a:solidFill>
                  <a:srgbClr val="FF0000"/>
                </a:solidFill>
              </a:rPr>
              <a:t>   return * this ; }</a:t>
            </a:r>
            <a:endParaRPr lang="en-US" altLang="zh-CN" dirty="0">
              <a:solidFill>
                <a:srgbClr val="FF0000"/>
              </a:solidFill>
            </a:endParaRPr>
          </a:p>
          <a:p>
            <a:pPr algn="l" eaLnBrk="1" hangingPunct="1">
              <a:lnSpc>
                <a:spcPct val="100000"/>
              </a:lnSpc>
            </a:pPr>
            <a:r>
              <a:rPr lang="en-US" altLang="zh-CN" dirty="0">
                <a:solidFill>
                  <a:srgbClr val="000000"/>
                </a:solidFill>
              </a:rPr>
              <a:t>// </a:t>
            </a:r>
            <a:r>
              <a:rPr lang="zh-CN" altLang="zh-CN" dirty="0">
                <a:solidFill>
                  <a:srgbClr val="000000"/>
                </a:solidFill>
              </a:rPr>
              <a:t>其它成员函数定义</a:t>
            </a:r>
            <a:endParaRPr lang="zh-CN" altLang="zh-CN" b="0" dirty="0">
              <a:solidFill>
                <a:srgbClr val="000000"/>
              </a:solidFill>
            </a:endParaRPr>
          </a:p>
          <a:p>
            <a:pPr algn="l" eaLnBrk="1" hangingPunct="1">
              <a:lnSpc>
                <a:spcPct val="100000"/>
              </a:lnSpc>
            </a:pPr>
            <a:r>
              <a:rPr lang="en-US" altLang="zh-CN" dirty="0" err="1">
                <a:solidFill>
                  <a:srgbClr val="000000"/>
                </a:solidFill>
              </a:rPr>
              <a:t>int</a:t>
            </a:r>
            <a:r>
              <a:rPr lang="en-US" altLang="zh-CN" dirty="0">
                <a:solidFill>
                  <a:srgbClr val="000000"/>
                </a:solidFill>
              </a:rPr>
              <a:t> main ( )</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three_d</a:t>
            </a:r>
            <a:r>
              <a:rPr lang="en-US" altLang="zh-CN" dirty="0">
                <a:solidFill>
                  <a:srgbClr val="000000"/>
                </a:solidFill>
              </a:rPr>
              <a:t>   a , b ;</a:t>
            </a:r>
            <a:endParaRPr lang="en-US" altLang="zh-CN" dirty="0">
              <a:solidFill>
                <a:srgbClr val="000000"/>
              </a:solidFill>
            </a:endParaRPr>
          </a:p>
          <a:p>
            <a:pPr algn="l" eaLnBrk="1" hangingPunct="1">
              <a:lnSpc>
                <a:spcPct val="100000"/>
              </a:lnSpc>
            </a:pPr>
            <a:r>
              <a:rPr lang="en-US" altLang="zh-CN" dirty="0">
                <a:solidFill>
                  <a:srgbClr val="000000"/>
                </a:solidFill>
              </a:rPr>
              <a:t>  a . assign ( 1 , 2 , 3 ) ;     b. assign ( 10 , 10 , 10 ) ;</a:t>
            </a:r>
            <a:endParaRPr lang="en-US" altLang="zh-CN" dirty="0">
              <a:solidFill>
                <a:srgbClr val="000000"/>
              </a:solidFill>
            </a:endParaRPr>
          </a:p>
          <a:p>
            <a:pPr algn="l" eaLnBrk="1" hangingPunct="1">
              <a:lnSpc>
                <a:spcPct val="100000"/>
              </a:lnSpc>
            </a:pPr>
            <a:r>
              <a:rPr lang="en-US" altLang="zh-CN" dirty="0">
                <a:solidFill>
                  <a:srgbClr val="000000"/>
                </a:solidFill>
              </a:rPr>
              <a:t>  ( b = a ) + + ;</a:t>
            </a:r>
            <a:endParaRPr lang="en-US" altLang="zh-CN" dirty="0">
              <a:solidFill>
                <a:srgbClr val="000000"/>
              </a:solidFill>
            </a:endParaRPr>
          </a:p>
          <a:p>
            <a:pPr algn="l" eaLnBrk="1" hangingPunct="1">
              <a:lnSpc>
                <a:spcPct val="100000"/>
              </a:lnSpc>
            </a:pPr>
            <a:r>
              <a:rPr lang="en-US" altLang="zh-CN" dirty="0">
                <a:solidFill>
                  <a:srgbClr val="000000"/>
                </a:solidFill>
              </a:rPr>
              <a:t>  a . show ( ) ;      b. show ( ) ; return 0;</a:t>
            </a:r>
            <a:endParaRPr lang="en-US" altLang="zh-CN" dirty="0">
              <a:solidFill>
                <a:srgbClr val="000000"/>
              </a:solidFill>
            </a:endParaRPr>
          </a:p>
          <a:p>
            <a:pPr algn="l" eaLnBrk="1" hangingPunct="1">
              <a:lnSpc>
                <a:spcPct val="100000"/>
              </a:lnSpc>
            </a:pPr>
            <a:r>
              <a:rPr lang="en-US" altLang="zh-CN" dirty="0">
                <a:solidFill>
                  <a:srgbClr val="000000"/>
                </a:solidFill>
              </a:rPr>
              <a:t>}</a:t>
            </a:r>
            <a:endParaRPr lang="en-US" altLang="zh-CN" dirty="0">
              <a:solidFill>
                <a:srgbClr val="000000"/>
              </a:solidFill>
            </a:endParaRPr>
          </a:p>
        </p:txBody>
      </p:sp>
      <p:sp>
        <p:nvSpPr>
          <p:cNvPr id="60420" name="Text Box 5"/>
          <p:cNvSpPr txBox="1">
            <a:spLocks noChangeArrowheads="1"/>
          </p:cNvSpPr>
          <p:nvPr/>
        </p:nvSpPr>
        <p:spPr bwMode="auto">
          <a:xfrm>
            <a:off x="7596188" y="1628775"/>
            <a:ext cx="1290637" cy="906467"/>
          </a:xfrm>
          <a:prstGeom prst="rect">
            <a:avLst/>
          </a:prstGeom>
          <a:solidFill>
            <a:srgbClr val="000000"/>
          </a:solidFill>
          <a:ln>
            <a:noFill/>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40000"/>
              </a:lnSpc>
            </a:pPr>
            <a:r>
              <a:rPr lang="en-US" altLang="zh-CN">
                <a:ea typeface="宋体" panose="02010600030101010101" pitchFamily="2" charset="-122"/>
              </a:rPr>
              <a:t>1 , 2 , 3</a:t>
            </a:r>
            <a:endParaRPr lang="en-US" altLang="zh-CN">
              <a:ea typeface="宋体" panose="02010600030101010101" pitchFamily="2" charset="-122"/>
            </a:endParaRPr>
          </a:p>
          <a:p>
            <a:pPr algn="l" eaLnBrk="1" hangingPunct="1">
              <a:lnSpc>
                <a:spcPct val="140000"/>
              </a:lnSpc>
            </a:pPr>
            <a:r>
              <a:rPr lang="en-US" altLang="zh-CN">
                <a:ea typeface="宋体" panose="02010600030101010101" pitchFamily="2" charset="-122"/>
              </a:rPr>
              <a:t>2 , 3 , 4</a:t>
            </a:r>
            <a:endParaRPr lang="en-US" altLang="zh-CN">
              <a:ea typeface="宋体" panose="02010600030101010101" pitchFamily="2" charset="-122"/>
            </a:endParaRPr>
          </a:p>
        </p:txBody>
      </p:sp>
      <p:sp>
        <p:nvSpPr>
          <p:cNvPr id="424966" name="AutoShape 6"/>
          <p:cNvSpPr>
            <a:spLocks noChangeArrowheads="1"/>
          </p:cNvSpPr>
          <p:nvPr/>
        </p:nvSpPr>
        <p:spPr bwMode="auto">
          <a:xfrm>
            <a:off x="3851275" y="4292600"/>
            <a:ext cx="4759325" cy="1193800"/>
          </a:xfrm>
          <a:prstGeom prst="wedgeEllipseCallout">
            <a:avLst>
              <a:gd name="adj1" fmla="val -38792"/>
              <a:gd name="adj2" fmla="val -87898"/>
            </a:avLst>
          </a:prstGeom>
          <a:solidFill>
            <a:srgbClr val="CC0066"/>
          </a:solidFill>
          <a:ln w="9525">
            <a:solidFill>
              <a:schemeClr val="tx1"/>
            </a:solidFill>
            <a:miter lim="800000"/>
          </a:ln>
        </p:spPr>
        <p:txBody>
          <a:bodyPr wrap="none" lIns="0" tIns="0" rIns="0" bIns="0" anchor="ctr"/>
          <a:lstStyle>
            <a:lvl1pPr marL="457200" indent="-457200"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FontTx/>
              <a:buAutoNum type="arabicPeriod"/>
            </a:pPr>
            <a:r>
              <a:rPr lang="zh-CN" altLang="en-US"/>
              <a:t>能够正确使用赋值号语义</a:t>
            </a:r>
            <a:endParaRPr lang="zh-CN" altLang="en-US"/>
          </a:p>
          <a:p>
            <a:pPr algn="l" eaLnBrk="1" hangingPunct="1">
              <a:lnSpc>
                <a:spcPct val="100000"/>
              </a:lnSpc>
              <a:buFontTx/>
              <a:buAutoNum type="arabicPeriod"/>
            </a:pPr>
            <a:r>
              <a:rPr lang="zh-CN" altLang="en-US"/>
              <a:t>赋值表达式左边的表达式</a:t>
            </a:r>
            <a:br>
              <a:rPr lang="zh-CN" altLang="en-US"/>
            </a:br>
            <a:r>
              <a:rPr lang="zh-CN" altLang="en-US"/>
              <a:t>（对象）是左值</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24966"/>
                                        </p:tgtEl>
                                        <p:attrNameLst>
                                          <p:attrName>style.visibility</p:attrName>
                                        </p:attrNameLst>
                                      </p:cBhvr>
                                      <p:to>
                                        <p:strVal val="visible"/>
                                      </p:to>
                                    </p:set>
                                    <p:animEffect transition="in" filter="box(out)">
                                      <p:cBhvr>
                                        <p:cTn id="7" dur="500"/>
                                        <p:tgtEl>
                                          <p:spTgt spid="424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6"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1258888" y="-100013"/>
            <a:ext cx="7313612"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（范例）</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1443" name="Text Box 3"/>
          <p:cNvSpPr txBox="1">
            <a:spLocks noChangeArrowheads="1"/>
          </p:cNvSpPr>
          <p:nvPr/>
        </p:nvSpPr>
        <p:spPr bwMode="auto">
          <a:xfrm>
            <a:off x="793115" y="934820"/>
            <a:ext cx="7810500" cy="5588000"/>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en-US" altLang="zh-CN" dirty="0">
                <a:solidFill>
                  <a:srgbClr val="000000"/>
                </a:solidFill>
              </a:rPr>
              <a:t>//     </a:t>
            </a:r>
            <a:r>
              <a:rPr lang="zh-CN" altLang="en-US" dirty="0">
                <a:solidFill>
                  <a:srgbClr val="000000"/>
                </a:solidFill>
              </a:rPr>
              <a:t>赋值运算符重载，另一</a:t>
            </a:r>
            <a:r>
              <a:rPr lang="zh-CN" altLang="en-US" dirty="0" smtClean="0">
                <a:solidFill>
                  <a:srgbClr val="000000"/>
                </a:solidFill>
              </a:rPr>
              <a:t>个不恰当的</a:t>
            </a:r>
            <a:r>
              <a:rPr lang="zh-CN" altLang="en-US" dirty="0">
                <a:solidFill>
                  <a:srgbClr val="000000"/>
                </a:solidFill>
              </a:rPr>
              <a:t>范例程序</a:t>
            </a:r>
            <a:endParaRPr lang="zh-CN" altLang="en-US" dirty="0">
              <a:solidFill>
                <a:srgbClr val="000000"/>
              </a:solidFill>
            </a:endParaRPr>
          </a:p>
          <a:p>
            <a:pPr algn="l" eaLnBrk="1" hangingPunct="1">
              <a:lnSpc>
                <a:spcPct val="100000"/>
              </a:lnSpc>
            </a:pPr>
            <a:r>
              <a:rPr lang="en-US" altLang="zh-CN" dirty="0">
                <a:solidFill>
                  <a:srgbClr val="000000"/>
                </a:solidFill>
              </a:rPr>
              <a:t>class  </a:t>
            </a:r>
            <a:r>
              <a:rPr lang="en-US" altLang="zh-CN" dirty="0" err="1">
                <a:solidFill>
                  <a:srgbClr val="000000"/>
                </a:solidFill>
              </a:rPr>
              <a:t>three_d</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int</a:t>
            </a:r>
            <a:r>
              <a:rPr lang="en-US" altLang="zh-CN" dirty="0">
                <a:solidFill>
                  <a:srgbClr val="000000"/>
                </a:solidFill>
              </a:rPr>
              <a:t>  x , y , z ;		//3_d coordinates</a:t>
            </a:r>
            <a:endParaRPr lang="en-US" altLang="zh-CN" dirty="0">
              <a:solidFill>
                <a:srgbClr val="000000"/>
              </a:solidFill>
            </a:endParaRPr>
          </a:p>
          <a:p>
            <a:pPr algn="l" eaLnBrk="1" hangingPunct="1">
              <a:lnSpc>
                <a:spcPct val="100000"/>
              </a:lnSpc>
            </a:pPr>
            <a:r>
              <a:rPr lang="en-US" altLang="zh-CN" dirty="0">
                <a:solidFill>
                  <a:srgbClr val="000000"/>
                </a:solidFill>
              </a:rPr>
              <a:t>  public :</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FF0000"/>
                </a:solidFill>
              </a:rPr>
              <a:t>three_d</a:t>
            </a:r>
            <a:r>
              <a:rPr lang="en-US" altLang="zh-CN" dirty="0">
                <a:solidFill>
                  <a:srgbClr val="FF0000"/>
                </a:solidFill>
              </a:rPr>
              <a:t>  operator = </a:t>
            </a:r>
            <a:r>
              <a:rPr lang="en-US" altLang="zh-CN" dirty="0" smtClean="0">
                <a:solidFill>
                  <a:srgbClr val="FF0000"/>
                </a:solidFill>
              </a:rPr>
              <a:t>( </a:t>
            </a:r>
            <a:r>
              <a:rPr lang="en-US" altLang="zh-CN" dirty="0" err="1" smtClean="0">
                <a:solidFill>
                  <a:srgbClr val="FF0000"/>
                </a:solidFill>
              </a:rPr>
              <a:t>const</a:t>
            </a:r>
            <a:r>
              <a:rPr lang="en-US" altLang="zh-CN" dirty="0" smtClean="0">
                <a:solidFill>
                  <a:srgbClr val="FF0000"/>
                </a:solidFill>
              </a:rPr>
              <a:t> </a:t>
            </a:r>
            <a:r>
              <a:rPr lang="en-US" altLang="zh-CN" dirty="0" err="1">
                <a:solidFill>
                  <a:srgbClr val="FF0000"/>
                </a:solidFill>
              </a:rPr>
              <a:t>three_d</a:t>
            </a:r>
            <a:r>
              <a:rPr lang="en-US" altLang="zh-CN" dirty="0">
                <a:solidFill>
                  <a:srgbClr val="FF0000"/>
                </a:solidFill>
              </a:rPr>
              <a:t>  </a:t>
            </a:r>
            <a:r>
              <a:rPr lang="en-US" altLang="zh-CN" dirty="0" smtClean="0">
                <a:solidFill>
                  <a:srgbClr val="FF0000"/>
                </a:solidFill>
              </a:rPr>
              <a:t>&amp;t </a:t>
            </a:r>
            <a:r>
              <a:rPr lang="en-US" altLang="zh-CN" dirty="0">
                <a:solidFill>
                  <a:srgbClr val="FF0000"/>
                </a:solidFill>
              </a:rPr>
              <a:t>) ;</a:t>
            </a:r>
            <a:endParaRPr lang="en-US" altLang="zh-CN" dirty="0">
              <a:solidFill>
                <a:srgbClr val="FF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three_d</a:t>
            </a:r>
            <a:r>
              <a:rPr lang="en-US" altLang="zh-CN" dirty="0">
                <a:solidFill>
                  <a:srgbClr val="000000"/>
                </a:solidFill>
              </a:rPr>
              <a:t>  operator ++ ( ) ;	    void  show ( ) ;</a:t>
            </a:r>
            <a:endParaRPr lang="en-US" altLang="zh-CN" dirty="0">
              <a:solidFill>
                <a:srgbClr val="000000"/>
              </a:solidFill>
            </a:endParaRPr>
          </a:p>
          <a:p>
            <a:pPr algn="l" eaLnBrk="1" hangingPunct="1">
              <a:lnSpc>
                <a:spcPct val="100000"/>
              </a:lnSpc>
            </a:pPr>
            <a:r>
              <a:rPr lang="en-US" altLang="zh-CN" dirty="0">
                <a:solidFill>
                  <a:srgbClr val="000000"/>
                </a:solidFill>
              </a:rPr>
              <a:t>    void  assign ( </a:t>
            </a:r>
            <a:r>
              <a:rPr lang="en-US" altLang="zh-CN" dirty="0" err="1">
                <a:solidFill>
                  <a:srgbClr val="000000"/>
                </a:solidFill>
              </a:rPr>
              <a:t>int</a:t>
            </a:r>
            <a:r>
              <a:rPr lang="en-US" altLang="zh-CN" dirty="0">
                <a:solidFill>
                  <a:srgbClr val="000000"/>
                </a:solidFill>
              </a:rPr>
              <a:t>  mx ,  </a:t>
            </a:r>
            <a:r>
              <a:rPr lang="en-US" altLang="zh-CN" dirty="0" err="1">
                <a:solidFill>
                  <a:srgbClr val="000000"/>
                </a:solidFill>
              </a:rPr>
              <a:t>int</a:t>
            </a:r>
            <a:r>
              <a:rPr lang="en-US" altLang="zh-CN" dirty="0">
                <a:solidFill>
                  <a:srgbClr val="000000"/>
                </a:solidFill>
              </a:rPr>
              <a:t>  my ,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mz</a:t>
            </a:r>
            <a:r>
              <a:rPr lang="en-US" altLang="zh-CN" dirty="0">
                <a:solidFill>
                  <a:srgbClr val="000000"/>
                </a:solidFill>
              </a:rPr>
              <a:t> ) ;</a:t>
            </a:r>
            <a:endParaRPr lang="en-US" altLang="zh-CN" dirty="0">
              <a:solidFill>
                <a:srgbClr val="000000"/>
              </a:solidFill>
            </a:endParaRPr>
          </a:p>
          <a:p>
            <a:pPr algn="l" eaLnBrk="1" hangingPunct="1">
              <a:lnSpc>
                <a:spcPct val="100000"/>
              </a:lnSpc>
            </a:pPr>
            <a:r>
              <a:rPr lang="en-US" altLang="zh-CN" dirty="0">
                <a:solidFill>
                  <a:srgbClr val="000000"/>
                </a:solidFill>
              </a:rPr>
              <a:t>} ;</a:t>
            </a:r>
            <a:endParaRPr lang="en-US" altLang="zh-CN" dirty="0">
              <a:solidFill>
                <a:srgbClr val="000000"/>
              </a:solidFill>
            </a:endParaRPr>
          </a:p>
          <a:p>
            <a:pPr algn="l" eaLnBrk="1" hangingPunct="1">
              <a:lnSpc>
                <a:spcPct val="100000"/>
              </a:lnSpc>
            </a:pPr>
            <a:r>
              <a:rPr lang="en-US" altLang="zh-CN" dirty="0" err="1">
                <a:solidFill>
                  <a:srgbClr val="FF0000"/>
                </a:solidFill>
              </a:rPr>
              <a:t>three_d</a:t>
            </a:r>
            <a:r>
              <a:rPr lang="en-US" altLang="zh-CN" dirty="0">
                <a:solidFill>
                  <a:srgbClr val="FF0000"/>
                </a:solidFill>
              </a:rPr>
              <a:t>  </a:t>
            </a:r>
            <a:r>
              <a:rPr lang="en-US" altLang="zh-CN" dirty="0" err="1">
                <a:solidFill>
                  <a:srgbClr val="FF0000"/>
                </a:solidFill>
              </a:rPr>
              <a:t>three_d</a:t>
            </a:r>
            <a:r>
              <a:rPr lang="en-US" altLang="zh-CN" dirty="0">
                <a:solidFill>
                  <a:srgbClr val="FF0000"/>
                </a:solidFill>
              </a:rPr>
              <a:t> :: operator = </a:t>
            </a:r>
            <a:r>
              <a:rPr lang="en-US" altLang="zh-CN" dirty="0" smtClean="0">
                <a:solidFill>
                  <a:srgbClr val="FF0000"/>
                </a:solidFill>
              </a:rPr>
              <a:t>( </a:t>
            </a:r>
            <a:r>
              <a:rPr lang="en-US" altLang="zh-CN" dirty="0" err="1" smtClean="0">
                <a:solidFill>
                  <a:srgbClr val="FF0000"/>
                </a:solidFill>
              </a:rPr>
              <a:t>const</a:t>
            </a:r>
            <a:r>
              <a:rPr lang="en-US" altLang="zh-CN" dirty="0" smtClean="0">
                <a:solidFill>
                  <a:srgbClr val="FF0000"/>
                </a:solidFill>
              </a:rPr>
              <a:t> </a:t>
            </a:r>
            <a:r>
              <a:rPr lang="en-US" altLang="zh-CN" dirty="0" err="1">
                <a:solidFill>
                  <a:srgbClr val="FF0000"/>
                </a:solidFill>
              </a:rPr>
              <a:t>three_d</a:t>
            </a:r>
            <a:r>
              <a:rPr lang="en-US" altLang="zh-CN" dirty="0">
                <a:solidFill>
                  <a:srgbClr val="FF0000"/>
                </a:solidFill>
              </a:rPr>
              <a:t>  </a:t>
            </a:r>
            <a:r>
              <a:rPr lang="en-US" altLang="zh-CN" dirty="0" smtClean="0">
                <a:solidFill>
                  <a:srgbClr val="FF0000"/>
                </a:solidFill>
              </a:rPr>
              <a:t>&amp;t </a:t>
            </a:r>
            <a:r>
              <a:rPr lang="en-US" altLang="zh-CN" dirty="0">
                <a:solidFill>
                  <a:srgbClr val="FF0000"/>
                </a:solidFill>
              </a:rPr>
              <a:t>)</a:t>
            </a:r>
            <a:endParaRPr lang="en-US" altLang="zh-CN" dirty="0">
              <a:solidFill>
                <a:srgbClr val="FF0000"/>
              </a:solidFill>
            </a:endParaRPr>
          </a:p>
          <a:p>
            <a:pPr algn="l" eaLnBrk="1" hangingPunct="1">
              <a:lnSpc>
                <a:spcPct val="100000"/>
              </a:lnSpc>
            </a:pPr>
            <a:r>
              <a:rPr lang="en-US" altLang="zh-CN" dirty="0">
                <a:solidFill>
                  <a:srgbClr val="FF0000"/>
                </a:solidFill>
              </a:rPr>
              <a:t>{ x = t . x ;  y = t . y ;   z = t . z ;   return * this ; }</a:t>
            </a:r>
            <a:endParaRPr lang="en-US" altLang="zh-CN" dirty="0">
              <a:solidFill>
                <a:srgbClr val="FF0000"/>
              </a:solidFill>
            </a:endParaRPr>
          </a:p>
          <a:p>
            <a:pPr algn="l" eaLnBrk="1" hangingPunct="1">
              <a:lnSpc>
                <a:spcPct val="100000"/>
              </a:lnSpc>
            </a:pPr>
            <a:r>
              <a:rPr lang="en-US" altLang="zh-CN" dirty="0">
                <a:solidFill>
                  <a:srgbClr val="000000"/>
                </a:solidFill>
              </a:rPr>
              <a:t>// </a:t>
            </a:r>
            <a:r>
              <a:rPr lang="zh-CN" altLang="zh-CN" dirty="0">
                <a:solidFill>
                  <a:srgbClr val="000000"/>
                </a:solidFill>
              </a:rPr>
              <a:t>其它成员函数定义</a:t>
            </a:r>
            <a:endParaRPr lang="zh-CN" altLang="zh-CN" b="0" dirty="0">
              <a:solidFill>
                <a:srgbClr val="000000"/>
              </a:solidFill>
            </a:endParaRPr>
          </a:p>
          <a:p>
            <a:pPr algn="l" eaLnBrk="1" hangingPunct="1">
              <a:lnSpc>
                <a:spcPct val="100000"/>
              </a:lnSpc>
            </a:pPr>
            <a:r>
              <a:rPr lang="en-US" altLang="zh-CN" dirty="0" err="1">
                <a:solidFill>
                  <a:srgbClr val="000000"/>
                </a:solidFill>
              </a:rPr>
              <a:t>int</a:t>
            </a:r>
            <a:r>
              <a:rPr lang="en-US" altLang="zh-CN" dirty="0">
                <a:solidFill>
                  <a:srgbClr val="000000"/>
                </a:solidFill>
              </a:rPr>
              <a:t> main ( )</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err="1">
                <a:solidFill>
                  <a:srgbClr val="000000"/>
                </a:solidFill>
              </a:rPr>
              <a:t>three_d</a:t>
            </a:r>
            <a:r>
              <a:rPr lang="en-US" altLang="zh-CN" dirty="0">
                <a:solidFill>
                  <a:srgbClr val="000000"/>
                </a:solidFill>
              </a:rPr>
              <a:t>   a , b ;</a:t>
            </a:r>
            <a:endParaRPr lang="en-US" altLang="zh-CN" dirty="0">
              <a:solidFill>
                <a:srgbClr val="000000"/>
              </a:solidFill>
            </a:endParaRPr>
          </a:p>
          <a:p>
            <a:pPr algn="l" eaLnBrk="1" hangingPunct="1">
              <a:lnSpc>
                <a:spcPct val="100000"/>
              </a:lnSpc>
            </a:pPr>
            <a:r>
              <a:rPr lang="en-US" altLang="zh-CN" dirty="0">
                <a:solidFill>
                  <a:srgbClr val="000000"/>
                </a:solidFill>
              </a:rPr>
              <a:t>  a . assign ( 1 , 2 , 3 ) ; </a:t>
            </a:r>
            <a:endParaRPr lang="en-US" altLang="zh-CN" dirty="0">
              <a:solidFill>
                <a:srgbClr val="000000"/>
              </a:solidFill>
            </a:endParaRPr>
          </a:p>
          <a:p>
            <a:pPr algn="l" eaLnBrk="1" hangingPunct="1">
              <a:lnSpc>
                <a:spcPct val="100000"/>
              </a:lnSpc>
            </a:pPr>
            <a:r>
              <a:rPr lang="en-US" altLang="zh-CN" dirty="0">
                <a:solidFill>
                  <a:srgbClr val="000000"/>
                </a:solidFill>
              </a:rPr>
              <a:t>  b. assign ( 10 , 10 , 10 ) ;</a:t>
            </a:r>
            <a:endParaRPr lang="en-US" altLang="zh-CN" dirty="0">
              <a:solidFill>
                <a:srgbClr val="000000"/>
              </a:solidFill>
            </a:endParaRPr>
          </a:p>
          <a:p>
            <a:pPr algn="l" eaLnBrk="1" hangingPunct="1">
              <a:lnSpc>
                <a:spcPct val="100000"/>
              </a:lnSpc>
            </a:pPr>
            <a:r>
              <a:rPr lang="en-US" altLang="zh-CN" dirty="0">
                <a:solidFill>
                  <a:srgbClr val="000000"/>
                </a:solidFill>
              </a:rPr>
              <a:t>  ( b = a ) + + ;</a:t>
            </a:r>
            <a:endParaRPr lang="en-US" altLang="zh-CN" dirty="0">
              <a:solidFill>
                <a:srgbClr val="000000"/>
              </a:solidFill>
            </a:endParaRPr>
          </a:p>
          <a:p>
            <a:pPr algn="l" eaLnBrk="1" hangingPunct="1">
              <a:lnSpc>
                <a:spcPct val="100000"/>
              </a:lnSpc>
            </a:pPr>
            <a:r>
              <a:rPr lang="en-US" altLang="zh-CN" dirty="0">
                <a:solidFill>
                  <a:srgbClr val="000000"/>
                </a:solidFill>
              </a:rPr>
              <a:t>  a . show ( ) ;      b. show ( ) ;  return 0;</a:t>
            </a:r>
            <a:endParaRPr lang="en-US" altLang="zh-CN" dirty="0">
              <a:solidFill>
                <a:srgbClr val="000000"/>
              </a:solidFill>
            </a:endParaRPr>
          </a:p>
          <a:p>
            <a:pPr algn="l" eaLnBrk="1" hangingPunct="1">
              <a:lnSpc>
                <a:spcPct val="100000"/>
              </a:lnSpc>
            </a:pPr>
            <a:r>
              <a:rPr lang="en-US" altLang="zh-CN" dirty="0">
                <a:solidFill>
                  <a:srgbClr val="000000"/>
                </a:solidFill>
              </a:rPr>
              <a:t>}</a:t>
            </a:r>
            <a:endParaRPr lang="en-US" altLang="zh-CN" dirty="0">
              <a:solidFill>
                <a:srgbClr val="000000"/>
              </a:solidFill>
            </a:endParaRPr>
          </a:p>
        </p:txBody>
      </p:sp>
      <p:sp>
        <p:nvSpPr>
          <p:cNvPr id="61444" name="Text Box 4"/>
          <p:cNvSpPr txBox="1">
            <a:spLocks noChangeArrowheads="1"/>
          </p:cNvSpPr>
          <p:nvPr/>
        </p:nvSpPr>
        <p:spPr bwMode="auto">
          <a:xfrm>
            <a:off x="7281863" y="934820"/>
            <a:ext cx="1290637" cy="906467"/>
          </a:xfrm>
          <a:prstGeom prst="rect">
            <a:avLst/>
          </a:prstGeom>
          <a:solidFill>
            <a:srgbClr val="000000"/>
          </a:solidFill>
          <a:ln>
            <a:noFill/>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40000"/>
              </a:lnSpc>
            </a:pPr>
            <a:r>
              <a:rPr lang="en-US" altLang="zh-CN" dirty="0">
                <a:ea typeface="宋体" panose="02010600030101010101" pitchFamily="2" charset="-122"/>
              </a:rPr>
              <a:t>1 , 2 , 3</a:t>
            </a:r>
            <a:endParaRPr lang="en-US" altLang="zh-CN" dirty="0">
              <a:ea typeface="宋体" panose="02010600030101010101" pitchFamily="2" charset="-122"/>
            </a:endParaRPr>
          </a:p>
          <a:p>
            <a:pPr algn="l" eaLnBrk="1" hangingPunct="1">
              <a:lnSpc>
                <a:spcPct val="140000"/>
              </a:lnSpc>
            </a:pPr>
            <a:r>
              <a:rPr lang="en-US" altLang="zh-CN" dirty="0">
                <a:ea typeface="宋体" panose="02010600030101010101" pitchFamily="2" charset="-122"/>
              </a:rPr>
              <a:t>1 , 2 , 3</a:t>
            </a:r>
            <a:endParaRPr lang="en-US" altLang="zh-CN" dirty="0">
              <a:ea typeface="宋体" panose="02010600030101010101" pitchFamily="2" charset="-122"/>
            </a:endParaRPr>
          </a:p>
        </p:txBody>
      </p:sp>
      <p:sp>
        <p:nvSpPr>
          <p:cNvPr id="425989" name="AutoShape 5"/>
          <p:cNvSpPr>
            <a:spLocks noChangeArrowheads="1"/>
          </p:cNvSpPr>
          <p:nvPr/>
        </p:nvSpPr>
        <p:spPr bwMode="auto">
          <a:xfrm>
            <a:off x="4329112" y="4437112"/>
            <a:ext cx="4814887" cy="1295400"/>
          </a:xfrm>
          <a:prstGeom prst="wedgeEllipseCallout">
            <a:avLst>
              <a:gd name="adj1" fmla="val -79383"/>
              <a:gd name="adj2" fmla="val 48704"/>
            </a:avLst>
          </a:prstGeom>
          <a:solidFill>
            <a:srgbClr val="CC0066"/>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buFontTx/>
              <a:buAutoNum type="arabicPeriod"/>
            </a:pPr>
            <a:r>
              <a:rPr lang="en-US" altLang="zh-CN" dirty="0"/>
              <a:t> b=a</a:t>
            </a:r>
            <a:r>
              <a:rPr lang="zh-CN" altLang="en-US" dirty="0"/>
              <a:t>返回是对象值而不是引用</a:t>
            </a:r>
            <a:endParaRPr lang="zh-CN" altLang="en-US" dirty="0"/>
          </a:p>
          <a:p>
            <a:pPr algn="l" eaLnBrk="1" hangingPunct="1">
              <a:lnSpc>
                <a:spcPct val="100000"/>
              </a:lnSpc>
              <a:buFontTx/>
              <a:buAutoNum type="arabicPeriod"/>
            </a:pPr>
            <a:r>
              <a:rPr lang="zh-CN" altLang="en-US" dirty="0"/>
              <a:t> </a:t>
            </a:r>
            <a:r>
              <a:rPr lang="en-US" altLang="zh-CN" dirty="0"/>
              <a:t>++</a:t>
            </a:r>
            <a:r>
              <a:rPr lang="zh-CN" altLang="en-US" dirty="0"/>
              <a:t>重载函数是传值参数，</a:t>
            </a:r>
            <a:br>
              <a:rPr lang="zh-CN" altLang="en-US" dirty="0"/>
            </a:br>
            <a:r>
              <a:rPr lang="zh-CN" altLang="en-US" dirty="0"/>
              <a:t>   不能修改实参 </a:t>
            </a:r>
            <a:r>
              <a:rPr lang="en-US" altLang="zh-CN" dirty="0"/>
              <a:t>b</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25989"/>
                                        </p:tgtEl>
                                        <p:attrNameLst>
                                          <p:attrName>style.visibility</p:attrName>
                                        </p:attrNameLst>
                                      </p:cBhvr>
                                      <p:to>
                                        <p:strVal val="visible"/>
                                      </p:to>
                                    </p:set>
                                    <p:animEffect transition="in" filter="box(out)">
                                      <p:cBhvr>
                                        <p:cTn id="7" dur="500"/>
                                        <p:tgtEl>
                                          <p:spTgt spid="425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9"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a:t>
            </a:r>
            <a:r>
              <a:rPr lang="zh-CN" altLang="en-US" sz="4400" b="1" i="1" dirty="0" smtClean="0">
                <a:effectLst>
                  <a:outerShdw blurRad="38100" dist="38100" dir="2700000" algn="tl">
                    <a:srgbClr val="000000"/>
                  </a:outerShdw>
                </a:effectLst>
                <a:ea typeface="隶书" panose="02010509060101010101" pitchFamily="49" charset="-122"/>
                <a:cs typeface="+mj-cs"/>
              </a:rPr>
              <a:t>运算符</a:t>
            </a:r>
            <a:r>
              <a:rPr lang="zh-CN" altLang="en-US" sz="4400" b="1" i="1" dirty="0" smtClean="0">
                <a:solidFill>
                  <a:srgbClr val="FFFF00"/>
                </a:solidFill>
                <a:effectLst>
                  <a:outerShdw blurRad="38100" dist="38100" dir="2700000" algn="tl">
                    <a:srgbClr val="000000"/>
                  </a:outerShdw>
                </a:effectLst>
                <a:ea typeface="隶书" panose="02010509060101010101" pitchFamily="49" charset="-122"/>
                <a:cs typeface="+mj-cs"/>
              </a:rPr>
              <a:t>（</a:t>
            </a: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2467" name="Text Box 3"/>
          <p:cNvSpPr txBox="1">
            <a:spLocks noChangeArrowheads="1"/>
          </p:cNvSpPr>
          <p:nvPr/>
        </p:nvSpPr>
        <p:spPr bwMode="auto">
          <a:xfrm>
            <a:off x="1082675" y="1279059"/>
            <a:ext cx="7810500" cy="3970318"/>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ct val="50000"/>
              </a:spcBef>
              <a:buClr>
                <a:srgbClr val="000099"/>
              </a:buClr>
              <a:buSzPct val="65000"/>
              <a:buFont typeface="Wingdings" panose="05000000000000000000" pitchFamily="2" charset="2"/>
              <a:buChar char="u"/>
            </a:pPr>
            <a:r>
              <a:rPr lang="en-US" altLang="zh-CN" sz="2400" dirty="0">
                <a:sym typeface="Symbol" panose="05050102010706020507" pitchFamily="18" charset="2"/>
              </a:rPr>
              <a:t>  </a:t>
            </a:r>
            <a:r>
              <a:rPr lang="zh-CN" altLang="en-US" sz="2400" dirty="0">
                <a:sym typeface="Symbol" panose="05050102010706020507" pitchFamily="18" charset="2"/>
              </a:rPr>
              <a:t>重载的运算符函数 </a:t>
            </a:r>
            <a:r>
              <a:rPr lang="en-US" altLang="zh-CN" sz="2400" dirty="0">
                <a:sym typeface="Symbol" panose="05050102010706020507" pitchFamily="18" charset="2"/>
              </a:rPr>
              <a:t>operator = </a:t>
            </a:r>
            <a:r>
              <a:rPr lang="zh-CN" altLang="zh-CN" sz="2400" dirty="0">
                <a:sym typeface="Symbol" panose="05050102010706020507" pitchFamily="18" charset="2"/>
              </a:rPr>
              <a:t>不能被继承</a:t>
            </a:r>
            <a:endParaRPr lang="zh-CN" altLang="en-US" sz="2400" dirty="0"/>
          </a:p>
          <a:p>
            <a:pPr algn="l" eaLnBrk="1" hangingPunct="1">
              <a:lnSpc>
                <a:spcPct val="150000"/>
              </a:lnSpc>
              <a:spcBef>
                <a:spcPct val="50000"/>
              </a:spcBef>
              <a:buClr>
                <a:srgbClr val="000099"/>
              </a:buClr>
              <a:buSzPct val="65000"/>
              <a:buFont typeface="Wingdings" panose="05000000000000000000" pitchFamily="2" charset="2"/>
              <a:buChar char="u"/>
            </a:pPr>
            <a:r>
              <a:rPr lang="zh-CN" altLang="en-US" sz="2400" dirty="0">
                <a:solidFill>
                  <a:srgbClr val="FF3300"/>
                </a:solidFill>
                <a:sym typeface="Symbol" panose="05050102010706020507" pitchFamily="18" charset="2"/>
              </a:rPr>
              <a:t>  </a:t>
            </a:r>
            <a:r>
              <a:rPr lang="zh-CN" altLang="en-US" sz="2400" dirty="0">
                <a:sym typeface="Symbol" panose="05050102010706020507" pitchFamily="18" charset="2"/>
              </a:rPr>
              <a:t>重载的运算符函数 </a:t>
            </a:r>
            <a:r>
              <a:rPr lang="en-US" altLang="zh-CN" sz="2400" dirty="0">
                <a:sym typeface="Symbol" panose="05050102010706020507" pitchFamily="18" charset="2"/>
              </a:rPr>
              <a:t>operator = </a:t>
            </a:r>
            <a:r>
              <a:rPr lang="zh-CN" altLang="en-US" sz="2400" dirty="0">
                <a:sym typeface="Symbol" panose="05050102010706020507" pitchFamily="18" charset="2"/>
              </a:rPr>
              <a:t>必须是成员函数</a:t>
            </a:r>
            <a:endParaRPr lang="zh-CN" altLang="en-US" sz="2400" dirty="0">
              <a:sym typeface="Symbol" panose="05050102010706020507" pitchFamily="18" charset="2"/>
            </a:endParaRPr>
          </a:p>
          <a:p>
            <a:pPr algn="l" eaLnBrk="1" hangingPunct="1">
              <a:lnSpc>
                <a:spcPct val="150000"/>
              </a:lnSpc>
              <a:spcBef>
                <a:spcPct val="50000"/>
              </a:spcBef>
              <a:buClr>
                <a:srgbClr val="000099"/>
              </a:buClr>
              <a:buSzPct val="65000"/>
              <a:buFont typeface="Wingdings" panose="05000000000000000000" pitchFamily="2" charset="2"/>
              <a:buChar char="u"/>
            </a:pPr>
            <a:r>
              <a:rPr lang="zh-CN" altLang="en-US" sz="2400" dirty="0">
                <a:solidFill>
                  <a:srgbClr val="FF3300"/>
                </a:solidFill>
                <a:sym typeface="Symbol" panose="05050102010706020507" pitchFamily="18" charset="2"/>
              </a:rPr>
              <a:t>   </a:t>
            </a:r>
            <a:r>
              <a:rPr lang="zh-CN" altLang="en-US" sz="2400" dirty="0">
                <a:sym typeface="Symbol" panose="05050102010706020507" pitchFamily="18" charset="2"/>
              </a:rPr>
              <a:t>如果用户没有为类重载赋值运算符</a:t>
            </a:r>
            <a:r>
              <a:rPr lang="zh-CN" altLang="en-US" sz="2400">
                <a:sym typeface="Symbol" panose="05050102010706020507" pitchFamily="18" charset="2"/>
              </a:rPr>
              <a:t>函数</a:t>
            </a:r>
            <a:r>
              <a:rPr lang="zh-CN" altLang="en-US" sz="2400" smtClean="0">
                <a:sym typeface="Symbol" panose="05050102010706020507" pitchFamily="18" charset="2"/>
              </a:rPr>
              <a:t>，编译程序</a:t>
            </a:r>
            <a:r>
              <a:rPr lang="zh-CN" altLang="en-US" sz="2400" dirty="0">
                <a:sym typeface="Symbol" panose="05050102010706020507" pitchFamily="18" charset="2"/>
              </a:rPr>
              <a:t>将生成一个 缺省的赋值运算符。</a:t>
            </a:r>
            <a:endParaRPr lang="zh-CN" altLang="en-US" sz="2400" dirty="0">
              <a:sym typeface="Symbol" panose="05050102010706020507" pitchFamily="18" charset="2"/>
            </a:endParaRPr>
          </a:p>
          <a:p>
            <a:pPr algn="l" eaLnBrk="1" hangingPunct="1">
              <a:lnSpc>
                <a:spcPct val="150000"/>
              </a:lnSpc>
              <a:spcBef>
                <a:spcPct val="50000"/>
              </a:spcBef>
              <a:buClr>
                <a:srgbClr val="000099"/>
              </a:buClr>
              <a:buSzPct val="65000"/>
              <a:buFont typeface="Wingdings" panose="05000000000000000000" pitchFamily="2" charset="2"/>
              <a:buChar char="u"/>
            </a:pPr>
            <a:r>
              <a:rPr lang="zh-CN" altLang="en-US" sz="2400" dirty="0">
                <a:solidFill>
                  <a:srgbClr val="FF3300"/>
                </a:solidFill>
                <a:sym typeface="Symbol" panose="05050102010706020507" pitchFamily="18" charset="2"/>
              </a:rPr>
              <a:t>   </a:t>
            </a:r>
            <a:r>
              <a:rPr lang="zh-CN" altLang="en-US" sz="2400" dirty="0">
                <a:sym typeface="Symbol" panose="05050102010706020507" pitchFamily="18" charset="2"/>
              </a:rPr>
              <a:t>拷贝函数用于创建一个新对象，赋值运算符是改变一个已存在的对象的值   </a:t>
            </a:r>
            <a:endParaRPr lang="zh-CN" altLang="en-US" sz="2400" dirty="0">
              <a:sym typeface="Symbol" panose="05050102010706020507" pitchFamily="18" charset="2"/>
            </a:endParaRPr>
          </a:p>
        </p:txBody>
      </p:sp>
      <p:sp>
        <p:nvSpPr>
          <p:cNvPr id="62468" name="Rectangle 6"/>
          <p:cNvSpPr>
            <a:spLocks noChangeArrowheads="1"/>
          </p:cNvSpPr>
          <p:nvPr/>
        </p:nvSpPr>
        <p:spPr bwMode="auto">
          <a:xfrm>
            <a:off x="1049300" y="5476142"/>
            <a:ext cx="7574038"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r>
              <a:rPr lang="zh-CN" altLang="en-US" sz="2400" dirty="0">
                <a:solidFill>
                  <a:srgbClr val="FFFF00"/>
                </a:solidFill>
                <a:sym typeface="Symbol" panose="05050102010706020507" pitchFamily="18" charset="2"/>
              </a:rPr>
              <a:t>为什么重载的运算符函数 </a:t>
            </a:r>
            <a:r>
              <a:rPr lang="en-US" altLang="zh-CN" sz="2400" dirty="0">
                <a:solidFill>
                  <a:srgbClr val="FFFF00"/>
                </a:solidFill>
                <a:sym typeface="Symbol" panose="05050102010706020507" pitchFamily="18" charset="2"/>
              </a:rPr>
              <a:t>operator = </a:t>
            </a:r>
            <a:r>
              <a:rPr lang="zh-CN" altLang="en-US" sz="2400" dirty="0">
                <a:solidFill>
                  <a:srgbClr val="FFFF00"/>
                </a:solidFill>
                <a:sym typeface="Symbol" panose="05050102010706020507" pitchFamily="18" charset="2"/>
              </a:rPr>
              <a:t>必须是成员函数？</a:t>
            </a:r>
            <a:endParaRPr lang="zh-CN" altLang="en-US" sz="2400" dirty="0">
              <a:solidFill>
                <a:srgbClr val="FFFF00"/>
              </a:solidFill>
              <a:sym typeface="Symbol" panose="05050102010706020507" pitchFamily="18" charset="2"/>
            </a:endParaRPr>
          </a:p>
          <a:p>
            <a:pPr eaLnBrk="1" hangingPunct="1"/>
            <a:r>
              <a:rPr lang="zh-CN" altLang="en-US" sz="2400" dirty="0">
                <a:solidFill>
                  <a:srgbClr val="FFFF00"/>
                </a:solidFill>
                <a:sym typeface="Symbol" panose="05050102010706020507" pitchFamily="18" charset="2"/>
              </a:rPr>
              <a:t>默认赋值运算符有可能会转换为调用有参数构造函数。</a:t>
            </a:r>
            <a:endParaRPr lang="zh-CN" altLang="en-US" sz="2400" dirty="0">
              <a:solidFill>
                <a:srgbClr val="FFFF00"/>
              </a:solidFill>
              <a:sym typeface="Symbol" panose="05050102010706020507" pitchFamily="18" charset="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3491" name="Text Box 3"/>
          <p:cNvSpPr txBox="1">
            <a:spLocks noChangeArrowheads="1"/>
          </p:cNvSpPr>
          <p:nvPr/>
        </p:nvSpPr>
        <p:spPr bwMode="auto">
          <a:xfrm>
            <a:off x="1082675" y="2276475"/>
            <a:ext cx="7810500" cy="2949575"/>
          </a:xfrm>
          <a:prstGeom prst="rect">
            <a:avLst/>
          </a:prstGeom>
          <a:solidFill>
            <a:schemeClr val="bg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30000"/>
              </a:lnSpc>
              <a:spcBef>
                <a:spcPct val="50000"/>
              </a:spcBef>
              <a:buClr>
                <a:srgbClr val="000099"/>
              </a:buClr>
              <a:buSzPct val="65000"/>
              <a:buFont typeface="Wingdings" panose="05000000000000000000" pitchFamily="2" charset="2"/>
              <a:buChar char="u"/>
            </a:pPr>
            <a:r>
              <a:rPr lang="zh-CN" altLang="en-US" sz="2400" dirty="0">
                <a:sym typeface="Symbol" panose="05050102010706020507" pitchFamily="18" charset="2"/>
              </a:rPr>
              <a:t>关于指针悬挂：</a:t>
            </a:r>
            <a:br>
              <a:rPr lang="zh-CN" altLang="en-US" sz="2400" dirty="0">
                <a:sym typeface="Symbol" panose="05050102010706020507" pitchFamily="18" charset="2"/>
              </a:rPr>
            </a:br>
            <a:br>
              <a:rPr lang="zh-CN" altLang="en-US" sz="2400" dirty="0">
                <a:sym typeface="Symbol" panose="05050102010706020507" pitchFamily="18" charset="2"/>
              </a:rPr>
            </a:br>
            <a:br>
              <a:rPr lang="zh-CN" altLang="en-US" sz="2400" dirty="0">
                <a:sym typeface="Symbol" panose="05050102010706020507" pitchFamily="18" charset="2"/>
              </a:rPr>
            </a:br>
            <a:r>
              <a:rPr lang="zh-CN" altLang="en-US" sz="2400" dirty="0">
                <a:sym typeface="Symbol" panose="05050102010706020507" pitchFamily="18" charset="2"/>
              </a:rPr>
              <a:t>使用缺省的赋值运算符。对于简单的类（例如 </a:t>
            </a:r>
            <a:r>
              <a:rPr lang="en-US" altLang="zh-CN" sz="2400" dirty="0"/>
              <a:t>Complex</a:t>
            </a:r>
            <a:r>
              <a:rPr lang="en-US" altLang="zh-CN" sz="2400" dirty="0">
                <a:sym typeface="Symbol" panose="05050102010706020507" pitchFamily="18" charset="2"/>
              </a:rPr>
              <a:t> </a:t>
            </a:r>
            <a:r>
              <a:rPr lang="zh-CN" altLang="en-US" sz="2400" dirty="0">
                <a:sym typeface="Symbol" panose="05050102010706020507" pitchFamily="18" charset="2"/>
              </a:rPr>
              <a:t>），对于缺省赋值，函数工作得很好。但数据成员使用指针时，</a:t>
            </a:r>
            <a:r>
              <a:rPr lang="zh-CN" altLang="en-US" sz="2400" dirty="0" smtClean="0">
                <a:sym typeface="Symbol" panose="05050102010706020507" pitchFamily="18" charset="2"/>
              </a:rPr>
              <a:t>使用缺省赋值运算符会</a:t>
            </a:r>
            <a:r>
              <a:rPr lang="zh-CN" altLang="en-US" sz="2400" dirty="0">
                <a:sym typeface="Symbol" panose="05050102010706020507" pitchFamily="18" charset="2"/>
              </a:rPr>
              <a:t>出问题。</a:t>
            </a:r>
            <a:endParaRPr lang="zh-CN" altLang="en-US" sz="2400" dirty="0">
              <a:sym typeface="Symbol" panose="05050102010706020507" pitchFamily="18" charset="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429059" name="Text Box 3"/>
          <p:cNvSpPr txBox="1">
            <a:spLocks noChangeArrowheads="1"/>
          </p:cNvSpPr>
          <p:nvPr/>
        </p:nvSpPr>
        <p:spPr bwMode="auto">
          <a:xfrm>
            <a:off x="1082675" y="1700213"/>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dirty="0">
                <a:solidFill>
                  <a:srgbClr val="000000"/>
                </a:solidFill>
              </a:rPr>
              <a:t>考虑一个简单的类：</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class  string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a:t>
            </a:r>
            <a:r>
              <a:rPr lang="en-US" altLang="zh-CN" dirty="0" smtClean="0">
                <a:solidFill>
                  <a:srgbClr val="000000"/>
                </a:solidFill>
              </a:rPr>
              <a:t>public</a:t>
            </a:r>
            <a:r>
              <a:rPr lang="zh-CN" altLang="en-US" dirty="0" smtClean="0">
                <a:solidFill>
                  <a:srgbClr val="000000"/>
                </a:solidFill>
              </a:rPr>
              <a:t>：</a:t>
            </a:r>
            <a:r>
              <a:rPr lang="en-US" altLang="zh-CN" dirty="0" smtClean="0">
                <a:solidFill>
                  <a:srgbClr val="000000"/>
                </a:solidFill>
              </a:rPr>
              <a:t>string </a:t>
            </a:r>
            <a:r>
              <a:rPr lang="en-US" altLang="zh-CN" dirty="0">
                <a:solidFill>
                  <a:srgbClr val="000000"/>
                </a:solidFill>
              </a:rPr>
              <a:t>(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 string ( ) { delete </a:t>
            </a:r>
            <a:r>
              <a:rPr lang="en-US" altLang="zh-CN" dirty="0" smtClean="0">
                <a:solidFill>
                  <a:srgbClr val="000000"/>
                </a:solidFill>
              </a:rPr>
              <a:t>[ ]p </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zh-CN" altLang="en-US" dirty="0">
                <a:solidFill>
                  <a:srgbClr val="000000"/>
                </a:solidFill>
              </a:rPr>
              <a:t>使用该类的函数：</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void  f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s1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s2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s1 = s2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grpSp>
        <p:nvGrpSpPr>
          <p:cNvPr id="2" name="Group 20"/>
          <p:cNvGrpSpPr/>
          <p:nvPr/>
        </p:nvGrpSpPr>
        <p:grpSpPr bwMode="auto">
          <a:xfrm>
            <a:off x="5802723" y="2449178"/>
            <a:ext cx="3413125" cy="4302125"/>
            <a:chOff x="3397" y="1537"/>
            <a:chExt cx="2150" cy="2710"/>
          </a:xfrm>
        </p:grpSpPr>
        <p:grpSp>
          <p:nvGrpSpPr>
            <p:cNvPr id="64517" name="Group 4"/>
            <p:cNvGrpSpPr/>
            <p:nvPr/>
          </p:nvGrpSpPr>
          <p:grpSpPr bwMode="auto">
            <a:xfrm>
              <a:off x="4373" y="2353"/>
              <a:ext cx="912" cy="1894"/>
              <a:chOff x="3504" y="1872"/>
              <a:chExt cx="912" cy="1894"/>
            </a:xfrm>
          </p:grpSpPr>
          <p:sp>
            <p:nvSpPr>
              <p:cNvPr id="64523" name="Rectangle 5"/>
              <p:cNvSpPr>
                <a:spLocks noChangeArrowheads="1"/>
              </p:cNvSpPr>
              <p:nvPr/>
            </p:nvSpPr>
            <p:spPr bwMode="auto">
              <a:xfrm>
                <a:off x="3504" y="1872"/>
                <a:ext cx="912" cy="1894"/>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24" name="Line 6"/>
              <p:cNvSpPr>
                <a:spLocks noChangeShapeType="1"/>
              </p:cNvSpPr>
              <p:nvPr/>
            </p:nvSpPr>
            <p:spPr bwMode="auto">
              <a:xfrm>
                <a:off x="3504" y="2064"/>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5" name="Line 7"/>
              <p:cNvSpPr>
                <a:spLocks noChangeShapeType="1"/>
              </p:cNvSpPr>
              <p:nvPr/>
            </p:nvSpPr>
            <p:spPr bwMode="auto">
              <a:xfrm>
                <a:off x="3504" y="2256"/>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6" name="Line 8"/>
              <p:cNvSpPr>
                <a:spLocks noChangeShapeType="1"/>
              </p:cNvSpPr>
              <p:nvPr/>
            </p:nvSpPr>
            <p:spPr bwMode="auto">
              <a:xfrm>
                <a:off x="3504" y="2448"/>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7" name="Line 9"/>
              <p:cNvSpPr>
                <a:spLocks noChangeShapeType="1"/>
              </p:cNvSpPr>
              <p:nvPr/>
            </p:nvSpPr>
            <p:spPr bwMode="auto">
              <a:xfrm>
                <a:off x="3504" y="2640"/>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8" name="Line 10"/>
              <p:cNvSpPr>
                <a:spLocks noChangeShapeType="1"/>
              </p:cNvSpPr>
              <p:nvPr/>
            </p:nvSpPr>
            <p:spPr bwMode="auto">
              <a:xfrm>
                <a:off x="3504" y="2832"/>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9" name="Line 11"/>
              <p:cNvSpPr>
                <a:spLocks noChangeShapeType="1"/>
              </p:cNvSpPr>
              <p:nvPr/>
            </p:nvSpPr>
            <p:spPr bwMode="auto">
              <a:xfrm>
                <a:off x="3504" y="3024"/>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0" name="Line 12"/>
              <p:cNvSpPr>
                <a:spLocks noChangeShapeType="1"/>
              </p:cNvSpPr>
              <p:nvPr/>
            </p:nvSpPr>
            <p:spPr bwMode="auto">
              <a:xfrm>
                <a:off x="3504" y="3216"/>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1" name="Line 13"/>
              <p:cNvSpPr>
                <a:spLocks noChangeShapeType="1"/>
              </p:cNvSpPr>
              <p:nvPr/>
            </p:nvSpPr>
            <p:spPr bwMode="auto">
              <a:xfrm>
                <a:off x="3504" y="3408"/>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2" name="Line 14"/>
              <p:cNvSpPr>
                <a:spLocks noChangeShapeType="1"/>
              </p:cNvSpPr>
              <p:nvPr/>
            </p:nvSpPr>
            <p:spPr bwMode="auto">
              <a:xfrm>
                <a:off x="3504" y="3600"/>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4518" name="Group 15"/>
            <p:cNvGrpSpPr/>
            <p:nvPr/>
          </p:nvGrpSpPr>
          <p:grpSpPr bwMode="auto">
            <a:xfrm>
              <a:off x="3397" y="2087"/>
              <a:ext cx="976" cy="493"/>
              <a:chOff x="1592" y="1163"/>
              <a:chExt cx="976" cy="493"/>
            </a:xfrm>
          </p:grpSpPr>
          <p:sp>
            <p:nvSpPr>
              <p:cNvPr id="64520" name="Rectangle 16"/>
              <p:cNvSpPr>
                <a:spLocks noChangeArrowheads="1"/>
              </p:cNvSpPr>
              <p:nvPr/>
            </p:nvSpPr>
            <p:spPr bwMode="auto">
              <a:xfrm>
                <a:off x="1848"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21" name="Line 17"/>
              <p:cNvSpPr>
                <a:spLocks noChangeShapeType="1"/>
              </p:cNvSpPr>
              <p:nvPr/>
            </p:nvSpPr>
            <p:spPr bwMode="auto">
              <a:xfrm>
                <a:off x="2184" y="1560"/>
                <a:ext cx="384" cy="0"/>
              </a:xfrm>
              <a:prstGeom prst="line">
                <a:avLst/>
              </a:prstGeom>
              <a:noFill/>
              <a:ln w="3810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2" name="Text Box 18"/>
              <p:cNvSpPr txBox="1">
                <a:spLocks noChangeArrowheads="1"/>
              </p:cNvSpPr>
              <p:nvPr/>
            </p:nvSpPr>
            <p:spPr bwMode="auto">
              <a:xfrm>
                <a:off x="1592" y="1163"/>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en-US" altLang="zh-CN" sz="2400" dirty="0">
                    <a:solidFill>
                      <a:srgbClr val="FF0000"/>
                    </a:solidFill>
                    <a:ea typeface="宋体" panose="02010600030101010101" pitchFamily="2" charset="-122"/>
                  </a:rPr>
                  <a:t>s1.p</a:t>
                </a:r>
                <a:endParaRPr lang="en-US" altLang="zh-CN" dirty="0">
                  <a:solidFill>
                    <a:srgbClr val="FF0000"/>
                  </a:solidFill>
                  <a:ea typeface="宋体" panose="02010600030101010101" pitchFamily="2" charset="-122"/>
                </a:endParaRPr>
              </a:p>
            </p:txBody>
          </p:sp>
        </p:grpSp>
        <p:sp>
          <p:nvSpPr>
            <p:cNvPr id="64519" name="Oval 19"/>
            <p:cNvSpPr>
              <a:spLocks noChangeArrowheads="1"/>
            </p:cNvSpPr>
            <p:nvPr/>
          </p:nvSpPr>
          <p:spPr bwMode="auto">
            <a:xfrm>
              <a:off x="4181" y="1537"/>
              <a:ext cx="1366" cy="576"/>
            </a:xfrm>
            <a:prstGeom prst="ellipse">
              <a:avLst/>
            </a:prstGeom>
            <a:solidFill>
              <a:srgbClr val="DDDDDD"/>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zh-CN" altLang="en-US" sz="2400">
                  <a:solidFill>
                    <a:srgbClr val="FF0000"/>
                  </a:solidFill>
                </a:rPr>
                <a:t>调用构造函数</a:t>
              </a:r>
              <a:endParaRPr lang="zh-CN" altLang="en-US" sz="240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429059">
                                            <p:txEl>
                                              <p:pRg st="8" end="8"/>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258888" y="18864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430083" name="Text Box 3"/>
          <p:cNvSpPr txBox="1">
            <a:spLocks noChangeArrowheads="1"/>
          </p:cNvSpPr>
          <p:nvPr/>
        </p:nvSpPr>
        <p:spPr bwMode="auto">
          <a:xfrm>
            <a:off x="1082675" y="1700213"/>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dirty="0">
                <a:solidFill>
                  <a:srgbClr val="000000"/>
                </a:solidFill>
              </a:rPr>
              <a:t>考虑一个简单的类：</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class  string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public</a:t>
            </a:r>
            <a:r>
              <a:rPr lang="zh-CN" altLang="en-US" dirty="0">
                <a:solidFill>
                  <a:srgbClr val="000000"/>
                </a:solidFill>
              </a:rPr>
              <a:t>： </a:t>
            </a:r>
            <a:r>
              <a:rPr lang="en-US" altLang="zh-CN" dirty="0" smtClean="0">
                <a:solidFill>
                  <a:srgbClr val="000000"/>
                </a:solidFill>
              </a:rPr>
              <a:t>string </a:t>
            </a:r>
            <a:r>
              <a:rPr lang="en-US" altLang="zh-CN" dirty="0">
                <a:solidFill>
                  <a:srgbClr val="000000"/>
                </a:solidFill>
              </a:rPr>
              <a:t>(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 string ( ) { delete </a:t>
            </a:r>
            <a:r>
              <a:rPr lang="en-US" altLang="zh-CN" dirty="0" smtClean="0">
                <a:solidFill>
                  <a:srgbClr val="000000"/>
                </a:solidFill>
              </a:rPr>
              <a:t>[ ]p </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zh-CN" altLang="en-US" dirty="0">
                <a:solidFill>
                  <a:srgbClr val="000000"/>
                </a:solidFill>
              </a:rPr>
              <a:t>使用该类的函数：</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void  f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s1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s2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s1 = s2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grpSp>
        <p:nvGrpSpPr>
          <p:cNvPr id="65540" name="Group 21"/>
          <p:cNvGrpSpPr/>
          <p:nvPr/>
        </p:nvGrpSpPr>
        <p:grpSpPr bwMode="auto">
          <a:xfrm>
            <a:off x="4852988" y="4078288"/>
            <a:ext cx="1447800" cy="2806700"/>
            <a:chOff x="3504" y="1872"/>
            <a:chExt cx="912" cy="1894"/>
          </a:xfrm>
          <a:solidFill>
            <a:srgbClr val="2F2FC5"/>
          </a:solidFill>
        </p:grpSpPr>
        <p:sp>
          <p:nvSpPr>
            <p:cNvPr id="65561" name="Rectangle 22"/>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62" name="Line 23"/>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5563" name="Line 24"/>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5564" name="Line 25"/>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5565" name="Line 26"/>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5566" name="Line 27"/>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5567" name="Line 28"/>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5568" name="Line 29"/>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5569" name="Line 30"/>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5570" name="Line 31"/>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5541" name="Group 32"/>
          <p:cNvGrpSpPr/>
          <p:nvPr/>
        </p:nvGrpSpPr>
        <p:grpSpPr bwMode="auto">
          <a:xfrm>
            <a:off x="3303588" y="3487738"/>
            <a:ext cx="1549400" cy="733425"/>
            <a:chOff x="1592" y="1161"/>
            <a:chExt cx="976" cy="495"/>
          </a:xfrm>
        </p:grpSpPr>
        <p:sp>
          <p:nvSpPr>
            <p:cNvPr id="65558" name="Rectangle 33"/>
            <p:cNvSpPr>
              <a:spLocks noChangeArrowheads="1"/>
            </p:cNvSpPr>
            <p:nvPr/>
          </p:nvSpPr>
          <p:spPr bwMode="auto">
            <a:xfrm>
              <a:off x="1848"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59" name="Line 34"/>
            <p:cNvSpPr>
              <a:spLocks noChangeShapeType="1"/>
            </p:cNvSpPr>
            <p:nvPr/>
          </p:nvSpPr>
          <p:spPr bwMode="auto">
            <a:xfrm>
              <a:off x="2184"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15" name="Text Box 35"/>
            <p:cNvSpPr txBox="1">
              <a:spLocks noChangeArrowheads="1"/>
            </p:cNvSpPr>
            <p:nvPr/>
          </p:nvSpPr>
          <p:spPr bwMode="auto">
            <a:xfrm>
              <a:off x="1592" y="1161"/>
              <a:ext cx="442" cy="309"/>
            </a:xfrm>
            <a:prstGeom prst="rect">
              <a:avLst/>
            </a:prstGeom>
            <a:noFill/>
            <a:ln w="9525">
              <a:noFill/>
              <a:miter lim="800000"/>
            </a:ln>
            <a:effectLst/>
          </p:spPr>
          <p:txBody>
            <a:bodyPr wrap="none">
              <a:spAutoFit/>
            </a:bodyPr>
            <a:lstStyle/>
            <a:p>
              <a:pPr algn="ctr">
                <a:lnSpc>
                  <a:spcPct val="100000"/>
                </a:lnSpc>
                <a:defRPr/>
              </a:pPr>
              <a:r>
                <a:rPr lang="en-US" altLang="zh-CN" sz="2400" b="1" dirty="0">
                  <a:solidFill>
                    <a:srgbClr val="FF0000"/>
                  </a:solidFill>
                  <a:effectLst>
                    <a:outerShdw blurRad="38100" dist="38100" dir="2700000" algn="tl">
                      <a:srgbClr val="C0C0C0"/>
                    </a:outerShdw>
                  </a:effectLst>
                </a:rPr>
                <a:t>s1.p</a:t>
              </a:r>
              <a:endParaRPr lang="en-US" altLang="zh-CN" b="1" dirty="0">
                <a:solidFill>
                  <a:srgbClr val="FF0000"/>
                </a:solidFill>
                <a:effectLst>
                  <a:outerShdw blurRad="38100" dist="38100" dir="2700000" algn="tl">
                    <a:srgbClr val="C0C0C0"/>
                  </a:outerShdw>
                </a:effectLst>
              </a:endParaRPr>
            </a:p>
          </p:txBody>
        </p:sp>
      </p:grpSp>
      <p:grpSp>
        <p:nvGrpSpPr>
          <p:cNvPr id="4" name="Group 36"/>
          <p:cNvGrpSpPr/>
          <p:nvPr/>
        </p:nvGrpSpPr>
        <p:grpSpPr bwMode="auto">
          <a:xfrm>
            <a:off x="7661275" y="3735388"/>
            <a:ext cx="1447800" cy="3006725"/>
            <a:chOff x="3504" y="1872"/>
            <a:chExt cx="912" cy="1894"/>
          </a:xfrm>
          <a:solidFill>
            <a:srgbClr val="2F2FC5"/>
          </a:solidFill>
        </p:grpSpPr>
        <p:sp>
          <p:nvSpPr>
            <p:cNvPr id="65548" name="Rectangle 37"/>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9" name="Line 38"/>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5550" name="Line 39"/>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5551" name="Line 40"/>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5552" name="Line 41"/>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5553" name="Line 42"/>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5554" name="Line 43"/>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5555" name="Line 44"/>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5556" name="Line 45"/>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5557" name="Line 46"/>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5" name="Group 47"/>
          <p:cNvGrpSpPr/>
          <p:nvPr/>
        </p:nvGrpSpPr>
        <p:grpSpPr bwMode="auto">
          <a:xfrm>
            <a:off x="6111875" y="3306763"/>
            <a:ext cx="1549400" cy="771525"/>
            <a:chOff x="3488" y="1170"/>
            <a:chExt cx="976" cy="486"/>
          </a:xfrm>
        </p:grpSpPr>
        <p:sp>
          <p:nvSpPr>
            <p:cNvPr id="65545" name="Rectangle 48"/>
            <p:cNvSpPr>
              <a:spLocks noChangeArrowheads="1"/>
            </p:cNvSpPr>
            <p:nvPr/>
          </p:nvSpPr>
          <p:spPr bwMode="auto">
            <a:xfrm>
              <a:off x="3744"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6" name="Line 49"/>
            <p:cNvSpPr>
              <a:spLocks noChangeShapeType="1"/>
            </p:cNvSpPr>
            <p:nvPr/>
          </p:nvSpPr>
          <p:spPr bwMode="auto">
            <a:xfrm>
              <a:off x="4080"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7" name="Text Box 50"/>
            <p:cNvSpPr txBox="1">
              <a:spLocks noChangeArrowheads="1"/>
            </p:cNvSpPr>
            <p:nvPr/>
          </p:nvSpPr>
          <p:spPr bwMode="auto">
            <a:xfrm>
              <a:off x="3488" y="1170"/>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en-US" altLang="zh-CN" sz="2400">
                  <a:solidFill>
                    <a:srgbClr val="000099"/>
                  </a:solidFill>
                </a:rPr>
                <a:t>s2.p</a:t>
              </a:r>
              <a:endParaRPr lang="en-US" altLang="zh-CN">
                <a:solidFill>
                  <a:srgbClr val="000099"/>
                </a:solidFill>
              </a:endParaRPr>
            </a:p>
          </p:txBody>
        </p:sp>
      </p:grpSp>
      <p:sp>
        <p:nvSpPr>
          <p:cNvPr id="430131" name="Oval 51"/>
          <p:cNvSpPr>
            <a:spLocks noChangeArrowheads="1"/>
          </p:cNvSpPr>
          <p:nvPr/>
        </p:nvSpPr>
        <p:spPr bwMode="auto">
          <a:xfrm>
            <a:off x="6999288" y="2298700"/>
            <a:ext cx="2036762" cy="914400"/>
          </a:xfrm>
          <a:prstGeom prst="ellipse">
            <a:avLst/>
          </a:prstGeom>
          <a:solidFill>
            <a:srgbClr val="CC99FF"/>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zh-CN" altLang="en-US" sz="2400">
                <a:solidFill>
                  <a:srgbClr val="FF0000"/>
                </a:solidFill>
              </a:rPr>
              <a:t>调用构造函数</a:t>
            </a:r>
            <a:endParaRPr lang="zh-CN" altLang="en-US" sz="24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430083">
                                            <p:txEl>
                                              <p:pRg st="9" end="9"/>
                                            </p:txEl>
                                          </p:spTgt>
                                        </p:tgtEl>
                                        <p:attrNameLst>
                                          <p:attrName>style.color</p:attrName>
                                        </p:attrNameLst>
                                      </p:cBhvr>
                                      <p:to>
                                        <a:srgbClr val="000099"/>
                                      </p:to>
                                    </p:animClr>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430131"/>
                                        </p:tgtEl>
                                        <p:attrNameLst>
                                          <p:attrName>style.visibility</p:attrName>
                                        </p:attrNameLst>
                                      </p:cBhvr>
                                      <p:to>
                                        <p:strVal val="visible"/>
                                      </p:to>
                                    </p:set>
                                    <p:animEffect transition="in" filter="box(in)">
                                      <p:cBhvr>
                                        <p:cTn id="11" dur="500"/>
                                        <p:tgtEl>
                                          <p:spTgt spid="430131"/>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ppt_x</p:attrName>
                                        </p:attrNameLst>
                                      </p:cBhvr>
                                      <p:tavLst>
                                        <p:tav tm="0">
                                          <p:val>
                                            <p:strVal val="#ppt_x-#ppt_w/2"/>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1"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1258888" y="44624"/>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431107" name="Text Box 3"/>
          <p:cNvSpPr txBox="1">
            <a:spLocks noChangeArrowheads="1"/>
          </p:cNvSpPr>
          <p:nvPr/>
        </p:nvSpPr>
        <p:spPr bwMode="auto">
          <a:xfrm>
            <a:off x="1082675" y="1700213"/>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dirty="0">
                <a:solidFill>
                  <a:srgbClr val="000000"/>
                </a:solidFill>
              </a:rPr>
              <a:t>考虑一个简单的类：</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class  string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public</a:t>
            </a:r>
            <a:r>
              <a:rPr lang="zh-CN" altLang="en-US" dirty="0">
                <a:solidFill>
                  <a:srgbClr val="000000"/>
                </a:solidFill>
              </a:rPr>
              <a:t>：</a:t>
            </a:r>
            <a:r>
              <a:rPr lang="en-US" altLang="zh-CN" dirty="0" smtClean="0">
                <a:solidFill>
                  <a:srgbClr val="000000"/>
                </a:solidFill>
              </a:rPr>
              <a:t> </a:t>
            </a:r>
            <a:r>
              <a:rPr lang="en-US" altLang="zh-CN" dirty="0">
                <a:solidFill>
                  <a:srgbClr val="000000"/>
                </a:solidFill>
              </a:rPr>
              <a:t>string (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 string ( ) { delete </a:t>
            </a:r>
            <a:r>
              <a:rPr lang="en-US" altLang="zh-CN" dirty="0" smtClean="0">
                <a:solidFill>
                  <a:srgbClr val="000000"/>
                </a:solidFill>
              </a:rPr>
              <a:t>[ ]p </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zh-CN" altLang="en-US" dirty="0">
                <a:solidFill>
                  <a:srgbClr val="000000"/>
                </a:solidFill>
              </a:rPr>
              <a:t>使用该类的函数：</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void  f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s1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s2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s1 = s2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grpSp>
        <p:nvGrpSpPr>
          <p:cNvPr id="66564" name="Group 4"/>
          <p:cNvGrpSpPr/>
          <p:nvPr/>
        </p:nvGrpSpPr>
        <p:grpSpPr bwMode="auto">
          <a:xfrm>
            <a:off x="4852988" y="4078288"/>
            <a:ext cx="1447800" cy="2806700"/>
            <a:chOff x="3504" y="1872"/>
            <a:chExt cx="912" cy="1894"/>
          </a:xfrm>
          <a:solidFill>
            <a:srgbClr val="2F2FC5"/>
          </a:solidFill>
        </p:grpSpPr>
        <p:sp>
          <p:nvSpPr>
            <p:cNvPr id="66585" name="Rectangle 5"/>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6586" name="Line 6"/>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6587" name="Line 7"/>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6588" name="Line 8"/>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6589" name="Line 9"/>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6590" name="Line 10"/>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6591" name="Line 11"/>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6592" name="Line 12"/>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6593" name="Line 13"/>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6594" name="Line 14"/>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6565" name="Group 15"/>
          <p:cNvGrpSpPr/>
          <p:nvPr/>
        </p:nvGrpSpPr>
        <p:grpSpPr bwMode="auto">
          <a:xfrm>
            <a:off x="3303588" y="3559175"/>
            <a:ext cx="1549400" cy="733425"/>
            <a:chOff x="1592" y="1161"/>
            <a:chExt cx="976" cy="495"/>
          </a:xfrm>
        </p:grpSpPr>
        <p:sp>
          <p:nvSpPr>
            <p:cNvPr id="66582" name="Rectangle 16"/>
            <p:cNvSpPr>
              <a:spLocks noChangeArrowheads="1"/>
            </p:cNvSpPr>
            <p:nvPr/>
          </p:nvSpPr>
          <p:spPr bwMode="auto">
            <a:xfrm>
              <a:off x="1848"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6583" name="Line 17"/>
            <p:cNvSpPr>
              <a:spLocks noChangeShapeType="1"/>
            </p:cNvSpPr>
            <p:nvPr/>
          </p:nvSpPr>
          <p:spPr bwMode="auto">
            <a:xfrm>
              <a:off x="2184"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ln>
                  <a:solidFill>
                    <a:sysClr val="windowText" lastClr="000000"/>
                  </a:solidFill>
                </a:ln>
              </a:endParaRPr>
            </a:p>
          </p:txBody>
        </p:sp>
        <p:sp>
          <p:nvSpPr>
            <p:cNvPr id="431122" name="Text Box 18"/>
            <p:cNvSpPr txBox="1">
              <a:spLocks noChangeArrowheads="1"/>
            </p:cNvSpPr>
            <p:nvPr/>
          </p:nvSpPr>
          <p:spPr bwMode="auto">
            <a:xfrm>
              <a:off x="1592" y="1161"/>
              <a:ext cx="442" cy="309"/>
            </a:xfrm>
            <a:prstGeom prst="rect">
              <a:avLst/>
            </a:prstGeom>
            <a:noFill/>
            <a:ln w="9525">
              <a:noFill/>
              <a:miter lim="800000"/>
            </a:ln>
            <a:effectLst/>
          </p:spPr>
          <p:txBody>
            <a:bodyPr wrap="none">
              <a:spAutoFit/>
            </a:bodyPr>
            <a:lstStyle/>
            <a:p>
              <a:pPr algn="ctr">
                <a:lnSpc>
                  <a:spcPct val="100000"/>
                </a:lnSpc>
                <a:defRPr/>
              </a:pPr>
              <a:r>
                <a:rPr lang="en-US" altLang="zh-CN" sz="2400" dirty="0">
                  <a:solidFill>
                    <a:srgbClr val="FF0000"/>
                  </a:solidFill>
                  <a:effectLst>
                    <a:outerShdw blurRad="38100" dist="38100" dir="2700000" algn="tl">
                      <a:srgbClr val="C0C0C0"/>
                    </a:outerShdw>
                  </a:effectLst>
                </a:rPr>
                <a:t>s1.p</a:t>
              </a:r>
              <a:endParaRPr lang="en-US" altLang="zh-CN" dirty="0">
                <a:solidFill>
                  <a:srgbClr val="FF0000"/>
                </a:solidFill>
                <a:effectLst>
                  <a:outerShdw blurRad="38100" dist="38100" dir="2700000" algn="tl">
                    <a:srgbClr val="C0C0C0"/>
                  </a:outerShdw>
                </a:effectLst>
              </a:endParaRPr>
            </a:p>
          </p:txBody>
        </p:sp>
      </p:grpSp>
      <p:grpSp>
        <p:nvGrpSpPr>
          <p:cNvPr id="66566" name="Group 19"/>
          <p:cNvGrpSpPr/>
          <p:nvPr/>
        </p:nvGrpSpPr>
        <p:grpSpPr bwMode="auto">
          <a:xfrm>
            <a:off x="7661275" y="4078288"/>
            <a:ext cx="1447800" cy="2663825"/>
            <a:chOff x="3504" y="1872"/>
            <a:chExt cx="912" cy="1894"/>
          </a:xfrm>
          <a:solidFill>
            <a:srgbClr val="2F2FC5"/>
          </a:solidFill>
        </p:grpSpPr>
        <p:sp>
          <p:nvSpPr>
            <p:cNvPr id="66572" name="Rectangle 20"/>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6573" name="Line 21"/>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6574" name="Line 22"/>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6575" name="Line 23"/>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6576" name="Line 24"/>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6577" name="Line 25"/>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6578" name="Line 26"/>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6579" name="Line 27"/>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6580" name="Line 28"/>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6581" name="Line 29"/>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6567" name="Group 30"/>
          <p:cNvGrpSpPr/>
          <p:nvPr/>
        </p:nvGrpSpPr>
        <p:grpSpPr bwMode="auto">
          <a:xfrm>
            <a:off x="6111875" y="3681413"/>
            <a:ext cx="1549400" cy="684212"/>
            <a:chOff x="3488" y="1170"/>
            <a:chExt cx="976" cy="486"/>
          </a:xfrm>
        </p:grpSpPr>
        <p:sp>
          <p:nvSpPr>
            <p:cNvPr id="66569" name="Rectangle 31"/>
            <p:cNvSpPr>
              <a:spLocks noChangeArrowheads="1"/>
            </p:cNvSpPr>
            <p:nvPr/>
          </p:nvSpPr>
          <p:spPr bwMode="auto">
            <a:xfrm>
              <a:off x="3744"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6570" name="Line 32"/>
            <p:cNvSpPr>
              <a:spLocks noChangeShapeType="1"/>
            </p:cNvSpPr>
            <p:nvPr/>
          </p:nvSpPr>
          <p:spPr bwMode="auto">
            <a:xfrm>
              <a:off x="4080"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1" name="Text Box 33"/>
            <p:cNvSpPr txBox="1">
              <a:spLocks noChangeArrowheads="1"/>
            </p:cNvSpPr>
            <p:nvPr/>
          </p:nvSpPr>
          <p:spPr bwMode="auto">
            <a:xfrm>
              <a:off x="3488" y="1170"/>
              <a:ext cx="44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en-US" altLang="zh-CN" sz="2400">
                  <a:solidFill>
                    <a:srgbClr val="000099"/>
                  </a:solidFill>
                </a:rPr>
                <a:t>s2.p</a:t>
              </a:r>
              <a:endParaRPr lang="en-US" altLang="zh-CN">
                <a:solidFill>
                  <a:srgbClr val="000099"/>
                </a:solidFill>
              </a:endParaRPr>
            </a:p>
          </p:txBody>
        </p:sp>
      </p:grpSp>
      <p:sp>
        <p:nvSpPr>
          <p:cNvPr id="431139" name="Oval 35"/>
          <p:cNvSpPr>
            <a:spLocks noChangeArrowheads="1"/>
          </p:cNvSpPr>
          <p:nvPr/>
        </p:nvSpPr>
        <p:spPr bwMode="auto">
          <a:xfrm>
            <a:off x="4852988" y="1403350"/>
            <a:ext cx="4191000" cy="1447800"/>
          </a:xfrm>
          <a:prstGeom prst="ellipse">
            <a:avLst/>
          </a:prstGeom>
          <a:solidFill>
            <a:srgbClr val="DDDDDD"/>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5000"/>
              </a:lnSpc>
            </a:pPr>
            <a:r>
              <a:rPr lang="zh-CN" altLang="en-US" sz="2400">
                <a:solidFill>
                  <a:srgbClr val="FF0000"/>
                </a:solidFill>
              </a:rPr>
              <a:t>把  </a:t>
            </a:r>
            <a:r>
              <a:rPr lang="en-US" altLang="zh-CN" sz="2400">
                <a:solidFill>
                  <a:srgbClr val="FF0000"/>
                </a:solidFill>
              </a:rPr>
              <a:t>s2</a:t>
            </a:r>
            <a:r>
              <a:rPr lang="zh-CN" altLang="zh-CN" sz="2400">
                <a:solidFill>
                  <a:srgbClr val="FF0000"/>
                </a:solidFill>
              </a:rPr>
              <a:t>的</a:t>
            </a:r>
            <a:r>
              <a:rPr lang="zh-CN" altLang="en-US" sz="2400">
                <a:solidFill>
                  <a:srgbClr val="FF0000"/>
                </a:solidFill>
              </a:rPr>
              <a:t>指针 </a:t>
            </a:r>
            <a:r>
              <a:rPr lang="en-US" altLang="zh-CN" sz="2400">
                <a:solidFill>
                  <a:srgbClr val="FF0000"/>
                </a:solidFill>
              </a:rPr>
              <a:t>p </a:t>
            </a:r>
            <a:r>
              <a:rPr lang="zh-CN" altLang="en-US" sz="2400">
                <a:solidFill>
                  <a:srgbClr val="FF0000"/>
                </a:solidFill>
              </a:rPr>
              <a:t>和整型量</a:t>
            </a:r>
            <a:br>
              <a:rPr lang="zh-CN" altLang="en-US" sz="2400">
                <a:solidFill>
                  <a:srgbClr val="FF0000"/>
                </a:solidFill>
              </a:rPr>
            </a:br>
            <a:r>
              <a:rPr lang="zh-CN" altLang="en-US" sz="2400">
                <a:solidFill>
                  <a:srgbClr val="FF0000"/>
                </a:solidFill>
              </a:rPr>
              <a:t> </a:t>
            </a:r>
            <a:r>
              <a:rPr lang="en-US" altLang="zh-CN" sz="2400">
                <a:solidFill>
                  <a:srgbClr val="FF0000"/>
                </a:solidFill>
              </a:rPr>
              <a:t>size</a:t>
            </a:r>
            <a:r>
              <a:rPr lang="zh-CN" altLang="zh-CN" sz="2400">
                <a:solidFill>
                  <a:srgbClr val="FF0000"/>
                </a:solidFill>
              </a:rPr>
              <a:t>的</a:t>
            </a:r>
            <a:r>
              <a:rPr lang="zh-CN" altLang="en-US" sz="2400">
                <a:solidFill>
                  <a:srgbClr val="FF0000"/>
                </a:solidFill>
              </a:rPr>
              <a:t>值拷贝到 </a:t>
            </a:r>
            <a:r>
              <a:rPr lang="en-US" altLang="zh-CN" sz="2400">
                <a:solidFill>
                  <a:srgbClr val="FF0000"/>
                </a:solidFill>
              </a:rPr>
              <a:t>s1</a:t>
            </a:r>
            <a:endParaRPr lang="en-US" altLang="zh-CN" sz="24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431107">
                                            <p:txEl>
                                              <p:pRg st="10" end="10"/>
                                            </p:txEl>
                                          </p:spTgt>
                                        </p:tgtEl>
                                        <p:attrNameLst>
                                          <p:attrName>style.color</p:attrName>
                                        </p:attrNameLst>
                                      </p:cBhvr>
                                      <p:to>
                                        <a:schemeClr val="hlink"/>
                                      </p:to>
                                    </p:animClr>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431139"/>
                                        </p:tgtEl>
                                        <p:attrNameLst>
                                          <p:attrName>style.visibility</p:attrName>
                                        </p:attrNameLst>
                                      </p:cBhvr>
                                      <p:to>
                                        <p:strVal val="visible"/>
                                      </p:to>
                                    </p:set>
                                    <p:animEffect transition="in" filter="box(in)">
                                      <p:cBhvr>
                                        <p:cTn id="11" dur="500"/>
                                        <p:tgtEl>
                                          <p:spTgt spid="43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39"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1268016" y="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7587" name="Text Box 3"/>
          <p:cNvSpPr txBox="1">
            <a:spLocks noChangeArrowheads="1"/>
          </p:cNvSpPr>
          <p:nvPr/>
        </p:nvSpPr>
        <p:spPr bwMode="auto">
          <a:xfrm>
            <a:off x="1082675" y="1700213"/>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dirty="0">
                <a:solidFill>
                  <a:srgbClr val="000000"/>
                </a:solidFill>
              </a:rPr>
              <a:t>考虑一个简单的类：</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class  string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public</a:t>
            </a:r>
            <a:r>
              <a:rPr lang="zh-CN" altLang="en-US" dirty="0">
                <a:solidFill>
                  <a:srgbClr val="000000"/>
                </a:solidFill>
              </a:rPr>
              <a:t>： </a:t>
            </a:r>
            <a:r>
              <a:rPr lang="en-US" altLang="zh-CN" dirty="0" smtClean="0">
                <a:solidFill>
                  <a:srgbClr val="000000"/>
                </a:solidFill>
              </a:rPr>
              <a:t>string </a:t>
            </a:r>
            <a:r>
              <a:rPr lang="en-US" altLang="zh-CN" dirty="0">
                <a:solidFill>
                  <a:srgbClr val="000000"/>
                </a:solidFill>
              </a:rPr>
              <a:t>(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 string ( ) { </a:t>
            </a:r>
            <a:r>
              <a:rPr lang="en-US" altLang="zh-CN" dirty="0" smtClean="0">
                <a:solidFill>
                  <a:srgbClr val="000000"/>
                </a:solidFill>
              </a:rPr>
              <a:t>delete [ ]p </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zh-CN" altLang="en-US" dirty="0">
                <a:solidFill>
                  <a:srgbClr val="000000"/>
                </a:solidFill>
              </a:rPr>
              <a:t>使用该类的函数：</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void  f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s1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s2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s1 = s2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grpSp>
        <p:nvGrpSpPr>
          <p:cNvPr id="67588" name="Group 4"/>
          <p:cNvGrpSpPr/>
          <p:nvPr/>
        </p:nvGrpSpPr>
        <p:grpSpPr bwMode="auto">
          <a:xfrm>
            <a:off x="4852988" y="4078288"/>
            <a:ext cx="1447800" cy="2806700"/>
            <a:chOff x="3504" y="1872"/>
            <a:chExt cx="912" cy="1894"/>
          </a:xfrm>
          <a:solidFill>
            <a:srgbClr val="CC0066"/>
          </a:solidFill>
        </p:grpSpPr>
        <p:sp>
          <p:nvSpPr>
            <p:cNvPr id="67611" name="Rectangle 5"/>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7612" name="Line 6"/>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7613" name="Line 7"/>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7614" name="Line 8"/>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7615" name="Line 9"/>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7616" name="Line 10"/>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7617" name="Line 11"/>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7618" name="Line 12"/>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7619" name="Line 13"/>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7620" name="Line 14"/>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7589" name="Group 19"/>
          <p:cNvGrpSpPr/>
          <p:nvPr/>
        </p:nvGrpSpPr>
        <p:grpSpPr bwMode="auto">
          <a:xfrm>
            <a:off x="7661275" y="4078288"/>
            <a:ext cx="1447800" cy="2663825"/>
            <a:chOff x="3504" y="1872"/>
            <a:chExt cx="912" cy="1894"/>
          </a:xfrm>
        </p:grpSpPr>
        <p:sp>
          <p:nvSpPr>
            <p:cNvPr id="67601" name="Rectangle 20"/>
            <p:cNvSpPr>
              <a:spLocks noChangeArrowheads="1"/>
            </p:cNvSpPr>
            <p:nvPr/>
          </p:nvSpPr>
          <p:spPr bwMode="auto">
            <a:xfrm>
              <a:off x="3504" y="1872"/>
              <a:ext cx="912" cy="1894"/>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7602" name="Line 21"/>
            <p:cNvSpPr>
              <a:spLocks noChangeShapeType="1"/>
            </p:cNvSpPr>
            <p:nvPr/>
          </p:nvSpPr>
          <p:spPr bwMode="auto">
            <a:xfrm>
              <a:off x="3504" y="2064"/>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2"/>
            <p:cNvSpPr>
              <a:spLocks noChangeShapeType="1"/>
            </p:cNvSpPr>
            <p:nvPr/>
          </p:nvSpPr>
          <p:spPr bwMode="auto">
            <a:xfrm>
              <a:off x="3504" y="2256"/>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3"/>
            <p:cNvSpPr>
              <a:spLocks noChangeShapeType="1"/>
            </p:cNvSpPr>
            <p:nvPr/>
          </p:nvSpPr>
          <p:spPr bwMode="auto">
            <a:xfrm>
              <a:off x="3504" y="2448"/>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Line 24"/>
            <p:cNvSpPr>
              <a:spLocks noChangeShapeType="1"/>
            </p:cNvSpPr>
            <p:nvPr/>
          </p:nvSpPr>
          <p:spPr bwMode="auto">
            <a:xfrm>
              <a:off x="3504" y="2640"/>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25"/>
            <p:cNvSpPr>
              <a:spLocks noChangeShapeType="1"/>
            </p:cNvSpPr>
            <p:nvPr/>
          </p:nvSpPr>
          <p:spPr bwMode="auto">
            <a:xfrm>
              <a:off x="3504" y="2832"/>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6"/>
            <p:cNvSpPr>
              <a:spLocks noChangeShapeType="1"/>
            </p:cNvSpPr>
            <p:nvPr/>
          </p:nvSpPr>
          <p:spPr bwMode="auto">
            <a:xfrm>
              <a:off x="3504" y="3024"/>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7"/>
            <p:cNvSpPr>
              <a:spLocks noChangeShapeType="1"/>
            </p:cNvSpPr>
            <p:nvPr/>
          </p:nvSpPr>
          <p:spPr bwMode="auto">
            <a:xfrm>
              <a:off x="3504" y="3216"/>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8"/>
            <p:cNvSpPr>
              <a:spLocks noChangeShapeType="1"/>
            </p:cNvSpPr>
            <p:nvPr/>
          </p:nvSpPr>
          <p:spPr bwMode="auto">
            <a:xfrm>
              <a:off x="3504" y="3408"/>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29"/>
            <p:cNvSpPr>
              <a:spLocks noChangeShapeType="1"/>
            </p:cNvSpPr>
            <p:nvPr/>
          </p:nvSpPr>
          <p:spPr bwMode="auto">
            <a:xfrm>
              <a:off x="3504" y="3600"/>
              <a:ext cx="9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7590" name="Group 30"/>
          <p:cNvGrpSpPr/>
          <p:nvPr/>
        </p:nvGrpSpPr>
        <p:grpSpPr bwMode="auto">
          <a:xfrm>
            <a:off x="6111875" y="3608388"/>
            <a:ext cx="1549400" cy="684212"/>
            <a:chOff x="3488" y="1170"/>
            <a:chExt cx="976" cy="486"/>
          </a:xfrm>
        </p:grpSpPr>
        <p:sp>
          <p:nvSpPr>
            <p:cNvPr id="67598" name="Rectangle 31"/>
            <p:cNvSpPr>
              <a:spLocks noChangeArrowheads="1"/>
            </p:cNvSpPr>
            <p:nvPr/>
          </p:nvSpPr>
          <p:spPr bwMode="auto">
            <a:xfrm>
              <a:off x="3744"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7599" name="Line 32"/>
            <p:cNvSpPr>
              <a:spLocks noChangeShapeType="1"/>
            </p:cNvSpPr>
            <p:nvPr/>
          </p:nvSpPr>
          <p:spPr bwMode="auto">
            <a:xfrm>
              <a:off x="4080"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0" name="Text Box 33"/>
            <p:cNvSpPr txBox="1">
              <a:spLocks noChangeArrowheads="1"/>
            </p:cNvSpPr>
            <p:nvPr/>
          </p:nvSpPr>
          <p:spPr bwMode="auto">
            <a:xfrm>
              <a:off x="3488" y="1170"/>
              <a:ext cx="44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en-US" altLang="zh-CN" sz="2400">
                  <a:solidFill>
                    <a:srgbClr val="000099"/>
                  </a:solidFill>
                </a:rPr>
                <a:t>s2.p</a:t>
              </a:r>
              <a:endParaRPr lang="en-US" altLang="zh-CN">
                <a:solidFill>
                  <a:srgbClr val="000099"/>
                </a:solidFill>
              </a:endParaRPr>
            </a:p>
          </p:txBody>
        </p:sp>
      </p:grpSp>
      <p:sp>
        <p:nvSpPr>
          <p:cNvPr id="67591" name="Oval 34"/>
          <p:cNvSpPr>
            <a:spLocks noChangeArrowheads="1"/>
          </p:cNvSpPr>
          <p:nvPr/>
        </p:nvSpPr>
        <p:spPr bwMode="auto">
          <a:xfrm>
            <a:off x="4852988" y="1403350"/>
            <a:ext cx="4191000" cy="1447800"/>
          </a:xfrm>
          <a:prstGeom prst="ellipse">
            <a:avLst/>
          </a:prstGeom>
          <a:solidFill>
            <a:srgbClr val="DDDDDD"/>
          </a:solidFill>
          <a:ln w="9525">
            <a:solidFill>
              <a:schemeClr val="tx1"/>
            </a:solidFill>
            <a:round/>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5000"/>
              </a:lnSpc>
            </a:pPr>
            <a:r>
              <a:rPr lang="zh-CN" altLang="en-US" sz="2400" dirty="0">
                <a:solidFill>
                  <a:srgbClr val="FF0000"/>
                </a:solidFill>
              </a:rPr>
              <a:t>把  </a:t>
            </a:r>
            <a:r>
              <a:rPr lang="en-US" altLang="zh-CN" sz="2400" dirty="0">
                <a:solidFill>
                  <a:srgbClr val="FF0000"/>
                </a:solidFill>
              </a:rPr>
              <a:t>s2</a:t>
            </a:r>
            <a:r>
              <a:rPr lang="zh-CN" altLang="zh-CN" sz="2400" dirty="0">
                <a:solidFill>
                  <a:srgbClr val="FF0000"/>
                </a:solidFill>
              </a:rPr>
              <a:t>的</a:t>
            </a:r>
            <a:r>
              <a:rPr lang="zh-CN" altLang="en-US" sz="2400" dirty="0">
                <a:solidFill>
                  <a:srgbClr val="FF0000"/>
                </a:solidFill>
              </a:rPr>
              <a:t>指针 </a:t>
            </a:r>
            <a:r>
              <a:rPr lang="en-US" altLang="zh-CN" sz="2400" dirty="0">
                <a:solidFill>
                  <a:srgbClr val="FF0000"/>
                </a:solidFill>
              </a:rPr>
              <a:t>p </a:t>
            </a:r>
            <a:r>
              <a:rPr lang="zh-CN" altLang="en-US" sz="2400" dirty="0">
                <a:solidFill>
                  <a:srgbClr val="FF0000"/>
                </a:solidFill>
              </a:rPr>
              <a:t>和整型量</a:t>
            </a:r>
            <a:br>
              <a:rPr lang="zh-CN" altLang="en-US" sz="2400" dirty="0">
                <a:solidFill>
                  <a:srgbClr val="FF0000"/>
                </a:solidFill>
              </a:rPr>
            </a:br>
            <a:r>
              <a:rPr lang="zh-CN" altLang="en-US" sz="2400" dirty="0">
                <a:solidFill>
                  <a:srgbClr val="FF0000"/>
                </a:solidFill>
              </a:rPr>
              <a:t> </a:t>
            </a:r>
            <a:r>
              <a:rPr lang="en-US" altLang="zh-CN" sz="2400" dirty="0">
                <a:solidFill>
                  <a:srgbClr val="FF0000"/>
                </a:solidFill>
              </a:rPr>
              <a:t>size</a:t>
            </a:r>
            <a:r>
              <a:rPr lang="zh-CN" altLang="zh-CN" sz="2400" dirty="0">
                <a:solidFill>
                  <a:srgbClr val="FF0000"/>
                </a:solidFill>
              </a:rPr>
              <a:t>的</a:t>
            </a:r>
            <a:r>
              <a:rPr lang="zh-CN" altLang="en-US" sz="2400" dirty="0">
                <a:solidFill>
                  <a:srgbClr val="FF0000"/>
                </a:solidFill>
              </a:rPr>
              <a:t>值拷贝到 </a:t>
            </a:r>
            <a:r>
              <a:rPr lang="en-US" altLang="zh-CN" sz="2400" dirty="0">
                <a:solidFill>
                  <a:srgbClr val="FF0000"/>
                </a:solidFill>
              </a:rPr>
              <a:t>s1</a:t>
            </a:r>
            <a:endParaRPr lang="en-US" altLang="zh-CN" sz="2400" dirty="0">
              <a:solidFill>
                <a:srgbClr val="FF0000"/>
              </a:solidFill>
            </a:endParaRPr>
          </a:p>
        </p:txBody>
      </p:sp>
      <p:grpSp>
        <p:nvGrpSpPr>
          <p:cNvPr id="5" name="Group 39"/>
          <p:cNvGrpSpPr/>
          <p:nvPr/>
        </p:nvGrpSpPr>
        <p:grpSpPr bwMode="auto">
          <a:xfrm>
            <a:off x="6491288" y="4249738"/>
            <a:ext cx="1169987" cy="1195387"/>
            <a:chOff x="4089" y="2677"/>
            <a:chExt cx="737" cy="753"/>
          </a:xfrm>
        </p:grpSpPr>
        <p:sp>
          <p:nvSpPr>
            <p:cNvPr id="67593" name="Rectangle 16"/>
            <p:cNvSpPr>
              <a:spLocks noChangeArrowheads="1"/>
            </p:cNvSpPr>
            <p:nvPr/>
          </p:nvSpPr>
          <p:spPr bwMode="auto">
            <a:xfrm>
              <a:off x="4089" y="2961"/>
              <a:ext cx="432" cy="179"/>
            </a:xfrm>
            <a:prstGeom prst="rect">
              <a:avLst/>
            </a:prstGeom>
            <a:solidFill>
              <a:schemeClr val="tx2"/>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32146" name="Text Box 18"/>
            <p:cNvSpPr txBox="1">
              <a:spLocks noChangeArrowheads="1"/>
            </p:cNvSpPr>
            <p:nvPr/>
          </p:nvSpPr>
          <p:spPr bwMode="auto">
            <a:xfrm>
              <a:off x="4207" y="3142"/>
              <a:ext cx="442" cy="288"/>
            </a:xfrm>
            <a:prstGeom prst="rect">
              <a:avLst/>
            </a:prstGeom>
            <a:noFill/>
            <a:ln w="9525">
              <a:noFill/>
              <a:miter lim="800000"/>
            </a:ln>
            <a:effectLst/>
          </p:spPr>
          <p:txBody>
            <a:bodyPr wrap="none">
              <a:spAutoFit/>
            </a:bodyPr>
            <a:lstStyle/>
            <a:p>
              <a:pPr algn="ctr">
                <a:lnSpc>
                  <a:spcPct val="100000"/>
                </a:lnSpc>
                <a:defRPr/>
              </a:pPr>
              <a:r>
                <a:rPr lang="en-US" altLang="zh-CN" sz="2400" dirty="0">
                  <a:solidFill>
                    <a:srgbClr val="FF0000"/>
                  </a:solidFill>
                  <a:effectLst>
                    <a:outerShdw blurRad="38100" dist="38100" dir="2700000" algn="tl">
                      <a:srgbClr val="C0C0C0"/>
                    </a:outerShdw>
                  </a:effectLst>
                </a:rPr>
                <a:t>s1.p</a:t>
              </a:r>
              <a:endParaRPr lang="en-US" altLang="zh-CN" dirty="0">
                <a:solidFill>
                  <a:srgbClr val="FF0000"/>
                </a:solidFill>
                <a:effectLst>
                  <a:outerShdw blurRad="38100" dist="38100" dir="2700000" algn="tl">
                    <a:srgbClr val="C0C0C0"/>
                  </a:outerShdw>
                </a:effectLst>
              </a:endParaRPr>
            </a:p>
          </p:txBody>
        </p:sp>
        <p:sp>
          <p:nvSpPr>
            <p:cNvPr id="67595" name="Line 36"/>
            <p:cNvSpPr>
              <a:spLocks noChangeShapeType="1"/>
            </p:cNvSpPr>
            <p:nvPr/>
          </p:nvSpPr>
          <p:spPr bwMode="auto">
            <a:xfrm>
              <a:off x="4292" y="3035"/>
              <a:ext cx="357" cy="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7596" name="Line 37"/>
            <p:cNvSpPr>
              <a:spLocks noChangeShapeType="1"/>
            </p:cNvSpPr>
            <p:nvPr/>
          </p:nvSpPr>
          <p:spPr bwMode="auto">
            <a:xfrm flipH="1" flipV="1">
              <a:off x="4649" y="2677"/>
              <a:ext cx="0" cy="39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67597" name="Line 38"/>
            <p:cNvSpPr>
              <a:spLocks noChangeShapeType="1"/>
            </p:cNvSpPr>
            <p:nvPr/>
          </p:nvSpPr>
          <p:spPr bwMode="auto">
            <a:xfrm>
              <a:off x="4649" y="2677"/>
              <a:ext cx="177"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1258888" y="18864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8611" name="Text Box 3"/>
          <p:cNvSpPr txBox="1">
            <a:spLocks noChangeArrowheads="1"/>
          </p:cNvSpPr>
          <p:nvPr/>
        </p:nvSpPr>
        <p:spPr bwMode="auto">
          <a:xfrm>
            <a:off x="1082675" y="1700213"/>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dirty="0">
                <a:solidFill>
                  <a:srgbClr val="000000"/>
                </a:solidFill>
              </a:rPr>
              <a:t>考虑一个简单的类：</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class  string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public</a:t>
            </a:r>
            <a:r>
              <a:rPr lang="zh-CN" altLang="en-US" dirty="0">
                <a:solidFill>
                  <a:srgbClr val="000000"/>
                </a:solidFill>
              </a:rPr>
              <a:t>： </a:t>
            </a:r>
            <a:r>
              <a:rPr lang="en-US" altLang="zh-CN" dirty="0" smtClean="0">
                <a:solidFill>
                  <a:srgbClr val="000000"/>
                </a:solidFill>
              </a:rPr>
              <a:t>string </a:t>
            </a:r>
            <a:r>
              <a:rPr lang="en-US" altLang="zh-CN" dirty="0">
                <a:solidFill>
                  <a:srgbClr val="000000"/>
                </a:solidFill>
              </a:rPr>
              <a:t>(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 string ( ) { delete </a:t>
            </a:r>
            <a:r>
              <a:rPr lang="en-US" altLang="zh-CN" dirty="0" smtClean="0">
                <a:solidFill>
                  <a:srgbClr val="000000"/>
                </a:solidFill>
              </a:rPr>
              <a:t>[ ]p </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zh-CN" altLang="en-US" dirty="0">
                <a:solidFill>
                  <a:srgbClr val="000000"/>
                </a:solidFill>
              </a:rPr>
              <a:t>使用该类的函数：</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void  f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s1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string s2 ( 10 )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s1 = s2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grpSp>
        <p:nvGrpSpPr>
          <p:cNvPr id="68612" name="Group 4"/>
          <p:cNvGrpSpPr/>
          <p:nvPr/>
        </p:nvGrpSpPr>
        <p:grpSpPr bwMode="auto">
          <a:xfrm>
            <a:off x="4852988" y="4078288"/>
            <a:ext cx="1447800" cy="2806700"/>
            <a:chOff x="3504" y="1872"/>
            <a:chExt cx="912" cy="1894"/>
          </a:xfrm>
          <a:solidFill>
            <a:srgbClr val="CC0066"/>
          </a:solidFill>
        </p:grpSpPr>
        <p:sp>
          <p:nvSpPr>
            <p:cNvPr id="68636" name="Rectangle 5"/>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8637" name="Line 6"/>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8638" name="Line 7"/>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8639" name="Line 8"/>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8640" name="Line 9"/>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8641" name="Line 10"/>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8642" name="Line 11"/>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8643" name="Line 12"/>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8644" name="Line 13"/>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8645" name="Line 14"/>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8613" name="Group 15"/>
          <p:cNvGrpSpPr/>
          <p:nvPr/>
        </p:nvGrpSpPr>
        <p:grpSpPr bwMode="auto">
          <a:xfrm>
            <a:off x="7661275" y="4078288"/>
            <a:ext cx="1447800" cy="2663825"/>
            <a:chOff x="3504" y="1872"/>
            <a:chExt cx="912" cy="1894"/>
          </a:xfrm>
          <a:solidFill>
            <a:srgbClr val="2F2FC5"/>
          </a:solidFill>
        </p:grpSpPr>
        <p:sp>
          <p:nvSpPr>
            <p:cNvPr id="68626" name="Rectangle 16"/>
            <p:cNvSpPr>
              <a:spLocks noChangeArrowheads="1"/>
            </p:cNvSpPr>
            <p:nvPr/>
          </p:nvSpPr>
          <p:spPr bwMode="auto">
            <a:xfrm>
              <a:off x="3504" y="1872"/>
              <a:ext cx="912" cy="1894"/>
            </a:xfrm>
            <a:prstGeom prst="rect">
              <a:avLst/>
            </a:prstGeom>
            <a:grp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8627" name="Line 17"/>
            <p:cNvSpPr>
              <a:spLocks noChangeShapeType="1"/>
            </p:cNvSpPr>
            <p:nvPr/>
          </p:nvSpPr>
          <p:spPr bwMode="auto">
            <a:xfrm>
              <a:off x="3504" y="2064"/>
              <a:ext cx="912" cy="0"/>
            </a:xfrm>
            <a:prstGeom prst="line">
              <a:avLst/>
            </a:prstGeom>
            <a:grpFill/>
            <a:ln w="9525">
              <a:solidFill>
                <a:schemeClr val="tx1"/>
              </a:solidFill>
              <a:round/>
            </a:ln>
          </p:spPr>
          <p:txBody>
            <a:bodyPr wrap="none" anchor="ctr"/>
            <a:lstStyle/>
            <a:p>
              <a:endParaRPr lang="zh-CN" altLang="en-US"/>
            </a:p>
          </p:txBody>
        </p:sp>
        <p:sp>
          <p:nvSpPr>
            <p:cNvPr id="68628" name="Line 18"/>
            <p:cNvSpPr>
              <a:spLocks noChangeShapeType="1"/>
            </p:cNvSpPr>
            <p:nvPr/>
          </p:nvSpPr>
          <p:spPr bwMode="auto">
            <a:xfrm>
              <a:off x="3504" y="2256"/>
              <a:ext cx="912" cy="0"/>
            </a:xfrm>
            <a:prstGeom prst="line">
              <a:avLst/>
            </a:prstGeom>
            <a:grpFill/>
            <a:ln w="9525">
              <a:solidFill>
                <a:schemeClr val="tx1"/>
              </a:solidFill>
              <a:round/>
            </a:ln>
          </p:spPr>
          <p:txBody>
            <a:bodyPr wrap="none" anchor="ctr"/>
            <a:lstStyle/>
            <a:p>
              <a:endParaRPr lang="zh-CN" altLang="en-US"/>
            </a:p>
          </p:txBody>
        </p:sp>
        <p:sp>
          <p:nvSpPr>
            <p:cNvPr id="68629" name="Line 19"/>
            <p:cNvSpPr>
              <a:spLocks noChangeShapeType="1"/>
            </p:cNvSpPr>
            <p:nvPr/>
          </p:nvSpPr>
          <p:spPr bwMode="auto">
            <a:xfrm>
              <a:off x="3504" y="2448"/>
              <a:ext cx="912" cy="0"/>
            </a:xfrm>
            <a:prstGeom prst="line">
              <a:avLst/>
            </a:prstGeom>
            <a:grpFill/>
            <a:ln w="9525">
              <a:solidFill>
                <a:schemeClr val="tx1"/>
              </a:solidFill>
              <a:round/>
            </a:ln>
          </p:spPr>
          <p:txBody>
            <a:bodyPr wrap="none" anchor="ctr"/>
            <a:lstStyle/>
            <a:p>
              <a:endParaRPr lang="zh-CN" altLang="en-US"/>
            </a:p>
          </p:txBody>
        </p:sp>
        <p:sp>
          <p:nvSpPr>
            <p:cNvPr id="68630" name="Line 20"/>
            <p:cNvSpPr>
              <a:spLocks noChangeShapeType="1"/>
            </p:cNvSpPr>
            <p:nvPr/>
          </p:nvSpPr>
          <p:spPr bwMode="auto">
            <a:xfrm>
              <a:off x="3504" y="2640"/>
              <a:ext cx="912" cy="0"/>
            </a:xfrm>
            <a:prstGeom prst="line">
              <a:avLst/>
            </a:prstGeom>
            <a:grpFill/>
            <a:ln w="9525">
              <a:solidFill>
                <a:schemeClr val="tx1"/>
              </a:solidFill>
              <a:round/>
            </a:ln>
          </p:spPr>
          <p:txBody>
            <a:bodyPr wrap="none" anchor="ctr"/>
            <a:lstStyle/>
            <a:p>
              <a:endParaRPr lang="zh-CN" altLang="en-US"/>
            </a:p>
          </p:txBody>
        </p:sp>
        <p:sp>
          <p:nvSpPr>
            <p:cNvPr id="68631" name="Line 21"/>
            <p:cNvSpPr>
              <a:spLocks noChangeShapeType="1"/>
            </p:cNvSpPr>
            <p:nvPr/>
          </p:nvSpPr>
          <p:spPr bwMode="auto">
            <a:xfrm>
              <a:off x="3504" y="2832"/>
              <a:ext cx="912" cy="0"/>
            </a:xfrm>
            <a:prstGeom prst="line">
              <a:avLst/>
            </a:prstGeom>
            <a:grpFill/>
            <a:ln w="9525">
              <a:solidFill>
                <a:schemeClr val="tx1"/>
              </a:solidFill>
              <a:round/>
            </a:ln>
          </p:spPr>
          <p:txBody>
            <a:bodyPr wrap="none" anchor="ctr"/>
            <a:lstStyle/>
            <a:p>
              <a:endParaRPr lang="zh-CN" altLang="en-US"/>
            </a:p>
          </p:txBody>
        </p:sp>
        <p:sp>
          <p:nvSpPr>
            <p:cNvPr id="68632" name="Line 22"/>
            <p:cNvSpPr>
              <a:spLocks noChangeShapeType="1"/>
            </p:cNvSpPr>
            <p:nvPr/>
          </p:nvSpPr>
          <p:spPr bwMode="auto">
            <a:xfrm>
              <a:off x="3504" y="3024"/>
              <a:ext cx="912" cy="0"/>
            </a:xfrm>
            <a:prstGeom prst="line">
              <a:avLst/>
            </a:prstGeom>
            <a:grpFill/>
            <a:ln w="9525">
              <a:solidFill>
                <a:schemeClr val="tx1"/>
              </a:solidFill>
              <a:round/>
            </a:ln>
          </p:spPr>
          <p:txBody>
            <a:bodyPr wrap="none" anchor="ctr"/>
            <a:lstStyle/>
            <a:p>
              <a:endParaRPr lang="zh-CN" altLang="en-US"/>
            </a:p>
          </p:txBody>
        </p:sp>
        <p:sp>
          <p:nvSpPr>
            <p:cNvPr id="68633" name="Line 23"/>
            <p:cNvSpPr>
              <a:spLocks noChangeShapeType="1"/>
            </p:cNvSpPr>
            <p:nvPr/>
          </p:nvSpPr>
          <p:spPr bwMode="auto">
            <a:xfrm>
              <a:off x="3504" y="3216"/>
              <a:ext cx="912" cy="0"/>
            </a:xfrm>
            <a:prstGeom prst="line">
              <a:avLst/>
            </a:prstGeom>
            <a:grpFill/>
            <a:ln w="9525">
              <a:solidFill>
                <a:schemeClr val="tx1"/>
              </a:solidFill>
              <a:round/>
            </a:ln>
          </p:spPr>
          <p:txBody>
            <a:bodyPr wrap="none" anchor="ctr"/>
            <a:lstStyle/>
            <a:p>
              <a:endParaRPr lang="zh-CN" altLang="en-US"/>
            </a:p>
          </p:txBody>
        </p:sp>
        <p:sp>
          <p:nvSpPr>
            <p:cNvPr id="68634" name="Line 24"/>
            <p:cNvSpPr>
              <a:spLocks noChangeShapeType="1"/>
            </p:cNvSpPr>
            <p:nvPr/>
          </p:nvSpPr>
          <p:spPr bwMode="auto">
            <a:xfrm>
              <a:off x="3504" y="3408"/>
              <a:ext cx="912" cy="0"/>
            </a:xfrm>
            <a:prstGeom prst="line">
              <a:avLst/>
            </a:prstGeom>
            <a:grpFill/>
            <a:ln w="9525">
              <a:solidFill>
                <a:schemeClr val="tx1"/>
              </a:solidFill>
              <a:round/>
            </a:ln>
          </p:spPr>
          <p:txBody>
            <a:bodyPr wrap="none" anchor="ctr"/>
            <a:lstStyle/>
            <a:p>
              <a:endParaRPr lang="zh-CN" altLang="en-US"/>
            </a:p>
          </p:txBody>
        </p:sp>
        <p:sp>
          <p:nvSpPr>
            <p:cNvPr id="68635" name="Line 25"/>
            <p:cNvSpPr>
              <a:spLocks noChangeShapeType="1"/>
            </p:cNvSpPr>
            <p:nvPr/>
          </p:nvSpPr>
          <p:spPr bwMode="auto">
            <a:xfrm>
              <a:off x="3504" y="3600"/>
              <a:ext cx="912" cy="0"/>
            </a:xfrm>
            <a:prstGeom prst="line">
              <a:avLst/>
            </a:prstGeom>
            <a:grpFill/>
            <a:ln w="9525">
              <a:solidFill>
                <a:schemeClr val="tx1"/>
              </a:solidFill>
              <a:round/>
            </a:ln>
          </p:spPr>
          <p:txBody>
            <a:bodyPr wrap="none" anchor="ctr"/>
            <a:lstStyle/>
            <a:p>
              <a:endParaRPr lang="zh-CN" altLang="en-US"/>
            </a:p>
          </p:txBody>
        </p:sp>
      </p:grpSp>
      <p:grpSp>
        <p:nvGrpSpPr>
          <p:cNvPr id="68614" name="Group 26"/>
          <p:cNvGrpSpPr/>
          <p:nvPr/>
        </p:nvGrpSpPr>
        <p:grpSpPr bwMode="auto">
          <a:xfrm>
            <a:off x="6111875" y="3608388"/>
            <a:ext cx="1549400" cy="684212"/>
            <a:chOff x="3488" y="1170"/>
            <a:chExt cx="976" cy="486"/>
          </a:xfrm>
        </p:grpSpPr>
        <p:sp>
          <p:nvSpPr>
            <p:cNvPr id="68623" name="Rectangle 27"/>
            <p:cNvSpPr>
              <a:spLocks noChangeArrowheads="1"/>
            </p:cNvSpPr>
            <p:nvPr/>
          </p:nvSpPr>
          <p:spPr bwMode="auto">
            <a:xfrm>
              <a:off x="3744" y="1464"/>
              <a:ext cx="432" cy="192"/>
            </a:xfrm>
            <a:prstGeom prst="rect">
              <a:avLst/>
            </a:prstGeom>
            <a:solidFill>
              <a:srgbClr val="2F2FC5"/>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8624" name="Line 28"/>
            <p:cNvSpPr>
              <a:spLocks noChangeShapeType="1"/>
            </p:cNvSpPr>
            <p:nvPr/>
          </p:nvSpPr>
          <p:spPr bwMode="auto">
            <a:xfrm>
              <a:off x="4080" y="1560"/>
              <a:ext cx="384" cy="0"/>
            </a:xfrm>
            <a:prstGeom prst="line">
              <a:avLst/>
            </a:prstGeom>
            <a:noFill/>
            <a:ln w="19050">
              <a:solidFill>
                <a:srgbClr val="002060"/>
              </a:solidFill>
              <a:rou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5" name="Text Box 29"/>
            <p:cNvSpPr txBox="1">
              <a:spLocks noChangeArrowheads="1"/>
            </p:cNvSpPr>
            <p:nvPr/>
          </p:nvSpPr>
          <p:spPr bwMode="auto">
            <a:xfrm>
              <a:off x="3488" y="1170"/>
              <a:ext cx="44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pPr>
              <a:r>
                <a:rPr lang="en-US" altLang="zh-CN" sz="2400">
                  <a:solidFill>
                    <a:srgbClr val="000099"/>
                  </a:solidFill>
                </a:rPr>
                <a:t>s2.p</a:t>
              </a:r>
              <a:endParaRPr lang="en-US" altLang="zh-CN">
                <a:solidFill>
                  <a:srgbClr val="000099"/>
                </a:solidFill>
              </a:endParaRPr>
            </a:p>
          </p:txBody>
        </p:sp>
      </p:grpSp>
      <p:grpSp>
        <p:nvGrpSpPr>
          <p:cNvPr id="5" name="Group 31"/>
          <p:cNvGrpSpPr/>
          <p:nvPr/>
        </p:nvGrpSpPr>
        <p:grpSpPr bwMode="auto">
          <a:xfrm>
            <a:off x="6491288" y="4249738"/>
            <a:ext cx="1169987" cy="1195387"/>
            <a:chOff x="4089" y="2677"/>
            <a:chExt cx="737" cy="753"/>
          </a:xfrm>
        </p:grpSpPr>
        <p:sp>
          <p:nvSpPr>
            <p:cNvPr id="68618" name="Rectangle 32"/>
            <p:cNvSpPr>
              <a:spLocks noChangeArrowheads="1"/>
            </p:cNvSpPr>
            <p:nvPr/>
          </p:nvSpPr>
          <p:spPr bwMode="auto">
            <a:xfrm>
              <a:off x="4089" y="2961"/>
              <a:ext cx="432" cy="179"/>
            </a:xfrm>
            <a:prstGeom prst="rect">
              <a:avLst/>
            </a:prstGeom>
            <a:solidFill>
              <a:schemeClr val="tx2"/>
            </a:solidFill>
            <a:ln w="9525">
              <a:solidFill>
                <a:schemeClr val="tx1"/>
              </a:solidFill>
              <a:miter lim="800000"/>
            </a:ln>
          </p:spPr>
          <p:txBody>
            <a:bodyPr wrap="none" anchor="ct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433185" name="Text Box 33"/>
            <p:cNvSpPr txBox="1">
              <a:spLocks noChangeArrowheads="1"/>
            </p:cNvSpPr>
            <p:nvPr/>
          </p:nvSpPr>
          <p:spPr bwMode="auto">
            <a:xfrm>
              <a:off x="4207" y="3142"/>
              <a:ext cx="442" cy="288"/>
            </a:xfrm>
            <a:prstGeom prst="rect">
              <a:avLst/>
            </a:prstGeom>
            <a:noFill/>
            <a:ln w="9525">
              <a:noFill/>
              <a:miter lim="800000"/>
            </a:ln>
            <a:effectLst/>
          </p:spPr>
          <p:txBody>
            <a:bodyPr wrap="none">
              <a:spAutoFit/>
            </a:bodyPr>
            <a:lstStyle/>
            <a:p>
              <a:pPr algn="ctr">
                <a:lnSpc>
                  <a:spcPct val="100000"/>
                </a:lnSpc>
                <a:defRPr/>
              </a:pPr>
              <a:r>
                <a:rPr lang="en-US" altLang="zh-CN" sz="2400">
                  <a:solidFill>
                    <a:srgbClr val="FF3300"/>
                  </a:solidFill>
                  <a:effectLst>
                    <a:outerShdw blurRad="38100" dist="38100" dir="2700000" algn="tl">
                      <a:srgbClr val="C0C0C0"/>
                    </a:outerShdw>
                  </a:effectLst>
                </a:rPr>
                <a:t>s1.p</a:t>
              </a:r>
              <a:endParaRPr lang="en-US" altLang="zh-CN">
                <a:solidFill>
                  <a:srgbClr val="FF3300"/>
                </a:solidFill>
                <a:effectLst>
                  <a:outerShdw blurRad="38100" dist="38100" dir="2700000" algn="tl">
                    <a:srgbClr val="C0C0C0"/>
                  </a:outerShdw>
                </a:effectLst>
              </a:endParaRPr>
            </a:p>
          </p:txBody>
        </p:sp>
        <p:sp>
          <p:nvSpPr>
            <p:cNvPr id="68620" name="Line 34"/>
            <p:cNvSpPr>
              <a:spLocks noChangeShapeType="1"/>
            </p:cNvSpPr>
            <p:nvPr/>
          </p:nvSpPr>
          <p:spPr bwMode="auto">
            <a:xfrm>
              <a:off x="4292" y="3035"/>
              <a:ext cx="357" cy="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621" name="Line 35"/>
            <p:cNvSpPr>
              <a:spLocks noChangeShapeType="1"/>
            </p:cNvSpPr>
            <p:nvPr/>
          </p:nvSpPr>
          <p:spPr bwMode="auto">
            <a:xfrm flipV="1">
              <a:off x="4649" y="2677"/>
              <a:ext cx="0" cy="368"/>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622" name="Line 36"/>
            <p:cNvSpPr>
              <a:spLocks noChangeShapeType="1"/>
            </p:cNvSpPr>
            <p:nvPr/>
          </p:nvSpPr>
          <p:spPr bwMode="auto">
            <a:xfrm>
              <a:off x="4649" y="2677"/>
              <a:ext cx="177"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33189" name="AutoShape 37"/>
          <p:cNvSpPr>
            <a:spLocks noChangeArrowheads="1"/>
          </p:cNvSpPr>
          <p:nvPr/>
        </p:nvSpPr>
        <p:spPr bwMode="auto">
          <a:xfrm>
            <a:off x="3140075" y="3438525"/>
            <a:ext cx="2655888" cy="1778000"/>
          </a:xfrm>
          <a:prstGeom prst="star32">
            <a:avLst>
              <a:gd name="adj" fmla="val 37500"/>
            </a:avLst>
          </a:prstGeom>
          <a:gradFill rotWithShape="0">
            <a:gsLst>
              <a:gs pos="0">
                <a:srgbClr val="FFFFFF"/>
              </a:gs>
              <a:gs pos="100000">
                <a:srgbClr val="FFCCCC"/>
              </a:gs>
            </a:gsLst>
            <a:path path="shape">
              <a:fillToRect l="50000" t="50000" r="50000" b="50000"/>
            </a:path>
          </a:gradFill>
          <a:ln w="9525">
            <a:solidFill>
              <a:srgbClr val="FFCCCC"/>
            </a:solidFill>
            <a:miter lim="800000"/>
          </a:ln>
          <a:effectLst>
            <a:outerShdw dist="56796" dir="17793903" algn="ctr" rotWithShape="0">
              <a:srgbClr val="808080"/>
            </a:outerShdw>
          </a:effectLst>
        </p:spPr>
        <p:txBody>
          <a:bodyPr wrap="none" anchor="ctr"/>
          <a:lstStyle/>
          <a:p>
            <a:pPr algn="ctr">
              <a:lnSpc>
                <a:spcPct val="100000"/>
              </a:lnSpc>
              <a:defRPr/>
            </a:pPr>
            <a:r>
              <a:rPr lang="zh-CN" altLang="en-US" sz="2400"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rPr>
              <a:t>这块内存被</a:t>
            </a:r>
            <a:br>
              <a:rPr lang="zh-CN" altLang="en-US" sz="2400"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rPr>
            </a:br>
            <a:r>
              <a:rPr lang="zh-CN" altLang="en-US" sz="2400"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rPr>
              <a:t>封锁不能使用</a:t>
            </a:r>
            <a:endParaRPr lang="zh-CN" altLang="en-US" sz="2400" b="1">
              <a:solidFill>
                <a:srgbClr val="FF0000"/>
              </a:solidFill>
              <a:latin typeface="华文楷体" panose="02010600040101010101" pitchFamily="2" charset="-122"/>
              <a:ea typeface="华文楷体" panose="02010600040101010101" pitchFamily="2" charset="-122"/>
            </a:endParaRPr>
          </a:p>
        </p:txBody>
      </p:sp>
      <p:sp>
        <p:nvSpPr>
          <p:cNvPr id="433190" name="AutoShape 38"/>
          <p:cNvSpPr>
            <a:spLocks noChangeArrowheads="1"/>
          </p:cNvSpPr>
          <p:nvPr/>
        </p:nvSpPr>
        <p:spPr bwMode="auto">
          <a:xfrm>
            <a:off x="6362700" y="1995488"/>
            <a:ext cx="2530475" cy="1649412"/>
          </a:xfrm>
          <a:prstGeom prst="star32">
            <a:avLst>
              <a:gd name="adj" fmla="val 37500"/>
            </a:avLst>
          </a:prstGeom>
          <a:gradFill rotWithShape="0">
            <a:gsLst>
              <a:gs pos="0">
                <a:srgbClr val="FFFFFF"/>
              </a:gs>
              <a:gs pos="100000">
                <a:srgbClr val="FFCCCC"/>
              </a:gs>
            </a:gsLst>
            <a:path path="shape">
              <a:fillToRect l="50000" t="50000" r="50000" b="50000"/>
            </a:path>
          </a:gradFill>
          <a:ln w="9525">
            <a:solidFill>
              <a:srgbClr val="FFCCCC"/>
            </a:solidFill>
            <a:miter lim="800000"/>
          </a:ln>
          <a:effectLst>
            <a:outerShdw dist="56796" dir="17793903" algn="ctr" rotWithShape="0">
              <a:srgbClr val="808080"/>
            </a:outerShdw>
          </a:effectLst>
        </p:spPr>
        <p:txBody>
          <a:bodyPr wrap="none" anchor="ctr"/>
          <a:lstStyle/>
          <a:p>
            <a:r>
              <a:rPr lang="zh-CN" altLang="en-US"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rPr>
              <a:t>两次调用析构函数</a:t>
            </a:r>
            <a:endParaRPr lang="zh-CN" altLang="en-US"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endParaRPr>
          </a:p>
          <a:p>
            <a:r>
              <a:rPr lang="zh-CN" altLang="en-US"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rPr>
              <a:t>这块内存被释放两次</a:t>
            </a:r>
            <a:endParaRPr lang="zh-CN" altLang="en-US" b="1">
              <a:solidFill>
                <a:srgbClr val="FF0000"/>
              </a:solidFill>
              <a:effectLst>
                <a:outerShdw blurRad="38100" dist="38100" dir="2700000" algn="tl">
                  <a:srgbClr val="FFFFFF"/>
                </a:outerShdw>
              </a:effectLst>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33189"/>
                                        </p:tgtEl>
                                        <p:attrNameLst>
                                          <p:attrName>style.visibility</p:attrName>
                                        </p:attrNameLst>
                                      </p:cBhvr>
                                      <p:to>
                                        <p:strVal val="visible"/>
                                      </p:to>
                                    </p:set>
                                    <p:animEffect transition="in" filter="box(out)">
                                      <p:cBhvr>
                                        <p:cTn id="12" dur="500"/>
                                        <p:tgtEl>
                                          <p:spTgt spid="43318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33190"/>
                                        </p:tgtEl>
                                        <p:attrNameLst>
                                          <p:attrName>style.visibility</p:attrName>
                                        </p:attrNameLst>
                                      </p:cBhvr>
                                      <p:to>
                                        <p:strVal val="visible"/>
                                      </p:to>
                                    </p:set>
                                    <p:animEffect transition="in" filter="box(out)">
                                      <p:cBhvr>
                                        <p:cTn id="17" dur="500"/>
                                        <p:tgtEl>
                                          <p:spTgt spid="433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89" grpId="0" animBg="1" autoUpdateAnimBg="0"/>
      <p:bldP spid="433190"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1258888" y="116632"/>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赋值运算符</a:t>
            </a:r>
            <a:b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br>
            <a:r>
              <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rPr>
              <a:t>（有关说明：指针悬挂问题）</a:t>
            </a:r>
            <a:endParaRPr lang="zh-CN" altLang="en-US" sz="4400" b="1" i="1" dirty="0">
              <a:solidFill>
                <a:srgbClr val="FFFF00"/>
              </a:solidFill>
              <a:effectLst>
                <a:outerShdw blurRad="38100" dist="38100" dir="2700000" algn="tl">
                  <a:srgbClr val="000000"/>
                </a:outerShdw>
              </a:effectLst>
              <a:ea typeface="隶书" panose="02010509060101010101" pitchFamily="49" charset="-122"/>
              <a:cs typeface="+mj-cs"/>
            </a:endParaRPr>
          </a:p>
        </p:txBody>
      </p:sp>
      <p:sp>
        <p:nvSpPr>
          <p:cNvPr id="69635" name="Text Box 3"/>
          <p:cNvSpPr txBox="1">
            <a:spLocks noChangeArrowheads="1"/>
          </p:cNvSpPr>
          <p:nvPr/>
        </p:nvSpPr>
        <p:spPr bwMode="auto">
          <a:xfrm>
            <a:off x="1009650" y="1700213"/>
            <a:ext cx="7810500" cy="5016758"/>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en-US" altLang="zh-CN" dirty="0">
                <a:solidFill>
                  <a:srgbClr val="000000"/>
                </a:solidFill>
              </a:rPr>
              <a:t>//   </a:t>
            </a:r>
            <a:r>
              <a:rPr lang="zh-CN" altLang="en-US" dirty="0">
                <a:solidFill>
                  <a:srgbClr val="000000"/>
                </a:solidFill>
              </a:rPr>
              <a:t>解决方法，重载“</a:t>
            </a:r>
            <a:r>
              <a:rPr lang="en-US" altLang="zh-CN" dirty="0">
                <a:solidFill>
                  <a:srgbClr val="000000"/>
                </a:solidFill>
              </a:rPr>
              <a:t>=”</a:t>
            </a:r>
            <a:r>
              <a:rPr lang="zh-CN" altLang="en-US" dirty="0">
                <a:solidFill>
                  <a:srgbClr val="000000"/>
                </a:solidFill>
              </a:rPr>
              <a:t>运算符为新的语义：</a:t>
            </a:r>
            <a:endParaRPr lang="zh-CN" altLang="en-US" dirty="0">
              <a:solidFill>
                <a:srgbClr val="000000"/>
              </a:solidFill>
            </a:endParaRPr>
          </a:p>
          <a:p>
            <a:pPr algn="l" eaLnBrk="1" hangingPunct="1">
              <a:lnSpc>
                <a:spcPct val="100000"/>
              </a:lnSpc>
            </a:pPr>
            <a:r>
              <a:rPr lang="en-US" altLang="zh-CN" dirty="0">
                <a:solidFill>
                  <a:srgbClr val="000000"/>
                </a:solidFill>
              </a:rPr>
              <a:t>class  string </a:t>
            </a:r>
            <a:endParaRPr lang="en-US" altLang="zh-CN" dirty="0">
              <a:solidFill>
                <a:srgbClr val="000000"/>
              </a:solidFill>
            </a:endParaRPr>
          </a:p>
          <a:p>
            <a:pPr algn="l" eaLnBrk="1" hangingPunct="1">
              <a:lnSpc>
                <a:spcPct val="100000"/>
              </a:lnSpc>
            </a:pPr>
            <a:r>
              <a:rPr lang="en-US" altLang="zh-CN" dirty="0">
                <a:solidFill>
                  <a:srgbClr val="000000"/>
                </a:solidFill>
              </a:rPr>
              <a:t>{ char  * p ;	</a:t>
            </a:r>
            <a:r>
              <a:rPr lang="en-US" altLang="zh-CN" dirty="0" err="1">
                <a:solidFill>
                  <a:srgbClr val="000000"/>
                </a:solidFill>
              </a:rPr>
              <a:t>int</a:t>
            </a:r>
            <a:r>
              <a:rPr lang="en-US" altLang="zh-CN" dirty="0">
                <a:solidFill>
                  <a:srgbClr val="000000"/>
                </a:solidFill>
              </a:rPr>
              <a:t>  size ;</a:t>
            </a:r>
            <a:endParaRPr lang="en-US" altLang="zh-CN" dirty="0">
              <a:solidFill>
                <a:srgbClr val="000000"/>
              </a:solidFill>
            </a:endParaRPr>
          </a:p>
          <a:p>
            <a:pPr algn="l" eaLnBrk="1" hangingPunct="1">
              <a:lnSpc>
                <a:spcPct val="100000"/>
              </a:lnSpc>
            </a:pPr>
            <a:r>
              <a:rPr lang="en-US" altLang="zh-CN" dirty="0">
                <a:solidFill>
                  <a:srgbClr val="000000"/>
                </a:solidFill>
              </a:rPr>
              <a:t> public</a:t>
            </a:r>
            <a:r>
              <a:rPr lang="zh-CN" altLang="en-US" dirty="0">
                <a:solidFill>
                  <a:srgbClr val="000000"/>
                </a:solidFill>
              </a:rPr>
              <a:t>：</a:t>
            </a:r>
            <a:r>
              <a:rPr lang="en-US" altLang="zh-CN" dirty="0" smtClean="0">
                <a:solidFill>
                  <a:srgbClr val="000000"/>
                </a:solidFill>
              </a:rPr>
              <a:t> </a:t>
            </a:r>
            <a:r>
              <a:rPr lang="en-US" altLang="zh-CN" dirty="0">
                <a:solidFill>
                  <a:srgbClr val="000000"/>
                </a:solidFill>
              </a:rPr>
              <a:t>string ( </a:t>
            </a:r>
            <a:r>
              <a:rPr lang="en-US" altLang="zh-CN" dirty="0" err="1">
                <a:solidFill>
                  <a:srgbClr val="000000"/>
                </a:solidFill>
              </a:rPr>
              <a:t>int</a:t>
            </a:r>
            <a:r>
              <a:rPr lang="en-US" altLang="zh-CN" dirty="0">
                <a:solidFill>
                  <a:srgbClr val="000000"/>
                </a:solidFill>
              </a:rPr>
              <a:t>  </a:t>
            </a:r>
            <a:r>
              <a:rPr lang="en-US" altLang="zh-CN" dirty="0" err="1">
                <a:solidFill>
                  <a:srgbClr val="000000"/>
                </a:solidFill>
              </a:rPr>
              <a:t>sz</a:t>
            </a:r>
            <a:r>
              <a:rPr lang="en-US" altLang="zh-CN" dirty="0">
                <a:solidFill>
                  <a:srgbClr val="000000"/>
                </a:solidFill>
              </a:rPr>
              <a:t> ) { p = new char [ size = </a:t>
            </a:r>
            <a:r>
              <a:rPr lang="en-US" altLang="zh-CN" dirty="0" err="1">
                <a:solidFill>
                  <a:srgbClr val="000000"/>
                </a:solidFill>
              </a:rPr>
              <a:t>sz</a:t>
            </a:r>
            <a:r>
              <a:rPr lang="en-US" altLang="zh-CN" dirty="0">
                <a:solidFill>
                  <a:srgbClr val="000000"/>
                </a:solidFill>
              </a:rPr>
              <a:t> ] ; }</a:t>
            </a:r>
            <a:endParaRPr lang="en-US" altLang="zh-CN" dirty="0">
              <a:solidFill>
                <a:srgbClr val="000000"/>
              </a:solidFill>
            </a:endParaRPr>
          </a:p>
          <a:p>
            <a:pPr algn="l" eaLnBrk="1" hangingPunct="1">
              <a:lnSpc>
                <a:spcPct val="100000"/>
              </a:lnSpc>
            </a:pPr>
            <a:r>
              <a:rPr lang="en-US" altLang="zh-CN" dirty="0">
                <a:solidFill>
                  <a:srgbClr val="000000"/>
                </a:solidFill>
              </a:rPr>
              <a:t>   ~ string ( ) { delete </a:t>
            </a:r>
            <a:r>
              <a:rPr lang="en-US" altLang="zh-CN" dirty="0" smtClean="0">
                <a:solidFill>
                  <a:srgbClr val="000000"/>
                </a:solidFill>
              </a:rPr>
              <a:t>[ ]p </a:t>
            </a:r>
            <a:r>
              <a:rPr lang="en-US" altLang="zh-CN" dirty="0">
                <a:solidFill>
                  <a:srgbClr val="000000"/>
                </a:solidFill>
              </a:rPr>
              <a:t>; }</a:t>
            </a:r>
            <a:endParaRPr lang="en-US" altLang="zh-CN" dirty="0">
              <a:solidFill>
                <a:srgbClr val="000000"/>
              </a:solidFill>
            </a:endParaRPr>
          </a:p>
          <a:p>
            <a:pPr algn="l" eaLnBrk="1" hangingPunct="1">
              <a:lnSpc>
                <a:spcPct val="100000"/>
              </a:lnSpc>
            </a:pPr>
            <a:r>
              <a:rPr lang="en-US" altLang="zh-CN" dirty="0">
                <a:solidFill>
                  <a:srgbClr val="000000"/>
                </a:solidFill>
              </a:rPr>
              <a:t>  </a:t>
            </a:r>
            <a:r>
              <a:rPr lang="en-US" altLang="zh-CN" dirty="0" smtClean="0">
                <a:solidFill>
                  <a:srgbClr val="FF0000"/>
                </a:solidFill>
              </a:rPr>
              <a:t>string&amp;  </a:t>
            </a:r>
            <a:r>
              <a:rPr lang="en-US" altLang="zh-CN" dirty="0">
                <a:solidFill>
                  <a:srgbClr val="FF0000"/>
                </a:solidFill>
              </a:rPr>
              <a:t>operator = </a:t>
            </a:r>
            <a:r>
              <a:rPr lang="en-US" altLang="zh-CN" dirty="0" smtClean="0">
                <a:solidFill>
                  <a:srgbClr val="FF0000"/>
                </a:solidFill>
              </a:rPr>
              <a:t>(  </a:t>
            </a:r>
            <a:r>
              <a:rPr lang="en-US" altLang="zh-CN" dirty="0" err="1" smtClean="0">
                <a:solidFill>
                  <a:srgbClr val="FF0000"/>
                </a:solidFill>
              </a:rPr>
              <a:t>const</a:t>
            </a:r>
            <a:r>
              <a:rPr lang="en-US" altLang="zh-CN" dirty="0" smtClean="0">
                <a:solidFill>
                  <a:srgbClr val="FF0000"/>
                </a:solidFill>
              </a:rPr>
              <a:t> </a:t>
            </a:r>
            <a:r>
              <a:rPr lang="en-US" altLang="zh-CN" dirty="0">
                <a:solidFill>
                  <a:srgbClr val="FF0000"/>
                </a:solidFill>
              </a:rPr>
              <a:t>string &amp; a ) ;</a:t>
            </a:r>
            <a:endParaRPr lang="en-US" altLang="zh-CN" dirty="0">
              <a:solidFill>
                <a:srgbClr val="FF0000"/>
              </a:solidFill>
            </a:endParaRPr>
          </a:p>
          <a:p>
            <a:pPr algn="l" eaLnBrk="1" hangingPunct="1">
              <a:lnSpc>
                <a:spcPct val="100000"/>
              </a:lnSpc>
            </a:pPr>
            <a:r>
              <a:rPr lang="en-US" altLang="zh-CN" dirty="0">
                <a:solidFill>
                  <a:srgbClr val="000000"/>
                </a:solidFill>
              </a:rPr>
              <a:t>};</a:t>
            </a:r>
            <a:endParaRPr lang="en-US" altLang="zh-CN" dirty="0">
              <a:solidFill>
                <a:srgbClr val="000000"/>
              </a:solidFill>
            </a:endParaRPr>
          </a:p>
          <a:p>
            <a:pPr algn="l" eaLnBrk="1" hangingPunct="1">
              <a:lnSpc>
                <a:spcPct val="100000"/>
              </a:lnSpc>
            </a:pPr>
            <a:endParaRPr lang="en-US" altLang="zh-CN" dirty="0">
              <a:solidFill>
                <a:srgbClr val="000000"/>
              </a:solidFill>
            </a:endParaRPr>
          </a:p>
          <a:p>
            <a:pPr algn="l" eaLnBrk="1" hangingPunct="1">
              <a:lnSpc>
                <a:spcPct val="100000"/>
              </a:lnSpc>
            </a:pPr>
            <a:r>
              <a:rPr lang="en-US" altLang="zh-CN" dirty="0" smtClean="0">
                <a:solidFill>
                  <a:srgbClr val="FF0000"/>
                </a:solidFill>
              </a:rPr>
              <a:t>string&amp;  </a:t>
            </a:r>
            <a:r>
              <a:rPr lang="en-US" altLang="zh-CN" dirty="0">
                <a:solidFill>
                  <a:srgbClr val="FF0000"/>
                </a:solidFill>
              </a:rPr>
              <a:t>string :: operator = ( </a:t>
            </a:r>
            <a:r>
              <a:rPr lang="en-US" altLang="zh-CN" dirty="0" err="1" smtClean="0">
                <a:solidFill>
                  <a:srgbClr val="FF0000"/>
                </a:solidFill>
              </a:rPr>
              <a:t>const</a:t>
            </a:r>
            <a:r>
              <a:rPr lang="en-US" altLang="zh-CN" smtClean="0">
                <a:solidFill>
                  <a:srgbClr val="FF0000"/>
                </a:solidFill>
              </a:rPr>
              <a:t> string </a:t>
            </a:r>
            <a:r>
              <a:rPr lang="en-US" altLang="zh-CN" dirty="0">
                <a:solidFill>
                  <a:srgbClr val="FF0000"/>
                </a:solidFill>
              </a:rPr>
              <a:t>&amp; a )</a:t>
            </a:r>
            <a:endParaRPr lang="en-US" altLang="zh-CN" dirty="0">
              <a:solidFill>
                <a:srgbClr val="FF0000"/>
              </a:solidFill>
            </a:endParaRPr>
          </a:p>
          <a:p>
            <a:pPr algn="l" eaLnBrk="1" hangingPunct="1">
              <a:lnSpc>
                <a:spcPct val="100000"/>
              </a:lnSpc>
            </a:pPr>
            <a:r>
              <a:rPr lang="en-US" altLang="zh-CN" dirty="0">
                <a:solidFill>
                  <a:srgbClr val="FF0000"/>
                </a:solidFill>
              </a:rPr>
              <a:t>{</a:t>
            </a:r>
            <a:endParaRPr lang="en-US" altLang="zh-CN" dirty="0">
              <a:solidFill>
                <a:srgbClr val="FF0000"/>
              </a:solidFill>
            </a:endParaRPr>
          </a:p>
          <a:p>
            <a:pPr algn="l" eaLnBrk="1" hangingPunct="1">
              <a:lnSpc>
                <a:spcPct val="100000"/>
              </a:lnSpc>
            </a:pPr>
            <a:r>
              <a:rPr lang="en-US" altLang="zh-CN" dirty="0">
                <a:solidFill>
                  <a:srgbClr val="FF0000"/>
                </a:solidFill>
              </a:rPr>
              <a:t>   if  ( this == &amp;a )  return </a:t>
            </a:r>
            <a:r>
              <a:rPr lang="en-US" altLang="zh-CN" dirty="0" smtClean="0">
                <a:solidFill>
                  <a:srgbClr val="FF0000"/>
                </a:solidFill>
              </a:rPr>
              <a:t>*this;</a:t>
            </a:r>
            <a:r>
              <a:rPr lang="en-US" altLang="zh-CN" dirty="0">
                <a:solidFill>
                  <a:srgbClr val="FF0000"/>
                </a:solidFill>
              </a:rPr>
              <a:t>		//  </a:t>
            </a:r>
            <a:r>
              <a:rPr lang="zh-CN" altLang="zh-CN" dirty="0">
                <a:solidFill>
                  <a:srgbClr val="FF0000"/>
                </a:solidFill>
              </a:rPr>
              <a:t>防止 </a:t>
            </a:r>
            <a:r>
              <a:rPr lang="en-US" altLang="zh-CN" dirty="0">
                <a:solidFill>
                  <a:srgbClr val="FF0000"/>
                </a:solidFill>
              </a:rPr>
              <a:t>s1 = s2</a:t>
            </a:r>
            <a:endParaRPr lang="en-US" altLang="zh-CN" dirty="0">
              <a:solidFill>
                <a:srgbClr val="FF0000"/>
              </a:solidFill>
            </a:endParaRPr>
          </a:p>
          <a:p>
            <a:pPr algn="l" eaLnBrk="1" hangingPunct="1">
              <a:lnSpc>
                <a:spcPct val="100000"/>
              </a:lnSpc>
            </a:pPr>
            <a:r>
              <a:rPr lang="en-US" altLang="zh-CN" dirty="0">
                <a:solidFill>
                  <a:srgbClr val="FF0000"/>
                </a:solidFill>
              </a:rPr>
              <a:t>   delete  </a:t>
            </a:r>
            <a:r>
              <a:rPr lang="en-US" altLang="zh-CN" dirty="0" smtClean="0">
                <a:solidFill>
                  <a:srgbClr val="FF0000"/>
                </a:solidFill>
              </a:rPr>
              <a:t>[ ]p </a:t>
            </a:r>
            <a:r>
              <a:rPr lang="en-US" altLang="zh-CN" dirty="0">
                <a:solidFill>
                  <a:srgbClr val="FF0000"/>
                </a:solidFill>
              </a:rPr>
              <a:t>;			 </a:t>
            </a:r>
            <a:r>
              <a:rPr lang="en-US" altLang="zh-CN" dirty="0" smtClean="0">
                <a:solidFill>
                  <a:srgbClr val="FF0000"/>
                </a:solidFill>
              </a:rPr>
              <a:t>//  </a:t>
            </a:r>
            <a:r>
              <a:rPr lang="zh-CN" altLang="en-US" dirty="0">
                <a:solidFill>
                  <a:srgbClr val="FF0000"/>
                </a:solidFill>
              </a:rPr>
              <a:t>释放</a:t>
            </a:r>
            <a:r>
              <a:rPr lang="zh-CN" altLang="zh-CN" dirty="0">
                <a:solidFill>
                  <a:srgbClr val="FF0000"/>
                </a:solidFill>
              </a:rPr>
              <a:t> </a:t>
            </a:r>
            <a:r>
              <a:rPr lang="en-US" altLang="zh-CN" dirty="0">
                <a:solidFill>
                  <a:srgbClr val="FF0000"/>
                </a:solidFill>
              </a:rPr>
              <a:t>s1 </a:t>
            </a:r>
            <a:r>
              <a:rPr lang="zh-CN" altLang="zh-CN" dirty="0">
                <a:solidFill>
                  <a:srgbClr val="FF0000"/>
                </a:solidFill>
              </a:rPr>
              <a:t>对象指向的内存空间</a:t>
            </a:r>
            <a:endParaRPr lang="zh-CN" altLang="en-US" dirty="0">
              <a:solidFill>
                <a:srgbClr val="FF0000"/>
              </a:solidFill>
            </a:endParaRPr>
          </a:p>
          <a:p>
            <a:pPr algn="l" eaLnBrk="1" hangingPunct="1">
              <a:lnSpc>
                <a:spcPct val="100000"/>
              </a:lnSpc>
            </a:pPr>
            <a:r>
              <a:rPr lang="zh-CN" altLang="en-US" dirty="0">
                <a:solidFill>
                  <a:srgbClr val="FF0000"/>
                </a:solidFill>
              </a:rPr>
              <a:t>   </a:t>
            </a:r>
            <a:r>
              <a:rPr lang="en-US" altLang="zh-CN" dirty="0">
                <a:solidFill>
                  <a:srgbClr val="FF0000"/>
                </a:solidFill>
              </a:rPr>
              <a:t>p = new char [ size = a . size ] ;	 	//  </a:t>
            </a:r>
            <a:r>
              <a:rPr lang="zh-CN" altLang="en-US" dirty="0">
                <a:solidFill>
                  <a:srgbClr val="FF0000"/>
                </a:solidFill>
              </a:rPr>
              <a:t>重新分配</a:t>
            </a:r>
            <a:r>
              <a:rPr lang="zh-CN" altLang="zh-CN" dirty="0">
                <a:solidFill>
                  <a:srgbClr val="FF0000"/>
                </a:solidFill>
              </a:rPr>
              <a:t> </a:t>
            </a:r>
            <a:r>
              <a:rPr lang="en-US" altLang="zh-CN" dirty="0">
                <a:solidFill>
                  <a:srgbClr val="FF0000"/>
                </a:solidFill>
              </a:rPr>
              <a:t>s1 </a:t>
            </a:r>
            <a:r>
              <a:rPr lang="zh-CN" altLang="zh-CN" dirty="0">
                <a:solidFill>
                  <a:srgbClr val="FF0000"/>
                </a:solidFill>
              </a:rPr>
              <a:t>的空间</a:t>
            </a:r>
            <a:endParaRPr lang="zh-CN" altLang="en-US" dirty="0">
              <a:solidFill>
                <a:srgbClr val="FF0000"/>
              </a:solidFill>
            </a:endParaRPr>
          </a:p>
          <a:p>
            <a:pPr algn="l" eaLnBrk="1" hangingPunct="1">
              <a:lnSpc>
                <a:spcPct val="100000"/>
              </a:lnSpc>
            </a:pPr>
            <a:r>
              <a:rPr lang="zh-CN" altLang="en-US" dirty="0">
                <a:solidFill>
                  <a:srgbClr val="FF0000"/>
                </a:solidFill>
              </a:rPr>
              <a:t>   </a:t>
            </a:r>
            <a:r>
              <a:rPr lang="en-US" altLang="zh-CN" dirty="0" err="1">
                <a:solidFill>
                  <a:srgbClr val="FF0000"/>
                </a:solidFill>
              </a:rPr>
              <a:t>strcpy</a:t>
            </a:r>
            <a:r>
              <a:rPr lang="en-US" altLang="zh-CN" dirty="0">
                <a:solidFill>
                  <a:srgbClr val="FF0000"/>
                </a:solidFill>
              </a:rPr>
              <a:t> ( p , a . p ) ;</a:t>
            </a:r>
            <a:endParaRPr lang="en-US" altLang="zh-CN" dirty="0">
              <a:solidFill>
                <a:srgbClr val="FF0000"/>
              </a:solidFill>
            </a:endParaRPr>
          </a:p>
          <a:p>
            <a:pPr algn="l" eaLnBrk="1" hangingPunct="1">
              <a:lnSpc>
                <a:spcPct val="100000"/>
              </a:lnSpc>
            </a:pPr>
            <a:r>
              <a:rPr lang="en-US" altLang="zh-CN" dirty="0" smtClean="0">
                <a:solidFill>
                  <a:srgbClr val="FF0000"/>
                </a:solidFill>
              </a:rPr>
              <a:t>   return *this;</a:t>
            </a:r>
            <a:endParaRPr lang="en-US" altLang="zh-CN" dirty="0" smtClean="0">
              <a:solidFill>
                <a:srgbClr val="FF0000"/>
              </a:solidFill>
            </a:endParaRPr>
          </a:p>
          <a:p>
            <a:pPr algn="l" eaLnBrk="1" hangingPunct="1">
              <a:lnSpc>
                <a:spcPct val="100000"/>
              </a:lnSpc>
            </a:pPr>
            <a:r>
              <a:rPr lang="en-US" altLang="zh-CN" dirty="0" smtClean="0">
                <a:solidFill>
                  <a:srgbClr val="FF0000"/>
                </a:solidFill>
              </a:rPr>
              <a:t>}</a:t>
            </a:r>
            <a:endParaRPr lang="en-US" altLang="zh-CN" dirty="0">
              <a:solidFill>
                <a:srgbClr val="FF0000"/>
              </a:solidFill>
            </a:endParaRPr>
          </a:p>
        </p:txBody>
      </p:sp>
      <p:sp>
        <p:nvSpPr>
          <p:cNvPr id="434214" name="AutoShape 38"/>
          <p:cNvSpPr>
            <a:spLocks noChangeArrowheads="1"/>
          </p:cNvSpPr>
          <p:nvPr/>
        </p:nvSpPr>
        <p:spPr bwMode="auto">
          <a:xfrm>
            <a:off x="6083424" y="1772816"/>
            <a:ext cx="3169096" cy="1584325"/>
          </a:xfrm>
          <a:prstGeom prst="verticalScroll">
            <a:avLst>
              <a:gd name="adj" fmla="val 7292"/>
            </a:avLst>
          </a:prstGeom>
          <a:solidFill>
            <a:schemeClr val="tx2">
              <a:lumMod val="20000"/>
              <a:lumOff val="80000"/>
            </a:schemeClr>
          </a:solidFill>
          <a:ln w="9525">
            <a:solidFill>
              <a:schemeClr val="tx1">
                <a:lumMod val="75000"/>
              </a:schemeClr>
            </a:solidFill>
            <a:round/>
          </a:ln>
          <a:effectLst>
            <a:outerShdw dist="40161" dir="20493903" algn="ctr" rotWithShape="0">
              <a:srgbClr val="808080"/>
            </a:outerShdw>
          </a:effectLst>
        </p:spPr>
        <p:txBody>
          <a:bodyPr wrap="square" anchor="ctr"/>
          <a:lstStyle/>
          <a:p>
            <a:pPr algn="l">
              <a:lnSpc>
                <a:spcPct val="110000"/>
              </a:lnSpc>
              <a:defRPr/>
            </a:pPr>
            <a:r>
              <a:rPr lang="zh-CN" altLang="en-US" b="1" dirty="0">
                <a:solidFill>
                  <a:srgbClr val="FF0000"/>
                </a:solidFill>
                <a:effectLst>
                  <a:outerShdw blurRad="38100" dist="38100" dir="2700000" algn="tl">
                    <a:srgbClr val="FFFFFF"/>
                  </a:outerShdw>
                </a:effectLst>
                <a:latin typeface="+mn-lt"/>
                <a:ea typeface="华文楷体" panose="02010600040101010101" pitchFamily="2" charset="-122"/>
              </a:rPr>
              <a:t>有时希望使用某种特殊</a:t>
            </a:r>
            <a:r>
              <a:rPr lang="zh-CN" altLang="en-US" b="1" dirty="0" smtClean="0">
                <a:solidFill>
                  <a:srgbClr val="FF0000"/>
                </a:solidFill>
                <a:effectLst>
                  <a:outerShdw blurRad="38100" dist="38100" dir="2700000" algn="tl">
                    <a:srgbClr val="FFFFFF"/>
                  </a:outerShdw>
                </a:effectLst>
                <a:latin typeface="+mn-lt"/>
                <a:ea typeface="华文楷体" panose="02010600040101010101" pitchFamily="2" charset="-122"/>
              </a:rPr>
              <a:t>的动态</a:t>
            </a:r>
            <a:r>
              <a:rPr lang="zh-CN" altLang="en-US" b="1" dirty="0">
                <a:solidFill>
                  <a:srgbClr val="FF0000"/>
                </a:solidFill>
                <a:effectLst>
                  <a:outerShdw blurRad="38100" dist="38100" dir="2700000" algn="tl">
                    <a:srgbClr val="FFFFFF"/>
                  </a:outerShdw>
                </a:effectLst>
                <a:latin typeface="+mn-lt"/>
                <a:ea typeface="华文楷体" panose="02010600040101010101" pitchFamily="2" charset="-122"/>
              </a:rPr>
              <a:t>内存分配</a:t>
            </a:r>
            <a:endParaRPr lang="zh-CN" altLang="en-US" b="1" dirty="0">
              <a:solidFill>
                <a:srgbClr val="FF0000"/>
              </a:solidFill>
              <a:effectLst>
                <a:outerShdw blurRad="38100" dist="38100" dir="2700000" algn="tl">
                  <a:srgbClr val="FFFFFF"/>
                </a:outerShdw>
              </a:effectLst>
              <a:latin typeface="+mn-lt"/>
              <a:ea typeface="华文楷体" panose="02010600040101010101" pitchFamily="2" charset="-122"/>
            </a:endParaRPr>
          </a:p>
          <a:p>
            <a:pPr algn="l">
              <a:lnSpc>
                <a:spcPct val="110000"/>
              </a:lnSpc>
              <a:defRPr/>
            </a:pPr>
            <a:r>
              <a:rPr lang="zh-CN" altLang="en-US" b="1" dirty="0">
                <a:solidFill>
                  <a:srgbClr val="FF0000"/>
                </a:solidFill>
                <a:effectLst>
                  <a:outerShdw blurRad="38100" dist="38100" dir="2700000" algn="tl">
                    <a:srgbClr val="FFFFFF"/>
                  </a:outerShdw>
                </a:effectLst>
                <a:latin typeface="+mn-lt"/>
                <a:ea typeface="华文楷体" panose="02010600040101010101" pitchFamily="2" charset="-122"/>
              </a:rPr>
              <a:t>重载 </a:t>
            </a:r>
            <a:r>
              <a:rPr lang="en-US" altLang="zh-CN" b="1" dirty="0">
                <a:solidFill>
                  <a:srgbClr val="FF0000"/>
                </a:solidFill>
                <a:effectLst>
                  <a:outerShdw blurRad="38100" dist="38100" dir="2700000" algn="tl">
                    <a:srgbClr val="FFFFFF"/>
                  </a:outerShdw>
                </a:effectLst>
                <a:latin typeface="+mn-lt"/>
                <a:ea typeface="华文楷体" panose="02010600040101010101" pitchFamily="2" charset="-122"/>
              </a:rPr>
              <a:t>new </a:t>
            </a:r>
            <a:r>
              <a:rPr lang="zh-CN" altLang="en-US" b="1" dirty="0">
                <a:solidFill>
                  <a:srgbClr val="FF0000"/>
                </a:solidFill>
                <a:effectLst>
                  <a:outerShdw blurRad="38100" dist="38100" dir="2700000" algn="tl">
                    <a:srgbClr val="FFFFFF"/>
                  </a:outerShdw>
                </a:effectLst>
                <a:latin typeface="+mn-lt"/>
                <a:ea typeface="华文楷体" panose="02010600040101010101" pitchFamily="2" charset="-122"/>
              </a:rPr>
              <a:t>和 </a:t>
            </a:r>
            <a:r>
              <a:rPr lang="en-US" altLang="zh-CN" b="1" dirty="0">
                <a:solidFill>
                  <a:srgbClr val="FF0000"/>
                </a:solidFill>
                <a:effectLst>
                  <a:outerShdw blurRad="38100" dist="38100" dir="2700000" algn="tl">
                    <a:srgbClr val="FFFFFF"/>
                  </a:outerShdw>
                </a:effectLst>
                <a:latin typeface="+mn-lt"/>
                <a:ea typeface="华文楷体" panose="02010600040101010101" pitchFamily="2" charset="-122"/>
              </a:rPr>
              <a:t>delete</a:t>
            </a:r>
            <a:endParaRPr lang="en-US" altLang="zh-CN" b="1" dirty="0">
              <a:solidFill>
                <a:srgbClr val="FF0000"/>
              </a:solidFill>
              <a:effectLst>
                <a:outerShdw blurRad="38100" dist="38100" dir="2700000" algn="tl">
                  <a:srgbClr val="FFFFFF"/>
                </a:outerShdw>
              </a:effectLst>
              <a:latin typeface="+mn-lt"/>
              <a:ea typeface="华文楷体" panose="02010600040101010101" pitchFamily="2" charset="-122"/>
            </a:endParaRPr>
          </a:p>
          <a:p>
            <a:pPr algn="l">
              <a:lnSpc>
                <a:spcPct val="110000"/>
              </a:lnSpc>
              <a:defRPr/>
            </a:pPr>
            <a:r>
              <a:rPr lang="zh-CN" altLang="en-US" b="1" dirty="0">
                <a:solidFill>
                  <a:srgbClr val="FF0000"/>
                </a:solidFill>
                <a:effectLst>
                  <a:outerShdw blurRad="38100" dist="38100" dir="2700000" algn="tl">
                    <a:srgbClr val="FFFFFF"/>
                  </a:outerShdw>
                </a:effectLst>
                <a:latin typeface="+mn-lt"/>
                <a:ea typeface="华文楷体" panose="02010600040101010101" pitchFamily="2" charset="-122"/>
              </a:rPr>
              <a:t>是可能的</a:t>
            </a:r>
            <a:endParaRPr lang="zh-CN" altLang="en-US" b="1" dirty="0">
              <a:solidFill>
                <a:srgbClr val="FF0000"/>
              </a:solidFill>
              <a:effectLst>
                <a:outerShdw blurRad="38100" dist="38100" dir="2700000" algn="tl">
                  <a:srgbClr val="FFFFFF"/>
                </a:outerShdw>
              </a:effectLst>
              <a:latin typeface="+mn-lt"/>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434214"/>
                                        </p:tgtEl>
                                        <p:attrNameLst>
                                          <p:attrName>style.visibility</p:attrName>
                                        </p:attrNameLst>
                                      </p:cBhvr>
                                      <p:to>
                                        <p:strVal val="visible"/>
                                      </p:to>
                                    </p:set>
                                    <p:anim calcmode="lin" valueType="num">
                                      <p:cBhvr>
                                        <p:cTn id="7" dur="500" fill="hold"/>
                                        <p:tgtEl>
                                          <p:spTgt spid="434214"/>
                                        </p:tgtEl>
                                        <p:attrNameLst>
                                          <p:attrName>ppt_x</p:attrName>
                                        </p:attrNameLst>
                                      </p:cBhvr>
                                      <p:tavLst>
                                        <p:tav tm="0">
                                          <p:val>
                                            <p:strVal val="#ppt_x"/>
                                          </p:val>
                                        </p:tav>
                                        <p:tav tm="100000">
                                          <p:val>
                                            <p:strVal val="#ppt_x"/>
                                          </p:val>
                                        </p:tav>
                                      </p:tavLst>
                                    </p:anim>
                                    <p:anim calcmode="lin" valueType="num">
                                      <p:cBhvr>
                                        <p:cTn id="8" dur="500" fill="hold"/>
                                        <p:tgtEl>
                                          <p:spTgt spid="434214"/>
                                        </p:tgtEl>
                                        <p:attrNameLst>
                                          <p:attrName>ppt_y</p:attrName>
                                        </p:attrNameLst>
                                      </p:cBhvr>
                                      <p:tavLst>
                                        <p:tav tm="0">
                                          <p:val>
                                            <p:strVal val="#ppt_y-#ppt_h/2"/>
                                          </p:val>
                                        </p:tav>
                                        <p:tav tm="100000">
                                          <p:val>
                                            <p:strVal val="#ppt_y"/>
                                          </p:val>
                                        </p:tav>
                                      </p:tavLst>
                                    </p:anim>
                                    <p:anim calcmode="lin" valueType="num">
                                      <p:cBhvr>
                                        <p:cTn id="9" dur="500" fill="hold"/>
                                        <p:tgtEl>
                                          <p:spTgt spid="434214"/>
                                        </p:tgtEl>
                                        <p:attrNameLst>
                                          <p:attrName>ppt_w</p:attrName>
                                        </p:attrNameLst>
                                      </p:cBhvr>
                                      <p:tavLst>
                                        <p:tav tm="0">
                                          <p:val>
                                            <p:strVal val="#ppt_w"/>
                                          </p:val>
                                        </p:tav>
                                        <p:tav tm="100000">
                                          <p:val>
                                            <p:strVal val="#ppt_w"/>
                                          </p:val>
                                        </p:tav>
                                      </p:tavLst>
                                    </p:anim>
                                    <p:anim calcmode="lin" valueType="num">
                                      <p:cBhvr>
                                        <p:cTn id="10" dur="500" fill="hold"/>
                                        <p:tgtEl>
                                          <p:spTgt spid="4342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214"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en-US" altLang="zh-CN" sz="4400" b="1" i="1" dirty="0">
                <a:effectLst>
                  <a:outerShdw blurRad="38100" dist="38100" dir="2700000" algn="tl">
                    <a:srgbClr val="000000"/>
                  </a:outerShdw>
                </a:effectLst>
                <a:ea typeface="隶书" panose="02010509060101010101" pitchFamily="49" charset="-122"/>
                <a:cs typeface="+mj-cs"/>
              </a:rPr>
              <a:t>     </a:t>
            </a:r>
            <a:r>
              <a:rPr lang="zh-CN" altLang="en-US" sz="4400" b="1" i="1" dirty="0">
                <a:effectLst>
                  <a:outerShdw blurRad="38100" dist="38100" dir="2700000" algn="tl">
                    <a:srgbClr val="000000"/>
                  </a:outerShdw>
                </a:effectLst>
                <a:ea typeface="隶书" panose="02010509060101010101" pitchFamily="49" charset="-122"/>
                <a:cs typeface="+mj-cs"/>
              </a:rPr>
              <a:t>重载</a:t>
            </a:r>
            <a:r>
              <a:rPr lang="en-US" altLang="zh-CN" sz="4400" b="1" i="1" dirty="0">
                <a:effectLst>
                  <a:outerShdw blurRad="38100" dist="38100" dir="2700000" algn="tl">
                    <a:srgbClr val="000000"/>
                  </a:outerShdw>
                </a:effectLst>
                <a:ea typeface="隶书" panose="02010509060101010101" pitchFamily="49" charset="-122"/>
                <a:cs typeface="+mj-cs"/>
              </a:rPr>
              <a:t>( )</a:t>
            </a:r>
            <a:r>
              <a:rPr lang="zh-CN" altLang="en-US" sz="4400" b="1" i="1" dirty="0">
                <a:effectLst>
                  <a:outerShdw blurRad="38100" dist="38100" dir="2700000" algn="tl">
                    <a:srgbClr val="000000"/>
                  </a:outerShdw>
                </a:effectLst>
                <a:ea typeface="隶书" panose="02010509060101010101" pitchFamily="49" charset="-122"/>
                <a:cs typeface="+mj-cs"/>
              </a:rPr>
              <a:t>和</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71683" name="Text Box 3"/>
          <p:cNvSpPr txBox="1">
            <a:spLocks noChangeArrowheads="1"/>
          </p:cNvSpPr>
          <p:nvPr/>
        </p:nvSpPr>
        <p:spPr bwMode="auto">
          <a:xfrm>
            <a:off x="1068179" y="2669412"/>
            <a:ext cx="7810500" cy="525401"/>
          </a:xfrm>
          <a:prstGeom prst="rect">
            <a:avLst/>
          </a:prstGeom>
          <a:noFill/>
          <a:ln w="9525">
            <a:noFill/>
            <a:miter lim="800000"/>
          </a:ln>
        </p:spPr>
        <p:txBody>
          <a:bodyPr lIns="90000" tIns="46800" rIns="90000" bIns="46800" anchor="ct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50000"/>
              </a:spcBef>
            </a:pPr>
            <a:r>
              <a:rPr lang="zh-CN" altLang="en-US" sz="2800" dirty="0">
                <a:latin typeface="Verdana" panose="020B0604030504040204" pitchFamily="34" charset="0"/>
                <a:sym typeface="Symbol" panose="05050102010706020507" pitchFamily="18" charset="2"/>
              </a:rPr>
              <a:t>只能用成员函数重载，不能用友元函数重载</a:t>
            </a:r>
            <a:endParaRPr lang="zh-CN" altLang="en-US" sz="2800" dirty="0">
              <a:latin typeface="Verdana" panose="020B0604030504040204" pitchFamily="34" charset="0"/>
              <a:sym typeface="Symbol" panose="05050102010706020507" pitchFamily="18" charset="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函数调用运算符</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72707" name="Text Box 3"/>
          <p:cNvSpPr txBox="1">
            <a:spLocks noChangeArrowheads="1"/>
          </p:cNvSpPr>
          <p:nvPr/>
        </p:nvSpPr>
        <p:spPr bwMode="auto">
          <a:xfrm>
            <a:off x="1082675" y="4452938"/>
            <a:ext cx="7810500" cy="1890712"/>
          </a:xfrm>
          <a:prstGeom prst="rect">
            <a:avLst/>
          </a:prstGeom>
          <a:solidFill>
            <a:schemeClr val="bg1"/>
          </a:solidFill>
          <a:ln w="9525">
            <a:solidFill>
              <a:schemeClr val="tx1"/>
            </a:solidFill>
            <a:miter lim="800000"/>
          </a:ln>
        </p:spPr>
        <p:txBody>
          <a:bodyPr lIns="90000" tIns="46800" rIns="90000" bIns="46800" anchor="ct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sz="2400" dirty="0">
                <a:sym typeface="Symbol" panose="05050102010706020507" pitchFamily="18" charset="2"/>
              </a:rPr>
              <a:t>设 </a:t>
            </a:r>
            <a:r>
              <a:rPr lang="en-US" altLang="zh-CN" sz="2400" dirty="0">
                <a:sym typeface="Symbol" panose="05050102010706020507" pitchFamily="18" charset="2"/>
              </a:rPr>
              <a:t>x </a:t>
            </a:r>
            <a:r>
              <a:rPr lang="zh-CN" altLang="en-US" sz="2400" dirty="0">
                <a:sym typeface="Symbol" panose="05050102010706020507" pitchFamily="18" charset="2"/>
              </a:rPr>
              <a:t>是类 </a:t>
            </a:r>
            <a:r>
              <a:rPr lang="en-US" altLang="zh-CN" sz="2400" dirty="0">
                <a:sym typeface="Symbol" panose="05050102010706020507" pitchFamily="18" charset="2"/>
              </a:rPr>
              <a:t>X </a:t>
            </a:r>
            <a:r>
              <a:rPr lang="zh-CN" altLang="en-US" sz="2400" dirty="0">
                <a:sym typeface="Symbol" panose="05050102010706020507" pitchFamily="18" charset="2"/>
              </a:rPr>
              <a:t>的一个对象，则表达式</a:t>
            </a:r>
            <a:endParaRPr lang="zh-CN" altLang="en-US" sz="2400" dirty="0">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	</a:t>
            </a:r>
            <a:r>
              <a:rPr lang="en-US" altLang="zh-CN" sz="2400" dirty="0">
                <a:solidFill>
                  <a:srgbClr val="FFFF00"/>
                </a:solidFill>
                <a:sym typeface="Symbol" panose="05050102010706020507" pitchFamily="18" charset="2"/>
              </a:rPr>
              <a:t>x ( arg1 , arg2 )</a:t>
            </a:r>
            <a:endParaRPr lang="en-US" altLang="zh-CN" sz="2400" dirty="0">
              <a:solidFill>
                <a:srgbClr val="FFFF00"/>
              </a:solidFill>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可被解释为</a:t>
            </a:r>
            <a:endParaRPr lang="zh-CN" altLang="en-US" sz="2400" dirty="0">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	</a:t>
            </a:r>
            <a:r>
              <a:rPr lang="en-US" altLang="zh-CN" sz="2400" dirty="0">
                <a:solidFill>
                  <a:srgbClr val="FFFF00"/>
                </a:solidFill>
                <a:sym typeface="Symbol" panose="05050102010706020507" pitchFamily="18" charset="2"/>
              </a:rPr>
              <a:t>x . operator ( ) ( arg1 , arg2 )</a:t>
            </a:r>
            <a:endParaRPr lang="en-US" altLang="zh-CN" sz="2800" dirty="0">
              <a:solidFill>
                <a:srgbClr val="FFFF00"/>
              </a:solidFill>
              <a:sym typeface="Symbol" panose="05050102010706020507" pitchFamily="18" charset="2"/>
            </a:endParaRPr>
          </a:p>
        </p:txBody>
      </p:sp>
      <p:sp>
        <p:nvSpPr>
          <p:cNvPr id="72708" name="Text Box 4"/>
          <p:cNvSpPr txBox="1">
            <a:spLocks noChangeArrowheads="1"/>
          </p:cNvSpPr>
          <p:nvPr/>
        </p:nvSpPr>
        <p:spPr bwMode="auto">
          <a:xfrm>
            <a:off x="1082675" y="1595438"/>
            <a:ext cx="7810500" cy="238219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zh-CN" altLang="en-US" sz="2400" dirty="0">
                <a:sym typeface="Symbol" panose="05050102010706020507" pitchFamily="18" charset="2"/>
              </a:rPr>
              <a:t>函数调用的一般格式为	</a:t>
            </a:r>
            <a:r>
              <a:rPr lang="zh-CN" altLang="en-US" sz="2400" dirty="0">
                <a:solidFill>
                  <a:srgbClr val="FFFF00"/>
                </a:solidFill>
                <a:sym typeface="Symbol" panose="05050102010706020507" pitchFamily="18" charset="2"/>
              </a:rPr>
              <a:t> 基本表达式 </a:t>
            </a:r>
            <a:r>
              <a:rPr lang="en-US" altLang="zh-CN" sz="2400" dirty="0">
                <a:solidFill>
                  <a:srgbClr val="FFFF00"/>
                </a:solidFill>
                <a:sym typeface="Symbol" panose="05050102010706020507" pitchFamily="18" charset="2"/>
              </a:rPr>
              <a:t>(  </a:t>
            </a:r>
            <a:r>
              <a:rPr lang="zh-CN" altLang="en-US" sz="2400" dirty="0">
                <a:solidFill>
                  <a:srgbClr val="FFFF00"/>
                </a:solidFill>
                <a:sym typeface="Symbol" panose="05050102010706020507" pitchFamily="18" charset="2"/>
              </a:rPr>
              <a:t>表达式表 </a:t>
            </a:r>
            <a:r>
              <a:rPr lang="en-US" altLang="zh-CN" sz="2400" dirty="0">
                <a:solidFill>
                  <a:srgbClr val="FFFF00"/>
                </a:solidFill>
                <a:sym typeface="Symbol" panose="05050102010706020507" pitchFamily="18" charset="2"/>
              </a:rPr>
              <a:t>)</a:t>
            </a:r>
            <a:endParaRPr lang="en-US" altLang="zh-CN" sz="2400" dirty="0">
              <a:solidFill>
                <a:srgbClr val="FFFF00"/>
              </a:solidFill>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可以看成一个二元运算符“</a:t>
            </a:r>
            <a:r>
              <a:rPr lang="zh-CN" altLang="en-US" sz="2400" dirty="0">
                <a:solidFill>
                  <a:srgbClr val="FFFF00"/>
                </a:solidFill>
                <a:sym typeface="Symbol" panose="05050102010706020507" pitchFamily="18" charset="2"/>
              </a:rPr>
              <a:t>（）</a:t>
            </a:r>
            <a:r>
              <a:rPr lang="zh-CN" altLang="en-US" sz="2400" dirty="0">
                <a:sym typeface="Symbol" panose="05050102010706020507" pitchFamily="18" charset="2"/>
              </a:rPr>
              <a:t>”：</a:t>
            </a:r>
            <a:endParaRPr lang="zh-CN" altLang="en-US" sz="2400" dirty="0">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	左操作数  为	 </a:t>
            </a:r>
            <a:r>
              <a:rPr lang="zh-CN" altLang="en-US" sz="2400" dirty="0">
                <a:solidFill>
                  <a:srgbClr val="FFFF00"/>
                </a:solidFill>
                <a:sym typeface="Symbol" panose="05050102010706020507" pitchFamily="18" charset="2"/>
              </a:rPr>
              <a:t>基本表达式</a:t>
            </a:r>
            <a:endParaRPr lang="zh-CN" altLang="en-US" sz="2400" dirty="0">
              <a:solidFill>
                <a:srgbClr val="FFFF00"/>
              </a:solidFill>
              <a:sym typeface="Symbol" panose="05050102010706020507" pitchFamily="18" charset="2"/>
            </a:endParaRPr>
          </a:p>
          <a:p>
            <a:pPr algn="l" eaLnBrk="1" hangingPunct="1">
              <a:lnSpc>
                <a:spcPct val="100000"/>
              </a:lnSpc>
              <a:spcBef>
                <a:spcPct val="30000"/>
              </a:spcBef>
            </a:pPr>
            <a:r>
              <a:rPr lang="zh-CN" altLang="en-US" sz="2400" dirty="0">
                <a:sym typeface="Symbol" panose="05050102010706020507" pitchFamily="18" charset="2"/>
              </a:rPr>
              <a:t>	右操作数  为   </a:t>
            </a:r>
            <a:r>
              <a:rPr lang="zh-CN" altLang="en-US" sz="2400" dirty="0">
                <a:solidFill>
                  <a:schemeClr val="hlink"/>
                </a:solidFill>
                <a:sym typeface="Symbol" panose="05050102010706020507" pitchFamily="18" charset="2"/>
              </a:rPr>
              <a:t>表达式表 </a:t>
            </a:r>
            <a:endParaRPr lang="zh-CN" altLang="en-US" sz="2400" dirty="0">
              <a:solidFill>
                <a:schemeClr val="hlink"/>
              </a:solidFill>
              <a:sym typeface="Symbol" panose="05050102010706020507" pitchFamily="18" charset="2"/>
            </a:endParaRPr>
          </a:p>
          <a:p>
            <a:pPr algn="l" eaLnBrk="1" hangingPunct="1">
              <a:lnSpc>
                <a:spcPct val="100000"/>
              </a:lnSpc>
              <a:spcBef>
                <a:spcPct val="30000"/>
              </a:spcBef>
            </a:pPr>
            <a:r>
              <a:rPr lang="en-US" altLang="zh-CN" sz="2400" dirty="0">
                <a:sym typeface="Symbol" panose="05050102010706020507" pitchFamily="18" charset="2"/>
              </a:rPr>
              <a:t> </a:t>
            </a:r>
            <a:r>
              <a:rPr lang="en-US" altLang="zh-CN" sz="2400" dirty="0" smtClean="0">
                <a:sym typeface="Symbol" panose="05050102010706020507" pitchFamily="18" charset="2"/>
              </a:rPr>
              <a:t>           </a:t>
            </a:r>
            <a:r>
              <a:rPr lang="zh-CN" altLang="en-US" sz="2400" dirty="0" smtClean="0">
                <a:sym typeface="Symbol" panose="05050102010706020507" pitchFamily="18" charset="2"/>
              </a:rPr>
              <a:t>对应</a:t>
            </a:r>
            <a:r>
              <a:rPr lang="zh-CN" altLang="en-US" sz="2400" dirty="0">
                <a:sym typeface="Symbol" panose="05050102010706020507" pitchFamily="18" charset="2"/>
              </a:rPr>
              <a:t>的函数</a:t>
            </a:r>
            <a:r>
              <a:rPr lang="zh-CN" altLang="en-US" sz="2400" dirty="0" smtClean="0">
                <a:sym typeface="Symbol" panose="05050102010706020507" pitchFamily="18" charset="2"/>
              </a:rPr>
              <a:t>是 </a:t>
            </a:r>
            <a:r>
              <a:rPr lang="en-US" altLang="zh-CN" sz="2400" dirty="0" smtClean="0">
                <a:solidFill>
                  <a:srgbClr val="FFFF00"/>
                </a:solidFill>
                <a:sym typeface="Symbol" panose="05050102010706020507" pitchFamily="18" charset="2"/>
              </a:rPr>
              <a:t>operator </a:t>
            </a:r>
            <a:r>
              <a:rPr lang="en-US" altLang="zh-CN" sz="2400" dirty="0">
                <a:solidFill>
                  <a:srgbClr val="FFFF00"/>
                </a:solidFill>
                <a:sym typeface="Symbol" panose="05050102010706020507" pitchFamily="18" charset="2"/>
              </a:rPr>
              <a:t>( )</a:t>
            </a:r>
            <a:endParaRPr lang="en-US" altLang="zh-CN" sz="2400" dirty="0">
              <a:solidFill>
                <a:srgbClr val="FFFF00"/>
              </a:solidFill>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函数调用运算符</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73731" name="Text Box 4"/>
          <p:cNvSpPr txBox="1">
            <a:spLocks noChangeArrowheads="1"/>
          </p:cNvSpPr>
          <p:nvPr/>
        </p:nvSpPr>
        <p:spPr bwMode="auto">
          <a:xfrm>
            <a:off x="1082675" y="1595438"/>
            <a:ext cx="7810500" cy="4772025"/>
          </a:xfrm>
          <a:prstGeom prst="rect">
            <a:avLst/>
          </a:prstGeom>
          <a:solidFill>
            <a:schemeClr val="tx1"/>
          </a:solidFill>
          <a:ln w="9525">
            <a:solidFill>
              <a:schemeClr val="tx1"/>
            </a:solidFill>
            <a:miter lim="800000"/>
          </a:ln>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30000"/>
              </a:spcBef>
            </a:pPr>
            <a:r>
              <a:rPr lang="en-US" altLang="zh-CN" dirty="0">
                <a:solidFill>
                  <a:srgbClr val="000000"/>
                </a:solidFill>
              </a:rPr>
              <a:t>// </a:t>
            </a:r>
            <a:r>
              <a:rPr lang="zh-CN" altLang="en-US" dirty="0">
                <a:solidFill>
                  <a:srgbClr val="000000"/>
                </a:solidFill>
              </a:rPr>
              <a:t>范例程序，用重载函数调用运算符实现数学函数的抽象</a:t>
            </a:r>
            <a:endParaRPr lang="zh-CN" altLang="en-US" dirty="0">
              <a:solidFill>
                <a:srgbClr val="000000"/>
              </a:solidFill>
            </a:endParaRPr>
          </a:p>
          <a:p>
            <a:pPr algn="l" eaLnBrk="1" hangingPunct="1">
              <a:lnSpc>
                <a:spcPct val="100000"/>
              </a:lnSpc>
              <a:spcBef>
                <a:spcPct val="30000"/>
              </a:spcBef>
            </a:pPr>
            <a:r>
              <a:rPr lang="en-US" altLang="zh-CN" dirty="0">
                <a:solidFill>
                  <a:srgbClr val="000000"/>
                </a:solidFill>
              </a:rPr>
              <a:t>#include &lt;</a:t>
            </a:r>
            <a:r>
              <a:rPr lang="en-US" altLang="zh-CN" dirty="0" err="1">
                <a:solidFill>
                  <a:srgbClr val="000000"/>
                </a:solidFill>
              </a:rPr>
              <a:t>iostream</a:t>
            </a:r>
            <a:r>
              <a:rPr lang="en-US" altLang="zh-CN" dirty="0">
                <a:solidFill>
                  <a:srgbClr val="000000"/>
                </a:solidFill>
              </a:rPr>
              <a:t>&gt;</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using namespace </a:t>
            </a:r>
            <a:r>
              <a:rPr lang="en-US" altLang="zh-CN" dirty="0" err="1">
                <a:solidFill>
                  <a:srgbClr val="000000"/>
                </a:solidFill>
              </a:rPr>
              <a:t>std</a:t>
            </a:r>
            <a:r>
              <a:rPr lang="en-US" altLang="zh-CN" dirty="0">
                <a:solidFill>
                  <a:srgbClr val="000000"/>
                </a:solidFill>
              </a:rPr>
              <a:t>;</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class  F</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public :  double  operator ( )  ( double x ,  double  y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double  F :: operator ( )  ( double  x ,  double  y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return   x * y + 5 ; }</a:t>
            </a:r>
            <a:endParaRPr lang="en-US" altLang="zh-CN" dirty="0">
              <a:solidFill>
                <a:srgbClr val="000000"/>
              </a:solidFill>
            </a:endParaRPr>
          </a:p>
          <a:p>
            <a:pPr algn="l" eaLnBrk="1" hangingPunct="1">
              <a:lnSpc>
                <a:spcPct val="100000"/>
              </a:lnSpc>
              <a:spcBef>
                <a:spcPct val="30000"/>
              </a:spcBef>
            </a:pPr>
            <a:r>
              <a:rPr lang="en-US" altLang="zh-CN" dirty="0" err="1">
                <a:solidFill>
                  <a:srgbClr val="000000"/>
                </a:solidFill>
              </a:rPr>
              <a:t>int</a:t>
            </a:r>
            <a:r>
              <a:rPr lang="en-US" altLang="zh-CN" dirty="0">
                <a:solidFill>
                  <a:srgbClr val="000000"/>
                </a:solidFill>
              </a:rPr>
              <a:t> main ( )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F  </a:t>
            </a:r>
            <a:r>
              <a:rPr lang="en-US" altLang="zh-CN" dirty="0" err="1">
                <a:solidFill>
                  <a:srgbClr val="000000"/>
                </a:solidFill>
              </a:rPr>
              <a:t>f</a:t>
            </a:r>
            <a:r>
              <a:rPr lang="en-US" altLang="zh-CN" dirty="0">
                <a:solidFill>
                  <a:srgbClr val="000000"/>
                </a:solidFill>
              </a:rPr>
              <a:t> ;</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  </a:t>
            </a:r>
            <a:r>
              <a:rPr lang="en-US" altLang="zh-CN" dirty="0" err="1">
                <a:solidFill>
                  <a:srgbClr val="000000"/>
                </a:solidFill>
              </a:rPr>
              <a:t>cout</a:t>
            </a:r>
            <a:r>
              <a:rPr lang="en-US" altLang="zh-CN" dirty="0">
                <a:solidFill>
                  <a:srgbClr val="000000"/>
                </a:solidFill>
              </a:rPr>
              <a:t> &lt;&lt; f ( 5.2 , 2.5 ) &lt;&lt; </a:t>
            </a:r>
            <a:r>
              <a:rPr lang="en-US" altLang="zh-CN" dirty="0" err="1">
                <a:solidFill>
                  <a:srgbClr val="000000"/>
                </a:solidFill>
              </a:rPr>
              <a:t>endl</a:t>
            </a:r>
            <a:r>
              <a:rPr lang="en-US" altLang="zh-CN" dirty="0">
                <a:solidFill>
                  <a:srgbClr val="000000"/>
                </a:solidFill>
              </a:rPr>
              <a:t> ;  return 0;</a:t>
            </a:r>
            <a:endParaRPr lang="en-US" altLang="zh-CN" dirty="0">
              <a:solidFill>
                <a:srgbClr val="000000"/>
              </a:solidFill>
            </a:endParaRPr>
          </a:p>
          <a:p>
            <a:pPr algn="l" eaLnBrk="1" hangingPunct="1">
              <a:lnSpc>
                <a:spcPct val="100000"/>
              </a:lnSpc>
              <a:spcBef>
                <a:spcPct val="30000"/>
              </a:spcBef>
            </a:pPr>
            <a:r>
              <a:rPr lang="en-US" altLang="zh-CN" dirty="0">
                <a:solidFill>
                  <a:srgbClr val="000000"/>
                </a:solidFill>
              </a:rPr>
              <a:t>}</a:t>
            </a:r>
            <a:endParaRPr lang="en-US" altLang="zh-CN" dirty="0">
              <a:solidFill>
                <a:srgbClr val="000000"/>
              </a:solidFill>
            </a:endParaRPr>
          </a:p>
        </p:txBody>
      </p:sp>
      <p:sp>
        <p:nvSpPr>
          <p:cNvPr id="438279" name="Text Box 7"/>
          <p:cNvSpPr txBox="1">
            <a:spLocks noChangeArrowheads="1"/>
          </p:cNvSpPr>
          <p:nvPr/>
        </p:nvSpPr>
        <p:spPr bwMode="auto">
          <a:xfrm>
            <a:off x="4056063" y="4337050"/>
            <a:ext cx="4837112" cy="1108075"/>
          </a:xfrm>
          <a:prstGeom prst="rect">
            <a:avLst/>
          </a:prstGeom>
          <a:solidFill>
            <a:schemeClr val="tx1">
              <a:lumMod val="75000"/>
            </a:schemeClr>
          </a:solidFill>
          <a:ln w="12700">
            <a:solidFill>
              <a:schemeClr val="accent4">
                <a:lumMod val="75000"/>
              </a:schemeClr>
            </a:solidFill>
            <a:miter lim="800000"/>
          </a:ln>
        </p:spPr>
        <p:txBody>
          <a:bodyPr lIns="0" tIns="0" rIns="0" bIns="0">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20000"/>
              </a:lnSpc>
            </a:pPr>
            <a:r>
              <a:rPr lang="en-US" altLang="zh-CN" dirty="0">
                <a:solidFill>
                  <a:srgbClr val="FF0000"/>
                </a:solidFill>
              </a:rPr>
              <a:t>C++  </a:t>
            </a:r>
            <a:r>
              <a:rPr lang="zh-CN" altLang="en-US" dirty="0">
                <a:solidFill>
                  <a:srgbClr val="FF0000"/>
                </a:solidFill>
              </a:rPr>
              <a:t>解释为 </a:t>
            </a:r>
            <a:r>
              <a:rPr lang="en-US" altLang="zh-CN" dirty="0">
                <a:solidFill>
                  <a:srgbClr val="FF0000"/>
                </a:solidFill>
              </a:rPr>
              <a:t>f . operator ( ) ( 5.2 , 2.5 )</a:t>
            </a:r>
            <a:endParaRPr lang="en-US" altLang="zh-CN" dirty="0">
              <a:solidFill>
                <a:srgbClr val="FF0000"/>
              </a:solidFill>
            </a:endParaRPr>
          </a:p>
          <a:p>
            <a:pPr algn="l" eaLnBrk="1" hangingPunct="1">
              <a:lnSpc>
                <a:spcPct val="120000"/>
              </a:lnSpc>
            </a:pPr>
            <a:r>
              <a:rPr lang="zh-CN" altLang="en-US" dirty="0">
                <a:solidFill>
                  <a:srgbClr val="FF0000"/>
                </a:solidFill>
              </a:rPr>
              <a:t>调用重载成员函数</a:t>
            </a:r>
            <a:endParaRPr lang="zh-CN" altLang="en-US" dirty="0">
              <a:solidFill>
                <a:srgbClr val="FF0000"/>
              </a:solidFill>
            </a:endParaRPr>
          </a:p>
          <a:p>
            <a:pPr algn="l" eaLnBrk="1" hangingPunct="1">
              <a:lnSpc>
                <a:spcPct val="120000"/>
              </a:lnSpc>
            </a:pPr>
            <a:r>
              <a:rPr lang="zh-CN" altLang="en-US" dirty="0">
                <a:solidFill>
                  <a:srgbClr val="FF0000"/>
                </a:solidFill>
              </a:rPr>
              <a:t> </a:t>
            </a:r>
            <a:r>
              <a:rPr lang="en-US" altLang="zh-CN" dirty="0">
                <a:solidFill>
                  <a:srgbClr val="FF0000"/>
                </a:solidFill>
              </a:rPr>
              <a:t>double  operator ( )  ( double x ,  double  y ) ;</a:t>
            </a:r>
            <a:endParaRPr lang="en-US" altLang="zh-CN" dirty="0">
              <a:solidFill>
                <a:srgbClr val="FF0000"/>
              </a:solidFill>
            </a:endParaRPr>
          </a:p>
        </p:txBody>
      </p:sp>
      <p:sp>
        <p:nvSpPr>
          <p:cNvPr id="438280" name="Line 8"/>
          <p:cNvSpPr>
            <a:spLocks noChangeShapeType="1"/>
          </p:cNvSpPr>
          <p:nvPr/>
        </p:nvSpPr>
        <p:spPr bwMode="auto">
          <a:xfrm flipH="1">
            <a:off x="2771775" y="4772025"/>
            <a:ext cx="1284288" cy="673100"/>
          </a:xfrm>
          <a:prstGeom prst="line">
            <a:avLst/>
          </a:prstGeom>
          <a:noFill/>
          <a:ln w="28575">
            <a:solidFill>
              <a:schemeClr val="tx1"/>
            </a:solidFill>
            <a:round/>
            <a:tailEnd type="oval" w="med" len="med"/>
          </a:ln>
          <a:effectLst>
            <a:outerShdw dist="35921" dir="2700000" algn="ctr" rotWithShape="0">
              <a:srgbClr val="808080"/>
            </a:outerShdw>
          </a:effectLst>
        </p:spPr>
        <p:txBody>
          <a:bodyPr wrap="none" anchor="ctr"/>
          <a:lstStyle/>
          <a:p>
            <a:pP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438280"/>
                                        </p:tgtEl>
                                        <p:attrNameLst>
                                          <p:attrName>style.visibility</p:attrName>
                                        </p:attrNameLst>
                                      </p:cBhvr>
                                      <p:to>
                                        <p:strVal val="visible"/>
                                      </p:to>
                                    </p:set>
                                    <p:anim calcmode="lin" valueType="num">
                                      <p:cBhvr>
                                        <p:cTn id="7" dur="500" fill="hold"/>
                                        <p:tgtEl>
                                          <p:spTgt spid="438280"/>
                                        </p:tgtEl>
                                        <p:attrNameLst>
                                          <p:attrName>ppt_x</p:attrName>
                                        </p:attrNameLst>
                                      </p:cBhvr>
                                      <p:tavLst>
                                        <p:tav tm="0">
                                          <p:val>
                                            <p:strVal val="#ppt_x"/>
                                          </p:val>
                                        </p:tav>
                                        <p:tav tm="100000">
                                          <p:val>
                                            <p:strVal val="#ppt_x"/>
                                          </p:val>
                                        </p:tav>
                                      </p:tavLst>
                                    </p:anim>
                                    <p:anim calcmode="lin" valueType="num">
                                      <p:cBhvr>
                                        <p:cTn id="8" dur="500" fill="hold"/>
                                        <p:tgtEl>
                                          <p:spTgt spid="438280"/>
                                        </p:tgtEl>
                                        <p:attrNameLst>
                                          <p:attrName>ppt_y</p:attrName>
                                        </p:attrNameLst>
                                      </p:cBhvr>
                                      <p:tavLst>
                                        <p:tav tm="0">
                                          <p:val>
                                            <p:strVal val="#ppt_y-#ppt_h/2"/>
                                          </p:val>
                                        </p:tav>
                                        <p:tav tm="100000">
                                          <p:val>
                                            <p:strVal val="#ppt_y"/>
                                          </p:val>
                                        </p:tav>
                                      </p:tavLst>
                                    </p:anim>
                                    <p:anim calcmode="lin" valueType="num">
                                      <p:cBhvr>
                                        <p:cTn id="9" dur="500" fill="hold"/>
                                        <p:tgtEl>
                                          <p:spTgt spid="438280"/>
                                        </p:tgtEl>
                                        <p:attrNameLst>
                                          <p:attrName>ppt_w</p:attrName>
                                        </p:attrNameLst>
                                      </p:cBhvr>
                                      <p:tavLst>
                                        <p:tav tm="0">
                                          <p:val>
                                            <p:strVal val="#ppt_w"/>
                                          </p:val>
                                        </p:tav>
                                        <p:tav tm="100000">
                                          <p:val>
                                            <p:strVal val="#ppt_w"/>
                                          </p:val>
                                        </p:tav>
                                      </p:tavLst>
                                    </p:anim>
                                    <p:anim calcmode="lin" valueType="num">
                                      <p:cBhvr>
                                        <p:cTn id="10" dur="500" fill="hold"/>
                                        <p:tgtEl>
                                          <p:spTgt spid="438280"/>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3" presetClass="entr" presetSubtype="5" fill="hold" grpId="0" nodeType="afterEffect">
                                  <p:stCondLst>
                                    <p:cond delay="1000"/>
                                  </p:stCondLst>
                                  <p:childTnLst>
                                    <p:set>
                                      <p:cBhvr>
                                        <p:cTn id="13" dur="1" fill="hold">
                                          <p:stCondLst>
                                            <p:cond delay="0"/>
                                          </p:stCondLst>
                                        </p:cTn>
                                        <p:tgtEl>
                                          <p:spTgt spid="438279"/>
                                        </p:tgtEl>
                                        <p:attrNameLst>
                                          <p:attrName>style.visibility</p:attrName>
                                        </p:attrNameLst>
                                      </p:cBhvr>
                                      <p:to>
                                        <p:strVal val="visible"/>
                                      </p:to>
                                    </p:set>
                                    <p:animEffect transition="in" filter="blinds(vertical)">
                                      <p:cBhvr>
                                        <p:cTn id="14" dur="500"/>
                                        <p:tgtEl>
                                          <p:spTgt spid="438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9"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函数调用运算符</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74755" name="Text Box 3"/>
          <p:cNvSpPr txBox="1">
            <a:spLocks noChangeArrowheads="1"/>
          </p:cNvSpPr>
          <p:nvPr/>
        </p:nvSpPr>
        <p:spPr bwMode="auto">
          <a:xfrm>
            <a:off x="1082675" y="1595438"/>
            <a:ext cx="7810500" cy="4929187"/>
          </a:xfrm>
          <a:prstGeom prst="rect">
            <a:avLst/>
          </a:prstGeom>
          <a:solidFill>
            <a:schemeClr val="tx1"/>
          </a:solidFill>
          <a:ln w="9525">
            <a:solidFill>
              <a:schemeClr val="tx1"/>
            </a:solidFill>
            <a:miter lim="800000"/>
          </a:ln>
        </p:spPr>
        <p:txBody>
          <a:bodyPr>
            <a:spAutoFit/>
          </a:bodyPr>
          <a:lstStyle>
            <a:defPPr>
              <a:defRPr lang="zh-CN"/>
            </a:defPPr>
            <a:lvl1pPr algn="l" eaLnBrk="1" hangingPunct="1">
              <a:lnSpc>
                <a:spcPct val="100000"/>
              </a:lnSpc>
              <a:spcBef>
                <a:spcPct val="30000"/>
              </a:spcBef>
              <a:defRPr sz="2000" b="1">
                <a:solidFill>
                  <a:srgbClr val="000000"/>
                </a:solidFill>
                <a:ea typeface="华文楷体" panose="02010600040101010101" pitchFamily="2" charset="-122"/>
              </a:defRPr>
            </a:lvl1pPr>
            <a:lvl2pPr marL="742950" indent="-285750" eaLnBrk="0" hangingPunct="0">
              <a:defRPr sz="2000" b="1">
                <a:ea typeface="华文楷体" panose="02010600040101010101" pitchFamily="2" charset="-122"/>
              </a:defRPr>
            </a:lvl2pPr>
            <a:lvl3pPr marL="1143000" indent="-228600" eaLnBrk="0" hangingPunct="0">
              <a:defRPr sz="2000" b="1">
                <a:ea typeface="华文楷体" panose="02010600040101010101" pitchFamily="2" charset="-122"/>
              </a:defRPr>
            </a:lvl3pPr>
            <a:lvl4pPr marL="1600200" indent="-228600" eaLnBrk="0" hangingPunct="0">
              <a:defRPr sz="2000" b="1">
                <a:ea typeface="华文楷体" panose="02010600040101010101" pitchFamily="2" charset="-122"/>
              </a:defRPr>
            </a:lvl4pPr>
            <a:lvl5pPr marL="2057400" indent="-228600" eaLnBrk="0" hangingPunct="0">
              <a:defRPr sz="2000" b="1">
                <a:ea typeface="华文楷体" panose="02010600040101010101" pitchFamily="2" charset="-122"/>
              </a:defRPr>
            </a:lvl5pPr>
            <a:lvl6pPr marL="2514600" indent="-228600" eaLnBrk="0" fontAlgn="base" hangingPunct="0">
              <a:lnSpc>
                <a:spcPct val="90000"/>
              </a:lnSpc>
              <a:spcBef>
                <a:spcPct val="0"/>
              </a:spcBef>
              <a:spcAft>
                <a:spcPct val="0"/>
              </a:spcAft>
              <a:defRPr sz="2000" b="1">
                <a:ea typeface="华文楷体" panose="02010600040101010101" pitchFamily="2" charset="-122"/>
              </a:defRPr>
            </a:lvl6pPr>
            <a:lvl7pPr marL="2971800" indent="-228600" eaLnBrk="0" fontAlgn="base" hangingPunct="0">
              <a:lnSpc>
                <a:spcPct val="90000"/>
              </a:lnSpc>
              <a:spcBef>
                <a:spcPct val="0"/>
              </a:spcBef>
              <a:spcAft>
                <a:spcPct val="0"/>
              </a:spcAft>
              <a:defRPr sz="2000" b="1">
                <a:ea typeface="华文楷体" panose="02010600040101010101" pitchFamily="2" charset="-122"/>
              </a:defRPr>
            </a:lvl7pPr>
            <a:lvl8pPr marL="3429000" indent="-228600" eaLnBrk="0" fontAlgn="base" hangingPunct="0">
              <a:lnSpc>
                <a:spcPct val="90000"/>
              </a:lnSpc>
              <a:spcBef>
                <a:spcPct val="0"/>
              </a:spcBef>
              <a:spcAft>
                <a:spcPct val="0"/>
              </a:spcAft>
              <a:defRPr sz="2000" b="1">
                <a:ea typeface="华文楷体" panose="02010600040101010101" pitchFamily="2" charset="-122"/>
              </a:defRPr>
            </a:lvl8pPr>
            <a:lvl9pPr marL="3886200" indent="-228600" eaLnBrk="0" fontAlgn="base" hangingPunct="0">
              <a:lnSpc>
                <a:spcPct val="90000"/>
              </a:lnSpc>
              <a:spcBef>
                <a:spcPct val="0"/>
              </a:spcBef>
              <a:spcAft>
                <a:spcPct val="0"/>
              </a:spcAft>
              <a:defRPr sz="2000" b="1">
                <a:ea typeface="华文楷体" panose="02010600040101010101" pitchFamily="2" charset="-122"/>
              </a:defRPr>
            </a:lvl9pPr>
          </a:lstStyle>
          <a:p>
            <a:r>
              <a:rPr lang="en-US" altLang="zh-CN"/>
              <a:t>// </a:t>
            </a:r>
            <a:r>
              <a:rPr lang="zh-CN" altLang="en-US"/>
              <a:t>范例程序，</a:t>
            </a:r>
            <a:r>
              <a:rPr lang="zh-CN" altLang="zh-CN"/>
              <a:t>对比用普通成员函数的实现</a:t>
            </a:r>
            <a:endParaRPr lang="zh-CN" altLang="en-US"/>
          </a:p>
          <a:p>
            <a:r>
              <a:rPr lang="en-US" altLang="zh-CN"/>
              <a:t>#include &lt;iostream&gt;</a:t>
            </a:r>
            <a:endParaRPr lang="en-US" altLang="zh-CN"/>
          </a:p>
          <a:p>
            <a:r>
              <a:rPr lang="en-US" altLang="zh-CN"/>
              <a:t>using namespace std;</a:t>
            </a:r>
            <a:endParaRPr lang="en-US" altLang="zh-CN"/>
          </a:p>
          <a:p>
            <a:r>
              <a:rPr lang="en-US" altLang="zh-CN"/>
              <a:t>class  F</a:t>
            </a:r>
            <a:endParaRPr lang="en-US" altLang="zh-CN"/>
          </a:p>
          <a:p>
            <a:r>
              <a:rPr lang="en-US" altLang="zh-CN"/>
              <a:t>{ public :  double  ff ( double  x ,  double  y ) ;</a:t>
            </a:r>
            <a:endParaRPr lang="en-US" altLang="zh-CN"/>
          </a:p>
          <a:p>
            <a:r>
              <a:rPr lang="en-US" altLang="zh-CN"/>
              <a:t>} ;</a:t>
            </a:r>
            <a:endParaRPr lang="en-US" altLang="zh-CN"/>
          </a:p>
          <a:p>
            <a:r>
              <a:rPr lang="en-US" altLang="zh-CN"/>
              <a:t>double  F :: ff ( double  x ,  double   y )</a:t>
            </a:r>
            <a:endParaRPr lang="en-US" altLang="zh-CN"/>
          </a:p>
          <a:p>
            <a:r>
              <a:rPr lang="en-US" altLang="zh-CN"/>
              <a:t>{  return   x * y + 5 ;  }</a:t>
            </a:r>
            <a:endParaRPr lang="en-US" altLang="zh-CN"/>
          </a:p>
          <a:p>
            <a:r>
              <a:rPr lang="en-US" altLang="zh-CN"/>
              <a:t>int main ( )</a:t>
            </a:r>
            <a:endParaRPr lang="en-US" altLang="zh-CN"/>
          </a:p>
          <a:p>
            <a:r>
              <a:rPr lang="en-US" altLang="zh-CN"/>
              <a:t>{ F  fobj ;</a:t>
            </a:r>
            <a:endParaRPr lang="en-US" altLang="zh-CN"/>
          </a:p>
          <a:p>
            <a:r>
              <a:rPr lang="en-US" altLang="zh-CN"/>
              <a:t>   cout &lt;&lt; fobj . ff ( 5.2 , 2.5 ) &lt;&lt; endl ;  return 0;</a:t>
            </a:r>
            <a:endParaRPr lang="en-US" altLang="zh-CN"/>
          </a:p>
          <a:p>
            <a:r>
              <a:rPr lang="en-US" altLang="zh-CN"/>
              <a:t>}</a:t>
            </a:r>
            <a:endParaRPr lang="en-US" altLang="zh-CN"/>
          </a:p>
        </p:txBody>
      </p:sp>
      <p:sp>
        <p:nvSpPr>
          <p:cNvPr id="439302" name="AutoShape 6"/>
          <p:cNvSpPr>
            <a:spLocks noChangeArrowheads="1"/>
          </p:cNvSpPr>
          <p:nvPr/>
        </p:nvSpPr>
        <p:spPr bwMode="auto">
          <a:xfrm>
            <a:off x="4716463" y="4116388"/>
            <a:ext cx="4135437" cy="1400175"/>
          </a:xfrm>
          <a:prstGeom prst="star32">
            <a:avLst>
              <a:gd name="adj" fmla="val 39255"/>
            </a:avLst>
          </a:prstGeom>
          <a:solidFill>
            <a:srgbClr val="DDDDDD"/>
          </a:solidFill>
          <a:ln w="9525">
            <a:solidFill>
              <a:srgbClr val="FFFF00"/>
            </a:solidFill>
            <a:miter lim="800000"/>
          </a:ln>
          <a:effectLst>
            <a:outerShdw dist="68392" dir="20291915" algn="ctr" rotWithShape="0">
              <a:srgbClr val="808080"/>
            </a:outerShdw>
          </a:effectLst>
        </p:spPr>
        <p:txBody>
          <a:bodyPr wrap="none" anchor="ctr"/>
          <a:lstStyle/>
          <a:p>
            <a:pPr algn="ctr">
              <a:lnSpc>
                <a:spcPct val="115000"/>
              </a:lnSpc>
              <a:defRPr/>
            </a:pPr>
            <a:r>
              <a:rPr lang="zh-CN" altLang="en-US" b="1">
                <a:solidFill>
                  <a:srgbClr val="FF0000"/>
                </a:solidFill>
                <a:latin typeface="华文楷体" panose="02010600040101010101" pitchFamily="2" charset="-122"/>
                <a:ea typeface="华文楷体" panose="02010600040101010101" pitchFamily="2" charset="-122"/>
              </a:rPr>
              <a:t>注意</a:t>
            </a:r>
            <a:endParaRPr lang="zh-CN" altLang="en-US" b="1">
              <a:solidFill>
                <a:srgbClr val="FF0000"/>
              </a:solidFill>
              <a:latin typeface="华文楷体" panose="02010600040101010101" pitchFamily="2" charset="-122"/>
              <a:ea typeface="华文楷体" panose="02010600040101010101" pitchFamily="2" charset="-122"/>
            </a:endParaRPr>
          </a:p>
          <a:p>
            <a:pPr algn="ctr">
              <a:lnSpc>
                <a:spcPct val="115000"/>
              </a:lnSpc>
              <a:defRPr/>
            </a:pPr>
            <a:r>
              <a:rPr lang="zh-CN" altLang="en-US" b="1">
                <a:solidFill>
                  <a:srgbClr val="FF0000"/>
                </a:solidFill>
                <a:latin typeface="华文楷体" panose="02010600040101010101" pitchFamily="2" charset="-122"/>
                <a:ea typeface="华文楷体" panose="02010600040101010101" pitchFamily="2" charset="-122"/>
              </a:rPr>
              <a:t>成员函数的定义和调用</a:t>
            </a:r>
            <a:endParaRPr lang="zh-CN" altLang="en-US" b="1">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3000"/>
                                  </p:stCondLst>
                                  <p:childTnLst>
                                    <p:set>
                                      <p:cBhvr>
                                        <p:cTn id="6" dur="1" fill="hold">
                                          <p:stCondLst>
                                            <p:cond delay="0"/>
                                          </p:stCondLst>
                                        </p:cTn>
                                        <p:tgtEl>
                                          <p:spTgt spid="439302"/>
                                        </p:tgtEl>
                                        <p:attrNameLst>
                                          <p:attrName>style.visibility</p:attrName>
                                        </p:attrNameLst>
                                      </p:cBhvr>
                                      <p:to>
                                        <p:strVal val="visible"/>
                                      </p:to>
                                    </p:set>
                                    <p:animEffect transition="in" filter="box(out)">
                                      <p:cBhvr>
                                        <p:cTn id="7" dur="500"/>
                                        <p:tgtEl>
                                          <p:spTgt spid="439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2"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下标运算符</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440325" name="Text Box 5"/>
          <p:cNvSpPr txBox="1">
            <a:spLocks noChangeArrowheads="1"/>
          </p:cNvSpPr>
          <p:nvPr/>
        </p:nvSpPr>
        <p:spPr bwMode="auto">
          <a:xfrm>
            <a:off x="1022350" y="1757363"/>
            <a:ext cx="7448550" cy="19272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sym typeface="Symbol" panose="05050102010706020507" pitchFamily="18" charset="2"/>
              </a:rPr>
              <a:t>下标运算的格式为		</a:t>
            </a:r>
            <a:r>
              <a:rPr lang="zh-CN" altLang="en-US" sz="2400" dirty="0">
                <a:solidFill>
                  <a:srgbClr val="FFFF00"/>
                </a:solidFill>
                <a:sym typeface="Symbol" panose="05050102010706020507" pitchFamily="18" charset="2"/>
              </a:rPr>
              <a:t> 基本表达式   </a:t>
            </a:r>
            <a:r>
              <a:rPr lang="en-US" altLang="zh-CN" sz="2400" dirty="0">
                <a:solidFill>
                  <a:srgbClr val="FFFF00"/>
                </a:solidFill>
                <a:sym typeface="Symbol" panose="05050102010706020507" pitchFamily="18" charset="2"/>
              </a:rPr>
              <a:t>[ &lt; </a:t>
            </a:r>
            <a:r>
              <a:rPr lang="zh-CN" altLang="en-US" sz="2400" dirty="0">
                <a:solidFill>
                  <a:srgbClr val="FFFF00"/>
                </a:solidFill>
                <a:sym typeface="Symbol" panose="05050102010706020507" pitchFamily="18" charset="2"/>
              </a:rPr>
              <a:t>表达式 </a:t>
            </a:r>
            <a:r>
              <a:rPr lang="en-US" altLang="zh-CN" sz="2400" dirty="0">
                <a:solidFill>
                  <a:srgbClr val="FFFF00"/>
                </a:solidFill>
                <a:sym typeface="Symbol" panose="05050102010706020507" pitchFamily="18" charset="2"/>
              </a:rPr>
              <a:t>&gt; ]</a:t>
            </a:r>
            <a:endParaRPr lang="en-US" altLang="zh-CN" sz="2400" dirty="0">
              <a:solidFill>
                <a:srgbClr val="FFFF00"/>
              </a:solidFill>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可以看成一个二元运算符“</a:t>
            </a:r>
            <a:r>
              <a:rPr lang="en-US" altLang="zh-CN" sz="2400" dirty="0">
                <a:solidFill>
                  <a:srgbClr val="FFFF00"/>
                </a:solidFill>
                <a:sym typeface="Symbol" panose="05050102010706020507" pitchFamily="18" charset="2"/>
              </a:rPr>
              <a:t>[ ]</a:t>
            </a:r>
            <a:r>
              <a:rPr lang="en-US" altLang="zh-CN" sz="2400" dirty="0">
                <a:sym typeface="Symbol" panose="05050102010706020507" pitchFamily="18" charset="2"/>
              </a:rPr>
              <a:t>”</a:t>
            </a:r>
            <a:r>
              <a:rPr lang="zh-CN" altLang="en-US" sz="2400" dirty="0">
                <a:sym typeface="Symbol" panose="05050102010706020507" pitchFamily="18" charset="2"/>
              </a:rPr>
              <a:t>：</a:t>
            </a:r>
            <a:endParaRPr lang="zh-CN" altLang="en-US" sz="2400" dirty="0">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	左操作数  为</a:t>
            </a:r>
            <a:r>
              <a:rPr lang="zh-CN" altLang="en-US" sz="2400" dirty="0">
                <a:solidFill>
                  <a:srgbClr val="FFFF00"/>
                </a:solidFill>
                <a:sym typeface="Symbol" panose="05050102010706020507" pitchFamily="18" charset="2"/>
              </a:rPr>
              <a:t>	</a:t>
            </a:r>
            <a:r>
              <a:rPr lang="zh-CN" altLang="en-US" sz="2400">
                <a:solidFill>
                  <a:srgbClr val="FFFF00"/>
                </a:solidFill>
                <a:sym typeface="Symbol" panose="05050102010706020507" pitchFamily="18" charset="2"/>
              </a:rPr>
              <a:t>基本</a:t>
            </a:r>
            <a:r>
              <a:rPr lang="zh-CN" altLang="en-US" sz="2400" smtClean="0">
                <a:solidFill>
                  <a:srgbClr val="FFFF00"/>
                </a:solidFill>
                <a:sym typeface="Symbol" panose="05050102010706020507" pitchFamily="18" charset="2"/>
              </a:rPr>
              <a:t>表达式</a:t>
            </a:r>
            <a:endParaRPr lang="en-US" altLang="zh-CN" sz="2400" dirty="0">
              <a:solidFill>
                <a:srgbClr val="FFFF00"/>
              </a:solidFill>
              <a:sym typeface="Symbol" panose="05050102010706020507" pitchFamily="18" charset="2"/>
            </a:endParaRPr>
          </a:p>
          <a:p>
            <a:pPr algn="l" eaLnBrk="1" hangingPunct="1">
              <a:lnSpc>
                <a:spcPct val="100000"/>
              </a:lnSpc>
            </a:pPr>
            <a:r>
              <a:rPr lang="en-US" altLang="zh-CN" sz="2400" dirty="0">
                <a:sym typeface="Symbol" panose="05050102010706020507" pitchFamily="18" charset="2"/>
              </a:rPr>
              <a:t>	</a:t>
            </a:r>
            <a:r>
              <a:rPr lang="zh-CN" altLang="en-US" sz="2400" dirty="0">
                <a:sym typeface="Symbol" panose="05050102010706020507" pitchFamily="18" charset="2"/>
              </a:rPr>
              <a:t>右操作数  为 	</a:t>
            </a:r>
            <a:r>
              <a:rPr lang="zh-CN" altLang="en-US" sz="2400" dirty="0">
                <a:solidFill>
                  <a:schemeClr val="hlink"/>
                </a:solidFill>
                <a:sym typeface="Symbol" panose="05050102010706020507" pitchFamily="18" charset="2"/>
              </a:rPr>
              <a:t>表达式</a:t>
            </a:r>
            <a:endParaRPr lang="zh-CN" altLang="en-US" sz="2400" dirty="0">
              <a:solidFill>
                <a:schemeClr val="hlink"/>
              </a:solidFill>
              <a:sym typeface="Symbol" panose="05050102010706020507" pitchFamily="18" charset="2"/>
            </a:endParaRPr>
          </a:p>
          <a:p>
            <a:pPr algn="l" eaLnBrk="1" hangingPunct="1">
              <a:lnSpc>
                <a:spcPct val="100000"/>
              </a:lnSpc>
            </a:pPr>
            <a:r>
              <a:rPr lang="zh-CN" altLang="en-US" sz="2400" dirty="0" smtClean="0">
                <a:sym typeface="Symbol" panose="05050102010706020507" pitchFamily="18" charset="2"/>
              </a:rPr>
              <a:t>            对应</a:t>
            </a:r>
            <a:r>
              <a:rPr lang="zh-CN" altLang="en-US" sz="2400" dirty="0">
                <a:sym typeface="Symbol" panose="05050102010706020507" pitchFamily="18" charset="2"/>
              </a:rPr>
              <a:t>的函数是 </a:t>
            </a:r>
            <a:r>
              <a:rPr lang="en-US" altLang="zh-CN" sz="2400" dirty="0" smtClean="0">
                <a:solidFill>
                  <a:srgbClr val="FFFF00"/>
                </a:solidFill>
                <a:sym typeface="Symbol" panose="05050102010706020507" pitchFamily="18" charset="2"/>
              </a:rPr>
              <a:t>operator </a:t>
            </a:r>
            <a:r>
              <a:rPr lang="en-US" altLang="zh-CN" sz="2400" dirty="0">
                <a:solidFill>
                  <a:srgbClr val="FFFF00"/>
                </a:solidFill>
                <a:sym typeface="Symbol" panose="05050102010706020507" pitchFamily="18" charset="2"/>
              </a:rPr>
              <a:t>[ ] </a:t>
            </a:r>
            <a:endParaRPr lang="en-US" altLang="zh-CN" sz="2400" dirty="0">
              <a:solidFill>
                <a:srgbClr val="FFFF00"/>
              </a:solidFill>
              <a:sym typeface="Symbol" panose="05050102010706020507" pitchFamily="18" charset="2"/>
            </a:endParaRPr>
          </a:p>
        </p:txBody>
      </p:sp>
      <p:sp>
        <p:nvSpPr>
          <p:cNvPr id="440326" name="Rectangle 6"/>
          <p:cNvSpPr>
            <a:spLocks noChangeArrowheads="1"/>
          </p:cNvSpPr>
          <p:nvPr/>
        </p:nvSpPr>
        <p:spPr bwMode="auto">
          <a:xfrm>
            <a:off x="1022350" y="4005263"/>
            <a:ext cx="7448550" cy="19272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zh-CN" altLang="en-US" sz="2400" dirty="0">
                <a:sym typeface="Symbol" panose="05050102010706020507" pitchFamily="18" charset="2"/>
              </a:rPr>
              <a:t>设 </a:t>
            </a:r>
            <a:r>
              <a:rPr lang="en-US" altLang="zh-CN" sz="2400" dirty="0">
                <a:sym typeface="Symbol" panose="05050102010706020507" pitchFamily="18" charset="2"/>
              </a:rPr>
              <a:t>x </a:t>
            </a:r>
            <a:r>
              <a:rPr lang="zh-CN" altLang="en-US" sz="2400" dirty="0">
                <a:sym typeface="Symbol" panose="05050102010706020507" pitchFamily="18" charset="2"/>
              </a:rPr>
              <a:t>是类 </a:t>
            </a:r>
            <a:r>
              <a:rPr lang="en-US" altLang="zh-CN" sz="2400" dirty="0">
                <a:sym typeface="Symbol" panose="05050102010706020507" pitchFamily="18" charset="2"/>
              </a:rPr>
              <a:t>X </a:t>
            </a:r>
            <a:r>
              <a:rPr lang="zh-CN" altLang="en-US" sz="2400" dirty="0">
                <a:sym typeface="Symbol" panose="05050102010706020507" pitchFamily="18" charset="2"/>
              </a:rPr>
              <a:t>的一个对象，则表达式</a:t>
            </a:r>
            <a:endParaRPr lang="zh-CN" altLang="en-US" sz="2400" dirty="0">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	</a:t>
            </a:r>
            <a:r>
              <a:rPr lang="en-US" altLang="zh-CN" sz="2400" dirty="0">
                <a:solidFill>
                  <a:srgbClr val="FFFF00"/>
                </a:solidFill>
                <a:sym typeface="Symbol" panose="05050102010706020507" pitchFamily="18" charset="2"/>
              </a:rPr>
              <a:t>x [ y ]</a:t>
            </a:r>
            <a:endParaRPr lang="en-US" altLang="zh-CN" sz="2400" dirty="0">
              <a:solidFill>
                <a:srgbClr val="FFFF00"/>
              </a:solidFill>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可被解释为</a:t>
            </a:r>
            <a:endParaRPr lang="zh-CN" altLang="en-US" sz="2400" dirty="0">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	</a:t>
            </a:r>
            <a:r>
              <a:rPr lang="en-US" altLang="zh-CN" sz="2400" dirty="0">
                <a:solidFill>
                  <a:srgbClr val="FFFF00"/>
                </a:solidFill>
                <a:sym typeface="Symbol" panose="05050102010706020507" pitchFamily="18" charset="2"/>
              </a:rPr>
              <a:t>x . operator [ ] ( y )</a:t>
            </a:r>
            <a:endParaRPr lang="en-US" altLang="zh-CN" sz="2400" dirty="0">
              <a:solidFill>
                <a:srgbClr val="FFFF00"/>
              </a:solidFill>
              <a:sym typeface="Symbol" panose="05050102010706020507" pitchFamily="18" charset="2"/>
            </a:endParaRPr>
          </a:p>
          <a:p>
            <a:pPr algn="l" eaLnBrk="1" hangingPunct="1">
              <a:lnSpc>
                <a:spcPct val="100000"/>
              </a:lnSpc>
            </a:pPr>
            <a:r>
              <a:rPr lang="zh-CN" altLang="en-US" sz="2400" dirty="0">
                <a:sym typeface="Symbol" panose="05050102010706020507" pitchFamily="18" charset="2"/>
              </a:rPr>
              <a:t>重载时，只能显式地声明一个参数</a:t>
            </a:r>
            <a:endParaRPr lang="zh-CN" altLang="en-US" sz="2400" dirty="0">
              <a:solidFill>
                <a:srgbClr val="FF3300"/>
              </a:solidFill>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1000"/>
                                  </p:stCondLst>
                                  <p:iterate type="wd">
                                    <p:tmPct val="100000"/>
                                  </p:iterate>
                                  <p:childTnLst>
                                    <p:set>
                                      <p:cBhvr>
                                        <p:cTn id="6" dur="1" fill="hold">
                                          <p:stCondLst>
                                            <p:cond delay="0"/>
                                          </p:stCondLst>
                                        </p:cTn>
                                        <p:tgtEl>
                                          <p:spTgt spid="440325">
                                            <p:txEl>
                                              <p:pRg st="0" end="0"/>
                                            </p:txEl>
                                          </p:spTgt>
                                        </p:tgtEl>
                                        <p:attrNameLst>
                                          <p:attrName>style.visibility</p:attrName>
                                        </p:attrNameLst>
                                      </p:cBhvr>
                                      <p:to>
                                        <p:strVal val="visible"/>
                                      </p:to>
                                    </p:set>
                                    <p:animEffect transition="in" filter="checkerboard(across)">
                                      <p:cBhvr>
                                        <p:cTn id="7" dur="300"/>
                                        <p:tgtEl>
                                          <p:spTgt spid="440325">
                                            <p:txEl>
                                              <p:pRg st="0" end="0"/>
                                            </p:txEl>
                                          </p:spTgt>
                                        </p:tgtEl>
                                      </p:cBhvr>
                                    </p:animEffect>
                                  </p:childTnLst>
                                </p:cTn>
                              </p:par>
                            </p:childTnLst>
                          </p:cTn>
                        </p:par>
                        <p:par>
                          <p:cTn id="8" fill="hold">
                            <p:stCondLst>
                              <p:cond delay="10000"/>
                            </p:stCondLst>
                            <p:childTnLst>
                              <p:par>
                                <p:cTn id="9" presetID="5" presetClass="entr" presetSubtype="10" fill="hold" grpId="0" nodeType="afterEffect">
                                  <p:stCondLst>
                                    <p:cond delay="1000"/>
                                  </p:stCondLst>
                                  <p:iterate type="wd">
                                    <p:tmPct val="100000"/>
                                  </p:iterate>
                                  <p:childTnLst>
                                    <p:set>
                                      <p:cBhvr>
                                        <p:cTn id="10" dur="1" fill="hold">
                                          <p:stCondLst>
                                            <p:cond delay="0"/>
                                          </p:stCondLst>
                                        </p:cTn>
                                        <p:tgtEl>
                                          <p:spTgt spid="440325">
                                            <p:txEl>
                                              <p:pRg st="1" end="1"/>
                                            </p:txEl>
                                          </p:spTgt>
                                        </p:tgtEl>
                                        <p:attrNameLst>
                                          <p:attrName>style.visibility</p:attrName>
                                        </p:attrNameLst>
                                      </p:cBhvr>
                                      <p:to>
                                        <p:strVal val="visible"/>
                                      </p:to>
                                    </p:set>
                                    <p:animEffect transition="in" filter="checkerboard(across)">
                                      <p:cBhvr>
                                        <p:cTn id="11" dur="300"/>
                                        <p:tgtEl>
                                          <p:spTgt spid="440325">
                                            <p:txEl>
                                              <p:pRg st="1" end="1"/>
                                            </p:txEl>
                                          </p:spTgt>
                                        </p:tgtEl>
                                      </p:cBhvr>
                                    </p:animEffect>
                                  </p:childTnLst>
                                </p:cTn>
                              </p:par>
                            </p:childTnLst>
                          </p:cTn>
                        </p:par>
                        <p:par>
                          <p:cTn id="12" fill="hold">
                            <p:stCondLst>
                              <p:cond delay="16100"/>
                            </p:stCondLst>
                            <p:childTnLst>
                              <p:par>
                                <p:cTn id="13" presetID="5" presetClass="entr" presetSubtype="10" fill="hold" grpId="0" nodeType="afterEffect">
                                  <p:stCondLst>
                                    <p:cond delay="1000"/>
                                  </p:stCondLst>
                                  <p:iterate type="wd">
                                    <p:tmPct val="100000"/>
                                  </p:iterate>
                                  <p:childTnLst>
                                    <p:set>
                                      <p:cBhvr>
                                        <p:cTn id="14" dur="1" fill="hold">
                                          <p:stCondLst>
                                            <p:cond delay="0"/>
                                          </p:stCondLst>
                                        </p:cTn>
                                        <p:tgtEl>
                                          <p:spTgt spid="440325">
                                            <p:txEl>
                                              <p:pRg st="2" end="2"/>
                                            </p:txEl>
                                          </p:spTgt>
                                        </p:tgtEl>
                                        <p:attrNameLst>
                                          <p:attrName>style.visibility</p:attrName>
                                        </p:attrNameLst>
                                      </p:cBhvr>
                                      <p:to>
                                        <p:strVal val="visible"/>
                                      </p:to>
                                    </p:set>
                                    <p:animEffect transition="in" filter="checkerboard(across)">
                                      <p:cBhvr>
                                        <p:cTn id="15" dur="300"/>
                                        <p:tgtEl>
                                          <p:spTgt spid="440325">
                                            <p:txEl>
                                              <p:pRg st="2" end="2"/>
                                            </p:txEl>
                                          </p:spTgt>
                                        </p:tgtEl>
                                      </p:cBhvr>
                                    </p:animEffect>
                                  </p:childTnLst>
                                </p:cTn>
                              </p:par>
                            </p:childTnLst>
                          </p:cTn>
                        </p:par>
                        <p:par>
                          <p:cTn id="16" fill="hold">
                            <p:stCondLst>
                              <p:cond delay="21300"/>
                            </p:stCondLst>
                            <p:childTnLst>
                              <p:par>
                                <p:cTn id="17" presetID="5" presetClass="entr" presetSubtype="10" fill="hold" grpId="0" nodeType="afterEffect">
                                  <p:stCondLst>
                                    <p:cond delay="1000"/>
                                  </p:stCondLst>
                                  <p:iterate type="wd">
                                    <p:tmPct val="100000"/>
                                  </p:iterate>
                                  <p:childTnLst>
                                    <p:set>
                                      <p:cBhvr>
                                        <p:cTn id="18" dur="1" fill="hold">
                                          <p:stCondLst>
                                            <p:cond delay="0"/>
                                          </p:stCondLst>
                                        </p:cTn>
                                        <p:tgtEl>
                                          <p:spTgt spid="440325">
                                            <p:txEl>
                                              <p:pRg st="3" end="3"/>
                                            </p:txEl>
                                          </p:spTgt>
                                        </p:tgtEl>
                                        <p:attrNameLst>
                                          <p:attrName>style.visibility</p:attrName>
                                        </p:attrNameLst>
                                      </p:cBhvr>
                                      <p:to>
                                        <p:strVal val="visible"/>
                                      </p:to>
                                    </p:set>
                                    <p:animEffect transition="in" filter="checkerboard(across)">
                                      <p:cBhvr>
                                        <p:cTn id="19" dur="300"/>
                                        <p:tgtEl>
                                          <p:spTgt spid="440325">
                                            <p:txEl>
                                              <p:pRg st="3" end="3"/>
                                            </p:txEl>
                                          </p:spTgt>
                                        </p:tgtEl>
                                      </p:cBhvr>
                                    </p:animEffect>
                                  </p:childTnLst>
                                </p:cTn>
                              </p:par>
                            </p:childTnLst>
                          </p:cTn>
                        </p:par>
                        <p:par>
                          <p:cTn id="20" fill="hold">
                            <p:stCondLst>
                              <p:cond delay="26200"/>
                            </p:stCondLst>
                            <p:childTnLst>
                              <p:par>
                                <p:cTn id="21" presetID="5" presetClass="entr" presetSubtype="10" fill="hold" grpId="0" nodeType="afterEffect">
                                  <p:stCondLst>
                                    <p:cond delay="1000"/>
                                  </p:stCondLst>
                                  <p:iterate type="wd">
                                    <p:tmPct val="100000"/>
                                  </p:iterate>
                                  <p:childTnLst>
                                    <p:set>
                                      <p:cBhvr>
                                        <p:cTn id="22" dur="1" fill="hold">
                                          <p:stCondLst>
                                            <p:cond delay="0"/>
                                          </p:stCondLst>
                                        </p:cTn>
                                        <p:tgtEl>
                                          <p:spTgt spid="440325">
                                            <p:txEl>
                                              <p:pRg st="4" end="4"/>
                                            </p:txEl>
                                          </p:spTgt>
                                        </p:tgtEl>
                                        <p:attrNameLst>
                                          <p:attrName>style.visibility</p:attrName>
                                        </p:attrNameLst>
                                      </p:cBhvr>
                                      <p:to>
                                        <p:strVal val="visible"/>
                                      </p:to>
                                    </p:set>
                                    <p:animEffect transition="in" filter="checkerboard(across)">
                                      <p:cBhvr>
                                        <p:cTn id="23" dur="300"/>
                                        <p:tgtEl>
                                          <p:spTgt spid="44032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440326"/>
                                        </p:tgtEl>
                                        <p:attrNameLst>
                                          <p:attrName>style.visibility</p:attrName>
                                        </p:attrNameLst>
                                      </p:cBhvr>
                                      <p:to>
                                        <p:strVal val="visible"/>
                                      </p:to>
                                    </p:set>
                                    <p:animEffect transition="in" filter="box(out)">
                                      <p:cBhvr>
                                        <p:cTn id="28" dur="500"/>
                                        <p:tgtEl>
                                          <p:spTgt spid="440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5" grpId="0" advAuto="1000" autoUpdateAnimBg="0" build="p"/>
      <p:bldP spid="440326"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重载</a:t>
            </a:r>
            <a:r>
              <a:rPr lang="zh-CN" altLang="en-US" sz="4400" b="1" i="1" dirty="0">
                <a:effectLst>
                  <a:outerShdw blurRad="38100" dist="38100" dir="2700000" algn="tl">
                    <a:srgbClr val="000000"/>
                  </a:outerShdw>
                </a:effectLst>
                <a:ea typeface="隶书" panose="02010509060101010101" pitchFamily="49" charset="-122"/>
                <a:cs typeface="+mj-cs"/>
              </a:rPr>
              <a:t>下标运算符</a:t>
            </a:r>
            <a:r>
              <a:rPr lang="en-US" altLang="zh-CN" sz="4400" b="1" i="1" dirty="0">
                <a:effectLst>
                  <a:outerShdw blurRad="38100" dist="38100" dir="2700000" algn="tl">
                    <a:srgbClr val="000000"/>
                  </a:outerShdw>
                </a:effectLst>
                <a:ea typeface="隶书" panose="02010509060101010101" pitchFamily="49" charset="-122"/>
                <a:cs typeface="+mj-cs"/>
              </a:rPr>
              <a:t>[ ]</a:t>
            </a:r>
            <a:endParaRPr lang="en-US" altLang="zh-CN" sz="4400" b="1" i="1" dirty="0">
              <a:effectLst>
                <a:outerShdw blurRad="38100" dist="38100" dir="2700000" algn="tl">
                  <a:srgbClr val="000000"/>
                </a:outerShdw>
              </a:effectLst>
              <a:ea typeface="隶书" panose="02010509060101010101" pitchFamily="49" charset="-122"/>
              <a:cs typeface="+mj-cs"/>
            </a:endParaRPr>
          </a:p>
        </p:txBody>
      </p:sp>
      <p:sp>
        <p:nvSpPr>
          <p:cNvPr id="441347" name="Text Box 3"/>
          <p:cNvSpPr txBox="1">
            <a:spLocks noChangeArrowheads="1"/>
          </p:cNvSpPr>
          <p:nvPr/>
        </p:nvSpPr>
        <p:spPr bwMode="auto">
          <a:xfrm>
            <a:off x="1022350" y="1804988"/>
            <a:ext cx="5815013" cy="4978400"/>
          </a:xfrm>
          <a:prstGeom prst="rect">
            <a:avLst/>
          </a:prstGeom>
          <a:solidFill>
            <a:schemeClr val="tx1"/>
          </a:solidFill>
          <a:ln w="9525">
            <a:solidFill>
              <a:schemeClr val="tx1"/>
            </a:solidFill>
            <a:miter lim="800000"/>
          </a:ln>
        </p:spPr>
        <p:txBody>
          <a:bodyPr wrap="none">
            <a:spAutoFit/>
          </a:bodyPr>
          <a:lstStyle>
            <a:lvl1pPr eaLnBrk="0" hangingPunct="0">
              <a:defRPr kumimoji="1"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90000"/>
              </a:lnSpc>
              <a:spcBef>
                <a:spcPct val="0"/>
              </a:spcBef>
              <a:spcAft>
                <a:spcPct val="0"/>
              </a:spcAft>
              <a:defRPr kumimoji="1"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pPr>
            <a:r>
              <a:rPr lang="en-US" altLang="zh-CN">
                <a:solidFill>
                  <a:srgbClr val="000000"/>
                </a:solidFill>
              </a:rPr>
              <a:t>// </a:t>
            </a:r>
            <a:r>
              <a:rPr lang="zh-CN" altLang="en-US">
                <a:solidFill>
                  <a:srgbClr val="000000"/>
                </a:solidFill>
              </a:rPr>
              <a:t>范例程序，重载下标运算符</a:t>
            </a:r>
            <a:endParaRPr lang="zh-CN" altLang="en-US">
              <a:solidFill>
                <a:srgbClr val="000000"/>
              </a:solidFill>
            </a:endParaRPr>
          </a:p>
          <a:p>
            <a:pPr algn="l" eaLnBrk="1" hangingPunct="1">
              <a:lnSpc>
                <a:spcPct val="100000"/>
              </a:lnSpc>
            </a:pPr>
            <a:r>
              <a:rPr lang="en-US" altLang="zh-CN">
                <a:solidFill>
                  <a:srgbClr val="000000"/>
                </a:solidFill>
              </a:rPr>
              <a:t>#include&lt;iostream&gt;</a:t>
            </a:r>
            <a:endParaRPr lang="en-US" altLang="zh-CN">
              <a:solidFill>
                <a:srgbClr val="000000"/>
              </a:solidFill>
            </a:endParaRPr>
          </a:p>
          <a:p>
            <a:pPr algn="l" eaLnBrk="1" hangingPunct="1">
              <a:lnSpc>
                <a:spcPct val="100000"/>
              </a:lnSpc>
            </a:pPr>
            <a:r>
              <a:rPr lang="en-US" altLang="zh-CN">
                <a:solidFill>
                  <a:srgbClr val="000000"/>
                </a:solidFill>
              </a:rPr>
              <a:t>using namespace std;</a:t>
            </a:r>
            <a:endParaRPr lang="en-US" altLang="zh-CN">
              <a:solidFill>
                <a:srgbClr val="000000"/>
              </a:solidFill>
            </a:endParaRPr>
          </a:p>
          <a:p>
            <a:pPr algn="l" eaLnBrk="1" hangingPunct="1">
              <a:lnSpc>
                <a:spcPct val="100000"/>
              </a:lnSpc>
            </a:pPr>
            <a:r>
              <a:rPr lang="en-US" altLang="zh-CN">
                <a:solidFill>
                  <a:srgbClr val="000000"/>
                </a:solidFill>
              </a:rPr>
              <a:t>class  vector</a:t>
            </a:r>
            <a:endParaRPr lang="en-US" altLang="zh-CN">
              <a:solidFill>
                <a:srgbClr val="000000"/>
              </a:solidFill>
            </a:endParaRPr>
          </a:p>
          <a:p>
            <a:pPr algn="l" eaLnBrk="1" hangingPunct="1">
              <a:lnSpc>
                <a:spcPct val="100000"/>
              </a:lnSpc>
            </a:pPr>
            <a:r>
              <a:rPr lang="en-US" altLang="zh-CN">
                <a:solidFill>
                  <a:srgbClr val="000000"/>
                </a:solidFill>
              </a:rPr>
              <a:t>{ public :</a:t>
            </a:r>
            <a:endParaRPr lang="en-US" altLang="zh-CN">
              <a:solidFill>
                <a:srgbClr val="000000"/>
              </a:solidFill>
            </a:endParaRPr>
          </a:p>
          <a:p>
            <a:pPr algn="l" eaLnBrk="1" hangingPunct="1">
              <a:lnSpc>
                <a:spcPct val="100000"/>
              </a:lnSpc>
            </a:pPr>
            <a:r>
              <a:rPr lang="en-US" altLang="zh-CN">
                <a:solidFill>
                  <a:srgbClr val="000000"/>
                </a:solidFill>
              </a:rPr>
              <a:t>    vector ( int  size ) ;    ~ vector ( ) ;</a:t>
            </a:r>
            <a:endParaRPr lang="en-US" altLang="zh-CN">
              <a:solidFill>
                <a:srgbClr val="000000"/>
              </a:solidFill>
            </a:endParaRPr>
          </a:p>
          <a:p>
            <a:pPr algn="l" eaLnBrk="1" hangingPunct="1">
              <a:lnSpc>
                <a:spcPct val="100000"/>
              </a:lnSpc>
            </a:pPr>
            <a:r>
              <a:rPr lang="en-US" altLang="zh-CN">
                <a:solidFill>
                  <a:srgbClr val="000000"/>
                </a:solidFill>
              </a:rPr>
              <a:t>    int &amp; operator [ ] ( int  i ) ;</a:t>
            </a:r>
            <a:endParaRPr lang="en-US" altLang="zh-CN">
              <a:solidFill>
                <a:srgbClr val="000000"/>
              </a:solidFill>
            </a:endParaRPr>
          </a:p>
          <a:p>
            <a:pPr algn="l" eaLnBrk="1" hangingPunct="1">
              <a:lnSpc>
                <a:spcPct val="100000"/>
              </a:lnSpc>
            </a:pPr>
            <a:r>
              <a:rPr lang="en-US" altLang="zh-CN">
                <a:solidFill>
                  <a:srgbClr val="000000"/>
                </a:solidFill>
              </a:rPr>
              <a:t>  private :       int * v ;</a:t>
            </a:r>
            <a:endParaRPr lang="en-US" altLang="zh-CN">
              <a:solidFill>
                <a:srgbClr val="000000"/>
              </a:solidFill>
            </a:endParaRPr>
          </a:p>
          <a:p>
            <a:pPr algn="l" eaLnBrk="1" hangingPunct="1">
              <a:lnSpc>
                <a:spcPct val="100000"/>
              </a:lnSpc>
            </a:pPr>
            <a:r>
              <a:rPr lang="en-US" altLang="zh-CN">
                <a:solidFill>
                  <a:srgbClr val="000000"/>
                </a:solidFill>
              </a:rPr>
              <a:t>};</a:t>
            </a:r>
            <a:endParaRPr lang="en-US" altLang="zh-CN">
              <a:solidFill>
                <a:srgbClr val="000000"/>
              </a:solidFill>
            </a:endParaRPr>
          </a:p>
          <a:p>
            <a:pPr algn="l" eaLnBrk="1" hangingPunct="1">
              <a:lnSpc>
                <a:spcPct val="100000"/>
              </a:lnSpc>
            </a:pPr>
            <a:r>
              <a:rPr lang="en-US" altLang="zh-CN">
                <a:solidFill>
                  <a:srgbClr val="000000"/>
                </a:solidFill>
              </a:rPr>
              <a:t>vector :: vector ( int  size ) {  v = new  int [ size ] ; }</a:t>
            </a:r>
            <a:endParaRPr lang="en-US" altLang="zh-CN">
              <a:solidFill>
                <a:srgbClr val="000000"/>
              </a:solidFill>
            </a:endParaRPr>
          </a:p>
          <a:p>
            <a:pPr algn="l" eaLnBrk="1" hangingPunct="1">
              <a:lnSpc>
                <a:spcPct val="100000"/>
              </a:lnSpc>
            </a:pPr>
            <a:r>
              <a:rPr lang="en-US" altLang="zh-CN">
                <a:solidFill>
                  <a:srgbClr val="000000"/>
                </a:solidFill>
              </a:rPr>
              <a:t>vector :: ~vector ( ) { delete [ ] v ; }</a:t>
            </a:r>
            <a:endParaRPr lang="en-US" altLang="zh-CN">
              <a:solidFill>
                <a:srgbClr val="000000"/>
              </a:solidFill>
            </a:endParaRPr>
          </a:p>
          <a:p>
            <a:pPr algn="l" eaLnBrk="1" hangingPunct="1">
              <a:lnSpc>
                <a:spcPct val="100000"/>
              </a:lnSpc>
            </a:pPr>
            <a:r>
              <a:rPr lang="en-US" altLang="zh-CN">
                <a:solidFill>
                  <a:srgbClr val="000000"/>
                </a:solidFill>
              </a:rPr>
              <a:t>int &amp; vector :: operator [ ] ( int  i ) {  return  v[ i ] ; }</a:t>
            </a:r>
            <a:endParaRPr lang="en-US" altLang="zh-CN">
              <a:solidFill>
                <a:srgbClr val="000000"/>
              </a:solidFill>
            </a:endParaRPr>
          </a:p>
          <a:p>
            <a:pPr algn="l" eaLnBrk="1" hangingPunct="1">
              <a:lnSpc>
                <a:spcPct val="100000"/>
              </a:lnSpc>
            </a:pPr>
            <a:r>
              <a:rPr lang="en-US" altLang="zh-CN">
                <a:solidFill>
                  <a:srgbClr val="000000"/>
                </a:solidFill>
              </a:rPr>
              <a:t>int main ( )</a:t>
            </a:r>
            <a:endParaRPr lang="en-US" altLang="zh-CN">
              <a:solidFill>
                <a:srgbClr val="000000"/>
              </a:solidFill>
            </a:endParaRPr>
          </a:p>
          <a:p>
            <a:pPr algn="l" eaLnBrk="1" hangingPunct="1">
              <a:lnSpc>
                <a:spcPct val="100000"/>
              </a:lnSpc>
            </a:pPr>
            <a:r>
              <a:rPr lang="en-US" altLang="zh-CN">
                <a:solidFill>
                  <a:srgbClr val="000000"/>
                </a:solidFill>
              </a:rPr>
              <a:t>{  vector  a ( 5 ) ;</a:t>
            </a:r>
            <a:endParaRPr lang="en-US" altLang="zh-CN">
              <a:solidFill>
                <a:srgbClr val="000000"/>
              </a:solidFill>
            </a:endParaRPr>
          </a:p>
          <a:p>
            <a:pPr algn="l" eaLnBrk="1" hangingPunct="1">
              <a:lnSpc>
                <a:spcPct val="100000"/>
              </a:lnSpc>
            </a:pPr>
            <a:r>
              <a:rPr lang="en-US" altLang="zh-CN">
                <a:solidFill>
                  <a:srgbClr val="000000"/>
                </a:solidFill>
              </a:rPr>
              <a:t>  a [ 2 ] = 12 ;	  cout &lt;&lt; a [ 2 ] ;  return 0;</a:t>
            </a:r>
            <a:endParaRPr lang="en-US" altLang="zh-CN">
              <a:solidFill>
                <a:srgbClr val="000000"/>
              </a:solidFill>
            </a:endParaRPr>
          </a:p>
          <a:p>
            <a:pPr algn="l" eaLnBrk="1" hangingPunct="1">
              <a:lnSpc>
                <a:spcPct val="100000"/>
              </a:lnSpc>
            </a:pPr>
            <a:r>
              <a:rPr lang="en-US" altLang="zh-CN">
                <a:solidFill>
                  <a:srgbClr val="000000"/>
                </a:solidFill>
              </a:rPr>
              <a:t>}</a:t>
            </a:r>
            <a:endParaRPr lang="en-US" altLang="zh-CN" sz="2400">
              <a:solidFill>
                <a:srgbClr val="000000"/>
              </a:solidFill>
              <a:sym typeface="Symbol" panose="05050102010706020507" pitchFamily="18" charset="2"/>
            </a:endParaRPr>
          </a:p>
        </p:txBody>
      </p:sp>
      <p:sp>
        <p:nvSpPr>
          <p:cNvPr id="441349" name="Text Box 5"/>
          <p:cNvSpPr txBox="1">
            <a:spLocks noChangeArrowheads="1"/>
          </p:cNvSpPr>
          <p:nvPr/>
        </p:nvSpPr>
        <p:spPr bwMode="auto">
          <a:xfrm>
            <a:off x="4688904" y="1556792"/>
            <a:ext cx="4419600" cy="1532727"/>
          </a:xfrm>
          <a:prstGeom prst="rect">
            <a:avLst/>
          </a:prstGeom>
          <a:solidFill>
            <a:srgbClr val="DDDDDD"/>
          </a:solidFill>
          <a:ln w="12700">
            <a:solidFill>
              <a:schemeClr val="accent4">
                <a:lumMod val="75000"/>
              </a:schemeClr>
            </a:solidFill>
            <a:miter lim="800000"/>
          </a:ln>
          <a:effectLst>
            <a:outerShdw dist="35921" dir="18900000" algn="ctr" rotWithShape="0">
              <a:srgbClr val="808080"/>
            </a:outerShdw>
          </a:effectLst>
        </p:spPr>
        <p:txBody>
          <a:bodyPr>
            <a:spAutoFit/>
          </a:bodyPr>
          <a:lstStyle/>
          <a:p>
            <a:pPr algn="l">
              <a:lnSpc>
                <a:spcPct val="130000"/>
              </a:lnSpc>
              <a:defRPr/>
            </a:pPr>
            <a:r>
              <a:rPr lang="en-US" altLang="zh-CN" b="1">
                <a:solidFill>
                  <a:srgbClr val="FF0000"/>
                </a:solidFill>
                <a:latin typeface="+mn-lt"/>
                <a:ea typeface="华文楷体" panose="02010600040101010101" pitchFamily="2" charset="-122"/>
              </a:rPr>
              <a:t>C++  </a:t>
            </a:r>
            <a:r>
              <a:rPr lang="zh-CN" altLang="en-US" b="1">
                <a:solidFill>
                  <a:srgbClr val="FF0000"/>
                </a:solidFill>
                <a:latin typeface="+mn-lt"/>
                <a:ea typeface="华文楷体" panose="02010600040101010101" pitchFamily="2" charset="-122"/>
              </a:rPr>
              <a:t>解释为 </a:t>
            </a:r>
            <a:r>
              <a:rPr lang="en-US" altLang="zh-CN" b="1">
                <a:solidFill>
                  <a:srgbClr val="FF0000"/>
                </a:solidFill>
                <a:latin typeface="+mn-lt"/>
                <a:ea typeface="华文楷体" panose="02010600040101010101" pitchFamily="2" charset="-122"/>
              </a:rPr>
              <a:t>a . operator ( ) ( 2 )</a:t>
            </a:r>
            <a:endParaRPr lang="en-US" altLang="zh-CN" b="1">
              <a:solidFill>
                <a:srgbClr val="FF0000"/>
              </a:solidFill>
              <a:latin typeface="+mn-lt"/>
              <a:ea typeface="华文楷体" panose="02010600040101010101" pitchFamily="2" charset="-122"/>
            </a:endParaRPr>
          </a:p>
          <a:p>
            <a:pPr algn="l">
              <a:lnSpc>
                <a:spcPct val="130000"/>
              </a:lnSpc>
              <a:defRPr/>
            </a:pPr>
            <a:r>
              <a:rPr lang="zh-CN" altLang="en-US" b="1">
                <a:solidFill>
                  <a:srgbClr val="FF0000"/>
                </a:solidFill>
                <a:latin typeface="+mn-lt"/>
                <a:ea typeface="华文楷体" panose="02010600040101010101" pitchFamily="2" charset="-122"/>
              </a:rPr>
              <a:t>调用重载成员函数</a:t>
            </a:r>
            <a:endParaRPr lang="zh-CN" altLang="en-US" b="1">
              <a:solidFill>
                <a:srgbClr val="FF0000"/>
              </a:solidFill>
              <a:latin typeface="+mn-lt"/>
              <a:ea typeface="华文楷体" panose="02010600040101010101" pitchFamily="2" charset="-122"/>
            </a:endParaRPr>
          </a:p>
          <a:p>
            <a:pPr algn="l">
              <a:lnSpc>
                <a:spcPct val="130000"/>
              </a:lnSpc>
              <a:defRPr/>
            </a:pPr>
            <a:r>
              <a:rPr lang="zh-CN" altLang="en-US" b="1">
                <a:solidFill>
                  <a:srgbClr val="FF0000"/>
                </a:solidFill>
                <a:latin typeface="+mn-lt"/>
                <a:ea typeface="华文楷体" panose="02010600040101010101" pitchFamily="2" charset="-122"/>
              </a:rPr>
              <a:t> </a:t>
            </a:r>
            <a:r>
              <a:rPr lang="en-US" altLang="zh-CN" b="1">
                <a:solidFill>
                  <a:srgbClr val="FF0000"/>
                </a:solidFill>
                <a:latin typeface="+mn-lt"/>
                <a:ea typeface="华文楷体" panose="02010600040101010101" pitchFamily="2" charset="-122"/>
              </a:rPr>
              <a:t>int &amp; operator [ ] ( int  i ) ;</a:t>
            </a:r>
            <a:endParaRPr lang="en-US" altLang="zh-CN" b="1">
              <a:solidFill>
                <a:srgbClr val="FF0000"/>
              </a:solidFill>
              <a:latin typeface="+mn-lt"/>
              <a:ea typeface="华文楷体" panose="02010600040101010101" pitchFamily="2" charset="-122"/>
            </a:endParaRPr>
          </a:p>
        </p:txBody>
      </p:sp>
      <p:sp>
        <p:nvSpPr>
          <p:cNvPr id="441350" name="Line 6"/>
          <p:cNvSpPr>
            <a:spLocks noChangeShapeType="1"/>
          </p:cNvSpPr>
          <p:nvPr/>
        </p:nvSpPr>
        <p:spPr bwMode="auto">
          <a:xfrm flipH="1">
            <a:off x="1835150" y="3212977"/>
            <a:ext cx="3384922" cy="2880319"/>
          </a:xfrm>
          <a:prstGeom prst="line">
            <a:avLst/>
          </a:prstGeom>
          <a:noFill/>
          <a:ln w="12700">
            <a:solidFill>
              <a:schemeClr val="tx1"/>
            </a:solidFill>
            <a:round/>
            <a:tailEnd type="oval" w="med" len="med"/>
          </a:ln>
          <a:effectLst>
            <a:outerShdw dist="35921" dir="2700000" algn="ctr" rotWithShape="0">
              <a:srgbClr val="808080"/>
            </a:outerShdw>
          </a:effectLst>
        </p:spPr>
        <p:txBody>
          <a:bodyPr wrap="none" anchor="ctr"/>
          <a:lstStyle/>
          <a:p>
            <a:pPr>
              <a:defRPr/>
            </a:pPr>
            <a:r>
              <a:rPr lang="en-US" altLang="zh-CN" dirty="0" smtClean="0"/>
              <a:t> </a:t>
            </a:r>
            <a:endParaRPr lang="zh-CN" altLang="en-US" dirty="0"/>
          </a:p>
        </p:txBody>
      </p:sp>
      <p:sp>
        <p:nvSpPr>
          <p:cNvPr id="441351" name="Line 7"/>
          <p:cNvSpPr>
            <a:spLocks noChangeShapeType="1"/>
          </p:cNvSpPr>
          <p:nvPr/>
        </p:nvSpPr>
        <p:spPr bwMode="auto">
          <a:xfrm flipH="1">
            <a:off x="4121150" y="3212976"/>
            <a:ext cx="1098922" cy="2880319"/>
          </a:xfrm>
          <a:prstGeom prst="line">
            <a:avLst/>
          </a:prstGeom>
          <a:noFill/>
          <a:ln w="12700">
            <a:solidFill>
              <a:schemeClr val="tx1"/>
            </a:solidFill>
            <a:round/>
            <a:tailEnd type="oval" w="med" len="med"/>
          </a:ln>
          <a:effectLst>
            <a:outerShdw dist="35921" dir="2700000" algn="ctr" rotWithShape="0">
              <a:srgbClr val="808080"/>
            </a:outerShdw>
          </a:effectLst>
        </p:spPr>
        <p:txBody>
          <a:bodyPr wrap="none" anchor="ctr"/>
          <a:lstStyle/>
          <a:p>
            <a:pPr>
              <a:defRPr/>
            </a:pPr>
            <a:r>
              <a:rPr lang="en-US" altLang="zh-CN" dirty="0" smtClean="0"/>
              <a:t>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1000"/>
                                  </p:stCondLst>
                                  <p:iterate type="wd">
                                    <p:tmPct val="100000"/>
                                  </p:iterate>
                                  <p:childTnLst>
                                    <p:set>
                                      <p:cBhvr>
                                        <p:cTn id="6" dur="1" fill="hold">
                                          <p:stCondLst>
                                            <p:cond delay="0"/>
                                          </p:stCondLst>
                                        </p:cTn>
                                        <p:tgtEl>
                                          <p:spTgt spid="441347">
                                            <p:txEl>
                                              <p:pRg st="0" end="0"/>
                                            </p:txEl>
                                          </p:spTgt>
                                        </p:tgtEl>
                                        <p:attrNameLst>
                                          <p:attrName>style.visibility</p:attrName>
                                        </p:attrNameLst>
                                      </p:cBhvr>
                                      <p:to>
                                        <p:strVal val="visible"/>
                                      </p:to>
                                    </p:set>
                                    <p:animEffect transition="in" filter="checkerboard(across)">
                                      <p:cBhvr>
                                        <p:cTn id="7" dur="300"/>
                                        <p:tgtEl>
                                          <p:spTgt spid="441347">
                                            <p:txEl>
                                              <p:pRg st="0" end="0"/>
                                            </p:txEl>
                                          </p:spTgt>
                                        </p:tgtEl>
                                      </p:cBhvr>
                                    </p:animEffect>
                                  </p:childTnLst>
                                </p:cTn>
                              </p:par>
                            </p:childTnLst>
                          </p:cTn>
                        </p:par>
                        <p:par>
                          <p:cTn id="8" fill="hold">
                            <p:stCondLst>
                              <p:cond delay="5500"/>
                            </p:stCondLst>
                            <p:childTnLst>
                              <p:par>
                                <p:cTn id="9" presetID="5" presetClass="entr" presetSubtype="10" fill="hold" grpId="0" nodeType="afterEffect">
                                  <p:stCondLst>
                                    <p:cond delay="1000"/>
                                  </p:stCondLst>
                                  <p:iterate type="wd">
                                    <p:tmPct val="100000"/>
                                  </p:iterate>
                                  <p:childTnLst>
                                    <p:set>
                                      <p:cBhvr>
                                        <p:cTn id="10" dur="1" fill="hold">
                                          <p:stCondLst>
                                            <p:cond delay="0"/>
                                          </p:stCondLst>
                                        </p:cTn>
                                        <p:tgtEl>
                                          <p:spTgt spid="441347">
                                            <p:txEl>
                                              <p:pRg st="1" end="1"/>
                                            </p:txEl>
                                          </p:spTgt>
                                        </p:tgtEl>
                                        <p:attrNameLst>
                                          <p:attrName>style.visibility</p:attrName>
                                        </p:attrNameLst>
                                      </p:cBhvr>
                                      <p:to>
                                        <p:strVal val="visible"/>
                                      </p:to>
                                    </p:set>
                                    <p:animEffect transition="in" filter="checkerboard(across)">
                                      <p:cBhvr>
                                        <p:cTn id="11" dur="300"/>
                                        <p:tgtEl>
                                          <p:spTgt spid="441347">
                                            <p:txEl>
                                              <p:pRg st="1" end="1"/>
                                            </p:txEl>
                                          </p:spTgt>
                                        </p:tgtEl>
                                      </p:cBhvr>
                                    </p:animEffect>
                                  </p:childTnLst>
                                </p:cTn>
                              </p:par>
                            </p:childTnLst>
                          </p:cTn>
                        </p:par>
                        <p:par>
                          <p:cTn id="12" fill="hold">
                            <p:stCondLst>
                              <p:cond delay="11899"/>
                            </p:stCondLst>
                            <p:childTnLst>
                              <p:par>
                                <p:cTn id="13" presetID="5" presetClass="entr" presetSubtype="10" fill="hold" grpId="0" nodeType="afterEffect">
                                  <p:stCondLst>
                                    <p:cond delay="1000"/>
                                  </p:stCondLst>
                                  <p:iterate type="wd">
                                    <p:tmPct val="100000"/>
                                  </p:iterate>
                                  <p:childTnLst>
                                    <p:set>
                                      <p:cBhvr>
                                        <p:cTn id="14" dur="1" fill="hold">
                                          <p:stCondLst>
                                            <p:cond delay="0"/>
                                          </p:stCondLst>
                                        </p:cTn>
                                        <p:tgtEl>
                                          <p:spTgt spid="441347">
                                            <p:txEl>
                                              <p:pRg st="2" end="2"/>
                                            </p:txEl>
                                          </p:spTgt>
                                        </p:tgtEl>
                                        <p:attrNameLst>
                                          <p:attrName>style.visibility</p:attrName>
                                        </p:attrNameLst>
                                      </p:cBhvr>
                                      <p:to>
                                        <p:strVal val="visible"/>
                                      </p:to>
                                    </p:set>
                                    <p:animEffect transition="in" filter="checkerboard(across)">
                                      <p:cBhvr>
                                        <p:cTn id="15" dur="300"/>
                                        <p:tgtEl>
                                          <p:spTgt spid="441347">
                                            <p:txEl>
                                              <p:pRg st="2" end="2"/>
                                            </p:txEl>
                                          </p:spTgt>
                                        </p:tgtEl>
                                      </p:cBhvr>
                                    </p:animEffect>
                                  </p:childTnLst>
                                </p:cTn>
                              </p:par>
                            </p:childTnLst>
                          </p:cTn>
                        </p:par>
                        <p:par>
                          <p:cTn id="16" fill="hold">
                            <p:stCondLst>
                              <p:cond delay="18899"/>
                            </p:stCondLst>
                            <p:childTnLst>
                              <p:par>
                                <p:cTn id="17" presetID="5" presetClass="entr" presetSubtype="10" fill="hold" grpId="0" nodeType="afterEffect">
                                  <p:stCondLst>
                                    <p:cond delay="1000"/>
                                  </p:stCondLst>
                                  <p:iterate type="wd">
                                    <p:tmPct val="100000"/>
                                  </p:iterate>
                                  <p:childTnLst>
                                    <p:set>
                                      <p:cBhvr>
                                        <p:cTn id="18" dur="1" fill="hold">
                                          <p:stCondLst>
                                            <p:cond delay="0"/>
                                          </p:stCondLst>
                                        </p:cTn>
                                        <p:tgtEl>
                                          <p:spTgt spid="441347">
                                            <p:txEl>
                                              <p:pRg st="3" end="3"/>
                                            </p:txEl>
                                          </p:spTgt>
                                        </p:tgtEl>
                                        <p:attrNameLst>
                                          <p:attrName>style.visibility</p:attrName>
                                        </p:attrNameLst>
                                      </p:cBhvr>
                                      <p:to>
                                        <p:strVal val="visible"/>
                                      </p:to>
                                    </p:set>
                                    <p:animEffect transition="in" filter="checkerboard(across)">
                                      <p:cBhvr>
                                        <p:cTn id="19" dur="300"/>
                                        <p:tgtEl>
                                          <p:spTgt spid="441347">
                                            <p:txEl>
                                              <p:pRg st="3" end="3"/>
                                            </p:txEl>
                                          </p:spTgt>
                                        </p:tgtEl>
                                      </p:cBhvr>
                                    </p:animEffect>
                                  </p:childTnLst>
                                </p:cTn>
                              </p:par>
                            </p:childTnLst>
                          </p:cTn>
                        </p:par>
                        <p:par>
                          <p:cTn id="20" fill="hold">
                            <p:stCondLst>
                              <p:cond delay="23799"/>
                            </p:stCondLst>
                            <p:childTnLst>
                              <p:par>
                                <p:cTn id="21" presetID="5" presetClass="entr" presetSubtype="10" fill="hold" grpId="0" nodeType="afterEffect">
                                  <p:stCondLst>
                                    <p:cond delay="1000"/>
                                  </p:stCondLst>
                                  <p:iterate type="wd">
                                    <p:tmPct val="100000"/>
                                  </p:iterate>
                                  <p:childTnLst>
                                    <p:set>
                                      <p:cBhvr>
                                        <p:cTn id="22" dur="1" fill="hold">
                                          <p:stCondLst>
                                            <p:cond delay="0"/>
                                          </p:stCondLst>
                                        </p:cTn>
                                        <p:tgtEl>
                                          <p:spTgt spid="441347">
                                            <p:txEl>
                                              <p:pRg st="4" end="4"/>
                                            </p:txEl>
                                          </p:spTgt>
                                        </p:tgtEl>
                                        <p:attrNameLst>
                                          <p:attrName>style.visibility</p:attrName>
                                        </p:attrNameLst>
                                      </p:cBhvr>
                                      <p:to>
                                        <p:strVal val="visible"/>
                                      </p:to>
                                    </p:set>
                                    <p:animEffect transition="in" filter="checkerboard(across)">
                                      <p:cBhvr>
                                        <p:cTn id="23" dur="300"/>
                                        <p:tgtEl>
                                          <p:spTgt spid="441347">
                                            <p:txEl>
                                              <p:pRg st="4" end="4"/>
                                            </p:txEl>
                                          </p:spTgt>
                                        </p:tgtEl>
                                      </p:cBhvr>
                                    </p:animEffect>
                                  </p:childTnLst>
                                </p:cTn>
                              </p:par>
                            </p:childTnLst>
                          </p:cTn>
                        </p:par>
                        <p:par>
                          <p:cTn id="24" fill="hold">
                            <p:stCondLst>
                              <p:cond delay="27799"/>
                            </p:stCondLst>
                            <p:childTnLst>
                              <p:par>
                                <p:cTn id="25" presetID="5" presetClass="entr" presetSubtype="10" fill="hold" grpId="0" nodeType="afterEffect">
                                  <p:stCondLst>
                                    <p:cond delay="1000"/>
                                  </p:stCondLst>
                                  <p:iterate type="wd">
                                    <p:tmPct val="100000"/>
                                  </p:iterate>
                                  <p:childTnLst>
                                    <p:set>
                                      <p:cBhvr>
                                        <p:cTn id="26" dur="1" fill="hold">
                                          <p:stCondLst>
                                            <p:cond delay="0"/>
                                          </p:stCondLst>
                                        </p:cTn>
                                        <p:tgtEl>
                                          <p:spTgt spid="441347">
                                            <p:txEl>
                                              <p:pRg st="5" end="5"/>
                                            </p:txEl>
                                          </p:spTgt>
                                        </p:tgtEl>
                                        <p:attrNameLst>
                                          <p:attrName>style.visibility</p:attrName>
                                        </p:attrNameLst>
                                      </p:cBhvr>
                                      <p:to>
                                        <p:strVal val="visible"/>
                                      </p:to>
                                    </p:set>
                                    <p:animEffect transition="in" filter="checkerboard(across)">
                                      <p:cBhvr>
                                        <p:cTn id="27" dur="300"/>
                                        <p:tgtEl>
                                          <p:spTgt spid="441347">
                                            <p:txEl>
                                              <p:pRg st="5" end="5"/>
                                            </p:txEl>
                                          </p:spTgt>
                                        </p:tgtEl>
                                      </p:cBhvr>
                                    </p:animEffect>
                                  </p:childTnLst>
                                </p:cTn>
                              </p:par>
                            </p:childTnLst>
                          </p:cTn>
                        </p:par>
                        <p:par>
                          <p:cTn id="28" fill="hold">
                            <p:stCondLst>
                              <p:cond delay="42000"/>
                            </p:stCondLst>
                            <p:childTnLst>
                              <p:par>
                                <p:cTn id="29" presetID="5" presetClass="entr" presetSubtype="10" fill="hold" grpId="0" nodeType="afterEffect">
                                  <p:stCondLst>
                                    <p:cond delay="1000"/>
                                  </p:stCondLst>
                                  <p:iterate type="wd">
                                    <p:tmPct val="100000"/>
                                  </p:iterate>
                                  <p:childTnLst>
                                    <p:set>
                                      <p:cBhvr>
                                        <p:cTn id="30" dur="1" fill="hold">
                                          <p:stCondLst>
                                            <p:cond delay="0"/>
                                          </p:stCondLst>
                                        </p:cTn>
                                        <p:tgtEl>
                                          <p:spTgt spid="441347">
                                            <p:txEl>
                                              <p:pRg st="6" end="6"/>
                                            </p:txEl>
                                          </p:spTgt>
                                        </p:tgtEl>
                                        <p:attrNameLst>
                                          <p:attrName>style.visibility</p:attrName>
                                        </p:attrNameLst>
                                      </p:cBhvr>
                                      <p:to>
                                        <p:strVal val="visible"/>
                                      </p:to>
                                    </p:set>
                                    <p:animEffect transition="in" filter="checkerboard(across)">
                                      <p:cBhvr>
                                        <p:cTn id="31" dur="300"/>
                                        <p:tgtEl>
                                          <p:spTgt spid="441347">
                                            <p:txEl>
                                              <p:pRg st="6" end="6"/>
                                            </p:txEl>
                                          </p:spTgt>
                                        </p:tgtEl>
                                      </p:cBhvr>
                                    </p:animEffect>
                                  </p:childTnLst>
                                </p:cTn>
                              </p:par>
                            </p:childTnLst>
                          </p:cTn>
                        </p:par>
                        <p:par>
                          <p:cTn id="32" fill="hold">
                            <p:stCondLst>
                              <p:cond delay="53500"/>
                            </p:stCondLst>
                            <p:childTnLst>
                              <p:par>
                                <p:cTn id="33" presetID="5" presetClass="entr" presetSubtype="10" fill="hold" grpId="0" nodeType="afterEffect">
                                  <p:stCondLst>
                                    <p:cond delay="1000"/>
                                  </p:stCondLst>
                                  <p:iterate type="wd">
                                    <p:tmPct val="100000"/>
                                  </p:iterate>
                                  <p:childTnLst>
                                    <p:set>
                                      <p:cBhvr>
                                        <p:cTn id="34" dur="1" fill="hold">
                                          <p:stCondLst>
                                            <p:cond delay="0"/>
                                          </p:stCondLst>
                                        </p:cTn>
                                        <p:tgtEl>
                                          <p:spTgt spid="441347">
                                            <p:txEl>
                                              <p:pRg st="7" end="7"/>
                                            </p:txEl>
                                          </p:spTgt>
                                        </p:tgtEl>
                                        <p:attrNameLst>
                                          <p:attrName>style.visibility</p:attrName>
                                        </p:attrNameLst>
                                      </p:cBhvr>
                                      <p:to>
                                        <p:strVal val="visible"/>
                                      </p:to>
                                    </p:set>
                                    <p:animEffect transition="in" filter="checkerboard(across)">
                                      <p:cBhvr>
                                        <p:cTn id="35" dur="300"/>
                                        <p:tgtEl>
                                          <p:spTgt spid="441347">
                                            <p:txEl>
                                              <p:pRg st="7" end="7"/>
                                            </p:txEl>
                                          </p:spTgt>
                                        </p:tgtEl>
                                      </p:cBhvr>
                                    </p:animEffect>
                                  </p:childTnLst>
                                </p:cTn>
                              </p:par>
                            </p:childTnLst>
                          </p:cTn>
                        </p:par>
                        <p:par>
                          <p:cTn id="36" fill="hold">
                            <p:stCondLst>
                              <p:cond delay="62600"/>
                            </p:stCondLst>
                            <p:childTnLst>
                              <p:par>
                                <p:cTn id="37" presetID="5" presetClass="entr" presetSubtype="10" fill="hold" grpId="0" nodeType="afterEffect">
                                  <p:stCondLst>
                                    <p:cond delay="1000"/>
                                  </p:stCondLst>
                                  <p:iterate type="wd">
                                    <p:tmPct val="100000"/>
                                  </p:iterate>
                                  <p:childTnLst>
                                    <p:set>
                                      <p:cBhvr>
                                        <p:cTn id="38" dur="1" fill="hold">
                                          <p:stCondLst>
                                            <p:cond delay="0"/>
                                          </p:stCondLst>
                                        </p:cTn>
                                        <p:tgtEl>
                                          <p:spTgt spid="441347">
                                            <p:txEl>
                                              <p:pRg st="8" end="8"/>
                                            </p:txEl>
                                          </p:spTgt>
                                        </p:tgtEl>
                                        <p:attrNameLst>
                                          <p:attrName>style.visibility</p:attrName>
                                        </p:attrNameLst>
                                      </p:cBhvr>
                                      <p:to>
                                        <p:strVal val="visible"/>
                                      </p:to>
                                    </p:set>
                                    <p:animEffect transition="in" filter="checkerboard(across)">
                                      <p:cBhvr>
                                        <p:cTn id="39" dur="300"/>
                                        <p:tgtEl>
                                          <p:spTgt spid="441347">
                                            <p:txEl>
                                              <p:pRg st="8" end="8"/>
                                            </p:txEl>
                                          </p:spTgt>
                                        </p:tgtEl>
                                      </p:cBhvr>
                                    </p:animEffect>
                                  </p:childTnLst>
                                </p:cTn>
                              </p:par>
                            </p:childTnLst>
                          </p:cTn>
                        </p:par>
                        <p:par>
                          <p:cTn id="40" fill="hold">
                            <p:stCondLst>
                              <p:cond delay="64200"/>
                            </p:stCondLst>
                            <p:childTnLst>
                              <p:par>
                                <p:cTn id="41" presetID="5" presetClass="entr" presetSubtype="10" fill="hold" grpId="0" nodeType="afterEffect">
                                  <p:stCondLst>
                                    <p:cond delay="1000"/>
                                  </p:stCondLst>
                                  <p:iterate type="wd">
                                    <p:tmPct val="100000"/>
                                  </p:iterate>
                                  <p:childTnLst>
                                    <p:set>
                                      <p:cBhvr>
                                        <p:cTn id="42" dur="1" fill="hold">
                                          <p:stCondLst>
                                            <p:cond delay="0"/>
                                          </p:stCondLst>
                                        </p:cTn>
                                        <p:tgtEl>
                                          <p:spTgt spid="441347">
                                            <p:txEl>
                                              <p:pRg st="9" end="9"/>
                                            </p:txEl>
                                          </p:spTgt>
                                        </p:tgtEl>
                                        <p:attrNameLst>
                                          <p:attrName>style.visibility</p:attrName>
                                        </p:attrNameLst>
                                      </p:cBhvr>
                                      <p:to>
                                        <p:strVal val="visible"/>
                                      </p:to>
                                    </p:set>
                                    <p:animEffect transition="in" filter="checkerboard(across)">
                                      <p:cBhvr>
                                        <p:cTn id="43" dur="300"/>
                                        <p:tgtEl>
                                          <p:spTgt spid="441347">
                                            <p:txEl>
                                              <p:pRg st="9" end="9"/>
                                            </p:txEl>
                                          </p:spTgt>
                                        </p:tgtEl>
                                      </p:cBhvr>
                                    </p:animEffect>
                                  </p:childTnLst>
                                </p:cTn>
                              </p:par>
                            </p:childTnLst>
                          </p:cTn>
                        </p:par>
                        <p:par>
                          <p:cTn id="44" fill="hold">
                            <p:stCondLst>
                              <p:cond delay="82900"/>
                            </p:stCondLst>
                            <p:childTnLst>
                              <p:par>
                                <p:cTn id="45" presetID="5" presetClass="entr" presetSubtype="10" fill="hold" grpId="0" nodeType="afterEffect">
                                  <p:stCondLst>
                                    <p:cond delay="1000"/>
                                  </p:stCondLst>
                                  <p:iterate type="wd">
                                    <p:tmPct val="100000"/>
                                  </p:iterate>
                                  <p:childTnLst>
                                    <p:set>
                                      <p:cBhvr>
                                        <p:cTn id="46" dur="1" fill="hold">
                                          <p:stCondLst>
                                            <p:cond delay="0"/>
                                          </p:stCondLst>
                                        </p:cTn>
                                        <p:tgtEl>
                                          <p:spTgt spid="441347">
                                            <p:txEl>
                                              <p:pRg st="10" end="10"/>
                                            </p:txEl>
                                          </p:spTgt>
                                        </p:tgtEl>
                                        <p:attrNameLst>
                                          <p:attrName>style.visibility</p:attrName>
                                        </p:attrNameLst>
                                      </p:cBhvr>
                                      <p:to>
                                        <p:strVal val="visible"/>
                                      </p:to>
                                    </p:set>
                                    <p:animEffect transition="in" filter="checkerboard(across)">
                                      <p:cBhvr>
                                        <p:cTn id="47" dur="300"/>
                                        <p:tgtEl>
                                          <p:spTgt spid="441347">
                                            <p:txEl>
                                              <p:pRg st="10" end="10"/>
                                            </p:txEl>
                                          </p:spTgt>
                                        </p:tgtEl>
                                      </p:cBhvr>
                                    </p:animEffect>
                                  </p:childTnLst>
                                </p:cTn>
                              </p:par>
                            </p:childTnLst>
                          </p:cTn>
                        </p:par>
                        <p:par>
                          <p:cTn id="48" fill="hold">
                            <p:stCondLst>
                              <p:cond delay="95900"/>
                            </p:stCondLst>
                            <p:childTnLst>
                              <p:par>
                                <p:cTn id="49" presetID="5" presetClass="entr" presetSubtype="10" fill="hold" grpId="0" nodeType="afterEffect">
                                  <p:stCondLst>
                                    <p:cond delay="1000"/>
                                  </p:stCondLst>
                                  <p:iterate type="wd">
                                    <p:tmPct val="100000"/>
                                  </p:iterate>
                                  <p:childTnLst>
                                    <p:set>
                                      <p:cBhvr>
                                        <p:cTn id="50" dur="1" fill="hold">
                                          <p:stCondLst>
                                            <p:cond delay="0"/>
                                          </p:stCondLst>
                                        </p:cTn>
                                        <p:tgtEl>
                                          <p:spTgt spid="441347">
                                            <p:txEl>
                                              <p:pRg st="11" end="11"/>
                                            </p:txEl>
                                          </p:spTgt>
                                        </p:tgtEl>
                                        <p:attrNameLst>
                                          <p:attrName>style.visibility</p:attrName>
                                        </p:attrNameLst>
                                      </p:cBhvr>
                                      <p:to>
                                        <p:strVal val="visible"/>
                                      </p:to>
                                    </p:set>
                                    <p:animEffect transition="in" filter="checkerboard(across)">
                                      <p:cBhvr>
                                        <p:cTn id="51" dur="300"/>
                                        <p:tgtEl>
                                          <p:spTgt spid="441347">
                                            <p:txEl>
                                              <p:pRg st="11" end="11"/>
                                            </p:txEl>
                                          </p:spTgt>
                                        </p:tgtEl>
                                      </p:cBhvr>
                                    </p:animEffect>
                                  </p:childTnLst>
                                </p:cTn>
                              </p:par>
                            </p:childTnLst>
                          </p:cTn>
                        </p:par>
                        <p:par>
                          <p:cTn id="52" fill="hold">
                            <p:stCondLst>
                              <p:cond delay="115200"/>
                            </p:stCondLst>
                            <p:childTnLst>
                              <p:par>
                                <p:cTn id="53" presetID="5" presetClass="entr" presetSubtype="10" fill="hold" grpId="0" nodeType="afterEffect">
                                  <p:stCondLst>
                                    <p:cond delay="1000"/>
                                  </p:stCondLst>
                                  <p:iterate type="wd">
                                    <p:tmPct val="100000"/>
                                  </p:iterate>
                                  <p:childTnLst>
                                    <p:set>
                                      <p:cBhvr>
                                        <p:cTn id="54" dur="1" fill="hold">
                                          <p:stCondLst>
                                            <p:cond delay="0"/>
                                          </p:stCondLst>
                                        </p:cTn>
                                        <p:tgtEl>
                                          <p:spTgt spid="441347">
                                            <p:txEl>
                                              <p:pRg st="12" end="12"/>
                                            </p:txEl>
                                          </p:spTgt>
                                        </p:tgtEl>
                                        <p:attrNameLst>
                                          <p:attrName>style.visibility</p:attrName>
                                        </p:attrNameLst>
                                      </p:cBhvr>
                                      <p:to>
                                        <p:strVal val="visible"/>
                                      </p:to>
                                    </p:set>
                                    <p:animEffect transition="in" filter="checkerboard(across)">
                                      <p:cBhvr>
                                        <p:cTn id="55" dur="300"/>
                                        <p:tgtEl>
                                          <p:spTgt spid="441347">
                                            <p:txEl>
                                              <p:pRg st="12" end="12"/>
                                            </p:txEl>
                                          </p:spTgt>
                                        </p:tgtEl>
                                      </p:cBhvr>
                                    </p:animEffect>
                                  </p:childTnLst>
                                </p:cTn>
                              </p:par>
                            </p:childTnLst>
                          </p:cTn>
                        </p:par>
                        <p:par>
                          <p:cTn id="56" fill="hold">
                            <p:stCondLst>
                              <p:cond delay="119800"/>
                            </p:stCondLst>
                            <p:childTnLst>
                              <p:par>
                                <p:cTn id="57" presetID="5" presetClass="entr" presetSubtype="10" fill="hold" grpId="0" nodeType="afterEffect">
                                  <p:stCondLst>
                                    <p:cond delay="1000"/>
                                  </p:stCondLst>
                                  <p:iterate type="wd">
                                    <p:tmPct val="100000"/>
                                  </p:iterate>
                                  <p:childTnLst>
                                    <p:set>
                                      <p:cBhvr>
                                        <p:cTn id="58" dur="1" fill="hold">
                                          <p:stCondLst>
                                            <p:cond delay="0"/>
                                          </p:stCondLst>
                                        </p:cTn>
                                        <p:tgtEl>
                                          <p:spTgt spid="441347">
                                            <p:txEl>
                                              <p:pRg st="13" end="13"/>
                                            </p:txEl>
                                          </p:spTgt>
                                        </p:tgtEl>
                                        <p:attrNameLst>
                                          <p:attrName>style.visibility</p:attrName>
                                        </p:attrNameLst>
                                      </p:cBhvr>
                                      <p:to>
                                        <p:strVal val="visible"/>
                                      </p:to>
                                    </p:set>
                                    <p:animEffect transition="in" filter="checkerboard(across)">
                                      <p:cBhvr>
                                        <p:cTn id="59" dur="300"/>
                                        <p:tgtEl>
                                          <p:spTgt spid="441347">
                                            <p:txEl>
                                              <p:pRg st="13" end="13"/>
                                            </p:txEl>
                                          </p:spTgt>
                                        </p:tgtEl>
                                      </p:cBhvr>
                                    </p:animEffect>
                                  </p:childTnLst>
                                </p:cTn>
                              </p:par>
                            </p:childTnLst>
                          </p:cTn>
                        </p:par>
                        <p:par>
                          <p:cTn id="60" fill="hold">
                            <p:stCondLst>
                              <p:cond delay="126800"/>
                            </p:stCondLst>
                            <p:childTnLst>
                              <p:par>
                                <p:cTn id="61" presetID="5" presetClass="entr" presetSubtype="10" fill="hold" grpId="0" nodeType="afterEffect">
                                  <p:stCondLst>
                                    <p:cond delay="1000"/>
                                  </p:stCondLst>
                                  <p:iterate type="wd">
                                    <p:tmPct val="100000"/>
                                  </p:iterate>
                                  <p:childTnLst>
                                    <p:set>
                                      <p:cBhvr>
                                        <p:cTn id="62" dur="1" fill="hold">
                                          <p:stCondLst>
                                            <p:cond delay="0"/>
                                          </p:stCondLst>
                                        </p:cTn>
                                        <p:tgtEl>
                                          <p:spTgt spid="441347">
                                            <p:txEl>
                                              <p:pRg st="14" end="14"/>
                                            </p:txEl>
                                          </p:spTgt>
                                        </p:tgtEl>
                                        <p:attrNameLst>
                                          <p:attrName>style.visibility</p:attrName>
                                        </p:attrNameLst>
                                      </p:cBhvr>
                                      <p:to>
                                        <p:strVal val="visible"/>
                                      </p:to>
                                    </p:set>
                                    <p:animEffect transition="in" filter="checkerboard(across)">
                                      <p:cBhvr>
                                        <p:cTn id="63" dur="300"/>
                                        <p:tgtEl>
                                          <p:spTgt spid="441347">
                                            <p:txEl>
                                              <p:pRg st="14" end="14"/>
                                            </p:txEl>
                                          </p:spTgt>
                                        </p:tgtEl>
                                      </p:cBhvr>
                                    </p:animEffect>
                                  </p:childTnLst>
                                </p:cTn>
                              </p:par>
                            </p:childTnLst>
                          </p:cTn>
                        </p:par>
                        <p:par>
                          <p:cTn id="64" fill="hold">
                            <p:stCondLst>
                              <p:cond delay="141899"/>
                            </p:stCondLst>
                            <p:childTnLst>
                              <p:par>
                                <p:cTn id="65" presetID="5" presetClass="entr" presetSubtype="10" fill="hold" grpId="0" nodeType="afterEffect">
                                  <p:stCondLst>
                                    <p:cond delay="1000"/>
                                  </p:stCondLst>
                                  <p:iterate type="wd">
                                    <p:tmPct val="100000"/>
                                  </p:iterate>
                                  <p:childTnLst>
                                    <p:set>
                                      <p:cBhvr>
                                        <p:cTn id="66" dur="1" fill="hold">
                                          <p:stCondLst>
                                            <p:cond delay="0"/>
                                          </p:stCondLst>
                                        </p:cTn>
                                        <p:tgtEl>
                                          <p:spTgt spid="441347">
                                            <p:txEl>
                                              <p:pRg st="15" end="15"/>
                                            </p:txEl>
                                          </p:spTgt>
                                        </p:tgtEl>
                                        <p:attrNameLst>
                                          <p:attrName>style.visibility</p:attrName>
                                        </p:attrNameLst>
                                      </p:cBhvr>
                                      <p:to>
                                        <p:strVal val="visible"/>
                                      </p:to>
                                    </p:set>
                                    <p:animEffect transition="in" filter="checkerboard(across)">
                                      <p:cBhvr>
                                        <p:cTn id="67" dur="300"/>
                                        <p:tgtEl>
                                          <p:spTgt spid="441347">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7" presetClass="entr" presetSubtype="1" fill="hold" nodeType="clickEffect">
                                  <p:stCondLst>
                                    <p:cond delay="0"/>
                                  </p:stCondLst>
                                  <p:childTnLst>
                                    <p:set>
                                      <p:cBhvr>
                                        <p:cTn id="71" dur="1" fill="hold">
                                          <p:stCondLst>
                                            <p:cond delay="0"/>
                                          </p:stCondLst>
                                        </p:cTn>
                                        <p:tgtEl>
                                          <p:spTgt spid="441350"/>
                                        </p:tgtEl>
                                        <p:attrNameLst>
                                          <p:attrName>style.visibility</p:attrName>
                                        </p:attrNameLst>
                                      </p:cBhvr>
                                      <p:to>
                                        <p:strVal val="visible"/>
                                      </p:to>
                                    </p:set>
                                    <p:anim calcmode="lin" valueType="num">
                                      <p:cBhvr>
                                        <p:cTn id="72" dur="500" fill="hold"/>
                                        <p:tgtEl>
                                          <p:spTgt spid="441350"/>
                                        </p:tgtEl>
                                        <p:attrNameLst>
                                          <p:attrName>ppt_x</p:attrName>
                                        </p:attrNameLst>
                                      </p:cBhvr>
                                      <p:tavLst>
                                        <p:tav tm="0">
                                          <p:val>
                                            <p:strVal val="#ppt_x"/>
                                          </p:val>
                                        </p:tav>
                                        <p:tav tm="100000">
                                          <p:val>
                                            <p:strVal val="#ppt_x"/>
                                          </p:val>
                                        </p:tav>
                                      </p:tavLst>
                                    </p:anim>
                                    <p:anim calcmode="lin" valueType="num">
                                      <p:cBhvr>
                                        <p:cTn id="73" dur="500" fill="hold"/>
                                        <p:tgtEl>
                                          <p:spTgt spid="441350"/>
                                        </p:tgtEl>
                                        <p:attrNameLst>
                                          <p:attrName>ppt_y</p:attrName>
                                        </p:attrNameLst>
                                      </p:cBhvr>
                                      <p:tavLst>
                                        <p:tav tm="0">
                                          <p:val>
                                            <p:strVal val="#ppt_y-#ppt_h/2"/>
                                          </p:val>
                                        </p:tav>
                                        <p:tav tm="100000">
                                          <p:val>
                                            <p:strVal val="#ppt_y"/>
                                          </p:val>
                                        </p:tav>
                                      </p:tavLst>
                                    </p:anim>
                                    <p:anim calcmode="lin" valueType="num">
                                      <p:cBhvr>
                                        <p:cTn id="74" dur="500" fill="hold"/>
                                        <p:tgtEl>
                                          <p:spTgt spid="441350"/>
                                        </p:tgtEl>
                                        <p:attrNameLst>
                                          <p:attrName>ppt_w</p:attrName>
                                        </p:attrNameLst>
                                      </p:cBhvr>
                                      <p:tavLst>
                                        <p:tav tm="0">
                                          <p:val>
                                            <p:strVal val="#ppt_w"/>
                                          </p:val>
                                        </p:tav>
                                        <p:tav tm="100000">
                                          <p:val>
                                            <p:strVal val="#ppt_w"/>
                                          </p:val>
                                        </p:tav>
                                      </p:tavLst>
                                    </p:anim>
                                    <p:anim calcmode="lin" valueType="num">
                                      <p:cBhvr>
                                        <p:cTn id="75" dur="500" fill="hold"/>
                                        <p:tgtEl>
                                          <p:spTgt spid="441350"/>
                                        </p:tgtEl>
                                        <p:attrNameLst>
                                          <p:attrName>ppt_h</p:attrName>
                                        </p:attrNameLst>
                                      </p:cBhvr>
                                      <p:tavLst>
                                        <p:tav tm="0">
                                          <p:val>
                                            <p:fltVal val="0"/>
                                          </p:val>
                                        </p:tav>
                                        <p:tav tm="100000">
                                          <p:val>
                                            <p:strVal val="#ppt_h"/>
                                          </p:val>
                                        </p:tav>
                                      </p:tavLst>
                                    </p:anim>
                                  </p:childTnLst>
                                </p:cTn>
                              </p:par>
                            </p:childTnLst>
                          </p:cTn>
                        </p:par>
                        <p:par>
                          <p:cTn id="76" fill="hold">
                            <p:stCondLst>
                              <p:cond delay="500"/>
                            </p:stCondLst>
                            <p:childTnLst>
                              <p:par>
                                <p:cTn id="77" presetID="17" presetClass="entr" presetSubtype="1" fill="hold" nodeType="afterEffect">
                                  <p:stCondLst>
                                    <p:cond delay="1000"/>
                                  </p:stCondLst>
                                  <p:childTnLst>
                                    <p:set>
                                      <p:cBhvr>
                                        <p:cTn id="78" dur="1" fill="hold">
                                          <p:stCondLst>
                                            <p:cond delay="0"/>
                                          </p:stCondLst>
                                        </p:cTn>
                                        <p:tgtEl>
                                          <p:spTgt spid="441351"/>
                                        </p:tgtEl>
                                        <p:attrNameLst>
                                          <p:attrName>style.visibility</p:attrName>
                                        </p:attrNameLst>
                                      </p:cBhvr>
                                      <p:to>
                                        <p:strVal val="visible"/>
                                      </p:to>
                                    </p:set>
                                    <p:anim calcmode="lin" valueType="num">
                                      <p:cBhvr>
                                        <p:cTn id="79" dur="500" fill="hold"/>
                                        <p:tgtEl>
                                          <p:spTgt spid="441351"/>
                                        </p:tgtEl>
                                        <p:attrNameLst>
                                          <p:attrName>ppt_x</p:attrName>
                                        </p:attrNameLst>
                                      </p:cBhvr>
                                      <p:tavLst>
                                        <p:tav tm="0">
                                          <p:val>
                                            <p:strVal val="#ppt_x"/>
                                          </p:val>
                                        </p:tav>
                                        <p:tav tm="100000">
                                          <p:val>
                                            <p:strVal val="#ppt_x"/>
                                          </p:val>
                                        </p:tav>
                                      </p:tavLst>
                                    </p:anim>
                                    <p:anim calcmode="lin" valueType="num">
                                      <p:cBhvr>
                                        <p:cTn id="80" dur="500" fill="hold"/>
                                        <p:tgtEl>
                                          <p:spTgt spid="441351"/>
                                        </p:tgtEl>
                                        <p:attrNameLst>
                                          <p:attrName>ppt_y</p:attrName>
                                        </p:attrNameLst>
                                      </p:cBhvr>
                                      <p:tavLst>
                                        <p:tav tm="0">
                                          <p:val>
                                            <p:strVal val="#ppt_y-#ppt_h/2"/>
                                          </p:val>
                                        </p:tav>
                                        <p:tav tm="100000">
                                          <p:val>
                                            <p:strVal val="#ppt_y"/>
                                          </p:val>
                                        </p:tav>
                                      </p:tavLst>
                                    </p:anim>
                                    <p:anim calcmode="lin" valueType="num">
                                      <p:cBhvr>
                                        <p:cTn id="81" dur="500" fill="hold"/>
                                        <p:tgtEl>
                                          <p:spTgt spid="441351"/>
                                        </p:tgtEl>
                                        <p:attrNameLst>
                                          <p:attrName>ppt_w</p:attrName>
                                        </p:attrNameLst>
                                      </p:cBhvr>
                                      <p:tavLst>
                                        <p:tav tm="0">
                                          <p:val>
                                            <p:strVal val="#ppt_w"/>
                                          </p:val>
                                        </p:tav>
                                        <p:tav tm="100000">
                                          <p:val>
                                            <p:strVal val="#ppt_w"/>
                                          </p:val>
                                        </p:tav>
                                      </p:tavLst>
                                    </p:anim>
                                    <p:anim calcmode="lin" valueType="num">
                                      <p:cBhvr>
                                        <p:cTn id="82" dur="500" fill="hold"/>
                                        <p:tgtEl>
                                          <p:spTgt spid="441351"/>
                                        </p:tgtEl>
                                        <p:attrNameLst>
                                          <p:attrName>ppt_h</p:attrName>
                                        </p:attrNameLst>
                                      </p:cBhvr>
                                      <p:tavLst>
                                        <p:tav tm="0">
                                          <p:val>
                                            <p:fltVal val="0"/>
                                          </p:val>
                                        </p:tav>
                                        <p:tav tm="100000">
                                          <p:val>
                                            <p:strVal val="#ppt_h"/>
                                          </p:val>
                                        </p:tav>
                                      </p:tavLst>
                                    </p:anim>
                                  </p:childTnLst>
                                </p:cTn>
                              </p:par>
                            </p:childTnLst>
                          </p:cTn>
                        </p:par>
                        <p:par>
                          <p:cTn id="83" fill="hold">
                            <p:stCondLst>
                              <p:cond delay="2000"/>
                            </p:stCondLst>
                            <p:childTnLst>
                              <p:par>
                                <p:cTn id="84" presetID="3" presetClass="entr" presetSubtype="5" fill="hold" grpId="0" nodeType="afterEffect">
                                  <p:stCondLst>
                                    <p:cond delay="1000"/>
                                  </p:stCondLst>
                                  <p:childTnLst>
                                    <p:set>
                                      <p:cBhvr>
                                        <p:cTn id="85" dur="1" fill="hold">
                                          <p:stCondLst>
                                            <p:cond delay="0"/>
                                          </p:stCondLst>
                                        </p:cTn>
                                        <p:tgtEl>
                                          <p:spTgt spid="441349"/>
                                        </p:tgtEl>
                                        <p:attrNameLst>
                                          <p:attrName>style.visibility</p:attrName>
                                        </p:attrNameLst>
                                      </p:cBhvr>
                                      <p:to>
                                        <p:strVal val="visible"/>
                                      </p:to>
                                    </p:set>
                                    <p:animEffect transition="in" filter="blinds(vertical)">
                                      <p:cBhvr>
                                        <p:cTn id="86" dur="500"/>
                                        <p:tgtEl>
                                          <p:spTgt spid="441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advAuto="1000" autoUpdateAnimBg="0" build="p"/>
      <p:bldP spid="441349"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6000" b="1" dirty="0" smtClean="0">
                <a:ea typeface="华文彩云" panose="02010800040101010101" pitchFamily="2" charset="-122"/>
              </a:rPr>
              <a:t>虚函数</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8.3</a:t>
            </a:r>
            <a:r>
              <a:rPr lang="zh-CN" altLang="en-US" sz="4400" b="1" dirty="0">
                <a:latin typeface="Times New Roman" panose="02020603050405020304" pitchFamily="18" charset="0"/>
                <a:ea typeface="隶书" panose="02010509060101010101" pitchFamily="49" charset="-122"/>
              </a:rPr>
              <a:t> </a:t>
            </a:r>
            <a:r>
              <a:rPr lang="zh-CN" altLang="en-US" sz="4400" b="1" dirty="0" smtClean="0">
                <a:latin typeface="Times New Roman" panose="02020603050405020304" pitchFamily="18" charset="0"/>
                <a:ea typeface="隶书" panose="02010509060101010101" pitchFamily="49" charset="-122"/>
              </a:rPr>
              <a:t>初识虚</a:t>
            </a:r>
            <a:r>
              <a:rPr lang="zh-CN" altLang="en-US" sz="4400" b="1" dirty="0">
                <a:latin typeface="Times New Roman" panose="02020603050405020304" pitchFamily="18" charset="0"/>
                <a:ea typeface="隶书" panose="02010509060101010101" pitchFamily="49" charset="-122"/>
              </a:rPr>
              <a:t>函数</a:t>
            </a:r>
            <a:endParaRPr lang="zh-CN" altLang="en-US" sz="4400" b="1" dirty="0">
              <a:latin typeface="Times New Roman" panose="02020603050405020304" pitchFamily="18" charset="0"/>
              <a:ea typeface="隶书" panose="02010509060101010101" pitchFamily="49" charset="-122"/>
            </a:endParaRPr>
          </a:p>
        </p:txBody>
      </p:sp>
      <p:sp>
        <p:nvSpPr>
          <p:cNvPr id="41987" name="内容占位符 2"/>
          <p:cNvSpPr>
            <a:spLocks noGrp="1"/>
          </p:cNvSpPr>
          <p:nvPr>
            <p:ph idx="1"/>
          </p:nvPr>
        </p:nvSpPr>
        <p:spPr/>
        <p:txBody>
          <a:bodyPr/>
          <a:lstStyle/>
          <a:p>
            <a:pPr>
              <a:lnSpc>
                <a:spcPct val="150000"/>
              </a:lnSpc>
              <a:spcAft>
                <a:spcPct val="25000"/>
              </a:spcAft>
            </a:pPr>
            <a:r>
              <a:rPr lang="zh-CN" altLang="en-US" sz="2400" b="1" dirty="0">
                <a:ea typeface="华文楷体" panose="02010600040101010101" pitchFamily="2" charset="-122"/>
              </a:rPr>
              <a:t>用</a:t>
            </a:r>
            <a:r>
              <a:rPr lang="en-US" altLang="zh-CN" sz="2400" b="1" dirty="0">
                <a:ea typeface="华文楷体" panose="02010600040101010101" pitchFamily="2" charset="-122"/>
              </a:rPr>
              <a:t>virtual</a:t>
            </a:r>
            <a:r>
              <a:rPr lang="zh-CN" altLang="en-US" sz="2400" b="1" dirty="0">
                <a:ea typeface="华文楷体" panose="02010600040101010101" pitchFamily="2" charset="-122"/>
              </a:rPr>
              <a:t>关键字说明的函数</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虚函数是实现运行时</a:t>
            </a:r>
            <a:r>
              <a:rPr lang="zh-CN" altLang="en-US" sz="2400" b="1" dirty="0" smtClean="0">
                <a:ea typeface="华文楷体" panose="02010600040101010101" pitchFamily="2" charset="-122"/>
              </a:rPr>
              <a:t>多态性的基础</a:t>
            </a:r>
            <a:endParaRPr lang="en-US" altLang="zh-CN" sz="2400" b="1" dirty="0">
              <a:ea typeface="华文楷体" panose="02010600040101010101" pitchFamily="2" charset="-122"/>
            </a:endParaRPr>
          </a:p>
          <a:p>
            <a:pPr>
              <a:lnSpc>
                <a:spcPct val="150000"/>
              </a:lnSpc>
              <a:spcAft>
                <a:spcPct val="25000"/>
              </a:spcAft>
            </a:pPr>
            <a:r>
              <a:rPr lang="en-US" altLang="zh-CN" sz="2400" b="1" dirty="0">
                <a:ea typeface="华文楷体" panose="02010600040101010101" pitchFamily="2" charset="-122"/>
              </a:rPr>
              <a:t>C++</a:t>
            </a:r>
            <a:r>
              <a:rPr lang="zh-CN" altLang="en-US" sz="2400" b="1" dirty="0">
                <a:ea typeface="华文楷体" panose="02010600040101010101" pitchFamily="2" charset="-122"/>
              </a:rPr>
              <a:t>中的虚函数是动态绑定的函数</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虚函数必须是非静态的成员函数，虚函数经过派生之后，就可以实现运行过程中的多态</a:t>
            </a:r>
            <a:r>
              <a:rPr lang="zh-CN" altLang="en-US" sz="2400" b="1" dirty="0" smtClean="0">
                <a:ea typeface="华文楷体" panose="02010600040101010101" pitchFamily="2" charset="-122"/>
              </a:rPr>
              <a:t>。</a:t>
            </a:r>
            <a:endParaRPr lang="en-US" altLang="zh-CN" sz="2400" b="1" dirty="0" smtClean="0">
              <a:ea typeface="华文楷体" panose="02010600040101010101" pitchFamily="2" charset="-122"/>
            </a:endParaRPr>
          </a:p>
          <a:p>
            <a:pPr>
              <a:lnSpc>
                <a:spcPct val="150000"/>
              </a:lnSpc>
              <a:spcAft>
                <a:spcPct val="25000"/>
              </a:spcAft>
            </a:pPr>
            <a:r>
              <a:rPr lang="zh-CN" altLang="en-US" sz="2400" b="1" dirty="0" smtClean="0">
                <a:ea typeface="华文楷体" panose="02010600040101010101" pitchFamily="2" charset="-122"/>
              </a:rPr>
              <a:t>只有通过基类指针或引用，才能通过虚函数调用派生类对应函数。</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8.3.1 </a:t>
            </a:r>
            <a:r>
              <a:rPr lang="zh-CN" altLang="en-US" sz="4400" b="1" dirty="0">
                <a:latin typeface="Times New Roman" panose="02020603050405020304" pitchFamily="18" charset="0"/>
                <a:ea typeface="隶书" panose="02010509060101010101" pitchFamily="49" charset="-122"/>
              </a:rPr>
              <a:t>一般</a:t>
            </a:r>
            <a:r>
              <a:rPr lang="zh-CN" altLang="en-US" sz="4400" b="1" dirty="0" smtClean="0">
                <a:latin typeface="Times New Roman" panose="02020603050405020304" pitchFamily="18" charset="0"/>
                <a:ea typeface="隶书" panose="02010509060101010101" pitchFamily="49" charset="-122"/>
              </a:rPr>
              <a:t>虚</a:t>
            </a:r>
            <a:r>
              <a:rPr lang="zh-CN" altLang="en-US" sz="4400" b="1" dirty="0">
                <a:latin typeface="Times New Roman" panose="02020603050405020304" pitchFamily="18" charset="0"/>
                <a:ea typeface="隶书" panose="02010509060101010101" pitchFamily="49" charset="-122"/>
              </a:rPr>
              <a:t>函数成员</a:t>
            </a:r>
            <a:endParaRPr lang="zh-CN" altLang="en-US" sz="4400" b="1" dirty="0">
              <a:latin typeface="Times New Roman" panose="02020603050405020304" pitchFamily="18" charset="0"/>
              <a:ea typeface="隶书" panose="02010509060101010101" pitchFamily="49" charset="-122"/>
            </a:endParaRPr>
          </a:p>
        </p:txBody>
      </p:sp>
      <p:sp>
        <p:nvSpPr>
          <p:cNvPr id="43011" name="内容占位符 2"/>
          <p:cNvSpPr>
            <a:spLocks noGrp="1"/>
          </p:cNvSpPr>
          <p:nvPr>
            <p:ph idx="1"/>
          </p:nvPr>
        </p:nvSpPr>
        <p:spPr/>
        <p:txBody>
          <a:bodyPr/>
          <a:lstStyle/>
          <a:p>
            <a:pPr marL="0" indent="0">
              <a:spcAft>
                <a:spcPct val="25000"/>
              </a:spcAft>
              <a:buNone/>
            </a:pPr>
            <a:r>
              <a:rPr lang="en-US" altLang="zh-CN" sz="2400" b="1" dirty="0">
                <a:ea typeface="华文楷体" panose="02010600040101010101" pitchFamily="2" charset="-122"/>
              </a:rPr>
              <a:t>C++</a:t>
            </a:r>
            <a:r>
              <a:rPr lang="zh-CN" altLang="en-US" sz="2400" b="1" dirty="0">
                <a:ea typeface="华文楷体" panose="02010600040101010101" pitchFamily="2" charset="-122"/>
              </a:rPr>
              <a:t>中引入了虚函数的机制在派生类中可以对基类中的成员函数进行覆盖（重定义）。</a:t>
            </a:r>
            <a:endParaRPr lang="zh-CN" altLang="en-US" sz="2400" b="1" dirty="0">
              <a:ea typeface="华文楷体" panose="02010600040101010101" pitchFamily="2" charset="-122"/>
            </a:endParaRPr>
          </a:p>
          <a:p>
            <a:pPr marL="0" indent="0">
              <a:spcAft>
                <a:spcPct val="25000"/>
              </a:spcAft>
              <a:buNone/>
            </a:pPr>
            <a:r>
              <a:rPr lang="zh-CN" altLang="en-US" sz="2400" b="1" dirty="0">
                <a:ea typeface="华文楷体" panose="02010600040101010101" pitchFamily="2" charset="-122"/>
              </a:rPr>
              <a:t>虚函数的声明</a:t>
            </a:r>
            <a:endParaRPr lang="en-US" altLang="zh-CN" sz="2400" b="1" dirty="0">
              <a:ea typeface="华文楷体" panose="02010600040101010101" pitchFamily="2" charset="-122"/>
            </a:endParaRPr>
          </a:p>
          <a:p>
            <a:pPr marL="0" indent="0">
              <a:spcAft>
                <a:spcPct val="25000"/>
              </a:spcAft>
              <a:buNone/>
            </a:pPr>
            <a:r>
              <a:rPr lang="en-US" altLang="zh-CN" sz="2400" b="1" dirty="0">
                <a:solidFill>
                  <a:srgbClr val="FFFF00"/>
                </a:solidFill>
                <a:ea typeface="华文楷体" panose="02010600040101010101" pitchFamily="2" charset="-122"/>
              </a:rPr>
              <a:t>	</a:t>
            </a:r>
            <a:r>
              <a:rPr lang="en-US" altLang="zh-CN" sz="2400" b="1" dirty="0" smtClean="0">
                <a:solidFill>
                  <a:srgbClr val="FFFF00"/>
                </a:solidFill>
                <a:ea typeface="华文楷体" panose="02010600040101010101" pitchFamily="2" charset="-122"/>
              </a:rPr>
              <a:t>virtual </a:t>
            </a:r>
            <a:r>
              <a:rPr lang="zh-CN" altLang="en-US" sz="2400" b="1" dirty="0">
                <a:solidFill>
                  <a:srgbClr val="FFFF00"/>
                </a:solidFill>
                <a:ea typeface="华文楷体" panose="02010600040101010101" pitchFamily="2" charset="-122"/>
              </a:rPr>
              <a:t>函数类型 函数名（形参表）</a:t>
            </a:r>
            <a:endParaRPr lang="zh-CN" altLang="en-US" sz="2400" b="1" dirty="0">
              <a:solidFill>
                <a:srgbClr val="FFFF00"/>
              </a:solidFill>
              <a:ea typeface="华文楷体" panose="02010600040101010101" pitchFamily="2" charset="-122"/>
            </a:endParaRPr>
          </a:p>
          <a:p>
            <a:pPr marL="0" indent="0">
              <a:spcAft>
                <a:spcPct val="25000"/>
              </a:spcAft>
              <a:buNone/>
            </a:pPr>
            <a:r>
              <a:rPr lang="en-US" altLang="zh-CN" sz="2400" b="1" dirty="0">
                <a:solidFill>
                  <a:srgbClr val="FFFF00"/>
                </a:solidFill>
                <a:ea typeface="华文楷体" panose="02010600040101010101" pitchFamily="2" charset="-122"/>
              </a:rPr>
              <a:t>	{</a:t>
            </a:r>
            <a:endParaRPr lang="zh-CN" altLang="en-US" sz="2400" b="1" dirty="0">
              <a:solidFill>
                <a:srgbClr val="FFFF00"/>
              </a:solidFill>
              <a:ea typeface="华文楷体" panose="02010600040101010101" pitchFamily="2" charset="-122"/>
            </a:endParaRPr>
          </a:p>
          <a:p>
            <a:pPr marL="0" indent="0">
              <a:spcAft>
                <a:spcPct val="25000"/>
              </a:spcAft>
              <a:buNone/>
            </a:pP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        函数体</a:t>
            </a:r>
            <a:endParaRPr lang="zh-CN" altLang="en-US" sz="2400" b="1" dirty="0">
              <a:solidFill>
                <a:srgbClr val="FFFF00"/>
              </a:solidFill>
              <a:ea typeface="华文楷体" panose="02010600040101010101" pitchFamily="2" charset="-122"/>
            </a:endParaRPr>
          </a:p>
          <a:p>
            <a:pPr marL="0" indent="0">
              <a:spcAft>
                <a:spcPct val="25000"/>
              </a:spcAft>
              <a:buNone/>
            </a:pPr>
            <a:r>
              <a:rPr lang="en-US" altLang="zh-CN" sz="2400" b="1" dirty="0">
                <a:solidFill>
                  <a:srgbClr val="FFFF00"/>
                </a:solidFill>
                <a:ea typeface="华文楷体" panose="02010600040101010101" pitchFamily="2" charset="-122"/>
              </a:rPr>
              <a:t>	}</a:t>
            </a: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eaLnBrk="1" hangingPunct="1"/>
            <a:r>
              <a:rPr lang="zh-CN" altLang="en-US" b="1" smtClean="0"/>
              <a:t>例</a:t>
            </a:r>
            <a:r>
              <a:rPr lang="en-US" altLang="zh-CN" b="1" smtClean="0"/>
              <a:t>8-4</a:t>
            </a:r>
            <a:r>
              <a:rPr lang="zh-CN" altLang="en-US" b="1" smtClean="0"/>
              <a:t>通过虚函数实现运行时多态</a:t>
            </a:r>
            <a:endParaRPr lang="zh-CN" altLang="en-US" b="1" smtClean="0"/>
          </a:p>
        </p:txBody>
      </p:sp>
      <p:sp>
        <p:nvSpPr>
          <p:cNvPr id="3" name="内容占位符 2"/>
          <p:cNvSpPr>
            <a:spLocks noGrp="1"/>
          </p:cNvSpPr>
          <p:nvPr>
            <p:ph idx="1"/>
          </p:nvPr>
        </p:nvSpPr>
        <p:spPr>
          <a:xfrm>
            <a:off x="683568" y="1216561"/>
            <a:ext cx="7886700" cy="563231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display() const;	//</a:t>
            </a:r>
            <a:r>
              <a:rPr kumimoji="0" lang="zh-CN" altLang="en-US" sz="2000" b="1" dirty="0">
                <a:solidFill>
                  <a:srgbClr val="000000"/>
                </a:solidFill>
                <a:latin typeface="Times New Roman" panose="02020603050405020304" pitchFamily="18" charset="0"/>
                <a:ea typeface="华文楷体" panose="02010600040101010101" pitchFamily="2" charset="-122"/>
              </a:rPr>
              <a:t>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Base1::display() const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"Base1::display()"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Base2::public Base1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const;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覆盖基类的虚函数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Base2::display() const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"Base2::display()"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332656"/>
            <a:ext cx="8715375"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Base2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const;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覆盖基类的虚函数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Derived::display() const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fun(Base1 *</a:t>
            </a:r>
            <a:r>
              <a:rPr kumimoji="0" lang="en-US" altLang="zh-CN" sz="2000" b="1" dirty="0" err="1">
                <a:solidFill>
                  <a:srgbClr val="000000"/>
                </a:solidFill>
                <a:latin typeface="Times New Roman" panose="02020603050405020304" pitchFamily="18" charset="0"/>
                <a:ea typeface="华文楷体" panose="02010600040101010101" pitchFamily="2" charset="-122"/>
              </a:rPr>
              <a:t>ptr</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参数为指向基类对象的指针</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ptr</a:t>
            </a:r>
            <a:r>
              <a:rPr kumimoji="0" lang="en-US" altLang="zh-CN" sz="2000" b="1" dirty="0">
                <a:solidFill>
                  <a:srgbClr val="000000"/>
                </a:solidFill>
                <a:latin typeface="Times New Roman" panose="02020603050405020304" pitchFamily="18" charset="0"/>
                <a:ea typeface="华文楷体" panose="02010600040101010101" pitchFamily="2" charset="-122"/>
              </a:rPr>
              <a:t>-&gt;display();	//"</a:t>
            </a:r>
            <a:r>
              <a:rPr kumimoji="0" lang="zh-CN" altLang="en-US" sz="2000" b="1" dirty="0">
                <a:solidFill>
                  <a:srgbClr val="000000"/>
                </a:solidFill>
                <a:latin typeface="Times New Roman" panose="02020603050405020304" pitchFamily="18" charset="0"/>
                <a:ea typeface="华文楷体" panose="02010600040101010101" pitchFamily="2" charset="-122"/>
              </a:rPr>
              <a:t>对象指针</a:t>
            </a:r>
            <a:r>
              <a:rPr kumimoji="0" lang="en-US" altLang="zh-CN" sz="2000" b="1" dirty="0">
                <a:solidFill>
                  <a:srgbClr val="000000"/>
                </a:solidFill>
                <a:latin typeface="Times New Roman" panose="02020603050405020304" pitchFamily="18" charset="0"/>
                <a:ea typeface="华文楷体" panose="02010600040101010101" pitchFamily="2" charset="-122"/>
              </a:rPr>
              <a:t>-&gt;</a:t>
            </a:r>
            <a:r>
              <a:rPr kumimoji="0" lang="zh-CN" altLang="en-US" sz="2000" b="1" dirty="0">
                <a:solidFill>
                  <a:srgbClr val="000000"/>
                </a:solidFill>
                <a:latin typeface="Times New Roman" panose="02020603050405020304" pitchFamily="18" charset="0"/>
                <a:ea typeface="华文楷体" panose="02010600040101010101" pitchFamily="2" charset="-122"/>
              </a:rPr>
              <a:t>成员名</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Base1 </a:t>
            </a:r>
            <a:r>
              <a:rPr kumimoji="0" lang="en-US" altLang="zh-CN" sz="2000" b="1" dirty="0" err="1">
                <a:solidFill>
                  <a:srgbClr val="000000"/>
                </a:solidFill>
                <a:latin typeface="Times New Roman" panose="02020603050405020304" pitchFamily="18" charset="0"/>
                <a:ea typeface="华文楷体" panose="02010600040101010101" pitchFamily="2" charset="-122"/>
              </a:rPr>
              <a:t>base1</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Base2 </a:t>
            </a:r>
            <a:r>
              <a:rPr kumimoji="0" lang="en-US" altLang="zh-CN" sz="2000" b="1" dirty="0" err="1">
                <a:solidFill>
                  <a:srgbClr val="000000"/>
                </a:solidFill>
                <a:latin typeface="Times New Roman" panose="02020603050405020304" pitchFamily="18" charset="0"/>
                <a:ea typeface="华文楷体" panose="02010600040101010101" pitchFamily="2" charset="-122"/>
              </a:rPr>
              <a:t>base2</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a:t>
            </a:r>
            <a:r>
              <a:rPr kumimoji="0" lang="en-US" altLang="zh-CN" sz="2000" b="1" dirty="0" err="1">
                <a:solidFill>
                  <a:srgbClr val="000000"/>
                </a:solidFill>
                <a:latin typeface="Times New Roman" panose="02020603050405020304" pitchFamily="18" charset="0"/>
                <a:ea typeface="华文楷体" panose="02010600040101010101" pitchFamily="2" charset="-122"/>
              </a:rPr>
              <a:t>derived</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fun(&amp;base1</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fun(&amp;base2</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fun(&amp;derived</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2" name="标题 1"/>
          <p:cNvSpPr>
            <a:spLocks noGrp="1"/>
          </p:cNvSpPr>
          <p:nvPr>
            <p:ph type="title"/>
          </p:nvPr>
        </p:nvSpPr>
        <p:spPr>
          <a:xfrm>
            <a:off x="6500813" y="500063"/>
            <a:ext cx="2400300" cy="500062"/>
          </a:xfrm>
          <a:solidFill>
            <a:schemeClr val="bg1"/>
          </a:solidFill>
        </p:spPr>
        <p:txBody>
          <a:bodyPr>
            <a:normAutofit fontScale="90000"/>
          </a:bodyPr>
          <a:lstStyle/>
          <a:p>
            <a:pPr eaLnBrk="1" fontAlgn="auto" hangingPunct="1">
              <a:spcAft>
                <a:spcPts val="0"/>
              </a:spcAft>
              <a:defRPr/>
            </a:pPr>
            <a:r>
              <a:rPr lang="zh-CN" altLang="en-US" dirty="0" smtClean="0"/>
              <a:t>例</a:t>
            </a:r>
            <a:r>
              <a:rPr lang="en-US" altLang="zh-CN" dirty="0" smtClean="0"/>
              <a:t>8-4</a:t>
            </a:r>
            <a:r>
              <a:rPr lang="zh-CN" altLang="en-US" dirty="0" smtClean="0"/>
              <a:t>（续）</a:t>
            </a:r>
            <a:endParaRPr lang="zh-CN" altLang="en-US" dirty="0"/>
          </a:p>
        </p:txBody>
      </p:sp>
      <p:sp>
        <p:nvSpPr>
          <p:cNvPr id="45062" name="TextBox 6"/>
          <p:cNvSpPr txBox="1">
            <a:spLocks noChangeArrowheads="1"/>
          </p:cNvSpPr>
          <p:nvPr/>
        </p:nvSpPr>
        <p:spPr bwMode="auto">
          <a:xfrm>
            <a:off x="6444208" y="3429000"/>
            <a:ext cx="2699792" cy="1569660"/>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sz="2400" dirty="0"/>
              <a:t>运行结果：</a:t>
            </a:r>
            <a:endParaRPr lang="en-US" altLang="zh-CN" sz="2400" dirty="0"/>
          </a:p>
          <a:p>
            <a:r>
              <a:rPr lang="en-US" altLang="zh-CN" sz="2400" dirty="0"/>
              <a:t>Base1::display()</a:t>
            </a:r>
            <a:endParaRPr lang="zh-CN" altLang="en-US" sz="2400" dirty="0"/>
          </a:p>
          <a:p>
            <a:r>
              <a:rPr lang="en-US" altLang="zh-CN" sz="2400" dirty="0"/>
              <a:t>Base2::display()</a:t>
            </a:r>
            <a:endParaRPr lang="zh-CN" altLang="en-US" sz="2400" dirty="0"/>
          </a:p>
          <a:p>
            <a:r>
              <a:rPr lang="en-US" altLang="zh-CN" sz="2400" dirty="0"/>
              <a:t>Derived::display()</a:t>
            </a:r>
            <a:endParaRPr lang="zh-CN" altLang="en-US" sz="2400" dirty="0"/>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2123728" y="764704"/>
            <a:ext cx="5132638" cy="442797"/>
          </a:xfrm>
        </p:spPr>
        <p:txBody>
          <a:bodyPr/>
          <a:lstStyle/>
          <a:p>
            <a:pPr eaLnBrk="1" hangingPunct="1"/>
            <a:r>
              <a:rPr lang="zh-CN" altLang="en-US" sz="4400" b="1" dirty="0"/>
              <a:t>虚表与动态绑定</a:t>
            </a:r>
            <a:endParaRPr lang="zh-CN" altLang="en-US" sz="4400" b="1" dirty="0"/>
          </a:p>
        </p:txBody>
      </p:sp>
      <p:sp>
        <p:nvSpPr>
          <p:cNvPr id="41987" name="内容占位符 2"/>
          <p:cNvSpPr>
            <a:spLocks noGrp="1"/>
          </p:cNvSpPr>
          <p:nvPr>
            <p:ph idx="1"/>
          </p:nvPr>
        </p:nvSpPr>
        <p:spPr>
          <a:xfrm>
            <a:off x="819812" y="2204864"/>
            <a:ext cx="7740469" cy="3005546"/>
          </a:xfrm>
        </p:spPr>
        <p:txBody>
          <a:bodyPr/>
          <a:lstStyle/>
          <a:p>
            <a:pPr marL="274320" indent="-191770" fontAlgn="auto">
              <a:spcAft>
                <a:spcPts val="0"/>
              </a:spcAft>
              <a:buClr>
                <a:schemeClr val="accent3"/>
              </a:buClr>
              <a:buFont typeface="Georgia" panose="02040502050405020303"/>
              <a:buChar char="•"/>
              <a:defRPr/>
            </a:pPr>
            <a:r>
              <a:rPr lang="zh-CN" altLang="en-US" sz="2800" b="1" dirty="0">
                <a:ea typeface="华文楷体" panose="02010600040101010101" pitchFamily="2" charset="-122"/>
              </a:rPr>
              <a:t>虚表</a:t>
            </a:r>
            <a:endParaRPr lang="en-US" altLang="zh-CN" sz="28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每个多态类有一个虚表（</a:t>
            </a:r>
            <a:r>
              <a:rPr lang="en-US" altLang="zh-CN" sz="2000" b="1" dirty="0">
                <a:ea typeface="华文楷体" panose="02010600040101010101" pitchFamily="2" charset="-122"/>
              </a:rPr>
              <a:t>virtual table</a:t>
            </a:r>
            <a:r>
              <a:rPr lang="zh-CN" altLang="en-US" sz="2000" b="1" dirty="0">
                <a:ea typeface="华文楷体" panose="02010600040101010101" pitchFamily="2" charset="-122"/>
              </a:rPr>
              <a:t>）</a:t>
            </a:r>
            <a:endParaRPr lang="en-US" altLang="zh-CN" sz="20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虚表中有当前类的各个虚函数的入口地址</a:t>
            </a:r>
            <a:endParaRPr lang="en-US" altLang="zh-CN" sz="20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每个对象有一个指向当前类的虚表的指针（虚指针</a:t>
            </a:r>
            <a:r>
              <a:rPr lang="en-US" altLang="zh-CN" sz="2000" b="1" dirty="0" err="1">
                <a:ea typeface="华文楷体" panose="02010600040101010101" pitchFamily="2" charset="-122"/>
              </a:rPr>
              <a:t>vptr</a:t>
            </a:r>
            <a:r>
              <a:rPr lang="zh-CN" altLang="en-US" sz="2000" b="1" dirty="0">
                <a:ea typeface="华文楷体" panose="02010600040101010101" pitchFamily="2" charset="-122"/>
              </a:rPr>
              <a:t>）</a:t>
            </a:r>
            <a:endParaRPr lang="en-US" altLang="zh-CN" sz="2000" b="1" dirty="0">
              <a:ea typeface="华文楷体" panose="02010600040101010101" pitchFamily="2" charset="-122"/>
            </a:endParaRPr>
          </a:p>
          <a:p>
            <a:pPr marL="274320" indent="-191770" fontAlgn="auto">
              <a:spcAft>
                <a:spcPts val="0"/>
              </a:spcAft>
              <a:buClr>
                <a:schemeClr val="accent3"/>
              </a:buClr>
              <a:buFont typeface="Georgia" panose="02040502050405020303"/>
              <a:buChar char="•"/>
              <a:defRPr/>
            </a:pPr>
            <a:r>
              <a:rPr lang="zh-CN" altLang="en-US" sz="2800" b="1" dirty="0">
                <a:ea typeface="华文楷体" panose="02010600040101010101" pitchFamily="2" charset="-122"/>
              </a:rPr>
              <a:t>动态绑定的实现</a:t>
            </a:r>
            <a:endParaRPr lang="en-US" altLang="zh-CN" sz="28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构造函数中为对象的虚指针赋值</a:t>
            </a:r>
            <a:endParaRPr lang="en-US" altLang="zh-CN" sz="20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通过多态类型的指针或引用调用成员函数时，通过虚指针找到虚表，进而找到所调用的虚函数的入口地址</a:t>
            </a:r>
            <a:endParaRPr lang="en-US" altLang="zh-CN" sz="2000" b="1" dirty="0">
              <a:ea typeface="华文楷体" panose="02010600040101010101" pitchFamily="2" charset="-122"/>
            </a:endParaRPr>
          </a:p>
          <a:p>
            <a:pPr marL="493395" lvl="1" indent="-185420" fontAlgn="auto">
              <a:spcAft>
                <a:spcPts val="0"/>
              </a:spcAft>
              <a:buFont typeface="Georgia" panose="02040502050405020303"/>
              <a:buChar char="▫"/>
              <a:defRPr/>
            </a:pPr>
            <a:r>
              <a:rPr lang="zh-CN" altLang="en-US" sz="2000" b="1" dirty="0">
                <a:ea typeface="华文楷体" panose="02010600040101010101" pitchFamily="2" charset="-122"/>
              </a:rPr>
              <a:t>通过该入口地址调用虚函数</a:t>
            </a:r>
            <a:endParaRPr lang="en-US" altLang="zh-CN" sz="2000" b="1" dirty="0">
              <a:ea typeface="华文楷体" panose="02010600040101010101" pitchFamily="2"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标题 1"/>
          <p:cNvSpPr txBox="1"/>
          <p:nvPr/>
        </p:nvSpPr>
        <p:spPr bwMode="auto">
          <a:xfrm>
            <a:off x="2736274" y="911986"/>
            <a:ext cx="6317057" cy="62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eaLnBrk="0" fontAlgn="base" hangingPunct="0">
              <a:spcBef>
                <a:spcPct val="0"/>
              </a:spcBef>
              <a:spcAft>
                <a:spcPct val="0"/>
              </a:spcAft>
              <a:defRPr sz="4000" kern="1200">
                <a:solidFill>
                  <a:schemeClr val="tx2"/>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4000">
                <a:solidFill>
                  <a:schemeClr val="tx2"/>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4000">
                <a:solidFill>
                  <a:schemeClr val="tx2"/>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4000">
                <a:solidFill>
                  <a:schemeClr val="tx2"/>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4000">
                <a:solidFill>
                  <a:schemeClr val="tx2"/>
                </a:solidFill>
                <a:latin typeface="微软雅黑" panose="020B0503020204020204" pitchFamily="34" charset="-122"/>
                <a:ea typeface="微软雅黑" panose="020B0503020204020204" pitchFamily="34" charset="-122"/>
              </a:defRPr>
            </a:lvl5pPr>
            <a:lvl6pPr marL="457200" algn="l" rtl="0" fontAlgn="base">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6pPr>
            <a:lvl7pPr marL="914400" algn="l" rtl="0" fontAlgn="base">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7pPr>
            <a:lvl8pPr marL="1371600" algn="l" rtl="0" fontAlgn="base">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8pPr>
            <a:lvl9pPr marL="1828800" algn="l" rtl="0" fontAlgn="base">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9pPr>
          </a:lstStyle>
          <a:p>
            <a:pPr eaLnBrk="1" hangingPunct="1"/>
            <a:r>
              <a:rPr kumimoji="0" lang="zh-CN" altLang="en-US" sz="3300" b="1">
                <a:solidFill>
                  <a:schemeClr val="tx1"/>
                </a:solidFill>
              </a:rPr>
              <a:t>虚表示意图</a:t>
            </a:r>
            <a:endParaRPr kumimoji="0" lang="zh-CN" altLang="en-US" sz="3300" b="1">
              <a:solidFill>
                <a:schemeClr val="tx1"/>
              </a:solidFill>
            </a:endParaRPr>
          </a:p>
        </p:txBody>
      </p:sp>
      <p:grpSp>
        <p:nvGrpSpPr>
          <p:cNvPr id="46082" name="组合 58"/>
          <p:cNvGrpSpPr/>
          <p:nvPr/>
        </p:nvGrpSpPr>
        <p:grpSpPr bwMode="auto">
          <a:xfrm>
            <a:off x="3250790" y="2187186"/>
            <a:ext cx="5713698" cy="3053158"/>
            <a:chOff x="1050115" y="1453404"/>
            <a:chExt cx="7102333" cy="4737546"/>
          </a:xfrm>
        </p:grpSpPr>
        <p:sp>
          <p:nvSpPr>
            <p:cNvPr id="46086" name="Rectangle 29"/>
            <p:cNvSpPr>
              <a:spLocks noChangeArrowheads="1"/>
            </p:cNvSpPr>
            <p:nvPr/>
          </p:nvSpPr>
          <p:spPr bwMode="auto">
            <a:xfrm>
              <a:off x="3590704" y="2188906"/>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200">
                  <a:latin typeface="微软雅黑" panose="020B0503020204020204" pitchFamily="34" charset="-122"/>
                  <a:ea typeface="微软雅黑" panose="020B0503020204020204" pitchFamily="34" charset="-122"/>
                </a:rPr>
                <a:t>指向</a:t>
              </a:r>
              <a:r>
                <a:rPr lang="en-US" altLang="zh-CN" sz="1200">
                  <a:latin typeface="微软雅黑" panose="020B0503020204020204" pitchFamily="34" charset="-122"/>
                  <a:ea typeface="微软雅黑" panose="020B0503020204020204" pitchFamily="34" charset="-122"/>
                </a:rPr>
                <a:t>f()</a:t>
              </a:r>
              <a:r>
                <a:rPr lang="zh-CN" altLang="en-US" sz="1200">
                  <a:latin typeface="微软雅黑" panose="020B0503020204020204" pitchFamily="34" charset="-122"/>
                  <a:ea typeface="微软雅黑" panose="020B0503020204020204" pitchFamily="34" charset="-122"/>
                </a:rPr>
                <a:t>的指针</a:t>
              </a:r>
              <a:endParaRPr lang="zh-CN" altLang="zh-CN" sz="1200">
                <a:latin typeface="微软雅黑" panose="020B0503020204020204" pitchFamily="34" charset="-122"/>
                <a:ea typeface="微软雅黑" panose="020B0503020204020204" pitchFamily="34" charset="-122"/>
              </a:endParaRPr>
            </a:p>
          </p:txBody>
        </p:sp>
        <p:sp>
          <p:nvSpPr>
            <p:cNvPr id="46087" name="Rectangle 30"/>
            <p:cNvSpPr>
              <a:spLocks noChangeArrowheads="1"/>
            </p:cNvSpPr>
            <p:nvPr/>
          </p:nvSpPr>
          <p:spPr bwMode="auto">
            <a:xfrm>
              <a:off x="3590704" y="2586077"/>
              <a:ext cx="1614153" cy="39618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200">
                  <a:latin typeface="微软雅黑" panose="020B0503020204020204" pitchFamily="34" charset="-122"/>
                  <a:ea typeface="微软雅黑" panose="020B0503020204020204" pitchFamily="34" charset="-122"/>
                </a:rPr>
                <a:t>指向</a:t>
              </a: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的指针</a:t>
              </a:r>
              <a:endParaRPr lang="zh-CN" altLang="zh-CN" sz="1200">
                <a:latin typeface="微软雅黑" panose="020B0503020204020204" pitchFamily="34" charset="-122"/>
                <a:ea typeface="微软雅黑" panose="020B0503020204020204" pitchFamily="34" charset="-122"/>
              </a:endParaRPr>
            </a:p>
          </p:txBody>
        </p:sp>
        <p:sp>
          <p:nvSpPr>
            <p:cNvPr id="46088" name="Text Box 31"/>
            <p:cNvSpPr txBox="1">
              <a:spLocks noChangeArrowheads="1"/>
            </p:cNvSpPr>
            <p:nvPr/>
          </p:nvSpPr>
          <p:spPr bwMode="auto">
            <a:xfrm>
              <a:off x="3620123" y="293813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Base</a:t>
              </a:r>
              <a:r>
                <a:rPr lang="zh-CN" altLang="en-US" sz="1200">
                  <a:latin typeface="微软雅黑" panose="020B0503020204020204" pitchFamily="34" charset="-122"/>
                  <a:ea typeface="微软雅黑" panose="020B0503020204020204" pitchFamily="34" charset="-122"/>
                </a:rPr>
                <a:t>的虚表</a:t>
              </a:r>
              <a:endParaRPr lang="zh-CN" altLang="zh-CN" sz="1200">
                <a:latin typeface="微软雅黑" panose="020B0503020204020204" pitchFamily="34" charset="-122"/>
                <a:ea typeface="微软雅黑" panose="020B0503020204020204" pitchFamily="34" charset="-122"/>
              </a:endParaRPr>
            </a:p>
          </p:txBody>
        </p:sp>
        <p:sp>
          <p:nvSpPr>
            <p:cNvPr id="46089" name="Rectangle 32"/>
            <p:cNvSpPr>
              <a:spLocks noChangeArrowheads="1"/>
            </p:cNvSpPr>
            <p:nvPr/>
          </p:nvSpPr>
          <p:spPr bwMode="auto">
            <a:xfrm>
              <a:off x="3590704" y="3925672"/>
              <a:ext cx="1614153" cy="39618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200">
                  <a:latin typeface="微软雅黑" panose="020B0503020204020204" pitchFamily="34" charset="-122"/>
                  <a:ea typeface="微软雅黑" panose="020B0503020204020204" pitchFamily="34" charset="-122"/>
                </a:rPr>
                <a:t>指向</a:t>
              </a:r>
              <a:r>
                <a:rPr lang="en-US" altLang="zh-CN" sz="1200">
                  <a:latin typeface="微软雅黑" panose="020B0503020204020204" pitchFamily="34" charset="-122"/>
                  <a:ea typeface="微软雅黑" panose="020B0503020204020204" pitchFamily="34" charset="-122"/>
                </a:rPr>
                <a:t>f()</a:t>
              </a:r>
              <a:r>
                <a:rPr lang="zh-CN" altLang="en-US" sz="1200">
                  <a:latin typeface="微软雅黑" panose="020B0503020204020204" pitchFamily="34" charset="-122"/>
                  <a:ea typeface="微软雅黑" panose="020B0503020204020204" pitchFamily="34" charset="-122"/>
                </a:rPr>
                <a:t>的指针</a:t>
              </a:r>
              <a:endParaRPr lang="zh-CN" altLang="zh-CN" sz="1200">
                <a:latin typeface="微软雅黑" panose="020B0503020204020204" pitchFamily="34" charset="-122"/>
                <a:ea typeface="微软雅黑" panose="020B0503020204020204" pitchFamily="34" charset="-122"/>
              </a:endParaRPr>
            </a:p>
          </p:txBody>
        </p:sp>
        <p:sp>
          <p:nvSpPr>
            <p:cNvPr id="46090" name="Rectangle 33"/>
            <p:cNvSpPr>
              <a:spLocks noChangeArrowheads="1"/>
            </p:cNvSpPr>
            <p:nvPr/>
          </p:nvSpPr>
          <p:spPr bwMode="auto">
            <a:xfrm>
              <a:off x="3590704" y="4321862"/>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200">
                  <a:latin typeface="微软雅黑" panose="020B0503020204020204" pitchFamily="34" charset="-122"/>
                  <a:ea typeface="微软雅黑" panose="020B0503020204020204" pitchFamily="34" charset="-122"/>
                </a:rPr>
                <a:t>指向</a:t>
              </a: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的指针</a:t>
              </a:r>
              <a:endParaRPr lang="zh-CN" altLang="zh-CN" sz="1200">
                <a:latin typeface="微软雅黑" panose="020B0503020204020204" pitchFamily="34" charset="-122"/>
                <a:ea typeface="微软雅黑" panose="020B0503020204020204" pitchFamily="34" charset="-122"/>
              </a:endParaRPr>
            </a:p>
          </p:txBody>
        </p:sp>
        <p:sp>
          <p:nvSpPr>
            <p:cNvPr id="46091" name="Rectangle 34"/>
            <p:cNvSpPr>
              <a:spLocks noChangeArrowheads="1"/>
            </p:cNvSpPr>
            <p:nvPr/>
          </p:nvSpPr>
          <p:spPr bwMode="auto">
            <a:xfrm>
              <a:off x="3590704" y="4721975"/>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200">
                  <a:latin typeface="微软雅黑" panose="020B0503020204020204" pitchFamily="34" charset="-122"/>
                  <a:ea typeface="微软雅黑" panose="020B0503020204020204" pitchFamily="34" charset="-122"/>
                </a:rPr>
                <a:t>指向</a:t>
              </a:r>
              <a:r>
                <a:rPr lang="en-US" altLang="zh-CN" sz="1200">
                  <a:latin typeface="微软雅黑" panose="020B0503020204020204" pitchFamily="34" charset="-122"/>
                  <a:ea typeface="微软雅黑" panose="020B0503020204020204" pitchFamily="34" charset="-122"/>
                </a:rPr>
                <a:t>h()</a:t>
              </a:r>
              <a:r>
                <a:rPr lang="zh-CN" altLang="en-US" sz="1200">
                  <a:latin typeface="微软雅黑" panose="020B0503020204020204" pitchFamily="34" charset="-122"/>
                  <a:ea typeface="微软雅黑" panose="020B0503020204020204" pitchFamily="34" charset="-122"/>
                </a:rPr>
                <a:t>的指针</a:t>
              </a:r>
              <a:endParaRPr lang="zh-CN" altLang="zh-CN" sz="1200">
                <a:latin typeface="微软雅黑" panose="020B0503020204020204" pitchFamily="34" charset="-122"/>
                <a:ea typeface="微软雅黑" panose="020B0503020204020204" pitchFamily="34" charset="-122"/>
              </a:endParaRPr>
            </a:p>
          </p:txBody>
        </p:sp>
        <p:sp>
          <p:nvSpPr>
            <p:cNvPr id="46092" name="Text Box 35"/>
            <p:cNvSpPr txBox="1">
              <a:spLocks noChangeArrowheads="1"/>
            </p:cNvSpPr>
            <p:nvPr/>
          </p:nvSpPr>
          <p:spPr bwMode="auto">
            <a:xfrm>
              <a:off x="3531869" y="5119147"/>
              <a:ext cx="160328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Derived</a:t>
              </a:r>
              <a:r>
                <a:rPr lang="zh-CN" altLang="en-US" sz="1200">
                  <a:latin typeface="微软雅黑" panose="020B0503020204020204" pitchFamily="34" charset="-122"/>
                  <a:ea typeface="微软雅黑" panose="020B0503020204020204" pitchFamily="34" charset="-122"/>
                </a:rPr>
                <a:t>的虚表</a:t>
              </a:r>
              <a:endParaRPr lang="zh-CN" altLang="zh-CN" sz="1200">
                <a:latin typeface="微软雅黑" panose="020B0503020204020204" pitchFamily="34" charset="-122"/>
                <a:ea typeface="微软雅黑" panose="020B0503020204020204" pitchFamily="34" charset="-122"/>
              </a:endParaRPr>
            </a:p>
          </p:txBody>
        </p:sp>
        <p:sp>
          <p:nvSpPr>
            <p:cNvPr id="46093" name="Text Box 36"/>
            <p:cNvSpPr txBox="1">
              <a:spLocks noChangeArrowheads="1"/>
            </p:cNvSpPr>
            <p:nvPr/>
          </p:nvSpPr>
          <p:spPr bwMode="auto">
            <a:xfrm>
              <a:off x="6357950" y="1453404"/>
              <a:ext cx="1794498" cy="102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(Base::f</a:t>
              </a:r>
              <a:r>
                <a:rPr lang="zh-CN" altLang="en-US" sz="1200">
                  <a:latin typeface="微软雅黑" panose="020B0503020204020204" pitchFamily="34" charset="-122"/>
                  <a:ea typeface="微软雅黑" panose="020B0503020204020204" pitchFamily="34" charset="-122"/>
                </a:rPr>
                <a:t>的代码</a:t>
              </a: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algn="just" eaLnBrk="1" hangingPunct="1"/>
              <a:endParaRPr lang="en-US" altLang="zh-CN" sz="1200">
                <a:latin typeface="微软雅黑" panose="020B0503020204020204" pitchFamily="34" charset="-122"/>
                <a:ea typeface="微软雅黑" panose="020B0503020204020204" pitchFamily="34" charset="-122"/>
              </a:endParaRPr>
            </a:p>
            <a:p>
              <a:pPr algn="just" eaLnBrk="1" hangingPunct="1"/>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eaLnBrk="1" hangingPunct="1"/>
              <a:endParaRPr lang="zh-CN" altLang="zh-CN" sz="1050">
                <a:latin typeface="微软雅黑" panose="020B0503020204020204" pitchFamily="34" charset="-122"/>
                <a:ea typeface="微软雅黑" panose="020B0503020204020204" pitchFamily="34" charset="-122"/>
              </a:endParaRPr>
            </a:p>
          </p:txBody>
        </p:sp>
        <p:sp>
          <p:nvSpPr>
            <p:cNvPr id="46094" name="Text Box 37"/>
            <p:cNvSpPr txBox="1">
              <a:spLocks noChangeArrowheads="1"/>
            </p:cNvSpPr>
            <p:nvPr/>
          </p:nvSpPr>
          <p:spPr bwMode="auto">
            <a:xfrm>
              <a:off x="6357950" y="2644917"/>
              <a:ext cx="1794498" cy="102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(Base::g</a:t>
              </a:r>
              <a:r>
                <a:rPr lang="zh-CN" altLang="en-US" sz="1200">
                  <a:latin typeface="微软雅黑" panose="020B0503020204020204" pitchFamily="34" charset="-122"/>
                  <a:ea typeface="微软雅黑" panose="020B0503020204020204" pitchFamily="34" charset="-122"/>
                </a:rPr>
                <a:t>的代码</a:t>
              </a: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algn="just" eaLnBrk="1" hangingPunct="1"/>
              <a:endParaRPr lang="en-US" altLang="zh-CN" sz="1200">
                <a:latin typeface="微软雅黑" panose="020B0503020204020204" pitchFamily="34" charset="-122"/>
                <a:ea typeface="微软雅黑" panose="020B0503020204020204" pitchFamily="34" charset="-122"/>
              </a:endParaRPr>
            </a:p>
            <a:p>
              <a:pPr algn="just" eaLnBrk="1" hangingPunct="1"/>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eaLnBrk="1" hangingPunct="1"/>
              <a:endParaRPr lang="zh-CN" altLang="zh-CN" sz="1050">
                <a:latin typeface="微软雅黑" panose="020B0503020204020204" pitchFamily="34" charset="-122"/>
                <a:ea typeface="微软雅黑" panose="020B0503020204020204" pitchFamily="34" charset="-122"/>
              </a:endParaRPr>
            </a:p>
          </p:txBody>
        </p:sp>
        <p:sp>
          <p:nvSpPr>
            <p:cNvPr id="46095" name="Text Box 38"/>
            <p:cNvSpPr txBox="1">
              <a:spLocks noChangeArrowheads="1"/>
            </p:cNvSpPr>
            <p:nvPr/>
          </p:nvSpPr>
          <p:spPr bwMode="auto">
            <a:xfrm>
              <a:off x="6357950" y="3851141"/>
              <a:ext cx="1794498" cy="118577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(Derived::f</a:t>
              </a:r>
              <a:r>
                <a:rPr lang="zh-CN" altLang="en-US" sz="1200">
                  <a:latin typeface="微软雅黑" panose="020B0503020204020204" pitchFamily="34" charset="-122"/>
                  <a:ea typeface="微软雅黑" panose="020B0503020204020204" pitchFamily="34" charset="-122"/>
                </a:rPr>
                <a:t>的代码</a:t>
              </a: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algn="just" eaLnBrk="1" hangingPunct="1"/>
              <a:endParaRPr lang="en-US" altLang="zh-CN" sz="1200">
                <a:latin typeface="微软雅黑" panose="020B0503020204020204" pitchFamily="34" charset="-122"/>
                <a:ea typeface="微软雅黑" panose="020B0503020204020204" pitchFamily="34" charset="-122"/>
              </a:endParaRPr>
            </a:p>
            <a:p>
              <a:pPr algn="just" eaLnBrk="1" hangingPunct="1"/>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eaLnBrk="1" hangingPunct="1"/>
              <a:endParaRPr lang="zh-CN" altLang="zh-CN" sz="1050">
                <a:latin typeface="微软雅黑" panose="020B0503020204020204" pitchFamily="34" charset="-122"/>
                <a:ea typeface="微软雅黑" panose="020B0503020204020204" pitchFamily="34" charset="-122"/>
              </a:endParaRPr>
            </a:p>
          </p:txBody>
        </p:sp>
        <p:sp>
          <p:nvSpPr>
            <p:cNvPr id="46096" name="Text Box 39"/>
            <p:cNvSpPr txBox="1">
              <a:spLocks noChangeArrowheads="1"/>
            </p:cNvSpPr>
            <p:nvPr/>
          </p:nvSpPr>
          <p:spPr bwMode="auto">
            <a:xfrm>
              <a:off x="6357950" y="5072074"/>
              <a:ext cx="1794498" cy="111887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(Derived::h</a:t>
              </a:r>
              <a:r>
                <a:rPr lang="zh-CN" altLang="en-US" sz="1200">
                  <a:latin typeface="微软雅黑" panose="020B0503020204020204" pitchFamily="34" charset="-122"/>
                  <a:ea typeface="微软雅黑" panose="020B0503020204020204" pitchFamily="34" charset="-122"/>
                </a:rPr>
                <a:t>的代码</a:t>
              </a:r>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algn="just" eaLnBrk="1" hangingPunct="1"/>
              <a:endParaRPr lang="en-US" altLang="zh-CN" sz="1200">
                <a:latin typeface="微软雅黑" panose="020B0503020204020204" pitchFamily="34" charset="-122"/>
                <a:ea typeface="微软雅黑" panose="020B0503020204020204" pitchFamily="34" charset="-122"/>
              </a:endParaRPr>
            </a:p>
            <a:p>
              <a:pPr algn="just" eaLnBrk="1" hangingPunct="1"/>
              <a:r>
                <a:rPr lang="en-US" altLang="zh-CN" sz="1200">
                  <a:latin typeface="微软雅黑" panose="020B0503020204020204" pitchFamily="34" charset="-122"/>
                  <a:ea typeface="微软雅黑" panose="020B0503020204020204" pitchFamily="34" charset="-122"/>
                </a:rPr>
                <a:t>……</a:t>
              </a:r>
              <a:endParaRPr lang="en-US" altLang="zh-CN" sz="1200">
                <a:latin typeface="微软雅黑" panose="020B0503020204020204" pitchFamily="34" charset="-122"/>
                <a:ea typeface="微软雅黑" panose="020B0503020204020204" pitchFamily="34" charset="-122"/>
              </a:endParaRPr>
            </a:p>
            <a:p>
              <a:pPr eaLnBrk="1" hangingPunct="1"/>
              <a:endParaRPr lang="zh-CN" altLang="zh-CN" sz="1050">
                <a:latin typeface="微软雅黑" panose="020B0503020204020204" pitchFamily="34" charset="-122"/>
                <a:ea typeface="微软雅黑" panose="020B0503020204020204" pitchFamily="34" charset="-122"/>
              </a:endParaRPr>
            </a:p>
          </p:txBody>
        </p:sp>
        <p:cxnSp>
          <p:nvCxnSpPr>
            <p:cNvPr id="21" name="AutoShape 40"/>
            <p:cNvCxnSpPr>
              <a:cxnSpLocks noChangeShapeType="1"/>
            </p:cNvCxnSpPr>
            <p:nvPr/>
          </p:nvCxnSpPr>
          <p:spPr bwMode="auto">
            <a:xfrm flipV="1">
              <a:off x="4960477" y="1551294"/>
              <a:ext cx="1400703" cy="845924"/>
            </a:xfrm>
            <a:prstGeom prst="straightConnector1">
              <a:avLst/>
            </a:prstGeom>
            <a:noFill/>
            <a:ln w="9525">
              <a:solidFill>
                <a:schemeClr val="tx1">
                  <a:lumMod val="50000"/>
                </a:schemeClr>
              </a:solidFill>
              <a:round/>
              <a:tailEnd type="triangle" w="med" len="med"/>
            </a:ln>
          </p:spPr>
        </p:cxnSp>
        <p:cxnSp>
          <p:nvCxnSpPr>
            <p:cNvPr id="22" name="AutoShape 41"/>
            <p:cNvCxnSpPr>
              <a:cxnSpLocks noChangeShapeType="1"/>
            </p:cNvCxnSpPr>
            <p:nvPr/>
          </p:nvCxnSpPr>
          <p:spPr bwMode="auto">
            <a:xfrm>
              <a:off x="4960477" y="2774006"/>
              <a:ext cx="1400703" cy="11082"/>
            </a:xfrm>
            <a:prstGeom prst="straightConnector1">
              <a:avLst/>
            </a:prstGeom>
            <a:noFill/>
            <a:ln w="9525">
              <a:solidFill>
                <a:schemeClr val="tx1">
                  <a:lumMod val="50000"/>
                </a:schemeClr>
              </a:solidFill>
              <a:round/>
              <a:tailEnd type="triangle" w="med" len="med"/>
            </a:ln>
          </p:spPr>
        </p:cxnSp>
        <p:cxnSp>
          <p:nvCxnSpPr>
            <p:cNvPr id="23" name="AutoShape 42"/>
            <p:cNvCxnSpPr>
              <a:cxnSpLocks noChangeShapeType="1"/>
            </p:cNvCxnSpPr>
            <p:nvPr/>
          </p:nvCxnSpPr>
          <p:spPr bwMode="auto">
            <a:xfrm flipV="1">
              <a:off x="4960477" y="3950544"/>
              <a:ext cx="1400703" cy="142218"/>
            </a:xfrm>
            <a:prstGeom prst="straightConnector1">
              <a:avLst/>
            </a:prstGeom>
            <a:noFill/>
            <a:ln w="9525">
              <a:solidFill>
                <a:schemeClr val="tx1">
                  <a:lumMod val="50000"/>
                </a:schemeClr>
              </a:solidFill>
              <a:round/>
              <a:tailEnd type="triangle" w="med" len="med"/>
            </a:ln>
          </p:spPr>
        </p:cxnSp>
        <p:cxnSp>
          <p:nvCxnSpPr>
            <p:cNvPr id="24" name="AutoShape 43"/>
            <p:cNvCxnSpPr>
              <a:cxnSpLocks noChangeShapeType="1"/>
            </p:cNvCxnSpPr>
            <p:nvPr/>
          </p:nvCxnSpPr>
          <p:spPr bwMode="auto">
            <a:xfrm flipV="1">
              <a:off x="4960477" y="2822028"/>
              <a:ext cx="1400703" cy="1741718"/>
            </a:xfrm>
            <a:prstGeom prst="straightConnector1">
              <a:avLst/>
            </a:prstGeom>
            <a:noFill/>
            <a:ln w="9525">
              <a:solidFill>
                <a:schemeClr val="tx1">
                  <a:lumMod val="50000"/>
                </a:schemeClr>
              </a:solidFill>
              <a:round/>
              <a:tailEnd type="triangle" w="med" len="med"/>
            </a:ln>
          </p:spPr>
        </p:cxnSp>
        <p:cxnSp>
          <p:nvCxnSpPr>
            <p:cNvPr id="25" name="AutoShape 44"/>
            <p:cNvCxnSpPr>
              <a:cxnSpLocks noChangeShapeType="1"/>
            </p:cNvCxnSpPr>
            <p:nvPr/>
          </p:nvCxnSpPr>
          <p:spPr bwMode="auto">
            <a:xfrm>
              <a:off x="4949497" y="4898052"/>
              <a:ext cx="1419526" cy="236416"/>
            </a:xfrm>
            <a:prstGeom prst="straightConnector1">
              <a:avLst/>
            </a:prstGeom>
            <a:noFill/>
            <a:ln w="9525">
              <a:solidFill>
                <a:schemeClr val="tx1">
                  <a:lumMod val="50000"/>
                </a:schemeClr>
              </a:solidFill>
              <a:round/>
              <a:tailEnd type="triangle" w="med" len="med"/>
            </a:ln>
          </p:spPr>
        </p:cxnSp>
        <p:sp>
          <p:nvSpPr>
            <p:cNvPr id="46102" name="Rectangle 45"/>
            <p:cNvSpPr>
              <a:spLocks noChangeArrowheads="1"/>
            </p:cNvSpPr>
            <p:nvPr/>
          </p:nvSpPr>
          <p:spPr bwMode="auto">
            <a:xfrm>
              <a:off x="1121553" y="2659627"/>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i</a:t>
              </a:r>
              <a:endParaRPr lang="zh-CN" altLang="zh-CN" sz="1200">
                <a:latin typeface="微软雅黑" panose="020B0503020204020204" pitchFamily="34" charset="-122"/>
                <a:ea typeface="微软雅黑" panose="020B0503020204020204" pitchFamily="34" charset="-122"/>
              </a:endParaRPr>
            </a:p>
          </p:txBody>
        </p:sp>
        <p:sp>
          <p:nvSpPr>
            <p:cNvPr id="46103" name="Rectangle 46"/>
            <p:cNvSpPr>
              <a:spLocks noChangeArrowheads="1"/>
            </p:cNvSpPr>
            <p:nvPr/>
          </p:nvSpPr>
          <p:spPr bwMode="auto">
            <a:xfrm>
              <a:off x="1121553" y="2262456"/>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vptr</a:t>
              </a:r>
              <a:endParaRPr lang="zh-CN" altLang="zh-CN" sz="1200">
                <a:latin typeface="微软雅黑" panose="020B0503020204020204" pitchFamily="34" charset="-122"/>
                <a:ea typeface="微软雅黑" panose="020B0503020204020204" pitchFamily="34" charset="-122"/>
              </a:endParaRPr>
            </a:p>
          </p:txBody>
        </p:sp>
        <p:sp>
          <p:nvSpPr>
            <p:cNvPr id="46104" name="Rectangle 47"/>
            <p:cNvSpPr>
              <a:spLocks noChangeArrowheads="1"/>
            </p:cNvSpPr>
            <p:nvPr/>
          </p:nvSpPr>
          <p:spPr bwMode="auto">
            <a:xfrm>
              <a:off x="1121553" y="4423852"/>
              <a:ext cx="1470901" cy="3961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i</a:t>
              </a:r>
              <a:endParaRPr lang="zh-CN" altLang="zh-CN" sz="1200">
                <a:latin typeface="微软雅黑" panose="020B0503020204020204" pitchFamily="34" charset="-122"/>
                <a:ea typeface="微软雅黑" panose="020B0503020204020204" pitchFamily="34" charset="-122"/>
              </a:endParaRPr>
            </a:p>
          </p:txBody>
        </p:sp>
        <p:sp>
          <p:nvSpPr>
            <p:cNvPr id="46105" name="Rectangle 48"/>
            <p:cNvSpPr>
              <a:spLocks noChangeArrowheads="1"/>
            </p:cNvSpPr>
            <p:nvPr/>
          </p:nvSpPr>
          <p:spPr bwMode="auto">
            <a:xfrm>
              <a:off x="1121553" y="4024719"/>
              <a:ext cx="1470901" cy="3991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vptr</a:t>
              </a:r>
              <a:endParaRPr lang="zh-CN" altLang="zh-CN" sz="1200">
                <a:latin typeface="微软雅黑" panose="020B0503020204020204" pitchFamily="34" charset="-122"/>
                <a:ea typeface="微软雅黑" panose="020B0503020204020204" pitchFamily="34" charset="-122"/>
              </a:endParaRPr>
            </a:p>
          </p:txBody>
        </p:sp>
        <p:sp>
          <p:nvSpPr>
            <p:cNvPr id="46106" name="Rectangle 49"/>
            <p:cNvSpPr>
              <a:spLocks noChangeArrowheads="1"/>
            </p:cNvSpPr>
            <p:nvPr/>
          </p:nvSpPr>
          <p:spPr bwMode="auto">
            <a:xfrm>
              <a:off x="1121553" y="4820042"/>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200">
                  <a:latin typeface="微软雅黑" panose="020B0503020204020204" pitchFamily="34" charset="-122"/>
                  <a:ea typeface="微软雅黑" panose="020B0503020204020204" pitchFamily="34" charset="-122"/>
                </a:rPr>
                <a:t>j</a:t>
              </a:r>
              <a:endParaRPr lang="zh-CN" altLang="zh-CN" sz="1200">
                <a:latin typeface="微软雅黑" panose="020B0503020204020204" pitchFamily="34" charset="-122"/>
                <a:ea typeface="微软雅黑" panose="020B0503020204020204" pitchFamily="34" charset="-122"/>
              </a:endParaRPr>
            </a:p>
          </p:txBody>
        </p:sp>
        <p:sp>
          <p:nvSpPr>
            <p:cNvPr id="46107" name="Text Box 50"/>
            <p:cNvSpPr txBox="1">
              <a:spLocks noChangeArrowheads="1"/>
            </p:cNvSpPr>
            <p:nvPr/>
          </p:nvSpPr>
          <p:spPr bwMode="auto">
            <a:xfrm>
              <a:off x="1180389" y="301168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Base</a:t>
              </a:r>
              <a:r>
                <a:rPr lang="zh-CN" altLang="en-US" sz="1200">
                  <a:latin typeface="微软雅黑" panose="020B0503020204020204" pitchFamily="34" charset="-122"/>
                  <a:ea typeface="微软雅黑" panose="020B0503020204020204" pitchFamily="34" charset="-122"/>
                </a:rPr>
                <a:t>类型对象</a:t>
              </a:r>
              <a:endParaRPr lang="zh-CN" altLang="zh-CN" sz="1200">
                <a:latin typeface="微软雅黑" panose="020B0503020204020204" pitchFamily="34" charset="-122"/>
                <a:ea typeface="微软雅黑" panose="020B0503020204020204" pitchFamily="34" charset="-122"/>
              </a:endParaRPr>
            </a:p>
          </p:txBody>
        </p:sp>
        <p:cxnSp>
          <p:nvCxnSpPr>
            <p:cNvPr id="32" name="AutoShape 51"/>
            <p:cNvCxnSpPr>
              <a:cxnSpLocks noChangeShapeType="1"/>
            </p:cNvCxnSpPr>
            <p:nvPr/>
          </p:nvCxnSpPr>
          <p:spPr bwMode="auto">
            <a:xfrm flipV="1">
              <a:off x="2427290" y="2262389"/>
              <a:ext cx="1154443" cy="188394"/>
            </a:xfrm>
            <a:prstGeom prst="straightConnector1">
              <a:avLst/>
            </a:prstGeom>
            <a:noFill/>
            <a:ln w="9525">
              <a:solidFill>
                <a:schemeClr val="tx1">
                  <a:lumMod val="50000"/>
                </a:schemeClr>
              </a:solidFill>
              <a:round/>
              <a:tailEnd type="triangle" w="med" len="med"/>
            </a:ln>
          </p:spPr>
        </p:cxnSp>
        <p:cxnSp>
          <p:nvCxnSpPr>
            <p:cNvPr id="33" name="AutoShape 52"/>
            <p:cNvCxnSpPr>
              <a:cxnSpLocks noChangeShapeType="1"/>
            </p:cNvCxnSpPr>
            <p:nvPr/>
          </p:nvCxnSpPr>
          <p:spPr bwMode="auto">
            <a:xfrm flipV="1">
              <a:off x="2427290" y="4004106"/>
              <a:ext cx="1170128" cy="208711"/>
            </a:xfrm>
            <a:prstGeom prst="straightConnector1">
              <a:avLst/>
            </a:prstGeom>
            <a:noFill/>
            <a:ln w="9525">
              <a:solidFill>
                <a:schemeClr val="tx1">
                  <a:lumMod val="50000"/>
                </a:schemeClr>
              </a:solidFill>
              <a:round/>
              <a:tailEnd type="triangle" w="med" len="med"/>
            </a:ln>
          </p:spPr>
        </p:cxnSp>
        <p:sp>
          <p:nvSpPr>
            <p:cNvPr id="46110" name="Text Box 50"/>
            <p:cNvSpPr txBox="1">
              <a:spLocks noChangeArrowheads="1"/>
            </p:cNvSpPr>
            <p:nvPr/>
          </p:nvSpPr>
          <p:spPr bwMode="auto">
            <a:xfrm>
              <a:off x="1050115" y="5168180"/>
              <a:ext cx="171451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200">
                  <a:latin typeface="微软雅黑" panose="020B0503020204020204" pitchFamily="34" charset="-122"/>
                  <a:ea typeface="微软雅黑" panose="020B0503020204020204" pitchFamily="34" charset="-122"/>
                </a:rPr>
                <a:t>Derived</a:t>
              </a:r>
              <a:r>
                <a:rPr lang="zh-CN" altLang="en-US" sz="1200">
                  <a:latin typeface="微软雅黑" panose="020B0503020204020204" pitchFamily="34" charset="-122"/>
                  <a:ea typeface="微软雅黑" panose="020B0503020204020204" pitchFamily="34" charset="-122"/>
                </a:rPr>
                <a:t>类型对象</a:t>
              </a:r>
              <a:endParaRPr lang="zh-CN" altLang="zh-CN" sz="1200">
                <a:latin typeface="微软雅黑" panose="020B0503020204020204" pitchFamily="34" charset="-122"/>
                <a:ea typeface="微软雅黑" panose="020B0503020204020204" pitchFamily="34" charset="-122"/>
              </a:endParaRPr>
            </a:p>
          </p:txBody>
        </p:sp>
      </p:grpSp>
      <p:sp>
        <p:nvSpPr>
          <p:cNvPr id="35" name="TextBox 34"/>
          <p:cNvSpPr txBox="1"/>
          <p:nvPr/>
        </p:nvSpPr>
        <p:spPr>
          <a:xfrm>
            <a:off x="677637" y="1953498"/>
            <a:ext cx="2461371" cy="1546577"/>
          </a:xfrm>
          <a:prstGeom prst="rect">
            <a:avLst/>
          </a:prstGeom>
          <a:noFill/>
        </p:spPr>
        <p:txBody>
          <a:bodyPr wrap="square">
            <a:spAutoFit/>
          </a:bodyPr>
          <a:lstStyle/>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class Base {</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public:</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	virtual void f();</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	virtual void g();</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private:</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	int </a:t>
            </a:r>
            <a:r>
              <a:rPr lang="en-US" sz="1350" b="1" dirty="0" err="1">
                <a:latin typeface="微软雅黑" panose="020B0503020204020204" pitchFamily="34" charset="-122"/>
                <a:ea typeface="微软雅黑" panose="020B0503020204020204" pitchFamily="34" charset="-122"/>
                <a:cs typeface="Courier New" panose="02070309020205020404" pitchFamily="49" charset="0"/>
              </a:rPr>
              <a:t>i</a:t>
            </a:r>
            <a:r>
              <a:rPr lang="en-US" sz="1350" b="1" dirty="0">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latinLnBrk="1">
              <a:tabLst>
                <a:tab pos="200660" algn="l"/>
              </a:tabLst>
              <a:defRPr/>
            </a:pPr>
            <a:r>
              <a:rPr lang="en-US" sz="1350" b="1" dirty="0">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46084" name="TextBox 60"/>
          <p:cNvSpPr txBox="1">
            <a:spLocks noChangeArrowheads="1"/>
          </p:cNvSpPr>
          <p:nvPr/>
        </p:nvSpPr>
        <p:spPr bwMode="auto">
          <a:xfrm>
            <a:off x="295793" y="3623262"/>
            <a:ext cx="3320979" cy="1546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7970" algn="l"/>
              </a:tabLst>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tabLst>
                <a:tab pos="267970" algn="l"/>
              </a:tabLst>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tabLst>
                <a:tab pos="267970" algn="l"/>
              </a:tabLst>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tabLst>
                <a:tab pos="267970" algn="l"/>
              </a:tabLst>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tabLst>
                <a:tab pos="267970" algn="l"/>
              </a:tabLst>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tabLst>
                <a:tab pos="267970" algn="l"/>
              </a:tabLs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tabLst>
                <a:tab pos="267970" algn="l"/>
              </a:tabLs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tabLst>
                <a:tab pos="267970" algn="l"/>
              </a:tabLs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tabLst>
                <a:tab pos="267970" algn="l"/>
              </a:tabLst>
              <a:defRPr kumimoji="1" sz="2400">
                <a:solidFill>
                  <a:schemeClr val="tx1"/>
                </a:solidFill>
                <a:latin typeface="Times New Roman" panose="02020603050405020304" pitchFamily="18" charset="0"/>
                <a:ea typeface="隶书" panose="02010509060101010101" pitchFamily="49" charset="-122"/>
              </a:defRPr>
            </a:lvl9pPr>
          </a:lstStyle>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class Derived: public Base {</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public:</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	virtual void f(); //</a:t>
            </a:r>
            <a:r>
              <a:rPr lang="zh-CN" altLang="en-US" sz="1350" b="1" dirty="0">
                <a:latin typeface="微软雅黑" panose="020B0503020204020204" pitchFamily="34" charset="-122"/>
                <a:ea typeface="微软雅黑" panose="020B0503020204020204" pitchFamily="34" charset="-122"/>
                <a:cs typeface="Courier New" panose="02070309020205020404" pitchFamily="49" charset="0"/>
              </a:rPr>
              <a:t>覆盖</a:t>
            </a:r>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Base::f</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	virtual void h(); //</a:t>
            </a:r>
            <a:r>
              <a:rPr lang="zh-CN" altLang="en-US" sz="1350" b="1" dirty="0">
                <a:latin typeface="微软雅黑" panose="020B0503020204020204" pitchFamily="34" charset="-122"/>
                <a:ea typeface="微软雅黑" panose="020B0503020204020204" pitchFamily="34" charset="-122"/>
                <a:cs typeface="Courier New" panose="02070309020205020404" pitchFamily="49" charset="0"/>
              </a:rPr>
              <a:t>新增的虚函数</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private:</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	int j;</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a:p>
            <a:pPr algn="l" eaLnBrk="1" latinLnBrk="1" hangingPunct="1"/>
            <a:r>
              <a:rPr lang="en-US" altLang="zh-CN" sz="1350" b="1" dirty="0">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350" b="1" dirty="0">
              <a:latin typeface="微软雅黑" panose="020B0503020204020204" pitchFamily="34" charset="-122"/>
              <a:ea typeface="微软雅黑" panose="020B0503020204020204" pitchFamily="34" charset="-122"/>
              <a:cs typeface="Courier New" panose="02070309020205020404" pitchFamily="49"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827584" y="81475"/>
            <a:ext cx="8229838" cy="539213"/>
          </a:xfrm>
        </p:spPr>
        <p:txBody>
          <a:bodyPr/>
          <a:lstStyle/>
          <a:p>
            <a:pPr algn="ctr"/>
            <a:r>
              <a:rPr lang="en-US" altLang="zh-CN" sz="4000" b="1" dirty="0"/>
              <a:t>virtual </a:t>
            </a:r>
            <a:r>
              <a:rPr lang="zh-CN" altLang="en-US" sz="4000" b="1" dirty="0"/>
              <a:t>关键字</a:t>
            </a:r>
            <a:endParaRPr lang="zh-CN" altLang="en-US" sz="4000" b="1" dirty="0"/>
          </a:p>
        </p:txBody>
      </p:sp>
      <p:sp>
        <p:nvSpPr>
          <p:cNvPr id="40963" name="内容占位符 2"/>
          <p:cNvSpPr>
            <a:spLocks noGrp="1"/>
          </p:cNvSpPr>
          <p:nvPr>
            <p:ph idx="1"/>
          </p:nvPr>
        </p:nvSpPr>
        <p:spPr>
          <a:xfrm>
            <a:off x="457081" y="1268760"/>
            <a:ext cx="8229838" cy="3707832"/>
          </a:xfrm>
        </p:spPr>
        <p:txBody>
          <a:bodyPr/>
          <a:lstStyle/>
          <a:p>
            <a:r>
              <a:rPr lang="zh-CN" altLang="en-US" sz="2400" b="1">
                <a:ea typeface="华文楷体" panose="02010600040101010101" pitchFamily="2" charset="-122"/>
              </a:rPr>
              <a:t>派生类可以不显式地用</a:t>
            </a:r>
            <a:r>
              <a:rPr lang="en-US" altLang="zh-CN" sz="2400" b="1">
                <a:ea typeface="华文楷体" panose="02010600040101010101" pitchFamily="2" charset="-122"/>
              </a:rPr>
              <a:t>virtual</a:t>
            </a:r>
            <a:r>
              <a:rPr lang="zh-CN" altLang="en-US" sz="2400" b="1">
                <a:ea typeface="华文楷体" panose="02010600040101010101" pitchFamily="2" charset="-122"/>
              </a:rPr>
              <a:t>声明虚函数，这时系统就会用以下规则来判断派生类的一个函数成员是不是虚函数：</a:t>
            </a:r>
            <a:endParaRPr lang="zh-CN" altLang="en-US" sz="2400" b="1">
              <a:ea typeface="华文楷体" panose="02010600040101010101" pitchFamily="2" charset="-122"/>
            </a:endParaRPr>
          </a:p>
          <a:p>
            <a:pPr lvl="1"/>
            <a:r>
              <a:rPr lang="zh-CN" altLang="en-US" sz="2000" b="1">
                <a:ea typeface="华文楷体" panose="02010600040101010101" pitchFamily="2" charset="-122"/>
              </a:rPr>
              <a:t>该函数是否与基类的被覆盖的虚函数有相同的名称、参数个数及对应参数类型、</a:t>
            </a:r>
            <a:r>
              <a:rPr lang="en-US" altLang="zh-CN" sz="2000" b="1">
                <a:ea typeface="华文楷体" panose="02010600040101010101" pitchFamily="2" charset="-122"/>
              </a:rPr>
              <a:t>cv</a:t>
            </a:r>
            <a:r>
              <a:rPr lang="zh-CN" altLang="en-US" sz="2000" b="1">
                <a:ea typeface="华文楷体" panose="02010600040101010101" pitchFamily="2" charset="-122"/>
              </a:rPr>
              <a:t>限定符（是否</a:t>
            </a:r>
            <a:r>
              <a:rPr lang="en-US" altLang="zh-CN" sz="2000" b="1">
                <a:ea typeface="华文楷体" panose="02010600040101010101" pitchFamily="2" charset="-122"/>
              </a:rPr>
              <a:t>const</a:t>
            </a:r>
            <a:r>
              <a:rPr lang="zh-CN" altLang="en-US" sz="2000" b="1">
                <a:ea typeface="华文楷体" panose="02010600040101010101" pitchFamily="2" charset="-122"/>
              </a:rPr>
              <a:t>）、引用限定符（</a:t>
            </a:r>
            <a:r>
              <a:rPr lang="en-US" altLang="zh-CN" sz="2000" b="1">
                <a:ea typeface="华文楷体" panose="02010600040101010101" pitchFamily="2" charset="-122"/>
              </a:rPr>
              <a:t>&amp;</a:t>
            </a:r>
            <a:r>
              <a:rPr lang="zh-CN" altLang="en-US" sz="2000" b="1">
                <a:ea typeface="华文楷体" panose="02010600040101010101" pitchFamily="2" charset="-122"/>
              </a:rPr>
              <a:t>或</a:t>
            </a:r>
            <a:r>
              <a:rPr lang="en-US" altLang="zh-CN" sz="2000" b="1">
                <a:ea typeface="华文楷体" panose="02010600040101010101" pitchFamily="2" charset="-122"/>
              </a:rPr>
              <a:t>&amp;&amp;</a:t>
            </a:r>
            <a:r>
              <a:rPr lang="zh-CN" altLang="en-US" sz="2000" b="1">
                <a:ea typeface="华文楷体" panose="02010600040101010101" pitchFamily="2" charset="-122"/>
              </a:rPr>
              <a:t>，本课程不介绍）；</a:t>
            </a:r>
            <a:endParaRPr lang="zh-CN" altLang="en-US" sz="2000" b="1">
              <a:ea typeface="华文楷体" panose="02010600040101010101" pitchFamily="2" charset="-122"/>
            </a:endParaRPr>
          </a:p>
          <a:p>
            <a:pPr lvl="1"/>
            <a:r>
              <a:rPr lang="zh-CN" altLang="en-US" sz="2000" b="1">
                <a:ea typeface="华文楷体" panose="02010600040101010101" pitchFamily="2" charset="-122"/>
              </a:rPr>
              <a:t>该函数的返回值类型是否与基类被覆盖的虚函数返回值类型相同， 或者可以隐含转换为基类被覆盖的的虚函数的返回值类型；</a:t>
            </a:r>
            <a:endParaRPr lang="zh-CN" altLang="en-US" sz="2000" b="1">
              <a:ea typeface="华文楷体" panose="02010600040101010101" pitchFamily="2" charset="-122"/>
            </a:endParaRPr>
          </a:p>
          <a:p>
            <a:r>
              <a:rPr lang="zh-CN" altLang="en-US" sz="2400" b="1">
                <a:ea typeface="华文楷体" panose="02010600040101010101" pitchFamily="2" charset="-122"/>
              </a:rPr>
              <a:t>如果派生类的函数满足上述条件，就会自动确定为虚函数。这时，派生类的虚函数便覆盖了基类的虚函数。</a:t>
            </a:r>
            <a:endParaRPr lang="en-US" altLang="zh-CN" sz="2400" b="1">
              <a:ea typeface="华文楷体" panose="02010600040101010101" pitchFamily="2" charset="-122"/>
            </a:endParaRPr>
          </a:p>
          <a:p>
            <a:r>
              <a:rPr lang="zh-CN" altLang="en-US" sz="2400" b="1">
                <a:ea typeface="华文楷体" panose="02010600040101010101" pitchFamily="2" charset="-122"/>
              </a:rPr>
              <a:t>派生类中的虚函数还会隐藏基类中同名函数的所有其它重载形式。</a:t>
            </a:r>
            <a:endParaRPr lang="zh-CN" altLang="en-US" sz="2400" b="1">
              <a:ea typeface="华文楷体" panose="02010600040101010101" pitchFamily="2" charset="-122"/>
            </a:endParaRPr>
          </a:p>
          <a:p>
            <a:r>
              <a:rPr lang="zh-CN" altLang="en-US" sz="2400" b="1">
                <a:ea typeface="华文楷体" panose="02010600040101010101" pitchFamily="2" charset="-122"/>
              </a:rPr>
              <a:t>一般习惯于在派生类的函数中也使用</a:t>
            </a:r>
            <a:r>
              <a:rPr lang="en-US" altLang="zh-CN" sz="2400" b="1">
                <a:ea typeface="华文楷体" panose="02010600040101010101" pitchFamily="2" charset="-122"/>
              </a:rPr>
              <a:t>virtual</a:t>
            </a:r>
            <a:r>
              <a:rPr lang="zh-CN" altLang="en-US" sz="2400" b="1">
                <a:ea typeface="华文楷体" panose="02010600040101010101" pitchFamily="2" charset="-122"/>
              </a:rPr>
              <a:t>关键字，以增加程序的可读性。</a:t>
            </a:r>
            <a:endParaRPr lang="zh-CN" altLang="en-US" sz="2400" b="1">
              <a:ea typeface="华文楷体" panose="02010600040101010101"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827584" y="81475"/>
            <a:ext cx="8229838" cy="539213"/>
          </a:xfrm>
        </p:spPr>
        <p:txBody>
          <a:bodyPr/>
          <a:lstStyle/>
          <a:p>
            <a:pPr algn="ctr"/>
            <a:r>
              <a:rPr lang="en-US" altLang="zh-CN" sz="4000" b="1" dirty="0" smtClean="0"/>
              <a:t>final</a:t>
            </a:r>
            <a:r>
              <a:rPr lang="zh-CN" altLang="en-US" sz="4000" b="1" dirty="0" smtClean="0"/>
              <a:t>和</a:t>
            </a:r>
            <a:r>
              <a:rPr lang="en-US" altLang="zh-CN" sz="4000" b="1" dirty="0" smtClean="0"/>
              <a:t>override</a:t>
            </a:r>
            <a:r>
              <a:rPr lang="zh-CN" altLang="en-US" sz="4000" b="1" dirty="0" smtClean="0"/>
              <a:t>说明符</a:t>
            </a:r>
            <a:endParaRPr lang="zh-CN" altLang="en-US" sz="4000" b="1" dirty="0"/>
          </a:p>
        </p:txBody>
      </p:sp>
      <p:sp>
        <p:nvSpPr>
          <p:cNvPr id="40963" name="内容占位符 2"/>
          <p:cNvSpPr>
            <a:spLocks noGrp="1"/>
          </p:cNvSpPr>
          <p:nvPr>
            <p:ph idx="1"/>
          </p:nvPr>
        </p:nvSpPr>
        <p:spPr>
          <a:xfrm>
            <a:off x="467544" y="1268760"/>
            <a:ext cx="8229838" cy="3707832"/>
          </a:xfrm>
        </p:spPr>
        <p:txBody>
          <a:bodyPr/>
          <a:lstStyle/>
          <a:p>
            <a:r>
              <a:rPr lang="en-US" altLang="zh-CN" sz="2000" b="1" dirty="0" smtClean="0">
                <a:solidFill>
                  <a:srgbClr val="FFFF00"/>
                </a:solidFill>
                <a:ea typeface="华文楷体" panose="02010600040101010101" pitchFamily="2" charset="-122"/>
              </a:rPr>
              <a:t>override</a:t>
            </a:r>
            <a:r>
              <a:rPr lang="zh-CN" altLang="en-US" sz="2000" b="1" dirty="0" smtClean="0">
                <a:solidFill>
                  <a:srgbClr val="FFFF00"/>
                </a:solidFill>
                <a:ea typeface="华文楷体" panose="02010600040101010101" pitchFamily="2" charset="-122"/>
              </a:rPr>
              <a:t>：</a:t>
            </a:r>
            <a:r>
              <a:rPr lang="en-US" altLang="zh-CN" sz="2000" b="1" dirty="0" smtClean="0">
                <a:ea typeface="华文楷体" panose="02010600040101010101" pitchFamily="2" charset="-122"/>
              </a:rPr>
              <a:t>C++11</a:t>
            </a:r>
            <a:r>
              <a:rPr lang="zh-CN" altLang="en-US" sz="2000" b="1" dirty="0" smtClean="0">
                <a:ea typeface="华文楷体" panose="02010600040101010101" pitchFamily="2" charset="-122"/>
              </a:rPr>
              <a:t>标准中用于标记派生类中的虚函数，如果该函数没有覆盖已存在的虚函数，则编译器报错。</a:t>
            </a:r>
            <a:br>
              <a:rPr lang="en-US" altLang="zh-CN" sz="2000" b="1" dirty="0" smtClean="0">
                <a:ea typeface="华文楷体" panose="02010600040101010101" pitchFamily="2" charset="-122"/>
              </a:rPr>
            </a:br>
            <a:r>
              <a:rPr lang="zh-CN" altLang="en-US" sz="2000" b="1" dirty="0" smtClean="0">
                <a:ea typeface="华文楷体" panose="02010600040101010101" pitchFamily="2" charset="-122"/>
              </a:rPr>
              <a:t>例如：</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class  Base{</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public:</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virtual void f1(</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a:t>
            </a:r>
            <a:r>
              <a:rPr lang="en-US" altLang="zh-CN" sz="2000" b="1" dirty="0" err="1" smtClean="0">
                <a:ea typeface="华文楷体" panose="02010600040101010101" pitchFamily="2" charset="-122"/>
              </a:rPr>
              <a:t>const</a:t>
            </a:r>
            <a:r>
              <a:rPr lang="en-US" altLang="zh-CN" sz="2000" b="1" dirty="0" smtClean="0">
                <a:ea typeface="华文楷体" panose="02010600040101010101" pitchFamily="2" charset="-122"/>
              </a:rPr>
              <a:t>;</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virtual void f2();</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f3();</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a:t>
            </a:r>
            <a:br>
              <a:rPr lang="en-US" altLang="zh-CN" sz="2000" b="1" dirty="0" smtClean="0">
                <a:ea typeface="华文楷体" panose="02010600040101010101" pitchFamily="2" charset="-122"/>
              </a:rPr>
            </a:b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class Derived1:public Base{</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public:</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f1(</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a:t>
            </a:r>
            <a:r>
              <a:rPr lang="en-US" altLang="zh-CN" sz="2000" b="1" dirty="0" err="1" smtClean="0">
                <a:ea typeface="华文楷体" panose="02010600040101010101" pitchFamily="2" charset="-122"/>
              </a:rPr>
              <a:t>const</a:t>
            </a:r>
            <a:r>
              <a:rPr lang="en-US" altLang="zh-CN" sz="2000" b="1" dirty="0" smtClean="0">
                <a:ea typeface="华文楷体" panose="02010600040101010101" pitchFamily="2" charset="-122"/>
              </a:rPr>
              <a:t> override;   //</a:t>
            </a:r>
            <a:r>
              <a:rPr lang="zh-CN" altLang="en-US" sz="2000" b="1" dirty="0" smtClean="0">
                <a:ea typeface="华文楷体" panose="02010600040101010101" pitchFamily="2" charset="-122"/>
              </a:rPr>
              <a:t>正确：与基类的</a:t>
            </a:r>
            <a:r>
              <a:rPr lang="en-US" altLang="zh-CN" sz="2000" b="1" dirty="0" smtClean="0">
                <a:ea typeface="华文楷体" panose="02010600040101010101" pitchFamily="2" charset="-122"/>
              </a:rPr>
              <a:t>f1</a:t>
            </a:r>
            <a:r>
              <a:rPr lang="zh-CN" altLang="en-US" sz="2000" b="1" dirty="0" smtClean="0">
                <a:ea typeface="华文楷体" panose="02010600040101010101" pitchFamily="2" charset="-122"/>
              </a:rPr>
              <a:t>匹配</a:t>
            </a:r>
            <a:br>
              <a:rPr lang="en-US" altLang="zh-CN" sz="2000" b="1" dirty="0">
                <a:ea typeface="华文楷体" panose="02010600040101010101" pitchFamily="2" charset="-122"/>
              </a:rPr>
            </a:br>
            <a:r>
              <a:rPr lang="en-US" altLang="zh-CN" sz="2000" b="1" dirty="0" smtClean="0">
                <a:ea typeface="华文楷体" panose="02010600040101010101" pitchFamily="2" charset="-122"/>
              </a:rPr>
              <a:t>	void f2(</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override;             //</a:t>
            </a:r>
            <a:r>
              <a:rPr lang="zh-CN" altLang="en-US" sz="2000" b="1" dirty="0" smtClean="0">
                <a:ea typeface="华文楷体" panose="02010600040101010101" pitchFamily="2" charset="-122"/>
              </a:rPr>
              <a:t>错误</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f3() override;                 //</a:t>
            </a:r>
            <a:r>
              <a:rPr lang="zh-CN" altLang="en-US" sz="2000" b="1" dirty="0" smtClean="0">
                <a:ea typeface="华文楷体" panose="02010600040101010101" pitchFamily="2" charset="-122"/>
              </a:rPr>
              <a:t>错误：基类</a:t>
            </a:r>
            <a:r>
              <a:rPr lang="en-US" altLang="zh-CN" sz="2000" b="1" dirty="0" smtClean="0">
                <a:ea typeface="华文楷体" panose="02010600040101010101" pitchFamily="2" charset="-122"/>
              </a:rPr>
              <a:t>f3</a:t>
            </a:r>
            <a:r>
              <a:rPr lang="zh-CN" altLang="en-US" sz="2000" b="1" dirty="0" smtClean="0">
                <a:ea typeface="华文楷体" panose="02010600040101010101" pitchFamily="2" charset="-122"/>
              </a:rPr>
              <a:t>不是虚函数</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f4() override;                 //</a:t>
            </a:r>
            <a:r>
              <a:rPr lang="zh-CN" altLang="en-US" sz="2000" b="1" dirty="0" smtClean="0">
                <a:ea typeface="华文楷体" panose="02010600040101010101" pitchFamily="2" charset="-122"/>
              </a:rPr>
              <a:t>错误：</a:t>
            </a:r>
            <a:r>
              <a:rPr lang="zh-CN" altLang="en-US" sz="2000" b="1" dirty="0">
                <a:ea typeface="华文楷体" panose="02010600040101010101" pitchFamily="2" charset="-122"/>
              </a:rPr>
              <a:t>基</a:t>
            </a:r>
            <a:r>
              <a:rPr lang="zh-CN" altLang="en-US" sz="2000" b="1" dirty="0" smtClean="0">
                <a:ea typeface="华文楷体" panose="02010600040101010101" pitchFamily="2" charset="-122"/>
              </a:rPr>
              <a:t>类没有</a:t>
            </a:r>
            <a:r>
              <a:rPr lang="en-US" altLang="zh-CN" sz="2000" b="1" dirty="0" smtClean="0">
                <a:ea typeface="华文楷体" panose="02010600040101010101" pitchFamily="2" charset="-122"/>
              </a:rPr>
              <a:t>f4</a:t>
            </a:r>
            <a:r>
              <a:rPr lang="zh-CN" altLang="en-US" sz="2000" b="1" dirty="0" smtClean="0">
                <a:ea typeface="华文楷体" panose="02010600040101010101" pitchFamily="2" charset="-122"/>
              </a:rPr>
              <a:t>函数</a:t>
            </a:r>
            <a:br>
              <a:rPr lang="zh-CN" altLang="en-US" sz="2000" b="1" dirty="0" smtClean="0">
                <a:ea typeface="华文楷体" panose="02010600040101010101" pitchFamily="2" charset="-122"/>
              </a:rPr>
            </a:br>
            <a:r>
              <a:rPr lang="en-US" altLang="zh-CN" sz="2000" b="1" dirty="0" smtClean="0">
                <a:ea typeface="华文楷体" panose="02010600040101010101" pitchFamily="2" charset="-122"/>
              </a:rPr>
              <a:t>};</a:t>
            </a:r>
            <a:endParaRPr lang="en-US" altLang="zh-CN" sz="2000" b="1" dirty="0" smtClean="0">
              <a:ea typeface="华文楷体" panose="02010600040101010101"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827584" y="81475"/>
            <a:ext cx="8229838" cy="539213"/>
          </a:xfrm>
        </p:spPr>
        <p:txBody>
          <a:bodyPr/>
          <a:lstStyle/>
          <a:p>
            <a:pPr algn="ctr"/>
            <a:r>
              <a:rPr lang="en-US" altLang="zh-CN" sz="4000" b="1" dirty="0" smtClean="0"/>
              <a:t>final</a:t>
            </a:r>
            <a:r>
              <a:rPr lang="zh-CN" altLang="en-US" sz="4000" b="1" dirty="0" smtClean="0"/>
              <a:t>和</a:t>
            </a:r>
            <a:r>
              <a:rPr lang="en-US" altLang="zh-CN" sz="4000" b="1" dirty="0" smtClean="0"/>
              <a:t>override</a:t>
            </a:r>
            <a:r>
              <a:rPr lang="zh-CN" altLang="en-US" sz="4000" b="1" dirty="0" smtClean="0"/>
              <a:t>说明符</a:t>
            </a:r>
            <a:endParaRPr lang="zh-CN" altLang="en-US" sz="4000" b="1" dirty="0"/>
          </a:p>
        </p:txBody>
      </p:sp>
      <p:sp>
        <p:nvSpPr>
          <p:cNvPr id="40963" name="内容占位符 2"/>
          <p:cNvSpPr>
            <a:spLocks noGrp="1"/>
          </p:cNvSpPr>
          <p:nvPr>
            <p:ph idx="1"/>
          </p:nvPr>
        </p:nvSpPr>
        <p:spPr>
          <a:xfrm>
            <a:off x="467544" y="1268760"/>
            <a:ext cx="8229838" cy="3707832"/>
          </a:xfrm>
        </p:spPr>
        <p:txBody>
          <a:bodyPr/>
          <a:lstStyle/>
          <a:p>
            <a:r>
              <a:rPr lang="en-US" altLang="zh-CN" sz="2000" b="1" dirty="0" smtClean="0">
                <a:solidFill>
                  <a:srgbClr val="FFFF00"/>
                </a:solidFill>
                <a:ea typeface="华文楷体" panose="02010600040101010101" pitchFamily="2" charset="-122"/>
              </a:rPr>
              <a:t>final</a:t>
            </a:r>
            <a:r>
              <a:rPr lang="zh-CN" altLang="en-US" sz="2000" b="1" dirty="0" smtClean="0">
                <a:solidFill>
                  <a:srgbClr val="FFFF00"/>
                </a:solidFill>
                <a:ea typeface="华文楷体" panose="02010600040101010101" pitchFamily="2" charset="-122"/>
              </a:rPr>
              <a:t>：</a:t>
            </a:r>
            <a:r>
              <a:rPr lang="en-US" altLang="zh-CN" sz="2000" b="1" dirty="0" smtClean="0">
                <a:ea typeface="华文楷体" panose="02010600040101010101" pitchFamily="2" charset="-122"/>
              </a:rPr>
              <a:t>C++11</a:t>
            </a:r>
            <a:r>
              <a:rPr lang="zh-CN" altLang="en-US" sz="2000" b="1" dirty="0" smtClean="0">
                <a:ea typeface="华文楷体" panose="02010600040101010101" pitchFamily="2" charset="-122"/>
              </a:rPr>
              <a:t>标准中用于标记</a:t>
            </a:r>
            <a:r>
              <a:rPr lang="zh-CN" altLang="en-US" sz="2000" b="1" dirty="0">
                <a:ea typeface="华文楷体" panose="02010600040101010101" pitchFamily="2" charset="-122"/>
              </a:rPr>
              <a:t>某个</a:t>
            </a:r>
            <a:r>
              <a:rPr lang="zh-CN" altLang="en-US" sz="2000" b="1" dirty="0" smtClean="0">
                <a:ea typeface="华文楷体" panose="02010600040101010101" pitchFamily="2" charset="-122"/>
              </a:rPr>
              <a:t>函数，则该函数不能被覆盖，否则编译器报错。</a:t>
            </a:r>
            <a:br>
              <a:rPr lang="en-US" altLang="zh-CN" sz="2000" b="1" dirty="0" smtClean="0">
                <a:ea typeface="华文楷体" panose="02010600040101010101" pitchFamily="2" charset="-122"/>
              </a:rPr>
            </a:br>
            <a:r>
              <a:rPr lang="zh-CN" altLang="en-US" sz="2000" b="1" dirty="0" smtClean="0">
                <a:ea typeface="华文楷体" panose="02010600040101010101" pitchFamily="2" charset="-122"/>
              </a:rPr>
              <a:t>例如：</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class  Derived2:public Base{</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public:</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f1(</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a:t>
            </a:r>
            <a:r>
              <a:rPr lang="en-US" altLang="zh-CN" sz="2000" b="1" dirty="0" err="1" smtClean="0">
                <a:ea typeface="华文楷体" panose="02010600040101010101" pitchFamily="2" charset="-122"/>
              </a:rPr>
              <a:t>const</a:t>
            </a:r>
            <a:r>
              <a:rPr lang="en-US" altLang="zh-CN" sz="2000" b="1" dirty="0" smtClean="0">
                <a:ea typeface="华文楷体" panose="02010600040101010101" pitchFamily="2" charset="-122"/>
              </a:rPr>
              <a:t> final;  //</a:t>
            </a:r>
            <a:r>
              <a:rPr lang="zh-CN" altLang="en-US" sz="2000" b="1" dirty="0" smtClean="0">
                <a:ea typeface="华文楷体" panose="02010600040101010101" pitchFamily="2" charset="-122"/>
              </a:rPr>
              <a:t>不允许后续其他类覆盖此函数</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a:t>
            </a:r>
            <a:br>
              <a:rPr lang="en-US" altLang="zh-CN" sz="2000" b="1" dirty="0" smtClean="0">
                <a:ea typeface="华文楷体" panose="02010600040101010101" pitchFamily="2" charset="-122"/>
              </a:rPr>
            </a:b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class Derived3:public Derived2{</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public:</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f1(</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a:t>
            </a:r>
            <a:r>
              <a:rPr lang="en-US" altLang="zh-CN" sz="2000" b="1" dirty="0" err="1" smtClean="0">
                <a:ea typeface="华文楷体" panose="02010600040101010101" pitchFamily="2" charset="-122"/>
              </a:rPr>
              <a:t>const</a:t>
            </a:r>
            <a:r>
              <a:rPr lang="en-US" altLang="zh-CN" sz="2000" b="1" dirty="0" smtClean="0">
                <a:ea typeface="华文楷体" panose="02010600040101010101" pitchFamily="2" charset="-122"/>
              </a:rPr>
              <a:t> ;   //</a:t>
            </a:r>
            <a:r>
              <a:rPr lang="zh-CN" altLang="en-US" sz="2000" b="1" dirty="0" smtClean="0">
                <a:ea typeface="华文楷体" panose="02010600040101010101" pitchFamily="2" charset="-122"/>
              </a:rPr>
              <a:t>错误</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	void f2() ;                 //</a:t>
            </a:r>
            <a:r>
              <a:rPr lang="zh-CN" altLang="en-US" sz="2000" b="1" dirty="0" smtClean="0">
                <a:ea typeface="华文楷体" panose="02010600040101010101" pitchFamily="2" charset="-122"/>
              </a:rPr>
              <a:t>正确：覆盖从</a:t>
            </a:r>
            <a:r>
              <a:rPr lang="en-US" altLang="zh-CN" sz="2000" b="1" dirty="0" smtClean="0">
                <a:ea typeface="华文楷体" panose="02010600040101010101" pitchFamily="2" charset="-122"/>
              </a:rPr>
              <a:t>Base</a:t>
            </a:r>
            <a:r>
              <a:rPr lang="zh-CN" altLang="en-US" sz="2000" b="1" dirty="0" smtClean="0">
                <a:ea typeface="华文楷体" panose="02010600040101010101" pitchFamily="2" charset="-122"/>
              </a:rPr>
              <a:t>间接继承的</a:t>
            </a:r>
            <a:r>
              <a:rPr lang="en-US" altLang="zh-CN" sz="2000" b="1" dirty="0" smtClean="0">
                <a:ea typeface="华文楷体" panose="02010600040101010101" pitchFamily="2" charset="-122"/>
              </a:rPr>
              <a:t>f2</a:t>
            </a:r>
            <a:br>
              <a:rPr lang="en-US" altLang="zh-CN" sz="2000" b="1" dirty="0" smtClean="0">
                <a:ea typeface="华文楷体" panose="02010600040101010101" pitchFamily="2" charset="-122"/>
              </a:rPr>
            </a:br>
            <a:r>
              <a:rPr lang="en-US" altLang="zh-CN" sz="2000" b="1" dirty="0" smtClean="0">
                <a:ea typeface="华文楷体" panose="02010600040101010101" pitchFamily="2" charset="-122"/>
              </a:rPr>
              <a:t>};</a:t>
            </a:r>
            <a:endParaRPr lang="en-US" altLang="zh-CN" sz="2000" b="1" dirty="0" smtClean="0">
              <a:ea typeface="华文楷体" panose="0201060004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哪些成员函数可以是虚函数</a:t>
            </a:r>
            <a:endParaRPr lang="zh-CN" altLang="en-US"/>
          </a:p>
        </p:txBody>
      </p:sp>
      <p:sp>
        <p:nvSpPr>
          <p:cNvPr id="3" name="内容占位符 2"/>
          <p:cNvSpPr>
            <a:spLocks noGrp="1"/>
          </p:cNvSpPr>
          <p:nvPr>
            <p:ph idx="1"/>
          </p:nvPr>
        </p:nvSpPr>
        <p:spPr/>
        <p:txBody>
          <a:bodyPr/>
          <a:lstStyle/>
          <a:p>
            <a:r>
              <a:rPr lang="zh-CN" altLang="en-US" b="1" dirty="0">
                <a:latin typeface="华文楷体" panose="02010600040101010101" pitchFamily="2" charset="-122"/>
                <a:ea typeface="华文楷体" panose="02010600040101010101" pitchFamily="2" charset="-122"/>
              </a:rPr>
              <a:t>一般非静态成员函数可以是虚函数</a:t>
            </a:r>
            <a:endParaRPr lang="en-US" altLang="zh-CN" b="1" dirty="0">
              <a:latin typeface="华文楷体" panose="02010600040101010101" pitchFamily="2" charset="-122"/>
              <a:ea typeface="华文楷体" panose="02010600040101010101" pitchFamily="2" charset="-122"/>
            </a:endParaRPr>
          </a:p>
          <a:p>
            <a:r>
              <a:rPr lang="zh-CN" altLang="en-US" b="1" dirty="0">
                <a:latin typeface="华文楷体" panose="02010600040101010101" pitchFamily="2" charset="-122"/>
                <a:ea typeface="华文楷体" panose="02010600040101010101" pitchFamily="2" charset="-122"/>
              </a:rPr>
              <a:t>构造函数不能是虚函数</a:t>
            </a:r>
            <a:endParaRPr lang="en-US" altLang="zh-CN" b="1" dirty="0">
              <a:latin typeface="华文楷体" panose="02010600040101010101" pitchFamily="2" charset="-122"/>
              <a:ea typeface="华文楷体" panose="02010600040101010101" pitchFamily="2" charset="-122"/>
            </a:endParaRPr>
          </a:p>
          <a:p>
            <a:r>
              <a:rPr lang="zh-CN" altLang="en-US" b="1" dirty="0">
                <a:latin typeface="华文楷体" panose="02010600040101010101" pitchFamily="2" charset="-122"/>
                <a:ea typeface="华文楷体" panose="02010600040101010101" pitchFamily="2" charset="-122"/>
              </a:rPr>
              <a:t>析构函数可以是虚函数</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8.3.2 </a:t>
            </a:r>
            <a:r>
              <a:rPr lang="zh-CN" altLang="en-US" sz="4400" b="1">
                <a:latin typeface="Times New Roman" panose="02020603050405020304" pitchFamily="18" charset="0"/>
                <a:ea typeface="隶书" panose="02010509060101010101" pitchFamily="49" charset="-122"/>
              </a:rPr>
              <a:t>虚析构函数</a:t>
            </a:r>
            <a:endParaRPr lang="zh-CN" altLang="en-US" sz="4400" b="1">
              <a:latin typeface="Times New Roman" panose="02020603050405020304" pitchFamily="18" charset="0"/>
              <a:ea typeface="隶书" panose="02010509060101010101" pitchFamily="49" charset="-122"/>
            </a:endParaRPr>
          </a:p>
        </p:txBody>
      </p:sp>
      <p:sp>
        <p:nvSpPr>
          <p:cNvPr id="46083" name="内容占位符 2"/>
          <p:cNvSpPr>
            <a:spLocks noGrp="1"/>
          </p:cNvSpPr>
          <p:nvPr>
            <p:ph idx="1"/>
          </p:nvPr>
        </p:nvSpPr>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为什么需要虚析构函数？</a:t>
            </a:r>
            <a:endParaRPr lang="zh-CN" altLang="en-US" sz="2400" b="1" dirty="0">
              <a:solidFill>
                <a:srgbClr val="FFFF00"/>
              </a:solidFill>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可能通过基类指针删除派生类对象；</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如果你打算允许其他人通过基类指针调用对象的析构函数（通过</a:t>
            </a:r>
            <a:r>
              <a:rPr lang="en-US" altLang="zh-CN" sz="2400" b="1" dirty="0">
                <a:ea typeface="华文楷体" panose="02010600040101010101" pitchFamily="2" charset="-122"/>
              </a:rPr>
              <a:t>delete</a:t>
            </a:r>
            <a:r>
              <a:rPr lang="zh-CN" altLang="en-US" sz="2400" b="1" dirty="0">
                <a:ea typeface="华文楷体" panose="02010600040101010101" pitchFamily="2" charset="-122"/>
              </a:rPr>
              <a:t>这样做是正常的），就需要让基类的析构函数成为虚函数，否则执行</a:t>
            </a:r>
            <a:r>
              <a:rPr lang="en-US" altLang="zh-CN" sz="2400" b="1" dirty="0">
                <a:ea typeface="华文楷体" panose="02010600040101010101" pitchFamily="2" charset="-122"/>
              </a:rPr>
              <a:t>delete</a:t>
            </a:r>
            <a:r>
              <a:rPr lang="zh-CN" altLang="en-US" sz="2400" b="1" dirty="0">
                <a:ea typeface="华文楷体" panose="02010600040101010101" pitchFamily="2" charset="-122"/>
              </a:rPr>
              <a:t>的结果是不确定的。</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628650" y="260648"/>
            <a:ext cx="7886700" cy="1325563"/>
          </a:xfrm>
        </p:spPr>
        <p:txBody>
          <a:bodyPr/>
          <a:lstStyle/>
          <a:p>
            <a:pPr eaLnBrk="1" hangingPunct="1"/>
            <a:r>
              <a:rPr lang="zh-CN" altLang="en-US" b="1" dirty="0" smtClean="0"/>
              <a:t>例</a:t>
            </a:r>
            <a:r>
              <a:rPr lang="en-US" altLang="zh-CN" b="1" dirty="0" smtClean="0"/>
              <a:t>8-5 </a:t>
            </a:r>
            <a:r>
              <a:rPr lang="zh-CN" altLang="en-US" b="1" dirty="0" smtClean="0"/>
              <a:t>虚析构函数举例</a:t>
            </a:r>
            <a:endParaRPr lang="zh-CN" altLang="en-US" b="1" dirty="0" smtClean="0"/>
          </a:p>
        </p:txBody>
      </p:sp>
      <p:sp>
        <p:nvSpPr>
          <p:cNvPr id="3" name="内容占位符 2"/>
          <p:cNvSpPr>
            <a:spLocks noGrp="1"/>
          </p:cNvSpPr>
          <p:nvPr>
            <p:ph idx="1"/>
          </p:nvPr>
        </p:nvSpPr>
        <p:spPr>
          <a:xfrm>
            <a:off x="214313" y="1121831"/>
            <a:ext cx="4143375" cy="5509200"/>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class </a:t>
            </a:r>
            <a:r>
              <a:rPr kumimoji="0" lang="en-US" altLang="zh-CN" sz="2000" b="1" dirty="0">
                <a:solidFill>
                  <a:srgbClr val="000000"/>
                </a:solidFill>
                <a:latin typeface="Times New Roman" panose="02020603050405020304" pitchFamily="18" charset="0"/>
                <a:ea typeface="华文楷体" panose="02010600040101010101" pitchFamily="2" charset="-122"/>
              </a:rPr>
              <a:t>Base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Base::~Base()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&lt;&lt; "Base destructor"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class </a:t>
            </a:r>
            <a:r>
              <a:rPr kumimoji="0" lang="en-US" altLang="zh-CN" sz="2000" b="1" dirty="0">
                <a:solidFill>
                  <a:srgbClr val="000000"/>
                </a:solidFill>
                <a:latin typeface="Times New Roman" panose="02020603050405020304" pitchFamily="18" charset="0"/>
                <a:ea typeface="华文楷体" panose="02010600040101010101" pitchFamily="2" charset="-122"/>
              </a:rPr>
              <a:t>Derived: public Base{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marL="0" indent="0">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marL="0" indent="0">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err="1" smtClean="0">
                <a:solidFill>
                  <a:srgbClr val="000000"/>
                </a:solidFill>
                <a:latin typeface="Times New Roman" panose="02020603050405020304" pitchFamily="18" charset="0"/>
                <a:ea typeface="华文楷体" panose="02010600040101010101" pitchFamily="2" charset="-122"/>
              </a:rPr>
              <a:t>int</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*p;</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marL="0" indent="0">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6" name="内容占位符 2"/>
          <p:cNvSpPr txBox="1"/>
          <p:nvPr/>
        </p:nvSpPr>
        <p:spPr>
          <a:xfrm>
            <a:off x="4857750" y="1121831"/>
            <a:ext cx="4143375" cy="5632311"/>
          </a:xfrm>
          <a:prstGeom prst="rect">
            <a:avLst/>
          </a:prstGeom>
          <a:solidFill>
            <a:schemeClr val="tx1"/>
          </a:solidFill>
          <a:ln w="9525">
            <a:solidFill>
              <a:schemeClr val="tx1"/>
            </a:solidFill>
            <a:miter lim="800000"/>
          </a:ln>
        </p:spPr>
        <p:txBody>
          <a:bodyPr>
            <a:spAutoFit/>
          </a:bodyPr>
          <a:lstStyle>
            <a:lvl1pPr marL="342900" indent="-342900" algn="l">
              <a:buClrTx/>
              <a:buSzTx/>
              <a:buFontTx/>
              <a:buNone/>
              <a:defRPr kumimoji="0" sz="2000" b="1">
                <a:solidFill>
                  <a:srgbClr val="000000"/>
                </a:solidFill>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dirty="0" smtClean="0"/>
              <a:t>Derived</a:t>
            </a:r>
            <a:r>
              <a:rPr lang="en-US" dirty="0"/>
              <a:t>::Derived() {</a:t>
            </a:r>
            <a:endParaRPr lang="zh-CN" altLang="en-US" dirty="0"/>
          </a:p>
          <a:p>
            <a:r>
              <a:rPr lang="en-US" dirty="0"/>
              <a:t>	p = new </a:t>
            </a:r>
            <a:r>
              <a:rPr lang="en-US" dirty="0" err="1"/>
              <a:t>int</a:t>
            </a:r>
            <a:r>
              <a:rPr lang="en-US" dirty="0"/>
              <a:t>(0);</a:t>
            </a:r>
            <a:endParaRPr lang="zh-CN" altLang="en-US" dirty="0"/>
          </a:p>
          <a:p>
            <a:r>
              <a:rPr lang="en-US" dirty="0"/>
              <a:t>}</a:t>
            </a:r>
            <a:endParaRPr lang="zh-CN" altLang="en-US" dirty="0"/>
          </a:p>
          <a:p>
            <a:r>
              <a:rPr lang="en-US" dirty="0"/>
              <a:t>Derived::~Derived() { </a:t>
            </a:r>
            <a:endParaRPr lang="zh-CN" altLang="en-US" dirty="0"/>
          </a:p>
          <a:p>
            <a:r>
              <a:rPr lang="en-US" dirty="0"/>
              <a:t>   </a:t>
            </a:r>
            <a:r>
              <a:rPr lang="en-US" dirty="0" err="1"/>
              <a:t>cout</a:t>
            </a:r>
            <a:r>
              <a:rPr lang="en-US" dirty="0"/>
              <a:t> &lt;&lt;  "Derived destructor" &lt;&lt; </a:t>
            </a:r>
            <a:r>
              <a:rPr lang="en-US" dirty="0" err="1"/>
              <a:t>endl</a:t>
            </a:r>
            <a:r>
              <a:rPr lang="en-US" dirty="0"/>
              <a:t>;</a:t>
            </a:r>
            <a:endParaRPr lang="zh-CN" altLang="en-US" dirty="0"/>
          </a:p>
          <a:p>
            <a:r>
              <a:rPr lang="en-US" dirty="0"/>
              <a:t>	delete p;</a:t>
            </a:r>
            <a:endParaRPr lang="zh-CN" altLang="en-US" dirty="0"/>
          </a:p>
          <a:p>
            <a:r>
              <a:rPr lang="en-US" dirty="0" smtClean="0"/>
              <a:t>}</a:t>
            </a:r>
            <a:endParaRPr lang="en-US" dirty="0" smtClean="0"/>
          </a:p>
          <a:p>
            <a:endParaRPr lang="zh-CN" altLang="en-US" dirty="0"/>
          </a:p>
          <a:p>
            <a:r>
              <a:rPr lang="en-US" dirty="0"/>
              <a:t> </a:t>
            </a:r>
            <a:r>
              <a:rPr lang="en-US" dirty="0" smtClean="0"/>
              <a:t>void </a:t>
            </a:r>
            <a:r>
              <a:rPr lang="en-US" dirty="0"/>
              <a:t>fun(Base* b) {</a:t>
            </a:r>
            <a:endParaRPr lang="zh-CN" altLang="en-US" dirty="0"/>
          </a:p>
          <a:p>
            <a:r>
              <a:rPr lang="en-US" dirty="0"/>
              <a:t>	delete b;</a:t>
            </a:r>
            <a:endParaRPr lang="zh-CN" altLang="en-US" dirty="0"/>
          </a:p>
          <a:p>
            <a:r>
              <a:rPr lang="en-US" dirty="0"/>
              <a:t>}</a:t>
            </a:r>
            <a:endParaRPr lang="zh-CN" altLang="en-US" dirty="0"/>
          </a:p>
          <a:p>
            <a:r>
              <a:rPr lang="en-US" dirty="0"/>
              <a:t> </a:t>
            </a:r>
            <a:endParaRPr lang="zh-CN" altLang="en-US" dirty="0"/>
          </a:p>
          <a:p>
            <a:r>
              <a:rPr lang="en-US" dirty="0" err="1"/>
              <a:t>int</a:t>
            </a:r>
            <a:r>
              <a:rPr lang="en-US" dirty="0"/>
              <a:t> main() {</a:t>
            </a:r>
            <a:endParaRPr lang="zh-CN" altLang="en-US" dirty="0"/>
          </a:p>
          <a:p>
            <a:r>
              <a:rPr lang="en-US" dirty="0"/>
              <a:t>	Base *b = new Derived();</a:t>
            </a:r>
            <a:endParaRPr lang="zh-CN" altLang="en-US" dirty="0"/>
          </a:p>
          <a:p>
            <a:r>
              <a:rPr lang="en-US" dirty="0"/>
              <a:t>	fun(b);</a:t>
            </a:r>
            <a:endParaRPr lang="zh-CN" altLang="en-US" dirty="0"/>
          </a:p>
          <a:p>
            <a:r>
              <a:rPr lang="en-US" dirty="0"/>
              <a:t>	return 0;</a:t>
            </a:r>
            <a:endParaRPr lang="zh-CN" altLang="en-US" dirty="0"/>
          </a:p>
          <a:p>
            <a:r>
              <a:rPr lang="en-US" dirty="0"/>
              <a:t>}</a:t>
            </a:r>
            <a:endParaRPr lang="zh-CN" altLang="en-US" dirty="0"/>
          </a:p>
        </p:txBody>
      </p:sp>
      <p:cxnSp>
        <p:nvCxnSpPr>
          <p:cNvPr id="8" name="直接连接符 7"/>
          <p:cNvCxnSpPr/>
          <p:nvPr/>
        </p:nvCxnSpPr>
        <p:spPr>
          <a:xfrm flipH="1">
            <a:off x="4570413" y="1050393"/>
            <a:ext cx="3176" cy="570374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pPr eaLnBrk="1" hangingPunct="1"/>
            <a:r>
              <a:rPr lang="zh-CN" altLang="en-US" b="1" smtClean="0"/>
              <a:t>例</a:t>
            </a:r>
            <a:r>
              <a:rPr lang="en-US" altLang="zh-CN" b="1" smtClean="0"/>
              <a:t>8-5</a:t>
            </a:r>
            <a:r>
              <a:rPr lang="zh-CN" altLang="en-US" b="1" smtClean="0"/>
              <a:t>（续）</a:t>
            </a:r>
            <a:endParaRPr lang="zh-CN" altLang="en-US" b="1" smtClean="0"/>
          </a:p>
        </p:txBody>
      </p:sp>
      <p:sp>
        <p:nvSpPr>
          <p:cNvPr id="48131" name="内容占位符 2"/>
          <p:cNvSpPr>
            <a:spLocks noGrp="1"/>
          </p:cNvSpPr>
          <p:nvPr>
            <p:ph idx="1"/>
          </p:nvPr>
        </p:nvSpPr>
        <p:spPr>
          <a:xfrm>
            <a:off x="628650" y="1825625"/>
            <a:ext cx="7886700" cy="4195663"/>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运行时结果：</a:t>
            </a:r>
            <a:endParaRPr lang="en-US" altLang="zh-CN" sz="2400" b="1" dirty="0">
              <a:solidFill>
                <a:srgbClr val="FFFF00"/>
              </a:solidFill>
              <a:ea typeface="华文楷体" panose="02010600040101010101" pitchFamily="2" charset="-122"/>
            </a:endParaRPr>
          </a:p>
          <a:p>
            <a:pPr marL="457200" lvl="1" indent="0">
              <a:lnSpc>
                <a:spcPct val="150000"/>
              </a:lnSpc>
              <a:buNone/>
            </a:pPr>
            <a:r>
              <a:rPr lang="en-US" altLang="zh-CN" sz="2400" b="1" dirty="0">
                <a:ea typeface="华文楷体" panose="02010600040101010101" pitchFamily="2" charset="-122"/>
              </a:rPr>
              <a:t>Base destructor</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避免上述错误的有效方法就是将析构函数声明为虚函数，运行结果变为：</a:t>
            </a:r>
            <a:endParaRPr lang="en-US" altLang="zh-CN" sz="2400" b="1" dirty="0">
              <a:solidFill>
                <a:srgbClr val="FFFF00"/>
              </a:solidFill>
              <a:ea typeface="华文楷体" panose="02010600040101010101" pitchFamily="2" charset="-122"/>
            </a:endParaRPr>
          </a:p>
          <a:p>
            <a:pPr marL="457200" lvl="1" indent="0">
              <a:lnSpc>
                <a:spcPct val="150000"/>
              </a:lnSpc>
              <a:buNone/>
            </a:pPr>
            <a:r>
              <a:rPr lang="en-US" altLang="zh-CN" sz="2400" b="1" dirty="0">
                <a:ea typeface="华文楷体" panose="02010600040101010101" pitchFamily="2" charset="-122"/>
              </a:rPr>
              <a:t>Derived destructor</a:t>
            </a:r>
            <a:endParaRPr lang="zh-CN" altLang="en-US" sz="2400" b="1" dirty="0">
              <a:ea typeface="华文楷体" panose="02010600040101010101" pitchFamily="2" charset="-122"/>
            </a:endParaRPr>
          </a:p>
          <a:p>
            <a:pPr marL="457200" lvl="1" indent="0">
              <a:lnSpc>
                <a:spcPct val="150000"/>
              </a:lnSpc>
              <a:buNone/>
            </a:pPr>
            <a:r>
              <a:rPr lang="en-US" altLang="zh-CN" sz="2400" b="1" dirty="0">
                <a:ea typeface="华文楷体" panose="02010600040101010101" pitchFamily="2" charset="-122"/>
              </a:rPr>
              <a:t>Base destructor</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p:spPr>
        <p:txBody>
          <a:bodyPr/>
          <a:lstStyle/>
          <a:p>
            <a:pPr algn="ctr" eaLnBrk="1" hangingPunct="1"/>
            <a:r>
              <a:rPr lang="en-US" altLang="zh-CN" b="1" dirty="0" smtClean="0">
                <a:latin typeface="Times New Roman" panose="02020603050405020304" pitchFamily="18" charset="0"/>
                <a:ea typeface="隶书" panose="02010509060101010101" pitchFamily="49" charset="-122"/>
              </a:rPr>
              <a:t> C++</a:t>
            </a:r>
            <a:r>
              <a:rPr lang="zh-CN" altLang="en-US" b="1" dirty="0" smtClean="0">
                <a:latin typeface="Times New Roman" panose="02020603050405020304" pitchFamily="18" charset="0"/>
                <a:ea typeface="隶书" panose="02010509060101010101" pitchFamily="49" charset="-122"/>
              </a:rPr>
              <a:t>中不能定义为虚函数的？</a:t>
            </a:r>
            <a:endParaRPr lang="zh-CN" altLang="en-US" sz="3200" dirty="0" smtClean="0">
              <a:latin typeface="隶书" panose="02010509060101010101" pitchFamily="49" charset="-122"/>
              <a:ea typeface="隶书" panose="02010509060101010101" pitchFamily="49" charset="-122"/>
            </a:endParaRPr>
          </a:p>
        </p:txBody>
      </p:sp>
      <p:sp>
        <p:nvSpPr>
          <p:cNvPr id="40963" name="Rectangle 3"/>
          <p:cNvSpPr>
            <a:spLocks noChangeArrowheads="1"/>
          </p:cNvSpPr>
          <p:nvPr/>
        </p:nvSpPr>
        <p:spPr bwMode="auto">
          <a:xfrm>
            <a:off x="1214438" y="1857375"/>
            <a:ext cx="7416800" cy="440055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457200" indent="-45720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10000"/>
              </a:spcBef>
              <a:spcAft>
                <a:spcPct val="0"/>
              </a:spcAft>
              <a:buClr>
                <a:schemeClr val="tx2"/>
              </a:buClr>
              <a:buSzPct val="70000"/>
              <a:buFont typeface="Wingdings" panose="05000000000000000000" pitchFamily="2" charset="2"/>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200000"/>
              </a:lnSpc>
              <a:spcBef>
                <a:spcPct val="0"/>
              </a:spcBef>
              <a:buClrTx/>
              <a:buSzTx/>
              <a:buFont typeface="宋体" panose="02010600030101010101" pitchFamily="2" charset="-122"/>
              <a:buAutoNum type="circleNumDbPlain"/>
            </a:pPr>
            <a:r>
              <a:rPr lang="zh-CN" altLang="en-US" dirty="0">
                <a:solidFill>
                  <a:srgbClr val="FFFF00"/>
                </a:solidFill>
              </a:rPr>
              <a:t>普通函数（非成员函数）：</a:t>
            </a:r>
            <a:r>
              <a:rPr lang="zh-CN" altLang="en-US" dirty="0"/>
              <a:t>只能被</a:t>
            </a:r>
            <a:r>
              <a:rPr lang="en-US" altLang="zh-CN" dirty="0"/>
              <a:t>overload</a:t>
            </a:r>
            <a:r>
              <a:rPr lang="zh-CN" altLang="en-US" dirty="0"/>
              <a:t>，不能被</a:t>
            </a:r>
            <a:r>
              <a:rPr lang="en-US" altLang="zh-CN" dirty="0"/>
              <a:t>override</a:t>
            </a:r>
            <a:endParaRPr lang="en-US" altLang="zh-CN" dirty="0"/>
          </a:p>
          <a:p>
            <a:pPr algn="l" eaLnBrk="1" hangingPunct="1">
              <a:lnSpc>
                <a:spcPct val="200000"/>
              </a:lnSpc>
              <a:spcBef>
                <a:spcPct val="0"/>
              </a:spcBef>
              <a:buClrTx/>
              <a:buSzTx/>
              <a:buFont typeface="宋体" panose="02010600030101010101" pitchFamily="2" charset="-122"/>
              <a:buAutoNum type="circleNumDbPlain"/>
            </a:pPr>
            <a:r>
              <a:rPr lang="zh-CN" altLang="en-US" dirty="0">
                <a:solidFill>
                  <a:srgbClr val="FFFF00"/>
                </a:solidFill>
              </a:rPr>
              <a:t>构造函数</a:t>
            </a:r>
            <a:endParaRPr lang="en-US" altLang="zh-CN" dirty="0">
              <a:solidFill>
                <a:srgbClr val="FFFF00"/>
              </a:solidFill>
            </a:endParaRPr>
          </a:p>
          <a:p>
            <a:pPr algn="l" eaLnBrk="1" hangingPunct="1">
              <a:lnSpc>
                <a:spcPct val="200000"/>
              </a:lnSpc>
              <a:spcBef>
                <a:spcPct val="0"/>
              </a:spcBef>
              <a:buClrTx/>
              <a:buSzTx/>
              <a:buFont typeface="宋体" panose="02010600030101010101" pitchFamily="2" charset="-122"/>
              <a:buAutoNum type="circleNumDbPlain"/>
            </a:pPr>
            <a:r>
              <a:rPr lang="zh-CN" altLang="en-US" dirty="0">
                <a:solidFill>
                  <a:srgbClr val="FFFF00"/>
                </a:solidFill>
              </a:rPr>
              <a:t>内联成员函数：</a:t>
            </a:r>
            <a:r>
              <a:rPr lang="en-US" altLang="zh-CN" dirty="0"/>
              <a:t>inline</a:t>
            </a:r>
            <a:r>
              <a:rPr lang="zh-CN" altLang="en-US" dirty="0"/>
              <a:t>函数在编译时被展开，虚函数在运行时才能动态的绑定函数</a:t>
            </a:r>
            <a:endParaRPr lang="en-US" altLang="zh-CN" dirty="0"/>
          </a:p>
          <a:p>
            <a:pPr algn="l" eaLnBrk="1" hangingPunct="1">
              <a:lnSpc>
                <a:spcPct val="200000"/>
              </a:lnSpc>
              <a:spcBef>
                <a:spcPct val="0"/>
              </a:spcBef>
              <a:buClrTx/>
              <a:buSzTx/>
              <a:buFont typeface="宋体" panose="02010600030101010101" pitchFamily="2" charset="-122"/>
              <a:buAutoNum type="circleNumDbPlain"/>
            </a:pPr>
            <a:r>
              <a:rPr lang="zh-CN" altLang="en-US" dirty="0">
                <a:solidFill>
                  <a:srgbClr val="FFFF00"/>
                </a:solidFill>
              </a:rPr>
              <a:t>静态成员函数：</a:t>
            </a:r>
            <a:r>
              <a:rPr lang="zh-CN" altLang="en-US" dirty="0"/>
              <a:t>对于每个类来说只有一份代码，所有的对象都共享这一份代码，所以没有要动态绑定的必要性</a:t>
            </a:r>
            <a:endParaRPr lang="en-US" altLang="zh-CN" dirty="0"/>
          </a:p>
          <a:p>
            <a:pPr algn="l" eaLnBrk="1" hangingPunct="1">
              <a:lnSpc>
                <a:spcPct val="200000"/>
              </a:lnSpc>
              <a:spcBef>
                <a:spcPct val="0"/>
              </a:spcBef>
              <a:buClrTx/>
              <a:buSzTx/>
              <a:buFont typeface="宋体" panose="02010600030101010101" pitchFamily="2" charset="-122"/>
              <a:buAutoNum type="circleNumDbPlain"/>
            </a:pPr>
            <a:r>
              <a:rPr lang="zh-CN" altLang="en-US" dirty="0">
                <a:solidFill>
                  <a:srgbClr val="FFFF00"/>
                </a:solidFill>
              </a:rPr>
              <a:t>友元函数：</a:t>
            </a:r>
            <a:r>
              <a:rPr lang="zh-CN" altLang="en-US" dirty="0"/>
              <a:t>没有继承特性的函数，就没有虚函数之说</a:t>
            </a:r>
            <a:endParaRPr lang="en-US" altLang="zh-CN" sz="22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2060848"/>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4"/>
            </a:pPr>
            <a:r>
              <a:rPr lang="zh-CN" altLang="en-US" sz="5800" b="1" dirty="0" smtClean="0">
                <a:ea typeface="华文彩云" panose="02010800040101010101" pitchFamily="2" charset="-122"/>
              </a:rPr>
              <a:t>纯虚函数和抽象类</a:t>
            </a:r>
            <a:endParaRPr lang="zh-CN" altLang="en-US" sz="5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8.4.1 </a:t>
            </a:r>
            <a:r>
              <a:rPr lang="zh-CN" altLang="en-US" sz="4400" b="1">
                <a:latin typeface="Times New Roman" panose="02020603050405020304" pitchFamily="18" charset="0"/>
                <a:ea typeface="隶书" panose="02010509060101010101" pitchFamily="49" charset="-122"/>
              </a:rPr>
              <a:t>纯虚函数</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11560" y="1354480"/>
            <a:ext cx="7886700" cy="4351338"/>
          </a:xfrm>
        </p:spPr>
        <p:txBody>
          <a:bodyPr/>
          <a:lstStyle/>
          <a:p>
            <a:pPr>
              <a:spcAft>
                <a:spcPct val="25000"/>
              </a:spcAft>
            </a:pPr>
            <a:r>
              <a:rPr lang="zh-CN" altLang="en-US" sz="2400" b="1" dirty="0">
                <a:ea typeface="华文楷体" panose="02010600040101010101" pitchFamily="2" charset="-122"/>
              </a:rPr>
              <a:t>纯虚函数是一个在基类中声明的虚函数，它在该基类中没有定义具体的操作内容，要求各派生类根据实际需要定义自己的版本，纯虚函数的声明格式为：</a:t>
            </a:r>
            <a:endParaRPr lang="zh-CN" altLang="en-US" sz="2400" b="1" dirty="0">
              <a:ea typeface="华文楷体" panose="02010600040101010101" pitchFamily="2" charset="-122"/>
            </a:endParaRPr>
          </a:p>
          <a:p>
            <a:pPr marL="457200" lvl="1" indent="0">
              <a:buNone/>
            </a:pPr>
            <a:r>
              <a:rPr lang="en-US" sz="2400" b="1" dirty="0">
                <a:solidFill>
                  <a:srgbClr val="FFFF00"/>
                </a:solidFill>
                <a:ea typeface="华文楷体" panose="02010600040101010101" pitchFamily="2" charset="-122"/>
              </a:rPr>
              <a:t>virtual </a:t>
            </a:r>
            <a:r>
              <a:rPr lang="zh-CN" altLang="en-US" sz="2400" b="1" dirty="0">
                <a:solidFill>
                  <a:srgbClr val="FFFF00"/>
                </a:solidFill>
                <a:ea typeface="华文楷体" panose="02010600040101010101" pitchFamily="2" charset="-122"/>
              </a:rPr>
              <a:t>函数类型 函数名</a:t>
            </a:r>
            <a:r>
              <a:rPr lang="en-US"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参数表</a:t>
            </a:r>
            <a:r>
              <a:rPr lang="en-US" sz="2400" b="1" dirty="0">
                <a:solidFill>
                  <a:srgbClr val="FFFF00"/>
                </a:solidFill>
                <a:ea typeface="华文楷体" panose="02010600040101010101" pitchFamily="2" charset="-122"/>
              </a:rPr>
              <a:t>) = 0;</a:t>
            </a:r>
            <a:endParaRPr lang="en-US" altLang="zh-CN" sz="2400" b="1" dirty="0">
              <a:solidFill>
                <a:srgbClr val="FFFF00"/>
              </a:solidFill>
              <a:ea typeface="华文楷体" panose="02010600040101010101" pitchFamily="2" charset="-122"/>
            </a:endParaRPr>
          </a:p>
          <a:p>
            <a:pPr>
              <a:spcAft>
                <a:spcPct val="25000"/>
              </a:spcAft>
            </a:pPr>
            <a:r>
              <a:rPr lang="zh-CN" altLang="zh-CN" sz="2400" b="1" dirty="0">
                <a:ea typeface="华文楷体" panose="02010600040101010101" pitchFamily="2" charset="-122"/>
              </a:rPr>
              <a:t>带有纯虚函数的类称为抽象类:</a:t>
            </a:r>
            <a:endParaRPr lang="zh-CN" altLang="zh-CN" sz="2400" b="1" dirty="0">
              <a:ea typeface="华文楷体" panose="02010600040101010101" pitchFamily="2" charset="-122"/>
            </a:endParaRPr>
          </a:p>
          <a:p>
            <a:pPr marL="400050" lvl="1" indent="0">
              <a:spcAft>
                <a:spcPct val="25000"/>
              </a:spcAft>
              <a:buNone/>
            </a:pPr>
            <a:r>
              <a:rPr lang="en-US" altLang="zh-CN" sz="2400" b="1" dirty="0">
                <a:solidFill>
                  <a:srgbClr val="FFFF00"/>
                </a:solidFill>
                <a:ea typeface="华文楷体" panose="02010600040101010101" pitchFamily="2" charset="-122"/>
              </a:rPr>
              <a:t>class  </a:t>
            </a:r>
            <a:r>
              <a:rPr lang="zh-CN" altLang="zh-CN" sz="2400" b="1" dirty="0">
                <a:solidFill>
                  <a:srgbClr val="FFFF00"/>
                </a:solidFill>
                <a:ea typeface="华文楷体" panose="02010600040101010101" pitchFamily="2" charset="-122"/>
              </a:rPr>
              <a:t>类名</a:t>
            </a:r>
            <a:endParaRPr lang="zh-CN" altLang="zh-CN" sz="2400" b="1" dirty="0">
              <a:solidFill>
                <a:srgbClr val="FFFF00"/>
              </a:solidFill>
              <a:ea typeface="华文楷体" panose="02010600040101010101" pitchFamily="2" charset="-122"/>
            </a:endParaRPr>
          </a:p>
          <a:p>
            <a:pPr marL="400050" lvl="1" indent="0">
              <a:spcAft>
                <a:spcPct val="25000"/>
              </a:spcAft>
              <a:buNone/>
            </a:pPr>
            <a:r>
              <a:rPr lang="zh-CN" altLang="zh-CN" sz="2400" b="1" dirty="0">
                <a:solidFill>
                  <a:srgbClr val="FFFF00"/>
                </a:solidFill>
                <a:ea typeface="华文楷体" panose="02010600040101010101" pitchFamily="2" charset="-122"/>
              </a:rPr>
              <a:t> </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marL="400050" lvl="1" indent="0">
              <a:spcAft>
                <a:spcPct val="25000"/>
              </a:spcAft>
              <a:buNone/>
            </a:pPr>
            <a:r>
              <a:rPr lang="en-US" altLang="en-US" sz="2400" b="1" dirty="0">
                <a:solidFill>
                  <a:srgbClr val="FFFF00"/>
                </a:solidFill>
                <a:ea typeface="华文楷体" panose="02010600040101010101" pitchFamily="2" charset="-122"/>
              </a:rPr>
              <a:t>     </a:t>
            </a:r>
            <a:r>
              <a:rPr lang="en-US" altLang="zh-CN" sz="2400" b="1" dirty="0">
                <a:solidFill>
                  <a:srgbClr val="FFFF00"/>
                </a:solidFill>
                <a:ea typeface="华文楷体" panose="02010600040101010101" pitchFamily="2" charset="-122"/>
              </a:rPr>
              <a:t>virtual </a:t>
            </a:r>
            <a:r>
              <a:rPr lang="zh-CN" altLang="en-US" sz="2400" b="1" dirty="0">
                <a:solidFill>
                  <a:srgbClr val="FFFF00"/>
                </a:solidFill>
                <a:ea typeface="华文楷体" panose="02010600040101010101" pitchFamily="2" charset="-122"/>
              </a:rPr>
              <a:t>类型 函数名</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参数表</a:t>
            </a:r>
            <a:r>
              <a:rPr lang="en-US" altLang="zh-CN" sz="2400" b="1" dirty="0">
                <a:solidFill>
                  <a:srgbClr val="FFFF00"/>
                </a:solidFill>
                <a:ea typeface="华文楷体" panose="02010600040101010101" pitchFamily="2" charset="-122"/>
              </a:rPr>
              <a:t>)=0; //</a:t>
            </a:r>
            <a:r>
              <a:rPr lang="zh-CN" altLang="en-US" sz="2400" b="1" dirty="0">
                <a:solidFill>
                  <a:srgbClr val="FFFF00"/>
                </a:solidFill>
                <a:ea typeface="华文楷体" panose="02010600040101010101" pitchFamily="2" charset="-122"/>
              </a:rPr>
              <a:t>纯虚函数</a:t>
            </a:r>
            <a:endParaRPr lang="zh-CN" altLang="en-US" sz="2400" b="1" dirty="0">
              <a:solidFill>
                <a:srgbClr val="FFFF00"/>
              </a:solidFill>
              <a:ea typeface="华文楷体" panose="02010600040101010101" pitchFamily="2" charset="-122"/>
            </a:endParaRPr>
          </a:p>
          <a:p>
            <a:pPr marL="400050" lvl="1" indent="0">
              <a:spcAft>
                <a:spcPct val="25000"/>
              </a:spcAft>
              <a:buNone/>
            </a:pPr>
            <a:r>
              <a:rPr lang="zh-CN" altLang="en-US" sz="2400" b="1" dirty="0">
                <a:solidFill>
                  <a:srgbClr val="FFFF00"/>
                </a:solidFill>
                <a:ea typeface="华文楷体" panose="02010600040101010101" pitchFamily="2" charset="-122"/>
              </a:rPr>
              <a:t>     </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marL="400050" lvl="1" indent="0">
              <a:spcAft>
                <a:spcPct val="25000"/>
              </a:spcAft>
              <a:buNone/>
            </a:pPr>
            <a:r>
              <a:rPr lang="en-US" altLang="zh-CN" sz="2400" b="1" dirty="0">
                <a:solidFill>
                  <a:srgbClr val="FFFF00"/>
                </a:solidFill>
                <a:ea typeface="华文楷体" panose="02010600040101010101" pitchFamily="2" charset="-122"/>
              </a:rPr>
              <a:t>}</a:t>
            </a: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8.4.2 </a:t>
            </a:r>
            <a:r>
              <a:rPr lang="zh-CN" altLang="en-US" sz="4400" b="1">
                <a:latin typeface="Times New Roman" panose="02020603050405020304" pitchFamily="18" charset="0"/>
                <a:ea typeface="隶书" panose="02010509060101010101" pitchFamily="49" charset="-122"/>
              </a:rPr>
              <a:t>抽象类</a:t>
            </a:r>
            <a:endParaRPr lang="zh-CN" altLang="en-US" sz="4400" b="1">
              <a:latin typeface="Times New Roman" panose="02020603050405020304" pitchFamily="18" charset="0"/>
              <a:ea typeface="隶书" panose="02010509060101010101" pitchFamily="49" charset="-122"/>
            </a:endParaRPr>
          </a:p>
        </p:txBody>
      </p:sp>
      <p:sp>
        <p:nvSpPr>
          <p:cNvPr id="50179" name="内容占位符 2"/>
          <p:cNvSpPr>
            <a:spLocks noGrp="1"/>
          </p:cNvSpPr>
          <p:nvPr>
            <p:ph idx="1"/>
          </p:nvPr>
        </p:nvSpPr>
        <p:spPr>
          <a:xfrm>
            <a:off x="683568" y="1412776"/>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作用</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抽象类为抽象和设计的目的而声明，将有关的数据和行为组织在一个继承层次结构中，保证派生类具有要求的行为。</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对于暂时无法实现的函数，可以声明为纯虚函数，留给派生类去实现。</a:t>
            </a:r>
            <a:endParaRPr lang="zh-CN" altLang="en-US"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注意</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抽象类只能作为基类来使用。</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不能声明抽象类的对象。</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构造函数不能是虚函数，析构函数可以是虚函数。</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pPr eaLnBrk="1" hangingPunct="1"/>
            <a:r>
              <a:rPr lang="zh-CN" altLang="en-US" b="1" smtClean="0"/>
              <a:t>例</a:t>
            </a:r>
            <a:r>
              <a:rPr lang="en-US" altLang="zh-CN" b="1" smtClean="0"/>
              <a:t>8-6 </a:t>
            </a:r>
            <a:r>
              <a:rPr lang="zh-CN" altLang="en-US" b="1" smtClean="0"/>
              <a:t>抽象类举例</a:t>
            </a:r>
            <a:endParaRPr lang="zh-CN" altLang="en-US" b="1" smtClean="0"/>
          </a:p>
        </p:txBody>
      </p:sp>
      <p:sp>
        <p:nvSpPr>
          <p:cNvPr id="3" name="内容占位符 2"/>
          <p:cNvSpPr>
            <a:spLocks noGrp="1"/>
          </p:cNvSpPr>
          <p:nvPr>
            <p:ph idx="1"/>
          </p:nvPr>
        </p:nvSpPr>
        <p:spPr>
          <a:xfrm>
            <a:off x="683568" y="1556792"/>
            <a:ext cx="7886700"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//8_6.cpp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display() const = 0;	//</a:t>
            </a:r>
            <a:r>
              <a:rPr kumimoji="0" lang="zh-CN" altLang="en-US" sz="2000" b="1" dirty="0">
                <a:solidFill>
                  <a:srgbClr val="000000"/>
                </a:solidFill>
                <a:latin typeface="Times New Roman" panose="02020603050405020304" pitchFamily="18" charset="0"/>
                <a:ea typeface="华文楷体" panose="02010600040101010101" pitchFamily="2" charset="-122"/>
              </a:rPr>
              <a:t>纯虚函数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public Base1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const;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覆盖基类的虚函数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Base2::display() const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"Base2::display()"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457200" y="642938"/>
            <a:ext cx="8472488" cy="5930900"/>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覆盖基类的虚函数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Derived::display()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fun(Base1 *</a:t>
            </a:r>
            <a:r>
              <a:rPr kumimoji="0" lang="en-US" altLang="zh-CN" sz="2000" b="1" dirty="0" err="1">
                <a:solidFill>
                  <a:srgbClr val="000000"/>
                </a:solidFill>
                <a:latin typeface="Times New Roman" panose="02020603050405020304" pitchFamily="18" charset="0"/>
                <a:ea typeface="华文楷体" panose="02010600040101010101" pitchFamily="2" charset="-122"/>
              </a:rPr>
              <a:t>ptr</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参数为指向基类对象的指针</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ptr</a:t>
            </a:r>
            <a:r>
              <a:rPr kumimoji="0" lang="en-US" altLang="zh-CN" sz="2000" b="1" dirty="0">
                <a:solidFill>
                  <a:srgbClr val="000000"/>
                </a:solidFill>
                <a:latin typeface="Times New Roman" panose="02020603050405020304" pitchFamily="18" charset="0"/>
                <a:ea typeface="华文楷体" panose="02010600040101010101" pitchFamily="2" charset="-122"/>
              </a:rPr>
              <a:t>-&gt;display();	//"</a:t>
            </a:r>
            <a:r>
              <a:rPr kumimoji="0" lang="zh-CN" altLang="en-US" sz="2000" b="1" dirty="0">
                <a:solidFill>
                  <a:srgbClr val="000000"/>
                </a:solidFill>
                <a:latin typeface="Times New Roman" panose="02020603050405020304" pitchFamily="18" charset="0"/>
                <a:ea typeface="华文楷体" panose="02010600040101010101" pitchFamily="2" charset="-122"/>
              </a:rPr>
              <a:t>对象指针</a:t>
            </a:r>
            <a:r>
              <a:rPr kumimoji="0" lang="en-US" altLang="zh-CN" sz="2000" b="1" dirty="0">
                <a:solidFill>
                  <a:srgbClr val="000000"/>
                </a:solidFill>
                <a:latin typeface="Times New Roman" panose="02020603050405020304" pitchFamily="18" charset="0"/>
                <a:ea typeface="华文楷体" panose="02010600040101010101" pitchFamily="2" charset="-122"/>
              </a:rPr>
              <a:t>-&gt;</a:t>
            </a:r>
            <a:r>
              <a:rPr kumimoji="0" lang="zh-CN" altLang="en-US" sz="2000" b="1" dirty="0">
                <a:solidFill>
                  <a:srgbClr val="000000"/>
                </a:solidFill>
                <a:latin typeface="Times New Roman" panose="02020603050405020304" pitchFamily="18" charset="0"/>
                <a:ea typeface="华文楷体" panose="02010600040101010101" pitchFamily="2" charset="-122"/>
              </a:rPr>
              <a:t>成员名</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Base2 </a:t>
            </a:r>
            <a:r>
              <a:rPr kumimoji="0" lang="en-US" altLang="zh-CN" sz="2000" b="1" dirty="0" err="1">
                <a:solidFill>
                  <a:srgbClr val="000000"/>
                </a:solidFill>
                <a:latin typeface="Times New Roman" panose="02020603050405020304" pitchFamily="18" charset="0"/>
                <a:ea typeface="华文楷体" panose="02010600040101010101" pitchFamily="2" charset="-122"/>
              </a:rPr>
              <a:t>base2</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a:t>
            </a:r>
            <a:r>
              <a:rPr kumimoji="0" lang="en-US" altLang="zh-CN" sz="2000" b="1" dirty="0" err="1">
                <a:solidFill>
                  <a:srgbClr val="000000"/>
                </a:solidFill>
                <a:latin typeface="Times New Roman" panose="02020603050405020304" pitchFamily="18" charset="0"/>
                <a:ea typeface="华文楷体" panose="02010600040101010101" pitchFamily="2" charset="-122"/>
              </a:rPr>
              <a:t>derived</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fun(&amp;base2);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fun(&amp;derived);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2" name="标题 1"/>
          <p:cNvSpPr>
            <a:spLocks noGrp="1"/>
          </p:cNvSpPr>
          <p:nvPr>
            <p:ph type="title"/>
          </p:nvPr>
        </p:nvSpPr>
        <p:spPr>
          <a:xfrm>
            <a:off x="6660232" y="1000125"/>
            <a:ext cx="2269456" cy="628675"/>
          </a:xfrm>
          <a:solidFill>
            <a:schemeClr val="bg1"/>
          </a:solidFill>
        </p:spPr>
        <p:txBody>
          <a:bodyPr vert="horz">
            <a:normAutofit fontScale="90000"/>
          </a:bodyPr>
          <a:lstStyle/>
          <a:p>
            <a:pPr eaLnBrk="1" fontAlgn="auto" hangingPunct="1">
              <a:spcAft>
                <a:spcPts val="0"/>
              </a:spcAft>
              <a:defRPr/>
            </a:pPr>
            <a:r>
              <a:rPr lang="zh-CN" altLang="en-US" dirty="0" smtClean="0"/>
              <a:t>例</a:t>
            </a:r>
            <a:r>
              <a:rPr lang="en-US" altLang="zh-CN" dirty="0" smtClean="0"/>
              <a:t>8-6</a:t>
            </a:r>
            <a:r>
              <a:rPr lang="zh-CN" altLang="en-US" dirty="0" smtClean="0"/>
              <a:t>（续）</a:t>
            </a:r>
            <a:endParaRPr lang="zh-CN" altLang="en-US" dirty="0"/>
          </a:p>
        </p:txBody>
      </p:sp>
      <p:sp>
        <p:nvSpPr>
          <p:cNvPr id="6" name="Text Box 4"/>
          <p:cNvSpPr txBox="1">
            <a:spLocks noChangeArrowheads="1"/>
          </p:cNvSpPr>
          <p:nvPr/>
        </p:nvSpPr>
        <p:spPr bwMode="auto">
          <a:xfrm>
            <a:off x="6429375" y="3861048"/>
            <a:ext cx="2476500" cy="1200329"/>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sz="2400" dirty="0"/>
              <a:t>运行结果：</a:t>
            </a:r>
            <a:endParaRPr lang="zh-CN" altLang="en-US" sz="2400" dirty="0"/>
          </a:p>
          <a:p>
            <a:r>
              <a:rPr lang="en-US" altLang="zh-CN" sz="2400" dirty="0"/>
              <a:t>Base2::display()</a:t>
            </a:r>
            <a:endParaRPr lang="en-US" altLang="zh-CN" sz="2400" dirty="0"/>
          </a:p>
          <a:p>
            <a:r>
              <a:rPr lang="en-US" altLang="zh-CN" sz="2400" dirty="0"/>
              <a:t>Derived::display()</a:t>
            </a:r>
            <a:endParaRPr lang="en-US" altLang="zh-CN" sz="2400" dirty="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83568" y="1124744"/>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200000"/>
              </a:lnSpc>
              <a:buFont typeface="+mj-lt"/>
              <a:buAutoNum type="arabicPeriod" startAt="7"/>
            </a:pPr>
            <a:r>
              <a:rPr lang="zh-CN" altLang="en-US" sz="6000" b="1" dirty="0">
                <a:ea typeface="华文彩云" panose="02010800040101010101" pitchFamily="2" charset="-122"/>
              </a:rPr>
              <a:t>深度</a:t>
            </a:r>
            <a:r>
              <a:rPr lang="zh-CN" altLang="en-US" sz="6000" b="1" dirty="0" smtClean="0">
                <a:ea typeface="华文彩云" panose="02010800040101010101" pitchFamily="2" charset="-122"/>
              </a:rPr>
              <a:t>探索</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8.7.1 </a:t>
            </a:r>
            <a:r>
              <a:rPr lang="zh-CN" altLang="en-US" sz="4400" b="1" dirty="0">
                <a:latin typeface="Times New Roman" panose="02020603050405020304" pitchFamily="18" charset="0"/>
                <a:ea typeface="隶书" panose="02010509060101010101" pitchFamily="49" charset="-122"/>
              </a:rPr>
              <a:t>多态类型与非多态类型</a:t>
            </a:r>
            <a:endParaRPr lang="zh-CN" altLang="en-US" sz="4400" b="1" dirty="0">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755576" y="1340768"/>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多态类型与非多态类型</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有虚函数的类类型称为多态类型</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其它类型皆为非多态类型</a:t>
            </a:r>
            <a:endParaRPr lang="en-US" altLang="zh-CN"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二者的差异</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语言层面的差异</a:t>
            </a:r>
            <a:endParaRPr lang="en-US" altLang="zh-CN" sz="2400" b="1" dirty="0">
              <a:ea typeface="华文楷体" panose="02010600040101010101" pitchFamily="2" charset="-122"/>
            </a:endParaRPr>
          </a:p>
          <a:p>
            <a:pPr lvl="2">
              <a:lnSpc>
                <a:spcPct val="150000"/>
              </a:lnSpc>
              <a:buFont typeface="Wingdings" panose="05000000000000000000" pitchFamily="2" charset="2"/>
              <a:buChar char="ü"/>
            </a:pPr>
            <a:r>
              <a:rPr lang="zh-CN" altLang="en-US" b="1" dirty="0">
                <a:ea typeface="华文楷体" panose="02010600040101010101" pitchFamily="2" charset="-122"/>
              </a:rPr>
              <a:t>多态类型支持运行时类型识别</a:t>
            </a:r>
            <a:endParaRPr lang="en-US" altLang="zh-CN" b="1" dirty="0">
              <a:ea typeface="华文楷体" panose="02010600040101010101" pitchFamily="2" charset="-122"/>
            </a:endParaRPr>
          </a:p>
          <a:p>
            <a:pPr lvl="2">
              <a:lnSpc>
                <a:spcPct val="150000"/>
              </a:lnSpc>
              <a:buFont typeface="Wingdings" panose="05000000000000000000" pitchFamily="2" charset="2"/>
              <a:buChar char="ü"/>
            </a:pPr>
            <a:r>
              <a:rPr lang="zh-CN" altLang="en-US" b="1" dirty="0">
                <a:ea typeface="华文楷体" panose="02010600040101010101" pitchFamily="2" charset="-122"/>
              </a:rPr>
              <a:t>多态类型对象占用额外的空间</a:t>
            </a:r>
            <a:endParaRPr lang="en-US" altLang="zh-CN"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设计原则上的差异</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设计原则</a:t>
            </a:r>
            <a:endParaRPr lang="zh-CN" altLang="en-US" sz="4400" b="1">
              <a:latin typeface="Times New Roman" panose="02020603050405020304" pitchFamily="18" charset="0"/>
              <a:ea typeface="隶书" panose="02010509060101010101" pitchFamily="49" charset="-122"/>
            </a:endParaRPr>
          </a:p>
        </p:txBody>
      </p:sp>
      <p:sp>
        <p:nvSpPr>
          <p:cNvPr id="71683" name="内容占位符 2"/>
          <p:cNvSpPr>
            <a:spLocks noGrp="1"/>
          </p:cNvSpPr>
          <p:nvPr>
            <p:ph idx="1"/>
          </p:nvPr>
        </p:nvSpPr>
        <p:spPr>
          <a:xfrm>
            <a:off x="683568" y="1196752"/>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多态类型</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多态类型的析构函数一般应为虚函数</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非多态类型</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非多态类型不宜作为公共基类</a:t>
            </a:r>
            <a:endParaRPr lang="en-US" altLang="zh-CN"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由于没有利用动态多态性，一般可以用组合，而无需用共有继承；</a:t>
            </a:r>
            <a:endParaRPr lang="en-US" altLang="zh-CN"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如果继承，则由于析构函数不是虚函数，删除对象时所执行操作与指针类型有关，易引起混乱。</a:t>
            </a:r>
            <a:endParaRPr lang="en-US" altLang="zh-CN"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把不需被继承的类型设定为非多态类型</a:t>
            </a:r>
            <a:endParaRPr lang="en-US" altLang="zh-CN"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由于成员函数都是静态绑定，调用速度较快；</a:t>
            </a:r>
            <a:endParaRPr lang="en-US" altLang="zh-CN"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对象占用空间较小。</a:t>
            </a:r>
            <a:endParaRPr lang="en-US" altLang="zh-CN"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8.7.2 </a:t>
            </a:r>
            <a:r>
              <a:rPr lang="zh-CN" altLang="en-US" sz="4400" b="1">
                <a:latin typeface="Times New Roman" panose="02020603050405020304" pitchFamily="18" charset="0"/>
                <a:ea typeface="隶书" panose="02010509060101010101" pitchFamily="49" charset="-122"/>
              </a:rPr>
              <a:t>运行时类型识别</a:t>
            </a:r>
            <a:endParaRPr lang="zh-CN" altLang="en-US" sz="4400" b="1">
              <a:latin typeface="Times New Roman" panose="02020603050405020304" pitchFamily="18" charset="0"/>
              <a:ea typeface="隶书" panose="02010509060101010101" pitchFamily="49" charset="-122"/>
            </a:endParaRPr>
          </a:p>
        </p:txBody>
      </p:sp>
      <p:sp>
        <p:nvSpPr>
          <p:cNvPr id="72707" name="内容占位符 2"/>
          <p:cNvSpPr>
            <a:spLocks noGrp="1"/>
          </p:cNvSpPr>
          <p:nvPr>
            <p:ph idx="1"/>
          </p:nvPr>
        </p:nvSpPr>
        <p:spPr>
          <a:xfrm>
            <a:off x="611560" y="1628800"/>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运行时类型识别</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允许在运行时通过基类指针（或引用）辨别对象所属的具体派生类；</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只对多态类型适用；</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比虚函数动态绑定的开销更大，因此应仅对虚函数无法解决的问题使用。</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运行时类型识别的方式</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a:t>
            </a:r>
            <a:r>
              <a:rPr lang="en-US" altLang="zh-CN" sz="2400" b="1" dirty="0" err="1">
                <a:ea typeface="华文楷体" panose="02010600040101010101" pitchFamily="2" charset="-122"/>
              </a:rPr>
              <a:t>dynamic_cast</a:t>
            </a:r>
            <a:r>
              <a:rPr lang="zh-CN" altLang="en-US" sz="2400" b="1" dirty="0">
                <a:ea typeface="华文楷体" panose="02010600040101010101" pitchFamily="2" charset="-122"/>
              </a:rPr>
              <a:t>做类型转换的尝试；</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a:t>
            </a:r>
            <a:r>
              <a:rPr lang="en-US" altLang="zh-CN" sz="2400" b="1" dirty="0" err="1">
                <a:ea typeface="华文楷体" panose="02010600040101010101" pitchFamily="2" charset="-122"/>
              </a:rPr>
              <a:t>typeid</a:t>
            </a:r>
            <a:r>
              <a:rPr lang="zh-CN" altLang="en-US" sz="2400" b="1" dirty="0">
                <a:ea typeface="华文楷体" panose="02010600040101010101" pitchFamily="2" charset="-122"/>
              </a:rPr>
              <a:t>直接获取类型信息。</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使用</a:t>
            </a:r>
            <a:r>
              <a:rPr lang="en-US" altLang="zh-CN" sz="4400" b="1">
                <a:latin typeface="Times New Roman" panose="02020603050405020304" pitchFamily="18" charset="0"/>
                <a:ea typeface="隶书" panose="02010509060101010101" pitchFamily="49" charset="-122"/>
              </a:rPr>
              <a:t>dynamic_cast</a:t>
            </a:r>
            <a:endParaRPr lang="zh-CN" altLang="en-US" sz="4400" b="1">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613410" y="1505585"/>
            <a:ext cx="7886700" cy="4351338"/>
          </a:xfrm>
        </p:spPr>
        <p:txBody>
          <a:bodyPr/>
          <a:lstStyle/>
          <a:p>
            <a:pPr>
              <a:spcAft>
                <a:spcPct val="25000"/>
              </a:spcAft>
            </a:pPr>
            <a:r>
              <a:rPr lang="zh-CN" altLang="en-US" sz="2400" b="1">
                <a:solidFill>
                  <a:srgbClr val="FFFF00"/>
                </a:solidFill>
                <a:ea typeface="华文楷体" panose="02010600040101010101" pitchFamily="2" charset="-122"/>
              </a:rPr>
              <a:t>语法形式</a:t>
            </a:r>
            <a:endParaRPr lang="en-US" altLang="zh-CN" sz="2400" b="1">
              <a:solidFill>
                <a:srgbClr val="FFFF00"/>
              </a:solidFill>
              <a:ea typeface="华文楷体" panose="02010600040101010101" pitchFamily="2" charset="-122"/>
            </a:endParaRPr>
          </a:p>
          <a:p>
            <a:pPr lvl="1">
              <a:buFont typeface="Wingdings" panose="05000000000000000000" pitchFamily="2" charset="2"/>
              <a:buChar char="ü"/>
            </a:pPr>
            <a:r>
              <a:rPr lang="en-US" altLang="zh-CN" sz="2400" b="1">
                <a:ea typeface="华文楷体" panose="02010600040101010101" pitchFamily="2" charset="-122"/>
              </a:rPr>
              <a:t>dynamic_cast&lt;</a:t>
            </a:r>
            <a:r>
              <a:rPr lang="zh-CN" altLang="en-US" sz="2400" b="1">
                <a:ea typeface="华文楷体" panose="02010600040101010101" pitchFamily="2" charset="-122"/>
              </a:rPr>
              <a:t>目的类型</a:t>
            </a:r>
            <a:r>
              <a:rPr lang="en-US" altLang="zh-CN" sz="2400" b="1">
                <a:ea typeface="华文楷体" panose="02010600040101010101" pitchFamily="2" charset="-122"/>
              </a:rPr>
              <a:t>&gt;(</a:t>
            </a:r>
            <a:r>
              <a:rPr lang="zh-CN" altLang="en-US" sz="2400" b="1">
                <a:ea typeface="华文楷体" panose="02010600040101010101" pitchFamily="2" charset="-122"/>
              </a:rPr>
              <a:t>表达式</a:t>
            </a:r>
            <a:r>
              <a:rPr lang="en-US" altLang="zh-CN" sz="2400" b="1">
                <a:ea typeface="华文楷体" panose="02010600040101010101" pitchFamily="2" charset="-122"/>
              </a:rPr>
              <a:t>)</a:t>
            </a:r>
            <a:endParaRPr lang="en-US" altLang="zh-CN" sz="2400" b="1">
              <a:ea typeface="华文楷体" panose="02010600040101010101" pitchFamily="2" charset="-122"/>
            </a:endParaRPr>
          </a:p>
          <a:p>
            <a:pPr>
              <a:spcAft>
                <a:spcPct val="25000"/>
              </a:spcAft>
            </a:pPr>
            <a:r>
              <a:rPr lang="zh-CN" altLang="en-US" sz="2400" b="1">
                <a:solidFill>
                  <a:srgbClr val="FFFF00"/>
                </a:solidFill>
                <a:ea typeface="华文楷体" panose="02010600040101010101" pitchFamily="2" charset="-122"/>
              </a:rPr>
              <a:t>功能</a:t>
            </a:r>
            <a:endParaRPr lang="en-US" altLang="zh-CN" sz="2400" b="1">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将基类指针转换为派生类指针，将基类引用转换为派生类引用；</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转换是有条件的</a:t>
            </a:r>
            <a:endParaRPr lang="en-US" altLang="zh-CN" sz="2400"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如果指针（或引用）所指对象的实际类型与转换的目的类型兼容，则转换成功进行；</a:t>
            </a:r>
            <a:endParaRPr lang="en-US" altLang="zh-CN"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否则如执行的是指针类型的转换，则得到空指针；如执行的是引用类型的转换，则抛出异常。</a:t>
            </a:r>
            <a:endParaRPr lang="zh-CN" altLang="en-US"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611560" y="260648"/>
            <a:ext cx="7886700" cy="1325563"/>
          </a:xfrm>
        </p:spPr>
        <p:txBody>
          <a:bodyPr/>
          <a:lstStyle/>
          <a:p>
            <a:pPr eaLnBrk="1" hangingPunct="1"/>
            <a:r>
              <a:rPr lang="zh-CN" altLang="en-US" b="1" smtClean="0"/>
              <a:t>例</a:t>
            </a:r>
            <a:r>
              <a:rPr lang="en-US" altLang="zh-CN" b="1" smtClean="0"/>
              <a:t>8-9 dynamic_cast</a:t>
            </a:r>
            <a:r>
              <a:rPr lang="zh-CN" altLang="en-US" b="1" smtClean="0"/>
              <a:t>用法示例</a:t>
            </a:r>
            <a:endParaRPr lang="zh-CN" altLang="en-US" b="1" smtClean="0"/>
          </a:p>
        </p:txBody>
      </p:sp>
      <p:sp>
        <p:nvSpPr>
          <p:cNvPr id="3" name="内容占位符 2"/>
          <p:cNvSpPr>
            <a:spLocks noGrp="1"/>
          </p:cNvSpPr>
          <p:nvPr>
            <p:ph idx="1"/>
          </p:nvPr>
        </p:nvSpPr>
        <p:spPr>
          <a:xfrm>
            <a:off x="611560" y="1196752"/>
            <a:ext cx="78867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fun1()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"Base::fun1()"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~Base()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Derived1: public Base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fun1()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"Derived1::fun1()"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fun2()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"Derived1::fun2()"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Derived2: public Derived1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fun1()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"Derived2::fun1()"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void fun2()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"Derived2::fun2()"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42938"/>
            <a:ext cx="8229600"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fun(Base *b)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b-&gt;fun1();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尝试将</a:t>
            </a:r>
            <a:r>
              <a:rPr kumimoji="0" lang="en-US" altLang="zh-CN" sz="2000" b="1" dirty="0">
                <a:solidFill>
                  <a:srgbClr val="000000"/>
                </a:solidFill>
                <a:latin typeface="Times New Roman" panose="02020603050405020304" pitchFamily="18" charset="0"/>
                <a:ea typeface="华文楷体" panose="02010600040101010101" pitchFamily="2" charset="-122"/>
              </a:rPr>
              <a:t>b</a:t>
            </a:r>
            <a:r>
              <a:rPr kumimoji="0" lang="zh-CN" altLang="en-US" sz="2000" b="1" dirty="0">
                <a:solidFill>
                  <a:srgbClr val="000000"/>
                </a:solidFill>
                <a:latin typeface="Times New Roman" panose="02020603050405020304" pitchFamily="18" charset="0"/>
                <a:ea typeface="华文楷体" panose="02010600040101010101" pitchFamily="2" charset="-122"/>
              </a:rPr>
              <a:t>转换为</a:t>
            </a:r>
            <a:r>
              <a:rPr kumimoji="0" lang="en-US" altLang="zh-CN" sz="2000" b="1" dirty="0">
                <a:solidFill>
                  <a:srgbClr val="000000"/>
                </a:solidFill>
                <a:latin typeface="Times New Roman" panose="02020603050405020304" pitchFamily="18" charset="0"/>
                <a:ea typeface="华文楷体" panose="02010600040101010101" pitchFamily="2" charset="-122"/>
              </a:rPr>
              <a:t>Derived1</a:t>
            </a:r>
            <a:r>
              <a:rPr kumimoji="0" lang="zh-CN" altLang="en-US" sz="2000" b="1" dirty="0">
                <a:solidFill>
                  <a:srgbClr val="000000"/>
                </a:solidFill>
                <a:latin typeface="Times New Roman" panose="02020603050405020304" pitchFamily="18" charset="0"/>
                <a:ea typeface="华文楷体" panose="02010600040101010101" pitchFamily="2" charset="-122"/>
              </a:rPr>
              <a:t>指针</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Derived1 *d = </a:t>
            </a:r>
            <a:r>
              <a:rPr kumimoji="0" lang="en-US" altLang="zh-CN" sz="2000" b="1" dirty="0" err="1">
                <a:solidFill>
                  <a:srgbClr val="000000"/>
                </a:solidFill>
                <a:latin typeface="Times New Roman" panose="02020603050405020304" pitchFamily="18" charset="0"/>
                <a:ea typeface="华文楷体" panose="02010600040101010101" pitchFamily="2" charset="-122"/>
              </a:rPr>
              <a:t>dynamic_cast</a:t>
            </a:r>
            <a:r>
              <a:rPr kumimoji="0" lang="en-US" altLang="zh-CN" sz="2000" b="1" dirty="0">
                <a:solidFill>
                  <a:srgbClr val="000000"/>
                </a:solidFill>
                <a:latin typeface="Times New Roman" panose="02020603050405020304" pitchFamily="18" charset="0"/>
                <a:ea typeface="华文楷体" panose="02010600040101010101" pitchFamily="2" charset="-122"/>
              </a:rPr>
              <a:t>&lt;Derived1 *&gt;(b);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判断转换是否成功</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(d != 0) d-&gt;fun2();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 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fun(&amp;b);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Derived1 d1;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fun(&amp;d1);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Derived2 d2;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fun(&amp;d2);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5781" name="标题 1"/>
          <p:cNvSpPr>
            <a:spLocks noGrp="1"/>
          </p:cNvSpPr>
          <p:nvPr>
            <p:ph type="title"/>
          </p:nvPr>
        </p:nvSpPr>
        <p:spPr>
          <a:xfrm>
            <a:off x="5715000" y="642938"/>
            <a:ext cx="2971800" cy="1066800"/>
          </a:xfrm>
          <a:solidFill>
            <a:schemeClr val="bg1"/>
          </a:solidFill>
        </p:spPr>
        <p:txBody>
          <a:bodyPr/>
          <a:lstStyle/>
          <a:p>
            <a:pPr eaLnBrk="1" hangingPunct="1"/>
            <a:r>
              <a:rPr lang="zh-CN" altLang="en-US" smtClean="0"/>
              <a:t>例</a:t>
            </a:r>
            <a:r>
              <a:rPr lang="en-US" altLang="zh-CN" smtClean="0"/>
              <a:t>8-9</a:t>
            </a:r>
            <a:r>
              <a:rPr lang="zh-CN" altLang="en-US" smtClean="0"/>
              <a:t>（续）</a:t>
            </a:r>
            <a:endParaRPr lang="zh-CN" altLang="en-US" smtClean="0"/>
          </a:p>
        </p:txBody>
      </p:sp>
      <p:sp>
        <p:nvSpPr>
          <p:cNvPr id="6" name="Text Box 4"/>
          <p:cNvSpPr txBox="1">
            <a:spLocks noChangeArrowheads="1"/>
          </p:cNvSpPr>
          <p:nvPr/>
        </p:nvSpPr>
        <p:spPr bwMode="auto">
          <a:xfrm>
            <a:off x="5643563" y="3786188"/>
            <a:ext cx="3057525" cy="2000548"/>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运行结果：</a:t>
            </a:r>
            <a:endParaRPr lang="en-US" altLang="zh-CN" dirty="0"/>
          </a:p>
          <a:p>
            <a:r>
              <a:rPr lang="en-US" altLang="zh-CN" dirty="0"/>
              <a:t>Base::fun1()</a:t>
            </a:r>
            <a:endParaRPr lang="en-US" altLang="zh-CN" dirty="0"/>
          </a:p>
          <a:p>
            <a:r>
              <a:rPr lang="en-US" altLang="zh-CN" dirty="0"/>
              <a:t>Derived1::fun1()</a:t>
            </a:r>
            <a:endParaRPr lang="en-US" altLang="zh-CN" dirty="0"/>
          </a:p>
          <a:p>
            <a:r>
              <a:rPr lang="en-US" altLang="zh-CN" dirty="0"/>
              <a:t>Derived1::fun2()</a:t>
            </a:r>
            <a:endParaRPr lang="en-US" altLang="zh-CN" dirty="0"/>
          </a:p>
          <a:p>
            <a:r>
              <a:rPr lang="en-US" altLang="zh-CN" dirty="0"/>
              <a:t>Derived2::fun1()</a:t>
            </a:r>
            <a:endParaRPr lang="en-US" altLang="zh-CN" dirty="0"/>
          </a:p>
          <a:p>
            <a:r>
              <a:rPr lang="en-US" altLang="zh-CN" dirty="0"/>
              <a:t>Derived2::fun2()</a:t>
            </a:r>
            <a:endParaRPr lang="zh-CN" altLang="en-US" dirty="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用</a:t>
            </a:r>
            <a:r>
              <a:rPr lang="en-US" altLang="zh-CN" sz="4400" b="1">
                <a:latin typeface="Times New Roman" panose="02020603050405020304" pitchFamily="18" charset="0"/>
                <a:ea typeface="隶书" panose="02010509060101010101" pitchFamily="49" charset="-122"/>
              </a:rPr>
              <a:t>typeid</a:t>
            </a:r>
            <a:r>
              <a:rPr lang="zh-CN" altLang="en-US" sz="4400" b="1">
                <a:latin typeface="Times New Roman" panose="02020603050405020304" pitchFamily="18" charset="0"/>
                <a:ea typeface="隶书" panose="02010509060101010101" pitchFamily="49" charset="-122"/>
              </a:rPr>
              <a:t>获取运行时类型信息</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11560" y="1340768"/>
            <a:ext cx="7886700" cy="4351338"/>
          </a:xfrm>
        </p:spPr>
        <p:txBody>
          <a:bodyPr/>
          <a:lstStyle/>
          <a:p>
            <a:pPr>
              <a:spcBef>
                <a:spcPts val="0"/>
              </a:spcBef>
              <a:spcAft>
                <a:spcPts val="0"/>
              </a:spcAft>
            </a:pPr>
            <a:r>
              <a:rPr lang="zh-CN" altLang="en-US" sz="2400" b="1" dirty="0">
                <a:solidFill>
                  <a:srgbClr val="FFFF00"/>
                </a:solidFill>
                <a:ea typeface="华文楷体" panose="02010600040101010101" pitchFamily="2" charset="-122"/>
              </a:rPr>
              <a:t>语法形式</a:t>
            </a:r>
            <a:endParaRPr lang="en-US" altLang="zh-CN" sz="2400" b="1" dirty="0">
              <a:solidFill>
                <a:srgbClr val="FFFF00"/>
              </a:solidFill>
              <a:ea typeface="华文楷体" panose="02010600040101010101" pitchFamily="2" charset="-122"/>
            </a:endParaRPr>
          </a:p>
          <a:p>
            <a:pPr marL="457200" lvl="1" indent="0">
              <a:spcBef>
                <a:spcPts val="0"/>
              </a:spcBef>
              <a:spcAft>
                <a:spcPts val="0"/>
              </a:spcAft>
              <a:buNone/>
            </a:pPr>
            <a:r>
              <a:rPr lang="en-US" altLang="zh-CN" sz="2400" b="1" dirty="0" err="1">
                <a:ea typeface="华文楷体" panose="02010600040101010101" pitchFamily="2" charset="-122"/>
              </a:rPr>
              <a:t>typeid</a:t>
            </a:r>
            <a:r>
              <a:rPr lang="en-US" altLang="zh-CN" sz="2400" b="1" dirty="0">
                <a:ea typeface="华文楷体" panose="02010600040101010101" pitchFamily="2" charset="-122"/>
              </a:rPr>
              <a:t> ( </a:t>
            </a:r>
            <a:r>
              <a:rPr lang="zh-CN" altLang="en-US" sz="2400" b="1" dirty="0">
                <a:ea typeface="华文楷体" panose="02010600040101010101" pitchFamily="2" charset="-122"/>
              </a:rPr>
              <a:t>表达式 </a:t>
            </a: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marL="457200" lvl="1" indent="0">
              <a:spcBef>
                <a:spcPts val="0"/>
              </a:spcBef>
              <a:spcAft>
                <a:spcPts val="0"/>
              </a:spcAft>
              <a:buNone/>
            </a:pPr>
            <a:r>
              <a:rPr lang="en-US" altLang="zh-CN" sz="2400" b="1" dirty="0" err="1">
                <a:ea typeface="华文楷体" panose="02010600040101010101" pitchFamily="2" charset="-122"/>
              </a:rPr>
              <a:t>typeid</a:t>
            </a:r>
            <a:r>
              <a:rPr lang="en-US" altLang="zh-CN" sz="2400" b="1" dirty="0">
                <a:ea typeface="华文楷体" panose="02010600040101010101" pitchFamily="2" charset="-122"/>
              </a:rPr>
              <a:t> ( </a:t>
            </a:r>
            <a:r>
              <a:rPr lang="zh-CN" altLang="en-US" sz="2400" b="1" dirty="0">
                <a:ea typeface="华文楷体" panose="02010600040101010101" pitchFamily="2" charset="-122"/>
              </a:rPr>
              <a:t>类型说明符 </a:t>
            </a: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a:spcBef>
                <a:spcPts val="0"/>
              </a:spcBef>
              <a:spcAft>
                <a:spcPts val="0"/>
              </a:spcAft>
            </a:pPr>
            <a:r>
              <a:rPr lang="zh-CN" altLang="en-US" sz="2400" b="1" dirty="0">
                <a:solidFill>
                  <a:srgbClr val="FFFF00"/>
                </a:solidFill>
                <a:ea typeface="华文楷体" panose="02010600040101010101" pitchFamily="2" charset="-122"/>
              </a:rPr>
              <a:t>功能</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获得表达式或类型说明符的类型信息</a:t>
            </a:r>
            <a:endParaRPr lang="en-US" altLang="zh-CN" sz="24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表达式有多态类型时，会被求值，并得到动态类型信息；</a:t>
            </a:r>
            <a:endParaRPr lang="en-US" altLang="zh-CN" sz="20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否则，表达式不被求值，只能得到静态的类型信息。</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类型信息用</a:t>
            </a:r>
            <a:r>
              <a:rPr lang="en-US" altLang="zh-CN" sz="2400" b="1" dirty="0" err="1">
                <a:ea typeface="华文楷体" panose="02010600040101010101" pitchFamily="2" charset="-122"/>
              </a:rPr>
              <a:t>type_info</a:t>
            </a:r>
            <a:r>
              <a:rPr lang="zh-CN" altLang="en-US" sz="2400" b="1" dirty="0">
                <a:ea typeface="华文楷体" panose="02010600040101010101" pitchFamily="2" charset="-122"/>
              </a:rPr>
              <a:t>对象表示</a:t>
            </a:r>
            <a:endParaRPr lang="en-US" altLang="zh-CN" sz="24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en-US" altLang="zh-CN" sz="2000" b="1" dirty="0" err="1">
                <a:ea typeface="华文楷体" panose="02010600040101010101" pitchFamily="2" charset="-122"/>
              </a:rPr>
              <a:t>type_info</a:t>
            </a:r>
            <a:r>
              <a:rPr lang="zh-CN" altLang="en-US" sz="2000" b="1" dirty="0">
                <a:ea typeface="华文楷体" panose="02010600040101010101" pitchFamily="2" charset="-122"/>
              </a:rPr>
              <a:t>是</a:t>
            </a:r>
            <a:r>
              <a:rPr lang="en-US" altLang="zh-CN" sz="2000" b="1" dirty="0" err="1">
                <a:ea typeface="华文楷体" panose="02010600040101010101" pitchFamily="2" charset="-122"/>
              </a:rPr>
              <a:t>typeinfo</a:t>
            </a:r>
            <a:r>
              <a:rPr lang="zh-CN" altLang="en-US" sz="2000" b="1" dirty="0">
                <a:ea typeface="华文楷体" panose="02010600040101010101" pitchFamily="2" charset="-122"/>
              </a:rPr>
              <a:t>头文件中声明的类；</a:t>
            </a:r>
            <a:endParaRPr lang="en-US" altLang="zh-CN" sz="20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en-US" altLang="zh-CN" sz="2000" b="1" dirty="0" err="1">
                <a:ea typeface="华文楷体" panose="02010600040101010101" pitchFamily="2" charset="-122"/>
              </a:rPr>
              <a:t>typeid</a:t>
            </a:r>
            <a:r>
              <a:rPr lang="zh-CN" altLang="en-US" sz="2000" b="1" dirty="0">
                <a:ea typeface="华文楷体" panose="02010600040101010101" pitchFamily="2" charset="-122"/>
              </a:rPr>
              <a:t>的结果是</a:t>
            </a:r>
            <a:r>
              <a:rPr lang="en-US" altLang="zh-CN" sz="2000" b="1" dirty="0" err="1">
                <a:ea typeface="华文楷体" panose="02010600040101010101" pitchFamily="2" charset="-122"/>
              </a:rPr>
              <a:t>type_info</a:t>
            </a:r>
            <a:r>
              <a:rPr lang="zh-CN" altLang="en-US" sz="2000" b="1" dirty="0">
                <a:ea typeface="华文楷体" panose="02010600040101010101" pitchFamily="2" charset="-122"/>
              </a:rPr>
              <a:t>类型的常引用；</a:t>
            </a:r>
            <a:endParaRPr lang="en-US" altLang="zh-CN" sz="20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可以用</a:t>
            </a:r>
            <a:r>
              <a:rPr lang="en-US" altLang="zh-CN" sz="2000" b="1" dirty="0" err="1">
                <a:ea typeface="华文楷体" panose="02010600040101010101" pitchFamily="2" charset="-122"/>
              </a:rPr>
              <a:t>type_info</a:t>
            </a:r>
            <a:r>
              <a:rPr lang="zh-CN" altLang="en-US" sz="2000" b="1" dirty="0">
                <a:ea typeface="华文楷体" panose="02010600040101010101" pitchFamily="2" charset="-122"/>
              </a:rPr>
              <a:t>的重载的“</a:t>
            </a:r>
            <a:r>
              <a:rPr lang="en-US" altLang="zh-CN" sz="2000" b="1" dirty="0">
                <a:ea typeface="华文楷体" panose="02010600040101010101" pitchFamily="2" charset="-122"/>
              </a:rPr>
              <a:t>==</a:t>
            </a:r>
            <a:r>
              <a:rPr lang="zh-CN" altLang="en-US" sz="2000" b="1" dirty="0">
                <a:ea typeface="华文楷体" panose="02010600040101010101" pitchFamily="2" charset="-122"/>
              </a:rPr>
              <a:t>”、“</a:t>
            </a:r>
            <a:r>
              <a:rPr lang="en-US" altLang="zh-CN" sz="2000" b="1" dirty="0">
                <a:ea typeface="华文楷体" panose="02010600040101010101" pitchFamily="2" charset="-122"/>
              </a:rPr>
              <a:t>!=</a:t>
            </a:r>
            <a:r>
              <a:rPr lang="zh-CN" altLang="en-US" sz="2000" b="1" dirty="0">
                <a:ea typeface="华文楷体" panose="02010600040101010101" pitchFamily="2" charset="-122"/>
              </a:rPr>
              <a:t>”操作符比较两类型的异同；</a:t>
            </a:r>
            <a:endParaRPr lang="en-US" altLang="zh-CN" sz="20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en-US" altLang="zh-CN" sz="2000" b="1" dirty="0" err="1">
                <a:ea typeface="华文楷体" panose="02010600040101010101" pitchFamily="2" charset="-122"/>
              </a:rPr>
              <a:t>type_info</a:t>
            </a:r>
            <a:r>
              <a:rPr lang="zh-CN" altLang="en-US" sz="2000" b="1" dirty="0">
                <a:ea typeface="华文楷体" panose="02010600040101010101" pitchFamily="2" charset="-122"/>
              </a:rPr>
              <a:t>的</a:t>
            </a:r>
            <a:r>
              <a:rPr lang="en-US" altLang="zh-CN" sz="2000" b="1" dirty="0">
                <a:ea typeface="华文楷体" panose="02010600040101010101" pitchFamily="2" charset="-122"/>
              </a:rPr>
              <a:t>name</a:t>
            </a:r>
            <a:r>
              <a:rPr lang="zh-CN" altLang="en-US" sz="2000" b="1" dirty="0">
                <a:ea typeface="华文楷体" panose="02010600040101010101" pitchFamily="2" charset="-122"/>
              </a:rPr>
              <a:t>成员函数返回类型名称，类型为</a:t>
            </a:r>
            <a:r>
              <a:rPr lang="en-US" altLang="zh-CN" sz="2000" b="1" dirty="0">
                <a:ea typeface="华文楷体" panose="02010600040101010101" pitchFamily="2" charset="-122"/>
              </a:rPr>
              <a:t>const char *</a:t>
            </a:r>
            <a:r>
              <a:rPr lang="zh-CN" altLang="en-US" sz="2000" b="1" dirty="0">
                <a:ea typeface="华文楷体" panose="02010600040101010101" pitchFamily="2" charset="-122"/>
              </a:rPr>
              <a:t>。</a:t>
            </a:r>
            <a:endParaRPr lang="zh-CN" altLang="en-US" sz="20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pPr eaLnBrk="1" hangingPunct="1"/>
            <a:r>
              <a:rPr lang="zh-CN" altLang="en-US" b="1" dirty="0" smtClean="0"/>
              <a:t>例</a:t>
            </a:r>
            <a:r>
              <a:rPr lang="en-US" altLang="zh-CN" b="1" dirty="0" smtClean="0"/>
              <a:t>8-10 </a:t>
            </a:r>
            <a:r>
              <a:rPr lang="en-US" altLang="zh-CN" b="1" dirty="0" err="1" smtClean="0"/>
              <a:t>typeid</a:t>
            </a:r>
            <a:r>
              <a:rPr lang="zh-CN" altLang="en-US" b="1" dirty="0" smtClean="0"/>
              <a:t>用法示例</a:t>
            </a:r>
            <a:endParaRPr lang="zh-CN" altLang="en-US" b="1" dirty="0" smtClean="0"/>
          </a:p>
        </p:txBody>
      </p:sp>
      <p:sp>
        <p:nvSpPr>
          <p:cNvPr id="77827" name="内容占位符 2"/>
          <p:cNvSpPr>
            <a:spLocks noGrp="1"/>
          </p:cNvSpPr>
          <p:nvPr>
            <p:ph idx="1"/>
          </p:nvPr>
        </p:nvSpPr>
        <p:spPr>
          <a:xfrm>
            <a:off x="428625" y="1124174"/>
            <a:ext cx="3757613" cy="563231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//8_10.cpp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typeinfo</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virtual ~Base()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fun(Base *b)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得到表示</a:t>
            </a:r>
            <a:r>
              <a:rPr kumimoji="0" lang="en-US" altLang="zh-CN" sz="2000" b="1" dirty="0">
                <a:solidFill>
                  <a:srgbClr val="000000"/>
                </a:solidFill>
                <a:latin typeface="Times New Roman" panose="02020603050405020304" pitchFamily="18" charset="0"/>
                <a:ea typeface="华文楷体" panose="02010600040101010101" pitchFamily="2" charset="-122"/>
              </a:rPr>
              <a:t>b</a:t>
            </a:r>
            <a:r>
              <a:rPr kumimoji="0" lang="zh-CN" altLang="en-US" sz="2000" b="1" dirty="0">
                <a:solidFill>
                  <a:srgbClr val="000000"/>
                </a:solidFill>
                <a:latin typeface="Times New Roman" panose="02020603050405020304" pitchFamily="18" charset="0"/>
                <a:ea typeface="华文楷体" panose="02010600040101010101" pitchFamily="2" charset="-122"/>
              </a:rPr>
              <a:t>和*</a:t>
            </a:r>
            <a:r>
              <a:rPr kumimoji="0" lang="en-US" altLang="zh-CN" sz="2000" b="1" dirty="0">
                <a:solidFill>
                  <a:srgbClr val="000000"/>
                </a:solidFill>
                <a:latin typeface="Times New Roman" panose="02020603050405020304" pitchFamily="18" charset="0"/>
                <a:ea typeface="华文楷体" panose="02010600040101010101" pitchFamily="2" charset="-122"/>
              </a:rPr>
              <a:t>b</a:t>
            </a:r>
            <a:r>
              <a:rPr kumimoji="0" lang="zh-CN" altLang="en-US" sz="2000" b="1" dirty="0">
                <a:solidFill>
                  <a:srgbClr val="000000"/>
                </a:solidFill>
                <a:latin typeface="Times New Roman" panose="02020603050405020304" pitchFamily="18" charset="0"/>
                <a:ea typeface="华文楷体" panose="02010600040101010101" pitchFamily="2" charset="-122"/>
              </a:rPr>
              <a:t>类型信息的对象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type_info</a:t>
            </a:r>
            <a:r>
              <a:rPr kumimoji="0" lang="en-US" altLang="zh-CN" sz="2000" b="1" dirty="0">
                <a:solidFill>
                  <a:srgbClr val="000000"/>
                </a:solidFill>
                <a:latin typeface="Times New Roman" panose="02020603050405020304" pitchFamily="18" charset="0"/>
                <a:ea typeface="华文楷体" panose="02010600040101010101" pitchFamily="2" charset="-122"/>
              </a:rPr>
              <a:t> &amp;info1 = </a:t>
            </a:r>
            <a:r>
              <a:rPr kumimoji="0" lang="en-US" altLang="zh-CN" sz="2000" b="1" dirty="0" err="1">
                <a:solidFill>
                  <a:srgbClr val="000000"/>
                </a:solidFill>
                <a:latin typeface="Times New Roman" panose="02020603050405020304" pitchFamily="18" charset="0"/>
                <a:ea typeface="华文楷体" panose="02010600040101010101" pitchFamily="2" charset="-122"/>
              </a:rPr>
              <a:t>typeid</a:t>
            </a:r>
            <a:r>
              <a:rPr kumimoji="0" lang="en-US" altLang="zh-CN" sz="2000" b="1" dirty="0">
                <a:solidFill>
                  <a:srgbClr val="000000"/>
                </a:solidFill>
                <a:latin typeface="Times New Roman" panose="02020603050405020304" pitchFamily="18" charset="0"/>
                <a:ea typeface="华文楷体" panose="02010600040101010101" pitchFamily="2" charset="-122"/>
              </a:rPr>
              <a:t>(b);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type_info</a:t>
            </a:r>
            <a:r>
              <a:rPr kumimoji="0" lang="en-US" altLang="zh-CN" sz="2000" b="1" dirty="0">
                <a:solidFill>
                  <a:srgbClr val="000000"/>
                </a:solidFill>
                <a:latin typeface="Times New Roman" panose="02020603050405020304" pitchFamily="18" charset="0"/>
                <a:ea typeface="华文楷体" panose="02010600040101010101" pitchFamily="2" charset="-122"/>
              </a:rPr>
              <a:t> &amp;info2 = </a:t>
            </a:r>
            <a:r>
              <a:rPr kumimoji="0" lang="en-US" altLang="zh-CN" sz="2000" b="1" dirty="0" err="1">
                <a:solidFill>
                  <a:srgbClr val="000000"/>
                </a:solidFill>
                <a:latin typeface="Times New Roman" panose="02020603050405020304" pitchFamily="18" charset="0"/>
                <a:ea typeface="华文楷体" panose="02010600040101010101" pitchFamily="2" charset="-122"/>
              </a:rPr>
              <a:t>typeid</a:t>
            </a:r>
            <a:r>
              <a:rPr kumimoji="0" lang="en-US" altLang="zh-CN" sz="2000" b="1" dirty="0">
                <a:solidFill>
                  <a:srgbClr val="000000"/>
                </a:solidFill>
                <a:latin typeface="Times New Roman" panose="02020603050405020304" pitchFamily="18" charset="0"/>
                <a:ea typeface="华文楷体" panose="02010600040101010101" pitchFamily="2" charset="-122"/>
              </a:rPr>
              <a:t>(*b</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6" name="内容占位符 2"/>
          <p:cNvSpPr txBox="1"/>
          <p:nvPr/>
        </p:nvSpPr>
        <p:spPr>
          <a:xfrm>
            <a:off x="4714875" y="1124174"/>
            <a:ext cx="4429125" cy="5324535"/>
          </a:xfrm>
          <a:prstGeom prst="rect">
            <a:avLst/>
          </a:prstGeom>
          <a:solidFill>
            <a:schemeClr val="tx1"/>
          </a:solidFill>
          <a:ln w="9525">
            <a:solidFill>
              <a:schemeClr val="tx1"/>
            </a:solidFill>
            <a:miter lim="800000"/>
          </a:ln>
        </p:spPr>
        <p:txBody>
          <a:bodyPr>
            <a:spAutoFit/>
          </a:bodyPr>
          <a:lstStyle>
            <a:lvl1pPr marL="342900" indent="-342900" algn="l">
              <a:buClrTx/>
              <a:buSzTx/>
              <a:buFontTx/>
              <a:buNone/>
              <a:defRPr kumimoji="0" sz="2000" b="1">
                <a:solidFill>
                  <a:srgbClr val="000000"/>
                </a:solidFill>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dirty="0" err="1"/>
              <a:t>cout</a:t>
            </a:r>
            <a:r>
              <a:rPr lang="en-US" altLang="zh-CN" dirty="0"/>
              <a:t> &lt;&lt; "</a:t>
            </a:r>
            <a:r>
              <a:rPr lang="en-US" altLang="zh-CN" dirty="0" err="1"/>
              <a:t>typeid</a:t>
            </a:r>
            <a:r>
              <a:rPr lang="en-US" altLang="zh-CN" dirty="0"/>
              <a:t>(b): " &lt;&lt; info1.name() &lt;&lt; </a:t>
            </a:r>
            <a:r>
              <a:rPr lang="en-US" altLang="zh-CN" dirty="0" err="1"/>
              <a:t>endl</a:t>
            </a:r>
            <a:r>
              <a:rPr lang="en-US" altLang="zh-CN" dirty="0"/>
              <a:t>;</a:t>
            </a:r>
            <a:endParaRPr lang="en-US" dirty="0"/>
          </a:p>
          <a:p>
            <a:r>
              <a:rPr lang="en-US" dirty="0" err="1"/>
              <a:t>cout</a:t>
            </a:r>
            <a:r>
              <a:rPr lang="en-US" dirty="0"/>
              <a:t> &lt;&lt; "</a:t>
            </a:r>
            <a:r>
              <a:rPr lang="en-US" dirty="0" err="1"/>
              <a:t>typeid</a:t>
            </a:r>
            <a:r>
              <a:rPr lang="en-US" dirty="0"/>
              <a:t>(*b): " &lt;&lt; info2.name() &lt;&lt; </a:t>
            </a:r>
            <a:r>
              <a:rPr lang="en-US" dirty="0" err="1"/>
              <a:t>endl</a:t>
            </a:r>
            <a:r>
              <a:rPr lang="en-US" dirty="0"/>
              <a:t>;</a:t>
            </a:r>
            <a:endParaRPr lang="en-US" dirty="0"/>
          </a:p>
          <a:p>
            <a:r>
              <a:rPr lang="en-US" dirty="0"/>
              <a:t>//</a:t>
            </a:r>
            <a:r>
              <a:rPr lang="zh-CN" altLang="en-US" dirty="0"/>
              <a:t>判断</a:t>
            </a:r>
            <a:r>
              <a:rPr lang="en-US" dirty="0"/>
              <a:t>*b</a:t>
            </a:r>
            <a:r>
              <a:rPr lang="zh-CN" altLang="en-US" dirty="0"/>
              <a:t>是否为</a:t>
            </a:r>
            <a:r>
              <a:rPr lang="en-US" dirty="0"/>
              <a:t>Base</a:t>
            </a:r>
            <a:r>
              <a:rPr lang="zh-CN" altLang="en-US" dirty="0"/>
              <a:t>类型</a:t>
            </a:r>
            <a:endParaRPr lang="zh-CN" altLang="en-US" dirty="0"/>
          </a:p>
          <a:p>
            <a:r>
              <a:rPr lang="en-US" dirty="0"/>
              <a:t>if (info2 == </a:t>
            </a:r>
            <a:r>
              <a:rPr lang="en-US" dirty="0" err="1"/>
              <a:t>typeid</a:t>
            </a:r>
            <a:r>
              <a:rPr lang="en-US" dirty="0"/>
              <a:t>(Base))	</a:t>
            </a:r>
            <a:endParaRPr lang="en-US" dirty="0"/>
          </a:p>
          <a:p>
            <a:r>
              <a:rPr lang="en-US" dirty="0"/>
              <a:t>    </a:t>
            </a:r>
            <a:r>
              <a:rPr lang="en-US" dirty="0" err="1"/>
              <a:t>cout</a:t>
            </a:r>
            <a:r>
              <a:rPr lang="en-US" dirty="0"/>
              <a:t> &lt;&lt; "A base class!" &lt;&lt; </a:t>
            </a:r>
            <a:r>
              <a:rPr lang="en-US" dirty="0" err="1"/>
              <a:t>endl</a:t>
            </a:r>
            <a:r>
              <a:rPr lang="en-US" dirty="0"/>
              <a:t>;</a:t>
            </a:r>
            <a:endParaRPr lang="zh-CN" altLang="en-US" dirty="0"/>
          </a:p>
          <a:p>
            <a:r>
              <a:rPr lang="en-US" dirty="0"/>
              <a:t>}</a:t>
            </a:r>
            <a:endParaRPr lang="zh-CN" altLang="en-US" dirty="0"/>
          </a:p>
          <a:p>
            <a:r>
              <a:rPr lang="en-US" dirty="0"/>
              <a:t> </a:t>
            </a:r>
            <a:endParaRPr lang="zh-CN" altLang="en-US" dirty="0"/>
          </a:p>
          <a:p>
            <a:r>
              <a:rPr lang="en-US" dirty="0" err="1"/>
              <a:t>int</a:t>
            </a:r>
            <a:r>
              <a:rPr lang="en-US" dirty="0"/>
              <a:t> main() {</a:t>
            </a:r>
            <a:endParaRPr lang="zh-CN" altLang="en-US" dirty="0"/>
          </a:p>
          <a:p>
            <a:r>
              <a:rPr lang="en-US" dirty="0"/>
              <a:t>    Base b;</a:t>
            </a:r>
            <a:endParaRPr lang="zh-CN" altLang="en-US" dirty="0"/>
          </a:p>
          <a:p>
            <a:r>
              <a:rPr lang="en-US" altLang="zh-CN" dirty="0"/>
              <a:t>    f</a:t>
            </a:r>
            <a:r>
              <a:rPr lang="en-US" dirty="0"/>
              <a:t>un(&amp;b);</a:t>
            </a:r>
            <a:endParaRPr lang="zh-CN" altLang="en-US" dirty="0"/>
          </a:p>
          <a:p>
            <a:r>
              <a:rPr lang="en-US" dirty="0"/>
              <a:t>    Derived d;</a:t>
            </a:r>
            <a:endParaRPr lang="zh-CN" altLang="en-US" dirty="0"/>
          </a:p>
          <a:p>
            <a:r>
              <a:rPr lang="en-US" dirty="0"/>
              <a:t>    fun(&amp;d);</a:t>
            </a:r>
            <a:endParaRPr lang="zh-CN" altLang="en-US" dirty="0"/>
          </a:p>
          <a:p>
            <a:r>
              <a:rPr lang="en-US" dirty="0"/>
              <a:t>    return 0;</a:t>
            </a:r>
            <a:endParaRPr lang="zh-CN" altLang="en-US" dirty="0"/>
          </a:p>
          <a:p>
            <a:r>
              <a:rPr lang="en-US" dirty="0"/>
              <a:t>}</a:t>
            </a:r>
            <a:endParaRPr lang="zh-CN" altLang="en-US" dirty="0"/>
          </a:p>
          <a:p>
            <a:r>
              <a:rPr lang="en-US" altLang="zh-CN" dirty="0" smtClean="0"/>
              <a:t>                  </a:t>
            </a:r>
            <a:endParaRPr lang="en-US" altLang="zh-CN" dirty="0"/>
          </a:p>
        </p:txBody>
      </p:sp>
      <p:cxnSp>
        <p:nvCxnSpPr>
          <p:cNvPr id="8" name="直接连接符 7"/>
          <p:cNvCxnSpPr/>
          <p:nvPr/>
        </p:nvCxnSpPr>
        <p:spPr>
          <a:xfrm flipH="1">
            <a:off x="4500563" y="1052737"/>
            <a:ext cx="1588" cy="56886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357938" y="4643438"/>
            <a:ext cx="2786062" cy="1754326"/>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sz="1800" dirty="0"/>
              <a:t>运行</a:t>
            </a:r>
            <a:r>
              <a:rPr lang="zh-CN" altLang="en-US" sz="1800" dirty="0" smtClean="0"/>
              <a:t>结果</a:t>
            </a:r>
            <a:r>
              <a:rPr lang="zh-CN" altLang="en-US" sz="1800" dirty="0"/>
              <a:t>：</a:t>
            </a:r>
            <a:endParaRPr lang="en-US" sz="1800" dirty="0"/>
          </a:p>
          <a:p>
            <a:r>
              <a:rPr lang="en-US" sz="1800" dirty="0" err="1"/>
              <a:t>typeid</a:t>
            </a:r>
            <a:r>
              <a:rPr lang="en-US" sz="1800" dirty="0"/>
              <a:t>(b): class Base *</a:t>
            </a:r>
            <a:endParaRPr lang="zh-CN" altLang="en-US" sz="1800" dirty="0"/>
          </a:p>
          <a:p>
            <a:r>
              <a:rPr lang="en-US" sz="1800" dirty="0" err="1"/>
              <a:t>typeid</a:t>
            </a:r>
            <a:r>
              <a:rPr lang="en-US" sz="1800" dirty="0"/>
              <a:t>(*b): class Base</a:t>
            </a:r>
            <a:endParaRPr lang="zh-CN" altLang="en-US" sz="1800" dirty="0"/>
          </a:p>
          <a:p>
            <a:r>
              <a:rPr lang="en-US" sz="1800" dirty="0"/>
              <a:t>A base class!</a:t>
            </a:r>
            <a:endParaRPr lang="zh-CN" altLang="en-US" sz="1800" dirty="0"/>
          </a:p>
          <a:p>
            <a:r>
              <a:rPr lang="en-US" sz="1800" dirty="0" err="1"/>
              <a:t>typeid</a:t>
            </a:r>
            <a:r>
              <a:rPr lang="en-US" sz="1800" dirty="0"/>
              <a:t>(b): class Base *</a:t>
            </a:r>
            <a:endParaRPr lang="zh-CN" altLang="en-US" sz="1800" dirty="0"/>
          </a:p>
          <a:p>
            <a:r>
              <a:rPr lang="en-US" sz="1800" dirty="0" err="1"/>
              <a:t>typeid</a:t>
            </a:r>
            <a:r>
              <a:rPr lang="en-US" sz="1800" dirty="0"/>
              <a:t>(*b): class Derived</a:t>
            </a:r>
            <a:endParaRPr lang="zh-CN" altLang="en-US" sz="1800" dirty="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000" b="1" dirty="0">
                <a:latin typeface="Times New Roman" panose="02020603050405020304" pitchFamily="18" charset="0"/>
                <a:ea typeface="隶书" panose="02010509060101010101" pitchFamily="49" charset="-122"/>
              </a:rPr>
              <a:t>8.7.3 </a:t>
            </a:r>
            <a:r>
              <a:rPr lang="zh-CN" altLang="en-US" sz="4000" b="1" dirty="0">
                <a:latin typeface="Times New Roman" panose="02020603050405020304" pitchFamily="18" charset="0"/>
                <a:ea typeface="隶书" panose="02010509060101010101" pitchFamily="49" charset="-122"/>
              </a:rPr>
              <a:t>虚函数动态绑定的实现原理</a:t>
            </a:r>
            <a:endParaRPr lang="zh-CN" altLang="en-US" sz="4000" b="1" dirty="0">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412776"/>
            <a:ext cx="8136904" cy="4351338"/>
          </a:xfrm>
        </p:spPr>
        <p:txBody>
          <a:bodyPr/>
          <a:lstStyle/>
          <a:p>
            <a:pPr>
              <a:spcBef>
                <a:spcPts val="0"/>
              </a:spcBef>
              <a:spcAft>
                <a:spcPts val="0"/>
              </a:spcAft>
            </a:pPr>
            <a:r>
              <a:rPr lang="zh-CN" altLang="en-US" sz="2400" b="1" dirty="0">
                <a:solidFill>
                  <a:srgbClr val="FFFF00"/>
                </a:solidFill>
                <a:ea typeface="华文楷体" panose="02010600040101010101" pitchFamily="2" charset="-122"/>
              </a:rPr>
              <a:t>动态选择被执行的函数</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函数的调用，需要通过函数代码的入口地址</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把函数入口地址作为变量，在不同情况下赋予不同的值，通过该变量调用函数，就可动态选择被执行的函数</a:t>
            </a:r>
            <a:endParaRPr lang="en-US" altLang="zh-CN" sz="2000" b="1" dirty="0">
              <a:ea typeface="华文楷体" panose="02010600040101010101" pitchFamily="2" charset="-122"/>
            </a:endParaRPr>
          </a:p>
          <a:p>
            <a:pPr lvl="2">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回顾：第</a:t>
            </a:r>
            <a:r>
              <a:rPr lang="en-US" altLang="zh-CN" sz="2000" b="1" dirty="0">
                <a:ea typeface="华文楷体" panose="02010600040101010101" pitchFamily="2" charset="-122"/>
              </a:rPr>
              <a:t>6</a:t>
            </a:r>
            <a:r>
              <a:rPr lang="zh-CN" altLang="en-US" sz="2000" b="1" dirty="0">
                <a:ea typeface="华文楷体" panose="02010600040101010101" pitchFamily="2" charset="-122"/>
              </a:rPr>
              <a:t>章介绍的函数指针、指向成员函数的指针</a:t>
            </a:r>
            <a:endParaRPr lang="en-US" altLang="zh-CN" sz="2000" b="1" dirty="0">
              <a:ea typeface="华文楷体" panose="02010600040101010101" pitchFamily="2" charset="-122"/>
            </a:endParaRPr>
          </a:p>
          <a:p>
            <a:pPr>
              <a:spcBef>
                <a:spcPts val="0"/>
              </a:spcBef>
              <a:spcAft>
                <a:spcPts val="0"/>
              </a:spcAft>
            </a:pPr>
            <a:r>
              <a:rPr lang="zh-CN" altLang="en-US" sz="2400" b="1" dirty="0">
                <a:solidFill>
                  <a:srgbClr val="FFFF00"/>
                </a:solidFill>
                <a:ea typeface="华文楷体" panose="02010600040101010101" pitchFamily="2" charset="-122"/>
              </a:rPr>
              <a:t>虚表</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每个多态类有一个虚表（</a:t>
            </a:r>
            <a:r>
              <a:rPr lang="en-US" altLang="zh-CN" sz="2000" b="1" dirty="0">
                <a:ea typeface="华文楷体" panose="02010600040101010101" pitchFamily="2" charset="-122"/>
              </a:rPr>
              <a:t>virtual table</a:t>
            </a:r>
            <a:r>
              <a:rPr lang="zh-CN" altLang="en-US" sz="2000" b="1" dirty="0">
                <a:ea typeface="华文楷体" panose="02010600040101010101" pitchFamily="2" charset="-122"/>
              </a:rPr>
              <a:t>）</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虚表中有当前类的各个虚函数的入口地址</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每个对象有一个指向当前类的虚表的指针（虚指针</a:t>
            </a:r>
            <a:r>
              <a:rPr lang="en-US" altLang="zh-CN" sz="2000" b="1" dirty="0" err="1">
                <a:ea typeface="华文楷体" panose="02010600040101010101" pitchFamily="2" charset="-122"/>
              </a:rPr>
              <a:t>vptr</a:t>
            </a:r>
            <a:r>
              <a:rPr lang="zh-CN" altLang="en-US" sz="2000" b="1" dirty="0">
                <a:ea typeface="华文楷体" panose="02010600040101010101" pitchFamily="2" charset="-122"/>
              </a:rPr>
              <a:t>）</a:t>
            </a:r>
            <a:endParaRPr lang="en-US" altLang="zh-CN" sz="2000" b="1" dirty="0">
              <a:ea typeface="华文楷体" panose="02010600040101010101" pitchFamily="2" charset="-122"/>
            </a:endParaRPr>
          </a:p>
          <a:p>
            <a:pPr>
              <a:spcBef>
                <a:spcPts val="0"/>
              </a:spcBef>
              <a:spcAft>
                <a:spcPts val="0"/>
              </a:spcAft>
            </a:pPr>
            <a:r>
              <a:rPr lang="zh-CN" altLang="en-US" sz="2400" b="1" dirty="0">
                <a:solidFill>
                  <a:srgbClr val="FFFF00"/>
                </a:solidFill>
                <a:ea typeface="华文楷体" panose="02010600040101010101" pitchFamily="2" charset="-122"/>
              </a:rPr>
              <a:t>动态绑定的实现</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构造函数中为对象的虚指针赋值</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通过多态类型的指针或引用调用成员函数时，通过虚指针找到虚表，进而找到所调用的虚函数的入口地址</a:t>
            </a:r>
            <a:endParaRPr lang="en-US" altLang="zh-CN" sz="20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000" b="1" dirty="0">
                <a:ea typeface="华文楷体" panose="02010600040101010101" pitchFamily="2" charset="-122"/>
              </a:rPr>
              <a:t>通过该入口地址调用虚函数</a:t>
            </a:r>
            <a:endParaRPr lang="en-US" altLang="zh-CN" sz="20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5" name="组合 58"/>
          <p:cNvGrpSpPr/>
          <p:nvPr/>
        </p:nvGrpSpPr>
        <p:grpSpPr bwMode="auto">
          <a:xfrm>
            <a:off x="1143000" y="2030413"/>
            <a:ext cx="6594475" cy="4541837"/>
            <a:chOff x="1050115" y="1453404"/>
            <a:chExt cx="7102333" cy="4737546"/>
          </a:xfrm>
        </p:grpSpPr>
        <p:sp>
          <p:nvSpPr>
            <p:cNvPr id="79879" name="Rectangle 29"/>
            <p:cNvSpPr>
              <a:spLocks noChangeArrowheads="1"/>
            </p:cNvSpPr>
            <p:nvPr/>
          </p:nvSpPr>
          <p:spPr bwMode="auto">
            <a:xfrm>
              <a:off x="3590704" y="2188906"/>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400" b="1">
                  <a:latin typeface="+mn-lt"/>
                  <a:ea typeface="华文楷体" panose="02010600040101010101" pitchFamily="2" charset="-122"/>
                </a:rPr>
                <a:t>指向</a:t>
              </a:r>
              <a:r>
                <a:rPr lang="en-US" altLang="zh-CN" sz="1400" b="1">
                  <a:latin typeface="+mn-lt"/>
                  <a:ea typeface="华文楷体" panose="02010600040101010101" pitchFamily="2" charset="-122"/>
                </a:rPr>
                <a:t>f()</a:t>
              </a:r>
              <a:r>
                <a:rPr lang="zh-CN" altLang="en-US" sz="1400" b="1">
                  <a:latin typeface="+mn-lt"/>
                  <a:ea typeface="华文楷体" panose="02010600040101010101" pitchFamily="2" charset="-122"/>
                </a:rPr>
                <a:t>的指针</a:t>
              </a:r>
              <a:endParaRPr lang="zh-CN" altLang="zh-CN" sz="1400" b="1">
                <a:latin typeface="+mn-lt"/>
                <a:ea typeface="华文楷体" panose="02010600040101010101" pitchFamily="2" charset="-122"/>
              </a:endParaRPr>
            </a:p>
          </p:txBody>
        </p:sp>
        <p:sp>
          <p:nvSpPr>
            <p:cNvPr id="79880" name="Rectangle 30"/>
            <p:cNvSpPr>
              <a:spLocks noChangeArrowheads="1"/>
            </p:cNvSpPr>
            <p:nvPr/>
          </p:nvSpPr>
          <p:spPr bwMode="auto">
            <a:xfrm>
              <a:off x="3590704" y="2586077"/>
              <a:ext cx="1614153" cy="39618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400" b="1">
                  <a:latin typeface="+mn-lt"/>
                  <a:ea typeface="华文楷体" panose="02010600040101010101" pitchFamily="2" charset="-122"/>
                </a:rPr>
                <a:t>指向</a:t>
              </a:r>
              <a:r>
                <a:rPr lang="en-US" altLang="zh-CN" sz="1400" b="1">
                  <a:latin typeface="+mn-lt"/>
                  <a:ea typeface="华文楷体" panose="02010600040101010101" pitchFamily="2" charset="-122"/>
                </a:rPr>
                <a:t>g()</a:t>
              </a:r>
              <a:r>
                <a:rPr lang="zh-CN" altLang="en-US" sz="1400" b="1">
                  <a:latin typeface="+mn-lt"/>
                  <a:ea typeface="华文楷体" panose="02010600040101010101" pitchFamily="2" charset="-122"/>
                </a:rPr>
                <a:t>的指针</a:t>
              </a:r>
              <a:endParaRPr lang="zh-CN" altLang="zh-CN" sz="1400" b="1">
                <a:latin typeface="+mn-lt"/>
                <a:ea typeface="华文楷体" panose="02010600040101010101" pitchFamily="2" charset="-122"/>
              </a:endParaRPr>
            </a:p>
          </p:txBody>
        </p:sp>
        <p:sp>
          <p:nvSpPr>
            <p:cNvPr id="79881" name="Text Box 31"/>
            <p:cNvSpPr txBox="1">
              <a:spLocks noChangeArrowheads="1"/>
            </p:cNvSpPr>
            <p:nvPr/>
          </p:nvSpPr>
          <p:spPr bwMode="auto">
            <a:xfrm>
              <a:off x="3620123" y="293813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Base</a:t>
              </a:r>
              <a:r>
                <a:rPr lang="zh-CN" altLang="en-US" sz="1400" b="1">
                  <a:latin typeface="+mn-lt"/>
                  <a:ea typeface="华文楷体" panose="02010600040101010101" pitchFamily="2" charset="-122"/>
                </a:rPr>
                <a:t>的虚表</a:t>
              </a:r>
              <a:endParaRPr lang="zh-CN" altLang="zh-CN" sz="1400" b="1">
                <a:latin typeface="+mn-lt"/>
                <a:ea typeface="华文楷体" panose="02010600040101010101" pitchFamily="2" charset="-122"/>
              </a:endParaRPr>
            </a:p>
          </p:txBody>
        </p:sp>
        <p:sp>
          <p:nvSpPr>
            <p:cNvPr id="79882" name="Rectangle 32"/>
            <p:cNvSpPr>
              <a:spLocks noChangeArrowheads="1"/>
            </p:cNvSpPr>
            <p:nvPr/>
          </p:nvSpPr>
          <p:spPr bwMode="auto">
            <a:xfrm>
              <a:off x="3590704" y="3925672"/>
              <a:ext cx="1614153" cy="39618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400" b="1">
                  <a:latin typeface="+mn-lt"/>
                  <a:ea typeface="华文楷体" panose="02010600040101010101" pitchFamily="2" charset="-122"/>
                </a:rPr>
                <a:t>指向</a:t>
              </a:r>
              <a:r>
                <a:rPr lang="en-US" altLang="zh-CN" sz="1400" b="1">
                  <a:latin typeface="+mn-lt"/>
                  <a:ea typeface="华文楷体" panose="02010600040101010101" pitchFamily="2" charset="-122"/>
                </a:rPr>
                <a:t>f()</a:t>
              </a:r>
              <a:r>
                <a:rPr lang="zh-CN" altLang="en-US" sz="1400" b="1">
                  <a:latin typeface="+mn-lt"/>
                  <a:ea typeface="华文楷体" panose="02010600040101010101" pitchFamily="2" charset="-122"/>
                </a:rPr>
                <a:t>的指针</a:t>
              </a:r>
              <a:endParaRPr lang="zh-CN" altLang="zh-CN" sz="1400" b="1">
                <a:latin typeface="+mn-lt"/>
                <a:ea typeface="华文楷体" panose="02010600040101010101" pitchFamily="2" charset="-122"/>
              </a:endParaRPr>
            </a:p>
          </p:txBody>
        </p:sp>
        <p:sp>
          <p:nvSpPr>
            <p:cNvPr id="79883" name="Rectangle 33"/>
            <p:cNvSpPr>
              <a:spLocks noChangeArrowheads="1"/>
            </p:cNvSpPr>
            <p:nvPr/>
          </p:nvSpPr>
          <p:spPr bwMode="auto">
            <a:xfrm>
              <a:off x="3590704" y="4321862"/>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400" b="1">
                  <a:latin typeface="+mn-lt"/>
                  <a:ea typeface="华文楷体" panose="02010600040101010101" pitchFamily="2" charset="-122"/>
                </a:rPr>
                <a:t>指向</a:t>
              </a:r>
              <a:r>
                <a:rPr lang="en-US" altLang="zh-CN" sz="1400" b="1">
                  <a:latin typeface="+mn-lt"/>
                  <a:ea typeface="华文楷体" panose="02010600040101010101" pitchFamily="2" charset="-122"/>
                </a:rPr>
                <a:t>g()</a:t>
              </a:r>
              <a:r>
                <a:rPr lang="zh-CN" altLang="en-US" sz="1400" b="1">
                  <a:latin typeface="+mn-lt"/>
                  <a:ea typeface="华文楷体" panose="02010600040101010101" pitchFamily="2" charset="-122"/>
                </a:rPr>
                <a:t>的指针</a:t>
              </a:r>
              <a:endParaRPr lang="zh-CN" altLang="zh-CN" sz="1400" b="1">
                <a:latin typeface="+mn-lt"/>
                <a:ea typeface="华文楷体" panose="02010600040101010101" pitchFamily="2" charset="-122"/>
              </a:endParaRPr>
            </a:p>
          </p:txBody>
        </p:sp>
        <p:sp>
          <p:nvSpPr>
            <p:cNvPr id="79884" name="Rectangle 34"/>
            <p:cNvSpPr>
              <a:spLocks noChangeArrowheads="1"/>
            </p:cNvSpPr>
            <p:nvPr/>
          </p:nvSpPr>
          <p:spPr bwMode="auto">
            <a:xfrm>
              <a:off x="3590704" y="4721975"/>
              <a:ext cx="1614153"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400" b="1">
                  <a:latin typeface="+mn-lt"/>
                  <a:ea typeface="华文楷体" panose="02010600040101010101" pitchFamily="2" charset="-122"/>
                </a:rPr>
                <a:t>指向</a:t>
              </a:r>
              <a:r>
                <a:rPr lang="en-US" altLang="zh-CN" sz="1400" b="1">
                  <a:latin typeface="+mn-lt"/>
                  <a:ea typeface="华文楷体" panose="02010600040101010101" pitchFamily="2" charset="-122"/>
                </a:rPr>
                <a:t>h()</a:t>
              </a:r>
              <a:r>
                <a:rPr lang="zh-CN" altLang="en-US" sz="1400" b="1">
                  <a:latin typeface="+mn-lt"/>
                  <a:ea typeface="华文楷体" panose="02010600040101010101" pitchFamily="2" charset="-122"/>
                </a:rPr>
                <a:t>的指针</a:t>
              </a:r>
              <a:endParaRPr lang="zh-CN" altLang="zh-CN" sz="1400" b="1">
                <a:latin typeface="+mn-lt"/>
                <a:ea typeface="华文楷体" panose="02010600040101010101" pitchFamily="2" charset="-122"/>
              </a:endParaRPr>
            </a:p>
          </p:txBody>
        </p:sp>
        <p:sp>
          <p:nvSpPr>
            <p:cNvPr id="79885" name="Text Box 35"/>
            <p:cNvSpPr txBox="1">
              <a:spLocks noChangeArrowheads="1"/>
            </p:cNvSpPr>
            <p:nvPr/>
          </p:nvSpPr>
          <p:spPr bwMode="auto">
            <a:xfrm>
              <a:off x="3531869" y="5119147"/>
              <a:ext cx="160328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Derived</a:t>
              </a:r>
              <a:r>
                <a:rPr lang="zh-CN" altLang="en-US" sz="1400" b="1">
                  <a:latin typeface="+mn-lt"/>
                  <a:ea typeface="华文楷体" panose="02010600040101010101" pitchFamily="2" charset="-122"/>
                </a:rPr>
                <a:t>的虚表</a:t>
              </a:r>
              <a:endParaRPr lang="zh-CN" altLang="zh-CN" sz="1400" b="1">
                <a:latin typeface="+mn-lt"/>
                <a:ea typeface="华文楷体" panose="02010600040101010101" pitchFamily="2" charset="-122"/>
              </a:endParaRPr>
            </a:p>
          </p:txBody>
        </p:sp>
        <p:sp>
          <p:nvSpPr>
            <p:cNvPr id="79886" name="Text Box 36"/>
            <p:cNvSpPr txBox="1">
              <a:spLocks noChangeArrowheads="1"/>
            </p:cNvSpPr>
            <p:nvPr/>
          </p:nvSpPr>
          <p:spPr bwMode="auto">
            <a:xfrm>
              <a:off x="6357950" y="1453404"/>
              <a:ext cx="1794498" cy="102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(Base::f</a:t>
              </a:r>
              <a:r>
                <a:rPr lang="zh-CN" altLang="en-US" sz="1400" b="1">
                  <a:latin typeface="+mn-lt"/>
                  <a:ea typeface="华文楷体" panose="02010600040101010101" pitchFamily="2" charset="-122"/>
                </a:rPr>
                <a:t>的代码</a:t>
              </a:r>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push %ebp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mov %esp,%ebp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eaLnBrk="1" hangingPunct="1"/>
              <a:endParaRPr lang="zh-CN" altLang="zh-CN" sz="1200" b="1">
                <a:latin typeface="+mn-lt"/>
                <a:ea typeface="华文楷体" panose="02010600040101010101" pitchFamily="2" charset="-122"/>
              </a:endParaRPr>
            </a:p>
          </p:txBody>
        </p:sp>
        <p:sp>
          <p:nvSpPr>
            <p:cNvPr id="79887" name="Text Box 37"/>
            <p:cNvSpPr txBox="1">
              <a:spLocks noChangeArrowheads="1"/>
            </p:cNvSpPr>
            <p:nvPr/>
          </p:nvSpPr>
          <p:spPr bwMode="auto">
            <a:xfrm>
              <a:off x="6357950" y="2644917"/>
              <a:ext cx="1794498" cy="102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(Base::g</a:t>
              </a:r>
              <a:r>
                <a:rPr lang="zh-CN" altLang="en-US" sz="1400" b="1">
                  <a:latin typeface="+mn-lt"/>
                  <a:ea typeface="华文楷体" panose="02010600040101010101" pitchFamily="2" charset="-122"/>
                </a:rPr>
                <a:t>的代码</a:t>
              </a:r>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push %ebp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mov %esp,%ebp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eaLnBrk="1" hangingPunct="1"/>
              <a:endParaRPr lang="zh-CN" altLang="zh-CN" sz="1200" b="1">
                <a:latin typeface="+mn-lt"/>
                <a:ea typeface="华文楷体" panose="02010600040101010101" pitchFamily="2" charset="-122"/>
              </a:endParaRPr>
            </a:p>
          </p:txBody>
        </p:sp>
        <p:sp>
          <p:nvSpPr>
            <p:cNvPr id="79888" name="Text Box 38"/>
            <p:cNvSpPr txBox="1">
              <a:spLocks noChangeArrowheads="1"/>
            </p:cNvSpPr>
            <p:nvPr/>
          </p:nvSpPr>
          <p:spPr bwMode="auto">
            <a:xfrm>
              <a:off x="6357950" y="3851141"/>
              <a:ext cx="1794498" cy="118577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(Derived::f</a:t>
              </a:r>
              <a:r>
                <a:rPr lang="zh-CN" altLang="en-US" sz="1400" b="1">
                  <a:latin typeface="+mn-lt"/>
                  <a:ea typeface="华文楷体" panose="02010600040101010101" pitchFamily="2" charset="-122"/>
                </a:rPr>
                <a:t>的代码</a:t>
              </a:r>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push %ebp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mov %esp,%ebp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eaLnBrk="1" hangingPunct="1"/>
              <a:endParaRPr lang="zh-CN" altLang="zh-CN" sz="1200" b="1">
                <a:latin typeface="+mn-lt"/>
                <a:ea typeface="华文楷体" panose="02010600040101010101" pitchFamily="2" charset="-122"/>
              </a:endParaRPr>
            </a:p>
          </p:txBody>
        </p:sp>
        <p:sp>
          <p:nvSpPr>
            <p:cNvPr id="79889" name="Text Box 39"/>
            <p:cNvSpPr txBox="1">
              <a:spLocks noChangeArrowheads="1"/>
            </p:cNvSpPr>
            <p:nvPr/>
          </p:nvSpPr>
          <p:spPr bwMode="auto">
            <a:xfrm>
              <a:off x="6357950" y="5072074"/>
              <a:ext cx="1794498" cy="111887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(Derived::h</a:t>
              </a:r>
              <a:r>
                <a:rPr lang="zh-CN" altLang="en-US" sz="1400" b="1">
                  <a:latin typeface="+mn-lt"/>
                  <a:ea typeface="华文楷体" panose="02010600040101010101" pitchFamily="2" charset="-122"/>
                </a:rPr>
                <a:t>的代码</a:t>
              </a:r>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push %ebp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mov %esp,%ebp</a:t>
              </a:r>
              <a:endParaRPr lang="en-US" altLang="zh-CN" sz="1400" b="1">
                <a:latin typeface="+mn-lt"/>
                <a:ea typeface="华文楷体" panose="02010600040101010101" pitchFamily="2" charset="-122"/>
              </a:endParaRPr>
            </a:p>
            <a:p>
              <a:pPr algn="just" eaLnBrk="1" hangingPunct="1"/>
              <a:r>
                <a:rPr lang="en-US" altLang="zh-CN" sz="1400" b="1">
                  <a:latin typeface="+mn-lt"/>
                  <a:ea typeface="华文楷体" panose="02010600040101010101" pitchFamily="2" charset="-122"/>
                </a:rPr>
                <a:t>……</a:t>
              </a:r>
              <a:endParaRPr lang="en-US" altLang="zh-CN" sz="1400" b="1">
                <a:latin typeface="+mn-lt"/>
                <a:ea typeface="华文楷体" panose="02010600040101010101" pitchFamily="2" charset="-122"/>
              </a:endParaRPr>
            </a:p>
            <a:p>
              <a:pPr eaLnBrk="1" hangingPunct="1"/>
              <a:endParaRPr lang="zh-CN" altLang="zh-CN" sz="1200" b="1">
                <a:latin typeface="+mn-lt"/>
                <a:ea typeface="华文楷体" panose="02010600040101010101" pitchFamily="2" charset="-122"/>
              </a:endParaRPr>
            </a:p>
          </p:txBody>
        </p:sp>
        <p:cxnSp>
          <p:nvCxnSpPr>
            <p:cNvPr id="45" name="AutoShape 40"/>
            <p:cNvCxnSpPr>
              <a:cxnSpLocks noChangeShapeType="1"/>
            </p:cNvCxnSpPr>
            <p:nvPr/>
          </p:nvCxnSpPr>
          <p:spPr bwMode="auto">
            <a:xfrm flipV="1">
              <a:off x="4960331" y="1551102"/>
              <a:ext cx="1400291" cy="846168"/>
            </a:xfrm>
            <a:prstGeom prst="straightConnector1">
              <a:avLst/>
            </a:prstGeom>
            <a:noFill/>
            <a:ln w="9525">
              <a:solidFill>
                <a:schemeClr val="tx1">
                  <a:lumMod val="50000"/>
                </a:schemeClr>
              </a:solidFill>
              <a:round/>
              <a:tailEnd type="triangle" w="med" len="med"/>
            </a:ln>
          </p:spPr>
        </p:cxnSp>
        <p:cxnSp>
          <p:nvCxnSpPr>
            <p:cNvPr id="46" name="AutoShape 41"/>
            <p:cNvCxnSpPr>
              <a:cxnSpLocks noChangeShapeType="1"/>
            </p:cNvCxnSpPr>
            <p:nvPr/>
          </p:nvCxnSpPr>
          <p:spPr bwMode="auto">
            <a:xfrm>
              <a:off x="4960331" y="2774817"/>
              <a:ext cx="1400291" cy="9935"/>
            </a:xfrm>
            <a:prstGeom prst="straightConnector1">
              <a:avLst/>
            </a:prstGeom>
            <a:noFill/>
            <a:ln w="9525">
              <a:solidFill>
                <a:schemeClr val="tx1">
                  <a:lumMod val="50000"/>
                </a:schemeClr>
              </a:solidFill>
              <a:round/>
              <a:tailEnd type="triangle" w="med" len="med"/>
            </a:ln>
          </p:spPr>
        </p:cxnSp>
        <p:cxnSp>
          <p:nvCxnSpPr>
            <p:cNvPr id="47" name="AutoShape 42"/>
            <p:cNvCxnSpPr>
              <a:cxnSpLocks noChangeShapeType="1"/>
            </p:cNvCxnSpPr>
            <p:nvPr/>
          </p:nvCxnSpPr>
          <p:spPr bwMode="auto">
            <a:xfrm flipV="1">
              <a:off x="4960331" y="3950510"/>
              <a:ext cx="1400291" cy="142408"/>
            </a:xfrm>
            <a:prstGeom prst="straightConnector1">
              <a:avLst/>
            </a:prstGeom>
            <a:noFill/>
            <a:ln w="9525">
              <a:solidFill>
                <a:schemeClr val="tx1">
                  <a:lumMod val="50000"/>
                </a:schemeClr>
              </a:solidFill>
              <a:round/>
              <a:tailEnd type="triangle" w="med" len="med"/>
            </a:ln>
          </p:spPr>
        </p:cxnSp>
        <p:cxnSp>
          <p:nvCxnSpPr>
            <p:cNvPr id="48" name="AutoShape 43"/>
            <p:cNvCxnSpPr>
              <a:cxnSpLocks noChangeShapeType="1"/>
            </p:cNvCxnSpPr>
            <p:nvPr/>
          </p:nvCxnSpPr>
          <p:spPr bwMode="auto">
            <a:xfrm flipV="1">
              <a:off x="4960331" y="2821182"/>
              <a:ext cx="1400291" cy="1742013"/>
            </a:xfrm>
            <a:prstGeom prst="straightConnector1">
              <a:avLst/>
            </a:prstGeom>
            <a:noFill/>
            <a:ln w="9525">
              <a:solidFill>
                <a:schemeClr val="tx1">
                  <a:lumMod val="50000"/>
                </a:schemeClr>
              </a:solidFill>
              <a:round/>
              <a:tailEnd type="triangle" w="med" len="med"/>
            </a:ln>
          </p:spPr>
        </p:cxnSp>
        <p:cxnSp>
          <p:nvCxnSpPr>
            <p:cNvPr id="49" name="AutoShape 44"/>
            <p:cNvCxnSpPr>
              <a:cxnSpLocks noChangeShapeType="1"/>
            </p:cNvCxnSpPr>
            <p:nvPr/>
          </p:nvCxnSpPr>
          <p:spPr bwMode="auto">
            <a:xfrm>
              <a:off x="4950073" y="4897688"/>
              <a:ext cx="1419099" cy="236794"/>
            </a:xfrm>
            <a:prstGeom prst="straightConnector1">
              <a:avLst/>
            </a:prstGeom>
            <a:noFill/>
            <a:ln w="9525">
              <a:solidFill>
                <a:schemeClr val="tx1">
                  <a:lumMod val="50000"/>
                </a:schemeClr>
              </a:solidFill>
              <a:round/>
              <a:tailEnd type="triangle" w="med" len="med"/>
            </a:ln>
          </p:spPr>
        </p:cxnSp>
        <p:sp>
          <p:nvSpPr>
            <p:cNvPr id="79895" name="Rectangle 45"/>
            <p:cNvSpPr>
              <a:spLocks noChangeArrowheads="1"/>
            </p:cNvSpPr>
            <p:nvPr/>
          </p:nvSpPr>
          <p:spPr bwMode="auto">
            <a:xfrm>
              <a:off x="1121553" y="2659627"/>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i</a:t>
              </a:r>
              <a:endParaRPr lang="zh-CN" altLang="zh-CN" sz="1400" b="1">
                <a:latin typeface="+mn-lt"/>
                <a:ea typeface="华文楷体" panose="02010600040101010101" pitchFamily="2" charset="-122"/>
              </a:endParaRPr>
            </a:p>
          </p:txBody>
        </p:sp>
        <p:sp>
          <p:nvSpPr>
            <p:cNvPr id="79896" name="Rectangle 46"/>
            <p:cNvSpPr>
              <a:spLocks noChangeArrowheads="1"/>
            </p:cNvSpPr>
            <p:nvPr/>
          </p:nvSpPr>
          <p:spPr bwMode="auto">
            <a:xfrm>
              <a:off x="1121553" y="2262456"/>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vptr</a:t>
              </a:r>
              <a:endParaRPr lang="zh-CN" altLang="zh-CN" sz="1400" b="1">
                <a:latin typeface="+mn-lt"/>
                <a:ea typeface="华文楷体" panose="02010600040101010101" pitchFamily="2" charset="-122"/>
              </a:endParaRPr>
            </a:p>
          </p:txBody>
        </p:sp>
        <p:sp>
          <p:nvSpPr>
            <p:cNvPr id="79897" name="Rectangle 47"/>
            <p:cNvSpPr>
              <a:spLocks noChangeArrowheads="1"/>
            </p:cNvSpPr>
            <p:nvPr/>
          </p:nvSpPr>
          <p:spPr bwMode="auto">
            <a:xfrm>
              <a:off x="1121553" y="4423852"/>
              <a:ext cx="1470901" cy="3961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i</a:t>
              </a:r>
              <a:endParaRPr lang="zh-CN" altLang="zh-CN" sz="1400" b="1">
                <a:latin typeface="+mn-lt"/>
                <a:ea typeface="华文楷体" panose="02010600040101010101" pitchFamily="2" charset="-122"/>
              </a:endParaRPr>
            </a:p>
          </p:txBody>
        </p:sp>
        <p:sp>
          <p:nvSpPr>
            <p:cNvPr id="79898" name="Rectangle 48"/>
            <p:cNvSpPr>
              <a:spLocks noChangeArrowheads="1"/>
            </p:cNvSpPr>
            <p:nvPr/>
          </p:nvSpPr>
          <p:spPr bwMode="auto">
            <a:xfrm>
              <a:off x="1121553" y="4024719"/>
              <a:ext cx="1470901" cy="3991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vptr</a:t>
              </a:r>
              <a:endParaRPr lang="zh-CN" altLang="zh-CN" sz="1400" b="1">
                <a:latin typeface="+mn-lt"/>
                <a:ea typeface="华文楷体" panose="02010600040101010101" pitchFamily="2" charset="-122"/>
              </a:endParaRPr>
            </a:p>
          </p:txBody>
        </p:sp>
        <p:sp>
          <p:nvSpPr>
            <p:cNvPr id="79899" name="Rectangle 49"/>
            <p:cNvSpPr>
              <a:spLocks noChangeArrowheads="1"/>
            </p:cNvSpPr>
            <p:nvPr/>
          </p:nvSpPr>
          <p:spPr bwMode="auto">
            <a:xfrm>
              <a:off x="1121553" y="4820042"/>
              <a:ext cx="1470901" cy="3971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400" b="1">
                  <a:latin typeface="+mn-lt"/>
                  <a:ea typeface="华文楷体" panose="02010600040101010101" pitchFamily="2" charset="-122"/>
                </a:rPr>
                <a:t>j</a:t>
              </a:r>
              <a:endParaRPr lang="zh-CN" altLang="zh-CN" sz="1400" b="1">
                <a:latin typeface="+mn-lt"/>
                <a:ea typeface="华文楷体" panose="02010600040101010101" pitchFamily="2" charset="-122"/>
              </a:endParaRPr>
            </a:p>
          </p:txBody>
        </p:sp>
        <p:sp>
          <p:nvSpPr>
            <p:cNvPr id="79900" name="Text Box 50"/>
            <p:cNvSpPr txBox="1">
              <a:spLocks noChangeArrowheads="1"/>
            </p:cNvSpPr>
            <p:nvPr/>
          </p:nvSpPr>
          <p:spPr bwMode="auto">
            <a:xfrm>
              <a:off x="1180389" y="301168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Base</a:t>
              </a:r>
              <a:r>
                <a:rPr lang="zh-CN" altLang="en-US" sz="1400" b="1">
                  <a:latin typeface="+mn-lt"/>
                  <a:ea typeface="华文楷体" panose="02010600040101010101" pitchFamily="2" charset="-122"/>
                </a:rPr>
                <a:t>类型对象</a:t>
              </a:r>
              <a:endParaRPr lang="zh-CN" altLang="zh-CN" sz="1400" b="1">
                <a:latin typeface="+mn-lt"/>
                <a:ea typeface="华文楷体" panose="02010600040101010101" pitchFamily="2" charset="-122"/>
              </a:endParaRPr>
            </a:p>
          </p:txBody>
        </p:sp>
        <p:cxnSp>
          <p:nvCxnSpPr>
            <p:cNvPr id="56" name="AutoShape 51"/>
            <p:cNvCxnSpPr>
              <a:cxnSpLocks noChangeShapeType="1"/>
            </p:cNvCxnSpPr>
            <p:nvPr/>
          </p:nvCxnSpPr>
          <p:spPr bwMode="auto">
            <a:xfrm flipV="1">
              <a:off x="2426470" y="2261486"/>
              <a:ext cx="1154086" cy="188773"/>
            </a:xfrm>
            <a:prstGeom prst="straightConnector1">
              <a:avLst/>
            </a:prstGeom>
            <a:noFill/>
            <a:ln w="9525">
              <a:solidFill>
                <a:schemeClr val="tx1">
                  <a:lumMod val="50000"/>
                </a:schemeClr>
              </a:solidFill>
              <a:round/>
              <a:tailEnd type="triangle" w="med" len="med"/>
            </a:ln>
          </p:spPr>
        </p:cxnSp>
        <p:cxnSp>
          <p:nvCxnSpPr>
            <p:cNvPr id="57" name="AutoShape 52"/>
            <p:cNvCxnSpPr>
              <a:cxnSpLocks noChangeShapeType="1"/>
            </p:cNvCxnSpPr>
            <p:nvPr/>
          </p:nvCxnSpPr>
          <p:spPr bwMode="auto">
            <a:xfrm flipV="1">
              <a:off x="2426470" y="4003499"/>
              <a:ext cx="1171183" cy="208644"/>
            </a:xfrm>
            <a:prstGeom prst="straightConnector1">
              <a:avLst/>
            </a:prstGeom>
            <a:noFill/>
            <a:ln w="9525">
              <a:solidFill>
                <a:schemeClr val="tx1">
                  <a:lumMod val="50000"/>
                </a:schemeClr>
              </a:solidFill>
              <a:round/>
              <a:tailEnd type="triangle" w="med" len="med"/>
            </a:ln>
          </p:spPr>
        </p:cxnSp>
        <p:sp>
          <p:nvSpPr>
            <p:cNvPr id="79903" name="Text Box 50"/>
            <p:cNvSpPr txBox="1">
              <a:spLocks noChangeArrowheads="1"/>
            </p:cNvSpPr>
            <p:nvPr/>
          </p:nvSpPr>
          <p:spPr bwMode="auto">
            <a:xfrm>
              <a:off x="1050115" y="5168180"/>
              <a:ext cx="171451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400" b="1">
                  <a:latin typeface="+mn-lt"/>
                  <a:ea typeface="华文楷体" panose="02010600040101010101" pitchFamily="2" charset="-122"/>
                </a:rPr>
                <a:t>Derived</a:t>
              </a:r>
              <a:r>
                <a:rPr lang="zh-CN" altLang="en-US" sz="1400" b="1">
                  <a:latin typeface="+mn-lt"/>
                  <a:ea typeface="华文楷体" panose="02010600040101010101" pitchFamily="2" charset="-122"/>
                </a:rPr>
                <a:t>类型对象</a:t>
              </a:r>
              <a:endParaRPr lang="zh-CN" altLang="zh-CN" sz="1400" b="1">
                <a:latin typeface="+mn-lt"/>
                <a:ea typeface="华文楷体" panose="02010600040101010101" pitchFamily="2" charset="-122"/>
              </a:endParaRPr>
            </a:p>
          </p:txBody>
        </p:sp>
      </p:grpSp>
      <p:sp>
        <p:nvSpPr>
          <p:cNvPr id="59" name="TextBox 58"/>
          <p:cNvSpPr txBox="1"/>
          <p:nvPr/>
        </p:nvSpPr>
        <p:spPr>
          <a:xfrm>
            <a:off x="928688" y="571500"/>
            <a:ext cx="1839286" cy="1815882"/>
          </a:xfrm>
          <a:prstGeom prst="rect">
            <a:avLst/>
          </a:prstGeom>
          <a:noFill/>
        </p:spPr>
        <p:txBody>
          <a:bodyPr wrap="none">
            <a:spAutoFit/>
          </a:bodyPr>
          <a:lstStyle/>
          <a:p>
            <a:pPr algn="l" latinLnBrk="1">
              <a:tabLst>
                <a:tab pos="267970" algn="l"/>
              </a:tabLst>
              <a:defRPr/>
            </a:pPr>
            <a:r>
              <a:rPr lang="en-US" sz="1600" b="1" dirty="0">
                <a:solidFill>
                  <a:srgbClr val="FFFF00"/>
                </a:solidFill>
                <a:latin typeface="+mn-lt"/>
                <a:ea typeface="+mn-ea"/>
                <a:cs typeface="Courier New" panose="02070309020205020404" pitchFamily="49" charset="0"/>
              </a:rPr>
              <a:t>class Base {</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public:</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	virtual void f();</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	virtual void g();</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private:</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	</a:t>
            </a:r>
            <a:r>
              <a:rPr lang="en-US" sz="1600" b="1" dirty="0" err="1">
                <a:solidFill>
                  <a:srgbClr val="FFFF00"/>
                </a:solidFill>
                <a:latin typeface="+mn-lt"/>
                <a:ea typeface="+mn-ea"/>
                <a:cs typeface="Courier New" panose="02070309020205020404" pitchFamily="49" charset="0"/>
              </a:rPr>
              <a:t>int</a:t>
            </a:r>
            <a:r>
              <a:rPr lang="en-US" sz="1600" b="1" dirty="0">
                <a:solidFill>
                  <a:srgbClr val="FFFF00"/>
                </a:solidFill>
                <a:latin typeface="+mn-lt"/>
                <a:ea typeface="+mn-ea"/>
                <a:cs typeface="Courier New" panose="02070309020205020404" pitchFamily="49" charset="0"/>
              </a:rPr>
              <a:t> </a:t>
            </a:r>
            <a:r>
              <a:rPr lang="en-US" sz="1600" b="1" dirty="0" err="1">
                <a:solidFill>
                  <a:srgbClr val="FFFF00"/>
                </a:solidFill>
                <a:latin typeface="+mn-lt"/>
                <a:ea typeface="+mn-ea"/>
                <a:cs typeface="Courier New" panose="02070309020205020404" pitchFamily="49" charset="0"/>
              </a:rPr>
              <a:t>i</a:t>
            </a:r>
            <a:r>
              <a:rPr lang="en-US" sz="1600" b="1" dirty="0">
                <a:solidFill>
                  <a:srgbClr val="FFFF00"/>
                </a:solidFill>
                <a:latin typeface="+mn-lt"/>
                <a:ea typeface="+mn-ea"/>
                <a:cs typeface="Courier New" panose="02070309020205020404" pitchFamily="49" charset="0"/>
              </a:rPr>
              <a:t>;</a:t>
            </a:r>
            <a:endParaRPr lang="zh-CN" altLang="en-US" sz="1600" b="1" dirty="0">
              <a:solidFill>
                <a:srgbClr val="FFFF00"/>
              </a:solidFill>
              <a:latin typeface="+mn-lt"/>
              <a:ea typeface="+mn-ea"/>
              <a:cs typeface="Courier New" panose="02070309020205020404" pitchFamily="49" charset="0"/>
            </a:endParaRPr>
          </a:p>
          <a:p>
            <a:pPr algn="l" latinLnBrk="1">
              <a:tabLst>
                <a:tab pos="267970" algn="l"/>
              </a:tabLst>
              <a:defRPr/>
            </a:pPr>
            <a:r>
              <a:rPr lang="en-US" sz="1600" b="1" dirty="0">
                <a:solidFill>
                  <a:srgbClr val="FFFF00"/>
                </a:solidFill>
                <a:latin typeface="+mn-lt"/>
                <a:ea typeface="+mn-ea"/>
                <a:cs typeface="Courier New" panose="02070309020205020404" pitchFamily="49" charset="0"/>
              </a:rPr>
              <a:t>};</a:t>
            </a:r>
            <a:endParaRPr lang="zh-CN" altLang="en-US" sz="1600" b="1" dirty="0">
              <a:solidFill>
                <a:srgbClr val="FFFF00"/>
              </a:solidFill>
              <a:latin typeface="+mn-lt"/>
              <a:ea typeface="+mn-ea"/>
              <a:cs typeface="Courier New" panose="02070309020205020404" pitchFamily="49" charset="0"/>
            </a:endParaRPr>
          </a:p>
        </p:txBody>
      </p:sp>
      <p:sp>
        <p:nvSpPr>
          <p:cNvPr id="79877" name="TextBox 60"/>
          <p:cNvSpPr txBox="1">
            <a:spLocks noChangeArrowheads="1"/>
          </p:cNvSpPr>
          <p:nvPr/>
        </p:nvSpPr>
        <p:spPr bwMode="auto">
          <a:xfrm>
            <a:off x="3714750" y="571500"/>
            <a:ext cx="3665562" cy="1815882"/>
          </a:xfrm>
          <a:prstGeom prst="rect">
            <a:avLst/>
          </a:prstGeom>
          <a:noFill/>
        </p:spPr>
        <p:txBody>
          <a:bodyPr wrap="square">
            <a:spAutoFit/>
          </a:bodyPr>
          <a:lstStyle>
            <a:defPPr>
              <a:defRPr lang="zh-CN"/>
            </a:defPPr>
            <a:lvl1pPr algn="l" latinLnBrk="1">
              <a:tabLst>
                <a:tab pos="267970" algn="l"/>
              </a:tabLst>
              <a:defRPr sz="1600" b="1">
                <a:solidFill>
                  <a:srgbClr val="FFFF00"/>
                </a:solidFill>
                <a:latin typeface="+mn-lt"/>
                <a:ea typeface="+mn-ea"/>
                <a:cs typeface="Courier New" panose="02070309020205020404" pitchFamily="49" charset="0"/>
              </a:defRPr>
            </a:lvl1pPr>
          </a:lstStyle>
          <a:p>
            <a:r>
              <a:rPr lang="en-US" altLang="zh-CN">
                <a:ea typeface="华文楷体" panose="02010600040101010101" pitchFamily="2" charset="-122"/>
              </a:rPr>
              <a:t>class Derived: public Base {</a:t>
            </a:r>
            <a:endParaRPr lang="zh-CN" altLang="en-US">
              <a:ea typeface="华文楷体" panose="02010600040101010101" pitchFamily="2" charset="-122"/>
            </a:endParaRPr>
          </a:p>
          <a:p>
            <a:r>
              <a:rPr lang="en-US" altLang="zh-CN">
                <a:ea typeface="华文楷体" panose="02010600040101010101" pitchFamily="2" charset="-122"/>
              </a:rPr>
              <a:t>public:</a:t>
            </a:r>
            <a:endParaRPr lang="zh-CN" altLang="en-US">
              <a:ea typeface="华文楷体" panose="02010600040101010101" pitchFamily="2" charset="-122"/>
            </a:endParaRPr>
          </a:p>
          <a:p>
            <a:r>
              <a:rPr lang="en-US" altLang="zh-CN">
                <a:ea typeface="华文楷体" panose="02010600040101010101" pitchFamily="2" charset="-122"/>
              </a:rPr>
              <a:t>	virtual void f(); //</a:t>
            </a:r>
            <a:r>
              <a:rPr lang="zh-CN" altLang="en-US">
                <a:ea typeface="华文楷体" panose="02010600040101010101" pitchFamily="2" charset="-122"/>
              </a:rPr>
              <a:t>覆盖</a:t>
            </a:r>
            <a:r>
              <a:rPr lang="en-US" altLang="zh-CN">
                <a:ea typeface="华文楷体" panose="02010600040101010101" pitchFamily="2" charset="-122"/>
              </a:rPr>
              <a:t>Base::f</a:t>
            </a:r>
            <a:endParaRPr lang="zh-CN" altLang="en-US">
              <a:ea typeface="华文楷体" panose="02010600040101010101" pitchFamily="2" charset="-122"/>
            </a:endParaRPr>
          </a:p>
          <a:p>
            <a:r>
              <a:rPr lang="en-US" altLang="zh-CN">
                <a:ea typeface="华文楷体" panose="02010600040101010101" pitchFamily="2" charset="-122"/>
              </a:rPr>
              <a:t>	virtual void h(); //</a:t>
            </a:r>
            <a:r>
              <a:rPr lang="zh-CN" altLang="en-US">
                <a:ea typeface="华文楷体" panose="02010600040101010101" pitchFamily="2" charset="-122"/>
              </a:rPr>
              <a:t>新增的虚函数</a:t>
            </a:r>
            <a:endParaRPr lang="zh-CN" altLang="en-US">
              <a:ea typeface="华文楷体" panose="02010600040101010101" pitchFamily="2" charset="-122"/>
            </a:endParaRPr>
          </a:p>
          <a:p>
            <a:r>
              <a:rPr lang="en-US" altLang="zh-CN">
                <a:ea typeface="华文楷体" panose="02010600040101010101" pitchFamily="2" charset="-122"/>
              </a:rPr>
              <a:t>private:</a:t>
            </a:r>
            <a:endParaRPr lang="zh-CN" altLang="en-US">
              <a:ea typeface="华文楷体" panose="02010600040101010101" pitchFamily="2" charset="-122"/>
            </a:endParaRPr>
          </a:p>
          <a:p>
            <a:r>
              <a:rPr lang="en-US" altLang="zh-CN">
                <a:ea typeface="华文楷体" panose="02010600040101010101" pitchFamily="2" charset="-122"/>
              </a:rPr>
              <a:t>	int j;</a:t>
            </a:r>
            <a:endParaRPr lang="zh-CN" altLang="en-US">
              <a:ea typeface="华文楷体" panose="02010600040101010101" pitchFamily="2" charset="-122"/>
            </a:endParaRPr>
          </a:p>
          <a:p>
            <a:r>
              <a:rPr lang="en-US" altLang="zh-CN">
                <a:ea typeface="华文楷体" panose="02010600040101010101" pitchFamily="2" charset="-122"/>
              </a:rPr>
              <a:t>};</a:t>
            </a:r>
            <a:endParaRPr lang="zh-CN" altLang="en-US">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本讲主要知识点</a:t>
            </a:r>
            <a:endParaRPr lang="zh-CN" altLang="en-US" sz="4400" b="1" dirty="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82293" y="1556792"/>
            <a:ext cx="8270875" cy="44452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20000"/>
              </a:spcBef>
              <a:spcAft>
                <a:spcPts val="600"/>
              </a:spcAft>
              <a:buClr>
                <a:schemeClr val="tx2"/>
              </a:buClr>
              <a:buSzPct val="70000"/>
            </a:pPr>
            <a:r>
              <a:rPr lang="zh-CN" altLang="en-US" sz="2800" dirty="0" smtClean="0">
                <a:solidFill>
                  <a:srgbClr val="FFFF00"/>
                </a:solidFill>
                <a:latin typeface="+mn-lt"/>
                <a:ea typeface="+mj-ea"/>
              </a:rPr>
              <a:t>主要内容</a:t>
            </a:r>
            <a:endParaRPr lang="en-US" altLang="zh-CN" sz="2800" dirty="0" smtClean="0">
              <a:solidFill>
                <a:srgbClr val="FFFF00"/>
              </a:solidFill>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多态性</a:t>
            </a:r>
            <a:r>
              <a:rPr lang="zh-CN" altLang="en-US" sz="2800" dirty="0">
                <a:latin typeface="+mn-lt"/>
                <a:ea typeface="+mj-ea"/>
              </a:rPr>
              <a:t>的</a:t>
            </a:r>
            <a:r>
              <a:rPr lang="zh-CN" altLang="en-US" sz="2800" dirty="0" smtClean="0">
                <a:latin typeface="+mn-lt"/>
                <a:ea typeface="+mj-ea"/>
              </a:rPr>
              <a:t>概念</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运算符重载</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虚函数</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纯</a:t>
            </a:r>
            <a:r>
              <a:rPr lang="zh-CN" altLang="en-US" sz="2800" dirty="0">
                <a:latin typeface="+mn-lt"/>
                <a:ea typeface="+mj-ea"/>
              </a:rPr>
              <a:t>虚</a:t>
            </a:r>
            <a:r>
              <a:rPr lang="zh-CN" altLang="en-US" sz="2800" dirty="0" smtClean="0">
                <a:latin typeface="+mn-lt"/>
                <a:ea typeface="+mj-ea"/>
              </a:rPr>
              <a:t>函数</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抽象类</a:t>
            </a:r>
            <a:endParaRPr lang="en-US" altLang="zh-CN" sz="2800" dirty="0" smtClean="0">
              <a:latin typeface="+mn-lt"/>
              <a:ea typeface="+mj-ea"/>
            </a:endParaRPr>
          </a:p>
          <a:p>
            <a:pPr marL="0" indent="0" algn="l" eaLnBrk="1" hangingPunct="1">
              <a:spcBef>
                <a:spcPct val="20000"/>
              </a:spcBef>
              <a:spcAft>
                <a:spcPts val="600"/>
              </a:spcAft>
              <a:buClr>
                <a:schemeClr val="tx2"/>
              </a:buClr>
              <a:buSzPct val="70000"/>
            </a:pPr>
            <a:endParaRPr lang="zh-CN" altLang="en-US" sz="2800" dirty="0">
              <a:latin typeface="+mn-lt"/>
              <a:ea typeface="+mj-ea"/>
            </a:endParaRPr>
          </a:p>
          <a:p>
            <a:pPr marL="0" lvl="1" indent="0" algn="l" eaLnBrk="1" hangingPunct="1">
              <a:lnSpc>
                <a:spcPct val="150000"/>
              </a:lnSpc>
            </a:pPr>
            <a:r>
              <a:rPr lang="zh-CN" altLang="en-US" sz="2800" dirty="0" smtClean="0">
                <a:solidFill>
                  <a:srgbClr val="FFFF00"/>
                </a:solidFill>
                <a:latin typeface="+mn-lt"/>
                <a:ea typeface="+mj-ea"/>
              </a:rPr>
              <a:t>达到的</a:t>
            </a:r>
            <a:r>
              <a:rPr lang="zh-CN" altLang="en-US" sz="2800" dirty="0">
                <a:solidFill>
                  <a:srgbClr val="FFFF00"/>
                </a:solidFill>
                <a:latin typeface="+mn-lt"/>
                <a:ea typeface="+mj-ea"/>
              </a:rPr>
              <a:t>目标：理解多态的概念，学会运用多态机制</a:t>
            </a:r>
            <a:r>
              <a:rPr lang="zh-CN" altLang="en-US" sz="2800" dirty="0" smtClean="0">
                <a:solidFill>
                  <a:srgbClr val="FFFF00"/>
                </a:solidFill>
                <a:latin typeface="+mn-lt"/>
                <a:ea typeface="+mj-ea"/>
              </a:rPr>
              <a:t>。</a:t>
            </a:r>
            <a:endParaRPr lang="zh-CN" altLang="en-US" sz="2800" dirty="0">
              <a:solidFill>
                <a:srgbClr val="FFFF00"/>
              </a:solidFill>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2400" dirty="0" smtClean="0">
                <a:solidFill>
                  <a:srgbClr val="FFFF00"/>
                </a:solidFill>
                <a:latin typeface="+mn-lt"/>
                <a:ea typeface="+mj-ea"/>
              </a:rPr>
              <a:t>作业：</a:t>
            </a: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sz="2400" dirty="0" smtClean="0">
                <a:solidFill>
                  <a:srgbClr val="FFFF00"/>
                </a:solidFill>
                <a:latin typeface="+mn-lt"/>
                <a:ea typeface="+mj-ea"/>
              </a:rPr>
              <a:t>8-6</a:t>
            </a:r>
            <a:r>
              <a:rPr lang="zh-CN" altLang="en-US" sz="2400" dirty="0" smtClean="0">
                <a:solidFill>
                  <a:srgbClr val="FFFF00"/>
                </a:solidFill>
                <a:latin typeface="+mn-lt"/>
                <a:ea typeface="+mj-ea"/>
              </a:rPr>
              <a:t>、请编写一个抽象类</a:t>
            </a:r>
            <a:r>
              <a:rPr lang="en-US" altLang="zh-CN" sz="2400" dirty="0" smtClean="0">
                <a:solidFill>
                  <a:srgbClr val="FFFF00"/>
                </a:solidFill>
                <a:latin typeface="+mn-lt"/>
                <a:ea typeface="+mj-ea"/>
              </a:rPr>
              <a:t>Shape</a:t>
            </a:r>
            <a:r>
              <a:rPr lang="zh-CN" altLang="en-US" sz="2400" dirty="0" smtClean="0">
                <a:solidFill>
                  <a:srgbClr val="FFFF00"/>
                </a:solidFill>
                <a:latin typeface="+mn-lt"/>
                <a:ea typeface="+mj-ea"/>
              </a:rPr>
              <a:t>，在此基础上派生出类</a:t>
            </a:r>
            <a:r>
              <a:rPr lang="en-US" altLang="zh-CN" sz="2400" dirty="0" smtClean="0">
                <a:solidFill>
                  <a:srgbClr val="FFFF00"/>
                </a:solidFill>
                <a:latin typeface="+mn-lt"/>
                <a:ea typeface="+mj-ea"/>
              </a:rPr>
              <a:t>Rectangle</a:t>
            </a:r>
            <a:r>
              <a:rPr lang="zh-CN" altLang="en-US" sz="2400" dirty="0" smtClean="0">
                <a:solidFill>
                  <a:srgbClr val="FFFF00"/>
                </a:solidFill>
                <a:latin typeface="+mn-lt"/>
                <a:ea typeface="+mj-ea"/>
              </a:rPr>
              <a:t>和</a:t>
            </a:r>
            <a:r>
              <a:rPr lang="en-US" altLang="zh-CN" sz="2400" dirty="0" smtClean="0">
                <a:solidFill>
                  <a:srgbClr val="FFFF00"/>
                </a:solidFill>
                <a:latin typeface="+mn-lt"/>
                <a:ea typeface="+mj-ea"/>
              </a:rPr>
              <a:t>Circle</a:t>
            </a:r>
            <a:r>
              <a:rPr lang="zh-CN" altLang="en-US" sz="2400" dirty="0" smtClean="0">
                <a:solidFill>
                  <a:srgbClr val="FFFF00"/>
                </a:solidFill>
                <a:latin typeface="+mn-lt"/>
                <a:ea typeface="+mj-ea"/>
              </a:rPr>
              <a:t>，二者都有计算对象面积的函数</a:t>
            </a:r>
            <a:r>
              <a:rPr lang="en-US" altLang="zh-CN" sz="2400" dirty="0" err="1" smtClean="0">
                <a:solidFill>
                  <a:srgbClr val="FFFF00"/>
                </a:solidFill>
                <a:latin typeface="+mn-lt"/>
                <a:ea typeface="+mj-ea"/>
              </a:rPr>
              <a:t>getArea</a:t>
            </a:r>
            <a:r>
              <a:rPr lang="en-US" altLang="zh-CN" sz="2400" dirty="0" smtClean="0">
                <a:solidFill>
                  <a:srgbClr val="FFFF00"/>
                </a:solidFill>
                <a:latin typeface="+mn-lt"/>
                <a:ea typeface="+mj-ea"/>
              </a:rPr>
              <a:t>()</a:t>
            </a:r>
            <a:r>
              <a:rPr lang="zh-CN" altLang="en-US" sz="2400" dirty="0" smtClean="0">
                <a:solidFill>
                  <a:srgbClr val="FFFF00"/>
                </a:solidFill>
                <a:latin typeface="+mn-lt"/>
                <a:ea typeface="+mj-ea"/>
              </a:rPr>
              <a:t>、计算对象周长的函数</a:t>
            </a:r>
            <a:r>
              <a:rPr lang="en-US" altLang="zh-CN" sz="2400" dirty="0" err="1" smtClean="0">
                <a:solidFill>
                  <a:srgbClr val="FFFF00"/>
                </a:solidFill>
                <a:latin typeface="+mn-lt"/>
                <a:ea typeface="+mj-ea"/>
              </a:rPr>
              <a:t>getPerim</a:t>
            </a:r>
            <a:r>
              <a:rPr lang="en-US" altLang="zh-CN" sz="2400" dirty="0" smtClean="0">
                <a:solidFill>
                  <a:srgbClr val="FFFF00"/>
                </a:solidFill>
                <a:latin typeface="+mn-lt"/>
                <a:ea typeface="+mj-ea"/>
              </a:rPr>
              <a:t>()</a:t>
            </a:r>
            <a:r>
              <a:rPr lang="zh-CN" altLang="en-US" sz="2400" dirty="0" smtClean="0">
                <a:solidFill>
                  <a:srgbClr val="FFFF00"/>
                </a:solidFill>
                <a:latin typeface="+mn-lt"/>
                <a:ea typeface="+mj-ea"/>
              </a:rPr>
              <a:t>。</a:t>
            </a: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sz="2400" dirty="0" smtClean="0">
                <a:solidFill>
                  <a:srgbClr val="FFFF00"/>
                </a:solidFill>
                <a:latin typeface="+mn-lt"/>
                <a:ea typeface="+mj-ea"/>
              </a:rPr>
              <a:t>8-7</a:t>
            </a:r>
            <a:r>
              <a:rPr lang="zh-CN" altLang="en-US" sz="2400" dirty="0" smtClean="0">
                <a:solidFill>
                  <a:srgbClr val="FFFF00"/>
                </a:solidFill>
                <a:latin typeface="+mn-lt"/>
                <a:ea typeface="+mj-ea"/>
              </a:rPr>
              <a:t>、对类</a:t>
            </a:r>
            <a:r>
              <a:rPr lang="en-US" altLang="zh-CN" sz="2400" dirty="0" smtClean="0">
                <a:solidFill>
                  <a:srgbClr val="FFFF00"/>
                </a:solidFill>
                <a:latin typeface="+mn-lt"/>
                <a:ea typeface="+mj-ea"/>
              </a:rPr>
              <a:t>Point</a:t>
            </a:r>
            <a:r>
              <a:rPr lang="zh-CN" altLang="en-US" sz="2400" dirty="0" smtClean="0">
                <a:solidFill>
                  <a:srgbClr val="FFFF00"/>
                </a:solidFill>
                <a:latin typeface="+mn-lt"/>
                <a:ea typeface="+mj-ea"/>
              </a:rPr>
              <a:t>重载“</a:t>
            </a:r>
            <a:r>
              <a:rPr lang="en-US" altLang="zh-CN" sz="2400" dirty="0" smtClean="0">
                <a:solidFill>
                  <a:srgbClr val="FFFF00"/>
                </a:solidFill>
                <a:latin typeface="+mn-lt"/>
                <a:ea typeface="+mj-ea"/>
              </a:rPr>
              <a:t>++</a:t>
            </a:r>
            <a:r>
              <a:rPr lang="zh-CN" altLang="en-US" sz="2400" dirty="0" smtClean="0">
                <a:solidFill>
                  <a:srgbClr val="FFFF00"/>
                </a:solidFill>
                <a:latin typeface="+mn-lt"/>
                <a:ea typeface="+mj-ea"/>
              </a:rPr>
              <a:t>”（自增）、“</a:t>
            </a:r>
            <a:r>
              <a:rPr lang="en-US" altLang="zh-CN" sz="2400" dirty="0" smtClean="0">
                <a:solidFill>
                  <a:srgbClr val="FFFF00"/>
                </a:solidFill>
                <a:latin typeface="+mn-lt"/>
                <a:ea typeface="+mj-ea"/>
              </a:rPr>
              <a:t>--</a:t>
            </a:r>
            <a:r>
              <a:rPr lang="zh-CN" altLang="en-US" sz="2400" dirty="0" smtClean="0">
                <a:solidFill>
                  <a:srgbClr val="FFFF00"/>
                </a:solidFill>
                <a:latin typeface="+mn-lt"/>
                <a:ea typeface="+mj-ea"/>
              </a:rPr>
              <a:t>”（自减）运算符，要求同时重载前缀和后缀的形式。</a:t>
            </a:r>
            <a:endParaRPr lang="zh-CN" altLang="en-US" sz="24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第</a:t>
            </a:r>
            <a:r>
              <a:rPr lang="en-US" altLang="zh-CN" sz="4400" b="1" i="1" dirty="0" smtClean="0">
                <a:effectLst>
                  <a:outerShdw blurRad="38100" dist="38100" dir="2700000" algn="tl">
                    <a:srgbClr val="000000"/>
                  </a:outerShdw>
                </a:effectLst>
                <a:ea typeface="隶书" panose="02010509060101010101" pitchFamily="49" charset="-122"/>
                <a:cs typeface="+mj-cs"/>
              </a:rPr>
              <a:t>8</a:t>
            </a:r>
            <a:r>
              <a:rPr lang="zh-CN" altLang="en-US" sz="4400" b="1" i="1" dirty="0" smtClean="0">
                <a:effectLst>
                  <a:outerShdw blurRad="38100" dist="38100" dir="2700000" algn="tl">
                    <a:srgbClr val="000000"/>
                  </a:outerShdw>
                </a:effectLst>
                <a:ea typeface="隶书" panose="02010509060101010101" pitchFamily="49" charset="-122"/>
                <a:cs typeface="+mj-cs"/>
              </a:rPr>
              <a:t>讲 </a:t>
            </a:r>
            <a:r>
              <a:rPr lang="zh-CN" altLang="en-US" sz="4400" b="1" i="1" dirty="0">
                <a:effectLst>
                  <a:outerShdw blurRad="38100" dist="38100" dir="2700000" algn="tl">
                    <a:srgbClr val="000000"/>
                  </a:outerShdw>
                </a:effectLst>
                <a:ea typeface="隶书" panose="02010509060101010101" pitchFamily="49" charset="-122"/>
                <a:cs typeface="+mj-cs"/>
              </a:rPr>
              <a:t>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2400" dirty="0" smtClean="0">
                <a:solidFill>
                  <a:srgbClr val="FFFF00"/>
                </a:solidFill>
                <a:latin typeface="+mn-lt"/>
                <a:ea typeface="+mj-ea"/>
              </a:rPr>
              <a:t>作业：</a:t>
            </a:r>
            <a:endParaRPr lang="en-US" altLang="zh-CN" sz="2400" dirty="0" smtClean="0">
              <a:solidFill>
                <a:srgbClr val="FFFF00"/>
              </a:solidFill>
              <a:latin typeface="+mn-lt"/>
              <a:ea typeface="+mj-ea"/>
            </a:endParaRPr>
          </a:p>
          <a:p>
            <a:pPr algn="l"/>
            <a:r>
              <a:rPr lang="zh-CN" altLang="en-US" sz="2400" dirty="0" smtClean="0">
                <a:solidFill>
                  <a:srgbClr val="FFFF00"/>
                </a:solidFill>
                <a:latin typeface="+mn-lt"/>
                <a:ea typeface="+mj-ea"/>
              </a:rPr>
              <a:t>补充题目</a:t>
            </a:r>
            <a:r>
              <a:rPr lang="zh-CN" altLang="en-US" dirty="0">
                <a:solidFill>
                  <a:srgbClr val="FFFF00"/>
                </a:solidFill>
                <a:latin typeface="+mn-lt"/>
                <a:ea typeface="+mj-ea"/>
              </a:rPr>
              <a:t>：</a:t>
            </a:r>
            <a:r>
              <a:rPr lang="zh-CN" altLang="zh-CN" dirty="0">
                <a:solidFill>
                  <a:srgbClr val="FFFF00"/>
                </a:solidFill>
                <a:latin typeface="+mn-lt"/>
                <a:ea typeface="+mj-ea"/>
              </a:rPr>
              <a:t>写出以下程序的执行结果：</a:t>
            </a:r>
            <a:endParaRPr lang="zh-CN" altLang="zh-CN" dirty="0">
              <a:solidFill>
                <a:srgbClr val="FFFF00"/>
              </a:solidFill>
              <a:latin typeface="+mn-lt"/>
              <a:ea typeface="+mj-ea"/>
            </a:endParaRPr>
          </a:p>
          <a:p>
            <a:pPr algn="l"/>
            <a:r>
              <a:rPr lang="en-US" altLang="zh-CN" dirty="0">
                <a:solidFill>
                  <a:srgbClr val="FFFF00"/>
                </a:solidFill>
                <a:latin typeface="+mn-lt"/>
                <a:ea typeface="+mj-ea"/>
              </a:rPr>
              <a:t>#include &lt;</a:t>
            </a:r>
            <a:r>
              <a:rPr lang="en-US" altLang="zh-CN" dirty="0" err="1">
                <a:solidFill>
                  <a:srgbClr val="FFFF00"/>
                </a:solidFill>
                <a:latin typeface="+mn-lt"/>
                <a:ea typeface="+mj-ea"/>
              </a:rPr>
              <a:t>iostream</a:t>
            </a:r>
            <a:r>
              <a:rPr lang="en-US" altLang="zh-CN" dirty="0">
                <a:solidFill>
                  <a:srgbClr val="FFFF00"/>
                </a:solidFill>
                <a:latin typeface="+mn-lt"/>
                <a:ea typeface="+mj-ea"/>
              </a:rPr>
              <a:t>&gt;</a:t>
            </a:r>
            <a:endParaRPr lang="zh-CN" altLang="zh-CN" dirty="0">
              <a:solidFill>
                <a:srgbClr val="FFFF00"/>
              </a:solidFill>
              <a:latin typeface="+mn-lt"/>
              <a:ea typeface="+mj-ea"/>
            </a:endParaRPr>
          </a:p>
          <a:p>
            <a:pPr algn="l"/>
            <a:r>
              <a:rPr lang="en-US" altLang="zh-CN" dirty="0">
                <a:solidFill>
                  <a:srgbClr val="FFFF00"/>
                </a:solidFill>
                <a:latin typeface="+mn-lt"/>
                <a:ea typeface="+mj-ea"/>
              </a:rPr>
              <a:t>using namespace </a:t>
            </a:r>
            <a:r>
              <a:rPr lang="en-US" altLang="zh-CN" dirty="0" err="1">
                <a:solidFill>
                  <a:srgbClr val="FFFF00"/>
                </a:solidFill>
                <a:latin typeface="+mn-lt"/>
                <a:ea typeface="+mj-ea"/>
              </a:rPr>
              <a:t>std</a:t>
            </a:r>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class Base</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public:</a:t>
            </a:r>
            <a:endParaRPr lang="zh-CN" altLang="zh-CN" dirty="0">
              <a:solidFill>
                <a:srgbClr val="FFFF00"/>
              </a:solidFill>
              <a:latin typeface="+mn-lt"/>
              <a:ea typeface="+mj-ea"/>
            </a:endParaRPr>
          </a:p>
          <a:p>
            <a:pPr algn="l"/>
            <a:r>
              <a:rPr lang="en-US" altLang="zh-CN" dirty="0">
                <a:solidFill>
                  <a:srgbClr val="FFFF00"/>
                </a:solidFill>
                <a:latin typeface="+mn-lt"/>
                <a:ea typeface="+mj-ea"/>
              </a:rPr>
              <a:t>	void 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r>
              <a:rPr lang="en-US" altLang="zh-CN" dirty="0" err="1">
                <a:solidFill>
                  <a:srgbClr val="FFFF00"/>
                </a:solidFill>
                <a:latin typeface="+mn-lt"/>
                <a:ea typeface="+mj-ea"/>
              </a:rPr>
              <a:t>cout</a:t>
            </a:r>
            <a:r>
              <a:rPr lang="en-US" altLang="zh-CN" dirty="0">
                <a:solidFill>
                  <a:srgbClr val="FFFF00"/>
                </a:solidFill>
                <a:latin typeface="+mn-lt"/>
                <a:ea typeface="+mj-ea"/>
              </a:rPr>
              <a:t>&lt;&lt;“Display in Base”&lt;&lt;</a:t>
            </a:r>
            <a:r>
              <a:rPr lang="en-US" altLang="zh-CN" dirty="0" err="1">
                <a:solidFill>
                  <a:srgbClr val="FFFF00"/>
                </a:solidFill>
                <a:latin typeface="+mn-lt"/>
                <a:ea typeface="+mj-ea"/>
              </a:rPr>
              <a:t>endl</a:t>
            </a:r>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virtual void 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r>
              <a:rPr lang="en-US" altLang="zh-CN" dirty="0" err="1">
                <a:solidFill>
                  <a:srgbClr val="FFFF00"/>
                </a:solidFill>
                <a:latin typeface="+mn-lt"/>
                <a:ea typeface="+mj-ea"/>
              </a:rPr>
              <a:t>cout</a:t>
            </a:r>
            <a:r>
              <a:rPr lang="en-US" altLang="zh-CN" dirty="0">
                <a:solidFill>
                  <a:srgbClr val="FFFF00"/>
                </a:solidFill>
                <a:latin typeface="+mn-lt"/>
                <a:ea typeface="+mj-ea"/>
              </a:rPr>
              <a:t>&lt;&lt;“Print in Base”&lt;&lt;</a:t>
            </a:r>
            <a:r>
              <a:rPr lang="en-US" altLang="zh-CN" dirty="0" err="1">
                <a:solidFill>
                  <a:srgbClr val="FFFF00"/>
                </a:solidFill>
                <a:latin typeface="+mn-lt"/>
                <a:ea typeface="+mj-ea"/>
              </a:rPr>
              <a:t>endl</a:t>
            </a:r>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第</a:t>
            </a:r>
            <a:r>
              <a:rPr lang="en-US" altLang="zh-CN" sz="4400" b="1" i="1" dirty="0" smtClean="0">
                <a:effectLst>
                  <a:outerShdw blurRad="38100" dist="38100" dir="2700000" algn="tl">
                    <a:srgbClr val="000000"/>
                  </a:outerShdw>
                </a:effectLst>
                <a:ea typeface="隶书" panose="02010509060101010101" pitchFamily="49" charset="-122"/>
                <a:cs typeface="+mj-cs"/>
              </a:rPr>
              <a:t>8</a:t>
            </a:r>
            <a:r>
              <a:rPr lang="zh-CN" altLang="en-US" sz="4400" b="1" i="1" dirty="0" smtClean="0">
                <a:effectLst>
                  <a:outerShdw blurRad="38100" dist="38100" dir="2700000" algn="tl">
                    <a:srgbClr val="000000"/>
                  </a:outerShdw>
                </a:effectLst>
                <a:ea typeface="隶书" panose="02010509060101010101" pitchFamily="49" charset="-122"/>
                <a:cs typeface="+mj-cs"/>
              </a:rPr>
              <a:t>讲 </a:t>
            </a:r>
            <a:r>
              <a:rPr lang="zh-CN" altLang="en-US" sz="4400" b="1" i="1" dirty="0">
                <a:effectLst>
                  <a:outerShdw blurRad="38100" dist="38100" dir="2700000" algn="tl">
                    <a:srgbClr val="000000"/>
                  </a:outerShdw>
                </a:effectLst>
                <a:ea typeface="隶书" panose="02010509060101010101" pitchFamily="49" charset="-122"/>
                <a:cs typeface="+mj-cs"/>
              </a:rPr>
              <a:t>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dirty="0" smtClean="0">
                <a:solidFill>
                  <a:srgbClr val="FFFF00"/>
                </a:solidFill>
                <a:latin typeface="+mn-lt"/>
                <a:ea typeface="+mj-ea"/>
              </a:rPr>
              <a:t>class </a:t>
            </a:r>
            <a:r>
              <a:rPr lang="en-US" altLang="zh-CN" dirty="0">
                <a:solidFill>
                  <a:srgbClr val="FFFF00"/>
                </a:solidFill>
                <a:latin typeface="+mn-lt"/>
                <a:ea typeface="+mj-ea"/>
              </a:rPr>
              <a:t>Derived: public Base</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public:</a:t>
            </a:r>
            <a:endParaRPr lang="zh-CN" altLang="zh-CN" dirty="0">
              <a:solidFill>
                <a:srgbClr val="FFFF00"/>
              </a:solidFill>
              <a:latin typeface="+mn-lt"/>
              <a:ea typeface="+mj-ea"/>
            </a:endParaRPr>
          </a:p>
          <a:p>
            <a:pPr algn="l"/>
            <a:r>
              <a:rPr lang="en-US" altLang="zh-CN" dirty="0">
                <a:solidFill>
                  <a:srgbClr val="FFFF00"/>
                </a:solidFill>
                <a:latin typeface="+mn-lt"/>
                <a:ea typeface="+mj-ea"/>
              </a:rPr>
              <a:t>	void 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r>
              <a:rPr lang="en-US" altLang="zh-CN" dirty="0" err="1">
                <a:solidFill>
                  <a:srgbClr val="FFFF00"/>
                </a:solidFill>
                <a:latin typeface="+mn-lt"/>
                <a:ea typeface="+mj-ea"/>
              </a:rPr>
              <a:t>cout</a:t>
            </a:r>
            <a:r>
              <a:rPr lang="en-US" altLang="zh-CN" dirty="0">
                <a:solidFill>
                  <a:srgbClr val="FFFF00"/>
                </a:solidFill>
                <a:latin typeface="+mn-lt"/>
                <a:ea typeface="+mj-ea"/>
              </a:rPr>
              <a:t>&lt;&lt;“Display in Derived”&lt;&lt;</a:t>
            </a:r>
            <a:r>
              <a:rPr lang="en-US" altLang="zh-CN" dirty="0" err="1">
                <a:solidFill>
                  <a:srgbClr val="FFFF00"/>
                </a:solidFill>
                <a:latin typeface="+mn-lt"/>
                <a:ea typeface="+mj-ea"/>
              </a:rPr>
              <a:t>endl</a:t>
            </a:r>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virtual void 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r>
              <a:rPr lang="en-US" altLang="zh-CN" dirty="0" err="1">
                <a:solidFill>
                  <a:srgbClr val="FFFF00"/>
                </a:solidFill>
                <a:latin typeface="+mn-lt"/>
                <a:ea typeface="+mj-ea"/>
              </a:rPr>
              <a:t>cout</a:t>
            </a:r>
            <a:r>
              <a:rPr lang="en-US" altLang="zh-CN" dirty="0">
                <a:solidFill>
                  <a:srgbClr val="FFFF00"/>
                </a:solidFill>
                <a:latin typeface="+mn-lt"/>
                <a:ea typeface="+mj-ea"/>
              </a:rPr>
              <a:t>&lt;&lt;“Print in Derived”&lt;&lt;</a:t>
            </a:r>
            <a:r>
              <a:rPr lang="en-US" altLang="zh-CN" dirty="0" err="1">
                <a:solidFill>
                  <a:srgbClr val="FFFF00"/>
                </a:solidFill>
                <a:latin typeface="+mn-lt"/>
                <a:ea typeface="+mj-ea"/>
              </a:rPr>
              <a:t>endl</a:t>
            </a:r>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第</a:t>
            </a:r>
            <a:r>
              <a:rPr lang="en-US" altLang="zh-CN" sz="4400" b="1" i="1" dirty="0" smtClean="0">
                <a:effectLst>
                  <a:outerShdw blurRad="38100" dist="38100" dir="2700000" algn="tl">
                    <a:srgbClr val="000000"/>
                  </a:outerShdw>
                </a:effectLst>
                <a:ea typeface="隶书" panose="02010509060101010101" pitchFamily="49" charset="-122"/>
                <a:cs typeface="+mj-cs"/>
              </a:rPr>
              <a:t>8</a:t>
            </a:r>
            <a:r>
              <a:rPr lang="zh-CN" altLang="en-US" sz="4400" b="1" i="1" dirty="0" smtClean="0">
                <a:effectLst>
                  <a:outerShdw blurRad="38100" dist="38100" dir="2700000" algn="tl">
                    <a:srgbClr val="000000"/>
                  </a:outerShdw>
                </a:effectLst>
                <a:ea typeface="隶书" panose="02010509060101010101" pitchFamily="49" charset="-122"/>
                <a:cs typeface="+mj-cs"/>
              </a:rPr>
              <a:t>讲 </a:t>
            </a:r>
            <a:r>
              <a:rPr lang="zh-CN" altLang="en-US" sz="4400" b="1" i="1" dirty="0">
                <a:effectLst>
                  <a:outerShdw blurRad="38100" dist="38100" dir="2700000" algn="tl">
                    <a:srgbClr val="000000"/>
                  </a:outerShdw>
                </a:effectLst>
                <a:ea typeface="隶书" panose="02010509060101010101" pitchFamily="49" charset="-122"/>
                <a:cs typeface="+mj-cs"/>
              </a:rPr>
              <a:t>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a:r>
              <a:rPr lang="en-US" altLang="zh-CN" smtClean="0">
                <a:solidFill>
                  <a:srgbClr val="FFFF00"/>
                </a:solidFill>
                <a:latin typeface="+mn-lt"/>
                <a:ea typeface="+mj-ea"/>
              </a:rPr>
              <a:t>int</a:t>
            </a:r>
            <a:r>
              <a:rPr lang="en-US" altLang="zh-CN" dirty="0" smtClean="0">
                <a:solidFill>
                  <a:srgbClr val="FFFF00"/>
                </a:solidFill>
                <a:latin typeface="+mn-lt"/>
                <a:ea typeface="+mj-ea"/>
              </a:rPr>
              <a:t> </a:t>
            </a:r>
            <a:r>
              <a:rPr lang="en-US" altLang="zh-CN" dirty="0">
                <a:solidFill>
                  <a:srgbClr val="FFFF00"/>
                </a:solidFill>
                <a:latin typeface="+mn-lt"/>
                <a:ea typeface="+mj-ea"/>
              </a:rPr>
              <a:t>main()</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Base *b=new Base();</a:t>
            </a:r>
            <a:endParaRPr lang="zh-CN" altLang="zh-CN" dirty="0">
              <a:solidFill>
                <a:srgbClr val="FFFF00"/>
              </a:solidFill>
              <a:latin typeface="+mn-lt"/>
              <a:ea typeface="+mj-ea"/>
            </a:endParaRPr>
          </a:p>
          <a:p>
            <a:pPr algn="l"/>
            <a:r>
              <a:rPr lang="en-US" altLang="zh-CN" dirty="0">
                <a:solidFill>
                  <a:srgbClr val="FFFF00"/>
                </a:solidFill>
                <a:latin typeface="+mn-lt"/>
                <a:ea typeface="+mj-ea"/>
              </a:rPr>
              <a:t>	Derived *d=new Derived();</a:t>
            </a:r>
            <a:endParaRPr lang="zh-CN" altLang="zh-CN" dirty="0">
              <a:solidFill>
                <a:srgbClr val="FFFF00"/>
              </a:solidFill>
              <a:latin typeface="+mn-lt"/>
              <a:ea typeface="+mj-ea"/>
            </a:endParaRPr>
          </a:p>
          <a:p>
            <a:pPr algn="l"/>
            <a:r>
              <a:rPr lang="en-US" altLang="zh-CN" dirty="0">
                <a:solidFill>
                  <a:srgbClr val="FFFF00"/>
                </a:solidFill>
                <a:latin typeface="+mn-lt"/>
                <a:ea typeface="+mj-ea"/>
              </a:rPr>
              <a:t>	b-&gt;Display();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d-&gt;Display();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b-&gt;Print();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d-&gt;Print();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b=d;</a:t>
            </a:r>
            <a:endParaRPr lang="zh-CN" altLang="zh-CN" dirty="0">
              <a:solidFill>
                <a:srgbClr val="FFFF00"/>
              </a:solidFill>
              <a:latin typeface="+mn-lt"/>
              <a:ea typeface="+mj-ea"/>
            </a:endParaRPr>
          </a:p>
          <a:p>
            <a:pPr algn="l"/>
            <a:r>
              <a:rPr lang="en-US" altLang="zh-CN" dirty="0">
                <a:solidFill>
                  <a:srgbClr val="FFFF00"/>
                </a:solidFill>
                <a:latin typeface="+mn-lt"/>
                <a:ea typeface="+mj-ea"/>
              </a:rPr>
              <a:t>	b-&gt;Display();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d-&gt;Display();</a:t>
            </a:r>
            <a:endParaRPr lang="zh-CN" altLang="zh-CN" dirty="0">
              <a:solidFill>
                <a:srgbClr val="FFFF00"/>
              </a:solidFill>
              <a:latin typeface="+mn-lt"/>
              <a:ea typeface="+mj-ea"/>
            </a:endParaRPr>
          </a:p>
          <a:p>
            <a:pPr algn="l"/>
            <a:r>
              <a:rPr lang="en-US" altLang="zh-CN" dirty="0">
                <a:solidFill>
                  <a:srgbClr val="FFFF00"/>
                </a:solidFill>
                <a:latin typeface="+mn-lt"/>
                <a:ea typeface="+mj-ea"/>
              </a:rPr>
              <a:t>	b-&gt;Print();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d-&gt;Print();</a:t>
            </a:r>
            <a:endParaRPr lang="zh-CN" altLang="zh-CN" dirty="0">
              <a:solidFill>
                <a:srgbClr val="FFFF00"/>
              </a:solidFill>
              <a:latin typeface="+mn-lt"/>
              <a:ea typeface="+mj-ea"/>
            </a:endParaRPr>
          </a:p>
          <a:p>
            <a:pPr algn="l"/>
            <a:r>
              <a:rPr lang="en-US" altLang="zh-CN" dirty="0">
                <a:solidFill>
                  <a:srgbClr val="FFFF00"/>
                </a:solidFill>
                <a:latin typeface="+mn-lt"/>
                <a:ea typeface="+mj-ea"/>
              </a:rPr>
              <a:t>	return 0;</a:t>
            </a:r>
            <a:endParaRPr lang="zh-CN" altLang="zh-CN" dirty="0">
              <a:solidFill>
                <a:srgbClr val="FFFF00"/>
              </a:solidFill>
              <a:latin typeface="+mn-lt"/>
              <a:ea typeface="+mj-ea"/>
            </a:endParaRPr>
          </a:p>
          <a:p>
            <a:pPr algn="l"/>
            <a:r>
              <a:rPr lang="en-US" altLang="zh-CN" dirty="0">
                <a:solidFill>
                  <a:srgbClr val="FFFF00"/>
                </a:solidFill>
                <a:latin typeface="+mn-lt"/>
                <a:ea typeface="+mj-ea"/>
              </a:rPr>
              <a:t>}</a:t>
            </a:r>
            <a:endParaRPr lang="zh-CN" altLang="zh-CN"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smtClean="0">
                <a:effectLst>
                  <a:outerShdw blurRad="38100" dist="38100" dir="2700000" algn="tl">
                    <a:srgbClr val="000000"/>
                  </a:outerShdw>
                </a:effectLst>
                <a:ea typeface="隶书" panose="02010509060101010101" pitchFamily="49" charset="-122"/>
                <a:cs typeface="+mj-cs"/>
              </a:rPr>
              <a:t>第</a:t>
            </a:r>
            <a:r>
              <a:rPr lang="en-US" altLang="zh-CN" sz="4400" b="1" i="1" dirty="0" smtClean="0">
                <a:effectLst>
                  <a:outerShdw blurRad="38100" dist="38100" dir="2700000" algn="tl">
                    <a:srgbClr val="000000"/>
                  </a:outerShdw>
                </a:effectLst>
                <a:ea typeface="隶书" panose="02010509060101010101" pitchFamily="49" charset="-122"/>
                <a:cs typeface="+mj-cs"/>
              </a:rPr>
              <a:t>8</a:t>
            </a:r>
            <a:r>
              <a:rPr lang="zh-CN" altLang="en-US" sz="4400" b="1" i="1" dirty="0" smtClean="0">
                <a:effectLst>
                  <a:outerShdw blurRad="38100" dist="38100" dir="2700000" algn="tl">
                    <a:srgbClr val="000000"/>
                  </a:outerShdw>
                </a:effectLst>
                <a:ea typeface="隶书" panose="02010509060101010101" pitchFamily="49" charset="-122"/>
                <a:cs typeface="+mj-cs"/>
              </a:rPr>
              <a:t>讲 </a:t>
            </a:r>
            <a:r>
              <a:rPr lang="zh-CN" altLang="en-US" sz="4400" b="1" i="1" dirty="0">
                <a:effectLst>
                  <a:outerShdw blurRad="38100" dist="38100" dir="2700000" algn="tl">
                    <a:srgbClr val="000000"/>
                  </a:outerShdw>
                </a:effectLst>
                <a:ea typeface="隶书" panose="02010509060101010101" pitchFamily="49" charset="-122"/>
                <a:cs typeface="+mj-cs"/>
              </a:rPr>
              <a:t>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smtClean="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PP_MARK_KEY" val="88df267a-d1fa-46a6-9439-d9d19f3774ca"/>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23350</Words>
  <Application>WPS 演示</Application>
  <PresentationFormat>全屏显示(4:3)</PresentationFormat>
  <Paragraphs>1505</Paragraphs>
  <Slides>98</Slides>
  <Notes>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98</vt:i4>
      </vt:variant>
    </vt:vector>
  </HeadingPairs>
  <TitlesOfParts>
    <vt:vector size="122" baseType="lpstr">
      <vt:lpstr>Arial</vt:lpstr>
      <vt:lpstr>宋体</vt:lpstr>
      <vt:lpstr>Wingdings</vt:lpstr>
      <vt:lpstr>Times New Roman</vt:lpstr>
      <vt:lpstr>幼圆</vt:lpstr>
      <vt:lpstr>隶书</vt:lpstr>
      <vt:lpstr>Monotype Sorts</vt:lpstr>
      <vt:lpstr>Wingdings</vt:lpstr>
      <vt:lpstr>Book Antiqua</vt:lpstr>
      <vt:lpstr>黑体</vt:lpstr>
      <vt:lpstr>微软雅黑</vt:lpstr>
      <vt:lpstr>方正舒体</vt:lpstr>
      <vt:lpstr>华文中宋</vt:lpstr>
      <vt:lpstr>华文彩云</vt:lpstr>
      <vt:lpstr>华文楷体</vt:lpstr>
      <vt:lpstr>Arial Unicode MS</vt:lpstr>
      <vt:lpstr>Verdana</vt:lpstr>
      <vt:lpstr>Symbol</vt:lpstr>
      <vt:lpstr>Georgia</vt:lpstr>
      <vt:lpstr>Trebuchet MS</vt:lpstr>
      <vt:lpstr>方正姚体</vt:lpstr>
      <vt:lpstr>Courier New</vt:lpstr>
      <vt:lpstr>华文行楷</vt:lpstr>
      <vt:lpstr>Blank Presentation</vt:lpstr>
      <vt:lpstr>PowerPoint 演示文稿</vt:lpstr>
      <vt:lpstr>PowerPoint 演示文稿</vt:lpstr>
      <vt:lpstr>多态性概述</vt:lpstr>
      <vt:lpstr>8.1 多态性概述</vt:lpstr>
      <vt:lpstr>8.1.1 多态的类型</vt:lpstr>
      <vt:lpstr>8.1.1 多态的类型（编译时动态 ）</vt:lpstr>
      <vt:lpstr>8.1.1 多态的类型（动态时多态 ）</vt:lpstr>
      <vt:lpstr>PowerPoint 演示文稿</vt:lpstr>
      <vt:lpstr>PowerPoint 演示文稿</vt:lpstr>
      <vt:lpstr>PowerPoint 演示文稿</vt:lpstr>
      <vt:lpstr>PowerPoint 演示文稿</vt:lpstr>
      <vt:lpstr>PowerPoint 演示文稿</vt:lpstr>
      <vt:lpstr>8.1.2 多态的实现</vt:lpstr>
      <vt:lpstr>   运算符重载</vt:lpstr>
      <vt:lpstr>8.2 运算符重载</vt:lpstr>
      <vt:lpstr>PowerPoint 演示文稿</vt:lpstr>
      <vt:lpstr>PowerPoint 演示文稿</vt:lpstr>
      <vt:lpstr>8.2.1 运算符重载的规则</vt:lpstr>
      <vt:lpstr>8.2.1 运算符重载的规则</vt:lpstr>
      <vt:lpstr>8.2.1 运算符重载的规则</vt:lpstr>
      <vt:lpstr>PowerPoint 演示文稿</vt:lpstr>
      <vt:lpstr>PowerPoint 演示文稿</vt:lpstr>
      <vt:lpstr>PowerPoint 演示文稿</vt:lpstr>
      <vt:lpstr>PowerPoint 演示文稿</vt:lpstr>
      <vt:lpstr>PowerPoint 演示文稿</vt:lpstr>
      <vt:lpstr>PowerPoint 演示文稿</vt:lpstr>
      <vt:lpstr>例8-1复数类加减法运算重载：成员函数形式</vt:lpstr>
      <vt:lpstr>例8-1（续）</vt:lpstr>
      <vt:lpstr>例8-1（续）</vt:lpstr>
      <vt:lpstr>例8-1（续）</vt:lpstr>
      <vt:lpstr>运算符成员函数的设计</vt:lpstr>
      <vt:lpstr>运算符成员函数的设计（续）</vt:lpstr>
      <vt:lpstr>例8-2 </vt:lpstr>
      <vt:lpstr>例8-2（续）</vt:lpstr>
      <vt:lpstr>例8-2（续）</vt:lpstr>
      <vt:lpstr>例8-2（续）</vt:lpstr>
      <vt:lpstr>PowerPoint 演示文稿</vt:lpstr>
      <vt:lpstr>PowerPoint 演示文稿</vt:lpstr>
      <vt:lpstr>8.2.3运算符重载为非成员函数</vt:lpstr>
      <vt:lpstr>8.2.3运算符重载为非成员函数（续）</vt:lpstr>
      <vt:lpstr>例8-3以非成员函数形式重载Complex的加减法运算和“&lt;&lt;”运算符</vt:lpstr>
      <vt:lpstr>例8-3（续）</vt:lpstr>
      <vt:lpstr>例8-3（续）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虚函数</vt:lpstr>
      <vt:lpstr>8.3 初识虚函数</vt:lpstr>
      <vt:lpstr>8.3.1 一般虚函数成员</vt:lpstr>
      <vt:lpstr>例8-4通过虚函数实现运行时多态</vt:lpstr>
      <vt:lpstr>例8-4（续）</vt:lpstr>
      <vt:lpstr>虚表与动态绑定</vt:lpstr>
      <vt:lpstr>PowerPoint 演示文稿</vt:lpstr>
      <vt:lpstr>virtual 关键字</vt:lpstr>
      <vt:lpstr>final和override说明符</vt:lpstr>
      <vt:lpstr>final和override说明符</vt:lpstr>
      <vt:lpstr>哪些成员函数可以是虚函数</vt:lpstr>
      <vt:lpstr>8.3.2 虚析构函数</vt:lpstr>
      <vt:lpstr>例8-5 虚析构函数举例</vt:lpstr>
      <vt:lpstr>例8-5（续）</vt:lpstr>
      <vt:lpstr> C++中不能定义为虚函数的？</vt:lpstr>
      <vt:lpstr>纯虚函数和抽象类</vt:lpstr>
      <vt:lpstr>8.4.1 纯虚函数</vt:lpstr>
      <vt:lpstr>8.4.2 抽象类</vt:lpstr>
      <vt:lpstr>例8-6 抽象类举例</vt:lpstr>
      <vt:lpstr>例8-6（续）</vt:lpstr>
      <vt:lpstr>深度探索</vt:lpstr>
      <vt:lpstr>8.7.1 多态类型与非多态类型</vt:lpstr>
      <vt:lpstr>设计原则</vt:lpstr>
      <vt:lpstr>8.7.2 运行时类型识别</vt:lpstr>
      <vt:lpstr>使用dynamic_cast</vt:lpstr>
      <vt:lpstr>例8-9 dynamic_cast用法示例</vt:lpstr>
      <vt:lpstr>例8-9（续）</vt:lpstr>
      <vt:lpstr>用typeid获取运行时类型信息</vt:lpstr>
      <vt:lpstr>例8-10 typeid用法示例</vt:lpstr>
      <vt:lpstr>8.7.3 虚函数动态绑定的实现原理</vt:lpstr>
      <vt:lpstr>PowerPoint 演示文稿</vt:lpstr>
      <vt:lpstr>本讲小结</vt:lpstr>
      <vt:lpstr>本讲主要知识点</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1919</cp:revision>
  <cp:lastPrinted>1996-09-12T11:44:00Z</cp:lastPrinted>
  <dcterms:created xsi:type="dcterms:W3CDTF">1999-08-09T22:53:00Z</dcterms:created>
  <dcterms:modified xsi:type="dcterms:W3CDTF">2023-11-26T10:47:51Z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8F9C730A63024A0FA1F32DCDD3C5B5B3_12</vt:lpwstr>
  </property>
  <property fmtid="{D5CDD505-2E9C-101B-9397-08002B2CF9AE}" pid="3" name="KSOProductBuildVer">
    <vt:lpwstr>2052-11.1.0.14309</vt:lpwstr>
  </property>
</Properties>
</file>